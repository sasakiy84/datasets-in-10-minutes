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312" r:id="rId62"/>
    <p:sldId id="313" r:id="rId63"/>
    <p:sldId id="314" r:id="rId64"/>
    <p:sldId id="262" r:id="rId4"/>
    <p:sldId id="264" r:id="rId2"/>
    <p:sldId id="266" r:id="rId16"/>
    <p:sldId id="315" r:id="rId65"/>
    <p:sldId id="316" r:id="rId66"/>
    <p:sldId id="317" r:id="rId67"/>
    <p:sldId id="318" r:id="rId68"/>
    <p:sldId id="319" r:id="rId69"/>
    <p:sldId id="274" r:id="rId24"/>
    <p:sldId id="320" r:id="rId70"/>
    <p:sldId id="321" r:id="rId71"/>
    <p:sldId id="322" r:id="rId72"/>
    <p:sldId id="323" r:id="rId73"/>
    <p:sldId id="325" r:id="rId75"/>
    <p:sldId id="326" r:id="rId76"/>
    <p:sldId id="327" r:id="rId77"/>
    <p:sldId id="328" r:id="rId78"/>
    <p:sldId id="310" r:id="rId60"/>
    <p:sldId id="329" r:id="rId79"/>
    <p:sldId id="330" r:id="rId80"/>
    <p:sldId id="287" r:id="rId37"/>
    <p:sldId id="288" r:id="rId38"/>
    <p:sldId id="289" r:id="rId39"/>
    <p:sldId id="290" r:id="rId40"/>
    <p:sldId id="291" r:id="rId41"/>
    <p:sldId id="292" r:id="rId42"/>
    <p:sldId id="293" r:id="rId43"/>
    <p:sldId id="294" r:id="rId44"/>
    <p:sldId id="295" r:id="rId45"/>
    <p:sldId id="296" r:id="rId46"/>
    <p:sldId id="331" r:id="rId81"/>
    <p:sldId id="332" r:id="rId82"/>
    <p:sldId id="333" r:id="rId83"/>
    <p:sldId id="334" r:id="rId84"/>
    <p:sldId id="335" r:id="rId85"/>
    <p:sldId id="336" r:id="rId86"/>
    <p:sldId id="337" r:id="rId87"/>
    <p:sldId id="307" r:id="rId57"/>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4"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8.xml"/><Relationship Id="rId24" Type="http://schemas.openxmlformats.org/officeDocument/2006/relationships/slide" Target="slides/slide14.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57" Type="http://schemas.openxmlformats.org/officeDocument/2006/relationships/slide" Target="slides/slide43.xml"/><Relationship Id="rId60" Type="http://schemas.openxmlformats.org/officeDocument/2006/relationships/slide" Target="slides/slide23.xml"/><Relationship Id="rId62" Type="http://schemas.openxmlformats.org/officeDocument/2006/relationships/slide" Target="slides/slide3.xml"/><Relationship Id="rId63" Type="http://schemas.openxmlformats.org/officeDocument/2006/relationships/slide" Target="slides/slide4.xml"/><Relationship Id="rId64" Type="http://schemas.openxmlformats.org/officeDocument/2006/relationships/slide" Target="slides/slide5.xml"/><Relationship Id="rId65" Type="http://schemas.openxmlformats.org/officeDocument/2006/relationships/slide" Target="slides/slide9.xml"/><Relationship Id="rId66"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15.xml"/><Relationship Id="rId71" Type="http://schemas.openxmlformats.org/officeDocument/2006/relationships/slide" Target="slides/slide16.xml"/><Relationship Id="rId72" Type="http://schemas.openxmlformats.org/officeDocument/2006/relationships/slide" Target="slides/slide17.xml"/><Relationship Id="rId73" Type="http://schemas.openxmlformats.org/officeDocument/2006/relationships/slide" Target="slides/slide18.xml"/><Relationship Id="rId75" Type="http://schemas.openxmlformats.org/officeDocument/2006/relationships/slide" Target="slides/slide19.xml"/><Relationship Id="rId76" Type="http://schemas.openxmlformats.org/officeDocument/2006/relationships/slide" Target="slides/slide20.xml"/><Relationship Id="rId77" Type="http://schemas.openxmlformats.org/officeDocument/2006/relationships/slide" Target="slides/slide21.xml"/><Relationship Id="rId78" Type="http://schemas.openxmlformats.org/officeDocument/2006/relationships/slide" Target="slides/slide22.xml"/><Relationship Id="rId79" Type="http://schemas.openxmlformats.org/officeDocument/2006/relationships/slide" Target="slides/slide24.xml"/><Relationship Id="rId80" Type="http://schemas.openxmlformats.org/officeDocument/2006/relationships/slide" Target="slides/slide25.xml"/><Relationship Id="rId81" Type="http://schemas.openxmlformats.org/officeDocument/2006/relationships/slide" Target="slides/slide36.xml"/><Relationship Id="rId82" Type="http://schemas.openxmlformats.org/officeDocument/2006/relationships/slide" Target="slides/slide37.xml"/><Relationship Id="rId83" Type="http://schemas.openxmlformats.org/officeDocument/2006/relationships/slide" Target="slides/slide38.xml"/><Relationship Id="rId84" Type="http://schemas.openxmlformats.org/officeDocument/2006/relationships/slide" Target="slides/slide39.xml"/><Relationship Id="rId85" Type="http://schemas.openxmlformats.org/officeDocument/2006/relationships/slide" Target="slides/slide40.xml"/><Relationship Id="rId86" Type="http://schemas.openxmlformats.org/officeDocument/2006/relationships/slide" Target="slides/slide41.xml"/><Relationship Id="rId87"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質問数</c:v>
                </c:pt>
              </c:strCache>
            </c:strRef>
          </c:tx>
          <c:spPr>
            <a:solidFill>
              <a:srgbClr val="2C9100"/>
            </a:solidFill>
          </c:spPr>
          <c:cat>
            <c:strRef>
              <c:f>Sheet1!$A$2:$A$5</c:f>
              <c:strCache>
                <c:ptCount val="4"/>
                <c:pt idx="0">
                  <c:v>1件</c:v>
                </c:pt>
                <c:pt idx="1">
                  <c:v>2件</c:v>
                </c:pt>
                <c:pt idx="2">
                  <c:v>3件</c:v>
                </c:pt>
                <c:pt idx="3">
                  <c:v>4件以上</c:v>
                </c:pt>
              </c:strCache>
            </c:strRef>
          </c:cat>
          <c:val>
            <c:numRef>
              <c:f>Sheet1!$B$2:$B$5</c:f>
              <c:numCache>
                <c:formatCode>General</c:formatCode>
                <c:ptCount val="4"/>
                <c:pt idx="0">
                  <c:v>2350</c:v>
                </c:pt>
                <c:pt idx="1">
                  <c:v>841</c:v>
                </c:pt>
                <c:pt idx="2">
                  <c:v>404</c:v>
                </c:pt>
                <c:pt idx="3">
                  <c:v>405</c:v>
                </c:pt>
              </c:numCache>
            </c:numRef>
          </c:val>
        </c:ser>
        <c:dLbls>
          <c:txPr>
            <a:bodyPr/>
            <a:lstStyle/>
            <a:p>
              <a:pPr>
                <a:defRPr sz="1500"/>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txPr>
          <a:bodyPr/>
          <a:lstStyle/>
          <a:p>
            <a:pPr>
              <a:defRPr sz="1500">
                <a:latin typeface="Noto Sans CJK JP"/>
              </a:defRPr>
            </a:pPr>
          </a:p>
        </c:txPr>
        <c:crossAx val="2180972856"/>
        <c:crosses val="autoZero"/>
        <c:auto val="1"/>
        <c:lblAlgn val="ctr"/>
        <c:lblOffset val="100"/>
        <c:noMultiLvlLbl val="0"/>
      </c:catAx>
      <c:valAx>
        <c:axId val="2180972856"/>
        <c:scaling>
          <c:max val="2500.0"/>
          <c:min val="0.0"/>
        </c:scaling>
        <c:delete val="0"/>
        <c:axPos val="l"/>
        <c:majorGridlines/>
        <c:majorTickMark val="out"/>
        <c:minorTickMark val="none"/>
        <c:tickLblPos val="nextTo"/>
        <c:txPr>
          <a:bodyPr/>
          <a:lstStyle/>
          <a:p>
            <a:pPr>
              <a:defRPr sz="1300"/>
            </a:pPr>
          </a:p>
        </c:txPr>
        <c:crossAx val="2226939960"/>
        <c:crosses val="autoZero"/>
        <c:majorUnit val="500.0"/>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zhangsheng93/cMedQA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zhangsheng93/cMedQA2/tree/85feb9278c3ae552c591205cbf3e828368c91f8f" TargetMode="External"/><Relationship Id="rId4" Type="http://schemas.openxmlformats.org/officeDocument/2006/relationships/hyperlink" Target="https://github.com/zhangsheng93/cMedQ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109/ACCESS.2018.2883637"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 Id="rId3" Type="http://schemas.openxmlformats.org/officeDocument/2006/relationships/hyperlink" Target="https://github.com/zhangsheng93/cMedQA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109/ACCESS.2018.2883637" TargetMode="External"/><Relationship Id="rId3" Type="http://schemas.openxmlformats.org/officeDocument/2006/relationships/hyperlink" Target="https://github.com/zhangsheng93/cMedQA2"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cMedQA2</a:t>
            </a:r>
          </a:p>
        </p:txBody>
      </p:sp>
      <p:sp>
        <p:nvSpPr>
          <p:cNvPr id="3" name="Subtitle 2"/>
          <p:cNvSpPr>
            <a:spLocks noGrp="1"/>
          </p:cNvSpPr>
          <p:nvPr>
            <p:ph type="subTitle" idx="1"/>
          </p:nvPr>
        </p:nvSpPr>
        <p:spPr>
          <a:xfrm>
            <a:off x="548640" y="2647277"/>
            <a:ext cx="8046720" cy="1113227"/>
          </a:xfrm>
        </p:spPr>
        <p:txBody>
          <a:bodyPr lIns="0" rIns="0" tIns="0" bIns="123262">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Medical Question Answer Selection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医療相談の質問に対応する回答を選ぶ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cMedQA2の公式公開リポジトリ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cMedQA2</a:t>
            </a:r>
          </a:p>
        </p:txBody>
      </p:sp>
      <p:pic>
        <p:nvPicPr>
          <p:cNvPr id="4" name="Picture 3" descr="official-site.png"/>
          <p:cNvPicPr>
            <a:picLocks noChangeAspect="1"/>
          </p:cNvPicPr>
          <p:nvPr/>
        </p:nvPicPr>
        <p:blipFill>
          <a:blip r:embed="rId2"/>
          <a:stretch>
            <a:fillRect/>
          </a:stretch>
        </p:blipFill>
        <p:spPr>
          <a:xfrm>
            <a:off x="1097280" y="1353312"/>
            <a:ext cx="6949440" cy="3136900"/>
          </a:xfrm>
          <a:prstGeom prst="rect">
            <a:avLst/>
          </a:prstGeom>
        </p:spPr>
      </p:pic>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医療相談と候補回答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評価方法と成績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医療相談に合う回答を選ぶ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cMedQA2は、中国語の医療相談を扱う</a:t>
            </a:r>
          </a:p>
        </p:txBody>
      </p:sp>
      <p:sp>
        <p:nvSpPr>
          <p:cNvPr id="3" name="Text Placeholder 2"/>
          <p:cNvSpPr>
            <a:spLocks noGrp="1"/>
          </p:cNvSpPr>
          <p:nvPr>
            <p:ph type="body" idx="1"/>
          </p:nvPr>
        </p:nvSpPr>
        <p:spPr>
          <a:xfrm>
            <a:off x="594360" y="1463040"/>
            <a:ext cx="7955279" cy="3189943"/>
          </a:xfrm>
        </p:spPr>
        <p:txBody>
          <a:bodyPr wrap="square" tIns="91440" bIns="236431">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利用者が書いた医療相談と、医師の回答を集めたデータセット。質問と複数の候補回答を読み、その質問に付いた回答を選ぶ。</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元の質問に付いた回答は1、別の質問への回答は0というラベルを持つ。以下の実例では、質問と候補回答1件を中国語全文と日本語訳で示す。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医師が質問へ付けた回答を正解とする設計であり、医療内容を別途審査したラベルではない。医学試験の選択肢を集めたMedQAとは用途が異なる。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実例1：超音波検査についての公開説明例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417320"/>
            <a:ext cx="32004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45920"/>
            <a:ext cx="3200400" cy="2031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94824" bIns="127000">
            <a:noAutofit/>
          </a:bodyPr>
          <a:lstStyle/>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質問：不是说做b超对宝宝不好吗？那怀孕检查是不？不是说做b超对宝宝不好吗？那怀孕检查是不是越少越好。无麻烦解答，谢谢。</a:t>
            </a:r>
          </a:p>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候補回答：B超属于超声波经常检查是不好的而且也没有必要经常检查的一般怀孕两个月检查一下怀孕五个月检查一下快出生时在检查就可以还有就是不舒服检查就可以的</a:t>
            </a:r>
          </a:p>
        </p:txBody>
      </p:sp>
      <p:sp>
        <p:nvSpPr>
          <p:cNvPr id="7" name="TextBox 6"/>
          <p:cNvSpPr txBox="1"/>
          <p:nvPr/>
        </p:nvSpPr>
        <p:spPr>
          <a:xfrm>
            <a:off x="3931920" y="1417320"/>
            <a:ext cx="466344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3931920" y="1645920"/>
            <a:ext cx="4663440" cy="2438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94824" bIns="127000">
            <a:noAutofit/>
          </a:bodyPr>
          <a:lstStyle/>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質問：B超（超音波検査）は赤ちゃんによくないと言われていますよね。それなら妊娠中の検査は……？B超は赤ちゃんによくないと言われていますよね。それなら妊娠中の検査は少ないほどよいのですか。お手数ですが、教えてください。ありがとうございます。</a:t>
            </a:r>
          </a:p>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候補回答：B超は超音波検査です。頻繁に検査するのはよくなく、その必要もありません。一般に妊娠2か月のときに1回、5か月のときに1回、出産間近にもう1回検査すればよく、あとは具合が悪いときに検査すればよいです。</a:t>
            </a:r>
          </a:p>
        </p:txBody>
      </p:sp>
      <p:sp>
        <p:nvSpPr>
          <p:cNvPr id="9" name="TextBox 8"/>
          <p:cNvSpPr txBox="1"/>
          <p:nvPr/>
        </p:nvSpPr>
        <p:spPr>
          <a:xfrm>
            <a:off x="594360" y="416051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実例2：風邪と予防接種の質問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15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質問：儿童感冒能否打预防针，（咳嗽，流鼻涕）</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候補回答：朋友，这种情况最好是不要打，等感冒好后再注射</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質問：子どもは風邪のときに予防接種を受けられますか。（咳、鼻水）</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候補回答：ご質問の件ですが、この場合は接種を控え、風邪が治ってから受けるのがよいでしょう。</a:t>
            </a:r>
          </a:p>
        </p:txBody>
      </p:sp>
      <p:sp>
        <p:nvSpPr>
          <p:cNvPr id="9" name="TextBox 8"/>
          <p:cNvSpPr txBox="1"/>
          <p:nvPr/>
        </p:nvSpPr>
        <p:spPr>
          <a:xfrm>
            <a:off x="594360" y="3284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実例3：同じ咳の話題でも、別の質問への回答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質問：用生姜红糖水可以治疗咳嗽吗？没有经过检问能否喝红糖姜水</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候補回答：对于气管炎和咽喉炎引起咳嗽，最好先就医做一个肺部常规检查，确定具体的情况，再就医使用药物进行治理</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質問：ショウガ入り黒砂糖湯で咳を治せますか？ 検査は受けていませんが、黒砂糖入りショウガ湯を飲んでもよいですか。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候補回答：気管支炎や咽喉炎による咳については、まず医療機関で肺の基本的な検査を受けて詳しい状態を確認し、そのうえで薬による治療を受けるのがよいでしょう。</a:t>
            </a:r>
          </a:p>
        </p:txBody>
      </p:sp>
      <p:sp>
        <p:nvSpPr>
          <p:cNvPr id="9" name="TextBox 8"/>
          <p:cNvSpPr txBox="1"/>
          <p:nvPr/>
        </p:nvSpPr>
        <p:spPr>
          <a:xfrm>
            <a:off x="594360" y="4283455"/>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同じ咳の話題でも、対応する質問は異なる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予防接種の実例は、表示した質問に対して書かれた回答なので正例である。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咳の実例では、候補回答も咳の治療を話題にしているが、別の質問に付いた回答なので負例になる。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このような候補から元の質問に合う回答を選ぶには、病名や症状の語だけでなく、質問と回答の関係を捉える必要がある。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収集元と、学習・評価の構成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医療相談サイトから、質問と医師の回答を収集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中国語の医療相談サイトxywy.comから、利用者の質問と資格を持つ医師の回答を収集した。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v1.0を拡張・修正したv2.0では、挨拶の除去や英語の句読点を中国語の句読点へ置き換える処理を行った。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利用者のプライバシーに配慮して、個人情報を匿名化・除去したと説明されている。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学習・評価に108,000問と203,569回答を使用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560320"/>
                <a:gridCol w="27432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対応する回答数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188,490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7,527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7,552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108,000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203,569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trainは学習、devは設定の調整、testは最終評価に使う。</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学習では正負の組、評価では100候補を使う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234440"/>
                <a:gridCol w="4800600"/>
                <a:gridCol w="20116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1件に含まれるもの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総件数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質問・正例回答・負例回答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5,000,000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質問・候補回答・正負ラベル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400,000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質問・候補回答・正負ラベル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400,000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学習時は各質問から50組を作る。dev/testは各質問に100候補がある。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testの約59％は、正例が1件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Chart 3"/>
          <p:cNvGraphicFramePr>
            <a:graphicFrameLocks noGrp="1"/>
          </p:cNvGraphicFramePr>
          <p:nvPr/>
        </p:nvGraphicFramePr>
        <p:xfrm>
          <a:off x="914400" y="1481328"/>
          <a:ext cx="7223760" cy="2423160"/>
        </p:xfrm>
        <a:graphic>
          <a:graphicData uri="http://schemas.openxmlformats.org/drawingml/2006/chart">
            <c:chart xmlns:c="http://schemas.openxmlformats.org/drawingml/2006/chart" r:id="rId2"/>
          </a:graphicData>
        </a:graphic>
      </p:graphicFrame>
      <p:sp>
        <p:nvSpPr>
          <p:cNvPr id="5" name="TextBox 4"/>
          <p:cNvSpPr txBox="1"/>
          <p:nvPr/>
        </p:nvSpPr>
        <p:spPr>
          <a:xfrm>
            <a:off x="594360" y="3977639"/>
            <a:ext cx="7955279" cy="598932"/>
          </a:xfrm>
          <a:prstGeom prst="rect">
            <a:avLst/>
          </a:prstGeom>
          <a:noFill/>
        </p:spPr>
        <p:txBody>
          <a:bodyPr wrap="square" lIns="0" rIns="0" tIns="0" bIns="0">
            <a:noAutofit/>
          </a:bodyPr>
          <a:lstStyle/>
          <a:p>
            <a:pPr>
              <a:lnSpc>
                <a:spcPts val="2047"/>
              </a:lnSpc>
            </a:pPr>
            <a:r>
              <a:rPr sz="1750">
                <a:solidFill>
                  <a:srgbClr val="303437"/>
                </a:solidFill>
                <a:latin typeface="Noto Sans CJK JP"/>
              </a:rPr>
              <a:t>test 4,000問の正例数。複数の正例がある質問は1,650問。</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https://github.com/zhangsheng93/cMedQA2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学習・評価で回答候補のプールを共有する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testでは1問につき1〜41件、devでは1〜19件の正例がある。質問への回答が複数あるため、100候補の中に正例が何件も含まれる。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負例は別の質問に付いた回答から選ばれる。回答候補のプールは学習・開発・テストをまたいで共有され、テスト質問への回答も学習の負例に現れる。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質問IDは学習・開発・テストで重ならない一方、同じ文面の質問は複数の区分に含まれる。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100候補から選ぶ精度を測る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ACC@1は、最上位の回答が正例だった質問の割合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質問ごとに100候補へ類似度のスコアを付け、最も高い候補を選ぶ。ACC@1は、その回答が正例だった質問の割合を表す。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開発・テストはいずれも4,000問。例えば4,000問中2,000問で正例を最上位に置ければ、ACC@1は50％となる。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2018年の実験では、文字単位の表現から質問と回答の関連を学ぶモデルを、この正解率で比較した。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2018年のtest ACC@1は最高72.1％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4937760"/>
                <a:gridCol w="1554480"/>
                <a:gridCol w="1554480"/>
              </a:tblGrid>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モデル（文字単位）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biGRU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68.7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CNN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Multi-Scale CNNs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70.9</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Multi-Level Composite CNNs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70.1</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提案モデル（CNNの幅2・3）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72.1</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提案モデル（CNNの幅1・2・3）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702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提案モデルは、複数幅のCNNと相互注意を組み合わせる。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公式データの入手と利用条件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質問・回答・候補は、公式リポジトリで公開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公式GitHubリポジトリから、質問、回答、学習用の比較組、開発用候補、テスト用候補の5つのZIPを入手できる。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question.csvとanswer.csvに本文があり、候補ファイルは質問IDと回答IDを結び付ける。dev/testのlabelは、元の質問に対応する回答なら1、別の質問への回答なら0である。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この構成で、回答選択モデルの学習と、同じ100候補に対する比較評価を行える。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データは非商用研究向けに提供されている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医療相談の質問と回答は、個人情報を匿名化・除去したうえで、非商用研究向けに公開されている。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リポジトリにはGNU GPL v3のLICENSEも置かれている。READMEの研究利用条件と、LICENSEのデータへの適用関係は明記されていない。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 README and GPL-3.0 license.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医療相談に対応する回答の選択を学ぶ</a:t>
            </a:r>
          </a:p>
        </p:txBody>
      </p:sp>
      <p:sp>
        <p:nvSpPr>
          <p:cNvPr id="3" name="Text Placeholder 2"/>
          <p:cNvSpPr>
            <a:spLocks noGrp="1"/>
          </p:cNvSpPr>
          <p:nvPr>
            <p:ph type="body" idx="1"/>
          </p:nvPr>
        </p:nvSpPr>
        <p:spPr>
          <a:xfrm>
            <a:off x="594360" y="1463040"/>
            <a:ext cx="7955279" cy="3188609"/>
          </a:xfrm>
        </p:spPr>
        <p:txBody>
          <a:bodyPr wrap="square" tIns="91440" bIns="235097">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cMedQA2は、108,000件の医療質問と203,569件の対応回答を学習・評価に使う、中国語の回答選択データセットである。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学習では正負の回答を比較し、評価では100候補から回答を選ぶ。一つの質問に複数の正例があり、症状の語が似ていても別の質問への回答が負例になる。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ACC@1は、正例を最上位に選べた質問の割合を測る。元データの特徴を生かした回答選択の研究に、非商用研究の条件で利用できる。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74863"/>
          </a:xfrm>
        </p:spPr>
        <p:txBody>
          <a:bodyPr wrap="square" lIns="0" rIns="0" tIns="0" bIns="89647"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追加の医療相談例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データ利用の補足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追加の医療相談例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実例4：立ち上がるときのめまい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質問：有时站起来或者起床会觉得眼睛一片白，头晕，正常吗？</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候補回答：考虑是脑供血不足，低血压或贫血引起的，到医院检查明确一下，查明病因对症治疗，避免劳累情绪激动。</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質問：立ち上がったり起床したりすると、目の前が真っ白になり、めまいがすることがあります。正常ですか？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候補回答：脳への血流不足、低血圧、貧血が原因と考えられます。病院で検査して原因を明らかにし、症状に応じた治療を受け、疲労や感情の高ぶりを避けてください。</a:t>
            </a:r>
          </a:p>
        </p:txBody>
      </p:sp>
      <p:sp>
        <p:nvSpPr>
          <p:cNvPr id="9" name="TextBox 8"/>
          <p:cNvSpPr txBox="1"/>
          <p:nvPr/>
        </p:nvSpPr>
        <p:spPr>
          <a:xfrm>
            <a:off x="594360" y="4037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実例5：片耳が突然聞こえない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質問：有一个耳朵突然听不见声音怎么回事就是听不到</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候補回答：要是没有什么咽喉炎症之类的疾病，而且长时间症状不缓解的话，最好到医院去检查一下，有病的话尽早治疗</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質問：片方の耳が突然聞こえなくなりました。どういうことでしょうか。とにかく聞こえません。</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候補回答：咽喉の炎症などの病気がなく、症状が長い間よくならないなら、病院で検査を受けるのがよいです。病気があれば早く治療してください。</a:t>
            </a:r>
          </a:p>
        </p:txBody>
      </p:sp>
      <p:sp>
        <p:nvSpPr>
          <p:cNvPr id="9" name="TextBox 8"/>
          <p:cNvSpPr txBox="1"/>
          <p:nvPr/>
        </p:nvSpPr>
        <p:spPr>
          <a:xfrm>
            <a:off x="594360" y="3792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実例6：全身のだるさとめまい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質問：经常全身无力，头晕眼花，蹲下容易眼花头晕，手心出虚汗是什么</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候補回答：首先检查血压和血常规看，另外和颈椎病，心肌缺血都有关系，总之需要结合临床症状检查看看</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質問：全身に力が入らず、めまいがしたり目がくらんだりすることがよくあります。しゃがむと目がくらんだり、めまいがしたりしやすく、手のひらに冷や汗もかきます。何なのでしょうか。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候補回答：まず血圧と血算を調べてください。頸椎の病気や心筋虚血とも関係があります。いずれにせよ、臨床症状を踏まえた検査が必要です。</a:t>
            </a:r>
          </a:p>
        </p:txBody>
      </p:sp>
      <p:sp>
        <p:nvSpPr>
          <p:cNvPr id="9" name="TextBox 8"/>
          <p:cNvSpPr txBox="1"/>
          <p:nvPr/>
        </p:nvSpPr>
        <p:spPr>
          <a:xfrm>
            <a:off x="594360" y="4291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実例7：咳と胸の不快感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質問：全部症状：咳嗽、胸部不适发病时间及原因：半月前治疗情况：好转</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候補回答：做个细菌培养检查看看，选择敏感抗生素输液治疗</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質問：症状：咳、胸の不快感。発症時期と原因：半月前。治療状況：改善。</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候補回答：細菌培養検査を受け、菌に効く抗菌薬を選んで点滴治療をしてください。</a:t>
            </a:r>
          </a:p>
        </p:txBody>
      </p:sp>
      <p:sp>
        <p:nvSpPr>
          <p:cNvPr id="9" name="TextBox 8"/>
          <p:cNvSpPr txBox="1"/>
          <p:nvPr/>
        </p:nvSpPr>
        <p:spPr>
          <a:xfrm>
            <a:off x="594360" y="3292856"/>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実例8：皮膚の話題が重なる負例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89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質問：手背皮肤下长不痛不痒硬疙瘩</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候補回答：做好个人卫生，结合皮肤科医生，看下具体情况。</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質問：手の甲の皮膚の下に、痛くもかゆくもない硬いしこりができました。</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候補回答：身体を清潔に保ち、皮膚科の医師に詳しい状態を診てもらってください。</a:t>
            </a:r>
          </a:p>
        </p:txBody>
      </p:sp>
      <p:sp>
        <p:nvSpPr>
          <p:cNvPr id="9" name="TextBox 8"/>
          <p:cNvSpPr txBox="1"/>
          <p:nvPr/>
        </p:nvSpPr>
        <p:spPr>
          <a:xfrm>
            <a:off x="594360" y="3284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実例9：乳児の風邪と一般的な回答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質問：五个月的宝宝感冒了吃什么药鼻塞，嗓子有痰</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候補回答：这个情况主要是因为感冒的原因导致的。积极进行治疗是可以好的。</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88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質問：生後5か月の赤ちゃんが風邪をひきました。どんな薬を飲ませればよいですか。鼻詰まりがあり、喉に痰があります。</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候補回答：この状態は主に風邪によるものです。積極的に治療すればよくなります。</a:t>
            </a:r>
          </a:p>
        </p:txBody>
      </p:sp>
      <p:sp>
        <p:nvSpPr>
          <p:cNvPr id="9" name="TextBox 8"/>
          <p:cNvSpPr txBox="1"/>
          <p:nvPr/>
        </p:nvSpPr>
        <p:spPr>
          <a:xfrm>
            <a:off x="594360" y="3783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実例10：歯の症状と口臭の回答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質問：全部症状：牙齿酸软畏寒浑身无力发病时间及原因近来一周左右治疗情况</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候補回答：口臭的原因主要是由于胃肠功能减弱引起的，建议去医院口腔科检查，如果是由牙科病症引起的，消除疾病口臭症状自然会消失</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質問：症状：歯がうずき、かむ力が入りません。寒気がして、全身に力が入りません。発症時期と原因：この1週間ほど。治療状況。</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候補回答：口臭は主に胃腸機能の低下によって起こります。病院の口腔科で検査を受け、歯科の病気が原因なら、その病気を治せば口臭も自然になくなります。</a:t>
            </a:r>
          </a:p>
        </p:txBody>
      </p:sp>
      <p:sp>
        <p:nvSpPr>
          <p:cNvPr id="9" name="TextBox 8"/>
          <p:cNvSpPr txBox="1"/>
          <p:nvPr/>
        </p:nvSpPr>
        <p:spPr>
          <a:xfrm>
            <a:off x="594360" y="4046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実例11：頭痛の話題が重なる負例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質問：感冒引起头痛牙痛恶心感冒引起头痛牙痛恶心做过脑磁共振，脑电图，ct都正常</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候補回答：上述症状头痛呕吐首先考虑是由于脑膜炎引起的症状，不要大意，需要到当地医院做脑电图检查</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質問：風邪による頭痛、歯痛、吐き気。風邪による頭痛、歯痛、吐き気。脳のMRI、脳波、CTはいずれも正常でした。</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候補回答：上記の頭痛と嘔吐については、まず髄膜炎による症状が考えられます。油断せず、近くの病院で脳波検査を受ける必要があります。</a:t>
            </a:r>
          </a:p>
        </p:txBody>
      </p:sp>
      <p:sp>
        <p:nvSpPr>
          <p:cNvPr id="9" name="TextBox 8"/>
          <p:cNvSpPr txBox="1"/>
          <p:nvPr/>
        </p:nvSpPr>
        <p:spPr>
          <a:xfrm>
            <a:off x="594360" y="4046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実例12：血圧の記載があっても別の回答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質問：肾衰2年，一直透析，服用降压药，血压平时在80/120左右，暂时无不适症状。</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候補回答：及时的检查脑部的CT看看排除一下脑血管疾病的情况，另外和高血压，颈椎病。都有关系</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質問：腎不全で2年間、ずっと透析を受けています。降圧薬を服用し、普段の血圧は80/120前後で、今のところ不調はありません。</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候補回答：早めに脳のCT検査を受けて、脳血管の病気がないか調べてください。高血圧や頸椎の病気とも関係があります。</a:t>
            </a:r>
          </a:p>
        </p:txBody>
      </p:sp>
      <p:sp>
        <p:nvSpPr>
          <p:cNvPr id="9" name="TextBox 8"/>
          <p:cNvSpPr txBox="1"/>
          <p:nvPr/>
        </p:nvSpPr>
        <p:spPr>
          <a:xfrm>
            <a:off x="594360" y="4037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実例13：回答欄にも症状説明が入る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質問：查出说是贫血孩子老烧还有咳嗽</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候補回答：孩子的体质一直很是健壮，前几天感冒了，我也没有拿着当回事，孩子还出现了咳嗽的症状，我就是自己在家给他喂了药物</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質問：貧血だと診断されました。子どもはよく熱を出し、咳もあります。</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候補回答：子どもは以前から体がとても丈夫です。数日前に風邪をひきましたが、私は大したことではないと考えていました。咳の症状も出てきたので、自宅で私が薬を飲ませました。</a:t>
            </a:r>
          </a:p>
        </p:txBody>
      </p:sp>
      <p:sp>
        <p:nvSpPr>
          <p:cNvPr id="9" name="TextBox 8"/>
          <p:cNvSpPr txBox="1"/>
          <p:nvPr/>
        </p:nvSpPr>
        <p:spPr>
          <a:xfrm>
            <a:off x="594360" y="3792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データ利用の補足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質問・回答CSV全体の規模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質問・回答CSV全体</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120,000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226,266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学習・評価の質問と対応回答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108,000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203,569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負例の回答候補には、本文ファイルのより広いプールを使う。</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同じ文面の質問が、複数の区分に含まれる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108960"/>
                <a:gridCol w="2468880"/>
                <a:gridCol w="2468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区分の組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共通する質問ID数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共通する質問文数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質問文の完全一致による共有数。質問IDで分割しても同文が残る。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候補ファイルは、対応回答を先頭に並べている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dev/testの候補ファイルでは、各質問に対応する回答が先頭に並び、その後に別の質問への回答が続く。cnt欄は、この保存順を表している。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評価時には、質問と回答の内容からモデルが計算したスコアで候補を並べ替える。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一つの質問の候補に、同じ回答IDが繰り返し含まれることもある。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質問は約48文字、対応回答は約100文字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27432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回答の平均文字数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47.94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100.74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48.46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100.48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48.81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各区分の質問と対応回答を対象とし、同じ回答IDは一度だけ集計。</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候補1件の質問・回答・ラベルを読み込む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
        <p:nvSpPr>
          <p:cNvPr id="4" name="code-frame"/>
          <p:cNvSpPr/>
          <p:nvPr/>
        </p:nvSpPr>
        <p:spPr>
          <a:xfrm>
            <a:off x="594360" y="1627632"/>
            <a:ext cx="7955279" cy="1600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842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pandas as pd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q = pd.read_csv("question.csv").set_index("question_id")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 = pd.read_csv("answer.csv").set_index("ans_id")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pair = pd.read_csv("test_candidates.txt").iloc[0]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print(q.loc[pair.question_id, "content"])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print(a.loc[pair.ans_id, "content"], pair.label)</a:t>
            </a:r>
          </a:p>
        </p:txBody>
      </p:sp>
      <p:sp>
        <p:nvSpPr>
          <p:cNvPr id="5" name="TextBox 4"/>
          <p:cNvSpPr txBox="1"/>
          <p:nvPr/>
        </p:nvSpPr>
        <p:spPr>
          <a:xfrm>
            <a:off x="594360" y="3431032"/>
            <a:ext cx="7955279" cy="629158"/>
          </a:xfrm>
          <a:prstGeom prst="rect">
            <a:avLst/>
          </a:prstGeom>
          <a:noFill/>
        </p:spPr>
        <p:txBody>
          <a:bodyPr wrap="square" lIns="0" rIns="0" tIns="0" bIns="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展開したCSVから、テスト候補の先頭1件を表示する。IDを使って質問・回答の本文とラベルを取り出せる。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44168"/>
            <a:ext cx="8046720" cy="5664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Multi-Scale Attentive Interaction Networks for Chinese Medical Question Answer Selection</a:t>
            </a:r>
          </a:p>
        </p:txBody>
      </p:sp>
      <p:sp>
        <p:nvSpPr>
          <p:cNvPr id="5" name="TextBox 4"/>
          <p:cNvSpPr txBox="1"/>
          <p:nvPr/>
        </p:nvSpPr>
        <p:spPr>
          <a:xfrm>
            <a:off x="548640" y="1920240"/>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Sheng Zhang, Xin Zhang, Hui Wang, Lixiang Guo &amp; Shanshan Liu · 2018 · IEEE Access 6:74061–74071</a:t>
            </a:r>
          </a:p>
        </p:txBody>
      </p:sp>
      <p:sp>
        <p:nvSpPr>
          <p:cNvPr id="6" name="TextBox 5"/>
          <p:cNvSpPr txBox="1"/>
          <p:nvPr/>
        </p:nvSpPr>
        <p:spPr>
          <a:xfrm>
            <a:off x="548640" y="2276856"/>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医療質問と回答の相互作用を捉える多尺度ネットワークと、拡張したcMedQA v2.0を扱う。</a:t>
            </a:r>
          </a:p>
        </p:txBody>
      </p:sp>
      <p:sp>
        <p:nvSpPr>
          <p:cNvPr id="7" name="TextBox 6"/>
          <p:cNvSpPr txBox="1"/>
          <p:nvPr/>
        </p:nvSpPr>
        <p:spPr>
          <a:xfrm>
            <a:off x="548640" y="2852928"/>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https://doi.org/10.1109/ACCESS.2018.2883637</a:t>
            </a:r>
          </a:p>
        </p:txBody>
      </p:sp>
      <p:sp>
        <p:nvSpPr>
          <p:cNvPr id="8" name="TextBox 7"/>
          <p:cNvSpPr txBox="1"/>
          <p:nvPr/>
        </p:nvSpPr>
        <p:spPr>
          <a:xfrm>
            <a:off x="548640" y="3209544"/>
            <a:ext cx="8046720" cy="5029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cMedQA2: official repository and data</a:t>
            </a:r>
          </a:p>
        </p:txBody>
      </p:sp>
      <p:sp>
        <p:nvSpPr>
          <p:cNvPr id="9" name="TextBox 8"/>
          <p:cNvSpPr txBox="1"/>
          <p:nvPr/>
        </p:nvSpPr>
        <p:spPr>
          <a:xfrm>
            <a:off x="548640" y="3785615"/>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Sheng Zhang et al. · n.d. · GitHub。参照2026-10-18。</a:t>
            </a:r>
          </a:p>
        </p:txBody>
      </p:sp>
      <p:sp>
        <p:nvSpPr>
          <p:cNvPr id="10" name="TextBox 9"/>
          <p:cNvSpPr txBox="1"/>
          <p:nvPr/>
        </p:nvSpPr>
        <p:spPr>
          <a:xfrm>
            <a:off x="548640" y="4142231"/>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質問、回答、学習比較組、dev/test候補と、非商用研究の条件を公開する。</a:t>
            </a:r>
          </a:p>
        </p:txBody>
      </p:sp>
      <p:sp>
        <p:nvSpPr>
          <p:cNvPr id="11" name="TextBox 10"/>
          <p:cNvSpPr txBox="1"/>
          <p:nvPr/>
        </p:nvSpPr>
        <p:spPr>
          <a:xfrm>
            <a:off x="548640" y="4718304"/>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https://github.com/zhangsheng93/cMedQA2</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2026-10-18T12:21:57Z</dcterms:modified>
  <dc:title>cmedqa2</dc:title>
  <dc:creator>sasakiy84</dc:creator>
  <dcterms:created xsi:type="dcterms:W3CDTF">2026-10-18T12:21:57Z</dcterms:created>
  <dc:language>ja-JP</dc:language>
</cp:coreProperties>
</file>