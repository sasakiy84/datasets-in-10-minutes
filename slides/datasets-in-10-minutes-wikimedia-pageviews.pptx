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doc.wikimedia.org/generated-data-platform/aqs/analytics-ap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hyperlink" Target="https://doc.wikimedia.org/generated-data-platform/aqs/analytics-api/reference/page-view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concepts/page-views.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concepts/unique-device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s://doc.wikimedia.org/generated-data-platform/aqs/analytics-api/reference/page-views.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concepts/page-view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reference/page-view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concepts/page-view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ikitech.wikimedia.org/wiki/Data_Platform/Data_Lake/Traffic/Pageview_hourl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 Id="rId3" Type="http://schemas.openxmlformats.org/officeDocument/2006/relationships/hyperlink" Target="https://dumps.wikimedia.org/other/pageviews/readme.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ikitech.wikimedia.org/wiki/Data_Platform/Data_Lake/Traffic/Pageview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ikitech.wikimedia.org/wiki/Data_Platform/Data_Lake/Traffic/Pageview_hourl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documentation/access-policy.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documentation/access-policy.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reference/page-view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reference/page-views.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umps.wikimedia.org/other/pageview_complete/readme.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wikimedia.org/generated-data-platform/aqs/analytics-api/concepts/unique-device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 TargetMode="External"/><Relationship Id="rId3" Type="http://schemas.openxmlformats.org/officeDocument/2006/relationships/hyperlink" Target="https://doc.wikimedia.org/generated-data-platform/aqs/analytics-api/reference/page-views.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wikimedia.org/generated-data-platform/aqs/analytics-api/concepts/page-views.html" TargetMode="External"/><Relationship Id="rId3" Type="http://schemas.openxmlformats.org/officeDocument/2006/relationships/hyperlink" Target="https://doc.wikimedia.org/generated-data-platform/aqs/analytics-api/documentation/access-policy.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umps.wikimedia.org/other/pageviews/readme.html" TargetMode="External"/><Relationship Id="rId3" Type="http://schemas.openxmlformats.org/officeDocument/2006/relationships/hyperlink" Target="https://dumps.wikimedia.org/other/pageview_complete/readm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23240" y="1850352"/>
            <a:ext cx="8097520" cy="1055370"/>
          </a:xfrm>
        </p:spPr>
        <p:txBody>
          <a:bodyPr wrap="square" lIns="25400" rIns="0" tIns="0" bIns="508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Wikimedia Pageviews</a:t>
            </a:r>
          </a:p>
        </p:txBody>
      </p:sp>
      <p:sp>
        <p:nvSpPr>
          <p:cNvPr id="3" name="Subtitle 2"/>
          <p:cNvSpPr>
            <a:spLocks noGrp="1"/>
          </p:cNvSpPr>
          <p:nvPr>
            <p:ph type="subTitle" idx="1"/>
          </p:nvPr>
        </p:nvSpPr>
        <p:spPr>
          <a:xfrm>
            <a:off x="548640" y="2898102"/>
            <a:ext cx="8046720" cy="5645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Wikipediaなどのページ閲覧統計</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Wikimedia Analytics APIの公式サイト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公式サイト</a:t>
            </a:r>
          </a:p>
        </p:txBody>
      </p:sp>
      <p:pic>
        <p:nvPicPr>
          <p:cNvPr id="4" name="Picture 3" descr="official-site.png"/>
          <p:cNvPicPr>
            <a:picLocks noChangeAspect="1"/>
          </p:cNvPicPr>
          <p:nvPr/>
        </p:nvPicPr>
        <p:blipFill>
          <a:blip r:embed="rId2"/>
          <a:stretch>
            <a:fillRect/>
          </a:stretch>
        </p:blipFill>
        <p:spPr>
          <a:xfrm>
            <a:off x="548640" y="1486845"/>
            <a:ext cx="8046720" cy="3052204"/>
          </a:xfrm>
          <a:prstGeom prst="rect">
            <a:avLst/>
          </a:prstGeom>
        </p:spPr>
      </p:pic>
      <p:sp>
        <p:nvSpPr>
          <p:cNvPr id="5" name="sources"/>
          <p:cNvSpPr txBox="1"/>
          <p:nvPr/>
        </p:nvSpPr>
        <p:spPr>
          <a:xfrm>
            <a:off x="502920" y="4690872"/>
            <a:ext cx="8183879" cy="2667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Wikimedia Analytics API.</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https://doc.wikimedia.org/generated-data-platform/aqs/analytics-api/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4383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閲覧数と時系列の実例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集計条件による違い</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データの作成と配布形式</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取得して分析に使う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40360" y="2506875"/>
            <a:ext cx="8463280" cy="697992"/>
          </a:xfrm>
        </p:spPr>
        <p:txBody>
          <a:bodyPr wrap="square" lIns="2540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閲覧数と時系列の実例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「富士山」は、1日に何回閲覧されたか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pic>
        <p:nvPicPr>
          <p:cNvPr id="4" name="Picture 3" descr="fuji-series.png"/>
          <p:cNvPicPr>
            <a:picLocks noChangeAspect="1"/>
          </p:cNvPicPr>
          <p:nvPr/>
        </p:nvPicPr>
        <p:blipFill>
          <a:blip r:embed="rId2"/>
          <a:stretch>
            <a:fillRect/>
          </a:stretch>
        </p:blipFill>
        <p:spPr>
          <a:xfrm>
            <a:off x="789611" y="1389888"/>
            <a:ext cx="7564777" cy="2679192"/>
          </a:xfrm>
          <a:prstGeom prst="rect">
            <a:avLst/>
          </a:prstGeom>
        </p:spPr>
      </p:pic>
      <p:sp>
        <p:nvSpPr>
          <p:cNvPr id="5" name="TextBox 4"/>
          <p:cNvSpPr txBox="1"/>
          <p:nvPr/>
        </p:nvSpPr>
        <p:spPr>
          <a:xfrm>
            <a:off x="594360" y="4178808"/>
            <a:ext cx="7955279" cy="469392"/>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日本語版・2025年9月 UTC・全アクセス方法・user。月合計は24,611回。</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富士山、2025-09・日次・user。CC0.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https://doc.wikimedia.org/generated-data-platform/aqs/analytics-api/reference/page-views.html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9月1日の1レコードを読む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graphicFrame>
        <p:nvGraphicFramePr>
          <p:cNvPr id="4" name="Table 3"/>
          <p:cNvGraphicFramePr>
            <a:graphicFrameLocks noGrp="1"/>
          </p:cNvGraphicFramePr>
          <p:nvPr/>
        </p:nvGraphicFramePr>
        <p:xfrm>
          <a:off x="1417319" y="1508760"/>
          <a:ext cx="6309360" cy="2613660"/>
        </p:xfrm>
        <a:graphic>
          <a:graphicData uri="http://schemas.openxmlformats.org/drawingml/2006/table">
            <a:tbl>
              <a:tblPr firstRow="0" bandRow="0"/>
              <a:tblGrid>
                <a:gridCol w="2286000"/>
                <a:gridCol w="402336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article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富士山</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timestamp</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2025090100</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views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1669</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project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ja.wikipedia</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granularity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daily</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50435"/>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2025年9月1日 UTCに、日本語版「富士山」を1,669回閲覧したという集計。</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富士山、2025-09・日次・user。CC0.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ページの内容を返した要求を数える</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Pageviewsは、Wikipediaなどのページの内容を返した要求の回数を集計する。Wikimedia Foundationが公式に提供している。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WebではHTML、モバイルアプリでは所定のJSON要求を対象とし、応答が200または304などの条件を満たすものを数える。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編集操作や、多くの特別ページは除く。検索ページなど一部の特別ページは含む。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https://doc.wikimedia.org/generated-data-platform/aqs/analytics-api/concepts/page-views.html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閲覧回数と読者数では、数える単位が違う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graphicFrame>
        <p:nvGraphicFramePr>
          <p:cNvPr id="4" name="Table 3"/>
          <p:cNvGraphicFramePr>
            <a:graphicFrameLocks noGrp="1"/>
          </p:cNvGraphicFramePr>
          <p:nvPr/>
        </p:nvGraphicFramePr>
        <p:xfrm>
          <a:off x="731520" y="1508760"/>
          <a:ext cx="7680960" cy="1684020"/>
        </p:xfrm>
        <a:graphic>
          <a:graphicData uri="http://schemas.openxmlformats.org/drawingml/2006/table">
            <a:tbl>
              <a:tblPr firstRow="0" bandRow="0"/>
              <a:tblGrid>
                <a:gridCol w="2560320"/>
                <a:gridCol w="512064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数える対象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Pageviews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条件を満たすページ閲覧の要求</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Unique devices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その期間に訪れた端末の推計</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セッション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連続した訪問や操作のまとまり</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20795"/>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同じ人が同じページを繰り返し開いた場合も、Pageviewsでは閲覧を数える。公開APIの系列には個人やセッションの識別子は入らない。</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Unique devices.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https://doc.wikimedia.org/generated-data-platform/aqs/analytics-api/concepts/unique-devices.html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「大谷翔平」は、日による変化が大きい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pic>
        <p:nvPicPr>
          <p:cNvPr id="4" name="Picture 3" descr="ohtani-series.png"/>
          <p:cNvPicPr>
            <a:picLocks noChangeAspect="1"/>
          </p:cNvPicPr>
          <p:nvPr/>
        </p:nvPicPr>
        <p:blipFill>
          <a:blip r:embed="rId2"/>
          <a:stretch>
            <a:fillRect/>
          </a:stretch>
        </p:blipFill>
        <p:spPr>
          <a:xfrm>
            <a:off x="789611" y="1389888"/>
            <a:ext cx="7564777" cy="2679192"/>
          </a:xfrm>
          <a:prstGeom prst="rect">
            <a:avLst/>
          </a:prstGeom>
        </p:spPr>
      </p:pic>
      <p:sp>
        <p:nvSpPr>
          <p:cNvPr id="5" name="TextBox 4"/>
          <p:cNvSpPr txBox="1"/>
          <p:nvPr/>
        </p:nvSpPr>
        <p:spPr>
          <a:xfrm>
            <a:off x="594360" y="4178808"/>
            <a:ext cx="7955279" cy="469392"/>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日本語版・2025年9月 UTC・全アクセス方法・user。月合計は406,577回。</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大谷翔平、2025-09・日次・user。CC0.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https://doc.wikimedia.org/generated-data-platform/aqs/analytics-api/reference/page-views.html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月の合計と、閲覧が多かった日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閲覧数と時系列の実例</a:t>
            </a:r>
          </a:p>
        </p:txBody>
      </p:sp>
      <p:graphicFrame>
        <p:nvGraphicFramePr>
          <p:cNvPr id="4" name="Table 3"/>
          <p:cNvGraphicFramePr>
            <a:graphicFrameLocks noGrp="1"/>
          </p:cNvGraphicFramePr>
          <p:nvPr/>
        </p:nvGraphicFramePr>
        <p:xfrm>
          <a:off x="1508760" y="1508760"/>
          <a:ext cx="6126480" cy="2251075"/>
        </p:xfrm>
        <a:graphic>
          <a:graphicData uri="http://schemas.openxmlformats.org/drawingml/2006/table">
            <a:tbl>
              <a:tblPr firstRow="0" bandRow="0"/>
              <a:tblGrid>
                <a:gridCol w="3108960"/>
                <a:gridCol w="3017520"/>
              </a:tblGrid>
              <a:tr h="450215">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日付（UTC）</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大谷翔平の閲覧数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0215">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09/21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35,250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0215">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09/29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30,494</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09/20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23,568</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09/17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23,247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87851"/>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30日分の取得値を閲覧数で並べた上位4日。増減の時期を絞り込み、関連する出来事の調査につなげられる。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大谷翔平、2025-09・日次・user。CC0.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40360" y="2506875"/>
            <a:ext cx="8463280" cy="697992"/>
          </a:xfrm>
        </p:spPr>
        <p:txBody>
          <a:bodyPr wrap="square" lIns="2540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集計条件による違い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同じページでも、集計条件を指定できる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graphicFrame>
        <p:nvGraphicFramePr>
          <p:cNvPr id="4" name="Table 3"/>
          <p:cNvGraphicFramePr>
            <a:graphicFrameLocks noGrp="1"/>
          </p:cNvGraphicFramePr>
          <p:nvPr/>
        </p:nvGraphicFramePr>
        <p:xfrm>
          <a:off x="548639" y="1508760"/>
          <a:ext cx="8046720" cy="2032000"/>
        </p:xfrm>
        <a:graphic>
          <a:graphicData uri="http://schemas.openxmlformats.org/drawingml/2006/table">
            <a:tbl>
              <a:tblPr firstRow="0" bandRow="0"/>
              <a:tblGrid>
                <a:gridCol w="1920240"/>
                <a:gridCol w="612648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例と意味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project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ja.wikipedia は日本語版Wikipedia</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access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desktop / mobile-web / mobile-app</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agent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user / spider / automated</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granularity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daily（日次） / monthly（月次）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 analytics.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agentで自動アクセスを分類する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graphicFrame>
        <p:nvGraphicFramePr>
          <p:cNvPr id="4" name="Table 3"/>
          <p:cNvGraphicFramePr>
            <a:graphicFrameLocks noGrp="1"/>
          </p:cNvGraphicFramePr>
          <p:nvPr/>
        </p:nvGraphicFramePr>
        <p:xfrm>
          <a:off x="548639" y="1508760"/>
          <a:ext cx="8046720" cy="1684020"/>
        </p:xfrm>
        <a:graphic>
          <a:graphicData uri="http://schemas.openxmlformats.org/drawingml/2006/table">
            <a:tbl>
              <a:tblPr firstRow="0" bandRow="0"/>
              <a:tblGrid>
                <a:gridCol w="2103120"/>
                <a:gridCol w="594360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分類の意味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user</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自動アクセスと判定されなかった要求</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spider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User-Agentでbotと自己申告した要求</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automated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振る舞いなどから自動と判定した要求</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20795"/>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all-agentsは全分類の合計。userも、検出処理に基づく分類として提供される。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https://doc.wikimedia.org/generated-data-platform/aqs/analytics-api/concepts/page-views.html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日本語版全体では、自動アクセスも多い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graphicFrame>
        <p:nvGraphicFramePr>
          <p:cNvPr id="4" name="Table 3"/>
          <p:cNvGraphicFramePr>
            <a:graphicFrameLocks noGrp="1"/>
          </p:cNvGraphicFramePr>
          <p:nvPr/>
        </p:nvGraphicFramePr>
        <p:xfrm>
          <a:off x="1463040" y="1508760"/>
          <a:ext cx="6217920" cy="2251075"/>
        </p:xfrm>
        <a:graphic>
          <a:graphicData uri="http://schemas.openxmlformats.org/drawingml/2006/table">
            <a:tbl>
              <a:tblPr firstRow="0" bandRow="0"/>
              <a:tblGrid>
                <a:gridCol w="2651760"/>
                <a:gridCol w="3566160"/>
              </a:tblGrid>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agent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2025年9月の閲覧数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user</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908,972,052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spider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273,528,335</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automated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82,869,435</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all-agents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1,265,369,822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87851"/>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日本語版全体・all-access・日次30レコードを合計。記事別の例とは集計対象が異なる。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日本語版、2025-09 UTC。取得値から作成。CC0.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「富士山」の閲覧をアクセス方法で分ける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graphicFrame>
        <p:nvGraphicFramePr>
          <p:cNvPr id="4" name="Table 3"/>
          <p:cNvGraphicFramePr>
            <a:graphicFrameLocks noGrp="1"/>
          </p:cNvGraphicFramePr>
          <p:nvPr/>
        </p:nvGraphicFramePr>
        <p:xfrm>
          <a:off x="1371600" y="1508760"/>
          <a:ext cx="6400800" cy="1800860"/>
        </p:xfrm>
        <a:graphic>
          <a:graphicData uri="http://schemas.openxmlformats.org/drawingml/2006/table">
            <a:tbl>
              <a:tblPr firstRow="0" bandRow="0"/>
              <a:tblGrid>
                <a:gridCol w="2926080"/>
                <a:gridCol w="3474720"/>
              </a:tblGrid>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アクセス方法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2025年9月の閲覧数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desktop</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10,539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mobile-web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13,710</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mobile-app</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362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37636"/>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日本語版・user・月次。3区分の合計24,611回は、all-accessの日次30日分の合計と一致する。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富士山、2025-09・月次・アクセス方法別・user。CC0.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時刻はUTCで、日次・月次を選ぶ</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日次データのtimestampは、集計する日の開始をUTCで表す。2025090100は2025年9月1日0時 UTCで、日本時間の同日9時に当たる。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日ごとの変動を調べるならdaily、月単位の規模を比較するならmonthlyを使う。月の日数も比較する量に合わせて扱う。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現在のPageviews APIは2015年7月1日以降を提供する。ここでは確定した過去月の2025年9月を使った。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 analytics.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記事名を指定するときは転送も考える</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記事別の系列は、指定したページタイトルに対応する。表記違いや別名からの転送先へ、閲覧数が自動で合算されるわけではない。</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同じ対象への関心を調べたい場合は、現在のタイトルだけでなく、転送ページや改名の有無も調べて対象を決める。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「記事の主題への関心」として解釈する前に、どのページ名の閲覧を集めたかをそろえる。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集計条件による違い</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https://doc.wikimedia.org/generated-data-platform/aqs/analytics-api/concepts/page-views.html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40360" y="2506875"/>
            <a:ext cx="8463280" cy="697992"/>
          </a:xfrm>
        </p:spPr>
        <p:txBody>
          <a:bodyPr wrap="square" lIns="2540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データの作成と配布形式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Web要求を分類し、時刻やページで集計する</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Wikimediaのサーバーへの要求から、ページ閲覧の定義に合う要求を選ぶ。アクセス方法や自動アクセスの分類も付ける。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ページ、プロジェクト、時刻などの単位で回数を集計し、公開用の統計へまとめる。APIや配布ファイルからその集計を取得できる。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記事本文のコーパスとは異なり、ここに入るのは閲覧回数と集計条件。本文の内容を分析する場合は、別途本文データと対応づける。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Data Platform/Data Lake/Traffic/Pageview hourly.</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https://wikitech.wikimedia.org/wiki/Data_Platform/Data_Lake/Traffic/Pageview_hourly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APIは集計条件と回数をJSONで返す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sp>
        <p:nvSpPr>
          <p:cNvPr id="4" name="code-frame"/>
          <p:cNvSpPr/>
          <p:nvPr/>
        </p:nvSpPr>
        <p:spPr>
          <a:xfrm>
            <a:off x="548640" y="1508760"/>
            <a:ext cx="8046720" cy="26114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"project": "ja.wikipedia",</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"article": "富士山",</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"granularity": "daily",</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"timestamp": "2025090100",</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"access": "all-access",</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"agent": "user",</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"views": 1669</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p:txBody>
      </p:sp>
      <p:sp>
        <p:nvSpPr>
          <p:cNvPr id="5" name="TextBox 4"/>
          <p:cNvSpPr txBox="1"/>
          <p:nvPr/>
        </p:nvSpPr>
        <p:spPr>
          <a:xfrm>
            <a:off x="594360" y="4308665"/>
            <a:ext cx="7955279" cy="1082040"/>
          </a:xfrm>
          <a:prstGeom prst="rect">
            <a:avLst/>
          </a:prstGeom>
          <a:noFill/>
        </p:spPr>
        <p:txBody>
          <a:bodyPr wrap="square" lIns="0" rIns="0" tIns="0" bIns="0">
            <a:noAutofit/>
          </a:bodyPr>
          <a:lstStyle/>
          <a:p>
            <a:pPr algn="l">
              <a:lnSpc>
                <a:spcPts val="2000"/>
              </a:lnSpc>
              <a:spcBef>
                <a:spcPts val="0"/>
              </a:spcBef>
              <a:spcAft>
                <a:spcPts val="0"/>
              </a:spcAft>
              <a:buNone/>
              <a:defRPr sz="1900" b="0">
                <a:solidFill>
                  <a:srgbClr val="303437"/>
                </a:solidFill>
                <a:latin typeface="Noto Sans"/>
              </a:defRPr>
            </a:pPr>
            <a:r>
              <a:rPr sz="1700" b="0" lang="ja-JP" altLang="en-US">
                <a:solidFill>
                  <a:srgbClr val="303437"/>
                </a:solidFill>
                <a:latin typeface="Noto Sans"/>
                <a:ea typeface="Noto Sans CJK JP"/>
                <a:cs typeface="Noto Sans"/>
              </a:rPr>
              <a:t>「富士山」の1日分。日次レコードはitems配列に並ぶ。</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富士山、2025-09・日次・user。CC0.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JSONの文字列から集計対象を読める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graphicFrame>
        <p:nvGraphicFramePr>
          <p:cNvPr id="4" name="Table 3"/>
          <p:cNvGraphicFramePr>
            <a:graphicFrameLocks noGrp="1"/>
          </p:cNvGraphicFramePr>
          <p:nvPr/>
        </p:nvGraphicFramePr>
        <p:xfrm>
          <a:off x="1417319" y="1508760"/>
          <a:ext cx="6309360" cy="2251075"/>
        </p:xfrm>
        <a:graphic>
          <a:graphicData uri="http://schemas.openxmlformats.org/drawingml/2006/table">
            <a:tbl>
              <a:tblPr firstRow="0" bandRow="0"/>
              <a:tblGrid>
                <a:gridCol w="2286000"/>
                <a:gridCol w="4023360"/>
              </a:tblGrid>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この例の値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project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ja.wikipedia</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access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all-access</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agent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user</a:t>
                      </a:r>
                    </a:p>
                  </a:txBody>
                  <a:tcPr marL="63500" marR="63500" marT="38100" marB="38100" anchor="ctr">
                    <a:lnL w="7620">
                      <a:noFill/>
                    </a:lnL>
                    <a:lnR w="7620">
                      <a:noFill/>
                    </a:lnR>
                    <a:lnT w="7620">
                      <a:noFill/>
                    </a:lnT>
                    <a:lnB w="7620">
                      <a:noFill/>
                    </a:lnB>
                    <a:solidFill>
                      <a:srgbClr val="FFFEF8"/>
                    </a:solidFill>
                  </a:tcPr>
                </a:tc>
              </a:tr>
              <a:tr h="450215">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article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富士山</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87851"/>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「どの記事を、どの集計条件で数えたか」を、値と一緒に保存できる。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富士山、2025-09・日次・user。CC0.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APIとファイル配布を使い分ける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graphicFrame>
        <p:nvGraphicFramePr>
          <p:cNvPr id="4" name="Table 3"/>
          <p:cNvGraphicFramePr>
            <a:graphicFrameLocks noGrp="1"/>
          </p:cNvGraphicFramePr>
          <p:nvPr/>
        </p:nvGraphicFramePr>
        <p:xfrm>
          <a:off x="548639" y="1508760"/>
          <a:ext cx="8046720" cy="1625600"/>
        </p:xfrm>
        <a:graphic>
          <a:graphicData uri="http://schemas.openxmlformats.org/drawingml/2006/table">
            <a:tbl>
              <a:tblPr firstRow="0" bandRow="0"/>
              <a:tblGrid>
                <a:gridCol w="2926080"/>
                <a:gridCol w="51206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入手方法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向いている取得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Pageviews API</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少数ページの時系列・人気ページ</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pageviews dump</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全プロジェクトの時間別集計</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pageview_complete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長期間の記事別集計をまとめて取得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62376"/>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APIはJSON、時間別dumpはgzip圧縮したテキスト。必要な対象と期間から選ぶ。</a:t>
            </a:r>
          </a:p>
        </p:txBody>
      </p:sp>
      <p:sp>
        <p:nvSpPr>
          <p:cNvPr id="6" name="sources"/>
          <p:cNvSpPr txBox="1"/>
          <p:nvPr/>
        </p:nvSpPr>
        <p:spPr>
          <a:xfrm>
            <a:off x="502920" y="4517136"/>
            <a:ext cx="8183879" cy="546099"/>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 analytics.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Wikimedia Foundation. Analytics Datasets: Pageviews.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https://dumps.wikimedia.org/other/pageviews/readme.html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時間別dumpは、1行に1ページの集計を置く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sp>
        <p:nvSpPr>
          <p:cNvPr id="4" name="code-frame"/>
          <p:cNvSpPr/>
          <p:nvPr/>
        </p:nvSpPr>
        <p:spPr>
          <a:xfrm>
            <a:off x="548640" y="1417320"/>
            <a:ext cx="8046720" cy="5713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1016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Liberation Mono"/>
                <a:ea typeface="Noto Sans CJK JP"/>
                <a:cs typeface="Liberation Mono"/>
              </a:rPr>
              <a:t>af.m Adidas 1 0</a:t>
            </a:r>
          </a:p>
        </p:txBody>
      </p:sp>
      <p:graphicFrame>
        <p:nvGraphicFramePr>
          <p:cNvPr id="5" name="Table 3"/>
          <p:cNvGraphicFramePr>
            <a:graphicFrameLocks noGrp="1"/>
          </p:cNvGraphicFramePr>
          <p:nvPr/>
        </p:nvGraphicFramePr>
        <p:xfrm>
          <a:off x="548640" y="2057400"/>
          <a:ext cx="8046720" cy="1920240"/>
        </p:xfrm>
        <a:graphic>
          <a:graphicData uri="http://schemas.openxmlformats.org/drawingml/2006/table">
            <a:tbl>
              <a:tblPr firstRow="0" bandRow="0"/>
              <a:tblGrid>
                <a:gridCol w="2560320"/>
                <a:gridCol w="548640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実レコードの意味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domain_code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af.m はアフリカーンス語版のmobileサイト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page_title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Adidasというページ名。空白は_で表す</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count_views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その1時間に1回閲覧された</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total_response_size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0。旧形式に合わせて残る互換列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TextBox 5"/>
          <p:cNvSpPr txBox="1"/>
          <p:nvPr/>
        </p:nvSpPr>
        <p:spPr>
          <a:xfrm>
            <a:off x="594360" y="4151376"/>
            <a:ext cx="7955279" cy="5059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20250901-010000のファイルから取得。2025-09-01 01:00 UTCで終わる1時間の集計。</a:t>
            </a:r>
          </a:p>
        </p:txBody>
      </p:sp>
      <p:sp>
        <p:nvSpPr>
          <p:cNvPr id="7"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Data Platform/Data Lake/Traffic/Pageviews.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https://wikitech.wikimedia.org/wiki/Data_Platform/Data_Lake/Traffic/Pageviews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公開するのは集計済みの統計</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記事別APIは、ページ・日や月・アクセス方法・agentごとの閲覧回数を公開する。閲覧した人のIPアドレスや識別子は含まない。</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内部のpageview_hourlyには国・都市や参照元などの細かな属性もあるが、プライバシー保護のため、そのテーブル自体は非公開。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国別の統計などは別の公開APIで提供される。記事別系列と自由に組み合わせられる個票が公開されているわけではない。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データの作成と配布形式</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Data Platform/Data Lake/Traffic/Pageview hourly.</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https://wikitech.wikimedia.org/wiki/Data_Platform/Data_Lake/Traffic/Pageview_hourly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40360" y="2506875"/>
            <a:ext cx="8463280" cy="697992"/>
          </a:xfrm>
        </p:spPr>
        <p:txBody>
          <a:bodyPr wrap="square" lIns="2540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取得して分析に使う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Pythonで1記事の日次データを取得する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sp>
        <p:nvSpPr>
          <p:cNvPr id="4" name="code-frame"/>
          <p:cNvSpPr/>
          <p:nvPr/>
        </p:nvSpPr>
        <p:spPr>
          <a:xfrm>
            <a:off x="548640" y="1508760"/>
            <a:ext cx="8046720" cy="24685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import requests; from urllib.parse import quote</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base = "https://wikimedia.org/api/rest_v1/metrics/pageviews"</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path = "/per-article/ja.wikipedia/all-access/user/"</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path += quote("富士山") + "/daily/2025090100/2025093000"</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headers = {"User-Agent": "my-analysis/1.0 (contact@example.org)"}</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r = requests.get(base + path, headers=headers, timeout=30)</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r.raise_for_status()</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data = r.json()</a:t>
            </a:r>
          </a:p>
          <a:p>
            <a:pPr algn="l">
              <a:lnSpc>
                <a:spcPts val="1937"/>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print(data["items"][0])</a:t>
            </a:r>
          </a:p>
        </p:txBody>
      </p:sp>
      <p:sp>
        <p:nvSpPr>
          <p:cNvPr id="5" name="TextBox 4"/>
          <p:cNvSpPr txBox="1"/>
          <p:nvPr/>
        </p:nvSpPr>
        <p:spPr>
          <a:xfrm>
            <a:off x="594360" y="4178490"/>
            <a:ext cx="7955279" cy="1082040"/>
          </a:xfrm>
          <a:prstGeom prst="rect">
            <a:avLst/>
          </a:prstGeom>
          <a:noFill/>
        </p:spPr>
        <p:txBody>
          <a:bodyPr wrap="square" lIns="0" rIns="0" tIns="0" bIns="0">
            <a:noAutofit/>
          </a:bodyPr>
          <a:lstStyle/>
          <a:p>
            <a:pPr algn="l">
              <a:lnSpc>
                <a:spcPts val="2000"/>
              </a:lnSpc>
              <a:spcBef>
                <a:spcPts val="0"/>
              </a:spcBef>
              <a:spcAft>
                <a:spcPts val="0"/>
              </a:spcAft>
              <a:buNone/>
              <a:defRPr sz="1900" b="0">
                <a:solidFill>
                  <a:srgbClr val="303437"/>
                </a:solidFill>
                <a:latin typeface="Noto Sans"/>
              </a:defRPr>
            </a:pPr>
            <a:r>
              <a:rPr sz="1700" b="0" lang="ja-JP" altLang="en-US">
                <a:solidFill>
                  <a:srgbClr val="303437"/>
                </a:solidFill>
                <a:latin typeface="Noto Sans"/>
                <a:ea typeface="Noto Sans CJK JP"/>
                <a:cs typeface="Noto Sans"/>
              </a:rPr>
              <a:t>requestsを導入し、連絡先を自分のものに変更して実行する。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Access policy.</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https://doc.wikimedia.org/generated-data-platform/aqs/analytics-api/documentation/access-policy.html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取得した日次データを集計する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sp>
        <p:nvSpPr>
          <p:cNvPr id="4" name="code-frame"/>
          <p:cNvSpPr/>
          <p:nvPr/>
        </p:nvSpPr>
        <p:spPr>
          <a:xfrm>
            <a:off x="548640" y="1508760"/>
            <a:ext cx="8046720" cy="1460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375"/>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rows = data["items"]</a:t>
            </a:r>
          </a:p>
          <a:p>
            <a:pPr algn="l">
              <a:lnSpc>
                <a:spcPts val="2375"/>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print(len(rows))</a:t>
            </a:r>
          </a:p>
          <a:p>
            <a:pPr algn="l">
              <a:lnSpc>
                <a:spcPts val="2375"/>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print(sum(row["views"] for row in rows))</a:t>
            </a:r>
          </a:p>
          <a:p>
            <a:pPr algn="l">
              <a:lnSpc>
                <a:spcPts val="2375"/>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print(max(rows, key=lambda row: row["views"]))</a:t>
            </a:r>
          </a:p>
        </p:txBody>
      </p:sp>
      <p:sp>
        <p:nvSpPr>
          <p:cNvPr id="5" name="TextBox 4"/>
          <p:cNvSpPr txBox="1"/>
          <p:nvPr/>
        </p:nvSpPr>
        <p:spPr>
          <a:xfrm>
            <a:off x="594360" y="3170428"/>
            <a:ext cx="7955279" cy="10820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出力は30日分、月合計24,611回。最大は2025年9月1日の1,669回。</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富士山、2025-09・日次・user。CC0.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月間の人気ページも、一覧で取得できる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graphicFrame>
        <p:nvGraphicFramePr>
          <p:cNvPr id="4" name="Table 3"/>
          <p:cNvGraphicFramePr>
            <a:graphicFrameLocks noGrp="1"/>
          </p:cNvGraphicFramePr>
          <p:nvPr/>
        </p:nvGraphicFramePr>
        <p:xfrm>
          <a:off x="1508760" y="1508760"/>
          <a:ext cx="6126480" cy="2526030"/>
        </p:xfrm>
        <a:graphic>
          <a:graphicData uri="http://schemas.openxmlformats.org/drawingml/2006/table">
            <a:tbl>
              <a:tblPr firstRow="0" bandRow="0"/>
              <a:tblGrid>
                <a:gridCol w="731520"/>
                <a:gridCol w="3474720"/>
                <a:gridCol w="1920240"/>
              </a:tblGrid>
              <a:tr h="421005">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順位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ページ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閲覧数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メインページ</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15,224,048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特別:検索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2,865,493</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清水尋也</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2,236,017</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高市早苗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1,075,457</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清水尚弥</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1,017,935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62805"/>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日本語版・2025年9月・all-access。上位5件を公式順位のまま表示。記事以外のメインページや特別:検索も含む。</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日本語版、2025-09 UTC。取得値から作成。CC0.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記事の比較や、閲覧の推移の調査に使う</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記事ごとの時系列を比べると、継続して読まれるページと、短期間に閲覧が増えるページの違いを調べられる。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人気ページの一覧から対象を見つけ、記事別APIで日ごとの推移を調べる。内容や出来事との対応は、記事本文や別資料で確かめる。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公式のWikimedia Statisticsや、Pageviews Analysisの画面からも統計を探索できる。APIは、その集計を自分の分析へ取り込む入口になる。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sp>
        <p:nvSpPr>
          <p:cNvPr id="5" name="sources"/>
          <p:cNvSpPr txBox="1"/>
          <p:nvPr/>
        </p:nvSpPr>
        <p:spPr>
          <a:xfrm>
            <a:off x="502920" y="4690872"/>
            <a:ext cx="8183879" cy="2667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Wikimedia Analytics API.</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https://doc.wikimedia.org/generated-data-platform/aqs/analytics-api/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CC0で利用でき、APIには識別情報を付ける</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Analytics APIのデータとAnalyticsの配布統計は、CC0 1.0で提供される。本資料のグラフと表は、その閲覧統計から作成した。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APIを呼ぶときは、アプリ名と連絡先をUser-Agentに設定する。要求は順番に送り、制限応答があれば指定された時間を空ける。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記事本文や公式文書の文章・画像にはそれぞれ別の条件がある。統計データのCC0を、Wikipediaの内容全般の条件へ広げない。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Access policy.</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https://doc.wikimedia.org/generated-data-platform/aqs/analytics-api/documentation/access-policy.html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Wikimedia Pageviewsの要点</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Wikipediaなどのページが、いつ、何回閲覧されたかを調べる公式の集計データ。人や訪問の個票ではなく、要求の回数を扱う。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記事・言語版・期間・アクセス方法・agentをそろえることで、閲覧の規模や時間変化を比較できる。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少数記事ならAPI、大きな範囲や長期間なら配布ファイルを選ぶ。JSONやテキストとして取得し、本文などの別データと組み合わせて使える。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取得して分析に使う</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Page view analytics.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40360" y="2454355"/>
            <a:ext cx="8463280" cy="758951"/>
          </a:xfrm>
        </p:spPr>
        <p:txBody>
          <a:bodyPr wrap="square" lIns="2540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8211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追加のレコードと集計</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長期データと関連指標</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分野の異なる5ページの月間レコード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追加のレコードと集計</a:t>
            </a:r>
          </a:p>
        </p:txBody>
      </p:sp>
      <p:graphicFrame>
        <p:nvGraphicFramePr>
          <p:cNvPr id="4" name="Table 3"/>
          <p:cNvGraphicFramePr>
            <a:graphicFrameLocks noGrp="1"/>
          </p:cNvGraphicFramePr>
          <p:nvPr/>
        </p:nvGraphicFramePr>
        <p:xfrm>
          <a:off x="914400" y="1508760"/>
          <a:ext cx="7315200" cy="2350770"/>
        </p:xfrm>
        <a:graphic>
          <a:graphicData uri="http://schemas.openxmlformats.org/drawingml/2006/table">
            <a:tbl>
              <a:tblPr firstRow="0" bandRow="0"/>
              <a:tblGrid>
                <a:gridCol w="1005840"/>
                <a:gridCol w="4663440"/>
                <a:gridCol w="1645920"/>
              </a:tblGrid>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順位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ページ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閲覧数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日本</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171,804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東京都</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85,647</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チェンソーマン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411,102</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世界陸上競技選手権大会</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338,580</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Perfume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574,255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87545"/>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日本語版・2025年9月・all-accessの上位1000件から選んだ例。地理、作品、スポーツ、音楽などのページも同じ形式で取得できる。</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日本語版、2025-09 UTC。取得値から作成。CC0.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同じ日の閲覧を2記事で並べる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追加のレコードと集計</a:t>
            </a:r>
          </a:p>
        </p:txBody>
      </p:sp>
      <p:graphicFrame>
        <p:nvGraphicFramePr>
          <p:cNvPr id="4" name="Table 3"/>
          <p:cNvGraphicFramePr>
            <a:graphicFrameLocks noGrp="1"/>
          </p:cNvGraphicFramePr>
          <p:nvPr/>
        </p:nvGraphicFramePr>
        <p:xfrm>
          <a:off x="1051560" y="1508760"/>
          <a:ext cx="7040880" cy="2688336"/>
        </p:xfrm>
        <a:graphic>
          <a:graphicData uri="http://schemas.openxmlformats.org/drawingml/2006/table">
            <a:tbl>
              <a:tblPr firstRow="0" bandRow="0"/>
              <a:tblGrid>
                <a:gridCol w="2560320"/>
                <a:gridCol w="2468880"/>
                <a:gridCol w="201168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ページ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日付（UTC）</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閲覧数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富士山</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1,669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富士山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734</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富士山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674</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大谷翔平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5,881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大谷翔平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8,589</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大谷翔平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18,378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325112"/>
            <a:ext cx="7955279" cy="7345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日本語版・user・all-access。月内の1日・15日・30日を選んだ実レコード。</a:t>
            </a:r>
          </a:p>
        </p:txBody>
      </p:sp>
      <p:sp>
        <p:nvSpPr>
          <p:cNvPr id="6"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Analytics API. 日本語版、2025-09 UTC。取得値から作成。CC0.</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https://doc.wikimedia.org/generated-data-platform/aqs/analytics-api/reference/page-views.html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長期の配布データには旧系列も含まれる</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pageview_completeは2007年12月以降の長い時系列を、共通の形式で提供する。日次ファイルの各行に、日合計と時間別の値を持つ。</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元データは年代で異なり、2015年より前には旧pagecounts系列を使う。2015年以降は現在のpageview定義による系列が中心となる。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page IDは2015年以降、検出した自動アクセスの情報は2020年以降など、利用できる属性も時期で異なる。長期分析では期間ごとの収録条件を確認する。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長期データと関連指標</a:t>
            </a:r>
          </a:p>
        </p:txBody>
      </p:sp>
      <p:sp>
        <p:nvSpPr>
          <p:cNvPr id="5" name="sources"/>
          <p:cNvSpPr txBox="1"/>
          <p:nvPr/>
        </p:nvSpPr>
        <p:spPr>
          <a:xfrm>
            <a:off x="502920" y="4690872"/>
            <a:ext cx="8183879" cy="2667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Wikistats: Pageview complete dumps.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https://dumps.wikimedia.org/other/pageview_complete/readme.html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Unique devicesは、端末の訪問を推計する</a:t>
            </a:r>
          </a:p>
        </p:txBody>
      </p:sp>
      <p:sp>
        <p:nvSpPr>
          <p:cNvPr id="3" name="Text Placeholder 2"/>
          <p:cNvSpPr>
            <a:spLocks noGrp="1"/>
          </p:cNvSpPr>
          <p:nvPr>
            <p:ph type="body" idx="1"/>
          </p:nvPr>
        </p:nvSpPr>
        <p:spPr>
          <a:xfrm>
            <a:off x="594360" y="1463040"/>
            <a:ext cx="7955279" cy="31211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Unique devicesは、閲覧回数とは別に、Wikimediaプロジェクトへ訪れた端末の数を間接的に推計する指標。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最終訪問の時期を記録するCookieを使い、同じ端末の再訪を日次・月次の集計へ反映する。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1人が複数端末を使うこともあるため、端末数は読者数を近似するための量となる。記事別の閲覧回数と同じ単位にはならない。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長期データと関連指標</a:t>
            </a:r>
          </a:p>
        </p:txBody>
      </p:sp>
      <p:sp>
        <p:nvSpPr>
          <p:cNvPr id="5" name="sources"/>
          <p:cNvSpPr txBox="1"/>
          <p:nvPr/>
        </p:nvSpPr>
        <p:spPr>
          <a:xfrm>
            <a:off x="502920" y="4690872"/>
            <a:ext cx="8183879" cy="406400"/>
          </a:xfrm>
          <a:prstGeom prst="rect">
            <a:avLst/>
          </a:prstGeom>
          <a:noFill/>
        </p:spPr>
        <p:txBody>
          <a:bodyPr wrap="none" lIns="0" rIns="0" tIns="0" bIns="0">
            <a:noAutofit/>
          </a:bodyPr>
          <a:lstStyle/>
          <a:p>
            <a:pPr algn="l">
              <a:lnSpc>
                <a:spcPts val="11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Wikimedia Foundation. Unique devices.</a:t>
            </a:r>
          </a:p>
          <a:p>
            <a:pPr>
              <a:lnSpc>
                <a:spcPts val="110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https://doc.wikimedia.org/generated-data-platform/aqs/analytics-api/concepts/unique-devices.html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Wikimedia Analytics API"/>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Wikimedia Analytics API</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Wikimedia Foundation. n.d. 参照2026-10-28.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閲覧、編集、端末数などの公式統計APIをまとめる入口。</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https://doc.wikimedia.org/generated-data-platform/aqs/analytics-api/</a:t>
            </a:r>
          </a:p>
        </p:txBody>
      </p:sp>
      <p:sp>
        <p:nvSpPr>
          <p:cNvPr id="5" name="文献 2: Page view analytics"/>
          <p:cNvSpPr txBox="1"/>
          <p:nvPr/>
        </p:nvSpPr>
        <p:spPr>
          <a:xfrm>
            <a:off x="548640" y="2999359"/>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Page view analytics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Wikimedia Foundation. n.d. Wikimedia Analytics API. 参照2026-10-28.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記事別・プロジェクト別の閲覧数と、人気ページの取得仕様を示す。</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https://doc.wikimedia.org/generated-data-platform/aqs/analytics-api/reference/page-views.html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Page views"/>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Page views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Wikimedia Foundation. n.d. Wikimedia Analytics API. 参照2026-10-28.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ページ閲覧の条件と、自動アクセスの分類を説明する。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https://doc.wikimedia.org/generated-data-platform/aqs/analytics-api/concepts/page-views.html</a:t>
            </a:r>
          </a:p>
        </p:txBody>
      </p:sp>
      <p:sp>
        <p:nvSpPr>
          <p:cNvPr id="5" name="文献 2: Access policy"/>
          <p:cNvSpPr txBox="1"/>
          <p:nvPr/>
        </p:nvSpPr>
        <p:spPr>
          <a:xfrm>
            <a:off x="548640" y="2999359"/>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Access policy</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Wikimedia Foundation. n.d. Wikimedia Analytics API. 参照2026-10-28.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CC0のデータライセンスと、識別情報・リクエストの方針を定める。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https://doc.wikimedia.org/generated-data-platform/aqs/analytics-api/documentation/access-policy.html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2772" y="650138"/>
            <a:ext cx="8257540" cy="692505"/>
          </a:xfrm>
        </p:spPr>
        <p:txBody>
          <a:bodyPr wrap="square" lIns="2540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Analytics Datasets: Pageviews"/>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Analytics Datasets: Pageviews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Wikimedia Foundation. n.d. 参照2026-10-28.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2015年5月以降の時間別集計ファイルと、配布形式の文書を案内する。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https://dumps.wikimedia.org/other/pageviews/readme.html</a:t>
            </a:r>
          </a:p>
        </p:txBody>
      </p:sp>
      <p:sp>
        <p:nvSpPr>
          <p:cNvPr id="5" name="文献 2: Wikistats: Pageview complete dumps"/>
          <p:cNvSpPr txBox="1"/>
          <p:nvPr/>
        </p:nvSpPr>
        <p:spPr>
          <a:xfrm>
            <a:off x="548640" y="2999359"/>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Wikistats: Pageview complete dumps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Wikimedia Analytics team. n.d. 参照2026-10-28.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2007年以降の長期系列をまとめた配布物。年代別の元データと属性を示す。</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https://dumps.wikimedia.org/other/pageview_complete/readme.html</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2026-10-27T19:34:00Z</dcterms:modified>
  <dc:title>wikimedia-pageviews</dc:title>
  <dc:creator>sasakiy84</dc:creator>
  <dcterms:created xsi:type="dcterms:W3CDTF">2026-10-27T19:34:00Z</dcterms:created>
  <dc:language>ja-JP</dc:language>
</cp:coreProperties>
</file>