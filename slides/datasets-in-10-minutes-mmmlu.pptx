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課題数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高校心理学</c:v>
                </c:pt>
                <c:pt idx="1">
                  <c:v>専門心理学</c:v>
                </c:pt>
                <c:pt idx="2">
                  <c:v>その他の知識</c:v>
                </c:pt>
                <c:pt idx="3">
                  <c:v>道徳的状況判断</c:v>
                </c:pt>
                <c:pt idx="4">
                  <c:v>専門法律学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545</c:v>
                </c:pt>
                <c:pt idx="1">
                  <c:v>612</c:v>
                </c:pt>
                <c:pt idx="2">
                  <c:v>783</c:v>
                </c:pt>
                <c:pt idx="3">
                  <c:v>895</c:v>
                </c:pt>
                <c:pt idx="4">
                  <c:v>1534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課題数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STEM</c:v>
                </c:pt>
                <c:pt idx="1">
                  <c:v>社会科学</c:v>
                </c:pt>
                <c:pt idx="2">
                  <c:v>その他</c:v>
                </c:pt>
                <c:pt idx="3">
                  <c:v>人文系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3018</c:v>
                </c:pt>
                <c:pt idx="1">
                  <c:v>3077</c:v>
                </c:pt>
                <c:pt idx="2">
                  <c:v>3242</c:v>
                </c:pt>
                <c:pt idx="3">
                  <c:v>4705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huggingface.co/datasets/openai/MMMLU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openai/MMMLU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009.03300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openai/MMMLU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/viewer/JA_JP/test?row=6930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/viewer/JA_JP/test?row=5533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/viewer/JA_JP/test?row=6513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/viewer/ES_LA/test?row=6930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/viewer/SW_KE/test?row=6930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penai/simple-evals/blob/652c89d/mmlu_eval.py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penai/simple-evals/blob/652c89d/mmlu_eval.py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" TargetMode="External"/><Relationship Id="rId3" Type="http://schemas.openxmlformats.org/officeDocument/2006/relationships/hyperlink" Target="https://github.com/openai/simple-evals/blob/652c89d/mmlu_eval.py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eepmind.google/models/model-cards/gemini-3-1-pro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eepmind.google/models/evals-methodology/gemini-3-1-pro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penai/simple-evals/blob/652c89d/multilingual_mmlu_benchmark_results.md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009.03300" TargetMode="External"/><Relationship Id="rId3" Type="http://schemas.openxmlformats.org/officeDocument/2006/relationships/hyperlink" Target="https://huggingface.co/datasets/openai/MMMLU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huggingface.co/datasets/openai/MMMLU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hyperlink" Target="https://github.com/openai/simple-evals/blob/652c89d/mmlu_eval.py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12.03304v2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openai/MMMLU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/viewer/JA_JP/test?row=314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/viewer/JA_JP/test?row=1505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/viewer/JA_JP/test?row=9563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/viewer/JA_JP/test?row=2717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/viewer/JA_JP/test?row=1190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/viewer/JA_JP/test?row=13937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/viewer/JA_JP/test?row=4574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/viewer/JA_JP/test?row=10517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/viewer/JA_JP/test?row=6716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/viewer/JA_JP/test?row=3538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penai/simple-evals/blob/652c89d/multilingual_mmlu_benchmark_results.md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penai/simple-evals/blob/652c89d/multilingual_mmlu_benchmark_results.md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openai/MMMLU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openai/MMMLU/commits/main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openai/MMMLU" TargetMode="External"/><Relationship Id="rId3" Type="http://schemas.openxmlformats.org/officeDocument/2006/relationships/hyperlink" Target="https://arxiv.org/abs/2009.03300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penai/MMMLU" TargetMode="External"/><Relationship Id="rId3" Type="http://schemas.openxmlformats.org/officeDocument/2006/relationships/hyperlink" Target="https://arxiv.org/abs/2009.03300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openai/simple-evals/blob/652c89d/multilingual_mmlu_benchmark_results.md" TargetMode="External"/><Relationship Id="rId3" Type="http://schemas.openxmlformats.org/officeDocument/2006/relationships/hyperlink" Target="https://deepmind.google/models/model-cards/gemini-3-1-pro/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eepmind.google/models/evals-methodology/gemini-3-1-pro/" TargetMode="External"/><Relationship Id="rId3" Type="http://schemas.openxmlformats.org/officeDocument/2006/relationships/hyperlink" Target="https://arxiv.org/abs/2412.03304v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508760"/>
            <a:ext cx="8046720" cy="859536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200" b="0">
                <a:solidFill>
                  <a:srgbClr val="303437"/>
                </a:solidFill>
                <a:latin typeface="Noto Sans"/>
              </a:defRPr>
            </a:pPr>
            <a:r>
              <a:rPr sz="5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MMMLU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319272"/>
            <a:ext cx="8046720" cy="859536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専門翻訳者が14言語へ訳した知識問題
57科目を4択で評価する多言語データセット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6766560" y="4489704"/>
            <a:ext cx="1828800" cy="365760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658368" y="274320"/>
            <a:ext cx="7772400" cy="36576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42032"/>
            <a:ext cx="8046720" cy="713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Multilingual Massive Multitask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Language Understanding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MMMLUの公式配布ページ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MMMLU: 公開データ</a:t>
            </a:r>
          </a:p>
        </p:txBody>
      </p:sp>
      <p:pic>
        <p:nvPicPr>
          <p:cNvPr id="4" name="Picture 3" descr="hf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70" y="1481328"/>
            <a:ext cx="4594859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226434"/>
            <a:ext cx="7772400" cy="2846324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多言語の知識問題と実例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採点とモデルの成績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4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利用方法とまとめ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多言語の知識問題と実例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多言語の知識問題と実例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同じ知識領域を、14言語の問題で評価する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MMMLUは、知識と推論を測るMMLUのテスト問題を、専門翻訳者が14言語へ訳したデータセット。OpenAIが2024年9月に公開した。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入力は一つの言語の設問と四つの選択肢。モデルが選んだ記号を、配布された参照正解A〜Dと比較する。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日本語、スペイン語、スワヒリ語、ヨルバ語などを含み、同じ評価体系で言語別の成績を調べる。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多言語の知識問題と実例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出発点のMMLUは、幅広い科目の試験問題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MMLUは、初等数学から専門法律学・医学まで57科目を含む、英語の多肢選択式評価。2020年に公開され、ICLR 2021で発表された。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大学生・大学院生が、オンラインで公開された練習問題、資格試験向け教材、大学の授業などから設問を人手で収集した。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MMMLUでは、そのテスト集合を翻訳して、英語以外での知識問題への応答を評価できるようにした。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多言語の知識問題と実例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Hendrycks et al. (2021). Measuring Massive Multitask Language Understanding. ICLR。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https://arxiv.org/abs/2009.03300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日本語の実例と、同じ問題の他言語版を見る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本編では、機械学習、統計学、国際法の3問を示す。続いて機械学習の同じ問題を、スペイン語とスワヒリ語で読む。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Appendixでは、天文学、情報セキュリティ、数学、会計など、別の10問を追加する。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設問と選択肢は公式CSVの全文。正解は配布記号を示し、その下に短い説明を添える。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多言語の知識問題と実例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実例1：機械学習：教師あり学習を見分ける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多言語の知識問題と実例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04419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設問（配布日本語・全文）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280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次のうち教師あり学習でないものはどれか。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72927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PCA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決定木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線形回帰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ナイーブベイズ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80093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配布正解：A) PCA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33835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PCA（主成分分析）は教師ラベルを使わず、データの分散を説明する軸を求める。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 / JA-JP / machine_learning / 科目内番号 95。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https://huggingface.co/datasets/openai/MMMLU/viewer/JA_JP/test?row=6930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実例2：統計学：カイ二乗検定の自由度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多言語の知識問題と実例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274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設問（配布日本語・全文）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37829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3×4の分割表で独立性のカイ二乗検定を行います。この検定の自由度は、次のうちのどれですか？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74567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6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8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10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93282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配布正解：A)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7779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独立性の検定では、自由度は (3 − 1) × (4 − 1) = 6。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 / JA-JP / high_school_statistics / 科目内番号 101。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https://huggingface.co/datasets/openai/MMMLU/viewer/JA_JP/test?row=5533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実例3：国際法：条約が保障する権利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多言語の知識問題と実例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94231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設問（配布日本語・全文）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02619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欧州人権条約は主に以下のどれを対象としていますか？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4131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経済的および社会的権利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環境権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市民的および政治的権利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経済的自由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91297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配布正解：C) 市民的および政治的権利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45038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欧州人権条約は、生命・自由・公正な裁判などの権利を扱う。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 / JA-JP / international_law / 科目内番号 70。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https://huggingface.co/datasets/openai/MMMLU/viewer/JA_JP/test?row=6513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同じ機械学習の問題を、スペイン語で読む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多言語の知識問題と実例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99032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099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¿Cuál de las siguientes opciones NO es aprendizaje supervisado?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23744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PCA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Árbol de decisión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Regresión lineal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Naive Bayes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49039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配布正解：A) PCA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33672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 es aprendizaje supervisado は「教師あり学習ではない」。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 / ES-LA / machine_learning / 科目内番号 95。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https://huggingface.co/datasets/openai/MMMLU/viewer/ES_LA/test?row=6930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同じ機械学習の問題を、スワヒリ語で読む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多言語の知識問題と実例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99032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099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Kati ya yafuatayo, ipi SIO ujifunzaji ulioongozwa?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23744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PCA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Mti wa maamuzi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Urejeshi wa laini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Bayesian Mjinga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49039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配布正解：A) PCA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33672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ujifunzaji ulioongozwa は「教師あり学習」。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 / SW-KE / machine_learning / 科目内番号 95。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https://huggingface.co/datasets/openai/MMMLU/viewer/SW_KE/test?row=6930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回答から記号を取り出し、正解と照合する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19" cy="2651760"/>
        </p:xfrm>
        <a:graphic>
          <a:graphicData uri="http://schemas.openxmlformats.org/drawingml/2006/table">
            <a:tbl>
              <a:tblPr firstRow="0" bandRow="0"/>
              <a:tblGrid>
                <a:gridCol w="1874519"/>
                <a:gridCol w="61722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段階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OpenAIの公開実装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入力を構成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設問とA〜Dの選択肢を、英語の指示文へ埋め込む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出力を指定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末尾を Answer: A のような形式にする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記号を抽出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各言語の「答え」に対応する表現も認識する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採点を集計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抽出した記号が参照正解と一致すれば1点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MMLU evaluation / simple-evals. 改訂652c89d、MIT。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https://github.com/openai/simple-evals/blob/652c89d/mmlu_eval.py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採点の例：正解がAの設問に回答する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50008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2560320"/>
                <a:gridCol w="1920240"/>
              </a:tblGrid>
              <a:tr h="5669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応答（説明用）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抽出記号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得点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Answer: 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Answer: 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抽出されない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MMLU evaluation / simple-evals. 改訂652c89d、MIT。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https://github.com/openai/simple-evals/blob/652c89d/mmlu_eval.py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問題数の違いが、全体の正答率の重みになる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11096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2194560"/>
                <a:gridCol w="2834640"/>
              </a:tblGrid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科目の例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構成比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専門法律学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1,534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10.92%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抽象代数学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0.71%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11879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日本語全14,042問。公開実装は問題単位の得点を平均する。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21200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37100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MMLU evaluation / simple-evals. 改訂652c89d、MIT。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https://github.com/openai/simple-evals/blob/652c89d/mmlu_eval.py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GoogleのMMMLU比較（2026年2月）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2194560"/>
                <a:gridCol w="219456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思考設定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正答率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3.1 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92.6%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 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91.8%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4.6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GPT-5.2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Sonnet 4.6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Gemini 3.1 Pro: Model Card. 2026年2月の評価。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https://deepmind.google/models/model-cards/gemini-3-1-pro/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Googleの比較では、Geminiは自社で評価した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Googleの2026年2月のモデルカードは、Gemini 3.1 ProのMMMLU正答率を92.6%と報告する。3 Proは91.8%で、差は0.8ポイント。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評価手順書は、Multilingual MMLUのGemini 3.1 Proと3 Proの値を自社で計算したと記す。他社モデルの値は、原則として各提供元の公表値を採用する。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Gemini 3.1 Pro: Evaluation Methodology.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https://deepmind.google/models/evals-methodology/gemini-3-1-pro/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OpenAIの公開比較では、言語ごとの幅がある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5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1645920"/>
                <a:gridCol w="1645920"/>
                <a:gridCol w="1645920"/>
              </a:tblGrid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o3-high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日本語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83.5%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85.6%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スペイン語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87.6%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スワヒリ語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77.9%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79.5%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86.0%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ヨルバ語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62.1%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64.7%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78.0%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GPT-4oは2024-11-20、GPT-4.1は2025-04-14。o3はhigh設定。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Multilingual MMLU Benchmark Results. 2025年モデル、改訂652c89d。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https://github.com/openai/simple-evals/blob/652c89d/multilingual_mmlu_benchmark_results.md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元の設問を収集し、専門翻訳者が多言語化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807208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548640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工程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担当・内容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素材の収集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学生が公開教材・試験の練習問題を収集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科目の整理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難度の異なる57科目へ整理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人手で翻訳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専門翻訳者が14言語へ翻訳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7607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CSVで公開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設問・選択肢・正解・科目を収録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521200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Hendrycks et al. (2021). Measuring Massive Multitask Language Understanding. ICLR。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https://arxiv.org/abs/2009.03300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37100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1言語14,042問、14言語で延べ196,588件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14600"/>
        </p:xfrm>
        <a:graphic>
          <a:graphicData uri="http://schemas.openxmlformats.org/drawingml/2006/table">
            <a:tbl>
              <a:tblPr firstRow="0" bandRow="0"/>
              <a:tblGrid>
                <a:gridCol w="5029200"/>
                <a:gridCol w="301752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配布CSVの実数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言語・ロケール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各言語のレコード数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14,042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14言語の延べレコード数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196,588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日本語の科目ラベル数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日本語では、専門法律学の問題が最も多い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日本語CSV全14,042問を集計。件数上位5科目。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公開実装の4領域では、人文系が最大となる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STEMは科学・技術・工学・数学。日本語の全14,042問を集計。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MMLU evaluation / simple-evals. 改訂652c89d、MIT。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https://github.com/openai/simple-evals/blob/652c89d/mmlu_eval.py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公開された14言語と設定名（1/2）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92608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120640"/>
              </a:tblGrid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設定名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AR_XY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アラビア語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BN_BD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ベンガル語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DE_DE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ドイツ語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ES_LA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スペイン語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FR_FR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フランス語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HI_IN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ヒンディー語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ID_ID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インドネシア語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公開された14言語と設定名（2/2）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92608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120640"/>
              </a:tblGrid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設定名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IT_IT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イタリア語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JA_JP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日本語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KO_KR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韓国語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PT_BR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ポルトガル語（ブラジル）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SW_KE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スワヒリ語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YO_NG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ヨルバ語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ZH_CN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中国語（簡体字）</a:t>
                      </a:r>
                    </a:p>
                  </a:txBody>
                  <a:tcPr marL="63500" marR="63500" marT="10160" marB="1016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CSVは設問・選択肢・正解・科目を持つ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12064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先頭の無名列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科目内の番号（例：95）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Question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翻訳済みの設問本文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 / B / C / 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四つの選択肢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Answer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正解を表すA〜Dの記号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Subject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科目名（例：machine_learning）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MMLUから、多言語と文化の評価へ広がった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MMLUは2020年に英語の幅広い知識評価として登場し、MMMLUは2024年にそのテスト問題を14言語へ展開した。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後続のGlobal MMLUは、42言語の翻訳と文化依存性の注釈を公開した。米国の制度や文化的知識を要する設問などを分析している。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 MMLUの研究は、元のMMLU問題の28%に文化依存の知識が必要だと報告した。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Singh et al. (2025). Global MMLU: Understanding and Addressing Cultural and Linguistic Biases in Multilingual Evaluation.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https://arxiv.org/abs/2412.03304v2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利用方法とまとめ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利用方法とまとめ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日本語のテスト集合を読み込む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利用方法とまとめ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2349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datasets import load_dataset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ds = load_dataset(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"openai/MMMLU", "JA_JP", split="test",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revision="325a01dc3e173cac1578df94120499aaca2e2504",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row = ds[6930]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print(row["Question"], row["Answer"])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0594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JA_JPは日本語の設定名。rowには設問・選択肢・正解・科目が入る。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人手翻訳した知識問題を、言語別に評価する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MMMLUは、英語の知識評価MMLUを専門翻訳者が14言語へ訳した、四択問題のデータセット。各言語14,042問を収録している。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入力は設問と四つの選択肢、出力は回答記号。公開実装は記号の一致を採点し、問題単位で正答率を集計する。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3.1 Proなどの公式評価に使われ、モデル間だけでなく、同じモデルの言語別の成績を調べる資料にもなる。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利用方法とまとめ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59895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400" b="0">
                <a:solidFill>
                  <a:srgbClr val="303437"/>
                </a:solidFill>
                <a:latin typeface="Noto Sans"/>
              </a:defRPr>
            </a:pPr>
            <a:r>
              <a:rPr sz="4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668081"/>
            <a:ext cx="7772400" cy="2077720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科目の異なる追加例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言語別・科目別の詳細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制作機関と参考文献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科目の異なる追加例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科目の異なる追加例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追加例1：天文学：火星の公転周期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科目の異なる追加例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03783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設問（配布日本語・全文）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217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火星の1年はおよそ地球の何年ですか。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73563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1/2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1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2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80728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配布正解：C)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3447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火星の公転周期は約687日で、地球の約1.88年。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 / JA-JP / astronomy / 科目内番号 79。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https://huggingface.co/datasets/openai/MMMLU/viewer/JA_JP/test?row=314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追加例2：情報セキュリティ：認証の方式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科目の異なる追加例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94231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設問（配布日本語・全文）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02619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認証方式は次のうちどれか。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4131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秘密の質問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生体認証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SMSコード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上記のすべて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91297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配布正解：D) 上記のすべて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45038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知識、身体的な特徴、受信できるコードなどを、本人確認に使う。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 / JA-JP / computer_security / 科目内番号 34。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https://huggingface.co/datasets/openai/MMMLU/viewer/JA_JP/test?row=1505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追加例3：栄養学：ヒストンの種類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科目の異なる追加例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93724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設問（配布日本語・全文）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0211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ヒストンとは何ですか？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3623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脂質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炭水化物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ヌクレオチド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タンパク質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90789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配布正解：D) タンパク質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44531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ヒストンはDNAと結び付き、クロマチンを構成するタンパク質。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 / JA-JP / nutrition / 科目内番号 155。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https://huggingface.co/datasets/openai/MMMLU/viewer/JA_JP/test?row=9563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追加例4：高校生物学：受精が起こる場所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科目の異なる追加例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94231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設問（配布日本語・全文）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02619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ヒトにおいて、通常受精が起こるのは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4131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卵巣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卵管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子宮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胎盤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91297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配布正解：B) 卵管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45038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受精卵は卵管から子宮へ移動する。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 / JA-JP / high_school_biology / 科目内番号 48。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https://huggingface.co/datasets/openai/MMMLU/viewer/JA_JP/test?row=2717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追加例5：大学数学：複素数の累乗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科目の異なる追加例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534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設問（配布日本語・全文）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00607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(1+i)^10 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61998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1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32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32i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69164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配布正解：D) 32i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22906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(1 + i)² = 2i を使うと、(1 + i)¹⁰ = (2i)⁵ = 32i。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 / JA-JP / college_mathematics / 科目内番号 94。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https://huggingface.co/datasets/openai/MMMLU/viewer/JA_JP/test?row=1190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追加例6：世界の宗教：中国古典の著者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科目の異なる追加例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94231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設問（配布日本語・全文）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02619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女誡の著者は誰ですか。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4131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班昭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老子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メニクス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劉向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91297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配布正解：A) 班昭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45038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『女誡』は、後漢の学者・班昭が著した教訓書。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 / JA-JP / world_religions / 科目内番号 66。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https://huggingface.co/datasets/openai/MMMLU/viewer/JA_JP/test?row=13937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追加例7：ミクロ経済学：独占的競争の価格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科目の異なる追加例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04419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設問（配布日本語・全文）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280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独占的競争の特徴は、次のうちのどれですか？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72927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P &gt; MC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効率性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ほとんどが価格競争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P =MR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80093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配布正解：A) P &gt; MC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33835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Pは価格、MCは限界費用、MRは限界収入を表す。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 / JA-JP / high_school_microeconomics / 科目内番号 76。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https://huggingface.co/datasets/openai/MMMLU/viewer/JA_JP/test?row=4574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追加例8：会計学：将来受け取る金額の現在価値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科目の異なる追加例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0274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設問（配布日本語・全文）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37829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割引率が9%のとき、2年後に受け取る$10の現在の価値はいくらですか。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74567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$9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$11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$8.26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$8.42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93282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配布正解：D) $8.42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7779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現在価値は 10 ÷ 1.09² ≈ 8.42 ドル。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 / JA-JP / professional_accounting / 科目内番号 168。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https://huggingface.co/datasets/openai/MMMLU/viewer/JA_JP/test?row=10517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追加例9：論理学：帰謬法の別名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科目の異なる追加例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94231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設問（配布日本語・全文）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02619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帰謬法の他の用語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4131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お前だって論法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脅迫論証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人身攻撃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背理法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91297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配布正解：D) 背理法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45038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仮定から矛盾を導いて論証する方法を、背理法とも呼ぶ。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 / JA-JP / logical_fallacies / 科目内番号 44。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https://huggingface.co/datasets/openai/MMMLU/viewer/JA_JP/test?row=6716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追加例10：地理：化石燃料の種類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科目の異なる追加例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30127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設問（配布日本語・全文）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3851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最も豊富に存在する化石燃料はどれか。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20028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リン酸塩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石油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石炭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27193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配布正解：D) 石炭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 / JA-JP / high_school_geography / 科目内番号 91。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https://huggingface.co/datasets/openai/MMMLU/viewer/JA_JP/test?row=3538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言語別・科目別の詳細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言語別・科目別の詳細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OpenAIの言語別正答率（1/2）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言語別・科目別の詳細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926080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1645920"/>
                <a:gridCol w="1645920"/>
                <a:gridCol w="1645920"/>
              </a:tblGrid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o3-high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アラビア語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83.1%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90.4%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ベンガル語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80.1%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82.7%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87.8%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中国語（簡体字）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86.1%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フランス語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87.0%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ドイツ語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83.6%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85.5%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ヒンディー語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81.9%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インドネシア語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85.9%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Multilingual MMLU Benchmark Results. 2025年モデル、改訂652c89d。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https://github.com/openai/simple-evals/blob/652c89d/multilingual_mmlu_benchmark_results.md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OpenAIの言語別正答率（2/2）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言語別・科目別の詳細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926080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1645920"/>
                <a:gridCol w="1645920"/>
                <a:gridCol w="1645920"/>
              </a:tblGrid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GPT-4.1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o3-high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イタリア語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86.9%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91.2%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日本語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83.5%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85.6%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韓国語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89.3%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ポルトガル語（ブラジル）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83.6%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87.0%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スペイン語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87.6%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スワヒリ語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77.9%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79.5%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86.0%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ヨルバ語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62.1%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64.7%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954"/>
                        </a:lnSpc>
                        <a:buNone/>
                        <a:defRPr sz="17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78.0%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Multilingual MMLU Benchmark Results. 2025年モデル、改訂652c89d。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https://github.com/openai/simple-evals/blob/652c89d/multilingual_mmlu_benchmark_results.md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日本語の全57科目と問題数（1/3）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言語別・科目別の詳細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3073400"/>
        </p:xfrm>
        <a:graphic>
          <a:graphicData uri="http://schemas.openxmlformats.org/drawingml/2006/table">
            <a:tbl>
              <a:tblPr firstRow="0" bandRow="0"/>
              <a:tblGrid>
                <a:gridCol w="3154680"/>
                <a:gridCol w="868680"/>
                <a:gridCol w="3154680"/>
                <a:gridCol w="868680"/>
              </a:tblGrid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問数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問数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抽象代数学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大学物理学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102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解剖学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135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情報セキュリティ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天文学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152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概念物理学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235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企業倫理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計量経済学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114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臨床知識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265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電気工学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145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大学生物学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144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初等数学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378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大学化学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形式論理学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126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大学計算機科学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世界の事実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大学数学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高校生物学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310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大学医学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173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高校化学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203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日本語の全57科目と問題数（2/3）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言語別・科目別の詳細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3073400"/>
        </p:xfrm>
        <a:graphic>
          <a:graphicData uri="http://schemas.openxmlformats.org/drawingml/2006/table">
            <a:tbl>
              <a:tblPr firstRow="0" bandRow="0"/>
              <a:tblGrid>
                <a:gridCol w="3154680"/>
                <a:gridCol w="868680"/>
                <a:gridCol w="3154680"/>
                <a:gridCol w="868680"/>
              </a:tblGrid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問数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問数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高校計算機科学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高校アメリカ史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204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高校ヨーロッパ史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165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高校世界史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237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高校地理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198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人間の加齢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223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高校政治・統治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193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人間の性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131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高校マクロ経済学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390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国際法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121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高校数学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270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法理学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108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高校ミクロ経済学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238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論理的誤謬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163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高校物理学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151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機械学習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112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高校心理学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545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経営管理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103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高校統計学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216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マーケティング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234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日本語の全57科目と問題数（3/3）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言語別・科目別の詳細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3073400"/>
        </p:xfrm>
        <a:graphic>
          <a:graphicData uri="http://schemas.openxmlformats.org/drawingml/2006/table">
            <a:tbl>
              <a:tblPr firstRow="0" bandRow="0"/>
              <a:tblGrid>
                <a:gridCol w="3154680"/>
                <a:gridCol w="868680"/>
                <a:gridCol w="3154680"/>
                <a:gridCol w="868680"/>
              </a:tblGrid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問数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問数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医学遺伝学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専門心理学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612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その他の知識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783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広報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110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道徳上の論争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346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安全保障研究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245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道徳的状況判断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895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社会学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栄養学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306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アメリカ外交政策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哲学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311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ウイルス学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166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先史学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324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世界の宗教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171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専門会計学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282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/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/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専門法律学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1,534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/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/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279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専門医学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272</a:t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/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1609"/>
                        </a:lnSpc>
                        <a:buNone/>
                        <a:defRPr sz="1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/>
                      </a:r>
                    </a:p>
                  </a:txBody>
                  <a:tcPr marL="63500" marR="63500" marT="6350" marB="635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世界史では、言語によって設問の並びが違う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公開CSVの行5853は、日本語では欧州と中国の火薬兵器、簡体字中国語ではダリオの詩、韓国語では古代の死後世界を扱っている。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同じ科目内番号1でも、設問本文と選択肢が異なる。いずれも高校世界史の問題として配布されている。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本資料の言語間の比較例は、設問と選択肢の対応を確認した機械学習の1問を使った。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言語別・科目別の詳細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公開データは2024年の改訂で固定している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初回公開は2024年9月13日。2024年10月3日のREADME改訂で、各言語の分割名をtestへそろえた。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参照した最新改訂は2024年10月16日の325a01d。中国語設定名の表記をZH_CHからZH_CNへ修正した。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14 CSVの取得サイズは合計124,869,536 bytes、約119.09 MiB。公式データカードはMITを指定している。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言語別・科目別の詳細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OpenAI. MMMLU: 公式データの改訂履歴。2024年9月初公開。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https://huggingface.co/datasets/openai/MMMLU/commits/main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制作機関と参考文献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OpenAIが、専門翻訳者による翻訳を公開した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MMMLUの公開元はOpenAI。データカードは専門翻訳者を用いたと説明し、ヨルバ語などデータ資源が少ない言語も対象にしている。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元のMMLUはDan Hendrycks、Collin Burnsらの研究。最終著者はJacob Steinhardtで、英語の知識評価を57科目へ広げた。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21200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(2024). Multilingual Massive Multitask Language Understanding (MMMLU). MIT、改訂325a01d。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37100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Hendrycks et al. (2021). Measuring Massive Multitask Language Understanding. ICLR。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https://arxiv.org/abs/2009.03300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Multilingual Massive Multitask Language Understanding (MMMLU)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Multilingual Massive Multitask Language Understanding (MMMLU)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/ Hugging Face Datasets / 2024 / MIT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専門翻訳者による14言語の設問、四つの選択肢、正解と科目を配布する。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https://huggingface.co/datasets/openai/MMMLU</a:t>
            </a:r>
          </a:p>
        </p:txBody>
      </p:sp>
      <p:sp>
        <p:nvSpPr>
          <p:cNvPr id="5" name="文献 2: Measuring Massive Multitask Language Understanding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Measuring Massive Multitask Language Understanding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Dan Hendrycks, Collin Burns et al. / ICLR 2021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57科目の知識評価を提案し、問題の収集、分割、初期モデルの成績を報告する。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https://arxiv.org/abs/2009.03300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Multilingual MMLU Benchmark Results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Multilingual MMLU Benchmark Results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OpenAI / simple-evals / 2025年モデル / 改訂652c89d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言語別のモデル成績を掲載し、同じリポジトリで入力・回答抽出・採点の実装を公開する。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https://github.com/openai/simple-evals/blob/652c89d/multilingual_mmlu_benchmark_results.md</a:t>
            </a:r>
          </a:p>
        </p:txBody>
      </p:sp>
      <p:sp>
        <p:nvSpPr>
          <p:cNvPr id="5" name="文献 2: Gemini 3.1 Pro: Model Card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3.1 Pro: Model Card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2026年2月の評価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MMMLUを含むモデル評価と、モデルの仕様・利用条件を掲載する。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https://deepmind.google/models/model-cards/gemini-3-1-pro/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Gemini 3.1 Pro: Evaluation Methodology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3.1 Pro: Evaluation Methodology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2026年2月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Geminiの自社評価と他社の公表値の採用、思考設定などの比較条件を説明する。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https://deepmind.google/models/evals-methodology/gemini-3-1-pro/</a:t>
            </a:r>
          </a:p>
        </p:txBody>
      </p:sp>
      <p:sp>
        <p:nvSpPr>
          <p:cNvPr id="5" name="文献 2: Global MMLU: Understanding and Addressing Cultural and Linguistic Biases in Multilingual Evaluation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 MMLU: Understanding and Addressing Cultural and Linguistic Biases in Multilingual Evaluation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Shivalika Singh et al. / 2024初稿・2025改訂 / arXiv:2412.03304v2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42言語の評価と文化依存性の注釈を公開し、多言語評価の偏りを分析する。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https://arxiv.org/abs/2412.03304v2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  <dc:title>MMMLU — datasets in 10 minutes</dc:title>
  <dc:creator>sasakiy84</dc:creator>
  <dc:subject>14言語の知識評価、人手翻訳、科目構成と回答記号の採点</dc:subject>
  <cp:keywords>MMMLU,multilingual,MMLU,dataset</cp:keywords>
</cp:coreProperties>
</file>