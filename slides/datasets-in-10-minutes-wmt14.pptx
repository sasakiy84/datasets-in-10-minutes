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www.statmt.org/wmt14/translation-task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W14-3302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W14-3302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W14-3302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W14-3302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W14-3302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609.08144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706.03762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W18-6319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statmt.org/wmt14/translation-task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W14-3302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wmt/wmt14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W14-3302/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W14-3302/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wmt/wmt14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609.08144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706.03762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W18-6319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WMT14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2014 Workshop on Statistical Machine Translation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ニュースの対訳で、機械翻訳の品質を比較する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WMT14の公開ページ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1481328"/>
            <a:ext cx="4411065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WMT14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https://www.statmt.org/wmt14/translation-task.html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英語と5言語の間で、ニュースを翻訳する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2014年の翻訳共有タスクで使われた学習用の対訳、開発用・テスト用のニュース文を扱う。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英語とドイツ語、フランス語、チェコ語、ヒンディー語、ロシア語の5組。各言語組を双方向で評価すると、合計10方向の翻訳になる。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Ondřej Bojar et al. (2014). Findings of the 2014 Workshop on Statistical Machine Translation. WMT 2014.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https://aclanthology.org/W14-3302/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入力・出力と配布フィールド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translation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言語コードをキーにした対訳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 / deなど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英語と、対応するもう一方の言語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 / validation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newstest2014／newstest2013に対応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実例1：英語・ドイツ語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Gutach: Increased safety for pedestrians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Gutach: Noch mehr Sicherheit für Fußgänger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英語：グータッハ：歩行者の安全性をさらに向上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ドイツ語の参照訳：グータッハ：歩行者の安全性をさらに向上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de-en / test行0。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実例2：英語・ドイツ語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Two sets of lights so close to one another: intentional or just a silly error?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Zwei Anlagen so nah beieinander: Absicht oder Schildbürgerstreich?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英語：これほど近接した2組の信号機。意図的なのか、それとも単なる間抜けな失敗なのか。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ドイツ語の参照訳：これほど近接した2組の信号機。意図的なのか、それとも単なる間抜けな失敗なのか。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de-en / test行2。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実例3：英語・ドイツ語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Yesterday, Gutacht's Mayor gave a clear answer to this question.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Diese Frage hat Gutachs Bürgermeister gestern klar beantwortet.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英語：昨日、グータッハの市長はこの質問に明確に答えた。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ドイツ語の参照訳：昨日、グータッハの市長はこの質問に明確に答えた。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de-en / test行3。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統計的機械翻訳の方式を、同じ学習資源とニュース文で比較する共有タスクとして整備された。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ニュースの翻訳を人手で評価する一方、自動指標も用い、言語方向ごとの性能を比べた。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Ondřej Bojar et al. (2014). Findings of the 2014 Workshop on Statistical Machine Translation. WMT 2014.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https://aclanthology.org/W14-3302/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収集と品質の確認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学習にはEuroparl、Common Crawl、News Commentaryなどの公開対訳を使い、言語ごとに利用できる資源をまとめた。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テスト用にはニュース記事を収集し、専門の翻訳者が直接翻訳した。原文の言語や記事IDも公開ファイルに含まれる。 人手評価では、匿名化されたシステム出力を順位付けした。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Ondřej Bojar et al. (2014). Findings of the 2014 Workshop on Statistical Machine Translation. WMT 2014.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https://aclanthology.org/W14-3302/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分割と件数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6596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2103120"/>
                <a:gridCol w="35661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集合・対象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言語組による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公開の複数対訳コーパス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newstest2013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翻訳方式の調整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newstest2014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本資料は5言語組の配布版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Ondřej Bojar et al. (2014). Findings of the 2014 Workshop on Statistical Machine Translation. WMT 2014.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https://aclanthology.org/W14-3302/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取得したtestの言語組と対訳数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対訳レコード数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cs-en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de-en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fr-en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hi-en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ru-en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WMT14、five language pairs/test全14,519件を集計。2026-10-18取得。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何を1件として、どう採点するか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BLEUは、生成訳と参照訳の間で一致する1〜4語の連続列の適合率を幾何平均し、短すぎる訳への係数を掛ける。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参照がthe cat is here、生成がthe cat sleepsなら、2語列の一致はthe cat。実際のBLEUは文ごとの値を平均せず、集合全体の一致数を集計する。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Ondřej Bojar et al. (2014). Findings of the 2014 Workshop on Statistical Machine Translation. WMT 2014.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https://aclanthology.org/W14-3302/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登場時と、その後の代表的な比較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英語→ドイツ語／newstest2014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BLEU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PBMT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GNMT WPM-32K（2016）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24.61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GNMT WPM-16K（2016）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24.36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Wu et al. (2016). Google's Neural Machine Translation System: Bridging the Gap between Human and Machine Translation. arXiv:1609.08144.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https://arxiv.org/abs/1609.08144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Transformerの翻訳条件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Transformer bigは、英独約450万文対、英仏約3,600万文対を使って学習した。英独28.4、英仏41.8 BLEUを報告している。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Vaswani et al. (2017). Attention Is All You Need. NeurIPS.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https://arxiv.org/abs/1706.03762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HELMの収録範囲と、翻訳の比較条件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v0.4.0のスキーマにwmt_14の定義があるが、公開run_specsには対応する実行が0件だった。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シナリオ実装は英語と5言語の相互方向を扱う。学習データはseed 42で最大20,000件を抽出し、出力文の重複を除く。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v0.4.0. 公開run_specs。2023-11-17のリリース。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統計翻訳からニューラル翻訳の共通評価へ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WMT14は、統計翻訳に加え、GNMTやTransformerの英独・英仏翻訳を比較する代表的な条件になった。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2026-10-18時点でもSacreBLEUがwmt14を扱う。言語方向、トークン化、大文字小文字などを署名として残し、BLEUを再現できる。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Matt Post (2018). A Call for Clarity in Reporting BLEU Scores. WMT.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https://aclanthology.org/W18-6319/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公式ページから学習・開発・テストの対訳へ進める。コーパスごとに利用条件を確認する。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本資料はwmt/wmt14の5言語組のtestを取得した。同じ英語文が複数組に現れるため、合計件数は対訳レコード数として数える。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WMT14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https://www.statmt.org/wmt14/translation-task.html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WMT14の要点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英語と5言語のニュース翻訳を、対訳と共通の評価集合で比較する。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言語方向とデータの前処理が評価条件になる。人の翻訳評価と、自動指標BLEUの両方から品質を捉える。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Ondřej Bojar et al. (2014). Findings of the 2014 Workshop on Statistical Machine Translation. WMT 2014.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https://aclanthology.org/W14-3302/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4355"/>
            <a:ext cx="8046720" cy="64617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追加例1：英語・フランス語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Spectacular Wingsuit Jump Over Bogota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Spectaculaire saut en "wingsuit" au-dessus de Bogota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英語：ボゴタ上空での壮観なウイングスーツ・ジャンプ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フランス語の参照訳：ボゴタ上空での壮観なウイングスーツ・ジャンプ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fr-en / test行0。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追加例2：英語・フランス語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49072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And while Congress can't agree on whether to proceed, several states are not waiting.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Et tandis que les membres du Congrès n'arrivent pas à se mettre d'accord pour savoir s'il faut continuer, plusieurs États n'ont pas attendu.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英語：続行をめぐり連邦議会の合意が得られない一方、いくつかの州は待とうとしていない。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フランス語の参照訳：続行をめぐり連邦議会の合意が得られない一方、いくつかの州は待たずに進めた。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fr-en / test行10。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追加例3：英語・フランス語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This really is a must for our nation.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Cela est vraiment indispensable pour notre 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英語：これは私たちの国に本当に必要なことだ。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フランス語の参照訳：これは私たちの国に本当に必要なことだ。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fr-en / test行13。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追加例4：英語・チェコ語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There is going to be a change in how we pay these taxes.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Změní se způsob, jakým platíme tyto daně.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英語：これらの税金の支払い方が変わることになる。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チェコ語の参照訳：これらの税金の支払い方が変わることになる。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cs-en / test行12。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追加例5：英語・チェコ語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technology is there to do it.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Slouží k tomu tato technologie.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英語：それを実現する技術は存在する。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チェコ語の参照訳：それを実現する技術は存在する。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cs-en / test行13。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追加例6：英語・チェコ語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Americans don't buy as much gas as they used to.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Američané nekupují tolik benzínu, jako dříve.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英語：アメリカ人は、以前ほど多くのガソリンを買わなくなっている。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チェコ語の参照訳：アメリカ人は、以前ほど多くのガソリンを買わなくなっている。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cs-en / test行15。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追加例7：英語・ヒンディー語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Cars get many more miles to the gallon.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अब एक गैलन गैस में कार पहले से अधिक मील चलती है।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英語：車は、1ガロンでずっと長い距離を走れる。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ヒンディー語の参照訳：車は、1ガロンで以前よりずっと長い距離を走れる。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hi-en / test行16。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>
              <a:lnSpc>
                <a:spcPts val="3247"/>
              </a:lnSpc>
            </a:pPr>
            <a:r>
              <a:rPr sz="2800" b="1">
                <a:solidFill>
                  <a:srgbClr val="303437"/>
                </a:solidFill>
                <a:latin typeface="Noto Sans"/>
                <a:ea typeface="Noto Sans CJK JP"/>
              </a:rPr>
              <a:t>追加例8：英語・ヒンディー語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hi-en / test行17。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  <p:sp>
        <p:nvSpPr>
          <p:cNvPr id="8" name="original-label"/>
          <p:cNvSpPr txBox="1"/>
          <p:nvPr/>
        </p:nvSpPr>
        <p:spPr>
          <a:xfrm>
            <a:off x="548640" y="1399032"/>
            <a:ext cx="3858768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</a:t>
            </a:r>
          </a:p>
        </p:txBody>
      </p:sp>
      <p:sp>
        <p:nvSpPr>
          <p:cNvPr id="9" name="translation-label"/>
          <p:cNvSpPr txBox="1"/>
          <p:nvPr/>
        </p:nvSpPr>
        <p:spPr>
          <a:xfrm>
            <a:off x="4681727" y="1399032"/>
            <a:ext cx="3913632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10" name="original-panel"/>
          <p:cNvSpPr txBox="1"/>
          <p:nvPr/>
        </p:nvSpPr>
        <p:spPr>
          <a:xfrm>
            <a:off x="548640" y="1655064"/>
            <a:ext cx="3858768" cy="2260473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txBody>
          <a:bodyPr wrap="square" lIns="152400" rIns="152400" tIns="101600" bIns="101600">
            <a:noAutofit/>
          </a:bodyPr>
          <a:lstStyle/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English: The federal tax itself, 18.4 cents per gallon, hasn't gone up in 20 years.</a:t>
            </a:r>
          </a:p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Hindi: फेडरल टैक्स में पिछले 20 वर्षों में कोई बढ़ोतरी नहीं हुई, जो 18.4 सेंट प्रति गैलन है।</a:t>
            </a:r>
          </a:p>
        </p:txBody>
      </p:sp>
      <p:sp>
        <p:nvSpPr>
          <p:cNvPr id="11" name="translation-body"/>
          <p:cNvSpPr txBox="1"/>
          <p:nvPr/>
        </p:nvSpPr>
        <p:spPr>
          <a:xfrm>
            <a:off x="4681727" y="1664208"/>
            <a:ext cx="3913632" cy="17030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英語：連邦税自体は1ガロン当たり18.4セント。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20年間据え置かれている。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ヒンディー語の参照訳：連邦税自体は1ガロン当たり18.4セント。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20年間据え置かれている。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追加例9：英語・ロシア語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Kineshma and environs two men have committed suicide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В Кинешме и районе двое мужчин покончили жизнь самоубийством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0269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英語：キネシマとその周辺で、男性2人が自殺した。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ロシア語の参照訳：キネシマとその周辺で、男性2人が自殺した。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ru-en / test行0。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追加例10：英語・ロシア語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One of the hanged men had previously attempted suicide.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Ранее один из повешенных уже совершал попытку суицида.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英語：首をつって亡くなった男性の1人には、過去に自殺未遂があった。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ロシア語の参照訳：首をつって亡くなった男性の1人には、過去に自殺未遂があった。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wmt/wmt14、改訂b199e406。2026-10-18参照。 ru-en / test行1。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同じニュースが、複数の言語組に現れる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5言語組のtestを足すと14,519レコード。英語文が共通する組があるため、異なるニュース文の総数とは一致しない。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掲載13例では、英語文が重ならないよう選んだ。対訳を日本語で説明し、英語を含む両言語の表現を原文として保持した。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WMT14、five language pairs/test全14,519件を集計。2026-10-18取得。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研究者と発表の位置付け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WMT 2014の報告は、第一著者Ondřej Bojar、最終著者Aleš Tamchynaら、13名の運営者による共同研究。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Charles University、University of Edinburghなどの研究者が、翻訳タスクの資源、人手評価、システム比較をまとめた。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Ondřej Bojar et al. (2014). Findings of the 2014 Workshop on Statistical Machine Translation. WMT 2014.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https://aclanthology.org/W14-3302/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Findings of the 2014 Workshop on Statistical Machine Translation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Findings of the 2014 Workshop on Statistical Machine Translation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Ondřej Bojar, Christian Buck, Christian Federmann, Barry Haddow, Philipp Koehn, Johannes Leveling, Christof Monz, Pavel Pecina, Matt Post, Herve Saint-Amand, Radu Soricut, Lucia Specia, Aleš Tamchyna / WMT 2014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WMT14の目的、作成方法、評価をまとめた研究。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https://aclanthology.org/W14-3302/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/ TMLR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複数のシナリオと指標で、言語モデルを比較するHELMの研究。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WMT14：公開データ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WMT14：公開データ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wmt/wmt14 / 改訂b199e406 / 2026-10-18参照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掲載した13件の対訳と、言語組ごとの全件集計に用いた公開資源。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https://huggingface.co/datasets/wmt/wmt14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Google's Neural Machine Translation System: Bridging the Gap between Human and Machine Translation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Google's Neural Machine Translation System: Bridging the Gap between Human and Machine Translation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Yonghui Wu et al. / arXiv 2016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語の分割法などを比べ、WMT14の翻訳結果を報告した。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https://arxiv.org/abs/1609.08144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Attention Is All You Need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Attention Is All You Need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Ashish Vaswani et al. / NeurIPS 2017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注意機構を中心とするTransformerと、WMT14での評価を報告。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https://arxiv.org/abs/1706.03762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A Call for Clarity in Reporting BLEU Score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Call for Clarity in Reporting BLEU Scores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Matt Post / WMT 2018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前処理条件とBLEUの再現性を整理し、SacreBLEUを紹介する。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https://aclanthology.org/W18-6319/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2026-10-18T00:21:09Z</dcterms:modified>
  <dc:title>wmt14</dc:title>
  <dc:creator>sasakiy84</dc:creator>
  <dcterms:created xsi:type="dcterms:W3CDTF">2026-10-18T00:21:09Z</dcterms:created>
  <dc:language>ja-JP</dc:language>
</cp:coreProperties>
</file>