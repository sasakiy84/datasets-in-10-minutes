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ikitech.wikimedia.org/wiki/EventStream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EventStream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Manual:RCFee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chema.wikimedia.org/repositories/primary/jsonschema/mediawiki/recentchange/1.0.0" TargetMode="External"/><Relationship Id="rId3" Type="http://schemas.openxmlformats.org/officeDocument/2006/relationships/hyperlink" Target="https://wikitech.wikimedia.org/wiki/EventStream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Manual:RCFeed" TargetMode="External"/><Relationship Id="rId3" Type="http://schemas.openxmlformats.org/officeDocument/2006/relationships/hyperlink" Target="https://wikitech.wikimedia.org/wiki/EventStream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Manual:Recentchanges_tabl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iff.wikimedia.org/2017/03/20/eventstreams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EventStream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?doc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EventStream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EventStream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foundation.wikimedia.org/wiki/Policy:Terms_of_Use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EventStream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eam.wikimedia.org/v2/stream/recentchange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EventStreams" TargetMode="External"/><Relationship Id="rId3" Type="http://schemas.openxmlformats.org/officeDocument/2006/relationships/hyperlink" Target="https://stream.wikimedia.org/?doc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Manual:RCFeed" TargetMode="External"/><Relationship Id="rId3" Type="http://schemas.openxmlformats.org/officeDocument/2006/relationships/hyperlink" Target="https://www.mediawiki.org/wiki/Manual:Recentchanges_table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iff.wikimedia.org/2017/03/20/eventstreams/" TargetMode="External"/><Relationship Id="rId3" Type="http://schemas.openxmlformats.org/officeDocument/2006/relationships/hyperlink" Target="https://diff.wikimedia.org/2018/08/08/eventstreams-updates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chema.wikimedia.org/repositories/primary/jsonschema/mediawiki/recentchange/1.0.0" TargetMode="External"/><Relationship Id="rId3" Type="http://schemas.openxmlformats.org/officeDocument/2006/relationships/hyperlink" Target="https://foundation.wikimedia.org/wiki/Policy:Terms_of_Us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240" y="1459827"/>
            <a:ext cx="8097520" cy="1912620"/>
          </a:xfrm>
        </p:spPr>
        <p:txBody>
          <a:bodyPr wrap="square" lIns="25400" rIns="0" tIns="0" bIns="76200">
            <a:noAutofit/>
          </a:bodyPr>
          <a:lstStyle/>
          <a:p>
            <a:pPr algn="ctr">
              <a:lnSpc>
                <a:spcPts val="6750"/>
              </a:lnSpc>
              <a:spcBef>
                <a:spcPts val="0"/>
              </a:spcBef>
              <a:spcAft>
                <a:spcPts val="0"/>
              </a:spcAft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</a:t>
            </a:r>
          </a:p>
          <a:p>
            <a:pPr algn="ctr">
              <a:lnSpc>
                <a:spcPts val="6750"/>
              </a:lnSpc>
              <a:spcBef>
                <a:spcPts val="0"/>
              </a:spcBef>
              <a:spcAft>
                <a:spcPts val="0"/>
              </a:spcAft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EventStreams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326727"/>
            <a:ext cx="8046720" cy="5645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変更イベントのストリーミング配信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EventStreamsの公式文書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6845"/>
            <a:ext cx="8046720" cy="3052204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4383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変更イベントの実例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SSEとJSONのデータ構造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配信の仕組みとストリーム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受信・再開とデータの利用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360" y="2506875"/>
            <a:ext cx="8463280" cy="697992"/>
          </a:xfrm>
        </p:spPr>
        <p:txBody>
          <a:bodyPr wrap="square" lIns="2540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ファイル説明ページの変更が1件届く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508760"/>
          <a:ext cx="6766560" cy="2482212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4206240"/>
              </a:tblGrid>
              <a:tr h="41370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受信した値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1370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commonswiki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370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File:Train mw.jpg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370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370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length.old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7,416 bytes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370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length.new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57"/>
                        </a:lnSpc>
                        <a:buNone/>
                        <a:defRPr sz="20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7,467 bytes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18991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 CommonsのFile:Train mw.jpgを編集したイベント。長さは画像容量ではなく、説明ページの内容のバイト数。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イベントは、Wiki内で起きた状態の変化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EventStreamsは、Wikimediaプロジェクトの変更を、構造化されたイベントとして継続配信する公式サービス。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ここで扱うrecentchangeは、編集・新規ページ・ログ・カテゴリ変更などの記録を送る。実世界の出来事を集めたコーパスとは対象が異なる。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一度接続すると、変更が起きるたびにメッセージが届く。月ごとにファイルを取得するデータ配布とは使い方が変わる。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記事以外の、新規ページも届く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7680960" cy="2105025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12064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受信した値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Discussion:Matthew O. Jackson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 / namespace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 / 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length.new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 bytes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フランス語版Wikipediaのトークページを新規作成した例。namespaceはページの種類を表し、1はトークページ。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カテゴリへの追加・削除も別の種類で届く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79" y="1508760"/>
          <a:ext cx="7406640" cy="206375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493776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受信した値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kowiktionary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분류:한국어 한자어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56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 / namespace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categorize / 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00525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韓国語版Wiktionaryの「韓国語の漢字語」カテゴリに関する変更。カテゴリ変更の通知で、このレコードにはrevisionやlengthがない。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編集以外の操作は、ログとして届く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508760"/>
          <a:ext cx="6492240" cy="2251075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1148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受信した値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log_type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growthexperiments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log_action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setmentor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7851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フランス語版Wikipediaで記録されたメンター設定のログ。操作の種類をlog_typeとlog_actionから読める。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同じ接続で、複数のプロジェクトを受信する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変更イベントの実例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フランス語版Wikipedia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commonswiki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画像などを共有するWikimedia Commons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wikidatawiki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構造化知識を集めるWikidata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kowiktionary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韓国語版の辞書Wiktionary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30件の受信サンプルから、異なる4つのWikiを示した。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360" y="2506875"/>
            <a:ext cx="8463280" cy="697992"/>
          </a:xfrm>
        </p:spPr>
        <p:txBody>
          <a:bodyPr wrap="square" lIns="2540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SSEの枠組みに、JSONの変更情報が入る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313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SSEメッセージ。id値を省略し、dataは2項目を抜粋。</a:t>
            </a:r>
          </a:p>
        </p:txBody>
      </p:sp>
      <p:sp>
        <p:nvSpPr>
          <p:cNvPr id="5" name="sse-frame"/>
          <p:cNvSpPr/>
          <p:nvPr/>
        </p:nvSpPr>
        <p:spPr>
          <a:xfrm>
            <a:off x="548640" y="1737360"/>
            <a:ext cx="8046720" cy="108965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241300"/>
          <a:lstStyle/>
          <a:p>
            <a:pPr algn="l">
              <a:lnSpc>
                <a:spcPts val="26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event: message</a:t>
            </a:r>
          </a:p>
          <a:p>
            <a:pPr algn="l">
              <a:lnSpc>
                <a:spcPts val="26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id: &lt;再開位置を表す文字列&gt;</a:t>
            </a:r>
          </a:p>
          <a:p>
            <a:pPr algn="l">
              <a:lnSpc>
                <a:spcPts val="26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data: {"wiki":"commonswiki","type":"edit"}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45536"/>
            <a:ext cx="795527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eventはメッセージの種類、idは接続の再開位置、dataは変更情報。空行でメッセージを区切る。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変更の内容はdataの各フィールドで表す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6692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$schema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データ構造を定めるスキーマの識別URI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 / 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変更が起きたWikiとページ名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 / namespace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変更の種類とページの名前空間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 / length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版のIDと、内容のバイト数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bot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botとして記録された変更かどうか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 contributors. Manual:RCFeed.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https://www.mediawiki.org/wiki/Manual:RCFeed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日時のフィールドも、役割と単位が異なる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内容と単位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data.timestamp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変更の日時。Unix時刻の秒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data.meta.dt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イベントのメタデータに付くUTC日時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SSEのid内timestamp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接続を再開する位置。ミリ秒単位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data.timestampとmeta.dtは同じ値になるとは限らず、SSEのidは配信位置を表す。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517136"/>
            <a:ext cx="8183879" cy="54609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mediawiki/recentchange スキーマ1.0.0.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https://schema.wikimedia.org/repositories/primary/jsonschema/mediawiki/recentchange/1.0.0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版IDと、ストリームの再開位置を使い分ける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識別情報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用途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revision.old / new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変更前と変更後の版を取得する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data.id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そのWikiの最近の更新記録を識別する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data.meta.id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イベントを識別する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SSEのid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接続が切れた場所から受信を再開する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SSEのidは、topic・partition・offsetまたはtimestampをまとめた配列。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 contributors. Manual:RCFeed.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https://www.mediawiki.org/wiki/Manual:RCFeed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内容の長さは、51 bytes増えている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1508760"/>
          <a:ext cx="5943600" cy="1438275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3017520"/>
              </a:tblGrid>
              <a:tr h="4794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874"/>
                        </a:lnSpc>
                        <a:buNone/>
                        <a:defRPr sz="25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5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874"/>
                        </a:lnSpc>
                        <a:buNone/>
                        <a:defRPr sz="25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5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内容のバイト数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94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874"/>
                        </a:lnSpc>
                        <a:buNone/>
                        <a:defRPr sz="25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5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874"/>
                        </a:lnSpc>
                        <a:buNone/>
                        <a:defRPr sz="25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5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7,416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94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874"/>
                        </a:lnSpc>
                        <a:buNone/>
                        <a:defRPr sz="25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5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874"/>
                        </a:lnSpc>
                        <a:buNone/>
                        <a:defRPr sz="25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5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7,467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75051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File:Train mw.jpgの説明ページの例。7,467 − 7,416 = 51 bytes。変更内容を読むには、旧版と新版の内容を別に取得する。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 contributors. Manual:Recentchanges table.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https://www.mediawiki.org/wiki/Manual:Recentchanges_table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変更の種類によって、届く項目が変わる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SSEとJSONのデータ構造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2011680"/>
                <a:gridCol w="2011680"/>
                <a:gridCol w="21945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受信した例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length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ログ情報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旧版・新版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旧版・新版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新版のみ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新版のみ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categorize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種類・操作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本資料の4件を比較したもの。コードでは、変更の種類とフィールドの有無に合わせて処理する。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360" y="2506875"/>
            <a:ext cx="8463280" cy="697992"/>
          </a:xfrm>
        </p:spPr>
        <p:txBody>
          <a:bodyPr wrap="square" lIns="2540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2017年に、再接続できる配信方式を公開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 FoundationのAndrew Ottoが、2017年3月20日にEventStreamsの公開を紹介した。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先行するRCStreamやIRC配信では、サービス再起動で接続が途切れ、継続して変更を追うツールの維持が難しかった。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標準的なHTTPとSSEを使い、切断後の再開を支援した。最近の更新以外の種類も同じ仕組みで公開できるようにした。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Andrew Otto. 2017. Get live updates to Wikimedia projects with EventStreams.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https://diff.wikimedia.org/2017/03/20/eventstreams/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Wikiの変更を、KafkaからHTTPへ配信する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Wiki上の操作から構造化されたイベントを作り、イベントを蓄積・配信するApache Kafkaへ送る。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EventStreamsはKafkaのストリームを読み、外部のクライアントへHTTPで配信する。受信したイベントは、検索索引や手元のデータの更新に利用できる。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公開されるのは設定されたストリーム。Wikimedia内部のすべてのイベントが公開されるわけではない。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最近の更新以外のストリームも選べる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38404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ストリームの例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recentchange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最近の更新の各種記録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mediawiki.revision-create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新しい版の作成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mediawiki.page-move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ページ名の変更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mediawiki.page-delete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ページの削除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2026-10-28に公式API仕様を確認した例。recentchangeはmediawiki.recentchangeの別名。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Wikimedia EventStreams API.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https://stream.wikimedia.org/?doc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SSEと、1行ずつ読むJSONを選べる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50292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受信するもの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text/event-stream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event・id・dataを持つSSEメッセージ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application/json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1行に1件のJSONを置くNDJSON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65576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ブラウザのEventSourceはSSEを扱う。HTTPクライアントではAcceptで応答形式を指定できる。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必要なWikiや変更の種類を受信側で選ぶ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配信の仕組みとストリーム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6827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const d = JSON.parse(event.data);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if (d.meta.domain === "canary") return;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if (d.wiki === "frwiki" &amp;&amp; d.type === "edit") {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console.log(d.title);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92678"/>
            <a:ext cx="7955279" cy="108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メッセージを受けた処理の例。canaryは配信の稼働確認用に作られるイベント。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360" y="2506875"/>
            <a:ext cx="8463280" cy="697992"/>
          </a:xfrm>
        </p:spPr>
        <p:txBody>
          <a:bodyPr wrap="square" lIns="2540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ブラウザから、短時間だけ受信する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685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const url = "https://stream.wikimedia.org/v2/stream/recentchange";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const feed = new EventSource(url); let n = 0;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feed.onmessage = ({data}) =&gt; {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const d = JSON.parse(data);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if (d.meta.domain === "canary") return;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console.log(d.wiki, d.type);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if (++n === 5) feed.close();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};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setTimeout(() =&gt; feed.close(), 5000);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78490"/>
            <a:ext cx="7955279" cy="108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5件または5秒で終了し、Wiki名と変更の種類を出す。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接続が切れたら、保存した位置から再開する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SSEのidを保存しておき、再接続するときにLast-Event-IDへ渡すと、その位置から受信を再開できる。EventSourceは接続の再開を支援する。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idには、複数のKafkaトピックやパーティションの位置が入る。受信した配列をそのまま保存し、一つの版IDで置き換えない。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受信位置と処理済みイベントを記録すると、切断後もデータ更新を継続しやすい。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時刻から遡れる期間は、ストリームで異なる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URLにsinceを指定すると、UTC日時から受信を始められる。時刻に近い、Kafka内の位置を探して読み始める仕組み。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履歴の保持期間は設定に依存し、公式文書では7〜31日程度とされる。過去の全変更を永続的に取得するための保管庫ではない。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長期の履歴が必要なら、本文の履歴ダンプや、編集・ページ・利用者の履歴をまとめたMediaWiki historyも利用する。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公開情報の取得と、再利用の条件を確かめる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公開ストリームには、利用者名や編集要約などが含まれる場合もある。用途に必要なフィールドを選んで保存し、取得する量と接続数を抑える。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API仕様やサービス実装のライセンスと、元プロジェクトの投稿内容の利用条件は対象が異なる。本文や編集要約を再利用するときは、元データの条件を確認する。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Terms of Use.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https://foundation.wikimedia.org/wiki/Policy:Terms_of_Use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配信と一括配布は、更新の用途が異なる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6692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主な使い方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EventStreams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発生する変更を受け、手元のデータを更新する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本文ダンプ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ある時点の本文や、過去の版をまとめて得る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MediaWiki 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編集などの履歴をまとめて分析する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初期データを一括配布から作り、以後の変更を配信から取り込む構成も考えられる。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 EventStreamsの要点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121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Wiki内の編集や操作を、構造化イベントとして継続的に配信する公式サービス。Wikipedia以外のWikimediaプロジェクトも含む。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SSEの枠組みと、その中のJSONを読む。版ID、内容のバイト数、変更の種類などを、用途に合わせて使う。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受信側でWikiや種類を選び、再開位置を保存する。長期の履歴分析や初期データの取得には、一括配布のデータも組み合わせる。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受信・再開とデータの利用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360" y="2454355"/>
            <a:ext cx="8463280" cy="758951"/>
          </a:xfrm>
        </p:spPr>
        <p:txBody>
          <a:bodyPr wrap="square" lIns="2540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2039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追加の実レコード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取得コードと参考文献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主編とは別の、5件の変更イベント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追加の実レコード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39" y="1508760"/>
          <a:ext cx="8046720" cy="253111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280160"/>
                <a:gridCol w="493776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wikidatawiki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Q141895413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wikidatawiki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Lexeme:L1753768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Magali Le Huche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cewiki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Кейссак-ле-Винь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1087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categorize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Category:Wikipedia semi-protected edit requests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67885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同じ30件の受信サンプルから、別イベントを選択。Wikidataの項目・語彙、フランス語版の人物記事、チェチェン語版の記事、英語版のカテゴリを含む。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受信順に見ても、変更時刻は前後する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追加の実レコード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39" y="1508760"/>
          <a:ext cx="7589520" cy="2688336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2194560"/>
                <a:gridCol w="1828800"/>
                <a:gridCol w="25603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受信順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変更時刻（UTC）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wikidatawiki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19:52:51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19:51:45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19:52:51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commonswiki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categorize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19:52:48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kowiktionary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categorize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19:52:50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commonswiki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19:52:53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25112"/>
            <a:ext cx="7955279" cy="734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2026-10-27に取得した先頭6件。時刻は各変更のtimestampから変換した。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EventStreams. recentchange、2026-10-27 19:52 UTCの実イベント。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https://stream.wikimedia.org/v2/stream/recentchange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PythonではNDJSONを1行ずつ読める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取得コードと参考文献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5558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json, requests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itertools import islice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url = "https://stream.wikimedia.org/v2/stream/recentchange"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headers = {"Accept": "application/json"}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headers["User-Agent"] = "my-analysis/1.0 (contact@example.org)"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requests.get(url, headers=headers,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   stream=True, timeout=8) as r: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r.raise_for_status()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for line in islice(filter(None, r.iter_lines()), 5):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print(json.loads(line)["type"])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65803"/>
            <a:ext cx="7955279" cy="108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空行を除く5件で接続を閉じる。連絡先は自分のものへ変更する。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Event Platform/EventStreams HTTP Service.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取得コードと参考文献</a:t>
            </a:r>
          </a:p>
        </p:txBody>
      </p:sp>
      <p:sp>
        <p:nvSpPr>
          <p:cNvPr id="4" name="文献 1: Event Platform/EventStreams HTTP Service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 Platform/EventStreams HTTP Service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Foundation. n.d. Wikitech.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配信形式、ストリーム、再接続、過去データの取得をまとめる公式文書。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https://wikitech.wikimedia.org/wiki/EventStreams</a:t>
            </a:r>
          </a:p>
        </p:txBody>
      </p:sp>
      <p:sp>
        <p:nvSpPr>
          <p:cNvPr id="5" name="文献 2: Wikimedia EventStreams API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 EventStreams API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Foundation. n.d.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公開中のストリームと、パラメータ・応答例を示すAPI仕様。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https://stream.wikimedia.org/?doc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取得コードと参考文献</a:t>
            </a:r>
          </a:p>
        </p:txBody>
      </p:sp>
      <p:sp>
        <p:nvSpPr>
          <p:cNvPr id="4" name="文献 1: Manual:RCFeed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Manual:RCFeed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MediaWiki contributors. n.d. MediaWiki.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最近の更新を機械処理する形式と、項目ごとの意味を説明する。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https://www.mediawiki.org/wiki/Manual:RCFeed</a:t>
            </a:r>
          </a:p>
        </p:txBody>
      </p:sp>
      <p:sp>
        <p:nvSpPr>
          <p:cNvPr id="5" name="文献 2: Manual:Recentchanges table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Manual:Recentchanges 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MediaWiki contributors. n.d. MediaWiki.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変更の記録に使われる長さ・版ID・bot印などの元フィールドを説明する。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https://www.mediawiki.org/wiki/Manual:Recentchanges_table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取得コードと参考文献</a:t>
            </a:r>
          </a:p>
        </p:txBody>
      </p:sp>
      <p:sp>
        <p:nvSpPr>
          <p:cNvPr id="4" name="文献 1: Get live updates to Wikimedia projects with EventStreams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Get live updates to Wikimedia projects with EventStreams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Andrew Otto. 2017-03-20. Wikimedia Foundation, Diff.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公開時の背景と、先行する配信方式から変更した点を紹介する。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https://diff.wikimedia.org/2017/03/20/eventstreams/</a:t>
            </a:r>
          </a:p>
        </p:txBody>
      </p:sp>
      <p:sp>
        <p:nvSpPr>
          <p:cNvPr id="5" name="文献 2: EventStreams updates: You can now find new events, composite streams, and historical timestamp subscription"/>
          <p:cNvSpPr txBox="1"/>
          <p:nvPr/>
        </p:nvSpPr>
        <p:spPr>
          <a:xfrm>
            <a:off x="548640" y="2999359"/>
            <a:ext cx="8046720" cy="16353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EventStreams updates: You can now find new events, composite streams, and historical timestamp subscription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Andrew Otto. 2018-08-08. Wikimedia Foundation, Diff.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ストリームの拡充、複数配信の組合せ、時刻からの履歴取得を紹介する。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https://diff.wikimedia.org/2018/08/08/eventstreams-updates/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72" y="650138"/>
            <a:ext cx="8257540" cy="692505"/>
          </a:xfrm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取得コードと参考文献</a:t>
            </a:r>
          </a:p>
        </p:txBody>
      </p:sp>
      <p:sp>
        <p:nvSpPr>
          <p:cNvPr id="4" name="文献 1: mediawiki/recentchange 1.0.0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mediawiki/recentchange 1.0.0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Foundation. n.d. Wikimedia Event Schemas.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本資料で受信したレコードが指定するスキーマ。項目の構造と型を定義する。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https://schema.wikimedia.org/repositories/primary/jsonschema/mediawiki/recentchange/1.0.0</a:t>
            </a:r>
          </a:p>
        </p:txBody>
      </p:sp>
      <p:sp>
        <p:nvSpPr>
          <p:cNvPr id="5" name="文献 2: Terms of Use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Terms of Use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Foundation. n.d.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Wikimediaサービスの利用と投稿内容の再利用について、基本条件を定める。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https://foundation.wikimedia.org/wiki/Policy:Terms_of_Use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2026-10-27T20:20:36Z</dcterms:modified>
  <dc:title>wikimedia-eventstreams</dc:title>
  <dc:creator>sasakiy84</dc:creator>
  <dcterms:created xsi:type="dcterms:W3CDTF">2026-10-27T20:20:36Z</dcterms:created>
  <dc:language>ja-JP</dc:language>
</cp:coreProperties>
</file>