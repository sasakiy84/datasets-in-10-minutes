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322" r:id="rId64"/>
    <p:sldId id="323" r:id="rId36"/>
    <p:sldId id="324" r:id="rId35"/>
    <p:sldId id="325" r:id="rId72"/>
    <p:sldId id="326" r:id="rId73"/>
    <p:sldId id="327" r:id="rId74"/>
    <p:sldId id="328" r:id="rId75"/>
    <p:sldId id="329" r:id="rId76"/>
    <p:sldId id="263" r:id="rId3"/>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266" r:id="rId16"/>
    <p:sldId id="356" r:id="rId103"/>
    <p:sldId id="357" r:id="rId104"/>
    <p:sldId id="358" r:id="rId105"/>
    <p:sldId id="359" r:id="rId106"/>
    <p:sldId id="360" r:id="rId107"/>
    <p:sldId id="361" r:id="rId108"/>
    <p:sldId id="362" r:id="rId109"/>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7" r:id="rId37"/>
    <p:sldId id="288" r:id="rId38"/>
    <p:sldId id="289" r:id="rId39"/>
    <p:sldId id="290" r:id="rId40"/>
    <p:sldId id="291" r:id="rId41"/>
    <p:sldId id="292" r:id="rId42"/>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309" r:id="rId59"/>
    <p:sldId id="310" r:id="rId60"/>
    <p:sldId id="311" r:id="rId61"/>
    <p:sldId id="312" r:id="rId62"/>
    <p:sldId id="313" r:id="rId63"/>
    <p:sldId id="315" r:id="rId65"/>
    <p:sldId id="316" r:id="rId66"/>
    <p:sldId id="317" r:id="rId67"/>
    <p:sldId id="318" r:id="rId68"/>
    <p:sldId id="319" r:id="rId69"/>
    <p:sldId id="320" r:id="rId70"/>
    <p:sldId id="321" r:id="rId7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5.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6" Type="http://schemas.openxmlformats.org/officeDocument/2006/relationships/slide" Target="slides/slide42.xml"/><Relationship Id="rId19" Type="http://schemas.openxmlformats.org/officeDocument/2006/relationships/slide" Target="slides/slide50.xml"/><Relationship Id="rId20" Type="http://schemas.openxmlformats.org/officeDocument/2006/relationships/slide" Target="slides/slide51.xml"/><Relationship Id="rId21" Type="http://schemas.openxmlformats.org/officeDocument/2006/relationships/slide" Target="slides/slide52.xml"/><Relationship Id="rId22" Type="http://schemas.openxmlformats.org/officeDocument/2006/relationships/slide" Target="slides/slide53.xml"/><Relationship Id="rId23" Type="http://schemas.openxmlformats.org/officeDocument/2006/relationships/slide" Target="slides/slide54.xml"/><Relationship Id="rId24" Type="http://schemas.openxmlformats.org/officeDocument/2006/relationships/slide" Target="slides/slide55.xml"/><Relationship Id="rId25" Type="http://schemas.openxmlformats.org/officeDocument/2006/relationships/slide" Target="slides/slide56.xml"/><Relationship Id="rId26" Type="http://schemas.openxmlformats.org/officeDocument/2006/relationships/slide" Target="slides/slide57.xml"/><Relationship Id="rId27" Type="http://schemas.openxmlformats.org/officeDocument/2006/relationships/slide" Target="slides/slide58.xml"/><Relationship Id="rId28" Type="http://schemas.openxmlformats.org/officeDocument/2006/relationships/slide" Target="slides/slide59.xml"/><Relationship Id="rId29" Type="http://schemas.openxmlformats.org/officeDocument/2006/relationships/slide" Target="slides/slide60.xml"/><Relationship Id="rId30" Type="http://schemas.openxmlformats.org/officeDocument/2006/relationships/slide" Target="slides/slide61.xml"/><Relationship Id="rId31" Type="http://schemas.openxmlformats.org/officeDocument/2006/relationships/slide" Target="slides/slide62.xml"/><Relationship Id="rId32" Type="http://schemas.openxmlformats.org/officeDocument/2006/relationships/slide" Target="slides/slide63.xml"/><Relationship Id="rId33" Type="http://schemas.openxmlformats.org/officeDocument/2006/relationships/slide" Target="slides/slide64.xml"/><Relationship Id="rId34" Type="http://schemas.openxmlformats.org/officeDocument/2006/relationships/slide" Target="slides/slide65.xml"/><Relationship Id="rId35" Type="http://schemas.openxmlformats.org/officeDocument/2006/relationships/slide" Target="slides/slide9.xml"/><Relationship Id="rId36" Type="http://schemas.openxmlformats.org/officeDocument/2006/relationships/slide" Target="slides/slide8.xml"/><Relationship Id="rId37" Type="http://schemas.openxmlformats.org/officeDocument/2006/relationships/slide" Target="slides/slide66.xml"/><Relationship Id="rId38" Type="http://schemas.openxmlformats.org/officeDocument/2006/relationships/slide" Target="slides/slide67.xml"/><Relationship Id="rId39" Type="http://schemas.openxmlformats.org/officeDocument/2006/relationships/slide" Target="slides/slide68.xml"/><Relationship Id="rId40" Type="http://schemas.openxmlformats.org/officeDocument/2006/relationships/slide" Target="slides/slide69.xml"/><Relationship Id="rId41" Type="http://schemas.openxmlformats.org/officeDocument/2006/relationships/slide" Target="slides/slide70.xml"/><Relationship Id="rId42" Type="http://schemas.openxmlformats.org/officeDocument/2006/relationships/slide" Target="slides/slide71.xml"/><Relationship Id="rId59" Type="http://schemas.openxmlformats.org/officeDocument/2006/relationships/slide" Target="slides/slide142.xml"/><Relationship Id="rId60" Type="http://schemas.openxmlformats.org/officeDocument/2006/relationships/slide" Target="slides/slide143.xml"/><Relationship Id="rId61" Type="http://schemas.openxmlformats.org/officeDocument/2006/relationships/slide" Target="slides/slide144.xml"/><Relationship Id="rId62" Type="http://schemas.openxmlformats.org/officeDocument/2006/relationships/slide" Target="slides/slide145.xml"/><Relationship Id="rId63" Type="http://schemas.openxmlformats.org/officeDocument/2006/relationships/slide" Target="slides/slide146.xml"/><Relationship Id="rId64" Type="http://schemas.openxmlformats.org/officeDocument/2006/relationships/slide" Target="slides/slide7.xml"/><Relationship Id="rId65" Type="http://schemas.openxmlformats.org/officeDocument/2006/relationships/slide" Target="slides/slide147.xml"/><Relationship Id="rId66" Type="http://schemas.openxmlformats.org/officeDocument/2006/relationships/slide" Target="slides/slide148.xml"/><Relationship Id="rId67" Type="http://schemas.openxmlformats.org/officeDocument/2006/relationships/slide" Target="slides/slide149.xml"/><Relationship Id="rId68" Type="http://schemas.openxmlformats.org/officeDocument/2006/relationships/slide" Target="slides/slide150.xml"/><Relationship Id="rId69" Type="http://schemas.openxmlformats.org/officeDocument/2006/relationships/slide" Target="slides/slide151.xml"/><Relationship Id="rId70" Type="http://schemas.openxmlformats.org/officeDocument/2006/relationships/slide" Target="slides/slide152.xml"/><Relationship Id="rId71" Type="http://schemas.openxmlformats.org/officeDocument/2006/relationships/slide" Target="slides/slide153.xml"/><Relationship Id="rId72" Type="http://schemas.openxmlformats.org/officeDocument/2006/relationships/slide" Target="slides/slide10.xml"/><Relationship Id="rId73" Type="http://schemas.openxmlformats.org/officeDocument/2006/relationships/slide" Target="slides/slide11.xml"/><Relationship Id="rId74" Type="http://schemas.openxmlformats.org/officeDocument/2006/relationships/slide" Target="slides/slide12.xml"/><Relationship Id="rId75" Type="http://schemas.openxmlformats.org/officeDocument/2006/relationships/slide" Target="slides/slide13.xml"/><Relationship Id="rId76" Type="http://schemas.openxmlformats.org/officeDocument/2006/relationships/slide" Target="slides/slide14.xml"/><Relationship Id="rId77" Type="http://schemas.openxmlformats.org/officeDocument/2006/relationships/slide" Target="slides/slide16.xml"/><Relationship Id="rId78" Type="http://schemas.openxmlformats.org/officeDocument/2006/relationships/slide" Target="slides/slide17.xml"/><Relationship Id="rId79" Type="http://schemas.openxmlformats.org/officeDocument/2006/relationships/slide" Target="slides/slide18.xml"/><Relationship Id="rId80" Type="http://schemas.openxmlformats.org/officeDocument/2006/relationships/slide" Target="slides/slide19.xml"/><Relationship Id="rId81" Type="http://schemas.openxmlformats.org/officeDocument/2006/relationships/slide" Target="slides/slide20.xml"/><Relationship Id="rId82" Type="http://schemas.openxmlformats.org/officeDocument/2006/relationships/slide" Target="slides/slide21.xml"/><Relationship Id="rId83" Type="http://schemas.openxmlformats.org/officeDocument/2006/relationships/slide" Target="slides/slide22.xml"/><Relationship Id="rId84" Type="http://schemas.openxmlformats.org/officeDocument/2006/relationships/slide" Target="slides/slide23.xml"/><Relationship Id="rId85" Type="http://schemas.openxmlformats.org/officeDocument/2006/relationships/slide" Target="slides/slide24.xml"/><Relationship Id="rId86" Type="http://schemas.openxmlformats.org/officeDocument/2006/relationships/slide" Target="slides/slide25.xml"/><Relationship Id="rId87" Type="http://schemas.openxmlformats.org/officeDocument/2006/relationships/slide" Target="slides/slide26.xml"/><Relationship Id="rId88" Type="http://schemas.openxmlformats.org/officeDocument/2006/relationships/slide" Target="slides/slide27.xml"/><Relationship Id="rId89" Type="http://schemas.openxmlformats.org/officeDocument/2006/relationships/slide" Target="slides/slide28.xml"/><Relationship Id="rId90" Type="http://schemas.openxmlformats.org/officeDocument/2006/relationships/slide" Target="slides/slide29.xml"/><Relationship Id="rId91" Type="http://schemas.openxmlformats.org/officeDocument/2006/relationships/slide" Target="slides/slide30.xml"/><Relationship Id="rId92" Type="http://schemas.openxmlformats.org/officeDocument/2006/relationships/slide" Target="slides/slide31.xml"/><Relationship Id="rId93" Type="http://schemas.openxmlformats.org/officeDocument/2006/relationships/slide" Target="slides/slide32.xml"/><Relationship Id="rId94" Type="http://schemas.openxmlformats.org/officeDocument/2006/relationships/slide" Target="slides/slide33.xml"/><Relationship Id="rId95" Type="http://schemas.openxmlformats.org/officeDocument/2006/relationships/slide" Target="slides/slide34.xml"/><Relationship Id="rId96" Type="http://schemas.openxmlformats.org/officeDocument/2006/relationships/slide" Target="slides/slide35.xml"/><Relationship Id="rId97" Type="http://schemas.openxmlformats.org/officeDocument/2006/relationships/slide" Target="slides/slide36.xml"/><Relationship Id="rId98" Type="http://schemas.openxmlformats.org/officeDocument/2006/relationships/slide" Target="slides/slide37.xml"/><Relationship Id="rId99" Type="http://schemas.openxmlformats.org/officeDocument/2006/relationships/slide" Target="slides/slide38.xml"/><Relationship Id="rId100" Type="http://schemas.openxmlformats.org/officeDocument/2006/relationships/slide" Target="slides/slide39.xml"/><Relationship Id="rId101" Type="http://schemas.openxmlformats.org/officeDocument/2006/relationships/slide" Target="slides/slide40.xml"/><Relationship Id="rId102" Type="http://schemas.openxmlformats.org/officeDocument/2006/relationships/slide" Target="slides/slide41.xml"/><Relationship Id="rId103" Type="http://schemas.openxmlformats.org/officeDocument/2006/relationships/slide" Target="slides/slide43.xml"/><Relationship Id="rId104" Type="http://schemas.openxmlformats.org/officeDocument/2006/relationships/slide" Target="slides/slide44.xml"/><Relationship Id="rId105" Type="http://schemas.openxmlformats.org/officeDocument/2006/relationships/slide" Target="slides/slide45.xml"/><Relationship Id="rId106" Type="http://schemas.openxmlformats.org/officeDocument/2006/relationships/slide" Target="slides/slide46.xml"/><Relationship Id="rId107" Type="http://schemas.openxmlformats.org/officeDocument/2006/relationships/slide" Target="slides/slide47.xml"/><Relationship Id="rId108" Type="http://schemas.openxmlformats.org/officeDocument/2006/relationships/slide" Target="slides/slide48.xml"/><Relationship Id="rId109" Type="http://schemas.openxmlformats.org/officeDocument/2006/relationships/slide" Target="slides/slide49.xml"/><Relationship Id="rId110" Type="http://schemas.openxmlformats.org/officeDocument/2006/relationships/slide" Target="slides/slide72.xml"/><Relationship Id="rId111" Type="http://schemas.openxmlformats.org/officeDocument/2006/relationships/slide" Target="slides/slide73.xml"/><Relationship Id="rId112" Type="http://schemas.openxmlformats.org/officeDocument/2006/relationships/slide" Target="slides/slide74.xml"/><Relationship Id="rId113" Type="http://schemas.openxmlformats.org/officeDocument/2006/relationships/slide" Target="slides/slide75.xml"/><Relationship Id="rId114" Type="http://schemas.openxmlformats.org/officeDocument/2006/relationships/slide" Target="slides/slide76.xml"/><Relationship Id="rId115" Type="http://schemas.openxmlformats.org/officeDocument/2006/relationships/slide" Target="slides/slide77.xml"/><Relationship Id="rId116" Type="http://schemas.openxmlformats.org/officeDocument/2006/relationships/slide" Target="slides/slide78.xml"/><Relationship Id="rId117" Type="http://schemas.openxmlformats.org/officeDocument/2006/relationships/slide" Target="slides/slide79.xml"/><Relationship Id="rId118" Type="http://schemas.openxmlformats.org/officeDocument/2006/relationships/slide" Target="slides/slide80.xml"/><Relationship Id="rId119" Type="http://schemas.openxmlformats.org/officeDocument/2006/relationships/slide" Target="slides/slide81.xml"/><Relationship Id="rId120" Type="http://schemas.openxmlformats.org/officeDocument/2006/relationships/slide" Target="slides/slide82.xml"/><Relationship Id="rId121" Type="http://schemas.openxmlformats.org/officeDocument/2006/relationships/slide" Target="slides/slide83.xml"/><Relationship Id="rId122" Type="http://schemas.openxmlformats.org/officeDocument/2006/relationships/slide" Target="slides/slide84.xml"/><Relationship Id="rId123" Type="http://schemas.openxmlformats.org/officeDocument/2006/relationships/slide" Target="slides/slide85.xml"/><Relationship Id="rId124" Type="http://schemas.openxmlformats.org/officeDocument/2006/relationships/slide" Target="slides/slide86.xml"/><Relationship Id="rId125" Type="http://schemas.openxmlformats.org/officeDocument/2006/relationships/slide" Target="slides/slide87.xml"/><Relationship Id="rId126" Type="http://schemas.openxmlformats.org/officeDocument/2006/relationships/slide" Target="slides/slide88.xml"/><Relationship Id="rId127" Type="http://schemas.openxmlformats.org/officeDocument/2006/relationships/slide" Target="slides/slide89.xml"/><Relationship Id="rId128" Type="http://schemas.openxmlformats.org/officeDocument/2006/relationships/slide" Target="slides/slide90.xml"/><Relationship Id="rId129" Type="http://schemas.openxmlformats.org/officeDocument/2006/relationships/slide" Target="slides/slide91.xml"/><Relationship Id="rId130" Type="http://schemas.openxmlformats.org/officeDocument/2006/relationships/slide" Target="slides/slide92.xml"/><Relationship Id="rId131" Type="http://schemas.openxmlformats.org/officeDocument/2006/relationships/slide" Target="slides/slide93.xml"/><Relationship Id="rId132" Type="http://schemas.openxmlformats.org/officeDocument/2006/relationships/slide" Target="slides/slide94.xml"/><Relationship Id="rId133" Type="http://schemas.openxmlformats.org/officeDocument/2006/relationships/slide" Target="slides/slide95.xml"/><Relationship Id="rId134" Type="http://schemas.openxmlformats.org/officeDocument/2006/relationships/slide" Target="slides/slide96.xml"/><Relationship Id="rId135" Type="http://schemas.openxmlformats.org/officeDocument/2006/relationships/slide" Target="slides/slide97.xml"/><Relationship Id="rId136" Type="http://schemas.openxmlformats.org/officeDocument/2006/relationships/slide" Target="slides/slide98.xml"/><Relationship Id="rId137" Type="http://schemas.openxmlformats.org/officeDocument/2006/relationships/slide" Target="slides/slide99.xml"/><Relationship Id="rId138" Type="http://schemas.openxmlformats.org/officeDocument/2006/relationships/slide" Target="slides/slide100.xml"/><Relationship Id="rId139" Type="http://schemas.openxmlformats.org/officeDocument/2006/relationships/slide" Target="slides/slide101.xml"/><Relationship Id="rId140" Type="http://schemas.openxmlformats.org/officeDocument/2006/relationships/slide" Target="slides/slide102.xml"/><Relationship Id="rId141" Type="http://schemas.openxmlformats.org/officeDocument/2006/relationships/slide" Target="slides/slide103.xml"/><Relationship Id="rId142" Type="http://schemas.openxmlformats.org/officeDocument/2006/relationships/slide" Target="slides/slide104.xml"/><Relationship Id="rId143" Type="http://schemas.openxmlformats.org/officeDocument/2006/relationships/slide" Target="slides/slide105.xml"/><Relationship Id="rId144" Type="http://schemas.openxmlformats.org/officeDocument/2006/relationships/slide" Target="slides/slide106.xml"/><Relationship Id="rId145" Type="http://schemas.openxmlformats.org/officeDocument/2006/relationships/slide" Target="slides/slide107.xml"/><Relationship Id="rId146" Type="http://schemas.openxmlformats.org/officeDocument/2006/relationships/slide" Target="slides/slide108.xml"/><Relationship Id="rId147" Type="http://schemas.openxmlformats.org/officeDocument/2006/relationships/slide" Target="slides/slide109.xml"/><Relationship Id="rId148" Type="http://schemas.openxmlformats.org/officeDocument/2006/relationships/slide" Target="slides/slide110.xml"/><Relationship Id="rId149" Type="http://schemas.openxmlformats.org/officeDocument/2006/relationships/slide" Target="slides/slide111.xml"/><Relationship Id="rId150" Type="http://schemas.openxmlformats.org/officeDocument/2006/relationships/slide" Target="slides/slide112.xml"/><Relationship Id="rId151" Type="http://schemas.openxmlformats.org/officeDocument/2006/relationships/slide" Target="slides/slide113.xml"/><Relationship Id="rId152" Type="http://schemas.openxmlformats.org/officeDocument/2006/relationships/slide" Target="slides/slide114.xml"/><Relationship Id="rId153" Type="http://schemas.openxmlformats.org/officeDocument/2006/relationships/slide" Target="slides/slide115.xml"/><Relationship Id="rId154" Type="http://schemas.openxmlformats.org/officeDocument/2006/relationships/slide" Target="slides/slide116.xml"/><Relationship Id="rId155" Type="http://schemas.openxmlformats.org/officeDocument/2006/relationships/slide" Target="slides/slide117.xml"/><Relationship Id="rId156" Type="http://schemas.openxmlformats.org/officeDocument/2006/relationships/slide" Target="slides/slide118.xml"/><Relationship Id="rId157" Type="http://schemas.openxmlformats.org/officeDocument/2006/relationships/slide" Target="slides/slide119.xml"/><Relationship Id="rId158" Type="http://schemas.openxmlformats.org/officeDocument/2006/relationships/slide" Target="slides/slide120.xml"/><Relationship Id="rId159" Type="http://schemas.openxmlformats.org/officeDocument/2006/relationships/slide" Target="slides/slide121.xml"/><Relationship Id="rId160" Type="http://schemas.openxmlformats.org/officeDocument/2006/relationships/slide" Target="slides/slide122.xml"/><Relationship Id="rId161" Type="http://schemas.openxmlformats.org/officeDocument/2006/relationships/slide" Target="slides/slide123.xml"/><Relationship Id="rId162" Type="http://schemas.openxmlformats.org/officeDocument/2006/relationships/slide" Target="slides/slide124.xml"/><Relationship Id="rId163" Type="http://schemas.openxmlformats.org/officeDocument/2006/relationships/slide" Target="slides/slide125.xml"/><Relationship Id="rId164" Type="http://schemas.openxmlformats.org/officeDocument/2006/relationships/slide" Target="slides/slide126.xml"/><Relationship Id="rId165" Type="http://schemas.openxmlformats.org/officeDocument/2006/relationships/slide" Target="slides/slide127.xml"/><Relationship Id="rId166" Type="http://schemas.openxmlformats.org/officeDocument/2006/relationships/slide" Target="slides/slide128.xml"/><Relationship Id="rId167" Type="http://schemas.openxmlformats.org/officeDocument/2006/relationships/slide" Target="slides/slide129.xml"/><Relationship Id="rId168" Type="http://schemas.openxmlformats.org/officeDocument/2006/relationships/slide" Target="slides/slide130.xml"/><Relationship Id="rId169" Type="http://schemas.openxmlformats.org/officeDocument/2006/relationships/slide" Target="slides/slide131.xml"/><Relationship Id="rId170" Type="http://schemas.openxmlformats.org/officeDocument/2006/relationships/slide" Target="slides/slide132.xml"/><Relationship Id="rId171" Type="http://schemas.openxmlformats.org/officeDocument/2006/relationships/slide" Target="slides/slide133.xml"/><Relationship Id="rId172" Type="http://schemas.openxmlformats.org/officeDocument/2006/relationships/slide" Target="slides/slide134.xml"/><Relationship Id="rId173" Type="http://schemas.openxmlformats.org/officeDocument/2006/relationships/slide" Target="slides/slide135.xml"/><Relationship Id="rId174" Type="http://schemas.openxmlformats.org/officeDocument/2006/relationships/slide" Target="slides/slide136.xml"/><Relationship Id="rId175" Type="http://schemas.openxmlformats.org/officeDocument/2006/relationships/slide" Target="slides/slide137.xml"/><Relationship Id="rId176" Type="http://schemas.openxmlformats.org/officeDocument/2006/relationships/slide" Target="slides/slide138.xml"/><Relationship Id="rId177" Type="http://schemas.openxmlformats.org/officeDocument/2006/relationships/slide" Target="slides/slide139.xml"/><Relationship Id="rId178" Type="http://schemas.openxmlformats.org/officeDocument/2006/relationships/slide" Target="slides/slide140.xml"/><Relationship Id="rId179" Type="http://schemas.openxmlformats.org/officeDocument/2006/relationships/slide" Target="slides/slide1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文書数</c:v>
                </c:pt>
              </c:strCache>
            </c:strRef>
          </c:tx>
          <c:spPr>
            <a:solidFill>
              <a:srgbClr val="2C9100"/>
            </a:solidFill>
            <a:ln>
              <a:noFill/>
            </a:ln>
          </c:spPr>
          <c:cat>
            <c:strRef>
              <c:f>Sheet1!$A$2:$A$7</c:f>
              <c:strCache>
                <c:ptCount val="6"/>
                <c:pt idx="0">
                  <c:v>&lt;2千</c:v>
                </c:pt>
                <c:pt idx="1">
                  <c:v>2–5千</c:v>
                </c:pt>
                <c:pt idx="2">
                  <c:v>5千–1万</c:v>
                </c:pt>
                <c:pt idx="3">
                  <c:v>1–2万</c:v>
                </c:pt>
                <c:pt idx="4">
                  <c:v>2–5万</c:v>
                </c:pt>
                <c:pt idx="5">
                  <c:v>5万以上</c:v>
                </c:pt>
              </c:strCache>
            </c:strRef>
          </c:cat>
          <c:val>
            <c:numRef>
              <c:f>Sheet1!$B$2:$B$7</c:f>
              <c:numCache>
                <c:formatCode>General</c:formatCode>
                <c:ptCount val="6"/>
                <c:pt idx="0">
                  <c:v>183</c:v>
                </c:pt>
                <c:pt idx="1">
                  <c:v>394</c:v>
                </c:pt>
                <c:pt idx="2">
                  <c:v>279</c:v>
                </c:pt>
                <c:pt idx="3">
                  <c:v>140</c:v>
                </c:pt>
                <c:pt idx="4">
                  <c:v>92</c:v>
                </c:pt>
                <c:pt idx="5">
                  <c:v>41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uggingface.co/datasets/dennlinger/eur-lex-su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dennlinger/eur-lex-su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dennlinger/eur-lex-su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dennlinger/eur-lex-su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dennlinger/eur-lex-su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dennlinger/eur-lex-sum"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dennlinger/eur-lex-sum"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chouhan93/eur-lex-su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dennlinger/eur-lex-sum"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chouhan93/eur-lex-sum"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dennlinger/eur-lex-sum" TargetMode="Externa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dennlinger/eur-lex-sum" TargetMode="External"/><Relationship Id="rId3" Type="http://schemas.openxmlformats.org/officeDocument/2006/relationships/hyperlink" Target="https://aclanthology.org/2022.emnlp-main.519/" TargetMode="Externa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scenarios/legal_summarization_scenario.py" TargetMode="External"/><Relationship Id="rId3" Type="http://schemas.openxmlformats.org/officeDocument/2006/relationships/hyperlink" Target="https://huggingface.co/datasets/dennlinger/eur-lex-sum"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emnlp-main.519/"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emnlp-main.519/" TargetMode="External"/><Relationship Id="rId3" Type="http://schemas.openxmlformats.org/officeDocument/2006/relationships/hyperlink" Target="https://github.com/achouhan93/eur-lex-sum"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W04-1013/" TargetMode="External"/><Relationship Id="rId3" Type="http://schemas.openxmlformats.org/officeDocument/2006/relationships/hyperlink" Target="https://github.com/stanford-crfm/helm/blob/v0.4.0/src/helm/benchmark/scenarios/legal_summarization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EUR-Lex-Sum</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EU法令と専門家による要約を、24言語で結ぶ</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公式配布：EUR-Lex-Sum</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EUR-Lex-Sum</a:t>
            </a:r>
          </a:p>
        </p:txBody>
      </p:sp>
      <p:pic>
        <p:nvPicPr>
          <p:cNvPr id="4" name="Picture 3" descr="official-site.png"/>
          <p:cNvPicPr>
            <a:picLocks noChangeAspect="1"/>
          </p:cNvPicPr>
          <p:nvPr/>
        </p:nvPicPr>
        <p:blipFill>
          <a:blip r:embed="rId2"/>
          <a:stretch>
            <a:fillRect/>
          </a:stretch>
        </p:blipFill>
        <p:spPr>
          <a:xfrm>
            <a:off x="1669983" y="1481328"/>
            <a:ext cx="5804033"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3"/>
              </a:rPr>
              <a:t>https://huggingface.co/datasets/dennlinger/eur-lex-sum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法令と要約を対応させる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24言語の収集と分割</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長文・言語間要約の評価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公開配布と利用条件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法令と要約を対応させる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法令と要約を対応させる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長い法令から、制度の要点をまとめる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EUが公開する法令本文と、人が書いた説明用の要約を組にした、2022年のデータセット。</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入力は法令本文、出力は要約。本文の一部を選ぶ抽出型と、新しい文で書く生成型の両方を評価できる。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最大24言語で同じ法令と要約が対応し、英語入力から別言語の要約を作る課題にも使う。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法令と要約を対応させる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条文と要約の対応を、複数の節で読む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入力は法令全文、参照は専門家による説明用の要約である。実例では、規則の対象だけでなく、具体的な条件や手続が分かる条文を選んで示す。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人口統計の実例2は参照要約全文を掲載する。他の例は複数の節の抜粋で、離れた範囲の間は［中略］と示す。日本語訳は同じ範囲に対応する。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法令と要約を対応させる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本文 1/2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第2条1項・第3条・第5条1項からの抜粋。節間は［中略］。</a:t>
            </a:r>
          </a:p>
        </p:txBody>
      </p:sp>
      <p:sp>
        <p:nvSpPr>
          <p:cNvPr id="5" name="quote-frame"/>
          <p:cNvSpPr txBox="1"/>
          <p:nvPr/>
        </p:nvSpPr>
        <p:spPr>
          <a:xfrm>
            <a:off x="548640" y="1528233"/>
            <a:ext cx="8046720" cy="2819400"/>
          </a:xfrm>
          <a:prstGeom prst="rect">
            <a:avLst/>
          </a:prstGeom>
          <a:solidFill>
            <a:srgbClr val="EBEDEB"/>
          </a:solidFill>
          <a:ln>
            <a:noFill/>
          </a:ln>
        </p:spPr>
        <p:txBody>
          <a:bodyPr wrap="square" lIns="177800" rIns="177800" tIns="46566" bIns="25400">
            <a:noAutofit/>
          </a:bodyPr>
          <a:lstStyle/>
          <a:p>
            <a:pPr>
              <a:lnSpc>
                <a:spcPts val="2100"/>
              </a:lnSpc>
              <a:spcBef>
                <a:spcPts val="0"/>
              </a:spcBef>
              <a:spcAft>
                <a:spcPts val="0"/>
              </a:spcAft>
            </a:pPr>
            <a:r>
              <a:rPr sz="1800" b="0" lang="en-US">
                <a:solidFill>
                  <a:srgbClr val="303437"/>
                </a:solidFill>
                <a:latin typeface="Noto Sans"/>
                <a:ea typeface="Noto Sans CJK JP"/>
              </a:rPr>
              <a:t>1.   Member States may issue two types of euro coin: circulation coins and collector coins.</a:t>
            </a:r>
          </a:p>
          <a:p>
            <a:pPr>
              <a:lnSpc>
                <a:spcPts val="2100"/>
              </a:lnSpc>
              <a:spcBef>
                <a:spcPts val="0"/>
              </a:spcBef>
              <a:spcAft>
                <a:spcPts val="0"/>
              </a:spcAft>
            </a:pPr>
            <a:r>
              <a:rPr sz="1800" b="0" lang="en-US">
                <a:solidFill>
                  <a:srgbClr val="303437"/>
                </a:solidFill>
                <a:latin typeface="Noto Sans"/>
                <a:ea typeface="Noto Sans CJK JP"/>
              </a:rPr>
              <a:t>［中略］ Article 3  Issuance of circulation coins</a:t>
            </a:r>
          </a:p>
          <a:p>
            <a:pPr>
              <a:lnSpc>
                <a:spcPts val="2100"/>
              </a:lnSpc>
              <a:spcBef>
                <a:spcPts val="0"/>
              </a:spcBef>
              <a:spcAft>
                <a:spcPts val="0"/>
              </a:spcAft>
            </a:pPr>
            <a:r>
              <a:rPr sz="1800" b="0" lang="en-US">
                <a:solidFill>
                  <a:srgbClr val="303437"/>
                </a:solidFill>
                <a:latin typeface="Noto Sans"/>
                <a:ea typeface="Noto Sans CJK JP"/>
              </a:rPr>
              <a:t>1.   Circulation coins shall be issued and put into circulation at face value.</a:t>
            </a:r>
          </a:p>
          <a:p>
            <a:pPr>
              <a:lnSpc>
                <a:spcPts val="2100"/>
              </a:lnSpc>
              <a:spcBef>
                <a:spcPts val="0"/>
              </a:spcBef>
              <a:spcAft>
                <a:spcPts val="0"/>
              </a:spcAft>
            </a:pPr>
            <a:r>
              <a:rPr sz="1800" b="0" lang="en-US">
                <a:solidFill>
                  <a:srgbClr val="303437"/>
                </a:solidFill>
                <a:latin typeface="Noto Sans"/>
                <a:ea typeface="Noto Sans CJK JP"/>
              </a:rPr>
              <a:t>2.   A minor proportion, not exceeding 5 % of the cumulated total net value and volume of circulation coins issued by a Member State, taking into account only years with positive net issuance, may be put on the market above face value if justified by the special quality of the coin, a special packaging or any additional services provided.</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本文 2/2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第2条1項・第3条・第5条1項からの抜粋。節間は［中略］。</a:t>
            </a:r>
          </a:p>
        </p:txBody>
      </p:sp>
      <p:sp>
        <p:nvSpPr>
          <p:cNvPr id="5" name="quote-frame"/>
          <p:cNvSpPr txBox="1"/>
          <p:nvPr/>
        </p:nvSpPr>
        <p:spPr>
          <a:xfrm>
            <a:off x="548640" y="1511300"/>
            <a:ext cx="8046720" cy="12361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en-US">
                <a:solidFill>
                  <a:srgbClr val="303437"/>
                </a:solidFill>
                <a:latin typeface="Noto Sans"/>
                <a:ea typeface="Noto Sans CJK JP"/>
              </a:rPr>
              <a:t>［中略］ 1.   Collector coins shall have the status of legal tender only in the issuing Member State.</a:t>
            </a:r>
          </a:p>
          <a:p>
            <a:pPr>
              <a:lnSpc>
                <a:spcPts val="2100"/>
              </a:lnSpc>
              <a:spcBef>
                <a:spcPts val="0"/>
              </a:spcBef>
              <a:spcAft>
                <a:spcPts val="0"/>
              </a:spcAft>
            </a:pPr>
            <a:r>
              <a:rPr sz="1800" b="0" lang="en-US">
                <a:solidFill>
                  <a:srgbClr val="303437"/>
                </a:solidFill>
                <a:latin typeface="Noto Sans"/>
                <a:ea typeface="Noto Sans CJK JP"/>
              </a:rPr>
              <a:t>The identity of the issuing Member State shall be clearly and easily recognisable on the coin.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本文・訳 1/2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2606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第2条1項：1. 加盟国は、流通用硬貨と収集用硬貨という二種類のユーロ硬貨を発行できる。</a:t>
            </a:r>
          </a:p>
          <a:p>
            <a:pPr>
              <a:lnSpc>
                <a:spcPts val="2100"/>
              </a:lnSpc>
              <a:spcBef>
                <a:spcPts val="0"/>
              </a:spcBef>
              <a:spcAft>
                <a:spcPts val="0"/>
              </a:spcAft>
            </a:pPr>
            <a:r>
              <a:rPr sz="1800" b="0" lang="ja-JP">
                <a:solidFill>
                  <a:srgbClr val="303437"/>
                </a:solidFill>
                <a:latin typeface="Noto Sans"/>
                <a:ea typeface="Noto Sans CJK JP"/>
              </a:rPr>
              <a:t>第3条　流通用硬貨の発行：1. 流通用硬貨は額面で発行し、流通させなければならない。</a:t>
            </a:r>
          </a:p>
          <a:p>
            <a:pPr>
              <a:lnSpc>
                <a:spcPts val="2100"/>
              </a:lnSpc>
              <a:spcBef>
                <a:spcPts val="0"/>
              </a:spcBef>
              <a:spcAft>
                <a:spcPts val="0"/>
              </a:spcAft>
            </a:pPr>
            <a:r>
              <a:rPr sz="1800" b="0" lang="ja-JP">
                <a:solidFill>
                  <a:srgbClr val="303437"/>
                </a:solidFill>
                <a:latin typeface="Noto Sans"/>
                <a:ea typeface="Noto Sans CJK JP"/>
              </a:rPr>
              <a:t>2. 正味発行量がプラスの年だけを考慮した、加盟国の流通用硬貨の累積正味総額・総枚数の5%を超えない少量については、硬貨の特別な品質、特別な包装、追加サービスによって正当化される場合、額面を超える価格で販売でき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本文・訳 2/2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6604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第5条1項：1. 収集用硬貨が法定通貨となるのは、発行した加盟国だけである。発行国は、硬貨上で明確かつ容易に識別できなければならない。</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要約 1/2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2243666"/>
          </a:xfrm>
          <a:prstGeom prst="rect">
            <a:avLst/>
          </a:prstGeom>
          <a:solidFill>
            <a:srgbClr val="EBEDEB"/>
          </a:solidFill>
          <a:ln>
            <a:noFill/>
          </a:ln>
        </p:spPr>
        <p:txBody>
          <a:bodyPr wrap="square" lIns="177800" rIns="177800" tIns="38100" bIns="25400">
            <a:noAutofit/>
          </a:bodyPr>
          <a:lstStyle/>
          <a:p>
            <a:pPr>
              <a:lnSpc>
                <a:spcPts val="2400"/>
              </a:lnSpc>
              <a:spcBef>
                <a:spcPts val="0"/>
              </a:spcBef>
              <a:spcAft>
                <a:spcPts val="0"/>
              </a:spcAft>
            </a:pPr>
            <a:r>
              <a:rPr sz="2100" b="1" lang="en-US">
                <a:solidFill>
                  <a:srgbClr val="B13731"/>
                </a:solidFill>
                <a:latin typeface="Noto Sans"/>
                <a:ea typeface="Noto Sans CJK JP"/>
              </a:rPr>
              <a:t>Regulation (EU) No 651/2012 defines the types of euro coins and lays down the conditions to be respected at coin issue.</a:t>
            </a:r>
          </a:p>
          <a:p>
            <a:pPr>
              <a:lnSpc>
                <a:spcPts val="2400"/>
              </a:lnSpc>
              <a:spcBef>
                <a:spcPts val="0"/>
              </a:spcBef>
              <a:spcAft>
                <a:spcPts val="0"/>
              </a:spcAft>
            </a:pPr>
            <a:r>
              <a:rPr sz="2100" b="1" lang="en-US">
                <a:solidFill>
                  <a:srgbClr val="B13731"/>
                </a:solidFill>
                <a:latin typeface="Noto Sans"/>
                <a:ea typeface="Noto Sans CJK JP"/>
              </a:rPr>
              <a:t>［中略］ Regulation (EU) No 651/2012 states:</a:t>
            </a:r>
          </a:p>
          <a:p>
            <a:pPr>
              <a:lnSpc>
                <a:spcPts val="2400"/>
              </a:lnSpc>
              <a:spcBef>
                <a:spcPts val="0"/>
              </a:spcBef>
              <a:spcAft>
                <a:spcPts val="0"/>
              </a:spcAft>
            </a:pPr>
            <a:r>
              <a:rPr sz="2100" b="1" lang="en-US">
                <a:solidFill>
                  <a:srgbClr val="B13731"/>
                </a:solidFill>
                <a:latin typeface="Noto Sans"/>
                <a:ea typeface="Noto Sans CJK JP"/>
              </a:rPr>
              <a:t>governments of euro area countries (countries that have the euro as their currency) may issue circulation coins* and collector coins*;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要約 2/2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1964266"/>
          </a:xfrm>
          <a:prstGeom prst="rect">
            <a:avLst/>
          </a:prstGeom>
          <a:solidFill>
            <a:srgbClr val="EBEDEB"/>
          </a:solidFill>
          <a:ln>
            <a:noFill/>
          </a:ln>
        </p:spPr>
        <p:txBody>
          <a:bodyPr wrap="square" lIns="177800" rIns="177800" tIns="38100" bIns="25400">
            <a:noAutofit/>
          </a:bodyPr>
          <a:lstStyle/>
          <a:p>
            <a:pPr>
              <a:lnSpc>
                <a:spcPts val="2400"/>
              </a:lnSpc>
              <a:spcBef>
                <a:spcPts val="0"/>
              </a:spcBef>
              <a:spcAft>
                <a:spcPts val="0"/>
              </a:spcAft>
            </a:pPr>
            <a:r>
              <a:rPr sz="2100" b="1" lang="en-US">
                <a:solidFill>
                  <a:srgbClr val="B13731"/>
                </a:solidFill>
                <a:latin typeface="Noto Sans"/>
                <a:ea typeface="Noto Sans CJK JP"/>
              </a:rPr>
              <a:t>circulation coins are made available at their face value, except for a maximum of 5% which may be put on the market at a higher price because of their special qualities or packaging;</a:t>
            </a:r>
          </a:p>
          <a:p>
            <a:pPr>
              <a:lnSpc>
                <a:spcPts val="2400"/>
              </a:lnSpc>
              <a:spcBef>
                <a:spcPts val="0"/>
              </a:spcBef>
              <a:spcAft>
                <a:spcPts val="0"/>
              </a:spcAft>
            </a:pPr>
            <a:r>
              <a:rPr sz="2100" b="1" lang="en-US">
                <a:solidFill>
                  <a:srgbClr val="B13731"/>
                </a:solidFill>
                <a:latin typeface="Noto Sans"/>
                <a:ea typeface="Noto Sans CJK JP"/>
              </a:rPr>
              <a:t>［中略］ collector coins</a:t>
            </a:r>
          </a:p>
          <a:p>
            <a:pPr>
              <a:lnSpc>
                <a:spcPts val="2400"/>
              </a:lnSpc>
              <a:spcBef>
                <a:spcPts val="0"/>
              </a:spcBef>
              <a:spcAft>
                <a:spcPts val="0"/>
              </a:spcAft>
            </a:pPr>
            <a:r>
              <a:rPr sz="2100" b="1" lang="en-US">
                <a:solidFill>
                  <a:srgbClr val="B13731"/>
                </a:solidFill>
                <a:latin typeface="Noto Sans"/>
                <a:ea typeface="Noto Sans CJK JP"/>
              </a:rPr>
              <a:t>are only legal tender* in the issuing euro area country;</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要約・訳 1/2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2606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規則（EU）第651/2012号は、ユーロ硬貨の種類と、発行時に守る条件を定める。</a:t>
            </a:r>
          </a:p>
          <a:p>
            <a:pPr>
              <a:lnSpc>
                <a:spcPts val="2400"/>
              </a:lnSpc>
              <a:spcBef>
                <a:spcPts val="0"/>
              </a:spcBef>
              <a:spcAft>
                <a:spcPts val="0"/>
              </a:spcAft>
            </a:pPr>
            <a:r>
              <a:rPr sz="2100" b="1" lang="ja-JP">
                <a:solidFill>
                  <a:srgbClr val="B13731"/>
                </a:solidFill>
                <a:latin typeface="Noto Sans"/>
                <a:ea typeface="Noto Sans CJK JP"/>
              </a:rPr>
              <a:t>規則（EU）第651/2012号の主な内容：</a:t>
            </a:r>
          </a:p>
          <a:p>
            <a:pPr>
              <a:lnSpc>
                <a:spcPts val="2400"/>
              </a:lnSpc>
              <a:spcBef>
                <a:spcPts val="0"/>
              </a:spcBef>
              <a:spcAft>
                <a:spcPts val="0"/>
              </a:spcAft>
            </a:pPr>
            <a:r>
              <a:rPr sz="2100" b="1" lang="ja-JP">
                <a:solidFill>
                  <a:srgbClr val="B13731"/>
                </a:solidFill>
                <a:latin typeface="Noto Sans"/>
                <a:ea typeface="Noto Sans CJK JP"/>
              </a:rPr>
              <a:t>ユーロ圏の国の政府は、流通用硬貨*と収集用硬貨*を発行できる。</a:t>
            </a:r>
          </a:p>
          <a:p>
            <a:pPr>
              <a:lnSpc>
                <a:spcPts val="2400"/>
              </a:lnSpc>
              <a:spcBef>
                <a:spcPts val="0"/>
              </a:spcBef>
              <a:spcAft>
                <a:spcPts val="0"/>
              </a:spcAft>
            </a:pPr>
            <a:r>
              <a:rPr sz="2100" b="1" lang="ja-JP">
                <a:solidFill>
                  <a:srgbClr val="B13731"/>
                </a:solidFill>
                <a:latin typeface="Noto Sans"/>
                <a:ea typeface="Noto Sans CJK JP"/>
              </a:rPr>
              <a:t>流通用硬貨は額面で提供される。ただし、最大5%は、特別な品質や包装を理由に額面より高い価格で販売できる。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実例1：ユーロ硬貨の発行 — 要約・訳 2/2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032933"/>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収集用硬貨：</a:t>
            </a:r>
          </a:p>
          <a:p>
            <a:pPr>
              <a:lnSpc>
                <a:spcPts val="2400"/>
              </a:lnSpc>
              <a:spcBef>
                <a:spcPts val="0"/>
              </a:spcBef>
              <a:spcAft>
                <a:spcPts val="0"/>
              </a:spcAft>
            </a:pPr>
            <a:r>
              <a:rPr sz="2100" b="1" lang="ja-JP">
                <a:solidFill>
                  <a:srgbClr val="B13731"/>
                </a:solidFill>
                <a:latin typeface="Noto Sans"/>
                <a:ea typeface="Noto Sans CJK JP"/>
              </a:rPr>
              <a:t>法定通貨*として使えるのは、発行したユーロ圏の国だけである。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32012R0651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条文の規則を、読者向けの説明へ言い換える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要約は、条文に分かれた「種類」「額面での発行と例外」「使える国」を、硬貨の種類ごとにまとめる。参照全文には別の規則729/2014による図柄などの説明もあるが、配布入力は651/2012だけである。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法令と要約を対応させる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1/8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28233"/>
            <a:ext cx="8046720" cy="2497666"/>
          </a:xfrm>
          <a:prstGeom prst="rect">
            <a:avLst/>
          </a:prstGeom>
          <a:solidFill>
            <a:srgbClr val="EBEDEB"/>
          </a:solidFill>
          <a:ln>
            <a:noFill/>
          </a:ln>
        </p:spPr>
        <p:txBody>
          <a:bodyPr wrap="square" lIns="177800" rIns="177800" tIns="46566" bIns="25400">
            <a:noAutofit/>
          </a:bodyPr>
          <a:lstStyle/>
          <a:p>
            <a:pPr>
              <a:lnSpc>
                <a:spcPts val="2100"/>
              </a:lnSpc>
              <a:spcBef>
                <a:spcPts val="0"/>
              </a:spcBef>
              <a:spcAft>
                <a:spcPts val="0"/>
              </a:spcAft>
            </a:pPr>
            <a:r>
              <a:rPr sz="1800" b="0" lang="en-US">
                <a:solidFill>
                  <a:srgbClr val="303437"/>
                </a:solidFill>
                <a:latin typeface="Noto Sans"/>
                <a:ea typeface="Noto Sans CJK JP"/>
              </a:rPr>
              <a:t>(1) Nach Artikel 16 Absatz 4 des Vertrags über die Europäische Union (EUV) ist ab dem 1. November 2014 eine qualifizierte Mehrheit der Mitglieder des Rates unter anderem auf der Grundlage der Bevölkerung der Mitgliedstaaten zu ermitteln.</a:t>
            </a:r>
          </a:p>
          <a:p>
            <a:pPr>
              <a:lnSpc>
                <a:spcPts val="2100"/>
              </a:lnSpc>
              <a:spcBef>
                <a:spcPts val="0"/>
              </a:spcBef>
              <a:spcAft>
                <a:spcPts val="0"/>
              </a:spcAft>
            </a:pPr>
            <a:r>
              <a:rPr sz="1800" b="0" lang="en-US">
                <a:solidFill>
                  <a:srgbClr val="303437"/>
                </a:solidFill>
                <a:latin typeface="Noto Sans"/>
                <a:ea typeface="Noto Sans CJK JP"/>
              </a:rPr>
              <a:t>(2) Der Rat Wirtschaft und Finanzen erteilt dem Ausschuss für Wirtschaftspolitik regelmäßig den Auftrag, die langfristige Tragfähigkeit und Qualität der öffentlichen Finanzen anhand von Bevölkerungsprojektionen zu beurteilen, die von Eurostat erstellt werden.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2/8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11300"/>
            <a:ext cx="8046720" cy="17441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en-US">
                <a:solidFill>
                  <a:srgbClr val="303437"/>
                </a:solidFill>
                <a:latin typeface="Noto Sans"/>
                <a:ea typeface="Noto Sans CJK JP"/>
              </a:rPr>
              <a:t>［中略］ (4) Nach Artikel 175 Absatz 2 des Vertrags über die Arbeitsweise der Europäischen Union (AEUV) erstattet die Kommission dem Europäischen Parlament, dem Rat, dem Wirtschafts- und Sozialausschuss und dem Ausschuss der Regionen alle drei Jahre einen Bericht über die Fortschritte bei der Verwirklichung des wirtschaftlichen, sozialen und territorialen Zusammenhalts.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3/8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28233"/>
            <a:ext cx="8046720" cy="2015066"/>
          </a:xfrm>
          <a:prstGeom prst="rect">
            <a:avLst/>
          </a:prstGeom>
          <a:solidFill>
            <a:srgbClr val="EBEDEB"/>
          </a:solidFill>
          <a:ln>
            <a:noFill/>
          </a:ln>
        </p:spPr>
        <p:txBody>
          <a:bodyPr wrap="square" lIns="177800" rIns="177800" tIns="46566" bIns="25400">
            <a:noAutofit/>
          </a:bodyPr>
          <a:lstStyle/>
          <a:p>
            <a:pPr>
              <a:lnSpc>
                <a:spcPts val="2100"/>
              </a:lnSpc>
              <a:spcBef>
                <a:spcPts val="0"/>
              </a:spcBef>
              <a:spcAft>
                <a:spcPts val="0"/>
              </a:spcAft>
            </a:pPr>
            <a:r>
              <a:rPr sz="1800" b="0" lang="en-US">
                <a:solidFill>
                  <a:srgbClr val="303437"/>
                </a:solidFill>
                <a:latin typeface="Noto Sans"/>
                <a:ea typeface="Noto Sans CJK JP"/>
              </a:rPr>
              <a:t>Jährliche regionale Daten auf der Ebene NUTS 3 sind erforderlich für die Erarbeitung dieser Berichte und die regelmäßige Überwachung demografischer Entwicklungen und möglicher künftiger demografischer Herausforderungen in den Regionen der Union, einschließlich unterschiedlicher Arten von Regionen wie etwa Grenzregionen, Ballungsräume, ländliche Regionen und Berg- und Inselregionen.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4/8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11300"/>
            <a:ext cx="8046720" cy="23029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en-US">
                <a:solidFill>
                  <a:srgbClr val="303437"/>
                </a:solidFill>
                <a:latin typeface="Noto Sans"/>
                <a:ea typeface="Noto Sans CJK JP"/>
              </a:rPr>
              <a:t>［中略］ (7) Die Strategie für nachhaltige Entwicklung der Union, die auf den Europäischen Rat in Göteborg im Jahr 2001 zurückgeht und im Juni 2006 erneuert wurde, hat eine kontinuierliche Verbesserung der Lebensqualität der heutigen und künftigen Generationen zum Ziel. Der alle zwei Jahre veröffentlichte Überwachungsbericht der Kommission (Eurostat) bietet ein objektives statistisches Bild der erzielten Fortschritte auf der Grundlage eines Indikatorsatzes der Union zur nachhaltigen Entwicklung.</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5/8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11300"/>
            <a:ext cx="8046720" cy="28363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en-US">
                <a:solidFill>
                  <a:srgbClr val="303437"/>
                </a:solidFill>
                <a:latin typeface="Noto Sans"/>
                <a:ea typeface="Noto Sans CJK JP"/>
              </a:rPr>
              <a:t>［中略］ Artikel 1  Gegenstand</a:t>
            </a:r>
          </a:p>
          <a:p>
            <a:pPr>
              <a:lnSpc>
                <a:spcPts val="2100"/>
              </a:lnSpc>
              <a:spcBef>
                <a:spcPts val="0"/>
              </a:spcBef>
              <a:spcAft>
                <a:spcPts val="0"/>
              </a:spcAft>
            </a:pPr>
            <a:r>
              <a:rPr sz="1800" b="0" lang="en-US">
                <a:solidFill>
                  <a:srgbClr val="303437"/>
                </a:solidFill>
                <a:latin typeface="Noto Sans"/>
                <a:ea typeface="Noto Sans CJK JP"/>
              </a:rPr>
              <a:t>Mit dieser Verordnung wird ein gemeinsamer Rechtsrahmen für die Entwicklung, Erstellung und Verbreitung von europäischen Statistiken über Bevölkerung und Lebensereignisse geschaffen.</a:t>
            </a:r>
          </a:p>
          <a:p>
            <a:pPr>
              <a:lnSpc>
                <a:spcPts val="2100"/>
              </a:lnSpc>
              <a:spcBef>
                <a:spcPts val="0"/>
              </a:spcBef>
              <a:spcAft>
                <a:spcPts val="0"/>
              </a:spcAft>
            </a:pPr>
            <a:r>
              <a:rPr sz="1800" b="0" lang="en-US">
                <a:solidFill>
                  <a:srgbClr val="303437"/>
                </a:solidFill>
                <a:latin typeface="Noto Sans"/>
                <a:ea typeface="Noto Sans CJK JP"/>
              </a:rPr>
              <a:t>［中略］ g) „Lebensereignisse“ bedeutet Lebendgeburt und Tod im Sinne der Buchstaben e und f.</a:t>
            </a:r>
          </a:p>
          <a:p>
            <a:pPr>
              <a:lnSpc>
                <a:spcPts val="2100"/>
              </a:lnSpc>
              <a:spcBef>
                <a:spcPts val="0"/>
              </a:spcBef>
              <a:spcAft>
                <a:spcPts val="0"/>
              </a:spcAft>
            </a:pPr>
            <a:r>
              <a:rPr sz="1800" b="0" lang="en-US">
                <a:solidFill>
                  <a:srgbClr val="303437"/>
                </a:solidFill>
                <a:latin typeface="Noto Sans"/>
                <a:ea typeface="Noto Sans CJK JP"/>
              </a:rPr>
              <a:t>［中略］ (1)   Die Mitgliedstaaten beliefern die Kommission (Eurostat) mit Daten zu ihrer Wohnbevölkerung zur Bezugszeit. Die bereitgestellten Daten decken die Bevölkerung nach Alter, Geschlecht und Wohnsitzregion ab.</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6/8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11300"/>
            <a:ext cx="8046720" cy="30988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en-US">
                <a:solidFill>
                  <a:srgbClr val="303437"/>
                </a:solidFill>
                <a:latin typeface="Noto Sans"/>
                <a:ea typeface="Noto Sans CJK JP"/>
              </a:rPr>
              <a:t>［中略］ (4)   Die Kommission erlässt Durchführungsrechtsakte, in denen einheitliche Bedingungen für die Untergliederung der in den Absätzen 1 und 2 genannten Daten sowie für die Fristen und für die Überarbeitung der Daten festgelegt sind. Diese Durchführungsrechtsakte werden gemäß dem in Artikel 10 Absatz 2 genannten Prüfverfahren erlassen.</a:t>
            </a:r>
          </a:p>
          <a:p>
            <a:pPr>
              <a:lnSpc>
                <a:spcPts val="2100"/>
              </a:lnSpc>
              <a:spcBef>
                <a:spcPts val="0"/>
              </a:spcBef>
              <a:spcAft>
                <a:spcPts val="0"/>
              </a:spcAft>
            </a:pPr>
            <a:r>
              <a:rPr sz="1800" b="0" lang="en-US">
                <a:solidFill>
                  <a:srgbClr val="303437"/>
                </a:solidFill>
                <a:latin typeface="Noto Sans"/>
                <a:ea typeface="Noto Sans CJK JP"/>
              </a:rPr>
              <a:t>［中略］ Artikel 7  Datenquellen</a:t>
            </a:r>
          </a:p>
          <a:p>
            <a:pPr>
              <a:lnSpc>
                <a:spcPts val="2100"/>
              </a:lnSpc>
              <a:spcBef>
                <a:spcPts val="0"/>
              </a:spcBef>
              <a:spcAft>
                <a:spcPts val="0"/>
              </a:spcAft>
            </a:pPr>
            <a:r>
              <a:rPr sz="1800" b="0" lang="en-US">
                <a:solidFill>
                  <a:srgbClr val="303437"/>
                </a:solidFill>
                <a:latin typeface="Noto Sans"/>
                <a:ea typeface="Noto Sans CJK JP"/>
              </a:rPr>
              <a:t>Die Daten beruhen auf den von den Mitgliedstaaten gemäß nationalen Rechtsvorschriften und Gepflogenheiten gewählten Datenquellen. Soweit zweckmäßig, werden wissenschaftlich untermauerte und gut dokumentierte statistische Schätzmethoden angewendet.</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7/8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11300"/>
            <a:ext cx="8046720" cy="17187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en-US">
                <a:solidFill>
                  <a:srgbClr val="303437"/>
                </a:solidFill>
                <a:latin typeface="Noto Sans"/>
                <a:ea typeface="Noto Sans CJK JP"/>
              </a:rPr>
              <a:t>［中略］ Artikel 9  Qualitätsanforderungen</a:t>
            </a:r>
          </a:p>
          <a:p>
            <a:pPr>
              <a:lnSpc>
                <a:spcPts val="2100"/>
              </a:lnSpc>
              <a:spcBef>
                <a:spcPts val="0"/>
              </a:spcBef>
              <a:spcAft>
                <a:spcPts val="0"/>
              </a:spcAft>
            </a:pPr>
            <a:r>
              <a:rPr sz="1800" b="0" lang="en-US">
                <a:solidFill>
                  <a:srgbClr val="303437"/>
                </a:solidFill>
                <a:latin typeface="Noto Sans"/>
                <a:ea typeface="Noto Sans CJK JP"/>
              </a:rPr>
              <a:t>(1)   Die Mitgliedstaaten gewährleisten die Qualität der übermittelten Daten.</a:t>
            </a:r>
          </a:p>
          <a:p>
            <a:pPr>
              <a:lnSpc>
                <a:spcPts val="2100"/>
              </a:lnSpc>
              <a:spcBef>
                <a:spcPts val="0"/>
              </a:spcBef>
              <a:spcAft>
                <a:spcPts val="0"/>
              </a:spcAft>
            </a:pPr>
            <a:r>
              <a:rPr sz="1800" b="0" lang="en-US">
                <a:solidFill>
                  <a:srgbClr val="303437"/>
                </a:solidFill>
                <a:latin typeface="Noto Sans"/>
                <a:ea typeface="Noto Sans CJK JP"/>
              </a:rPr>
              <a:t>(2)   Für die Zwecke dieser Verordnung gelten die in Artikel 12 Absatz 1 der Verordnung (EG) Nr. 223/2009 genannten Qualitätskriterien für die übermittelten Daten.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 8/8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前文と第1〜3・7・9・12条の一部からの抜粋。節間は［中略］。</a:t>
            </a:r>
          </a:p>
        </p:txBody>
      </p:sp>
      <p:sp>
        <p:nvSpPr>
          <p:cNvPr id="5" name="quote-frame"/>
          <p:cNvSpPr txBox="1"/>
          <p:nvPr/>
        </p:nvSpPr>
        <p:spPr>
          <a:xfrm>
            <a:off x="548640" y="1528233"/>
            <a:ext cx="8046720" cy="2819400"/>
          </a:xfrm>
          <a:prstGeom prst="rect">
            <a:avLst/>
          </a:prstGeom>
          <a:solidFill>
            <a:srgbClr val="EBEDEB"/>
          </a:solidFill>
          <a:ln>
            <a:noFill/>
          </a:ln>
        </p:spPr>
        <p:txBody>
          <a:bodyPr wrap="square" lIns="177800" rIns="177800" tIns="46566" bIns="25400">
            <a:noAutofit/>
          </a:bodyPr>
          <a:lstStyle/>
          <a:p>
            <a:pPr>
              <a:lnSpc>
                <a:spcPts val="2100"/>
              </a:lnSpc>
              <a:spcBef>
                <a:spcPts val="0"/>
              </a:spcBef>
              <a:spcAft>
                <a:spcPts val="0"/>
              </a:spcAft>
            </a:pPr>
            <a:r>
              <a:rPr sz="1800" b="0" lang="en-US">
                <a:solidFill>
                  <a:srgbClr val="303437"/>
                </a:solidFill>
                <a:latin typeface="Noto Sans"/>
                <a:ea typeface="Noto Sans CJK JP"/>
              </a:rPr>
              <a:t>(3)   Die Mitgliedstaaten erstatten der Kommission (Eurostat) unter Verwendung der Standards des Europäischen Statistischen Systems Bericht über die Referenzmetadaten, und insbesondere über die Datenquellen, Begriffsbestimmungen und Schätzmethoden, die für das erste Bezugsjahr herangezogen wurden, zudem unterrichten die Mitgliedstaaten die Kommission (Eurostat) fortlaufend über alle diesbezüglichen Änderungen.</a:t>
            </a:r>
          </a:p>
          <a:p>
            <a:pPr>
              <a:lnSpc>
                <a:spcPts val="2100"/>
              </a:lnSpc>
              <a:spcBef>
                <a:spcPts val="0"/>
              </a:spcBef>
              <a:spcAft>
                <a:spcPts val="0"/>
              </a:spcAft>
            </a:pPr>
            <a:r>
              <a:rPr sz="1800" b="0" lang="en-US">
                <a:solidFill>
                  <a:srgbClr val="303437"/>
                </a:solidFill>
                <a:latin typeface="Noto Sans"/>
                <a:ea typeface="Noto Sans CJK JP"/>
              </a:rPr>
              <a:t>［中略］ Artikel 12  Inkrafttreten</a:t>
            </a:r>
          </a:p>
          <a:p>
            <a:pPr>
              <a:lnSpc>
                <a:spcPts val="2100"/>
              </a:lnSpc>
              <a:spcBef>
                <a:spcPts val="0"/>
              </a:spcBef>
              <a:spcAft>
                <a:spcPts val="0"/>
              </a:spcAft>
            </a:pPr>
            <a:r>
              <a:rPr sz="1800" b="0" lang="en-US">
                <a:solidFill>
                  <a:srgbClr val="303437"/>
                </a:solidFill>
                <a:latin typeface="Noto Sans"/>
                <a:ea typeface="Noto Sans CJK JP"/>
              </a:rPr>
              <a:t>Diese Verordnung tritt am zwanzigsten Tag nach ihrer Veröffentlichung im Amtsblatt der Europäischen Union in Kraft.</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本文・訳 1/5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7272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前文(1)：EU条約第16条4項により、2014年11月1日から、理事会の特定多数決は加盟国の人口などに基づいて決める。</a:t>
            </a:r>
          </a:p>
          <a:p>
            <a:pPr>
              <a:lnSpc>
                <a:spcPts val="2100"/>
              </a:lnSpc>
              <a:spcBef>
                <a:spcPts val="0"/>
              </a:spcBef>
              <a:spcAft>
                <a:spcPts val="0"/>
              </a:spcAft>
            </a:pPr>
            <a:r>
              <a:rPr sz="1800" b="0" lang="ja-JP">
                <a:solidFill>
                  <a:srgbClr val="303437"/>
                </a:solidFill>
                <a:latin typeface="Noto Sans"/>
                <a:ea typeface="Noto Sans CJK JP"/>
              </a:rPr>
              <a:t>前文(2)</a:t>
            </a:r>
          </a:p>
          <a:p>
            <a:pPr>
              <a:lnSpc>
                <a:spcPts val="2100"/>
              </a:lnSpc>
              <a:spcBef>
                <a:spcPts val="0"/>
              </a:spcBef>
              <a:spcAft>
                <a:spcPts val="0"/>
              </a:spcAft>
            </a:pPr>
            <a:r>
              <a:rPr sz="1800" b="0" lang="ja-JP">
                <a:solidFill>
                  <a:srgbClr val="303437"/>
                </a:solidFill>
                <a:latin typeface="Noto Sans"/>
                <a:ea typeface="Noto Sans CJK JP"/>
              </a:rPr>
              <a:t>経済・財務相理事会は、欧州統計局（Eurostat）が作成する人口予測に基づく財政の長期的な持続可能性と質の評価を、経済政策委員会に定期的に求める。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本文・訳 2/5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7272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前文(4)：EU運営条約第175条2項に基づき、欧州委員会は、経済的・社会的・地域的結束の実現の進展について、欧州議会、理事会、経済社会評議会、地域委員会に3年ごとに報告する。報告の作成と、EU内の国境地域・都市圏・農村・山岳地域・島しょ地域などにおける人口動向と今後の課題の定期的な監視には、EUの地域統計区分NUTS3レベルの年次地域データが必要であ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本文・訳 3/5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523066"/>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前文(7)：2001年のヨーテボリ欧州理事会に始まり、2006年6月に更新されたEU持続可能な開発戦略は、現在と将来の世代の生活の質を継続的に高めることを目指す。欧州委員会（Eurostat）が2年ごとに発表する監視報告は、EUの持続可能な開発指標を使って、進展を客観的な統計として示す。</a:t>
            </a:r>
          </a:p>
          <a:p>
            <a:pPr>
              <a:lnSpc>
                <a:spcPts val="2100"/>
              </a:lnSpc>
              <a:spcBef>
                <a:spcPts val="0"/>
              </a:spcBef>
              <a:spcAft>
                <a:spcPts val="0"/>
              </a:spcAft>
            </a:pPr>
            <a:r>
              <a:rPr sz="1800" b="0" lang="ja-JP">
                <a:solidFill>
                  <a:srgbClr val="303437"/>
                </a:solidFill>
                <a:latin typeface="Noto Sans"/>
                <a:ea typeface="Noto Sans CJK JP"/>
              </a:rPr>
              <a:t>第1条　対象：この規則は、人口と人口動態に関する欧州統計の開発・作成・普及のための共通の法的枠組みを設ける。</a:t>
            </a:r>
          </a:p>
          <a:p>
            <a:pPr>
              <a:lnSpc>
                <a:spcPts val="2100"/>
              </a:lnSpc>
              <a:spcBef>
                <a:spcPts val="0"/>
              </a:spcBef>
              <a:spcAft>
                <a:spcPts val="0"/>
              </a:spcAft>
            </a:pPr>
            <a:r>
              <a:rPr sz="1800" b="0" lang="ja-JP">
                <a:solidFill>
                  <a:srgbClr val="303437"/>
                </a:solidFill>
                <a:latin typeface="Noto Sans"/>
                <a:ea typeface="Noto Sans CJK JP"/>
              </a:rPr>
              <a:t>第2条(g)：「人口動態上の出来事」とは、(e)および(f)に定める生児出生と死亡をいう。</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本文・訳 4/5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523066"/>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第3条1項：加盟国は、参照時点の居住人口のデータを欧州委員会（Eurostat）に提供する。データは年齢、性別、居住地域別の人口を対象とする。</a:t>
            </a:r>
          </a:p>
          <a:p>
            <a:pPr>
              <a:lnSpc>
                <a:spcPts val="2100"/>
              </a:lnSpc>
              <a:spcBef>
                <a:spcPts val="0"/>
              </a:spcBef>
              <a:spcAft>
                <a:spcPts val="0"/>
              </a:spcAft>
            </a:pPr>
            <a:r>
              <a:rPr sz="1800" b="0" lang="ja-JP">
                <a:solidFill>
                  <a:srgbClr val="303437"/>
                </a:solidFill>
                <a:latin typeface="Noto Sans"/>
                <a:ea typeface="Noto Sans CJK JP"/>
              </a:rPr>
              <a:t>第3条4項：欧州委員会は、第1項と第2項のデータの細分化、期限、改訂について共通条件を定める実施法令を採択する。これらの法令は、第10条2項の審査手続に従って採択する。</a:t>
            </a:r>
          </a:p>
          <a:p>
            <a:pPr>
              <a:lnSpc>
                <a:spcPts val="2100"/>
              </a:lnSpc>
              <a:spcBef>
                <a:spcPts val="0"/>
              </a:spcBef>
              <a:spcAft>
                <a:spcPts val="0"/>
              </a:spcAft>
            </a:pPr>
            <a:r>
              <a:rPr sz="1800" b="0" lang="ja-JP">
                <a:solidFill>
                  <a:srgbClr val="303437"/>
                </a:solidFill>
                <a:latin typeface="Noto Sans"/>
                <a:ea typeface="Noto Sans CJK JP"/>
              </a:rPr>
              <a:t>第7条　データ源：データは、加盟国が国内法と慣行に従って選ぶ情報源に基づく。適切な場合は、科学的な裏付けがあり、十分に文書化された統計的推計方法を適用する。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本文・訳 5/5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989666"/>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第9条　品質要件：1. 加盟国は、提供するデータの品質を確保する。</a:t>
            </a:r>
          </a:p>
          <a:p>
            <a:pPr>
              <a:lnSpc>
                <a:spcPts val="2100"/>
              </a:lnSpc>
              <a:spcBef>
                <a:spcPts val="0"/>
              </a:spcBef>
              <a:spcAft>
                <a:spcPts val="0"/>
              </a:spcAft>
            </a:pPr>
            <a:r>
              <a:rPr sz="1800" b="0" lang="ja-JP">
                <a:solidFill>
                  <a:srgbClr val="303437"/>
                </a:solidFill>
                <a:latin typeface="Noto Sans"/>
                <a:ea typeface="Noto Sans CJK JP"/>
              </a:rPr>
              <a:t>2. 提供するデータには、規則（EC）第223/2009号第12条1項の品質基準を適用する。</a:t>
            </a:r>
          </a:p>
          <a:p>
            <a:pPr>
              <a:lnSpc>
                <a:spcPts val="2100"/>
              </a:lnSpc>
              <a:spcBef>
                <a:spcPts val="0"/>
              </a:spcBef>
              <a:spcAft>
                <a:spcPts val="0"/>
              </a:spcAft>
            </a:pPr>
            <a:r>
              <a:rPr sz="1800" b="0" lang="ja-JP">
                <a:solidFill>
                  <a:srgbClr val="303437"/>
                </a:solidFill>
                <a:latin typeface="Noto Sans"/>
                <a:ea typeface="Noto Sans CJK JP"/>
              </a:rPr>
              <a:t>3. 加盟国は、欧州統計システムの基準に従い、最初の参照年に用いた情報源、定義、推計方法などの参照メタデータを欧州委員会（Eurostat）に報告し、その変更を継続的に知らせる。</a:t>
            </a:r>
          </a:p>
          <a:p>
            <a:pPr>
              <a:lnSpc>
                <a:spcPts val="2100"/>
              </a:lnSpc>
              <a:spcBef>
                <a:spcPts val="0"/>
              </a:spcBef>
              <a:spcAft>
                <a:spcPts val="0"/>
              </a:spcAft>
            </a:pPr>
            <a:r>
              <a:rPr sz="1800" b="0" lang="ja-JP">
                <a:solidFill>
                  <a:srgbClr val="303437"/>
                </a:solidFill>
                <a:latin typeface="Noto Sans"/>
                <a:ea typeface="Noto Sans CJK JP"/>
              </a:rPr>
              <a:t>第12条　発効：この規則は、EU官報への掲載後20日目に発効する。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1/8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a:t>
            </a:r>
          </a:p>
        </p:txBody>
      </p:sp>
      <p:sp>
        <p:nvSpPr>
          <p:cNvPr id="5" name="quote-frame"/>
          <p:cNvSpPr txBox="1"/>
          <p:nvPr/>
        </p:nvSpPr>
        <p:spPr>
          <a:xfrm>
            <a:off x="548640" y="1536700"/>
            <a:ext cx="8046720" cy="2531533"/>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Bevölkerungsstatistiken</a:t>
            </a:r>
          </a:p>
          <a:p>
            <a:pPr>
              <a:lnSpc>
                <a:spcPts val="2100"/>
              </a:lnSpc>
              <a:spcBef>
                <a:spcPts val="0"/>
              </a:spcBef>
              <a:spcAft>
                <a:spcPts val="0"/>
              </a:spcAft>
            </a:pPr>
            <a:r>
              <a:rPr sz="1800" b="1" lang="en-US">
                <a:solidFill>
                  <a:srgbClr val="B13731"/>
                </a:solidFill>
                <a:latin typeface="Noto Sans"/>
                <a:ea typeface="Noto Sans CJK JP"/>
              </a:rPr>
              <a:t>Bevölkerungsstatistiken</a:t>
            </a:r>
          </a:p>
          <a:p>
            <a:pPr>
              <a:lnSpc>
                <a:spcPts val="2100"/>
              </a:lnSpc>
              <a:spcBef>
                <a:spcPts val="0"/>
              </a:spcBef>
              <a:spcAft>
                <a:spcPts val="0"/>
              </a:spcAft>
            </a:pPr>
            <a:r>
              <a:rPr sz="1800" b="1" lang="en-US">
                <a:solidFill>
                  <a:srgbClr val="B13731"/>
                </a:solidFill>
                <a:latin typeface="Noto Sans"/>
                <a:ea typeface="Noto Sans CJK JP"/>
              </a:rPr>
              <a:t>ZUSAMMENFASSUNG DES DOKUMENTS:</a:t>
            </a:r>
          </a:p>
          <a:p>
            <a:pPr>
              <a:lnSpc>
                <a:spcPts val="2100"/>
              </a:lnSpc>
              <a:spcBef>
                <a:spcPts val="0"/>
              </a:spcBef>
              <a:spcAft>
                <a:spcPts val="0"/>
              </a:spcAft>
            </a:pPr>
            <a:r>
              <a:rPr sz="1800" b="1" lang="en-US">
                <a:solidFill>
                  <a:srgbClr val="B13731"/>
                </a:solidFill>
                <a:latin typeface="Noto Sans"/>
                <a:ea typeface="Noto Sans CJK JP"/>
              </a:rPr>
              <a:t>Verordnung (EU) Nr. 1260/2013 über europäische demografische Statistiken</a:t>
            </a:r>
          </a:p>
          <a:p>
            <a:pPr>
              <a:lnSpc>
                <a:spcPts val="2100"/>
              </a:lnSpc>
              <a:spcBef>
                <a:spcPts val="0"/>
              </a:spcBef>
              <a:spcAft>
                <a:spcPts val="0"/>
              </a:spcAft>
            </a:pPr>
            <a:r>
              <a:rPr sz="1800" b="1" lang="en-US">
                <a:solidFill>
                  <a:srgbClr val="B13731"/>
                </a:solidFill>
                <a:latin typeface="Noto Sans"/>
                <a:ea typeface="Noto Sans CJK JP"/>
              </a:rPr>
              <a:t>WAS IST DER ZWECK DIESER VERORDNUNG?</a:t>
            </a:r>
          </a:p>
          <a:p>
            <a:pPr>
              <a:lnSpc>
                <a:spcPts val="2100"/>
              </a:lnSpc>
              <a:spcBef>
                <a:spcPts val="0"/>
              </a:spcBef>
              <a:spcAft>
                <a:spcPts val="0"/>
              </a:spcAft>
            </a:pPr>
            <a:r>
              <a:rPr sz="1800" b="1" lang="en-US">
                <a:solidFill>
                  <a:srgbClr val="B13731"/>
                </a:solidFill>
                <a:latin typeface="Noto Sans"/>
                <a:ea typeface="Noto Sans CJK JP"/>
              </a:rPr>
              <a:t>Ziel dieser Verordnung ist die Regulierung der Harmonisierung und Bereitstellung von Daten zur Bevölkerung und zu den sie betreffenden Lebensereignissen (d. h. Geburten und Todesfälle).</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2/8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要約全文（続き）。</a:t>
            </a:r>
          </a:p>
        </p:txBody>
      </p:sp>
      <p:sp>
        <p:nvSpPr>
          <p:cNvPr id="5" name="quote-frame"/>
          <p:cNvSpPr txBox="1"/>
          <p:nvPr/>
        </p:nvSpPr>
        <p:spPr>
          <a:xfrm>
            <a:off x="548640" y="1536700"/>
            <a:ext cx="8046720" cy="1464733"/>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Sie legt allgemeine Begriffsbestimmungen, Themen und Merkmale der erforderlichen Informationen sowie der Erfassungsbereich, Qualitätskriterien, die Fristen zur Berichterstattung und Ergebnisse fest. Die EU-Länder erstellen die Daten jedoch anhand eigener nationaler Quellen und Verfahren.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3/8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要約全文（続き）。</a:t>
            </a:r>
          </a:p>
        </p:txBody>
      </p:sp>
      <p:sp>
        <p:nvSpPr>
          <p:cNvPr id="5" name="quote-frame"/>
          <p:cNvSpPr txBox="1"/>
          <p:nvPr/>
        </p:nvSpPr>
        <p:spPr>
          <a:xfrm>
            <a:off x="548640" y="1545166"/>
            <a:ext cx="8046720" cy="3056466"/>
          </a:xfrm>
          <a:prstGeom prst="rect">
            <a:avLst/>
          </a:prstGeom>
          <a:solidFill>
            <a:srgbClr val="EBEDEB"/>
          </a:solidFill>
          <a:ln>
            <a:noFill/>
          </a:ln>
        </p:spPr>
        <p:txBody>
          <a:bodyPr wrap="square" lIns="177800" rIns="177800" tIns="29633" bIns="25400">
            <a:noAutofit/>
          </a:bodyPr>
          <a:lstStyle/>
          <a:p>
            <a:pPr>
              <a:lnSpc>
                <a:spcPts val="2100"/>
              </a:lnSpc>
              <a:spcBef>
                <a:spcPts val="0"/>
              </a:spcBef>
              <a:spcAft>
                <a:spcPts val="0"/>
              </a:spcAft>
            </a:pPr>
            <a:r>
              <a:rPr sz="1800" b="1" lang="en-US">
                <a:solidFill>
                  <a:srgbClr val="B13731"/>
                </a:solidFill>
                <a:latin typeface="Noto Sans"/>
                <a:ea typeface="Noto Sans CJK JP"/>
              </a:rPr>
              <a:t>KEY POINTS</a:t>
            </a:r>
          </a:p>
          <a:p>
            <a:pPr>
              <a:lnSpc>
                <a:spcPts val="2100"/>
              </a:lnSpc>
              <a:spcBef>
                <a:spcPts val="0"/>
              </a:spcBef>
              <a:spcAft>
                <a:spcPts val="0"/>
              </a:spcAft>
            </a:pPr>
            <a:r>
              <a:rPr sz="1800" b="1" lang="en-US">
                <a:solidFill>
                  <a:srgbClr val="B13731"/>
                </a:solidFill>
                <a:latin typeface="Noto Sans"/>
                <a:ea typeface="Noto Sans CJK JP"/>
              </a:rPr>
              <a:t>Warum sind diese Statistiken wichtig?</a:t>
            </a:r>
          </a:p>
          <a:p>
            <a:pPr>
              <a:lnSpc>
                <a:spcPts val="2100"/>
              </a:lnSpc>
              <a:spcBef>
                <a:spcPts val="0"/>
              </a:spcBef>
              <a:spcAft>
                <a:spcPts val="0"/>
              </a:spcAft>
            </a:pPr>
            <a:r>
              <a:rPr sz="1800" b="1" lang="en-US">
                <a:solidFill>
                  <a:srgbClr val="B13731"/>
                </a:solidFill>
                <a:latin typeface="Noto Sans"/>
                <a:ea typeface="Noto Sans CJK JP"/>
              </a:rPr>
              <a:t>1.Hochwertige Bevölkerungsschätzungen sind von grundlegender Bedeutung für den demokratischen Prozess der EU, d. h., sie spielen bei der Berechnung der Stimmgewichtung, beispielsweise im Fall einer Beschlussfassung im Rat mit qualifizierter Mehrheit, eine wichtige Rolle. Seit dem 1. November 2014 gilt als qualifizierte Mehrheit eine Mehrheit von mindestens 55 % der Ratsmitglieder, gebildet aus mindestens 15 Mitgliedern, sofern die von diesen vertretenen EU-Länder zusammen mindestens 65 % der Bevölkerung der EU ausmachen („doppelte Mehrheit“).</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4/8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要約全文（続き）。</a:t>
            </a:r>
          </a:p>
        </p:txBody>
      </p:sp>
      <p:sp>
        <p:nvSpPr>
          <p:cNvPr id="5" name="quote-frame"/>
          <p:cNvSpPr txBox="1"/>
          <p:nvPr/>
        </p:nvSpPr>
        <p:spPr>
          <a:xfrm>
            <a:off x="548640" y="1536700"/>
            <a:ext cx="8046720" cy="2269066"/>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2.Die langfristige Bewertung der Nachhaltigkeit der öffentlichen Finanzen der EU-Länder wird unter anderem auf der Grundlage der Bevölkerungsprojektionen von Eurostat durchgeführt. Dafür sind aktuelle, genaue, zuverlässige und konsistente Zeitreihen zu Bevölkerung, Geburten und Sterbefällen erforderlich, die mit stimmigen Annahmen zur künftigen Entwicklung von Fruchtbarkeit, Lebenserwartung und Wanderungsströmen einhergehen müssen.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5/8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要約全文（続き）。</a:t>
            </a:r>
          </a:p>
        </p:txBody>
      </p:sp>
      <p:sp>
        <p:nvSpPr>
          <p:cNvPr id="5" name="quote-frame"/>
          <p:cNvSpPr txBox="1"/>
          <p:nvPr/>
        </p:nvSpPr>
        <p:spPr>
          <a:xfrm>
            <a:off x="548640" y="1536700"/>
            <a:ext cx="8046720" cy="1998133"/>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3.Der Fortschritt der Strategie für nachhaltige Entwicklung der Union wird bewertet mittels des Eurostat-Überwachungsberichts, für den Zeitreihen zu Altenquotienten, Fruchtbarkeitsraten und Lebenserwartung in der EU herangezogen werden.</a:t>
            </a:r>
          </a:p>
          <a:p>
            <a:pPr>
              <a:lnSpc>
                <a:spcPts val="2100"/>
              </a:lnSpc>
              <a:spcBef>
                <a:spcPts val="0"/>
              </a:spcBef>
              <a:spcAft>
                <a:spcPts val="0"/>
              </a:spcAft>
            </a:pPr>
            <a:r>
              <a:rPr sz="1800" b="1" lang="en-US">
                <a:solidFill>
                  <a:srgbClr val="B13731"/>
                </a:solidFill>
                <a:latin typeface="Noto Sans"/>
                <a:ea typeface="Noto Sans CJK JP"/>
              </a:rPr>
              <a:t>4.Tendenzen in Bezug auf die Verwirklichung deswirtschaftlichen, sozialen und territorialen Zusammenhalts werden anhand regionaler demografischer Daten bemessen.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6/8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要約全文（続き）。</a:t>
            </a:r>
          </a:p>
        </p:txBody>
      </p:sp>
      <p:sp>
        <p:nvSpPr>
          <p:cNvPr id="5" name="quote-frame"/>
          <p:cNvSpPr txBox="1"/>
          <p:nvPr/>
        </p:nvSpPr>
        <p:spPr>
          <a:xfrm>
            <a:off x="548640" y="1536700"/>
            <a:ext cx="8046720" cy="3014133"/>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Die Durchführungsverordnung (EU) Nr. 205/2014 des Rates legt einheitliche Bedingungen für die Durchführung der Verordnung (EU) Nr. 1260/2013 im Hinblick auf die Untergliederung (d. h. Disaggregation) der Daten, die Fristen und die Revision von Daten fest.</a:t>
            </a:r>
          </a:p>
          <a:p>
            <a:pPr>
              <a:lnSpc>
                <a:spcPts val="2100"/>
              </a:lnSpc>
              <a:spcBef>
                <a:spcPts val="0"/>
              </a:spcBef>
              <a:spcAft>
                <a:spcPts val="0"/>
              </a:spcAft>
            </a:pPr>
            <a:r>
              <a:rPr sz="1800" b="1" lang="en-US">
                <a:solidFill>
                  <a:srgbClr val="B13731"/>
                </a:solidFill>
                <a:latin typeface="Noto Sans"/>
                <a:ea typeface="Noto Sans CJK JP"/>
              </a:rPr>
              <a:t>WANN TRITT DIE VERORDNUNG IN KRAFT?</a:t>
            </a:r>
          </a:p>
          <a:p>
            <a:pPr>
              <a:lnSpc>
                <a:spcPts val="2100"/>
              </a:lnSpc>
              <a:spcBef>
                <a:spcPts val="0"/>
              </a:spcBef>
              <a:spcAft>
                <a:spcPts val="0"/>
              </a:spcAft>
            </a:pPr>
            <a:r>
              <a:rPr sz="1800" b="1" lang="en-US">
                <a:solidFill>
                  <a:srgbClr val="B13731"/>
                </a:solidFill>
                <a:latin typeface="Noto Sans"/>
                <a:ea typeface="Noto Sans CJK JP"/>
              </a:rPr>
              <a:t>Sie ist am 30. Dezember 2013 in Kraft getreten.</a:t>
            </a:r>
          </a:p>
          <a:p>
            <a:pPr>
              <a:lnSpc>
                <a:spcPts val="2100"/>
              </a:lnSpc>
              <a:spcBef>
                <a:spcPts val="0"/>
              </a:spcBef>
              <a:spcAft>
                <a:spcPts val="0"/>
              </a:spcAft>
            </a:pPr>
            <a:r>
              <a:rPr sz="1800" b="1" lang="en-US">
                <a:solidFill>
                  <a:srgbClr val="B13731"/>
                </a:solidFill>
                <a:latin typeface="Noto Sans"/>
                <a:ea typeface="Noto Sans CJK JP"/>
              </a:rPr>
              <a:t>HINTERGRUND</a:t>
            </a:r>
          </a:p>
          <a:p>
            <a:pPr>
              <a:lnSpc>
                <a:spcPts val="2100"/>
              </a:lnSpc>
              <a:spcBef>
                <a:spcPts val="0"/>
              </a:spcBef>
              <a:spcAft>
                <a:spcPts val="0"/>
              </a:spcAft>
            </a:pPr>
            <a:r>
              <a:rPr sz="1800" b="1" lang="en-US">
                <a:solidFill>
                  <a:srgbClr val="B13731"/>
                </a:solidFill>
                <a:latin typeface="Noto Sans"/>
                <a:ea typeface="Noto Sans CJK JP"/>
              </a:rPr>
              <a:t>Weiterführende Informationen:</a:t>
            </a:r>
          </a:p>
          <a:p>
            <a:pPr>
              <a:lnSpc>
                <a:spcPts val="2100"/>
              </a:lnSpc>
              <a:spcBef>
                <a:spcPts val="0"/>
              </a:spcBef>
              <a:spcAft>
                <a:spcPts val="0"/>
              </a:spcAft>
            </a:pPr>
            <a:r>
              <a:rPr sz="1800" b="1" lang="en-US">
                <a:solidFill>
                  <a:srgbClr val="B13731"/>
                </a:solidFill>
                <a:latin typeface="Noto Sans"/>
                <a:ea typeface="Noto Sans CJK JP"/>
              </a:rPr>
              <a:t>„Bevölkerung (Demografie, Migration und Prognosen)“ auf der Website von Eurostat.</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7/8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要約全文（続き）。</a:t>
            </a:r>
          </a:p>
        </p:txBody>
      </p:sp>
      <p:sp>
        <p:nvSpPr>
          <p:cNvPr id="5" name="quote-frame"/>
          <p:cNvSpPr txBox="1"/>
          <p:nvPr/>
        </p:nvSpPr>
        <p:spPr>
          <a:xfrm>
            <a:off x="548640" y="1545166"/>
            <a:ext cx="8046720" cy="1176866"/>
          </a:xfrm>
          <a:prstGeom prst="rect">
            <a:avLst/>
          </a:prstGeom>
          <a:solidFill>
            <a:srgbClr val="EBEDEB"/>
          </a:solidFill>
          <a:ln>
            <a:noFill/>
          </a:ln>
        </p:spPr>
        <p:txBody>
          <a:bodyPr wrap="square" lIns="177800" rIns="177800" tIns="29633" bIns="25400">
            <a:noAutofit/>
          </a:bodyPr>
          <a:lstStyle/>
          <a:p>
            <a:pPr>
              <a:lnSpc>
                <a:spcPts val="2100"/>
              </a:lnSpc>
              <a:spcBef>
                <a:spcPts val="0"/>
              </a:spcBef>
              <a:spcAft>
                <a:spcPts val="0"/>
              </a:spcAft>
            </a:pPr>
            <a:r>
              <a:rPr sz="1800" b="1" lang="en-US">
                <a:solidFill>
                  <a:srgbClr val="B13731"/>
                </a:solidFill>
                <a:latin typeface="Noto Sans"/>
                <a:ea typeface="Noto Sans CJK JP"/>
              </a:rPr>
              <a:t>RECHTSAKT</a:t>
            </a:r>
          </a:p>
          <a:p>
            <a:pPr>
              <a:lnSpc>
                <a:spcPts val="2100"/>
              </a:lnSpc>
              <a:spcBef>
                <a:spcPts val="0"/>
              </a:spcBef>
              <a:spcAft>
                <a:spcPts val="0"/>
              </a:spcAft>
            </a:pPr>
            <a:r>
              <a:rPr sz="1800" b="1" lang="en-US">
                <a:solidFill>
                  <a:srgbClr val="B13731"/>
                </a:solidFill>
                <a:latin typeface="Noto Sans"/>
                <a:ea typeface="Noto Sans CJK JP"/>
              </a:rPr>
              <a:t>Verordnung (EU) Nr. 1260/2013 des Europäischen Parlaments und des Rates vom 20. November 2013 über europäische demografische Statistiken (ABl. L 330 vom 10.12.2013, S. 39-43)</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 8/8</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ドイツ語 ／ 要約全文（続き）。</a:t>
            </a:r>
          </a:p>
        </p:txBody>
      </p:sp>
      <p:sp>
        <p:nvSpPr>
          <p:cNvPr id="5" name="quote-frame"/>
          <p:cNvSpPr txBox="1"/>
          <p:nvPr/>
        </p:nvSpPr>
        <p:spPr>
          <a:xfrm>
            <a:off x="548640" y="1545166"/>
            <a:ext cx="8046720" cy="2260600"/>
          </a:xfrm>
          <a:prstGeom prst="rect">
            <a:avLst/>
          </a:prstGeom>
          <a:solidFill>
            <a:srgbClr val="EBEDEB"/>
          </a:solidFill>
          <a:ln>
            <a:noFill/>
          </a:ln>
        </p:spPr>
        <p:txBody>
          <a:bodyPr wrap="square" lIns="177800" rIns="177800" tIns="29633" bIns="25400">
            <a:noAutofit/>
          </a:bodyPr>
          <a:lstStyle/>
          <a:p>
            <a:pPr>
              <a:lnSpc>
                <a:spcPts val="2100"/>
              </a:lnSpc>
              <a:spcBef>
                <a:spcPts val="0"/>
              </a:spcBef>
              <a:spcAft>
                <a:spcPts val="0"/>
              </a:spcAft>
            </a:pPr>
            <a:r>
              <a:rPr sz="1800" b="1" lang="en-US">
                <a:solidFill>
                  <a:srgbClr val="B13731"/>
                </a:solidFill>
                <a:latin typeface="Noto Sans"/>
                <a:ea typeface="Noto Sans CJK JP"/>
              </a:rPr>
              <a:t>VERBUNDENE RECHTSAKTE</a:t>
            </a:r>
          </a:p>
          <a:p>
            <a:pPr>
              <a:lnSpc>
                <a:spcPts val="2100"/>
              </a:lnSpc>
              <a:spcBef>
                <a:spcPts val="0"/>
              </a:spcBef>
              <a:spcAft>
                <a:spcPts val="0"/>
              </a:spcAft>
            </a:pPr>
            <a:r>
              <a:rPr sz="1800" b="1" lang="en-US">
                <a:solidFill>
                  <a:srgbClr val="B13731"/>
                </a:solidFill>
                <a:latin typeface="Noto Sans"/>
                <a:ea typeface="Noto Sans CJK JP"/>
              </a:rPr>
              <a:t>Durchführungsverordnung (EU) Nr. 205/2014 der Kommission vom 4. März 2014 zur Festlegung einheitlicher Bedingungen für die Durchführung der Verordnung (EU) Nr. 1260/2013 des Europäischen Parlaments und des Rates über europäische demografische Statistiken im Hinblick auf die Untergliederung der Daten, die Fristen und die Revision von Daten (ABl. L 65 vom 5.3.2014, S. 10-26)</a:t>
            </a:r>
          </a:p>
          <a:p>
            <a:pPr>
              <a:lnSpc>
                <a:spcPts val="2100"/>
              </a:lnSpc>
              <a:spcBef>
                <a:spcPts val="0"/>
              </a:spcBef>
              <a:spcAft>
                <a:spcPts val="0"/>
              </a:spcAft>
            </a:pPr>
            <a:r>
              <a:rPr sz="1800" b="1" lang="en-US">
                <a:solidFill>
                  <a:srgbClr val="B13731"/>
                </a:solidFill>
                <a:latin typeface="Noto Sans"/>
                <a:ea typeface="Noto Sans CJK JP"/>
              </a:rPr>
              <a:t>Letzte Aktualisierung: 03.08.2016</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要約・訳 1/5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989666"/>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ja-JP">
                <a:solidFill>
                  <a:srgbClr val="B13731"/>
                </a:solidFill>
                <a:latin typeface="Noto Sans"/>
                <a:ea typeface="Noto Sans CJK JP"/>
              </a:rPr>
              <a:t>人口統計</a:t>
            </a:r>
          </a:p>
          <a:p>
            <a:pPr>
              <a:lnSpc>
                <a:spcPts val="2100"/>
              </a:lnSpc>
              <a:spcBef>
                <a:spcPts val="0"/>
              </a:spcBef>
              <a:spcAft>
                <a:spcPts val="0"/>
              </a:spcAft>
            </a:pPr>
            <a:r>
              <a:rPr sz="1800" b="1" lang="ja-JP">
                <a:solidFill>
                  <a:srgbClr val="B13731"/>
                </a:solidFill>
                <a:latin typeface="Noto Sans"/>
                <a:ea typeface="Noto Sans CJK JP"/>
              </a:rPr>
              <a:t>人口統計</a:t>
            </a:r>
          </a:p>
          <a:p>
            <a:pPr>
              <a:lnSpc>
                <a:spcPts val="2100"/>
              </a:lnSpc>
              <a:spcBef>
                <a:spcPts val="0"/>
              </a:spcBef>
              <a:spcAft>
                <a:spcPts val="0"/>
              </a:spcAft>
            </a:pPr>
            <a:r>
              <a:rPr sz="1800" b="1" lang="ja-JP">
                <a:solidFill>
                  <a:srgbClr val="B13731"/>
                </a:solidFill>
                <a:latin typeface="Noto Sans"/>
                <a:ea typeface="Noto Sans CJK JP"/>
              </a:rPr>
              <a:t>対象文書の要約：</a:t>
            </a:r>
          </a:p>
          <a:p>
            <a:pPr>
              <a:lnSpc>
                <a:spcPts val="2100"/>
              </a:lnSpc>
              <a:spcBef>
                <a:spcPts val="0"/>
              </a:spcBef>
              <a:spcAft>
                <a:spcPts val="0"/>
              </a:spcAft>
            </a:pPr>
            <a:r>
              <a:rPr sz="1800" b="1" lang="ja-JP">
                <a:solidFill>
                  <a:srgbClr val="B13731"/>
                </a:solidFill>
                <a:latin typeface="Noto Sans"/>
                <a:ea typeface="Noto Sans CJK JP"/>
              </a:rPr>
              <a:t>欧州人口統計に関する規則（EU）第1260/2013号</a:t>
            </a:r>
          </a:p>
          <a:p>
            <a:pPr>
              <a:lnSpc>
                <a:spcPts val="2100"/>
              </a:lnSpc>
              <a:spcBef>
                <a:spcPts val="0"/>
              </a:spcBef>
              <a:spcAft>
                <a:spcPts val="0"/>
              </a:spcAft>
            </a:pPr>
            <a:r>
              <a:rPr sz="1800" b="1" lang="ja-JP">
                <a:solidFill>
                  <a:srgbClr val="B13731"/>
                </a:solidFill>
                <a:latin typeface="Noto Sans"/>
                <a:ea typeface="Noto Sans CJK JP"/>
              </a:rPr>
              <a:t>この規則の目的は？</a:t>
            </a:r>
          </a:p>
          <a:p>
            <a:pPr>
              <a:lnSpc>
                <a:spcPts val="2100"/>
              </a:lnSpc>
              <a:spcBef>
                <a:spcPts val="0"/>
              </a:spcBef>
              <a:spcAft>
                <a:spcPts val="0"/>
              </a:spcAft>
            </a:pPr>
            <a:r>
              <a:rPr sz="1800" b="1" lang="ja-JP">
                <a:solidFill>
                  <a:srgbClr val="B13731"/>
                </a:solidFill>
                <a:latin typeface="Noto Sans"/>
                <a:ea typeface="Noto Sans CJK JP"/>
              </a:rPr>
              <a:t>人口と、人口に関する出来事（出生と死亡）のデータを調和させ、提供するためのルールを定める。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要約・訳 2/5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7940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ja-JP">
                <a:solidFill>
                  <a:srgbClr val="B13731"/>
                </a:solidFill>
                <a:latin typeface="Noto Sans"/>
                <a:ea typeface="Noto Sans CJK JP"/>
              </a:rPr>
              <a:t>必要な情報の共通定義、主題と特徴、対象範囲、品質基準、報告期限、成果を定める。ただし、EU諸国は自国の情報源と方法でデータを作成する。</a:t>
            </a:r>
          </a:p>
          <a:p>
            <a:pPr>
              <a:lnSpc>
                <a:spcPts val="2100"/>
              </a:lnSpc>
              <a:spcBef>
                <a:spcPts val="0"/>
              </a:spcBef>
              <a:spcAft>
                <a:spcPts val="0"/>
              </a:spcAft>
            </a:pPr>
            <a:r>
              <a:rPr sz="1800" b="1" lang="ja-JP">
                <a:solidFill>
                  <a:srgbClr val="B13731"/>
                </a:solidFill>
                <a:latin typeface="Noto Sans"/>
                <a:ea typeface="Noto Sans CJK JP"/>
              </a:rPr>
              <a:t>要点</a:t>
            </a:r>
          </a:p>
          <a:p>
            <a:pPr>
              <a:lnSpc>
                <a:spcPts val="2100"/>
              </a:lnSpc>
              <a:spcBef>
                <a:spcPts val="0"/>
              </a:spcBef>
              <a:spcAft>
                <a:spcPts val="0"/>
              </a:spcAft>
            </a:pPr>
            <a:r>
              <a:rPr sz="1800" b="1" lang="ja-JP">
                <a:solidFill>
                  <a:srgbClr val="B13731"/>
                </a:solidFill>
                <a:latin typeface="Noto Sans"/>
                <a:ea typeface="Noto Sans CJK JP"/>
              </a:rPr>
              <a:t>これらの統計はなぜ重要か？</a:t>
            </a:r>
          </a:p>
          <a:p>
            <a:pPr>
              <a:lnSpc>
                <a:spcPts val="2100"/>
              </a:lnSpc>
              <a:spcBef>
                <a:spcPts val="0"/>
              </a:spcBef>
              <a:spcAft>
                <a:spcPts val="0"/>
              </a:spcAft>
            </a:pPr>
            <a:r>
              <a:rPr sz="1800" b="1" lang="ja-JP">
                <a:solidFill>
                  <a:srgbClr val="B13731"/>
                </a:solidFill>
                <a:latin typeface="Noto Sans"/>
                <a:ea typeface="Noto Sans CJK JP"/>
              </a:rPr>
              <a:t>1. 質の高い人口推計はEUの民主的な意思決定の基礎であり、例えば理事会の特定多数決で票の重みを計算する際に重要な役割を持つ。2014年11月1日以降、特定多数とは、少なくとも15か国からなる理事会構成員の55%以上で、かつ、その国々の人口がEU人口の65%以上を占める場合をいう（「二重多数決」）。</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要約・訳 3/5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2606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ja-JP">
                <a:solidFill>
                  <a:srgbClr val="B13731"/>
                </a:solidFill>
                <a:latin typeface="Noto Sans"/>
                <a:ea typeface="Noto Sans CJK JP"/>
              </a:rPr>
              <a:t>2. EU諸国の財政の長期的な持続可能性は、Eurostatの人口予測などに基づいて評価する。そのため、人口・出生・死亡に関する最新で正確、信頼でき、一貫した時系列と、出生力、平均余命、移動の将来について整合的な仮定が必要である。</a:t>
            </a:r>
          </a:p>
          <a:p>
            <a:pPr>
              <a:lnSpc>
                <a:spcPts val="2100"/>
              </a:lnSpc>
              <a:spcBef>
                <a:spcPts val="0"/>
              </a:spcBef>
              <a:spcAft>
                <a:spcPts val="0"/>
              </a:spcAft>
            </a:pPr>
            <a:r>
              <a:rPr sz="1800" b="1" lang="ja-JP">
                <a:solidFill>
                  <a:srgbClr val="B13731"/>
                </a:solidFill>
                <a:latin typeface="Noto Sans"/>
                <a:ea typeface="Noto Sans CJK JP"/>
              </a:rPr>
              <a:t>3. EUの持続可能な開発戦略の進展は、EUの高齢者扶養率、出生率、平均余命の時系列を用いるEurostatの監視報告で評価する。</a:t>
            </a:r>
          </a:p>
          <a:p>
            <a:pPr>
              <a:lnSpc>
                <a:spcPts val="2100"/>
              </a:lnSpc>
              <a:spcBef>
                <a:spcPts val="0"/>
              </a:spcBef>
              <a:spcAft>
                <a:spcPts val="0"/>
              </a:spcAft>
            </a:pPr>
            <a:r>
              <a:rPr sz="1800" b="1" lang="ja-JP">
                <a:solidFill>
                  <a:srgbClr val="B13731"/>
                </a:solidFill>
                <a:latin typeface="Noto Sans"/>
                <a:ea typeface="Noto Sans CJK JP"/>
              </a:rPr>
              <a:t>4. 経済的・社会的・地域的結束の実現に向けた動向は、地域別の人口データで測る。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要約・訳 4/5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2606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ja-JP">
                <a:solidFill>
                  <a:srgbClr val="B13731"/>
                </a:solidFill>
                <a:latin typeface="Noto Sans"/>
                <a:ea typeface="Noto Sans CJK JP"/>
              </a:rPr>
              <a:t>理事会の実施規則（EU）第205/2014号は、規則（EU）第1260/2013号の実施について、データの細分化、期限、改訂に関する共通条件を定める。</a:t>
            </a:r>
          </a:p>
          <a:p>
            <a:pPr>
              <a:lnSpc>
                <a:spcPts val="2100"/>
              </a:lnSpc>
              <a:spcBef>
                <a:spcPts val="0"/>
              </a:spcBef>
              <a:spcAft>
                <a:spcPts val="0"/>
              </a:spcAft>
            </a:pPr>
            <a:r>
              <a:rPr sz="1800" b="1" lang="ja-JP">
                <a:solidFill>
                  <a:srgbClr val="B13731"/>
                </a:solidFill>
                <a:latin typeface="Noto Sans"/>
                <a:ea typeface="Noto Sans CJK JP"/>
              </a:rPr>
              <a:t>いつ発効するか？</a:t>
            </a:r>
          </a:p>
          <a:p>
            <a:pPr>
              <a:lnSpc>
                <a:spcPts val="2100"/>
              </a:lnSpc>
              <a:spcBef>
                <a:spcPts val="0"/>
              </a:spcBef>
              <a:spcAft>
                <a:spcPts val="0"/>
              </a:spcAft>
            </a:pPr>
            <a:r>
              <a:rPr sz="1800" b="1" lang="ja-JP">
                <a:solidFill>
                  <a:srgbClr val="B13731"/>
                </a:solidFill>
                <a:latin typeface="Noto Sans"/>
                <a:ea typeface="Noto Sans CJK JP"/>
              </a:rPr>
              <a:t>2013年12月30日に発効した。</a:t>
            </a:r>
          </a:p>
          <a:p>
            <a:pPr>
              <a:lnSpc>
                <a:spcPts val="2100"/>
              </a:lnSpc>
              <a:spcBef>
                <a:spcPts val="0"/>
              </a:spcBef>
              <a:spcAft>
                <a:spcPts val="0"/>
              </a:spcAft>
            </a:pPr>
            <a:r>
              <a:rPr sz="1800" b="1" lang="ja-JP">
                <a:solidFill>
                  <a:srgbClr val="B13731"/>
                </a:solidFill>
                <a:latin typeface="Noto Sans"/>
                <a:ea typeface="Noto Sans CJK JP"/>
              </a:rPr>
              <a:t>背景</a:t>
            </a:r>
          </a:p>
          <a:p>
            <a:pPr>
              <a:lnSpc>
                <a:spcPts val="2100"/>
              </a:lnSpc>
              <a:spcBef>
                <a:spcPts val="0"/>
              </a:spcBef>
              <a:spcAft>
                <a:spcPts val="0"/>
              </a:spcAft>
            </a:pPr>
            <a:r>
              <a:rPr sz="1800" b="1" lang="ja-JP">
                <a:solidFill>
                  <a:srgbClr val="B13731"/>
                </a:solidFill>
                <a:latin typeface="Noto Sans"/>
                <a:ea typeface="Noto Sans CJK JP"/>
              </a:rPr>
              <a:t>詳しくは、Eurostatウェブサイトの「人口（人口動態、移民、予測）」を参照。</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実例2：人口統計の制度 — 要約・訳 5/5</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7940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ja-JP">
                <a:solidFill>
                  <a:srgbClr val="B13731"/>
                </a:solidFill>
                <a:latin typeface="Noto Sans"/>
                <a:ea typeface="Noto Sans CJK JP"/>
              </a:rPr>
              <a:t>法令</a:t>
            </a:r>
          </a:p>
          <a:p>
            <a:pPr>
              <a:lnSpc>
                <a:spcPts val="2100"/>
              </a:lnSpc>
              <a:spcBef>
                <a:spcPts val="0"/>
              </a:spcBef>
              <a:spcAft>
                <a:spcPts val="0"/>
              </a:spcAft>
            </a:pPr>
            <a:r>
              <a:rPr sz="1800" b="1" lang="ja-JP">
                <a:solidFill>
                  <a:srgbClr val="B13731"/>
                </a:solidFill>
                <a:latin typeface="Noto Sans"/>
                <a:ea typeface="Noto Sans CJK JP"/>
              </a:rPr>
              <a:t>欧州人口統計に関する、2013年11月20日の欧州議会・理事会規則（EU）第1260/2013号（EU官報L330、2013年12月10日、39–43頁）。</a:t>
            </a:r>
          </a:p>
          <a:p>
            <a:pPr>
              <a:lnSpc>
                <a:spcPts val="2100"/>
              </a:lnSpc>
              <a:spcBef>
                <a:spcPts val="0"/>
              </a:spcBef>
              <a:spcAft>
                <a:spcPts val="0"/>
              </a:spcAft>
            </a:pPr>
            <a:r>
              <a:rPr sz="1800" b="1" lang="ja-JP">
                <a:solidFill>
                  <a:srgbClr val="B13731"/>
                </a:solidFill>
                <a:latin typeface="Noto Sans"/>
                <a:ea typeface="Noto Sans CJK JP"/>
              </a:rPr>
              <a:t>関連法令</a:t>
            </a:r>
          </a:p>
          <a:p>
            <a:pPr>
              <a:lnSpc>
                <a:spcPts val="2100"/>
              </a:lnSpc>
              <a:spcBef>
                <a:spcPts val="0"/>
              </a:spcBef>
              <a:spcAft>
                <a:spcPts val="0"/>
              </a:spcAft>
            </a:pPr>
            <a:r>
              <a:rPr sz="1800" b="1" lang="ja-JP">
                <a:solidFill>
                  <a:srgbClr val="B13731"/>
                </a:solidFill>
                <a:latin typeface="Noto Sans"/>
                <a:ea typeface="Noto Sans CJK JP"/>
              </a:rPr>
              <a:t>欧州人口統計に関する規則（EU）第1260/2013号の実施について、データの細分化、期限、改訂の共通条件を定める、2014年3月4日の欧州委員会実施規則（EU）第205/2014号（EU官報L65、2014年3月5日、10–26頁）。</a:t>
            </a:r>
          </a:p>
          <a:p>
            <a:pPr>
              <a:lnSpc>
                <a:spcPts val="2100"/>
              </a:lnSpc>
              <a:spcBef>
                <a:spcPts val="0"/>
              </a:spcBef>
              <a:spcAft>
                <a:spcPts val="0"/>
              </a:spcAft>
            </a:pPr>
            <a:r>
              <a:rPr sz="1800" b="1" lang="ja-JP">
                <a:solidFill>
                  <a:srgbClr val="B13731"/>
                </a:solidFill>
                <a:latin typeface="Noto Sans"/>
                <a:ea typeface="Noto Sans CJK JP"/>
              </a:rPr>
              <a:t>最終更新：2016年8月3日。</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32013R1260 ／ german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参照全文は、用途と背景も組み合わせる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参照全文は、統計の目的、政治・財政での用途、作成方法、関連法令を一つの説明にまとめる。55%・15か国・65%という二重多数決の数値や実施規則205/2014の説明は、配布入力の条文をそのまま短くしたものではなく、要約が補う背景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法令と要約を対応させる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実例3：持続不可能な漁業 — 本文 1/2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第1条1項・第4条1項(c)・第6条1項からの抜粋。節間は［中略］。</a:t>
            </a:r>
          </a:p>
        </p:txBody>
      </p:sp>
      <p:sp>
        <p:nvSpPr>
          <p:cNvPr id="5" name="quote-frame"/>
          <p:cNvSpPr txBox="1"/>
          <p:nvPr/>
        </p:nvSpPr>
        <p:spPr>
          <a:xfrm>
            <a:off x="548640" y="1528233"/>
            <a:ext cx="8046720" cy="2819400"/>
          </a:xfrm>
          <a:prstGeom prst="rect">
            <a:avLst/>
          </a:prstGeom>
          <a:solidFill>
            <a:srgbClr val="EBEDEB"/>
          </a:solidFill>
          <a:ln>
            <a:noFill/>
          </a:ln>
        </p:spPr>
        <p:txBody>
          <a:bodyPr wrap="square" lIns="177800" rIns="177800" tIns="46566" bIns="25400">
            <a:noAutofit/>
          </a:bodyPr>
          <a:lstStyle/>
          <a:p>
            <a:pPr>
              <a:lnSpc>
                <a:spcPts val="2100"/>
              </a:lnSpc>
              <a:spcBef>
                <a:spcPts val="0"/>
              </a:spcBef>
              <a:spcAft>
                <a:spcPts val="0"/>
              </a:spcAft>
            </a:pPr>
            <a:r>
              <a:rPr sz="1800" b="0" lang="en-US">
                <a:solidFill>
                  <a:srgbClr val="303437"/>
                </a:solidFill>
                <a:latin typeface="Noto Sans"/>
                <a:ea typeface="Noto Sans CJK JP"/>
              </a:rPr>
              <a:t>1.   El presente Reglamento establece un marco para la adopción de determinadas medidas relativas a las actividades y las políticas de terceros países relacionadas con la pesca, para garantizar la conservación a largo plazo de las poblaciones de peces de interés común para la Unión y esos terceros países.</a:t>
            </a:r>
          </a:p>
          <a:p>
            <a:pPr>
              <a:lnSpc>
                <a:spcPts val="2100"/>
              </a:lnSpc>
              <a:spcBef>
                <a:spcPts val="0"/>
              </a:spcBef>
              <a:spcAft>
                <a:spcPts val="0"/>
              </a:spcAft>
            </a:pPr>
            <a:r>
              <a:rPr sz="1800" b="0" lang="en-US">
                <a:solidFill>
                  <a:srgbClr val="303437"/>
                </a:solidFill>
                <a:latin typeface="Noto Sans"/>
                <a:ea typeface="Noto Sans CJK JP"/>
              </a:rPr>
              <a:t>［中略］ c) se impongan restricciones cuantitativas a las importaciones de ejemplares procedentes de la población de peces de interés común que hayan sido capturados bajo el control de dicho país, y a las importaciones de productos elaborados a partir de ellos o que los contengan;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32012R1026 ／ spanish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実例3：持続不可能な漁業 — 本文 2/2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第1条1項・第4条1項(c)・第6条1項からの抜粋。節間は［中略］。</a:t>
            </a:r>
          </a:p>
        </p:txBody>
      </p:sp>
      <p:sp>
        <p:nvSpPr>
          <p:cNvPr id="5" name="quote-frame"/>
          <p:cNvSpPr txBox="1"/>
          <p:nvPr/>
        </p:nvSpPr>
        <p:spPr>
          <a:xfrm>
            <a:off x="548640" y="1511300"/>
            <a:ext cx="8046720" cy="1498600"/>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en-US">
                <a:solidFill>
                  <a:srgbClr val="303437"/>
                </a:solidFill>
                <a:latin typeface="Noto Sans"/>
                <a:ea typeface="Noto Sans CJK JP"/>
              </a:rPr>
              <a:t>［中略］ 1.   Cuando la Comisión estime necesario adoptar alguna de las medidas a que se refiere el artículo 4, notificará al país de que se trate su intención de considerarlo como un país que permite la pesca no sostenible. En tales casos, se informará inmediatamente al Parlamento Europeo y al Consejo.</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32012R1026 ／ spanish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実例3：持続不可能な漁業 — 本文・訳</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5315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0" lang="ja-JP">
                <a:solidFill>
                  <a:srgbClr val="303437"/>
                </a:solidFill>
                <a:latin typeface="Noto Sans"/>
                <a:ea typeface="Noto Sans CJK JP"/>
              </a:rPr>
              <a:t>第1条1項：EUと第三国に共通の利害がある魚類資源を長期的に保全するため、漁業に関する第三国の活動と政策を対象とした一定の措置を採る枠組みを定める。</a:t>
            </a:r>
          </a:p>
          <a:p>
            <a:pPr>
              <a:lnSpc>
                <a:spcPts val="2100"/>
              </a:lnSpc>
              <a:spcBef>
                <a:spcPts val="0"/>
              </a:spcBef>
              <a:spcAft>
                <a:spcPts val="0"/>
              </a:spcAft>
            </a:pPr>
            <a:r>
              <a:rPr sz="1800" b="0" lang="ja-JP">
                <a:solidFill>
                  <a:srgbClr val="303437"/>
                </a:solidFill>
                <a:latin typeface="Noto Sans"/>
                <a:ea typeface="Noto Sans CJK JP"/>
              </a:rPr>
              <a:t>第4条1項(c)：その国の管理下で漁獲された、共通の利害がある魚類資源からの魚と、その魚を原料にした、または含む製品の輸入に、数量制限を課す。</a:t>
            </a:r>
          </a:p>
          <a:p>
            <a:pPr>
              <a:lnSpc>
                <a:spcPts val="2100"/>
              </a:lnSpc>
              <a:spcBef>
                <a:spcPts val="0"/>
              </a:spcBef>
              <a:spcAft>
                <a:spcPts val="0"/>
              </a:spcAft>
            </a:pPr>
            <a:r>
              <a:rPr sz="1800" b="0" lang="ja-JP">
                <a:solidFill>
                  <a:srgbClr val="303437"/>
                </a:solidFill>
                <a:latin typeface="Noto Sans"/>
                <a:ea typeface="Noto Sans CJK JP"/>
              </a:rPr>
              <a:t>第6条1項：欧州委員会が第4条の措置の採用を必要と考える場合、その国を持続不可能な漁業を認める国と見なす意向を当該国に通知する。その際、欧州議会と理事会にも直ちに知らせる。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32012R1026 ／ spanish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実例3：持続不可能な漁業 — 要約 1/2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スペイン語 ／ 要約の抜粋。節間の省略は［中略］。</a:t>
            </a:r>
          </a:p>
        </p:txBody>
      </p:sp>
      <p:sp>
        <p:nvSpPr>
          <p:cNvPr id="5" name="quote-frame"/>
          <p:cNvSpPr txBox="1"/>
          <p:nvPr/>
        </p:nvSpPr>
        <p:spPr>
          <a:xfrm>
            <a:off x="548640" y="1536700"/>
            <a:ext cx="8046720" cy="3064933"/>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Este Reglamento establece un sistema que permite a la Unión Europea (UE) adoptar medidas relativas a las actividades y las políticas de determinados países no pertenecientes a la UE que autorizan una pesca no sostenible.  Estas medidas están destinadas a ayudar a la conservación de las poblaciones de peces de interés común* tanto para los países de la UE como para los países no pertenecientes a la UE en cuestión.</a:t>
            </a:r>
          </a:p>
          <a:p>
            <a:pPr>
              <a:lnSpc>
                <a:spcPts val="2100"/>
              </a:lnSpc>
              <a:spcBef>
                <a:spcPts val="0"/>
              </a:spcBef>
              <a:spcAft>
                <a:spcPts val="0"/>
              </a:spcAft>
            </a:pPr>
            <a:r>
              <a:rPr sz="1800" b="1" lang="en-US">
                <a:solidFill>
                  <a:srgbClr val="B13731"/>
                </a:solidFill>
                <a:latin typeface="Noto Sans"/>
                <a:ea typeface="Noto Sans CJK JP"/>
              </a:rPr>
              <a:t>［中略］ cuotas a las importaciones de peces procedentes de la población de peces de interés común que hayan sido capturados bajo el control de dicho país, y a las importaciones de productos de la pesca que los contengan;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32012R1026 ／ spanish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実例3：持続不可能な漁業 — 要約 2/2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スペイン語 ／ 要約の抜粋。節間の省略は［中略］。</a:t>
            </a:r>
          </a:p>
        </p:txBody>
      </p:sp>
      <p:sp>
        <p:nvSpPr>
          <p:cNvPr id="5" name="quote-frame"/>
          <p:cNvSpPr txBox="1"/>
          <p:nvPr/>
        </p:nvSpPr>
        <p:spPr>
          <a:xfrm>
            <a:off x="548640" y="1511300"/>
            <a:ext cx="8046720" cy="1227666"/>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en-US">
                <a:solidFill>
                  <a:srgbClr val="B13731"/>
                </a:solidFill>
                <a:latin typeface="Noto Sans"/>
                <a:ea typeface="Noto Sans CJK JP"/>
              </a:rPr>
              <a:t>［中略］ Antes de adoptar ninguna medida, la Comisión debe notificar al país en cuestión su intención de considerarlo como un país que autoriza la pesca no sostenible. En tales casos, debe informar inmediatamente al Parlamento Europeo y al Consejo.</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32012R1026 ／ spanish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実例3：持続不可能な漁業 — 要約・訳 1/2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9558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この規則は、持続不可能な漁業を認める一部のEU域外国の活動と政策について、EUが措置を採れる仕組みを設ける。これらの措置は、EU諸国と該当する域外国に共通の利害がある魚類資源*の保全を支援するためのものである。</a:t>
            </a:r>
          </a:p>
          <a:p>
            <a:pPr>
              <a:lnSpc>
                <a:spcPts val="2400"/>
              </a:lnSpc>
              <a:spcBef>
                <a:spcPts val="0"/>
              </a:spcBef>
              <a:spcAft>
                <a:spcPts val="0"/>
              </a:spcAft>
            </a:pPr>
            <a:r>
              <a:rPr sz="2100" b="1" lang="ja-JP">
                <a:solidFill>
                  <a:srgbClr val="B13731"/>
                </a:solidFill>
                <a:latin typeface="Noto Sans"/>
                <a:ea typeface="Noto Sans CJK JP"/>
              </a:rPr>
              <a:t>その国の管理下で漁獲された、共通の利害がある魚類資源からの魚と、その魚を含む水産物の輸入に割当を設ける。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32012R1026 ／ spanish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実例3：持続不可能な漁業 — 要約・訳 2/2</a:t>
            </a:r>
          </a:p>
        </p:txBody>
      </p:sp>
      <p:sp>
        <p:nvSpPr>
          <p:cNvPr id="3" name="Title 2"/>
          <p:cNvSpPr>
            <a:spLocks noGrp="1"/>
          </p:cNvSpPr>
          <p:nvPr>
            <p:ph type="title" idx="2"/>
          </p:nvPr>
        </p:nvSpPr>
        <p:spPr/>
        <p:txBody>
          <a:bodyPr/>
          <a:lstStyle/>
          <a:p>
            <a:r>
              <a:t>1. 法令と要約を対応させる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337733"/>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措置を採る前に、欧州委員会は、その国を持続不可能な漁業を認める国と見なす意向を当該国に通知しなければならない。この場合、欧州議会と理事会にも直ちに知らせなければならない。</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32012R1026 ／ spanish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具体的な措置と、事前の通知をまとめる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要約は、第三国の漁業を対象とする制度から、輸入制限という具体策と、採用前の通知手続を選ぶ。条文の数量制限は、参照では輸入割当という短い言い方で示される。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法令と要約を対応させる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24言語の収集と分割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24言語の収集と分割</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既存のEU法令と要約を収集した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2022年5〜6月、EUR-Lexの施行中法令の20分野を入口として、法令本文と対応する要約を収集した。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法令には言語を越えて共通のCelex IDがあり、HTMLの段落構造も対応付けに利用できる。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EUが契約する専門家が、法令の要約と各言語の訳文を作成した。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24言語の収集と分割</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HTML本文と要約がそろう法令を採る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本文のHTML版と要約が利用できる組を選び、スキャンPDFだけの文書などを除いた。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一つの要約が複数の法令を扱う場合には、最長の法令だけを入力として残す。対象によって要約の情報が入力の外にも由来する。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同じ法令を複数言語で対応付け、合計31,987組の言語別ペアを収録した。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24言語の収集と分割</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言語ごとに得られる学習量が異なる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24言語の収集と分割</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4389120"/>
                <a:gridCol w="1920240"/>
                <a:gridCol w="173736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全ペア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フランス語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1,505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英語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1,504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1,129</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ドイツ語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1,490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1,115</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マルタ語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940</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アイルランド語</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391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48327"/>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 187／test 188は全言語共通。</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375法令を、24言語共通の評価用に分ける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24言語すべてで本文と要約がそろう375法令を取り出し、187件をvalidation、188件をtestに無作為に割り当てた。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残りは言語ごとのtrain。Celex IDの分割を共有するため、同じ評価対象を言語間で比較できる。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24言語の収集と分割</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長い入力には、大きなばらつきがある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24言語の収集と分割</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383280"/>
                <a:gridCol w="2377440"/>
                <a:gridCol w="22860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英語train・1,129件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法令本文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参照要約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12,883語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783語</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4,818語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694語</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1,087,217語</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2,930語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公開されている英語trainを、空白区切りの語数で集計。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多くの法令と、100万語を超える長い文書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24言語の収集と分割</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3968496"/>
            <a:ext cx="7955279" cy="566928"/>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英語train 1,129件。横軸：空白区切り語数。縦軸：文書数。各階級は左端以上・右端未満。</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3"/>
              </a:rPr>
              <a:t>https://huggingface.co/datasets/dennlinger/eur-lex-sum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長文・言語間要約の評価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長文・言語間要約の評価</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ROUGE：参照要約との表現の重なりを測る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ROUGE-1は単語、ROUGE-2は連続する二語、ROUGE-Lは順序を保つ共通の語列を手掛かりにする。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ここで示す2022年の成績はF1。参照要約の語をどれだけ拾えたかと、生成要約の語がどれだけ参照要約と重なるかを合わせて測る。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言語間の比較では語幹処理を無効にした。同じ法令でも、語の分割や言い換えは得点に影響する。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長文・言語間要約の評価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段落を選ぶLexRankを、各言語へ適用した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長文・言語間要約の評価</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3383280"/>
                <a:gridCol w="1554480"/>
                <a:gridCol w="1554480"/>
                <a:gridCol w="155448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test・188件/言語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ROUGE-1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ROUGE-2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ROUGE-L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英語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26.68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13.65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13.58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ドイツ語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26.72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13.75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12.56</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スペイン語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28.34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17.12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15.23</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アイルランド語</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41.93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17.16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15.25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2022年の改良LexRank、言語ごとの本文→同言語要約。F1（%）、語幹処理なし。</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段落の中心性を使い、本文から要約を作る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改良LexRankは、多言語文埋め込みで段落どうしの類似度を求め、中心的な段落を選ぶ抽出型の方式。</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要約の目標段落数は、各言語のtrainの段落圧縮率と、入力の段落数から決める。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追加学習は行わない。アイルランド語は埋め込みモデルの対応言語外だが、ROUGE-1が高く、報告では原因を特定できていない。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長文・言語間要約の評価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英語からスペイン語の要約を作る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長文・言語間要約の評価</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4114800"/>
                <a:gridCol w="1325880"/>
                <a:gridCol w="1325880"/>
                <a:gridCol w="128016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test・188件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ROUGE-1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ROUGE-2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ROUGE-L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LED→西語訳</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31.14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13.01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16.20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英語LexRank→西語訳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39.44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18.73</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西語LexRank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28.34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17.12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15.23</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英語参照要約→西語訳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54.55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41.01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45.06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2022年の英語→スペイン語評価。最下段は人手の英語要約を使う比較用条件。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英語で要約し、スペイン語へ翻訳する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LEDはBillSumで学習したモデル。英語の法令から要約を生成し、OPUS-MTでスペイン語へ翻訳する。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英語LexRankの要約をOPUS-MTで翻訳する方法も比較した。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人手の英語参照要約を翻訳する条件は、要約の情報選択を人に任せ、翻訳だけを行う比較である。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長文・言語間要約の評価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公式コード・データ・baseline。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https://github.com/achouhan93/eur-lex-sum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入力も出力も、長さへの対応が必要</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法令本文だけでなく、参照要約も数百語以上ある。短い記事から数十語を作る要約とは、情報選択の量が異なる。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2022年のLED実験は約4,096トークンで入力を分割し、区間ごとの要約を連結した。翻訳も約500 subword単位で分割した。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各条文をつなぐ条件や、複数法令にまたがる要約をどう保持するかが、長文・言語間要約の課題になる。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長文・言語間要約の評価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公開配布と利用条件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公開配布と利用条件</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言語ごとのJSONLから、本文と要約を入手する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Hugging Faceに言語別のtrain・validation・testを公開。各行はcelex_id、reference、summaryを持つ。</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referenceは法令本文、summaryは人手要約、celex_idは同じ法令を言語間で結ぶ識別子である。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公式GitHubでは、収集・分析・要約モデルのコードも公開している。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公開配布と利用条件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公式READMEに、データとコードの利用条件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現在の公式READMEは、データをCC BY 4.0、ソフトウェアをMITで案内している。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Hugging Faceの先頭メタデータはCC BY 4.0だが、カード本文はCC BY-SA、旧ローダーはCC BY-NC-SAと表記が異なる。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利用する配布版の表記と、公式README・EUR-Lexの利用条件を合わせて確認する。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公開配布と利用条件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公式コード・データ・baseline。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https://github.com/achouhan93/eur-lex-sum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長さ・言語・参照の作り方が評価を決める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EU法令と専門家の要約を、最大24言語で同じIDへ対応付けたデータセット。</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学習量が少ない言語でも共通の評価対象を持ち、長い本文から長い要約を作る課題を比較できる。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同じ言語での要約に加え、英語で要約してから別言語へ翻訳する方法も評価されている。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公開配布と利用条件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言語と統計の補足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実例4：四半期ごとの求人統計 — 本文</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第1条1項・第3条2/3項からの抜粋。節間は［中略］。</a:t>
            </a:r>
          </a:p>
        </p:txBody>
      </p:sp>
      <p:sp>
        <p:nvSpPr>
          <p:cNvPr id="5" name="quote-frame"/>
          <p:cNvSpPr txBox="1"/>
          <p:nvPr/>
        </p:nvSpPr>
        <p:spPr>
          <a:xfrm>
            <a:off x="548640" y="1528233"/>
            <a:ext cx="8046720" cy="2683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1.   Le présent règlement fixe les exigences en matière de production régulière de statistiques trimestrielles sur les emplois vacants dans la Communauté.</a:t>
            </a:r>
          </a:p>
          <a:p>
            <a:pPr>
              <a:lnSpc>
                <a:spcPts val="2000"/>
              </a:lnSpc>
              <a:spcBef>
                <a:spcPts val="0"/>
              </a:spcBef>
              <a:spcAft>
                <a:spcPts val="0"/>
              </a:spcAft>
            </a:pPr>
            <a:r>
              <a:rPr sz="1700" b="0" lang="en-US">
                <a:solidFill>
                  <a:srgbClr val="303437"/>
                </a:solidFill>
                <a:latin typeface="Noto Sans"/>
                <a:ea typeface="Noto Sans CJK JP"/>
              </a:rPr>
              <a:t>［中略］ 2.   Les États membres fournissent les données sur les postes occupés afin de standardiser les données sur les emplois vacants à des fins de comparaison.</a:t>
            </a:r>
          </a:p>
          <a:p>
            <a:pPr>
              <a:lnSpc>
                <a:spcPts val="2000"/>
              </a:lnSpc>
              <a:spcBef>
                <a:spcPts val="0"/>
              </a:spcBef>
              <a:spcAft>
                <a:spcPts val="0"/>
              </a:spcAft>
            </a:pPr>
            <a:r>
              <a:rPr sz="1700" b="0" lang="en-US">
                <a:solidFill>
                  <a:srgbClr val="303437"/>
                </a:solidFill>
                <a:latin typeface="Noto Sans"/>
                <a:ea typeface="Noto Sans CJK JP"/>
              </a:rPr>
              <a:t>3.   Les États membres doivent appliquer aux données trimestrielles sur les emplois vacants les procédures de correction pour variations saisonnières requises. Ces procédures sont déterminées conformément à la procédure de réglementation visée à l’article 9, paragraphe 3.</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32008R0453 ／ french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実例4：四半期ごとの求人統計 — 本文・訳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1. この規則は、欧州共同体において、四半期ごとの求人統計を定期的に作成するための要件を定める。</a:t>
            </a:r>
          </a:p>
          <a:p>
            <a:pPr>
              <a:lnSpc>
                <a:spcPts val="2000"/>
              </a:lnSpc>
              <a:spcBef>
                <a:spcPts val="0"/>
              </a:spcBef>
              <a:spcAft>
                <a:spcPts val="0"/>
              </a:spcAft>
            </a:pPr>
            <a:r>
              <a:rPr sz="1700" b="0" lang="ja-JP">
                <a:solidFill>
                  <a:srgbClr val="303437"/>
                </a:solidFill>
                <a:latin typeface="Noto Sans"/>
                <a:ea typeface="Noto Sans CJK JP"/>
              </a:rPr>
              <a:t>第3条2項：加盟国は、求人統計を比較できるよう標準化するため、既に人が就いている職（ポスト）のデータも提供する。</a:t>
            </a:r>
          </a:p>
          <a:p>
            <a:pPr>
              <a:lnSpc>
                <a:spcPts val="2000"/>
              </a:lnSpc>
              <a:spcBef>
                <a:spcPts val="0"/>
              </a:spcBef>
              <a:spcAft>
                <a:spcPts val="0"/>
              </a:spcAft>
            </a:pPr>
            <a:r>
              <a:rPr sz="1700" b="0" lang="ja-JP">
                <a:solidFill>
                  <a:srgbClr val="303437"/>
                </a:solidFill>
                <a:latin typeface="Noto Sans"/>
                <a:ea typeface="Noto Sans CJK JP"/>
              </a:rPr>
              <a:t>3. 加盟国は、四半期ごとの求人統計に必要な季節調整を適用しなければならない。この手続は、第9条3項の規制手続に従って定める。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32008R0453 ／ french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実例4：四半期ごとの求人統計 — 要約</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フランス語 ／ 要約の抜粋。節間の省略は［中略］。</a:t>
            </a:r>
          </a:p>
        </p:txBody>
      </p:sp>
      <p:sp>
        <p:nvSpPr>
          <p:cNvPr id="5" name="quote-frame"/>
          <p:cNvSpPr txBox="1"/>
          <p:nvPr/>
        </p:nvSpPr>
        <p:spPr>
          <a:xfrm>
            <a:off x="548640" y="1536700"/>
            <a:ext cx="8046720" cy="2819400"/>
          </a:xfrm>
          <a:prstGeom prst="rect">
            <a:avLst/>
          </a:prstGeom>
          <a:solidFill>
            <a:srgbClr val="EBEDEB"/>
          </a:solidFill>
          <a:ln>
            <a:noFill/>
          </a:ln>
        </p:spPr>
        <p:txBody>
          <a:bodyPr wrap="square" lIns="177800" rIns="177800" tIns="38100" bIns="25400">
            <a:noAutofit/>
          </a:bodyPr>
          <a:lstStyle/>
          <a:p>
            <a:pPr>
              <a:lnSpc>
                <a:spcPts val="2400"/>
              </a:lnSpc>
              <a:spcBef>
                <a:spcPts val="0"/>
              </a:spcBef>
              <a:spcAft>
                <a:spcPts val="0"/>
              </a:spcAft>
            </a:pPr>
            <a:r>
              <a:rPr sz="2100" b="1" lang="en-US">
                <a:solidFill>
                  <a:srgbClr val="B13731"/>
                </a:solidFill>
                <a:latin typeface="Noto Sans"/>
                <a:ea typeface="Noto Sans CJK JP"/>
              </a:rPr>
              <a:t>Il fixe les exigences en matière de production régulière de statistiques trimestrielles sur les emplois vacants* dans l’Union européenne (UE).</a:t>
            </a:r>
          </a:p>
          <a:p>
            <a:pPr>
              <a:lnSpc>
                <a:spcPts val="2400"/>
              </a:lnSpc>
              <a:spcBef>
                <a:spcPts val="0"/>
              </a:spcBef>
              <a:spcAft>
                <a:spcPts val="0"/>
              </a:spcAft>
            </a:pPr>
            <a:r>
              <a:rPr sz="2100" b="1" lang="en-US">
                <a:solidFill>
                  <a:srgbClr val="B13731"/>
                </a:solidFill>
                <a:latin typeface="Noto Sans"/>
                <a:ea typeface="Noto Sans CJK JP"/>
              </a:rPr>
              <a:t>［中略］ Les pays sont également tenus de fournir les données sur les postes occupés afin de standardiser les données sur les emplois vacants à des fins de comparaison. Ils doivent appliquer aux données trimestrielles sur les emplois vacants une correction pour variations saisonnières.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32008R0453 ／ french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実例4：四半期ごとの求人統計 — 要約・訳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947333"/>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EUにおいて、四半期ごとの求人*統計を定期的に作成するための要件を定める。</a:t>
            </a:r>
          </a:p>
          <a:p>
            <a:pPr>
              <a:lnSpc>
                <a:spcPts val="2400"/>
              </a:lnSpc>
              <a:spcBef>
                <a:spcPts val="0"/>
              </a:spcBef>
              <a:spcAft>
                <a:spcPts val="0"/>
              </a:spcAft>
            </a:pPr>
            <a:r>
              <a:rPr sz="2100" b="1" lang="ja-JP">
                <a:solidFill>
                  <a:srgbClr val="B13731"/>
                </a:solidFill>
                <a:latin typeface="Noto Sans"/>
                <a:ea typeface="Noto Sans CJK JP"/>
              </a:rPr>
              <a:t>各国は、求人統計を比較可能な形へ標準化するため、既に人が就いている職（ポスト）についてもデータを提供しなければならない。また、四半期ごとの求人統計に季節調整を適用しなければならない。</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32008R0453 ／ french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本文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第1条1項・第2条1/2項の一部からの抜粋。節間は［中略］。</a:t>
            </a:r>
          </a:p>
        </p:txBody>
      </p:sp>
      <p:sp>
        <p:nvSpPr>
          <p:cNvPr id="5" name="quote-frame"/>
          <p:cNvSpPr txBox="1"/>
          <p:nvPr/>
        </p:nvSpPr>
        <p:spPr>
          <a:xfrm>
            <a:off x="548640" y="1528233"/>
            <a:ext cx="8046720" cy="2429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1.   Al fine di sostenere la ripresa all’indomani della crisi COVID-19, il presente regolamento istituisce lo strumento dell’Unione europea per la ripresa («strumento»).</a:t>
            </a:r>
          </a:p>
          <a:p>
            <a:pPr>
              <a:lnSpc>
                <a:spcPts val="2000"/>
              </a:lnSpc>
              <a:spcBef>
                <a:spcPts val="0"/>
              </a:spcBef>
              <a:spcAft>
                <a:spcPts val="0"/>
              </a:spcAft>
            </a:pPr>
            <a:r>
              <a:rPr sz="1700" b="0" lang="en-US">
                <a:solidFill>
                  <a:srgbClr val="303437"/>
                </a:solidFill>
                <a:latin typeface="Noto Sans"/>
                <a:ea typeface="Noto Sans CJK JP"/>
              </a:rPr>
              <a:t>［中略］ 1.   Lo strumento è finanziato fino a un importo di 750 000 milioni di EUR a prezzi del 2018 sulla base del potere conferito all’articolo 5 della decisione sulle risorse proprie.</a:t>
            </a:r>
          </a:p>
          <a:p>
            <a:pPr>
              <a:lnSpc>
                <a:spcPts val="2000"/>
              </a:lnSpc>
              <a:spcBef>
                <a:spcPts val="0"/>
              </a:spcBef>
              <a:spcAft>
                <a:spcPts val="0"/>
              </a:spcAft>
            </a:pPr>
            <a:r>
              <a:rPr sz="1700" b="0" lang="en-US">
                <a:solidFill>
                  <a:srgbClr val="303437"/>
                </a:solidFill>
                <a:latin typeface="Noto Sans"/>
                <a:ea typeface="Noto Sans CJK JP"/>
              </a:rPr>
              <a:t>［中略］ a) un sostegno fino a 384 400 milioni di EUR a prezzi del 2018 in forma di aiuti a fondo perduto e di aiuti rimborsabili mediante strumenti finanziari ripartiti come segue:</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本文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第1条1項・第2条1/2項の一部からの抜粋。節間は［中略］。</a:t>
            </a:r>
          </a:p>
        </p:txBody>
      </p:sp>
      <p:sp>
        <p:nvSpPr>
          <p:cNvPr id="5" name="quote-frame"/>
          <p:cNvSpPr txBox="1"/>
          <p:nvPr/>
        </p:nvSpPr>
        <p:spPr>
          <a:xfrm>
            <a:off x="548640" y="1511300"/>
            <a:ext cx="8046720" cy="1921933"/>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ii) fino a 312 500 milioni di EUR a prezzi del 2018 per un programma di finanziamento della ripresa e della resilienza economica e sociale mediante il sostegno a riforme e investimenti;</a:t>
            </a:r>
          </a:p>
          <a:p>
            <a:pPr>
              <a:lnSpc>
                <a:spcPts val="2000"/>
              </a:lnSpc>
              <a:spcBef>
                <a:spcPts val="0"/>
              </a:spcBef>
              <a:spcAft>
                <a:spcPts val="0"/>
              </a:spcAft>
            </a:pPr>
            <a:r>
              <a:rPr sz="1700" b="0" lang="en-US">
                <a:solidFill>
                  <a:srgbClr val="303437"/>
                </a:solidFill>
                <a:latin typeface="Noto Sans"/>
                <a:ea typeface="Noto Sans CJK JP"/>
              </a:rPr>
              <a:t>［中略］ b) fino a 360 000 milioni di EUR a prezzi del 2018 in forma di prestiti agli Stati membri per un programma di finanziamento della ripresa e della resilienza economica e sociale mediante il sostegno a riforme e investimenti;</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本文・訳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175933"/>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1. COVID-19危機後の回復を支えるため、この規則はEU復興支援手段（以下「支援手段」）を設ける。</a:t>
            </a:r>
          </a:p>
          <a:p>
            <a:pPr>
              <a:lnSpc>
                <a:spcPts val="2000"/>
              </a:lnSpc>
              <a:spcBef>
                <a:spcPts val="0"/>
              </a:spcBef>
              <a:spcAft>
                <a:spcPts val="0"/>
              </a:spcAft>
            </a:pPr>
            <a:r>
              <a:rPr sz="1700" b="0" lang="ja-JP">
                <a:solidFill>
                  <a:srgbClr val="303437"/>
                </a:solidFill>
                <a:latin typeface="Noto Sans"/>
                <a:ea typeface="Noto Sans CJK JP"/>
              </a:rPr>
              <a:t>第2条1項：この支援手段には、自己財源決定の第5条で与えられた権限に基づき、2018年価格で最大7,500億ユーロを充てる。</a:t>
            </a:r>
          </a:p>
          <a:p>
            <a:pPr>
              <a:lnSpc>
                <a:spcPts val="2000"/>
              </a:lnSpc>
              <a:spcBef>
                <a:spcPts val="0"/>
              </a:spcBef>
              <a:spcAft>
                <a:spcPts val="0"/>
              </a:spcAft>
            </a:pPr>
            <a:r>
              <a:rPr sz="1700" b="0" lang="ja-JP">
                <a:solidFill>
                  <a:srgbClr val="303437"/>
                </a:solidFill>
                <a:latin typeface="Noto Sans"/>
                <a:ea typeface="Noto Sans CJK JP"/>
              </a:rPr>
              <a:t>第2条2項(a)：2018年価格で最大3,844億ユーロを、返済不要の支援および金融商品による返済を伴う支援として、次のように配分する。</a:t>
            </a:r>
          </a:p>
          <a:p>
            <a:pPr>
              <a:lnSpc>
                <a:spcPts val="2000"/>
              </a:lnSpc>
              <a:spcBef>
                <a:spcPts val="0"/>
              </a:spcBef>
              <a:spcAft>
                <a:spcPts val="0"/>
              </a:spcAft>
            </a:pPr>
            <a:r>
              <a:rPr sz="1700" b="0" lang="ja-JP">
                <a:solidFill>
                  <a:srgbClr val="303437"/>
                </a:solidFill>
                <a:latin typeface="Noto Sans"/>
                <a:ea typeface="Noto Sans CJK JP"/>
              </a:rPr>
              <a:t>第2条2項(a)(ii)：改革と投資を支援して経済・社会の復興と強靱化に資金を提供するプログラムに、2018年価格で最大3,125億ユーロを充てる。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本文・訳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889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第2条2項(b)：改革と投資を支援して経済・社会の復興と強靱化に資金を提供するプログラムのため、加盟国への融資として、2018年価格で最大3,600億ユーロを充てる。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要約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イタリア語 ／ 要約の抜粋。節間の省略は［中略］。</a:t>
            </a:r>
          </a:p>
        </p:txBody>
      </p:sp>
      <p:sp>
        <p:nvSpPr>
          <p:cNvPr id="5" name="quote-frame"/>
          <p:cNvSpPr txBox="1"/>
          <p:nvPr/>
        </p:nvSpPr>
        <p:spPr>
          <a:xfrm>
            <a:off x="548640" y="1536700"/>
            <a:ext cx="8046720" cy="1684866"/>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Il regolamento istituisce lo strumento dell’Unione europea per la ripresa, NextGenerationEU, per promuovere la ripresa economica dopo la crisi COVID-19, e ne definisce la modalità di funzionamento.</a:t>
            </a:r>
          </a:p>
          <a:p>
            <a:pPr>
              <a:lnSpc>
                <a:spcPts val="2100"/>
              </a:lnSpc>
              <a:spcBef>
                <a:spcPts val="0"/>
              </a:spcBef>
              <a:spcAft>
                <a:spcPts val="0"/>
              </a:spcAft>
            </a:pPr>
            <a:r>
              <a:rPr sz="1800" b="1" lang="en-US">
                <a:solidFill>
                  <a:srgbClr val="B13731"/>
                </a:solidFill>
                <a:latin typeface="Noto Sans"/>
                <a:ea typeface="Noto Sans CJK JP"/>
              </a:rPr>
              <a:t>［中略］ NextGenerationEU costituisce uno strumento temporaneo per la ripresa di un valore fino a 750 miliardi di euro ai prezzi del 2018.</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要約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イタリア語 ／ 要約の抜粋。節間の省略は［中略］。</a:t>
            </a:r>
          </a:p>
        </p:txBody>
      </p:sp>
      <p:sp>
        <p:nvSpPr>
          <p:cNvPr id="5" name="quote-frame"/>
          <p:cNvSpPr txBox="1"/>
          <p:nvPr/>
        </p:nvSpPr>
        <p:spPr>
          <a:xfrm>
            <a:off x="548640" y="1511300"/>
            <a:ext cx="8046720" cy="20235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en-US">
                <a:solidFill>
                  <a:srgbClr val="B13731"/>
                </a:solidFill>
                <a:latin typeface="Noto Sans"/>
                <a:ea typeface="Noto Sans CJK JP"/>
              </a:rPr>
              <a:t>［中略］ Il fulcro di NextGenerationEU consiste nell’assegnazione di finanziamenti al dispositivo per la ripresa e la resilienza, tramite l’erogazione di sovvenzioni e prestiti a sostegno di riforme e investimenti negli Stati membri di un valore complessivo di 672,5 miliardi di euro ai prezzi del 2018, di cui:fino a 312,5 miliardi di euro saranno forniti sotto forma di sovvenzioni; fino a 360 miliardi di euro forniranno prestiti dell’Unione ai singoli Stati membri.</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要約・訳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この規則は、COVID-19危機後の経済回復を促すため、EU復興支援手段NextGenerationEUを設け、その運用方法を定める。</a:t>
            </a:r>
          </a:p>
          <a:p>
            <a:pPr>
              <a:lnSpc>
                <a:spcPts val="2400"/>
              </a:lnSpc>
              <a:spcBef>
                <a:spcPts val="0"/>
              </a:spcBef>
              <a:spcAft>
                <a:spcPts val="0"/>
              </a:spcAft>
            </a:pPr>
            <a:r>
              <a:rPr sz="2100" b="1" lang="ja-JP">
                <a:solidFill>
                  <a:srgbClr val="B13731"/>
                </a:solidFill>
                <a:latin typeface="Noto Sans"/>
                <a:ea typeface="Noto Sans CJK JP"/>
              </a:rPr>
              <a:t>NextGenerationEUは、2018年価格で最大7,500億ユーロの、一時的な復興支援手段である。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実例5：EU復興支援の資金配分 — 要約・訳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659466"/>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NextGenerationEUの中心は、復興・強靱化ファシリティへの資金配分である。加盟国の改革と投資を支える補助金と融資に、2018年価格で総額6,725億ユーロを充てる。その内訳は、補助金が最大3,125億ユーロ、各加盟国へのEU融資が最大3,600億ユーロであ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32020R2094 ／ italian</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本文 1/3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第1・3・4条からの抜粋。節間は［中略］。</a:t>
            </a:r>
          </a:p>
        </p:txBody>
      </p:sp>
      <p:sp>
        <p:nvSpPr>
          <p:cNvPr id="5" name="quote-frame"/>
          <p:cNvSpPr txBox="1"/>
          <p:nvPr/>
        </p:nvSpPr>
        <p:spPr>
          <a:xfrm>
            <a:off x="548640" y="1528233"/>
            <a:ext cx="8046720" cy="2175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Leis an Rialachán seo leagtar síos rialacha aonfhoirmeacha maidir leis an malartú trasteorann de chóipeanna i bhformáid inrochtana de shaothair áirithe agus ábhar eile idir an tAontas agus tríú tíortha atá ina bpáirtithe i gConradh Marrakech gan údarú ón sealbhóir cirt, chun leasa daoine dalla, daoine lagamhairc nó daoine atá faoi mhíchumas léitheoireachta cló ar aon bhealach eile, laistigh den réimse atá comhchuibhithe le Treoir 2001/29/CE agus le Treoir (AE) 2017/1564, chun nach ndéanfar an comhchuibhiú ar chearta eisiacha agus eisceachtaí sa mhargadh inmheánach a chur i mbaol.</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本文 2/3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第1・3・4条からの抜粋。節間は［中略］。</a:t>
            </a:r>
          </a:p>
        </p:txBody>
      </p:sp>
      <p:sp>
        <p:nvSpPr>
          <p:cNvPr id="5" name="quote-frame"/>
          <p:cNvSpPr txBox="1"/>
          <p:nvPr/>
        </p:nvSpPr>
        <p:spPr>
          <a:xfrm>
            <a:off x="548640" y="1511300"/>
            <a:ext cx="8046720" cy="1921933"/>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Airteagal 3  Cóipeanna i bhformáid inrochtana a onnmhairiú chuig tríú tíortha</a:t>
            </a:r>
          </a:p>
          <a:p>
            <a:pPr>
              <a:lnSpc>
                <a:spcPts val="2000"/>
              </a:lnSpc>
              <a:spcBef>
                <a:spcPts val="0"/>
              </a:spcBef>
              <a:spcAft>
                <a:spcPts val="0"/>
              </a:spcAft>
            </a:pPr>
            <a:r>
              <a:rPr sz="1700" b="0" lang="en-US">
                <a:solidFill>
                  <a:srgbClr val="303437"/>
                </a:solidFill>
                <a:latin typeface="Noto Sans"/>
                <a:ea typeface="Noto Sans CJK JP"/>
              </a:rPr>
              <a:t>Maidir le daoine is tairbhithe nó d'eintiteas údaraithe atá bunaithe i dtríú tír atá ina páirtí i gConradh Marrakech, féadfaidh eintiteas údaraithe atá bunaithe i mBallstát cóip i bhformáid inrochtana de shaothar nó d'ábhar eile a dháileadh, a chur in iúl nó a chur ar fáil dóibh, ar cóip í arna déanamh de bhun Threoir (AE) 2017/1564.</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本文 3/3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第1・3・4条からの抜粋。節間は［中略］。</a:t>
            </a:r>
          </a:p>
        </p:txBody>
      </p:sp>
      <p:sp>
        <p:nvSpPr>
          <p:cNvPr id="5" name="quote-frame"/>
          <p:cNvSpPr txBox="1"/>
          <p:nvPr/>
        </p:nvSpPr>
        <p:spPr>
          <a:xfrm>
            <a:off x="548640" y="1528233"/>
            <a:ext cx="8046720" cy="2175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Airteagal 4  Cóipeanna i bhformáid inrochtana a allmhairiú ó thríú tíortha</a:t>
            </a:r>
          </a:p>
          <a:p>
            <a:pPr>
              <a:lnSpc>
                <a:spcPts val="2000"/>
              </a:lnSpc>
              <a:spcBef>
                <a:spcPts val="0"/>
              </a:spcBef>
              <a:spcAft>
                <a:spcPts val="0"/>
              </a:spcAft>
            </a:pPr>
            <a:r>
              <a:rPr sz="1700" b="0" lang="en-US">
                <a:solidFill>
                  <a:srgbClr val="303437"/>
                </a:solidFill>
                <a:latin typeface="Noto Sans"/>
                <a:ea typeface="Noto Sans CJK JP"/>
              </a:rPr>
              <a:t>Maidir le duine is tairbhí nó eintiteas údaraithe atá bunaithe i mBallstát, féadfaidh sé i gcomhréir leis an reachtaíocht náisiúnta arna glacadh de bhun Threoir (AE) 2017/1564, cóip i bhformáid inrochtana de shaothar nó d'ábhar eile a dáileadh, a cuireadh in iúl nó a cuireadh ar fáil do dhaoine is tairbhithe nó d'eintitis údaraithe, ag eintiteas údaraithe i dtríú tír atá ina páirtí i gConradh Marrakech, a allmhairiú nó a fháil nó a rochtain ar bhealach eile agus a úsáid ina dhiaidh sin.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本文・訳 1/3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この規則は、視覚障害やその他の障害により印刷物を読むことが困難な人の利益のため、EUとマラケシュ条約の締約国である第三国との間で、一定の著作物その他の対象物をアクセシブルな形式の複製物として、権利者の許諾なしに国境を越えて交換するための統一規則を定める。対象は指令2001/29/ECと指令（EU）2017/1564で調和された領域であり、域内市場における排他的権利と例外の調和を損なわないことを目的と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本文・訳 2/3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397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第3条　第三国へのアクセシブルな複製物の輸出：加盟国に所在する認定機関は、マラケシュ条約の締約国である第三国に所在する受益者または認定機関に対し、指令（EU）2017/1564に基づいて作成した著作物その他の対象物のアクセシブルな形式の複製物を、配布し、公衆に伝達し、または利用可能にでき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本文・訳 3/3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397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第4条　第三国からのアクセシブルな複製物の輸入</a:t>
            </a:r>
          </a:p>
          <a:p>
            <a:pPr>
              <a:lnSpc>
                <a:spcPts val="2000"/>
              </a:lnSpc>
              <a:spcBef>
                <a:spcPts val="0"/>
              </a:spcBef>
              <a:spcAft>
                <a:spcPts val="0"/>
              </a:spcAft>
            </a:pPr>
            <a:r>
              <a:rPr sz="1700" b="0" lang="ja-JP">
                <a:solidFill>
                  <a:srgbClr val="303437"/>
                </a:solidFill>
                <a:latin typeface="Noto Sans"/>
                <a:ea typeface="Noto Sans CJK JP"/>
              </a:rPr>
              <a:t>加盟国に所在する受益者または認定機関は、指令（EU）2017/1564に基づく国内法に従い、マラケシュ条約の締約国である第三国の認定機関が受益者または認定機関に配布し、伝達し、または利用可能にしたアクセシブルな形式の複製物を、輸入、取得、その他の方法で入手し、その後利用でき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要約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アイルランド語 ／ 要約の抜粋。節間の省略は［中略］。</a:t>
            </a:r>
          </a:p>
        </p:txBody>
      </p:sp>
      <p:sp>
        <p:nvSpPr>
          <p:cNvPr id="5" name="quote-frame"/>
          <p:cNvSpPr txBox="1"/>
          <p:nvPr/>
        </p:nvSpPr>
        <p:spPr>
          <a:xfrm>
            <a:off x="548640" y="1536700"/>
            <a:ext cx="8046720" cy="1735666"/>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Leagtar amach ann na rialacha maidir leis an dóigh a ndéantar saothair agus ábhar eile* i gcóipeanna i bhformáid inrochtana* a chomhroinnt idir tíortha AE agus tíortha neamh-AE atá ina bpáirtí i gConradh Marrakech, chun leasa daoine dalla, daoine lagamhairc nó daoine atá faoi mhíchumas léitheoireachta cló ar aon bhealach eile, agus gan gá dóibh cead a fháil ón úinéir cóipchirt.</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要約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アイルランド語 ／ 要約の抜粋。節間の省略は［中略］。</a:t>
            </a:r>
          </a:p>
        </p:txBody>
      </p:sp>
      <p:sp>
        <p:nvSpPr>
          <p:cNvPr id="5" name="quote-frame"/>
          <p:cNvSpPr txBox="1"/>
          <p:nvPr/>
        </p:nvSpPr>
        <p:spPr>
          <a:xfrm>
            <a:off x="548640" y="1511300"/>
            <a:ext cx="8046720" cy="20235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en-US">
                <a:solidFill>
                  <a:srgbClr val="B13731"/>
                </a:solidFill>
                <a:latin typeface="Noto Sans"/>
                <a:ea typeface="Noto Sans CJK JP"/>
              </a:rPr>
              <a:t>［中略］ Tá cead ag eintiteas údaraithe* thír AE leaganacha inrochtana de leabhair nó d’ábhair scríofa eile a chur ar fáil do dhaoine is tairbhithe*, nó d’eintitis údaraithe ar bith i dtíortha neamh-AE atá ina bpáirtí sa chonradh, a cheadaítear le Treoir (AE) 2017/1564, an treoir lena gcuirtear chun feidhme Conradh Marrakech in AE, agus féadfaidh na daoine sin nó na heintitis sin na nithe sin a iompórtáil agus a úsáid chomh maith.</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要約・訳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視覚障害やその他の障害により印刷物を読むことが困難な人の利益のため、著作物その他の対象物*をアクセシブルな形式の複製物*として、EU諸国とマラケシュ条約の締約国であるEU域外国の間で共有する方法を定める。著作権者の許諾を得る必要はない。</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実例6：アクセシブルな複製物 — 要約・訳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EU加盟国の認定機関*は、受益者*や、条約の締約国であるEU域外国の認定機関に、書籍などの文書のアクセシブルな版を提供できる。これは、EUでマラケシュ条約を実施する指令（EU）2017/1564で認められたものであり、受益者や認定機関は、これらを輸入して利用することもでき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32017R1563 ／ irish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本文 1/3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前文と第1条・第3条1項・第5条1項からの抜粋。節間は［中略］。</a:t>
            </a:r>
          </a:p>
        </p:txBody>
      </p:sp>
      <p:sp>
        <p:nvSpPr>
          <p:cNvPr id="5" name="quote-frame"/>
          <p:cNvSpPr txBox="1"/>
          <p:nvPr/>
        </p:nvSpPr>
        <p:spPr>
          <a:xfrm>
            <a:off x="548640" y="1528233"/>
            <a:ext cx="8046720" cy="2683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(2) Λόγω της αύξησης του ποσοστού υδατοκαλλιέργειας στη συνολική κοινοτική αλιευτική παραγωγή, απαιτούνται ευρύτερου φάσματος στατιστικά στοιχεία για την ορθολογική ανάπτυξη και διαχείριση του τομέα αυτού στο πλαίσιο της κοινής αλιευτικής πολιτικής.</a:t>
            </a:r>
          </a:p>
          <a:p>
            <a:pPr>
              <a:lnSpc>
                <a:spcPts val="2000"/>
              </a:lnSpc>
              <a:spcBef>
                <a:spcPts val="0"/>
              </a:spcBef>
              <a:spcAft>
                <a:spcPts val="0"/>
              </a:spcAft>
            </a:pPr>
            <a:r>
              <a:rPr sz="1700" b="0" lang="en-US">
                <a:solidFill>
                  <a:srgbClr val="303437"/>
                </a:solidFill>
                <a:latin typeface="Noto Sans"/>
                <a:ea typeface="Noto Sans CJK JP"/>
              </a:rPr>
              <a:t>［中略］ (4) Απαιτούνται στοιχεία τόσο για τον όγκο όσο και για την αξία της παραγωγής ώστε να εξετάζεται και να αξιολογείται η αγορά των προϊόντων υδατοκαλλιέργειας.</a:t>
            </a:r>
          </a:p>
          <a:p>
            <a:pPr>
              <a:lnSpc>
                <a:spcPts val="2000"/>
              </a:lnSpc>
              <a:spcBef>
                <a:spcPts val="0"/>
              </a:spcBef>
              <a:spcAft>
                <a:spcPts val="0"/>
              </a:spcAft>
            </a:pPr>
            <a:r>
              <a:rPr sz="1700" b="0" lang="en-US">
                <a:solidFill>
                  <a:srgbClr val="303437"/>
                </a:solidFill>
                <a:latin typeface="Noto Sans"/>
                <a:ea typeface="Noto Sans CJK JP"/>
              </a:rPr>
              <a:t>［中略］ Τα κράτη μέλη υποβάλλουν στην Επιτροπή στατιστικά στοιχεία σχετικά με όλες τις δραστηριότητες του τομέα της υδατοκαλλιέργειας σε γλυκά και αλμυρά νερά στην επικράτειά τους.</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本文 2/3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前文と第1条・第3条1項・第5条1項からの抜粋。節間は［中略］。</a:t>
            </a:r>
          </a:p>
        </p:txBody>
      </p:sp>
      <p:sp>
        <p:nvSpPr>
          <p:cNvPr id="5" name="quote-frame"/>
          <p:cNvSpPr txBox="1"/>
          <p:nvPr/>
        </p:nvSpPr>
        <p:spPr>
          <a:xfrm>
            <a:off x="548640" y="1511300"/>
            <a:ext cx="8046720" cy="1938866"/>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1.   Τα κράτη μέλη χρησιμοποιούν έρευνες ή άλλες στατιστικά έγκυρες μεθόδους που καλύπτουν τουλάχιστον το 90 % του συνόλου της παραγωγής κατ’ όγκο ή κατ’ αριθμόν για την παραγωγή εκκολαπτηρίων και μονάδων προπάχυνσης, υπό την επιφύλαξη της παραγράφου 4. Το υπόλοιπο της συνολικής παραγωγής μπορεί να υπολογίζεται κατ’ εκτίμηση. Για την εκτίμηση πλέον του 10 % της συνολικής παραγωγής, είναι δυνατόν να υποβληθεί αίτηση για εξαίρεση σύμφωνα με τους όρους του άρθρου 8.</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本文 3/3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前文と第1条・第3条1項・第5条1項からの抜粋。節間は［中略］。</a:t>
            </a:r>
          </a:p>
        </p:txBody>
      </p:sp>
      <p:sp>
        <p:nvSpPr>
          <p:cNvPr id="5" name="quote-frame"/>
          <p:cNvSpPr txBox="1"/>
          <p:nvPr/>
        </p:nvSpPr>
        <p:spPr>
          <a:xfrm>
            <a:off x="548640" y="1511300"/>
            <a:ext cx="8046720" cy="1176866"/>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1.   Τα κράτη μέλη υποβάλλουν τα στοιχεία που αναφέρονται στα παραρτήματα ΙΙ, ΙΙΙ και ΙV στην Επιτροπή (Eurostat) εντός δώδεκα μηνών από τη λήξη του ημερολογιακού έτους αναφοράς. Το πρώτο ημερολογιακό έτος αναφοράς είναι το 2008.</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本文・訳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905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前文(2)：EUの漁業生産全体に占める養殖の割合が増えているため、共通漁業政策の下でこの部門を合理的に発展・管理するには、より幅広い統計が必要である。</a:t>
            </a:r>
          </a:p>
          <a:p>
            <a:pPr>
              <a:lnSpc>
                <a:spcPts val="2000"/>
              </a:lnSpc>
              <a:spcBef>
                <a:spcPts val="0"/>
              </a:spcBef>
              <a:spcAft>
                <a:spcPts val="0"/>
              </a:spcAft>
            </a:pPr>
            <a:r>
              <a:rPr sz="1700" b="0" lang="ja-JP">
                <a:solidFill>
                  <a:srgbClr val="303437"/>
                </a:solidFill>
                <a:latin typeface="Noto Sans"/>
                <a:ea typeface="Noto Sans CJK JP"/>
              </a:rPr>
              <a:t>前文(4)：養殖製品の市場を調査・評価するため、生産の量と価値の双方についてデータが必要である。</a:t>
            </a:r>
          </a:p>
          <a:p>
            <a:pPr>
              <a:lnSpc>
                <a:spcPts val="2000"/>
              </a:lnSpc>
              <a:spcBef>
                <a:spcPts val="0"/>
              </a:spcBef>
              <a:spcAft>
                <a:spcPts val="0"/>
              </a:spcAft>
            </a:pPr>
            <a:r>
              <a:rPr sz="1700" b="0" lang="ja-JP">
                <a:solidFill>
                  <a:srgbClr val="303437"/>
                </a:solidFill>
                <a:latin typeface="Noto Sans"/>
                <a:ea typeface="Noto Sans CJK JP"/>
              </a:rPr>
              <a:t>加盟国は、自国領域の淡水と海水における養殖部門のすべての活動に関する統計を、欧州委員会に提出する。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本文・訳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905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3条1項：第4項の規定に従い、加盟国は、総生産量の少なくとも90%（ふ化場・育成施設の生産については個体数）をカバーする調査や、統計的に妥当な別の方法を使う。残りの生産は推計してよい。総生産の10%を超えて推計する場合には、第8条の条件に従って適用除外を申請できる。</a:t>
            </a:r>
          </a:p>
          <a:p>
            <a:pPr>
              <a:lnSpc>
                <a:spcPts val="2000"/>
              </a:lnSpc>
              <a:spcBef>
                <a:spcPts val="0"/>
              </a:spcBef>
              <a:spcAft>
                <a:spcPts val="0"/>
              </a:spcAft>
            </a:pPr>
            <a:r>
              <a:rPr sz="1700" b="0" lang="ja-JP">
                <a:solidFill>
                  <a:srgbClr val="303437"/>
                </a:solidFill>
                <a:latin typeface="Noto Sans"/>
                <a:ea typeface="Noto Sans CJK JP"/>
              </a:rPr>
              <a:t>第5条1項：加盟国は、附属書II、III、IVのデータを、参照暦年の終了後12か月以内に欧州委員会（Eurostat）へ提出する。最初の参照暦年は2008年である。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要約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ギリシャ語 ／ 要約の抜粋。節間の省略は［中略］。</a:t>
            </a:r>
          </a:p>
        </p:txBody>
      </p:sp>
      <p:sp>
        <p:nvSpPr>
          <p:cNvPr id="5" name="quote-frame"/>
          <p:cNvSpPr txBox="1"/>
          <p:nvPr/>
        </p:nvSpPr>
        <p:spPr>
          <a:xfrm>
            <a:off x="548640" y="1528233"/>
            <a:ext cx="8046720" cy="1210733"/>
          </a:xfrm>
          <a:prstGeom prst="rect">
            <a:avLst/>
          </a:prstGeom>
          <a:solidFill>
            <a:srgbClr val="EBEDEB"/>
          </a:solidFill>
          <a:ln>
            <a:noFill/>
          </a:ln>
        </p:spPr>
        <p:txBody>
          <a:bodyPr wrap="square" lIns="177800" rIns="177800" tIns="46566" bIns="25400">
            <a:noAutofit/>
          </a:bodyPr>
          <a:lstStyle/>
          <a:p>
            <a:pPr>
              <a:lnSpc>
                <a:spcPts val="2100"/>
              </a:lnSpc>
              <a:spcBef>
                <a:spcPts val="0"/>
              </a:spcBef>
              <a:spcAft>
                <a:spcPts val="0"/>
              </a:spcAft>
            </a:pPr>
            <a:r>
              <a:rPr sz="1800" b="1" lang="en-US">
                <a:solidFill>
                  <a:srgbClr val="B13731"/>
                </a:solidFill>
                <a:latin typeface="Noto Sans"/>
                <a:ea typeface="Noto Sans CJK JP"/>
              </a:rPr>
              <a:t>Θεσπίζει κοινό σύστημα για την παραγωγή στατιστικών στοιχείων της ΕΕ για τον τομέα της υδατοκαλλιέργειας*, για την εξέταση και την αξιολόγηση της αγοράς προϊόντων υδατοκαλλιέργειας στο πλαίσιο της ορθής διαχείρισης της κοινής αλιευτικής πολιτικής.</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要約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ギリシャ語 ／ 要約の抜粋。節間の省略は［中略］。</a:t>
            </a:r>
          </a:p>
        </p:txBody>
      </p:sp>
      <p:sp>
        <p:nvSpPr>
          <p:cNvPr id="5" name="quote-frame"/>
          <p:cNvSpPr txBox="1"/>
          <p:nvPr/>
        </p:nvSpPr>
        <p:spPr>
          <a:xfrm>
            <a:off x="548640" y="1511300"/>
            <a:ext cx="8046720" cy="20235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en-US">
                <a:solidFill>
                  <a:srgbClr val="B13731"/>
                </a:solidFill>
                <a:latin typeface="Noto Sans"/>
                <a:ea typeface="Noto Sans CJK JP"/>
              </a:rPr>
              <a:t>［中略］ Οι χώρες της Ευρωπαϊκής Ένωσης (ΕΕ) πρέπει να υποβάλλουν ετήσια στατιστικά στοιχεία σχετικά με το σύνολο των δραστηριοτήτων υδατοκαλλιέργειας στην επικράτειά τους με τη χρήση ερευνών ή άλλων εγκεκριμένων μεθόδων που καλύπτουν τουλάχιστον το 90 % της παραγωγής, ενώ το υπόλοιπο τμήμα της παραγωγής υπολογίζεται κατ’ εκτίμηση, εκτός εάν εγκριθεί εξαίρεση.</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実例7：養殖業の統計 — 要約・訳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2606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共通漁業政策の適切な運営の一環として養殖製品市場を調査・評価するため、養殖業*に関するEU統計を作成する共通制度を設ける。</a:t>
            </a:r>
          </a:p>
          <a:p>
            <a:pPr>
              <a:lnSpc>
                <a:spcPts val="2400"/>
              </a:lnSpc>
              <a:spcBef>
                <a:spcPts val="0"/>
              </a:spcBef>
              <a:spcAft>
                <a:spcPts val="0"/>
              </a:spcAft>
            </a:pPr>
            <a:r>
              <a:rPr sz="2100" b="1" lang="ja-JP">
                <a:solidFill>
                  <a:srgbClr val="B13731"/>
                </a:solidFill>
                <a:latin typeface="Noto Sans"/>
                <a:ea typeface="Noto Sans CJK JP"/>
              </a:rPr>
              <a:t>EU諸国は、適用除外が認められた場合を除き、少なくとも生産の90%をカバーする調査などの認められた方法を用い、残りを推計して、自国領域内のすべての養殖活動に関する年次統計を提出しなければならない。</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32008R0762 ／ greek</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実例8：人口・住宅の国勢調査 — 本文</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第1・3条・第5条2項からの抜粋。節間は［中略］。</a:t>
            </a:r>
          </a:p>
        </p:txBody>
      </p:sp>
      <p:sp>
        <p:nvSpPr>
          <p:cNvPr id="5" name="quote-frame"/>
          <p:cNvSpPr txBox="1"/>
          <p:nvPr/>
        </p:nvSpPr>
        <p:spPr>
          <a:xfrm>
            <a:off x="548640" y="1528233"/>
            <a:ext cx="8046720" cy="2683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Dan ir-Regolament jistabbilixxi regoli komuni għall-provvista, kull għaxar snin, ta' data komprensiva dwar il-popolazzjoni u d-djar.</a:t>
            </a:r>
          </a:p>
          <a:p>
            <a:pPr>
              <a:lnSpc>
                <a:spcPts val="2000"/>
              </a:lnSpc>
              <a:spcBef>
                <a:spcPts val="0"/>
              </a:spcBef>
              <a:spcAft>
                <a:spcPts val="0"/>
              </a:spcAft>
            </a:pPr>
            <a:r>
              <a:rPr sz="1700" b="0" lang="en-US">
                <a:solidFill>
                  <a:srgbClr val="303437"/>
                </a:solidFill>
                <a:latin typeface="Noto Sans"/>
                <a:ea typeface="Noto Sans CJK JP"/>
              </a:rPr>
              <a:t>［中略］ Artikolu 3  Preżentazzjoni tad-data</a:t>
            </a:r>
          </a:p>
          <a:p>
            <a:pPr>
              <a:lnSpc>
                <a:spcPts val="2000"/>
              </a:lnSpc>
              <a:spcBef>
                <a:spcPts val="0"/>
              </a:spcBef>
              <a:spcAft>
                <a:spcPts val="0"/>
              </a:spcAft>
            </a:pPr>
            <a:r>
              <a:rPr sz="1700" b="0" lang="en-US">
                <a:solidFill>
                  <a:srgbClr val="303437"/>
                </a:solidFill>
                <a:latin typeface="Noto Sans"/>
                <a:ea typeface="Noto Sans CJK JP"/>
              </a:rPr>
              <a:t>L-Istati Membri għandhom jippreżentaw lill-Kummissjoni (Eurostat) data dwar il-popolazzjoni li tkopri karatteristiċi determinati demografiċi, soċjali u ekonomiċi ta' persuni, familji, u unijatjiet domestiċ kif ukoll dwar djar fil-livelli nazzjonali, reġjonali u lokali kif stabbilit fl-Anness.</a:t>
            </a:r>
          </a:p>
          <a:p>
            <a:pPr>
              <a:lnSpc>
                <a:spcPts val="2000"/>
              </a:lnSpc>
              <a:spcBef>
                <a:spcPts val="0"/>
              </a:spcBef>
              <a:spcAft>
                <a:spcPts val="0"/>
              </a:spcAft>
            </a:pPr>
            <a:r>
              <a:rPr sz="1700" b="0" lang="en-US">
                <a:solidFill>
                  <a:srgbClr val="303437"/>
                </a:solidFill>
                <a:latin typeface="Noto Sans"/>
                <a:ea typeface="Noto Sans CJK JP"/>
              </a:rPr>
              <a:t>［中略］ 2.   L-Istati Membri għandhom jipprovdu lill-Kummissjoni (Eurostat) b'data finali, validata u aggregata u b'metadata, kif meħtieġ minn dan ir-Regolament fi żmien 27 xahar mit-tmiem tas-sena ta' referenza.</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32008R0763 ／ maltese</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実例8：人口・住宅の国勢調査 — 本文・訳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159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この規則は、人口と住宅に関する包括的なデータを10年ごとに提供するための共通規則を定める。</a:t>
            </a:r>
          </a:p>
          <a:p>
            <a:pPr>
              <a:lnSpc>
                <a:spcPts val="2000"/>
              </a:lnSpc>
              <a:spcBef>
                <a:spcPts val="0"/>
              </a:spcBef>
              <a:spcAft>
                <a:spcPts val="0"/>
              </a:spcAft>
            </a:pPr>
            <a:r>
              <a:rPr sz="1700" b="0" lang="ja-JP">
                <a:solidFill>
                  <a:srgbClr val="303437"/>
                </a:solidFill>
                <a:latin typeface="Noto Sans"/>
                <a:ea typeface="Noto Sans CJK JP"/>
              </a:rPr>
              <a:t>第3条　データの提出：加盟国は、附属書に定めるとおり、個人・家族・世帯の一定の人口学的、社会的、経済的特徴と、国・地域・地方レベルの住宅を対象とする人口データを、欧州委員会（Eurostat）に提出しなければならない。</a:t>
            </a:r>
          </a:p>
          <a:p>
            <a:pPr>
              <a:lnSpc>
                <a:spcPts val="2000"/>
              </a:lnSpc>
              <a:spcBef>
                <a:spcPts val="0"/>
              </a:spcBef>
              <a:spcAft>
                <a:spcPts val="0"/>
              </a:spcAft>
            </a:pPr>
            <a:r>
              <a:rPr sz="1700" b="0" lang="ja-JP">
                <a:solidFill>
                  <a:srgbClr val="303437"/>
                </a:solidFill>
                <a:latin typeface="Noto Sans"/>
                <a:ea typeface="Noto Sans CJK JP"/>
              </a:rPr>
              <a:t>第5条2項：加盟国は、この規則で求める最終的な検証済み集計データとメタデータを、参照年の終了後27か月以内に欧州委員会（Eurostat）へ提供しなければならない。</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32008R0763 ／ maltese</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実例8：人口・住宅の国勢調査 — 要約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マルタ語 ／ 要約の抜粋。節間の省略は［中略］。</a:t>
            </a:r>
          </a:p>
        </p:txBody>
      </p:sp>
      <p:sp>
        <p:nvSpPr>
          <p:cNvPr id="5" name="quote-frame"/>
          <p:cNvSpPr txBox="1"/>
          <p:nvPr/>
        </p:nvSpPr>
        <p:spPr>
          <a:xfrm>
            <a:off x="548640" y="1536700"/>
            <a:ext cx="8046720" cy="2573866"/>
          </a:xfrm>
          <a:prstGeom prst="rect">
            <a:avLst/>
          </a:prstGeom>
          <a:solidFill>
            <a:srgbClr val="EBEDEB"/>
          </a:solidFill>
          <a:ln>
            <a:noFill/>
          </a:ln>
        </p:spPr>
        <p:txBody>
          <a:bodyPr wrap="square" lIns="177800" rIns="177800" tIns="38100" bIns="25400">
            <a:noAutofit/>
          </a:bodyPr>
          <a:lstStyle/>
          <a:p>
            <a:pPr>
              <a:lnSpc>
                <a:spcPts val="2400"/>
              </a:lnSpc>
              <a:spcBef>
                <a:spcPts val="0"/>
              </a:spcBef>
              <a:spcAft>
                <a:spcPts val="0"/>
              </a:spcAft>
            </a:pPr>
            <a:r>
              <a:rPr sz="2100" b="1" lang="en-US">
                <a:solidFill>
                  <a:srgbClr val="B13731"/>
                </a:solidFill>
                <a:latin typeface="Noto Sans"/>
                <a:ea typeface="Noto Sans CJK JP"/>
              </a:rPr>
              <a:t>Jistabbilixxi regoli komuni għall-provvediment ta’ statistika taċ-ċensiment dwar il-popolazzjoni u d-djar fl-UE.</a:t>
            </a:r>
          </a:p>
          <a:p>
            <a:pPr>
              <a:lnSpc>
                <a:spcPts val="2400"/>
              </a:lnSpc>
              <a:spcBef>
                <a:spcPts val="0"/>
              </a:spcBef>
              <a:spcAft>
                <a:spcPts val="0"/>
              </a:spcAft>
            </a:pPr>
            <a:r>
              <a:rPr sz="2100" b="1" lang="en-US">
                <a:solidFill>
                  <a:srgbClr val="B13731"/>
                </a:solidFill>
                <a:latin typeface="Noto Sans"/>
                <a:ea typeface="Noto Sans CJK JP"/>
              </a:rPr>
              <a:t>［中略］ Il-pajjiżi tal-UE huma meħtieġa jissottomettu lill-Kummissjoni Ewropea (Eurostat) dejta dwar il-popolazzjoni li tkopri:diversi karatteristiċi demografiċi, soċjali u ekonomiċi ta persuni, familji u djar;  djar f’livell nazzjonali, reġjonali u lokali.</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32008R0763 ／ maltese</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実例8：人口・住宅の国勢調査 — 要約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マルタ語 ／ 要約の抜粋。節間の省略は［中略］。</a:t>
            </a:r>
          </a:p>
        </p:txBody>
      </p:sp>
      <p:sp>
        <p:nvSpPr>
          <p:cNvPr id="5" name="quote-frame"/>
          <p:cNvSpPr txBox="1"/>
          <p:nvPr/>
        </p:nvSpPr>
        <p:spPr>
          <a:xfrm>
            <a:off x="548640" y="1511300"/>
            <a:ext cx="8046720" cy="10160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en-US">
                <a:solidFill>
                  <a:srgbClr val="B13731"/>
                </a:solidFill>
                <a:latin typeface="Noto Sans"/>
                <a:ea typeface="Noto Sans CJK JP"/>
              </a:rPr>
              <a:t>［中略］ Il-pajjiżi tal-UE għandhom jipprovdu lill-Eurostat b’dejta finali, validata u aggregata u b’metadata, fi żmien 27 xahar mit-tmiem tas-sena ta’ referenza.</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32008R0763 ／ maltese</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実例8：人口・住宅の国勢調査 — 要約・訳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EUにおける人口と住宅の国勢調査統計を提供するための共通規則を定める。</a:t>
            </a:r>
          </a:p>
          <a:p>
            <a:pPr>
              <a:lnSpc>
                <a:spcPts val="2400"/>
              </a:lnSpc>
              <a:spcBef>
                <a:spcPts val="0"/>
              </a:spcBef>
              <a:spcAft>
                <a:spcPts val="0"/>
              </a:spcAft>
            </a:pPr>
            <a:r>
              <a:rPr sz="2100" b="1" lang="ja-JP">
                <a:solidFill>
                  <a:srgbClr val="B13731"/>
                </a:solidFill>
                <a:latin typeface="Noto Sans"/>
                <a:ea typeface="Noto Sans CJK JP"/>
              </a:rPr>
              <a:t>EU諸国は、個人・家族・世帯のさまざまな人口学的、社会的、経済的特徴と、国・地域・地方レベルの住宅を対象とする人口データを、欧州委員会（Eurostat）に提出する必要がある。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32008R0763 ／ maltese</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実例8：人口・住宅の国勢調査 — 要約・訳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032933"/>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EU諸国は、最終的な検証済み集計データとメタデータを、参照年の終了後27か月以内にEurostatへ提供しなければならない。</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32008R0763 ／ maltese</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実例9：InvestEUの三つの仕組み — 本文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第1条全文からの抜粋。節間は［中略］。</a:t>
            </a:r>
          </a:p>
        </p:txBody>
      </p:sp>
      <p:sp>
        <p:nvSpPr>
          <p:cNvPr id="5" name="quote-frame"/>
          <p:cNvSpPr txBox="1"/>
          <p:nvPr/>
        </p:nvSpPr>
        <p:spPr>
          <a:xfrm>
            <a:off x="548640" y="1528233"/>
            <a:ext cx="8046720" cy="2937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Article 1  Subject matter</a:t>
            </a:r>
          </a:p>
          <a:p>
            <a:pPr>
              <a:lnSpc>
                <a:spcPts val="2000"/>
              </a:lnSpc>
              <a:spcBef>
                <a:spcPts val="0"/>
              </a:spcBef>
              <a:spcAft>
                <a:spcPts val="0"/>
              </a:spcAft>
            </a:pPr>
            <a:r>
              <a:rPr sz="1700" b="0" lang="en-US">
                <a:solidFill>
                  <a:srgbClr val="303437"/>
                </a:solidFill>
                <a:latin typeface="Noto Sans"/>
                <a:ea typeface="Noto Sans CJK JP"/>
              </a:rPr>
              <a:t>This Regulation establishes the InvestEU Fund, which shall provide for an EU guarantee to support financing and investment operations carried out by the implementing partners that contribute to objectives of the Union’s internal policies.</a:t>
            </a:r>
          </a:p>
          <a:p>
            <a:pPr>
              <a:lnSpc>
                <a:spcPts val="2000"/>
              </a:lnSpc>
              <a:spcBef>
                <a:spcPts val="0"/>
              </a:spcBef>
              <a:spcAft>
                <a:spcPts val="0"/>
              </a:spcAft>
            </a:pPr>
            <a:r>
              <a:rPr sz="1700" b="0" lang="en-US">
                <a:solidFill>
                  <a:srgbClr val="303437"/>
                </a:solidFill>
                <a:latin typeface="Noto Sans"/>
                <a:ea typeface="Noto Sans CJK JP"/>
              </a:rPr>
              <a:t>This Regulation also establishes an advisory support mechanism to provide support for the development of investable projects and access to financing and to provide related capacity building assistance (the ‘InvestEU Advisory Hub’). It further establishes a database granting visibility to projects for which project promoters seek financing and which provides investors with information about investment opportunities (the ‘InvestEU Portal’).</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32021R0523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実例9：InvestEUの三つの仕組み — 本文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第1条全文からの抜粋。節間は［中略］。</a:t>
            </a:r>
          </a:p>
        </p:txBody>
      </p:sp>
      <p:sp>
        <p:nvSpPr>
          <p:cNvPr id="5" name="quote-frame"/>
          <p:cNvSpPr txBox="1"/>
          <p:nvPr/>
        </p:nvSpPr>
        <p:spPr>
          <a:xfrm>
            <a:off x="548640" y="1528233"/>
            <a:ext cx="8046720" cy="905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This Regulation establishes the objectives of the InvestEU Programme, its budget and the amount of the EU guarantee for the period 2021 to 2027, the forms of Union funding and the rules for providing such funding.</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32021R0523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実例9：InvestEUの三つの仕組み — 本文・訳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413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第1条　対象：この規則は、EU域内政策の目的に寄与し、実施パートナーが行う資金調達・投資活動を支えるEU保証を提供する、InvestEU基金を設ける。</a:t>
            </a:r>
          </a:p>
          <a:p>
            <a:pPr>
              <a:lnSpc>
                <a:spcPts val="2000"/>
              </a:lnSpc>
              <a:spcBef>
                <a:spcPts val="0"/>
              </a:spcBef>
              <a:spcAft>
                <a:spcPts val="0"/>
              </a:spcAft>
            </a:pPr>
            <a:r>
              <a:rPr sz="1700" b="0" lang="ja-JP">
                <a:solidFill>
                  <a:srgbClr val="303437"/>
                </a:solidFill>
                <a:latin typeface="Noto Sans"/>
                <a:ea typeface="Noto Sans CJK JP"/>
              </a:rPr>
              <a:t>また、投資可能な事業の開発、資金へのアクセス、それに関係する能力構築を支援する助言の仕組み（「InvestEU助言ハブ」）を設ける。さらに、資金を求める事業を周知し、投資家に投資機会の情報を提供するデータベース（「InvestEUポータル」）を設ける。</a:t>
            </a:r>
          </a:p>
          <a:p>
            <a:pPr>
              <a:lnSpc>
                <a:spcPts val="2000"/>
              </a:lnSpc>
              <a:spcBef>
                <a:spcPts val="0"/>
              </a:spcBef>
              <a:spcAft>
                <a:spcPts val="0"/>
              </a:spcAft>
            </a:pPr>
            <a:r>
              <a:rPr sz="1700" b="0" lang="ja-JP">
                <a:solidFill>
                  <a:srgbClr val="303437"/>
                </a:solidFill>
                <a:latin typeface="Noto Sans"/>
                <a:ea typeface="Noto Sans CJK JP"/>
              </a:rPr>
              <a:t>この規則は、InvestEUプログラムの目的、予算、2021〜2027年のEU保証額、EU資金の形態と提供規則を定める。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32021R0523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実例9：InvestEUの三つの仕組み — 要約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2243666"/>
          </a:xfrm>
          <a:prstGeom prst="rect">
            <a:avLst/>
          </a:prstGeom>
          <a:solidFill>
            <a:srgbClr val="EBEDEB"/>
          </a:solidFill>
          <a:ln>
            <a:noFill/>
          </a:ln>
        </p:spPr>
        <p:txBody>
          <a:bodyPr wrap="square" lIns="177800" rIns="177800" tIns="38100" bIns="25400">
            <a:noAutofit/>
          </a:bodyPr>
          <a:lstStyle/>
          <a:p>
            <a:pPr>
              <a:lnSpc>
                <a:spcPts val="2400"/>
              </a:lnSpc>
              <a:spcBef>
                <a:spcPts val="0"/>
              </a:spcBef>
              <a:spcAft>
                <a:spcPts val="0"/>
              </a:spcAft>
            </a:pPr>
            <a:r>
              <a:rPr sz="2100" b="1" lang="en-US">
                <a:solidFill>
                  <a:srgbClr val="B13731"/>
                </a:solidFill>
                <a:latin typeface="Noto Sans"/>
                <a:ea typeface="Noto Sans CJK JP"/>
              </a:rPr>
              <a:t>It establishes the InvestEU programme comprising 3 building blocks:</a:t>
            </a:r>
          </a:p>
          <a:p>
            <a:pPr>
              <a:lnSpc>
                <a:spcPts val="2400"/>
              </a:lnSpc>
              <a:spcBef>
                <a:spcPts val="0"/>
              </a:spcBef>
              <a:spcAft>
                <a:spcPts val="0"/>
              </a:spcAft>
            </a:pPr>
            <a:r>
              <a:rPr sz="2100" b="1" lang="en-US">
                <a:solidFill>
                  <a:srgbClr val="B13731"/>
                </a:solidFill>
                <a:latin typeface="Noto Sans"/>
                <a:ea typeface="Noto Sans CJK JP"/>
              </a:rPr>
              <a:t>the InvestEU Fund, providing an EU guarantee to support financing of and investment in internal EU policies;</a:t>
            </a:r>
          </a:p>
          <a:p>
            <a:pPr>
              <a:lnSpc>
                <a:spcPts val="2400"/>
              </a:lnSpc>
              <a:spcBef>
                <a:spcPts val="0"/>
              </a:spcBef>
              <a:spcAft>
                <a:spcPts val="0"/>
              </a:spcAft>
            </a:pPr>
            <a:r>
              <a:rPr sz="2100" b="1" lang="en-US">
                <a:solidFill>
                  <a:srgbClr val="B13731"/>
                </a:solidFill>
                <a:latin typeface="Noto Sans"/>
                <a:ea typeface="Noto Sans CJK JP"/>
              </a:rPr>
              <a:t>the InvestEU Advisory Hub, supporting project development, access to finance and capacity-building assistance;</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32021R0523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実例9：InvestEUの三つの仕組み — 要約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745066"/>
          </a:xfrm>
          <a:prstGeom prst="rect">
            <a:avLst/>
          </a:prstGeom>
          <a:solidFill>
            <a:srgbClr val="EBEDEB"/>
          </a:solidFill>
          <a:ln>
            <a:noFill/>
          </a:ln>
        </p:spPr>
        <p:txBody>
          <a:bodyPr wrap="square" lIns="177800" rIns="177800" tIns="38100" bIns="25400">
            <a:noAutofit/>
          </a:bodyPr>
          <a:lstStyle/>
          <a:p>
            <a:pPr>
              <a:lnSpc>
                <a:spcPts val="2400"/>
              </a:lnSpc>
              <a:spcBef>
                <a:spcPts val="0"/>
              </a:spcBef>
              <a:spcAft>
                <a:spcPts val="0"/>
              </a:spcAft>
            </a:pPr>
            <a:r>
              <a:rPr sz="2100" b="1" lang="en-US">
                <a:solidFill>
                  <a:srgbClr val="B13731"/>
                </a:solidFill>
                <a:latin typeface="Noto Sans"/>
                <a:ea typeface="Noto Sans CJK JP"/>
              </a:rPr>
              <a:t>the InvestEU Portal, giving visibility to projects seeking finance and information on investment opportunities.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32021R0523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実例9：InvestEUの三つの仕組み — 要約・訳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2606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三つの要素からなるInvestEUプログラムを設ける。</a:t>
            </a:r>
          </a:p>
          <a:p>
            <a:pPr>
              <a:lnSpc>
                <a:spcPts val="2400"/>
              </a:lnSpc>
              <a:spcBef>
                <a:spcPts val="0"/>
              </a:spcBef>
              <a:spcAft>
                <a:spcPts val="0"/>
              </a:spcAft>
            </a:pPr>
            <a:r>
              <a:rPr sz="2100" b="1" lang="ja-JP">
                <a:solidFill>
                  <a:srgbClr val="B13731"/>
                </a:solidFill>
                <a:latin typeface="Noto Sans"/>
                <a:ea typeface="Noto Sans CJK JP"/>
              </a:rPr>
              <a:t>InvestEU基金：EU域内政策に関する資金調達と投資を支えるEU保証を提供する。</a:t>
            </a:r>
          </a:p>
          <a:p>
            <a:pPr>
              <a:lnSpc>
                <a:spcPts val="2400"/>
              </a:lnSpc>
              <a:spcBef>
                <a:spcPts val="0"/>
              </a:spcBef>
              <a:spcAft>
                <a:spcPts val="0"/>
              </a:spcAft>
            </a:pPr>
            <a:r>
              <a:rPr sz="2100" b="1" lang="ja-JP">
                <a:solidFill>
                  <a:srgbClr val="B13731"/>
                </a:solidFill>
                <a:latin typeface="Noto Sans"/>
                <a:ea typeface="Noto Sans CJK JP"/>
              </a:rPr>
              <a:t>InvestEU助言ハブ：事業開発、資金へのアクセス、能力構築支援を行う。</a:t>
            </a:r>
          </a:p>
          <a:p>
            <a:pPr>
              <a:lnSpc>
                <a:spcPts val="2400"/>
              </a:lnSpc>
              <a:spcBef>
                <a:spcPts val="0"/>
              </a:spcBef>
              <a:spcAft>
                <a:spcPts val="0"/>
              </a:spcAft>
            </a:pPr>
            <a:r>
              <a:rPr sz="2100" b="1" lang="ja-JP">
                <a:solidFill>
                  <a:srgbClr val="B13731"/>
                </a:solidFill>
                <a:latin typeface="Noto Sans"/>
                <a:ea typeface="Noto Sans CJK JP"/>
              </a:rPr>
              <a:t>InvestEUポータル：資金を求める事業を周知し、投資機会の情報を提供する。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32021R0523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実例10：中央清算機関の再建 — 本文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第1条・第9条1項からの抜粋。節間は［中略］。</a:t>
            </a:r>
          </a:p>
        </p:txBody>
      </p:sp>
      <p:sp>
        <p:nvSpPr>
          <p:cNvPr id="5" name="quote-frame"/>
          <p:cNvSpPr txBox="1"/>
          <p:nvPr/>
        </p:nvSpPr>
        <p:spPr>
          <a:xfrm>
            <a:off x="548640" y="1528233"/>
            <a:ext cx="8046720" cy="1159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This Regulation lays down rules and procedures relating to the recovery and resolution of central counterparties (CCPs) authorised in accordance with Regulation (EU) No 648/2012 and rules relating to arrangements with third countries in the field of recovery and resolution of CCPs.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32021R0023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実例10：中央清算機関の再建 — 本文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第1条・第9条1項からの抜粋。節間は［中略］。</a:t>
            </a:r>
          </a:p>
        </p:txBody>
      </p:sp>
      <p:sp>
        <p:nvSpPr>
          <p:cNvPr id="5" name="quote-frame"/>
          <p:cNvSpPr txBox="1"/>
          <p:nvPr/>
        </p:nvSpPr>
        <p:spPr>
          <a:xfrm>
            <a:off x="548640" y="1511300"/>
            <a:ext cx="8046720" cy="2192866"/>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Article 9  Recovery plans</a:t>
            </a:r>
          </a:p>
          <a:p>
            <a:pPr>
              <a:lnSpc>
                <a:spcPts val="2000"/>
              </a:lnSpc>
              <a:spcBef>
                <a:spcPts val="0"/>
              </a:spcBef>
              <a:spcAft>
                <a:spcPts val="0"/>
              </a:spcAft>
            </a:pPr>
            <a:r>
              <a:rPr sz="1700" b="0" lang="en-US">
                <a:solidFill>
                  <a:srgbClr val="303437"/>
                </a:solidFill>
                <a:latin typeface="Noto Sans"/>
                <a:ea typeface="Noto Sans CJK JP"/>
              </a:rPr>
              <a:t>1.   CCPs shall draw up and maintain a recovery plan providing for measures to be taken in the case of both default and non-default events and combinations of both, in order to restore their financial soundness, without any extraordinary public financial support, and allow them to continue to provide critical functions following a significant deterioration of their financial situation or a risk of breaching their capital and prudential requirements under Regulation (EU) No 648/2012.</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32021R0023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実例10：中央清算機関の再建 — 本文・訳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413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この規則は、規則（EU）第648/2012号に基づいて認可された中央清算機関（CCP）の再建と破綻処理の規則・手続、およびCCPの再建・破綻処理に関する第三国との取決めの規則を定める。</a:t>
            </a:r>
          </a:p>
          <a:p>
            <a:pPr>
              <a:lnSpc>
                <a:spcPts val="2000"/>
              </a:lnSpc>
              <a:spcBef>
                <a:spcPts val="0"/>
              </a:spcBef>
              <a:spcAft>
                <a:spcPts val="0"/>
              </a:spcAft>
            </a:pPr>
            <a:r>
              <a:rPr sz="1700" b="0" lang="ja-JP">
                <a:solidFill>
                  <a:srgbClr val="303437"/>
                </a:solidFill>
                <a:latin typeface="Noto Sans"/>
                <a:ea typeface="Noto Sans CJK JP"/>
              </a:rPr>
              <a:t>第9条　再建計画：1. CCPは、財務状況が大きく悪化した場合や、規則（EU）第648/2012号の自己資本・健全性要件に違反するおそれが生じた場合にも重要な機能を提供し続けられるよう、特別な公的資金支援に頼らず財務の健全性を回復するための再建計画を作成・維持しなければならない。計画には、債務不履行に起因する事象、それ以外の事象、両者が組み合わさる場合の措置を定め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32021R0023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実例10：中央清算機関の再建 — 要約</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1938866"/>
          </a:xfrm>
          <a:prstGeom prst="rect">
            <a:avLst/>
          </a:prstGeom>
          <a:solidFill>
            <a:srgbClr val="EBEDEB"/>
          </a:solidFill>
          <a:ln>
            <a:noFill/>
          </a:ln>
        </p:spPr>
        <p:txBody>
          <a:bodyPr wrap="square" lIns="177800" rIns="177800" tIns="38100" bIns="25400">
            <a:noAutofit/>
          </a:bodyPr>
          <a:lstStyle/>
          <a:p>
            <a:pPr>
              <a:lnSpc>
                <a:spcPts val="2400"/>
              </a:lnSpc>
              <a:spcBef>
                <a:spcPts val="0"/>
              </a:spcBef>
              <a:spcAft>
                <a:spcPts val="0"/>
              </a:spcAft>
            </a:pPr>
            <a:r>
              <a:rPr sz="2100" b="1" lang="en-US">
                <a:solidFill>
                  <a:srgbClr val="B13731"/>
                </a:solidFill>
                <a:latin typeface="Noto Sans"/>
                <a:ea typeface="Noto Sans CJK JP"/>
              </a:rPr>
              <a:t>It lays down rules and procedures for the recovery and resolution of central counterparties (CCPs)*.</a:t>
            </a:r>
          </a:p>
          <a:p>
            <a:pPr>
              <a:lnSpc>
                <a:spcPts val="2400"/>
              </a:lnSpc>
              <a:spcBef>
                <a:spcPts val="0"/>
              </a:spcBef>
              <a:spcAft>
                <a:spcPts val="0"/>
              </a:spcAft>
            </a:pPr>
            <a:r>
              <a:rPr sz="2100" b="1" lang="en-US">
                <a:solidFill>
                  <a:srgbClr val="B13731"/>
                </a:solidFill>
                <a:latin typeface="Noto Sans"/>
                <a:ea typeface="Noto Sans CJK JP"/>
              </a:rPr>
              <a:t>［中略］ Recovery planning requires CCPs to draw up and maintain a recovery plan. These:</a:t>
            </a:r>
          </a:p>
          <a:p>
            <a:pPr>
              <a:lnSpc>
                <a:spcPts val="2400"/>
              </a:lnSpc>
              <a:spcBef>
                <a:spcPts val="0"/>
              </a:spcBef>
              <a:spcAft>
                <a:spcPts val="0"/>
              </a:spcAft>
            </a:pPr>
            <a:r>
              <a:rPr sz="2100" b="1" lang="en-US">
                <a:solidFill>
                  <a:srgbClr val="B13731"/>
                </a:solidFill>
                <a:latin typeface="Noto Sans"/>
                <a:ea typeface="Noto Sans CJK JP"/>
              </a:rPr>
              <a:t>set out actions, with or without a default, to restore financial soundness;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32021R0023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実例10：中央清算機関の再建 — 要約・訳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中央清算機関（CCP）*の再建と破綻処理の規則・手続を定める。</a:t>
            </a:r>
          </a:p>
          <a:p>
            <a:pPr>
              <a:lnSpc>
                <a:spcPts val="2400"/>
              </a:lnSpc>
              <a:spcBef>
                <a:spcPts val="0"/>
              </a:spcBef>
              <a:spcAft>
                <a:spcPts val="0"/>
              </a:spcAft>
            </a:pPr>
            <a:r>
              <a:rPr sz="2100" b="1" lang="ja-JP">
                <a:solidFill>
                  <a:srgbClr val="B13731"/>
                </a:solidFill>
                <a:latin typeface="Noto Sans"/>
                <a:ea typeface="Noto Sans CJK JP"/>
              </a:rPr>
              <a:t>再建計画の策定では、CCPに計画の作成と維持を求める。計画には、債務不履行に起因する事象か、それ以外の事象かを問わず財務の健全性を回復するための行動を定める。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32021R0023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本文 1/3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第1条1項・第2条2項・第7条1/2項の一部からの抜粋。節間は［中略］。</a:t>
            </a:r>
          </a:p>
        </p:txBody>
      </p:sp>
      <p:sp>
        <p:nvSpPr>
          <p:cNvPr id="5" name="quote-frame"/>
          <p:cNvSpPr txBox="1"/>
          <p:nvPr/>
        </p:nvSpPr>
        <p:spPr>
          <a:xfrm>
            <a:off x="548640" y="1528233"/>
            <a:ext cx="8046720" cy="2683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1.   This Regulation establishes the European Globalisation Adjustment Fund for Displaced Workers (EGF) for the period of the MFF 2021 to 2027.</a:t>
            </a:r>
          </a:p>
          <a:p>
            <a:pPr>
              <a:lnSpc>
                <a:spcPts val="2000"/>
              </a:lnSpc>
              <a:spcBef>
                <a:spcPts val="0"/>
              </a:spcBef>
              <a:spcAft>
                <a:spcPts val="0"/>
              </a:spcAft>
            </a:pPr>
            <a:r>
              <a:rPr sz="1700" b="0" lang="en-US">
                <a:solidFill>
                  <a:srgbClr val="303437"/>
                </a:solidFill>
                <a:latin typeface="Noto Sans"/>
                <a:ea typeface="Noto Sans CJK JP"/>
              </a:rPr>
              <a:t>［中略］ 2.   The objectives of the EGF are to demonstrate solidarity and promote decent and sustainable employment in the Union by offering assistance in the case of major restructuring events, in particular those caused by challenges related to globalisation, such as changes in world trade patterns, trade disputes, significant changes in the trade relations of the Union or the composition of the internal market and financial or economic crises, as well as the transition to a low-carbon economy, or as a consequence of digitisation or automation.</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本文 2/3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第1条1項・第2条2項・第7条1/2項の一部からの抜粋。節間は［中略］。</a:t>
            </a:r>
          </a:p>
        </p:txBody>
      </p:sp>
      <p:sp>
        <p:nvSpPr>
          <p:cNvPr id="5" name="quote-frame"/>
          <p:cNvSpPr txBox="1"/>
          <p:nvPr/>
        </p:nvSpPr>
        <p:spPr>
          <a:xfrm>
            <a:off x="548640" y="1511300"/>
            <a:ext cx="8046720" cy="1430866"/>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Article 7  Eligible measures</a:t>
            </a:r>
          </a:p>
          <a:p>
            <a:pPr>
              <a:lnSpc>
                <a:spcPts val="2000"/>
              </a:lnSpc>
              <a:spcBef>
                <a:spcPts val="0"/>
              </a:spcBef>
              <a:spcAft>
                <a:spcPts val="0"/>
              </a:spcAft>
            </a:pPr>
            <a:r>
              <a:rPr sz="1700" b="0" lang="en-US">
                <a:solidFill>
                  <a:srgbClr val="303437"/>
                </a:solidFill>
                <a:latin typeface="Noto Sans"/>
                <a:ea typeface="Noto Sans CJK JP"/>
              </a:rPr>
              <a:t>1.   A financial contribution from the EGF may be made for active labour market policy measures that form part of a coordinated package, designed to facilitate the reintegration of the targeted beneficiaries, in particular the most disadvantaged among them, into employment or self-employment.</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本文 3/3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第1条1項・第2条2項・第7条1/2項の一部からの抜粋。節間は［中略］。</a:t>
            </a:r>
          </a:p>
        </p:txBody>
      </p:sp>
      <p:sp>
        <p:nvSpPr>
          <p:cNvPr id="5" name="quote-frame"/>
          <p:cNvSpPr txBox="1"/>
          <p:nvPr/>
        </p:nvSpPr>
        <p:spPr>
          <a:xfrm>
            <a:off x="548640" y="1511300"/>
            <a:ext cx="8046720" cy="1938866"/>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(a) tailor-made training and retraining, including with regard to information and communication technology and other skills required in the digital age, certification of acquired knowledge and skills, individual job-search assistance services and targeted group activities, occupational guidance, advisory services, mentoring, outplacement assistance, entrepreneurship promotion, aid for self-employment, business creation, employee take-overs, and cooperation activities;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本文・訳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905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1. この規則は、2021〜2027年の多年次財政枠組み（MFF）の期間について、離職労働者のための欧州グローバル化調整基金（EGF）を設ける。</a:t>
            </a:r>
          </a:p>
          <a:p>
            <a:pPr>
              <a:lnSpc>
                <a:spcPts val="2000"/>
              </a:lnSpc>
              <a:spcBef>
                <a:spcPts val="0"/>
              </a:spcBef>
              <a:spcAft>
                <a:spcPts val="0"/>
              </a:spcAft>
            </a:pPr>
            <a:r>
              <a:rPr sz="1700" b="0" lang="ja-JP">
                <a:solidFill>
                  <a:srgbClr val="303437"/>
                </a:solidFill>
                <a:latin typeface="Noto Sans"/>
                <a:ea typeface="Noto Sans CJK JP"/>
              </a:rPr>
              <a:t>第2条2項：EGFは、世界の貿易動向の変化、貿易紛争、EUの貿易関係や域内市場の構成の大きな変化、金融・経済危機といったグローバル化に関わる課題や、低炭素経済への移行、デジタル化・自動化などによる大規模な事業再編の際に支援を提供し、EU内での連帯を示して、尊厳ある持続可能な雇用を促すことを目的と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本文・訳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905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第7条　支援対象となる措置：1. EGFの資金は、対象者、とりわけ最も不利な立場にある人の雇用または自営業への復帰を促すため、組み合わせて提供する積極的労働市場政策に充てることができる。</a:t>
            </a:r>
          </a:p>
          <a:p>
            <a:pPr>
              <a:lnSpc>
                <a:spcPts val="2000"/>
              </a:lnSpc>
              <a:spcBef>
                <a:spcPts val="0"/>
              </a:spcBef>
              <a:spcAft>
                <a:spcPts val="0"/>
              </a:spcAft>
            </a:pPr>
            <a:r>
              <a:rPr sz="1700" b="0" lang="ja-JP">
                <a:solidFill>
                  <a:srgbClr val="303437"/>
                </a:solidFill>
                <a:latin typeface="Noto Sans"/>
                <a:ea typeface="Noto Sans CJK JP"/>
              </a:rPr>
              <a:t>第7条2項(a)：個々に合わせた訓練・再訓練（情報通信技術やその他のデジタル技能を含む）、得られた知識と技能の認証、求職支援、特定集団向け活動、職業指導・助言、メンタリング、再就職支援、起業の促進、自営業・事業設立・従業員による企業買収・協同活動への支援。</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要約 1/3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2218266"/>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The aim of the regulation is to renew the European Globalisation Adjustment Fund (EGF) for the period covered by the multiannual financial framework (MFF) 2021-2027. Subsequently, the fund has been renamed the European Globalisation Adjustment Fund for Displaced Workers (EGF).</a:t>
            </a:r>
          </a:p>
          <a:p>
            <a:pPr>
              <a:lnSpc>
                <a:spcPts val="2100"/>
              </a:lnSpc>
              <a:spcBef>
                <a:spcPts val="0"/>
              </a:spcBef>
              <a:spcAft>
                <a:spcPts val="0"/>
              </a:spcAft>
            </a:pPr>
            <a:r>
              <a:rPr sz="1800" b="1" lang="en-US">
                <a:solidFill>
                  <a:srgbClr val="B13731"/>
                </a:solidFill>
                <a:latin typeface="Noto Sans"/>
                <a:ea typeface="Noto Sans CJK JP"/>
              </a:rPr>
              <a:t>［中略］ It offers support for employees and self-employed persons who have lost their jobs because of major restructuring events.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要約 2/3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11300"/>
            <a:ext cx="8046720" cy="3090333"/>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en-US">
                <a:solidFill>
                  <a:srgbClr val="B13731"/>
                </a:solidFill>
                <a:latin typeface="Noto Sans"/>
                <a:ea typeface="Noto Sans CJK JP"/>
              </a:rPr>
              <a:t>［中略］ A financial contribution from the EGF may be made for active labour market policies forming part of a coordinated package of personalised services, designed to reintegrate the displaced worker into employment or self-employment. This could include the following:</a:t>
            </a:r>
          </a:p>
          <a:p>
            <a:pPr>
              <a:lnSpc>
                <a:spcPts val="2100"/>
              </a:lnSpc>
              <a:spcBef>
                <a:spcPts val="0"/>
              </a:spcBef>
              <a:spcAft>
                <a:spcPts val="0"/>
              </a:spcAft>
            </a:pPr>
            <a:r>
              <a:rPr sz="1800" b="1" lang="en-US">
                <a:solidFill>
                  <a:srgbClr val="B13731"/>
                </a:solidFill>
                <a:latin typeface="Noto Sans"/>
                <a:ea typeface="Noto Sans CJK JP"/>
              </a:rPr>
              <a:t>training and retraining, including in information and communication technology and other digital skills;</a:t>
            </a:r>
          </a:p>
          <a:p>
            <a:pPr>
              <a:lnSpc>
                <a:spcPts val="2100"/>
              </a:lnSpc>
              <a:spcBef>
                <a:spcPts val="0"/>
              </a:spcBef>
              <a:spcAft>
                <a:spcPts val="0"/>
              </a:spcAft>
            </a:pPr>
            <a:r>
              <a:rPr sz="1800" b="1" lang="en-US">
                <a:solidFill>
                  <a:srgbClr val="B13731"/>
                </a:solidFill>
                <a:latin typeface="Noto Sans"/>
                <a:ea typeface="Noto Sans CJK JP"/>
              </a:rPr>
              <a:t>certification of acquired knowledge and skills;</a:t>
            </a:r>
          </a:p>
          <a:p>
            <a:pPr>
              <a:lnSpc>
                <a:spcPts val="2100"/>
              </a:lnSpc>
              <a:spcBef>
                <a:spcPts val="0"/>
              </a:spcBef>
              <a:spcAft>
                <a:spcPts val="0"/>
              </a:spcAft>
            </a:pPr>
            <a:r>
              <a:rPr sz="1800" b="1" lang="en-US">
                <a:solidFill>
                  <a:srgbClr val="B13731"/>
                </a:solidFill>
                <a:latin typeface="Noto Sans"/>
                <a:ea typeface="Noto Sans CJK JP"/>
              </a:rPr>
              <a:t>job-search assistance;</a:t>
            </a:r>
          </a:p>
          <a:p>
            <a:pPr>
              <a:lnSpc>
                <a:spcPts val="2100"/>
              </a:lnSpc>
              <a:spcBef>
                <a:spcPts val="0"/>
              </a:spcBef>
              <a:spcAft>
                <a:spcPts val="0"/>
              </a:spcAft>
            </a:pPr>
            <a:r>
              <a:rPr sz="1800" b="1" lang="en-US">
                <a:solidFill>
                  <a:srgbClr val="B13731"/>
                </a:solidFill>
                <a:latin typeface="Noto Sans"/>
                <a:ea typeface="Noto Sans CJK JP"/>
              </a:rPr>
              <a:t>targeted group activities;</a:t>
            </a:r>
          </a:p>
          <a:p>
            <a:pPr>
              <a:lnSpc>
                <a:spcPts val="2100"/>
              </a:lnSpc>
              <a:spcBef>
                <a:spcPts val="0"/>
              </a:spcBef>
              <a:spcAft>
                <a:spcPts val="0"/>
              </a:spcAft>
            </a:pPr>
            <a:r>
              <a:rPr sz="1800" b="1" lang="en-US">
                <a:solidFill>
                  <a:srgbClr val="B13731"/>
                </a:solidFill>
                <a:latin typeface="Noto Sans"/>
                <a:ea typeface="Noto Sans CJK JP"/>
              </a:rPr>
              <a:t>occupational guidance and advisory services;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要約 3/3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1464733"/>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mentoring;</a:t>
            </a:r>
          </a:p>
          <a:p>
            <a:pPr>
              <a:lnSpc>
                <a:spcPts val="2100"/>
              </a:lnSpc>
              <a:spcBef>
                <a:spcPts val="0"/>
              </a:spcBef>
              <a:spcAft>
                <a:spcPts val="0"/>
              </a:spcAft>
            </a:pPr>
            <a:r>
              <a:rPr sz="1800" b="1" lang="en-US">
                <a:solidFill>
                  <a:srgbClr val="B13731"/>
                </a:solidFill>
                <a:latin typeface="Noto Sans"/>
                <a:ea typeface="Noto Sans CJK JP"/>
              </a:rPr>
              <a:t>outplacement assistance;</a:t>
            </a:r>
          </a:p>
          <a:p>
            <a:pPr>
              <a:lnSpc>
                <a:spcPts val="2100"/>
              </a:lnSpc>
              <a:spcBef>
                <a:spcPts val="0"/>
              </a:spcBef>
              <a:spcAft>
                <a:spcPts val="0"/>
              </a:spcAft>
            </a:pPr>
            <a:r>
              <a:rPr sz="1800" b="1" lang="en-US">
                <a:solidFill>
                  <a:srgbClr val="B13731"/>
                </a:solidFill>
                <a:latin typeface="Noto Sans"/>
                <a:ea typeface="Noto Sans CJK JP"/>
              </a:rPr>
              <a:t>promoting entrepreneurship;</a:t>
            </a:r>
          </a:p>
          <a:p>
            <a:pPr>
              <a:lnSpc>
                <a:spcPts val="2100"/>
              </a:lnSpc>
              <a:spcBef>
                <a:spcPts val="0"/>
              </a:spcBef>
              <a:spcAft>
                <a:spcPts val="0"/>
              </a:spcAft>
            </a:pPr>
            <a:r>
              <a:rPr sz="1800" b="1" lang="en-US">
                <a:solidFill>
                  <a:srgbClr val="B13731"/>
                </a:solidFill>
                <a:latin typeface="Noto Sans"/>
                <a:ea typeface="Noto Sans CJK JP"/>
              </a:rPr>
              <a:t>aid for self-employment, business creation, employee takeovers and cooperation activities;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要約・訳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19558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この規則は、2021〜2027年の多年次財政枠組み（MFF）の期間について、欧州グローバル化調整基金（EGF）を更新することを目的とする。これに伴い、基金は「離職労働者のための欧州グローバル化調整基金（EGF）」へ改称された。</a:t>
            </a:r>
          </a:p>
          <a:p>
            <a:pPr>
              <a:lnSpc>
                <a:spcPts val="2400"/>
              </a:lnSpc>
              <a:spcBef>
                <a:spcPts val="0"/>
              </a:spcBef>
              <a:spcAft>
                <a:spcPts val="0"/>
              </a:spcAft>
            </a:pPr>
            <a:r>
              <a:rPr sz="2100" b="1" lang="ja-JP">
                <a:solidFill>
                  <a:srgbClr val="B13731"/>
                </a:solidFill>
                <a:latin typeface="Noto Sans"/>
                <a:ea typeface="Noto Sans CJK JP"/>
              </a:rPr>
              <a:t>大規模な事業再編によって仕事を失った雇用されて働く人と自営業者を支援する。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実例11：離職労働者の支援 — 要約・訳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252133"/>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EGFの資金は、離職労働者の再就職や自営業への復帰を目指す、個別の支援を組み合わせた積極的労働市場政策に充てられる。支援には、情報通信技術などのデジタル技能を含む訓練・再訓練、知識と技能の認証、求職支援、特定集団向け活動、職業指導・助言、メンタリング、再就職支援、起業の促進、自営業・事業設立・従業員による企業買収・協同活動への支援が含まれ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32021R0691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実例12：香味付けワインの規則 — 本文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第1条・第3条1項からの抜粋。節間は［中略］。</a:t>
            </a:r>
          </a:p>
        </p:txBody>
      </p:sp>
      <p:sp>
        <p:nvSpPr>
          <p:cNvPr id="5" name="quote-frame"/>
          <p:cNvSpPr txBox="1"/>
          <p:nvPr/>
        </p:nvSpPr>
        <p:spPr>
          <a:xfrm>
            <a:off x="548640" y="1528233"/>
            <a:ext cx="8046720" cy="2683933"/>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Article 1  Subject matter and scope</a:t>
            </a:r>
          </a:p>
          <a:p>
            <a:pPr>
              <a:lnSpc>
                <a:spcPts val="2000"/>
              </a:lnSpc>
              <a:spcBef>
                <a:spcPts val="0"/>
              </a:spcBef>
              <a:spcAft>
                <a:spcPts val="0"/>
              </a:spcAft>
            </a:pPr>
            <a:r>
              <a:rPr sz="1700" b="0" lang="en-US">
                <a:solidFill>
                  <a:srgbClr val="303437"/>
                </a:solidFill>
                <a:latin typeface="Noto Sans"/>
                <a:ea typeface="Noto Sans CJK JP"/>
              </a:rPr>
              <a:t>1.   This Regulation lays down rules on the definition, description, presentation and labelling of aromatised wine products as well as on the protection of geographical indications of aromatised wine products.</a:t>
            </a:r>
          </a:p>
          <a:p>
            <a:pPr>
              <a:lnSpc>
                <a:spcPts val="2000"/>
              </a:lnSpc>
              <a:spcBef>
                <a:spcPts val="0"/>
              </a:spcBef>
              <a:spcAft>
                <a:spcPts val="0"/>
              </a:spcAft>
            </a:pPr>
            <a:r>
              <a:rPr sz="1700" b="0" lang="en-US">
                <a:solidFill>
                  <a:srgbClr val="303437"/>
                </a:solidFill>
                <a:latin typeface="Noto Sans"/>
                <a:ea typeface="Noto Sans CJK JP"/>
              </a:rPr>
              <a:t>2.   Regulation (EU) No 1169/2011 shall apply to the presentation and labelling of aromatised wine products, save as otherwise provided for in this Regulation.</a:t>
            </a:r>
          </a:p>
          <a:p>
            <a:pPr>
              <a:lnSpc>
                <a:spcPts val="2000"/>
              </a:lnSpc>
              <a:spcBef>
                <a:spcPts val="0"/>
              </a:spcBef>
              <a:spcAft>
                <a:spcPts val="0"/>
              </a:spcAft>
            </a:pPr>
            <a:r>
              <a:rPr sz="1700" b="0" lang="en-US">
                <a:solidFill>
                  <a:srgbClr val="303437"/>
                </a:solidFill>
                <a:latin typeface="Noto Sans"/>
                <a:ea typeface="Noto Sans CJK JP"/>
              </a:rPr>
              <a:t>3.   This Regulation shall apply to all aromatised wine products placed on the market in the Union whether produced in the Member States or in third countries, as well as to those produced in the Union for export.</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32014R0251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実例12：香味付けワインの規則 — 本文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第1条・第3条1項からの抜粋。節間は［中略］。</a:t>
            </a:r>
          </a:p>
        </p:txBody>
      </p:sp>
      <p:sp>
        <p:nvSpPr>
          <p:cNvPr id="5" name="quote-frame"/>
          <p:cNvSpPr txBox="1"/>
          <p:nvPr/>
        </p:nvSpPr>
        <p:spPr>
          <a:xfrm>
            <a:off x="548640" y="1511300"/>
            <a:ext cx="8046720" cy="1938866"/>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Article 3  Definition and classification of aromatised wine products</a:t>
            </a:r>
          </a:p>
          <a:p>
            <a:pPr>
              <a:lnSpc>
                <a:spcPts val="2000"/>
              </a:lnSpc>
              <a:spcBef>
                <a:spcPts val="0"/>
              </a:spcBef>
              <a:spcAft>
                <a:spcPts val="0"/>
              </a:spcAft>
            </a:pPr>
            <a:r>
              <a:rPr sz="1700" b="0" lang="en-US">
                <a:solidFill>
                  <a:srgbClr val="303437"/>
                </a:solidFill>
                <a:latin typeface="Noto Sans"/>
                <a:ea typeface="Noto Sans CJK JP"/>
              </a:rPr>
              <a:t>1.   Aromatised wine products are products obtained from products of the wine sector as referred to in Regulation (EU) No 1308/2013 that have been flavoured. They are classified into the following categories:</a:t>
            </a:r>
          </a:p>
          <a:p>
            <a:pPr>
              <a:lnSpc>
                <a:spcPts val="2000"/>
              </a:lnSpc>
              <a:spcBef>
                <a:spcPts val="0"/>
              </a:spcBef>
              <a:spcAft>
                <a:spcPts val="0"/>
              </a:spcAft>
            </a:pPr>
            <a:r>
              <a:rPr sz="1700" b="0" lang="en-US">
                <a:solidFill>
                  <a:srgbClr val="303437"/>
                </a:solidFill>
                <a:latin typeface="Noto Sans"/>
                <a:ea typeface="Noto Sans CJK JP"/>
              </a:rPr>
              <a:t>(a) aromatised wines;</a:t>
            </a:r>
          </a:p>
          <a:p>
            <a:pPr>
              <a:lnSpc>
                <a:spcPts val="2000"/>
              </a:lnSpc>
              <a:spcBef>
                <a:spcPts val="0"/>
              </a:spcBef>
              <a:spcAft>
                <a:spcPts val="0"/>
              </a:spcAft>
            </a:pPr>
            <a:r>
              <a:rPr sz="1700" b="0" lang="en-US">
                <a:solidFill>
                  <a:srgbClr val="303437"/>
                </a:solidFill>
                <a:latin typeface="Noto Sans"/>
                <a:ea typeface="Noto Sans CJK JP"/>
              </a:rPr>
              <a:t>(b) aromatised wine-based drinks;</a:t>
            </a:r>
          </a:p>
          <a:p>
            <a:pPr>
              <a:lnSpc>
                <a:spcPts val="2000"/>
              </a:lnSpc>
              <a:spcBef>
                <a:spcPts val="0"/>
              </a:spcBef>
              <a:spcAft>
                <a:spcPts val="0"/>
              </a:spcAft>
            </a:pPr>
            <a:r>
              <a:rPr sz="1700" b="0" lang="en-US">
                <a:solidFill>
                  <a:srgbClr val="303437"/>
                </a:solidFill>
                <a:latin typeface="Noto Sans"/>
                <a:ea typeface="Noto Sans CJK JP"/>
              </a:rPr>
              <a:t>(c) aromatised wine-product cocktails.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32014R0251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実例12：香味付けワインの規則 — 本文・訳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651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第1条　対象と適用範囲：1. 香味付けワイン製品の定義、特性の記述、商品の見せ方、ラベル表示と、地理的表示の保護に関する規則を定める。</a:t>
            </a:r>
          </a:p>
          <a:p>
            <a:pPr>
              <a:lnSpc>
                <a:spcPts val="2000"/>
              </a:lnSpc>
              <a:spcBef>
                <a:spcPts val="0"/>
              </a:spcBef>
              <a:spcAft>
                <a:spcPts val="0"/>
              </a:spcAft>
            </a:pPr>
            <a:r>
              <a:rPr sz="1700" b="0" lang="ja-JP">
                <a:solidFill>
                  <a:srgbClr val="303437"/>
                </a:solidFill>
                <a:latin typeface="Noto Sans"/>
                <a:ea typeface="Noto Sans CJK JP"/>
              </a:rPr>
              <a:t>2. この規則に別の定めがある場合を除き、商品の見せ方とラベル表示には規則（EU）第1169/2011号を適用する。</a:t>
            </a:r>
          </a:p>
          <a:p>
            <a:pPr>
              <a:lnSpc>
                <a:spcPts val="2000"/>
              </a:lnSpc>
              <a:spcBef>
                <a:spcPts val="0"/>
              </a:spcBef>
              <a:spcAft>
                <a:spcPts val="0"/>
              </a:spcAft>
            </a:pPr>
            <a:r>
              <a:rPr sz="1700" b="0" lang="ja-JP">
                <a:solidFill>
                  <a:srgbClr val="303437"/>
                </a:solidFill>
                <a:latin typeface="Noto Sans"/>
                <a:ea typeface="Noto Sans CJK JP"/>
              </a:rPr>
              <a:t>3. 加盟国または第三国で生産されEU市場で販売される製品と、EUで生産され輸出される製品のすべてに適用する。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32014R0251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実例12：香味付けワインの規則 — 本文・訳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1667933"/>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第3条　定義と分類：1. 香味付けワイン製品とは、規則（EU）第1308/2013号に定めるワイン部門の製品に香味を付けたものである。次の3種類に分類する。</a:t>
            </a:r>
          </a:p>
          <a:p>
            <a:pPr>
              <a:lnSpc>
                <a:spcPts val="2000"/>
              </a:lnSpc>
              <a:spcBef>
                <a:spcPts val="0"/>
              </a:spcBef>
              <a:spcAft>
                <a:spcPts val="0"/>
              </a:spcAft>
            </a:pPr>
            <a:r>
              <a:rPr sz="1700" b="0" lang="ja-JP">
                <a:solidFill>
                  <a:srgbClr val="303437"/>
                </a:solidFill>
                <a:latin typeface="Noto Sans"/>
                <a:ea typeface="Noto Sans CJK JP"/>
              </a:rPr>
              <a:t>(a) 香味付けワイン</a:t>
            </a:r>
          </a:p>
          <a:p>
            <a:pPr>
              <a:lnSpc>
                <a:spcPts val="2000"/>
              </a:lnSpc>
              <a:spcBef>
                <a:spcPts val="0"/>
              </a:spcBef>
              <a:spcAft>
                <a:spcPts val="0"/>
              </a:spcAft>
            </a:pPr>
            <a:r>
              <a:rPr sz="1700" b="0" lang="ja-JP">
                <a:solidFill>
                  <a:srgbClr val="303437"/>
                </a:solidFill>
                <a:latin typeface="Noto Sans"/>
                <a:ea typeface="Noto Sans CJK JP"/>
              </a:rPr>
              <a:t>(b) 香味付けワインベース飲料</a:t>
            </a:r>
          </a:p>
          <a:p>
            <a:pPr>
              <a:lnSpc>
                <a:spcPts val="2000"/>
              </a:lnSpc>
              <a:spcBef>
                <a:spcPts val="0"/>
              </a:spcBef>
              <a:spcAft>
                <a:spcPts val="0"/>
              </a:spcAft>
            </a:pPr>
            <a:r>
              <a:rPr sz="1700" b="0" lang="ja-JP">
                <a:solidFill>
                  <a:srgbClr val="303437"/>
                </a:solidFill>
                <a:latin typeface="Noto Sans"/>
                <a:ea typeface="Noto Sans CJK JP"/>
              </a:rPr>
              <a:t>(c) 香味付けワイン製品カクテル</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32014R0251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実例12：香味付けワインの規則 — 要約</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2802466"/>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This regulation stipulates the specifications of aromatised wine products and protection of their geographical indications.</a:t>
            </a:r>
          </a:p>
          <a:p>
            <a:pPr>
              <a:lnSpc>
                <a:spcPts val="2100"/>
              </a:lnSpc>
              <a:spcBef>
                <a:spcPts val="0"/>
              </a:spcBef>
              <a:spcAft>
                <a:spcPts val="0"/>
              </a:spcAft>
            </a:pPr>
            <a:r>
              <a:rPr sz="1800" b="1" lang="en-US">
                <a:solidFill>
                  <a:srgbClr val="B13731"/>
                </a:solidFill>
                <a:latin typeface="Noto Sans"/>
                <a:ea typeface="Noto Sans CJK JP"/>
              </a:rPr>
              <a:t>［中略］ It applies to all aromatised wine products placed on the market in the EU (whether produced in EU or non-EU countries) and products produced in the EU for export.</a:t>
            </a:r>
          </a:p>
          <a:p>
            <a:pPr>
              <a:lnSpc>
                <a:spcPts val="2100"/>
              </a:lnSpc>
              <a:spcBef>
                <a:spcPts val="0"/>
              </a:spcBef>
              <a:spcAft>
                <a:spcPts val="0"/>
              </a:spcAft>
            </a:pPr>
            <a:r>
              <a:rPr sz="1800" b="1" lang="en-US">
                <a:solidFill>
                  <a:srgbClr val="B13731"/>
                </a:solidFill>
                <a:latin typeface="Noto Sans"/>
                <a:ea typeface="Noto Sans CJK JP"/>
              </a:rPr>
              <a:t>［中略］ Aromatised wine products include 3 categories:</a:t>
            </a:r>
          </a:p>
          <a:p>
            <a:pPr>
              <a:lnSpc>
                <a:spcPts val="2100"/>
              </a:lnSpc>
              <a:spcBef>
                <a:spcPts val="0"/>
              </a:spcBef>
              <a:spcAft>
                <a:spcPts val="0"/>
              </a:spcAft>
            </a:pPr>
            <a:r>
              <a:rPr sz="1800" b="1" lang="en-US">
                <a:solidFill>
                  <a:srgbClr val="B13731"/>
                </a:solidFill>
                <a:latin typeface="Noto Sans"/>
                <a:ea typeface="Noto Sans CJK JP"/>
              </a:rPr>
              <a:t>—</a:t>
            </a:r>
          </a:p>
          <a:p>
            <a:pPr>
              <a:lnSpc>
                <a:spcPts val="2100"/>
              </a:lnSpc>
              <a:spcBef>
                <a:spcPts val="0"/>
              </a:spcBef>
              <a:spcAft>
                <a:spcPts val="0"/>
              </a:spcAft>
            </a:pPr>
            <a:r>
              <a:rPr sz="1800" b="1" lang="en-US">
                <a:solidFill>
                  <a:srgbClr val="B13731"/>
                </a:solidFill>
                <a:latin typeface="Noto Sans"/>
                <a:ea typeface="Noto Sans CJK JP"/>
              </a:rPr>
              <a:t>aromatised wine*,</a:t>
            </a:r>
          </a:p>
          <a:p>
            <a:pPr>
              <a:lnSpc>
                <a:spcPts val="2100"/>
              </a:lnSpc>
              <a:spcBef>
                <a:spcPts val="0"/>
              </a:spcBef>
              <a:spcAft>
                <a:spcPts val="0"/>
              </a:spcAft>
            </a:pPr>
            <a:r>
              <a:rPr sz="1800" b="1" lang="en-US">
                <a:solidFill>
                  <a:srgbClr val="B13731"/>
                </a:solidFill>
                <a:latin typeface="Noto Sans"/>
                <a:ea typeface="Noto Sans CJK JP"/>
              </a:rPr>
              <a:t>—                     aromatised wine-based drinks*, and</a:t>
            </a:r>
          </a:p>
          <a:p>
            <a:pPr>
              <a:lnSpc>
                <a:spcPts val="2100"/>
              </a:lnSpc>
              <a:spcBef>
                <a:spcPts val="0"/>
              </a:spcBef>
              <a:spcAft>
                <a:spcPts val="0"/>
              </a:spcAft>
            </a:pPr>
            <a:r>
              <a:rPr sz="1800" b="1" lang="en-US">
                <a:solidFill>
                  <a:srgbClr val="B13731"/>
                </a:solidFill>
                <a:latin typeface="Noto Sans"/>
                <a:ea typeface="Noto Sans CJK JP"/>
              </a:rPr>
              <a:t>—                     aromatised wine-product cocktails*.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32014R0251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実例12：香味付けワインの規則 — 要約・訳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556933"/>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香味付けワイン製品の仕様と、その地理的表示の保護を定める。</a:t>
            </a:r>
          </a:p>
          <a:p>
            <a:pPr>
              <a:lnSpc>
                <a:spcPts val="2400"/>
              </a:lnSpc>
              <a:spcBef>
                <a:spcPts val="0"/>
              </a:spcBef>
              <a:spcAft>
                <a:spcPts val="0"/>
              </a:spcAft>
            </a:pPr>
            <a:r>
              <a:rPr sz="2100" b="1" lang="ja-JP">
                <a:solidFill>
                  <a:srgbClr val="B13731"/>
                </a:solidFill>
                <a:latin typeface="Noto Sans"/>
                <a:ea typeface="Noto Sans CJK JP"/>
              </a:rPr>
              <a:t>EU市場で販売されるすべての香味付けワイン製品（EU産・域外国産の双方）と、輸出向けにEUで生産される製品に適用する。</a:t>
            </a:r>
          </a:p>
          <a:p>
            <a:pPr>
              <a:lnSpc>
                <a:spcPts val="2400"/>
              </a:lnSpc>
              <a:spcBef>
                <a:spcPts val="0"/>
              </a:spcBef>
              <a:spcAft>
                <a:spcPts val="0"/>
              </a:spcAft>
            </a:pPr>
            <a:r>
              <a:rPr sz="2100" b="1" lang="ja-JP">
                <a:solidFill>
                  <a:srgbClr val="B13731"/>
                </a:solidFill>
                <a:latin typeface="Noto Sans"/>
                <a:ea typeface="Noto Sans CJK JP"/>
              </a:rPr>
              <a:t>香味付けワイン製品は、香味付けワイン*、香味付けワインベース飲料*、香味付けワイン製品カクテル*の3種類からなる。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32014R0251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実例13：教育・生涯学習の統計 — 本文 1/3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第1条・第4条1/2項の一部からの抜粋。節間は［中略］。</a:t>
            </a:r>
          </a:p>
        </p:txBody>
      </p:sp>
      <p:sp>
        <p:nvSpPr>
          <p:cNvPr id="5" name="quote-frame"/>
          <p:cNvSpPr txBox="1"/>
          <p:nvPr/>
        </p:nvSpPr>
        <p:spPr>
          <a:xfrm>
            <a:off x="548640" y="1528233"/>
            <a:ext cx="8046720" cy="1905000"/>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This Regulation establishes a common framework for the systematic production of Community statistics in the field of education and lifelong learning.</a:t>
            </a:r>
          </a:p>
          <a:p>
            <a:pPr>
              <a:lnSpc>
                <a:spcPts val="2000"/>
              </a:lnSpc>
              <a:spcBef>
                <a:spcPts val="0"/>
              </a:spcBef>
              <a:spcAft>
                <a:spcPts val="0"/>
              </a:spcAft>
            </a:pPr>
            <a:r>
              <a:rPr sz="1700" b="0" lang="en-US">
                <a:solidFill>
                  <a:srgbClr val="303437"/>
                </a:solidFill>
                <a:latin typeface="Noto Sans"/>
                <a:ea typeface="Noto Sans CJK JP"/>
              </a:rPr>
              <a:t>［中略］ (c) the development, improvement and updating of standards and manuals on statistical frameworks, concepts and methods;</a:t>
            </a:r>
          </a:p>
          <a:p>
            <a:pPr>
              <a:lnSpc>
                <a:spcPts val="2000"/>
              </a:lnSpc>
              <a:spcBef>
                <a:spcPts val="0"/>
              </a:spcBef>
              <a:spcAft>
                <a:spcPts val="0"/>
              </a:spcAft>
            </a:pPr>
            <a:r>
              <a:rPr sz="1700" b="0" lang="en-US">
                <a:solidFill>
                  <a:srgbClr val="303437"/>
                </a:solidFill>
                <a:latin typeface="Noto Sans"/>
                <a:ea typeface="Noto Sans CJK JP"/>
              </a:rPr>
              <a:t>(d) the improvement of data quality, in the context of the quality framework, to include:</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32008R0452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実例13：教育・生涯学習の統計 — 本文 2/3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第1条・第4条1/2項の一部からの抜粋。節間は［中略］。</a:t>
            </a:r>
          </a:p>
        </p:txBody>
      </p:sp>
      <p:sp>
        <p:nvSpPr>
          <p:cNvPr id="5" name="quote-frame"/>
          <p:cNvSpPr txBox="1"/>
          <p:nvPr/>
        </p:nvSpPr>
        <p:spPr>
          <a:xfrm>
            <a:off x="548640" y="1528233"/>
            <a:ext cx="8046720" cy="1625600"/>
          </a:xfrm>
          <a:prstGeom prst="rect">
            <a:avLst/>
          </a:prstGeom>
          <a:solidFill>
            <a:srgbClr val="EBEDEB"/>
          </a:solidFill>
          <a:ln>
            <a:noFill/>
          </a:ln>
        </p:spPr>
        <p:txBody>
          <a:bodyPr wrap="square" lIns="177800" rIns="177800" tIns="46566" bIns="25400">
            <a:noAutofit/>
          </a:bodyPr>
          <a:lstStyle/>
          <a:p>
            <a:pPr>
              <a:lnSpc>
                <a:spcPts val="2000"/>
              </a:lnSpc>
              <a:spcBef>
                <a:spcPts val="0"/>
              </a:spcBef>
              <a:spcAft>
                <a:spcPts val="0"/>
              </a:spcAft>
            </a:pPr>
            <a:r>
              <a:rPr sz="1700" b="0" lang="en-US">
                <a:solidFill>
                  <a:srgbClr val="303437"/>
                </a:solidFill>
                <a:latin typeface="Noto Sans"/>
                <a:ea typeface="Noto Sans CJK JP"/>
              </a:rPr>
              <a:t>— relevance,</a:t>
            </a:r>
          </a:p>
          <a:p>
            <a:pPr>
              <a:lnSpc>
                <a:spcPts val="2000"/>
              </a:lnSpc>
              <a:spcBef>
                <a:spcPts val="0"/>
              </a:spcBef>
              <a:spcAft>
                <a:spcPts val="0"/>
              </a:spcAft>
            </a:pPr>
            <a:r>
              <a:rPr sz="1700" b="0" lang="en-US">
                <a:solidFill>
                  <a:srgbClr val="303437"/>
                </a:solidFill>
                <a:latin typeface="Noto Sans"/>
                <a:ea typeface="Noto Sans CJK JP"/>
              </a:rPr>
              <a:t>— accuracy,</a:t>
            </a:r>
          </a:p>
          <a:p>
            <a:pPr>
              <a:lnSpc>
                <a:spcPts val="2000"/>
              </a:lnSpc>
              <a:spcBef>
                <a:spcPts val="0"/>
              </a:spcBef>
              <a:spcAft>
                <a:spcPts val="0"/>
              </a:spcAft>
            </a:pPr>
            <a:r>
              <a:rPr sz="1700" b="0" lang="en-US">
                <a:solidFill>
                  <a:srgbClr val="303437"/>
                </a:solidFill>
                <a:latin typeface="Noto Sans"/>
                <a:ea typeface="Noto Sans CJK JP"/>
              </a:rPr>
              <a:t>— timeliness and punctuality,</a:t>
            </a:r>
          </a:p>
          <a:p>
            <a:pPr>
              <a:lnSpc>
                <a:spcPts val="2000"/>
              </a:lnSpc>
              <a:spcBef>
                <a:spcPts val="0"/>
              </a:spcBef>
              <a:spcAft>
                <a:spcPts val="0"/>
              </a:spcAft>
            </a:pPr>
            <a:r>
              <a:rPr sz="1700" b="0" lang="en-US">
                <a:solidFill>
                  <a:srgbClr val="303437"/>
                </a:solidFill>
                <a:latin typeface="Noto Sans"/>
                <a:ea typeface="Noto Sans CJK JP"/>
              </a:rPr>
              <a:t>— accessibility and clarity,</a:t>
            </a:r>
          </a:p>
          <a:p>
            <a:pPr>
              <a:lnSpc>
                <a:spcPts val="2000"/>
              </a:lnSpc>
              <a:spcBef>
                <a:spcPts val="0"/>
              </a:spcBef>
              <a:spcAft>
                <a:spcPts val="0"/>
              </a:spcAft>
            </a:pPr>
            <a:r>
              <a:rPr sz="1700" b="0" lang="en-US">
                <a:solidFill>
                  <a:srgbClr val="303437"/>
                </a:solidFill>
                <a:latin typeface="Noto Sans"/>
                <a:ea typeface="Noto Sans CJK JP"/>
              </a:rPr>
              <a:t>— comparability, and</a:t>
            </a:r>
          </a:p>
          <a:p>
            <a:pPr>
              <a:lnSpc>
                <a:spcPts val="2000"/>
              </a:lnSpc>
              <a:spcBef>
                <a:spcPts val="0"/>
              </a:spcBef>
              <a:spcAft>
                <a:spcPts val="0"/>
              </a:spcAft>
            </a:pPr>
            <a:r>
              <a:rPr sz="1700" b="0" lang="en-US">
                <a:solidFill>
                  <a:srgbClr val="303437"/>
                </a:solidFill>
                <a:latin typeface="Noto Sans"/>
                <a:ea typeface="Noto Sans CJK JP"/>
              </a:rPr>
              <a:t>— coherence.</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32008R0452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実例13：教育・生涯学習の統計 — 本文 3/3</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第1条・第4条1/2項の一部からの抜粋。節間は［中略］。</a:t>
            </a:r>
          </a:p>
        </p:txBody>
      </p:sp>
      <p:sp>
        <p:nvSpPr>
          <p:cNvPr id="5" name="quote-frame"/>
          <p:cNvSpPr txBox="1"/>
          <p:nvPr/>
        </p:nvSpPr>
        <p:spPr>
          <a:xfrm>
            <a:off x="548640" y="1511300"/>
            <a:ext cx="8046720" cy="1684866"/>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en-US">
                <a:solidFill>
                  <a:srgbClr val="303437"/>
                </a:solidFill>
                <a:latin typeface="Noto Sans"/>
                <a:ea typeface="Noto Sans CJK JP"/>
              </a:rPr>
              <a:t>［中略］ 2.   Whenever possible, the Commission (Eurostat) shall seek cooperation with the UIS, the OECD and other international organisations with a view to ensuring international comparability of data and to avoid duplication of effort, in particular as regards the development and improvement of statistical concepts and methods and the delivery of statistics by the Member States.</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32008R0452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実例13：教育・生涯学習の統計 — 本文・訳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日本語訳：同じ本文範囲</a:t>
            </a:r>
          </a:p>
        </p:txBody>
      </p:sp>
      <p:sp>
        <p:nvSpPr>
          <p:cNvPr id="5" name="quote-frame"/>
          <p:cNvSpPr txBox="1"/>
          <p:nvPr/>
        </p:nvSpPr>
        <p:spPr>
          <a:xfrm>
            <a:off x="548640" y="1511300"/>
            <a:ext cx="8046720" cy="2667000"/>
          </a:xfrm>
          <a:prstGeom prst="rect">
            <a:avLst/>
          </a:prstGeom>
          <a:solidFill>
            <a:srgbClr val="EBEDEB"/>
          </a:solidFill>
          <a:ln>
            <a:noFill/>
          </a:ln>
        </p:spPr>
        <p:txBody>
          <a:bodyPr wrap="square" lIns="177800" rIns="177800" tIns="63500" bIns="25400">
            <a:noAutofit/>
          </a:bodyPr>
          <a:lstStyle/>
          <a:p>
            <a:pPr>
              <a:lnSpc>
                <a:spcPts val="2000"/>
              </a:lnSpc>
              <a:spcBef>
                <a:spcPts val="0"/>
              </a:spcBef>
              <a:spcAft>
                <a:spcPts val="0"/>
              </a:spcAft>
            </a:pPr>
            <a:r>
              <a:rPr sz="1700" b="0" lang="ja-JP">
                <a:solidFill>
                  <a:srgbClr val="303437"/>
                </a:solidFill>
                <a:latin typeface="Noto Sans"/>
                <a:ea typeface="Noto Sans CJK JP"/>
              </a:rPr>
              <a:t>この規則は、教育と生涯学習の分野で欧州共同体の統計を体系的に作成するための共通枠組みを設ける。</a:t>
            </a:r>
          </a:p>
          <a:p>
            <a:pPr>
              <a:lnSpc>
                <a:spcPts val="2000"/>
              </a:lnSpc>
              <a:spcBef>
                <a:spcPts val="0"/>
              </a:spcBef>
              <a:spcAft>
                <a:spcPts val="0"/>
              </a:spcAft>
            </a:pPr>
            <a:r>
              <a:rPr sz="1700" b="0" lang="ja-JP">
                <a:solidFill>
                  <a:srgbClr val="303437"/>
                </a:solidFill>
                <a:latin typeface="Noto Sans"/>
                <a:ea typeface="Noto Sans CJK JP"/>
              </a:rPr>
              <a:t>第4条1項(c)・(d)：(c) 統計の枠組み、概念、方法に関する基準と手引きを開発・改善・更新する。</a:t>
            </a:r>
          </a:p>
          <a:p>
            <a:pPr>
              <a:lnSpc>
                <a:spcPts val="2000"/>
              </a:lnSpc>
              <a:spcBef>
                <a:spcPts val="0"/>
              </a:spcBef>
              <a:spcAft>
                <a:spcPts val="0"/>
              </a:spcAft>
            </a:pPr>
            <a:r>
              <a:rPr sz="1700" b="0" lang="ja-JP">
                <a:solidFill>
                  <a:srgbClr val="303437"/>
                </a:solidFill>
                <a:latin typeface="Noto Sans"/>
                <a:ea typeface="Noto Sans CJK JP"/>
              </a:rPr>
              <a:t>(d) 品質枠組みの下で、適切性、正確性、適時性と期日遵守、入手しやすさと明瞭さ、比較可能性、一貫性を含むデータ品質を高める。</a:t>
            </a:r>
          </a:p>
          <a:p>
            <a:pPr>
              <a:lnSpc>
                <a:spcPts val="2000"/>
              </a:lnSpc>
              <a:spcBef>
                <a:spcPts val="0"/>
              </a:spcBef>
              <a:spcAft>
                <a:spcPts val="0"/>
              </a:spcAft>
            </a:pPr>
            <a:r>
              <a:rPr sz="1700" b="0" lang="ja-JP">
                <a:solidFill>
                  <a:srgbClr val="303437"/>
                </a:solidFill>
                <a:latin typeface="Noto Sans"/>
                <a:ea typeface="Noto Sans CJK JP"/>
              </a:rPr>
              <a:t>第4条2項：欧州委員会（Eurostat）は、データの国際的な比較可能性を確保し、作業の重複を避けるため、可能な限りUNESCO統計研究所、OECDなどの国際機関との協力を求める。特に、統計概念と方法の開発・改善、加盟国による統計の提供について協力す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32008R0452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実例13：教育・生涯学習の統計 — 要約 1/2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36700"/>
            <a:ext cx="8046720" cy="1947333"/>
          </a:xfrm>
          <a:prstGeom prst="rect">
            <a:avLst/>
          </a:prstGeom>
          <a:solidFill>
            <a:srgbClr val="EBEDEB"/>
          </a:solidFill>
          <a:ln>
            <a:noFill/>
          </a:ln>
        </p:spPr>
        <p:txBody>
          <a:bodyPr wrap="square" lIns="177800" rIns="177800" tIns="38100" bIns="25400">
            <a:noAutofit/>
          </a:bodyPr>
          <a:lstStyle/>
          <a:p>
            <a:pPr>
              <a:lnSpc>
                <a:spcPts val="2100"/>
              </a:lnSpc>
              <a:spcBef>
                <a:spcPts val="0"/>
              </a:spcBef>
              <a:spcAft>
                <a:spcPts val="0"/>
              </a:spcAft>
            </a:pPr>
            <a:r>
              <a:rPr sz="1800" b="1" lang="en-US">
                <a:solidFill>
                  <a:srgbClr val="B13731"/>
                </a:solidFill>
                <a:latin typeface="Noto Sans"/>
                <a:ea typeface="Noto Sans CJK JP"/>
              </a:rPr>
              <a:t>It establishes a common framework on statistical standards for the production of harmonised data in the area of education and lifelong learning.</a:t>
            </a:r>
          </a:p>
          <a:p>
            <a:pPr>
              <a:lnSpc>
                <a:spcPts val="2100"/>
              </a:lnSpc>
              <a:spcBef>
                <a:spcPts val="0"/>
              </a:spcBef>
              <a:spcAft>
                <a:spcPts val="0"/>
              </a:spcAft>
            </a:pPr>
            <a:r>
              <a:rPr sz="1800" b="1" lang="en-US">
                <a:solidFill>
                  <a:srgbClr val="B13731"/>
                </a:solidFill>
                <a:latin typeface="Noto Sans"/>
                <a:ea typeface="Noto Sans CJK JP"/>
              </a:rPr>
              <a:t>［中略］ developing, improving and updating standards and manuals that define frameworks, concepts and methods;</a:t>
            </a:r>
          </a:p>
          <a:p>
            <a:pPr>
              <a:lnSpc>
                <a:spcPts val="2100"/>
              </a:lnSpc>
              <a:spcBef>
                <a:spcPts val="0"/>
              </a:spcBef>
              <a:spcAft>
                <a:spcPts val="0"/>
              </a:spcAft>
            </a:pPr>
            <a:r>
              <a:rPr sz="1800" b="1" lang="en-US">
                <a:solidFill>
                  <a:srgbClr val="B13731"/>
                </a:solidFill>
                <a:latin typeface="Noto Sans"/>
                <a:ea typeface="Noto Sans CJK JP"/>
              </a:rPr>
              <a:t>improving data quality within the context of the quality framework.</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32008R0452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実例13：教育・生涯学習の統計 — 要約 2/2</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英語 ／ 要約の抜粋。節間の省略は［中略］。</a:t>
            </a:r>
          </a:p>
        </p:txBody>
      </p:sp>
      <p:sp>
        <p:nvSpPr>
          <p:cNvPr id="5" name="quote-frame"/>
          <p:cNvSpPr txBox="1"/>
          <p:nvPr/>
        </p:nvSpPr>
        <p:spPr>
          <a:xfrm>
            <a:off x="548640" y="1511300"/>
            <a:ext cx="8046720" cy="1761066"/>
          </a:xfrm>
          <a:prstGeom prst="rect">
            <a:avLst/>
          </a:prstGeom>
          <a:solidFill>
            <a:srgbClr val="EBEDEB"/>
          </a:solidFill>
          <a:ln>
            <a:noFill/>
          </a:ln>
        </p:spPr>
        <p:txBody>
          <a:bodyPr wrap="square" lIns="177800" rIns="177800" tIns="63500" bIns="25400">
            <a:noAutofit/>
          </a:bodyPr>
          <a:lstStyle/>
          <a:p>
            <a:pPr>
              <a:lnSpc>
                <a:spcPts val="2100"/>
              </a:lnSpc>
              <a:spcBef>
                <a:spcPts val="0"/>
              </a:spcBef>
              <a:spcAft>
                <a:spcPts val="0"/>
              </a:spcAft>
            </a:pPr>
            <a:r>
              <a:rPr sz="1800" b="1" lang="en-US">
                <a:solidFill>
                  <a:srgbClr val="B13731"/>
                </a:solidFill>
                <a:latin typeface="Noto Sans"/>
                <a:ea typeface="Noto Sans CJK JP"/>
              </a:rPr>
              <a:t>［中略］ The Commission (Eurostat) will also collaborate with the United Nations Educational, Scientific and Cultural Organisation’s (UNESCO) Institute for Statistics, the Organisation for Economic Cooperation and Development (OECD) and other international organisations to ensure the comparability and avoid the duplication of data at international level.</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32008R0452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7359" y="647700"/>
            <a:ext cx="8216900" cy="609600"/>
          </a:xfrm>
        </p:spPr>
        <p:txBody>
          <a:bodyPr/>
          <a:lstStyle/>
          <a:p>
            <a:r>
              <a:rPr sz="2600" b="1" lang="ja-JP">
                <a:solidFill>
                  <a:srgbClr val="303437"/>
                </a:solidFill>
                <a:latin typeface="Noto Sans"/>
                <a:ea typeface="Noto Sans CJK JP"/>
              </a:rPr>
              <a:t>実例13：教育・生涯学習の統計 — 要約・訳</a:t>
            </a:r>
          </a:p>
        </p:txBody>
      </p:sp>
      <p:sp>
        <p:nvSpPr>
          <p:cNvPr id="3" name="Title 2"/>
          <p:cNvSpPr>
            <a:spLocks noGrp="1"/>
          </p:cNvSpPr>
          <p:nvPr>
            <p:ph type="title" idx="2"/>
          </p:nvPr>
        </p:nvSpPr>
        <p:spPr/>
        <p:txBody>
          <a:bodyPr/>
          <a:lstStyle/>
          <a:p>
            <a:r>
              <a:t>Appendix: 1. 追加の実例</a:t>
            </a:r>
          </a:p>
        </p:txBody>
      </p:sp>
      <p:sp>
        <p:nvSpPr>
          <p:cNvPr id="4" name="scope-label"/>
          <p:cNvSpPr txBox="1"/>
          <p:nvPr/>
        </p:nvSpPr>
        <p:spPr>
          <a:xfrm>
            <a:off x="548640" y="1282700"/>
            <a:ext cx="8046720" cy="254000"/>
          </a:xfrm>
          <a:prstGeom prst="rect">
            <a:avLst/>
          </a:prstGeom>
          <a:noFill/>
        </p:spPr>
        <p:txBody>
          <a:bodyPr wrap="square" lIns="0" rIns="0" tIns="0" bIns="0">
            <a:spAutoFit/>
          </a:bodyPr>
          <a:lstStyle/>
          <a:p>
            <a:pPr>
              <a:lnSpc>
                <a:spcPts val="1345"/>
              </a:lnSpc>
              <a:spcBef>
                <a:spcPts val="0"/>
              </a:spcBef>
              <a:spcAft>
                <a:spcPts val="0"/>
              </a:spcAft>
            </a:pPr>
            <a:r>
              <a:rPr sz="1170" b="0" lang="ja-JP">
                <a:solidFill>
                  <a:srgbClr val="626669"/>
                </a:solidFill>
                <a:latin typeface="Noto Sans"/>
                <a:ea typeface="Noto Sans CJK JP"/>
              </a:rPr>
              <a:t>日本語訳：同じ要約範囲</a:t>
            </a:r>
          </a:p>
        </p:txBody>
      </p:sp>
      <p:sp>
        <p:nvSpPr>
          <p:cNvPr id="5" name="quote-frame"/>
          <p:cNvSpPr txBox="1"/>
          <p:nvPr/>
        </p:nvSpPr>
        <p:spPr>
          <a:xfrm>
            <a:off x="548640" y="1511300"/>
            <a:ext cx="8046720" cy="2260600"/>
          </a:xfrm>
          <a:prstGeom prst="rect">
            <a:avLst/>
          </a:prstGeom>
          <a:solidFill>
            <a:srgbClr val="EBEDEB"/>
          </a:solidFill>
          <a:ln>
            <a:noFill/>
          </a:ln>
        </p:spPr>
        <p:txBody>
          <a:bodyPr wrap="square" lIns="177800" rIns="177800" tIns="63500" bIns="25400">
            <a:noAutofit/>
          </a:bodyPr>
          <a:lstStyle/>
          <a:p>
            <a:pPr>
              <a:lnSpc>
                <a:spcPts val="2400"/>
              </a:lnSpc>
              <a:spcBef>
                <a:spcPts val="0"/>
              </a:spcBef>
              <a:spcAft>
                <a:spcPts val="0"/>
              </a:spcAft>
            </a:pPr>
            <a:r>
              <a:rPr sz="2100" b="1" lang="ja-JP">
                <a:solidFill>
                  <a:srgbClr val="B13731"/>
                </a:solidFill>
                <a:latin typeface="Noto Sans"/>
                <a:ea typeface="Noto Sans CJK JP"/>
              </a:rPr>
              <a:t>教育と生涯学習の分野で調和されたデータを作成するため、統計基準の共通枠組みを設ける。</a:t>
            </a:r>
          </a:p>
          <a:p>
            <a:pPr>
              <a:lnSpc>
                <a:spcPts val="2400"/>
              </a:lnSpc>
              <a:spcBef>
                <a:spcPts val="0"/>
              </a:spcBef>
              <a:spcAft>
                <a:spcPts val="0"/>
              </a:spcAft>
            </a:pPr>
            <a:r>
              <a:rPr sz="2100" b="1" lang="ja-JP">
                <a:solidFill>
                  <a:srgbClr val="B13731"/>
                </a:solidFill>
                <a:latin typeface="Noto Sans"/>
                <a:ea typeface="Noto Sans CJK JP"/>
              </a:rPr>
              <a:t>枠組み・概念・方法を定める基準と手引きを開発・改善・更新し、品質枠組みに沿ってデータ品質を高める。</a:t>
            </a:r>
          </a:p>
          <a:p>
            <a:pPr>
              <a:lnSpc>
                <a:spcPts val="2400"/>
              </a:lnSpc>
              <a:spcBef>
                <a:spcPts val="0"/>
              </a:spcBef>
              <a:spcAft>
                <a:spcPts val="0"/>
              </a:spcAft>
            </a:pPr>
            <a:r>
              <a:rPr sz="2100" b="1" lang="ja-JP">
                <a:solidFill>
                  <a:srgbClr val="B13731"/>
                </a:solidFill>
                <a:latin typeface="Noto Sans"/>
                <a:ea typeface="Noto Sans CJK JP"/>
              </a:rPr>
              <a:t>欧州委員会（Eurostat）は、UNESCO統計研究所、OECDなどの国際機関とも連携し、国際的なデータの比較可能性を確保して重複を避ける。</a:t>
            </a:r>
          </a:p>
        </p:txBody>
      </p:sp>
      <p:sp>
        <p:nvSpPr>
          <p:cNvPr id="6" name="sources"/>
          <p:cNvSpPr txBox="1"/>
          <p:nvPr/>
        </p:nvSpPr>
        <p:spPr>
          <a:xfrm>
            <a:off x="502920" y="4699000"/>
            <a:ext cx="8183880" cy="431800"/>
          </a:xfrm>
          <a:prstGeom prst="rect">
            <a:avLst/>
          </a:prstGeom>
          <a:noFill/>
        </p:spPr>
        <p:txBody>
          <a:bodyPr wrap="square" lIns="0" rIns="0" tIns="0" bIns="0">
            <a:spAutoFit/>
          </a:bodyPr>
          <a:lstStyle/>
          <a:p>
            <a:pPr>
              <a:lnSpc>
                <a:spcPts val="919"/>
              </a:lnSpc>
              <a:spcBef>
                <a:spcPts val="0"/>
              </a:spcBef>
              <a:spcAft>
                <a:spcPts val="0"/>
              </a:spcAft>
            </a:pPr>
            <a:r>
              <a:rPr sz="800" b="0" lang="ja-JP">
                <a:solidFill>
                  <a:srgbClr val="626669"/>
                </a:solidFill>
                <a:latin typeface="Noto Sans"/>
                <a:ea typeface="Noto Sans CJK JP"/>
              </a:rPr>
              <a:t>[1] Aumiller et al. EUR-Lex-Sum. 32008R0452 ／ english</a:t>
            </a:r>
          </a:p>
          <a:p>
            <a:pPr>
              <a:lnSpc>
                <a:spcPts val="919"/>
              </a:lnSpc>
              <a:spcBef>
                <a:spcPts val="0"/>
              </a:spcBef>
              <a:spcAft>
                <a:spcPts val="0"/>
              </a:spcAft>
            </a:pPr>
            <a:r>
              <a:rPr sz="800" b="0" lang="ja-JP">
                <a:solidFill>
                  <a:srgbClr val="626669"/>
                </a:solidFill>
                <a:latin typeface="Noto Sans"/>
                <a:ea typeface="Noto Sans CJK JP"/>
                <a:hlinkClick r:id="rId2"/>
              </a:rPr>
              <a:t>https://huggingface.co/datasets/dennlinger/eur-lex-sum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言語と統計の補足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24言語の全内訳（1/4）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graphicFrame>
        <p:nvGraphicFramePr>
          <p:cNvPr id="4" name="Table 3"/>
          <p:cNvGraphicFramePr>
            <a:graphicFrameLocks noGrp="1"/>
          </p:cNvGraphicFramePr>
          <p:nvPr/>
        </p:nvGraphicFramePr>
        <p:xfrm>
          <a:off x="548640" y="1508760"/>
          <a:ext cx="8046720" cy="2538095"/>
        </p:xfrm>
        <a:graphic>
          <a:graphicData uri="http://schemas.openxmlformats.org/drawingml/2006/table">
            <a:tbl>
              <a:tblPr firstRow="0" bandRow="0"/>
              <a:tblGrid>
                <a:gridCol w="4389120"/>
                <a:gridCol w="1828800"/>
                <a:gridCol w="18288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全ペア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英語 (en)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1,504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1,129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フランス語 (fr)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1,505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1,130</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ドイツ語 (de)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1,490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1,115</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スペイン語 (es)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1,487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1,112</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イタリア語 (it)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1,403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1,028</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ポルトガル語 (pt)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1,376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4802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 187／test 188は全言語共通。2022年公表。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24言語の全内訳（2/4）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graphicFrame>
        <p:nvGraphicFramePr>
          <p:cNvPr id="4" name="Table 3"/>
          <p:cNvGraphicFramePr>
            <a:graphicFrameLocks noGrp="1"/>
          </p:cNvGraphicFramePr>
          <p:nvPr/>
        </p:nvGraphicFramePr>
        <p:xfrm>
          <a:off x="548640" y="1508760"/>
          <a:ext cx="8046720" cy="2538095"/>
        </p:xfrm>
        <a:graphic>
          <a:graphicData uri="http://schemas.openxmlformats.org/drawingml/2006/table">
            <a:tbl>
              <a:tblPr firstRow="0" bandRow="0"/>
              <a:tblGrid>
                <a:gridCol w="4389120"/>
                <a:gridCol w="1828800"/>
                <a:gridCol w="18288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全ペア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オランダ語 (nl)</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1,376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デンマーク語 (da)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1,377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1,002</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ギリシャ語 (el)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1,366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991</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フィンランド語 (fi)</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1,366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991</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スウェーデン語 (sv)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1,362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987</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ルーマニア語 (ro)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1,353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978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4802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 187／test 188は全言語共通。2022年公表。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24言語の全内訳（3/4）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graphicFrame>
        <p:nvGraphicFramePr>
          <p:cNvPr id="4" name="Table 3"/>
          <p:cNvGraphicFramePr>
            <a:graphicFrameLocks noGrp="1"/>
          </p:cNvGraphicFramePr>
          <p:nvPr/>
        </p:nvGraphicFramePr>
        <p:xfrm>
          <a:off x="548640" y="1508760"/>
          <a:ext cx="8046720" cy="2538095"/>
        </p:xfrm>
        <a:graphic>
          <a:graphicData uri="http://schemas.openxmlformats.org/drawingml/2006/table">
            <a:tbl>
              <a:tblPr firstRow="0" bandRow="0"/>
              <a:tblGrid>
                <a:gridCol w="4389120"/>
                <a:gridCol w="1828800"/>
                <a:gridCol w="18288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全ペア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ハンガリー語 (hu)</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1,336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961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チェコ語 (cs)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1,359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984</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ポーランド語 (pl)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1,353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978</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ブルガリア語 (bg)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1,332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957</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ラトビア語 (lv)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959</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スロベニア語 (sl)</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1,332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957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4802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 187／test 188は全言語共通。2022年公表。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24言語の全内訳（4/4）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graphicFrame>
        <p:nvGraphicFramePr>
          <p:cNvPr id="4" name="Table 3"/>
          <p:cNvGraphicFramePr>
            <a:graphicFrameLocks noGrp="1"/>
          </p:cNvGraphicFramePr>
          <p:nvPr/>
        </p:nvGraphicFramePr>
        <p:xfrm>
          <a:off x="548640" y="1508760"/>
          <a:ext cx="8046720" cy="2538095"/>
        </p:xfrm>
        <a:graphic>
          <a:graphicData uri="http://schemas.openxmlformats.org/drawingml/2006/table">
            <a:tbl>
              <a:tblPr firstRow="0" bandRow="0"/>
              <a:tblGrid>
                <a:gridCol w="4389120"/>
                <a:gridCol w="1828800"/>
                <a:gridCol w="18288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全ペア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エストニア語 (et)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1,332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957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リトアニア語 (lt)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1,335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960</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スロバキア語 (sk)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950</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マルタ語 (mt)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940</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クロアチア語 (hr)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1,278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903</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アイルランド語 (ga)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391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4802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 187／test 188は全言語共通。2022年公表。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評価用には、新しい法令が多く含まれる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公表分析では、収録法令は1990年以降に増える。HTMLでの公開と要約の利用可能性に依存する。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24言語をそろえるvalidation/testは、trainより新しい法令に偏る。翻訳や要約は、法令の初回公開より後に追加される場合もある。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一つの要約に、複数の法令が対応する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言語によって約20〜30%の要約が複数法令を扱うと報告されている。配布では最長の法令だけを残す。</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入力中にない語句を含む割合には、言い換えだけでなく、入力から除かれた法令の内容も影響し得る。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法令本文より参照要約が長い組もある。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t>
            </a:r>
            <a:r>
              <a:rPr sz="810" b="0" lang="ja-JP" altLang="en-US">
                <a:solidFill>
                  <a:srgbClr val="626669"/>
                </a:solidFill>
                <a:latin typeface="Noto Sans"/>
                <a:ea typeface="Noto Sans CJK JP"/>
                <a:cs typeface="Noto Sans"/>
                <a:hlinkClick r:id="rId3"/>
              </a:rPr>
              <a:t>https://aclanthology.org/2022.emnlp-main.519/</a:t>
            </a:r>
          </a:p>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Aumiller et al. EUR-Lex-Sum data. </a:t>
            </a:r>
            <a:r>
              <a:rPr sz="810" b="0" lang="ja-JP" altLang="en-US">
                <a:solidFill>
                  <a:srgbClr val="626669"/>
                </a:solidFill>
                <a:latin typeface="Noto Sans"/>
                <a:ea typeface="Noto Sans CJK JP"/>
                <a:cs typeface="Noto Sans"/>
                <a:hlinkClick r:id="rId2"/>
              </a:rPr>
              <a:t>https://huggingface.co/datasets/dennlinger/eur-lex-sum</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JSONLから、法令の識別子・本文・要約を読む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言語と統計の補足</a:t>
            </a:r>
          </a:p>
        </p:txBody>
      </p:sp>
      <p:sp>
        <p:nvSpPr>
          <p:cNvPr id="4" name="code-frame"/>
          <p:cNvSpPr/>
          <p:nvPr/>
        </p:nvSpPr>
        <p:spPr>
          <a:xfrm>
            <a:off x="548640" y="1549400"/>
            <a:ext cx="8046720" cy="188810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5207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import json</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with open("english_test.jsonl", encoding="utf-8") as f:</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row = json.loads(next(f))</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print(row["celex_id"])</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print(row["reference"])</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print(row["summary"])</a:t>
            </a:r>
          </a:p>
        </p:txBody>
      </p:sp>
      <p:sp>
        <p:nvSpPr>
          <p:cNvPr id="5" name="TextBox 4"/>
          <p:cNvSpPr txBox="1"/>
          <p:nvPr/>
        </p:nvSpPr>
        <p:spPr>
          <a:xfrm>
            <a:off x="594360" y="3611880"/>
            <a:ext cx="7955279" cy="64008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英語testの最初の1件を読み、Celex ID、法令本文、参照要約を順に表示する。ほかの言語も同じ三つの欄を持つ。</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et al. EUR-Lex-Sum. </a:t>
            </a:r>
            <a:r>
              <a:rPr sz="810" b="0" lang="ja-JP" altLang="en-US">
                <a:solidFill>
                  <a:srgbClr val="626669"/>
                </a:solidFill>
                <a:latin typeface="Noto Sans"/>
                <a:ea typeface="Noto Sans CJK JP"/>
                <a:cs typeface="Noto Sans"/>
                <a:hlinkClick r:id="rId3"/>
              </a:rPr>
              <a:t>https://huggingface.co/datasets/dennlinger/eur-lex-sum</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Aumiller・Chouhan・Gertzの研究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Dennis AumillerとAshish Chouhanは共同第一著者。Michael Gertzとともに、ハイデルベルク大学のデータベースシステム研究グループで制作した。</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EMNLP 2022で発表。多言語の法令要約を、長文・低資源言語・言語間生成の研究につなげた。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Aumiller, Chouhan &amp; Gertz (2022), EUR-Lex-Sum: A Multi- and Cross-lingual Dataset for Long-form Summarization in the Legal Domain.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https://aclanthology.org/2022.emnlp-main.519/</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EUR-Lex-Sum: A Multi- and Cross-lingual Dataset for Long-form Summarization in the Legal Domain"/>
          <p:cNvSpPr txBox="1"/>
          <p:nvPr/>
        </p:nvSpPr>
        <p:spPr>
          <a:xfrm>
            <a:off x="548640" y="1280160"/>
            <a:ext cx="8046720" cy="19436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EUR-Lex-Sum: A Multi- and Cross-lingual Dataset for Long-form Summarization in the Legal Domain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Dennis Aumiller, Ashish Chouhan, Michael Gertz (2022) ／ EMNLP</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24言語の法令要約の収集・分割、長さと抽象性の分析、同言語と言語間のbaselineを報告。</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https://aclanthology.org/2022.emnlp-main.519/</a:t>
            </a:r>
          </a:p>
        </p:txBody>
      </p:sp>
      <p:sp>
        <p:nvSpPr>
          <p:cNvPr id="5" name="文献 2: EUR-Lex-Sum：公式コードとデータ"/>
          <p:cNvSpPr txBox="1"/>
          <p:nvPr/>
        </p:nvSpPr>
        <p:spPr>
          <a:xfrm>
            <a:off x="548640" y="3226816"/>
            <a:ext cx="8046720" cy="16540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EUR-Lex-Sum：公式コードとデータ</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Aumiller et al. · n.d. · 公式GitHub・Hugging Face（2026-10-18参照）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収集・分析・LexRankのコードと、言語別の本文・要約・Celex IDを公開する。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https://github.com/achouhan93/eur-lex-sum</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ROUGE: A Package for Automatic Evaluation of Summaries"/>
          <p:cNvSpPr txBox="1"/>
          <p:nvPr/>
        </p:nvSpPr>
        <p:spPr>
          <a:xfrm>
            <a:off x="548640" y="1280160"/>
            <a:ext cx="8046720" cy="16540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ROUGE: A Package for Automatic Evaluation of Summaries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Chin-Yew Lin (2004) ／ Text Summarization Branches Out</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参照要約と生成要約の語や語列の重なりを使い、複数の自動評価指標を定義する。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https://aclanthology.org/W04-1013/</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2026-10-18T08:14:55Z</dcterms:modified>
  <dc:title>eurlexsum</dc:title>
  <dc:creator>sasakiy84</dc:creator>
  <dcterms:created xsi:type="dcterms:W3CDTF">2026-10-18T08:14:55Z</dcterms:created>
  <dc:language>ja-JP</dc:language>
</cp:coreProperties>
</file>