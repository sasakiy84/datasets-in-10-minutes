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orilla.cs.berkeley.edu/leaderboard.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proceedings.mlr.press/v267/patil25a.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hishirPatil/gorilla/tree/main/berkeley-function-call-leaderboard/bfcl_eval/data"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proceedings.mlr.press/v267/patil25a.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orilla.cs.berkeley.edu/blogs/12_bfcl_v2_live.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orilla.cs.berkeley.edu/blogs/8_berkeley_function_calling_leaderboard.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orilla.cs.berkeley.edu/blogs/12_bfcl_v2_live.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orilla.cs.berkeley.edu/blogs/13_bfcl_v3_multi_turn.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orilla.cs.berkeley.edu/blogs/15_bfcl_v4_web_search.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orilla.cs.berkeley.edu/blogs/16_bfcl_v4_memory.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proceedings.mlr.press/v267/patil25a.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proceedings.mlr.press/v267/patil25a.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proceedings.mlr.press/v267/patil25a.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orilla.cs.berkeley.edu/blogs/15_bfcl_v4_web_search.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orilla.cs.berkeley.edu/blogs/15_bfcl_v4_web_search.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proceedings.mlr.press/v267/patil25a.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orilla.cs.berkeley.edu/leaderboard.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orilla.cs.berkeley.edu/leaderboard.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orilla.cs.berkeley.edu/blogs/17_bfcl_v4_prompt_variation.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hishirPatil/gorilla/tree/main/berkeley-function-call-leaderboard"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hishirPatil/gorilla/tree/main/berkeley-function-call-leaderboard"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proceedings.mlr.press/v267/patil25a.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bfcl_eval/data"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proceedings.mlr.press/v267/patil25a.html"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proceedings.mlr.press/v267/patil25a.html" TargetMode="External"/><Relationship Id="rId3" Type="http://schemas.openxmlformats.org/officeDocument/2006/relationships/hyperlink" Target="https://gorilla.cs.berkeley.edu/leaderboard.html"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orilla.cs.berkeley.edu/blogs/8_berkeley_function_calling_leaderboard.html" TargetMode="External"/><Relationship Id="rId3" Type="http://schemas.openxmlformats.org/officeDocument/2006/relationships/hyperlink" Target="https://gorilla.cs.berkeley.edu/blogs/12_bfcl_v2_live.html"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orilla.cs.berkeley.edu/blogs/13_bfcl_v3_multi_turn.html" TargetMode="External"/><Relationship Id="rId3" Type="http://schemas.openxmlformats.org/officeDocument/2006/relationships/hyperlink" Target="https://gorilla.cs.berkeley.edu/blogs/15_bfcl_v4_web_search.html"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orilla.cs.berkeley.edu/blogs/16_bfcl_v4_memory.html" TargetMode="External"/><Relationship Id="rId3" Type="http://schemas.openxmlformats.org/officeDocument/2006/relationships/hyperlink" Target="https://gorilla.cs.berkeley.edu/blogs/17_bfcl_v4_prompt_variation.html"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ishirPatil/gorilla/tree/main/berkeley-function-call-leaderboard" TargetMode="External"/><Relationship Id="rId3" Type="http://schemas.openxmlformats.org/officeDocument/2006/relationships/hyperlink" Target="https://www.letour.fr/en/news/2024/stage-21/sublime-pogacar-seals-third-tour-victory-in-nice/1324643"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637627"/>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BFCL</a:t>
            </a:r>
          </a:p>
        </p:txBody>
      </p:sp>
      <p:sp>
        <p:nvSpPr>
          <p:cNvPr id="3" name="Subtitle 2"/>
          <p:cNvSpPr>
            <a:spLocks noGrp="1"/>
          </p:cNvSpPr>
          <p:nvPr>
            <p:ph type="subTitle" idx="1"/>
          </p:nvPr>
        </p:nvSpPr>
        <p:spPr>
          <a:xfrm>
            <a:off x="548640" y="2647277"/>
            <a:ext cx="8046720" cy="1053465"/>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Berkeley Function Calling Leaderboard</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関数の選択と、会話中のツール利用を評価する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400" b="0">
                <a:solidFill>
                  <a:srgbClr val="303437"/>
                </a:solidFill>
                <a:latin typeface="Noto Sans"/>
              </a:defRPr>
            </a:pPr>
            <a:r>
              <a:rPr sz="1400" b="0" lang="ja-JP" altLang="en-US">
                <a:solidFill>
                  <a:srgbClr val="626669"/>
                </a:solidFill>
                <a:latin typeface="Noto Sans"/>
                <a:ea typeface="Noto Sans CJK JP"/>
                <a:cs typeface="Noto Sans"/>
              </a:rPr>
              <a:t>datasets in 10 minutes (2026-10-25)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BFCLの公式リーダーボード</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関数を選び、引数を作る課題</a:t>
            </a:r>
          </a:p>
        </p:txBody>
      </p:sp>
      <p:pic>
        <p:nvPicPr>
          <p:cNvPr id="4" name="Picture 3" descr="official-site.png"/>
          <p:cNvPicPr>
            <a:picLocks noChangeAspect="1"/>
          </p:cNvPicPr>
          <p:nvPr/>
        </p:nvPicPr>
        <p:blipFill>
          <a:blip r:embed="rId2"/>
          <a:stretch>
            <a:fillRect/>
          </a:stretch>
        </p:blipFill>
        <p:spPr>
          <a:xfrm>
            <a:off x="2366467" y="1481328"/>
            <a:ext cx="4411065" cy="3063240"/>
          </a:xfrm>
          <a:prstGeom prst="rect">
            <a:avLst/>
          </a:prstGeom>
        </p:spPr>
      </p:pic>
      <p:sp>
        <p:nvSpPr>
          <p:cNvPr id="5"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Berkeley Function Calling Leaderboard V4</a:t>
            </a:r>
          </a:p>
        </p:txBody>
      </p:sp>
      <p:sp>
        <p:nvSpPr>
          <p:cNvPr id="6"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https://gorilla.cs.berkeley.edu/leaderboard.html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関数を選び、引数を作る課題</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データの構築と機能の広がり</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採点方法とモデルの到達水準</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公開データの利用方法</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関数を選び、引数を作る課題</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関数を選び、引数を作る課題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依頼と関数定義から、適切な呼び出しを作る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BFCLは、言語モデルが外部の関数やAPIを使う能力を評価する。入力は利用者の依頼と利用できる関数の定義で、モデルは関数名と引数を出力する。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UC BerkeleyのGorillaチームが開発した。関数の選択、一つの関数の複数回の呼び出し、会話中の状態の引継ぎまで、段階的に評価範囲を広げている。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関数を選び、引数を作る課題</a:t>
            </a:r>
          </a:p>
        </p:txBody>
      </p:sp>
      <p:sp>
        <p:nvSpPr>
          <p:cNvPr id="5"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Patil et al. (2025), The Berkeley Function Calling Leaderboard (BFCL), ICML 2025</a:t>
            </a:r>
          </a:p>
        </p:txBody>
      </p:sp>
      <p:sp>
        <p:nvSpPr>
          <p:cNvPr id="6"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https://proceedings.mlr.press/v267/patil25a.html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関数定義には、役割と引数の条件が書かれる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関数名と説明に加え、引数の名前・型・必須項目を与える。選択肢や既定値がある引数では、その条件も使って呼び出しを作る。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本編では、公開された単一ターンの三つの実例を読む。定義の型名や関数名は配布どおりに示し、許容される呼び出しの一例を正解例として載せる。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関数を選び、引数を作る課題</a:t>
            </a:r>
          </a:p>
        </p:txBody>
      </p:sp>
      <p:sp>
        <p:nvSpPr>
          <p:cNvPr id="5"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6"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5の階乗を求める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関数を選び、引数を作る課題</a:t>
            </a:r>
          </a:p>
        </p:txBody>
      </p:sp>
      <p:sp>
        <p:nvSpPr>
          <p:cNvPr id="4" name="TextBox 3"/>
          <p:cNvSpPr txBox="1"/>
          <p:nvPr/>
        </p:nvSpPr>
        <p:spPr>
          <a:xfrm>
            <a:off x="548640" y="1405159"/>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依頼と関数定義の原文（全フィールド）</a:t>
            </a:r>
          </a:p>
        </p:txBody>
      </p:sp>
      <p:sp>
        <p:nvSpPr>
          <p:cNvPr id="5" name="quote-frame"/>
          <p:cNvSpPr/>
          <p:nvPr/>
        </p:nvSpPr>
        <p:spPr>
          <a:xfrm>
            <a:off x="548640" y="1633759"/>
            <a:ext cx="8046720" cy="179552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Calculate the factorial of the number 5</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name: math.factorial</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description: Calculate the factorial of a given number.</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parameters: type=dict; required=["number"]</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number: type=integer; description=The number to compute factorial.</a:t>
            </a:r>
          </a:p>
        </p:txBody>
      </p:sp>
      <p:sp>
        <p:nvSpPr>
          <p:cNvPr id="6" name="TextBox 5"/>
          <p:cNvSpPr txBox="1"/>
          <p:nvPr/>
        </p:nvSpPr>
        <p:spPr>
          <a:xfrm>
            <a:off x="548640" y="3539013"/>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依頼の日本語訳（全文）</a:t>
            </a:r>
          </a:p>
        </p:txBody>
      </p:sp>
      <p:sp>
        <p:nvSpPr>
          <p:cNvPr id="7" name="TextBox 6"/>
          <p:cNvSpPr txBox="1"/>
          <p:nvPr/>
        </p:nvSpPr>
        <p:spPr>
          <a:xfrm>
            <a:off x="594360" y="3767613"/>
            <a:ext cx="7955279" cy="333121"/>
          </a:xfrm>
          <a:prstGeom prst="rect">
            <a:avLst/>
          </a:prstGeom>
          <a:noFill/>
        </p:spPr>
        <p:txBody>
          <a:bodyPr wrap="square" lIns="0" rIns="0" tIns="0" bIns="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5の階乗を計算する。</a:t>
            </a:r>
          </a:p>
        </p:txBody>
      </p:sp>
      <p:sp>
        <p:nvSpPr>
          <p:cNvPr id="8" name="TextBox 7"/>
          <p:cNvSpPr txBox="1"/>
          <p:nvPr/>
        </p:nvSpPr>
        <p:spPr>
          <a:xfrm>
            <a:off x="594360" y="4192174"/>
            <a:ext cx="7955279" cy="40112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math.factorial(number=5)</a:t>
            </a:r>
          </a:p>
        </p:txBody>
      </p:sp>
      <p:sp>
        <p:nvSpPr>
          <p:cNvPr id="9"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10"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5の階乗を求める：日本語訳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関数を選び、引数を作る課題</a:t>
            </a:r>
          </a:p>
        </p:txBody>
      </p:sp>
      <p:sp>
        <p:nvSpPr>
          <p:cNvPr id="4" name="TextBox 3"/>
          <p:cNvSpPr txBox="1"/>
          <p:nvPr/>
        </p:nvSpPr>
        <p:spPr>
          <a:xfrm>
            <a:off x="548640" y="1335024"/>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依頼と関数定義の日本語訳</a:t>
            </a:r>
          </a:p>
        </p:txBody>
      </p:sp>
      <p:sp>
        <p:nvSpPr>
          <p:cNvPr id="5" name="TextBox 4"/>
          <p:cNvSpPr txBox="1"/>
          <p:nvPr/>
        </p:nvSpPr>
        <p:spPr>
          <a:xfrm>
            <a:off x="594360" y="1655064"/>
            <a:ext cx="7955279" cy="1164336"/>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name: math.factorial</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description: 与えられた数の階乗を計算する。</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parameters: type=dict; required=["number"]</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number: type=integer; description=階乗を求める数。</a:t>
            </a:r>
          </a:p>
        </p:txBody>
      </p:sp>
      <p:sp>
        <p:nvSpPr>
          <p:cNvPr id="6" name="TextBox 5"/>
          <p:cNvSpPr txBox="1"/>
          <p:nvPr/>
        </p:nvSpPr>
        <p:spPr>
          <a:xfrm>
            <a:off x="594360" y="3093719"/>
            <a:ext cx="7955279" cy="348234"/>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階乗を求める関数math.factorialを選び、numberに整数5を渡す。</a:t>
            </a:r>
          </a:p>
        </p:txBody>
      </p:sp>
      <p:sp>
        <p:nvSpPr>
          <p:cNvPr id="7"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8"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仏教の起源を調べる関数を選ぶ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関数を選び、引数を作る課題</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依頼と関数定義の原文（全フィールド）</a:t>
            </a:r>
          </a:p>
        </p:txBody>
      </p:sp>
      <p:sp>
        <p:nvSpPr>
          <p:cNvPr id="5" name="quote-frame"/>
          <p:cNvSpPr/>
          <p:nvPr/>
        </p:nvSpPr>
        <p:spPr>
          <a:xfrm>
            <a:off x="548640" y="1481328"/>
            <a:ext cx="8046720" cy="32258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143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Who was the founder of Buddhism and where was it originated?</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name: religion.get_core_beliefs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description: Retrieves the core beliefs and practices of a specified religion.</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parameters: type=dict; required=["religion"]</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religion: type=string; description=Name of the religion for which to retrieve the core beliefs and practices.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name: religion.get_origin</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description: Retrieves the origin and founder information of a specified religion.</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parameters: type=dict; required=["religion"]</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religion: type=string; description=Name of the religion for which to retrieve the founder and origin.</a:t>
            </a:r>
          </a:p>
        </p:txBody>
      </p:sp>
      <p:sp>
        <p:nvSpPr>
          <p:cNvPr id="6" name="sources"/>
          <p:cNvSpPr txBox="1"/>
          <p:nvPr/>
        </p:nvSpPr>
        <p:spPr>
          <a:xfrm>
            <a:off x="502920" y="47360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7" name="source-url"/>
          <p:cNvSpPr txBox="1"/>
          <p:nvPr/>
        </p:nvSpPr>
        <p:spPr>
          <a:xfrm>
            <a:off x="502920" y="49189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50" b="0">
                <a:solidFill>
                  <a:srgbClr val="303437"/>
                </a:solidFill>
                <a:latin typeface="Noto Sans"/>
              </a:defRPr>
            </a:pPr>
            <a:r>
              <a:rPr sz="2750" b="1" lang="ja-JP" altLang="en-US">
                <a:solidFill>
                  <a:srgbClr val="303437"/>
                </a:solidFill>
                <a:latin typeface="Noto Sans"/>
                <a:ea typeface="Noto Sans CJK JP"/>
                <a:cs typeface="Noto Sans"/>
              </a:rPr>
              <a:t>例2 仏教の起源を調べる関数を選ぶ：日本語訳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関数を選び、引数を作る課題</a:t>
            </a:r>
          </a:p>
        </p:txBody>
      </p:sp>
      <p:sp>
        <p:nvSpPr>
          <p:cNvPr id="4" name="TextBox 3"/>
          <p:cNvSpPr txBox="1"/>
          <p:nvPr/>
        </p:nvSpPr>
        <p:spPr>
          <a:xfrm>
            <a:off x="548640" y="1335024"/>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依頼と関数定義の日本語訳</a:t>
            </a:r>
          </a:p>
        </p:txBody>
      </p:sp>
      <p:sp>
        <p:nvSpPr>
          <p:cNvPr id="5" name="TextBox 4"/>
          <p:cNvSpPr txBox="1"/>
          <p:nvPr/>
        </p:nvSpPr>
        <p:spPr>
          <a:xfrm>
            <a:off x="594360" y="1618488"/>
            <a:ext cx="7955279" cy="2985452"/>
          </a:xfrm>
          <a:prstGeom prst="rect">
            <a:avLst/>
          </a:prstGeom>
          <a:noFill/>
        </p:spPr>
        <p:txBody>
          <a:bodyPr wrap="square" lIns="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仏教の開祖は誰で、仏教はどこで始まったのか。</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name: religion.get_core_beliefs</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description: 指定した宗教の中心的な信仰や実践を取得する。</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parameters: type=dict; required=["religion"]</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religion: type=string; description=中心的な信仰や実践を取得する宗教名。</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name: religion.get_origin</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description: 指定した宗教の起源と創始者の情報を取得する。</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parameters: type=dict; required=["religion"]</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religion: type=string; description=創始者と起源を取得する宗教名。</a:t>
            </a:r>
          </a:p>
        </p:txBody>
      </p:sp>
      <p:sp>
        <p:nvSpPr>
          <p:cNvPr id="6"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7"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500" b="0">
                <a:solidFill>
                  <a:srgbClr val="303437"/>
                </a:solidFill>
                <a:latin typeface="Noto Sans"/>
              </a:defRPr>
            </a:pPr>
            <a:r>
              <a:rPr sz="2500" b="1" lang="ja-JP" altLang="en-US">
                <a:solidFill>
                  <a:srgbClr val="303437"/>
                </a:solidFill>
                <a:latin typeface="Noto Sans"/>
                <a:ea typeface="Noto Sans CJK JP"/>
                <a:cs typeface="Noto Sans"/>
              </a:rPr>
              <a:t>例2 仏教の起源を調べる関数を選ぶ：正解と読み方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関数を選び、引数を作る課題</a:t>
            </a:r>
          </a:p>
        </p:txBody>
      </p:sp>
      <p:sp>
        <p:nvSpPr>
          <p:cNvPr id="4" name="TextBox 3"/>
          <p:cNvSpPr txBox="1"/>
          <p:nvPr/>
        </p:nvSpPr>
        <p:spPr>
          <a:xfrm>
            <a:off x="548640" y="1371600"/>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参照条件を満たす呼び出しの一例</a:t>
            </a:r>
          </a:p>
        </p:txBody>
      </p:sp>
      <p:sp>
        <p:nvSpPr>
          <p:cNvPr id="5" name="TextBox 4"/>
          <p:cNvSpPr txBox="1"/>
          <p:nvPr/>
        </p:nvSpPr>
        <p:spPr>
          <a:xfrm>
            <a:off x="594360" y="1737360"/>
            <a:ext cx="7955279" cy="398081"/>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Liberation Mono"/>
                <a:ea typeface="Noto Sans CJK JP"/>
                <a:cs typeface="Liberation Mono"/>
              </a:rPr>
              <a:t>religion.get_origin(religion="Buddhism")</a:t>
            </a:r>
          </a:p>
        </p:txBody>
      </p:sp>
      <p:sp>
        <p:nvSpPr>
          <p:cNvPr id="6" name="TextBox 5"/>
          <p:cNvSpPr txBox="1"/>
          <p:nvPr/>
        </p:nvSpPr>
        <p:spPr>
          <a:xfrm>
            <a:off x="594360" y="2354897"/>
            <a:ext cx="7955279" cy="650494"/>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信仰や実践を取得する関数ではなく、起源と創始者を取得する関数を選ぶ。引数には英語の宗教名を使う。</a:t>
            </a:r>
          </a:p>
        </p:txBody>
      </p:sp>
      <p:sp>
        <p:nvSpPr>
          <p:cNvPr id="7"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8"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二つの料理のレシピを検索する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関数を選び、引数を作る課題</a:t>
            </a:r>
          </a:p>
        </p:txBody>
      </p:sp>
      <p:sp>
        <p:nvSpPr>
          <p:cNvPr id="4" name="TextBox 3"/>
          <p:cNvSpPr txBox="1"/>
          <p:nvPr/>
        </p:nvSpPr>
        <p:spPr>
          <a:xfrm>
            <a:off x="548640" y="1335024"/>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依頼と関数定義の原文（全フィールド）</a:t>
            </a:r>
          </a:p>
        </p:txBody>
      </p:sp>
      <p:sp>
        <p:nvSpPr>
          <p:cNvPr id="5" name="quote-frame"/>
          <p:cNvSpPr/>
          <p:nvPr/>
        </p:nvSpPr>
        <p:spPr>
          <a:xfrm>
            <a:off x="548640" y="1861820"/>
            <a:ext cx="8046720" cy="243027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Search for a Chicken Noodle Soup recipe and a Vegan Salad recipe.</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name: recipe_search.find</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description: Locate recipes based on the type of dish.</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parameters: type=dict; required=["dish"]</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dish: type=string; description=The name of the dish to search for.</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diet: type=string; enum=["Vegan", "Vegetarian", "Paleo", "Keto"]; description=Dietary preference.; default=Keto</a:t>
            </a:r>
          </a:p>
        </p:txBody>
      </p:sp>
      <p:sp>
        <p:nvSpPr>
          <p:cNvPr id="6"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7"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50" b="0">
                <a:solidFill>
                  <a:srgbClr val="303437"/>
                </a:solidFill>
                <a:latin typeface="Noto Sans"/>
              </a:defRPr>
            </a:pPr>
            <a:r>
              <a:rPr sz="2750" b="1" lang="ja-JP" altLang="en-US">
                <a:solidFill>
                  <a:srgbClr val="303437"/>
                </a:solidFill>
                <a:latin typeface="Noto Sans"/>
                <a:ea typeface="Noto Sans CJK JP"/>
                <a:cs typeface="Noto Sans"/>
              </a:rPr>
              <a:t>例3 二つの料理のレシピを検索する：日本語訳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関数を選び、引数を作る課題</a:t>
            </a:r>
          </a:p>
        </p:txBody>
      </p:sp>
      <p:sp>
        <p:nvSpPr>
          <p:cNvPr id="4" name="TextBox 3"/>
          <p:cNvSpPr txBox="1"/>
          <p:nvPr/>
        </p:nvSpPr>
        <p:spPr>
          <a:xfrm>
            <a:off x="548640" y="1335024"/>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依頼と関数定義の日本語訳</a:t>
            </a:r>
          </a:p>
        </p:txBody>
      </p:sp>
      <p:sp>
        <p:nvSpPr>
          <p:cNvPr id="5" name="TextBox 4"/>
          <p:cNvSpPr txBox="1"/>
          <p:nvPr/>
        </p:nvSpPr>
        <p:spPr>
          <a:xfrm>
            <a:off x="594360" y="1655064"/>
            <a:ext cx="7955279" cy="2252471"/>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チキンヌードルスープとヴィーガンサラダのレシピを検索する。</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name: recipe_search.find</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description: 料理の種類に基づいてレシピを探す。</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parameters: type=dict; required=["dish"]</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dish: type=string; description=検索する料理の名前。</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diet: type=string; enum=["Vegan", "Vegetarian", "Paleo", "Keto"]; description=食事上の好み。; default=Keto</a:t>
            </a:r>
          </a:p>
        </p:txBody>
      </p:sp>
      <p:sp>
        <p:nvSpPr>
          <p:cNvPr id="6"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7"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500" b="0">
                <a:solidFill>
                  <a:srgbClr val="303437"/>
                </a:solidFill>
                <a:latin typeface="Noto Sans"/>
              </a:defRPr>
            </a:pPr>
            <a:r>
              <a:rPr sz="2500" b="1" lang="ja-JP" altLang="en-US">
                <a:solidFill>
                  <a:srgbClr val="303437"/>
                </a:solidFill>
                <a:latin typeface="Noto Sans"/>
                <a:ea typeface="Noto Sans CJK JP"/>
                <a:cs typeface="Noto Sans"/>
              </a:rPr>
              <a:t>例3 二つの料理のレシピを検索する：正解と読み方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関数を選び、引数を作る課題</a:t>
            </a:r>
          </a:p>
        </p:txBody>
      </p:sp>
      <p:sp>
        <p:nvSpPr>
          <p:cNvPr id="4" name="TextBox 3"/>
          <p:cNvSpPr txBox="1"/>
          <p:nvPr/>
        </p:nvSpPr>
        <p:spPr>
          <a:xfrm>
            <a:off x="548640" y="1371600"/>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参照条件を満たす呼び出しの一例</a:t>
            </a:r>
          </a:p>
        </p:txBody>
      </p:sp>
      <p:sp>
        <p:nvSpPr>
          <p:cNvPr id="5" name="TextBox 4"/>
          <p:cNvSpPr txBox="1"/>
          <p:nvPr/>
        </p:nvSpPr>
        <p:spPr>
          <a:xfrm>
            <a:off x="594360" y="1737360"/>
            <a:ext cx="7955279" cy="723010"/>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Liberation Mono"/>
                <a:ea typeface="Noto Sans CJK JP"/>
                <a:cs typeface="Liberation Mono"/>
              </a:rPr>
              <a:t>recipe_search.find(dish="Chicken Noodle Soup")</a:t>
            </a:r>
          </a:p>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Liberation Mono"/>
                <a:ea typeface="Noto Sans CJK JP"/>
                <a:cs typeface="Liberation Mono"/>
              </a:rPr>
              <a:t>recipe_search.find(dish="Salad", diet="Vegan")</a:t>
            </a:r>
          </a:p>
        </p:txBody>
      </p:sp>
      <p:sp>
        <p:nvSpPr>
          <p:cNvPr id="6" name="TextBox 5"/>
          <p:cNvSpPr txBox="1"/>
          <p:nvPr/>
        </p:nvSpPr>
        <p:spPr>
          <a:xfrm>
            <a:off x="594360" y="2679827"/>
            <a:ext cx="7955279" cy="650494"/>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二つの料理に同じ関数を一度ずつ使う。サラダではdietにVeganを指定する。参照条件はサラダ名の複数の表記を許容する。</a:t>
            </a:r>
          </a:p>
        </p:txBody>
      </p:sp>
      <p:sp>
        <p:nvSpPr>
          <p:cNvPr id="7"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8"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データの構築と機能の広がり</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データの構築と機能の広がり</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公開コードから関数を集め、依頼文を作る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最初の単一ターンのデータでは、Python・Java・JavaScriptの人気のあるGitHubリポジトリから、関数名、説明、引数、既定値を抽出した。数理計算や公開APIを使う実行用の関数も作った。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関数定義を共通形式に整え、それに対応する依頼文を作成した。関数の候補や呼び出す回数を増やし、人手で依頼・定義・引数の対応を確認した。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データの構築と機能の広がり</a:t>
            </a:r>
          </a:p>
        </p:txBody>
      </p:sp>
      <p:sp>
        <p:nvSpPr>
          <p:cNvPr id="5"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Patil et al. (2025), The Berkeley Function Calling Leaderboard (BFCL), ICML 2025</a:t>
            </a:r>
          </a:p>
        </p:txBody>
      </p:sp>
      <p:sp>
        <p:nvSpPr>
          <p:cNvPr id="6"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https://proceedings.mlr.press/v267/patil25a.html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50" b="0">
                <a:solidFill>
                  <a:srgbClr val="303437"/>
                </a:solidFill>
                <a:latin typeface="Noto Sans"/>
              </a:defRPr>
            </a:pPr>
            <a:r>
              <a:rPr sz="2750" b="1" lang="ja-JP" altLang="en-US">
                <a:solidFill>
                  <a:srgbClr val="303437"/>
                </a:solidFill>
                <a:latin typeface="Noto Sans"/>
                <a:ea typeface="Noto Sans CJK JP"/>
                <a:cs typeface="Noto Sans"/>
              </a:rPr>
              <a:t>実際の利用者の依頼を、Liveデータへ取り込む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2024年2月26日から4月1日までに、公開エンドポイントへ届いた64,517件の依頼を集めた。重複や既存の公開テストを除き、評価用に2,251件を整えた。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人手の修正は意味を保つ最小限にし、曖昧な内容を明確にした。個人情報は代替表記へ置き換えた。多言語の依頼や、多数の関数候補を持つ実務的な入力も含む。</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データの構築と機能の広がり</a:t>
            </a:r>
          </a:p>
        </p:txBody>
      </p:sp>
      <p:sp>
        <p:nvSpPr>
          <p:cNvPr id="5"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(2024), BFCL V2 Live Dataset</a:t>
            </a:r>
          </a:p>
        </p:txBody>
      </p:sp>
      <p:sp>
        <p:nvSpPr>
          <p:cNvPr id="6"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https://gorilla.cs.berkeley.edu/blogs/12_bfcl_v2_live.html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50" b="0">
                <a:solidFill>
                  <a:srgbClr val="303437"/>
                </a:solidFill>
                <a:latin typeface="Noto Sans"/>
              </a:defRPr>
            </a:pPr>
            <a:r>
              <a:rPr sz="2750" b="1" lang="ja-JP" altLang="en-US">
                <a:solidFill>
                  <a:srgbClr val="303437"/>
                </a:solidFill>
                <a:latin typeface="Noto Sans"/>
                <a:ea typeface="Noto Sans CJK JP"/>
                <a:cs typeface="Noto Sans"/>
              </a:rPr>
              <a:t>単一ターンでは、選ぶ関数と呼ぶ回数を変える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データの構築と機能の広がり</a:t>
            </a:r>
          </a:p>
        </p:txBody>
      </p:sp>
      <p:graphicFrame>
        <p:nvGraphicFramePr>
          <p:cNvPr id="4" name="Table 3"/>
          <p:cNvGraphicFramePr>
            <a:graphicFrameLocks noGrp="1"/>
          </p:cNvGraphicFramePr>
          <p:nvPr/>
        </p:nvGraphicFramePr>
        <p:xfrm>
          <a:off x="548640" y="1508760"/>
          <a:ext cx="8046720" cy="2304288"/>
        </p:xfrm>
        <a:graphic>
          <a:graphicData uri="http://schemas.openxmlformats.org/drawingml/2006/table">
            <a:tbl>
              <a:tblPr firstRow="0" bandRow="0"/>
              <a:tblGrid>
                <a:gridCol w="2834640"/>
                <a:gridCol w="2606040"/>
                <a:gridCol w="2606040"/>
              </a:tblGrid>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カテゴリ</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関数の候補</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呼び出し</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Simple</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一つ</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一回</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Multiple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複数</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一つを選ぶ</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Parallel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一つ</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複数回</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Parallel Multiple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複数</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複数回</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Irrelevance</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依頼に不適合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呼ばない</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(2024), Berkeley Function Calling Leaderboard</a:t>
            </a:r>
          </a:p>
        </p:txBody>
      </p:sp>
      <p:sp>
        <p:nvSpPr>
          <p:cNvPr id="6"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https://gorilla.cs.berkeley.edu/blogs/8_berkeley_function_calling_leaderboard.html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Liveでは、複数候補から選ぶ問いが多い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データの構築と機能の広がり</a:t>
            </a:r>
          </a:p>
        </p:txBody>
      </p:sp>
      <p:graphicFrame>
        <p:nvGraphicFramePr>
          <p:cNvPr id="4" name="Table 3"/>
          <p:cNvGraphicFramePr>
            <a:graphicFrameLocks noGrp="1"/>
          </p:cNvGraphicFramePr>
          <p:nvPr/>
        </p:nvGraphicFramePr>
        <p:xfrm>
          <a:off x="548640" y="1508760"/>
          <a:ext cx="8046720" cy="2032000"/>
        </p:xfrm>
        <a:graphic>
          <a:graphicData uri="http://schemas.openxmlformats.org/drawingml/2006/table">
            <a:tbl>
              <a:tblPr firstRow="0" bandRow="0"/>
              <a:tblGrid>
                <a:gridCol w="6309360"/>
                <a:gridCol w="173736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呼び出しが必要なカテゴリ</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件数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Simple</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258</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Multiple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1,053</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Parallel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16</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Parallel Multiple</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24</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6877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関数を呼ぶ四つのカテゴリの内訳。呼ばない判断を扱う問いも別に含む。</a:t>
            </a:r>
          </a:p>
        </p:txBody>
      </p:sp>
      <p:sp>
        <p:nvSpPr>
          <p:cNvPr id="6"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(2024), BFCL V2 Live Dataset</a:t>
            </a:r>
          </a:p>
        </p:txBody>
      </p:sp>
      <p:sp>
        <p:nvSpPr>
          <p:cNvPr id="7"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https://gorilla.cs.berkeley.edu/blogs/12_bfcl_v2_live.html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会話が進むと、必要な情報や操作も変わる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バージョン3では、ファイル操作や旅行予約など、独自に実装した8分野のAPIで会話を作った。初期状態を設定し、関数呼び出しの経路から依頼文を作り、人手で正解の経路を付けた。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現在の配布には、基本の会話、引数が不足する会話、関数が不足する会話、長い文脈の会話が各200件ある。ツールの結果を読んで、次の呼び出しを決める。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データの構築と機能の広がり</a:t>
            </a:r>
          </a:p>
        </p:txBody>
      </p:sp>
      <p:sp>
        <p:nvSpPr>
          <p:cNvPr id="5"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(2024), BFCL V3 Multi-Turn and Multi-Step</a:t>
            </a:r>
          </a:p>
        </p:txBody>
      </p:sp>
      <p:sp>
        <p:nvSpPr>
          <p:cNvPr id="6"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https://gorilla.cs.berkeley.edu/blogs/13_bfcl_v3_multi_turn.html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バージョン4は、Web検索と外部記憶も扱う</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Web検索では、検索結果から候補ページを探し、ページ本文を取得して回答する。受賞者や過去の大会結果など、最近の安定した事実を問う。</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記憶の課題では、先行する会話から利用者の情報を外部へ保存する。その後、会話履歴が空の状態で、保存済みの情報を読み、追加・更新・削除しながら答える。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データの構築と機能の広がり</a:t>
            </a:r>
          </a:p>
        </p:txBody>
      </p:sp>
      <p:sp>
        <p:nvSpPr>
          <p:cNvPr id="5"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(2025), BFCL V4 Web Search</a:t>
            </a:r>
          </a:p>
        </p:txBody>
      </p:sp>
      <p:sp>
        <p:nvSpPr>
          <p:cNvPr id="6"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https://gorilla.cs.berkeley.edu/blogs/15_bfcl_v4_web_search.html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同じ記憶課題を、三つの保存方式で比べる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記憶課題は、学生相談、顧客対応、医療、金融、個人の予定・タスク管理の5分野を扱う。利用者の情報が増えたり変わったりする会話を使い、必要な情報を保持できるかを調べる。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保存方式は、キーと値の組、類似した内容を探すベクトル検索、過去の会話を繰り返し要約する方式の三つ。155件を各方式で評価する。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データの構築と機能の広がり</a:t>
            </a:r>
          </a:p>
        </p:txBody>
      </p:sp>
      <p:sp>
        <p:nvSpPr>
          <p:cNvPr id="5"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(2025), BFCL V4 Memory</a:t>
            </a:r>
          </a:p>
        </p:txBody>
      </p:sp>
      <p:sp>
        <p:nvSpPr>
          <p:cNvPr id="6"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https://gorilla.cs.berkeley.edu/blogs/16_bfcl_v4_memory.html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機能の追加に伴い、バージョンを更新した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データの構築と機能の広がり</a:t>
            </a:r>
          </a:p>
        </p:txBody>
      </p:sp>
      <p:graphicFrame>
        <p:nvGraphicFramePr>
          <p:cNvPr id="4" name="Table 3"/>
          <p:cNvGraphicFramePr>
            <a:graphicFrameLocks noGrp="1"/>
          </p:cNvGraphicFramePr>
          <p:nvPr/>
        </p:nvGraphicFramePr>
        <p:xfrm>
          <a:off x="548640" y="1508760"/>
          <a:ext cx="8046720" cy="1958975"/>
        </p:xfrm>
        <a:graphic>
          <a:graphicData uri="http://schemas.openxmlformats.org/drawingml/2006/table">
            <a:tbl>
              <a:tblPr firstRow="0" bandRow="0"/>
              <a:tblGrid>
                <a:gridCol w="1554480"/>
                <a:gridCol w="1371600"/>
                <a:gridCol w="5120640"/>
              </a:tblGrid>
              <a:tr h="391795">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バージョン</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公開年</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主な追加</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1795">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2024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単一ターンとAST採点</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1795">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2024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利用者由来のLiveデータ</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2024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複数ターンと状態の確認</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2025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Web検索・記憶・書式評価</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Code and Data</a:t>
            </a:r>
          </a:p>
        </p:txBody>
      </p:sp>
      <p:sp>
        <p:nvSpPr>
          <p:cNvPr id="6"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採点方法とモデルの到達水準</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単一ターンでは、関数名と引数を照合する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ASTは、コードを名前や引数などの構造に分けた抽象構文木を指す。単一ターンでは、モデルの出力を解析し、関数名と各引数が参照条件に合うかを判定する。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参照条件には複数の許容値を持たせられる。レシピの例ではSaladなど複数の表記を許し、既定値と同じ引数の省略も認める。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sp>
        <p:nvSpPr>
          <p:cNvPr id="5"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Patil et al. (2025), The Berkeley Function Calling Leaderboard (BFCL), ICML 2025</a:t>
            </a:r>
          </a:p>
        </p:txBody>
      </p:sp>
      <p:sp>
        <p:nvSpPr>
          <p:cNvPr id="6"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https://proceedings.mlr.press/v267/patil25a.html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複数の呼び出しは、個数と内容を確かめる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複数回の呼び出しが必要な問題では、必要な呼び出しをすべて作れたかを確認する。関数名だけが合っていても、引数や呼び出しの数が違えば正解にならない。</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互いに依存しない呼び出しは、並び順を入れ替えても対応を照合できる。無関係な関数しかない問題では、関数を呼ばないことを採点する。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sp>
        <p:nvSpPr>
          <p:cNvPr id="5"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Patil et al. (2025), The Berkeley Function Calling Leaderboard (BFCL), ICML 2025</a:t>
            </a:r>
          </a:p>
        </p:txBody>
      </p:sp>
      <p:sp>
        <p:nvSpPr>
          <p:cNvPr id="6"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https://proceedings.mlr.press/v267/patil25a.html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会話では、状態と実行結果の両方を確認する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複数ターンでは、各ターンの操作後の状態を、参照の状態と比較する。ファイル作成や予約の変更など、依頼どおりの結果になっているかを確かめる。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情報を読むだけの操作は状態を変えないため、必要な関数を通じて結果を得たかも確認する。一つの会話のすべてのターンで、両方の条件を満たす必要がある。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sp>
        <p:nvSpPr>
          <p:cNvPr id="5"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Patil et al. (2025), The Berkeley Function Calling Leaderboard (BFCL), ICML 2025</a:t>
            </a:r>
          </a:p>
        </p:txBody>
      </p:sp>
      <p:sp>
        <p:nvSpPr>
          <p:cNvPr id="6"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https://proceedings.mlr.press/v267/patil25a.html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検索と記憶では、最終的な回答を採点する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Web検索と記憶の課題では、関数の呼び出しを経て作った最終回答を、配布された参照回答と照合する。たとえば大会の優勝者の出生国を問う問題なら、国名が回答になる。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バージョン4の総合得点は、検索や記憶を含むエージェント課題と、複数ターンの会話を重く扱う。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sp>
        <p:nvSpPr>
          <p:cNvPr id="5"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(2025), BFCL V4 Web Search</a:t>
            </a:r>
          </a:p>
        </p:txBody>
      </p:sp>
      <p:sp>
        <p:nvSpPr>
          <p:cNvPr id="6"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https://gorilla.cs.berkeley.edu/blogs/15_bfcl_v4_web_search.html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総合得点は、五つのまとまりに重みを付ける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graphicFrame>
        <p:nvGraphicFramePr>
          <p:cNvPr id="4" name="Table 3"/>
          <p:cNvGraphicFramePr>
            <a:graphicFrameLocks noGrp="1"/>
          </p:cNvGraphicFramePr>
          <p:nvPr/>
        </p:nvGraphicFramePr>
        <p:xfrm>
          <a:off x="548640" y="1508760"/>
          <a:ext cx="8046720" cy="2304288"/>
        </p:xfrm>
        <a:graphic>
          <a:graphicData uri="http://schemas.openxmlformats.org/drawingml/2006/table">
            <a:tbl>
              <a:tblPr firstRow="0" bandRow="0"/>
              <a:tblGrid>
                <a:gridCol w="6400800"/>
                <a:gridCol w="1645920"/>
              </a:tblGrid>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評価のまとまり</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重み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エージェント課題（検索・記憶）</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複数ターン</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30</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Liveの単一ターン</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10</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初期の単一ターン</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10</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無関係な関数を呼ばない判断</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41063"/>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バージョン4の構成。各まとまりの得点を集約して総合得点にする。</a:t>
            </a:r>
          </a:p>
        </p:txBody>
      </p:sp>
      <p:sp>
        <p:nvSpPr>
          <p:cNvPr id="6"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(2025), BFCL V4 Web Search</a:t>
            </a:r>
          </a:p>
        </p:txBody>
      </p:sp>
      <p:sp>
        <p:nvSpPr>
          <p:cNvPr id="7"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https://gorilla.cs.berkeley.edu/blogs/15_bfcl_v4_web_search.html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FCとPromptは、関数の渡し方が異なる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FCは、モデルが備える専用の関数呼び出し機能を使う設定である。関数の定義を専用の入力欄へ渡し、構造化された呼び出しを生成する。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Promptは、通常の文章生成に関数定義と指示を与え、呼び出しの形式で出力させる設定である。公式表では同じモデルでも設定を分けて報告している。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sp>
        <p:nvSpPr>
          <p:cNvPr id="5"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Patil et al. (2025), The Berkeley Function Calling Leaderboard (BFCL), ICML 2025</a:t>
            </a:r>
          </a:p>
        </p:txBody>
      </p:sp>
      <p:sp>
        <p:nvSpPr>
          <p:cNvPr id="6"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https://proceedings.mlr.press/v267/patil25a.html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公式公開表では、Opus 4.5が77.47%</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graphicFrame>
        <p:nvGraphicFramePr>
          <p:cNvPr id="4" name="Table 3"/>
          <p:cNvGraphicFramePr>
            <a:graphicFrameLocks noGrp="1"/>
          </p:cNvGraphicFramePr>
          <p:nvPr/>
        </p:nvGraphicFramePr>
        <p:xfrm>
          <a:off x="548640" y="1508760"/>
          <a:ext cx="8046720" cy="1958975"/>
        </p:xfrm>
        <a:graphic>
          <a:graphicData uri="http://schemas.openxmlformats.org/drawingml/2006/table">
            <a:tbl>
              <a:tblPr firstRow="0" bandRow="0"/>
              <a:tblGrid>
                <a:gridCol w="6126480"/>
                <a:gridCol w="192024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モデル・設定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総合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Claude Opus 4.5 / FC</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77.47</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Gemini 3 Pro Preview / Prompt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72.51</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GLM-4.6 / FC thinking</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72.38</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Grok 4.1 Fast Reasoning / FC</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69.57</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95751"/>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BFCL v4。公式表の更新表示2026-04-12、2026-10-25参照。</a:t>
            </a:r>
          </a:p>
        </p:txBody>
      </p:sp>
      <p:sp>
        <p:nvSpPr>
          <p:cNvPr id="6"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Berkeley Function Calling Leaderboard V4</a:t>
            </a:r>
          </a:p>
        </p:txBody>
      </p:sp>
      <p:sp>
        <p:nvSpPr>
          <p:cNvPr id="7"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https://gorilla.cs.berkeley.edu/leaderboard.html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同じモデルでも、記憶や会話の成績は異なる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graphicFrame>
        <p:nvGraphicFramePr>
          <p:cNvPr id="4" name="Table 3"/>
          <p:cNvGraphicFramePr>
            <a:graphicFrameLocks noGrp="1"/>
          </p:cNvGraphicFramePr>
          <p:nvPr/>
        </p:nvGraphicFramePr>
        <p:xfrm>
          <a:off x="548640" y="1508760"/>
          <a:ext cx="8046720" cy="1536192"/>
        </p:xfrm>
        <a:graphic>
          <a:graphicData uri="http://schemas.openxmlformats.org/drawingml/2006/table">
            <a:tbl>
              <a:tblPr firstRow="0" bandRow="0"/>
              <a:tblGrid>
                <a:gridCol w="4389120"/>
                <a:gridCol w="1920240"/>
                <a:gridCol w="1737360"/>
              </a:tblGrid>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モデル・設定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複数ターン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記憶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Claude Opus 4.5 / FC</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68.38</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73.76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Gemini 3 Pro / Prompt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60.75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61.72</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GLM-4.6 / FC thinking</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68.00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55.70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172968"/>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同じバージョン4の公開表。総合得点とは別の課題別成績。</a:t>
            </a:r>
          </a:p>
        </p:txBody>
      </p:sp>
      <p:sp>
        <p:nvSpPr>
          <p:cNvPr id="6"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Berkeley Function Calling Leaderboard V4</a:t>
            </a:r>
          </a:p>
        </p:txBody>
      </p:sp>
      <p:sp>
        <p:nvSpPr>
          <p:cNvPr id="7"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https://gorilla.cs.berkeley.edu/leaderboard.html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関数呼び出しの書式による変化も調べる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バージョン4には、関数定義や出力指示の書式を変える補助評価がある。通常の文章生成から呼び出しを作るPrompt設定を対象に、200件を26種類の書式で評価する。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書式を変えたときの得点差やばらつきを報告する。この補助評価は、総合得点には加えない。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sp>
        <p:nvSpPr>
          <p:cNvPr id="5"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(2025), BFCL V4 Format Sensitivity</a:t>
            </a:r>
          </a:p>
        </p:txBody>
      </p:sp>
      <p:sp>
        <p:nvSpPr>
          <p:cNvPr id="6"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https://gorilla.cs.berkeley.edu/blogs/17_bfcl_v4_prompt_variation.html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公開データの利用方法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公開データの利用方法</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50" b="0">
                <a:solidFill>
                  <a:srgbClr val="303437"/>
                </a:solidFill>
                <a:latin typeface="Noto Sans"/>
              </a:defRPr>
            </a:pPr>
            <a:r>
              <a:rPr sz="2750" b="1" lang="ja-JP" altLang="en-US">
                <a:solidFill>
                  <a:srgbClr val="303437"/>
                </a:solidFill>
                <a:latin typeface="Noto Sans"/>
                <a:ea typeface="Noto Sans CJK JP"/>
                <a:cs typeface="Noto Sans"/>
              </a:rPr>
              <a:t>質問・関数定義・参照条件を公開データで読む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公式GitHubでは、カテゴリ別のJSONLファイルとして、質問と関数定義を配布している。単一ターンの参照条件はpossible_answerに置かれ、引数ごとの許容値を読める。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複数ターンでは初期状態とAPIの仕様、正解経路を組み合わせて読む。検索や記憶では、使用するツールと最終回答の条件も確認する。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公開データの利用方法</a:t>
            </a:r>
          </a:p>
        </p:txBody>
      </p:sp>
      <p:sp>
        <p:nvSpPr>
          <p:cNvPr id="5"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Code and Data</a:t>
            </a:r>
          </a:p>
        </p:txBody>
      </p:sp>
      <p:sp>
        <p:nvSpPr>
          <p:cNvPr id="6"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公開された質問と関数定義を読む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公開データの利用方法</a:t>
            </a:r>
          </a:p>
        </p:txBody>
      </p:sp>
      <p:sp>
        <p:nvSpPr>
          <p:cNvPr id="4" name="code-frame"/>
          <p:cNvSpPr/>
          <p:nvPr/>
        </p:nvSpPr>
        <p:spPr>
          <a:xfrm>
            <a:off x="548640" y="1508760"/>
            <a:ext cx="8046720" cy="20875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import json</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from pathlib import Path</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path = Path("bfcl_eval/data/BFCL_v4_simple_python.json")</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row = json.loads(path.read_text().splitlines()[97])</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print(row["question"])</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print(row["function"])</a:t>
            </a:r>
          </a:p>
        </p:txBody>
      </p:sp>
      <p:sp>
        <p:nvSpPr>
          <p:cNvPr id="5" name="TextBox 4"/>
          <p:cNvSpPr txBox="1"/>
          <p:nvPr/>
        </p:nvSpPr>
        <p:spPr>
          <a:xfrm>
            <a:off x="594360" y="3797490"/>
            <a:ext cx="7955279" cy="77724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公式リポジトリのberkeley-function-call-leaderboard内で読む。</a:t>
            </a:r>
          </a:p>
        </p:txBody>
      </p:sp>
      <p:sp>
        <p:nvSpPr>
          <p:cNvPr id="6"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Code and Data</a:t>
            </a:r>
          </a:p>
        </p:txBody>
      </p:sp>
      <p:sp>
        <p:nvSpPr>
          <p:cNvPr id="7"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00" b="0">
                <a:solidFill>
                  <a:srgbClr val="303437"/>
                </a:solidFill>
                <a:latin typeface="Noto Sans"/>
              </a:defRPr>
            </a:pPr>
            <a:r>
              <a:rPr sz="2700" b="1" lang="ja-JP" altLang="en-US">
                <a:solidFill>
                  <a:srgbClr val="303437"/>
                </a:solidFill>
                <a:latin typeface="Noto Sans"/>
                <a:ea typeface="Noto Sans CJK JP"/>
                <a:cs typeface="Noto Sans"/>
              </a:rPr>
              <a:t>コードと公開データはApache 2.0で配布される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公式リポジトリはApache License 2.0を採用し、公式READMEも公開データや成績の同じライセンスでの提供を説明している。利用や改変では、ライセンスと著作権表示を保つ。</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公式の評価コードbfcl-evalは、対象のカテゴリとモデルを指定して使う。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公開データの利用方法</a:t>
            </a:r>
          </a:p>
        </p:txBody>
      </p:sp>
      <p:sp>
        <p:nvSpPr>
          <p:cNvPr id="5"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Code and Data</a:t>
            </a:r>
          </a:p>
        </p:txBody>
      </p:sp>
      <p:sp>
        <p:nvSpPr>
          <p:cNvPr id="6"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50" b="0">
                <a:solidFill>
                  <a:srgbClr val="303437"/>
                </a:solidFill>
                <a:latin typeface="Noto Sans"/>
              </a:defRPr>
            </a:pPr>
            <a:r>
              <a:rPr sz="2750" b="1" lang="ja-JP" altLang="en-US">
                <a:solidFill>
                  <a:srgbClr val="303437"/>
                </a:solidFill>
                <a:latin typeface="Noto Sans"/>
                <a:ea typeface="Noto Sans CJK JP"/>
                <a:cs typeface="Noto Sans"/>
              </a:rPr>
              <a:t>関数の選択から、会話中のツール利用まで測る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BFCLは、利用者の依頼に対して、関数と引数を適切に選ぶ力を評価する。公開コードに基づく課題と実際の依頼を組み合わせ、会話、検索、記憶へ評価範囲を広げた。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公開例では、入力の依頼と関数定義、正解の呼び出しや回答を対応させて読める。成績は、バージョン、課題の種類、FCとPromptの設定をそろえて解釈する。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公開データの利用方法</a:t>
            </a:r>
          </a:p>
        </p:txBody>
      </p:sp>
      <p:sp>
        <p:nvSpPr>
          <p:cNvPr id="5"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Patil et al. (2025), The Berkeley Function Calling Leaderboard (BFCL), ICML 2025</a:t>
            </a:r>
          </a:p>
        </p:txBody>
      </p:sp>
      <p:sp>
        <p:nvSpPr>
          <p:cNvPr id="6"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https://proceedings.mlr.press/v267/patil25a.html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315"/>
            <a:ext cx="8046720" cy="778256"/>
          </a:xfrm>
        </p:spPr>
        <p:txBody>
          <a:bodyPr wrap="square" lIns="0" rIns="0" tIns="0" bIns="0" anchor="ctr">
            <a:noAutofit/>
          </a:bodyPr>
          <a:lstStyle/>
          <a:p>
            <a:pPr algn="ctr">
              <a:lnSpc>
                <a:spcPct val="110000"/>
              </a:lnSpc>
              <a:buNone/>
              <a:defRPr sz="4200" b="0">
                <a:solidFill>
                  <a:srgbClr val="303437"/>
                </a:solidFill>
                <a:latin typeface="Noto Sans"/>
              </a:defRPr>
            </a:pPr>
            <a:r>
              <a:rPr sz="42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2281121"/>
            <a:ext cx="7863840" cy="112776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種類の異なる追加例</a:t>
            </a:r>
          </a:p>
          <a:p>
            <a:pPr marL="457200" indent="-457200">
              <a:lnSpc>
                <a:spcPts val="3660"/>
              </a:lnSpc>
              <a:spcAft>
                <a:spcPts val="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初期評価と参考文献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種類の異なる追加例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50" b="0">
                <a:solidFill>
                  <a:srgbClr val="303437"/>
                </a:solidFill>
                <a:latin typeface="Noto Sans"/>
              </a:defRPr>
            </a:pPr>
            <a:r>
              <a:rPr sz="2750" b="1" lang="ja-JP" altLang="en-US">
                <a:solidFill>
                  <a:srgbClr val="303437"/>
                </a:solidFill>
                <a:latin typeface="Noto Sans"/>
                <a:ea typeface="Noto Sans CJK JP"/>
                <a:cs typeface="Noto Sans"/>
              </a:rPr>
              <a:t>例4 依頼に合う関数がなければ、呼び出さない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405159"/>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依頼と関数定義の原文（全フィールド）</a:t>
            </a:r>
          </a:p>
        </p:txBody>
      </p:sp>
      <p:sp>
        <p:nvSpPr>
          <p:cNvPr id="5" name="quote-frame"/>
          <p:cNvSpPr/>
          <p:nvPr/>
        </p:nvSpPr>
        <p:spPr>
          <a:xfrm>
            <a:off x="548640" y="1633759"/>
            <a:ext cx="8046720" cy="179552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Find the integral of x^3 from 1 to 5</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name: str_to_int</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description: Converts string value to integer.</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parameters: type=dict; required=["value"]</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value: type=string; description=String value to be converted to integer</a:t>
            </a:r>
          </a:p>
        </p:txBody>
      </p:sp>
      <p:sp>
        <p:nvSpPr>
          <p:cNvPr id="6" name="TextBox 5"/>
          <p:cNvSpPr txBox="1"/>
          <p:nvPr/>
        </p:nvSpPr>
        <p:spPr>
          <a:xfrm>
            <a:off x="548640" y="3539013"/>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依頼の日本語訳（全文）</a:t>
            </a:r>
          </a:p>
        </p:txBody>
      </p:sp>
      <p:sp>
        <p:nvSpPr>
          <p:cNvPr id="7" name="TextBox 6"/>
          <p:cNvSpPr txBox="1"/>
          <p:nvPr/>
        </p:nvSpPr>
        <p:spPr>
          <a:xfrm>
            <a:off x="594360" y="3767613"/>
            <a:ext cx="7955279" cy="333121"/>
          </a:xfrm>
          <a:prstGeom prst="rect">
            <a:avLst/>
          </a:prstGeom>
          <a:noFill/>
        </p:spPr>
        <p:txBody>
          <a:bodyPr wrap="square" lIns="0" rIns="0" tIns="0" bIns="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x^3を1から5まで積分する。</a:t>
            </a:r>
          </a:p>
        </p:txBody>
      </p:sp>
      <p:sp>
        <p:nvSpPr>
          <p:cNvPr id="8" name="TextBox 7"/>
          <p:cNvSpPr txBox="1"/>
          <p:nvPr/>
        </p:nvSpPr>
        <p:spPr>
          <a:xfrm>
            <a:off x="594360" y="4192174"/>
            <a:ext cx="7955279" cy="40112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関数を呼び出さない。</a:t>
            </a:r>
          </a:p>
        </p:txBody>
      </p:sp>
      <p:sp>
        <p:nvSpPr>
          <p:cNvPr id="9"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10"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250" b="0">
                <a:solidFill>
                  <a:srgbClr val="303437"/>
                </a:solidFill>
                <a:latin typeface="Noto Sans"/>
              </a:defRPr>
            </a:pPr>
            <a:r>
              <a:rPr sz="2250" b="1" lang="ja-JP" altLang="en-US">
                <a:solidFill>
                  <a:srgbClr val="303437"/>
                </a:solidFill>
                <a:latin typeface="Noto Sans"/>
                <a:ea typeface="Noto Sans CJK JP"/>
                <a:cs typeface="Noto Sans"/>
              </a:rPr>
              <a:t>例4 依頼に合う関数がなければ、呼び出さない：日本語訳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35024"/>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依頼と関数定義の日本語訳</a:t>
            </a:r>
          </a:p>
        </p:txBody>
      </p:sp>
      <p:sp>
        <p:nvSpPr>
          <p:cNvPr id="5" name="TextBox 4"/>
          <p:cNvSpPr txBox="1"/>
          <p:nvPr/>
        </p:nvSpPr>
        <p:spPr>
          <a:xfrm>
            <a:off x="594360" y="1655064"/>
            <a:ext cx="7955279" cy="1164336"/>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name: str_to_int</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description: 文字列の値を整数へ変換する。</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parameters: type=dict; required=["value"]</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value: type=string; description=整数へ変換する文字列の値。</a:t>
            </a:r>
          </a:p>
        </p:txBody>
      </p:sp>
      <p:sp>
        <p:nvSpPr>
          <p:cNvPr id="6" name="TextBox 5"/>
          <p:cNvSpPr txBox="1"/>
          <p:nvPr/>
        </p:nvSpPr>
        <p:spPr>
          <a:xfrm>
            <a:off x="594360" y="3093719"/>
            <a:ext cx="7955279" cy="620267"/>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用意された関数は文字列を整数へ変換するもので、積分の依頼には対応しない。このカテゴリでは、無関係な関数を呼ばないことを評価する。</a:t>
            </a:r>
          </a:p>
        </p:txBody>
      </p:sp>
      <p:sp>
        <p:nvSpPr>
          <p:cNvPr id="7"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8"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Javaで描画を更新する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35024"/>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依頼と関数定義の原文（全フィールド）</a:t>
            </a:r>
          </a:p>
        </p:txBody>
      </p:sp>
      <p:sp>
        <p:nvSpPr>
          <p:cNvPr id="5" name="quote-frame"/>
          <p:cNvSpPr/>
          <p:nvPr/>
        </p:nvSpPr>
        <p:spPr>
          <a:xfrm>
            <a:off x="548640" y="1725803"/>
            <a:ext cx="8046720" cy="270230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Help me execute the step method to update the graphics of an intro animation with a width of 800 pixels and a height of 600 pixels?</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name: Intro.step</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description: Updates the graphics of an intro animation based on the specified width and height.</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parameters: type=dict; required=["w", "h"]</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w: type=integer; description=The width of the area to update.</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h: type=integer; description=The height of the area to update.</a:t>
            </a:r>
          </a:p>
        </p:txBody>
      </p:sp>
      <p:sp>
        <p:nvSpPr>
          <p:cNvPr id="6"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7"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Javaで描画を更新する：日本語訳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35024"/>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依頼と関数定義の日本語訳</a:t>
            </a:r>
          </a:p>
        </p:txBody>
      </p:sp>
      <p:sp>
        <p:nvSpPr>
          <p:cNvPr id="5" name="TextBox 4"/>
          <p:cNvSpPr txBox="1"/>
          <p:nvPr/>
        </p:nvSpPr>
        <p:spPr>
          <a:xfrm>
            <a:off x="594360" y="1655064"/>
            <a:ext cx="7955279" cy="2524506"/>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幅800ピクセル、高さ600ピクセルの導入アニメーションの描画を更新するため、stepメソッドを実行したい。</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name: Intro.step</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description: 指定された幅と高さに基づいて、導入アニメーションの描画を更新する。</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parameters: type=dict; required=["w", "h"]</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w: type=integer; description=更新する領域の幅。</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h: type=integer; description=更新する領域の高さ。</a:t>
            </a:r>
          </a:p>
        </p:txBody>
      </p:sp>
      <p:sp>
        <p:nvSpPr>
          <p:cNvPr id="6"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7"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Javaで描画を更新する：正解と読み方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71600"/>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参照条件を満たす呼び出しの一例</a:t>
            </a:r>
          </a:p>
        </p:txBody>
      </p:sp>
      <p:sp>
        <p:nvSpPr>
          <p:cNvPr id="5" name="TextBox 4"/>
          <p:cNvSpPr txBox="1"/>
          <p:nvPr/>
        </p:nvSpPr>
        <p:spPr>
          <a:xfrm>
            <a:off x="594360" y="1737360"/>
            <a:ext cx="7955279" cy="398081"/>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Liberation Mono"/>
                <a:ea typeface="Noto Sans CJK JP"/>
                <a:cs typeface="Liberation Mono"/>
              </a:rPr>
              <a:t>Intro.step(w=800, h=600)</a:t>
            </a:r>
          </a:p>
        </p:txBody>
      </p:sp>
      <p:sp>
        <p:nvSpPr>
          <p:cNvPr id="6" name="TextBox 5"/>
          <p:cNvSpPr txBox="1"/>
          <p:nvPr/>
        </p:nvSpPr>
        <p:spPr>
          <a:xfrm>
            <a:off x="594360" y="2354897"/>
            <a:ext cx="7955279" cy="650494"/>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幅をw、高さをhに対応させる。単一ターンのJava用データから選んだ例で、配布された引数条件は800と600である。</a:t>
            </a:r>
          </a:p>
        </p:txBody>
      </p:sp>
      <p:sp>
        <p:nvSpPr>
          <p:cNvPr id="7"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8"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JavaScriptで状態をリセットする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35024"/>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依頼と関数定義の原文（全フィールド）</a:t>
            </a:r>
          </a:p>
        </p:txBody>
      </p:sp>
      <p:sp>
        <p:nvSpPr>
          <p:cNvPr id="5" name="quote-frame"/>
          <p:cNvSpPr/>
          <p:nvPr/>
        </p:nvSpPr>
        <p:spPr>
          <a:xfrm>
            <a:off x="548640" y="1725803"/>
            <a:ext cx="8046720" cy="270230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Help me reset a state property called 'userSession' to 'null' in a React component?</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name: resetStateProperty</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description: This function resets a given state property to null. It is typically used in React components to clear state.</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parameters: type=dict; required=["stateProperty"]</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stateProperty: type=String; description=The name of the state property to reset.</a:t>
            </a:r>
          </a:p>
        </p:txBody>
      </p:sp>
      <p:sp>
        <p:nvSpPr>
          <p:cNvPr id="6"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7"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50" b="0">
                <a:solidFill>
                  <a:srgbClr val="303437"/>
                </a:solidFill>
                <a:latin typeface="Noto Sans"/>
              </a:defRPr>
            </a:pPr>
            <a:r>
              <a:rPr sz="2650" b="1" lang="ja-JP" altLang="en-US">
                <a:solidFill>
                  <a:srgbClr val="303437"/>
                </a:solidFill>
                <a:latin typeface="Noto Sans"/>
                <a:ea typeface="Noto Sans CJK JP"/>
                <a:cs typeface="Noto Sans"/>
              </a:rPr>
              <a:t>例6 JavaScriptで状態をリセットする：日本語訳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35024"/>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依頼と関数定義の日本語訳</a:t>
            </a:r>
          </a:p>
        </p:txBody>
      </p:sp>
      <p:sp>
        <p:nvSpPr>
          <p:cNvPr id="5" name="TextBox 4"/>
          <p:cNvSpPr txBox="1"/>
          <p:nvPr/>
        </p:nvSpPr>
        <p:spPr>
          <a:xfrm>
            <a:off x="594360" y="1655064"/>
            <a:ext cx="7955279" cy="2524506"/>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ReactコンポーネントのuserSessionという状態プロパティをnullにリセットしたい。</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name: resetStateProperty</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description: 与えられた状態プロパティをnullにリセットする。通常はReactコンポーネントで状態を消去するために使う。</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parameters: type=dict; required=["stateProperty"]</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stateProperty: type=String; description=リセットする状態プロパティの名前。</a:t>
            </a:r>
          </a:p>
        </p:txBody>
      </p:sp>
      <p:sp>
        <p:nvSpPr>
          <p:cNvPr id="6"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7"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400" b="0">
                <a:solidFill>
                  <a:srgbClr val="303437"/>
                </a:solidFill>
                <a:latin typeface="Noto Sans"/>
              </a:defRPr>
            </a:pPr>
            <a:r>
              <a:rPr sz="2400" b="1" lang="ja-JP" altLang="en-US">
                <a:solidFill>
                  <a:srgbClr val="303437"/>
                </a:solidFill>
                <a:latin typeface="Noto Sans"/>
                <a:ea typeface="Noto Sans CJK JP"/>
                <a:cs typeface="Noto Sans"/>
              </a:rPr>
              <a:t>例6 JavaScriptで状態をリセットする：正解と読み方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71600"/>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参照条件を満たす呼び出しの一例</a:t>
            </a:r>
          </a:p>
        </p:txBody>
      </p:sp>
      <p:sp>
        <p:nvSpPr>
          <p:cNvPr id="5" name="TextBox 4"/>
          <p:cNvSpPr txBox="1"/>
          <p:nvPr/>
        </p:nvSpPr>
        <p:spPr>
          <a:xfrm>
            <a:off x="594360" y="1737360"/>
            <a:ext cx="7955279" cy="398081"/>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Liberation Mono"/>
                <a:ea typeface="Noto Sans CJK JP"/>
                <a:cs typeface="Liberation Mono"/>
              </a:rPr>
              <a:t>resetStateProperty(stateProperty="userSession")</a:t>
            </a:r>
          </a:p>
        </p:txBody>
      </p:sp>
      <p:sp>
        <p:nvSpPr>
          <p:cNvPr id="6" name="TextBox 5"/>
          <p:cNvSpPr txBox="1"/>
          <p:nvPr/>
        </p:nvSpPr>
        <p:spPr>
          <a:xfrm>
            <a:off x="594360" y="2354897"/>
            <a:ext cx="7955279" cy="650494"/>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状態は、画面の表示などに使う値を保持する仕組み。関数の引数にはnullではなく、リセットするプロパティ名を渡す。</a:t>
            </a:r>
          </a:p>
        </p:txBody>
      </p:sp>
      <p:sp>
        <p:nvSpPr>
          <p:cNvPr id="7"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8"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50" b="0">
                <a:solidFill>
                  <a:srgbClr val="303437"/>
                </a:solidFill>
                <a:latin typeface="Noto Sans"/>
              </a:defRPr>
            </a:pPr>
            <a:r>
              <a:rPr sz="2750" b="1" lang="ja-JP" altLang="en-US">
                <a:solidFill>
                  <a:srgbClr val="303437"/>
                </a:solidFill>
                <a:latin typeface="Noto Sans"/>
                <a:ea typeface="Noto Sans CJK JP"/>
                <a:cs typeface="Noto Sans"/>
              </a:rPr>
              <a:t>例7 引数のない関数で、バージョンを取得する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405159"/>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依頼と関数定義の原文（全フィールド）</a:t>
            </a:r>
          </a:p>
        </p:txBody>
      </p:sp>
      <p:sp>
        <p:nvSpPr>
          <p:cNvPr id="5" name="quote-frame"/>
          <p:cNvSpPr/>
          <p:nvPr/>
        </p:nvSpPr>
        <p:spPr>
          <a:xfrm>
            <a:off x="548640" y="1633759"/>
            <a:ext cx="8046720" cy="179552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Give me the application version.</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name: version_api.VersionApi.get_version</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description: Retrieves the current version information of the application, including its name and version number.</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parameters: type=dict; required=[]; properties={}</a:t>
            </a:r>
          </a:p>
        </p:txBody>
      </p:sp>
      <p:sp>
        <p:nvSpPr>
          <p:cNvPr id="6" name="TextBox 5"/>
          <p:cNvSpPr txBox="1"/>
          <p:nvPr/>
        </p:nvSpPr>
        <p:spPr>
          <a:xfrm>
            <a:off x="548640" y="3539013"/>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依頼の日本語訳（全文）</a:t>
            </a:r>
          </a:p>
        </p:txBody>
      </p:sp>
      <p:sp>
        <p:nvSpPr>
          <p:cNvPr id="7" name="TextBox 6"/>
          <p:cNvSpPr txBox="1"/>
          <p:nvPr/>
        </p:nvSpPr>
        <p:spPr>
          <a:xfrm>
            <a:off x="594360" y="3767613"/>
            <a:ext cx="7955279" cy="333121"/>
          </a:xfrm>
          <a:prstGeom prst="rect">
            <a:avLst/>
          </a:prstGeom>
          <a:noFill/>
        </p:spPr>
        <p:txBody>
          <a:bodyPr wrap="square" lIns="0" rIns="0" tIns="0" bIns="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アプリケーションのバージョンを教えてほしい。</a:t>
            </a:r>
          </a:p>
        </p:txBody>
      </p:sp>
      <p:sp>
        <p:nvSpPr>
          <p:cNvPr id="8" name="TextBox 7"/>
          <p:cNvSpPr txBox="1"/>
          <p:nvPr/>
        </p:nvSpPr>
        <p:spPr>
          <a:xfrm>
            <a:off x="594360" y="4192174"/>
            <a:ext cx="7955279" cy="40112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version_api.VersionApi.get_version()</a:t>
            </a:r>
          </a:p>
        </p:txBody>
      </p:sp>
      <p:sp>
        <p:nvSpPr>
          <p:cNvPr id="9"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10"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250" b="0">
                <a:solidFill>
                  <a:srgbClr val="303437"/>
                </a:solidFill>
                <a:latin typeface="Noto Sans"/>
              </a:defRPr>
            </a:pPr>
            <a:r>
              <a:rPr sz="2250" b="1" lang="ja-JP" altLang="en-US">
                <a:solidFill>
                  <a:srgbClr val="303437"/>
                </a:solidFill>
                <a:latin typeface="Noto Sans"/>
                <a:ea typeface="Noto Sans CJK JP"/>
                <a:cs typeface="Noto Sans"/>
              </a:rPr>
              <a:t>例7 引数のない関数で、バージョンを取得する：日本語訳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35024"/>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依頼と関数定義の日本語訳</a:t>
            </a:r>
          </a:p>
        </p:txBody>
      </p:sp>
      <p:sp>
        <p:nvSpPr>
          <p:cNvPr id="5" name="TextBox 4"/>
          <p:cNvSpPr txBox="1"/>
          <p:nvPr/>
        </p:nvSpPr>
        <p:spPr>
          <a:xfrm>
            <a:off x="594360" y="1655064"/>
            <a:ext cx="7955279" cy="1164336"/>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name: version_api.VersionApi.get_version</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description: アプリケーションの名前とバージョン番号を含む、現在のバージョン情報を取得する。</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parameters: type=dict; required=[]; properties={}</a:t>
            </a:r>
          </a:p>
        </p:txBody>
      </p:sp>
      <p:sp>
        <p:nvSpPr>
          <p:cNvPr id="6" name="TextBox 5"/>
          <p:cNvSpPr txBox="1"/>
          <p:nvPr/>
        </p:nvSpPr>
        <p:spPr>
          <a:xfrm>
            <a:off x="594360" y="3093719"/>
            <a:ext cx="7955279" cy="620267"/>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この関数には引数がない。依頼文に数値がなくても、関数名だけで適切な呼び出しを作れる。</a:t>
            </a:r>
          </a:p>
        </p:txBody>
      </p:sp>
      <p:sp>
        <p:nvSpPr>
          <p:cNvPr id="7"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8"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中国語で問い合わせ票を取得する：原文1</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依頼と関数定義の原文（全フィールド）</a:t>
            </a:r>
          </a:p>
        </p:txBody>
      </p:sp>
      <p:sp>
        <p:nvSpPr>
          <p:cNvPr id="5" name="quote-frame"/>
          <p:cNvSpPr/>
          <p:nvPr/>
        </p:nvSpPr>
        <p:spPr>
          <a:xfrm>
            <a:off x="548640" y="1481328"/>
            <a:ext cx="8046720" cy="25781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143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获取阿迪达斯的工单</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name: get_current_weather</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description: Retrieves the current weather conditions for a specified location, including temperature and atmospheric conditions.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parameters: type=dict; required=["location"]</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location: type=string; description=The location for which weather is being requested, in the format of 'City, State', such as 'San Francisco, CA' or 'New York, NY'.</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unit: type=string; description=The unit of temperature measurement for the weather report.; enum=["celsius", "fahrenheit"]; default=fahrenheit</a:t>
            </a:r>
          </a:p>
        </p:txBody>
      </p:sp>
      <p:sp>
        <p:nvSpPr>
          <p:cNvPr id="6" name="sources"/>
          <p:cNvSpPr txBox="1"/>
          <p:nvPr/>
        </p:nvSpPr>
        <p:spPr>
          <a:xfrm>
            <a:off x="502920" y="47360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7" name="source-url"/>
          <p:cNvSpPr txBox="1"/>
          <p:nvPr/>
        </p:nvSpPr>
        <p:spPr>
          <a:xfrm>
            <a:off x="502920" y="49189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中国語で問い合わせ票を取得する：原文2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依頼と関数定義の原文（全フィールド）</a:t>
            </a:r>
          </a:p>
        </p:txBody>
      </p:sp>
      <p:sp>
        <p:nvSpPr>
          <p:cNvPr id="5" name="quote-frame"/>
          <p:cNvSpPr/>
          <p:nvPr/>
        </p:nvSpPr>
        <p:spPr>
          <a:xfrm>
            <a:off x="548640" y="1481328"/>
            <a:ext cx="8046720" cy="12827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143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name: get_tickets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description: Retrieve a list of support tickets for a specified company.</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parameters: type=dict; required=["customer"]</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customer: type=string; description=The name of the company for which to retrieve support tickets.</a:t>
            </a:r>
          </a:p>
        </p:txBody>
      </p:sp>
      <p:sp>
        <p:nvSpPr>
          <p:cNvPr id="6" name="sources"/>
          <p:cNvSpPr txBox="1"/>
          <p:nvPr/>
        </p:nvSpPr>
        <p:spPr>
          <a:xfrm>
            <a:off x="502920" y="47360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7" name="source-url"/>
          <p:cNvSpPr txBox="1"/>
          <p:nvPr/>
        </p:nvSpPr>
        <p:spPr>
          <a:xfrm>
            <a:off x="502920" y="49189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550" b="0">
                <a:solidFill>
                  <a:srgbClr val="303437"/>
                </a:solidFill>
                <a:latin typeface="Noto Sans"/>
              </a:defRPr>
            </a:pPr>
            <a:r>
              <a:rPr sz="2550" b="1" lang="ja-JP" altLang="en-US">
                <a:solidFill>
                  <a:srgbClr val="303437"/>
                </a:solidFill>
                <a:latin typeface="Noto Sans"/>
                <a:ea typeface="Noto Sans CJK JP"/>
                <a:cs typeface="Noto Sans"/>
              </a:rPr>
              <a:t>例8 中国語で問い合わせ票を取得する：日本語訳1</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35024"/>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依頼と関数定義の日本語訳</a:t>
            </a:r>
          </a:p>
        </p:txBody>
      </p:sp>
      <p:sp>
        <p:nvSpPr>
          <p:cNvPr id="5" name="TextBox 4"/>
          <p:cNvSpPr txBox="1"/>
          <p:nvPr/>
        </p:nvSpPr>
        <p:spPr>
          <a:xfrm>
            <a:off x="594360" y="1655064"/>
            <a:ext cx="7955279" cy="2645409"/>
          </a:xfrm>
          <a:prstGeom prst="rect">
            <a:avLst/>
          </a:prstGeom>
          <a:noFill/>
        </p:spPr>
        <p:txBody>
          <a:bodyPr wrap="square" lIns="0" rIns="0" tIns="0" bIns="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アディダスの問い合わせ票を取得する。</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name: get_current_weather</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description: 指定した場所の、気温や大気の状態などを含む現在の天気を取得する。</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parameters: type=dict; required=["location"]</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location: type=string; description=天気を取得する場所。「San Francisco, CA」や「New York, NY」のように「市, 州」の形式で指定する。</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unit: type=string; description=天気予報で使う気温の単位。; enum=["celsius", "fahrenheit"]; default=fahrenheit</a:t>
            </a:r>
          </a:p>
        </p:txBody>
      </p:sp>
      <p:sp>
        <p:nvSpPr>
          <p:cNvPr id="6"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7"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550" b="0">
                <a:solidFill>
                  <a:srgbClr val="303437"/>
                </a:solidFill>
                <a:latin typeface="Noto Sans"/>
              </a:defRPr>
            </a:pPr>
            <a:r>
              <a:rPr sz="2550" b="1" lang="ja-JP" altLang="en-US">
                <a:solidFill>
                  <a:srgbClr val="303437"/>
                </a:solidFill>
                <a:latin typeface="Noto Sans"/>
                <a:ea typeface="Noto Sans CJK JP"/>
                <a:cs typeface="Noto Sans"/>
              </a:rPr>
              <a:t>例8 中国語で問い合わせ票を取得する：日本語訳2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35024"/>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依頼と関数定義の日本語訳</a:t>
            </a:r>
          </a:p>
        </p:txBody>
      </p:sp>
      <p:sp>
        <p:nvSpPr>
          <p:cNvPr id="5" name="TextBox 4"/>
          <p:cNvSpPr txBox="1"/>
          <p:nvPr/>
        </p:nvSpPr>
        <p:spPr>
          <a:xfrm>
            <a:off x="594360" y="1655064"/>
            <a:ext cx="7955279" cy="1103884"/>
          </a:xfrm>
          <a:prstGeom prst="rect">
            <a:avLst/>
          </a:prstGeom>
          <a:noFill/>
        </p:spPr>
        <p:txBody>
          <a:bodyPr wrap="square" lIns="0" rIns="0" tIns="0" bIns="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name: get_tickets</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description: 指定した企業のサポート問い合わせ票の一覧を取得する。</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parameters: type=dict; required=["customer"]</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customer: type=string; description=サポート問い合わせ票を取得する企業名。</a:t>
            </a:r>
          </a:p>
        </p:txBody>
      </p:sp>
      <p:sp>
        <p:nvSpPr>
          <p:cNvPr id="6"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7"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400" b="0">
                <a:solidFill>
                  <a:srgbClr val="303437"/>
                </a:solidFill>
                <a:latin typeface="Noto Sans"/>
              </a:defRPr>
            </a:pPr>
            <a:r>
              <a:rPr sz="2400" b="1" lang="ja-JP" altLang="en-US">
                <a:solidFill>
                  <a:srgbClr val="303437"/>
                </a:solidFill>
                <a:latin typeface="Noto Sans"/>
                <a:ea typeface="Noto Sans CJK JP"/>
                <a:cs typeface="Noto Sans"/>
              </a:rPr>
              <a:t>例8 中国語で問い合わせ票を取得する：正解と読み方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71600"/>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参照条件を満たす呼び出しの一例</a:t>
            </a:r>
          </a:p>
        </p:txBody>
      </p:sp>
      <p:sp>
        <p:nvSpPr>
          <p:cNvPr id="5" name="TextBox 4"/>
          <p:cNvSpPr txBox="1"/>
          <p:nvPr/>
        </p:nvSpPr>
        <p:spPr>
          <a:xfrm>
            <a:off x="594360" y="1737360"/>
            <a:ext cx="7955279" cy="398081"/>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Liberation Mono"/>
                <a:ea typeface="Noto Sans CJK JP"/>
                <a:cs typeface="Liberation Mono"/>
              </a:rPr>
              <a:t>get_tickets(customer="阿迪达斯")</a:t>
            </a:r>
          </a:p>
        </p:txBody>
      </p:sp>
      <p:sp>
        <p:nvSpPr>
          <p:cNvPr id="6" name="TextBox 5"/>
          <p:cNvSpPr txBox="1"/>
          <p:nvPr/>
        </p:nvSpPr>
        <p:spPr>
          <a:xfrm>
            <a:off x="594360" y="2354897"/>
            <a:ext cx="7955279" cy="650494"/>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中国語の「工单」は、サポートの問い合わせ票を指す。会社名は依頼文どおりの中国語表記を引数へ渡し、天気の関数は使わない。</a:t>
            </a:r>
          </a:p>
        </p:txBody>
      </p:sp>
      <p:sp>
        <p:nvSpPr>
          <p:cNvPr id="7"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8"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二都市の天気を、別々に取得する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依頼と関数定義の原文（全フィールド）</a:t>
            </a:r>
          </a:p>
        </p:txBody>
      </p:sp>
      <p:sp>
        <p:nvSpPr>
          <p:cNvPr id="5" name="quote-frame"/>
          <p:cNvSpPr/>
          <p:nvPr/>
        </p:nvSpPr>
        <p:spPr>
          <a:xfrm>
            <a:off x="548640" y="1481328"/>
            <a:ext cx="8046720" cy="25781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8900" bIns="1143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What's the weather like in the two cities of Boston and San Francisco?</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name: get_current_weather</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description: Retrieves the current weather information for a specified location.</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parameters: type=dict; required=["location"]</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location: type=string; description=The location for which the current weather is requested, in the format of 'City, State', such as 'San Francisco, CA' or 'New York, NY'. Use short form for state</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unit: type=string; description=The unit of measurement for temperature values.; enum=["celsius", "fahrenheit"]; default=fahrenheit</a:t>
            </a:r>
          </a:p>
        </p:txBody>
      </p:sp>
      <p:sp>
        <p:nvSpPr>
          <p:cNvPr id="6" name="sources"/>
          <p:cNvSpPr txBox="1"/>
          <p:nvPr/>
        </p:nvSpPr>
        <p:spPr>
          <a:xfrm>
            <a:off x="502920" y="47360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7" name="source-url"/>
          <p:cNvSpPr txBox="1"/>
          <p:nvPr/>
        </p:nvSpPr>
        <p:spPr>
          <a:xfrm>
            <a:off x="502920" y="49189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50" b="0">
                <a:solidFill>
                  <a:srgbClr val="303437"/>
                </a:solidFill>
                <a:latin typeface="Noto Sans"/>
              </a:defRPr>
            </a:pPr>
            <a:r>
              <a:rPr sz="2650" b="1" lang="ja-JP" altLang="en-US">
                <a:solidFill>
                  <a:srgbClr val="303437"/>
                </a:solidFill>
                <a:latin typeface="Noto Sans"/>
                <a:ea typeface="Noto Sans CJK JP"/>
                <a:cs typeface="Noto Sans"/>
              </a:rPr>
              <a:t>例9 二都市の天気を、別々に取得する：日本語訳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35024"/>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依頼と関数定義の日本語訳</a:t>
            </a:r>
          </a:p>
        </p:txBody>
      </p:sp>
      <p:sp>
        <p:nvSpPr>
          <p:cNvPr id="5" name="TextBox 4"/>
          <p:cNvSpPr txBox="1"/>
          <p:nvPr/>
        </p:nvSpPr>
        <p:spPr>
          <a:xfrm>
            <a:off x="594360" y="1655064"/>
            <a:ext cx="7955279" cy="2796540"/>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ボストンとサンフランシスコという二都市の天気はどうか。</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name: get_current_weather</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description: 指定した場所の現在の天気情報を取得する。</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parameters: type=dict; required=["location"]</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location: type=string; description=現在の天気を取得する場所。「San Francisco, CA」や「New York, NY」のように「市, 州」の形式で指定する。州名は略記する。</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unit: type=string; description=気温の単位。; enum=["celsius", "fahrenheit"]; default=fahrenheit</a:t>
            </a:r>
          </a:p>
        </p:txBody>
      </p:sp>
      <p:sp>
        <p:nvSpPr>
          <p:cNvPr id="6"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7"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400" b="0">
                <a:solidFill>
                  <a:srgbClr val="303437"/>
                </a:solidFill>
                <a:latin typeface="Noto Sans"/>
              </a:defRPr>
            </a:pPr>
            <a:r>
              <a:rPr sz="2400" b="1" lang="ja-JP" altLang="en-US">
                <a:solidFill>
                  <a:srgbClr val="303437"/>
                </a:solidFill>
                <a:latin typeface="Noto Sans"/>
                <a:ea typeface="Noto Sans CJK JP"/>
                <a:cs typeface="Noto Sans"/>
              </a:rPr>
              <a:t>例9 二都市の天気を、別々に取得する：正解と読み方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71600"/>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参照条件を満たす呼び出しの一例</a:t>
            </a:r>
          </a:p>
        </p:txBody>
      </p:sp>
      <p:sp>
        <p:nvSpPr>
          <p:cNvPr id="5" name="TextBox 4"/>
          <p:cNvSpPr txBox="1"/>
          <p:nvPr/>
        </p:nvSpPr>
        <p:spPr>
          <a:xfrm>
            <a:off x="594360" y="1737360"/>
            <a:ext cx="7955279" cy="1372870"/>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Liberation Mono"/>
                <a:ea typeface="Noto Sans CJK JP"/>
                <a:cs typeface="Liberation Mono"/>
              </a:rPr>
              <a:t>get_current_weather(</a:t>
            </a:r>
          </a:p>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Liberation Mono"/>
                <a:ea typeface="Noto Sans CJK JP"/>
                <a:cs typeface="Liberation Mono"/>
              </a:rPr>
              <a:t>    location="Boston, MA")</a:t>
            </a:r>
          </a:p>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Liberation Mono"/>
                <a:ea typeface="Noto Sans CJK JP"/>
                <a:cs typeface="Liberation Mono"/>
              </a:rPr>
              <a:t>get_current_weather(</a:t>
            </a:r>
          </a:p>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Liberation Mono"/>
                <a:ea typeface="Noto Sans CJK JP"/>
                <a:cs typeface="Liberation Mono"/>
              </a:rPr>
              <a:t>    location="San Francisco, CA")</a:t>
            </a:r>
          </a:p>
        </p:txBody>
      </p:sp>
      <p:sp>
        <p:nvSpPr>
          <p:cNvPr id="6" name="TextBox 5"/>
          <p:cNvSpPr txBox="1"/>
          <p:nvPr/>
        </p:nvSpPr>
        <p:spPr>
          <a:xfrm>
            <a:off x="594360" y="3329686"/>
            <a:ext cx="7955279" cy="650494"/>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同じ関数を都市ごとに呼ぶ。unitを省略すると既定のfahrenheitになる。参照条件は、省略と明示指定の両方を許容する。</a:t>
            </a:r>
          </a:p>
        </p:txBody>
      </p:sp>
      <p:sp>
        <p:nvSpPr>
          <p:cNvPr id="7"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8"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画像と文章を別の関数へ渡す：原文1</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35024"/>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依頼と関数定義の原文（全フィールド）</a:t>
            </a:r>
          </a:p>
        </p:txBody>
      </p:sp>
      <p:sp>
        <p:nvSpPr>
          <p:cNvPr id="5" name="quote-frame"/>
          <p:cNvSpPr/>
          <p:nvPr/>
        </p:nvSpPr>
        <p:spPr>
          <a:xfrm>
            <a:off x="548640" y="2050732"/>
            <a:ext cx="8046720" cy="205244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Identify objects in my backyard image my_backyard_image_url and analyze the sentiment of today's journal entry my_journal_entry_text.</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name: image_processing.object_identification</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description: Identify objects in a given image.</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parameters: type=dict; required=["image_url"]</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image_url: type=string; description=The URL of the image.</a:t>
            </a:r>
          </a:p>
        </p:txBody>
      </p:sp>
      <p:sp>
        <p:nvSpPr>
          <p:cNvPr id="6"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7"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画像と文章を別の関数へ渡す：原文2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35024"/>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依頼と関数定義の原文（全フィールド）</a:t>
            </a:r>
          </a:p>
        </p:txBody>
      </p:sp>
      <p:sp>
        <p:nvSpPr>
          <p:cNvPr id="5" name="quote-frame"/>
          <p:cNvSpPr/>
          <p:nvPr/>
        </p:nvSpPr>
        <p:spPr>
          <a:xfrm>
            <a:off x="548640" y="2436114"/>
            <a:ext cx="8046720" cy="128168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name: text_analysis.sentiment_analysis</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description: Analyze the sentiment of a given text.</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parameters: type=dict; required=["text"]</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text: type=string; description=The text to be analyzed.</a:t>
            </a:r>
          </a:p>
        </p:txBody>
      </p:sp>
      <p:sp>
        <p:nvSpPr>
          <p:cNvPr id="6"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7"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50" b="0">
                <a:solidFill>
                  <a:srgbClr val="303437"/>
                </a:solidFill>
                <a:latin typeface="Noto Sans"/>
              </a:defRPr>
            </a:pPr>
            <a:r>
              <a:rPr sz="2750" b="1" lang="ja-JP" altLang="en-US">
                <a:solidFill>
                  <a:srgbClr val="303437"/>
                </a:solidFill>
                <a:latin typeface="Noto Sans"/>
                <a:ea typeface="Noto Sans CJK JP"/>
                <a:cs typeface="Noto Sans"/>
              </a:rPr>
              <a:t>例10 画像と文章を別の関数へ渡す：日本語訳1</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35024"/>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依頼と関数定義の日本語訳</a:t>
            </a:r>
          </a:p>
        </p:txBody>
      </p:sp>
      <p:sp>
        <p:nvSpPr>
          <p:cNvPr id="5" name="TextBox 4"/>
          <p:cNvSpPr txBox="1"/>
          <p:nvPr/>
        </p:nvSpPr>
        <p:spPr>
          <a:xfrm>
            <a:off x="594360" y="1655064"/>
            <a:ext cx="7955279" cy="1874646"/>
          </a:xfrm>
          <a:prstGeom prst="rect">
            <a:avLst/>
          </a:prstGeom>
          <a:noFill/>
        </p:spPr>
        <p:txBody>
          <a:bodyPr wrap="square" lIns="0" rIns="0" tIns="0" bIns="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裏庭の画像my_backyard_image_urlに写る物体を特定し、今日の日記my_journal_entry_textの感情を分析する。</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name: image_processing.object_identification</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description: 与えられた画像にある物体を特定する。</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parameters: type=dict; required=["image_url"]</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image_url: type=string; description=画像のURL。</a:t>
            </a:r>
          </a:p>
        </p:txBody>
      </p:sp>
      <p:sp>
        <p:nvSpPr>
          <p:cNvPr id="6"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7"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50" b="0">
                <a:solidFill>
                  <a:srgbClr val="303437"/>
                </a:solidFill>
                <a:latin typeface="Noto Sans"/>
              </a:defRPr>
            </a:pPr>
            <a:r>
              <a:rPr sz="2750" b="1" lang="ja-JP" altLang="en-US">
                <a:solidFill>
                  <a:srgbClr val="303437"/>
                </a:solidFill>
                <a:latin typeface="Noto Sans"/>
                <a:ea typeface="Noto Sans CJK JP"/>
                <a:cs typeface="Noto Sans"/>
              </a:rPr>
              <a:t>例10 画像と文章を別の関数へ渡す：日本語訳2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35024"/>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依頼と関数定義の日本語訳</a:t>
            </a:r>
          </a:p>
        </p:txBody>
      </p:sp>
      <p:sp>
        <p:nvSpPr>
          <p:cNvPr id="5" name="TextBox 4"/>
          <p:cNvSpPr txBox="1"/>
          <p:nvPr/>
        </p:nvSpPr>
        <p:spPr>
          <a:xfrm>
            <a:off x="594360" y="1655064"/>
            <a:ext cx="7955279" cy="1103884"/>
          </a:xfrm>
          <a:prstGeom prst="rect">
            <a:avLst/>
          </a:prstGeom>
          <a:noFill/>
        </p:spPr>
        <p:txBody>
          <a:bodyPr wrap="square" lIns="0" rIns="0" tIns="0" bIns="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name: text_analysis.sentiment_analysis</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description: 与えられた文章の感情を分析する。</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parameters: type=dict; required=["text"]</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text: type=string; description=分析する文章。</a:t>
            </a:r>
          </a:p>
        </p:txBody>
      </p:sp>
      <p:sp>
        <p:nvSpPr>
          <p:cNvPr id="6"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7"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550" b="0">
                <a:solidFill>
                  <a:srgbClr val="303437"/>
                </a:solidFill>
                <a:latin typeface="Noto Sans"/>
              </a:defRPr>
            </a:pPr>
            <a:r>
              <a:rPr sz="2550" b="1" lang="ja-JP" altLang="en-US">
                <a:solidFill>
                  <a:srgbClr val="303437"/>
                </a:solidFill>
                <a:latin typeface="Noto Sans"/>
                <a:ea typeface="Noto Sans CJK JP"/>
                <a:cs typeface="Noto Sans"/>
              </a:rPr>
              <a:t>例10 画像と文章を別の関数へ渡す：正解と読み方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71600"/>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参照条件を満たす呼び出しの一例</a:t>
            </a:r>
          </a:p>
        </p:txBody>
      </p:sp>
      <p:sp>
        <p:nvSpPr>
          <p:cNvPr id="5" name="TextBox 4"/>
          <p:cNvSpPr txBox="1"/>
          <p:nvPr/>
        </p:nvSpPr>
        <p:spPr>
          <a:xfrm>
            <a:off x="594360" y="1737360"/>
            <a:ext cx="7955279" cy="1372870"/>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Liberation Mono"/>
                <a:ea typeface="Noto Sans CJK JP"/>
                <a:cs typeface="Liberation Mono"/>
              </a:rPr>
              <a:t>image_processing.object_identification(</a:t>
            </a:r>
          </a:p>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Liberation Mono"/>
                <a:ea typeface="Noto Sans CJK JP"/>
                <a:cs typeface="Liberation Mono"/>
              </a:rPr>
              <a:t>    image_url="my_backyard_image_url")</a:t>
            </a:r>
          </a:p>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Liberation Mono"/>
                <a:ea typeface="Noto Sans CJK JP"/>
                <a:cs typeface="Liberation Mono"/>
              </a:rPr>
              <a:t>text_analysis.sentiment_analysis(</a:t>
            </a:r>
          </a:p>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Liberation Mono"/>
                <a:ea typeface="Noto Sans CJK JP"/>
                <a:cs typeface="Liberation Mono"/>
              </a:rPr>
              <a:t>    text="my_journal_entry_text")</a:t>
            </a:r>
          </a:p>
        </p:txBody>
      </p:sp>
      <p:sp>
        <p:nvSpPr>
          <p:cNvPr id="6" name="TextBox 5"/>
          <p:cNvSpPr txBox="1"/>
          <p:nvPr/>
        </p:nvSpPr>
        <p:spPr>
          <a:xfrm>
            <a:off x="594360" y="3329686"/>
            <a:ext cx="7955279" cy="650494"/>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画像用と文章用の関数を一度ずつ呼ぶ。画像や日記の中身を読む課題ではなく、依頼文に書かれた入力名を対応する引数へ渡す課題である。</a:t>
            </a:r>
          </a:p>
        </p:txBody>
      </p:sp>
      <p:sp>
        <p:nvSpPr>
          <p:cNvPr id="7"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8"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200" b="0">
                <a:solidFill>
                  <a:srgbClr val="303437"/>
                </a:solidFill>
                <a:latin typeface="Noto Sans"/>
              </a:defRPr>
            </a:pPr>
            <a:r>
              <a:rPr sz="2200" b="1" lang="ja-JP" altLang="en-US">
                <a:solidFill>
                  <a:srgbClr val="303437"/>
                </a:solidFill>
                <a:latin typeface="Noto Sans"/>
                <a:ea typeface="Noto Sans CJK JP"/>
                <a:cs typeface="Noto Sans"/>
              </a:rPr>
              <a:t>例11 会話しながら成績ファイルを調べる：原文と初期状態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35024"/>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利用者の依頼の原文（全3ターン）</a:t>
            </a:r>
          </a:p>
        </p:txBody>
      </p:sp>
      <p:sp>
        <p:nvSpPr>
          <p:cNvPr id="5" name="quote-frame"/>
          <p:cNvSpPr/>
          <p:nvPr/>
        </p:nvSpPr>
        <p:spPr>
          <a:xfrm>
            <a:off x="548640" y="1627632"/>
            <a:ext cx="8046720" cy="134213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1. I have a list of student record in this directory, could you find me where is it by telling me its name and using 'find'?</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2. Look at the student_record.txt and tell me the average score.</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3. What about the standard deviation?</a:t>
            </a:r>
          </a:p>
        </p:txBody>
      </p:sp>
      <p:sp>
        <p:nvSpPr>
          <p:cNvPr id="6" name="TextBox 5"/>
          <p:cNvSpPr txBox="1"/>
          <p:nvPr/>
        </p:nvSpPr>
        <p:spPr>
          <a:xfrm>
            <a:off x="548640" y="3079496"/>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初期ファイル（内容は全文）</a:t>
            </a:r>
          </a:p>
        </p:txBody>
      </p:sp>
      <p:sp>
        <p:nvSpPr>
          <p:cNvPr id="7" name="TextBox 6"/>
          <p:cNvSpPr txBox="1"/>
          <p:nvPr/>
        </p:nvSpPr>
        <p:spPr>
          <a:xfrm>
            <a:off x="568960" y="3317239"/>
            <a:ext cx="7980679" cy="605155"/>
          </a:xfrm>
          <a:prstGeom prst="rect">
            <a:avLst/>
          </a:prstGeom>
          <a:noFill/>
        </p:spPr>
        <p:txBody>
          <a:bodyPr wrap="square" lIns="2540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project_directory / student_record.txt</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John: 100 Jane: 95 Alice: 85 Bob: 90 Tom: 88 Olivia: 92</a:t>
            </a:r>
          </a:p>
        </p:txBody>
      </p:sp>
      <p:sp>
        <p:nvSpPr>
          <p:cNvPr id="8"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9"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450" b="0">
                <a:solidFill>
                  <a:srgbClr val="303437"/>
                </a:solidFill>
                <a:latin typeface="Noto Sans"/>
              </a:defRPr>
            </a:pPr>
            <a:r>
              <a:rPr sz="2450" b="1" lang="ja-JP" altLang="en-US">
                <a:solidFill>
                  <a:srgbClr val="303437"/>
                </a:solidFill>
                <a:latin typeface="Noto Sans"/>
                <a:ea typeface="Noto Sans CJK JP"/>
                <a:cs typeface="Noto Sans"/>
              </a:rPr>
              <a:t>例11 会話しながら成績ファイルを調べる：日本語訳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71600"/>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利用者の依頼の日本語訳（全3ターン）</a:t>
            </a:r>
          </a:p>
        </p:txBody>
      </p:sp>
      <p:sp>
        <p:nvSpPr>
          <p:cNvPr id="5" name="TextBox 4"/>
          <p:cNvSpPr txBox="1"/>
          <p:nvPr/>
        </p:nvSpPr>
        <p:spPr>
          <a:xfrm>
            <a:off x="594360" y="1719072"/>
            <a:ext cx="7955279" cy="1285240"/>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1. このディレクトリに生徒の成績一覧がある。findを使って探し、ファイル名を教えてほしい。</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2. student_record.txtを読み、平均点を教えてほしい。</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3. 標準偏差はどうか。</a:t>
            </a:r>
          </a:p>
        </p:txBody>
      </p:sp>
      <p:sp>
        <p:nvSpPr>
          <p:cNvPr id="6" name="TextBox 5"/>
          <p:cNvSpPr txBox="1"/>
          <p:nvPr/>
        </p:nvSpPr>
        <p:spPr>
          <a:xfrm>
            <a:off x="594360" y="3324352"/>
            <a:ext cx="7955279" cy="378460"/>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前のターンで読んだ同じ数値を、次の計算にも使う。</a:t>
            </a:r>
          </a:p>
        </p:txBody>
      </p:sp>
      <p:sp>
        <p:nvSpPr>
          <p:cNvPr id="7"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8"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450" b="0">
                <a:solidFill>
                  <a:srgbClr val="303437"/>
                </a:solidFill>
                <a:latin typeface="Noto Sans"/>
              </a:defRPr>
            </a:pPr>
            <a:r>
              <a:rPr sz="2450" b="1" lang="ja-JP" altLang="en-US">
                <a:solidFill>
                  <a:srgbClr val="303437"/>
                </a:solidFill>
                <a:latin typeface="Noto Sans"/>
                <a:ea typeface="Noto Sans CJK JP"/>
                <a:cs typeface="Noto Sans"/>
              </a:rPr>
              <a:t>例11 会話しながら成績ファイルを調べる：関数仕様</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71600"/>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この例で使う関数仕様の要点（抜粋）</a:t>
            </a:r>
          </a:p>
        </p:txBody>
      </p:sp>
      <p:sp>
        <p:nvSpPr>
          <p:cNvPr id="5" name="TextBox 4"/>
          <p:cNvSpPr txBox="1"/>
          <p:nvPr/>
        </p:nvSpPr>
        <p:spPr>
          <a:xfrm>
            <a:off x="594360" y="1719072"/>
            <a:ext cx="7955279" cy="2252471"/>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find(path=".") は、指定したパス配下を再帰的に探す。二つの引数は任意で、nameを省略するとすべての項目を返す。</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cat(file_name) は、現在のディレクトリのファイルを読む。file_nameは必須の文字列で、パスを含めない。</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mean(numbers) とstandard_deviation(numbers) は、必須の数値リストから平均と標準偏差を計算し、数値の結果を返す。</a:t>
            </a:r>
          </a:p>
        </p:txBody>
      </p:sp>
      <p:sp>
        <p:nvSpPr>
          <p:cNvPr id="6"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7"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250" b="0">
                <a:solidFill>
                  <a:srgbClr val="303437"/>
                </a:solidFill>
                <a:latin typeface="Noto Sans"/>
              </a:defRPr>
            </a:pPr>
            <a:r>
              <a:rPr sz="2250" b="1" lang="ja-JP" altLang="en-US">
                <a:solidFill>
                  <a:srgbClr val="303437"/>
                </a:solidFill>
                <a:latin typeface="Noto Sans"/>
                <a:ea typeface="Noto Sans CJK JP"/>
                <a:cs typeface="Noto Sans"/>
              </a:rPr>
              <a:t>例11 会話しながら成績ファイルを調べる：正解と読み方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71600"/>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参照の最小経路</a:t>
            </a:r>
          </a:p>
        </p:txBody>
      </p:sp>
      <p:sp>
        <p:nvSpPr>
          <p:cNvPr id="5" name="TextBox 4"/>
          <p:cNvSpPr txBox="1"/>
          <p:nvPr/>
        </p:nvSpPr>
        <p:spPr>
          <a:xfrm>
            <a:off x="594360" y="1755648"/>
            <a:ext cx="7955279" cy="169779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Liberation Mono"/>
                <a:ea typeface="Noto Sans CJK JP"/>
                <a:cs typeface="Liberation Mono"/>
              </a:rPr>
              <a:t>1. find(path=".")</a:t>
            </a:r>
          </a:p>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Liberation Mono"/>
                <a:ea typeface="Noto Sans CJK JP"/>
                <a:cs typeface="Liberation Mono"/>
              </a:rPr>
              <a:t>2. cat(file_name="student_record.txt")</a:t>
            </a:r>
          </a:p>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Liberation Mono"/>
                <a:ea typeface="Noto Sans CJK JP"/>
                <a:cs typeface="Liberation Mono"/>
              </a:rPr>
              <a:t>   mean(numbers=[100, 95, 85, 90, 88, 92])</a:t>
            </a:r>
          </a:p>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Liberation Mono"/>
                <a:ea typeface="Noto Sans CJK JP"/>
                <a:cs typeface="Liberation Mono"/>
              </a:rPr>
              <a:t>3. standard_deviation(</a:t>
            </a:r>
          </a:p>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Liberation Mono"/>
                <a:ea typeface="Noto Sans CJK JP"/>
                <a:cs typeface="Liberation Mono"/>
              </a:rPr>
              <a:t>   numbers=[100, 95, 85, 90, 88, 92])</a:t>
            </a:r>
          </a:p>
        </p:txBody>
      </p:sp>
      <p:sp>
        <p:nvSpPr>
          <p:cNvPr id="6" name="TextBox 5"/>
          <p:cNvSpPr txBox="1"/>
          <p:nvPr/>
        </p:nvSpPr>
        <p:spPr>
          <a:xfrm>
            <a:off x="594360" y="3636327"/>
            <a:ext cx="7955279" cy="605155"/>
          </a:xfrm>
          <a:prstGeom prst="rect">
            <a:avLst/>
          </a:prstGeom>
          <a:noFill/>
        </p:spPr>
        <p:txBody>
          <a:bodyPr wrap="square" lIns="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最初にファイルを探し、次に内容を読んで平均を計算する。最後の依頼には「何の標準偏差か」と書かれていないため、前のやり取りと数値を引き継ぐ。</a:t>
            </a:r>
          </a:p>
        </p:txBody>
      </p:sp>
      <p:sp>
        <p:nvSpPr>
          <p:cNvPr id="7"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8"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検索とページ閲覧で、出生国を特定する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35024"/>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利用者の依頼の原文（全文）</a:t>
            </a:r>
          </a:p>
        </p:txBody>
      </p:sp>
      <p:sp>
        <p:nvSpPr>
          <p:cNvPr id="5" name="quote-frame"/>
          <p:cNvSpPr/>
          <p:nvPr/>
        </p:nvSpPr>
        <p:spPr>
          <a:xfrm>
            <a:off x="548640" y="1609344"/>
            <a:ext cx="8046720" cy="107010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Cycling competitions such as the Tour de France showcase top endurance athletes from around the world. What is the birth country of the cyclist who won the 2024 Tour de France?</a:t>
            </a:r>
          </a:p>
        </p:txBody>
      </p:sp>
      <p:sp>
        <p:nvSpPr>
          <p:cNvPr id="6" name="TextBox 5"/>
          <p:cNvSpPr txBox="1"/>
          <p:nvPr/>
        </p:nvSpPr>
        <p:spPr>
          <a:xfrm>
            <a:off x="548640" y="2789174"/>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3036062"/>
            <a:ext cx="7955279" cy="869632"/>
          </a:xfrm>
          <a:prstGeom prst="rect">
            <a:avLst/>
          </a:prstGeom>
          <a:noFill/>
        </p:spPr>
        <p:txBody>
          <a:bodyPr wrap="square" lIns="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ツール・ド・フランスのような自転車競技には、世界各国の持久力に優れた選手が出場する。2024年のツール・ド・フランスで優勝した選手の出生国はどこか。</a:t>
            </a:r>
          </a:p>
        </p:txBody>
      </p:sp>
      <p:sp>
        <p:nvSpPr>
          <p:cNvPr id="8" name="TextBox 7"/>
          <p:cNvSpPr txBox="1"/>
          <p:nvPr/>
        </p:nvSpPr>
        <p:spPr>
          <a:xfrm>
            <a:off x="594360" y="4051998"/>
            <a:ext cx="7955279" cy="40112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正解：Slovenia（スロベニア）</a:t>
            </a:r>
          </a:p>
        </p:txBody>
      </p:sp>
      <p:sp>
        <p:nvSpPr>
          <p:cNvPr id="9"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10"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250" b="0">
                <a:solidFill>
                  <a:srgbClr val="303437"/>
                </a:solidFill>
                <a:latin typeface="Noto Sans"/>
              </a:defRPr>
            </a:pPr>
            <a:r>
              <a:rPr sz="2250" b="1" lang="ja-JP" altLang="en-US">
                <a:solidFill>
                  <a:srgbClr val="303437"/>
                </a:solidFill>
                <a:latin typeface="Noto Sans"/>
                <a:ea typeface="Noto Sans CJK JP"/>
                <a:cs typeface="Noto Sans"/>
              </a:rPr>
              <a:t>例12 検索とページ閲覧で、出生国を特定する：関数仕様</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71600"/>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検索とページ取得に使う関数仕様の要点（抜粋）</a:t>
            </a:r>
          </a:p>
        </p:txBody>
      </p:sp>
      <p:sp>
        <p:nvSpPr>
          <p:cNvPr id="5" name="TextBox 4"/>
          <p:cNvSpPr txBox="1"/>
          <p:nvPr/>
        </p:nvSpPr>
        <p:spPr>
          <a:xfrm>
            <a:off x="594360" y="1719072"/>
            <a:ext cx="7955279" cy="2312924"/>
          </a:xfrm>
          <a:prstGeom prst="rect">
            <a:avLst/>
          </a:prstGeom>
          <a:noFill/>
        </p:spPr>
        <p:txBody>
          <a:bodyPr wrap="square" lIns="0" rIns="0" tIns="0" bIns="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search_engine_query は、必須の文字列keywordsでWebを検索する。max_resultsは件数の上限で、既定値は10。regionは地域の指定で、既定値wt-wtは地域を限定しない。</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fetch_url_content は、必須の文字列urlからページを取得する。http://またはhttps://で始まるURLを使う。modeはraw・markdown・truncateから選び、既定値rawはHTMLをそのまま返す。返り値のcontentには処理後の本文が入る。</a:t>
            </a:r>
          </a:p>
        </p:txBody>
      </p:sp>
      <p:sp>
        <p:nvSpPr>
          <p:cNvPr id="6"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7"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100" b="0">
                <a:solidFill>
                  <a:srgbClr val="303437"/>
                </a:solidFill>
                <a:latin typeface="Noto Sans"/>
              </a:defRPr>
            </a:pPr>
            <a:r>
              <a:rPr sz="2100" b="1" lang="ja-JP" altLang="en-US">
                <a:solidFill>
                  <a:srgbClr val="303437"/>
                </a:solidFill>
                <a:latin typeface="Noto Sans"/>
                <a:ea typeface="Noto Sans CJK JP"/>
                <a:cs typeface="Noto Sans"/>
              </a:rPr>
              <a:t>例12 検索とページ閲覧で、出生国を特定する：正解と読み方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71600"/>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最終回答の正解</a:t>
            </a:r>
          </a:p>
        </p:txBody>
      </p:sp>
      <p:sp>
        <p:nvSpPr>
          <p:cNvPr id="5" name="TextBox 4"/>
          <p:cNvSpPr txBox="1"/>
          <p:nvPr/>
        </p:nvSpPr>
        <p:spPr>
          <a:xfrm>
            <a:off x="594360" y="1755648"/>
            <a:ext cx="7955279" cy="398081"/>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正解：Slovenia（スロベニア）</a:t>
            </a:r>
          </a:p>
        </p:txBody>
      </p:sp>
      <p:sp>
        <p:nvSpPr>
          <p:cNvPr id="6" name="TextBox 5"/>
          <p:cNvSpPr txBox="1"/>
          <p:nvPr/>
        </p:nvSpPr>
        <p:spPr>
          <a:xfrm>
            <a:off x="594360" y="2336609"/>
            <a:ext cx="7955279" cy="982980"/>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2024年の優勝者Tadej Pogačarを特定してから、出生国を調べる二段階の問い。関数呼び出しの形ではなく、最終的な文章に参照の国名が含まれるかを採点する。</a:t>
            </a:r>
          </a:p>
        </p:txBody>
      </p:sp>
      <p:sp>
        <p:nvSpPr>
          <p:cNvPr id="7"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8"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音名と周波数を変換する：原文1</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35024"/>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依頼と関数定義の原文（全フィールド）</a:t>
            </a:r>
          </a:p>
        </p:txBody>
      </p:sp>
      <p:sp>
        <p:nvSpPr>
          <p:cNvPr id="5" name="quote-frame"/>
          <p:cNvSpPr/>
          <p:nvPr/>
        </p:nvSpPr>
        <p:spPr>
          <a:xfrm>
            <a:off x="548640" y="1922272"/>
            <a:ext cx="8046720" cy="23093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What is the equivalent note of C in Indian musical scale? And convert the frequency 440 Hz to wavelength?</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name: frequency_to_wavelength</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description: Converts the frequency of a musical note to its wavelength.</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parameters: type=dict; required=["frequency"]</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frequency: type=float; description=The frequency in hertz of the musical note.</a:t>
            </a:r>
          </a:p>
        </p:txBody>
      </p:sp>
      <p:sp>
        <p:nvSpPr>
          <p:cNvPr id="6"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7"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音名と周波数を変換する：原文2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35024"/>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依頼と関数定義の原文（全フィールド）</a:t>
            </a:r>
          </a:p>
        </p:txBody>
      </p:sp>
      <p:sp>
        <p:nvSpPr>
          <p:cNvPr id="5" name="quote-frame"/>
          <p:cNvSpPr/>
          <p:nvPr/>
        </p:nvSpPr>
        <p:spPr>
          <a:xfrm>
            <a:off x="548640" y="2436114"/>
            <a:ext cx="8046720" cy="128168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name: note_conversion.indian</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description: Converts a note in Western music to Indian classical music.</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parameters: type=dict; required=["note"]</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note: type=string; description=The note in Western musical scale.</a:t>
            </a:r>
          </a:p>
        </p:txBody>
      </p:sp>
      <p:sp>
        <p:nvSpPr>
          <p:cNvPr id="6"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7"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音名と周波数を変換する：日本語訳1</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35024"/>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依頼と関数定義の日本語訳</a:t>
            </a:r>
          </a:p>
        </p:txBody>
      </p:sp>
      <p:sp>
        <p:nvSpPr>
          <p:cNvPr id="5" name="TextBox 4"/>
          <p:cNvSpPr txBox="1"/>
          <p:nvPr/>
        </p:nvSpPr>
        <p:spPr>
          <a:xfrm>
            <a:off x="594360" y="1655064"/>
            <a:ext cx="7955279" cy="1874646"/>
          </a:xfrm>
          <a:prstGeom prst="rect">
            <a:avLst/>
          </a:prstGeom>
          <a:noFill/>
        </p:spPr>
        <p:txBody>
          <a:bodyPr wrap="square" lIns="0" rIns="0" tIns="0" bIns="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西洋音楽の音名Cは、インド音楽の音階では何に相当するか。また、周波数440Hzを波長へ変換する。</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name: frequency_to_wavelength</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description: 音の周波数を波長へ変換する。</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parameters: type=dict; required=["frequency"]</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frequency: type=float; description=音の周波数。単位はヘルツ。</a:t>
            </a:r>
          </a:p>
        </p:txBody>
      </p:sp>
      <p:sp>
        <p:nvSpPr>
          <p:cNvPr id="6"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7"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音名と周波数を変換する：日本語訳2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35024"/>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依頼と関数定義の日本語訳</a:t>
            </a:r>
          </a:p>
        </p:txBody>
      </p:sp>
      <p:sp>
        <p:nvSpPr>
          <p:cNvPr id="5" name="TextBox 4"/>
          <p:cNvSpPr txBox="1"/>
          <p:nvPr/>
        </p:nvSpPr>
        <p:spPr>
          <a:xfrm>
            <a:off x="594360" y="1655064"/>
            <a:ext cx="7955279" cy="1103884"/>
          </a:xfrm>
          <a:prstGeom prst="rect">
            <a:avLst/>
          </a:prstGeom>
          <a:noFill/>
        </p:spPr>
        <p:txBody>
          <a:bodyPr wrap="square" lIns="0" rIns="0" tIns="0" bIns="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name: note_conversion.indian</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description: 西洋音楽の音名を、インド古典音楽の音名へ変換する。</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parameters: type=dict; required=["note"]</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note: type=string; description=西洋音楽の音名。</a:t>
            </a:r>
          </a:p>
        </p:txBody>
      </p:sp>
      <p:sp>
        <p:nvSpPr>
          <p:cNvPr id="6"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7"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音名と周波数を変換する：正解と読み方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種類の異なる追加例</a:t>
            </a:r>
          </a:p>
        </p:txBody>
      </p:sp>
      <p:sp>
        <p:nvSpPr>
          <p:cNvPr id="4" name="TextBox 3"/>
          <p:cNvSpPr txBox="1"/>
          <p:nvPr/>
        </p:nvSpPr>
        <p:spPr>
          <a:xfrm>
            <a:off x="548640" y="1371600"/>
            <a:ext cx="8046720" cy="201168"/>
          </a:xfrm>
          <a:prstGeom prst="rect">
            <a:avLst/>
          </a:prstGeom>
          <a:noFill/>
        </p:spPr>
        <p:txBody>
          <a:bodyPr wrap="square" lIns="0" rIns="0" tIns="0" bIns="0">
            <a:noAutofit/>
          </a:bodyPr>
          <a:lstStyle/>
          <a:p>
            <a:pPr algn="l">
              <a:lnSpc>
                <a:spcPts val="1375"/>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参照条件を満たす呼び出しの一例</a:t>
            </a:r>
          </a:p>
        </p:txBody>
      </p:sp>
      <p:sp>
        <p:nvSpPr>
          <p:cNvPr id="5" name="TextBox 4"/>
          <p:cNvSpPr txBox="1"/>
          <p:nvPr/>
        </p:nvSpPr>
        <p:spPr>
          <a:xfrm>
            <a:off x="594360" y="1737360"/>
            <a:ext cx="7955279" cy="723010"/>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Liberation Mono"/>
                <a:ea typeface="Noto Sans CJK JP"/>
                <a:cs typeface="Liberation Mono"/>
              </a:rPr>
              <a:t>note_conversion.indian(note="C")</a:t>
            </a:r>
          </a:p>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Liberation Mono"/>
                <a:ea typeface="Noto Sans CJK JP"/>
                <a:cs typeface="Liberation Mono"/>
              </a:rPr>
              <a:t>frequency_to_wavelength(frequency=440.0)</a:t>
            </a:r>
          </a:p>
        </p:txBody>
      </p:sp>
      <p:sp>
        <p:nvSpPr>
          <p:cNvPr id="6" name="TextBox 5"/>
          <p:cNvSpPr txBox="1"/>
          <p:nvPr/>
        </p:nvSpPr>
        <p:spPr>
          <a:xfrm>
            <a:off x="594360" y="2679827"/>
            <a:ext cx="7955279" cy="650494"/>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音名と周波数は異なる引数で、別の関数に渡す。参照条件が指定するのは呼び出しであり、変換後の音名や波長そのものではない。</a:t>
            </a:r>
          </a:p>
        </p:txBody>
      </p:sp>
      <p:sp>
        <p:nvSpPr>
          <p:cNvPr id="7"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Gorilla Team (2026-10-25参照), BFCL v4 Data</a:t>
            </a:r>
          </a:p>
        </p:txBody>
      </p:sp>
      <p:sp>
        <p:nvSpPr>
          <p:cNvPr id="8"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https://github.com/ShishirPatil/gorilla/tree/main/berkeley-function-call-leaderboard/bfcl_eval/data</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初期評価と参考文献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初期評価と参考文献</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2025年の論文でも、設定別に成績を示した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初期評価と参考文献</a:t>
            </a:r>
          </a:p>
        </p:txBody>
      </p:sp>
      <p:graphicFrame>
        <p:nvGraphicFramePr>
          <p:cNvPr id="4" name="Table 3"/>
          <p:cNvGraphicFramePr>
            <a:graphicFrameLocks noGrp="1"/>
          </p:cNvGraphicFramePr>
          <p:nvPr/>
        </p:nvGraphicFramePr>
        <p:xfrm>
          <a:off x="548640" y="1508760"/>
          <a:ext cx="8046720" cy="1536192"/>
        </p:xfrm>
        <a:graphic>
          <a:graphicData uri="http://schemas.openxmlformats.org/drawingml/2006/table">
            <a:tbl>
              <a:tblPr firstRow="0" bandRow="0"/>
              <a:tblGrid>
                <a:gridCol w="6126480"/>
                <a:gridCol w="1920240"/>
              </a:tblGrid>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モデル・設定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総合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GPT-4o 2024-11-20 / FC</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65.8</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Qwen2.5-72B-Instruct / Prompt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57.0</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Claude 3.5 Sonnet 2024-10-22 / FC</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53.8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172968"/>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論文公表時の構成では実行評価やSQLも含む。現在の公開表とは構成が異なる。</a:t>
            </a:r>
          </a:p>
        </p:txBody>
      </p:sp>
      <p:sp>
        <p:nvSpPr>
          <p:cNvPr id="6" name="sources"/>
          <p:cNvSpPr txBox="1"/>
          <p:nvPr/>
        </p:nvSpPr>
        <p:spPr>
          <a:xfrm>
            <a:off x="502920" y="4672584"/>
            <a:ext cx="8183879" cy="192024"/>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Patil et al. (2025), The Berkeley Function Calling Leaderboard (BFCL), ICML 2025</a:t>
            </a:r>
          </a:p>
        </p:txBody>
      </p:sp>
      <p:sp>
        <p:nvSpPr>
          <p:cNvPr id="7" name="source-url"/>
          <p:cNvSpPr txBox="1"/>
          <p:nvPr/>
        </p:nvSpPr>
        <p:spPr>
          <a:xfrm>
            <a:off x="502920" y="4855464"/>
            <a:ext cx="8183879" cy="192024"/>
          </a:xfrm>
          <a:prstGeom prst="rect">
            <a:avLst/>
          </a:prstGeom>
          <a:noFill/>
        </p:spPr>
        <p:txBody>
          <a:bodyPr wrap="non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https://proceedings.mlr.press/v267/patil25a.html</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初期評価と参考文献</a:t>
            </a:r>
          </a:p>
        </p:txBody>
      </p:sp>
      <p:sp>
        <p:nvSpPr>
          <p:cNvPr id="4" name="文献1"/>
          <p:cNvSpPr txBox="1"/>
          <p:nvPr/>
        </p:nvSpPr>
        <p:spPr>
          <a:xfrm>
            <a:off x="548640" y="1408176"/>
            <a:ext cx="8046720" cy="1496034"/>
          </a:xfrm>
          <a:prstGeom prst="rect">
            <a:avLst/>
          </a:prstGeom>
          <a:noFill/>
        </p:spPr>
        <p:txBody>
          <a:bodyPr wrap="square" lIns="0" rIns="0" tIns="0" bIns="0">
            <a:noAutofit/>
          </a:bodyPr>
          <a:lstStyle/>
          <a:p>
            <a:pPr algn="l">
              <a:lnSpc>
                <a:spcPts val="23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The Berkeley Function Calling Leaderboard (BFCL): From Tool Use to Agentic Evaluation of Large Language Models</a:t>
            </a:r>
          </a:p>
          <a:p>
            <a:pPr>
              <a:lnSpc>
                <a:spcPts val="1487"/>
              </a:lnSpc>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Shishir G. Patil et al. (2025), ICML 2025, PMLR 267:48371–48392.</a:t>
            </a:r>
          </a:p>
          <a:p>
            <a:pPr>
              <a:lnSpc>
                <a:spcPts val="2082"/>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関数呼び出しのデータ構築と、構文・実行・状態を使った採点を報告する。</a:t>
            </a:r>
          </a:p>
          <a:p>
            <a:pPr>
              <a:lnSpc>
                <a:spcPts val="1213"/>
              </a:lnSpc>
              <a:spcAft>
                <a:spcPts val="0"/>
              </a:spcAft>
              <a:buNone/>
              <a:defRPr sz="1019" b="0">
                <a:solidFill>
                  <a:srgbClr val="303437"/>
                </a:solidFill>
                <a:latin typeface="Noto Sans"/>
              </a:defRPr>
            </a:pPr>
            <a:r>
              <a:rPr sz="1019" b="0" lang="ja-JP" altLang="en-US">
                <a:solidFill>
                  <a:srgbClr val="626669"/>
                </a:solidFill>
                <a:latin typeface="Noto Sans"/>
                <a:ea typeface="Noto Sans CJK JP"/>
                <a:cs typeface="Noto Sans"/>
                <a:hlinkClick r:id="rId2"/>
              </a:rPr>
              <a:t>https://proceedings.mlr.press/v267/patil25a.html</a:t>
            </a:r>
          </a:p>
        </p:txBody>
      </p:sp>
      <p:sp>
        <p:nvSpPr>
          <p:cNvPr id="5" name="文献2"/>
          <p:cNvSpPr txBox="1"/>
          <p:nvPr/>
        </p:nvSpPr>
        <p:spPr>
          <a:xfrm>
            <a:off x="548640" y="3259810"/>
            <a:ext cx="8046720" cy="1193774"/>
          </a:xfrm>
          <a:prstGeom prst="rect">
            <a:avLst/>
          </a:prstGeom>
          <a:noFill/>
        </p:spPr>
        <p:txBody>
          <a:bodyPr wrap="square" lIns="0" rIns="0" tIns="0" bIns="0">
            <a:noAutofit/>
          </a:bodyPr>
          <a:lstStyle/>
          <a:p>
            <a:pPr algn="l">
              <a:lnSpc>
                <a:spcPts val="23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Berkeley Function Calling Leaderboard (BFCL) V4</a:t>
            </a:r>
          </a:p>
          <a:p>
            <a:pPr>
              <a:lnSpc>
                <a:spcPts val="1487"/>
              </a:lnSpc>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Gorilla Team (n.d.), UC Berkeley. 2026-10-25参照。</a:t>
            </a:r>
          </a:p>
          <a:p>
            <a:pPr>
              <a:lnSpc>
                <a:spcPts val="2082"/>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バージョン4の課題別成績と、モデルの呼び出し設定を公開する。</a:t>
            </a:r>
          </a:p>
          <a:p>
            <a:pPr>
              <a:lnSpc>
                <a:spcPts val="1213"/>
              </a:lnSpc>
              <a:spcAft>
                <a:spcPts val="0"/>
              </a:spcAft>
              <a:buNone/>
              <a:defRPr sz="1019" b="0">
                <a:solidFill>
                  <a:srgbClr val="303437"/>
                </a:solidFill>
                <a:latin typeface="Noto Sans"/>
              </a:defRPr>
            </a:pPr>
            <a:r>
              <a:rPr sz="1019" b="0" lang="ja-JP" altLang="en-US">
                <a:solidFill>
                  <a:srgbClr val="626669"/>
                </a:solidFill>
                <a:latin typeface="Noto Sans"/>
                <a:ea typeface="Noto Sans CJK JP"/>
                <a:cs typeface="Noto Sans"/>
                <a:hlinkClick r:id="rId3"/>
              </a:rPr>
              <a:t>https://gorilla.cs.berkeley.edu/leaderboard.html</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初期評価と参考文献</a:t>
            </a:r>
          </a:p>
        </p:txBody>
      </p:sp>
      <p:sp>
        <p:nvSpPr>
          <p:cNvPr id="4" name="文献1"/>
          <p:cNvSpPr txBox="1"/>
          <p:nvPr/>
        </p:nvSpPr>
        <p:spPr>
          <a:xfrm>
            <a:off x="548640" y="1408176"/>
            <a:ext cx="8046720" cy="1193774"/>
          </a:xfrm>
          <a:prstGeom prst="rect">
            <a:avLst/>
          </a:prstGeom>
          <a:noFill/>
        </p:spPr>
        <p:txBody>
          <a:bodyPr wrap="square" lIns="0" rIns="0" tIns="0" bIns="0">
            <a:noAutofit/>
          </a:bodyPr>
          <a:lstStyle/>
          <a:p>
            <a:pPr algn="l">
              <a:lnSpc>
                <a:spcPts val="23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Berkeley Function Calling Leaderboard</a:t>
            </a:r>
          </a:p>
          <a:p>
            <a:pPr>
              <a:lnSpc>
                <a:spcPts val="1487"/>
              </a:lnSpc>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Gorilla Team (2024), Gorilla Blog 8.</a:t>
            </a:r>
          </a:p>
          <a:p>
            <a:pPr>
              <a:lnSpc>
                <a:spcPts val="2082"/>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単一ターンの関数選択、複数回の呼び出し、ASTによる採点を導入する。</a:t>
            </a:r>
          </a:p>
          <a:p>
            <a:pPr>
              <a:lnSpc>
                <a:spcPts val="1213"/>
              </a:lnSpc>
              <a:spcAft>
                <a:spcPts val="0"/>
              </a:spcAft>
              <a:buNone/>
              <a:defRPr sz="1019" b="0">
                <a:solidFill>
                  <a:srgbClr val="303437"/>
                </a:solidFill>
                <a:latin typeface="Noto Sans"/>
              </a:defRPr>
            </a:pPr>
            <a:r>
              <a:rPr sz="1019" b="0" lang="ja-JP" altLang="en-US">
                <a:solidFill>
                  <a:srgbClr val="626669"/>
                </a:solidFill>
                <a:latin typeface="Noto Sans"/>
                <a:ea typeface="Noto Sans CJK JP"/>
                <a:cs typeface="Noto Sans"/>
                <a:hlinkClick r:id="rId2"/>
              </a:rPr>
              <a:t>https://gorilla.cs.berkeley.edu/blogs/8_berkeley_function_calling_leaderboard.html</a:t>
            </a:r>
          </a:p>
        </p:txBody>
      </p:sp>
      <p:sp>
        <p:nvSpPr>
          <p:cNvPr id="5" name="文献2"/>
          <p:cNvSpPr txBox="1"/>
          <p:nvPr/>
        </p:nvSpPr>
        <p:spPr>
          <a:xfrm>
            <a:off x="548640" y="2957550"/>
            <a:ext cx="8046720" cy="1193774"/>
          </a:xfrm>
          <a:prstGeom prst="rect">
            <a:avLst/>
          </a:prstGeom>
          <a:noFill/>
        </p:spPr>
        <p:txBody>
          <a:bodyPr wrap="square" lIns="0" rIns="0" tIns="0" bIns="0">
            <a:noAutofit/>
          </a:bodyPr>
          <a:lstStyle/>
          <a:p>
            <a:pPr algn="l">
              <a:lnSpc>
                <a:spcPts val="23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BFCL V2 • Live Dataset</a:t>
            </a:r>
          </a:p>
          <a:p>
            <a:pPr>
              <a:lnSpc>
                <a:spcPts val="1487"/>
              </a:lnSpc>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Gorilla Team (2024), Gorilla Blog 12.</a:t>
            </a:r>
          </a:p>
          <a:p>
            <a:pPr>
              <a:lnSpc>
                <a:spcPts val="2082"/>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実際の利用者の依頼を収集・選別した、Liveデータの構築と内訳を示す。</a:t>
            </a:r>
          </a:p>
          <a:p>
            <a:pPr>
              <a:lnSpc>
                <a:spcPts val="1213"/>
              </a:lnSpc>
              <a:spcAft>
                <a:spcPts val="0"/>
              </a:spcAft>
              <a:buNone/>
              <a:defRPr sz="1019" b="0">
                <a:solidFill>
                  <a:srgbClr val="303437"/>
                </a:solidFill>
                <a:latin typeface="Noto Sans"/>
              </a:defRPr>
            </a:pPr>
            <a:r>
              <a:rPr sz="1019" b="0" lang="ja-JP" altLang="en-US">
                <a:solidFill>
                  <a:srgbClr val="626669"/>
                </a:solidFill>
                <a:latin typeface="Noto Sans"/>
                <a:ea typeface="Noto Sans CJK JP"/>
                <a:cs typeface="Noto Sans"/>
                <a:hlinkClick r:id="rId3"/>
              </a:rPr>
              <a:t>https://gorilla.cs.berkeley.edu/blogs/12_bfcl_v2_live.html</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初期評価と参考文献</a:t>
            </a:r>
          </a:p>
        </p:txBody>
      </p:sp>
      <p:sp>
        <p:nvSpPr>
          <p:cNvPr id="4" name="文献1"/>
          <p:cNvSpPr txBox="1"/>
          <p:nvPr/>
        </p:nvSpPr>
        <p:spPr>
          <a:xfrm>
            <a:off x="548640" y="1408176"/>
            <a:ext cx="8046720" cy="1193774"/>
          </a:xfrm>
          <a:prstGeom prst="rect">
            <a:avLst/>
          </a:prstGeom>
          <a:noFill/>
        </p:spPr>
        <p:txBody>
          <a:bodyPr wrap="square" lIns="0" rIns="0" tIns="0" bIns="0">
            <a:noAutofit/>
          </a:bodyPr>
          <a:lstStyle/>
          <a:p>
            <a:pPr algn="l">
              <a:lnSpc>
                <a:spcPts val="23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BFCL V3 • Multi-Turn &amp; Multi-Step Function Calling Evaluation</a:t>
            </a:r>
          </a:p>
          <a:p>
            <a:pPr>
              <a:lnSpc>
                <a:spcPts val="1487"/>
              </a:lnSpc>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Gorilla Team (2024), Gorilla Blog 13.</a:t>
            </a:r>
          </a:p>
          <a:p>
            <a:pPr>
              <a:lnSpc>
                <a:spcPts val="2082"/>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会話の各ターンで、APIの状態と実行結果を確認する評価へ拡張する。</a:t>
            </a:r>
          </a:p>
          <a:p>
            <a:pPr>
              <a:lnSpc>
                <a:spcPts val="1213"/>
              </a:lnSpc>
              <a:spcAft>
                <a:spcPts val="0"/>
              </a:spcAft>
              <a:buNone/>
              <a:defRPr sz="1019" b="0">
                <a:solidFill>
                  <a:srgbClr val="303437"/>
                </a:solidFill>
                <a:latin typeface="Noto Sans"/>
              </a:defRPr>
            </a:pPr>
            <a:r>
              <a:rPr sz="1019" b="0" lang="ja-JP" altLang="en-US">
                <a:solidFill>
                  <a:srgbClr val="626669"/>
                </a:solidFill>
                <a:latin typeface="Noto Sans"/>
                <a:ea typeface="Noto Sans CJK JP"/>
                <a:cs typeface="Noto Sans"/>
                <a:hlinkClick r:id="rId2"/>
              </a:rPr>
              <a:t>https://gorilla.cs.berkeley.edu/blogs/13_bfcl_v3_multi_turn.html</a:t>
            </a:r>
          </a:p>
        </p:txBody>
      </p:sp>
      <p:sp>
        <p:nvSpPr>
          <p:cNvPr id="5" name="文献2"/>
          <p:cNvSpPr txBox="1"/>
          <p:nvPr/>
        </p:nvSpPr>
        <p:spPr>
          <a:xfrm>
            <a:off x="548640" y="2957550"/>
            <a:ext cx="8046720" cy="1193774"/>
          </a:xfrm>
          <a:prstGeom prst="rect">
            <a:avLst/>
          </a:prstGeom>
          <a:noFill/>
        </p:spPr>
        <p:txBody>
          <a:bodyPr wrap="square" lIns="0" rIns="0" tIns="0" bIns="0">
            <a:noAutofit/>
          </a:bodyPr>
          <a:lstStyle/>
          <a:p>
            <a:pPr algn="l">
              <a:lnSpc>
                <a:spcPts val="23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BFCL V4 • Agentic Part 1: Web Search</a:t>
            </a:r>
          </a:p>
          <a:p>
            <a:pPr>
              <a:lnSpc>
                <a:spcPts val="1487"/>
              </a:lnSpc>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Gorilla Team (2025), Gorilla Blog 15.</a:t>
            </a:r>
          </a:p>
          <a:p>
            <a:pPr>
              <a:lnSpc>
                <a:spcPts val="2082"/>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検索とページ取得で答える課題を導入し、総合得点の構成も説明する。</a:t>
            </a:r>
          </a:p>
          <a:p>
            <a:pPr>
              <a:lnSpc>
                <a:spcPts val="1213"/>
              </a:lnSpc>
              <a:spcAft>
                <a:spcPts val="0"/>
              </a:spcAft>
              <a:buNone/>
              <a:defRPr sz="1019" b="0">
                <a:solidFill>
                  <a:srgbClr val="303437"/>
                </a:solidFill>
                <a:latin typeface="Noto Sans"/>
              </a:defRPr>
            </a:pPr>
            <a:r>
              <a:rPr sz="1019" b="0" lang="ja-JP" altLang="en-US">
                <a:solidFill>
                  <a:srgbClr val="626669"/>
                </a:solidFill>
                <a:latin typeface="Noto Sans"/>
                <a:ea typeface="Noto Sans CJK JP"/>
                <a:cs typeface="Noto Sans"/>
                <a:hlinkClick r:id="rId3"/>
              </a:rPr>
              <a:t>https://gorilla.cs.berkeley.edu/blogs/15_bfcl_v4_web_search.html</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初期評価と参考文献</a:t>
            </a:r>
          </a:p>
        </p:txBody>
      </p:sp>
      <p:sp>
        <p:nvSpPr>
          <p:cNvPr id="4" name="文献1"/>
          <p:cNvSpPr txBox="1"/>
          <p:nvPr/>
        </p:nvSpPr>
        <p:spPr>
          <a:xfrm>
            <a:off x="548640" y="1408176"/>
            <a:ext cx="8046720" cy="1193774"/>
          </a:xfrm>
          <a:prstGeom prst="rect">
            <a:avLst/>
          </a:prstGeom>
          <a:noFill/>
        </p:spPr>
        <p:txBody>
          <a:bodyPr wrap="square" lIns="0" rIns="0" tIns="0" bIns="0">
            <a:noAutofit/>
          </a:bodyPr>
          <a:lstStyle/>
          <a:p>
            <a:pPr algn="l">
              <a:lnSpc>
                <a:spcPts val="23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BFCL V4 • Agentic Part 2: Evaluating Tool Calling for Memory</a:t>
            </a:r>
          </a:p>
          <a:p>
            <a:pPr>
              <a:lnSpc>
                <a:spcPts val="1487"/>
              </a:lnSpc>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Gorilla Team (2025), Gorilla Blog 16.</a:t>
            </a:r>
          </a:p>
          <a:p>
            <a:pPr>
              <a:lnSpc>
                <a:spcPts val="2082"/>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利用者の情報を保存・更新する課題と、三つの記憶方式を比較する。</a:t>
            </a:r>
          </a:p>
          <a:p>
            <a:pPr>
              <a:lnSpc>
                <a:spcPts val="1213"/>
              </a:lnSpc>
              <a:spcAft>
                <a:spcPts val="0"/>
              </a:spcAft>
              <a:buNone/>
              <a:defRPr sz="1019" b="0">
                <a:solidFill>
                  <a:srgbClr val="303437"/>
                </a:solidFill>
                <a:latin typeface="Noto Sans"/>
              </a:defRPr>
            </a:pPr>
            <a:r>
              <a:rPr sz="1019" b="0" lang="ja-JP" altLang="en-US">
                <a:solidFill>
                  <a:srgbClr val="626669"/>
                </a:solidFill>
                <a:latin typeface="Noto Sans"/>
                <a:ea typeface="Noto Sans CJK JP"/>
                <a:cs typeface="Noto Sans"/>
                <a:hlinkClick r:id="rId2"/>
              </a:rPr>
              <a:t>https://gorilla.cs.berkeley.edu/blogs/16_bfcl_v4_memory.html</a:t>
            </a:r>
          </a:p>
        </p:txBody>
      </p:sp>
      <p:sp>
        <p:nvSpPr>
          <p:cNvPr id="5" name="文献2"/>
          <p:cNvSpPr txBox="1"/>
          <p:nvPr/>
        </p:nvSpPr>
        <p:spPr>
          <a:xfrm>
            <a:off x="548640" y="2957550"/>
            <a:ext cx="8046720" cy="1496034"/>
          </a:xfrm>
          <a:prstGeom prst="rect">
            <a:avLst/>
          </a:prstGeom>
          <a:noFill/>
        </p:spPr>
        <p:txBody>
          <a:bodyPr wrap="square" lIns="0" rIns="0" tIns="0" bIns="0">
            <a:noAutofit/>
          </a:bodyPr>
          <a:lstStyle/>
          <a:p>
            <a:pPr algn="l">
              <a:lnSpc>
                <a:spcPts val="23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BFCL V4 • Agentic Part 3: Evaluating Format Sensitivity for Tool Calls</a:t>
            </a:r>
          </a:p>
          <a:p>
            <a:pPr>
              <a:lnSpc>
                <a:spcPts val="1487"/>
              </a:lnSpc>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Gorilla Team (2025), Gorilla Blog 17.</a:t>
            </a:r>
          </a:p>
          <a:p>
            <a:pPr>
              <a:lnSpc>
                <a:spcPts val="2082"/>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指示や関数定義の書式を変えて、関数呼び出しの頑健性を調べる。</a:t>
            </a:r>
          </a:p>
          <a:p>
            <a:pPr>
              <a:lnSpc>
                <a:spcPts val="1213"/>
              </a:lnSpc>
              <a:spcAft>
                <a:spcPts val="0"/>
              </a:spcAft>
              <a:buNone/>
              <a:defRPr sz="1019" b="0">
                <a:solidFill>
                  <a:srgbClr val="303437"/>
                </a:solidFill>
                <a:latin typeface="Noto Sans"/>
              </a:defRPr>
            </a:pPr>
            <a:r>
              <a:rPr sz="1019" b="0" lang="ja-JP" altLang="en-US">
                <a:solidFill>
                  <a:srgbClr val="626669"/>
                </a:solidFill>
                <a:latin typeface="Noto Sans"/>
                <a:ea typeface="Noto Sans CJK JP"/>
                <a:cs typeface="Noto Sans"/>
                <a:hlinkClick r:id="rId3"/>
              </a:rPr>
              <a:t>https://gorilla.cs.berkeley.edu/blogs/17_bfcl_v4_prompt_variation.html</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初期評価と参考文献</a:t>
            </a:r>
          </a:p>
        </p:txBody>
      </p:sp>
      <p:sp>
        <p:nvSpPr>
          <p:cNvPr id="4" name="文献1"/>
          <p:cNvSpPr txBox="1"/>
          <p:nvPr/>
        </p:nvSpPr>
        <p:spPr>
          <a:xfrm>
            <a:off x="548640" y="1408176"/>
            <a:ext cx="8046720" cy="1193774"/>
          </a:xfrm>
          <a:prstGeom prst="rect">
            <a:avLst/>
          </a:prstGeom>
          <a:noFill/>
        </p:spPr>
        <p:txBody>
          <a:bodyPr wrap="square" lIns="0" rIns="0" tIns="0" bIns="0">
            <a:noAutofit/>
          </a:bodyPr>
          <a:lstStyle/>
          <a:p>
            <a:pPr algn="l">
              <a:lnSpc>
                <a:spcPts val="23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Berkeley Function Calling Leaderboard: Code and Data</a:t>
            </a:r>
          </a:p>
          <a:p>
            <a:pPr>
              <a:lnSpc>
                <a:spcPts val="1487"/>
              </a:lnSpc>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Gorilla Team (n.d.), GitHub, Apache License 2.0. 2026-10-25参照。</a:t>
            </a:r>
          </a:p>
          <a:p>
            <a:pPr>
              <a:lnSpc>
                <a:spcPts val="2082"/>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質問、関数定義、参照条件と、応答の生成・採点に使う実装を公開する。</a:t>
            </a:r>
          </a:p>
          <a:p>
            <a:pPr>
              <a:lnSpc>
                <a:spcPts val="1213"/>
              </a:lnSpc>
              <a:spcAft>
                <a:spcPts val="0"/>
              </a:spcAft>
              <a:buNone/>
              <a:defRPr sz="1019" b="0">
                <a:solidFill>
                  <a:srgbClr val="303437"/>
                </a:solidFill>
                <a:latin typeface="Noto Sans"/>
              </a:defRPr>
            </a:pPr>
            <a:r>
              <a:rPr sz="1019" b="0" lang="ja-JP" altLang="en-US">
                <a:solidFill>
                  <a:srgbClr val="626669"/>
                </a:solidFill>
                <a:latin typeface="Noto Sans"/>
                <a:ea typeface="Noto Sans CJK JP"/>
                <a:cs typeface="Noto Sans"/>
                <a:hlinkClick r:id="rId2"/>
              </a:rPr>
              <a:t>https://github.com/ShishirPatil/gorilla/tree/main/berkeley-function-call-leaderboard</a:t>
            </a:r>
          </a:p>
        </p:txBody>
      </p:sp>
      <p:sp>
        <p:nvSpPr>
          <p:cNvPr id="5" name="文献2"/>
          <p:cNvSpPr txBox="1"/>
          <p:nvPr/>
        </p:nvSpPr>
        <p:spPr>
          <a:xfrm>
            <a:off x="548640" y="2957550"/>
            <a:ext cx="8046720" cy="1193774"/>
          </a:xfrm>
          <a:prstGeom prst="rect">
            <a:avLst/>
          </a:prstGeom>
          <a:noFill/>
        </p:spPr>
        <p:txBody>
          <a:bodyPr wrap="square" lIns="0" rIns="0" tIns="0" bIns="0">
            <a:noAutofit/>
          </a:bodyPr>
          <a:lstStyle/>
          <a:p>
            <a:pPr algn="l">
              <a:lnSpc>
                <a:spcPts val="23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Sublime Pogačar seals third Tour victory in Nice</a:t>
            </a:r>
          </a:p>
          <a:p>
            <a:pPr>
              <a:lnSpc>
                <a:spcPts val="1487"/>
              </a:lnSpc>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Tour de France (2024), Amaury Sport Organisation.</a:t>
            </a:r>
          </a:p>
          <a:p>
            <a:pPr>
              <a:lnSpc>
                <a:spcPts val="2082"/>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2024年の優勝結果を報じ、Web検索の実例が参照する選手を確認できる。</a:t>
            </a:r>
          </a:p>
          <a:p>
            <a:pPr>
              <a:lnSpc>
                <a:spcPts val="1213"/>
              </a:lnSpc>
              <a:spcAft>
                <a:spcPts val="0"/>
              </a:spcAft>
              <a:buNone/>
              <a:defRPr sz="1019" b="0">
                <a:solidFill>
                  <a:srgbClr val="303437"/>
                </a:solidFill>
                <a:latin typeface="Noto Sans"/>
              </a:defRPr>
            </a:pPr>
            <a:r>
              <a:rPr sz="1019" b="0" lang="ja-JP" altLang="en-US">
                <a:solidFill>
                  <a:srgbClr val="626669"/>
                </a:solidFill>
                <a:latin typeface="Noto Sans"/>
                <a:ea typeface="Noto Sans CJK JP"/>
                <a:cs typeface="Noto Sans"/>
                <a:hlinkClick r:id="rId3"/>
              </a:rPr>
              <a:t>https://www.letour.fr/en/news/2024/stage-21/sublime-pogacar-seals-third-tour-victory-in-nice/1324643</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2026-10-25T04:51:10Z</dcterms:modified>
  <dc:title>bfcl</dc:title>
  <dc:creator>sasakiy84</dc:creator>
  <dcterms:created xsi:type="dcterms:W3CDTF">2026-10-25T04:51:10Z</dcterms:created>
  <dc:language>ja-JP</dc:language>
</cp:coreProperties>
</file>