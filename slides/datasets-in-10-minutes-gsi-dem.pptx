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service.gsi.go.jp/kiban/app/hel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maps.gsi.go.jp/development/demtile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aps.gsi.go.jp/development/demtile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maps.gsi.go.jp/development/demtile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gsi.go.jp/development/demtile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contents/screen/basismap/documents/FGD_DLFileSpecV5.3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app/help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app/help/" TargetMode="External"/><Relationship Id="rId3" Type="http://schemas.openxmlformats.org/officeDocument/2006/relationships/hyperlink" Target="https://service.gsi.go.jp/kiban/app/data_update_info_all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Relationship Id="rId3" Type="http://schemas.openxmlformats.org/officeDocument/2006/relationships/hyperlink" Target="https://maps.gsi.go.jp/development/demtile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aps.gsi.go.jp/development/hyokochi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gsi.go.jp/development/demtile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aps.gsi.go.jp/development/demtile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contents/screen/basismap/documents/FGD_DLFileSpecV5.3.pdf" TargetMode="External"/><Relationship Id="rId3" Type="http://schemas.openxmlformats.org/officeDocument/2006/relationships/hyperlink" Target="https://www.gsi.go.jp/sokuchikijun/hyoko2024rev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hyperlink" Target="https://maps.gsi.go.jp/development/demtile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maps.gsi.go.jp/development/demtile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maps.gsi.go.jp/development/demtile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aps.gsi.go.jp/development/hyokochi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app/help/" TargetMode="External"/><Relationship Id="rId3" Type="http://schemas.openxmlformats.org/officeDocument/2006/relationships/hyperlink" Target="https://maps.gsi.go.jp/development/ichiran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gsi.go.jp/kikakuchousei/kikakuchousei40182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app/help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maps.gsi.go.jp/development/demtile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ervice.gsi.go.jp/kiban/contents/screen/basismap/documents/FGD_DLFileSpecV5.3.pdf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contents/screen/basismap/documents/FGD_DLFileSpecV5.3.pdf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aps.gsi.go.jp/development/demtile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gsi.go.jp/development/demtile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gsi.go.jp/sokuchikijun/hyoko2024rev.html" TargetMode="External"/><Relationship Id="rId3" Type="http://schemas.openxmlformats.org/officeDocument/2006/relationships/hyperlink" Target="https://www.gsi.go.jp/sokuchikijun/hyoko2024rev-QA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ervice.gsi.go.jp/kiban/app/help/" TargetMode="External"/><Relationship Id="rId3" Type="http://schemas.openxmlformats.org/officeDocument/2006/relationships/hyperlink" Target="https://maps.gsi.go.jp/development/demtile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ps.gsi.go.jp/development/hyokochi.html" TargetMode="External"/><Relationship Id="rId3" Type="http://schemas.openxmlformats.org/officeDocument/2006/relationships/hyperlink" Target="https://service.gsi.go.jp/kiban/contents/screen/basismap/documents/FGD_DLFileSpecV5.3.pdf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gsi.go.jp/sokuchikijun/hyoko2024rev.html" TargetMode="External"/><Relationship Id="rId3" Type="http://schemas.openxmlformats.org/officeDocument/2006/relationships/hyperlink" Target="https://www.gsi.go.jp/kikakuchousei/kikakuchousei4018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国土地理院DEM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534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Digital Elevation Model（数値標高モデル）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地面の高さを格子状に収録した地形データ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基盤地図情報ダウンロードサービス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はじめに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地面の高さを読む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測り方と解像度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形式と位置の表し方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描画と入手方法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富士山周辺：高さを色で見る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pic>
        <p:nvPicPr>
          <p:cNvPr id="4" name="Picture 3" descr="fuj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色の元にあるのは、各地点の標高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DEMは、地形の高さを数値で表したデータ。規則的な格子の各位置に、メートル単位の標高が入る。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いまの図は、公開されている標高タイルの数値を読み込み、高い場所ほど明るい色になるように描いた。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標高から、段彩図、等高線、陰影図、地形の断面などを作れる。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京都中心部：平地と東側の山地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pic>
        <p:nvPicPr>
          <p:cNvPr id="4" name="Picture 3" descr="kyot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京都の格子を拡大すると、数値が並ぶ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9152"/>
        </p:xfrm>
        <a:graphic>
          <a:graphicData uri="http://schemas.openxmlformats.org/drawingml/2006/table">
            <a:tbl>
              <a:tblPr firstRow="0" bandRow="0"/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1列目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2列目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3列目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4列目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5列目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36.90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36.75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36.88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図の中央付近から5行×5列を抜粋。上が北、下が南、右が東。単位はm。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建物の屋上の高さとは区別する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地形を扱うときは、建物や樹木を除いた地面の高さを知りたい。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地表面を表す数値地形モデル（DTM）と、建物や樹木の上面を含む数値表層モデル（DSM）を区別する。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国土地理院の配布仕様には、構成点の種別として「地表面」「表層面」「データなし」などがある。高さの意味も確認して使う。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地面の高さを読む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基盤地図情報ダウンロードデータファイル仕様書5.3. 2026.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https://service.gsi.go.jp/kiban/contents/screen/basismap/documents/FGD_DLFileSpecV5.3.pdf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1m・5mメッシュは、測り方が違う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1508760"/>
                <a:gridCol w="50749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格子の目安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基になる測量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DEM1A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航空レーザ測量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DEM5A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約5m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航空レーザ測量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DEM5B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約5m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写真測量（画素20cm）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DEM5C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約5m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写真測量（画素40cm）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10mメッシュは、等高線を基に作る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1508760"/>
                <a:gridCol w="3840480"/>
                <a:gridCol w="26974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基になる資料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整備範囲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DEM10A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火山基本図の等高線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対象の火山地域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DEM10B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地形図の等高線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同じ10mメッシュでも、作成に使う資料や整備範囲が異なる。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メッシュの細かさと、高さの精度は別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「5mメッシュ」は、隣り合う標高点の間隔の目安。標高が5m単位でしか分からない、という意味ではない。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約1m・約5m・約10mは呼び名で、元の格子は経緯度の角度で区切られる。緯度によって東西の距離が変わる。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数値が小数第2位まであっても、高さを1cmの精度で測ったことにはならない。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地域ごとに、使えるデータを選ぶ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基盤地図情報のDEMは2008年に提供開始。全国を覆うDEM10Bに加え、地域ごとに、より細かいDEMが整備されている。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広域では標高の分布、狭い範囲では微地形など、目的に合った格子間隔と測量方法を選ぶ。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異なる種類や計測時期のデータをつなぐと、境界で高さが不連続になることがある。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測り方と解像度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基盤地図情報 更新履歴.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https://service.gsi.go.jp/kiban/app/data_update_info_all/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配布用のGMLと、表示用のタイル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44675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3017520"/>
                <a:gridCol w="35661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向いている使い方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GML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範囲・格子・種別・標高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地域のデータをまとめて扱う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TXTタイル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256×256の標高値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数値を手軽に読む（更新停止）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PNGタイル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RGBに標高値を符号化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画像として転送・復号する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元のDEM格子と、標高タイルは異なる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標高タイルは、地図タイルと同じ位置・画素に対応するように作られる。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最大ズームでは、近くの4つの元標高点を線形的に平滑化して、画素中心の標高を求める。小さいズームでは、ひとつ上のズームの4点を平均する。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そのため、タイルの標高は元のDEM格子や測量値と完全には一致しない。この資料の地形図は、DEM10B由来のTXTタイルを使用した。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標高タイルの作成方法と地理院地図で表示される標高値について.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https://maps.gsi.go.jp/development/hyokochi.html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TXTは、カンマ区切りの数値の配列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254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36.95,36.95,36.95,36.97,37.03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36.88,36.88,36.89,36.92,36.97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36.83,36.83,36.85,36.90,36.92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64053"/>
            <a:ext cx="7955279" cy="1132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京都の中央付近から3行×5列を抜粋。実際の1タイルは256行×256列。</a:t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横は西から東、行は北から南へ進む。数値の単位はm。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欠測は「標高0m」に置き換えない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TXTでは、標高値がない画素は文字「e」。海抜0mを表す数値「0」とは意味が違う。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PNGでは、RGB=(128, 0, 0)が無効値。それ以外のRGB値を公式の式で標高へ戻す。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読み込んだ後も欠測のまま扱えば、海岸やデータの境界に、存在しない崖や谷を作らずに済む。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地図の位置と、高さの基準を分ける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GMLの現行仕様5.3では、位置の座標参照系はJGD2024の緯度・経度。座標の並びは緯度、経度。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標高タイルはWeb地図と共通のz/x/yで位置を指定する。表示の投影法と、元のDEMの格子間隔は別の情報。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標高は楕円体高とは異なる。2025年の標高成果改定も踏まえ、他の高さデータと重ねるときは、基準と配布版をそろえる。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形式と位置の表し方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46989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基盤地図情報ダウンロードデータファイル仕様書5.3. 2026.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https://service.gsi.go.jp/kiban/contents/screen/basismap/documents/FGD_DLFileSpecV5.3.pdf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全国の標高成果の改定.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https://www.gsi.go.jp/sokuchikijun/hyoko2024rev.html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富士山周辺：陰影で斜面を読む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pic>
        <p:nvPicPr>
          <p:cNvPr id="4" name="Picture 3" descr="fuji-hillsh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富士山周辺：500m間隔の等高線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pic>
        <p:nvPicPr>
          <p:cNvPr id="4" name="Picture 3" descr="fuji-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富士山周辺：東西方向の断面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pic>
        <p:nvPicPr>
          <p:cNvPr id="4" name="Picture 3" descr="fuji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同じ標高から、目的に合う表現を作る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段彩図は高さの広がり、陰影図は斜面の向きや凹凸、等高線は同じ高さのつながりを読み取りやすい。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断面図は、選んだ経路に沿って標高がどう変わるかを示す。経路や格子の細かさによって見え方が変わる。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傾斜や陰影を計算するときは、東西・南北の間隔を実際の距離に直す。地図上の画素数だけで傾斜を求めない。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標高タイルの作成方法と地理院地図で表示される標高値について.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https://maps.gsi.go.jp/development/hyokochi.html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地域と形式を選んで入手する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GMLは基盤地図情報ダウンロードサービスで入手する。利用者登録後、必要な地域とDEMの種類を選ぶ。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標高タイルは公開URLから取得できる。TXTは2024年10月から更新が停止しているため、更新状況も見てPNGなどの形式を選ぶ。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GISで地図を作る場合は、格子の位置・標高・欠測を保って読み込み、ラスタ形式へ変換すると扱いやすい。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地理院タイル一覧.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https://maps.gsi.go.jp/development/ichiran.html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公開するときは、出典と加工を示す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国土地理院コンテンツ利用規約では、特段の記載がないものに公共データ利用規約（PDL1.0）が適用される。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地形図を作って公開するときは、出典に加え、編集・加工したことを記載する。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記載例：「地理院タイル（標高タイル）を加工して作成」。利用内容に応じて、測量成果の利用手続も確認する。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国土地理院コンテンツ利用規約.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https://www.gsi.go.jp/kikakuchousei/kikakuchousei40182.html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国土地理院DEMを使うときの要点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地面の高さを数値として扱えるので、色や陰影だけでなく、等高線や断面も作れる。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同じ地域でも、格子の細かさ、測量方法、高さの基準が異なる。必要なデータを選んで使う。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配布GMLと標高タイルを区別し、位置・単位・欠測の意味を保って読み込む。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描画と入手方法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28955"/>
            <a:ext cx="8412480" cy="7335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格子と標高の補足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読み込みと参考資料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格子間隔は、経緯度の角度で定義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583680" cy="174244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3017520"/>
                <a:gridCol w="146304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格子間隔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呼び名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DEM1A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0.04″ × 0.04″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DEM5A/B/C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0.2″ × 0.2″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約5m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DEM10A/B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0.4″ × 0.4″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約10m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″は角度の秒。1度＝3,600秒。東西方向の距離は緯度で変わる。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高さの精度は、測量方法で異なる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217920" cy="235077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19456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測量・DEM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高さ精度の目安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レーザ（1A/5A）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0.3m以内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写真20cm（5B）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0.7m以内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写真40cm（5C）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1.4m以内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火山等高線（10A）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2.5m以内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地形図等高線（10B）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5m以内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基となる測量のRMS誤差。レーザは格子内に地表の計測点がある場合。</a:t>
            </a:r>
          </a:p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ない場合は2.0m以内。格子間隔そのものの精度ではない。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基盤地図情報ダウンロードサービス.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京都中心部：陰影から微かな起伏を見る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pic>
        <p:nvPicPr>
          <p:cNvPr id="4" name="Picture 3" descr="kyoto-hillsh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41" y="1481328"/>
            <a:ext cx="7775916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GMLには、標高以外の構造も入る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DEM区画は経緯度で区切った範囲を持ち、その内側の格子に構成点の種別と標高値を割り当てる。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格子の範囲、走査順、値の開始位置を読み、標高の配列を格子に対応させる。先頭や末尾の値が省略される場合もある。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「データなし」の標高値は−9999。種別も確認して欠測へ変換する。TXTの「e」とは表現が異なる。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基盤地図情報ダウンロードデータファイル仕様書5.3. 2026.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https://service.gsi.go.jp/kiban/contents/screen/basismap/documents/FGD_DLFileSpecV5.3.pdf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GML仕様で決まる格子の大きさ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174244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103120"/>
                <a:gridCol w="210312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格子の種類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東西の点数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南北の点数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1mメッシュ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5mメッシュ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10mメッシュ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1,125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配布区画内の格子数。1m・5mは3次メッシュ、10mは2次メッシュが単位。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基盤地図情報ダウンロードデータファイル仕様書5.3. 2026.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https://service.gsi.go.jp/kiban/contents/screen/basismap/documents/FGD_DLFileSpecV5.3.pdf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PNGの色は、地形図の着色ではない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PNG標高タイルのRGBは、標高を数値として保存する符号。見た目の色から高さを判断するものではない。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RGBを24ビット整数へ変換し、符号を戻して0.01m単位の標高を求める。無効色(128, 0, 0)は先に除外する。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見せるための段彩図は、この標高を取り出した後に、別の色付けで作る。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格子と標高の補足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公開TXTタイルを読み込む最小例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読み込みと参考資料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032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requests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numpy as np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url = ("https://cyberjapandata.gsi.go.jp/xyz/"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"dem/14/14370/6489.txt")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rows = requests.get(url).text.splitlines()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h = np.array([[np.nan if v == "e" else float(v)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   for v in row.split(",")] for row in rows])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419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hは256×256の標高配列。単位はmで、欠測はNaN。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標高タイルの詳細仕様.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標高の基準が変わった時点を確認する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2025年4月1日に、全国の基準点の標高成果が改定された。水平位置の数値は、この標高改定では変わっていない。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改定対象のDEM1A・5A・5B・5Cは、2025年7月31日に改定後の値を反映して提供。DEM10A・10Bは、許容精度の観点から改定しない。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この資料の図は、2026年10月28日取得のDEM10B由来のTXTタイルから作成。取得日と、元の測量・更新の時点は区別する。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読み込みと参考資料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国土地理院. 全国の標高成果の改定.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https://www.gsi.go.jp/sokuchikijun/hyoko2024rev.html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国土地理院. 全国の標高成果の改定に関するQ&amp;A.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https://www.gsi.go.jp/sokuchikijun/hyoko2024rev-QA.html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読み込みと参考資料</a:t>
            </a:r>
          </a:p>
        </p:txBody>
      </p:sp>
      <p:sp>
        <p:nvSpPr>
          <p:cNvPr id="4" name="文献 1: 基盤地図情報ダウンロードサービス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基盤地図情報ダウンロードサービス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地域ごとの整備範囲、DEMの種類、配布形式を紹介する。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https://service.gsi.go.jp/kiban/app/help/</a:t>
            </a:r>
          </a:p>
        </p:txBody>
      </p:sp>
      <p:sp>
        <p:nvSpPr>
          <p:cNvPr id="5" name="文献 2: 標高タイルの詳細仕様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標高タイルの詳細仕様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TXTの配列方向・欠測値と、PNGの標高復号式を示す。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https://maps.gsi.go.jp/development/demtile.html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読み込みと参考資料</a:t>
            </a:r>
          </a:p>
        </p:txBody>
      </p:sp>
      <p:sp>
        <p:nvSpPr>
          <p:cNvPr id="4" name="文献 1: 標高タイルの作成方法と地理院地図で表示される標高値について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標高タイルの作成方法と地理院地図で表示される標高値について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元のDEM格子から表示用の標高タイルが作られる方法を説明する。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https://maps.gsi.go.jp/development/hyokochi.html</a:t>
            </a:r>
          </a:p>
        </p:txBody>
      </p:sp>
      <p:sp>
        <p:nvSpPr>
          <p:cNvPr id="5" name="文献 2: 基盤地図情報ダウンロードデータファイル仕様書5.3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基盤地図情報ダウンロードデータファイル仕様書5.3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2026年7月31日.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配布GMLの座標参照系、格子、標高・欠測の構造を定義する。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https://service.gsi.go.jp/kiban/contents/screen/basismap/documents/FGD_DLFileSpecV5.3.pdf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読み込みと参考資料</a:t>
            </a:r>
          </a:p>
        </p:txBody>
      </p:sp>
      <p:sp>
        <p:nvSpPr>
          <p:cNvPr id="4" name="文献 1: 全国の標高成果の改定"/>
          <p:cNvSpPr txBox="1"/>
          <p:nvPr/>
        </p:nvSpPr>
        <p:spPr>
          <a:xfrm>
            <a:off x="548640" y="1463040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全国の標高成果の改定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2025年の標高体系移行と、位置・高さの基準の関係を説明する。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https://www.gsi.go.jp/sokuchikijun/hyoko2024rev.html</a:t>
            </a:r>
          </a:p>
        </p:txBody>
      </p:sp>
      <p:sp>
        <p:nvSpPr>
          <p:cNvPr id="5" name="文献 2: 国土地理院コンテンツ利用規約"/>
          <p:cNvSpPr txBox="1"/>
          <p:nvPr/>
        </p:nvSpPr>
        <p:spPr>
          <a:xfrm>
            <a:off x="548640" y="2948559"/>
            <a:ext cx="8046720" cy="1422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国土地理院コンテンツ利用規約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国土地理院. 2025年11月20日改正.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PDL1.0の適用範囲と、出典・加工表示など公開時の条件を定める。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https://www.gsi.go.jp/kikakuchousei/kikakuchousei40182.html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2026-10-27T16:13:00Z</dcterms:modified>
  <dc:title>gsi-dem</dc:title>
  <dc:creator>sasakiy84</dc:creator>
  <dcterms:created xsi:type="dcterms:W3CDTF">2026-10-27T16:13:00Z</dcterms:created>
  <dc:language>ja-JP</dc:language>
</cp:coreProperties>
</file>