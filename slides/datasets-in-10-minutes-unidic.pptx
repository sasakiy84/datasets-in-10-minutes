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clrd.ninjal.ac.jp/unidic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about_unidic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doi.org/10.15084/00002185" TargetMode="External"/><Relationship Id="rId3" Type="http://schemas.openxmlformats.org/officeDocument/2006/relationships/hyperlink" Target="https://clrd.ninjal.ac.jp/unidic/glossary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glossary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glossary.html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about_unidic.html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about_unidic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download.html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_all.html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nlposs-1.7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download.html" TargetMode="External"/><Relationship Id="rId3" Type="http://schemas.openxmlformats.org/officeDocument/2006/relationships/hyperlink" Target="https://clrd.ninjal.ac.jp/unidic/commerce_use.html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about_unidic.html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clrd.ninjal.ac.jp/unidic/download.html" TargetMode="External"/><Relationship Id="rId3" Type="http://schemas.openxmlformats.org/officeDocument/2006/relationships/hyperlink" Target="https://taku910.github.io/mecab/learn.html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faq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about_unidic.html" TargetMode="External"/><Relationship Id="rId3" Type="http://schemas.openxmlformats.org/officeDocument/2006/relationships/hyperlink" Target="https://clrd.ninjal.ac.jp/unidic/glossary.html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lrd.ninjal.ac.jp/unidic/download.html" TargetMode="External"/><Relationship Id="rId3" Type="http://schemas.openxmlformats.org/officeDocument/2006/relationships/hyperlink" Target="https://clrd.ninjal.ac.jp/unidic/faq.html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doi.org/10.15084/00002185" TargetMode="External"/><Relationship Id="rId3" Type="http://schemas.openxmlformats.org/officeDocument/2006/relationships/hyperlink" Target="https://taku910.github.io/mecab/learn.html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clanthology.org/2020.nlposs-1.7/" TargetMode="External"/><Relationship Id="rId3" Type="http://schemas.openxmlformats.org/officeDocument/2006/relationships/hyperlink" Target="https://clrd.ninjal.ac.jp/unidic/commerce_us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791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10661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国語研短単位自動解析用辞書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現代書き言葉2025.12：短単位と見出しの構造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785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3505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UniDicの公式サイト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公式サイト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64" y="1481328"/>
            <a:ext cx="4579070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文を分けて語の情報を読む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見出し構造と短単位</a:t>
            </a:r>
          </a:p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辞書の構築と配布形式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使い方と辞書の選択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文を区切り、語の情報を対応づける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UniDicは、国語研の「短単位」に基づく辞書。形態素解析器MeCabと組み合わせて、文を区切り、品詞や読みを付ける。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語彙素という見出しに、表記や活用の異なる形を対応づける。その関係を、階層的な構造で管理している。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ここでは現代書き言葉2025.12を使う。MeCabをPythonから使うfugashiで、本資料の入力文を解析した。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UniDicとは.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https://clrd.ninjal.ac.jp/unidic/about_unidic.html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「本を読んだ。」を解析すると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2603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2103120"/>
                <a:gridCol w="1920240"/>
                <a:gridCol w="192024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品詞（大分類）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発音形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ホン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助詞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を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動詞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ヨン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助動詞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た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補助記号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*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16280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入力は「本を読んだ。」。句点にも情報が付き、「読ん」は「読む」に対応する。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「読ん」の形と活用を読む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498080" cy="2526030"/>
        </p:xfrm>
        <a:graphic>
          <a:graphicData uri="http://schemas.openxmlformats.org/drawingml/2006/table">
            <a:tbl>
              <a:tblPr firstRow="0" bandRow="0"/>
              <a:tblGrid>
                <a:gridCol w="3200400"/>
                <a:gridCol w="42976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解析結果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書字形出現形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発音形出現形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ヨン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活用型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五段-マ行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活用形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連用形-撥音便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「国立国語研究所」は四つの短単位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251075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194560"/>
                <a:gridCol w="310896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品詞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発音形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コクリツ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国語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コクゴ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研究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ケンキュー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接尾辞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ショ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8785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短単位は、用例を同じ基準で探し、数えられるように設定された単位。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区切りの基準をそろえ、用例を集める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語の区切り方が資料ごとに異なると、用例の検索条件や語数の数え方も変わってしまう。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UniDicは、用例収集に適した短単位を定め、表記や活用の違いをまとめて探せる見出しを持たせた。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単なる文字列の一致から、語の単位と属性を使った検索へつなげるための辞書である。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文を分けて語の情報を読む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伝康晴ほか. 2007. コーパス日本語学のための言語資源. 日本語科学22.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https://doi.org/10.15084/00002185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UniDic 用語集.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https://clrd.ninjal.ac.jp/unidic/glossary.html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語彙素・語形・書字形を対応づける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567180"/>
        </p:xfrm>
        <a:graphic>
          <a:graphicData uri="http://schemas.openxmlformats.org/drawingml/2006/table">
            <a:tbl>
              <a:tblPr firstRow="0" bandRow="0"/>
              <a:tblGrid>
                <a:gridCol w="2011680"/>
                <a:gridCol w="3291840"/>
                <a:gridCol w="274320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階層・情報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まとめるもの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同じ見出しに属する語形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表記の違いをまとめる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オオキイ／オッキイ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書字形・発音形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文字と発音の形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大きい／オーキー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0395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書字形と発音形は、語形の下で並列に扱われる。各形には基本形と出現形がある。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 用語集.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https://clrd.ninjal.ac.jp/unidic/glossary.html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三つの表記から、同じ語彙素へ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25600"/>
        </p:xfrm>
        <a:graphic>
          <a:graphicData uri="http://schemas.openxmlformats.org/drawingml/2006/table">
            <a:tbl>
              <a:tblPr firstRow="0" bandRow="0"/>
              <a:tblGrid>
                <a:gridCol w="2103120"/>
                <a:gridCol w="1828800"/>
                <a:gridCol w="2194560"/>
                <a:gridCol w="192024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語形基本形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発音形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オオキイ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オーキー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おおきい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オオキイ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オーキー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おっきい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大きい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オッキイ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オッキー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2623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「おっきい」は異なる語形。三つとも、語彙素「大きい」に結び付く。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活用した形を、基本形へ結び付ける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2377440"/>
                <a:gridCol w="34747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書字形基本形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活用形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終止形-一般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連用形-撥音便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仮定形-一般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入力は「読む。読んだ。読めば分かる。」。「読ん」「読め」から「読む」をたどれる。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仮名での読みと、発音を別に持つ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17805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「こおりつけ」の解析結果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凍り付く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コオリツク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仮名形出現形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コオリツケ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発音形出現形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コーリツケ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81482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仮名形の「コオリ」に対し、発音形では長音を使って「コーリ」と表す。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品詞で、取り得る用法をまとめて表す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3015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入力文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「今度」の品詞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今度行く。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名詞－普通名詞－副詞可能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今度が最後だ。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名詞－普通名詞－副詞可能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9979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「副詞可能」は、副詞としても使えることを表す。文脈ごとに細分せず、共通の品詞で用例を集める。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検索・集計の目的に合わせて項目を選ぶ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活用した形をまとめたいときは基本形を使う。表記そのものを調べたいときは、書字形を保って集計する。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「大きい・おおきい・おっきい」をまとめて探すなら、語彙素を使う。異なる語彙素が同じ読みを持つこともあるので、見出しの識別も利用する。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どの違いをまとめ、どの違いを残すかを選べることが、階層的な見出しの利点である。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見出し構造と短単位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 用語集.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https://clrd.ninjal.ac.jp/unidic/glossary.html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コーパスの形態論情報付与を支える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UniDicは、日本語話し言葉コーパスや現代日本語書き言葉均衡コーパスの形態論情報付与を支えてきた。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辞書を使った自動解析の結果を人手で修正し、コーパスの形態論情報を整える。語の情報は辞書データベースと対応づけて管理する。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辞書と用例の対応を保つことで、同じ語への情報付与をそろえ、用例の検索にもつなげる。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UniDicとは.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https://clrd.ninjal.ac.jp/unidic/about_unidic.html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設計・データベース・解析用辞書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4020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5303520"/>
              </a:tblGrid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UniDicが指すもの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設計方針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短単位と階層的な見出しを定める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UniDicデータベース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語の情報と対応関係を管理する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100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解析用UniDic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415"/>
                        </a:lnSpc>
                        <a:buNone/>
                        <a:defRPr sz="21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1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MeCabで解析するために配布する辞書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2079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公式サイトで公開・配布されているのは、解析用UniDic。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UniDicとは.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https://clrd.ninjal.ac.jp/unidic/about_unidic.html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2025.12版は見出し語と品詞を更新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現代書き言葉UniDic 2025.12は、見出し語を追加し、一部の品詞を見直したバージョン。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配布パッケージには、解析用のバイナリ辞書、文字種や未知語の情報、出力などの設定が入る。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以前のバージョンもバックナンバーから入手できる。解析結果を共有するときは、使用した辞書の種類とバージョンを添える。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配布フォルダの主なファイル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3291840"/>
                <a:gridCol w="475488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ファイル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sys.dic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見出しと特徴情報を持つシステム辞書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matrix.bin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語のつながりを選ぶための連接コスト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char.bin / unk.dic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文字種と未知語候補の情報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dicrc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出力形式などの動作設定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rewrite.def / feature.def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特徴情報の変換・学習用の設定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2025.12版の配布規模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辞書の構築と配布形式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54480" y="1508760"/>
          <a:ext cx="6035040" cy="1800860"/>
        </p:xfrm>
        <a:graphic>
          <a:graphicData uri="http://schemas.openxmlformats.org/drawingml/2006/table">
            <a:tbl>
              <a:tblPr firstRow="0" bandRow="0"/>
              <a:tblGrid>
                <a:gridCol w="3566160"/>
                <a:gridCol w="246888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規模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辞書エントリ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1,027,505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配布ZIP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696.1 MB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展開した配布物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1,313.7 MB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辞書エントリ数はMeCabの辞書情報による。容量は実測で、MBは10⁶ bytes。エントリ数には活用形などの登録を含む。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506875"/>
            <a:ext cx="8412480" cy="621792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解析したい文章に合う辞書を選ぶ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42440"/>
        </p:xfrm>
        <a:graphic>
          <a:graphicData uri="http://schemas.openxmlformats.org/drawingml/2006/table">
            <a:tbl>
              <a:tblPr firstRow="0" bandRow="0"/>
              <a:tblGrid>
                <a:gridCol w="3108960"/>
                <a:gridCol w="493776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種類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現代書き言葉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書籍・新聞・Web文章など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現代話し言葉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会話などを書き起こしたテキスト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古文・方言用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時代・文体・地域に応じたテキスト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現代話し言葉用は日本語日常会話コーパス（CEJC）を学習に使用。対象と利用条件は辞書ごとに異なる。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 最新版ダウンロード.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https://clrd.ninjal.ac.jp/unidic/download_all.html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Pythonから解析結果を取り出す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sp>
        <p:nvSpPr>
          <p:cNvPr id="4" name="code-frame"/>
          <p:cNvSpPr/>
          <p:nvPr/>
        </p:nvSpPr>
        <p:spPr>
          <a:xfrm>
            <a:off x="548640" y="1508760"/>
            <a:ext cx="8046720" cy="1603375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wrap="none" lIns="152400" rIns="152400" tIns="92710" bIns="127000"/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from fugashi import GenericTagger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args = "-r ./unidic-cwj/dicrc -d ./unidic-cwj"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tagger = GenericTagger(args)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for word in tagger("本を読んだ。"):</a:t>
            </a:r>
          </a:p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303437"/>
                </a:solidFill>
                <a:latin typeface="Noto Sans"/>
              </a:defRPr>
            </a:pPr>
            <a:r>
              <a:rPr sz="1700" b="0" lang="ja-JP" altLang="en-US">
                <a:solidFill>
                  <a:srgbClr val="303437"/>
                </a:solidFill>
                <a:latin typeface="Liberation Mono"/>
                <a:ea typeface="Noto Sans CJK JP"/>
                <a:cs typeface="Liberation Mono"/>
              </a:rPr>
              <a:t>    print(word.surface, word.feature[7], sep="\t")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313303"/>
            <a:ext cx="7955279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公式ZIPの辞書ファイルをunidic-cwjに置き、fugashiを導入した例。</a:t>
            </a:r>
          </a:p>
          <a:p>
            <a:pPr algn="l">
              <a:lnSpc>
                <a:spcPts val="2222"/>
              </a:lnSpc>
              <a:spcBef>
                <a:spcPts val="0"/>
              </a:spcBef>
              <a:spcAft>
                <a:spcPts val="0"/>
              </a:spcAft>
              <a:buNone/>
              <a:defRPr sz="1900" b="0">
                <a:solidFill>
                  <a:srgbClr val="303437"/>
                </a:solidFill>
                <a:latin typeface="Noto Sans"/>
              </a:defRPr>
            </a:pPr>
            <a:r>
              <a:rPr sz="19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出現した文字列と語彙素を取り出す。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Paul McCann. 2020. fugashi, a Tool for Tokenizing Japanese in Python.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https://aclanthology.org/2020.nlposs-1.7/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語の形を保ちながら、検索や集計へ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語彙素を使って語の頻度を集計したり、品詞を指定して名詞や動詞の用例を取り出したりできる。</a:t>
            </a:r>
          </a:p>
          <a:p>
            <a:pPr marL="457200" indent="-355600" algn="l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書字形や発音形を残せば、同じ見出しの中で、どの表記や読みが使われたかも調べられる。</a:t>
            </a:r>
          </a:p>
          <a:p>
            <a:pPr marL="457200" indent="-355600" algn="l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オンラインのWeb茶まめでも、複数のUniDicを使った解析を試せる。手元に環境を作る前の入口として利用できる。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取得先と利用条件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公式サイトから、対象の文章とバージョンに合う解析用辞書を取得する。</a:t>
            </a:r>
          </a:p>
          <a:p>
            <a:pPr marL="457200" indent="-355600" algn="l">
              <a:lnSpc>
                <a:spcPts val="2499"/>
              </a:lnSpc>
              <a:spcAft>
                <a:spcPts val="70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ここで使った現代書き言葉2025.12は、GPL・LGPL・修正BSDから選んで利用できる。本資料の辞書出力は修正BSDに基づき、国立国語研究所をクレジットする。</a:t>
            </a:r>
          </a:p>
          <a:p>
            <a:pPr marL="457200" indent="-355600" algn="l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古文用などには別の条件で配布される辞書もある。利用するパッケージに付いたライセンスを確認する。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国立国語研究所. UniDic 商用利用について.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https://clrd.ninjal.ac.jp/unidic/commerce_use.html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短単位の区切りと語の属性をそろえ、コーパスの用例検索や語彙調査を支える辞書。</a:t>
            </a:r>
          </a:p>
          <a:p>
            <a:pPr marL="457200" indent="-355600" algn="l">
              <a:lnSpc>
                <a:spcPts val="2736"/>
              </a:lnSpc>
              <a:spcAft>
                <a:spcPts val="70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語彙素・語形・書字形・発音形を対応づけ、活用や表記の違いを、目的に合わせてまとめられる。</a:t>
            </a:r>
          </a:p>
          <a:p>
            <a:pPr marL="457200" indent="-355600" algn="l">
              <a:lnSpc>
                <a:spcPts val="2736"/>
              </a:lnSpc>
              <a:spcAft>
                <a:spcPts val="0"/>
              </a:spcAft>
              <a:buSzPct val="57826"/>
              <a:buFont typeface="Noto Sans CJK JP"/>
              <a:buChar char="●"/>
              <a:defRPr sz="2300" b="0">
                <a:solidFill>
                  <a:srgbClr val="303437"/>
                </a:solidFill>
                <a:latin typeface="Noto Sans"/>
              </a:defRPr>
            </a:pPr>
            <a:r>
              <a:rPr sz="23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文章に合った解析用辞書を選び、MeCabなどの解析環境から、その見出しと特徴情報を利用する。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使い方と辞書の選択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UniDicとは.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https://clrd.ninjal.ac.jp/unidic/about_unidic.html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" y="2428955"/>
            <a:ext cx="8412480" cy="733551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281121"/>
            <a:ext cx="7863840" cy="1127760"/>
          </a:xfrm>
        </p:spPr>
        <p:txBody>
          <a:bodyPr lIns="0" rIns="0" tIns="0" bIns="0">
            <a:noAutofit/>
          </a:bodyPr>
          <a:lstStyle/>
          <a:p>
            <a:pPr marL="457200" indent="-457200" algn="l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追加の解析例</a:t>
            </a:r>
          </a:p>
          <a:p>
            <a:pPr marL="457200" indent="-457200" algn="l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特徴列と参考資料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表記の違い：「引っ越し」と「引越し」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追加の解析例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50645"/>
        </p:xfrm>
        <a:graphic>
          <a:graphicData uri="http://schemas.openxmlformats.org/drawingml/2006/table">
            <a:tbl>
              <a:tblPr firstRow="0" bandRow="0"/>
              <a:tblGrid>
                <a:gridCol w="2743200"/>
                <a:gridCol w="2560320"/>
                <a:gridCol w="274320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語形基本形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引っ越し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引っ越し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ヒッコシ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引越し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引っ越し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ヒッコシ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87421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入力は「引っ越しと引越し。」。表記を残しながら、共通の見出しへ結び付ける。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語種：「山」「学校」「テレビ」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追加の解析例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74244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3657600"/>
                <a:gridCol w="2011680"/>
              </a:tblGrid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山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和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学校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3561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テレビ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テレビ-TV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529"/>
                        </a:lnSpc>
                        <a:buNone/>
                        <a:defRPr sz="22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2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外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7921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語種の「和・漢・外」は、和語・漢語・外来語を表す。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同じ読みでも、見出しを区別できる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追加の解析例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3944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2743200"/>
                <a:gridCol w="2926080"/>
              </a:tblGrid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語彙素読み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ハシ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6482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箸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760"/>
                        </a:lnSpc>
                        <a:buNone/>
                        <a:defRPr sz="24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4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ハシ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0312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入力は「橋と箸。」。読みが同じ「ハシ」でも、語彙素は別に識別される。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固有名詞も短単位と属性で扱う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追加の解析例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19" cy="1219200"/>
        </p:xfrm>
        <a:graphic>
          <a:graphicData uri="http://schemas.openxmlformats.org/drawingml/2006/table">
            <a:tbl>
              <a:tblPr firstRow="0" bandRow="0"/>
              <a:tblGrid>
                <a:gridCol w="1828800"/>
                <a:gridCol w="3749039"/>
                <a:gridCol w="2468880"/>
              </a:tblGrid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品詞（主要部）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東京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名詞－固有名詞－地名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トウキョウ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06400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名詞－普通名詞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300"/>
                        </a:lnSpc>
                        <a:buNone/>
                        <a:defRPr sz="20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0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都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85597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入力は「東京都で働く。」。ここでは「東京」と「都」に区切られた。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未知語では、文字種から候補を作る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 algn="l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「OpenStreetMapを調べる。」を解析すると、OpenStreetMapは未知語として扱われた。品詞候補は「名詞－普通名詞－一般」だった。</a:t>
            </a:r>
          </a:p>
          <a:p>
            <a:pPr marL="457200" indent="-355600" algn="l">
              <a:lnSpc>
                <a:spcPts val="2379"/>
              </a:lnSpc>
              <a:spcAft>
                <a:spcPts val="70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この候補には、登録語のような語彙素や読みは入っていない。未知語の出力を扱うときは、得られた項目に合わせて処理する。</a:t>
            </a:r>
          </a:p>
          <a:p>
            <a:pPr marL="457200" indent="-355600" algn="l">
              <a:lnSpc>
                <a:spcPts val="2379"/>
              </a:lnSpc>
              <a:spcAft>
                <a:spcPts val="0"/>
              </a:spcAft>
              <a:buSzPct val="66500"/>
              <a:buFont typeface="Noto Sans CJK JP"/>
              <a:buChar char="●"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MeCabは文字種などの設定から未知語候補を作る。品詞の推定と、辞書に見出しが登録されていることは別の情報になる。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追加の解析例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690872"/>
            <a:ext cx="8183879" cy="330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  <a:p>
            <a:pPr>
              <a:lnSpc>
                <a:spcPts val="1100"/>
              </a:lnSpc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[2] 工藤拓. MeCab: オリジナル辞書／コーパスからのパラメータ推定.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https://taku910.github.io/mecab/learn.html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活用した形を、語彙素IDでも結べる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7132320" cy="1800860"/>
        </p:xfrm>
        <a:graphic>
          <a:graphicData uri="http://schemas.openxmlformats.org/drawingml/2006/table">
            <a:tbl>
              <a:tblPr firstRow="0" bandRow="0"/>
              <a:tblGrid>
                <a:gridCol w="2377440"/>
                <a:gridCol w="2377440"/>
                <a:gridCol w="2377440"/>
              </a:tblGrid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出現した文字列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語彙素ID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39484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読ん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39484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5021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読め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読む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645"/>
                        </a:lnSpc>
                        <a:buNone/>
                        <a:defRPr sz="23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23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39484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437636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語彙素IDは見出しを識別する。個々の辞書エントリには、別に語彙表IDが付く。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2025. 現代書き言葉UniDic 2025.12（修正BSD）.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解析結果の主な特徴情報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350770"/>
        </p:xfrm>
        <a:graphic>
          <a:graphicData uri="http://schemas.openxmlformats.org/drawingml/2006/table">
            <a:tbl>
              <a:tblPr firstRow="0" bandRow="0"/>
              <a:tblGrid>
                <a:gridCol w="2926080"/>
                <a:gridCol w="5120640"/>
              </a:tblGrid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情報のまとまり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主な項目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品詞・活用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pos1–pos4 / cType / cForm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見出し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lemma / lForm / formBase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文字と発音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orth / pron / orthBase / pronBase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語種・アクセント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goshu / aType など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91795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識別子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lid / lemma_id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987545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813"/>
              </a:lnSpc>
              <a:spcBef>
                <a:spcPts val="0"/>
              </a:spcBef>
              <a:spcAft>
                <a:spcPts val="0"/>
              </a:spcAft>
              <a:buNone/>
              <a:defRPr sz="1550" b="0">
                <a:solidFill>
                  <a:srgbClr val="303437"/>
                </a:solidFill>
                <a:latin typeface="Noto Sans"/>
              </a:defRPr>
            </a:pPr>
            <a:r>
              <a:rPr sz="15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この配布版の既知語は29項目。出力形式はdicrcなどで選べる。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690872"/>
            <a:ext cx="818387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国立国語研究所. UniDic FAQ.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https://clrd.ninjal.ac.jp/unidic/faq.html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sp>
        <p:nvSpPr>
          <p:cNvPr id="4" name="文献 1: UniDicとは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UniDicとは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設計方針・辞書データベース・解析用辞書の関係を説明する。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https://clrd.ninjal.ac.jp/unidic/about_unidic.html</a:t>
            </a:r>
          </a:p>
        </p:txBody>
      </p:sp>
      <p:sp>
        <p:nvSpPr>
          <p:cNvPr id="5" name="文献 2: UniDic 用語集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 用語集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短単位と階層的な見出し構造、品詞体系を解説する。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https://clrd.ninjal.ac.jp/unidic/glossary.html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sp>
        <p:nvSpPr>
          <p:cNvPr id="4" name="文献 1: 現代書き言葉UniDic／現代話し言葉UniDic 最新版ダウンロード"/>
          <p:cNvSpPr txBox="1"/>
          <p:nvPr/>
        </p:nvSpPr>
        <p:spPr>
          <a:xfrm>
            <a:off x="548640" y="1463040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現代書き言葉UniDic／現代話し言葉UniDic 最新版ダウンロード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現代語の解析用辞書と、その利用条件を提供する。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https://clrd.ninjal.ac.jp/unidic/download.html</a:t>
            </a:r>
          </a:p>
        </p:txBody>
      </p:sp>
      <p:sp>
        <p:nvSpPr>
          <p:cNvPr id="5" name="文献 2: UniDic FAQ"/>
          <p:cNvSpPr txBox="1"/>
          <p:nvPr/>
        </p:nvSpPr>
        <p:spPr>
          <a:xfrm>
            <a:off x="548640" y="299935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 FAQ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特徴列の読み方、ライセンス、語彙の数え方をまとめる。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https://clrd.ninjal.ac.jp/unidic/faq.html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sp>
        <p:nvSpPr>
          <p:cNvPr id="4" name="文献 1: コーパス日本語学のための言語資源：形態素解析用電子化辞書の開発とその応用"/>
          <p:cNvSpPr txBox="1"/>
          <p:nvPr/>
        </p:nvSpPr>
        <p:spPr>
          <a:xfrm>
            <a:off x="548640" y="1463040"/>
            <a:ext cx="8046720" cy="163537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コーパス日本語学のための言語資源：形態素解析用電子化辞書の開発とその応用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伝康晴ほか. 2007. 日本語科学22, pp.101–123.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単位の斉一性と、表記・語形の変異を扱う辞書設計を示す。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https://doi.org/10.15084/00002185</a:t>
            </a:r>
          </a:p>
        </p:txBody>
      </p:sp>
      <p:sp>
        <p:nvSpPr>
          <p:cNvPr id="5" name="文献 2: MeCab: オリジナル辞書／コーパスからのパラメータ推定"/>
          <p:cNvSpPr txBox="1"/>
          <p:nvPr/>
        </p:nvSpPr>
        <p:spPr>
          <a:xfrm>
            <a:off x="548640" y="3288919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MeCab: オリジナル辞書／コーパスからのパラメータ推定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工藤拓. n.d. MeCab.（参照：2026-10-28）.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辞書の特徴情報、未知語処理、学習と配布形式を説明する。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https://taku910.github.io/mecab/learn.html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特徴列と参考資料</a:t>
            </a:r>
          </a:p>
        </p:txBody>
      </p:sp>
      <p:sp>
        <p:nvSpPr>
          <p:cNvPr id="4" name="文献 1: fugashi, a Tool for Tokenizing Japanese in Python"/>
          <p:cNvSpPr txBox="1"/>
          <p:nvPr/>
        </p:nvSpPr>
        <p:spPr>
          <a:xfrm>
            <a:off x="548640" y="1463040"/>
            <a:ext cx="8046720" cy="15267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fugashi, a Tool for Tokenizing Japanese in Python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Paul McCann. 2020. Proceedings of Second Workshop for NLP Open Source Software (NLP-OSS), pp.44–51. ACL.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MeCabのPythonラッパーと、日本語の単語分割を紹介する。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https://aclanthology.org/2020.nlposs-1.7/</a:t>
            </a:r>
          </a:p>
        </p:txBody>
      </p:sp>
      <p:sp>
        <p:nvSpPr>
          <p:cNvPr id="5" name="文献 2: UniDic 商用利用について"/>
          <p:cNvSpPr txBox="1"/>
          <p:nvPr/>
        </p:nvSpPr>
        <p:spPr>
          <a:xfrm>
            <a:off x="548640" y="3180334"/>
            <a:ext cx="8046720" cy="13458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UniDic 商用利用について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国立国語研究所. n.d.（参照：2026-10-28）.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辞書の種類・バージョンと、商用利用の条件を案内する。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050" b="0">
                <a:solidFill>
                  <a:srgbClr val="303437"/>
                </a:solidFill>
                <a:latin typeface="Noto Sans"/>
              </a:defRPr>
            </a:pPr>
            <a:r>
              <a:rPr sz="10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https://clrd.ninjal.ac.jp/unidic/commerce_use.html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2026-10-27T17:20:24Z</dcterms:modified>
  <dc:title>unidic</dc:title>
  <dc:creator>sasakiy84</dc:creator>
  <dcterms:created xsi:type="dcterms:W3CDTF">2026-10-27T17:20:24Z</dcterms:created>
  <dc:language>ja-JP</dc:language>
</cp:coreProperties>
</file>