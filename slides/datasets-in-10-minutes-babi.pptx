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github.com/facebookarchive/bAbI-tasks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1502.05698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uennighoff/babi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uennighoff/babi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uennighoff/babi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uennighoff/babi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uennighoff/babi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1502.05698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1502.05698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uennighoff/babi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Muennighoff/babi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1502.05698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1502.05698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age.googleapis.com/crfm-helm-public/classic/benchmark_output/releases/v0.4.0/run_specs.json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facebookarchive/bAbI-tasks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facebookarchive/bAbI-tasks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1502.05698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uennighoff/babi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uennighoff/babi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uennighoff/babi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uennighoff/babi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uennighoff/babi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uennighoff/babi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uennighoff/babi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uennighoff/babi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uennighoff/babi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uennighoff/babi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uennighoff/babi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uennighoff/babi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uennighoff/babi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uennighoff/babi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uennighoff/babi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uennighoff/babi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1502.05698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1502.05698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211.09110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uennighoff/babi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888452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bAbI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898102"/>
            <a:ext cx="8046720" cy="48831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物語中の事実を使う20種類の推論課題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bAbIの公開ページ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467" y="1481328"/>
            <a:ext cx="4411065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bAbI 公式公開ページ。2026-10-18参照。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https://github.com/facebookarchive/bAbI-tasks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課題と実際のデータ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作成方法とデータの構成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採点方法とモデルの成績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利用の変化と入手方法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課題と実際のデータ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何が推論を難しくするかを、課題ごとに調べる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短い物語と質問を読み、場所、個数、人物、経路などを答える。物語・質問・正解は、世界の状態を管理するシミュレーターで生成する。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一つの事実だけで答える課題から、複数の事実の統合、否定、帰納、経路探索まで、20種類に分けている。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Jason Weston et al. (2015). Towards AI-Complete Question Answering: A Set of Prerequisite Toy Tasks. arXiv:1502.05698, 2015.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https://arxiv.org/abs/1502.05698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入力・出力と配布フィールド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82496"/>
        </p:xfrm>
        <a:graphic>
          <a:graphicData uri="http://schemas.openxmlformats.org/drawingml/2006/table">
            <a:tbl>
              <a:tblPr firstRow="0" bandRow="0"/>
              <a:tblGrid>
                <a:gridCol w="2834640"/>
                <a:gridCol w="521208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フィールド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意味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passage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質問より前に現れた物語の事実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question / answer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質問と正解の語句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task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20種類の推論課題の番号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Muennighoff/babi、改訂1da25875。2026-10-18参照。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https://huggingface.co/datasets/Muennighoff/babi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実例1：課題1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216152"/>
            <a:ext cx="32461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正解：garden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193154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Passage: Mary moved to the office.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Passage: John moved to the garden.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Where is John?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Answer: garden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14528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物語：メアリーはオフィスに移動した。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物語：ジョンは庭に移動した。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質問：ジョンはどこにいるか。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回答：庭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Muennighoff/babi、改訂1da25875。2026-10-18参照。 en-valid / task 1 / test行530。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https://huggingface.co/datasets/Muennighoff/babi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実例2：課題2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216152"/>
            <a:ext cx="32461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正解：office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193154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Passage: John got the milk there.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Passage: John went back to the office.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Where is the milk?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Answer: office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14528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物語：ジョンはそこでミルクを手に取った。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物語：ジョンはオフィスに戻った。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質問：ミルクはどこにあるか。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回答：オフィス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Muennighoff/babi、改訂1da25875。2026-10-18参照。 en-valid / task 2 / test行1910。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https://huggingface.co/datasets/Muennighoff/babi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実例3：課題19（1/2）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216152"/>
            <a:ext cx="32461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正解：east south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物語／原文と日本語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8046720" cy="137236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office is west of the bedroom.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bathroom is west of the garden.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kitchen is east of the garden.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office is east of the hallway.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82290"/>
            <a:ext cx="7955279" cy="11732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オフィスは寝室の西にある。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浴室は庭の西にある。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キッチンは庭の東にある。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オフィスは廊下の東にある。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Muennighoff/babi、改訂1da25875。2026-10-18参照。 en-valid / task 19 / test行18310。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https://huggingface.co/datasets/Muennighoff/babi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実例3：課題19（2/2）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216152"/>
            <a:ext cx="32461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正解：east south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165195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Passage: The kitchen is north of the office.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How do you go from the garden to the office?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Answer: east south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14528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物語：キッチンはオフィスの北にある。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質問：庭からオフィスへは、どの順に進めばよいか。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回答：東、南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Muennighoff/babi、改訂1da25875。2026-10-18参照。 en-valid / task 19 / test行18310。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https://huggingface.co/datasets/Muennighoff/babi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作成方法とデータの構成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作成の背景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自然な文章の質問応答だけでは、失敗の原因が知識不足なのか、複数の事実を結び付ける能力なのかを分けにくい。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そこで、必要な推論操作を制御できる小さな世界を作り、推論能力を個別に試す課題を用意した。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Jason Weston et al. (2015). Towards AI-Complete Question Answering: A Set of Prerequisite Toy Tasks. arXiv:1502.05698, 2015.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https://arxiv.org/abs/1502.05698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収集と品質の確認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人物の移動、物の受け渡し、位置関係などを生成し、シミュレーター内の状態から質問と正解を作る。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元の形式には回答を支える事実の番号も付く。研究では、回答だけで学習する条件と、根拠の事実も教える条件を分けた。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Jason Weston et al. (2015). Towards AI-Complete Question Answering: A Set of Prerequisite Toy Tasks. arXiv:1502.05698, 2015.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https://arxiv.org/abs/1502.05698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分割と件数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82496"/>
        </p:xfrm>
        <a:graphic>
          <a:graphicData uri="http://schemas.openxmlformats.org/drawingml/2006/table">
            <a:tbl>
              <a:tblPr firstRow="0" bandRow="0"/>
              <a:tblGrid>
                <a:gridCol w="2560320"/>
                <a:gridCol w="1645920"/>
                <a:gridCol w="384048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集合・対象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役割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en-valid train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18,013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ミラーの全課題を実測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en-valid valid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1,987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同じミラーの開発問題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en-valid test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20課題×各1,000問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bAbI、en-valid/test全20,000件を集計。2026-10-18取得。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https://huggingface.co/datasets/Muennighoff/babi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課題を混ぜる前に、何を答えるかを見る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単一の事実の参照、複数の事実の統合、位置関係、受け渡し、数え上げなど、20種類の操作を別々に生成した。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取得したtestは各課題1,000問で均等。en-validのtrainは18,013問、validは1,987問だった。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bAbI、en-valid/test全20,000件を集計。2026-10-18取得。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https://huggingface.co/datasets/Muennighoff/babi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採点方法とモデルの成績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何を1件として、どう採点するか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回答語句が正解と一致すれば1点。課題ごとに正解率を求め、20課題の平均も示せる。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2015年の研究では、正解率95%以上をその課題の達成基準にした。経路のs,wなどは、HELMではsouth westのような単語へ変換する。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Jason Weston et al. (2015). Towards AI-Complete Question Answering: A Set of Prerequisite Toy Tasks. arXiv:1502.05698, 2015.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https://arxiv.org/abs/1502.05698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初期の代表的な評価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82496"/>
        </p:xfrm>
        <a:graphic>
          <a:graphicData uri="http://schemas.openxmlformats.org/drawingml/2006/table">
            <a:tbl>
              <a:tblPr firstRow="0" bandRow="0"/>
              <a:tblGrid>
                <a:gridCol w="5303520"/>
                <a:gridCol w="274320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各課題1,000問で学習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20課題の平均（%）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N-gram分類器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LSTM（回答のみの教師）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MemNN AM + NG + NL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92424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MemNN拡張は根拠の事実も教師に使う。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Jason Weston et al. (2015). Towards AI-Complete Question Answering: A Set of Prerequisite Toy Tasks. arXiv:1502.05698, 2015.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https://arxiv.org/abs/1502.05698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HELMでの評価条件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en-valid由来。20課題をまとめた候補から最大1,000問を評価し、最大5例提示、3試行、温度0。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表はtest 906問の完全一致率。残る94問はvalidであり、testと混ぜずに示す。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Classic v0.4.0. 公開run_specs。2023-11-17のリリース。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https://storage.googleapis.com/crfm-helm-public/classic/benchmark_output/releases/v0.4.0/run_specs.json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 Classic v0.4.0の結果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261872"/>
        </p:xfrm>
        <a:graphic>
          <a:graphicData uri="http://schemas.openxmlformats.org/drawingml/2006/table">
            <a:tbl>
              <a:tblPr firstRow="0" bandRow="0"/>
              <a:tblGrid>
                <a:gridCol w="4206240"/>
                <a:gridCol w="1920240"/>
                <a:gridCol w="192024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正解率（%）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試行数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text-davinci-003（2022）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62.73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Anthropic v4-s3（2022）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46.06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971800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 906問、最大5例提示。完全一致率。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Liang et al. Holistic Evaluation of Language Models. TMLR 2023. Classic v0.4.0（2023-11-17）。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利用の変化と入手方法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制御した推論の診断へ使われる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自然な文章を集めたベンチマークが増えた後も、bAbIは推論の段数や世界の状態を制御できる診断用データとして残った。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HELMは同じ短い回答形式で、学習済みモデルへ少数例を見せて評価した。生成器とHELM由来の変換コードは2026-10-18にも公開されている。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bAbI 公式公開ページ。2026-10-18参照。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https://github.com/facebookarchive/bAbI-tasks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入手方法と利用条件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公式の生成器はfacebookarchive/bAbI-tasksで公開されている。英語のほか、ヒンディー語や語順を変えた版もある。生成器はBSD、データカードはCC BY 3.0を掲げる。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掲載例はMuennighoff/babiのen-valid変換ミラー。READMEがHELMと同じ変換手順を示しており、test全20,000問を取得した。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bAbI 公式公開ページ。2026-10-18参照。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https://github.com/facebookarchive/bAbI-tasks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bAbIの要点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シミュレーターで作った物語を使い、20種類の推論操作を個別に測る。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根拠の事実を教師として与えた学習と、少数例提示の言語モデル評価は、学習条件が異なる。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Jason Weston et al. (2015). Towards AI-Complete Question Answering: A Set of Prerequisite Toy Tasks. arXiv:1502.05698, 2015.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https://arxiv.org/abs/1502.05698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54355"/>
            <a:ext cx="8046720" cy="64617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000" b="0">
                <a:solidFill>
                  <a:srgbClr val="303437"/>
                </a:solidFill>
                <a:latin typeface="Noto Sans"/>
              </a:defRPr>
            </a:pPr>
            <a:r>
              <a:rPr sz="4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題材の異なる追加例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集計と評価条件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題材の異なる追加例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追加例1：課題3（1/2）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216152"/>
            <a:ext cx="32461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正解：hallway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物語／左：原文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137236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Mary picked up the milk.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John went back to the garden.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Mary went back to the hallway.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Mary went back to the office.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11732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メアリーはミルクを手に取った。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ジョンは庭に戻った。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メアリーは廊下に戻った。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メアリーはオフィスに戻った。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Muennighoff/babi、改訂1da25875。2026-10-18参照。 en-valid / task 3 / test行2300。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https://huggingface.co/datasets/Muennighoff/babi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追加例1：課題3（2/2）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216152"/>
            <a:ext cx="32461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正解：hallway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109277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Where was the milk before the office?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Answer: hallway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8936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質問：オフィスに来る前、ミルクはどこにあったか。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回答：廊下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Muennighoff/babi、改訂1da25875。2026-10-18参照。 en-valid / task 3 / test行2300。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https://huggingface.co/datasets/Muennighoff/babi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追加例2：課題5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216152"/>
            <a:ext cx="32461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正解：Jeff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193154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Passage: Jeff grabbed the milk there.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Passage: Jeff gave the milk to Bill.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Who gave the milk?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Answer: Jeff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1732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物語：ジェフはそこでミルクをつかんだ。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物語：ジェフはビルにミルクを渡した。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質問：誰がミルクを渡したか。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回答：ジェフ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Muennighoff/babi、改訂1da25875。2026-10-18参照。 en-valid / task 5 / test行4635。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https://huggingface.co/datasets/Muennighoff/babi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追加例3：課題6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216152"/>
            <a:ext cx="32461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正解：yes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193154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Passage: Mary got the apple there.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Passage: John moved to the office.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Is John in the office?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Answer: 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1732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物語：メアリーはそこでリンゴを手に取った。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物語：ジョンはオフィスに移動した。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質問：ジョンはオフィスにいるか。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回答：はい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Muennighoff/babi、改訂1da25875。2026-10-18参照。 en-valid / task 6 / test行5250。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https://huggingface.co/datasets/Muennighoff/babi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追加例4：課題7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216152"/>
            <a:ext cx="32461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2211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Passage: John went to the office.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Passage: John got the milk there.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How many objects is John carrying?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Answer: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1732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物語：ジョンはオフィスに行った。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物語：ジョンはそこでミルクを手に取った。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質問：ジョンはいくつ物を持っているか。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回答：1個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Muennighoff/babi、改訂1da25875。2026-10-18参照。 en-valid / task 7 / test行6770。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https://huggingface.co/datasets/Muennighoff/babi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追加例5：課題8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216152"/>
            <a:ext cx="32461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正解：milk,football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2211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Passage: Daniel picked up the milk there.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Passage: Daniel picked up the football there.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What is Daniel carrying?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Answer: milk,football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20119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物語：ダニエルはそこでミルクを拾った。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物語：ダニエルはそこでサッカーボールを拾った。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質問：ダニエルは何を持っているか。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回答：ミルク、サッカーボール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Muennighoff/babi、改訂1da25875。2026-10-18参照。 en-valid / task 8 / test行7590。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https://huggingface.co/datasets/Muennighoff/babi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追加例6：課題9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216152"/>
            <a:ext cx="32461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193154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Passage: Mary is in the garden.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Passage: Mary is not in the garden.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Is Mary in the garden?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Answer: 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11732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物語：メアリーは庭にいる。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物語：メアリーは庭にいない。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質問：メアリーは庭にいるか。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回答：いいえ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Muennighoff/babi、改訂1da25875。2026-10-18参照。 en-valid / task 9 / test行8715。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https://huggingface.co/datasets/Muennighoff/babi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追加例7：課題10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216152"/>
            <a:ext cx="32461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正解：maybe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165195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Passage: Fred is in the park.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Passage: Mary is either in the park or the office.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Is Mary in the park?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Answer: maybe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14528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物語：フレッドは公園にいる。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物語：メアリーは公園かオフィスのどちらかにいる。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質問：メアリーは公園にいるか。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回答：いるかもしれない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Muennighoff/babi、改訂1da25875。2026-10-18参照。 en-valid / task 10 / test行9870。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https://huggingface.co/datasets/Muennighoff/babi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追加例8：課題14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216152"/>
            <a:ext cx="32461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正解：cinema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2211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Passage: This morning Fred went to the park.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Passage: Yesterday Fred went to the cinema.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Where was Fred before the park?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Answer: cinema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20119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物語：今朝、フレッドは公園に行った。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物語：昨日、フレッドは映画館に行った。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質問：公園に行く前、フレッドはどこにいたか。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回答：映画館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Muennighoff/babi、改訂1da25875。2026-10-18参照。 en-valid / task 14 / test行13905。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https://huggingface.co/datasets/Muennighoff/babi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追加例9：課題15（1/2）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216152"/>
            <a:ext cx="32461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正解：sheep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物語／左：原文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249072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Cats are afraid of sheep.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Emily is a cat.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Winona is a cat.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Sheep are afraid of mice.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Mice are afraid of cats.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Wolves are afraid of cats.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Jessica is a wolf.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Gertrude is a cat.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2291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ネコはヒツジを怖がる。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エミリーはネコである。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ウィノナはネコである。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ヒツジはネズミを怖がる。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ネズミはネコを怖がる。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オオカミはネコを怖がる。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ジェシカはオオカミである。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ガートルードはネコである。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Muennighoff/babi、改訂1da25875。2026-10-18参照。 en-valid / task 15 / test行14024。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https://huggingface.co/datasets/Muennighoff/babi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追加例9：課題15（2/2）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216152"/>
            <a:ext cx="32461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正解：sheep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109277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What is emily afraid of?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Answer: sheep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614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質問：エミリーは何を怖がるか。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回答：ヒツジ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Muennighoff/babi、改訂1da25875。2026-10-18参照。 en-valid / task 15 / test行14024。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https://huggingface.co/datasets/Muennighoff/babi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追加例10：課題20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216152"/>
            <a:ext cx="32461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正解：bedroom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109277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Passage: Yann is tired.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Where will yann go?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Answer: bedroom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8936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物語：ヤンは疲れている。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質問：ヤンはどこへ行くか。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回答：寝室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Muennighoff/babi、改訂1da25875。2026-10-18参照。 en-valid / task 20 / test行19078。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https://huggingface.co/datasets/Muennighoff/babi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集計と評価条件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20課題と実測した分割（1/4）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89209"/>
        </p:xfrm>
        <a:graphic>
          <a:graphicData uri="http://schemas.openxmlformats.org/drawingml/2006/table">
            <a:tbl>
              <a:tblPr firstRow="0" bandRow="0"/>
              <a:tblGrid>
                <a:gridCol w="3931920"/>
                <a:gridCol w="1371600"/>
                <a:gridCol w="1371600"/>
                <a:gridCol w="1371600"/>
              </a:tblGrid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valid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 一つの根拠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2. 二つの根拠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3. 三つの根拠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4. 二項関係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5. 三項関係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6. Yes／No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bAbI、en-valid/test全20,000件を集計。2026-10-18取得。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https://huggingface.co/datasets/Muennighoff/babi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20課題と実測した分割（2/4）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89209"/>
        </p:xfrm>
        <a:graphic>
          <a:graphicData uri="http://schemas.openxmlformats.org/drawingml/2006/table">
            <a:tbl>
              <a:tblPr firstRow="0" bandRow="0"/>
              <a:tblGrid>
                <a:gridCol w="3931920"/>
                <a:gridCol w="1371600"/>
                <a:gridCol w="1371600"/>
                <a:gridCol w="1371600"/>
              </a:tblGrid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valid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7. 数え上げ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8. リスト・集合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9. 否定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10. 不確かな知識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11. 代名詞照応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12. 接続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bAbI、en-valid/test全20,000件を集計。2026-10-18取得。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https://huggingface.co/datasets/Muennighoff/babi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20課題と実測した分割（3/4）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89209"/>
        </p:xfrm>
        <a:graphic>
          <a:graphicData uri="http://schemas.openxmlformats.org/drawingml/2006/table">
            <a:tbl>
              <a:tblPr firstRow="0" bandRow="0"/>
              <a:tblGrid>
                <a:gridCol w="3931920"/>
                <a:gridCol w="1371600"/>
                <a:gridCol w="1371600"/>
                <a:gridCol w="1371600"/>
              </a:tblGrid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valid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13. 複合照応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14. 時間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15. 演繹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16. 帰納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17. 位置関係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18. 大きさ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bAbI、en-valid/test全20,000件を集計。2026-10-18取得。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https://huggingface.co/datasets/Muennighoff/babi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20課題と実測した分割（4/4）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109661"/>
        </p:xfrm>
        <a:graphic>
          <a:graphicData uri="http://schemas.openxmlformats.org/drawingml/2006/table">
            <a:tbl>
              <a:tblPr firstRow="0" bandRow="0"/>
              <a:tblGrid>
                <a:gridCol w="3931920"/>
                <a:gridCol w="1371600"/>
                <a:gridCol w="1371600"/>
                <a:gridCol w="1371600"/>
              </a:tblGrid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valid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19. 経路探索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20. 動機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bAbI、en-valid/test全20,000件を集計。2026-10-18取得。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https://huggingface.co/datasets/Muennighoff/babi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研究者と発表の位置付け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第一著者Jason Weston、最終著者Tomas Mikolovを含むFacebook AI Researchの7名による研究。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2015年に公開。小さな世界での質問応答を通じ、推論能力を診断する一連の課題を提案した。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Jason Weston et al. (2015). Towards AI-Complete Question Answering: A Set of Prerequisite Toy Tasks. arXiv:1502.05698, 2015.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https://arxiv.org/abs/1502.05698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Towards AI-Complete Question Answering: A Set of Prerequisite Toy Tasks"/>
          <p:cNvSpPr txBox="1"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Towards AI-Complete Question Answering: A Set of Prerequisite Toy Tasks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Jason Weston, Antoine Bordes, Sumit Chopra, Alexander M. Rush, Bart van Merriënboer, Armand Joulin, Tomas Mikolov / arXiv:1502.05698, 2015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bAbIの目的、作成方法、評価をまとめた研究。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https://arxiv.org/abs/1502.05698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Holistic Evaluation of Language Models"/>
          <p:cNvSpPr txBox="1"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Holistic Evaluation of Language Models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Percy Liang et al. / TMLR 2023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複数のシナリオと指標で、言語モデルを比較するHELMの研究。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https://arxiv.org/abs/2211.09110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bAbI：公開データ"/>
          <p:cNvSpPr txBox="1"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bAbI：公開データ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Muennighoff/babi / 改訂1da25875 / 2026-10-18参照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原文・正解の13例と、対象集合の全件集計に用いた公開資源。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https://huggingface.co/datasets/Muennighoff/babi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2026-10-18T00:20:12Z</dcterms:modified>
  <dc:title>babi</dc:title>
  <dc:creator>sasakiy84</dc:creator>
  <dcterms:created xsi:type="dcterms:W3CDTF">2026-10-18T00:20:12Z</dcterms:created>
  <dc:language>ja-JP</dc:language>
</cp:coreProperties>
</file>