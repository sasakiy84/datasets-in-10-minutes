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4" r:id="rId54"/>
    <p:sldId id="305" r:id="rId55"/>
    <p:sldId id="306" r:id="rId56"/>
    <p:sldId id="307" r:id="rId57"/>
    <p:sldId id="308" r:id="rId58"/>
    <p:sldId id="309" r:id="rId5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配布レコード数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6</c:v>
                </c:pt>
                <c:pt idx="1">
                  <c:v>8</c:v>
                </c:pt>
                <c:pt idx="2">
                  <c:v>10</c:v>
                </c:pt>
                <c:pt idx="3">
                  <c:v>12</c:v>
                </c:pt>
                <c:pt idx="4">
                  <c:v>14</c:v>
                </c:pt>
                <c:pt idx="5">
                  <c:v>16</c:v>
                </c:pt>
                <c:pt idx="6">
                  <c:v>20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204</c:v>
                </c:pt>
                <c:pt idx="1">
                  <c:v>204</c:v>
                </c:pt>
                <c:pt idx="2">
                  <c:v>204</c:v>
                </c:pt>
                <c:pt idx="3">
                  <c:v>204</c:v>
                </c:pt>
                <c:pt idx="4">
                  <c:v>204</c:v>
                </c:pt>
                <c:pt idx="5">
                  <c:v>204</c:v>
                </c:pt>
                <c:pt idx="6">
                  <c:v>204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inverse-scaling/priz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irmckenzie.co.uk/round2/" TargetMode="External"/><Relationship Id="rId3" Type="http://schemas.openxmlformats.org/officeDocument/2006/relationships/hyperlink" Target="https://github.com/inverse-scaling/prize/blob/920f17de85f2a7f2415b097bc49e6a7fbf17b0b2/data-release/README.md" TargetMode="External"/><Relationship Id="rId4" Type="http://schemas.openxmlformats.org/officeDocument/2006/relationships/hyperlink" Target="https://github.com/inverse-scaling/prize/blob/main/data-release/README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inverse-scaling/prize/blob/920f17de85f2a7f2415b097bc49e6a7fbf17b0b2/data-release/isp-data-release.zip" TargetMode="External"/><Relationship Id="rId4" Type="http://schemas.openxmlformats.org/officeDocument/2006/relationships/hyperlink" Target="https://github.com/inverse-scaling/prize/tree/main/data-release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cleva_scenario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nverse-scaling/prize/blob/920f17de85f2a7f2415b097bc49e6a7fbf17b0b2/data-release/README.md" TargetMode="External"/><Relationship Id="rId3" Type="http://schemas.openxmlformats.org/officeDocument/2006/relationships/hyperlink" Target="https://github.com/stanford-crfm/helm/blob/v0.4.0/src/helm/benchmark/scenarios/cleva_scenario.py" TargetMode="External"/><Relationship Id="rId4" Type="http://schemas.openxmlformats.org/officeDocument/2006/relationships/hyperlink" Target="https://github.com/inverse-scaling/prize/blob/main/data-release/README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06.09479" TargetMode="External"/><Relationship Id="rId3" Type="http://schemas.openxmlformats.org/officeDocument/2006/relationships/hyperlink" Target="https://github.com/inverse-scaling/prize/blob/main/data-release/README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irmckenzie.co.uk/round2/" TargetMode="External"/><Relationship Id="rId3" Type="http://schemas.openxmlformats.org/officeDocument/2006/relationships/hyperlink" Target="https://aclanthology.org/2023.emnlp-demo.17/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cleva_scenario.py" TargetMode="External"/><Relationship Id="rId3" Type="http://schemas.openxmlformats.org/officeDocument/2006/relationships/hyperlink" Target="https://creativecommons.org/licenses/by/4.0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209002"/>
            <a:ext cx="8046720" cy="176022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Pattern Matching
Suppression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075902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交互のパターンより、終わり方の指示を優先する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4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Prizeの公式リポジトリ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Pattern Matching Suppression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855" y="1481328"/>
            <a:ext cx="6892290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Prize. Official repository.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列の最後で、交互の規則を破る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記号・指示・列の長さ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評価方法と、モデル規模の影響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入手と中国語評価への利用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列の最後で、交互の規則を破る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繰り返しを読み、最後だけ規則を破る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Pattern Matching Suppressionは、二つの記号が交互に並ぶ列を示し、最後だけ規則を破るよう指示する英語データセット。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繰り返しから自然に予想される続きと、明示された終わり方の指示が食い違う場面を扱う。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公式公開版では、続きとなる二つの候補を評価する。正解は、最後に交互の規則を破る候補である。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入力の列に、最後の一記号を補う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入力には、完成させる列の長さと終わり方の指示があり、その後に途中までの列が続く。6個を求める例では、5個が既に示されている。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二つの候補から、最後に付ける記号を選ぶ。たとえばo, x, o, x, oの後には、oを選ぶと最後だけ規則を破れる。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JSONLのpromptが指示と列、classesが候補、answer_indexが正解候補の位置を表す。候補の文字列は、先頭空白も含めて保存されている。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実例1：oとxの交互列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(o x)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o, x, o, x, o,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x', ' o']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二つの記号(o x)を交互に並べた、6個の記号からなる列を生成してください。ただし、最後は予想外のものにしてください。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o, x, o, x, o,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x', ' o']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交互列を続けるxではなく、直前と同じoを選ぶ。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oの後に、もう一度oを出す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実例1の提示列はo, x, o, x, o。通常の交互規則なら、次はxになる。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指示は6記号の列を、予想外に終えること。正解のoを続けると、最後がo, oとなり交互の規則が破れる。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既に示された5記号の後に、最後の1記号を補う形の問題である。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実例2：20記号目で、交互の規則を破る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6302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20 symbols alternating between two symbols (A B)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A, B, A, B, A, B, A, B, A, B, A, B, A, B, A, B, A, B, A,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B', ' A']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83946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二つの記号(A B)を交互に並べた、20個の記号からなる列を生成してください。ただし、最後は予想外のものにしてください。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A, B, A, B, A, B, A, B, A, B, A, B, A, B, A, B, A, B, A,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B', ' A']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97969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91745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交互列を続けるBではなく、直前と同じAを選ぶ。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長い繰返しでも、最後だけは例外になる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実例2は20記号を求め、先に19記号を示す。AとBが交互に並び、最後の提示記号はA。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規則をそのまま続けるBが誤候補、Aを繰り返す方が正解になる。列が長くても、最後に求められる操作は同じ。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原データは完成させる長さを6・8・10・12・14・16・20に変え、指示への切替を調べる。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実例3：次に来る記号を、明示的に除く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6302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(A B) but ending anything you like except "B".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A, B, A, B, A,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B', ' A']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(A B)を交互に並べた、6個の記号からなる列を生成してください。ただし、最後は"B"以外の好きなものにしてください。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A, B, A, B, A,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B', ' A']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84930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78706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交互列を続けるBではなく、直前と同じAを選ぶ。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終わり方の指示には、曖昧さも残る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実例3は「B以外の好きなもの」で終えると指示する。二つの候補A/Bのうち、Bを除くと正解はA。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別の指示は「予想外に終える」「予測不能に終える」と表現する。McKenzieらは、unexpectedの意味が十分には特定されていないという限界を述べる。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公開版では、通常どおりに続く記号と、直前と同じ記号を候補とし、その確率を比較する。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列の最後で、交互の規則を破る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記号・指示・列の長さ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第2回の受賞課題を、2023年に公開した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Tomasz Korbakが提出し、Inverse Scaling Prizeの第2回で受賞した。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2023年3月の公開ZIPには、11の受賞課題が収められている。本課題は1,428件で、学習用・検証用・テスト用の分割指定はない。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08500"/>
            <a:ext cx="8183879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(2022). Inverse Scaling Prize: Second Round Winners.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https://irmckenzie.co.uk/round2/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</a:rPr>
              <a:t>[2] Inverse Scaling Prize (2023). Data release: format and CC BY 4.0.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12記号対×17指示表現×7種類の長さ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50292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変える要素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種類・件数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記号対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12組、各119件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指示の言い方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各記号対に17表現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完成列の長さ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6・8・10・12・14・16・20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全レコード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12×17×7 = 1,428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12組の記号対について、指示の表現と列の長さを組み合わせた全1,428問。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完成列の長さごとに、204件ずつある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横軸は完成させる記号数。実際の提示列は、その数より1記号少ない。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終わり方は、四つの言い方に分かれる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603504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指示の末尾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ending unexpectedly／予想外に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ending unpredictably／予測不能に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violating the pattern／規則を破る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except …／指定記号以外に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前半の指示表現も変えるため、合計17種類の表現になる。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半数の問題で、指示中の記号名が不完全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指示中の表記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列と候補の記号対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 i ／ one ／ aa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i/ii、one/two、aa/ab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alp ／ fir ／ lef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alpha/beta、first/second、left/right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0779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6組・計714件で、指示中の記号名が不完全。後続の列と候補には、完全な記号名が示される。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候補は、規則を続ける記号と破る記号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一つ目の候補は、通常の交互列を続ける記号。二つ目は、直前の記号を繰り返して規則を破る記号で、全1,428問で正解になっている。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元の評価では、候補番号を入力へ書き込まず、各記号文字列が続く確率を調べる。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A/B付きの選択肢を提示する形式では、候補を並べる順序も評価条件になる。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記号・指示・列の長さ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評価方法と、モデル規模の影響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評価方法と、モデル規模の影響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二つの候補の確率から、正答率と損失を測る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元の選択式評価では、promptの後に各候補文字列が続く確率を求める。複数トークンの候補は、文字列全体の確率を使う。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二候補内で合計1になるよう正規化し、正解候補の負の対数を平均して分類損失とする。最大確率の候補を選んだときの一致率が、分類正解率である。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評価方法と、モデル規模の影響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人の回答と正解は、100%一致した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構築時には、無作為に抽出した少なくとも50例を人が解き、データの正解との一致を確認した。この課題の報告値は100.0%だった。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評価方法と、モデル規模の影響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規則を続ける能力が、誤答につながる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構築時の評価では、モデルの成績は全般に低かった。最小モデルはGPT-3系列を除き、全系列でゼロより高い正解率を示した。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大きい側でゼロを超えたのはGPT-4、GPT-4 RLHF、GPT-3 FeedMEだった。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規則を続ける方が、規則を止めるという本来の課題より簡単な「おとり課題」になる、という解釈を示している。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評価方法と、モデル規模の影響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例示を加えると、規模と成績の関係が変わる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研究はゼロショットに加え、最大72例、または文脈長に入る範囲の例示を調べた。対象はAnthropic LM、Gopher、Chinchilla。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本課題では、例示を加えると、モデルが大きいほど成績が下がる傾向が和らぎ、U字型や、大きいほど成績が上がる傾向に変わったと報告されている。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評価方法と、モデル規模の影響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入手と中国語評価への利用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CLEVAは、中国語の指示追従課題に採用した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CLEVAは、交互の列を最後だけ変える本課題を、中国語で指示に従う能力の評価に採用した。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公開された説明例は、実例1に対応するoとxの列。六つ目にoを選ぶと、交互の規則が破れる。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CLEVAで使われた中国語版の全問題や、選定範囲は公開説明から確認できない。公式の英語版は、Inverse Scaling Prizeのリポジトリから取得できる。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08500"/>
            <a:ext cx="8183879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Li et al. (2023). CLEVA: Chinese Language Models EVAluation Platform.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https://aclanthology.org/2023.emnlp-demo.17/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</a:rPr>
              <a:t>[2] Stanford CRFM (2023). HELM: CLEVA instruction following scenario.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中国語の例でも、最後のoで規則を破る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  <p:sp>
        <p:nvSpPr>
          <p:cNvPr id="4" name="quote-frame"/>
          <p:cNvSpPr/>
          <p:nvPr/>
        </p:nvSpPr>
        <p:spPr>
          <a:xfrm>
            <a:off x="548640" y="1600200"/>
            <a:ext cx="3840480" cy="173457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5034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生成一个6个组成字符的序列，这个序列在“o”、“x”间交替，但是意外结束。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o，x，o，x，o，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x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o</a:t>
            </a:r>
          </a:p>
        </p:txBody>
      </p:sp>
      <p:sp>
        <p:nvSpPr>
          <p:cNvPr id="5" name="quote-frame"/>
          <p:cNvSpPr/>
          <p:nvPr/>
        </p:nvSpPr>
        <p:spPr>
          <a:xfrm>
            <a:off x="4572000" y="1600200"/>
            <a:ext cx="4023360" cy="165925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6個の記号からなる列を生成してください。oとxを交互に並べますが、予想外に終えてください。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o，x，o，x，o，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x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61772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正解：B（o）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Stanford CRFM (2023). HELM: CLEVA instruction following scenario.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公式の英語データと、利用条件を確認する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公式リポジトリのdata-releaseに、11課題を収めたZIPと形式の説明がある。本課題の指示・提示列・候補・正解は、JSONLから読み出せる。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データのライセンスはCC BY 4.0。利用時には提出者Tomasz KorbakとInverse Scaling Prizeへの帰属を示し、ライセンスへリンクする。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翻訳などを加えた場合は、その変更も表示する。本資料は日本語訳と解説を加え、入力中の不完全な記号名も元のまま掲載している。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Data release: format and CC BY 4.0.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終わり方の指示に従い、最後の記号を選ぶ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Pattern Matching Suppressionは、交互に並んだ列を読み、最後だけ規則を破る記号を選ぶ課題。通常の続きと、指示に従う続きが候補に並ぶ。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公開版は12組の記号対・17表現・7種類の長さを組み合わせた1,428問。明示された指示と、繰り返しから生じる予測が食い違う場面で、どちらに従うかを調べられる。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8681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追加の例題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記号の種類と読み込み方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追加の例題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実例4：1と2の交互列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(1 2)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1, 2, 1, 2, 1,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2', ' 1']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二つの記号(1 2)を交互に並べた、6個の記号からなる列を生成してください。ただし、最後は予想外のものにしてください。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1, 2, 1, 2, 1,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2', ' 1']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交互列を続ける2ではなく、直前と同じ1を選ぶ。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実例5：iとiiの交互列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指示・提示列・二つの候補の全文／指示中の記号名が不完全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(i i)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i, ii, i, ii, i,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ii', ' i']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二つの記号(i i)を交互に並べた、6個の記号からなる列を生成してください。ただし、最後は予想外のものにしてください。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i, ii, i, ii, i,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ii', ' i']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指示では「i i」と書かれているが、列と候補にはiとiiが並ぶ。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実例6：aとbの交互列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(a b)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a, b, a, b, a,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b', ' a']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二つの記号(a b)を交互に並べた、6個の記号からなる列を生成してください。ただし、最後は予想外のものにしてください。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a, b, a, b, a,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b', ' a']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交互列を続けるbではなく、直前と同じaを選ぶ。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実例7：oneとtwoの交互列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指示・提示列・二つの候補の全文／指示中の記号名が不完全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(one)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one, two, one, two, one,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two', ' one']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二つの記号(one)を交互に並べた、6個の記号からなる列を生成してください。ただし、最後は予想外のものにしてください。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one, two, one, two, one,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two', ' one']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指示では「one」と書かれているが、列と候補にはoneとtwoが並ぶ。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実例8：qとwの交互列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9810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(q w)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q, w, q, w, q,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w', ' q']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61086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二つの記号(q w)を交互に並べた、6個の記号からなる列を生成してください。ただし、最後は予想外のものにしてください。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q, w, q, w, q,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w', ' q']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65500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59276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交互列を続けるwではなく、直前と同じqを選ぶ。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実例9：aaとabの交互列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指示・提示列・二つの候補の全文／指示中の記号名が不完全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(aa 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aa, ab, aa, ab, aa,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ab', ' aa']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二つの記号(aa 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aa, ab, aa, ab, aa,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ab', ' aa']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指示では「aa 」と書かれているが、列と候補にはaaとabが並ぶ。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実例10：alphaとbetaの交互列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指示・提示列・二つの候補の全文／指示中の記号名が不完全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9810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(alp)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alpha, beta, alpha, beta, alpha,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beta', ' alpha']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61086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二つの記号(alp)を交互に並べた、6個の記号からなる列を生成してください。ただし、最後は予想外のものにしてください。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alpha, beta, alpha, beta, alpha,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beta', ' alpha']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65500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正解：alpha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59276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指示では「alp」と書かれているが、列と候補にはalphaとbetaが並ぶ。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実例11：firstとsecondの交互列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指示・提示列・二つの候補の全文／指示中の記号名が不完全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(fir)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first, second, first, second, first,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second', ' first']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二つの記号(fir)を交互に並べた、6個の記号からなる列を生成してください。ただし、最後は予想外のものにしてください。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first, second, first, second, first,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second', ' first']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指示では「fir」と書かれているが、列と候補にはfirstとsecondが並ぶ。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実例12：leftとrightの交互列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指示・提示列・二つの候補の全文／指示中の記号名が不完全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9810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(lef)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left, right, left, right, left,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right', ' left']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61086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二つの記号(lef)を交互に並べた、6個の記号からなる列を生成してください。ただし、最後は予想外のものにしてください。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left, right, left, right, left,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right', ' left']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65500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正解：left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59276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指示では「lef」と書かれているが、列と候補にはleftとrightが並ぶ。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実例13：0と1の交互列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指示・提示列・二つの候補の全文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840480" cy="13811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Generate a sequence of 6 symbols alternating between two symbols (0 1) but ending unexpectedly.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0, 1, 0, 1, 0,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1', ' 0']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627632"/>
            <a:ext cx="4023360" cy="15939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二つの記号(0 1)を交互に並べた、6個の記号からなる列を生成してください。ただし、最後は予想外のものにしてください。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0, 1, 0, 1, 0,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1', ' 0']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4856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2342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交互列を続ける1ではなく、直前と同じ0を選ぶ。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記号の種類と読み込み方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記号の種類と読み込み方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12組の記号を、各119問に使う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記号の種類と読み込み方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91444"/>
        </p:xfrm>
        <a:graphic>
          <a:graphicData uri="http://schemas.openxmlformats.org/drawingml/2006/table">
            <a:tbl>
              <a:tblPr firstRow="0" bandRow="0"/>
              <a:tblGrid>
                <a:gridCol w="6035040"/>
                <a:gridCol w="2011680"/>
              </a:tblGrid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列と候補の記号対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 / 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/ 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 / ii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 / 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one / two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 / w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12組の記号を、各119問に使う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記号の種類と読み込み方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91444"/>
        </p:xfrm>
        <a:graphic>
          <a:graphicData uri="http://schemas.openxmlformats.org/drawingml/2006/table">
            <a:tbl>
              <a:tblPr firstRow="0" bandRow="0"/>
              <a:tblGrid>
                <a:gridCol w="6035040"/>
                <a:gridCol w="2011680"/>
              </a:tblGrid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列と候補の記号対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aa / ab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alpha / beta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first / second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left / right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/ 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4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 / 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JSONLから指示・列・候補を読み出す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記号の種類と読み込み方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54480"/>
            <a:ext cx="8046720" cy="183635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46567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ast, json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path = "pattern-matching-suppression_classification.jsonl"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open(path) as file: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row = json.loads(next(file))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choices = ast.literal_eval(row["classes"])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print(row["prompt"])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print(choices, choices[row["answer_index"]])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0448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ZIP内のJSONLと同じフォルダで実行する。最初の指示と提示列、候補、正解を表示する。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Pattern Matching Suppression. Tomasz Korbak.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4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Tomasz Korbakの課題が、指示と規則の衝突を示す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提出者はTomasz Korbak。Inverse Scaling Prizeの第2回受賞課題として、明示的な指示より暗黙の繰返しを優先する現象を扱う。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McKenzieらの2023年TMLR論文は、11受賞課題を4つの原因仮説で整理する。本課題はDistractor Taskの一例。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研究では人が選ぶ回答はデータの正解とよく一致する一方、モデルの規模や例示数によって違う傾向が現れることを報告する。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Inverse Scaling: When Bigger Isn’t Better"/>
          <p:cNvSpPr txBox="1"/>
          <p:nvPr/>
        </p:nvSpPr>
        <p:spPr>
          <a:xfrm>
            <a:off x="548640" y="1417320"/>
            <a:ext cx="8046720" cy="1536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Scaling: When Bigger Isn’t Better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Ian R. McKenzie et al. (2023). Transactions on Machine Learning Research. arXiv v2:2024.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11受賞課題を評価し、交互列の完遂が指示への切替を妨げるという仮説と、規模・例示数の影響を報告する。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https://arxiv.org/abs/2306.09479</a:t>
            </a:r>
          </a:p>
        </p:txBody>
      </p:sp>
      <p:sp>
        <p:nvSpPr>
          <p:cNvPr id="5" name="文献 2: Inverse Scaling Prize — Data release"/>
          <p:cNvSpPr txBox="1"/>
          <p:nvPr/>
        </p:nvSpPr>
        <p:spPr>
          <a:xfrm>
            <a:off x="548640" y="2987548"/>
            <a:ext cx="8046720" cy="15366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 — Data release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Inverse Scaling Prize. 2023年3月公開。課題提出者Tomasz Korbak。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11課題のJSONLと候補確率による評価形式を公開し、CC BY4.0の条件と変更履歴を示す。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Inverse Scaling Prize: Second Round Winners"/>
          <p:cNvSpPr txBox="1"/>
          <p:nvPr/>
        </p:nvSpPr>
        <p:spPr>
          <a:xfrm>
            <a:off x="548640" y="1417320"/>
            <a:ext cx="8046720" cy="1536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Prize: Second Round Winners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Ian McKenzie et al. (2022). 公式受賞発表。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Pattern Match Suppressionの提出者、原例、規則を止める狙いを示す。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https://irmckenzie.co.uk/round2/</a:t>
            </a:r>
          </a:p>
        </p:txBody>
      </p:sp>
      <p:sp>
        <p:nvSpPr>
          <p:cNvPr id="5" name="文献 2: CLEVA: Chinese Language Models EVAluation Platform"/>
          <p:cNvSpPr txBox="1"/>
          <p:nvPr/>
        </p:nvSpPr>
        <p:spPr>
          <a:xfrm>
            <a:off x="548640" y="2987548"/>
            <a:ext cx="8046720" cy="1233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Yanyang Li et al. (2023). EMNLP System Demonstrations, pp.186–217.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中国語モデル評価の基盤を提案し、本課題を指示追従の素材として採用する。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LEVAInstructionFollowingScenario"/>
          <p:cNvSpPr txBox="1"/>
          <p:nvPr/>
        </p:nvSpPr>
        <p:spPr>
          <a:xfrm>
            <a:off x="548640" y="1417320"/>
            <a:ext cx="8046720" cy="1536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CLEVAInstructionFollowingScenario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(2023). HELM v0.4.0、公式Python実装。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o/xの交互列に関する中国語の説明例と正解Bを示し、CLEVA形式をHELMへ適用する。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</p:txBody>
      </p:sp>
      <p:sp>
        <p:nvSpPr>
          <p:cNvPr id="5" name="文献 2: Attribution 4.0 International (CC BY 4.0)"/>
          <p:cNvSpPr txBox="1"/>
          <p:nvPr/>
        </p:nvSpPr>
        <p:spPr>
          <a:xfrm>
            <a:off x="548640" y="2987548"/>
            <a:ext cx="8046720" cy="1233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Attribution 4.0 International (CC BY 4.0)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Creative Commons. データ公開READMEが指定する利用条件。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帰属・ライセンスへのリンク・変更の表示など、利用時の条件を定める。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https://creativecommons.org/licenses/by/4.0/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2026-10-18T10:37:32Z</dcterms:modified>
  <dc:title>pattern-matching-suppression</dc:title>
  <dc:creator>sasakiy84</dc:creator>
  <dcterms:created xsi:type="dcterms:W3CDTF">2026-10-18T10:37:32Z</dcterms:created>
  <dc:language>ja-JP</dc:language>
</cp:coreProperties>
</file>