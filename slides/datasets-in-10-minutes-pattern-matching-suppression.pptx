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配布レコード数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  <c:pt idx="5">
                  <c:v>16</c:v>
                </c:pt>
                <c:pt idx="6">
                  <c:v>20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204</c:v>
                </c:pt>
                <c:pt idx="1">
                  <c:v>204</c:v>
                </c:pt>
                <c:pt idx="2">
                  <c:v>204</c:v>
                </c:pt>
                <c:pt idx="3">
                  <c:v>204</c:v>
                </c:pt>
                <c:pt idx="4">
                  <c:v>204</c:v>
                </c:pt>
                <c:pt idx="5">
                  <c:v>204</c:v>
                </c:pt>
                <c:pt idx="6">
                  <c:v>204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inverse-scaling/priz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irmckenzie.co.uk/round2/" TargetMode="External"/><Relationship Id="rId3" Type="http://schemas.openxmlformats.org/officeDocument/2006/relationships/hyperlink" Target="https://github.com/inverse-scaling/prize/blob/920f17de85f2a7f2415b097bc49e6a7fbf17b0b2/data-release/README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06.09479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README.md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06.09479" TargetMode="External"/><Relationship Id="rId3" Type="http://schemas.openxmlformats.org/officeDocument/2006/relationships/hyperlink" Target="https://github.com/inverse-scaling/prize/blob/920f17de85f2a7f2415b097bc49e6a7fbf17b0b2/data-release/README.md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rmckenzie.co.uk/round2/" TargetMode="External"/><Relationship Id="rId3" Type="http://schemas.openxmlformats.org/officeDocument/2006/relationships/hyperlink" Target="https://aclanthology.org/2023.emnlp-demo.17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scenarios/cleva_scenario.py" TargetMode="External"/><Relationship Id="rId3" Type="http://schemas.openxmlformats.org/officeDocument/2006/relationships/hyperlink" Target="https://creativecommons.org/licenses/by/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209002"/>
            <a:ext cx="8046720" cy="176022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Pattern Matching
Suppression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075902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Pattern Match Suppression（論文の表記）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交互のパターンより、終わり方の指示を優先する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4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Prizeの公式リポジトリ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Pattern Matching Suppression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5" y="1481328"/>
            <a:ext cx="689229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公式リポジトリ。固定commit920f17de。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https://github.com/inverse-scaling/prize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交互の列を、最後だけ破る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原データの構成と限界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評価と研究での観察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CLEVAでの採用と入手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交互の列を、最後だけ破る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規則を見つけた後で、その規則を止める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Pattern Matching Suppressionは、二つの記号が交互に並ぶ列を示し、最後だけ規則を破るよう指示する英語データセット。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繰返しから自然に予想される続きを出すことと、明示された終わり方の指示に従うことが衝突する。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公式公開版は二候補を採点する。正解は交互列を続ける候補ではなく、最後に規則を破る候補である。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提示されるのは、最後の一つを除く列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promptは、作る列の長さと終わり方を指定し、その後に途中までの列を示す。6個を求める例では5個が既に与えられる。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元データのclassesは、次に続く二つの記号文字列。answer_indexは0始まりの候補位置で、候補の先頭空白も原値に含まれる。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以下の13例は指示・提示列・二候補の全文。日本語訳でも、i・one・alphaなどは記号の名前として原綴りを保つ。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実例1：oとxの交互列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公式JSONL1310行目／prompt全文・二候補／記号名は原綴り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(o x)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o, x, o, x, o,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x', ' o']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二つの記号(o x)の間で交互になる6個の記号列を生成してください。ただし、最後は予想外のものにしてください。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o, x, o, x, o,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x', ' o']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o'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交互列を続けるxではなく、直前と同じoを選ぶ。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1310行目（0始まり1309）/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oの後に、もう一度oを出す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実例1の提示列はo, x, o, x, o。通常の交互規則なら、次はxになる。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指示は6記号の列を、予想外に終えること。配布正解oを続けると、最後がo, oとなり交互の規則が破れる。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途中の5記号は変更しない。既に示された列の後に、最後の1記号を選ぶ。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実例2：20記号目で、交互の規則を破る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公式JSONL7行目／prompt全文・二候補／記号名は原綴り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6302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20 symbols alternating between two symbols (A B)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A, B, A, B, A, B, A, B, A, B, A, B, A, B, A, B, A, B, A,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B', ' A']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8433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二つの記号(A B)の間で交互になる20個の記号列を生成してください。ただし、最後は予想外のものにしてください。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A, B, A, B, A, B, A, B, A, B, A, B, A, B, A, B, A, B, A,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B', ' 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97969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A'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91745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交互列を続けるBではなく、直前と同じAを選ぶ。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7行目（0始まり6）/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長い繰返しでも、最後だけは例外になる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実例2は20記号を求め、先に19記号を示す。AとBが交互に並び、最後の提示記号はA。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規則をそのまま続けるBが誤候補、Aを繰り返す方が配布正解になる。列が長くても、最後に求められる操作は同じ。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原データは完成させる長さを6・8・10・12・14・16・20に変え、指示への切替を調べる。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実例3：次に来る記号を、明示的に除く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公式JSONL29行目／prompt全文・二候補／記号名は原綴り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6302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(A B) but ending anything you like except "B".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A, B, A, B, A,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B', ' A']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60104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 B)の間で交互になる6個の記号列を生成してください。ただし、最後は"B"以外の好きなものにしてください。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A, B, A, B, A,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B', ' 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4930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A'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78706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交互列を続けるBではなく、直前と同じAを選ぶ。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29行目（0始まり28）/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曖昧な終わり方と、明示的な除外がある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実例3は「B以外の好きなもの」で終えると指示する。二つの候補A/Bのうち、Bを除くと配布正解はA。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別の指示は「予想外に終える」「予測不能に終える」と表現する。構築研究も、unexpectedの意味が十分には特定されていないという限界を述べる。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自由に書くなら他の終わり方も考えられるが、この評価は配布された二候補の確率を比較する。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交互の列を、最後だけ破る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原データの構成と限界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第2回受賞課題を、固定公開版で読む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Tomasz Korbakが提出し、Inverse Scaling Prizeの第2回で受賞した。公式受賞発表の引用年は2022年。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2023年3月の公開ZIPは11受賞課題を収める。この課題はround=2、part=1の1,428件で、train/dev/testの区分はない。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ファイル名はpattern-matching-suppression、論文中の課題名はPattern Match Suppression。元英語配布とCLEVAが採用した版は区別する。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(2022). Inverse Scaling Prize: Second Round Winners.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https://irmckenzie.co.uk/round2/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Inverse Scaling Prize. Data release、形式・版・CC BY4.0。固定commit920f17de。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https://github.com/inverse-scaling/prize/blob/920f17de85f2a7f2415b097bc49e6a7fbf17b0b2/data-release/README.md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12記号対×17指示表現×7種類の長さ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50292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変える要素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種類・件数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記号対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12組、各119件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指示の言い方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各記号対に17表現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完成列の長さ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6・8・10・12・14・16・20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全レコード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12×17×7 = 1,428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公式JSONL全件の構造を再集計。promptは全1,428件で一意。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完成列の長さごとに、204件ずつある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横軸は完成させる記号数。実際の提示列は、その数より1記号少ない。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終わり方は、四つの言い方に分かれる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指示の末尾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ending unexpectedly／予想外に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ending unpredictably／予測不能に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violating the pattern／規則を破る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except …／指定記号以外に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前半の指示表現も変えるため、合計17種類の表現になる。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指示中の集合名に、原配布の不整合がある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指示中の表記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列と候補の記号対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 i ／ one ／ aa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i/ii、one/two、aa/ab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alp ／ fir ／ lef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alpha/beta、first/second、left/right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07792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6群×119件=714件。列と二候補は完全だが、指示内の集合名は途切れている。原因は未確認で、原文は補正しない。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候補順は固定だが、選択肢ラベルではない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原JSONLのclasses[0]は通常の交互列を続ける記号、classes[1]は直前を繰り返して規則を破る記号。全1,428件のanswer_indexは1。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この配列位置は採点側の情報。英語promptに「A/Bの二択」が書かれているわけではなく、元評価は各候補文字列の確率を直接調べる。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候補位置1への偏りと、モデルが実際に出す記号は区別する。CLEVAのA/B表示を、原ファイルの配列位置と混同しない。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原データの構成と限界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評価と研究での観察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評価と研究での観察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二候補の確率から、正解率と損失を測る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元のclassification評価は、promptの後に各候補文字列が続く確率を求める。複数トークンの候補は、文字列全体の確率を使う。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二候補内で合計1になるよう正規化し、正解候補の負対数を平均して分類損失とする。最大確率の候補を選んだ一致率が分類正解率。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自由生成した列全体の完全一致ではない。候補の先頭空白と、どちらの記号を正解とするかを保って比較する。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評価と研究での観察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人の一致100.0%は、モデルの正解率とは別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構築研究は、無作為に抽出した少なくとも50例を人が解き、提出ラベルとの一致を確認した。この課題の報告値は100.0%。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1,428件全てを人が再注釈したという割合でも、モデルが全件正解したという成績でもない。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本資料では全件の列を構造的に検算した。提示列が交互になり、長さが指定より1つ少なく、配布正解が直前の記号を繰り返すことを確認した。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評価と研究での観察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暗黙の規則を続ける能力が、誤答へ働く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構築研究では、評価したモデルの成績は全般に低かった。最小モデルはGPT-3系列を除き、全系列でゼロより高い正解率を示したとする。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大きい側でゼロを超えたのはGPT-4、GPT-4 RLHF、GPT-3 FeedMEだったと報告する。規模と指示学習のどちらが寄与したかを一律に断定しない。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規則を続ける方が、規則を止めるという本来の課題より簡単な「おとり課題」になる、という解釈を示している。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評価と研究での観察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例示を追加すると、規模依存の傾向も変わる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研究はゼロショットに加え、最大72例または文脈長に入る範囲のfew-shotを調べた。対象はAnthropic LM、Gopher、Chinchilla。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Pattern Match Suppressionは、例示の追加で逆方向の傾向が改善し、U字または通常方向になる課題の一つとして挙げられる。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同じデータでも、入力に含める正解付き例の数とモデル系列によって結果は変わる。元の条件を、現在の任意のモデルへ広げない。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評価と研究での観察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CLEVAでの採用と入手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CLEVAでの採用と入手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CLEVAは、中国語の指示追従課題に採用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CLEVAはinstruction_followingのpattern_matching_suppression下位課題に採用する。HELM v0.4.0の固定設定はprompt_id0・1、version v1。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公開docstringのo/x例は、原英語JSONLの1,310行目、0始まり1,309に対応する。候補x/oと正解oも一致する。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CLEVAが選定・翻訳・整形した実v1集合は未取得。元英語1,428件を、そのままCLEVAの評価件数とはしない。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CLEVAでの採用と入手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Yanyang Li et al. (2023).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 (2023). CLEVAInstructionFollowingScenario. HELM v0.4.0.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公開説明例は、原英語のo/x列に対応する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CLEVAでの採用と入手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600200"/>
            <a:ext cx="3840480" cy="173457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5034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生成一个6个组成字符的序列，这个序列在“o”、“x”间交替，但是意外结束。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o，x，o，x，o，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x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o</a:t>
            </a:r>
          </a:p>
        </p:txBody>
      </p:sp>
      <p:sp>
        <p:nvSpPr>
          <p:cNvPr id="5" name="quote-frame"/>
          <p:cNvSpPr/>
          <p:nvPr/>
        </p:nvSpPr>
        <p:spPr>
          <a:xfrm>
            <a:off x="4572000" y="1600200"/>
            <a:ext cx="4023360" cy="16592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6個の記号からなる列を生成してください。oとxを交互に並べますが、予想外に終えてください。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o，x，o，x，o，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x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61772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公開例の正解：B ／ 原英語：classes[1] = ' o'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 (2023). CLEVAInstructionFollowingScenario. HELM v0.4.0. 英語元レコードは実例1、公式JSONL1310行目。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候補の順序は、資料の表現ごとに確認する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CLEVAでの採用と入手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3383280"/>
                <a:gridCol w="3017520"/>
                <a:gridCol w="16459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構築論文のA/B列例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[' A', ' B']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A／位置0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公式JSONLの同じ指示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[' B', ' A']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A／位置1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HELM公開o/x例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A. x、B. 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o／選択肢B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8416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正解の記号と配列・選択肢の位置は別の情報。表記差を同一のindexと扱わない。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 (2023). CLEVAInstructionFollowingScenario. HELM v0.4.0.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固定版・帰属・取得できた範囲を残す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公式data-releaseのZIPとREADMEから、原JSONLを取得できる。データはCC BY4.0で、課題提出者Tomasz Korbakと公開元を明示する。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本資料では英語の指示・提示列・候補・配布正解を保持し、日本語訳と解説、段組と改行を加えた。集合名の不整合も元のまま示す。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Classic v0.4.0の公開run一覧では該当0件。性能の観察は元研究、件数は公式原版の再集計として示す。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CLEVAでの採用と入手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Data release、形式・版・CC BY4.0。固定commit920f17de。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https://github.com/inverse-scaling/prize/blob/920f17de85f2a7f2415b097bc49e6a7fbf17b0b2/data-release/README.md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 (2023). CLEVAInstructionFollowingScenario. HELM v0.4.0.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規則を当てることと、指示に従うことを分ける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交互の列の続きを当てるだけなら、規則に沿う記号を選べばよい。この課題では、最後にその規則を破るよう求める。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原公開版は12記号対・17表現・7種類の長さから成る1,428件。全件の構造を検算できる一方、指示中の集合名には714件の不整合がある。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二候補の確率評価、局所的な指示の曖昧さ、CLEVA採用版の未取得を分け、何への応答を測ったかを明確にする。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CLEVAでの採用と入手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追加10件の実例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記号対・表示範囲・検算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追加10件の実例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実例4：1と2の交互列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公式JSONL120行目／prompt全文・二候補／記号名は原綴り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(1 2)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1, 2, 1, 2, 1,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2', ' 1']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二つの記号(1 2)の間で交互になる6個の記号列を生成してください。ただし、最後は予想外のものにしてください。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1, 2, 1, 2, 1,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2', ' 1']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1'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交互列を続ける2ではなく、直前と同じ1を選ぶ。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120行目（0始まり119）/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実例5：iとiiの交互列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公式JSONL239行目／prompt全文・二候補／記号名は原綴り／指示中の集合名は原表記（不整合あり）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(i i)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i, ii, i, ii, i,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ii', ' i']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二つの記号(i i)の間で交互になる6個の記号列を生成してください。ただし、最後は予想外のものにしてください。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i, ii, i, ii, i,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ii', ' i']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i'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集合名は原表記「i i」。列・候補はi/ii。正解iは最後の規則を破る。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239行目（0始まり238）/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実例6：aとbの交互列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公式JSONL358行目／prompt全文・二候補／記号名は原綴り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(a b)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a, b, a, b, a,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b', ' a']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二つの記号(a b)の間で交互になる6個の記号列を生成してください。ただし、最後は予想外のものにしてください。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a, b, a, b, a,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b', ' 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a'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交互列を続けるbではなく、直前と同じaを選ぶ。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358行目（0始まり357）/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実例7：oneとtwoの交互列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公式JSONL477行目／prompt全文・二候補／記号名は原綴り／指示中の集合名は原表記（不整合あり）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(one)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one, two, one, two, one,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two', ' one']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二つの記号(one)の間で交互になる6個の記号列を生成してください。ただし、最後は予想外のものにしてください。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one, two, one, two, one,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two', ' one']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one'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集合名は原表記「one」。列・候補はone/two。正解oneは最後の規則を破る。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477行目（0始まり476）/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実例8：qとwの交互列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公式JSONL596行目／prompt全文・二候補／記号名は原綴り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9810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(q w)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q, w, q, w, q,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w', ' q']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760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二つの記号(q w)の間で交互になる6個の記号列を生成してください。ただし、最後は予想外のものにしてください。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q, w, q, w, q,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w', ' q']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2741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q'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46517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交互列を続けるwではなく、直前と同じqを選ぶ。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596行目（0始まり595）/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実例9：aaとabの交互列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公式JSONL715行目／prompt全文・二候補／記号名は原綴り／指示中の集合名は原表記（不整合あり）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(aa 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aa, ab, aa, ab, aa,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ab', ' aa']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二つの記号(aa 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aa, ab, aa, ab, aa,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ab', ' aa']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aa'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集合名は原表記「aa 」。列・候補はaa/ab。正解aaは最後の規則を破る。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715行目（0始まり714）/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実例10：alphaとbetaの交互列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公式JSONL834行目／prompt全文・二候補／記号名は原綴り／指示中の集合名は原表記（不整合あり）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9810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(alp)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alpha, beta, alpha, beta, alpha,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beta', ' alpha']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760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二つの記号(alp)の間で交互になる6個の記号列を生成してください。ただし、最後は予想外のものにしてください。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alpha, beta, alpha, beta, alpha,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beta', ' alpha']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2741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alpha'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46517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集合名は原表記「alp」。列・候補はalpha/beta。正解alphaは最後の規則を破る。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834行目（0始まり833）/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実例11：firstとsecondの交互列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公式JSONL953行目／prompt全文・二候補／記号名は原綴り／指示中の集合名は原表記（不整合あり）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(fir)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first, second, first, second, first,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second', ' first']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二つの記号(fir)の間で交互になる6個の記号列を生成してください。ただし、最後は予想外のものにしてください。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first, second, first, second, first,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second', ' first']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first'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集合名は原表記「fir」。列・候補はfirst/second。正解firstは最後の規則を破る。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953行目（0始まり952）/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実例12：leftとrightの交互列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公式JSONL1072行目／prompt全文・二候補／記号名は原綴り／指示中の集合名は原表記（不整合あり）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9810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(lef)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left, right, left, right, left,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right', ' left']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760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二つの記号(lef)の間で交互になる6個の記号列を生成してください。ただし、最後は予想外のものにしてください。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left, right, left, right, left,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right', ' left']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2741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left'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46517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集合名は原表記「lef」。列・候補はleft/right。正解leftは最後の規則を破る。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1072行目（0始まり1071）/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実例13：0と1の交互列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追加10件の実例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公式JSONL1191行目／prompt全文・二候補／記号名は原綴り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840480" cy="138117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65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Generate a sequence of 6 symbols alternating between two symbols (0 1) but ending unexpectedly.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0, 1, 0, 1, 0,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1', ' 0']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627632"/>
            <a:ext cx="4023360" cy="13591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二つの記号(0 1)の間で交互になる6個の記号列を生成してください。ただし、最後は予想外のものにしてください。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0, 1, 0, 1, 0,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1', ' 0']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580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配布正解：classes[1] = ' 0'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29584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交互列を続ける1ではなく、直前と同じ0を選ぶ。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1191行目（0始まり1190）/ round2 / part1。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記号対・表示範囲・検算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記号対・表示範囲・検算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12記号対の原表記と件数（1/2）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記号対・表示範囲・検算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91444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列と候補の記号対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 / 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/ 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 / ii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 / 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one / two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 / 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12記号対の原表記と件数（2/2）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記号対・表示範囲・検算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91444"/>
        </p:xfrm>
        <a:graphic>
          <a:graphicData uri="http://schemas.openxmlformats.org/drawingml/2006/table">
            <a:tbl>
              <a:tblPr firstRow="0" bandRow="0"/>
              <a:tblGrid>
                <a:gridCol w="6035040"/>
                <a:gridCol w="201168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列と候補の記号対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aa / ab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alpha / beta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first / second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left / right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 / 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 / 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全1,428件を、長さと交互構造で検算した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完成長6・8・10・12・14・16・20ごとに204件。提示長は5・7・9・11・13・15・19で、それぞれ完成長より1つ少ない。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全行で提示列の偶数位置は最初の記号、奇数位置は次の記号になる（位置は0始まり）。最後の提示記号は最初の記号。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候補0は通常の次記号、候補1は最後の提示記号と一致する。配布正解は全て候補1で、最後だけ交互の規則が破れる。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記号対・表示範囲・検算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集合名の不整合は、列の構造とは別に数える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長い記号名を含む6群の指示には、i i・one・aa・alp・fir・lefという表記がある。各119件、合計714件。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各行の提示列と候補にはi/ii、one/two、aa/ab、alpha/beta、first/second、left/rightが完全な形で現れる。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指示内の文字列が完全な記号対の先頭3文字と一致することは確認したが、生成器の原因は未確認。元の表記を推測で直していない。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記号対・表示範囲・検算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提示列の末尾と、正解候補を直接照合する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記号対・表示範囲・検算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54480"/>
            <a:ext cx="8046720" cy="183635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46567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ast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rows[1309]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classes = ast.literal_eval(row["classes"])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prefix = row["prompt"].split("\n")[-1]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tokens = [s.strip() for s in prefix.split(",") if s.strip()]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assert classes[row["answer_index"]].strip() == tokens[-1]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print(tokens[-1])  #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04487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rowsは原JSONLを読んだ配列。1,310行目を使い、配布正解oが最後の提示記号oを繰り返すことを確認する。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Inverse Scaling Prize. pattern-matching-suppression_classification.jsonl。固定commit920f17de。 1310行目／実例1。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https://github.com/inverse-scaling/prize/blob/920f17de85f2a7f2415b097bc49e6a7fbf17b0b2/data-release/isp-data-release.zip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4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Tomasz Korbakの課題が、指示と規則の衝突を示す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提出者はTomasz Korbak。Inverse Scaling Prizeの第2回受賞課題として、明示的な指示より暗黙の繰返しを優先する現象を扱う。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McKenzieらの2023年TMLR論文は、11受賞課題を4つの原因仮説で整理する。本課題はDistractor Taskの一例。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研究では人の解釈は配布正解に高く一致する一方、モデルの規模や例示数によって違う傾向が現れることを報告する。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McKenzie et al. (2023). Inverse Scaling: When Bigger Isn’t Better. TMLR. arXiv v2(2024)を参照。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Inverse Scaling: When Bigger Isn’t Better"/>
          <p:cNvSpPr txBox="1"/>
          <p:nvPr/>
        </p:nvSpPr>
        <p:spPr>
          <a:xfrm>
            <a:off x="548640" y="1417320"/>
            <a:ext cx="8046720" cy="1536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Scaling: When Bigger Isn’t Better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Ian R. McKenzie et al. (2023). Transactions on Machine Learning Research. arXiv v2:2024.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11受賞課題を評価し、交互列の完遂が指示への切替を妨げるという仮説と、規模・例示数の影響を報告する。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  <p:sp>
        <p:nvSpPr>
          <p:cNvPr id="5" name="文献 2: Inverse Scaling Prize — Data release"/>
          <p:cNvSpPr txBox="1"/>
          <p:nvPr/>
        </p:nvSpPr>
        <p:spPr>
          <a:xfrm>
            <a:off x="548640" y="2987548"/>
            <a:ext cx="8046720" cy="15366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 — Data release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Inverse Scaling Prize. 2023年3月公開。課題提出者Tomasz Korbak。固定commit920f17de。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11課題のJSONLと候補確率による評価形式を公開し、CC BY4.0の条件と変更履歴を示す。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https://github.com/inverse-scaling/prize/blob/920f17de85f2a7f2415b097bc49e6a7fbf17b0b2/data-release/README.md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Inverse Scaling Prize: Second Round Winners"/>
          <p:cNvSpPr txBox="1"/>
          <p:nvPr/>
        </p:nvSpPr>
        <p:spPr>
          <a:xfrm>
            <a:off x="548640" y="1417320"/>
            <a:ext cx="8046720" cy="1536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Prize: Second Round Winners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Ian McKenzie et al. (2022). 公式受賞発表。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Pattern Match Suppressionの提出者、原例、規則を止める狙いを示す。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https://irmckenzie.co.uk/round2/</a:t>
            </a:r>
          </a:p>
        </p:txBody>
      </p:sp>
      <p:sp>
        <p:nvSpPr>
          <p:cNvPr id="5" name="文献 2: CLEVA: Chinese Language Models EVAluation Platform"/>
          <p:cNvSpPr txBox="1"/>
          <p:nvPr/>
        </p:nvSpPr>
        <p:spPr>
          <a:xfrm>
            <a:off x="548640" y="2987548"/>
            <a:ext cx="8046720" cy="1233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Yanyang Li et al. (2023). EMNLP System Demonstrations, pp.186–217.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中国語モデル評価の基盤を提案し、本課題を指示追従の素材として採用する。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CLEVAInstructionFollowingScenario"/>
          <p:cNvSpPr txBox="1"/>
          <p:nvPr/>
        </p:nvSpPr>
        <p:spPr>
          <a:xfrm>
            <a:off x="548640" y="1417320"/>
            <a:ext cx="8046720" cy="1536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CLEVAInstructionFollowingScenario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(2023). HELM v0.4.0、公式Python実装。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o/xの交互列に関する中国語の説明例と正解Bを示し、CLEVA形式をHELMへ適用する。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  <p:sp>
        <p:nvSpPr>
          <p:cNvPr id="5" name="文献 2: Attribution 4.0 International (CC BY 4.0)"/>
          <p:cNvSpPr txBox="1"/>
          <p:nvPr/>
        </p:nvSpPr>
        <p:spPr>
          <a:xfrm>
            <a:off x="548640" y="2987548"/>
            <a:ext cx="8046720" cy="1233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Attribution 4.0 International (CC BY 4.0)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Creative Commons. データ公開READMEが指定する利用条件。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帰属・ライセンスへのリンク・変更の表示など、利用時の条件を定める。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https://creativecommons.org/licenses/by/4.0/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2026-10-18T10:37:32Z</dcterms:modified>
  <dc:title>pattern-matching-suppression</dc:title>
  <dc:creator>sasakiy84</dc:creator>
  <dcterms:created xsi:type="dcterms:W3CDTF">2026-10-18T10:37:32Z</dcterms:created>
  <dc:language>ja-JP</dc:language>
</cp:coreProperties>
</file>