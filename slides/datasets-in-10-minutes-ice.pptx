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302" r:id="rId52"/>
    <p:sldId id="303" r:id="rId53"/>
    <p:sldId id="304" r:id="rId5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ce-corpora.uzh.ch/en.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ice_scenario.py"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manuals.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manuals.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3.0/src/helm/benchmark/scenarios/ice_scenario.p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design.html" TargetMode="External"/><Relationship Id="rId3" Type="http://schemas.openxmlformats.org/officeDocument/2006/relationships/hyperlink" Target="https://www.ice-corpora.uzh.ch/en/acce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ice-corpora.uzh.ch/en/design.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design.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annotate.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design.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access.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design.html" TargetMode="External"/><Relationship Id="rId3" Type="http://schemas.openxmlformats.org/officeDocument/2006/relationships/hyperlink" Target="https://www.ice-corpora.uzh.ch/en/access.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ice-corpora.uzh.ch/en/design.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ice-corpora.uzh.ch/en/design.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ice-corpora.uzh.ch/en/design.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ice-corpora.uzh.ch/en.html" TargetMode="External"/><Relationship Id="rId3" Type="http://schemas.openxmlformats.org/officeDocument/2006/relationships/hyperlink" Target="https://www.ice-corpora.uzh.ch/en/manuals.html"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ice-corpora.uzh.ch/en/manuals.html" TargetMode="External"/><Relationship Id="rId3" Type="http://schemas.openxmlformats.org/officeDocument/2006/relationships/hyperlink" Target="https://www.ice-corpora.uzh.ch/en/access.htm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3.0/src/helm/benchmark/scenarios/ice_scenario.py" TargetMode="External"/><Relationship Id="rId3" Type="http://schemas.openxmlformats.org/officeDocument/2006/relationships/hyperlink" Target="https://crfm.stanford.edu/helm/classic/v0.4.0/#/runs/ice:subset=ind,model=together_opt-175b"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1055370"/>
          </a:xfrm>
        </p:spPr>
        <p:txBody>
          <a:bodyPr wrap="square" lIns="0" rIns="0" tIns="0" bIns="15240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ICE</a:t>
            </a:r>
          </a:p>
        </p:txBody>
      </p:sp>
      <p:sp>
        <p:nvSpPr>
          <p:cNvPr id="3" name="Subtitle 2"/>
          <p:cNvSpPr>
            <a:spLocks noGrp="1"/>
          </p:cNvSpPr>
          <p:nvPr>
            <p:ph type="subTitle" idx="1"/>
          </p:nvPr>
        </p:nvSpPr>
        <p:spPr>
          <a:xfrm>
            <a:off x="548640" y="2647277"/>
            <a:ext cx="8046720" cy="1142365"/>
          </a:xfrm>
        </p:spPr>
        <p:txBody>
          <a:bodyPr lIns="0" rIns="0" tIns="0" bIns="1524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International Corpus of English</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共通の設計で世界の英語を比較する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International Corpus of English</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University of Zurich.</a:t>
            </a:r>
          </a:p>
          <a:p>
            <a:pPr>
              <a:spcBef>
                <a:spcPts val="0"/>
              </a:spcBef>
              <a:spcAft>
                <a:spcPts val="0"/>
              </a:spcAft>
            </a:pPr>
            <a:r>
              <a:rPr sz="830">
                <a:latin typeface="Noto Sans CJK JP"/>
                <a:hlinkClick r:id="rId3"/>
              </a:rPr>
              <a:t>https://www.ice-corpora.uzh.ch/en.html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世界の英語と実際のテキスト</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共通設計と収集・注釈</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入手方法と活用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737616"/>
          </a:xfrm>
        </p:spPr>
        <p:txBody>
          <a:bodyPr wrap="square" lIns="0" rIns="0" tIns="0" bIns="1524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世界の英語と実際のテキスト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英語の地域差を比べるためのコーパス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ICEは、各国・地域の英語を同じ構成で集め、語法や文法などを比較するためのコーパス群。1990年に始まった。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標準設計は1地域につき約100万語。会話、講演、ニュース、手紙、学術文などを含む。</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実際に使われた話し言葉・書き言葉のテキストを読み、語句の用例や発話のやり取り、文章の構成を調べられる。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University of Zurich.</a:t>
            </a:r>
          </a:p>
          <a:p>
            <a:pPr>
              <a:spcBef>
                <a:spcPts val="0"/>
              </a:spcBef>
              <a:spcAft>
                <a:spcPts val="0"/>
              </a:spcAft>
            </a:pPr>
            <a:r>
              <a:rPr sz="830">
                <a:latin typeface="Noto Sans CJK JP"/>
                <a:hlinkClick r:id="rId2"/>
              </a:rPr>
              <a:t>https://www.ice-corpora.uzh.ch/en.html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公開された短い引用から、英語の違いを読む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本資料では、公開されているインドの英語12件と米国の書き言葉1件を短く引用し、話し言葉と書き言葉の特徴を読む。</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インドの引用には会話、講演、ニュース、論考などが含まれる。米国の引用は、硬貨収集の案内文である。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世界の英語を比べるための全体の構成は、地域ごとの収集計画と、共通のジャンル設計から確かめられる。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HELM ICEScenario.</a:t>
            </a:r>
          </a:p>
          <a:p>
            <a:pPr>
              <a:spcBef>
                <a:spcPts val="0"/>
              </a:spcBef>
              <a:spcAft>
                <a:spcPts val="0"/>
              </a:spcAft>
            </a:pPr>
            <a:r>
              <a:rPr sz="830">
                <a:latin typeface="Noto Sans CJK JP"/>
                <a:hlinkClick r:id="rId2"/>
              </a:rPr>
              <a:t>https://github.com/stanford-crfm/helm/blob/v0.3.0/src/helm/benchmark/scenarios/ice_scenario.py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実例1：学校設立の背景を語る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17598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3"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I will take, exactly ten minutes of yours, to brief you &lt;,,&gt; about our institution, Many people may not know, the background, under which this institution was born,</a:t>
            </a:r>
          </a:p>
        </p:txBody>
      </p:sp>
      <p:sp>
        <p:nvSpPr>
          <p:cNvPr id="7" name="quote-frame"/>
          <p:cNvSpPr/>
          <p:nvPr/>
        </p:nvSpPr>
        <p:spPr>
          <a:xfrm>
            <a:off x="4663440" y="1719072"/>
            <a:ext cx="3931920" cy="201392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3"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皆さんの時間をちょうど10分いただき、&lt;,,&gt; 私たちの学校についてご説明します。</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この学校がどのような経緯で生まれたのか、ご存じない方も多いでしょう。</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Classic: ICE India / OPT-175B.</a:t>
            </a:r>
          </a:p>
          <a:p>
            <a:pPr>
              <a:spcBef>
                <a:spcPts val="0"/>
              </a:spcBef>
              <a:spcAft>
                <a:spcPts val="0"/>
              </a:spcAft>
            </a:pPr>
            <a:r>
              <a:rPr sz="830">
                <a:latin typeface="Noto Sans CJK JP"/>
                <a:hlinkClick r:id="rId2"/>
              </a:rPr>
              <a:t>https://crfm.stanford.edu/helm/classic/v0.4.0/#/runs/ice:subset=ind,model=together_opt-175b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書き起こしには話し方の痕跡が残る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「&lt;$A&gt;」は話者を表す。「&lt;,,&gt;」は長い休止を表す転記記号。言いよどみや反復もテキストの一部になる。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学校の成り立ちを説明するまとまった発話で、会話のやり取りとは異なる文章の展開が現れる。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Nelson (2002), Markup Manuals for Spoken and Written Texts. ICE.</a:t>
            </a:r>
          </a:p>
          <a:p>
            <a:pPr>
              <a:spcBef>
                <a:spcPts val="0"/>
              </a:spcBef>
              <a:spcAft>
                <a:spcPts val="0"/>
              </a:spcAft>
            </a:pPr>
            <a:r>
              <a:rPr sz="830">
                <a:latin typeface="Noto Sans CJK JP"/>
                <a:hlinkClick r:id="rId2"/>
              </a:rPr>
              <a:t>https://www.ice-corpora.uzh.ch/en/manuals.html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実例2：出身地を尋ねる会話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151272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3"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Uhm, Mr Yadav, you told something about your native place na , &lt;$B&gt; Yeah &lt;$A&gt; Which is your native place, &lt;$B&gt; Native Place is uh, U P, Azamgarh,</a:t>
            </a:r>
          </a:p>
        </p:txBody>
      </p:sp>
      <p:sp>
        <p:nvSpPr>
          <p:cNvPr id="7" name="quote-frame"/>
          <p:cNvSpPr/>
          <p:nvPr/>
        </p:nvSpPr>
        <p:spPr>
          <a:xfrm>
            <a:off x="4663440" y="1719072"/>
            <a:ext cx="3931920" cy="20308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ええと、ヤーダヴさん、出身地のことを少し話していましたね。</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&lt;$B&gt; はい。</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ご出身はどちらですか。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&lt;$B&gt; 出身は、ええと、U Pのアーザムガルです。</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Classic: ICE India / OPT-175B.</a:t>
            </a:r>
          </a:p>
          <a:p>
            <a:pPr>
              <a:spcBef>
                <a:spcPts val="0"/>
              </a:spcBef>
              <a:spcAft>
                <a:spcPts val="0"/>
              </a:spcAft>
            </a:pPr>
            <a:r>
              <a:rPr sz="830">
                <a:latin typeface="Noto Sans CJK JP"/>
                <a:hlinkClick r:id="rId2"/>
              </a:rPr>
              <a:t>https://crfm.stanford.edu/helm/classic/v0.4.0/#/runs/ice:subset=ind,model=together_opt-175b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話者交替や地域の表現も研究対象になる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この会話では、問いと短い応答が交互に続く。「uh」のような言いよどみや「na」のような表現も残る。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U Pはインドのウッタル・プラデーシュ州。Azamgarhはその州の地名である。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語句の使い方を調べるときは、前後の発話や相手の応答も読むと、その表現が会話の中でどう使われたかが分かる。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Nelson (2002). Markup Manual for Spoken Texts. ICE.</a:t>
            </a:r>
          </a:p>
          <a:p>
            <a:pPr>
              <a:spcBef>
                <a:spcPts val="0"/>
              </a:spcBef>
              <a:spcAft>
                <a:spcPts val="0"/>
              </a:spcAft>
            </a:pPr>
            <a:r>
              <a:rPr sz="830">
                <a:latin typeface="Noto Sans CJK JP"/>
                <a:hlinkClick r:id="rId2"/>
              </a:rPr>
              <a:t>https://www.ice-corpora.uzh.ch/en/manuals.html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実例3：米国造幣局の案内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53362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3"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U.S. Mint: United States coins are made at four Mint facilities: Philadelphia, Denver, San Francisco, and West Point, NY. One easy way to start your collection is with the circulating coins you use daily - pennies, nickels, dimes, quarters and dollars.</a:t>
            </a:r>
          </a:p>
        </p:txBody>
      </p:sp>
      <p:sp>
        <p:nvSpPr>
          <p:cNvPr id="7" name="quote-frame"/>
          <p:cNvSpPr/>
          <p:nvPr/>
        </p:nvSpPr>
        <p:spPr>
          <a:xfrm>
            <a:off x="4663440" y="1719072"/>
            <a:ext cx="3931920" cy="28469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米国造幣局</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米国の硬貨は、フィラデルフィア、デンバー、サンフランシスコ、ニューヨーク州ウェストポイントの4施設で作られています。収集を手軽に始める方法の一つは、毎日使う流通硬貨――1セント、5セント、10セント、25セント、1ドル――を集めることです。</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ICEScenario: ICE-USA example.</a:t>
            </a:r>
          </a:p>
          <a:p>
            <a:pPr>
              <a:spcBef>
                <a:spcPts val="0"/>
              </a:spcBef>
              <a:spcAft>
                <a:spcPts val="0"/>
              </a:spcAft>
            </a:pPr>
            <a:r>
              <a:rPr sz="830">
                <a:latin typeface="Noto Sans CJK JP"/>
                <a:hlinkClick r:id="rId2"/>
              </a:rPr>
              <a:t>https://github.com/stanford-crfm/helm/blob/v0.3.0/src/helm/benchmark/scenarios/ice_scenario.py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話し言葉と書き言葉を同じ枠で比較</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米国の例は硬貨収集の案内。文として整えられた書き言葉で、転記された会話とは形が異なる。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標準設計には話し言葉300テキストと書き言葉200テキストがある。米国は、書き言葉部の約40万語が配布されている。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地域を比較するときは、会話同士、学術文同士など、ジャンルをそろえ、対象にする本文の量も確かめる。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5" name="sources"/>
          <p:cNvSpPr txBox="1"/>
          <p:nvPr/>
        </p:nvSpPr>
        <p:spPr>
          <a:xfrm>
            <a:off x="502920" y="4508500"/>
            <a:ext cx="8183879" cy="558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Design of ICE Corpora.</a:t>
            </a:r>
          </a:p>
          <a:p>
            <a:pPr>
              <a:spcBef>
                <a:spcPts val="0"/>
              </a:spcBef>
              <a:spcAft>
                <a:spcPts val="0"/>
              </a:spcAft>
            </a:pPr>
            <a:r>
              <a:rPr sz="830">
                <a:latin typeface="Noto Sans CJK JP"/>
                <a:hlinkClick r:id="rId2"/>
              </a:rPr>
              <a:t>https://www.ice-corpora.uzh.ch/en/design.html</a:t>
            </a:r>
          </a:p>
          <a:p>
            <a:pPr>
              <a:spcBef>
                <a:spcPts val="0"/>
              </a:spcBef>
              <a:spcAft>
                <a:spcPts val="0"/>
              </a:spcAft>
            </a:pPr>
            <a:r>
              <a:rPr sz="830">
                <a:latin typeface="Noto Sans CJK JP"/>
              </a:rPr>
              <a:t>[2] International Corpus of English. Getting Access.</a:t>
            </a:r>
          </a:p>
          <a:p>
            <a:pPr>
              <a:spcBef>
                <a:spcPts val="0"/>
              </a:spcBef>
              <a:spcAft>
                <a:spcPts val="0"/>
              </a:spcAft>
            </a:pPr>
            <a:r>
              <a:rPr sz="830">
                <a:latin typeface="Noto Sans CJK JP"/>
                <a:hlinkClick r:id="rId3"/>
              </a:rPr>
              <a:t>https://www.ice-corpora.uzh.ch/en/access.html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737616"/>
          </a:xfrm>
        </p:spPr>
        <p:txBody>
          <a:bodyPr wrap="square" lIns="0" rIns="0" tIns="0" bIns="1524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共通設計と収集・注釈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共通設計と収集・注釈</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同じ構成で集め、地域間の比較を支える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各チームが自国・地域の英語を収集する。公式サイトでは26の研究チームが参加している。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各地域は約2,000語のテキスト500件で構成する。短い素材を組み合わせて1件にする場合もある。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収録ジャンルと注釈方式を共通化し、地域ごとに集めた英語を同じ枠組みで比較できるようにした。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共通設計と収集・注釈</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University of Zurich.</a:t>
            </a:r>
          </a:p>
          <a:p>
            <a:pPr>
              <a:spcBef>
                <a:spcPts val="0"/>
              </a:spcBef>
              <a:spcAft>
                <a:spcPts val="0"/>
              </a:spcAft>
            </a:pPr>
            <a:r>
              <a:rPr sz="830">
                <a:latin typeface="Noto Sans CJK JP"/>
                <a:hlinkClick r:id="rId2"/>
              </a:rPr>
              <a:t>https://www.ice-corpora.uzh.ch/en.html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標準設計：話し言葉60%、書き言葉40%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共通設計と収集・注釈</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4023360"/>
                <a:gridCol w="2011680"/>
                <a:gridCol w="20116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テキスト数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構成比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対話</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180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独話</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24%</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非刊行の文章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刊行された文章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1地域500テキストの標準構成。1件は約2,000語。</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Design of ICE Corpora.</a:t>
            </a:r>
          </a:p>
          <a:p>
            <a:pPr>
              <a:spcBef>
                <a:spcPts val="0"/>
              </a:spcBef>
              <a:spcAft>
                <a:spcPts val="0"/>
              </a:spcAft>
            </a:pPr>
            <a:r>
              <a:rPr sz="830">
                <a:latin typeface="Noto Sans CJK JP"/>
                <a:hlinkClick r:id="rId2"/>
              </a:rPr>
              <a:t>https://www.ice-corpora.uzh.ch/en/design.html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話者・筆者には共通の採用条件がある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収録対象は1990年以降の英語。話者・筆者は18歳以上で、英語を教育言語とする教育を受けた人を対象にする。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その国で生まれた人、または幼少時に移住し、その国で英語による教育を受けた人を採る。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性別と年齢層には幅があるが、政治・法律・教育などの活動に参加する人の構成は人口全体と同じではない。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共通設計と収集・注釈</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Design of ICE Corpora.</a:t>
            </a:r>
          </a:p>
          <a:p>
            <a:pPr>
              <a:spcBef>
                <a:spcPts val="0"/>
              </a:spcBef>
              <a:spcAft>
                <a:spcPts val="0"/>
              </a:spcAft>
            </a:pPr>
            <a:r>
              <a:rPr sz="830">
                <a:latin typeface="Noto Sans CJK JP"/>
                <a:hlinkClick r:id="rId2"/>
              </a:rPr>
              <a:t>https://www.ice-corpora.uzh.ch/en/design.html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転記・注釈は用途と地域で異なる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話し言葉は正書法で書き起こし、休止、重なり、言い直し、話者交替などを記す。書き言葉は段落・見出し・組版などを記す。</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ICE-GBでは品詞タグと構文木を付与し、構文木を専用ソフトICECUPで編集・修正した。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ICE-onlineのPENN・CLAWS品詞タグと依存構造は自動付与で、手作業での修正は行われていない。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共通設計と収集・注釈</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Annotation.</a:t>
            </a:r>
          </a:p>
          <a:p>
            <a:pPr>
              <a:spcBef>
                <a:spcPts val="0"/>
              </a:spcBef>
              <a:spcAft>
                <a:spcPts val="0"/>
              </a:spcAft>
            </a:pPr>
            <a:r>
              <a:rPr sz="830">
                <a:latin typeface="Noto Sans CJK JP"/>
                <a:hlinkClick r:id="rId2"/>
              </a:rPr>
              <a:t>https://www.ice-corpora.uzh.ch/en/annotate.html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同じジャンルの用例を、地域ごとに比べる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まず、調べたい語句や文法形式と、比較する地域・ジャンルを決める。たとえば、会話同士、学術文同士で用例を集める。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頻度を比べるときは、対象にした本文の語数も数える。地域やジャンルで本文量が異なる場合は、一定語数あたりの出現回数にそろえる。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検索で見つけた語句は前後の文脈とともに読み、話者・筆者の属性や転記記号も踏まえて使い方を比べる。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共通設計と収集・注釈</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Design of ICE Corpora.</a:t>
            </a:r>
          </a:p>
          <a:p>
            <a:pPr>
              <a:spcBef>
                <a:spcPts val="0"/>
              </a:spcBef>
              <a:spcAft>
                <a:spcPts val="0"/>
              </a:spcAft>
            </a:pPr>
            <a:r>
              <a:rPr sz="830">
                <a:latin typeface="Noto Sans CJK JP"/>
                <a:hlinkClick r:id="rId2"/>
              </a:rPr>
              <a:t>https://www.ice-corpora.uzh.ch/en/design.html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737616"/>
          </a:xfrm>
        </p:spPr>
        <p:txBody>
          <a:bodyPr wrap="square" lIns="0" rIns="0" tIns="0" bIns="1524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入手方法と活用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入手方法と活用</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地域ごとの編纂が、比較研究を支える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1990年に、世界の英語を共通設計で比較する計画として始まった。各地域の研究チームが自分たちの英語を集め、語彙・文法・談話などの研究に使える資料を整える。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公式サイトは26の研究チームの参加を紹介し、ウガンダやトリニダード・トバゴの完成案内も掲載している。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共通設計を保ちながら地域別の資料を増やすことで、英語の共通点と地域ごとの特徴を調べられる。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入手方法と活用</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University of Zurich.</a:t>
            </a:r>
          </a:p>
          <a:p>
            <a:pPr>
              <a:spcBef>
                <a:spcPts val="0"/>
              </a:spcBef>
              <a:spcAft>
                <a:spcPts val="0"/>
              </a:spcAft>
            </a:pPr>
            <a:r>
              <a:rPr sz="830">
                <a:latin typeface="Noto Sans CJK JP"/>
                <a:hlinkClick r:id="rId2"/>
              </a:rPr>
              <a:t>https://www.ice-corpora.uzh.ch/en.html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地域ごとの配布窓口で、利用を申請する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Zurichから配布されるコーパスは、非商用の学術研究向け。申請書を送り、教育機関のメールアドレスで資格を示す。Great Britainなどは各編纂機関が配布する。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取得したコーパスの再配布は認められておらず、著作権は元の権利者に残る。出版物での短い引用も、著作権法で認められる範囲に従う。</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ICE-onlineは現在、コーパス編纂者向けの検索環境と案内されている。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入手方法と活用</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Getting Access.</a:t>
            </a:r>
          </a:p>
          <a:p>
            <a:pPr>
              <a:spcBef>
                <a:spcPts val="0"/>
              </a:spcBef>
              <a:spcAft>
                <a:spcPts val="0"/>
              </a:spcAft>
            </a:pPr>
            <a:r>
              <a:rPr sz="830">
                <a:latin typeface="Noto Sans CJK JP"/>
                <a:hlinkClick r:id="rId2"/>
              </a:rPr>
              <a:t>https://www.ice-corpora.uzh.ch/en/access.html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ICEは多様な英語を比較する基盤</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共通のジャンル構成と採用条件により、世界の英語を比較するための基盤を作った。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実際の会話や文章を読み、語彙・文法・談話の特徴を、地域やジャンルごとに調べられる。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利用する地域、話し言葉・書き言葉の構成、注釈の種類を確かめ、各地域の利用条件に従って分析する。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入手方法と活用</a:t>
            </a:r>
          </a:p>
        </p:txBody>
      </p:sp>
      <p:sp>
        <p:nvSpPr>
          <p:cNvPr id="5" name="sources"/>
          <p:cNvSpPr txBox="1"/>
          <p:nvPr/>
        </p:nvSpPr>
        <p:spPr>
          <a:xfrm>
            <a:off x="502920" y="4508500"/>
            <a:ext cx="8183879" cy="558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Design of ICE Corpora.</a:t>
            </a:r>
          </a:p>
          <a:p>
            <a:pPr>
              <a:spcBef>
                <a:spcPts val="0"/>
              </a:spcBef>
              <a:spcAft>
                <a:spcPts val="0"/>
              </a:spcAft>
            </a:pPr>
            <a:r>
              <a:rPr sz="830">
                <a:latin typeface="Noto Sans CJK JP"/>
                <a:hlinkClick r:id="rId2"/>
              </a:rPr>
              <a:t>https://www.ice-corpora.uzh.ch/en/design.html</a:t>
            </a:r>
          </a:p>
          <a:p>
            <a:pPr>
              <a:spcBef>
                <a:spcPts val="0"/>
              </a:spcBef>
              <a:spcAft>
                <a:spcPts val="0"/>
              </a:spcAft>
            </a:pPr>
            <a:r>
              <a:rPr sz="830">
                <a:latin typeface="Noto Sans CJK JP"/>
              </a:rPr>
              <a:t>[2] International Corpus of English. Getting Access.</a:t>
            </a:r>
          </a:p>
          <a:p>
            <a:pPr>
              <a:spcBef>
                <a:spcPts val="0"/>
              </a:spcBef>
              <a:spcAft>
                <a:spcPts val="0"/>
              </a:spcAft>
            </a:pPr>
            <a:r>
              <a:rPr sz="830">
                <a:latin typeface="Noto Sans CJK JP"/>
                <a:hlinkClick r:id="rId3"/>
              </a:rPr>
              <a:t>https://www.ice-corpora.uzh.ch/en/access.html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収録ジャンルの内訳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実例4：インドボダイジュと送粉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51304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866"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COVER STORY POLLINATION : THE FOUNTAINHEAD OF LIFE THE peepal tree, Ficus religiosa , also known as ashwattha , is a sacred tree for most Hindus and is also revered by Buddhists. This tree, found so commonly all over India, is home for a species of wasp - - Blastophaga quadraticeps .</a:t>
            </a:r>
          </a:p>
        </p:txBody>
      </p:sp>
      <p:sp>
        <p:nvSpPr>
          <p:cNvPr id="7" name="quote-frame"/>
          <p:cNvSpPr/>
          <p:nvPr/>
        </p:nvSpPr>
        <p:spPr>
          <a:xfrm>
            <a:off x="4663440" y="1719072"/>
            <a:ext cx="3931920" cy="26950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特集記事</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送粉：生命の源</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インドボダイジュ（Ficus religiosa）はashwatthaとも呼ばれ、多くのヒンドゥー教徒にとって神聖な木で、仏教徒にも尊ばれている。インド各地にごく普通に見られるこの木は、Blastophaga quadraticepsというハチのすみかになっている。</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Classic: ICE India / OPT-175B.</a:t>
            </a:r>
          </a:p>
          <a:p>
            <a:pPr>
              <a:spcBef>
                <a:spcPts val="0"/>
              </a:spcBef>
              <a:spcAft>
                <a:spcPts val="0"/>
              </a:spcAft>
            </a:pPr>
            <a:r>
              <a:rPr sz="830">
                <a:latin typeface="Noto Sans CJK JP"/>
                <a:hlinkClick r:id="rId2"/>
              </a:rPr>
              <a:t>https://crfm.stanford.edu/helm/classic/v0.4.0/#/runs/ice:subset=ind,model=together_opt-175b</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実例5：ニュースの見出し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57595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3"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Good morning The headlines, Several nations are for sending, food and medicines for foreign nationals in Iraq and Kuwait, India urges the U N Secretary General for urgent steps to provide relief to the refugees stranded at the Iraq-Jordan border,</a:t>
            </a:r>
          </a:p>
        </p:txBody>
      </p:sp>
      <p:sp>
        <p:nvSpPr>
          <p:cNvPr id="7" name="quote-frame"/>
          <p:cNvSpPr/>
          <p:nvPr/>
        </p:nvSpPr>
        <p:spPr>
          <a:xfrm>
            <a:off x="4663440" y="1719072"/>
            <a:ext cx="3931920" cy="25663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おはようございます。主なニュースです。</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複数の国が、イラクとクウェートにいる外国人へ食料と医薬品を送ることに賛成しています。</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インドは国連事務総長に、イラクとヨルダンの国境で足止めされている難民を救援するため、緊急の措置を求めています。</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Classic: ICE India / OPT-175B.</a:t>
            </a:r>
          </a:p>
          <a:p>
            <a:pPr>
              <a:spcBef>
                <a:spcPts val="0"/>
              </a:spcBef>
              <a:spcAft>
                <a:spcPts val="0"/>
              </a:spcAft>
            </a:pPr>
            <a:r>
              <a:rPr sz="830">
                <a:latin typeface="Noto Sans CJK JP"/>
                <a:hlinkClick r:id="rId2"/>
              </a:rPr>
              <a:t>https://crfm.stanford.edu/helm/classic/v0.4.0/#/runs/ice:subset=ind,model=together_opt-175b</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実例6：自動車工学の講義</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12405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3"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My name is Madhu Purohit an Automobile Engineer done my, masters in Motor Vehicle Technology from Germany,</a:t>
            </a:r>
          </a:p>
        </p:txBody>
      </p:sp>
      <p:sp>
        <p:nvSpPr>
          <p:cNvPr id="7" name="quote-frame"/>
          <p:cNvSpPr/>
          <p:nvPr/>
        </p:nvSpPr>
        <p:spPr>
          <a:xfrm>
            <a:off x="4663440" y="1719072"/>
            <a:ext cx="3931920" cy="12140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私はマドゥ・プロヒトです。自動車エンジニアで、ドイツで自動車技術の修士号を取りました。</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Classic: ICE India / OPT-175B.</a:t>
            </a:r>
          </a:p>
          <a:p>
            <a:pPr>
              <a:spcBef>
                <a:spcPts val="0"/>
              </a:spcBef>
              <a:spcAft>
                <a:spcPts val="0"/>
              </a:spcAft>
            </a:pPr>
            <a:r>
              <a:rPr sz="830">
                <a:latin typeface="Noto Sans CJK JP"/>
                <a:hlinkClick r:id="rId2"/>
              </a:rPr>
              <a:t>https://crfm.stanford.edu/helm/classic/v0.4.0/#/runs/ice:subset=ind,model=together_opt-175b</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実例7：下院議員の紹介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3210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3"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Good morning, Professor Savitri Laxmanan is a Congress-I member of parliament representing Mukundapuram of Kerala in the Lok Sabha , This is her first term as a member of parliament, Her entry into politics has been fairly recent,</a:t>
            </a:r>
          </a:p>
        </p:txBody>
      </p:sp>
      <p:sp>
        <p:nvSpPr>
          <p:cNvPr id="7" name="quote-frame"/>
          <p:cNvSpPr/>
          <p:nvPr/>
        </p:nvSpPr>
        <p:spPr>
          <a:xfrm>
            <a:off x="4663440" y="1719072"/>
            <a:ext cx="3931920" cy="20308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おはようございます。サヴィトリ・ラクシュマナン教授は、ケーララ州のムクンダプラムを代表する国民会議派の下院議員です。議員を務めるのは今回が初めてで、政界入りしてからまだそれほどたっていません。</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Classic: ICE India / OPT-175B.</a:t>
            </a:r>
          </a:p>
          <a:p>
            <a:pPr>
              <a:spcBef>
                <a:spcPts val="0"/>
              </a:spcBef>
              <a:spcAft>
                <a:spcPts val="0"/>
              </a:spcAft>
            </a:pPr>
            <a:r>
              <a:rPr sz="830">
                <a:latin typeface="Noto Sans CJK JP"/>
                <a:hlinkClick r:id="rId2"/>
              </a:rPr>
              <a:t>https://crfm.stanford.edu/helm/classic/v0.4.0/#/runs/ice:subset=ind,model=together_opt-175b</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実例8：宇宙と破局をめぐる記事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3967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86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SPACEWATCH KILLER STREAKERS FROM THE SKY ? ENVISIONING scenarios of the end of life on our planet is a favourite preoccupation of doomsday prophets. Nuclear war, natural disasters, attack from extra-terrestrial beings - - all these have been the subjects of science fiction stories.</a:t>
            </a:r>
          </a:p>
        </p:txBody>
      </p:sp>
      <p:sp>
        <p:nvSpPr>
          <p:cNvPr id="7" name="quote-frame"/>
          <p:cNvSpPr/>
          <p:nvPr/>
        </p:nvSpPr>
        <p:spPr>
          <a:xfrm>
            <a:off x="4663440" y="1719072"/>
            <a:ext cx="3931920" cy="230302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宇宙ウォッチ</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空から飛来する殺し屋？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地球上の生命が終わる筋書きを思い描くことは、終末を予言する人々が好んで取り組むことだ。核戦争、自然災害、地球外の存在による攻撃――これらはすべてSF作品の題材になってきた。</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Classic: ICE India / OPT-175B.</a:t>
            </a:r>
          </a:p>
          <a:p>
            <a:pPr>
              <a:spcBef>
                <a:spcPts val="0"/>
              </a:spcBef>
              <a:spcAft>
                <a:spcPts val="0"/>
              </a:spcAft>
            </a:pPr>
            <a:r>
              <a:rPr sz="830">
                <a:latin typeface="Noto Sans CJK JP"/>
                <a:hlinkClick r:id="rId2"/>
              </a:rPr>
              <a:t>https://crfm.stanford.edu/helm/classic/v0.4.0/#/runs/ice:subset=ind,model=together_opt-175b</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実例9：税制と経済発展の論考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51761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Taxation Policies as an Aid to Economic Development JAL E. DASTUR * THE least that can be said is that we are today living in interesting times. It would not be untrue, or even an exaggeration, to say that no other period of 12 months in the whole history of our planet has seen such incredible changes as have taken place in the last 12 months. The Berlin Wall has been broken; the two Germanies have been united.</a:t>
            </a:r>
          </a:p>
        </p:txBody>
      </p:sp>
      <p:sp>
        <p:nvSpPr>
          <p:cNvPr id="7" name="quote-frame"/>
          <p:cNvSpPr/>
          <p:nvPr/>
        </p:nvSpPr>
        <p:spPr>
          <a:xfrm>
            <a:off x="4663440" y="1719072"/>
            <a:ext cx="3931920" cy="244645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経済発展を支える税制</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JAL E. DASTUR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控えめに言っても、私たちは今、興味深い時代に生きている。地球の歴史のどの12か月を取っても、直近の12か月ほど信じ難い変化が起きた時期はない、と言っても誤りでも誇張でもないだろう。ベルリンの壁は崩れ、二つのドイツは統一された。</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Classic: ICE India / OPT-175B.</a:t>
            </a:r>
          </a:p>
          <a:p>
            <a:pPr>
              <a:spcBef>
                <a:spcPts val="0"/>
              </a:spcBef>
              <a:spcAft>
                <a:spcPts val="0"/>
              </a:spcAft>
            </a:pPr>
            <a:r>
              <a:rPr sz="830">
                <a:latin typeface="Noto Sans CJK JP"/>
                <a:hlinkClick r:id="rId2"/>
              </a:rPr>
              <a:t>https://crfm.stanford.edu/helm/classic/v0.4.0/#/runs/ice:subset=ind,model=together_opt-175b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実例10：法の支配をめぐる論考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71051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866"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RULE OF LAW AND THE JUDICIAL PROCESS : SOME EMERGING CONCERNS THERE ARE several factors in modern democracies which constantly threaten the civilised and civilising principle of Rule of Law. Lack of legal certainty, decline in the effectiveness of the law and inequality in the legal processes tend to erode the supremacy of the law in varying degrees.</a:t>
            </a:r>
          </a:p>
        </p:txBody>
      </p:sp>
      <p:sp>
        <p:nvSpPr>
          <p:cNvPr id="7" name="quote-frame"/>
          <p:cNvSpPr/>
          <p:nvPr/>
        </p:nvSpPr>
        <p:spPr>
          <a:xfrm>
            <a:off x="4663440" y="1719072"/>
            <a:ext cx="3931920" cy="230302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法の支配と司法過程：新たな懸念</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現代の民主主義には、文明を支え育む「法の支配」の原則を絶えず脅かす要因がいくつもある。法的確実性の不足、法の実効性の低下、法的手続きの不平等が、程度の差はあれ法の優位を損なう傾向にある。</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Classic: ICE India / OPT-175B.</a:t>
            </a:r>
          </a:p>
          <a:p>
            <a:pPr>
              <a:spcBef>
                <a:spcPts val="0"/>
              </a:spcBef>
              <a:spcAft>
                <a:spcPts val="0"/>
              </a:spcAft>
            </a:pPr>
            <a:r>
              <a:rPr sz="830">
                <a:latin typeface="Noto Sans CJK JP"/>
                <a:hlinkClick r:id="rId2"/>
              </a:rPr>
              <a:t>https://crfm.stanford.edu/helm/classic/v0.4.0/#/runs/ice:subset=ind,model=together_opt-175b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実例11：食後の体調を話す会話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2956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3"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Hello Chandrakala, how are you, &lt;$B&gt; Fine, And how are you You seem to be quite lethargic, &lt;$A&gt; Oh it is because, uh one of our friends here, invited me for this, uh lunch you know, Uh I had a puran poli , and perhaps it has its effect,</a:t>
            </a:r>
          </a:p>
        </p:txBody>
      </p:sp>
      <p:sp>
        <p:nvSpPr>
          <p:cNvPr id="7" name="quote-frame"/>
          <p:cNvSpPr/>
          <p:nvPr/>
        </p:nvSpPr>
        <p:spPr>
          <a:xfrm>
            <a:off x="4663440" y="1719072"/>
            <a:ext cx="3931920" cy="22860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3"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こんにちは、チャンドラカラ。お元気ですか。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&lt;$B&gt; 元気です。あなたはどうですか。ずいぶんだるそうですね。</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それは、ええと、ここの友人に昼食へ招かれたからなんです。プラン・ポリを食べたので、そのせいかもしれません。</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Classic: ICE India / OPT-175B.</a:t>
            </a:r>
          </a:p>
          <a:p>
            <a:pPr>
              <a:spcBef>
                <a:spcPts val="0"/>
              </a:spcBef>
              <a:spcAft>
                <a:spcPts val="0"/>
              </a:spcAft>
            </a:pPr>
            <a:r>
              <a:rPr sz="830">
                <a:latin typeface="Noto Sans CJK JP"/>
                <a:hlinkClick r:id="rId2"/>
              </a:rPr>
              <a:t>https://crfm.stanford.edu/helm/classic/v0.4.0/#/runs/ice:subset=ind,model=together_opt-175b</a:t>
            </a:r>
          </a:p>
        </p:txBody>
      </p:sp>
      <p:sp>
        <p:nvSpPr>
          <p:cNvPr id="9" name="TextBox 8"/>
          <p:cNvSpPr txBox="1"/>
          <p:nvPr/>
        </p:nvSpPr>
        <p:spPr>
          <a:xfrm>
            <a:off x="594360" y="4215384"/>
            <a:ext cx="7955279" cy="274320"/>
          </a:xfrm>
          <a:prstGeom prst="rect">
            <a:avLst/>
          </a:prstGeom>
          <a:noFill/>
        </p:spPr>
        <p:txBody>
          <a:bodyPr wrap="square" lIns="0" rIns="0" tIns="0" bIns="0">
            <a:noAutofit/>
          </a:bodyPr>
          <a:lstStyle/>
          <a:p>
            <a:pPr algn="l">
              <a:lnSpc>
                <a:spcPts val="1638"/>
              </a:lnSpc>
              <a:spcBef>
                <a:spcPts val="0"/>
              </a:spcBef>
              <a:spcAft>
                <a:spcPts val="0"/>
              </a:spcAft>
              <a:buNone/>
              <a:defRPr sz="1400" b="0">
                <a:solidFill>
                  <a:srgbClr val="303437"/>
                </a:solidFill>
                <a:latin typeface="Noto Sans"/>
              </a:defRPr>
            </a:pPr>
            <a:r>
              <a:rPr sz="1400" b="0" lang="ja-JP" altLang="en-US">
                <a:solidFill>
                  <a:srgbClr val="626669"/>
                </a:solidFill>
                <a:latin typeface="Noto Sans"/>
                <a:ea typeface="Noto Sans CJK JP"/>
                <a:cs typeface="Noto Sans"/>
              </a:rPr>
              <a:t>プラン・ポリ：甘いあんを包んだ、インドの薄焼きパン。</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実例12：国民所得の講演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59289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3"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Ah uhm, uh thank you very much, uh professor Kohli, spoke, so nice words about me, uh, I don't know how much I deserve them, Uhm, professor Kohli requested me to talk on, " National income uh accounts ", Uhm, my purpose here was, to, make things very simple,</a:t>
            </a:r>
          </a:p>
        </p:txBody>
      </p:sp>
      <p:sp>
        <p:nvSpPr>
          <p:cNvPr id="7" name="quote-frame"/>
          <p:cNvSpPr/>
          <p:nvPr/>
        </p:nvSpPr>
        <p:spPr>
          <a:xfrm>
            <a:off x="4663440" y="1719072"/>
            <a:ext cx="3931920" cy="25663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ああ、ええと、ありがとうございます。コーリ教授に素晴らしいお言葉をいただきました。私がどれほどそのお言葉にふさわしいかは分かりませんが。</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教授から「国民所得勘定」について話すよう頼まれました。私の目的は、ごく分かりやすくお話しすることです。</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Classic: ICE India / OPT-175B.</a:t>
            </a:r>
          </a:p>
          <a:p>
            <a:pPr>
              <a:spcBef>
                <a:spcPts val="0"/>
              </a:spcBef>
              <a:spcAft>
                <a:spcPts val="0"/>
              </a:spcAft>
            </a:pPr>
            <a:r>
              <a:rPr sz="830">
                <a:latin typeface="Noto Sans CJK JP"/>
                <a:hlinkClick r:id="rId2"/>
              </a:rPr>
              <a:t>https://crfm.stanford.edu/helm/classic/v0.4.0/#/runs/ice:subset=ind,model=together_opt-175b</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実例13：財政赤字についての社説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71268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3"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EDITORIAL &lt;*&gt; five blank lines&lt;/*&gt; DISQUIETING FISCAL SCENARIO &lt;*&gt; four blank lines&lt;/*&gt; IN its Report on Currency and Finance for 1989-90, the Reserve Bank of India has forecast a higher deficit in the current year and has called for adjustments to reduce the serious fiscal imbalance in order to foster growth with stability.</a:t>
            </a:r>
          </a:p>
        </p:txBody>
      </p:sp>
      <p:sp>
        <p:nvSpPr>
          <p:cNvPr id="7" name="quote-frame"/>
          <p:cNvSpPr/>
          <p:nvPr/>
        </p:nvSpPr>
        <p:spPr>
          <a:xfrm>
            <a:off x="4663440" y="1719072"/>
            <a:ext cx="3931920" cy="230302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社説 &lt;*&gt; 空行5行&lt;/*&gt;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不穏な財政状況 &lt;*&gt; 空行4行&lt;/*&gt;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インド準備銀行は1989〜90年の通貨・金融報告で、今年度の赤字が拡大すると予測し、安定した成長を促すため、深刻な財政不均衡を是正する措置を求めた。</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Stanford CRFM (2023). HELM Classic: ICE India / OPT-175B.</a:t>
            </a:r>
          </a:p>
          <a:p>
            <a:pPr>
              <a:spcBef>
                <a:spcPts val="0"/>
              </a:spcBef>
              <a:spcAft>
                <a:spcPts val="0"/>
              </a:spcAft>
            </a:pPr>
            <a:r>
              <a:rPr sz="830">
                <a:latin typeface="Noto Sans CJK JP"/>
                <a:hlinkClick r:id="rId2"/>
              </a:rPr>
              <a:t>https://crfm.stanford.edu/helm/classic/v0.4.0/#/runs/ice:subset=ind,model=together_opt-175b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話し言葉：対話180件の構成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収録ジャンルの内訳</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1828800"/>
                <a:gridCol w="4389120"/>
                <a:gridCol w="182880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私的対話</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対面会話／電話</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90／10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公的対話</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授業／放送討論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公的対話</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放送インタビュー／議会討論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10／10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公的対話</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法廷尋問／商取引</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10／10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Design of ICE Corpora.</a:t>
            </a:r>
          </a:p>
          <a:p>
            <a:pPr>
              <a:spcBef>
                <a:spcPts val="0"/>
              </a:spcBef>
              <a:spcAft>
                <a:spcPts val="0"/>
              </a:spcAft>
            </a:pPr>
            <a:r>
              <a:rPr sz="830">
                <a:latin typeface="Noto Sans CJK JP"/>
                <a:hlinkClick r:id="rId2"/>
              </a:rPr>
              <a:t>https://www.ice-corpora.uzh.ch/en/design.html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話し言葉：独話120件の構成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収録ジャンルの内訳</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1828800"/>
                <a:gridCol w="4389120"/>
                <a:gridCol w="182880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台本なし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実況／スピーチ</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20／30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台本なし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実演／法的陳述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10／10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台本あり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放送ニュース／放送講話</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台本あり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放送以外の講話</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Design of ICE Corpora.</a:t>
            </a:r>
          </a:p>
          <a:p>
            <a:pPr>
              <a:spcBef>
                <a:spcPts val="0"/>
              </a:spcBef>
              <a:spcAft>
                <a:spcPts val="0"/>
              </a:spcAft>
            </a:pPr>
            <a:r>
              <a:rPr sz="830">
                <a:latin typeface="Noto Sans CJK JP"/>
                <a:hlinkClick r:id="rId2"/>
              </a:rPr>
              <a:t>https://www.ice-corpora.uzh.ch/en/design.html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書き言葉200件の構成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収録ジャンルの内訳</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5486400"/>
                <a:gridCol w="25603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テキスト数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学生の文章／手紙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20／30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学術文／一般向け解説</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40／40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報道／説明・手引き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20／20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社説／創作</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10／20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940"/>
              </a:lnSpc>
              <a:spcBef>
                <a:spcPts val="0"/>
              </a:spcBef>
              <a:spcAft>
                <a:spcPts val="0"/>
              </a:spcAft>
              <a:buNone/>
              <a:defRPr sz="810" b="0">
                <a:solidFill>
                  <a:srgbClr val="303437"/>
                </a:solidFill>
                <a:latin typeface="Noto Sans"/>
              </a:defRPr>
            </a:pPr>
            <a:r>
              <a:rPr sz="830">
                <a:latin typeface="Noto Sans CJK JP"/>
              </a:rPr>
              <a:t>[1] International Corpus of English. Design of ICE Corpora.</a:t>
            </a:r>
          </a:p>
          <a:p>
            <a:pPr>
              <a:spcBef>
                <a:spcPts val="0"/>
              </a:spcBef>
              <a:spcAft>
                <a:spcPts val="0"/>
              </a:spcAft>
            </a:pPr>
            <a:r>
              <a:rPr sz="830">
                <a:latin typeface="Noto Sans CJK JP"/>
                <a:hlinkClick r:id="rId2"/>
              </a:rPr>
              <a:t>https://www.ice-corpora.uzh.ch/en/design.html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International Corpus of English"/>
          <p:cNvSpPr txBox="1"/>
          <p:nvPr/>
        </p:nvSpPr>
        <p:spPr>
          <a:xfrm>
            <a:off x="548640" y="1463040"/>
            <a:ext cx="8046720" cy="1576213"/>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International Corpus of English</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University of Zurich／ICE teams. (n.d.). 1990年開始。2026-10-18参照。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地域別コーパスの目的、共通設計、参加チームと配布窓口をまとめる。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https://www.ice-corpora.uzh.ch/en.html</a:t>
            </a:r>
          </a:p>
        </p:txBody>
      </p:sp>
      <p:sp>
        <p:nvSpPr>
          <p:cNvPr id="5" name="文献 2: Markup Manual for Spoken Texts"/>
          <p:cNvSpPr txBox="1"/>
          <p:nvPr/>
        </p:nvSpPr>
        <p:spPr>
          <a:xfrm>
            <a:off x="548640" y="3131693"/>
            <a:ext cx="8046720" cy="1643637"/>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Markup Manual for Spoken Texts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Gerald Nelson (2002). International Corpus of English.</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休止、話者交替、重なり、言い直しなどの転記規則と、必須・推奨・任意の注釈を定める。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https://www.ice-corpora.uzh.ch/en/manuals.html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Markup Manual for Written Texts"/>
          <p:cNvSpPr txBox="1"/>
          <p:nvPr/>
        </p:nvSpPr>
        <p:spPr>
          <a:xfrm>
            <a:off x="548640" y="1463040"/>
            <a:ext cx="8046720" cy="1322213"/>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Markup Manual for Written Texts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Gerald Nelson (2002). International Corpus of English.</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見出し、段落、組版、引用、非コーパス部分などの記号化を規定する。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https://www.ice-corpora.uzh.ch/en/manuals.html</a:t>
            </a:r>
          </a:p>
        </p:txBody>
      </p:sp>
      <p:sp>
        <p:nvSpPr>
          <p:cNvPr id="5" name="文献 2: Holistic Evaluation of Language Models"/>
          <p:cNvSpPr txBox="1"/>
          <p:nvPr/>
        </p:nvSpPr>
        <p:spPr>
          <a:xfrm>
            <a:off x="548640" y="3131693"/>
            <a:ext cx="8046720" cy="1643637"/>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Getting Access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University of Zurich / ICE teams (n.d.). 2026-10-18参照。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地域別コーパスの申請窓口、配布される構成要素、非商用学術研究の利用条件を案内する。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https://www.ice-corpora.uzh.ch/en/access.html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ICEScenario"/>
          <p:cNvSpPr txBox="1"/>
          <p:nvPr/>
        </p:nvSpPr>
        <p:spPr>
          <a:xfrm>
            <a:off x="548640" y="1463040"/>
            <a:ext cx="8046720" cy="164368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ICEScenario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Stanford CRFM (2023). HELM v0.3.0, Python implementation.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本資料で引用した、米国の硬貨収集案内文の公開掲載元。</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https://github.com/stanford-crfm/helm/blob/v0.3.0/src/helm/benchmark/scenarios/ice_scenario.py</a:t>
            </a:r>
          </a:p>
        </p:txBody>
      </p:sp>
      <p:sp>
        <p:nvSpPr>
          <p:cNvPr id="5" name="文献 2: HELM Classic: ICE"/>
          <p:cNvSpPr txBox="1"/>
          <p:nvPr/>
        </p:nvSpPr>
        <p:spPr>
          <a:xfrm>
            <a:off x="548640" y="3399536"/>
            <a:ext cx="8046720" cy="1643637"/>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HELM Classic: ICE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Stanford CRFM (2023). Classic v0.4.0.</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本資料で引用した、インドの話し言葉・書き言葉の公開掲載元。</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https://crfm.stanford.edu/helm/classic/v0.4.0/#/runs/ice:subset=ind,model=together_opt-175b</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2026-10-18T06:44:06Z</dcterms:modified>
  <dc:title>ice</dc:title>
  <dc:creator>sasakiy84</dc:creator>
  <dcterms:created xsi:type="dcterms:W3CDTF">2026-10-18T06:44:06Z</dcterms:created>
  <dc:language>ja-JP</dc:language>
</cp:coreProperties>
</file>