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4.xml" ContentType="application/vnd.openxmlformats-officedocument.presentationml.slide+xml"/>
  <Override PartName="/ppt/slides/slide46.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9" r:id="rId49"/>
    <p:sldId id="301" r:id="rId51"/>
    <p:sldId id="304" r:id="rId54"/>
    <p:sldId id="306" r:id="rId56"/>
    <p:sldId id="307" r:id="rId57"/>
    <p:sldId id="309" r:id="rId59"/>
    <p:sldId id="310" r:id="rId60"/>
    <p:sldId id="312" r:id="rId62"/>
    <p:sldId id="313" r:id="rId63"/>
    <p:sldId id="314" r:id="rId6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9" Type="http://schemas.openxmlformats.org/officeDocument/2006/relationships/slide" Target="slides/slide44.xml"/><Relationship Id="rId51" Type="http://schemas.openxmlformats.org/officeDocument/2006/relationships/slide" Target="slides/slide46.xml"/><Relationship Id="rId54" Type="http://schemas.openxmlformats.org/officeDocument/2006/relationships/slide" Target="slides/slide49.xml"/><Relationship Id="rId56" Type="http://schemas.openxmlformats.org/officeDocument/2006/relationships/slide" Target="slides/slide51.xml"/><Relationship Id="rId57" Type="http://schemas.openxmlformats.org/officeDocument/2006/relationships/slide" Target="slides/slide52.xml"/><Relationship Id="rId59" Type="http://schemas.openxmlformats.org/officeDocument/2006/relationships/slide" Target="slides/slide54.xml"/><Relationship Id="rId60" Type="http://schemas.openxmlformats.org/officeDocument/2006/relationships/slide" Target="slides/slide55.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修正適合率（％）</c:v>
                </c:pt>
              </c:strCache>
            </c:strRef>
          </c:tx>
          <c:spPr>
            <a:solidFill>
              <a:srgbClr val="2C9100"/>
            </a:solidFill>
            <a:ln>
              <a:noFill/>
            </a:ln>
          </c:spPr>
          <c:cat>
            <c:strRef>
              <c:f>Sheet1!$A$2:$A$5</c:f>
              <c:strCache>
                <c:ptCount val="4"/>
                <c:pt idx="0">
                  <c:v>1-gram</c:v>
                </c:pt>
                <c:pt idx="1">
                  <c:v>2-gram</c:v>
                </c:pt>
                <c:pt idx="2">
                  <c:v>3-gram</c:v>
                </c:pt>
                <c:pt idx="3">
                  <c:v>4-gram</c:v>
                </c:pt>
              </c:strCache>
            </c:strRef>
          </c:cat>
          <c:val>
            <c:numRef>
              <c:f>Sheet1!$B$2:$B$5</c:f>
              <c:numCache>
                <c:formatCode>General</c:formatCode>
                <c:ptCount val="4"/>
                <c:pt idx="0">
                  <c:v>66.14806672545207</c:v>
                </c:pt>
                <c:pt idx="1">
                  <c:v>43.47478769555973</c:v>
                </c:pt>
                <c:pt idx="2">
                  <c:v>29.809508323848355</c:v>
                </c:pt>
                <c:pt idx="3">
                  <c:v>21.51579590745292</c:v>
                </c:pt>
              </c:numCache>
            </c:numRef>
          </c:val>
        </c:ser>
        <c:dLbls>
          <c:numFmt formatCode="0.00" sourceLinked="0"/>
          <c:txPr>
            <a:bodyPr/>
            <a:lstStyle/>
            <a:p>
              <a:pPr>
                <a:defRPr sz="1200"/>
              </a:pPr>
            </a:p>
          </c:txPr>
          <c:dLblPos val="outEnd"/>
          <c:showLegendKey val="0"/>
          <c:showVal val="1"/>
          <c:showCatName val="0"/>
          <c:showSerName val="0"/>
          <c:showPercent val="0"/>
          <c:showBubbleSize val="0"/>
          <c:showLeaderLines val="1"/>
        </c:dLbls>
        <c:gapWidth val="80"/>
        <c:axId val="2226939960"/>
        <c:axId val="2180972856"/>
      </c:barChart>
      <c:catAx>
        <c:axId val="2226939960"/>
        <c:scaling>
          <c:orientation val="minMax"/>
        </c:scaling>
        <c:delete val="0"/>
        <c:axPos val="b"/>
        <c:majorTickMark val="out"/>
        <c:minorTickMark val="none"/>
        <c:tickLblPos val="nextTo"/>
        <c:txPr>
          <a:bodyPr/>
          <a:lstStyle/>
          <a:p>
            <a:pPr>
              <a:defRPr sz="1400"/>
            </a:pPr>
          </a:p>
        </c:txPr>
        <c:crossAx val="2180972856"/>
        <c:crosses val="autoZero"/>
        <c:auto val="1"/>
        <c:lblAlgn val="ctr"/>
        <c:lblOffset val="100"/>
        <c:noMultiLvlLbl val="0"/>
      </c:catAx>
      <c:valAx>
        <c:axId val="2180972856"/>
        <c:scaling>
          <c:max val="100.0"/>
          <c:min val="0.0"/>
        </c:scaling>
        <c:delete val="0"/>
        <c:axPos val="l"/>
        <c:majorGridlines/>
        <c:majorTickMark val="out"/>
        <c:minorTickMark val="none"/>
        <c:tickLblPos val="nextTo"/>
        <c:txPr>
          <a:bodyPr/>
          <a:lstStyle/>
          <a:p>
            <a:pPr>
              <a:defRPr sz="1100"/>
            </a:pPr>
          </a:p>
        </c:txPr>
        <c:crossAx val="2226939960"/>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www.statmt.org/wmt20/translation-task.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wmt-1.1/" TargetMode="External"/><Relationship Id="rId3" Type="http://schemas.openxmlformats.org/officeDocument/2006/relationships/hyperlink" Target="https://data.statmt.org/wmt20/translation-task/test.tgz"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ata.statmt.org/wmt20/translation-task/test.tgz" TargetMode="External"/><Relationship Id="rId3" Type="http://schemas.openxmlformats.org/officeDocument/2006/relationships/hyperlink" Target="https://aclanthology.org/2023.emnlp-demo.1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ata.statmt.org/wmt20/translation-task/test.tgz"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wmt-1.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wmt-1.1/" TargetMode="External"/><Relationship Id="rId3" Type="http://schemas.openxmlformats.org/officeDocument/2006/relationships/hyperlink" Target="https://www.statmt.org/wmt20/translation-task.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wmt-1.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P02-104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W18-6319/" TargetMode="External"/><Relationship Id="rId3" Type="http://schemas.openxmlformats.org/officeDocument/2006/relationships/hyperlink" Target="https://github.com/mjpost/sacrebleu/tree/v2.5.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data.statmt.org/wmt20/translation-task/test.tgz" TargetMode="External"/><Relationship Id="rId4" Type="http://schemas.openxmlformats.org/officeDocument/2006/relationships/hyperlink" Target="https://github.com/mjpost/sacrebleu/tree/v2.5.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wmt-1.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wmt-1.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statmt.org/wmt20/translation-task.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wmt-1.1/" TargetMode="External"/><Relationship Id="rId3" Type="http://schemas.openxmlformats.org/officeDocument/2006/relationships/hyperlink" Target="https://aclanthology.org/2023.emnlp-demo.17/"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 Id="rId3" Type="http://schemas.openxmlformats.org/officeDocument/2006/relationships/hyperlink" Target="https://github.com/mjpost/sacrebleu/tree/v2.5.1"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ata.statmt.org/wmt20/translation-task/test.tgz" TargetMode="External"/><Relationship Id="rId3" Type="http://schemas.openxmlformats.org/officeDocument/2006/relationships/hyperlink" Target="https://github.com/mjpost/sacrebleu/tree/v2.5.1"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0.wmt-1.1/"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0.wmt-1.1/" TargetMode="External"/><Relationship Id="rId3" Type="http://schemas.openxmlformats.org/officeDocument/2006/relationships/hyperlink" Target="https://www.statmt.org/wmt20/translation-task.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P02-1040/" TargetMode="External"/><Relationship Id="rId3" Type="http://schemas.openxmlformats.org/officeDocument/2006/relationships/hyperlink" Target="https://aclanthology.org/W18-6319/"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WMT2020（英中）</a:t>
            </a:r>
          </a:p>
        </p:txBody>
      </p:sp>
      <p:sp>
        <p:nvSpPr>
          <p:cNvPr id="3" name="Subtitle 2"/>
          <p:cNvSpPr>
            <a:spLocks noGrp="1"/>
          </p:cNvSpPr>
          <p:nvPr>
            <p:ph type="subTitle" idx="1"/>
          </p:nvPr>
        </p:nvSpPr>
        <p:spPr>
          <a:xfrm>
            <a:off x="548640" y="2472652"/>
            <a:ext cx="8046720" cy="14916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News Translation Task</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newstest2020: English to/from Chinese</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ニュースの原文と参照訳で、英中の翻訳を評価する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WMT20ニュース翻訳タスクの公式サイト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WMT2020</a:t>
            </a:r>
          </a:p>
        </p:txBody>
      </p:sp>
      <p:pic>
        <p:nvPicPr>
          <p:cNvPr id="4" name="Picture 3" descr="official-site.png"/>
          <p:cNvPicPr>
            <a:picLocks noChangeAspect="1"/>
          </p:cNvPicPr>
          <p:nvPr/>
        </p:nvPicPr>
        <p:blipFill>
          <a:blip r:embed="rId2"/>
          <a:stretch>
            <a:fillRect/>
          </a:stretch>
        </p:blipFill>
        <p:spPr>
          <a:xfrm>
            <a:off x="1178872" y="1481328"/>
            <a:ext cx="6786254"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Shared Task: Machine Translation of News. Task, data and licensing.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https://www.statmt.org/wmt20/translation-task.html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ニュースを、別の言語へ訳す</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ニュース文書と参照訳の構成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BLEUと、2020年の人手評価</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CLEVAでの採用と利用条件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原文の内容を、もう一つの言語へ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ニュースを、別の言語へ訳す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英語から中国語、中国語から英語へ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WMT2020のニュース翻訳では、入力の内容を別の言語で表す。この資料は、公開テストnewstest2020の英語→中国語と中国語→英語を扱う。</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入力に対応する参照訳が公開されている。参照訳は比較のために人が作った訳文で、同じ内容を表すほかの訳もあり得る。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英語→中国語は英語のニュース、中国語→英語は中国語のニュースを原文にしている。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ニュースを、別の言語へ訳す</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Barrault et al. (2020). Findings of the 2020 Conference on Machine Translation (WMT20). WMT, pp.1–55.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https://aclanthology.org/2020.wmt-1.1/</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WMT20. Official test.tgz: newstest2020 / newstestB2020, English–Chinese.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https://data.statmt.org/wmt20/translation-task/test.tgz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実例1：壁をめぐる非難と、拒否権の意向</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ニュースを、別の言語へ訳す</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英語から中国語へ</a:t>
            </a:r>
          </a:p>
        </p:txBody>
      </p:sp>
      <p:sp>
        <p:nvSpPr>
          <p:cNvPr id="5" name="quote-frame"/>
          <p:cNvSpPr/>
          <p:nvPr/>
        </p:nvSpPr>
        <p:spPr>
          <a:xfrm>
            <a:off x="548640" y="1627632"/>
            <a:ext cx="34747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House rebukes Trump on border wall, but he plans veto</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众议院在边境墙问题上指责特朗普，但他计划使用一票否决权</a:t>
            </a:r>
          </a:p>
        </p:txBody>
      </p:sp>
      <p:sp>
        <p:nvSpPr>
          <p:cNvPr id="6" name="quote-frame"/>
          <p:cNvSpPr/>
          <p:nvPr/>
        </p:nvSpPr>
        <p:spPr>
          <a:xfrm>
            <a:off x="4206240" y="1627632"/>
            <a:ext cx="43891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国境の壁をめぐり下院がトランプ氏を非難するが、同氏は拒否権を行使する意向だ。</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下院は国境の壁の問題でトランプ氏を非難するが、同氏は拒否権を使う予定だ。</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下院の非難と、拒否権行使の意向</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Houseは下院、rebukesは非難を表す。下院の動きに対し、butの後にはトランプ氏の反対の動きが続く。plansは、拒否権を行使する意向を表す。</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この見出しと中国語の参照訳は、CLEVA論文の翻訳例にも掲載されている。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ニュースを、別の言語へ訳す</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 et al. (2023). CLEVA: Chinese Language Models EVAluation Platform. EMNLP System Demonstrations.  </a:t>
            </a:r>
            <a:r>
              <a:rPr sz="810" b="0" lang="ja-JP" altLang="en-US">
                <a:solidFill>
                  <a:srgbClr val="626669"/>
                </a:solidFill>
                <a:latin typeface="Noto Sans"/>
                <a:ea typeface="Noto Sans CJK JP"/>
                <a:cs typeface="Noto Sans"/>
                <a:hlinkClick r:id="rId3"/>
              </a:rPr>
              <a:t>https://aclanthology.org/2023.emnlp-demo.17/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実例2：女性への抑圧に抗した人物を伝える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ニュースを、別の言語へ訳す</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英語から中国語へ</a:t>
            </a:r>
          </a:p>
        </p:txBody>
      </p:sp>
      <p:sp>
        <p:nvSpPr>
          <p:cNvPr id="5" name="quote-frame"/>
          <p:cNvSpPr/>
          <p:nvPr/>
        </p:nvSpPr>
        <p:spPr>
          <a:xfrm>
            <a:off x="548640" y="1627632"/>
            <a:ext cx="3931920" cy="2218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This will help the present generation to know about the man, who had waged a war against women oppression and propagated widow remarriage, he said.</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他说，这将有助于当代人了解这位名人，他发动了一场反对妇女压迫的战争，并鼓励寡妇再婚。</a:t>
            </a:r>
          </a:p>
        </p:txBody>
      </p:sp>
      <p:sp>
        <p:nvSpPr>
          <p:cNvPr id="6" name="quote-frame"/>
          <p:cNvSpPr/>
          <p:nvPr/>
        </p:nvSpPr>
        <p:spPr>
          <a:xfrm>
            <a:off x="4663440" y="1627632"/>
            <a:ext cx="3931920" cy="2218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女性への抑圧と闘い、寡婦の再婚を推進したこの人物について、現代の人々が知る助けになる、と彼は述べた。</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これは、女性への抑圧に反対する闘いを起こし、寡婦の再婚を奨励したこの著名人を、現代の人々が知る助けになる、と彼は述べた。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実例3：固有名詞と、列挙された役職</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ニュースを、別の言語へ訳す</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中国語から英語へ</a:t>
            </a:r>
          </a:p>
        </p:txBody>
      </p:sp>
      <p:sp>
        <p:nvSpPr>
          <p:cNvPr id="5" name="quote-frame"/>
          <p:cNvSpPr/>
          <p:nvPr/>
        </p:nvSpPr>
        <p:spPr>
          <a:xfrm>
            <a:off x="548640" y="1627632"/>
            <a:ext cx="4389120" cy="2616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中国驻柬大使馆外交官仲跻法、柬华理事总会代表、柬埔寨江西商会会长魏思钰等为获奖嘉宾颁奖。</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Zhong Jifa, diplomat of the Chinese Embassy in Cambodia, and Wei Siyu, representative of the Cambodian Chinese Council and President of Jiangxi Chamber of Commerce in Cambodia, presented the awards to the winners.</a:t>
            </a:r>
          </a:p>
        </p:txBody>
      </p:sp>
      <p:sp>
        <p:nvSpPr>
          <p:cNvPr id="6" name="quote-frame"/>
          <p:cNvSpPr/>
          <p:nvPr/>
        </p:nvSpPr>
        <p:spPr>
          <a:xfrm>
            <a:off x="5120640" y="1627632"/>
            <a:ext cx="3474720"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中国駐カンボジア大使館の外交官・仲跻法、カンボジア華人理事総会の代表、カンボジア江西商会会長・魏思钰らが、受賞者に賞を贈った。</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カンボジアの中国大使館の外交官・仲跻法と、カンボジア華人理事総会代表兼カンボジア江西商会会長・魏思钰が、受賞者に賞を贈った。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関係節や役職を読み取り、誰が何をしたかを訳す</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実例2では、長い関係節がthe manを説明する。女性への抑圧と闘ったことと、寡婦の再婚を推進したことが、この人物の活動として述べられている。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実例3では、人名・機関名・役職が列挙され、受賞者へ賞を贈ったという動作につながる。原文と参照訳には、役職をまとめる表現の違いもある。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ニュースを、別の言語へ訳す</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ニュース記事を、評価用の翻訳対へ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ニュース文書と参照訳の構成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WMT2020全体と、英中の公開テスト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WMT20のニュース翻訳は、11言語対・22方向を含む国際共有タスク。この資料は、そのうち英語・中国語の二方向を扱う。</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ニュースサイトから各言語の原文を収集し、評価用の参照訳を作成した。</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参加者向けには、学習用の対訳・単言語コーパスや開発データも配布された。公開テストは、学習後の翻訳品質を比べるために使う。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ニュース文書と参照訳の構成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Barrault et al. (2020). Findings of the 2020 Conference on Machine Translation (WMT20). WMT, pp.1–55.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https://aclanthology.org/2020.wmt-1.1/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英→中1,418区間、中→英2,000区間</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ニュース文書と参照訳の構成</a:t>
            </a:r>
          </a:p>
        </p:txBody>
      </p:sp>
      <p:graphicFrame>
        <p:nvGraphicFramePr>
          <p:cNvPr id="4" name="Table 3"/>
          <p:cNvGraphicFramePr>
            <a:graphicFrameLocks noGrp="1"/>
          </p:cNvGraphicFramePr>
          <p:nvPr/>
        </p:nvGraphicFramePr>
        <p:xfrm>
          <a:off x="548640" y="1508760"/>
          <a:ext cx="8046720" cy="1175385"/>
        </p:xfrm>
        <a:graphic>
          <a:graphicData uri="http://schemas.openxmlformats.org/drawingml/2006/table">
            <a:tbl>
              <a:tblPr firstRow="0" bandRow="0"/>
              <a:tblGrid>
                <a:gridCol w="1371600"/>
                <a:gridCol w="1645920"/>
                <a:gridCol w="1645920"/>
                <a:gridCol w="338328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方向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区間数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文書数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原文の言語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英→中</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1,418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130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英語のみ</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中→英</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155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中国語のみ</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Official test.tgz: newstest2020 / newstestB2020, English–Chinese.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英→中では、一つの区間が複数文を含む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英語→中国語では、翻訳者へ段落の区切りを保った文章を渡し、翻訳時に文を結合・分割する自由度を持たせた。評価の1区間に、複数の文が入る場合もある。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公開ファイルのSGM形式では、文書にdocid、区間にidが付く。この二つを組にして、原文と参照訳を対応付ける。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ニュース文書と参照訳の構成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Barrault et al. (2020). Findings of the 2020 Conference on Machine Translation (WMT20). WMT, pp.1–55.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https://aclanthology.org/2020.wmt-1.1/</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WMT20. Shared Task: Machine Translation of News. Task, data and licensing.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https://www.statmt.org/wmt20/translation-task.html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同じ入力に、異なる参照ファイルがある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ニュース文書と参照訳の構成</a:t>
            </a:r>
          </a:p>
        </p:txBody>
      </p:sp>
      <p:graphicFrame>
        <p:nvGraphicFramePr>
          <p:cNvPr id="4" name="Table 3"/>
          <p:cNvGraphicFramePr>
            <a:graphicFrameLocks noGrp="1"/>
          </p:cNvGraphicFramePr>
          <p:nvPr/>
        </p:nvGraphicFramePr>
        <p:xfrm>
          <a:off x="548640" y="1508760"/>
          <a:ext cx="8046720" cy="1776410"/>
        </p:xfrm>
        <a:graphic>
          <a:graphicData uri="http://schemas.openxmlformats.org/drawingml/2006/table">
            <a:tbl>
              <a:tblPr firstRow="0" bandRow="0"/>
              <a:tblGrid>
                <a:gridCol w="3200400"/>
                <a:gridCol w="2423160"/>
                <a:gridCol w="2423160"/>
              </a:tblGrid>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比較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英→中</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中→英</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通常配布とB配布の入力</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全1,418区間で一致</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全2,000区間で一致</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参照文が異なる区間</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1,416 / 1,418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1,997 / 2,000</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通常配布の名前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newstest2020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newstest2020</a:t>
                      </a:r>
                    </a:p>
                  </a:txBody>
                  <a:tcPr marL="63500" marR="63500" marT="38100" marB="38100" anchor="ctr">
                    <a:lnL w="7620">
                      <a:noFill/>
                    </a:lnL>
                    <a:lnR w="7620">
                      <a:noFill/>
                    </a:lnR>
                    <a:lnT w="7620">
                      <a:noFill/>
                    </a:lnT>
                    <a:lnB w="7620">
                      <a:noFill/>
                    </a:lnB>
                    <a:solidFill>
                      <a:srgbClr val="FFFEF8"/>
                    </a:solidFill>
                  </a:tcPr>
                </a:tc>
              </a:tr>
              <a:tr h="355282">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別参照を持つ名前</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newstestB2020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newstestB2020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76612"/>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実例では、newstest2020の通常参照を示す。</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Official test.tgz: newstest2020 / newstestB2020, English–Chinese.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参照の表現が、語句の一致を変える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ニュース文書と参照訳の構成</a:t>
            </a:r>
          </a:p>
        </p:txBody>
      </p:sp>
      <p:sp>
        <p:nvSpPr>
          <p:cNvPr id="4" name="TextBox 3"/>
          <p:cNvSpPr txBox="1"/>
          <p:nvPr/>
        </p:nvSpPr>
        <p:spPr>
          <a:xfrm>
            <a:off x="594360" y="1353312"/>
            <a:ext cx="7955279" cy="438912"/>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House rebukes Trump on border wall, but he plans veto</a:t>
            </a:r>
          </a:p>
        </p:txBody>
      </p:sp>
      <p:graphicFrame>
        <p:nvGraphicFramePr>
          <p:cNvPr id="5" name="Table 3"/>
          <p:cNvGraphicFramePr>
            <a:graphicFrameLocks noGrp="1"/>
          </p:cNvGraphicFramePr>
          <p:nvPr/>
        </p:nvGraphicFramePr>
        <p:xfrm>
          <a:off x="548640" y="1947672"/>
          <a:ext cx="8046720" cy="1822005"/>
        </p:xfrm>
        <a:graphic>
          <a:graphicData uri="http://schemas.openxmlformats.org/drawingml/2006/table">
            <a:tbl>
              <a:tblPr firstRow="0" bandRow="0"/>
              <a:tblGrid>
                <a:gridCol w="4023360"/>
                <a:gridCol w="4023360"/>
              </a:tblGrid>
              <a:tr h="340677">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公開参照（中国語）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意味の日本語訳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740664">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众议院在边境墙问题上指责特朗普，但他计划使用一票否决权</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下院は国境の壁の問題でトランプ氏を非難するが、同氏は拒否権を使う予定だ。</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740664">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众议院就边境城一事谴责特朗普，而特朗普打算否决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782"/>
                        </a:lnSpc>
                        <a:buNone/>
                        <a:defRPr sz="1550" b="0">
                          <a:solidFill>
                            <a:srgbClr val="303437"/>
                          </a:solidFill>
                          <a:latin typeface="Noto Sans"/>
                        </a:defRPr>
                      </a:pPr>
                      <a:r>
                        <a:rPr sz="1550" b="0" lang="ja-JP" altLang="en-US">
                          <a:solidFill>
                            <a:srgbClr val="303437"/>
                          </a:solidFill>
                          <a:latin typeface="Noto Sans"/>
                          <a:ea typeface="Noto Sans CJK JP"/>
                          <a:cs typeface="Noto Sans"/>
                        </a:rPr>
                        <a:t>下院は国境の都市の件でトランプ氏を非難し、トランプ氏は否決するつもりだ。</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6" name="TextBox 5"/>
          <p:cNvSpPr txBox="1"/>
          <p:nvPr/>
        </p:nvSpPr>
        <p:spPr>
          <a:xfrm>
            <a:off x="594360" y="3977639"/>
            <a:ext cx="7955279" cy="420624"/>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上：newstest2020、下：newstestB2020。B参照には「边境城」（国境の都市）という表記がある。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Official test.tgz: newstest2020 / newstestB2020, English–Chinese.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学習資源の制約も、性能の条件になる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共有タスクには、公式に提供された学習資源の範囲で参加するconstrained条件と、それを超える資源を使う条件がある。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参加システムは、対訳データや単言語データ、逆翻訳、複数モデルの組合せなどを用いた。個別のシステム構成は、各参加論文で説明されている。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ニュース文書と参照訳の構成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Barrault et al. (2020). Findings of the 2020 Conference on Machine Translation (WMT20). WMT, pp.1–55.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https://aclanthology.org/2020.wmt-1.1/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語句の一致と、人による意味の評価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BLEUと、2020年の人手評価</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BLEUは、参照訳と語句が重なる程度を測る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BLEUは、翻訳出力と参照訳のn-gramの重なりを数える。通常は1〜4-gramの修正適合率を幾何平均し、短い出力へ長さのペナルティを掛ける。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修正適合率は、出力中のn-gramのうち参照と一致するものの割合。一致数は参照の出現回数を上限とするため、同じ語を繰り返しても得点は伸びにくい。</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n-gramは、n個のトークンの連続列。各区間の一致数と長さを合計して、コーパス全体のBLEUを求める。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BLEUと、2020年の人手評価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Papineni, Roukos, Ward &amp; Zhu (2002). BLEU: a Method for Automatic Evaluation of Machine Translation. ACL.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https://aclanthology.org/P02-1040/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中国語の文字の区切り方が、BLEUに影響する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中国語の分割方法は、得点に影響する。SacreBLEUのzh分割は、漢字などを1字ずつに分け、非漢字部分にも区切り処理を行う。</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SacreBLEUは、参照や分割方法をそろえてBLEUを計算する評価ツール。</a:t>
            </a:r>
          </a:p>
          <a:p>
            <a:pPr marL="457200" indent="-355600">
              <a:lnSpc>
                <a:spcPts val="2261"/>
              </a:lnSpc>
              <a:spcAft>
                <a:spcPts val="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次の参照訳同士の比較では、このzh分割でBLEUを計算した。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BLEUと、2020年の人手評価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Post (2018). A Call for Clarity in Reporting BLEU Scores. WMT, pp.186–191.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https://aclanthology.org/W18-6319/</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Post et al. SacreBLEU 2.5.1.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https://github.com/mjpost/sacrebleu/tree/v2.5.1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公開参照同士でも、BLEUは36.85になる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BLEUと、2020年の人手評価</a:t>
            </a:r>
          </a:p>
        </p:txBody>
      </p:sp>
      <p:graphicFrame>
        <p:nvGraphicFramePr>
          <p:cNvPr id="4" name="Chart 3"/>
          <p:cNvGraphicFramePr>
            <a:graphicFrameLocks noGrp="1"/>
          </p:cNvGraphicFramePr>
          <p:nvPr/>
        </p:nvGraphicFramePr>
        <p:xfrm>
          <a:off x="685800" y="1508760"/>
          <a:ext cx="777240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347472"/>
          </a:xfrm>
          <a:prstGeom prst="rect">
            <a:avLst/>
          </a:prstGeom>
          <a:noFill/>
        </p:spPr>
        <p:txBody>
          <a:bodyPr wrap="square" lIns="0" rIns="0" tIns="0" bIns="0">
            <a:noAutofit/>
          </a:bodyPr>
          <a:lstStyle/>
          <a:p>
            <a:pPr algn="l">
              <a:lnSpc>
                <a:spcPts val="163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通常配布参照を出力側、B配布参照を参照側に置いた計算例。英→中の全1,418区間。</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Official test.tgz: newstest2020 / newstestB2020, English–Chinese.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https://data.statmt.org/wmt20/translation-task/test.tgz</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Post et al. SacreBLEU 2.5.1.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https://github.com/mjpost/sacrebleu/tree/v2.5.1</a:t>
            </a:r>
          </a:p>
        </p:txBody>
      </p:sp>
      <p:sp>
        <p:nvSpPr>
          <p:cNvPr id="7" name="TextBox 6"/>
          <p:cNvSpPr txBox="1"/>
          <p:nvPr/>
        </p:nvSpPr>
        <p:spPr>
          <a:xfrm>
            <a:off x="685800" y="1298448"/>
            <a:ext cx="7772400" cy="18288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修正適合率（％）</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2020年の人手評価は、意味の伝わり方を採点する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BLEUと、2020年の人手評価</a:t>
            </a:r>
          </a:p>
        </p:txBody>
      </p:sp>
      <p:graphicFrame>
        <p:nvGraphicFramePr>
          <p:cNvPr id="4" name="Table 3"/>
          <p:cNvGraphicFramePr>
            <a:graphicFrameLocks noGrp="1"/>
          </p:cNvGraphicFramePr>
          <p:nvPr/>
        </p:nvGraphicFramePr>
        <p:xfrm>
          <a:off x="548640" y="1508760"/>
          <a:ext cx="8046720" cy="2219322"/>
        </p:xfrm>
        <a:graphic>
          <a:graphicData uri="http://schemas.openxmlformats.org/drawingml/2006/table">
            <a:tbl>
              <a:tblPr firstRow="0" bandRow="0"/>
              <a:tblGrid>
                <a:gridCol w="4114800"/>
                <a:gridCol w="1508760"/>
                <a:gridCol w="242316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評価対象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平均評点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標準化平均（z）</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HUMAN-B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80.6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0.568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HUMAN-A</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0.529</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OPPO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0.447</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Tencent-Translation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79.0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0.420</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Huawei-TSC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77.3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0.415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9524"/>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英→中の人手評点（0〜100）。HUMAN-A/Bは人手訳、3システムは公式の学習資源内で参加。</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Barrault et al. (2020). Findings of the 2020 Conference on Machine Translation (WMT20). WMT, pp.1–55.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https://aclanthology.org/2020.wmt-1.1/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人手評価は、文書の文脈を見て採点する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英語からの翻訳では、原文を理解できる評価者に原文と翻訳を示し、文書の文脈を見ながら意味の伝わり方を評価してもらった。</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採点者ごとの評点を、その人の平均と標準偏差で標準化し、平均z得点を求める。標準化した値で評価対象を並べるため、生の平均評点とは順位が入れ替わることがある。</a:t>
            </a:r>
          </a:p>
          <a:p>
            <a:pPr marL="457200" indent="-355600">
              <a:lnSpc>
                <a:spcPts val="2320"/>
              </a:lnSpc>
              <a:spcAft>
                <a:spcPts val="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公式順位では、統計的に差があるとはいえないシステムを同順位の群にまとめている。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BLEUと、2020年の人手評価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Barrault et al. (2020). Findings of the 2020 Conference on Machine Translation (WMT20). WMT, pp.1–55.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https://aclanthology.org/2020.wmt-1.1/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CLEVAでも、ニュース翻訳を評価する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CLEVAでの採用と利用条件</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CLEVAは、過去のWMTデータで翻訳を評価する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CLEVAは、過去のWMT大会から英中翻訳データを集め、SacreBLEUで評価する。採用した年ごとの問題数は、公表されていない。</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CLEVA論文の下院の見出しと、HELMの二つの翻訳例は、WMT2020通常配布の原文・参照訳と一致する。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CLEVAでの採用と利用条件</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https://aclanthology.org/2023.emnlp-demo.17/</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CLEVATranslationScenario / Converter. HELM v0.4.0.</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研究目的で利用でき、引用と権利の条件がある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公式タスクページは、WMT20のデータを研究目的で自由に使えるとし、概要論文と各集合の追加引用条件を守るよう求める。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それ以外の用途については、元データの権利者へ相談する条件になっている。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CLEVAでの採用と利用条件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Shared Task: Machine Translation of News. Task, data and licensing.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https://www.statmt.org/wmt20/translation-task.html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英中のニュース翻訳を、BLEUと人手で評価する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WMT2020の英中公開テストは、英語→中国語が1,418区間、中国語→英語が2,000区間。ニュースの原文に、人が作った参照訳が付く。</a:t>
            </a:r>
          </a:p>
          <a:p>
            <a:pPr marL="457200" indent="-355600">
              <a:lnSpc>
                <a:spcPts val="2261"/>
              </a:lnSpc>
              <a:spcAft>
                <a:spcPts val="70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BLEUは参照訳との語句の一致を測り、人手評価は文脈の中で意味が伝わるかを調べる。同じ入力にも異なる参照訳があり、語句の選び方がBLEUに影響する。</a:t>
            </a:r>
          </a:p>
          <a:p>
            <a:pPr marL="457200" indent="-355600">
              <a:lnSpc>
                <a:spcPts val="2261"/>
              </a:lnSpc>
              <a:spcAft>
                <a:spcPts val="0"/>
              </a:spcAft>
              <a:buSzPct val="70000"/>
              <a:buFont typeface="Noto Sans CJK JP"/>
              <a:buChar char="●"/>
              <a:defRPr sz="1900" b="0">
                <a:solidFill>
                  <a:srgbClr val="303437"/>
                </a:solidFill>
                <a:latin typeface="Noto Sans"/>
              </a:defRPr>
            </a:pPr>
            <a:r>
              <a:rPr sz="1900" b="0" lang="ja-JP" altLang="en-US">
                <a:solidFill>
                  <a:srgbClr val="303437"/>
                </a:solidFill>
                <a:latin typeface="Noto Sans"/>
                <a:ea typeface="Noto Sans CJK JP"/>
                <a:cs typeface="Noto Sans"/>
              </a:rPr>
              <a:t>後にCLEVAでも、WMTのデータが言語モデルの翻訳評価へ取り込まれた。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CLEVAでの採用と利用条件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Barrault et al. (2020). Findings of the 2020 Conference on Machine Translation (WMT20). WMT, pp.1–55.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https://aclanthology.org/2020.wmt-1.1/</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 et al. (2023). CLEVA: Chinese Language Models EVAluation Platform.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https://aclanthology.org/2023.emnlp-demo.17/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追加の公開翻訳例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データの読み方と評価の具体例</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追加の公開翻訳例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実例4：5日間で500通の手紙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英語から中国語へ</a:t>
            </a:r>
          </a:p>
        </p:txBody>
      </p:sp>
      <p:sp>
        <p:nvSpPr>
          <p:cNvPr id="5" name="quote-frame"/>
          <p:cNvSpPr/>
          <p:nvPr/>
        </p:nvSpPr>
        <p:spPr>
          <a:xfrm>
            <a:off x="548640" y="1627632"/>
            <a:ext cx="3474720" cy="1794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woman in Maine got 500 letters from United Healthcare within five days</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一位缅因州女性五天内收到 500 封来自联合健康保险的信件</a:t>
            </a:r>
          </a:p>
        </p:txBody>
      </p:sp>
      <p:sp>
        <p:nvSpPr>
          <p:cNvPr id="6" name="quote-frame"/>
          <p:cNvSpPr/>
          <p:nvPr/>
        </p:nvSpPr>
        <p:spPr>
          <a:xfrm>
            <a:off x="4206240" y="1627632"/>
            <a:ext cx="43891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メーン州の女性が、ユナイテッドヘルスケアから5日間で500通の手紙を受け取った。</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メーン州のある女性が、5日間でユナイテッドヘルスケアから500通の手紙を受け取った。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実例5：SNSの「いいね」を非表示にする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英語から中国語へ</a:t>
            </a:r>
          </a:p>
        </p:txBody>
      </p:sp>
      <p:sp>
        <p:nvSpPr>
          <p:cNvPr id="5" name="quote-frame"/>
          <p:cNvSpPr/>
          <p:nvPr/>
        </p:nvSpPr>
        <p:spPr>
          <a:xfrm>
            <a:off x="548640" y="1627632"/>
            <a:ext cx="34747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Facebook hides 'likes' in new Australia trial</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脸书在澳大利亚新测试中隐藏点“赞”数</a:t>
            </a:r>
          </a:p>
        </p:txBody>
      </p:sp>
      <p:sp>
        <p:nvSpPr>
          <p:cNvPr id="6" name="quote-frame"/>
          <p:cNvSpPr/>
          <p:nvPr/>
        </p:nvSpPr>
        <p:spPr>
          <a:xfrm>
            <a:off x="4206240" y="1627632"/>
            <a:ext cx="43891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Facebookが、オーストラリアでの新たな試験で「いいね」を非表示にする。</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Facebookが、オーストラリアでの新たな試験で「いいね」の数を非表示にする。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実例6：ハリケーンの強さと場所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英語から中国語へ</a:t>
            </a:r>
          </a:p>
        </p:txBody>
      </p:sp>
      <p:sp>
        <p:nvSpPr>
          <p:cNvPr id="5" name="quote-frame"/>
          <p:cNvSpPr/>
          <p:nvPr/>
        </p:nvSpPr>
        <p:spPr>
          <a:xfrm>
            <a:off x="548640" y="1627632"/>
            <a:ext cx="34747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Lorenzo strengthens into Category 4 hurricane east of Caribbean</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洛伦佐在加勒比海东部增强为 4 级飓风</a:t>
            </a:r>
          </a:p>
        </p:txBody>
      </p:sp>
      <p:sp>
        <p:nvSpPr>
          <p:cNvPr id="6" name="quote-frame"/>
          <p:cNvSpPr/>
          <p:nvPr/>
        </p:nvSpPr>
        <p:spPr>
          <a:xfrm>
            <a:off x="4206240" y="1627632"/>
            <a:ext cx="43891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ロレンゾが、カリブ海の東でカテゴリー4のハリケーンに発達する。</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ロレンゾが、カリブ海の東部でカテゴリー4のハリケーンに勢力を強める。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実例7：AIを共通善のために使う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英語から中国語へ</a:t>
            </a:r>
          </a:p>
        </p:txBody>
      </p:sp>
      <p:sp>
        <p:nvSpPr>
          <p:cNvPr id="5" name="quote-frame"/>
          <p:cNvSpPr/>
          <p:nvPr/>
        </p:nvSpPr>
        <p:spPr>
          <a:xfrm>
            <a:off x="548640" y="1627632"/>
            <a:ext cx="34747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Pope warns tech execs to use AI for the common good</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教皇方济各就技术高管使用人工智能实现公共利益发出警告</a:t>
            </a:r>
          </a:p>
        </p:txBody>
      </p:sp>
      <p:sp>
        <p:nvSpPr>
          <p:cNvPr id="6" name="quote-frame"/>
          <p:cNvSpPr/>
          <p:nvPr/>
        </p:nvSpPr>
        <p:spPr>
          <a:xfrm>
            <a:off x="4206240" y="1627632"/>
            <a:ext cx="4389120" cy="1794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教皇が、共通善のためにAIを使うようテクノロジー企業の幹部に注意を促す。</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教皇フランシスコが、公共の利益のためにAIを使うことについて、テクノロジー企業の幹部に注意を促す。</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実例8：礼節ある政治家を表彰する制度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英語から中国語へ</a:t>
            </a:r>
          </a:p>
        </p:txBody>
      </p:sp>
      <p:sp>
        <p:nvSpPr>
          <p:cNvPr id="5" name="quote-frame"/>
          <p:cNvSpPr/>
          <p:nvPr/>
        </p:nvSpPr>
        <p:spPr>
          <a:xfrm>
            <a:off x="548640" y="1627632"/>
            <a:ext cx="3474720" cy="1794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new awards scheme has been set up to recognise politicians who show courtesy in their work.</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设立新的奖项计划是为了表彰那些礼貌得体的政治人士</a:t>
            </a:r>
          </a:p>
        </p:txBody>
      </p:sp>
      <p:sp>
        <p:nvSpPr>
          <p:cNvPr id="6" name="quote-frame"/>
          <p:cNvSpPr/>
          <p:nvPr/>
        </p:nvSpPr>
        <p:spPr>
          <a:xfrm>
            <a:off x="4206240" y="1627632"/>
            <a:ext cx="43891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仕事で礼節を示す政治家をたたえるため、新たな表彰制度が設けられた。</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新たな表彰計画を設けるのは、礼儀正しく品位のある政治家をたたえるためだ。</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実例9：協定が許す遠心分離機を限定する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中国語から英語へ</a:t>
            </a:r>
          </a:p>
        </p:txBody>
      </p:sp>
      <p:sp>
        <p:nvSpPr>
          <p:cNvPr id="5" name="quote-frame"/>
          <p:cNvSpPr/>
          <p:nvPr/>
        </p:nvSpPr>
        <p:spPr>
          <a:xfrm>
            <a:off x="548640" y="1627632"/>
            <a:ext cx="3474720" cy="1820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协议规定，伊朗只能用第一代IR-1型离心机来提炼铀。</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The agreement stipulates that Iran can only use first-generation IR-1 centrifuges to refine uranium.</a:t>
            </a:r>
          </a:p>
        </p:txBody>
      </p:sp>
      <p:sp>
        <p:nvSpPr>
          <p:cNvPr id="6" name="quote-frame"/>
          <p:cNvSpPr/>
          <p:nvPr/>
        </p:nvSpPr>
        <p:spPr>
          <a:xfrm>
            <a:off x="4206240" y="1627632"/>
            <a:ext cx="43891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協定では、イランがウラン精製に使えるのは第1世代のIR-1型遠心分離機だけと定めている。</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協定は、イランがウラン精製に使えるのは第1世代のIR-1型遠心分離機だけと規定する。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実例10：クルーズ船に初めて乗る参加者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中国語から英語へ</a:t>
            </a:r>
          </a:p>
        </p:txBody>
      </p:sp>
      <p:sp>
        <p:nvSpPr>
          <p:cNvPr id="5" name="quote-frame"/>
          <p:cNvSpPr/>
          <p:nvPr/>
        </p:nvSpPr>
        <p:spPr>
          <a:xfrm>
            <a:off x="548640" y="1627632"/>
            <a:ext cx="3931920" cy="1820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参加此次活动的100余名残障人士大多是第一次登上邮轮。</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Most of the more than 100 disabled people who participated in the event had never boarded a cruise ship before.</a:t>
            </a:r>
          </a:p>
        </p:txBody>
      </p:sp>
      <p:sp>
        <p:nvSpPr>
          <p:cNvPr id="6" name="quote-frame"/>
          <p:cNvSpPr/>
          <p:nvPr/>
        </p:nvSpPr>
        <p:spPr>
          <a:xfrm>
            <a:off x="4663440" y="1627632"/>
            <a:ext cx="3931920" cy="1998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今回の催しに参加した100人余りの障害者の多くは、クルーズ船に乗るのが初めてだった。</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この催しに参加した100人余りの障害者の多くは、それまでクルーズ船に乗ったことがなかった。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実例11：8月の世界販売台数を伝える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中国語から英語へ</a:t>
            </a:r>
          </a:p>
        </p:txBody>
      </p:sp>
      <p:sp>
        <p:nvSpPr>
          <p:cNvPr id="5" name="quote-frame"/>
          <p:cNvSpPr/>
          <p:nvPr/>
        </p:nvSpPr>
        <p:spPr>
          <a:xfrm>
            <a:off x="548640" y="1627632"/>
            <a:ext cx="3474720" cy="1820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马自达9月27日发布的数据显示，8月全球销量为11万7015辆。</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According to data released by Mazda on September 27, global sales in August were 117015 units.</a:t>
            </a:r>
          </a:p>
        </p:txBody>
      </p:sp>
      <p:sp>
        <p:nvSpPr>
          <p:cNvPr id="6" name="quote-frame"/>
          <p:cNvSpPr/>
          <p:nvPr/>
        </p:nvSpPr>
        <p:spPr>
          <a:xfrm>
            <a:off x="4206240" y="1627632"/>
            <a:ext cx="4389120" cy="1591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マツダが9月27日に発表したデータによると、8月の世界販売は11万7015台だった。</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マツダが9月27日に発表したデータによると、8月の世界販売は117,015台だった。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実例12：壁画が描く人物の生涯</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中国語から英語へ</a:t>
            </a:r>
          </a:p>
        </p:txBody>
      </p:sp>
      <p:sp>
        <p:nvSpPr>
          <p:cNvPr id="5" name="quote-frame"/>
          <p:cNvSpPr/>
          <p:nvPr/>
        </p:nvSpPr>
        <p:spPr>
          <a:xfrm>
            <a:off x="548640" y="1627632"/>
            <a:ext cx="3474720" cy="1777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《天后圣迹图》是一幅全面反映妈祖生平的大型传统壁画。</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The Drawing of Miracles of Mazu is a large traditional mural that fully reflects Mazu's life.</a:t>
            </a:r>
          </a:p>
        </p:txBody>
      </p:sp>
      <p:sp>
        <p:nvSpPr>
          <p:cNvPr id="6" name="quote-frame"/>
          <p:cNvSpPr/>
          <p:nvPr/>
        </p:nvSpPr>
        <p:spPr>
          <a:xfrm>
            <a:off x="4206240" y="1627632"/>
            <a:ext cx="43891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『天后聖蹟図』は、媽祖の生涯を全面的に描いた大きな伝統的壁画である。</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『媽祖の奇跡の図』は、媽祖の生涯を全面的に描いた大きな伝統的壁画である。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実例13：空港の供用開始の式典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sp>
        <p:nvSpPr>
          <p:cNvPr id="4" name="TextBox 3"/>
          <p:cNvSpPr txBox="1"/>
          <p:nvPr/>
        </p:nvSpPr>
        <p:spPr>
          <a:xfrm>
            <a:off x="548640" y="1280160"/>
            <a:ext cx="8046720" cy="192024"/>
          </a:xfrm>
          <a:prstGeom prst="rect">
            <a:avLst/>
          </a:prstGeom>
          <a:noFill/>
        </p:spPr>
        <p:txBody>
          <a:bodyPr wrap="square" lIns="0" rIns="0" tIns="0" bIns="0">
            <a:noAutofit/>
          </a:bodyPr>
          <a:lstStyle/>
          <a:p>
            <a:pPr algn="l">
              <a:lnSpc>
                <a:spcPts val="1228"/>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rPr>
              <a:t>中国語から英語へ</a:t>
            </a:r>
          </a:p>
        </p:txBody>
      </p:sp>
      <p:sp>
        <p:nvSpPr>
          <p:cNvPr id="5" name="quote-frame"/>
          <p:cNvSpPr/>
          <p:nvPr/>
        </p:nvSpPr>
        <p:spPr>
          <a:xfrm>
            <a:off x="548640" y="1627632"/>
            <a:ext cx="3931920" cy="1820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入力（中国語）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9月25日，北京大兴国际机场投运仪式隆重举行。</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参照訳（英語）</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On September 25th, a grand opening ceremony was held for the Beijing Daxing International Airport.</a:t>
            </a:r>
          </a:p>
        </p:txBody>
      </p:sp>
      <p:sp>
        <p:nvSpPr>
          <p:cNvPr id="6" name="quote-frame"/>
          <p:cNvSpPr/>
          <p:nvPr/>
        </p:nvSpPr>
        <p:spPr>
          <a:xfrm>
            <a:off x="4663440" y="1627632"/>
            <a:ext cx="3931920" cy="1583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35898" bIns="127000">
            <a:noAutofit/>
          </a:bodyPr>
          <a:lstStyle/>
          <a:p>
            <a:pPr algn="l">
              <a:lnSpc>
                <a:spcPts val="1650"/>
              </a:lnSpc>
              <a:spcBef>
                <a:spcPts val="0"/>
              </a:spcBef>
              <a:spcAft>
                <a:spcPts val="0"/>
              </a:spcAft>
              <a:buNone/>
              <a:defRPr sz="1500" b="0">
                <a:solidFill>
                  <a:srgbClr val="303437"/>
                </a:solidFill>
                <a:latin typeface="Noto Sans"/>
              </a:defRPr>
            </a:pPr>
            <a:r>
              <a:rPr sz="1150" b="0" lang="ja-JP" altLang="en-US">
                <a:solidFill>
                  <a:srgbClr val="626669"/>
                </a:solidFill>
                <a:latin typeface="Noto Sans"/>
                <a:ea typeface="Noto Sans CJK JP"/>
                <a:cs typeface="Noto Sans"/>
              </a:rPr>
              <a:t>入力の日本語訳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9月25日、北京大興国際空港の供用開始の式典が盛大に催された。</a:t>
            </a:r>
          </a:p>
          <a:p>
            <a:pPr algn="l">
              <a:lnSpc>
                <a:spcPts val="2530"/>
              </a:lnSpc>
              <a:spcBef>
                <a:spcPts val="800"/>
              </a:spcBef>
              <a:spcAft>
                <a:spcPts val="0"/>
              </a:spcAft>
              <a:buNone/>
              <a:defRPr sz="1500" b="0">
                <a:solidFill>
                  <a:srgbClr val="303437"/>
                </a:solidFill>
                <a:latin typeface="Noto Sans"/>
              </a:defRPr>
            </a:pPr>
            <a:r>
              <a:rPr sz="2150" b="1" lang="ja-JP" altLang="en-US">
                <a:solidFill>
                  <a:srgbClr val="B13731"/>
                </a:solidFill>
                <a:latin typeface="Noto Sans"/>
                <a:ea typeface="Noto Sans CJK JP"/>
                <a:cs typeface="Noto Sans"/>
              </a:rPr>
              <a:t>参照訳の日本語訳</a:t>
            </a:r>
          </a:p>
          <a:p>
            <a:pPr algn="l">
              <a:lnSpc>
                <a:spcPts val="165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9月25日、北京大興国際空港で盛大な開業式典が催された。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参照訳にも、具体化や語句の違いがある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追加の公開翻訳例</a:t>
            </a:r>
          </a:p>
        </p:txBody>
      </p:sp>
      <p:graphicFrame>
        <p:nvGraphicFramePr>
          <p:cNvPr id="4" name="Table 3"/>
          <p:cNvGraphicFramePr>
            <a:graphicFrameLocks noGrp="1"/>
          </p:cNvGraphicFramePr>
          <p:nvPr/>
        </p:nvGraphicFramePr>
        <p:xfrm>
          <a:off x="548640" y="1508760"/>
          <a:ext cx="8046720" cy="2903220"/>
        </p:xfrm>
        <a:graphic>
          <a:graphicData uri="http://schemas.openxmlformats.org/drawingml/2006/table">
            <a:tbl>
              <a:tblPr firstRow="0" bandRow="0"/>
              <a:tblGrid>
                <a:gridCol w="640080"/>
                <a:gridCol w="7406640"/>
              </a:tblGrid>
              <a:tr h="342900">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対応の手掛かり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48640">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英語のlikesに対し、中国語の参照訳は点赞数と「数」であることを明示する。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48640">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英語のeast of Caribbeanはカリブ海の東。中国語の参照訳は加勒比海东部（カリブ海の東部）と表す。</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英語はPope（教皇）と記し、中国語の参照訳は「教皇フランシスコ」と名前を具体化する。</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英語は表彰制度が設けられたことと、その目的を述べる。中国語の参照訳は目的を中心に表す。</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725"/>
                        </a:lnSpc>
                        <a:buNone/>
                        <a:defRPr sz="1500" b="0">
                          <a:solidFill>
                            <a:srgbClr val="303437"/>
                          </a:solidFill>
                          <a:latin typeface="Noto Sans"/>
                        </a:defRPr>
                      </a:pPr>
                      <a:r>
                        <a:rPr sz="1500" b="0" lang="ja-JP" altLang="en-US">
                          <a:solidFill>
                            <a:srgbClr val="303437"/>
                          </a:solidFill>
                          <a:latin typeface="Noto Sans"/>
                          <a:ea typeface="Noto Sans CJK JP"/>
                          <a:cs typeface="Noto Sans"/>
                        </a:rPr>
                        <a:t>只能とonlyは、使用できる機器を第1世代のIR-1型に限定する。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Official test.tgz: newstest2020 / newstestB2020, English–Chinese.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データの読み方と評価の具体例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データの読み方と評価の具体例</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通常配布とB配布の参照同士を比較する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データの読み方と評価の具体例</a:t>
            </a:r>
          </a:p>
        </p:txBody>
      </p:sp>
      <p:graphicFrame>
        <p:nvGraphicFramePr>
          <p:cNvPr id="4" name="Table 3"/>
          <p:cNvGraphicFramePr>
            <a:graphicFrameLocks noGrp="1"/>
          </p:cNvGraphicFramePr>
          <p:nvPr/>
        </p:nvGraphicFramePr>
        <p:xfrm>
          <a:off x="548640" y="1508760"/>
          <a:ext cx="8046720" cy="1131570"/>
        </p:xfrm>
        <a:graphic>
          <a:graphicData uri="http://schemas.openxmlformats.org/drawingml/2006/table">
            <a:tbl>
              <a:tblPr firstRow="0" bandRow="0"/>
              <a:tblGrid>
                <a:gridCol w="1645920"/>
                <a:gridCol w="1645920"/>
                <a:gridCol w="2011680"/>
                <a:gridCol w="274320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方向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区間数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tokenizer</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BLEU</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英→中</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1,418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zh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36.8525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中→英</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13a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25.1686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731770"/>
            <a:ext cx="7955279" cy="658368"/>
          </a:xfrm>
          <a:prstGeom prst="rect">
            <a:avLst/>
          </a:prstGeom>
          <a:noFill/>
        </p:spPr>
        <p:txBody>
          <a:bodyPr wrap="square" lIns="0" rIns="0" tIns="0" bIns="0">
            <a:noAutofit/>
          </a:bodyPr>
          <a:lstStyle/>
          <a:p>
            <a:pPr algn="l">
              <a:lnSpc>
                <a:spcPts val="1568"/>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通常参照を出力側、B参照を比較の参照側に置いて計算。SacreBLEU 2.5.1、参照1本、大小文字を保持。</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Official test.tgz: newstest2020 / newstestB2020, English–Chinese.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https://data.statmt.org/wmt20/translation-task/test.tgz</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Post et al. SacreBLEU 2.5.1.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https://github.com/mjpost/sacrebleu/tree/v2.5.1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SGMの区間全文を、公開ファイルから読む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データの読み方と評価の具体例</a:t>
            </a:r>
          </a:p>
        </p:txBody>
      </p:sp>
      <p:sp>
        <p:nvSpPr>
          <p:cNvPr id="4" name="code-frame"/>
          <p:cNvSpPr/>
          <p:nvPr/>
        </p:nvSpPr>
        <p:spPr>
          <a:xfrm>
            <a:off x="548640" y="1502283"/>
            <a:ext cx="8046720" cy="19724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88434" bIns="12700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import tarfile</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from lxml import etree</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with tarfile.open("test.tgz") as t:</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raw = t.extractfile(</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        "sgm/newstest2020-enzh-src.en.sgm").read()</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data = etree.HTML(raw)</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seg = data.xpath('//doc[@docid="foxnews.100085"]//seg')[0]</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print("".join(seg.itertext()))</a:t>
            </a:r>
          </a:p>
        </p:txBody>
      </p:sp>
      <p:sp>
        <p:nvSpPr>
          <p:cNvPr id="5" name="TextBox 4"/>
          <p:cNvSpPr txBox="1"/>
          <p:nvPr/>
        </p:nvSpPr>
        <p:spPr>
          <a:xfrm>
            <a:off x="594360" y="3749039"/>
            <a:ext cx="7955279" cy="621792"/>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House rebukes Trump on border wall, but he plans veto</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(2020). newstest2020 — English–Chinese.  </a:t>
            </a:r>
            <a:r>
              <a:rPr sz="810" b="0" lang="ja-JP" altLang="en-US">
                <a:solidFill>
                  <a:srgbClr val="626669"/>
                </a:solidFill>
                <a:latin typeface="Noto Sans"/>
                <a:ea typeface="Noto Sans CJK JP"/>
                <a:cs typeface="Noto Sans"/>
                <a:hlinkClick r:id="rId2"/>
              </a:rPr>
              <a:t>https://data.statmt.org/wmt20/translation-task/test.tgz</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参照全1,418区間のBLEUを計算する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データの読み方と評価の具体例</a:t>
            </a:r>
          </a:p>
        </p:txBody>
      </p:sp>
      <p:sp>
        <p:nvSpPr>
          <p:cNvPr id="4" name="code-frame"/>
          <p:cNvSpPr/>
          <p:nvPr/>
        </p:nvSpPr>
        <p:spPr>
          <a:xfrm>
            <a:off x="548640" y="1490472"/>
            <a:ext cx="8046720" cy="2404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59605" bIns="127000">
            <a:noAutofit/>
          </a:bodyPr>
          <a:lstStyle/>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import re, tarfile, html</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from sacrebleu.metrics import BLEU</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def refs(name):</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with tarfile.open('test.tgz') as t:</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raw = t.extractfile(name).read().decode('utf-8')</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return [html.unescape(s) for s in re.findall(</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r'&lt;seg id="[^"]+"&gt;(.*?)&lt;/seg&gt;', raw)]</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a = refs('sgm/newstest2020-enzh-ref.zh.sgm')</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b = refs('sgm/newstestB2020-enzh-ref.zh.sgm')</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metric = BLEU(tokenize='zh', lowercase=False)</a:t>
            </a:r>
          </a:p>
          <a:p>
            <a:pPr algn="l">
              <a:lnSpc>
                <a:spcPts val="1606"/>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print(metric.corpus_score(a, [b]).score)</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WMT20. Official test.tgz: newstest2020 / newstestB2020, English–Chinese.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https://data.statmt.org/wmt20/translation-task/test.tgz</a:t>
            </a:r>
          </a:p>
          <a:p>
            <a:pPr>
              <a:lnSpc>
                <a:spcPts val="940"/>
              </a:lnSpc>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[2] Post et al. SacreBLEU 2.5.1.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https://github.com/mjpost/sacrebleu/tree/v2.5.1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翻訳方向ごとに、原文や参照を使って人が評価する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英語からの翻訳は、原文を理解できる評価者が原文と訳文を見るsource-based評価。英語への翻訳は、英語の参照訳と照らすreference-based評価が中心となる。</a:t>
            </a:r>
          </a:p>
          <a:p>
            <a:pPr marL="457200" indent="-355600">
              <a:lnSpc>
                <a:spcPts val="2320"/>
              </a:lnSpc>
              <a:spcAft>
                <a:spcPts val="700"/>
              </a:spcAft>
              <a:buSzPct val="68205"/>
              <a:buFont typeface="Noto Sans CJK JP"/>
              <a:buChar char="●"/>
              <a:defRPr sz="1950" b="0">
                <a:solidFill>
                  <a:srgbClr val="303437"/>
                </a:solidFill>
                <a:latin typeface="Noto Sans"/>
              </a:defRPr>
            </a:pPr>
            <a:r>
              <a:rPr sz="1950" b="0" lang="ja-JP" altLang="en-US">
                <a:solidFill>
                  <a:srgbClr val="303437"/>
                </a:solidFill>
                <a:latin typeface="Noto Sans"/>
                <a:ea typeface="Noto Sans CJK JP"/>
                <a:cs typeface="Noto Sans"/>
              </a:rPr>
              <a:t>文書の文脈を示す方法も方向によって異なる。得点は、それぞれの翻訳方向・評価方式の中で比較する。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データの読み方と評価の具体例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30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Barrault et al. (2020). Findings of the 2020 Conference on Machine Translation (WMT20). WMT, pp.1–55.</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https://aclanthology.org/2020.wmt-1.1/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Findings of the 2020 Conference on Machine Translation (WMT20)</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Loïc Barrault et al. · 2020 · WMT, pp.1–55</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ニュース翻訳の収集、参加システム、人手評価、統計的な同順位群を報告する。</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2"/>
              </a:rPr>
              <a:t>https://aclanthology.org/2020.wmt-1.1/</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WMT20: Shared Task — Machine Translation of News</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WMT20 organizers · 2020 · Official task page</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言語対、データ、段落単位の翻訳、研究利用と追加引用の条件を説明する。</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3"/>
              </a:rPr>
              <a:t>https://www.statmt.org/wmt20/translation-task.html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BLEU: a Method for Automatic Evaluation of Machine Translation</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Kishore Papineni, Salim Roukos, Todd Ward, Wei-Jing Zhu · 2002 · ACL</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n-gramの修正適合率と、短い出力へのペナルティによる自動評価を提案する。</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2"/>
              </a:rPr>
              <a:t>https://aclanthology.org/P02-1040/</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A Call for Clarity in Reporting BLEU Scores</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Matt Post · 2018 · WMT Research Papers, pp.186–191</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BLEUの再現性を妨げる処理条件の違いを論じ、条件を明示する評価を扱う。</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3"/>
              </a:rPr>
              <a:t>https://aclanthology.org/W18-6319/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TextBox 3"/>
          <p:cNvSpPr txBox="1"/>
          <p:nvPr/>
        </p:nvSpPr>
        <p:spPr>
          <a:xfrm>
            <a:off x="548640" y="1325880"/>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 Chinese Language Models EVAluation Platform</a:t>
            </a:r>
          </a:p>
        </p:txBody>
      </p:sp>
      <p:sp>
        <p:nvSpPr>
          <p:cNvPr id="5" name="TextBox 4"/>
          <p:cNvSpPr txBox="1"/>
          <p:nvPr/>
        </p:nvSpPr>
        <p:spPr>
          <a:xfrm>
            <a:off x="548640" y="195681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Li et al. · 2023 · EMNLP System Demonstrations</a:t>
            </a:r>
          </a:p>
        </p:txBody>
      </p:sp>
      <p:sp>
        <p:nvSpPr>
          <p:cNvPr id="6" name="TextBox 5"/>
          <p:cNvSpPr txBox="1"/>
          <p:nvPr/>
        </p:nvSpPr>
        <p:spPr>
          <a:xfrm>
            <a:off x="548640" y="2240280"/>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過去のWMTから英中翻訳を採用。公開見出し例とSacreBLEUの使用を記す。</a:t>
            </a:r>
          </a:p>
        </p:txBody>
      </p:sp>
      <p:sp>
        <p:nvSpPr>
          <p:cNvPr id="7" name="TextBox 6"/>
          <p:cNvSpPr txBox="1"/>
          <p:nvPr/>
        </p:nvSpPr>
        <p:spPr>
          <a:xfrm>
            <a:off x="548640" y="275234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2"/>
              </a:rPr>
              <a:t>https://aclanthology.org/2023.emnlp-demo.17/</a:t>
            </a:r>
          </a:p>
        </p:txBody>
      </p:sp>
      <p:sp>
        <p:nvSpPr>
          <p:cNvPr id="8" name="TextBox 7"/>
          <p:cNvSpPr txBox="1"/>
          <p:nvPr/>
        </p:nvSpPr>
        <p:spPr>
          <a:xfrm>
            <a:off x="548640" y="3063239"/>
            <a:ext cx="8046720" cy="594360"/>
          </a:xfrm>
          <a:prstGeom prst="rect">
            <a:avLst/>
          </a:prstGeom>
          <a:noFill/>
        </p:spPr>
        <p:txBody>
          <a:bodyPr wrap="square" lIns="0" rIns="0" tIns="0" bIns="0">
            <a:noAutofit/>
          </a:bodyPr>
          <a:lstStyle/>
          <a:p>
            <a:pPr algn="l">
              <a:lnSpc>
                <a:spcPts val="1920"/>
              </a:lnSpc>
              <a:spcBef>
                <a:spcPts val="0"/>
              </a:spcBef>
              <a:spcAft>
                <a:spcPts val="0"/>
              </a:spcAft>
              <a:buNone/>
              <a:defRPr sz="1700" b="0">
                <a:solidFill>
                  <a:srgbClr val="303437"/>
                </a:solidFill>
                <a:latin typeface="Noto Sans"/>
              </a:defRPr>
            </a:pPr>
            <a:r>
              <a:rPr sz="1700" b="1" lang="ja-JP" altLang="en-US">
                <a:solidFill>
                  <a:srgbClr val="303437"/>
                </a:solidFill>
                <a:latin typeface="Noto Sans"/>
                <a:ea typeface="Noto Sans CJK JP"/>
                <a:cs typeface="Noto Sans"/>
              </a:rPr>
              <a:t>CLEVATranslationScenario and Converter</a:t>
            </a:r>
          </a:p>
        </p:txBody>
      </p:sp>
      <p:sp>
        <p:nvSpPr>
          <p:cNvPr id="9" name="TextBox 8"/>
          <p:cNvSpPr txBox="1"/>
          <p:nvPr/>
        </p:nvSpPr>
        <p:spPr>
          <a:xfrm>
            <a:off x="548640" y="3694175"/>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 2023 · HELM v0.4.0 implementation</a:t>
            </a:r>
          </a:p>
        </p:txBody>
      </p:sp>
      <p:sp>
        <p:nvSpPr>
          <p:cNvPr id="10" name="TextBox 9"/>
          <p:cNvSpPr txBox="1"/>
          <p:nvPr/>
        </p:nvSpPr>
        <p:spPr>
          <a:xfrm>
            <a:off x="548640" y="3977639"/>
            <a:ext cx="8046720" cy="457200"/>
          </a:xfrm>
          <a:prstGeom prst="rect">
            <a:avLst/>
          </a:prstGeom>
          <a:noFill/>
        </p:spPr>
        <p:txBody>
          <a:bodyPr wrap="square" lIns="0" rIns="0" tIns="0" bIns="0">
            <a:noAutofit/>
          </a:bodyPr>
          <a:lstStyle/>
          <a:p>
            <a:pPr algn="l">
              <a:lnSpc>
                <a:spcPts val="1823"/>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変換済みデータとテンプレートから入力と参照を構成し、二方向の翻訳例を示す。</a:t>
            </a:r>
          </a:p>
        </p:txBody>
      </p:sp>
      <p:sp>
        <p:nvSpPr>
          <p:cNvPr id="11" name="TextBox 10"/>
          <p:cNvSpPr txBox="1"/>
          <p:nvPr/>
        </p:nvSpPr>
        <p:spPr>
          <a:xfrm>
            <a:off x="548640" y="4489704"/>
            <a:ext cx="8046720" cy="228600"/>
          </a:xfrm>
          <a:prstGeom prst="rect">
            <a:avLst/>
          </a:prstGeom>
          <a:noFill/>
        </p:spPr>
        <p:txBody>
          <a:bodyPr wrap="square" lIns="0" rIns="0" tIns="0" bIns="0">
            <a:noAutofit/>
          </a:bodyPr>
          <a:lstStyle/>
          <a:p>
            <a:pPr algn="l">
              <a:lnSpc>
                <a:spcPts val="1263"/>
              </a:lnSpc>
              <a:spcBef>
                <a:spcPts val="0"/>
              </a:spcBef>
              <a:spcAft>
                <a:spcPts val="0"/>
              </a:spcAft>
              <a:buNone/>
              <a:defRPr sz="1080" b="0">
                <a:solidFill>
                  <a:srgbClr val="303437"/>
                </a:solidFill>
                <a:latin typeface="Noto Sans"/>
              </a:defRPr>
            </a:pPr>
            <a:r>
              <a:rPr sz="1080" b="0" lang="ja-JP" altLang="en-US">
                <a:solidFill>
                  <a:srgbClr val="2166AC"/>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2026-10-18T10:39:18Z</dcterms:modified>
  <dc:title>wmt2020-enzh</dc:title>
  <dc:creator>sasakiy84</dc:creator>
  <dcterms:created xsi:type="dcterms:W3CDTF">2026-10-18T10:39:18Z</dcterms:created>
  <dc:language>ja-JP</dc:language>
</cp:coreProperties>
</file>