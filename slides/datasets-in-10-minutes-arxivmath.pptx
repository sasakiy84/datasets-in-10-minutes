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matharena.ai/?comp=arxiv--septemb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5.00674" TargetMode="External"/><Relationship Id="rId3" Type="http://schemas.openxmlformats.org/officeDocument/2006/relationships/hyperlink" Target="https://huggingface.co/datasets/MathArena/arxivmath-092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5.0067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5.00674" TargetMode="External"/><Relationship Id="rId3" Type="http://schemas.openxmlformats.org/officeDocument/2006/relationships/hyperlink" Target="https://huggingface.co/datasets/MathArena/arxivmath-0926"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5.0067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matharena.ai/?comp=arxiv--september"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anthropic.com/claude-fable-and-mythos-5-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5.00674"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eth-sri/matharena/blob/main/readmes/README_arxivmath.m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matharena.ai/?comp=arxiv--september" TargetMode="External"/><Relationship Id="rId3" Type="http://schemas.openxmlformats.org/officeDocument/2006/relationships/hyperlink" Target="https://www.anthropic.com/claude-fable-and-mythos-5-1"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MathArena/arxivmath-0926" TargetMode="External"/><Relationship Id="rId3" Type="http://schemas.openxmlformats.org/officeDocument/2006/relationships/hyperlink" Target="https://github.com/eth-sri/matharena/blob/main/readmes/README_arxivmath.md"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MathArena/arxivmath-0926" TargetMode="External"/><Relationship Id="rId3" Type="http://schemas.openxmlformats.org/officeDocument/2006/relationships/hyperlink" Target="https://creativecommons.org/licenses/by-sa/4.0/"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5.00674"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rxivmath-0926"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eth-sri/matharena/blob/main/configs/competitions/arxiv/september.yaml"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5.00674"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5.00674" TargetMode="External"/><Relationship Id="rId3" Type="http://schemas.openxmlformats.org/officeDocument/2006/relationships/hyperlink" Target="https://huggingface.co/datasets/MathArena/arxivmath-0926"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eth-sri/matharena/blob/main/readmes/README_arxivmath.md" TargetMode="External"/><Relationship Id="rId3" Type="http://schemas.openxmlformats.org/officeDocument/2006/relationships/hyperlink" Target="https://www.anthropic.com/claude-fable-and-mythos-5-1"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9.14794" TargetMode="External"/><Relationship Id="rId3" Type="http://schemas.openxmlformats.org/officeDocument/2006/relationships/hyperlink" Target="https://arxiv.org/abs/2609.28512"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9.26723" TargetMode="External"/><Relationship Id="rId3" Type="http://schemas.openxmlformats.org/officeDocument/2006/relationships/hyperlink" Target="https://arxiv.org/abs/2609.04659"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9.10517" TargetMode="External"/><Relationship Id="rId3" Type="http://schemas.openxmlformats.org/officeDocument/2006/relationships/hyperlink" Target="https://arxiv.org/abs/2609.16081"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9.22324" TargetMode="External"/><Relationship Id="rId3" Type="http://schemas.openxmlformats.org/officeDocument/2006/relationships/hyperlink" Target="https://arxiv.org/abs/2609.22928"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9.25390" TargetMode="External"/><Relationship Id="rId3" Type="http://schemas.openxmlformats.org/officeDocument/2006/relationships/hyperlink" Target="https://arxiv.org/abs/2609.25543"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9.28102" TargetMode="External"/><Relationship Id="rId3" Type="http://schemas.openxmlformats.org/officeDocument/2006/relationships/hyperlink" Target="https://arxiv.org/abs/2609.26285"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9.37978"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8845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ArXivMath</a:t>
            </a:r>
          </a:p>
        </p:txBody>
      </p:sp>
      <p:sp>
        <p:nvSpPr>
          <p:cNvPr id="3" name="Subtitle 2"/>
          <p:cNvSpPr>
            <a:spLocks noGrp="1"/>
          </p:cNvSpPr>
          <p:nvPr>
            <p:ph type="subTitle" idx="1"/>
          </p:nvPr>
        </p:nvSpPr>
        <p:spPr>
          <a:xfrm>
            <a:off x="548640" y="2898102"/>
            <a:ext cx="8046720" cy="4883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最近の数学論文に基づく最終回答型の研究問題</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MathArena：ArXivMathの公式ページ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公式サイト</a:t>
            </a:r>
          </a:p>
        </p:txBody>
      </p:sp>
      <p:pic>
        <p:nvPicPr>
          <p:cNvPr id="4" name="Picture 3" descr="official-site.png"/>
          <p:cNvPicPr>
            <a:picLocks noChangeAspect="1"/>
          </p:cNvPicPr>
          <p:nvPr/>
        </p:nvPicPr>
        <p:blipFill>
          <a:blip r:embed="rId2"/>
          <a:stretch>
            <a:fillRect/>
          </a:stretch>
        </p:blipFill>
        <p:spPr>
          <a:xfrm>
            <a:off x="1874519" y="1316736"/>
            <a:ext cx="5394960" cy="3072130"/>
          </a:xfrm>
          <a:prstGeom prst="rect">
            <a:avLst/>
          </a:prstGeom>
        </p:spPr>
      </p:pic>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leaderboard (2026-10-22参照).</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https://matharena.ai/?comp=arxiv--september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研究数学の課題と実例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採点とモデルの到達水準</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論文から月次問題を作る</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月次評価の利用と入手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研究数学の課題と実例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研究数学の課題と実例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論文の中心的な結果を、自己完結した問いにする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ArXivMathは、最近のarXiv数学論文に基づく研究水準の問題を、数・式・集合などの最終回答で評価する。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論文や要旨を与えずに設問を解かせる。問題文には、答えを一意に定めるための定義と仮定が含まれる。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2026年9月版は53問。公開データには設問と参照正解に加え、元の論文と著者の情報が入る。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研究数学の課題と実例</a:t>
            </a:r>
          </a:p>
        </p:txBody>
      </p:sp>
      <p:sp>
        <p:nvSpPr>
          <p:cNvPr id="5" name="source-bib"/>
          <p:cNvSpPr txBox="1"/>
          <p:nvPr/>
        </p:nvSpPr>
        <p:spPr>
          <a:xfrm>
            <a:off x="502920" y="4590288"/>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Dekoninck et al., 2026. Beyond Benchmarks: MathArena as an Evaluation Platform for Mathematics with LLMs.</a:t>
            </a:r>
          </a:p>
        </p:txBody>
      </p:sp>
      <p:sp>
        <p:nvSpPr>
          <p:cNvPr id="6" name="source-url"/>
          <p:cNvSpPr txBox="1"/>
          <p:nvPr/>
        </p:nvSpPr>
        <p:spPr>
          <a:xfrm>
            <a:off x="502920" y="4704588"/>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https://arxiv.org/abs/2605.00674</a:t>
            </a:r>
          </a:p>
        </p:txBody>
      </p:sp>
      <p:sp>
        <p:nvSpPr>
          <p:cNvPr id="7" name="source-bib"/>
          <p:cNvSpPr txBox="1"/>
          <p:nvPr/>
        </p:nvSpPr>
        <p:spPr>
          <a:xfrm>
            <a:off x="502920" y="4864607"/>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MathArena, 2026. ArXivMath September 2026.</a:t>
            </a:r>
          </a:p>
        </p:txBody>
      </p:sp>
      <p:sp>
        <p:nvSpPr>
          <p:cNvPr id="8" name="source-url"/>
          <p:cNvSpPr txBox="1"/>
          <p:nvPr/>
        </p:nvSpPr>
        <p:spPr>
          <a:xfrm>
            <a:off x="502920" y="4978907"/>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https://huggingface.co/datasets/MathArena/arxivmath-0926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例1：等距離点集合の上限を決める指数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研究数学の課題と実例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original-question"/>
          <p:cNvSpPr/>
          <p:nvPr/>
        </p:nvSpPr>
        <p:spPr>
          <a:xfrm>
            <a:off x="548640" y="1664208"/>
            <a:ext cx="8046720" cy="18163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01600">
            <a:noAutofit/>
          </a:bodyPr>
          <a:lstStyle/>
          <a:p>
            <a:pPr algn="l">
              <a:lnSpc>
                <a:spcPts val="2088"/>
              </a:lnSpc>
              <a:buNone/>
              <a:defRPr sz="1800" b="0">
                <a:solidFill>
                  <a:srgbClr val="303437"/>
                </a:solidFill>
                <a:latin typeface="Noto Sans"/>
              </a:defRPr>
            </a:pPr>
            <a:r>
              <a:rPr sz="1800" b="0" lang="ja-JP" altLang="en-US">
                <a:solidFill>
                  <a:srgbClr val="303437"/>
                </a:solidFill>
                <a:latin typeface="Noto Sans"/>
                <a:ea typeface="Noto Sans CJK JP"/>
                <a:cs typeface="Noto Sans"/>
              </a:rPr>
              <a:t>For a real number p∈(1,∞) and a positive integer n, equip ℝ</a:t>
            </a:r>
            <a:r>
              <a:rPr sz="1404" b="0" lang="ja-JP" altLang="en-US" baseline="30000">
                <a:solidFill>
                  <a:srgbClr val="303437"/>
                </a:solidFill>
                <a:latin typeface="Noto Sans"/>
                <a:ea typeface="Noto Sans CJK JP"/>
                <a:cs typeface="Noto Sans"/>
              </a:rPr>
              <a:t>n</a:t>
            </a:r>
            <a:r>
              <a:rPr sz="1800" b="0" lang="ja-JP" altLang="en-US">
                <a:solidFill>
                  <a:srgbClr val="303437"/>
                </a:solidFill>
                <a:latin typeface="Noto Sans"/>
                <a:ea typeface="Noto Sans CJK JP"/>
                <a:cs typeface="Noto Sans"/>
              </a:rPr>
              <a:t> with the distance d</a:t>
            </a:r>
            <a:r>
              <a:rPr sz="1404" b="0" lang="ja-JP" altLang="en-US" baseline="-22000">
                <a:solidFill>
                  <a:srgbClr val="303437"/>
                </a:solidFill>
                <a:latin typeface="Noto Sans"/>
                <a:ea typeface="Noto Sans CJK JP"/>
                <a:cs typeface="Noto Sans"/>
              </a:rPr>
              <a:t>p</a:t>
            </a:r>
            <a:r>
              <a:rPr sz="1800" b="0" lang="ja-JP" altLang="en-US">
                <a:solidFill>
                  <a:srgbClr val="303437"/>
                </a:solidFill>
                <a:latin typeface="Noto Sans"/>
                <a:ea typeface="Noto Sans CJK JP"/>
                <a:cs typeface="Noto Sans"/>
              </a:rPr>
              <a:t>(x,y)=(Σ</a:t>
            </a:r>
            <a:r>
              <a:rPr sz="1404" b="0" lang="ja-JP" altLang="en-US" baseline="-22000">
                <a:solidFill>
                  <a:srgbClr val="303437"/>
                </a:solidFill>
                <a:latin typeface="Noto Sans"/>
                <a:ea typeface="Noto Sans CJK JP"/>
                <a:cs typeface="Noto Sans"/>
              </a:rPr>
              <a:t>j=1</a:t>
            </a:r>
            <a:r>
              <a:rPr sz="1404" b="0" lang="ja-JP" altLang="en-US" baseline="30000">
                <a:solidFill>
                  <a:srgbClr val="303437"/>
                </a:solidFill>
                <a:latin typeface="Noto Sans"/>
                <a:ea typeface="Noto Sans CJK JP"/>
                <a:cs typeface="Noto Sans"/>
              </a:rPr>
              <a:t>n</a:t>
            </a:r>
            <a:r>
              <a:rPr sz="1800" b="0" lang="ja-JP" altLang="en-US">
                <a:solidFill>
                  <a:srgbClr val="303437"/>
                </a:solidFill>
                <a:latin typeface="Noto Sans"/>
                <a:ea typeface="Noto Sans CJK JP"/>
                <a:cs typeface="Noto Sans"/>
              </a:rPr>
              <a:t>|x</a:t>
            </a:r>
            <a:r>
              <a:rPr sz="1404" b="0" lang="ja-JP" altLang="en-US" baseline="-22000">
                <a:solidFill>
                  <a:srgbClr val="303437"/>
                </a:solidFill>
                <a:latin typeface="Noto Sans"/>
                <a:ea typeface="Noto Sans CJK JP"/>
                <a:cs typeface="Noto Sans"/>
              </a:rPr>
              <a:t>j</a:t>
            </a:r>
            <a:r>
              <a:rPr sz="1800" b="0" lang="ja-JP" altLang="en-US">
                <a:solidFill>
                  <a:srgbClr val="303437"/>
                </a:solidFill>
                <a:latin typeface="Noto Sans"/>
                <a:ea typeface="Noto Sans CJK JP"/>
                <a:cs typeface="Noto Sans"/>
              </a:rPr>
              <a:t>-y</a:t>
            </a:r>
            <a:r>
              <a:rPr sz="1404" b="0" lang="ja-JP" altLang="en-US" baseline="-22000">
                <a:solidFill>
                  <a:srgbClr val="303437"/>
                </a:solidFill>
                <a:latin typeface="Noto Sans"/>
                <a:ea typeface="Noto Sans CJK JP"/>
                <a:cs typeface="Noto Sans"/>
              </a:rPr>
              <a:t>j</a:t>
            </a:r>
            <a:r>
              <a:rPr sz="1800" b="0" lang="ja-JP" altLang="en-US">
                <a:solidFill>
                  <a:srgbClr val="303437"/>
                </a:solidFill>
                <a:latin typeface="Noto Sans"/>
                <a:ea typeface="Noto Sans CJK JP"/>
                <a:cs typeface="Noto Sans"/>
              </a:rPr>
              <a:t>|</a:t>
            </a:r>
            <a:r>
              <a:rPr sz="1404" b="0" lang="ja-JP" altLang="en-US" baseline="30000">
                <a:solidFill>
                  <a:srgbClr val="303437"/>
                </a:solidFill>
                <a:latin typeface="Noto Sans"/>
                <a:ea typeface="Noto Sans CJK JP"/>
                <a:cs typeface="Noto Sans"/>
              </a:rPr>
              <a:t>p</a:t>
            </a:r>
            <a:r>
              <a:rPr sz="1800" b="0" lang="ja-JP" altLang="en-US">
                <a:solidFill>
                  <a:srgbClr val="303437"/>
                </a:solidFill>
                <a:latin typeface="Noto Sans"/>
                <a:ea typeface="Noto Sans CJK JP"/>
                <a:cs typeface="Noto Sans"/>
              </a:rPr>
              <a:t>)</a:t>
            </a:r>
            <a:r>
              <a:rPr sz="1404" b="0" lang="ja-JP" altLang="en-US" baseline="30000">
                <a:solidFill>
                  <a:srgbClr val="303437"/>
                </a:solidFill>
                <a:latin typeface="Noto Sans"/>
                <a:ea typeface="Noto Sans CJK JP"/>
                <a:cs typeface="Noto Sans"/>
              </a:rPr>
              <a:t>1/p</a:t>
            </a:r>
            <a:r>
              <a:rPr sz="1800" b="0" lang="ja-JP" altLang="en-US">
                <a:solidFill>
                  <a:srgbClr val="303437"/>
                </a:solidFill>
                <a:latin typeface="Noto Sans"/>
                <a:ea typeface="Noto Sans CJK JP"/>
                <a:cs typeface="Noto Sans"/>
              </a:rPr>
              <a:t>. A finite subset S⊂ℝ</a:t>
            </a:r>
            <a:r>
              <a:rPr sz="1404" b="0" lang="ja-JP" altLang="en-US" baseline="30000">
                <a:solidFill>
                  <a:srgbClr val="303437"/>
                </a:solidFill>
                <a:latin typeface="Noto Sans"/>
                <a:ea typeface="Noto Sans CJK JP"/>
                <a:cs typeface="Noto Sans"/>
              </a:rPr>
              <a:t>n</a:t>
            </a:r>
            <a:r>
              <a:rPr sz="1800" b="0" lang="ja-JP" altLang="en-US">
                <a:solidFill>
                  <a:srgbClr val="303437"/>
                </a:solidFill>
                <a:latin typeface="Noto Sans"/>
                <a:ea typeface="Noto Sans CJK JP"/>
                <a:cs typeface="Noto Sans"/>
              </a:rPr>
              <a:t> is equilateral if there exists a real number r&gt;0 such that d</a:t>
            </a:r>
            <a:r>
              <a:rPr sz="1404" b="0" lang="ja-JP" altLang="en-US" baseline="-22000">
                <a:solidFill>
                  <a:srgbClr val="303437"/>
                </a:solidFill>
                <a:latin typeface="Noto Sans"/>
                <a:ea typeface="Noto Sans CJK JP"/>
                <a:cs typeface="Noto Sans"/>
              </a:rPr>
              <a:t>p</a:t>
            </a:r>
            <a:r>
              <a:rPr sz="1800" b="0" lang="ja-JP" altLang="en-US">
                <a:solidFill>
                  <a:srgbClr val="303437"/>
                </a:solidFill>
                <a:latin typeface="Noto Sans"/>
                <a:ea typeface="Noto Sans CJK JP"/>
                <a:cs typeface="Noto Sans"/>
              </a:rPr>
              <a:t>(x,y)=r for every two distinct points x,y∈ S. Determine exactly the set of exponents p∈(1,∞) for which, for every positive integer n, every equilateral subset of (ℝ</a:t>
            </a:r>
            <a:r>
              <a:rPr sz="1404" b="0" lang="ja-JP" altLang="en-US" baseline="30000">
                <a:solidFill>
                  <a:srgbClr val="303437"/>
                </a:solidFill>
                <a:latin typeface="Noto Sans"/>
                <a:ea typeface="Noto Sans CJK JP"/>
                <a:cs typeface="Noto Sans"/>
              </a:rPr>
              <a:t>n</a:t>
            </a:r>
            <a:r>
              <a:rPr sz="1800" b="0" lang="ja-JP" altLang="en-US">
                <a:solidFill>
                  <a:srgbClr val="303437"/>
                </a:solidFill>
                <a:latin typeface="Noto Sans"/>
                <a:ea typeface="Noto Sans CJK JP"/>
                <a:cs typeface="Noto Sans"/>
              </a:rPr>
              <a:t>,d</a:t>
            </a:r>
            <a:r>
              <a:rPr sz="1404" b="0" lang="ja-JP" altLang="en-US" baseline="-22000">
                <a:solidFill>
                  <a:srgbClr val="303437"/>
                </a:solidFill>
                <a:latin typeface="Noto Sans"/>
                <a:ea typeface="Noto Sans CJK JP"/>
                <a:cs typeface="Noto Sans"/>
              </a:rPr>
              <a:t>p</a:t>
            </a:r>
            <a:r>
              <a:rPr sz="1800" b="0" lang="ja-JP" altLang="en-US">
                <a:solidFill>
                  <a:srgbClr val="303437"/>
                </a:solidFill>
                <a:latin typeface="Noto Sans"/>
                <a:ea typeface="Noto Sans CJK JP"/>
                <a:cs typeface="Noto Sans"/>
              </a:rPr>
              <a:t>) has at most n+1 elements. Give the parameter set in interval notation.</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arXiv:2609.14794。</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研究数学の課題と実例</a:t>
            </a:r>
          </a:p>
        </p:txBody>
      </p:sp>
      <p:sp>
        <p:nvSpPr>
          <p:cNvPr id="4" name="japanese-translation"/>
          <p:cNvSpPr txBox="1"/>
          <p:nvPr/>
        </p:nvSpPr>
        <p:spPr>
          <a:xfrm>
            <a:off x="594360" y="1417320"/>
            <a:ext cx="7955279" cy="1818132"/>
          </a:xfrm>
          <a:prstGeom prst="rect">
            <a:avLst/>
          </a:prstGeom>
          <a:noFill/>
        </p:spPr>
        <p:txBody>
          <a:bodyPr wrap="square" lIns="0" rIns="0" tIns="0" bIns="0">
            <a:noAutofit/>
          </a:bodyPr>
          <a:lstStyle/>
          <a:p>
            <a:pPr algn="l">
              <a:lnSpc>
                <a:spcPts val="224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実数p∈(1,∞)と正整数nに対し、ℝⁿに距離dₚ(x,y)=(Σⱼ₌₁ⁿ|xⱼ−yⱼ|ᵖ)^(1/p)を入れる。有限部分集合S⊂ℝⁿが等距離であるとは、ある実数r&gt;0が存在して、異なる任意のx,y∈Sに対しdₚ(x,y)=rとなることをいう。すべての正整数nについて、(ℝⁿ,dₚ)のどの等距離部分集合も高々n+1個の要素を持つような指数p∈(1,∞)の集合を厳密に求めよ。区間表記で答えよ。</a:t>
            </a:r>
          </a:p>
        </p:txBody>
      </p:sp>
      <p:sp>
        <p:nvSpPr>
          <p:cNvPr id="5" name="answer"/>
          <p:cNvSpPr txBox="1"/>
          <p:nvPr/>
        </p:nvSpPr>
        <p:spPr>
          <a:xfrm>
            <a:off x="594360" y="3345180"/>
            <a:ext cx="7955279" cy="438912"/>
          </a:xfrm>
          <a:prstGeom prst="rect">
            <a:avLst/>
          </a:prstGeom>
          <a:noFill/>
        </p:spPr>
        <p:txBody>
          <a:bodyPr wrap="square" lIns="0" rIns="0" tIns="0" bIns="0">
            <a:noAutofit/>
          </a:bodyPr>
          <a:lstStyle/>
          <a:p>
            <a:pPr algn="l">
              <a:lnSpc>
                <a:spcPts val="2486"/>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
            </a:r>
            <a:r>
              <a:rPr sz="2200" b="1" lang="ja-JP" altLang="en-US">
                <a:solidFill>
                  <a:srgbClr val="B13731"/>
                </a:solidFill>
                <a:latin typeface="Noto Sans"/>
                <a:ea typeface="Noto Sans CJK JP"/>
                <a:cs typeface="Noto Sans"/>
              </a:rPr>
              <a:t>正解：[2,4]</a:t>
            </a:r>
          </a:p>
        </p:txBody>
      </p:sp>
      <p:sp>
        <p:nvSpPr>
          <p:cNvPr id="6" name="TextBox 5"/>
          <p:cNvSpPr txBox="1"/>
          <p:nvPr/>
        </p:nvSpPr>
        <p:spPr>
          <a:xfrm>
            <a:off x="594360" y="3893819"/>
            <a:ext cx="7955279" cy="502920"/>
          </a:xfrm>
          <a:prstGeom prst="rect">
            <a:avLst/>
          </a:prstGeom>
          <a:noFill/>
        </p:spPr>
        <p:txBody>
          <a:bodyPr wrap="square" lIns="0" rIns="0" tIns="0" bIns="0">
            <a:noAutofit/>
          </a:bodyPr>
          <a:lstStyle/>
          <a:p>
            <a:pPr algn="l">
              <a:lnSpc>
                <a:spcPts val="1972"/>
              </a:lnSpc>
              <a:spcBef>
                <a:spcPts val="0"/>
              </a:spcBef>
              <a:spcAft>
                <a:spcPts val="0"/>
              </a:spcAft>
              <a:buNone/>
              <a:defRPr sz="1700" b="0">
                <a:solidFill>
                  <a:srgbClr val="303437"/>
                </a:solidFill>
                <a:latin typeface="Noto Sans"/>
              </a:defRPr>
            </a:pPr>
            <a:r>
              <a:rPr sz="1700" b="0" lang="ja-JP" altLang="en-US">
                <a:solidFill>
                  <a:srgbClr val="626669"/>
                </a:solidFill>
                <a:latin typeface="Noto Sans"/>
                <a:ea typeface="Noto Sans CJK JP"/>
                <a:cs typeface="Noto Sans"/>
              </a:rPr>
              <a:t>等距離とは、どの2点の間も同じ距離になる配置である。</a:t>
            </a:r>
          </a:p>
        </p:txBody>
      </p:sp>
      <p:sp>
        <p:nvSpPr>
          <p:cNvPr id="7"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arXiv:2609.14794。</a:t>
            </a:r>
          </a:p>
        </p:txBody>
      </p:sp>
      <p:sp>
        <p:nvSpPr>
          <p:cNvPr id="8"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例2：短い計算で作れる素数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研究数学の課題と実例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original-question"/>
          <p:cNvSpPr/>
          <p:nvPr/>
        </p:nvSpPr>
        <p:spPr>
          <a:xfrm>
            <a:off x="548640" y="1664208"/>
            <a:ext cx="8046720" cy="208169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01600">
            <a:noAutofit/>
          </a:bodyPr>
          <a:lstStyle/>
          <a:p>
            <a:pPr algn="l">
              <a:lnSpc>
                <a:spcPts val="2088"/>
              </a:lnSpc>
              <a:buNone/>
              <a:defRPr sz="1800" b="0">
                <a:solidFill>
                  <a:srgbClr val="303437"/>
                </a:solidFill>
                <a:latin typeface="Noto Sans"/>
              </a:defRPr>
            </a:pPr>
            <a:r>
              <a:rPr sz="1800" b="0" lang="ja-JP" altLang="en-US">
                <a:solidFill>
                  <a:srgbClr val="303437"/>
                </a:solidFill>
                <a:latin typeface="Noto Sans"/>
                <a:ea typeface="Noto Sans CJK JP"/>
                <a:cs typeface="Noto Sans"/>
              </a:rPr>
              <a:t>For each positive integer n, let a(n) be the least nonnegative integer m for which there exist integers x</a:t>
            </a:r>
            <a:r>
              <a:rPr sz="1404" b="0" lang="ja-JP" altLang="en-US" baseline="-22000">
                <a:solidFill>
                  <a:srgbClr val="303437"/>
                </a:solidFill>
                <a:latin typeface="Noto Sans"/>
                <a:ea typeface="Noto Sans CJK JP"/>
                <a:cs typeface="Noto Sans"/>
              </a:rPr>
              <a:t>0</a:t>
            </a:r>
            <a:r>
              <a:rPr sz="1800" b="0" lang="ja-JP" altLang="en-US">
                <a:solidFill>
                  <a:srgbClr val="303437"/>
                </a:solidFill>
                <a:latin typeface="Noto Sans"/>
                <a:ea typeface="Noto Sans CJK JP"/>
                <a:cs typeface="Noto Sans"/>
              </a:rPr>
              <a:t>,…,x</a:t>
            </a:r>
            <a:r>
              <a:rPr sz="1404" b="0" lang="ja-JP" altLang="en-US" baseline="-22000">
                <a:solidFill>
                  <a:srgbClr val="303437"/>
                </a:solidFill>
                <a:latin typeface="Noto Sans"/>
                <a:ea typeface="Noto Sans CJK JP"/>
                <a:cs typeface="Noto Sans"/>
              </a:rPr>
              <a:t>m</a:t>
            </a:r>
            <a:r>
              <a:rPr sz="1800" b="0" lang="ja-JP" altLang="en-US">
                <a:solidFill>
                  <a:srgbClr val="303437"/>
                </a:solidFill>
                <a:latin typeface="Noto Sans"/>
                <a:ea typeface="Noto Sans CJK JP"/>
                <a:cs typeface="Noto Sans"/>
              </a:rPr>
              <a:t> with x</a:t>
            </a:r>
            <a:r>
              <a:rPr sz="1404" b="0" lang="ja-JP" altLang="en-US" baseline="-22000">
                <a:solidFill>
                  <a:srgbClr val="303437"/>
                </a:solidFill>
                <a:latin typeface="Noto Sans"/>
                <a:ea typeface="Noto Sans CJK JP"/>
                <a:cs typeface="Noto Sans"/>
              </a:rPr>
              <a:t>0</a:t>
            </a:r>
            <a:r>
              <a:rPr sz="1800" b="0" lang="ja-JP" altLang="en-US">
                <a:solidFill>
                  <a:srgbClr val="303437"/>
                </a:solidFill>
                <a:latin typeface="Noto Sans"/>
                <a:ea typeface="Noto Sans CJK JP"/>
                <a:cs typeface="Noto Sans"/>
              </a:rPr>
              <a:t>=1, x</a:t>
            </a:r>
            <a:r>
              <a:rPr sz="1404" b="0" lang="ja-JP" altLang="en-US" baseline="-22000">
                <a:solidFill>
                  <a:srgbClr val="303437"/>
                </a:solidFill>
                <a:latin typeface="Noto Sans"/>
                <a:ea typeface="Noto Sans CJK JP"/>
                <a:cs typeface="Noto Sans"/>
              </a:rPr>
              <a:t>m</a:t>
            </a:r>
            <a:r>
              <a:rPr sz="1800" b="0" lang="ja-JP" altLang="en-US">
                <a:solidFill>
                  <a:srgbClr val="303437"/>
                </a:solidFill>
                <a:latin typeface="Noto Sans"/>
                <a:ea typeface="Noto Sans CJK JP"/>
                <a:cs typeface="Noto Sans"/>
              </a:rPr>
              <a:t>=n, and the following property: for every k=1,…,m, there are indices 0≤ i,j&lt;k such that x</a:t>
            </a:r>
            <a:r>
              <a:rPr sz="1404" b="0" lang="ja-JP" altLang="en-US" baseline="-22000">
                <a:solidFill>
                  <a:srgbClr val="303437"/>
                </a:solidFill>
                <a:latin typeface="Noto Sans"/>
                <a:ea typeface="Noto Sans CJK JP"/>
                <a:cs typeface="Noto Sans"/>
              </a:rPr>
              <a:t>k</a:t>
            </a:r>
            <a:r>
              <a:rPr sz="1800" b="0" lang="ja-JP" altLang="en-US">
                <a:solidFill>
                  <a:srgbClr val="303437"/>
                </a:solidFill>
                <a:latin typeface="Noto Sans"/>
                <a:ea typeface="Noto Sans CJK JP"/>
                <a:cs typeface="Noto Sans"/>
              </a:rPr>
              <a:t> equals one of x</a:t>
            </a:r>
            <a:r>
              <a:rPr sz="1404" b="0" lang="ja-JP" altLang="en-US" baseline="-22000">
                <a:solidFill>
                  <a:srgbClr val="303437"/>
                </a:solidFill>
                <a:latin typeface="Noto Sans"/>
                <a:ea typeface="Noto Sans CJK JP"/>
                <a:cs typeface="Noto Sans"/>
              </a:rPr>
              <a:t>i</a:t>
            </a:r>
            <a:r>
              <a:rPr sz="1800" b="0" lang="ja-JP" altLang="en-US">
                <a:solidFill>
                  <a:srgbClr val="303437"/>
                </a:solidFill>
                <a:latin typeface="Noto Sans"/>
                <a:ea typeface="Noto Sans CJK JP"/>
                <a:cs typeface="Noto Sans"/>
              </a:rPr>
              <a:t>+x</a:t>
            </a:r>
            <a:r>
              <a:rPr sz="1404" b="0" lang="ja-JP" altLang="en-US" baseline="-22000">
                <a:solidFill>
                  <a:srgbClr val="303437"/>
                </a:solidFill>
                <a:latin typeface="Noto Sans"/>
                <a:ea typeface="Noto Sans CJK JP"/>
                <a:cs typeface="Noto Sans"/>
              </a:rPr>
              <a:t>j</a:t>
            </a:r>
            <a:r>
              <a:rPr sz="1800" b="0" lang="ja-JP" altLang="en-US">
                <a:solidFill>
                  <a:srgbClr val="303437"/>
                </a:solidFill>
                <a:latin typeface="Noto Sans"/>
                <a:ea typeface="Noto Sans CJK JP"/>
                <a:cs typeface="Noto Sans"/>
              </a:rPr>
              <a:t>, x</a:t>
            </a:r>
            <a:r>
              <a:rPr sz="1404" b="0" lang="ja-JP" altLang="en-US" baseline="-22000">
                <a:solidFill>
                  <a:srgbClr val="303437"/>
                </a:solidFill>
                <a:latin typeface="Noto Sans"/>
                <a:ea typeface="Noto Sans CJK JP"/>
                <a:cs typeface="Noto Sans"/>
              </a:rPr>
              <a:t>i</a:t>
            </a:r>
            <a:r>
              <a:rPr sz="1800" b="0" lang="ja-JP" altLang="en-US">
                <a:solidFill>
                  <a:srgbClr val="303437"/>
                </a:solidFill>
                <a:latin typeface="Noto Sans"/>
                <a:ea typeface="Noto Sans CJK JP"/>
                <a:cs typeface="Noto Sans"/>
              </a:rPr>
              <a:t>-x</a:t>
            </a:r>
            <a:r>
              <a:rPr sz="1404" b="0" lang="ja-JP" altLang="en-US" baseline="-22000">
                <a:solidFill>
                  <a:srgbClr val="303437"/>
                </a:solidFill>
                <a:latin typeface="Noto Sans"/>
                <a:ea typeface="Noto Sans CJK JP"/>
                <a:cs typeface="Noto Sans"/>
              </a:rPr>
              <a:t>j</a:t>
            </a:r>
            <a:r>
              <a:rPr sz="1800" b="0" lang="ja-JP" altLang="en-US">
                <a:solidFill>
                  <a:srgbClr val="303437"/>
                </a:solidFill>
                <a:latin typeface="Noto Sans"/>
                <a:ea typeface="Noto Sans CJK JP"/>
                <a:cs typeface="Noto Sans"/>
              </a:rPr>
              <a:t>, or x</a:t>
            </a:r>
            <a:r>
              <a:rPr sz="1404" b="0" lang="ja-JP" altLang="en-US" baseline="-22000">
                <a:solidFill>
                  <a:srgbClr val="303437"/>
                </a:solidFill>
                <a:latin typeface="Noto Sans"/>
                <a:ea typeface="Noto Sans CJK JP"/>
                <a:cs typeface="Noto Sans"/>
              </a:rPr>
              <a:t>i</a:t>
            </a:r>
            <a:r>
              <a:rPr sz="1800" b="0" lang="ja-JP" altLang="en-US">
                <a:solidFill>
                  <a:srgbClr val="303437"/>
                </a:solidFill>
                <a:latin typeface="Noto Sans"/>
                <a:ea typeface="Noto Sans CJK JP"/>
                <a:cs typeface="Noto Sans"/>
              </a:rPr>
              <a:t> x</a:t>
            </a:r>
            <a:r>
              <a:rPr sz="1404" b="0" lang="ja-JP" altLang="en-US" baseline="-22000">
                <a:solidFill>
                  <a:srgbClr val="303437"/>
                </a:solidFill>
                <a:latin typeface="Noto Sans"/>
                <a:ea typeface="Noto Sans CJK JP"/>
                <a:cs typeface="Noto Sans"/>
              </a:rPr>
              <a:t>j</a:t>
            </a:r>
            <a:r>
              <a:rPr sz="1800" b="0" lang="ja-JP" altLang="en-US">
                <a:solidFill>
                  <a:srgbClr val="303437"/>
                </a:solidFill>
                <a:latin typeface="Noto Sans"/>
                <a:ea typeface="Noto Sans CJK JP"/>
                <a:cs typeface="Noto Sans"/>
              </a:rPr>
              <a:t>. The indices i,j may be equal, earlier values may be reused, and intermediate values have no sign or magnitude restrictions. Determine the increasing ordered tuple of all primes p&lt;5000 satisfying a(p)&lt;a(p-1).</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arXiv:2609.28512。</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研究数学の課題と実例</a:t>
            </a:r>
          </a:p>
        </p:txBody>
      </p:sp>
      <p:sp>
        <p:nvSpPr>
          <p:cNvPr id="4" name="japanese-translation"/>
          <p:cNvSpPr txBox="1"/>
          <p:nvPr/>
        </p:nvSpPr>
        <p:spPr>
          <a:xfrm>
            <a:off x="594360" y="1417320"/>
            <a:ext cx="7955279" cy="1818132"/>
          </a:xfrm>
          <a:prstGeom prst="rect">
            <a:avLst/>
          </a:prstGeom>
          <a:noFill/>
        </p:spPr>
        <p:txBody>
          <a:bodyPr wrap="square" lIns="0" rIns="0" tIns="0" bIns="0">
            <a:noAutofit/>
          </a:bodyPr>
          <a:lstStyle/>
          <a:p>
            <a:pPr algn="l">
              <a:lnSpc>
                <a:spcPts val="224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正整数nについて、a(n)を次の条件を満たす最小の非負整数mとする。整数x₀,…,xₘが存在し、x₀=1、xₘ=nであり、k=1,…,mの各段階で、ある添字0≤i,j&lt;kを使ってxₖをxᵢ+xⱼ、xᵢ−xⱼ、xᵢxⱼのいずれかにできる。iとjは同じでもよく、それ以前の値は再利用でき、中間値の符号や大きさに制限はない。a(p)&lt;a(p−1)を満たす5000未満の素数pをすべて求め、昇順の組で答えよ。</a:t>
            </a:r>
          </a:p>
        </p:txBody>
      </p:sp>
      <p:sp>
        <p:nvSpPr>
          <p:cNvPr id="5" name="answer"/>
          <p:cNvSpPr txBox="1"/>
          <p:nvPr/>
        </p:nvSpPr>
        <p:spPr>
          <a:xfrm>
            <a:off x="594360" y="3345180"/>
            <a:ext cx="7955279" cy="438912"/>
          </a:xfrm>
          <a:prstGeom prst="rect">
            <a:avLst/>
          </a:prstGeom>
          <a:noFill/>
        </p:spPr>
        <p:txBody>
          <a:bodyPr wrap="square" lIns="0" rIns="0" tIns="0" bIns="0">
            <a:noAutofit/>
          </a:bodyPr>
          <a:lstStyle/>
          <a:p>
            <a:pPr algn="l">
              <a:lnSpc>
                <a:spcPts val="2486"/>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
            </a:r>
            <a:r>
              <a:rPr sz="2200" b="1" lang="ja-JP" altLang="en-US">
                <a:solidFill>
                  <a:srgbClr val="B13731"/>
                </a:solidFill>
                <a:latin typeface="Noto Sans"/>
                <a:ea typeface="Noto Sans CJK JP"/>
                <a:cs typeface="Noto Sans"/>
              </a:rPr>
              <a:t>正解：(3359,3623,4909,4943)</a:t>
            </a:r>
          </a:p>
        </p:txBody>
      </p:sp>
      <p:sp>
        <p:nvSpPr>
          <p:cNvPr id="6" name="TextBox 5"/>
          <p:cNvSpPr txBox="1"/>
          <p:nvPr/>
        </p:nvSpPr>
        <p:spPr>
          <a:xfrm>
            <a:off x="594360" y="3893819"/>
            <a:ext cx="7955279" cy="502920"/>
          </a:xfrm>
          <a:prstGeom prst="rect">
            <a:avLst/>
          </a:prstGeom>
          <a:noFill/>
        </p:spPr>
        <p:txBody>
          <a:bodyPr wrap="square" lIns="0" rIns="0" tIns="0" bIns="0">
            <a:noAutofit/>
          </a:bodyPr>
          <a:lstStyle/>
          <a:p>
            <a:pPr algn="l">
              <a:lnSpc>
                <a:spcPts val="1972"/>
              </a:lnSpc>
              <a:spcBef>
                <a:spcPts val="0"/>
              </a:spcBef>
              <a:spcAft>
                <a:spcPts val="0"/>
              </a:spcAft>
              <a:buNone/>
              <a:defRPr sz="1700" b="0">
                <a:solidFill>
                  <a:srgbClr val="303437"/>
                </a:solidFill>
                <a:latin typeface="Noto Sans"/>
              </a:defRPr>
            </a:pPr>
            <a:r>
              <a:rPr sz="1700" b="0" lang="ja-JP" altLang="en-US">
                <a:solidFill>
                  <a:srgbClr val="626669"/>
                </a:solidFill>
                <a:latin typeface="Noto Sans"/>
                <a:ea typeface="Noto Sans CJK JP"/>
                <a:cs typeface="Noto Sans"/>
              </a:rPr>
              <a:t>足し算・引き算・掛け算の最短手数を、隣の整数と比べる。</a:t>
            </a:r>
          </a:p>
        </p:txBody>
      </p:sp>
      <p:sp>
        <p:nvSpPr>
          <p:cNvPr id="7"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arXiv:2609.28512。</a:t>
            </a:r>
          </a:p>
        </p:txBody>
      </p:sp>
      <p:sp>
        <p:nvSpPr>
          <p:cNvPr id="8"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例3：二つの超平面で測度を四等分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研究数学の課題と実例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original-question"/>
          <p:cNvSpPr/>
          <p:nvPr/>
        </p:nvSpPr>
        <p:spPr>
          <a:xfrm>
            <a:off x="548640" y="1664208"/>
            <a:ext cx="8046720" cy="261197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01600">
            <a:noAutofit/>
          </a:bodyPr>
          <a:lstStyle/>
          <a:p>
            <a:pPr algn="l">
              <a:lnSpc>
                <a:spcPts val="2088"/>
              </a:lnSpc>
              <a:buNone/>
              <a:defRPr sz="1800" b="0">
                <a:solidFill>
                  <a:srgbClr val="303437"/>
                </a:solidFill>
                <a:latin typeface="Noto Sans"/>
              </a:defRPr>
            </a:pPr>
            <a:r>
              <a:rPr sz="1800" b="0" lang="ja-JP" altLang="en-US">
                <a:solidFill>
                  <a:srgbClr val="303437"/>
                </a:solidFill>
                <a:latin typeface="Noto Sans"/>
                <a:ea typeface="Noto Sans CJK JP"/>
                <a:cs typeface="Noto Sans"/>
              </a:rPr>
              <a:t>For each integer s≥ 3, let D</a:t>
            </a:r>
            <a:r>
              <a:rPr sz="1404" b="0" lang="ja-JP" altLang="en-US" baseline="-22000">
                <a:solidFill>
                  <a:srgbClr val="303437"/>
                </a:solidFill>
                <a:latin typeface="Noto Sans"/>
                <a:ea typeface="Noto Sans CJK JP"/>
                <a:cs typeface="Noto Sans"/>
              </a:rPr>
              <a:t>s</a:t>
            </a:r>
            <a:r>
              <a:rPr sz="1800" b="0" lang="ja-JP" altLang="en-US">
                <a:solidFill>
                  <a:srgbClr val="303437"/>
                </a:solidFill>
                <a:latin typeface="Noto Sans"/>
                <a:ea typeface="Noto Sans CJK JP"/>
                <a:cs typeface="Noto Sans"/>
              </a:rPr>
              <a:t> be the least positive integer d with the following property: for every collection of 2</a:t>
            </a:r>
            <a:r>
              <a:rPr sz="1404" b="0" lang="ja-JP" altLang="en-US" baseline="30000">
                <a:solidFill>
                  <a:srgbClr val="303437"/>
                </a:solidFill>
                <a:latin typeface="Noto Sans"/>
                <a:ea typeface="Noto Sans CJK JP"/>
                <a:cs typeface="Noto Sans"/>
              </a:rPr>
              <a:t>s</a:t>
            </a:r>
            <a:r>
              <a:rPr sz="1800" b="0" lang="ja-JP" altLang="en-US">
                <a:solidFill>
                  <a:srgbClr val="303437"/>
                </a:solidFill>
                <a:latin typeface="Noto Sans"/>
                <a:ea typeface="Noto Sans CJK JP"/>
                <a:cs typeface="Noto Sans"/>
              </a:rPr>
              <a:t>-2 Borel probability measures on ℝ</a:t>
            </a:r>
            <a:r>
              <a:rPr sz="1404" b="0" lang="ja-JP" altLang="en-US" baseline="30000">
                <a:solidFill>
                  <a:srgbClr val="303437"/>
                </a:solidFill>
                <a:latin typeface="Noto Sans"/>
                <a:ea typeface="Noto Sans CJK JP"/>
                <a:cs typeface="Noto Sans"/>
              </a:rPr>
              <a:t>d</a:t>
            </a:r>
            <a:r>
              <a:rPr sz="1800" b="0" lang="ja-JP" altLang="en-US">
                <a:solidFill>
                  <a:srgbClr val="303437"/>
                </a:solidFill>
                <a:latin typeface="Noto Sans"/>
                <a:ea typeface="Noto Sans CJK JP"/>
                <a:cs typeface="Noto Sans"/>
              </a:rPr>
              <a:t>, each absolutely continuous with respect to d-dimensional Lebesgue measure, there exist two affine hyperplanes whose complement has exactly four connected components, each having measure 1/4 for every measure in the collection. The same pair of hyperplanes must work for all the measures, and no perpendicularity condition is imposed. What is the exact value of D</a:t>
            </a:r>
            <a:r>
              <a:rPr sz="1404" b="0" lang="ja-JP" altLang="en-US" baseline="-22000">
                <a:solidFill>
                  <a:srgbClr val="303437"/>
                </a:solidFill>
                <a:latin typeface="Noto Sans"/>
                <a:ea typeface="Noto Sans CJK JP"/>
                <a:cs typeface="Noto Sans"/>
              </a:rPr>
              <a:t>s</a:t>
            </a:r>
            <a:r>
              <a:rPr sz="1800" b="0" lang="ja-JP" altLang="en-US">
                <a:solidFill>
                  <a:srgbClr val="303437"/>
                </a:solidFill>
                <a:latin typeface="Noto Sans"/>
                <a:ea typeface="Noto Sans CJK JP"/>
                <a:cs typeface="Noto Sans"/>
              </a:rPr>
              <a:t> as a function of s?</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arXiv:2609.26723。</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研究数学の課題と実例</a:t>
            </a:r>
          </a:p>
        </p:txBody>
      </p:sp>
      <p:sp>
        <p:nvSpPr>
          <p:cNvPr id="4" name="japanese-translation"/>
          <p:cNvSpPr txBox="1"/>
          <p:nvPr/>
        </p:nvSpPr>
        <p:spPr>
          <a:xfrm>
            <a:off x="594360" y="1417320"/>
            <a:ext cx="7955279" cy="1818132"/>
          </a:xfrm>
          <a:prstGeom prst="rect">
            <a:avLst/>
          </a:prstGeom>
          <a:noFill/>
        </p:spPr>
        <p:txBody>
          <a:bodyPr wrap="square" lIns="0" rIns="0" tIns="0" bIns="0">
            <a:noAutofit/>
          </a:bodyPr>
          <a:lstStyle/>
          <a:p>
            <a:pPr algn="l">
              <a:lnSpc>
                <a:spcPts val="224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整数s≥3ごとに、次の性質を持つ最小の正整数dをDₛとする。ℝᵈ上の2ˢ−2個のボレル確率測度を任意に選ぶ。各測度はd次元ルベーグ測度に関して絶対連続とする。このとき、二つのアフィン超平面が存在し、その補集合はちょうど四つの連結成分に分かれ、どの成分もすべての測度について測度1/4を持つ。同じ二つの超平面をすべての測度に使い、直交条件は課さない。Dₛをsの関数として厳密に求めよ。</a:t>
            </a:r>
          </a:p>
        </p:txBody>
      </p:sp>
      <p:sp>
        <p:nvSpPr>
          <p:cNvPr id="5" name="answer"/>
          <p:cNvSpPr txBox="1"/>
          <p:nvPr/>
        </p:nvSpPr>
        <p:spPr>
          <a:xfrm>
            <a:off x="594360" y="3345180"/>
            <a:ext cx="7955279" cy="438912"/>
          </a:xfrm>
          <a:prstGeom prst="rect">
            <a:avLst/>
          </a:prstGeom>
          <a:noFill/>
        </p:spPr>
        <p:txBody>
          <a:bodyPr wrap="square" lIns="0" rIns="0" tIns="0" bIns="0">
            <a:noAutofit/>
          </a:bodyPr>
          <a:lstStyle/>
          <a:p>
            <a:pPr algn="l">
              <a:lnSpc>
                <a:spcPts val="2486"/>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
            </a:r>
            <a:r>
              <a:rPr sz="2200" b="1" lang="ja-JP" altLang="en-US">
                <a:solidFill>
                  <a:srgbClr val="B13731"/>
                </a:solidFill>
                <a:latin typeface="Noto Sans"/>
                <a:ea typeface="Noto Sans CJK JP"/>
                <a:cs typeface="Noto Sans"/>
              </a:rPr>
              <a:t>正解：3· 2</a:t>
            </a:r>
            <a:r>
              <a:rPr sz="1716" b="1" lang="ja-JP" altLang="en-US" baseline="30000">
                <a:solidFill>
                  <a:srgbClr val="B13731"/>
                </a:solidFill>
                <a:latin typeface="Noto Sans"/>
                <a:ea typeface="Noto Sans CJK JP"/>
                <a:cs typeface="Noto Sans"/>
              </a:rPr>
              <a:t>s-1</a:t>
            </a:r>
            <a:r>
              <a:rPr sz="2200" b="1" lang="ja-JP" altLang="en-US">
                <a:solidFill>
                  <a:srgbClr val="B13731"/>
                </a:solidFill>
                <a:latin typeface="Noto Sans"/>
                <a:ea typeface="Noto Sans CJK JP"/>
                <a:cs typeface="Noto Sans"/>
              </a:rPr>
              <a:t>-2</a:t>
            </a:r>
          </a:p>
        </p:txBody>
      </p:sp>
      <p:sp>
        <p:nvSpPr>
          <p:cNvPr id="6" name="TextBox 5"/>
          <p:cNvSpPr txBox="1"/>
          <p:nvPr/>
        </p:nvSpPr>
        <p:spPr>
          <a:xfrm>
            <a:off x="594360" y="3893819"/>
            <a:ext cx="7955279" cy="502920"/>
          </a:xfrm>
          <a:prstGeom prst="rect">
            <a:avLst/>
          </a:prstGeom>
          <a:noFill/>
        </p:spPr>
        <p:txBody>
          <a:bodyPr wrap="square" lIns="0" rIns="0" tIns="0" bIns="0">
            <a:noAutofit/>
          </a:bodyPr>
          <a:lstStyle/>
          <a:p>
            <a:pPr algn="l">
              <a:lnSpc>
                <a:spcPts val="1972"/>
              </a:lnSpc>
              <a:spcBef>
                <a:spcPts val="0"/>
              </a:spcBef>
              <a:spcAft>
                <a:spcPts val="0"/>
              </a:spcAft>
              <a:buNone/>
              <a:defRPr sz="1700" b="0">
                <a:solidFill>
                  <a:srgbClr val="303437"/>
                </a:solidFill>
                <a:latin typeface="Noto Sans"/>
              </a:defRPr>
            </a:pPr>
            <a:r>
              <a:rPr sz="1700" b="0" lang="ja-JP" altLang="en-US">
                <a:solidFill>
                  <a:srgbClr val="626669"/>
                </a:solidFill>
                <a:latin typeface="Noto Sans"/>
                <a:ea typeface="Noto Sans CJK JP"/>
                <a:cs typeface="Noto Sans"/>
              </a:rPr>
              <a:t>連続的な確率分布を、二つの超平面で同時に四等分する最小次元を問う。</a:t>
            </a:r>
          </a:p>
        </p:txBody>
      </p:sp>
      <p:sp>
        <p:nvSpPr>
          <p:cNvPr id="7"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arXiv:2609.26723。</a:t>
            </a:r>
          </a:p>
        </p:txBody>
      </p:sp>
      <p:sp>
        <p:nvSpPr>
          <p:cNvPr id="8"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採点対象は、導出の最後に得られた数学的な答え</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等距離集合では指数の区間、計算操作では素数の組、測度の四等分では次元の式を答える。</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証明を提出して段階ごとに部分点を得る競技とは異なり、参照正解と数学的に一致する最終回答を評価する。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新しい月の論文から問題を追加し、研究成果に基づく問いを継続的に供給する。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研究数学の課題と実例</a:t>
            </a:r>
          </a:p>
        </p:txBody>
      </p:sp>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Dekoninck et al., 2026. Beyond Benchmarks: MathArena as an Evaluation Platform for Mathematics with LLMs.</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https://arxiv.org/abs/2605.00674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採点とモデルの到達水準</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採点とモデルの到達水準</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最終回答の数学的な同値性を判定する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モデルは問題を解き、最終回答を \boxed{…} で示す。</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判定器は参照正解との数学的な同値性を確認し、回答ごとに正解1・不正解0を与える。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複数回の試行を含む回答の正解率を報告する。区間の端点や集合の要素まで、設問に対応する必要がある。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採点とモデルの到達水準</a:t>
            </a:r>
          </a:p>
        </p:txBody>
      </p:sp>
      <p:sp>
        <p:nvSpPr>
          <p:cNvPr id="5" name="source-bib"/>
          <p:cNvSpPr txBox="1"/>
          <p:nvPr/>
        </p:nvSpPr>
        <p:spPr>
          <a:xfrm>
            <a:off x="502920" y="4590288"/>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Dekoninck et al., 2026. Beyond Benchmarks: MathArena as an Evaluation Platform for Mathematics with LLMs.</a:t>
            </a:r>
          </a:p>
        </p:txBody>
      </p:sp>
      <p:sp>
        <p:nvSpPr>
          <p:cNvPr id="6" name="source-url"/>
          <p:cNvSpPr txBox="1"/>
          <p:nvPr/>
        </p:nvSpPr>
        <p:spPr>
          <a:xfrm>
            <a:off x="502920" y="4704588"/>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https://arxiv.org/abs/2605.00674</a:t>
            </a:r>
          </a:p>
        </p:txBody>
      </p:sp>
      <p:sp>
        <p:nvSpPr>
          <p:cNvPr id="7" name="source-bib"/>
          <p:cNvSpPr txBox="1"/>
          <p:nvPr/>
        </p:nvSpPr>
        <p:spPr>
          <a:xfrm>
            <a:off x="502920" y="4864607"/>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MathArena, 2026. ArXivMath September 2026.</a:t>
            </a:r>
          </a:p>
        </p:txBody>
      </p:sp>
      <p:sp>
        <p:nvSpPr>
          <p:cNvPr id="8" name="source-url"/>
          <p:cNvSpPr txBox="1"/>
          <p:nvPr/>
        </p:nvSpPr>
        <p:spPr>
          <a:xfrm>
            <a:off x="502920" y="4978907"/>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https://huggingface.co/datasets/MathArena/arxivmath-0926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2026年5月の論文では、GPT-5.5が74.1%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採点とモデルの到達水準</a:t>
            </a:r>
          </a:p>
        </p:txBody>
      </p:sp>
      <p:graphicFrame>
        <p:nvGraphicFramePr>
          <p:cNvPr id="4" name="Table 3"/>
          <p:cNvGraphicFramePr>
            <a:graphicFrameLocks noGrp="1"/>
          </p:cNvGraphicFramePr>
          <p:nvPr/>
        </p:nvGraphicFramePr>
        <p:xfrm>
          <a:off x="548640" y="1508760"/>
          <a:ext cx="8046720" cy="2105025"/>
        </p:xfrm>
        <a:graphic>
          <a:graphicData uri="http://schemas.openxmlformats.org/drawingml/2006/table">
            <a:tbl>
              <a:tblPr firstRow="0" bandRow="0"/>
              <a:tblGrid>
                <a:gridCol w="5943600"/>
                <a:gridCol w="2103120"/>
              </a:tblGrid>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GPT-5.5 (xhigh)</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74.1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Gemini 3.1 Pro Preview</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66.4</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DeepSeek-v4-Pro (Max)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59.8</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Claude Opus 4.6 (High)</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58.0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41800"/>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論文時点のArXivMath集約。各問題4試行の平均で、コード実行などのツールは使わない。</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Dekoninck et al., 2026. Beyond Benchmarks: MathArena as an Evaluation Platform for Mathematics with LLMs.</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https://arxiv.org/abs/2605.00674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2026年9月版では、GPT-6.1 Solが91.51%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採点とモデルの到達水準</a:t>
            </a:r>
          </a:p>
        </p:txBody>
      </p:sp>
      <p:graphicFrame>
        <p:nvGraphicFramePr>
          <p:cNvPr id="4" name="Table 3"/>
          <p:cNvGraphicFramePr>
            <a:graphicFrameLocks noGrp="1"/>
          </p:cNvGraphicFramePr>
          <p:nvPr/>
        </p:nvGraphicFramePr>
        <p:xfrm>
          <a:off x="548640" y="1508760"/>
          <a:ext cx="8046720" cy="2105025"/>
        </p:xfrm>
        <a:graphic>
          <a:graphicData uri="http://schemas.openxmlformats.org/drawingml/2006/table">
            <a:tbl>
              <a:tblPr firstRow="0" bandRow="0"/>
              <a:tblGrid>
                <a:gridCol w="5943600"/>
                <a:gridCol w="2103120"/>
              </a:tblGrid>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平均正解率(%)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GPT-6.1 Sol (max)</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91.51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Gemini 4 Argon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87.74</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Claude Opus 5.5 (high)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82.08</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Qwen3.8-2.4T-A95B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45.28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41800"/>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53問×各2試行の平均。2026-10-22参照。ネット接続なしの計算ツールを使える。</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leaderboard (2026-10-22参照).</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https://matharena.ai/?comp=arxiv--september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Mythos 5.1は6月版で、ツールあり93.88%</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採点とモデルの到達水準</a:t>
            </a:r>
          </a:p>
        </p:txBody>
      </p:sp>
      <p:graphicFrame>
        <p:nvGraphicFramePr>
          <p:cNvPr id="4" name="Table 3"/>
          <p:cNvGraphicFramePr>
            <a:graphicFrameLocks noGrp="1"/>
          </p:cNvGraphicFramePr>
          <p:nvPr/>
        </p:nvGraphicFramePr>
        <p:xfrm>
          <a:off x="548640" y="1508760"/>
          <a:ext cx="8046720" cy="2032000"/>
        </p:xfrm>
        <a:graphic>
          <a:graphicData uri="http://schemas.openxmlformats.org/drawingml/2006/table">
            <a:tbl>
              <a:tblPr firstRow="0" bandRow="0"/>
              <a:tblGrid>
                <a:gridCol w="6126480"/>
                <a:gridCol w="192024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Mythos 5.1 (max)／ツールなし</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91.33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Mythos 5.1 (max)／ツールあり</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93.88</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GPT-5.6 Sol (max)／ツールなし</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86.73</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3.1 Pro Preview／ツールなし</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65.99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687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カードの2026年6月版49問。Mythosは各問4試行。GPTとGeminiはMathArena掲載値。</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Anthropic, 2026. Claude Fable 5.1 and Mythos 5.1 System Card.</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https://www.anthropic.com/claude-fable-and-mythos-5-1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論文から月次問題を作る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論文から月次問題を作る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初期の構築では、要旨から候補問題を抽出した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2026年5月の説明では、Gemini 3.1 Pro Previewが論文要旨の中心的な結果から、答えが一意に決まる問いを作る。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自動検査で自己完結性・不足する仮定・先行研究からの推測可能性・研究中のAI利用・著者の実績を確認する。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担当者が問題と元の論文、自動検査の記録を読み、曖昧・自明な問題などを除く。</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論文から月次問題を作る</a:t>
            </a:r>
          </a:p>
        </p:txBody>
      </p:sp>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Dekoninck et al., 2026. Beyond Benchmarks: MathArena as an Evaluation Platform for Mathematics with LLMs.</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https://arxiv.org/abs/2605.00674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全文のTeXから問題と答えを検証する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まずタイトルと要旨だけで論文を採否判定し、採用した論文の特定バージョンのTeXを取得する。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全文のソースから新規性を調べ、一つの自己完結した問いと正解、根拠を作る。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正解を見せない別の検証で答えを導き、人が最終的に採否を決める。現在の文書ではGPT-6 Astraを使う。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論文から月次問題を作る</a:t>
            </a:r>
          </a:p>
        </p:txBody>
      </p:sp>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curation workflow.</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https://github.com/eth-sri/matharena/blob/main/readmes/README_arxivmath.md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公開される53問には、参照正解と論文情報が付く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論文から月次問題を作る</a:t>
            </a:r>
          </a:p>
        </p:txBody>
      </p:sp>
      <p:graphicFrame>
        <p:nvGraphicFramePr>
          <p:cNvPr id="4" name="Table 3"/>
          <p:cNvGraphicFramePr>
            <a:graphicFrameLocks noGrp="1"/>
          </p:cNvGraphicFramePr>
          <p:nvPr/>
        </p:nvGraphicFramePr>
        <p:xfrm>
          <a:off x="548640" y="1508760"/>
          <a:ext cx="8046720" cy="2438400"/>
        </p:xfrm>
        <a:graphic>
          <a:graphicData uri="http://schemas.openxmlformats.org/drawingml/2006/table">
            <a:tbl>
              <a:tblPr firstRow="0" bandRow="0"/>
              <a:tblGrid>
                <a:gridCol w="2194560"/>
                <a:gridCol w="585216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欄</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problem</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モデルに示す設問</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answer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数式などで表された参照正解</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source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元の論文のarXiv識別子</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title / authors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元の論文名と著者</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problem_idx</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月次版内の問題番号</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7517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配布上の分割名はtrainだが、用途は評価。解答するモデルへ渡すのは設問である。</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短い答えに、複数の定義と仮定が対応する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論文から月次問題を作る</a:t>
            </a:r>
          </a:p>
        </p:txBody>
      </p:sp>
      <p:graphicFrame>
        <p:nvGraphicFramePr>
          <p:cNvPr id="4" name="Table 3"/>
          <p:cNvGraphicFramePr>
            <a:graphicFrameLocks noGrp="1"/>
          </p:cNvGraphicFramePr>
          <p:nvPr/>
        </p:nvGraphicFramePr>
        <p:xfrm>
          <a:off x="548640" y="1508760"/>
          <a:ext cx="8046720" cy="2178050"/>
        </p:xfrm>
        <a:graphic>
          <a:graphicData uri="http://schemas.openxmlformats.org/drawingml/2006/table">
            <a:tbl>
              <a:tblPr firstRow="0" bandRow="0"/>
              <a:tblGrid>
                <a:gridCol w="5943600"/>
                <a:gridCol w="2103120"/>
              </a:tblGrid>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2026年9月版の全53問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設問の英語語数・中央値</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165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設問の英語語数・第1四分位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108</a:t>
                      </a:r>
                    </a:p>
                  </a:txBody>
                  <a:tcPr marL="63500" marR="63500" marT="38100" marB="38100" anchor="ctr">
                    <a:lnL w="7620">
                      <a:noFill/>
                    </a:lnL>
                    <a:lnR w="7620">
                      <a:noFill/>
                    </a:lnR>
                    <a:lnT w="7620">
                      <a:noFill/>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設問の英語語数・第3四分位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229</a:t>
                      </a:r>
                    </a:p>
                  </a:txBody>
                  <a:tcPr marL="63500" marR="63500" marT="38100" marB="38100" anchor="ctr">
                    <a:lnL w="7620">
                      <a:noFill/>
                    </a:lnL>
                    <a:lnR w="7620">
                      <a:noFill/>
                    </a:lnR>
                    <a:lnT w="7620">
                      <a:noFill/>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公開される参照正解</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53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1482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語数は配布文字列を空白で分割。数式記号も含む。答えは整数・式・区間・集合など。</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月次評価の利用と入手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月次評価の利用と入手</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月次版を指定すると、評価する研究成果が決まる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2026年9月版は、9月に投稿された数学論文に基づく53問で、10月16日に公式サイトで公開が告知された。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公式サイトでは月次版を切り替え、モデルの正解率や個々の回答を確認できる。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6月版を使ったMythos 5.1の評価もあり、同じ課題形式が後続モデルの評価に使われ続けている。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月次評価の利用と入手</a:t>
            </a:r>
          </a:p>
        </p:txBody>
      </p:sp>
      <p:sp>
        <p:nvSpPr>
          <p:cNvPr id="5" name="source-bib"/>
          <p:cNvSpPr txBox="1"/>
          <p:nvPr/>
        </p:nvSpPr>
        <p:spPr>
          <a:xfrm>
            <a:off x="502920" y="4590288"/>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leaderboard (2026-10-22参照).</a:t>
            </a:r>
          </a:p>
        </p:txBody>
      </p:sp>
      <p:sp>
        <p:nvSpPr>
          <p:cNvPr id="6" name="source-url"/>
          <p:cNvSpPr txBox="1"/>
          <p:nvPr/>
        </p:nvSpPr>
        <p:spPr>
          <a:xfrm>
            <a:off x="502920" y="4704588"/>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https://matharena.ai/?comp=arxiv--september</a:t>
            </a:r>
          </a:p>
        </p:txBody>
      </p:sp>
      <p:sp>
        <p:nvSpPr>
          <p:cNvPr id="7" name="source-bib"/>
          <p:cNvSpPr txBox="1"/>
          <p:nvPr/>
        </p:nvSpPr>
        <p:spPr>
          <a:xfrm>
            <a:off x="502920" y="4864607"/>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Anthropic, 2026. Claude Fable 5.1 and Mythos 5.1 System Card.</a:t>
            </a:r>
          </a:p>
        </p:txBody>
      </p:sp>
      <p:sp>
        <p:nvSpPr>
          <p:cNvPr id="8" name="source-url"/>
          <p:cNvSpPr txBox="1"/>
          <p:nvPr/>
        </p:nvSpPr>
        <p:spPr>
          <a:xfrm>
            <a:off x="502920" y="4978907"/>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https://www.anthropic.com/claude-fable-and-mythos-5-1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公式データから、問題と参照正解を入手できる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Hugging FaceのMathArena/arxivmath-0926から、53問の単一分割を取得できる。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設問・参照正解・元論文の情報が同じレコードに入り、最終回答を自分で確認できる。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評価コードはeth-sri/matharenaにある。過去の月次版の設定も残されている。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月次評価の利用と入手</a:t>
            </a:r>
          </a:p>
        </p:txBody>
      </p:sp>
      <p:sp>
        <p:nvSpPr>
          <p:cNvPr id="5" name="source-bib"/>
          <p:cNvSpPr txBox="1"/>
          <p:nvPr/>
        </p:nvSpPr>
        <p:spPr>
          <a:xfrm>
            <a:off x="502920" y="4590288"/>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a:t>
            </a:r>
          </a:p>
        </p:txBody>
      </p:sp>
      <p:sp>
        <p:nvSpPr>
          <p:cNvPr id="6" name="source-url"/>
          <p:cNvSpPr txBox="1"/>
          <p:nvPr/>
        </p:nvSpPr>
        <p:spPr>
          <a:xfrm>
            <a:off x="502920" y="4704588"/>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
        <p:nvSpPr>
          <p:cNvPr id="7" name="source-bib"/>
          <p:cNvSpPr txBox="1"/>
          <p:nvPr/>
        </p:nvSpPr>
        <p:spPr>
          <a:xfrm>
            <a:off x="502920" y="4864607"/>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MathArena, 2026. ArXivMath curation workflow.</a:t>
            </a:r>
          </a:p>
        </p:txBody>
      </p:sp>
      <p:sp>
        <p:nvSpPr>
          <p:cNvPr id="8" name="source-url"/>
          <p:cNvSpPr txBox="1"/>
          <p:nvPr/>
        </p:nvSpPr>
        <p:spPr>
          <a:xfrm>
            <a:off x="502920" y="4978907"/>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https://github.com/eth-sri/matharena/blob/main/readmes/README_arxivmath.md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設問と日本語訳にはCC BY-SA 4.0が適用される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データセットの利用条件はCC BY-SA 4.0。出典を表示し、翻訳などの改変を示し、改変物を同じ条件で共有する。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掲載した設問はMathArena配布データに基づく。数式の表記を編集し、日本語訳を付した。各問題が基づく論文と著者も参考文献に示す。</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評価コードのライセンスはMIT。データの条件は配布カードで確認できる。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月次評価の利用と入手</a:t>
            </a:r>
          </a:p>
        </p:txBody>
      </p:sp>
      <p:sp>
        <p:nvSpPr>
          <p:cNvPr id="5" name="source-bib"/>
          <p:cNvSpPr txBox="1"/>
          <p:nvPr/>
        </p:nvSpPr>
        <p:spPr>
          <a:xfrm>
            <a:off x="502920" y="4590288"/>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a:t>
            </a:r>
          </a:p>
        </p:txBody>
      </p:sp>
      <p:sp>
        <p:nvSpPr>
          <p:cNvPr id="6" name="source-url"/>
          <p:cNvSpPr txBox="1"/>
          <p:nvPr/>
        </p:nvSpPr>
        <p:spPr>
          <a:xfrm>
            <a:off x="502920" y="4704588"/>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
        <p:nvSpPr>
          <p:cNvPr id="7" name="source-bib"/>
          <p:cNvSpPr txBox="1"/>
          <p:nvPr/>
        </p:nvSpPr>
        <p:spPr>
          <a:xfrm>
            <a:off x="502920" y="4864607"/>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Creative Commons, 2013. Attribution-ShareAlike 4.0 International.</a:t>
            </a:r>
          </a:p>
        </p:txBody>
      </p:sp>
      <p:sp>
        <p:nvSpPr>
          <p:cNvPr id="8" name="source-url"/>
          <p:cNvSpPr txBox="1"/>
          <p:nvPr/>
        </p:nvSpPr>
        <p:spPr>
          <a:xfrm>
            <a:off x="502920" y="4978907"/>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https://creativecommons.org/licenses/by-sa/4.0/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研究数学の最終回答を月次更新で評価する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ArXivMathは、論文に基づく研究水準の問題を、必要な仮定を含む自己完結した設問として公開する。</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答えには数・式・区間・集合などがあり、参照正解との数学的な同値性を評価する。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月次更新と公開正解を組み合わせ、研究数学の問題解決能力をモデル間・時点間で調べるための資源となる。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月次評価の利用と入手</a:t>
            </a:r>
          </a:p>
        </p:txBody>
      </p:sp>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Dekoninck et al., 2026. Beyond Benchmarks: MathArena as an Evaluation Platform for Mathematics with LLMs.</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https://arxiv.org/abs/2605.00674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5740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研究分野の追加例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評価条件と関連する課題</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例4：再始動反復法の非収束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original-question"/>
          <p:cNvSpPr/>
          <p:nvPr/>
        </p:nvSpPr>
        <p:spPr>
          <a:xfrm>
            <a:off x="548640" y="1664208"/>
            <a:ext cx="8046720" cy="25438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01600">
            <a:noAutofit/>
          </a:bodyPr>
          <a:lstStyle/>
          <a:p>
            <a:pPr algn="l">
              <a:lnSpc>
                <a:spcPts val="2029"/>
              </a:lnSpc>
              <a:buNone/>
              <a:defRPr sz="1750" b="0">
                <a:solidFill>
                  <a:srgbClr val="303437"/>
                </a:solidFill>
                <a:latin typeface="Noto Sans"/>
              </a:defRPr>
            </a:pPr>
            <a:r>
              <a:rPr sz="1750" b="0" lang="ja-JP" altLang="en-US">
                <a:solidFill>
                  <a:srgbClr val="303437"/>
                </a:solidFill>
                <a:latin typeface="Noto Sans"/>
                <a:ea typeface="Noto Sans CJK JP"/>
                <a:cs typeface="Noto Sans"/>
              </a:rPr>
              <a:t>For a positive integer s, consider the following iteration in exact real arithmetic. Let n≥1, let A∈ℝ</a:t>
            </a:r>
            <a:r>
              <a:rPr sz="1365" b="0" lang="ja-JP" altLang="en-US" baseline="30000">
                <a:solidFill>
                  <a:srgbClr val="303437"/>
                </a:solidFill>
                <a:latin typeface="Noto Sans"/>
                <a:ea typeface="Noto Sans CJK JP"/>
                <a:cs typeface="Noto Sans"/>
              </a:rPr>
              <a:t>n× n</a:t>
            </a:r>
            <a:r>
              <a:rPr sz="1750" b="0" lang="ja-JP" altLang="en-US">
                <a:solidFill>
                  <a:srgbClr val="303437"/>
                </a:solidFill>
                <a:latin typeface="Noto Sans"/>
                <a:ea typeface="Noto Sans CJK JP"/>
                <a:cs typeface="Noto Sans"/>
              </a:rPr>
              <a:t> satisfy A</a:t>
            </a:r>
            <a:r>
              <a:rPr sz="1365" b="0" lang="ja-JP" altLang="en-US" baseline="30000">
                <a:solidFill>
                  <a:srgbClr val="303437"/>
                </a:solidFill>
                <a:latin typeface="Noto Sans"/>
                <a:ea typeface="Noto Sans CJK JP"/>
                <a:cs typeface="Noto Sans"/>
              </a:rPr>
              <a:t>T</a:t>
            </a:r>
            <a:r>
              <a:rPr sz="1750" b="0" lang="ja-JP" altLang="en-US">
                <a:solidFill>
                  <a:srgbClr val="303437"/>
                </a:solidFill>
                <a:latin typeface="Noto Sans"/>
                <a:ea typeface="Noto Sans CJK JP"/>
                <a:cs typeface="Noto Sans"/>
              </a:rPr>
              <a:t>=A and v</a:t>
            </a:r>
            <a:r>
              <a:rPr sz="1365" b="0" lang="ja-JP" altLang="en-US" baseline="30000">
                <a:solidFill>
                  <a:srgbClr val="303437"/>
                </a:solidFill>
                <a:latin typeface="Noto Sans"/>
                <a:ea typeface="Noto Sans CJK JP"/>
                <a:cs typeface="Noto Sans"/>
              </a:rPr>
              <a:t>T</a:t>
            </a:r>
            <a:r>
              <a:rPr sz="1750" b="0" lang="ja-JP" altLang="en-US">
                <a:solidFill>
                  <a:srgbClr val="303437"/>
                </a:solidFill>
                <a:latin typeface="Noto Sans"/>
                <a:ea typeface="Noto Sans CJK JP"/>
                <a:cs typeface="Noto Sans"/>
              </a:rPr>
              <a:t> Av&gt;0 for every nonzero v∈ℝ</a:t>
            </a:r>
            <a:r>
              <a:rPr sz="1365" b="0" lang="ja-JP" altLang="en-US" baseline="30000">
                <a:solidFill>
                  <a:srgbClr val="303437"/>
                </a:solidFill>
                <a:latin typeface="Noto Sans"/>
                <a:ea typeface="Noto Sans CJK JP"/>
                <a:cs typeface="Noto Sans"/>
              </a:rPr>
              <a:t>n</a:t>
            </a:r>
            <a:r>
              <a:rPr sz="1750" b="0" lang="ja-JP" altLang="en-US">
                <a:solidFill>
                  <a:srgbClr val="303437"/>
                </a:solidFill>
                <a:latin typeface="Noto Sans"/>
                <a:ea typeface="Noto Sans CJK JP"/>
                <a:cs typeface="Noto Sans"/>
              </a:rPr>
              <a:t>, and choose b,x</a:t>
            </a:r>
            <a:r>
              <a:rPr sz="1365" b="0" lang="ja-JP" altLang="en-US" baseline="-22000">
                <a:solidFill>
                  <a:srgbClr val="303437"/>
                </a:solidFill>
                <a:latin typeface="Noto Sans"/>
                <a:ea typeface="Noto Sans CJK JP"/>
                <a:cs typeface="Noto Sans"/>
              </a:rPr>
              <a:t>0</a:t>
            </a:r>
            <a:r>
              <a:rPr sz="1750" b="0" lang="ja-JP" altLang="en-US">
                <a:solidFill>
                  <a:srgbClr val="303437"/>
                </a:solidFill>
                <a:latin typeface="Noto Sans"/>
                <a:ea typeface="Noto Sans CJK JP"/>
                <a:cs typeface="Noto Sans"/>
              </a:rPr>
              <a:t>∈ℝ</a:t>
            </a:r>
            <a:r>
              <a:rPr sz="1365" b="0" lang="ja-JP" altLang="en-US" baseline="30000">
                <a:solidFill>
                  <a:srgbClr val="303437"/>
                </a:solidFill>
                <a:latin typeface="Noto Sans"/>
                <a:ea typeface="Noto Sans CJK JP"/>
                <a:cs typeface="Noto Sans"/>
              </a:rPr>
              <a:t>n</a:t>
            </a:r>
            <a:r>
              <a:rPr sz="1750" b="0" lang="ja-JP" altLang="en-US">
                <a:solidFill>
                  <a:srgbClr val="303437"/>
                </a:solidFill>
                <a:latin typeface="Noto Sans"/>
                <a:ea typeface="Noto Sans CJK JP"/>
                <a:cs typeface="Noto Sans"/>
              </a:rPr>
              <a:t>. Define x</a:t>
            </a:r>
            <a:r>
              <a:rPr sz="1365" b="0" lang="ja-JP" altLang="en-US" baseline="-22000">
                <a:solidFill>
                  <a:srgbClr val="303437"/>
                </a:solidFill>
                <a:latin typeface="Noto Sans"/>
                <a:ea typeface="Noto Sans CJK JP"/>
                <a:cs typeface="Noto Sans"/>
              </a:rPr>
              <a:t>*</a:t>
            </a:r>
            <a:r>
              <a:rPr sz="1750" b="0" lang="ja-JP" altLang="en-US">
                <a:solidFill>
                  <a:srgbClr val="303437"/>
                </a:solidFill>
                <a:latin typeface="Noto Sans"/>
                <a:ea typeface="Noto Sans CJK JP"/>
                <a:cs typeface="Noto Sans"/>
              </a:rPr>
              <a:t>=A</a:t>
            </a:r>
            <a:r>
              <a:rPr sz="1365" b="0" lang="ja-JP" altLang="en-US" baseline="30000">
                <a:solidFill>
                  <a:srgbClr val="303437"/>
                </a:solidFill>
                <a:latin typeface="Noto Sans"/>
                <a:ea typeface="Noto Sans CJK JP"/>
                <a:cs typeface="Noto Sans"/>
              </a:rPr>
              <a:t>-1</a:t>
            </a:r>
            <a:r>
              <a:rPr sz="1750" b="0" lang="ja-JP" altLang="en-US">
                <a:solidFill>
                  <a:srgbClr val="303437"/>
                </a:solidFill>
                <a:latin typeface="Noto Sans"/>
                <a:ea typeface="Noto Sans CJK JP"/>
                <a:cs typeface="Noto Sans"/>
              </a:rPr>
              <a:t>b, r</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=b-Ax</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 ‖v‖</a:t>
            </a:r>
            <a:r>
              <a:rPr sz="1365" b="0" lang="ja-JP" altLang="en-US" baseline="-22000">
                <a:solidFill>
                  <a:srgbClr val="303437"/>
                </a:solidFill>
                <a:latin typeface="Noto Sans"/>
                <a:ea typeface="Noto Sans CJK JP"/>
                <a:cs typeface="Noto Sans"/>
              </a:rPr>
              <a:t>A</a:t>
            </a:r>
            <a:r>
              <a:rPr sz="1750" b="0" lang="ja-JP" altLang="en-US">
                <a:solidFill>
                  <a:srgbClr val="303437"/>
                </a:solidFill>
                <a:latin typeface="Noto Sans"/>
                <a:ea typeface="Noto Sans CJK JP"/>
                <a:cs typeface="Noto Sans"/>
              </a:rPr>
              <a:t>=(v</a:t>
            </a:r>
            <a:r>
              <a:rPr sz="1365" b="0" lang="ja-JP" altLang="en-US" baseline="30000">
                <a:solidFill>
                  <a:srgbClr val="303437"/>
                </a:solidFill>
                <a:latin typeface="Noto Sans"/>
                <a:ea typeface="Noto Sans CJK JP"/>
                <a:cs typeface="Noto Sans"/>
              </a:rPr>
              <a:t>T</a:t>
            </a:r>
            <a:r>
              <a:rPr sz="1750" b="0" lang="ja-JP" altLang="en-US">
                <a:solidFill>
                  <a:srgbClr val="303437"/>
                </a:solidFill>
                <a:latin typeface="Noto Sans"/>
                <a:ea typeface="Noto Sans CJK JP"/>
                <a:cs typeface="Noto Sans"/>
              </a:rPr>
              <a:t> Av)</a:t>
            </a:r>
            <a:r>
              <a:rPr sz="1365" b="0" lang="ja-JP" altLang="en-US" baseline="30000">
                <a:solidFill>
                  <a:srgbClr val="303437"/>
                </a:solidFill>
                <a:latin typeface="Noto Sans"/>
                <a:ea typeface="Noto Sans CJK JP"/>
                <a:cs typeface="Noto Sans"/>
              </a:rPr>
              <a:t>1/2</a:t>
            </a:r>
            <a:r>
              <a:rPr sz="1750" b="0" lang="ja-JP" altLang="en-US">
                <a:solidFill>
                  <a:srgbClr val="303437"/>
                </a:solidFill>
                <a:latin typeface="Noto Sans"/>
                <a:ea typeface="Noto Sans CJK JP"/>
                <a:cs typeface="Noto Sans"/>
              </a:rPr>
              <a:t>. If r</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=0, terminate. Otherwise, set K</a:t>
            </a:r>
            <a:r>
              <a:rPr sz="1365" b="0" lang="ja-JP" altLang="en-US" baseline="-22000">
                <a:solidFill>
                  <a:srgbClr val="303437"/>
                </a:solidFill>
                <a:latin typeface="Noto Sans"/>
                <a:ea typeface="Noto Sans CJK JP"/>
                <a:cs typeface="Noto Sans"/>
              </a:rPr>
              <a:t>s</a:t>
            </a:r>
            <a:r>
              <a:rPr sz="1750" b="0" lang="ja-JP" altLang="en-US">
                <a:solidFill>
                  <a:srgbClr val="303437"/>
                </a:solidFill>
                <a:latin typeface="Noto Sans"/>
                <a:ea typeface="Noto Sans CJK JP"/>
                <a:cs typeface="Noto Sans"/>
              </a:rPr>
              <a:t>(A,r</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)=span{r</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,Ar</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,…,A</a:t>
            </a:r>
            <a:r>
              <a:rPr sz="1365" b="0" lang="ja-JP" altLang="en-US" baseline="30000">
                <a:solidFill>
                  <a:srgbClr val="303437"/>
                </a:solidFill>
                <a:latin typeface="Noto Sans"/>
                <a:ea typeface="Noto Sans CJK JP"/>
                <a:cs typeface="Noto Sans"/>
              </a:rPr>
              <a:t>s-1</a:t>
            </a:r>
            <a:r>
              <a:rPr sz="1750" b="0" lang="ja-JP" altLang="en-US">
                <a:solidFill>
                  <a:srgbClr val="303437"/>
                </a:solidFill>
                <a:latin typeface="Noto Sans"/>
                <a:ea typeface="Noto Sans CJK JP"/>
                <a:cs typeface="Noto Sans"/>
              </a:rPr>
              <a:t>r</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 and let x</a:t>
            </a:r>
            <a:r>
              <a:rPr sz="1365" b="0" lang="ja-JP" altLang="en-US" baseline="-22000">
                <a:solidFill>
                  <a:srgbClr val="303437"/>
                </a:solidFill>
                <a:latin typeface="Noto Sans"/>
                <a:ea typeface="Noto Sans CJK JP"/>
                <a:cs typeface="Noto Sans"/>
              </a:rPr>
              <a:t>k+1</a:t>
            </a:r>
            <a:r>
              <a:rPr sz="1750" b="0" lang="ja-JP" altLang="en-US">
                <a:solidFill>
                  <a:srgbClr val="303437"/>
                </a:solidFill>
                <a:latin typeface="Noto Sans"/>
                <a:ea typeface="Noto Sans CJK JP"/>
                <a:cs typeface="Noto Sans"/>
              </a:rPr>
              <a:t> be the unique minimizer of ‖x</a:t>
            </a:r>
            <a:r>
              <a:rPr sz="1365" b="0" lang="ja-JP" altLang="en-US" baseline="-22000">
                <a:solidFill>
                  <a:srgbClr val="303437"/>
                </a:solidFill>
                <a:latin typeface="Noto Sans"/>
                <a:ea typeface="Noto Sans CJK JP"/>
                <a:cs typeface="Noto Sans"/>
              </a:rPr>
              <a:t>*</a:t>
            </a:r>
            <a:r>
              <a:rPr sz="1750" b="0" lang="ja-JP" altLang="en-US">
                <a:solidFill>
                  <a:srgbClr val="303437"/>
                </a:solidFill>
                <a:latin typeface="Noto Sans"/>
                <a:ea typeface="Noto Sans CJK JP"/>
                <a:cs typeface="Noto Sans"/>
              </a:rPr>
              <a:t>-z‖</a:t>
            </a:r>
            <a:r>
              <a:rPr sz="1365" b="0" lang="ja-JP" altLang="en-US" baseline="-22000">
                <a:solidFill>
                  <a:srgbClr val="303437"/>
                </a:solidFill>
                <a:latin typeface="Noto Sans"/>
                <a:ea typeface="Noto Sans CJK JP"/>
                <a:cs typeface="Noto Sans"/>
              </a:rPr>
              <a:t>A</a:t>
            </a:r>
            <a:r>
              <a:rPr sz="1750" b="0" lang="ja-JP" altLang="en-US">
                <a:solidFill>
                  <a:srgbClr val="303437"/>
                </a:solidFill>
                <a:latin typeface="Noto Sans"/>
                <a:ea typeface="Noto Sans CJK JP"/>
                <a:cs typeface="Noto Sans"/>
              </a:rPr>
              <a:t> over z∈ x</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+K</a:t>
            </a:r>
            <a:r>
              <a:rPr sz="1365" b="0" lang="ja-JP" altLang="en-US" baseline="-22000">
                <a:solidFill>
                  <a:srgbClr val="303437"/>
                </a:solidFill>
                <a:latin typeface="Noto Sans"/>
                <a:ea typeface="Noto Sans CJK JP"/>
                <a:cs typeface="Noto Sans"/>
              </a:rPr>
              <a:t>s</a:t>
            </a:r>
            <a:r>
              <a:rPr sz="1750" b="0" lang="ja-JP" altLang="en-US">
                <a:solidFill>
                  <a:srgbClr val="303437"/>
                </a:solidFill>
                <a:latin typeface="Noto Sans"/>
                <a:ea typeface="Noto Sans CJK JP"/>
                <a:cs typeface="Noto Sans"/>
              </a:rPr>
              <a:t>(A,r</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 Each such minimization is one restart block, so k counts blocks. For a nonterminating orbit, define y</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=(r</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)/(‖r</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a:t>
            </a:r>
            <a:r>
              <a:rPr sz="1365" b="0" lang="ja-JP" altLang="en-US" baseline="-22000">
                <a:solidFill>
                  <a:srgbClr val="303437"/>
                </a:solidFill>
                <a:latin typeface="Noto Sans"/>
                <a:ea typeface="Noto Sans CJK JP"/>
                <a:cs typeface="Noto Sans"/>
              </a:rPr>
              <a:t>2</a:t>
            </a:r>
            <a:r>
              <a:rPr sz="1750" b="0" lang="ja-JP" altLang="en-US">
                <a:solidFill>
                  <a:srgbClr val="303437"/>
                </a:solidFill>
                <a:latin typeface="Noto Sans"/>
                <a:ea typeface="Noto Sans CJK JP"/>
                <a:cs typeface="Noto Sans"/>
              </a:rPr>
              <a:t>), ‖v‖</a:t>
            </a:r>
            <a:r>
              <a:rPr sz="1365" b="0" lang="ja-JP" altLang="en-US" baseline="-22000">
                <a:solidFill>
                  <a:srgbClr val="303437"/>
                </a:solidFill>
                <a:latin typeface="Noto Sans"/>
                <a:ea typeface="Noto Sans CJK JP"/>
                <a:cs typeface="Noto Sans"/>
              </a:rPr>
              <a:t>2</a:t>
            </a:r>
            <a:r>
              <a:rPr sz="1750" b="0" lang="ja-JP" altLang="en-US">
                <a:solidFill>
                  <a:srgbClr val="303437"/>
                </a:solidFill>
                <a:latin typeface="Noto Sans"/>
                <a:ea typeface="Noto Sans CJK JP"/>
                <a:cs typeface="Noto Sans"/>
              </a:rPr>
              <a:t>=(v</a:t>
            </a:r>
            <a:r>
              <a:rPr sz="1365" b="0" lang="ja-JP" altLang="en-US" baseline="30000">
                <a:solidFill>
                  <a:srgbClr val="303437"/>
                </a:solidFill>
                <a:latin typeface="Noto Sans"/>
                <a:ea typeface="Noto Sans CJK JP"/>
                <a:cs typeface="Noto Sans"/>
              </a:rPr>
              <a:t>T</a:t>
            </a:r>
            <a:r>
              <a:rPr sz="1750" b="0" lang="ja-JP" altLang="en-US">
                <a:solidFill>
                  <a:srgbClr val="303437"/>
                </a:solidFill>
                <a:latin typeface="Noto Sans"/>
                <a:ea typeface="Noto Sans CJK JP"/>
                <a:cs typeface="Noto Sans"/>
              </a:rPr>
              <a:t> v)</a:t>
            </a:r>
            <a:r>
              <a:rPr sz="1365" b="0" lang="ja-JP" altLang="en-US" baseline="30000">
                <a:solidFill>
                  <a:srgbClr val="303437"/>
                </a:solidFill>
                <a:latin typeface="Noto Sans"/>
                <a:ea typeface="Noto Sans CJK JP"/>
                <a:cs typeface="Noto Sans"/>
              </a:rPr>
              <a:t>1/2</a:t>
            </a:r>
            <a:r>
              <a:rPr sz="1750" b="0" lang="ja-JP" altLang="en-US">
                <a:solidFill>
                  <a:srgbClr val="303437"/>
                </a:solidFill>
                <a:latin typeface="Noto Sans"/>
                <a:ea typeface="Noto Sans CJK JP"/>
                <a:cs typeface="Noto Sans"/>
              </a:rPr>
              <a:t>. Determine the smallest positive integer s for which there exist n,A,b,x</a:t>
            </a:r>
            <a:r>
              <a:rPr sz="1365" b="0" lang="ja-JP" altLang="en-US" baseline="-22000">
                <a:solidFill>
                  <a:srgbClr val="303437"/>
                </a:solidFill>
                <a:latin typeface="Noto Sans"/>
                <a:ea typeface="Noto Sans CJK JP"/>
                <a:cs typeface="Noto Sans"/>
              </a:rPr>
              <a:t>0</a:t>
            </a:r>
            <a:r>
              <a:rPr sz="1750" b="0" lang="ja-JP" altLang="en-US">
                <a:solidFill>
                  <a:srgbClr val="303437"/>
                </a:solidFill>
                <a:latin typeface="Noto Sans"/>
                <a:ea typeface="Noto Sans CJK JP"/>
                <a:cs typeface="Noto Sans"/>
              </a:rPr>
              <a:t> as above such that r</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≠0 for every k≥0, but (y</a:t>
            </a:r>
            <a:r>
              <a:rPr sz="1365" b="0" lang="ja-JP" altLang="en-US" baseline="-22000">
                <a:solidFill>
                  <a:srgbClr val="303437"/>
                </a:solidFill>
                <a:latin typeface="Noto Sans"/>
                <a:ea typeface="Noto Sans CJK JP"/>
                <a:cs typeface="Noto Sans"/>
              </a:rPr>
              <a:t>2k</a:t>
            </a:r>
            <a:r>
              <a:rPr sz="1750" b="0" lang="ja-JP" altLang="en-US">
                <a:solidFill>
                  <a:srgbClr val="303437"/>
                </a:solidFill>
                <a:latin typeface="Noto Sans"/>
                <a:ea typeface="Noto Sans CJK JP"/>
                <a:cs typeface="Noto Sans"/>
              </a:rPr>
              <a:t>)</a:t>
            </a:r>
            <a:r>
              <a:rPr sz="1365" b="0" lang="ja-JP" altLang="en-US" baseline="-22000">
                <a:solidFill>
                  <a:srgbClr val="303437"/>
                </a:solidFill>
                <a:latin typeface="Noto Sans"/>
                <a:ea typeface="Noto Sans CJK JP"/>
                <a:cs typeface="Noto Sans"/>
              </a:rPr>
              <a:t>k≥0</a:t>
            </a:r>
            <a:r>
              <a:rPr sz="1750" b="0" lang="ja-JP" altLang="en-US">
                <a:solidFill>
                  <a:srgbClr val="303437"/>
                </a:solidFill>
                <a:latin typeface="Noto Sans"/>
                <a:ea typeface="Noto Sans CJK JP"/>
                <a:cs typeface="Noto Sans"/>
              </a:rPr>
              <a:t> does not converge in Euclidean norm. Return +∞ if no such integer exists.</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arXiv:2609.04659。</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japanese-translation"/>
          <p:cNvSpPr txBox="1"/>
          <p:nvPr/>
        </p:nvSpPr>
        <p:spPr>
          <a:xfrm>
            <a:off x="594360" y="1417320"/>
            <a:ext cx="7955279" cy="2537460"/>
          </a:xfrm>
          <a:prstGeom prst="rect">
            <a:avLst/>
          </a:prstGeom>
          <a:noFill/>
        </p:spPr>
        <p:txBody>
          <a:bodyPr wrap="square" lIns="0" rIns="0" tIns="0" bIns="0">
            <a:noAutofit/>
          </a:bodyPr>
          <a:lstStyle/>
          <a:p>
            <a:pPr algn="l">
              <a:lnSpc>
                <a:spcPts val="2124"/>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正整数sを固定し、厳密な実数演算による次の反復を考える。n≥1とし、実行列A∈ℝⁿˣⁿは対称かつ正定値、b,x₀∈ℝⁿとする。x*=A⁻¹b、rₖ=b−Axₖ、‖v‖ₐ=(vᵀAv)^(1/2)と定める。rₖ=0なら終了する。それ以外ではKₛ(A,rₖ)=span{rₖ,Arₖ,…,A^(s−1)rₖ}と置き、xₖ₊₁をxₖ+Kₛ(A,rₖ)上で‖x*−z‖ₐを最小にする唯一の点とする。この最小化1回を一つの再始動ブロックとし、kはブロック数を数える。終了しない軌道ではyₖ=rₖ/‖rₖ‖₂、‖v‖₂=(vᵀv)^(1/2)と定める。すべてのk≥0でrₖ≠0だが、部分列(y₂ₖ)ₖ≥₀がユークリッドノルムで収束しないようなn,A,b,x₀が存在する、最小の正整数sを求めよ。存在しなければ+∞と答えよ。</a:t>
            </a:r>
          </a:p>
        </p:txBody>
      </p:sp>
      <p:sp>
        <p:nvSpPr>
          <p:cNvPr id="5" name="answer"/>
          <p:cNvSpPr txBox="1"/>
          <p:nvPr/>
        </p:nvSpPr>
        <p:spPr>
          <a:xfrm>
            <a:off x="594360" y="4064508"/>
            <a:ext cx="7955279" cy="438912"/>
          </a:xfrm>
          <a:prstGeom prst="rect">
            <a:avLst/>
          </a:prstGeom>
          <a:noFill/>
        </p:spPr>
        <p:txBody>
          <a:bodyPr wrap="square" lIns="0" rIns="0" tIns="0" bIns="0">
            <a:noAutofit/>
          </a:bodyPr>
          <a:lstStyle/>
          <a:p>
            <a:pPr algn="l">
              <a:lnSpc>
                <a:spcPts val="2486"/>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
            </a:r>
            <a:r>
              <a:rPr sz="2200" b="1" lang="ja-JP" altLang="en-US">
                <a:solidFill>
                  <a:srgbClr val="B13731"/>
                </a:solidFill>
                <a:latin typeface="Noto Sans"/>
                <a:ea typeface="Noto Sans CJK JP"/>
                <a:cs typeface="Noto Sans"/>
              </a:rPr>
              <a:t>正解：4</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arXiv:2609.04659。</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例5：正多角形のフーリエ変換</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original-question"/>
          <p:cNvSpPr/>
          <p:nvPr/>
        </p:nvSpPr>
        <p:spPr>
          <a:xfrm>
            <a:off x="548640" y="1664208"/>
            <a:ext cx="8046720" cy="23326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01600">
            <a:noAutofit/>
          </a:bodyPr>
          <a:lstStyle/>
          <a:p>
            <a:pPr algn="l">
              <a:lnSpc>
                <a:spcPts val="2088"/>
              </a:lnSpc>
              <a:buNone/>
              <a:defRPr sz="1800" b="0">
                <a:solidFill>
                  <a:srgbClr val="303437"/>
                </a:solidFill>
                <a:latin typeface="Noto Sans"/>
              </a:defRPr>
            </a:pPr>
            <a:r>
              <a:rPr sz="1800" b="0" lang="ja-JP" altLang="en-US">
                <a:solidFill>
                  <a:srgbClr val="303437"/>
                </a:solidFill>
                <a:latin typeface="Noto Sans"/>
                <a:ea typeface="Noto Sans CJK JP"/>
                <a:cs typeface="Noto Sans"/>
              </a:rPr>
              <a:t>Let I={4,6,8,…}∪{∞}. For each finite m∈ I, set R</a:t>
            </a:r>
            <a:r>
              <a:rPr sz="1404" b="0" lang="ja-JP" altLang="en-US" baseline="-22000">
                <a:solidFill>
                  <a:srgbClr val="303437"/>
                </a:solidFill>
                <a:latin typeface="Noto Sans"/>
                <a:ea typeface="Noto Sans CJK JP"/>
                <a:cs typeface="Noto Sans"/>
              </a:rPr>
              <a:t>m</a:t>
            </a:r>
            <a:r>
              <a:rPr sz="1800" b="0" lang="ja-JP" altLang="en-US">
                <a:solidFill>
                  <a:srgbClr val="303437"/>
                </a:solidFill>
                <a:latin typeface="Noto Sans"/>
                <a:ea typeface="Noto Sans CJK JP"/>
                <a:cs typeface="Noto Sans"/>
              </a:rPr>
              <a:t>=√((2π)/(m sin(2π/m))), and let P</a:t>
            </a:r>
            <a:r>
              <a:rPr sz="1404" b="0" lang="ja-JP" altLang="en-US" baseline="-22000">
                <a:solidFill>
                  <a:srgbClr val="303437"/>
                </a:solidFill>
                <a:latin typeface="Noto Sans"/>
                <a:ea typeface="Noto Sans CJK JP"/>
                <a:cs typeface="Noto Sans"/>
              </a:rPr>
              <a:t>m</a:t>
            </a:r>
            <a:r>
              <a:rPr sz="1800" b="0" lang="ja-JP" altLang="en-US">
                <a:solidFill>
                  <a:srgbClr val="303437"/>
                </a:solidFill>
                <a:latin typeface="Noto Sans"/>
                <a:ea typeface="Noto Sans CJK JP"/>
                <a:cs typeface="Noto Sans"/>
              </a:rPr>
              <a:t>⊂ℝ</a:t>
            </a:r>
            <a:r>
              <a:rPr sz="1404" b="0" lang="ja-JP" altLang="en-US" baseline="30000">
                <a:solidFill>
                  <a:srgbClr val="303437"/>
                </a:solidFill>
                <a:latin typeface="Noto Sans"/>
                <a:ea typeface="Noto Sans CJK JP"/>
                <a:cs typeface="Noto Sans"/>
              </a:rPr>
              <a:t>2</a:t>
            </a:r>
            <a:r>
              <a:rPr sz="1800" b="0" lang="ja-JP" altLang="en-US">
                <a:solidFill>
                  <a:srgbClr val="303437"/>
                </a:solidFill>
                <a:latin typeface="Noto Sans"/>
                <a:ea typeface="Noto Sans CJK JP"/>
                <a:cs typeface="Noto Sans"/>
              </a:rPr>
              <a:t> be the interior of the convex hull of the points R</a:t>
            </a:r>
            <a:r>
              <a:rPr sz="1404" b="0" lang="ja-JP" altLang="en-US" baseline="-22000">
                <a:solidFill>
                  <a:srgbClr val="303437"/>
                </a:solidFill>
                <a:latin typeface="Noto Sans"/>
                <a:ea typeface="Noto Sans CJK JP"/>
                <a:cs typeface="Noto Sans"/>
              </a:rPr>
              <a:t>m</a:t>
            </a:r>
            <a:r>
              <a:rPr sz="1800" b="0" lang="ja-JP" altLang="en-US">
                <a:solidFill>
                  <a:srgbClr val="303437"/>
                </a:solidFill>
                <a:latin typeface="Noto Sans"/>
                <a:ea typeface="Noto Sans CJK JP"/>
                <a:cs typeface="Noto Sans"/>
              </a:rPr>
              <a:t>( cos((2k+1)π/m), sin((2k+1)π/m)), k=0,…,m-1. Set P</a:t>
            </a:r>
            <a:r>
              <a:rPr sz="1404" b="0" lang="ja-JP" altLang="en-US" baseline="-22000">
                <a:solidFill>
                  <a:srgbClr val="303437"/>
                </a:solidFill>
                <a:latin typeface="Noto Sans"/>
                <a:ea typeface="Noto Sans CJK JP"/>
                <a:cs typeface="Noto Sans"/>
              </a:rPr>
              <a:t>∞</a:t>
            </a:r>
            <a:r>
              <a:rPr sz="1800" b="0" lang="ja-JP" altLang="en-US">
                <a:solidFill>
                  <a:srgbClr val="303437"/>
                </a:solidFill>
                <a:latin typeface="Noto Sans"/>
                <a:ea typeface="Noto Sans CJK JP"/>
                <a:cs typeface="Noto Sans"/>
              </a:rPr>
              <a:t>={x∈ℝ</a:t>
            </a:r>
            <a:r>
              <a:rPr sz="1404" b="0" lang="ja-JP" altLang="en-US" baseline="30000">
                <a:solidFill>
                  <a:srgbClr val="303437"/>
                </a:solidFill>
                <a:latin typeface="Noto Sans"/>
                <a:ea typeface="Noto Sans CJK JP"/>
                <a:cs typeface="Noto Sans"/>
              </a:rPr>
              <a:t>2</a:t>
            </a:r>
            <a:r>
              <a:rPr sz="1800" b="0" lang="ja-JP" altLang="en-US">
                <a:solidFill>
                  <a:srgbClr val="303437"/>
                </a:solidFill>
                <a:latin typeface="Noto Sans"/>
                <a:ea typeface="Noto Sans CJK JP"/>
                <a:cs typeface="Noto Sans"/>
              </a:rPr>
              <a:t>:‖x‖</a:t>
            </a:r>
            <a:r>
              <a:rPr sz="1404" b="0" lang="ja-JP" altLang="en-US" baseline="-22000">
                <a:solidFill>
                  <a:srgbClr val="303437"/>
                </a:solidFill>
                <a:latin typeface="Noto Sans"/>
                <a:ea typeface="Noto Sans CJK JP"/>
                <a:cs typeface="Noto Sans"/>
              </a:rPr>
              <a:t>2</a:t>
            </a:r>
            <a:r>
              <a:rPr sz="1800" b="0" lang="ja-JP" altLang="en-US">
                <a:solidFill>
                  <a:srgbClr val="303437"/>
                </a:solidFill>
                <a:latin typeface="Noto Sans"/>
                <a:ea typeface="Noto Sans CJK JP"/>
                <a:cs typeface="Noto Sans"/>
              </a:rPr>
              <a:t>&lt;1}. Thus every member of this family is a centrally symmetric convex domain of area π. For any domain Ω in this family, define F</a:t>
            </a:r>
            <a:r>
              <a:rPr sz="1404" b="0" lang="ja-JP" altLang="en-US" baseline="-22000">
                <a:solidFill>
                  <a:srgbClr val="303437"/>
                </a:solidFill>
                <a:latin typeface="Noto Sans"/>
                <a:ea typeface="Noto Sans CJK JP"/>
                <a:cs typeface="Noto Sans"/>
              </a:rPr>
              <a:t>Ω</a:t>
            </a:r>
            <a:r>
              <a:rPr sz="1800" b="0" lang="ja-JP" altLang="en-US">
                <a:solidFill>
                  <a:srgbClr val="303437"/>
                </a:solidFill>
                <a:latin typeface="Noto Sans"/>
                <a:ea typeface="Noto Sans CJK JP"/>
                <a:cs typeface="Noto Sans"/>
              </a:rPr>
              <a:t>(ξ)=∫</a:t>
            </a:r>
            <a:r>
              <a:rPr sz="1404" b="0" lang="ja-JP" altLang="en-US" baseline="-22000">
                <a:solidFill>
                  <a:srgbClr val="303437"/>
                </a:solidFill>
                <a:latin typeface="Noto Sans"/>
                <a:ea typeface="Noto Sans CJK JP"/>
                <a:cs typeface="Noto Sans"/>
              </a:rPr>
              <a:t>Ω</a:t>
            </a:r>
            <a:r>
              <a:rPr sz="1800" b="0" lang="ja-JP" altLang="en-US">
                <a:solidFill>
                  <a:srgbClr val="303437"/>
                </a:solidFill>
                <a:latin typeface="Noto Sans"/>
                <a:ea typeface="Noto Sans CJK JP"/>
                <a:cs typeface="Noto Sans"/>
              </a:rPr>
              <a:t> e</a:t>
            </a:r>
            <a:r>
              <a:rPr sz="1404" b="0" lang="ja-JP" altLang="en-US" baseline="30000">
                <a:solidFill>
                  <a:srgbClr val="303437"/>
                </a:solidFill>
                <a:latin typeface="Noto Sans"/>
                <a:ea typeface="Noto Sans CJK JP"/>
                <a:cs typeface="Noto Sans"/>
              </a:rPr>
              <a:t>iξ· x</a:t>
            </a:r>
            <a:r>
              <a:rPr sz="1800" b="0" lang="ja-JP" altLang="en-US">
                <a:solidFill>
                  <a:srgbClr val="303437"/>
                </a:solidFill>
                <a:latin typeface="Noto Sans"/>
                <a:ea typeface="Noto Sans CJK JP"/>
                <a:cs typeface="Noto Sans"/>
              </a:rPr>
              <a:t> dx, κ(Ω)=inf{‖ξ‖</a:t>
            </a:r>
            <a:r>
              <a:rPr sz="1404" b="0" lang="ja-JP" altLang="en-US" baseline="-22000">
                <a:solidFill>
                  <a:srgbClr val="303437"/>
                </a:solidFill>
                <a:latin typeface="Noto Sans"/>
                <a:ea typeface="Noto Sans CJK JP"/>
                <a:cs typeface="Noto Sans"/>
              </a:rPr>
              <a:t>2</a:t>
            </a:r>
            <a:r>
              <a:rPr sz="1800" b="0" lang="ja-JP" altLang="en-US">
                <a:solidFill>
                  <a:srgbClr val="303437"/>
                </a:solidFill>
                <a:latin typeface="Noto Sans"/>
                <a:ea typeface="Noto Sans CJK JP"/>
                <a:cs typeface="Noto Sans"/>
              </a:rPr>
              <a:t>:ξ∈ℝ</a:t>
            </a:r>
            <a:r>
              <a:rPr sz="1404" b="0" lang="ja-JP" altLang="en-US" baseline="30000">
                <a:solidFill>
                  <a:srgbClr val="303437"/>
                </a:solidFill>
                <a:latin typeface="Noto Sans"/>
                <a:ea typeface="Noto Sans CJK JP"/>
                <a:cs typeface="Noto Sans"/>
              </a:rPr>
              <a:t>2</a:t>
            </a:r>
            <a:r>
              <a:rPr sz="1800" b="0" lang="ja-JP" altLang="en-US">
                <a:solidFill>
                  <a:srgbClr val="303437"/>
                </a:solidFill>
                <a:latin typeface="Noto Sans"/>
                <a:ea typeface="Noto Sans CJK JP"/>
                <a:cs typeface="Noto Sans"/>
              </a:rPr>
              <a:t>, F</a:t>
            </a:r>
            <a:r>
              <a:rPr sz="1404" b="0" lang="ja-JP" altLang="en-US" baseline="-22000">
                <a:solidFill>
                  <a:srgbClr val="303437"/>
                </a:solidFill>
                <a:latin typeface="Noto Sans"/>
                <a:ea typeface="Noto Sans CJK JP"/>
                <a:cs typeface="Noto Sans"/>
              </a:rPr>
              <a:t>Ω</a:t>
            </a:r>
            <a:r>
              <a:rPr sz="1800" b="0" lang="ja-JP" altLang="en-US">
                <a:solidFill>
                  <a:srgbClr val="303437"/>
                </a:solidFill>
                <a:latin typeface="Noto Sans"/>
                <a:ea typeface="Noto Sans CJK JP"/>
                <a:cs typeface="Noto Sans"/>
              </a:rPr>
              <a:t>(ξ)=0}, where dx is planar Lebesgue measure, the inner product and norm are Euclidean, and inf∅=+∞. Determine the unique maximizing index m</a:t>
            </a:r>
            <a:r>
              <a:rPr sz="1404" b="0" lang="ja-JP" altLang="en-US" baseline="-22000">
                <a:solidFill>
                  <a:srgbClr val="303437"/>
                </a:solidFill>
                <a:latin typeface="Noto Sans"/>
                <a:ea typeface="Noto Sans CJK JP"/>
                <a:cs typeface="Noto Sans"/>
              </a:rPr>
              <a:t>*</a:t>
            </a:r>
            <a:r>
              <a:rPr sz="1800" b="0" lang="ja-JP" altLang="en-US">
                <a:solidFill>
                  <a:srgbClr val="303437"/>
                </a:solidFill>
                <a:latin typeface="Noto Sans"/>
                <a:ea typeface="Noto Sans CJK JP"/>
                <a:cs typeface="Noto Sans"/>
              </a:rPr>
              <a:t>∈ I satisfying κ(P</a:t>
            </a:r>
            <a:r>
              <a:rPr sz="1404" b="0" lang="ja-JP" altLang="en-US" baseline="-22000">
                <a:solidFill>
                  <a:srgbClr val="303437"/>
                </a:solidFill>
                <a:latin typeface="Noto Sans"/>
                <a:ea typeface="Noto Sans CJK JP"/>
                <a:cs typeface="Noto Sans"/>
              </a:rPr>
              <a:t>m_*</a:t>
            </a:r>
            <a:r>
              <a:rPr sz="1800" b="0" lang="ja-JP" altLang="en-US">
                <a:solidFill>
                  <a:srgbClr val="303437"/>
                </a:solidFill>
                <a:latin typeface="Noto Sans"/>
                <a:ea typeface="Noto Sans CJK JP"/>
                <a:cs typeface="Noto Sans"/>
              </a:rPr>
              <a:t>)=sup</a:t>
            </a:r>
            <a:r>
              <a:rPr sz="1404" b="0" lang="ja-JP" altLang="en-US" baseline="-22000">
                <a:solidFill>
                  <a:srgbClr val="303437"/>
                </a:solidFill>
                <a:latin typeface="Noto Sans"/>
                <a:ea typeface="Noto Sans CJK JP"/>
                <a:cs typeface="Noto Sans"/>
              </a:rPr>
              <a:t>m∈ I</a:t>
            </a:r>
            <a:r>
              <a:rPr sz="1800" b="0" lang="ja-JP" altLang="en-US">
                <a:solidFill>
                  <a:srgbClr val="303437"/>
                </a:solidFill>
                <a:latin typeface="Noto Sans"/>
                <a:ea typeface="Noto Sans CJK JP"/>
                <a:cs typeface="Noto Sans"/>
              </a:rPr>
              <a:t>κ(P</a:t>
            </a:r>
            <a:r>
              <a:rPr sz="1404" b="0" lang="ja-JP" altLang="en-US" baseline="-22000">
                <a:solidFill>
                  <a:srgbClr val="303437"/>
                </a:solidFill>
                <a:latin typeface="Noto Sans"/>
                <a:ea typeface="Noto Sans CJK JP"/>
                <a:cs typeface="Noto Sans"/>
              </a:rPr>
              <a:t>m</a:t>
            </a:r>
            <a:r>
              <a:rPr sz="1800" b="0" lang="ja-JP" altLang="en-US">
                <a:solidFill>
                  <a:srgbClr val="303437"/>
                </a:solidFill>
                <a:latin typeface="Noto Sans"/>
                <a:ea typeface="Noto Sans CJK JP"/>
                <a:cs typeface="Noto Sans"/>
              </a:rPr>
              <a:t>).</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arXiv:2609.10517。</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japanese-translation"/>
          <p:cNvSpPr txBox="1"/>
          <p:nvPr/>
        </p:nvSpPr>
        <p:spPr>
          <a:xfrm>
            <a:off x="594360" y="1417320"/>
            <a:ext cx="7955279" cy="2102866"/>
          </a:xfrm>
          <a:prstGeom prst="rect">
            <a:avLst/>
          </a:prstGeom>
          <a:noFill/>
        </p:spPr>
        <p:txBody>
          <a:bodyPr wrap="square" lIns="0" rIns="0" tIns="0" bIns="0">
            <a:noAutofit/>
          </a:bodyPr>
          <a:lstStyle/>
          <a:p>
            <a:pPr algn="l">
              <a:lnSpc>
                <a:spcPts val="224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I={4,6,8,…}∪{∞}とする。有限のm∈IについてRₘ=√(2π/[m sin(2π/m)])とし、点Rₘ(cos((2k+1)π/m),sin((2k+1)π/m))、k=0,…,m−1の凸包の内部をPₘ⊂ℝ²とする。P∞={x∈ℝ²:‖x‖₂&lt;1}とする。いずれも面積πの中心対称な凸領域である。この族の領域Ωに対し、FΩ(ξ)=∫Ω exp(iξ·x)dx、κ(Ω)=inf{‖ξ‖₂:ξ∈ℝ²,FΩ(ξ)=0}と定める。dxは平面ルベーグ測度で、内積とノルムはユークリッドのもの、inf∅=+∞とする。κ(Pₘ*)=supₘ∈I κ(Pₘ)を満たす、κ(Pₘ)を最大にする唯一のm*∈Iを求めよ。</a:t>
            </a:r>
          </a:p>
        </p:txBody>
      </p:sp>
      <p:sp>
        <p:nvSpPr>
          <p:cNvPr id="5" name="answer"/>
          <p:cNvSpPr txBox="1"/>
          <p:nvPr/>
        </p:nvSpPr>
        <p:spPr>
          <a:xfrm>
            <a:off x="594360" y="3629914"/>
            <a:ext cx="7955279" cy="438912"/>
          </a:xfrm>
          <a:prstGeom prst="rect">
            <a:avLst/>
          </a:prstGeom>
          <a:noFill/>
        </p:spPr>
        <p:txBody>
          <a:bodyPr wrap="square" lIns="0" rIns="0" tIns="0" bIns="0">
            <a:noAutofit/>
          </a:bodyPr>
          <a:lstStyle/>
          <a:p>
            <a:pPr algn="l">
              <a:lnSpc>
                <a:spcPts val="2486"/>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
            </a:r>
            <a:r>
              <a:rPr sz="2200" b="1" lang="ja-JP" altLang="en-US">
                <a:solidFill>
                  <a:srgbClr val="B13731"/>
                </a:solidFill>
                <a:latin typeface="Noto Sans"/>
                <a:ea typeface="Noto Sans CJK JP"/>
                <a:cs typeface="Noto Sans"/>
              </a:rPr>
              <a:t>正解：12</a:t>
            </a:r>
          </a:p>
        </p:txBody>
      </p:sp>
      <p:sp>
        <p:nvSpPr>
          <p:cNvPr id="6" name="TextBox 5"/>
          <p:cNvSpPr txBox="1"/>
          <p:nvPr/>
        </p:nvSpPr>
        <p:spPr>
          <a:xfrm>
            <a:off x="594360" y="4178554"/>
            <a:ext cx="7955279" cy="502920"/>
          </a:xfrm>
          <a:prstGeom prst="rect">
            <a:avLst/>
          </a:prstGeom>
          <a:noFill/>
        </p:spPr>
        <p:txBody>
          <a:bodyPr wrap="square" lIns="0" rIns="0" tIns="0" bIns="0">
            <a:noAutofit/>
          </a:bodyPr>
          <a:lstStyle/>
          <a:p>
            <a:pPr algn="l">
              <a:lnSpc>
                <a:spcPts val="1972"/>
              </a:lnSpc>
              <a:spcBef>
                <a:spcPts val="0"/>
              </a:spcBef>
              <a:spcAft>
                <a:spcPts val="0"/>
              </a:spcAft>
              <a:buNone/>
              <a:defRPr sz="1700" b="0">
                <a:solidFill>
                  <a:srgbClr val="303437"/>
                </a:solidFill>
                <a:latin typeface="Noto Sans"/>
              </a:defRPr>
            </a:pPr>
            <a:r>
              <a:rPr sz="1700" b="0" lang="ja-JP" altLang="en-US">
                <a:solidFill>
                  <a:srgbClr val="626669"/>
                </a:solidFill>
                <a:latin typeface="Noto Sans"/>
                <a:ea typeface="Noto Sans CJK JP"/>
                <a:cs typeface="Noto Sans"/>
              </a:rPr>
              <a:t>同じ面積の正多角形と円の中で、変換が最初に0になる周波数を比べる。</a:t>
            </a:r>
          </a:p>
        </p:txBody>
      </p:sp>
      <p:sp>
        <p:nvSpPr>
          <p:cNvPr id="7"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arXiv:2609.10517。</a:t>
            </a:r>
          </a:p>
        </p:txBody>
      </p:sp>
      <p:sp>
        <p:nvSpPr>
          <p:cNvPr id="8"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例6：対称性を持たない最大円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original-question"/>
          <p:cNvSpPr/>
          <p:nvPr/>
        </p:nvSpPr>
        <p:spPr>
          <a:xfrm>
            <a:off x="548640" y="1664208"/>
            <a:ext cx="8046720" cy="28499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01600">
            <a:noAutofit/>
          </a:bodyPr>
          <a:lstStyle/>
          <a:p>
            <a:pPr algn="l">
              <a:lnSpc>
                <a:spcPts val="1870"/>
              </a:lnSpc>
              <a:buNone/>
              <a:defRPr sz="1700" b="0">
                <a:solidFill>
                  <a:srgbClr val="303437"/>
                </a:solidFill>
                <a:latin typeface="Noto Sans"/>
              </a:defRPr>
            </a:pPr>
            <a:r>
              <a:rPr sz="1700" b="0" lang="ja-JP" altLang="en-US">
                <a:solidFill>
                  <a:srgbClr val="303437"/>
                </a:solidFill>
                <a:latin typeface="Noto Sans"/>
                <a:ea typeface="Noto Sans CJK JP"/>
                <a:cs typeface="Noto Sans"/>
              </a:rPr>
              <a:t>Work in the Euclidean plane with the lattice ℤ</a:t>
            </a:r>
            <a:r>
              <a:rPr sz="1326" b="0" lang="ja-JP" altLang="en-US" baseline="30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 of points having integer coordinates. All circles may have arbitrary real centers and positive radii. For a nonnegative integer n, an n-circle is a circle whose open interior contains exactly n lattice points; lattice points on its circumference are not counted. An n-circle is called largest if its radius is at least the radius of every other n-circle. Call n strong if a largest n-circle exists but no largest (n+1)-circle exists. For a circle C, let D(C)=C∩ℤ</a:t>
            </a:r>
            <a:r>
              <a:rPr sz="1326" b="0" lang="ja-JP" altLang="en-US" baseline="30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 be its set of boundary lattice points. Say that D(C) has a mirror symmetry if reflection across some affine line in the plane maps D(C) onto itself. Determine the smallest strong integer n for which there exists a largest n-circle C such that D(C) has no mirror symmetry.</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arXiv:2609.16081。</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japanese-translation"/>
          <p:cNvSpPr txBox="1"/>
          <p:nvPr/>
        </p:nvSpPr>
        <p:spPr>
          <a:xfrm>
            <a:off x="594360" y="1417320"/>
            <a:ext cx="7955279" cy="2267712"/>
          </a:xfrm>
          <a:prstGeom prst="rect">
            <a:avLst/>
          </a:prstGeom>
          <a:noFill/>
        </p:spPr>
        <p:txBody>
          <a:bodyPr wrap="square" lIns="0" rIns="0" tIns="0" bIns="0">
            <a:noAutofit/>
          </a:bodyPr>
          <a:lstStyle/>
          <a:p>
            <a:pPr algn="l">
              <a:lnSpc>
                <a:spcPts val="2124"/>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整数格子ℤ²を持つユークリッド平面を考える。円の中心は任意の実座標、半径は正とする。非負整数nについて、開いた内部にちょうどn個の格子点を含む円をn円と呼ぶ。円周上の格子点は数えない。ほかのどのn円の半径以上の半径を持つn円を最大と呼ぶ。最大n円は存在するが最大(n+1)円は存在しないとき、nを強いと呼ぶ。円Cの円周上の格子点集合をD(C)=C∩ℤ²とする。平面内のあるアフィン直線に関する鏡映がD(C)をそれ自身に移すとき、D(C)は鏡映対称性を持つとする。D(C)が鏡映対称性を持たない最大n円Cが存在するような、最小の強い整数nを求めよ。</a:t>
            </a:r>
          </a:p>
        </p:txBody>
      </p:sp>
      <p:sp>
        <p:nvSpPr>
          <p:cNvPr id="5" name="answer"/>
          <p:cNvSpPr txBox="1"/>
          <p:nvPr/>
        </p:nvSpPr>
        <p:spPr>
          <a:xfrm>
            <a:off x="594360" y="3794760"/>
            <a:ext cx="7955279" cy="438912"/>
          </a:xfrm>
          <a:prstGeom prst="rect">
            <a:avLst/>
          </a:prstGeom>
          <a:noFill/>
        </p:spPr>
        <p:txBody>
          <a:bodyPr wrap="square" lIns="0" rIns="0" tIns="0" bIns="0">
            <a:noAutofit/>
          </a:bodyPr>
          <a:lstStyle/>
          <a:p>
            <a:pPr algn="l">
              <a:lnSpc>
                <a:spcPts val="2486"/>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
            </a:r>
            <a:r>
              <a:rPr sz="2200" b="1" lang="ja-JP" altLang="en-US">
                <a:solidFill>
                  <a:srgbClr val="B13731"/>
                </a:solidFill>
                <a:latin typeface="Noto Sans"/>
                <a:ea typeface="Noto Sans CJK JP"/>
                <a:cs typeface="Noto Sans"/>
              </a:rPr>
              <a:t>正解：1748</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arXiv:2609.16081。</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例7：無限積の係数の符号</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original-question"/>
          <p:cNvSpPr/>
          <p:nvPr/>
        </p:nvSpPr>
        <p:spPr>
          <a:xfrm>
            <a:off x="548640" y="1664208"/>
            <a:ext cx="8046720" cy="208132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01600">
            <a:noAutofit/>
          </a:bodyPr>
          <a:lstStyle/>
          <a:p>
            <a:pPr algn="l">
              <a:lnSpc>
                <a:spcPts val="2088"/>
              </a:lnSpc>
              <a:buNone/>
              <a:defRPr sz="1800" b="0">
                <a:solidFill>
                  <a:srgbClr val="303437"/>
                </a:solidFill>
                <a:latin typeface="Noto Sans"/>
              </a:defRPr>
            </a:pPr>
            <a:r>
              <a:rPr sz="1800" b="0" lang="ja-JP" altLang="en-US">
                <a:solidFill>
                  <a:srgbClr val="303437"/>
                </a:solidFill>
                <a:latin typeface="Noto Sans"/>
                <a:ea typeface="Noto Sans CJK JP"/>
                <a:cs typeface="Noto Sans"/>
              </a:rPr>
              <a:t>For complex q with |q|&lt;1, define P(q)=∏</a:t>
            </a:r>
            <a:r>
              <a:rPr sz="1404" b="0" lang="ja-JP" altLang="en-US" baseline="-22000">
                <a:solidFill>
                  <a:srgbClr val="303437"/>
                </a:solidFill>
                <a:latin typeface="Noto Sans"/>
                <a:ea typeface="Noto Sans CJK JP"/>
                <a:cs typeface="Noto Sans"/>
              </a:rPr>
              <a:t>m=0</a:t>
            </a:r>
            <a:r>
              <a:rPr sz="1404" b="0" lang="ja-JP" altLang="en-US" baseline="30000">
                <a:solidFill>
                  <a:srgbClr val="303437"/>
                </a:solidFill>
                <a:latin typeface="Noto Sans"/>
                <a:ea typeface="Noto Sans CJK JP"/>
                <a:cs typeface="Noto Sans"/>
              </a:rPr>
              <a:t>∞</a:t>
            </a:r>
            <a:r>
              <a:rPr sz="1800" b="0" lang="ja-JP" altLang="en-US">
                <a:solidFill>
                  <a:srgbClr val="303437"/>
                </a:solidFill>
                <a:latin typeface="Noto Sans"/>
                <a:ea typeface="Noto Sans CJK JP"/>
                <a:cs typeface="Noto Sans"/>
              </a:rPr>
              <a:t>((1-q</a:t>
            </a:r>
            <a:r>
              <a:rPr sz="1404" b="0" lang="ja-JP" altLang="en-US" baseline="30000">
                <a:solidFill>
                  <a:srgbClr val="303437"/>
                </a:solidFill>
                <a:latin typeface="Noto Sans"/>
                <a:ea typeface="Noto Sans CJK JP"/>
                <a:cs typeface="Noto Sans"/>
              </a:rPr>
              <a:t>8m+1</a:t>
            </a:r>
            <a:r>
              <a:rPr sz="1800" b="0" lang="ja-JP" altLang="en-US">
                <a:solidFill>
                  <a:srgbClr val="303437"/>
                </a:solidFill>
                <a:latin typeface="Noto Sans"/>
                <a:ea typeface="Noto Sans CJK JP"/>
                <a:cs typeface="Noto Sans"/>
              </a:rPr>
              <a:t>)(1-q</a:t>
            </a:r>
            <a:r>
              <a:rPr sz="1404" b="0" lang="ja-JP" altLang="en-US" baseline="30000">
                <a:solidFill>
                  <a:srgbClr val="303437"/>
                </a:solidFill>
                <a:latin typeface="Noto Sans"/>
                <a:ea typeface="Noto Sans CJK JP"/>
                <a:cs typeface="Noto Sans"/>
              </a:rPr>
              <a:t>8m+7</a:t>
            </a:r>
            <a:r>
              <a:rPr sz="1800" b="0" lang="ja-JP" altLang="en-US">
                <a:solidFill>
                  <a:srgbClr val="303437"/>
                </a:solidFill>
                <a:latin typeface="Noto Sans"/>
                <a:ea typeface="Noto Sans CJK JP"/>
                <a:cs typeface="Noto Sans"/>
              </a:rPr>
              <a:t>))/((1-q</a:t>
            </a:r>
            <a:r>
              <a:rPr sz="1404" b="0" lang="ja-JP" altLang="en-US" baseline="30000">
                <a:solidFill>
                  <a:srgbClr val="303437"/>
                </a:solidFill>
                <a:latin typeface="Noto Sans"/>
                <a:ea typeface="Noto Sans CJK JP"/>
                <a:cs typeface="Noto Sans"/>
              </a:rPr>
              <a:t>8m+3</a:t>
            </a:r>
            <a:r>
              <a:rPr sz="1800" b="0" lang="ja-JP" altLang="en-US">
                <a:solidFill>
                  <a:srgbClr val="303437"/>
                </a:solidFill>
                <a:latin typeface="Noto Sans"/>
                <a:ea typeface="Noto Sans CJK JP"/>
                <a:cs typeface="Noto Sans"/>
              </a:rPr>
              <a:t>)(1-q</a:t>
            </a:r>
            <a:r>
              <a:rPr sz="1404" b="0" lang="ja-JP" altLang="en-US" baseline="30000">
                <a:solidFill>
                  <a:srgbClr val="303437"/>
                </a:solidFill>
                <a:latin typeface="Noto Sans"/>
                <a:ea typeface="Noto Sans CJK JP"/>
                <a:cs typeface="Noto Sans"/>
              </a:rPr>
              <a:t>8m+5</a:t>
            </a:r>
            <a:r>
              <a:rPr sz="1800" b="0" lang="ja-JP" altLang="en-US">
                <a:solidFill>
                  <a:srgbClr val="303437"/>
                </a:solidFill>
                <a:latin typeface="Noto Sans"/>
                <a:ea typeface="Noto Sans CJK JP"/>
                <a:cs typeface="Noto Sans"/>
              </a:rPr>
              <a:t>)). For each real δ, define the coefficients c</a:t>
            </a:r>
            <a:r>
              <a:rPr sz="1404" b="0" lang="ja-JP" altLang="en-US" baseline="-22000">
                <a:solidFill>
                  <a:srgbClr val="303437"/>
                </a:solidFill>
                <a:latin typeface="Noto Sans"/>
                <a:ea typeface="Noto Sans CJK JP"/>
                <a:cs typeface="Noto Sans"/>
              </a:rPr>
              <a:t>δ</a:t>
            </a:r>
            <a:r>
              <a:rPr sz="1800" b="0" lang="ja-JP" altLang="en-US">
                <a:solidFill>
                  <a:srgbClr val="303437"/>
                </a:solidFill>
                <a:latin typeface="Noto Sans"/>
                <a:ea typeface="Noto Sans CJK JP"/>
                <a:cs typeface="Noto Sans"/>
              </a:rPr>
              <a:t>(n) by exp(δ log P(q))=Σ</a:t>
            </a:r>
            <a:r>
              <a:rPr sz="1404" b="0" lang="ja-JP" altLang="en-US" baseline="-22000">
                <a:solidFill>
                  <a:srgbClr val="303437"/>
                </a:solidFill>
                <a:latin typeface="Noto Sans"/>
                <a:ea typeface="Noto Sans CJK JP"/>
                <a:cs typeface="Noto Sans"/>
              </a:rPr>
              <a:t>n=0</a:t>
            </a:r>
            <a:r>
              <a:rPr sz="1404" b="0" lang="ja-JP" altLang="en-US" baseline="30000">
                <a:solidFill>
                  <a:srgbClr val="303437"/>
                </a:solidFill>
                <a:latin typeface="Noto Sans"/>
                <a:ea typeface="Noto Sans CJK JP"/>
                <a:cs typeface="Noto Sans"/>
              </a:rPr>
              <a:t>∞</a:t>
            </a:r>
            <a:r>
              <a:rPr sz="1800" b="0" lang="ja-JP" altLang="en-US">
                <a:solidFill>
                  <a:srgbClr val="303437"/>
                </a:solidFill>
                <a:latin typeface="Noto Sans"/>
                <a:ea typeface="Noto Sans CJK JP"/>
                <a:cs typeface="Noto Sans"/>
              </a:rPr>
              <a:t>c</a:t>
            </a:r>
            <a:r>
              <a:rPr sz="1404" b="0" lang="ja-JP" altLang="en-US" baseline="-22000">
                <a:solidFill>
                  <a:srgbClr val="303437"/>
                </a:solidFill>
                <a:latin typeface="Noto Sans"/>
                <a:ea typeface="Noto Sans CJK JP"/>
                <a:cs typeface="Noto Sans"/>
              </a:rPr>
              <a:t>δ</a:t>
            </a:r>
            <a:r>
              <a:rPr sz="1800" b="0" lang="ja-JP" altLang="en-US">
                <a:solidFill>
                  <a:srgbClr val="303437"/>
                </a:solidFill>
                <a:latin typeface="Noto Sans"/>
                <a:ea typeface="Noto Sans CJK JP"/>
                <a:cs typeface="Noto Sans"/>
              </a:rPr>
              <a:t>(n)q</a:t>
            </a:r>
            <a:r>
              <a:rPr sz="1404" b="0" lang="ja-JP" altLang="en-US" baseline="30000">
                <a:solidFill>
                  <a:srgbClr val="303437"/>
                </a:solidFill>
                <a:latin typeface="Noto Sans"/>
                <a:ea typeface="Noto Sans CJK JP"/>
                <a:cs typeface="Noto Sans"/>
              </a:rPr>
              <a:t>n</a:t>
            </a:r>
            <a:r>
              <a:rPr sz="1800" b="0" lang="ja-JP" altLang="en-US">
                <a:solidFill>
                  <a:srgbClr val="303437"/>
                </a:solidFill>
                <a:latin typeface="Noto Sans"/>
                <a:ea typeface="Noto Sans CJK JP"/>
                <a:cs typeface="Noto Sans"/>
              </a:rPr>
              <a:t>, where log P(q) is the holomorphic logarithm on the open unit disk normalized by log P(0)=0. Set (σ</a:t>
            </a:r>
            <a:r>
              <a:rPr sz="1404" b="0" lang="ja-JP" altLang="en-US" baseline="-22000">
                <a:solidFill>
                  <a:srgbClr val="303437"/>
                </a:solidFill>
                <a:latin typeface="Noto Sans"/>
                <a:ea typeface="Noto Sans CJK JP"/>
                <a:cs typeface="Noto Sans"/>
              </a:rPr>
              <a:t>0</a:t>
            </a:r>
            <a:r>
              <a:rPr sz="1800" b="0" lang="ja-JP" altLang="en-US">
                <a:solidFill>
                  <a:srgbClr val="303437"/>
                </a:solidFill>
                <a:latin typeface="Noto Sans"/>
                <a:ea typeface="Noto Sans CJK JP"/>
                <a:cs typeface="Noto Sans"/>
              </a:rPr>
              <a:t>,σ</a:t>
            </a:r>
            <a:r>
              <a:rPr sz="1404" b="0" lang="ja-JP" altLang="en-US" baseline="-22000">
                <a:solidFill>
                  <a:srgbClr val="303437"/>
                </a:solidFill>
                <a:latin typeface="Noto Sans"/>
                <a:ea typeface="Noto Sans CJK JP"/>
                <a:cs typeface="Noto Sans"/>
              </a:rPr>
              <a:t>1</a:t>
            </a:r>
            <a:r>
              <a:rPr sz="1800" b="0" lang="ja-JP" altLang="en-US">
                <a:solidFill>
                  <a:srgbClr val="303437"/>
                </a:solidFill>
                <a:latin typeface="Noto Sans"/>
                <a:ea typeface="Noto Sans CJK JP"/>
                <a:cs typeface="Noto Sans"/>
              </a:rPr>
              <a:t>,σ</a:t>
            </a:r>
            <a:r>
              <a:rPr sz="1404" b="0" lang="ja-JP" altLang="en-US" baseline="-22000">
                <a:solidFill>
                  <a:srgbClr val="303437"/>
                </a:solidFill>
                <a:latin typeface="Noto Sans"/>
                <a:ea typeface="Noto Sans CJK JP"/>
                <a:cs typeface="Noto Sans"/>
              </a:rPr>
              <a:t>2</a:t>
            </a:r>
            <a:r>
              <a:rPr sz="1800" b="0" lang="ja-JP" altLang="en-US">
                <a:solidFill>
                  <a:srgbClr val="303437"/>
                </a:solidFill>
                <a:latin typeface="Noto Sans"/>
                <a:ea typeface="Noto Sans CJK JP"/>
                <a:cs typeface="Noto Sans"/>
              </a:rPr>
              <a:t>,σ</a:t>
            </a:r>
            <a:r>
              <a:rPr sz="1404" b="0" lang="ja-JP" altLang="en-US" baseline="-22000">
                <a:solidFill>
                  <a:srgbClr val="303437"/>
                </a:solidFill>
                <a:latin typeface="Noto Sans"/>
                <a:ea typeface="Noto Sans CJK JP"/>
                <a:cs typeface="Noto Sans"/>
              </a:rPr>
              <a:t>3</a:t>
            </a:r>
            <a:r>
              <a:rPr sz="1800" b="0" lang="ja-JP" altLang="en-US">
                <a:solidFill>
                  <a:srgbClr val="303437"/>
                </a:solidFill>
                <a:latin typeface="Noto Sans"/>
                <a:ea typeface="Noto Sans CJK JP"/>
                <a:cs typeface="Noto Sans"/>
              </a:rPr>
              <a:t>,σ</a:t>
            </a:r>
            <a:r>
              <a:rPr sz="1404" b="0" lang="ja-JP" altLang="en-US" baseline="-22000">
                <a:solidFill>
                  <a:srgbClr val="303437"/>
                </a:solidFill>
                <a:latin typeface="Noto Sans"/>
                <a:ea typeface="Noto Sans CJK JP"/>
                <a:cs typeface="Noto Sans"/>
              </a:rPr>
              <a:t>4</a:t>
            </a:r>
            <a:r>
              <a:rPr sz="1800" b="0" lang="ja-JP" altLang="en-US">
                <a:solidFill>
                  <a:srgbClr val="303437"/>
                </a:solidFill>
                <a:latin typeface="Noto Sans"/>
                <a:ea typeface="Noto Sans CJK JP"/>
                <a:cs typeface="Noto Sans"/>
              </a:rPr>
              <a:t>,σ</a:t>
            </a:r>
            <a:r>
              <a:rPr sz="1404" b="0" lang="ja-JP" altLang="en-US" baseline="-22000">
                <a:solidFill>
                  <a:srgbClr val="303437"/>
                </a:solidFill>
                <a:latin typeface="Noto Sans"/>
                <a:ea typeface="Noto Sans CJK JP"/>
                <a:cs typeface="Noto Sans"/>
              </a:rPr>
              <a:t>5</a:t>
            </a:r>
            <a:r>
              <a:rPr sz="1800" b="0" lang="ja-JP" altLang="en-US">
                <a:solidFill>
                  <a:srgbClr val="303437"/>
                </a:solidFill>
                <a:latin typeface="Noto Sans"/>
                <a:ea typeface="Noto Sans CJK JP"/>
                <a:cs typeface="Noto Sans"/>
              </a:rPr>
              <a:t>,σ</a:t>
            </a:r>
            <a:r>
              <a:rPr sz="1404" b="0" lang="ja-JP" altLang="en-US" baseline="-22000">
                <a:solidFill>
                  <a:srgbClr val="303437"/>
                </a:solidFill>
                <a:latin typeface="Noto Sans"/>
                <a:ea typeface="Noto Sans CJK JP"/>
                <a:cs typeface="Noto Sans"/>
              </a:rPr>
              <a:t>6</a:t>
            </a:r>
            <a:r>
              <a:rPr sz="1800" b="0" lang="ja-JP" altLang="en-US">
                <a:solidFill>
                  <a:srgbClr val="303437"/>
                </a:solidFill>
                <a:latin typeface="Noto Sans"/>
                <a:ea typeface="Noto Sans CJK JP"/>
                <a:cs typeface="Noto Sans"/>
              </a:rPr>
              <a:t>,σ</a:t>
            </a:r>
            <a:r>
              <a:rPr sz="1404" b="0" lang="ja-JP" altLang="en-US" baseline="-22000">
                <a:solidFill>
                  <a:srgbClr val="303437"/>
                </a:solidFill>
                <a:latin typeface="Noto Sans"/>
                <a:ea typeface="Noto Sans CJK JP"/>
                <a:cs typeface="Noto Sans"/>
              </a:rPr>
              <a:t>7</a:t>
            </a:r>
            <a:r>
              <a:rPr sz="1800" b="0" lang="ja-JP" altLang="en-US">
                <a:solidFill>
                  <a:srgbClr val="303437"/>
                </a:solidFill>
                <a:latin typeface="Noto Sans"/>
                <a:ea typeface="Noto Sans CJK JP"/>
                <a:cs typeface="Noto Sans"/>
              </a:rPr>
              <a:t>)=(1,-1,1,1,-1,1,-1,-1). Determine, as an exact interval, the set of all exponents δ∈(2,4] for which σ</a:t>
            </a:r>
            <a:r>
              <a:rPr sz="1404" b="0" lang="ja-JP" altLang="en-US" baseline="-22000">
                <a:solidFill>
                  <a:srgbClr val="303437"/>
                </a:solidFill>
                <a:latin typeface="Noto Sans"/>
                <a:ea typeface="Noto Sans CJK JP"/>
                <a:cs typeface="Noto Sans"/>
              </a:rPr>
              <a:t>r</a:t>
            </a:r>
            <a:r>
              <a:rPr sz="1800" b="0" lang="ja-JP" altLang="en-US">
                <a:solidFill>
                  <a:srgbClr val="303437"/>
                </a:solidFill>
                <a:latin typeface="Noto Sans"/>
                <a:ea typeface="Noto Sans CJK JP"/>
                <a:cs typeface="Noto Sans"/>
              </a:rPr>
              <a:t> c</a:t>
            </a:r>
            <a:r>
              <a:rPr sz="1404" b="0" lang="ja-JP" altLang="en-US" baseline="-22000">
                <a:solidFill>
                  <a:srgbClr val="303437"/>
                </a:solidFill>
                <a:latin typeface="Noto Sans"/>
                <a:ea typeface="Noto Sans CJK JP"/>
                <a:cs typeface="Noto Sans"/>
              </a:rPr>
              <a:t>δ</a:t>
            </a:r>
            <a:r>
              <a:rPr sz="1800" b="0" lang="ja-JP" altLang="en-US">
                <a:solidFill>
                  <a:srgbClr val="303437"/>
                </a:solidFill>
                <a:latin typeface="Noto Sans"/>
                <a:ea typeface="Noto Sans CJK JP"/>
                <a:cs typeface="Noto Sans"/>
              </a:rPr>
              <a:t>(8m+r)≥ 0 for every integer m≥0 and every r∈{0,1,2,3,4,5,6,7}. Zero coefficients are allowed.</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arXiv:2609.22324。</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japanese-translation"/>
          <p:cNvSpPr txBox="1"/>
          <p:nvPr/>
        </p:nvSpPr>
        <p:spPr>
          <a:xfrm>
            <a:off x="594360" y="1417320"/>
            <a:ext cx="7955279" cy="1818132"/>
          </a:xfrm>
          <a:prstGeom prst="rect">
            <a:avLst/>
          </a:prstGeom>
          <a:noFill/>
        </p:spPr>
        <p:txBody>
          <a:bodyPr wrap="square" lIns="0" rIns="0" tIns="0" bIns="0">
            <a:noAutofit/>
          </a:bodyPr>
          <a:lstStyle/>
          <a:p>
            <a:pPr algn="l">
              <a:lnSpc>
                <a:spcPts val="224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|q|&lt;1の複素数qについてP(q)=∏ₘ₌₀∞[(1−q^(8m+1))(1−q^(8m+7))]/[(1−q^(8m+3))(1−q^(8m+5))]と定める。実数δごとにexp(δ log P(q))=Σₙ₌₀∞cδ(n)qⁿで係数cδ(n)を定める。log P(q)は開単位円板上の正則対数で、log P(0)=0に正規化する。(σ₀,…,σ₇)=(1,−1,1,1,−1,1,−1,−1)と置く。すべての整数m≥0とr∈{0,1,2,3,4,5,6,7}でσᵣcδ(8m+r)≥0が成り立つ指数δ∈(2,4]の集合を、厳密な区間として求めよ。係数0は許す。</a:t>
            </a:r>
          </a:p>
        </p:txBody>
      </p:sp>
      <p:sp>
        <p:nvSpPr>
          <p:cNvPr id="5" name="answer"/>
          <p:cNvSpPr txBox="1"/>
          <p:nvPr/>
        </p:nvSpPr>
        <p:spPr>
          <a:xfrm>
            <a:off x="594360" y="3345180"/>
            <a:ext cx="7955279" cy="438912"/>
          </a:xfrm>
          <a:prstGeom prst="rect">
            <a:avLst/>
          </a:prstGeom>
          <a:noFill/>
        </p:spPr>
        <p:txBody>
          <a:bodyPr wrap="square" lIns="0" rIns="0" tIns="0" bIns="0">
            <a:noAutofit/>
          </a:bodyPr>
          <a:lstStyle/>
          <a:p>
            <a:pPr algn="l">
              <a:lnSpc>
                <a:spcPts val="2486"/>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
            </a:r>
            <a:r>
              <a:rPr sz="2200" b="1" lang="ja-JP" altLang="en-US">
                <a:solidFill>
                  <a:srgbClr val="B13731"/>
                </a:solidFill>
                <a:latin typeface="Noto Sans"/>
                <a:ea typeface="Noto Sans CJK JP"/>
                <a:cs typeface="Noto Sans"/>
              </a:rPr>
              <a:t>正解：[8/3,4]</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arXiv:2609.22324。</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例8：パーマネントと行列式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original-question"/>
          <p:cNvSpPr/>
          <p:nvPr/>
        </p:nvSpPr>
        <p:spPr>
          <a:xfrm>
            <a:off x="548640" y="1664208"/>
            <a:ext cx="8046720" cy="256803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01600">
            <a:noAutofit/>
          </a:bodyPr>
          <a:lstStyle/>
          <a:p>
            <a:pPr algn="l">
              <a:lnSpc>
                <a:spcPts val="2029"/>
              </a:lnSpc>
              <a:buNone/>
              <a:defRPr sz="1750" b="0">
                <a:solidFill>
                  <a:srgbClr val="303437"/>
                </a:solidFill>
                <a:latin typeface="Noto Sans"/>
              </a:defRPr>
            </a:pPr>
            <a:r>
              <a:rPr sz="1750" b="0" lang="ja-JP" altLang="en-US">
                <a:solidFill>
                  <a:srgbClr val="303437"/>
                </a:solidFill>
                <a:latin typeface="Noto Sans"/>
                <a:ea typeface="Noto Sans CJK JP"/>
                <a:cs typeface="Noto Sans"/>
              </a:rPr>
              <a:t>Let X=(x</a:t>
            </a:r>
            <a:r>
              <a:rPr sz="1365" b="0" lang="ja-JP" altLang="en-US" baseline="-22000">
                <a:solidFill>
                  <a:srgbClr val="303437"/>
                </a:solidFill>
                <a:latin typeface="Noto Sans"/>
                <a:ea typeface="Noto Sans CJK JP"/>
                <a:cs typeface="Noto Sans"/>
              </a:rPr>
              <a:t>ij</a:t>
            </a:r>
            <a:r>
              <a:rPr sz="1750" b="0" lang="ja-JP" altLang="en-US">
                <a:solidFill>
                  <a:srgbClr val="303437"/>
                </a:solidFill>
                <a:latin typeface="Noto Sans"/>
                <a:ea typeface="Noto Sans CJK JP"/>
                <a:cs typeface="Noto Sans"/>
              </a:rPr>
              <a:t>)</a:t>
            </a:r>
            <a:r>
              <a:rPr sz="1365" b="0" lang="ja-JP" altLang="en-US" baseline="-22000">
                <a:solidFill>
                  <a:srgbClr val="303437"/>
                </a:solidFill>
                <a:latin typeface="Noto Sans"/>
                <a:ea typeface="Noto Sans CJK JP"/>
                <a:cs typeface="Noto Sans"/>
              </a:rPr>
              <a:t>i,j=1</a:t>
            </a:r>
            <a:r>
              <a:rPr sz="1365" b="0" lang="ja-JP" altLang="en-US" baseline="30000">
                <a:solidFill>
                  <a:srgbClr val="303437"/>
                </a:solidFill>
                <a:latin typeface="Noto Sans"/>
                <a:ea typeface="Noto Sans CJK JP"/>
                <a:cs typeface="Noto Sans"/>
              </a:rPr>
              <a:t>3</a:t>
            </a:r>
            <a:r>
              <a:rPr sz="1750" b="0" lang="ja-JP" altLang="en-US">
                <a:solidFill>
                  <a:srgbClr val="303437"/>
                </a:solidFill>
                <a:latin typeface="Noto Sans"/>
                <a:ea typeface="Noto Sans CJK JP"/>
                <a:cs typeface="Noto Sans"/>
              </a:rPr>
              <a:t> and Y=(y</a:t>
            </a:r>
            <a:r>
              <a:rPr sz="1365" b="0" lang="ja-JP" altLang="en-US" baseline="-22000">
                <a:solidFill>
                  <a:srgbClr val="303437"/>
                </a:solidFill>
                <a:latin typeface="Noto Sans"/>
                <a:ea typeface="Noto Sans CJK JP"/>
                <a:cs typeface="Noto Sans"/>
              </a:rPr>
              <a:t>ij</a:t>
            </a:r>
            <a:r>
              <a:rPr sz="1750" b="0" lang="ja-JP" altLang="en-US">
                <a:solidFill>
                  <a:srgbClr val="303437"/>
                </a:solidFill>
                <a:latin typeface="Noto Sans"/>
                <a:ea typeface="Noto Sans CJK JP"/>
                <a:cs typeface="Noto Sans"/>
              </a:rPr>
              <a:t>)</a:t>
            </a:r>
            <a:r>
              <a:rPr sz="1365" b="0" lang="ja-JP" altLang="en-US" baseline="-22000">
                <a:solidFill>
                  <a:srgbClr val="303437"/>
                </a:solidFill>
                <a:latin typeface="Noto Sans"/>
                <a:ea typeface="Noto Sans CJK JP"/>
                <a:cs typeface="Noto Sans"/>
              </a:rPr>
              <a:t>i,j=1</a:t>
            </a:r>
            <a:r>
              <a:rPr sz="1365" b="0" lang="ja-JP" altLang="en-US" baseline="30000">
                <a:solidFill>
                  <a:srgbClr val="303437"/>
                </a:solidFill>
                <a:latin typeface="Noto Sans"/>
                <a:ea typeface="Noto Sans CJK JP"/>
                <a:cs typeface="Noto Sans"/>
              </a:rPr>
              <a:t>3</a:t>
            </a:r>
            <a:r>
              <a:rPr sz="1750" b="0" lang="ja-JP" altLang="en-US">
                <a:solidFill>
                  <a:srgbClr val="303437"/>
                </a:solidFill>
                <a:latin typeface="Noto Sans"/>
                <a:ea typeface="Noto Sans CJK JP"/>
                <a:cs typeface="Noto Sans"/>
              </a:rPr>
              <a:t> have eighteen algebraically independent commuting indeterminates over ℝ as entries. For a 3×3 matrix A=(a</a:t>
            </a:r>
            <a:r>
              <a:rPr sz="1365" b="0" lang="ja-JP" altLang="en-US" baseline="-22000">
                <a:solidFill>
                  <a:srgbClr val="303437"/>
                </a:solidFill>
                <a:latin typeface="Noto Sans"/>
                <a:ea typeface="Noto Sans CJK JP"/>
                <a:cs typeface="Noto Sans"/>
              </a:rPr>
              <a:t>ij</a:t>
            </a:r>
            <a:r>
              <a:rPr sz="1750" b="0" lang="ja-JP" altLang="en-US">
                <a:solidFill>
                  <a:srgbClr val="303437"/>
                </a:solidFill>
                <a:latin typeface="Noto Sans"/>
                <a:ea typeface="Noto Sans CJK JP"/>
                <a:cs typeface="Noto Sans"/>
              </a:rPr>
              <a:t>), define its permanent by per(A)=Σ</a:t>
            </a:r>
            <a:r>
              <a:rPr sz="1365" b="0" lang="ja-JP" altLang="en-US" baseline="-22000">
                <a:solidFill>
                  <a:srgbClr val="303437"/>
                </a:solidFill>
                <a:latin typeface="Noto Sans"/>
                <a:ea typeface="Noto Sans CJK JP"/>
                <a:cs typeface="Noto Sans"/>
              </a:rPr>
              <a:t>σ∈ S_3</a:t>
            </a:r>
            <a:r>
              <a:rPr sz="1750" b="0" lang="ja-JP" altLang="en-US">
                <a:solidFill>
                  <a:srgbClr val="303437"/>
                </a:solidFill>
                <a:latin typeface="Noto Sans"/>
                <a:ea typeface="Noto Sans CJK JP"/>
                <a:cs typeface="Noto Sans"/>
              </a:rPr>
              <a:t>∏</a:t>
            </a:r>
            <a:r>
              <a:rPr sz="1365" b="0" lang="ja-JP" altLang="en-US" baseline="-22000">
                <a:solidFill>
                  <a:srgbClr val="303437"/>
                </a:solidFill>
                <a:latin typeface="Noto Sans"/>
                <a:ea typeface="Noto Sans CJK JP"/>
                <a:cs typeface="Noto Sans"/>
              </a:rPr>
              <a:t>i=1</a:t>
            </a:r>
            <a:r>
              <a:rPr sz="1365" b="0" lang="ja-JP" altLang="en-US" baseline="30000">
                <a:solidFill>
                  <a:srgbClr val="303437"/>
                </a:solidFill>
                <a:latin typeface="Noto Sans"/>
                <a:ea typeface="Noto Sans CJK JP"/>
                <a:cs typeface="Noto Sans"/>
              </a:rPr>
              <a:t>3</a:t>
            </a:r>
            <a:r>
              <a:rPr sz="1750" b="0" lang="ja-JP" altLang="en-US">
                <a:solidFill>
                  <a:srgbClr val="303437"/>
                </a:solidFill>
                <a:latin typeface="Noto Sans"/>
                <a:ea typeface="Noto Sans CJK JP"/>
                <a:cs typeface="Noto Sans"/>
              </a:rPr>
              <a:t>a</a:t>
            </a:r>
            <a:r>
              <a:rPr sz="1365" b="0" lang="ja-JP" altLang="en-US" baseline="-22000">
                <a:solidFill>
                  <a:srgbClr val="303437"/>
                </a:solidFill>
                <a:latin typeface="Noto Sans"/>
                <a:ea typeface="Noto Sans CJK JP"/>
                <a:cs typeface="Noto Sans"/>
              </a:rPr>
              <a:t>i,σ(i)</a:t>
            </a:r>
            <a:r>
              <a:rPr sz="1750" b="0" lang="ja-JP" altLang="en-US">
                <a:solidFill>
                  <a:srgbClr val="303437"/>
                </a:solidFill>
                <a:latin typeface="Noto Sans"/>
                <a:ea typeface="Noto Sans CJK JP"/>
                <a:cs typeface="Noto Sans"/>
              </a:rPr>
              <a:t>, where S</a:t>
            </a:r>
            <a:r>
              <a:rPr sz="1365" b="0" lang="ja-JP" altLang="en-US" baseline="-22000">
                <a:solidFill>
                  <a:srgbClr val="303437"/>
                </a:solidFill>
                <a:latin typeface="Noto Sans"/>
                <a:ea typeface="Noto Sans CJK JP"/>
                <a:cs typeface="Noto Sans"/>
              </a:rPr>
              <a:t>3</a:t>
            </a:r>
            <a:r>
              <a:rPr sz="1750" b="0" lang="ja-JP" altLang="en-US">
                <a:solidFill>
                  <a:srgbClr val="303437"/>
                </a:solidFill>
                <a:latin typeface="Noto Sans"/>
                <a:ea typeface="Noto Sans CJK JP"/>
                <a:cs typeface="Noto Sans"/>
              </a:rPr>
              <a:t> is the set of all permutations of {1,2,3}, and let det(A) denote the usual determinant. For a sign matrix S=(s</a:t>
            </a:r>
            <a:r>
              <a:rPr sz="1365" b="0" lang="ja-JP" altLang="en-US" baseline="-22000">
                <a:solidFill>
                  <a:srgbClr val="303437"/>
                </a:solidFill>
                <a:latin typeface="Noto Sans"/>
                <a:ea typeface="Noto Sans CJK JP"/>
                <a:cs typeface="Noto Sans"/>
              </a:rPr>
              <a:t>ij</a:t>
            </a:r>
            <a:r>
              <a:rPr sz="1750" b="0" lang="ja-JP" altLang="en-US">
                <a:solidFill>
                  <a:srgbClr val="303437"/>
                </a:solidFill>
                <a:latin typeface="Noto Sans"/>
                <a:ea typeface="Noto Sans CJK JP"/>
                <a:cs typeface="Noto Sans"/>
              </a:rPr>
              <a:t>)∈{-1,1}</a:t>
            </a:r>
            <a:r>
              <a:rPr sz="1365" b="0" lang="ja-JP" altLang="en-US" baseline="30000">
                <a:solidFill>
                  <a:srgbClr val="303437"/>
                </a:solidFill>
                <a:latin typeface="Noto Sans"/>
                <a:ea typeface="Noto Sans CJK JP"/>
                <a:cs typeface="Noto Sans"/>
              </a:rPr>
              <a:t>3×3</a:t>
            </a:r>
            <a:r>
              <a:rPr sz="1750" b="0" lang="ja-JP" altLang="en-US">
                <a:solidFill>
                  <a:srgbClr val="303437"/>
                </a:solidFill>
                <a:latin typeface="Noto Sans"/>
                <a:ea typeface="Noto Sans CJK JP"/>
                <a:cs typeface="Noto Sans"/>
              </a:rPr>
              <a:t>, define the entrywise product S∘ A=(s</a:t>
            </a:r>
            <a:r>
              <a:rPr sz="1365" b="0" lang="ja-JP" altLang="en-US" baseline="-22000">
                <a:solidFill>
                  <a:srgbClr val="303437"/>
                </a:solidFill>
                <a:latin typeface="Noto Sans"/>
                <a:ea typeface="Noto Sans CJK JP"/>
                <a:cs typeface="Noto Sans"/>
              </a:rPr>
              <a:t>ij</a:t>
            </a:r>
            <a:r>
              <a:rPr sz="1750" b="0" lang="ja-JP" altLang="en-US">
                <a:solidFill>
                  <a:srgbClr val="303437"/>
                </a:solidFill>
                <a:latin typeface="Noto Sans"/>
                <a:ea typeface="Noto Sans CJK JP"/>
                <a:cs typeface="Noto Sans"/>
              </a:rPr>
              <a:t>a</a:t>
            </a:r>
            <a:r>
              <a:rPr sz="1365" b="0" lang="ja-JP" altLang="en-US" baseline="-22000">
                <a:solidFill>
                  <a:srgbClr val="303437"/>
                </a:solidFill>
                <a:latin typeface="Noto Sans"/>
                <a:ea typeface="Noto Sans CJK JP"/>
                <a:cs typeface="Noto Sans"/>
              </a:rPr>
              <a:t>ij</a:t>
            </a:r>
            <a:r>
              <a:rPr sz="1750" b="0" lang="ja-JP" altLang="en-US">
                <a:solidFill>
                  <a:srgbClr val="303437"/>
                </a:solidFill>
                <a:latin typeface="Noto Sans"/>
                <a:ea typeface="Noto Sans CJK JP"/>
                <a:cs typeface="Noto Sans"/>
              </a:rPr>
              <a:t>). Determine the smallest positive integer k for which there exist sign matrices S</a:t>
            </a:r>
            <a:r>
              <a:rPr sz="1365" b="0" lang="ja-JP" altLang="en-US" baseline="-22000">
                <a:solidFill>
                  <a:srgbClr val="303437"/>
                </a:solidFill>
                <a:latin typeface="Noto Sans"/>
                <a:ea typeface="Noto Sans CJK JP"/>
                <a:cs typeface="Noto Sans"/>
              </a:rPr>
              <a:t>1</a:t>
            </a:r>
            <a:r>
              <a:rPr sz="1750" b="0" lang="ja-JP" altLang="en-US">
                <a:solidFill>
                  <a:srgbClr val="303437"/>
                </a:solidFill>
                <a:latin typeface="Noto Sans"/>
                <a:ea typeface="Noto Sans CJK JP"/>
                <a:cs typeface="Noto Sans"/>
              </a:rPr>
              <a:t>,…,S</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,T</a:t>
            </a:r>
            <a:r>
              <a:rPr sz="1365" b="0" lang="ja-JP" altLang="en-US" baseline="-22000">
                <a:solidFill>
                  <a:srgbClr val="303437"/>
                </a:solidFill>
                <a:latin typeface="Noto Sans"/>
                <a:ea typeface="Noto Sans CJK JP"/>
                <a:cs typeface="Noto Sans"/>
              </a:rPr>
              <a:t>1</a:t>
            </a:r>
            <a:r>
              <a:rPr sz="1750" b="0" lang="ja-JP" altLang="en-US">
                <a:solidFill>
                  <a:srgbClr val="303437"/>
                </a:solidFill>
                <a:latin typeface="Noto Sans"/>
                <a:ea typeface="Noto Sans CJK JP"/>
                <a:cs typeface="Noto Sans"/>
              </a:rPr>
              <a:t>,…,T</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∈{-1,1}</a:t>
            </a:r>
            <a:r>
              <a:rPr sz="1365" b="0" lang="ja-JP" altLang="en-US" baseline="30000">
                <a:solidFill>
                  <a:srgbClr val="303437"/>
                </a:solidFill>
                <a:latin typeface="Noto Sans"/>
                <a:ea typeface="Noto Sans CJK JP"/>
                <a:cs typeface="Noto Sans"/>
              </a:rPr>
              <a:t>3×3</a:t>
            </a:r>
            <a:r>
              <a:rPr sz="1750" b="0" lang="ja-JP" altLang="en-US">
                <a:solidFill>
                  <a:srgbClr val="303437"/>
                </a:solidFill>
                <a:latin typeface="Noto Sans"/>
                <a:ea typeface="Noto Sans CJK JP"/>
                <a:cs typeface="Noto Sans"/>
              </a:rPr>
              <a:t> and real constants c</a:t>
            </a:r>
            <a:r>
              <a:rPr sz="1365" b="0" lang="ja-JP" altLang="en-US" baseline="-22000">
                <a:solidFill>
                  <a:srgbClr val="303437"/>
                </a:solidFill>
                <a:latin typeface="Noto Sans"/>
                <a:ea typeface="Noto Sans CJK JP"/>
                <a:cs typeface="Noto Sans"/>
              </a:rPr>
              <a:t>1</a:t>
            </a:r>
            <a:r>
              <a:rPr sz="1750" b="0" lang="ja-JP" altLang="en-US">
                <a:solidFill>
                  <a:srgbClr val="303437"/>
                </a:solidFill>
                <a:latin typeface="Noto Sans"/>
                <a:ea typeface="Noto Sans CJK JP"/>
                <a:cs typeface="Noto Sans"/>
              </a:rPr>
              <a:t>,…,c</a:t>
            </a:r>
            <a:r>
              <a:rPr sz="1365" b="0" lang="ja-JP" altLang="en-US" baseline="-22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 independent of all eighteen indeterminates, such that the polynomial identity per(X)per(Y)=Σ</a:t>
            </a:r>
            <a:r>
              <a:rPr sz="1365" b="0" lang="ja-JP" altLang="en-US" baseline="-22000">
                <a:solidFill>
                  <a:srgbClr val="303437"/>
                </a:solidFill>
                <a:latin typeface="Noto Sans"/>
                <a:ea typeface="Noto Sans CJK JP"/>
                <a:cs typeface="Noto Sans"/>
              </a:rPr>
              <a:t>t=1</a:t>
            </a:r>
            <a:r>
              <a:rPr sz="1365" b="0" lang="ja-JP" altLang="en-US" baseline="30000">
                <a:solidFill>
                  <a:srgbClr val="303437"/>
                </a:solidFill>
                <a:latin typeface="Noto Sans"/>
                <a:ea typeface="Noto Sans CJK JP"/>
                <a:cs typeface="Noto Sans"/>
              </a:rPr>
              <a:t>k</a:t>
            </a:r>
            <a:r>
              <a:rPr sz="1750" b="0" lang="ja-JP" altLang="en-US">
                <a:solidFill>
                  <a:srgbClr val="303437"/>
                </a:solidFill>
                <a:latin typeface="Noto Sans"/>
                <a:ea typeface="Noto Sans CJK JP"/>
                <a:cs typeface="Noto Sans"/>
              </a:rPr>
              <a:t>c</a:t>
            </a:r>
            <a:r>
              <a:rPr sz="1365" b="0" lang="ja-JP" altLang="en-US" baseline="-22000">
                <a:solidFill>
                  <a:srgbClr val="303437"/>
                </a:solidFill>
                <a:latin typeface="Noto Sans"/>
                <a:ea typeface="Noto Sans CJK JP"/>
                <a:cs typeface="Noto Sans"/>
              </a:rPr>
              <a:t>t</a:t>
            </a:r>
            <a:r>
              <a:rPr sz="1750" b="0" lang="ja-JP" altLang="en-US">
                <a:solidFill>
                  <a:srgbClr val="303437"/>
                </a:solidFill>
                <a:latin typeface="Noto Sans"/>
                <a:ea typeface="Noto Sans CJK JP"/>
                <a:cs typeface="Noto Sans"/>
              </a:rPr>
              <a:t>det(S</a:t>
            </a:r>
            <a:r>
              <a:rPr sz="1365" b="0" lang="ja-JP" altLang="en-US" baseline="-22000">
                <a:solidFill>
                  <a:srgbClr val="303437"/>
                </a:solidFill>
                <a:latin typeface="Noto Sans"/>
                <a:ea typeface="Noto Sans CJK JP"/>
                <a:cs typeface="Noto Sans"/>
              </a:rPr>
              <a:t>t</a:t>
            </a:r>
            <a:r>
              <a:rPr sz="1750" b="0" lang="ja-JP" altLang="en-US">
                <a:solidFill>
                  <a:srgbClr val="303437"/>
                </a:solidFill>
                <a:latin typeface="Noto Sans"/>
                <a:ea typeface="Noto Sans CJK JP"/>
                <a:cs typeface="Noto Sans"/>
              </a:rPr>
              <a:t>∘ X)det(T</a:t>
            </a:r>
            <a:r>
              <a:rPr sz="1365" b="0" lang="ja-JP" altLang="en-US" baseline="-22000">
                <a:solidFill>
                  <a:srgbClr val="303437"/>
                </a:solidFill>
                <a:latin typeface="Noto Sans"/>
                <a:ea typeface="Noto Sans CJK JP"/>
                <a:cs typeface="Noto Sans"/>
              </a:rPr>
              <a:t>t</a:t>
            </a:r>
            <a:r>
              <a:rPr sz="1750" b="0" lang="ja-JP" altLang="en-US">
                <a:solidFill>
                  <a:srgbClr val="303437"/>
                </a:solidFill>
                <a:latin typeface="Noto Sans"/>
                <a:ea typeface="Noto Sans CJK JP"/>
                <a:cs typeface="Noto Sans"/>
              </a:rPr>
              <a:t>∘ Y) holds.</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arXiv:2609.22928。</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japanese-translation"/>
          <p:cNvSpPr txBox="1"/>
          <p:nvPr/>
        </p:nvSpPr>
        <p:spPr>
          <a:xfrm>
            <a:off x="594360" y="1417320"/>
            <a:ext cx="7955279" cy="2387600"/>
          </a:xfrm>
          <a:prstGeom prst="rect">
            <a:avLst/>
          </a:prstGeom>
          <a:noFill/>
        </p:spPr>
        <p:txBody>
          <a:bodyPr wrap="square" lIns="0" rIns="0" tIns="0" bIns="0">
            <a:noAutofit/>
          </a:bodyPr>
          <a:lstStyle/>
          <a:p>
            <a:pPr algn="l">
              <a:lnSpc>
                <a:spcPts val="224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X=(xᵢⱼ)、Y=(yᵢⱼ)、i,j=1,2,3の18個の成分は、ℝ上で代数的に独立な可換不定元とする。3×3行列A=(aᵢⱼ)のパーマネントをper(A)=Σσ∈S₃ ∏ᵢ₌₁³ aᵢ,σ(i)と定める。S₃は{1,2,3}の置換全体で、det(A)は通常の行列式を表す。符号行列S=(sᵢⱼ)∈{−1,1}³ˣ³に対しS∘A=(sᵢⱼaᵢⱼ)を成分ごとの積とする。18個の不定元によらない実定数c₁,…,cₖと符号行列S₁,…,Sₖ,T₁,…,Tₖが存在し、per(X)per(Y)=Σₜ₌₁ᵏcₜdet(Sₜ∘X)det(Tₜ∘Y)が多項式恒等式として成り立つ最小の正整数kを求めよ。</a:t>
            </a:r>
          </a:p>
        </p:txBody>
      </p:sp>
      <p:sp>
        <p:nvSpPr>
          <p:cNvPr id="5" name="answer"/>
          <p:cNvSpPr txBox="1"/>
          <p:nvPr/>
        </p:nvSpPr>
        <p:spPr>
          <a:xfrm>
            <a:off x="594360" y="3914648"/>
            <a:ext cx="7955279" cy="438912"/>
          </a:xfrm>
          <a:prstGeom prst="rect">
            <a:avLst/>
          </a:prstGeom>
          <a:noFill/>
        </p:spPr>
        <p:txBody>
          <a:bodyPr wrap="square" lIns="0" rIns="0" tIns="0" bIns="0">
            <a:noAutofit/>
          </a:bodyPr>
          <a:lstStyle/>
          <a:p>
            <a:pPr algn="l">
              <a:lnSpc>
                <a:spcPts val="2486"/>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
            </a:r>
            <a:r>
              <a:rPr sz="2200" b="1" lang="ja-JP" altLang="en-US">
                <a:solidFill>
                  <a:srgbClr val="B13731"/>
                </a:solidFill>
                <a:latin typeface="Noto Sans"/>
                <a:ea typeface="Noto Sans CJK JP"/>
                <a:cs typeface="Noto Sans"/>
              </a:rPr>
              <a:t>正解：13</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arXiv:2609.22928。</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例9：グラフ準同型の次数条件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original-question"/>
          <p:cNvSpPr/>
          <p:nvPr/>
        </p:nvSpPr>
        <p:spPr>
          <a:xfrm>
            <a:off x="548640" y="1664208"/>
            <a:ext cx="8046720" cy="28012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01600">
            <a:noAutofit/>
          </a:bodyPr>
          <a:lstStyle/>
          <a:p>
            <a:pPr algn="l">
              <a:lnSpc>
                <a:spcPts val="2029"/>
              </a:lnSpc>
              <a:buNone/>
              <a:defRPr sz="1750" b="0">
                <a:solidFill>
                  <a:srgbClr val="303437"/>
                </a:solidFill>
                <a:latin typeface="Noto Sans"/>
              </a:defRPr>
            </a:pPr>
            <a:r>
              <a:rPr sz="1750" b="0" lang="ja-JP" altLang="en-US">
                <a:solidFill>
                  <a:srgbClr val="303437"/>
                </a:solidFill>
                <a:latin typeface="Noto Sans"/>
                <a:ea typeface="Noto Sans CJK JP"/>
                <a:cs typeface="Noto Sans"/>
              </a:rPr>
              <a:t>All graphs are finite, simple, and undirected. Cycles are considered as subgraphs, not necessarily induced subgraphs. A graph homomorphism from G to H is a map f:V(G)→ V(H) such that f(u)f(v)∈ E(H) whenever uv∈ E(G); the map need not be injective. For a real number c∈[0,1], consider the following property: there exists a finite graph H</a:t>
            </a:r>
            <a:r>
              <a:rPr sz="1365" b="0" lang="ja-JP" altLang="en-US" baseline="-22000">
                <a:solidFill>
                  <a:srgbClr val="303437"/>
                </a:solidFill>
                <a:latin typeface="Noto Sans"/>
                <a:ea typeface="Noto Sans CJK JP"/>
                <a:cs typeface="Noto Sans"/>
              </a:rPr>
              <a:t>c</a:t>
            </a:r>
            <a:r>
              <a:rPr sz="1750" b="0" lang="ja-JP" altLang="en-US">
                <a:solidFill>
                  <a:srgbClr val="303437"/>
                </a:solidFill>
                <a:latin typeface="Noto Sans"/>
                <a:ea typeface="Noto Sans CJK JP"/>
                <a:cs typeface="Noto Sans"/>
              </a:rPr>
              <a:t> containing no cycle of length 3 such that, for every integer n≥1, every graph G on n vertices containing no cycle of length 3 or 5, and in which every vertex has at least cn neighbors, admits a homomorphism to H</a:t>
            </a:r>
            <a:r>
              <a:rPr sz="1365" b="0" lang="ja-JP" altLang="en-US" baseline="-22000">
                <a:solidFill>
                  <a:srgbClr val="303437"/>
                </a:solidFill>
                <a:latin typeface="Noto Sans"/>
                <a:ea typeface="Noto Sans CJK JP"/>
                <a:cs typeface="Noto Sans"/>
              </a:rPr>
              <a:t>c</a:t>
            </a:r>
            <a:r>
              <a:rPr sz="1750" b="0" lang="ja-JP" altLang="en-US">
                <a:solidFill>
                  <a:srgbClr val="303437"/>
                </a:solidFill>
                <a:latin typeface="Noto Sans"/>
                <a:ea typeface="Noto Sans CJK JP"/>
                <a:cs typeface="Noto Sans"/>
              </a:rPr>
              <a:t>. The graph H</a:t>
            </a:r>
            <a:r>
              <a:rPr sz="1365" b="0" lang="ja-JP" altLang="en-US" baseline="-22000">
                <a:solidFill>
                  <a:srgbClr val="303437"/>
                </a:solidFill>
                <a:latin typeface="Noto Sans"/>
                <a:ea typeface="Noto Sans CJK JP"/>
                <a:cs typeface="Noto Sans"/>
              </a:rPr>
              <a:t>c</a:t>
            </a:r>
            <a:r>
              <a:rPr sz="1750" b="0" lang="ja-JP" altLang="en-US">
                <a:solidFill>
                  <a:srgbClr val="303437"/>
                </a:solidFill>
                <a:latin typeface="Noto Sans"/>
                <a:ea typeface="Noto Sans CJK JP"/>
                <a:cs typeface="Noto Sans"/>
              </a:rPr>
              <a:t> may depend on c, but not on n or G. What is the exact infimum of the numbers c∈[0,1] having this property?</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arXiv:2609.25390。</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japanese-translation"/>
          <p:cNvSpPr txBox="1"/>
          <p:nvPr/>
        </p:nvSpPr>
        <p:spPr>
          <a:xfrm>
            <a:off x="594360" y="1417320"/>
            <a:ext cx="7955279" cy="2387600"/>
          </a:xfrm>
          <a:prstGeom prst="rect">
            <a:avLst/>
          </a:prstGeom>
          <a:noFill/>
        </p:spPr>
        <p:txBody>
          <a:bodyPr wrap="square" lIns="0" rIns="0" tIns="0" bIns="0">
            <a:noAutofit/>
          </a:bodyPr>
          <a:lstStyle/>
          <a:p>
            <a:pPr algn="l">
              <a:lnSpc>
                <a:spcPts val="224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グラフはすべて有限・単純・無向とし、閉路は誘導部分グラフとは限らない。GからHへのグラフ準同型とは、uv∈E(G)ならf(u)f(v)∈E(H)となる写像f:V(G)→V(H)で、単射である必要はない。実数c∈[0,1]について次の性質を考える。長さ3の閉路を含まない有限グラフHcが存在し、任意の整数n≥1と、長さ3または5の閉路を含まず、各頂点が少なくともcn個の隣接頂点を持つn頂点グラフGが、Hcへの準同型を持つ。Hcはcに依存してよいが、nやGには依存しない。この性質を持つc∈[0,1]の下限を厳密に求めよ。</a:t>
            </a:r>
          </a:p>
        </p:txBody>
      </p:sp>
      <p:sp>
        <p:nvSpPr>
          <p:cNvPr id="5" name="answer"/>
          <p:cNvSpPr txBox="1"/>
          <p:nvPr/>
        </p:nvSpPr>
        <p:spPr>
          <a:xfrm>
            <a:off x="594360" y="3914648"/>
            <a:ext cx="7955279" cy="438912"/>
          </a:xfrm>
          <a:prstGeom prst="rect">
            <a:avLst/>
          </a:prstGeom>
          <a:noFill/>
        </p:spPr>
        <p:txBody>
          <a:bodyPr wrap="square" lIns="0" rIns="0" tIns="0" bIns="0">
            <a:noAutofit/>
          </a:bodyPr>
          <a:lstStyle/>
          <a:p>
            <a:pPr algn="l">
              <a:lnSpc>
                <a:spcPts val="2486"/>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
            </a:r>
            <a:r>
              <a:rPr sz="2200" b="1" lang="ja-JP" altLang="en-US">
                <a:solidFill>
                  <a:srgbClr val="B13731"/>
                </a:solidFill>
                <a:latin typeface="Noto Sans"/>
                <a:ea typeface="Noto Sans CJK JP"/>
                <a:cs typeface="Noto Sans"/>
              </a:rPr>
              <a:t>正解：1/9</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arXiv:2609.25390。</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例10：自己相関を打ち消す列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original-question"/>
          <p:cNvSpPr/>
          <p:nvPr/>
        </p:nvSpPr>
        <p:spPr>
          <a:xfrm>
            <a:off x="548640" y="1664208"/>
            <a:ext cx="8046720" cy="261197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01600">
            <a:noAutofit/>
          </a:bodyPr>
          <a:lstStyle/>
          <a:p>
            <a:pPr algn="l">
              <a:lnSpc>
                <a:spcPts val="2088"/>
              </a:lnSpc>
              <a:buNone/>
              <a:defRPr sz="1800" b="0">
                <a:solidFill>
                  <a:srgbClr val="303437"/>
                </a:solidFill>
                <a:latin typeface="Noto Sans"/>
              </a:defRPr>
            </a:pPr>
            <a:r>
              <a:rPr sz="1800" b="0" lang="ja-JP" altLang="en-US">
                <a:solidFill>
                  <a:srgbClr val="303437"/>
                </a:solidFill>
                <a:latin typeface="Noto Sans"/>
                <a:ea typeface="Noto Sans CJK JP"/>
                <a:cs typeface="Noto Sans"/>
              </a:rPr>
              <a:t>For each integer k∈{1,2,…,14}, set L=8k+3 and h=4k+2, and index length-L sequences by 0,1,…,L-1. Define q∈{-1,1}</a:t>
            </a:r>
            <a:r>
              <a:rPr sz="1404" b="0" lang="ja-JP" altLang="en-US" baseline="30000">
                <a:solidFill>
                  <a:srgbClr val="303437"/>
                </a:solidFill>
                <a:latin typeface="Noto Sans"/>
                <a:ea typeface="Noto Sans CJK JP"/>
                <a:cs typeface="Noto Sans"/>
              </a:rPr>
              <a:t>L</a:t>
            </a:r>
            <a:r>
              <a:rPr sz="1800" b="0" lang="ja-JP" altLang="en-US">
                <a:solidFill>
                  <a:srgbClr val="303437"/>
                </a:solidFill>
                <a:latin typeface="Noto Sans"/>
                <a:ea typeface="Noto Sans CJK JP"/>
                <a:cs typeface="Noto Sans"/>
              </a:rPr>
              <a:t> by setting q</a:t>
            </a:r>
            <a:r>
              <a:rPr sz="1404" b="0" lang="ja-JP" altLang="en-US" baseline="-22000">
                <a:solidFill>
                  <a:srgbClr val="303437"/>
                </a:solidFill>
                <a:latin typeface="Noto Sans"/>
                <a:ea typeface="Noto Sans CJK JP"/>
                <a:cs typeface="Noto Sans"/>
              </a:rPr>
              <a:t>i</a:t>
            </a:r>
            <a:r>
              <a:rPr sz="1800" b="0" lang="ja-JP" altLang="en-US">
                <a:solidFill>
                  <a:srgbClr val="303437"/>
                </a:solidFill>
                <a:latin typeface="Noto Sans"/>
                <a:ea typeface="Noto Sans CJK JP"/>
                <a:cs typeface="Noto Sans"/>
              </a:rPr>
              <a:t>=-1 exactly at the three indices h-1,h,L-1, and q</a:t>
            </a:r>
            <a:r>
              <a:rPr sz="1404" b="0" lang="ja-JP" altLang="en-US" baseline="-22000">
                <a:solidFill>
                  <a:srgbClr val="303437"/>
                </a:solidFill>
                <a:latin typeface="Noto Sans"/>
                <a:ea typeface="Noto Sans CJK JP"/>
                <a:cs typeface="Noto Sans"/>
              </a:rPr>
              <a:t>i</a:t>
            </a:r>
            <a:r>
              <a:rPr sz="1800" b="0" lang="ja-JP" altLang="en-US">
                <a:solidFill>
                  <a:srgbClr val="303437"/>
                </a:solidFill>
                <a:latin typeface="Noto Sans"/>
                <a:ea typeface="Noto Sans CJK JP"/>
                <a:cs typeface="Noto Sans"/>
              </a:rPr>
              <a:t>=1 elsewhere. For any x∈{-1,1}</a:t>
            </a:r>
            <a:r>
              <a:rPr sz="1404" b="0" lang="ja-JP" altLang="en-US" baseline="30000">
                <a:solidFill>
                  <a:srgbClr val="303437"/>
                </a:solidFill>
                <a:latin typeface="Noto Sans"/>
                <a:ea typeface="Noto Sans CJK JP"/>
                <a:cs typeface="Noto Sans"/>
              </a:rPr>
              <a:t>L</a:t>
            </a:r>
            <a:r>
              <a:rPr sz="1800" b="0" lang="ja-JP" altLang="en-US">
                <a:solidFill>
                  <a:srgbClr val="303437"/>
                </a:solidFill>
                <a:latin typeface="Noto Sans"/>
                <a:ea typeface="Noto Sans CJK JP"/>
                <a:cs typeface="Noto Sans"/>
              </a:rPr>
              <a:t>, define its half-flip x</a:t>
            </a:r>
            <a:r>
              <a:rPr sz="1404" b="0" lang="ja-JP" altLang="en-US" baseline="30000">
                <a:solidFill>
                  <a:srgbClr val="303437"/>
                </a:solidFill>
                <a:latin typeface="Noto Sans"/>
                <a:ea typeface="Noto Sans CJK JP"/>
                <a:cs typeface="Noto Sans"/>
              </a:rPr>
              <a:t>*</a:t>
            </a:r>
            <a:r>
              <a:rPr sz="1800" b="0" lang="ja-JP" altLang="en-US">
                <a:solidFill>
                  <a:srgbClr val="303437"/>
                </a:solidFill>
                <a:latin typeface="Noto Sans"/>
                <a:ea typeface="Noto Sans CJK JP"/>
                <a:cs typeface="Noto Sans"/>
              </a:rPr>
              <a:t> by x</a:t>
            </a:r>
            <a:r>
              <a:rPr sz="1404" b="0" lang="ja-JP" altLang="en-US" baseline="-22000">
                <a:solidFill>
                  <a:srgbClr val="303437"/>
                </a:solidFill>
                <a:latin typeface="Noto Sans"/>
                <a:ea typeface="Noto Sans CJK JP"/>
                <a:cs typeface="Noto Sans"/>
              </a:rPr>
              <a:t>i</a:t>
            </a:r>
            <a:r>
              <a:rPr sz="1404" b="0" lang="ja-JP" altLang="en-US" baseline="30000">
                <a:solidFill>
                  <a:srgbClr val="303437"/>
                </a:solidFill>
                <a:latin typeface="Noto Sans"/>
                <a:ea typeface="Noto Sans CJK JP"/>
                <a:cs typeface="Noto Sans"/>
              </a:rPr>
              <a:t>*</a:t>
            </a:r>
            <a:r>
              <a:rPr sz="1800" b="0" lang="ja-JP" altLang="en-US">
                <a:solidFill>
                  <a:srgbClr val="303437"/>
                </a:solidFill>
                <a:latin typeface="Noto Sans"/>
                <a:ea typeface="Noto Sans CJK JP"/>
                <a:cs typeface="Noto Sans"/>
              </a:rPr>
              <a:t>=x</a:t>
            </a:r>
            <a:r>
              <a:rPr sz="1404" b="0" lang="ja-JP" altLang="en-US" baseline="-22000">
                <a:solidFill>
                  <a:srgbClr val="303437"/>
                </a:solidFill>
                <a:latin typeface="Noto Sans"/>
                <a:ea typeface="Noto Sans CJK JP"/>
                <a:cs typeface="Noto Sans"/>
              </a:rPr>
              <a:t>i</a:t>
            </a:r>
            <a:r>
              <a:rPr sz="1800" b="0" lang="ja-JP" altLang="en-US">
                <a:solidFill>
                  <a:srgbClr val="303437"/>
                </a:solidFill>
                <a:latin typeface="Noto Sans"/>
                <a:ea typeface="Noto Sans CJK JP"/>
                <a:cs typeface="Noto Sans"/>
              </a:rPr>
              <a:t> for i&lt;h and x</a:t>
            </a:r>
            <a:r>
              <a:rPr sz="1404" b="0" lang="ja-JP" altLang="en-US" baseline="-22000">
                <a:solidFill>
                  <a:srgbClr val="303437"/>
                </a:solidFill>
                <a:latin typeface="Noto Sans"/>
                <a:ea typeface="Noto Sans CJK JP"/>
                <a:cs typeface="Noto Sans"/>
              </a:rPr>
              <a:t>i</a:t>
            </a:r>
            <a:r>
              <a:rPr sz="1404" b="0" lang="ja-JP" altLang="en-US" baseline="30000">
                <a:solidFill>
                  <a:srgbClr val="303437"/>
                </a:solidFill>
                <a:latin typeface="Noto Sans"/>
                <a:ea typeface="Noto Sans CJK JP"/>
                <a:cs typeface="Noto Sans"/>
              </a:rPr>
              <a:t>*</a:t>
            </a:r>
            <a:r>
              <a:rPr sz="1800" b="0" lang="ja-JP" altLang="en-US">
                <a:solidFill>
                  <a:srgbClr val="303437"/>
                </a:solidFill>
                <a:latin typeface="Noto Sans"/>
                <a:ea typeface="Noto Sans CJK JP"/>
                <a:cs typeface="Noto Sans"/>
              </a:rPr>
              <a:t>=-x</a:t>
            </a:r>
            <a:r>
              <a:rPr sz="1404" b="0" lang="ja-JP" altLang="en-US" baseline="-22000">
                <a:solidFill>
                  <a:srgbClr val="303437"/>
                </a:solidFill>
                <a:latin typeface="Noto Sans"/>
                <a:ea typeface="Noto Sans CJK JP"/>
                <a:cs typeface="Noto Sans"/>
              </a:rPr>
              <a:t>i</a:t>
            </a:r>
            <a:r>
              <a:rPr sz="1800" b="0" lang="ja-JP" altLang="en-US">
                <a:solidFill>
                  <a:srgbClr val="303437"/>
                </a:solidFill>
                <a:latin typeface="Noto Sans"/>
                <a:ea typeface="Noto Sans CJK JP"/>
                <a:cs typeface="Noto Sans"/>
              </a:rPr>
              <a:t> for i≥ h. Multiplication of sequences is coordinatewise, so (sq)</a:t>
            </a:r>
            <a:r>
              <a:rPr sz="1404" b="0" lang="ja-JP" altLang="en-US" baseline="-22000">
                <a:solidFill>
                  <a:srgbClr val="303437"/>
                </a:solidFill>
                <a:latin typeface="Noto Sans"/>
                <a:ea typeface="Noto Sans CJK JP"/>
                <a:cs typeface="Noto Sans"/>
              </a:rPr>
              <a:t>i</a:t>
            </a:r>
            <a:r>
              <a:rPr sz="1800" b="0" lang="ja-JP" altLang="en-US">
                <a:solidFill>
                  <a:srgbClr val="303437"/>
                </a:solidFill>
                <a:latin typeface="Noto Sans"/>
                <a:ea typeface="Noto Sans CJK JP"/>
                <a:cs typeface="Noto Sans"/>
              </a:rPr>
              <a:t>=s</a:t>
            </a:r>
            <a:r>
              <a:rPr sz="1404" b="0" lang="ja-JP" altLang="en-US" baseline="-22000">
                <a:solidFill>
                  <a:srgbClr val="303437"/>
                </a:solidFill>
                <a:latin typeface="Noto Sans"/>
                <a:ea typeface="Noto Sans CJK JP"/>
                <a:cs typeface="Noto Sans"/>
              </a:rPr>
              <a:t>i</a:t>
            </a:r>
            <a:r>
              <a:rPr sz="1800" b="0" lang="ja-JP" altLang="en-US">
                <a:solidFill>
                  <a:srgbClr val="303437"/>
                </a:solidFill>
                <a:latin typeface="Noto Sans"/>
                <a:ea typeface="Noto Sans CJK JP"/>
                <a:cs typeface="Noto Sans"/>
              </a:rPr>
              <a:t>q</a:t>
            </a:r>
            <a:r>
              <a:rPr sz="1404" b="0" lang="ja-JP" altLang="en-US" baseline="-22000">
                <a:solidFill>
                  <a:srgbClr val="303437"/>
                </a:solidFill>
                <a:latin typeface="Noto Sans"/>
                <a:ea typeface="Noto Sans CJK JP"/>
                <a:cs typeface="Noto Sans"/>
              </a:rPr>
              <a:t>i</a:t>
            </a:r>
            <a:r>
              <a:rPr sz="1800" b="0" lang="ja-JP" altLang="en-US">
                <a:solidFill>
                  <a:srgbClr val="303437"/>
                </a:solidFill>
                <a:latin typeface="Noto Sans"/>
                <a:ea typeface="Noto Sans CJK JP"/>
                <a:cs typeface="Noto Sans"/>
              </a:rPr>
              <a:t>. For 1≤ d&lt;L, define the aperiodic autocorrelation C</a:t>
            </a:r>
            <a:r>
              <a:rPr sz="1404" b="0" lang="ja-JP" altLang="en-US" baseline="-22000">
                <a:solidFill>
                  <a:srgbClr val="303437"/>
                </a:solidFill>
                <a:latin typeface="Noto Sans"/>
                <a:ea typeface="Noto Sans CJK JP"/>
                <a:cs typeface="Noto Sans"/>
              </a:rPr>
              <a:t>d</a:t>
            </a:r>
            <a:r>
              <a:rPr sz="1800" b="0" lang="ja-JP" altLang="en-US">
                <a:solidFill>
                  <a:srgbClr val="303437"/>
                </a:solidFill>
                <a:latin typeface="Noto Sans"/>
                <a:ea typeface="Noto Sans CJK JP"/>
                <a:cs typeface="Noto Sans"/>
              </a:rPr>
              <a:t>(x)=Σ</a:t>
            </a:r>
            <a:r>
              <a:rPr sz="1404" b="0" lang="ja-JP" altLang="en-US" baseline="-22000">
                <a:solidFill>
                  <a:srgbClr val="303437"/>
                </a:solidFill>
                <a:latin typeface="Noto Sans"/>
                <a:ea typeface="Noto Sans CJK JP"/>
                <a:cs typeface="Noto Sans"/>
              </a:rPr>
              <a:t>i=0</a:t>
            </a:r>
            <a:r>
              <a:rPr sz="1404" b="0" lang="ja-JP" altLang="en-US" baseline="30000">
                <a:solidFill>
                  <a:srgbClr val="303437"/>
                </a:solidFill>
                <a:latin typeface="Noto Sans"/>
                <a:ea typeface="Noto Sans CJK JP"/>
                <a:cs typeface="Noto Sans"/>
              </a:rPr>
              <a:t>L-1-d</a:t>
            </a:r>
            <a:r>
              <a:rPr sz="1800" b="0" lang="ja-JP" altLang="en-US">
                <a:solidFill>
                  <a:srgbClr val="303437"/>
                </a:solidFill>
                <a:latin typeface="Noto Sans"/>
                <a:ea typeface="Noto Sans CJK JP"/>
                <a:cs typeface="Noto Sans"/>
              </a:rPr>
              <a:t>x</a:t>
            </a:r>
            <a:r>
              <a:rPr sz="1404" b="0" lang="ja-JP" altLang="en-US" baseline="-22000">
                <a:solidFill>
                  <a:srgbClr val="303437"/>
                </a:solidFill>
                <a:latin typeface="Noto Sans"/>
                <a:ea typeface="Noto Sans CJK JP"/>
                <a:cs typeface="Noto Sans"/>
              </a:rPr>
              <a:t>i</a:t>
            </a:r>
            <a:r>
              <a:rPr sz="1800" b="0" lang="ja-JP" altLang="en-US">
                <a:solidFill>
                  <a:srgbClr val="303437"/>
                </a:solidFill>
                <a:latin typeface="Noto Sans"/>
                <a:ea typeface="Noto Sans CJK JP"/>
                <a:cs typeface="Noto Sans"/>
              </a:rPr>
              <a:t> x</a:t>
            </a:r>
            <a:r>
              <a:rPr sz="1404" b="0" lang="ja-JP" altLang="en-US" baseline="-22000">
                <a:solidFill>
                  <a:srgbClr val="303437"/>
                </a:solidFill>
                <a:latin typeface="Noto Sans"/>
                <a:ea typeface="Noto Sans CJK JP"/>
                <a:cs typeface="Noto Sans"/>
              </a:rPr>
              <a:t>i+d</a:t>
            </a:r>
            <a:r>
              <a:rPr sz="1800" b="0" lang="ja-JP" altLang="en-US">
                <a:solidFill>
                  <a:srgbClr val="303437"/>
                </a:solidFill>
                <a:latin typeface="Noto Sans"/>
                <a:ea typeface="Noto Sans CJK JP"/>
                <a:cs typeface="Noto Sans"/>
              </a:rPr>
              <a:t>, with no wrap-around of indices. Determine the finite set of all such integers k for which there exists s∈{-1,1}</a:t>
            </a:r>
            <a:r>
              <a:rPr sz="1404" b="0" lang="ja-JP" altLang="en-US" baseline="30000">
                <a:solidFill>
                  <a:srgbClr val="303437"/>
                </a:solidFill>
                <a:latin typeface="Noto Sans"/>
                <a:ea typeface="Noto Sans CJK JP"/>
                <a:cs typeface="Noto Sans"/>
              </a:rPr>
              <a:t>L</a:t>
            </a:r>
            <a:r>
              <a:rPr sz="1800" b="0" lang="ja-JP" altLang="en-US">
                <a:solidFill>
                  <a:srgbClr val="303437"/>
                </a:solidFill>
                <a:latin typeface="Noto Sans"/>
                <a:ea typeface="Noto Sans CJK JP"/>
                <a:cs typeface="Noto Sans"/>
              </a:rPr>
              <a:t> satisfying C</a:t>
            </a:r>
            <a:r>
              <a:rPr sz="1404" b="0" lang="ja-JP" altLang="en-US" baseline="-22000">
                <a:solidFill>
                  <a:srgbClr val="303437"/>
                </a:solidFill>
                <a:latin typeface="Noto Sans"/>
                <a:ea typeface="Noto Sans CJK JP"/>
                <a:cs typeface="Noto Sans"/>
              </a:rPr>
              <a:t>d</a:t>
            </a:r>
            <a:r>
              <a:rPr sz="1800" b="0" lang="ja-JP" altLang="en-US">
                <a:solidFill>
                  <a:srgbClr val="303437"/>
                </a:solidFill>
                <a:latin typeface="Noto Sans"/>
                <a:ea typeface="Noto Sans CJK JP"/>
                <a:cs typeface="Noto Sans"/>
              </a:rPr>
              <a:t>(s)+C</a:t>
            </a:r>
            <a:r>
              <a:rPr sz="1404" b="0" lang="ja-JP" altLang="en-US" baseline="-22000">
                <a:solidFill>
                  <a:srgbClr val="303437"/>
                </a:solidFill>
                <a:latin typeface="Noto Sans"/>
                <a:ea typeface="Noto Sans CJK JP"/>
                <a:cs typeface="Noto Sans"/>
              </a:rPr>
              <a:t>d</a:t>
            </a:r>
            <a:r>
              <a:rPr sz="1800" b="0" lang="ja-JP" altLang="en-US">
                <a:solidFill>
                  <a:srgbClr val="303437"/>
                </a:solidFill>
                <a:latin typeface="Noto Sans"/>
                <a:ea typeface="Noto Sans CJK JP"/>
                <a:cs typeface="Noto Sans"/>
              </a:rPr>
              <a:t>(s</a:t>
            </a:r>
            <a:r>
              <a:rPr sz="1404" b="0" lang="ja-JP" altLang="en-US" baseline="30000">
                <a:solidFill>
                  <a:srgbClr val="303437"/>
                </a:solidFill>
                <a:latin typeface="Noto Sans"/>
                <a:ea typeface="Noto Sans CJK JP"/>
                <a:cs typeface="Noto Sans"/>
              </a:rPr>
              <a:t>*</a:t>
            </a:r>
            <a:r>
              <a:rPr sz="1800" b="0" lang="ja-JP" altLang="en-US">
                <a:solidFill>
                  <a:srgbClr val="303437"/>
                </a:solidFill>
                <a:latin typeface="Noto Sans"/>
                <a:ea typeface="Noto Sans CJK JP"/>
                <a:cs typeface="Noto Sans"/>
              </a:rPr>
              <a:t>)+C</a:t>
            </a:r>
            <a:r>
              <a:rPr sz="1404" b="0" lang="ja-JP" altLang="en-US" baseline="-22000">
                <a:solidFill>
                  <a:srgbClr val="303437"/>
                </a:solidFill>
                <a:latin typeface="Noto Sans"/>
                <a:ea typeface="Noto Sans CJK JP"/>
                <a:cs typeface="Noto Sans"/>
              </a:rPr>
              <a:t>d</a:t>
            </a:r>
            <a:r>
              <a:rPr sz="1800" b="0" lang="ja-JP" altLang="en-US">
                <a:solidFill>
                  <a:srgbClr val="303437"/>
                </a:solidFill>
                <a:latin typeface="Noto Sans"/>
                <a:ea typeface="Noto Sans CJK JP"/>
                <a:cs typeface="Noto Sans"/>
              </a:rPr>
              <a:t>(sq)+C</a:t>
            </a:r>
            <a:r>
              <a:rPr sz="1404" b="0" lang="ja-JP" altLang="en-US" baseline="-22000">
                <a:solidFill>
                  <a:srgbClr val="303437"/>
                </a:solidFill>
                <a:latin typeface="Noto Sans"/>
                <a:ea typeface="Noto Sans CJK JP"/>
                <a:cs typeface="Noto Sans"/>
              </a:rPr>
              <a:t>d</a:t>
            </a:r>
            <a:r>
              <a:rPr sz="1800" b="0" lang="ja-JP" altLang="en-US">
                <a:solidFill>
                  <a:srgbClr val="303437"/>
                </a:solidFill>
                <a:latin typeface="Noto Sans"/>
                <a:ea typeface="Noto Sans CJK JP"/>
                <a:cs typeface="Noto Sans"/>
              </a:rPr>
              <a:t>((sq)</a:t>
            </a:r>
            <a:r>
              <a:rPr sz="1404" b="0" lang="ja-JP" altLang="en-US" baseline="30000">
                <a:solidFill>
                  <a:srgbClr val="303437"/>
                </a:solidFill>
                <a:latin typeface="Noto Sans"/>
                <a:ea typeface="Noto Sans CJK JP"/>
                <a:cs typeface="Noto Sans"/>
              </a:rPr>
              <a:t>*</a:t>
            </a:r>
            <a:r>
              <a:rPr sz="1800" b="0" lang="ja-JP" altLang="en-US">
                <a:solidFill>
                  <a:srgbClr val="303437"/>
                </a:solidFill>
                <a:latin typeface="Noto Sans"/>
                <a:ea typeface="Noto Sans CJK JP"/>
                <a:cs typeface="Noto Sans"/>
              </a:rPr>
              <a:t>)=0 for every d=1,2,…,L-1.</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arXiv:2609.25543。</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japanese-translation"/>
          <p:cNvSpPr txBox="1"/>
          <p:nvPr/>
        </p:nvSpPr>
        <p:spPr>
          <a:xfrm>
            <a:off x="594360" y="1417320"/>
            <a:ext cx="7955279" cy="2387600"/>
          </a:xfrm>
          <a:prstGeom prst="rect">
            <a:avLst/>
          </a:prstGeom>
          <a:noFill/>
        </p:spPr>
        <p:txBody>
          <a:bodyPr wrap="square" lIns="0" rIns="0" tIns="0" bIns="0">
            <a:noAutofit/>
          </a:bodyPr>
          <a:lstStyle/>
          <a:p>
            <a:pPr algn="l">
              <a:lnSpc>
                <a:spcPts val="224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k∈{1,…,14}ごとにL=8k+3、h=4k+2と置き、長さLの列に0,…,L−1の添字を付ける。q∈{−1,1}ᴸを、添字h−1,h,L−1だけでqᵢ=−1、それ以外でqᵢ=1となるよう定める。x∈{−1,1}ᴸの半反転x*を、i&lt;hならx*ᵢ=xᵢ、i≥hならx*ᵢ=−xᵢで定める。列の積は成分ごと、すなわち(sq)ᵢ=sᵢqᵢとする。1≤d&lt;Lについて非周期自己相関をC_d(x)=Σᵢ₌₀^(L−1−d)xᵢxᵢ₊dと定め、添字は巡回させない。すべてのd=1,…,L−1でC_d(s)+C_d(s*)+C_d(sq)+C_d((sq)*)=0となるs∈{−1,1}ᴸが存在するkをすべて求めよ。</a:t>
            </a:r>
          </a:p>
        </p:txBody>
      </p:sp>
      <p:sp>
        <p:nvSpPr>
          <p:cNvPr id="5" name="answer"/>
          <p:cNvSpPr txBox="1"/>
          <p:nvPr/>
        </p:nvSpPr>
        <p:spPr>
          <a:xfrm>
            <a:off x="594360" y="3914648"/>
            <a:ext cx="7955279" cy="438912"/>
          </a:xfrm>
          <a:prstGeom prst="rect">
            <a:avLst/>
          </a:prstGeom>
          <a:noFill/>
        </p:spPr>
        <p:txBody>
          <a:bodyPr wrap="square" lIns="0" rIns="0" tIns="0" bIns="0">
            <a:noAutofit/>
          </a:bodyPr>
          <a:lstStyle/>
          <a:p>
            <a:pPr algn="l">
              <a:lnSpc>
                <a:spcPts val="2486"/>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
            </a:r>
            <a:r>
              <a:rPr sz="2200" b="1" lang="ja-JP" altLang="en-US">
                <a:solidFill>
                  <a:srgbClr val="B13731"/>
                </a:solidFill>
                <a:latin typeface="Noto Sans"/>
                <a:ea typeface="Noto Sans CJK JP"/>
                <a:cs typeface="Noto Sans"/>
              </a:rPr>
              <a:t>正解：{1,2,3,6,7}</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arXiv:2609.25543。</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例11：二つの平面グラフの彩色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original-question"/>
          <p:cNvSpPr/>
          <p:nvPr/>
        </p:nvSpPr>
        <p:spPr>
          <a:xfrm>
            <a:off x="548640" y="1664208"/>
            <a:ext cx="8046720" cy="28636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01600">
            <a:noAutofit/>
          </a:bodyPr>
          <a:lstStyle/>
          <a:p>
            <a:pPr algn="l">
              <a:lnSpc>
                <a:spcPts val="2088"/>
              </a:lnSpc>
              <a:buNone/>
              <a:defRPr sz="1800" b="0">
                <a:solidFill>
                  <a:srgbClr val="303437"/>
                </a:solidFill>
                <a:latin typeface="Noto Sans"/>
              </a:defRPr>
            </a:pPr>
            <a:r>
              <a:rPr sz="1800" b="0" lang="ja-JP" altLang="en-US">
                <a:solidFill>
                  <a:srgbClr val="303437"/>
                </a:solidFill>
                <a:latin typeface="Noto Sans"/>
                <a:ea typeface="Noto Sans CJK JP"/>
                <a:cs typeface="Noto Sans"/>
              </a:rPr>
              <a:t>All graphs in this question are finite, nonempty, simple, and undirected. A graph is planar if it admits a drawing in the plane in which edges meet only at common endpoints. Let B be the class of graphs G=(V,E) satisfying both conditions: 1. There exist planar graphs P</a:t>
            </a:r>
            <a:r>
              <a:rPr sz="1404" b="0" lang="ja-JP" altLang="en-US" baseline="-22000">
                <a:solidFill>
                  <a:srgbClr val="303437"/>
                </a:solidFill>
                <a:latin typeface="Noto Sans"/>
                <a:ea typeface="Noto Sans CJK JP"/>
                <a:cs typeface="Noto Sans"/>
              </a:rPr>
              <a:t>1</a:t>
            </a:r>
            <a:r>
              <a:rPr sz="1800" b="0" lang="ja-JP" altLang="en-US">
                <a:solidFill>
                  <a:srgbClr val="303437"/>
                </a:solidFill>
                <a:latin typeface="Noto Sans"/>
                <a:ea typeface="Noto Sans CJK JP"/>
                <a:cs typeface="Noto Sans"/>
              </a:rPr>
              <a:t>=(V,E</a:t>
            </a:r>
            <a:r>
              <a:rPr sz="1404" b="0" lang="ja-JP" altLang="en-US" baseline="-22000">
                <a:solidFill>
                  <a:srgbClr val="303437"/>
                </a:solidFill>
                <a:latin typeface="Noto Sans"/>
                <a:ea typeface="Noto Sans CJK JP"/>
                <a:cs typeface="Noto Sans"/>
              </a:rPr>
              <a:t>1</a:t>
            </a:r>
            <a:r>
              <a:rPr sz="1800" b="0" lang="ja-JP" altLang="en-US">
                <a:solidFill>
                  <a:srgbClr val="303437"/>
                </a:solidFill>
                <a:latin typeface="Noto Sans"/>
                <a:ea typeface="Noto Sans CJK JP"/>
                <a:cs typeface="Noto Sans"/>
              </a:rPr>
              <a:t>) and P</a:t>
            </a:r>
            <a:r>
              <a:rPr sz="1404" b="0" lang="ja-JP" altLang="en-US" baseline="-22000">
                <a:solidFill>
                  <a:srgbClr val="303437"/>
                </a:solidFill>
                <a:latin typeface="Noto Sans"/>
                <a:ea typeface="Noto Sans CJK JP"/>
                <a:cs typeface="Noto Sans"/>
              </a:rPr>
              <a:t>2</a:t>
            </a:r>
            <a:r>
              <a:rPr sz="1800" b="0" lang="ja-JP" altLang="en-US">
                <a:solidFill>
                  <a:srgbClr val="303437"/>
                </a:solidFill>
                <a:latin typeface="Noto Sans"/>
                <a:ea typeface="Noto Sans CJK JP"/>
                <a:cs typeface="Noto Sans"/>
              </a:rPr>
              <a:t>=(V,E</a:t>
            </a:r>
            <a:r>
              <a:rPr sz="1404" b="0" lang="ja-JP" altLang="en-US" baseline="-22000">
                <a:solidFill>
                  <a:srgbClr val="303437"/>
                </a:solidFill>
                <a:latin typeface="Noto Sans"/>
                <a:ea typeface="Noto Sans CJK JP"/>
                <a:cs typeface="Noto Sans"/>
              </a:rPr>
              <a:t>2</a:t>
            </a:r>
            <a:r>
              <a:rPr sz="1800" b="0" lang="ja-JP" altLang="en-US">
                <a:solidFill>
                  <a:srgbClr val="303437"/>
                </a:solidFill>
                <a:latin typeface="Noto Sans"/>
                <a:ea typeface="Noto Sans CJK JP"/>
                <a:cs typeface="Noto Sans"/>
              </a:rPr>
              <a:t>) such that E=E</a:t>
            </a:r>
            <a:r>
              <a:rPr sz="1404" b="0" lang="ja-JP" altLang="en-US" baseline="-22000">
                <a:solidFill>
                  <a:srgbClr val="303437"/>
                </a:solidFill>
                <a:latin typeface="Noto Sans"/>
                <a:ea typeface="Noto Sans CJK JP"/>
                <a:cs typeface="Noto Sans"/>
              </a:rPr>
              <a:t>1</a:t>
            </a:r>
            <a:r>
              <a:rPr sz="1800" b="0" lang="ja-JP" altLang="en-US">
                <a:solidFill>
                  <a:srgbClr val="303437"/>
                </a:solidFill>
                <a:latin typeface="Noto Sans"/>
                <a:ea typeface="Noto Sans CJK JP"/>
                <a:cs typeface="Noto Sans"/>
              </a:rPr>
              <a:t>∪ E</a:t>
            </a:r>
            <a:r>
              <a:rPr sz="1404" b="0" lang="ja-JP" altLang="en-US" baseline="-22000">
                <a:solidFill>
                  <a:srgbClr val="303437"/>
                </a:solidFill>
                <a:latin typeface="Noto Sans"/>
                <a:ea typeface="Noto Sans CJK JP"/>
                <a:cs typeface="Noto Sans"/>
              </a:rPr>
              <a:t>2</a:t>
            </a:r>
            <a:r>
              <a:rPr sz="1800" b="0" lang="ja-JP" altLang="en-US">
                <a:solidFill>
                  <a:srgbClr val="303437"/>
                </a:solidFill>
                <a:latin typeface="Noto Sans"/>
                <a:ea typeface="Noto Sans CJK JP"/>
                <a:cs typeface="Noto Sans"/>
              </a:rPr>
              <a:t>. The edge sets may overlap, and the two planar drawings are chosen independently. 2. No three distinct vertices of G are pairwise nonadjacent. For a graph G, define its chromatic number χ(G) to be the least positive integer k for which there is a map c:V→{1,…,k} satisfying c(u)≠ c(v) for every edge uv∈ E. Determine the exact value of max</a:t>
            </a:r>
            <a:r>
              <a:rPr sz="1404" b="0" lang="ja-JP" altLang="en-US" baseline="-22000">
                <a:solidFill>
                  <a:srgbClr val="303437"/>
                </a:solidFill>
                <a:latin typeface="Noto Sans"/>
                <a:ea typeface="Noto Sans CJK JP"/>
                <a:cs typeface="Noto Sans"/>
              </a:rPr>
              <a:t>G∈B</a:t>
            </a:r>
            <a:r>
              <a:rPr sz="1800" b="0" lang="ja-JP" altLang="en-US">
                <a:solidFill>
                  <a:srgbClr val="303437"/>
                </a:solidFill>
                <a:latin typeface="Noto Sans"/>
                <a:ea typeface="Noto Sans CJK JP"/>
                <a:cs typeface="Noto Sans"/>
              </a:rPr>
              <a:t>χ(G).</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arXiv:2609.28102。</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japanese-translation"/>
          <p:cNvSpPr txBox="1"/>
          <p:nvPr/>
        </p:nvSpPr>
        <p:spPr>
          <a:xfrm>
            <a:off x="594360" y="1417320"/>
            <a:ext cx="7955279" cy="2387600"/>
          </a:xfrm>
          <a:prstGeom prst="rect">
            <a:avLst/>
          </a:prstGeom>
          <a:noFill/>
        </p:spPr>
        <p:txBody>
          <a:bodyPr wrap="square" lIns="0" rIns="0" tIns="0" bIns="0">
            <a:noAutofit/>
          </a:bodyPr>
          <a:lstStyle/>
          <a:p>
            <a:pPr algn="l">
              <a:lnSpc>
                <a:spcPts val="224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グラフは有限・非空・単純・無向とする。平面グラフとは、辺どうしが共通の端点以外で交わらないよう平面に描けるグラフである。クラスBは次の二条件を満たすG=(V,E)からなる。(1) 平面グラフP₁=(V,E₁)、P₂=(V,E₂)が存在しE=E₁∪E₂となる。辺集合は重なってよく、二つの平面描画は独立に選ぶ。(2) どの異なる3頂点を選んでも、少なくとも一組は隣接する。彩色数χ(G)を、すべての辺uvでc(u)≠c(v)となる写像c:V→{1,…,k}が存在する最小の正整数kとする。max_G∈B χ(G)の厳密な値を求めよ。</a:t>
            </a:r>
          </a:p>
        </p:txBody>
      </p:sp>
      <p:sp>
        <p:nvSpPr>
          <p:cNvPr id="5" name="answer"/>
          <p:cNvSpPr txBox="1"/>
          <p:nvPr/>
        </p:nvSpPr>
        <p:spPr>
          <a:xfrm>
            <a:off x="594360" y="3914648"/>
            <a:ext cx="7955279" cy="438912"/>
          </a:xfrm>
          <a:prstGeom prst="rect">
            <a:avLst/>
          </a:prstGeom>
          <a:noFill/>
        </p:spPr>
        <p:txBody>
          <a:bodyPr wrap="square" lIns="0" rIns="0" tIns="0" bIns="0">
            <a:noAutofit/>
          </a:bodyPr>
          <a:lstStyle/>
          <a:p>
            <a:pPr algn="l">
              <a:lnSpc>
                <a:spcPts val="2486"/>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
            </a:r>
            <a:r>
              <a:rPr sz="2200" b="1" lang="ja-JP" altLang="en-US">
                <a:solidFill>
                  <a:srgbClr val="B13731"/>
                </a:solidFill>
                <a:latin typeface="Noto Sans"/>
                <a:ea typeface="Noto Sans CJK JP"/>
                <a:cs typeface="Noto Sans"/>
              </a:rPr>
              <a:t>正解：9</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arXiv:2609.28102。</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例12：三つの円錐曲線への接円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original-question"/>
          <p:cNvSpPr/>
          <p:nvPr/>
        </p:nvSpPr>
        <p:spPr>
          <a:xfrm>
            <a:off x="548640" y="1664208"/>
            <a:ext cx="8046720" cy="24653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01600">
            <a:noAutofit/>
          </a:bodyPr>
          <a:lstStyle/>
          <a:p>
            <a:pPr algn="l">
              <a:lnSpc>
                <a:spcPts val="1972"/>
              </a:lnSpc>
              <a:buNone/>
              <a:defRPr sz="1700" b="0">
                <a:solidFill>
                  <a:srgbClr val="303437"/>
                </a:solidFill>
                <a:latin typeface="Noto Sans"/>
              </a:defRPr>
            </a:pPr>
            <a:r>
              <a:rPr sz="1700" b="0" lang="ja-JP" altLang="en-US">
                <a:solidFill>
                  <a:srgbClr val="303437"/>
                </a:solidFill>
                <a:latin typeface="Noto Sans"/>
                <a:ea typeface="Noto Sans CJK JP"/>
                <a:cs typeface="Noto Sans"/>
              </a:rPr>
              <a:t>Work in the Euclidean plane ℝ</a:t>
            </a:r>
            <a:r>
              <a:rPr sz="1326" b="0" lang="ja-JP" altLang="en-US" baseline="30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 with its standard metric. Set δ=1/500000, u(x,y)=(480x+31y)/(481), v(x,y)=(-31x+480y)/(481). Consider the three conics Q</a:t>
            </a:r>
            <a:r>
              <a:rPr sz="1326" b="0" lang="ja-JP" altLang="en-US" baseline="-22000">
                <a:solidFill>
                  <a:srgbClr val="303437"/>
                </a:solidFill>
                <a:latin typeface="Noto Sans"/>
                <a:ea typeface="Noto Sans CJK JP"/>
                <a:cs typeface="Noto Sans"/>
              </a:rPr>
              <a:t>0</a:t>
            </a:r>
            <a:r>
              <a:rPr sz="1700" b="0" lang="ja-JP" altLang="en-US">
                <a:solidFill>
                  <a:srgbClr val="303437"/>
                </a:solidFill>
                <a:latin typeface="Noto Sans"/>
                <a:ea typeface="Noto Sans CJK JP"/>
                <a:cs typeface="Noto Sans"/>
              </a:rPr>
              <a:t>: x</a:t>
            </a:r>
            <a:r>
              <a:rPr sz="1326" b="0" lang="ja-JP" altLang="en-US" baseline="30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-(25/3)xy+(600/29)y</a:t>
            </a:r>
            <a:r>
              <a:rPr sz="1326" b="0" lang="ja-JP" altLang="en-US" baseline="30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-(15/2)x-(2975/29)y+25/2=0; Q</a:t>
            </a:r>
            <a:r>
              <a:rPr sz="1326" b="0" lang="ja-JP" altLang="en-US" baseline="-22000">
                <a:solidFill>
                  <a:srgbClr val="303437"/>
                </a:solidFill>
                <a:latin typeface="Noto Sans"/>
                <a:ea typeface="Noto Sans CJK JP"/>
                <a:cs typeface="Noto Sans"/>
              </a:rPr>
              <a:t>1</a:t>
            </a:r>
            <a:r>
              <a:rPr sz="1700" b="0" lang="ja-JP" altLang="en-US">
                <a:solidFill>
                  <a:srgbClr val="303437"/>
                </a:solidFill>
                <a:latin typeface="Noto Sans"/>
                <a:ea typeface="Noto Sans CJK JP"/>
                <a:cs typeface="Noto Sans"/>
              </a:rPr>
              <a:t>: y</a:t>
            </a:r>
            <a:r>
              <a:rPr sz="1326" b="0" lang="ja-JP" altLang="en-US" baseline="30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-δ</a:t>
            </a:r>
            <a:r>
              <a:rPr sz="1326" b="0" lang="ja-JP" altLang="en-US" baseline="30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(x+3/4)</a:t>
            </a:r>
            <a:r>
              <a:rPr sz="1326" b="0" lang="ja-JP" altLang="en-US" baseline="30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+δ</a:t>
            </a:r>
            <a:r>
              <a:rPr sz="1326" b="0" lang="ja-JP" altLang="en-US" baseline="30000">
                <a:solidFill>
                  <a:srgbClr val="303437"/>
                </a:solidFill>
                <a:latin typeface="Noto Sans"/>
                <a:ea typeface="Noto Sans CJK JP"/>
                <a:cs typeface="Noto Sans"/>
              </a:rPr>
              <a:t>4</a:t>
            </a:r>
            <a:r>
              <a:rPr sz="1700" b="0" lang="ja-JP" altLang="en-US">
                <a:solidFill>
                  <a:srgbClr val="303437"/>
                </a:solidFill>
                <a:latin typeface="Noto Sans"/>
                <a:ea typeface="Noto Sans CJK JP"/>
                <a:cs typeface="Noto Sans"/>
              </a:rPr>
              <a:t>=0; Q</a:t>
            </a:r>
            <a:r>
              <a:rPr sz="1326" b="0" lang="ja-JP" altLang="en-US" baseline="-22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 v(x,y)</a:t>
            </a:r>
            <a:r>
              <a:rPr sz="1326" b="0" lang="ja-JP" altLang="en-US" baseline="30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-δ</a:t>
            </a:r>
            <a:r>
              <a:rPr sz="1326" b="0" lang="ja-JP" altLang="en-US" baseline="30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(u(x,y)-297/323)</a:t>
            </a:r>
            <a:r>
              <a:rPr sz="1326" b="0" lang="ja-JP" altLang="en-US" baseline="30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+δ</a:t>
            </a:r>
            <a:r>
              <a:rPr sz="1326" b="0" lang="ja-JP" altLang="en-US" baseline="30000">
                <a:solidFill>
                  <a:srgbClr val="303437"/>
                </a:solidFill>
                <a:latin typeface="Noto Sans"/>
                <a:ea typeface="Noto Sans CJK JP"/>
                <a:cs typeface="Noto Sans"/>
              </a:rPr>
              <a:t>4</a:t>
            </a:r>
            <a:r>
              <a:rPr sz="1700" b="0" lang="ja-JP" altLang="en-US">
                <a:solidFill>
                  <a:srgbClr val="303437"/>
                </a:solidFill>
                <a:latin typeface="Noto Sans"/>
                <a:ea typeface="Noto Sans CJK JP"/>
                <a:cs typeface="Noto Sans"/>
              </a:rPr>
              <a:t>=0. A real circle means a locus C</a:t>
            </a:r>
            <a:r>
              <a:rPr sz="1326" b="0" lang="ja-JP" altLang="en-US" baseline="-22000">
                <a:solidFill>
                  <a:srgbClr val="303437"/>
                </a:solidFill>
                <a:latin typeface="Noto Sans"/>
                <a:ea typeface="Noto Sans CJK JP"/>
                <a:cs typeface="Noto Sans"/>
              </a:rPr>
              <a:t>a,b,r</a:t>
            </a:r>
            <a:r>
              <a:rPr sz="1700" b="0" lang="ja-JP" altLang="en-US">
                <a:solidFill>
                  <a:srgbClr val="303437"/>
                </a:solidFill>
                <a:latin typeface="Noto Sans"/>
                <a:ea typeface="Noto Sans CJK JP"/>
                <a:cs typeface="Noto Sans"/>
              </a:rPr>
              <a:t>: (x-a)</a:t>
            </a:r>
            <a:r>
              <a:rPr sz="1326" b="0" lang="ja-JP" altLang="en-US" baseline="30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+(y-b)</a:t>
            </a:r>
            <a:r>
              <a:rPr sz="1326" b="0" lang="ja-JP" altLang="en-US" baseline="30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=r</a:t>
            </a:r>
            <a:r>
              <a:rPr sz="1326" b="0" lang="ja-JP" altLang="en-US" baseline="30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 a,b∈ℝ, r&gt;0. Tangency to a conic means that the circle and the conic share a point in ℝ</a:t>
            </a:r>
            <a:r>
              <a:rPr sz="1326" b="0" lang="ja-JP" altLang="en-US" baseline="30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 at which their tangent lines coincide. Count each distinct circle once, without orientation or algebraic multiplicity and regardless of the choice of contact points. What is the exact number of real circles simultaneously tangent to Q</a:t>
            </a:r>
            <a:r>
              <a:rPr sz="1326" b="0" lang="ja-JP" altLang="en-US" baseline="-22000">
                <a:solidFill>
                  <a:srgbClr val="303437"/>
                </a:solidFill>
                <a:latin typeface="Noto Sans"/>
                <a:ea typeface="Noto Sans CJK JP"/>
                <a:cs typeface="Noto Sans"/>
              </a:rPr>
              <a:t>0</a:t>
            </a:r>
            <a:r>
              <a:rPr sz="1700" b="0" lang="ja-JP" altLang="en-US">
                <a:solidFill>
                  <a:srgbClr val="303437"/>
                </a:solidFill>
                <a:latin typeface="Noto Sans"/>
                <a:ea typeface="Noto Sans CJK JP"/>
                <a:cs typeface="Noto Sans"/>
              </a:rPr>
              <a:t>,Q</a:t>
            </a:r>
            <a:r>
              <a:rPr sz="1326" b="0" lang="ja-JP" altLang="en-US" baseline="-22000">
                <a:solidFill>
                  <a:srgbClr val="303437"/>
                </a:solidFill>
                <a:latin typeface="Noto Sans"/>
                <a:ea typeface="Noto Sans CJK JP"/>
                <a:cs typeface="Noto Sans"/>
              </a:rPr>
              <a:t>1</a:t>
            </a:r>
            <a:r>
              <a:rPr sz="1700" b="0" lang="ja-JP" altLang="en-US">
                <a:solidFill>
                  <a:srgbClr val="303437"/>
                </a:solidFill>
                <a:latin typeface="Noto Sans"/>
                <a:ea typeface="Noto Sans CJK JP"/>
                <a:cs typeface="Noto Sans"/>
              </a:rPr>
              <a:t>,Q</a:t>
            </a:r>
            <a:r>
              <a:rPr sz="1326" b="0" lang="ja-JP" altLang="en-US" baseline="-22000">
                <a:solidFill>
                  <a:srgbClr val="303437"/>
                </a:solidFill>
                <a:latin typeface="Noto Sans"/>
                <a:ea typeface="Noto Sans CJK JP"/>
                <a:cs typeface="Noto Sans"/>
              </a:rPr>
              <a:t>2</a:t>
            </a:r>
            <a:r>
              <a:rPr sz="1700" b="0" lang="ja-JP" altLang="en-US">
                <a:solidFill>
                  <a:srgbClr val="303437"/>
                </a:solidFill>
                <a:latin typeface="Noto Sans"/>
                <a:ea typeface="Noto Sans CJK JP"/>
                <a:cs typeface="Noto Sans"/>
              </a:rPr>
              <a:t>?</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arXiv:2609.26285。</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japanese-translation"/>
          <p:cNvSpPr txBox="1"/>
          <p:nvPr/>
        </p:nvSpPr>
        <p:spPr>
          <a:xfrm>
            <a:off x="594360" y="1417320"/>
            <a:ext cx="7955279" cy="2387600"/>
          </a:xfrm>
          <a:prstGeom prst="rect">
            <a:avLst/>
          </a:prstGeom>
          <a:noFill/>
        </p:spPr>
        <p:txBody>
          <a:bodyPr wrap="square" lIns="0" rIns="0" tIns="0" bIns="0">
            <a:noAutofit/>
          </a:bodyPr>
          <a:lstStyle/>
          <a:p>
            <a:pPr algn="l">
              <a:lnSpc>
                <a:spcPts val="224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標準計量を持つユークリッド平面ℝ²で考える。δ=1/500000、u(x,y)=(480x+31y)/481、v(x,y)=(−31x+480y)/481と置く。三つの円錐曲線をQ₀: x²−(25/3)xy+(600/29)y²−(15/2)x−(2975/29)y+25/2=0、Q₁: y²−δ²(x+3/4)²+δ⁴=0、Q₂: v(x,y)²−δ²(u(x,y)−297/323)²+δ⁴=0とする。実円とは(x−a)²+(y−b)²=r²、a,b∈ℝ、r&gt;0という軌跡を指す。円と円錐曲線が接するとは、ℝ²内の共通点で接線が一致することをいう。向きや代数的重複度は考えず、接点の選び方にもよらず、異なる円を一度ずつ数える。Q₀,Q₁,Q₂すべてに同時に接する実円は厳密に何個あるか。</a:t>
            </a:r>
          </a:p>
        </p:txBody>
      </p:sp>
      <p:sp>
        <p:nvSpPr>
          <p:cNvPr id="5" name="answer"/>
          <p:cNvSpPr txBox="1"/>
          <p:nvPr/>
        </p:nvSpPr>
        <p:spPr>
          <a:xfrm>
            <a:off x="594360" y="3914648"/>
            <a:ext cx="7955279" cy="438912"/>
          </a:xfrm>
          <a:prstGeom prst="rect">
            <a:avLst/>
          </a:prstGeom>
          <a:noFill/>
        </p:spPr>
        <p:txBody>
          <a:bodyPr wrap="square" lIns="0" rIns="0" tIns="0" bIns="0">
            <a:noAutofit/>
          </a:bodyPr>
          <a:lstStyle/>
          <a:p>
            <a:pPr algn="l">
              <a:lnSpc>
                <a:spcPts val="2486"/>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
            </a:r>
            <a:r>
              <a:rPr sz="2200" b="1" lang="ja-JP" altLang="en-US">
                <a:solidFill>
                  <a:srgbClr val="B13731"/>
                </a:solidFill>
                <a:latin typeface="Noto Sans"/>
                <a:ea typeface="Noto Sans CJK JP"/>
                <a:cs typeface="Noto Sans"/>
              </a:rPr>
              <a:t>正解：160</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arXiv:2609.26285。</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例13：正則グラフの頂点ごとの三角形数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original-question"/>
          <p:cNvSpPr/>
          <p:nvPr/>
        </p:nvSpPr>
        <p:spPr>
          <a:xfrm>
            <a:off x="548640" y="1664208"/>
            <a:ext cx="8046720" cy="234665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01600">
            <a:noAutofit/>
          </a:bodyPr>
          <a:lstStyle/>
          <a:p>
            <a:pPr algn="l">
              <a:lnSpc>
                <a:spcPts val="2088"/>
              </a:lnSpc>
              <a:buNone/>
              <a:defRPr sz="1800" b="0">
                <a:solidFill>
                  <a:srgbClr val="303437"/>
                </a:solidFill>
                <a:latin typeface="Noto Sans"/>
              </a:defRPr>
            </a:pPr>
            <a:r>
              <a:rPr sz="1800" b="0" lang="ja-JP" altLang="en-US">
                <a:solidFill>
                  <a:srgbClr val="303437"/>
                </a:solidFill>
                <a:latin typeface="Noto Sans"/>
                <a:ea typeface="Noto Sans CJK JP"/>
                <a:cs typeface="Noto Sans"/>
              </a:rPr>
              <a:t>Consider finite simple undirected graphs with at least two vertices; connectivity is not required. A triangle is an unordered set of three distinct vertices with all three possible edges present. For each vertex v of a graph G, let τ</a:t>
            </a:r>
            <a:r>
              <a:rPr sz="1404" b="0" lang="ja-JP" altLang="en-US" baseline="-22000">
                <a:solidFill>
                  <a:srgbClr val="303437"/>
                </a:solidFill>
                <a:latin typeface="Noto Sans"/>
                <a:ea typeface="Noto Sans CJK JP"/>
                <a:cs typeface="Noto Sans"/>
              </a:rPr>
              <a:t>G</a:t>
            </a:r>
            <a:r>
              <a:rPr sz="1800" b="0" lang="ja-JP" altLang="en-US">
                <a:solidFill>
                  <a:srgbClr val="303437"/>
                </a:solidFill>
                <a:latin typeface="Noto Sans"/>
                <a:ea typeface="Noto Sans CJK JP"/>
                <a:cs typeface="Noto Sans"/>
              </a:rPr>
              <a:t>(v) be the number of triangles containing v, counting each triangle once. Determine the least nonnegative integer r for which there exists such a graph G in which every vertex has exactly r neighbors and the numbers τ</a:t>
            </a:r>
            <a:r>
              <a:rPr sz="1404" b="0" lang="ja-JP" altLang="en-US" baseline="-22000">
                <a:solidFill>
                  <a:srgbClr val="303437"/>
                </a:solidFill>
                <a:latin typeface="Noto Sans"/>
                <a:ea typeface="Noto Sans CJK JP"/>
                <a:cs typeface="Noto Sans"/>
              </a:rPr>
              <a:t>G</a:t>
            </a:r>
            <a:r>
              <a:rPr sz="1800" b="0" lang="ja-JP" altLang="en-US">
                <a:solidFill>
                  <a:srgbClr val="303437"/>
                </a:solidFill>
                <a:latin typeface="Noto Sans"/>
                <a:ea typeface="Noto Sans CJK JP"/>
                <a:cs typeface="Noto Sans"/>
              </a:rPr>
              <a:t>(v), as v ranges over all vertices, are pairwise distinct.</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arXiv:2609.37978。</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研究分野の追加例</a:t>
            </a:r>
          </a:p>
        </p:txBody>
      </p:sp>
      <p:sp>
        <p:nvSpPr>
          <p:cNvPr id="4" name="japanese-translation"/>
          <p:cNvSpPr txBox="1"/>
          <p:nvPr/>
        </p:nvSpPr>
        <p:spPr>
          <a:xfrm>
            <a:off x="594360" y="1417320"/>
            <a:ext cx="7955279" cy="1818132"/>
          </a:xfrm>
          <a:prstGeom prst="rect">
            <a:avLst/>
          </a:prstGeom>
          <a:noFill/>
        </p:spPr>
        <p:txBody>
          <a:bodyPr wrap="square" lIns="0" rIns="0" tIns="0" bIns="0">
            <a:noAutofit/>
          </a:bodyPr>
          <a:lstStyle/>
          <a:p>
            <a:pPr algn="l">
              <a:lnSpc>
                <a:spcPts val="224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頂点が少なくとも二つある有限・単純・無向グラフを考える。連結性は仮定しない。三角形とは、互いにすべて隣接する異なる3頂点の順序を考えない集合である。グラフGの各頂点vについて、vを含む三角形の数をτG(v)とし、各三角形は一度だけ数える。すべての頂点がちょうどr個の隣接頂点を持ち、全頂点にわたる数τG(v)が互いに異なるようなグラフGが存在する、最小の非負整数rを求めよ。</a:t>
            </a:r>
          </a:p>
        </p:txBody>
      </p:sp>
      <p:sp>
        <p:nvSpPr>
          <p:cNvPr id="5" name="answer"/>
          <p:cNvSpPr txBox="1"/>
          <p:nvPr/>
        </p:nvSpPr>
        <p:spPr>
          <a:xfrm>
            <a:off x="594360" y="3345180"/>
            <a:ext cx="7955279" cy="438912"/>
          </a:xfrm>
          <a:prstGeom prst="rect">
            <a:avLst/>
          </a:prstGeom>
          <a:noFill/>
        </p:spPr>
        <p:txBody>
          <a:bodyPr wrap="square" lIns="0" rIns="0" tIns="0" bIns="0">
            <a:noAutofit/>
          </a:bodyPr>
          <a:lstStyle/>
          <a:p>
            <a:pPr algn="l">
              <a:lnSpc>
                <a:spcPts val="2486"/>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
            </a:r>
            <a:r>
              <a:rPr sz="2200" b="1" lang="ja-JP" altLang="en-US">
                <a:solidFill>
                  <a:srgbClr val="B13731"/>
                </a:solidFill>
                <a:latin typeface="Noto Sans"/>
                <a:ea typeface="Noto Sans CJK JP"/>
                <a:cs typeface="Noto Sans"/>
              </a:rPr>
              <a:t>正解：9</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2026. 出典 arXiv:2609.37978。</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https://huggingface.co/datasets/MathArena/arxivmath-0926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9月版は、計算環境を使う最終回答評価に対応する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9月版の設定は、1試行につき最大12時間、モデル費用100ドル。</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シェル・Python・SageMathなどを使える。公開インターネットや検索は使わない。</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問題は未解決として提示されるが、配布データには元の論文に基づく参照正解がある。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評価条件と関連する課題</a:t>
            </a:r>
          </a:p>
        </p:txBody>
      </p:sp>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ArXivMath September evaluation configuration.</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https://github.com/eth-sri/matharena/blob/main/configs/competitions/arxiv/september.yaml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MathArenaの三つの研究課題は、出力が異なる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評価条件と関連する課題</a:t>
            </a:r>
          </a:p>
        </p:txBody>
      </p:sp>
      <p:graphicFrame>
        <p:nvGraphicFramePr>
          <p:cNvPr id="4" name="Table 3"/>
          <p:cNvGraphicFramePr>
            <a:graphicFrameLocks noGrp="1"/>
          </p:cNvGraphicFramePr>
          <p:nvPr/>
        </p:nvGraphicFramePr>
        <p:xfrm>
          <a:off x="548640" y="1508760"/>
          <a:ext cx="8046720" cy="1684020"/>
        </p:xfrm>
        <a:graphic>
          <a:graphicData uri="http://schemas.openxmlformats.org/drawingml/2006/table">
            <a:tbl>
              <a:tblPr firstRow="0" bandRow="0"/>
              <a:tblGrid>
                <a:gridCol w="2560320"/>
                <a:gridCol w="5486400"/>
              </a:tblGrid>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課題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求める出力</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ArXivMath</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数・式・数学的対象の最終回答</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BrokenArXiv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もっともらしい偽の主張への対応</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ArXivLean</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証明支援系Leanで検証する形式証明</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2079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MathArena全体は、競技数学・研究問題・形式証明などを継続評価するプラットフォームである。</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Dekoninck et al., 2026. Beyond Benchmarks: MathArena as an Evaluation Platform for Mathematics with LLMs.</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https://arxiv.org/abs/2605.00674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reference-entry"/>
          <p:cNvSpPr txBox="1"/>
          <p:nvPr/>
        </p:nvSpPr>
        <p:spPr>
          <a:xfrm>
            <a:off x="568960" y="1353312"/>
            <a:ext cx="7980679" cy="1392937"/>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Beyond Benchmarks: MathArena as an Evaluation Platform for Mathematics with LLMs</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Jasper Dekoninck et al. (2026). arXiv:2605.00674.</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競技数学から研究問題・形式証明へ拡張した継続評価の設計と結果を示す。</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2"/>
              </a:rPr>
              <a:t>https://arxiv.org/abs/2605.00674</a:t>
            </a:r>
          </a:p>
        </p:txBody>
      </p:sp>
      <p:sp>
        <p:nvSpPr>
          <p:cNvPr id="5" name="reference-entry"/>
          <p:cNvSpPr txBox="1"/>
          <p:nvPr/>
        </p:nvSpPr>
        <p:spPr>
          <a:xfrm>
            <a:off x="568960" y="3060877"/>
            <a:ext cx="7980679" cy="1103416"/>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ArXivMath September 2026</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MathArena (2026). Hugging Face dataset. CC BY-SA 4.0.</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2026年9月の53問、参照正解、元の論文と著者の情報を配布する。</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3"/>
              </a:rPr>
              <a:t>https://huggingface.co/datasets/MathArena/arxivmath-0926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reference-entry"/>
          <p:cNvSpPr txBox="1"/>
          <p:nvPr/>
        </p:nvSpPr>
        <p:spPr>
          <a:xfrm>
            <a:off x="568960" y="1353312"/>
            <a:ext cx="7980679" cy="1103504"/>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ArXivMath curation workflow</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MathArena (2026). eth-sri/matharena. GitHub.</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月次の論文選別、全文による検証、人手確認、評価への出力を説明する。</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2"/>
              </a:rPr>
              <a:t>https://github.com/eth-sri/matharena/blob/main/readmes/README_arxivmath.md</a:t>
            </a:r>
          </a:p>
        </p:txBody>
      </p:sp>
      <p:sp>
        <p:nvSpPr>
          <p:cNvPr id="5" name="reference-entry"/>
          <p:cNvSpPr txBox="1"/>
          <p:nvPr/>
        </p:nvSpPr>
        <p:spPr>
          <a:xfrm>
            <a:off x="568960" y="2771317"/>
            <a:ext cx="7980679" cy="1103530"/>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Claude Fable 5.1 and Mythos 5.1 System Card</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Anthropic (2026). System Card.</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6月版ArXivMathを使ったMythos 5.1の最終回答評価を報告する。</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3"/>
              </a:rPr>
              <a:t>https://www.anthropic.com/claude-fable-and-mythos-5-1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reference-entry"/>
          <p:cNvSpPr txBox="1"/>
          <p:nvPr/>
        </p:nvSpPr>
        <p:spPr>
          <a:xfrm>
            <a:off x="568960" y="1353312"/>
            <a:ext cx="7980679" cy="1103504"/>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Kusner's conjecture is false for p&gt;4</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Nathan Xiong (2026). arXiv:2609.14794.</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p&gt;4で等距離点集合の大きさに関するKusner予想の反例を構成する。</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2"/>
              </a:rPr>
              <a:t>https://arxiv.org/abs/2609.14794</a:t>
            </a:r>
          </a:p>
        </p:txBody>
      </p:sp>
      <p:sp>
        <p:nvSpPr>
          <p:cNvPr id="5" name="reference-entry"/>
          <p:cNvSpPr txBox="1"/>
          <p:nvPr/>
        </p:nvSpPr>
        <p:spPr>
          <a:xfrm>
            <a:off x="568960" y="2771317"/>
            <a:ext cx="7980679" cy="1653974"/>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Counterexamples to a conjecture of Kamenetsky on OEIS A173419</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Rosario Patanè (2026). arXiv:2609.28512.</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加減乗算の最短手数に関する予想に対し、5000未満の四つの素数で反例を示す。</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3"/>
              </a:rPr>
              <a:t>https://arxiv.org/abs/2609.28512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reference-entry"/>
          <p:cNvSpPr txBox="1"/>
          <p:nvPr/>
        </p:nvSpPr>
        <p:spPr>
          <a:xfrm>
            <a:off x="568960" y="1353312"/>
            <a:ext cx="7980679" cy="1653935"/>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Counterexamples to the Ramos conjecture for two hyperplanes</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Florian Frick (2026). arXiv:2609.26723.</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二つの超平面による測度の同時四等分を調べ、Ramos予想の反例と必要次元を示す。</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2"/>
              </a:rPr>
              <a:t>https://arxiv.org/abs/2609.26723</a:t>
            </a:r>
          </a:p>
        </p:txBody>
      </p:sp>
      <p:sp>
        <p:nvSpPr>
          <p:cNvPr id="5" name="reference-entry"/>
          <p:cNvSpPr txBox="1"/>
          <p:nvPr/>
        </p:nvSpPr>
        <p:spPr>
          <a:xfrm>
            <a:off x="568960" y="3307166"/>
            <a:ext cx="7980679" cy="1653656"/>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 Complete Resolution of Forsythe's Conjecture for Restarted Conjugate Gradients</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Matthew J. Colbrook; George Stepaniants; Alex Townsend (2026). arXiv:2609.04659.</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再始動共役勾配法で偶数・奇数番目の残差方向がそれぞれ収束する再始動長と、収束しない長さを分類する。</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3"/>
              </a:rPr>
              <a:t>https://arxiv.org/abs/2609.04659</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reference-entry"/>
          <p:cNvSpPr txBox="1"/>
          <p:nvPr/>
        </p:nvSpPr>
        <p:spPr>
          <a:xfrm>
            <a:off x="568960" y="1353312"/>
            <a:ext cx="7980679" cy="1653579"/>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An isoperimetric problem for Fourier zeros of centrally symmetric convex bodies</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Javier Gómez-Serrano; Michael Levitin; Daniel Platt; Iosif Polterovich (2026). arXiv:2609.10517.</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凸体のフーリエ変換の零点を調べ、平面の中心対称な正多角形の中で正十二角形が最適と示す。</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2"/>
              </a:rPr>
              <a:t>https://arxiv.org/abs/2609.10517</a:t>
            </a:r>
          </a:p>
        </p:txBody>
      </p:sp>
      <p:sp>
        <p:nvSpPr>
          <p:cNvPr id="5" name="reference-entry"/>
          <p:cNvSpPr txBox="1"/>
          <p:nvPr/>
        </p:nvSpPr>
        <p:spPr>
          <a:xfrm>
            <a:off x="568960" y="3321481"/>
            <a:ext cx="7980679" cy="1364452"/>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Largest Circle Enclosing Exactly n Interior Lattice Points. II</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Jianqiang Zhao (2026). arXiv:2609.16081.</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一定数の格子点を囲む最大円を調べ、存在する個数の無限性と対称性の予想への反例を示す。</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3"/>
              </a:rPr>
              <a:t>https://arxiv.org/abs/2609.16081</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reference-entry"/>
          <p:cNvSpPr txBox="1"/>
          <p:nvPr/>
        </p:nvSpPr>
        <p:spPr>
          <a:xfrm>
            <a:off x="568960" y="1353312"/>
            <a:ext cx="7980679" cy="1653579"/>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Sign patterns of real powers of infinite products: resolution of four conjectures of Schlosser and Zhou</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Jaideep Sai Padhi (2026). arXiv:2609.22324.</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無限積の実数乗に現れる係数の符号パターンについて、四つの予想を解決する。</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2"/>
              </a:rPr>
              <a:t>https://arxiv.org/abs/2609.22324</a:t>
            </a:r>
          </a:p>
        </p:txBody>
      </p:sp>
      <p:sp>
        <p:nvSpPr>
          <p:cNvPr id="5" name="reference-entry"/>
          <p:cNvSpPr txBox="1"/>
          <p:nvPr/>
        </p:nvSpPr>
        <p:spPr>
          <a:xfrm>
            <a:off x="568960" y="3321481"/>
            <a:ext cx="7980679" cy="1364452"/>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An Odd Pfaffian Number</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Priyanshu Pant; Ranveer Singh (2026). arXiv:2609.22928.</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完全マッチング多項式を表すPfaffianの最小個数が13となるグラフを構成する。</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3"/>
              </a:rPr>
              <a:t>https://arxiv.org/abs/2609.22928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reference-entry"/>
          <p:cNvSpPr txBox="1"/>
          <p:nvPr/>
        </p:nvSpPr>
        <p:spPr>
          <a:xfrm>
            <a:off x="568960" y="1353312"/>
            <a:ext cx="7980679" cy="1653579"/>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Asymmetric Homomorphism Thresholds for Graphs of Large Odd Girth</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Romain Bourneuf; Raphael Steiner; Stéphan Thomassé; Yuval Wigderson (2026). arXiv:2609.25390.</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長さ3・5の閉路を持たないグラフから三角形のないグラフへの準同型の次数閾値を1/9と示す。</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2"/>
              </a:rPr>
              <a:t>https://arxiv.org/abs/2609.25390</a:t>
            </a:r>
          </a:p>
        </p:txBody>
      </p:sp>
      <p:sp>
        <p:nvSpPr>
          <p:cNvPr id="5" name="reference-entry"/>
          <p:cNvSpPr txBox="1"/>
          <p:nvPr/>
        </p:nvSpPr>
        <p:spPr>
          <a:xfrm>
            <a:off x="568960" y="3321481"/>
            <a:ext cx="7980679" cy="1653530"/>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An explicit half-flip family of 32-modular Hadamard matrices at L = 3 mod 8: structural placement and mod-tower analysis</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Michel Kulhandjian (2026). arXiv:2609.25543.</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列の半反転と自己相関の恒等式を使い、32を法とするHadamard行列の明示的な族を構成する。</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3"/>
              </a:rPr>
              <a:t>https://arxiv.org/abs/2609.25543</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reference-entry"/>
          <p:cNvSpPr txBox="1"/>
          <p:nvPr/>
        </p:nvSpPr>
        <p:spPr>
          <a:xfrm>
            <a:off x="568960" y="1353312"/>
            <a:ext cx="7980679" cy="1653935"/>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Biplanar graphs with independence number two are 9-colorable</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Stefan Szeider (2026). arXiv:2609.28102.</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独立数が高々2の二平面グラフが9彩色可能であることを示し、計算部分をLeanで検証する。</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2"/>
              </a:rPr>
              <a:t>https://arxiv.org/abs/2609.28102</a:t>
            </a:r>
          </a:p>
        </p:txBody>
      </p:sp>
      <p:sp>
        <p:nvSpPr>
          <p:cNvPr id="5" name="reference-entry"/>
          <p:cNvSpPr txBox="1"/>
          <p:nvPr/>
        </p:nvSpPr>
        <p:spPr>
          <a:xfrm>
            <a:off x="568960" y="3306810"/>
            <a:ext cx="7980679" cy="1654012"/>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Two-flag degenerations and real circles tangent to three conics</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Haoyang Liu; Tianle Liu; Guorui Xu; Fan Yang (2026). arXiv:2609.26285.</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三つの円錐曲線に同時に接する実円が160個となる具体例を構成し、136個以下という予想を覆す。</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3"/>
              </a:rPr>
              <a:t>https://arxiv.org/abs/2609.26285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reference-entry"/>
          <p:cNvSpPr txBox="1"/>
          <p:nvPr/>
        </p:nvSpPr>
        <p:spPr>
          <a:xfrm>
            <a:off x="568960" y="1353312"/>
            <a:ext cx="7980679" cy="1364502"/>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There is no 8-regular K₃-irregular graph</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Artem Hak; Sergiy Kozerenko; Andrii Serdiuk (2026). arXiv:2609.37978.</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三角形数が全頂点で異なる8正則グラフが存在しないことを証明し、存在の次数閾値を9に定める。</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2"/>
              </a:rPr>
              <a:t>https://arxiv.org/abs/2609.37978</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2026-10-21T17:29:32Z</dcterms:modified>
  <dc:title>arxivmath</dc:title>
  <dc:creator>sasakiy84</dc:creator>
  <dcterms:created xsi:type="dcterms:W3CDTF">2026-10-21T17:29:32Z</dcterms:created>
  <dc:language>ja-JP</dc:language>
</cp:coreProperties>
</file>