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人口（百万人）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1995</c:v>
                </c:pt>
                <c:pt idx="1">
                  <c:v>2000</c:v>
                </c:pt>
                <c:pt idx="2">
                  <c:v>2005</c:v>
                </c:pt>
                <c:pt idx="3">
                  <c:v>2010</c:v>
                </c:pt>
                <c:pt idx="4">
                  <c:v>2015</c:v>
                </c:pt>
                <c:pt idx="5">
                  <c:v>2020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125.570246</c:v>
                </c:pt>
                <c:pt idx="1">
                  <c:v>126.925843</c:v>
                </c:pt>
                <c:pt idx="2">
                  <c:v>127.767994</c:v>
                </c:pt>
                <c:pt idx="3">
                  <c:v>128.057352</c:v>
                </c:pt>
                <c:pt idx="4">
                  <c:v>127.094745</c:v>
                </c:pt>
                <c:pt idx="5">
                  <c:v>126.146099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ww.wikidata.org/wiki/Wikidata:Main_Pag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Introduction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Introductio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www.wikidata.org/wiki/Special:EntityData/Q17.json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8577.js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8577.jso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Introductio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Relationship Id="rId3" Type="http://schemas.openxmlformats.org/officeDocument/2006/relationships/hyperlink" Target="https://doc.wikimedia.org/Wikibase/master/php/docs_topics_json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Relationship Id="rId3" Type="http://schemas.openxmlformats.org/officeDocument/2006/relationships/hyperlink" Target="https://doc.wikimedia.org/Wikibase/master/php/docs_topics_json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Relationship Id="rId3" Type="http://schemas.openxmlformats.org/officeDocument/2006/relationships/hyperlink" Target="https://doc.wikimedia.org/Wikibase/master/php/docs_topics_json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Help:Ranking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Relationship Id="rId3" Type="http://schemas.openxmlformats.org/officeDocument/2006/relationships/hyperlink" Target="https://www.mediawiki.org/wiki/Wikibase/Indexing/RDF_Dump_Format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mediawiki.org/wiki/Wikibase/Indexing/RDF_Dump_Format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17.json" TargetMode="External"/><Relationship Id="rId3" Type="http://schemas.openxmlformats.org/officeDocument/2006/relationships/hyperlink" Target="https://www.wikidata.org/wiki/Help:Ranking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Introduction" TargetMode="External"/><Relationship Id="rId3" Type="http://schemas.openxmlformats.org/officeDocument/2006/relationships/hyperlink" Target="https://www.wikidata.org/wiki/Wikidata:Tenth_Birthday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Data_access" TargetMode="External"/><Relationship Id="rId3" Type="http://schemas.openxmlformats.org/officeDocument/2006/relationships/hyperlink" Target="https://www.wikidata.org/wiki/Wikidata:Introduction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Wikidata:Data_acces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42.json" TargetMode="External"/><Relationship Id="rId3" Type="http://schemas.openxmlformats.org/officeDocument/2006/relationships/hyperlink" Target="https://www.wikidata.org/wiki/Wikidata:Data_acces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query.wikidata.org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Database_download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Licensing" TargetMode="External"/><Relationship Id="rId3" Type="http://schemas.openxmlformats.org/officeDocument/2006/relationships/hyperlink" Target="https://www.wikidata.org/wiki/Wikidata:Data_acces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ikidata.org/wiki/Wikidata:Introduction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146.json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2.json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90.json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64.json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Special:EntityData/Q60.json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.wikimedia.org/Wikibase/master/php/docs_topics_json.html" TargetMode="External"/><Relationship Id="rId3" Type="http://schemas.openxmlformats.org/officeDocument/2006/relationships/hyperlink" Target="https://www.wikidata.org/wiki/Wikidata:Database_download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Wikidata:Introduction" TargetMode="External"/><Relationship Id="rId3" Type="http://schemas.openxmlformats.org/officeDocument/2006/relationships/hyperlink" Target="https://doc.wikimedia.org/Wikibase/master/php/docs_topics_json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Wikibase/Indexing/RDF_Dump_Format" TargetMode="External"/><Relationship Id="rId3" Type="http://schemas.openxmlformats.org/officeDocument/2006/relationships/hyperlink" Target="https://www.wikidata.org/wiki/Wikidata:Data_acces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wikidata.org/wiki/Wikidata:Database_download" TargetMode="External"/><Relationship Id="rId3" Type="http://schemas.openxmlformats.org/officeDocument/2006/relationships/hyperlink" Target="https://www.wikidata.org/wiki/Help:Rank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項目と関係を記録する構造化知識ベース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 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Wikidata:Main Page.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https://www.wikidata.org/wiki/Wikidata:Main_Page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実例から見る構造化知識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項目・文・データ形式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構築と取得・利用方法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 と関連する、別の知識ベース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Wikidataは、人物・場所・作品などの情報を、項目とその属性・関係として共同編集する多言語の知識ベースである。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Wikipediaとは別のWikimediaプロジェクトで、言語間リンクや情報ボックスなどへ構造化データを提供する。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記事本文を読む代わりに、人物の学歴、国の人口、出来事の開催期間などを同じ仕組みで取り出せる。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Wikidata:Introduction.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ダグラス・アダムズの学歴を表す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1920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1554480"/>
                <a:gridCol w="38404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ダグラス・アダムズ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出身校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セント・ジョンズ・カレッジ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Q691283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559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英国の作家について、「誰が、どの学校で学んだか」を項目どうしの関係で表す。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項目とプロパティで、関係を記録する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Q42はダグラス・アダムズという対象の項目ID。Qから始まるIDで、表示する言語が変わっても同じ対象を参照する。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P69は「出身校」を表すプロパティ。項目の属性・関係と値を記録する単位を「文（ステートメント）」と呼ぶ。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値には別の項目のほか、日付、数量、座標、外部データベースのIDなどを入れられる。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Wikidata:Introduction.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学歴には、在籍した期間も付けられる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06640" cy="1263015"/>
        </p:xfrm>
        <a:graphic>
          <a:graphicData uri="http://schemas.openxmlformats.org/drawingml/2006/table">
            <a:tbl>
              <a:tblPr firstRow="0" bandRow="0"/>
              <a:tblGrid>
                <a:gridCol w="4297680"/>
                <a:gridCol w="1554480"/>
                <a:gridCol w="15544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出身校の値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開始年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終了年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Brentwood School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 John’s College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1974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出身校P69の各文に、開始時点P580と終了時点P582が修飾子として付く。日付の精度は年単位。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出典も、文ごとに記録される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175385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42062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出典の資料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記録されている識別子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ブリタニカ百科事典オンライン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biography/Douglas-Adams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Notable Names Database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731/000023662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1216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セント・ジョンズの学歴の文には、複数の出典が付く。資料の項目、外部ID、取得日などを記録する。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日本の人口には、時点ごとの値がある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人口P1082から国勢調査の6件を表示。各年10月1日、単位は百万人。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Q17, rev.2561032685.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https://www.wikidata.org/wiki/Special:EntityData/Q17.json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ロンドン2012大会の期間と場所を表す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223760" cy="1742440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402336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プロパティ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格納された値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開始時点 P580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2012-07-27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終了時点 P582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2012-08-12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場所 P276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ロンドン Q84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2012年ロンドンオリンピックQ8577も一つの項目。現実の出来事を、期間や場所との関係で表せる。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Q8577, rev.2549951784.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https://www.wikidata.org/wiki/Special:EntityData/Q8577.json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参加数には、何を数えたかが付く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実例から見る構造化知識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949440" cy="1350645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41148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参加者数 P1132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数える対象 P11279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オリンピック選手団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10,568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スポーツ選手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8742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同じ「参加者数」に異なる単位の値がある。修飾子が、選手団と選手のどちらを数えた値かを示す。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Q8577, rev.2549951784.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https://www.wikidata.org/wiki/Special:EntityData/Q8577.json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一つの項目に、名前・説明・リンクが付く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項目には、言語ごとのラベル、短い説明、別名がある。ラベルは人が読める名前で、項目の識別にはQIDを使う。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サイトリンクは、同じ対象について書かれた各言語版のWikipedia記事などへつなぐ。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その下に、プロパティと値からなる「文」を並べる。同じプロパティに複数の文があることも多い。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Wikidata:Introduction.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https://www.wikidata.org/wiki/Wikidata:Introduction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文は、値に文脈と出典を付ける単位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60350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学歴の例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主となる値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出身校はセント・ジョンズ・カレッジ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修飾子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開始年1971、終了年1974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百科事典などの資料への参照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ランク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この文はnormal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Wikimedia. Wikibase: JSON.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https://doc.wikimedia.org/Wikibase/master/php/docs_topics_json.html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72" y="650138"/>
            <a:ext cx="8244840" cy="616305"/>
          </a:xfrm>
        </p:spPr>
        <p:txBody>
          <a:bodyPr wrap="square" lIns="381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 のclaimsに、文の配列が入る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413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"claims": {"P69": [{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"mainsnak": {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"property": "P69",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"datavalue": {"value": {"id": "Q691283"}}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}, "rank": "normal"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}]}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22927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出身校P69の1文から、主要フィールドを抜粋。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Wikimedia. Wikibase: JSON.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https://doc.wikimedia.org/Wikibase/master/php/docs_topics_json.html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日付には、値と精度がある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56692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学歴の開始年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time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+1971-00-00T00:00:00Z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precision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9（年単位）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calendarmodel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グレゴリオ暦の項目URI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年だけが分かる日付も表せる。日単位の値はprecision=11で、人口の時点や大会期間の例に使われる。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Wikimedia. Wikibase: JSON.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https://doc.wikimedia.org/Wikibase/master/php/docs_topics_json.html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ランクで、複数の値の扱いを指定する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60350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ランク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normal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標準のランク。同じ属性に複数の値を記録できる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preferred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優先して表示・検索する文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deprecated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誤りなどの理由で非推奨となった文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古いが正しい人口や学歴を、一律にdeprecatedへする仕組みではない。時点や期間は修飾子で表す。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Help:Ranking.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https://www.wikidata.org/wiki/Help:Ranking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RDF では、項目と値を三つ組で結ぶ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9207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wd:Q42 wdt:P69 wd:Q4961791 .</a:t>
            </a:r>
          </a:p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wd:Q42 wdt:P69 wd:Q691283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3067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Q42の出身校を、対象・関係・値の三つ組で表示。wd:は項目、wdt:は値へ直接つなぐ関係の接頭辞。名前空間宣言は省略。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MediaWiki contributors. Wikibase/Indexing/RDF Dump Format.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https://www.mediawiki.org/wiki/Wikibase/Indexing/RDF_Dump_Format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修飾子や出典を使うなら、文をたどる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RDFの完全な表現では、項目から文のノードへつなぎ、その文に値・ランク・修飾子・出典を付ける。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truthyは、preferredの文があればその値を優先し、なければnormalの文の値を使う簡略表現。deprecatedの文は含まない。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直接の値だけでは、学歴の開始年・終了年や人口の測定時点は得られない。それらには文の修飾子が必要になる。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 contributors. Wikibase/Indexing/RDF Dump Format.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https://www.mediawiki.org/wiki/Wikibase/Indexing/RDF_Dump_Format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人口の値を、時点・方法・ランクと読む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項目・文・データ形式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152144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2011680"/>
                <a:gridCol w="2103120"/>
                <a:gridCol w="201168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時点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人口（人）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ランク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2020-10-01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126,146,099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国勢調査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normal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2024-10-01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123,802,000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住民基本台帳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preferred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78892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取得JSONの人口P1082に登録された2文。時点と方法は修飾子。ランクは表示や検索の優先度で、正確性の採点ではない。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Q17, rev.2561032685.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https://www.wikidata.org/wiki/Special:EntityData/Q17.json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Wikidata contributors. Help:Ranking.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https://www.wikidata.org/wiki/Help:Ranking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人とボットが編集し、継続して更新する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Wikidataは2012年10月29日に公開された。Wikimediaの各言語版で、共通の情報を保守しやすくするために作られた。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編集者が項目や文、出典を追加・修正し、ボットもデータ入力を行う。記録する内容や管理のルールは共同体で決める。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公開データは、編集とともに内容が変わる。保存したJSONには項目の版IDと更新時刻も含まれる。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Wikidata:Introduction.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https://www.wikidata.org/wiki/Wikidata:Introduction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Wikidata contributors. Wikidata:Tenth Birthday.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https://www.wikidata.org/wiki/Wikidata:Tenth_Birthday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人物・場所・作品などを、共通のIDで結ぶ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公式のデータ利用案内では、1.2億を超える項目を紹介している。人物、都市、作品、組織、出来事などが同じ仕組みでつながる。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項目どうしの関係に加え、図書館や地名など外部データベースの識別子も記録する。異なる資料の対応付けに使える。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ここまでの例は、取得した個別項目から選んだもの。語彙や日付、数量などの型を組み合わせて利用できる。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Wikidata:Data access.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https://www.wikidata.org/wiki/Wikidata:Data_access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Wikidata contributors. Wikidata:Introduction.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https://www.wikidata.org/wiki/Wikidata:Introduction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必要な範囲から、取得方法を選ぶ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主な用途と形式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Special:EntityData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既知の1項目をJSONやRDFで取得する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Wikidata Query Service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SPARQLで条件に合う項目や値を検索する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一括ダンプ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多数の項目をJSON・RDFで手元に保存する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Wikidata:Data access.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https://www.wikidata.org/wiki/Wikidata:Data_access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Q42 のJSONから、出生年月日を読む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873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obj = json.loads(Path("Q42.json").read_text())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item = obj["entities"]["Q42"]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stmt = item["claims"]["P569"][0]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print(stmt["mainsnak"]["datavalue"]["value"]["time"])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8317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Q42.jsonはSpecial:EntityDataから取得する。実行すると+1952-03-11T00:00:00Zが得られる。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Q42, rev.2560674217.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https://www.wikidata.org/wiki/Special:EntityData/Q42.json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Wikidata contributors. Wikidata:Data access.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https://www.wikidata.org/wiki/Wikidata:Data_access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SPARQL で、指定項目の値を取り出す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524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SELECT ?item ?birth WHERE {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VALUES ?item { wd:Q42 }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?item wdt:P569 ?birth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3392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 Query Serviceで実行すると、Q42と出生年月日1952-03-11の1行が返る。wd:とwdt:は同サービスの定義済み接頭辞。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Wikidata Query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https://query.wikidata.org/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一括配布には、JSON とRDF 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推奨されるJSONダンプは、全体が一つの配列で、各項目が1行のオブジェクトとして保存される。週次で生成される。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RDFのallは文・修飾子・出典を含む表現。truthyは優先される直接の値に絞り、修飾子と出典を省く。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まず少数の項目で必要な型やフィールドを確かめ、広い範囲の分析ではダンプの容量や処理方法を検討する。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Wikidata:Database download.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https://www.wikidata.org/wiki/Wikidata:Database_download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構造化データはCC0 で再利用できる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項目の文・ラベル・説明・別名などの構造化データはCC0で公開され、加工や再配布、商用利用にも使える。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ヘルプなど他の名前空間の文章はCC BY-SA 4.0、画像はファイルごとの条件で提供される。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APIではアプリ名や連絡先をUser-Agentに設定し、制限応答があれば指定時間を空ける。利用する項目と版を残すと、更新後の値と照合しやすい。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Wikidata:Licensing.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https://www.wikidata.org/wiki/Wikidata:Licensing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Wikidata contributors. Wikidata:Data access.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https://www.wikidata.org/wiki/Wikidata:Data_access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 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Wikipediaと関連する別の知識ベースで、人物・場所・出来事などを、共通の項目IDと関係で結ぶ。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文には値とランクがあり、期間・測定時点などの修飾子や出典を付けられる。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JSONやRDF、条件検索で必要な範囲を取得し、時点・単位・出典を含む構造化知識として利用できる。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構築と取得・利用方法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Wikidata:Introduction.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https://www.wikidata.org/wiki/Wikidata:Introduction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07365"/>
            <a:ext cx="8412480" cy="77673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-31750"/>
            <a:ext cx="8115300" cy="5435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異なる型の追加例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取得形式と参考文献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 ネコの項目は多言語の名前を持つ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異なる型の追加例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1075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64008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ネコ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Hauskatze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78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同じQ146に言語別のラベルが付く。表示名が違っても、項目IDは共通する。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Q146, rev.2557406577.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https://www.wikidata.org/wiki/Special:EntityData/Q146.json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 地球の質量は単位付きの数量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異なる型の追加例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3383280"/>
                <a:gridCol w="46634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quantity のフィールド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amount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+5972.37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Q613726（ヨタグラム、Yg）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lowerBound / upperBound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+5972.36 / +5972.38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質量P2067の値。数量には単位と上下の範囲を持たせられる。1 Ygは10²¹ kg。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Q2, rev.2561001062.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https://www.wikidata.org/wiki/Special:EntityData/Q2.json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 パリの座標には精度と天体が付く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異なる型の追加例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58975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55778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座標のフィールド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latitude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48.85666666666667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longitude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2.352222222222222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precision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0.0002777777777777778 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globe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Q2（地球）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957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座標P625の値。緯度・経度に加え、値の精度と、どの天体の座標かを記録する。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Q90, rev.2560099677.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https://www.wikidata.org/wiki/Special:EntityData/Q90.json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 ベルリンの面積には複数の文がある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異なる型の追加例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1920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828800"/>
                <a:gridCol w="40233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面積（km²）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ランク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修飾子の時点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891.69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normal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891.12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preferred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2016年、2017-12-31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559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面積P2046の2文。preferredの文には、2016年と2017-12-31の二つの時点が記録される。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Q64, rev.2560613179.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https://www.wikidata.org/wiki/Special:EntityData/Q64.json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 ニューヨークを外部IDで結ぶ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異なる型の追加例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19200"/>
        </p:xfrm>
        <a:graphic>
          <a:graphicData uri="http://schemas.openxmlformats.org/drawingml/2006/table">
            <a:tbl>
              <a:tblPr firstRow="0" bandRow="0"/>
              <a:tblGrid>
                <a:gridCol w="5212080"/>
                <a:gridCol w="28346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外部データベース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格納されたID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GeoNames（地名情報）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5128581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UN/LOCODE（貿易・輸送の地点コード）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USNYC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559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P1566とP1937の文字列値。外部の地名・物流データと同じ都市を対応付ける入口になる。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Wikidata contributors. Q60, rev.2560893886. CC0. 取得2026-10-28.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https://www.wikidata.org/wiki/Special:EntityData/Q60.json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個別項目とダンプは、外側の構造が異なる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Special:EntityDataの応答では、entitiesの下にQIDをキーとして項目が入る。掲載したPythonコードはこの形式を読む。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JSONダンプは、一つの配列の中に各項目が並ぶ。項目ごとの改行に加えて、配列の括弧や区切りもある。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項目の版ID、ラベル、文などの基本構造を確かめ、取得元の外側の形式に合わせて読み込む。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取得形式と参考文献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Wikibase: JSON.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https://doc.wikimedia.org/Wikibase/master/php/docs_topics_json.html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Wikidata contributors. Wikidata:Database download.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https://www.wikidata.org/wiki/Wikidata:Database_download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取得形式と参考文献</a:t>
            </a:r>
          </a:p>
        </p:txBody>
      </p:sp>
      <p:sp>
        <p:nvSpPr>
          <p:cNvPr id="4" name="文献 1: Wikidata:Introduction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Wikidata:Introduction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Wikidata contributors, n.d. Wikidata.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知識ベースの目的、多言語性、項目・文・プロパティの関係をまとめる。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https://www.wikidata.org/wiki/Wikidata:Introduction</a:t>
            </a:r>
          </a:p>
        </p:txBody>
      </p:sp>
      <p:sp>
        <p:nvSpPr>
          <p:cNvPr id="5" name="文献 2: Wikibase: JSON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Wikibase: JSON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Wikimedia, n.d. Wikibase developer documentation.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API・ダンプ・個別項目で使うJSONの構造とデータ型を定義する。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https://doc.wikimedia.org/Wikibase/master/php/docs_topics_json.html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取得形式と参考文献</a:t>
            </a:r>
          </a:p>
        </p:txBody>
      </p:sp>
      <p:sp>
        <p:nvSpPr>
          <p:cNvPr id="4" name="文献 1: Wikibase/Indexing/RDF Dump Format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Wikibase/Indexing/RDF Dump Format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MediaWiki contributors, n.d. MediaWiki.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完全な文とtruthy、値、修飾子、出典のRDF表現を定義する。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https://www.mediawiki.org/wiki/Wikibase/Indexing/RDF_Dump_Format</a:t>
            </a:r>
          </a:p>
        </p:txBody>
      </p:sp>
      <p:sp>
        <p:nvSpPr>
          <p:cNvPr id="5" name="文献 2: Wikidata:Data access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Wikidata:Data access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Wikidata contributors, n.d. Wikidata.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個別項目・検索・API・一括配布の選び方とアクセス方法を説明する。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https://www.wikidata.org/wiki/Wikidata:Data_access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取得形式と参考文献</a:t>
            </a:r>
          </a:p>
        </p:txBody>
      </p:sp>
      <p:sp>
        <p:nvSpPr>
          <p:cNvPr id="4" name="文献 1: Wikidata:Database download"/>
          <p:cNvSpPr txBox="1"/>
          <p:nvPr/>
        </p:nvSpPr>
        <p:spPr>
          <a:xfrm>
            <a:off x="523240" y="1463040"/>
            <a:ext cx="8072120" cy="1269619"/>
          </a:xfrm>
          <a:prstGeom prst="rect">
            <a:avLst/>
          </a:prstGeom>
          <a:noFill/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Wikidata:Database download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Wikidata contributors, n.d. Wikidata.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JSON・RDFの一括配布と形式、更新、利用条件の案内。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https://www.wikidata.org/wiki/Wikidata:Database_download</a:t>
            </a:r>
          </a:p>
        </p:txBody>
      </p:sp>
      <p:sp>
        <p:nvSpPr>
          <p:cNvPr id="5" name="文献 2: Help:Ranking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Help:Ranking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Wikidata contributors, n.d. Wikidata.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通常・優先・非推奨のランクの役割と検索時の扱いを説明する。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https://www.wikidata.org/wiki/Help:Ranking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2026-10-27T20:10:52Z</dcterms:modified>
  <dc:title>wikidata</dc:title>
  <dc:creator>sasakiy84</dc:creator>
  <dcterms:created xsi:type="dcterms:W3CDTF">2026-10-27T20:10:52Z</dcterms:created>
  <dc:language>ja-JP</dc:language>
</cp:coreProperties>
</file>