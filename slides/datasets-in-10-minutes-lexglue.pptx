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8" r:id="rId58"/>
    <p:sldId id="309" r:id="rId59"/>
    <p:sldId id="310" r:id="rId60"/>
    <p:sldId id="311" r:id="rId61"/>
    <p:sldId id="312" r:id="rId6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oastalcph/lex-glu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acl-long.297/"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 Id="rId3" Type="http://schemas.openxmlformats.org/officeDocument/2006/relationships/hyperlink" Target="https://aclanthology.org/2022.acl-long.297/"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 Id="rId3" Type="http://schemas.openxmlformats.org/officeDocument/2006/relationships/hyperlink" Target="https://huggingface.co/datasets/coastalcph/lex_glue"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acl-long.297/"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coastalcph/lex_glue" TargetMode="External"/><Relationship Id="rId3" Type="http://schemas.openxmlformats.org/officeDocument/2006/relationships/hyperlink" Target="https://github.com/coastalcph/lex-glue"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op.europa.eu/en/web/eu-vocabularies/eurovo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acl-long.297/"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acl-long.297/" TargetMode="External"/><Relationship Id="rId3" Type="http://schemas.openxmlformats.org/officeDocument/2006/relationships/hyperlink" Target="https://aclanthology.org/2020.findings-emnlp.261/"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4.08671" TargetMode="External"/><Relationship Id="rId3" Type="http://schemas.openxmlformats.org/officeDocument/2006/relationships/hyperlink" Target="https://aclanthology.org/2020.lrec-1.15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oastalcph/lex_glue" TargetMode="External"/><Relationship Id="rId3" Type="http://schemas.openxmlformats.org/officeDocument/2006/relationships/hyperlink" Target="https://github.com/stanford-crfm/helm/blob/v0.4.0/src/helm/benchmark/scenarios/lex_glue_scenario.py" TargetMode="External"/><Relationship Id="rId4" Type="http://schemas.openxmlformats.org/officeDocument/2006/relationships/hyperlink" Target="https://github.com/coastalcph/lex-glu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LexGLUE</a:t>
            </a:r>
          </a:p>
        </p:txBody>
      </p:sp>
      <p:sp>
        <p:nvSpPr>
          <p:cNvPr id="3" name="Subtitle 2"/>
          <p:cNvSpPr>
            <a:spLocks noGrp="1"/>
          </p:cNvSpPr>
          <p:nvPr>
            <p:ph type="subTitle" idx="1"/>
          </p:nvPr>
        </p:nvSpPr>
        <p:spPr>
          <a:xfrm>
            <a:off x="548640" y="2647277"/>
            <a:ext cx="8046720" cy="109156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Legal General Language Understanding Evaluation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裁判・法令・契約を、七つの課題で評価する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LexGLUE</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 公式リポジトリ。  </a:t>
            </a:r>
            <a:r>
              <a:rPr sz="810" b="0" lang="ja-JP" altLang="en-US">
                <a:solidFill>
                  <a:srgbClr val="626669"/>
                </a:solidFill>
                <a:latin typeface="Noto Sans"/>
                <a:ea typeface="Noto Sans CJK JP"/>
                <a:cs typeface="Noto Sans"/>
                <a:hlinkClick r:id="rId3"/>
              </a:rPr>
              <a:t>https://github.com/coastalcph/lex-glue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法律の文章で何を当てるか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七つのデータと作り方</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採点方法と2022年の成績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公開配布と利用方法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法律の文章で何を当てるか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法律の言語理解を、七つの課題にまとめる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LexGLUEは、英語の法律文書を使う7つのデータセットを、共通の評価枠組みにまとめたベンチマーク。Ilias Chalkidisらが2021年に公開し、2022年のACLで発表した。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欧州人権裁判所の事件、米国最高裁の判決、EU法令、契約条項、利用規約、判例の引用を扱う。</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入力に応じて、条項や争点のラベルを付けたり、引用に入る判旨を5候補から選んだりする。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実例1：準拠法を分類する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LEDGAR / 入力全文</a:t>
            </a:r>
          </a:p>
        </p:txBody>
      </p:sp>
      <p:sp>
        <p:nvSpPr>
          <p:cNvPr id="5" name="quote-frame"/>
          <p:cNvSpPr/>
          <p:nvPr/>
        </p:nvSpPr>
        <p:spPr>
          <a:xfrm>
            <a:off x="548640" y="1618488"/>
            <a:ext cx="8046720" cy="70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92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This Agreement shall be construed under the laws of the State of Delaware.</a:t>
            </a:r>
          </a:p>
        </p:txBody>
      </p:sp>
      <p:sp>
        <p:nvSpPr>
          <p:cNvPr id="6" name="TextBox 5"/>
          <p:cNvSpPr txBox="1"/>
          <p:nvPr/>
        </p:nvSpPr>
        <p:spPr>
          <a:xfrm>
            <a:off x="594360" y="2467528"/>
            <a:ext cx="7955279" cy="25603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7" name="TextBox 6"/>
          <p:cNvSpPr txBox="1"/>
          <p:nvPr/>
        </p:nvSpPr>
        <p:spPr>
          <a:xfrm>
            <a:off x="594360" y="2760136"/>
            <a:ext cx="7955279" cy="1051560"/>
          </a:xfrm>
          <a:prstGeom prst="rect">
            <a:avLst/>
          </a:prstGeom>
          <a:noFill/>
        </p:spPr>
        <p:txBody>
          <a:bodyPr wrap="square" lIns="0" rIns="0" tIns="0" bIns="0">
            <a:noAutofit/>
          </a:bodyPr>
          <a:lstStyle/>
          <a:p>
            <a:pPr algn="l">
              <a:lnSpc>
                <a:spcPts val="2124"/>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本契約はデラウェア州の法に従って解釈される。</a:t>
            </a:r>
          </a:p>
        </p:txBody>
      </p:sp>
      <p:sp>
        <p:nvSpPr>
          <p:cNvPr id="8" name="TextBox 7"/>
          <p:cNvSpPr txBox="1"/>
          <p:nvPr/>
        </p:nvSpPr>
        <p:spPr>
          <a:xfrm>
            <a:off x="594360" y="3519087"/>
            <a:ext cx="7955279" cy="6400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正解：準拠法</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契約条項の主題を一つ選ぶ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実例1の入力は、デラウェア州法に従って契約を解釈するという1文。LEDGARでは、条項の主なテーマを100クラスから選ぶ。</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LexGLUEは、契約を内容別に整理するような用途も対象に含む。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実例2：規約の一方的変更を見つける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UNFAIR-ToS / 入力全文</a:t>
            </a:r>
          </a:p>
        </p:txBody>
      </p:sp>
      <p:sp>
        <p:nvSpPr>
          <p:cNvPr id="5" name="quote-frame"/>
          <p:cNvSpPr/>
          <p:nvPr/>
        </p:nvSpPr>
        <p:spPr>
          <a:xfrm>
            <a:off x="548640" y="1618488"/>
            <a:ext cx="8046720" cy="1066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92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academia.edu reserves the right , at its sole discretion , to modify the site , services and these terms , at any time and without prior notice . </a:t>
            </a:r>
          </a:p>
        </p:txBody>
      </p:sp>
      <p:sp>
        <p:nvSpPr>
          <p:cNvPr id="6" name="TextBox 5"/>
          <p:cNvSpPr txBox="1"/>
          <p:nvPr/>
        </p:nvSpPr>
        <p:spPr>
          <a:xfrm>
            <a:off x="594360" y="2831594"/>
            <a:ext cx="7955279" cy="25603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7" name="TextBox 6"/>
          <p:cNvSpPr txBox="1"/>
          <p:nvPr/>
        </p:nvSpPr>
        <p:spPr>
          <a:xfrm>
            <a:off x="594360" y="3124202"/>
            <a:ext cx="7955279" cy="1051560"/>
          </a:xfrm>
          <a:prstGeom prst="rect">
            <a:avLst/>
          </a:prstGeom>
          <a:noFill/>
        </p:spPr>
        <p:txBody>
          <a:bodyPr wrap="square" lIns="0" rIns="0" tIns="0" bIns="0">
            <a:noAutofit/>
          </a:bodyPr>
          <a:lstStyle/>
          <a:p>
            <a:pPr algn="l">
              <a:lnSpc>
                <a:spcPts val="2124"/>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academia.eduは、その単独の裁量により、いつでも事前の通知なく、サイト、サービスおよび本規約を変更する権利を留保する。</a:t>
            </a:r>
          </a:p>
        </p:txBody>
      </p:sp>
      <p:sp>
        <p:nvSpPr>
          <p:cNvPr id="8" name="TextBox 7"/>
          <p:cNvSpPr txBox="1"/>
          <p:nvPr/>
        </p:nvSpPr>
        <p:spPr>
          <a:xfrm>
            <a:off x="594360" y="3883154"/>
            <a:ext cx="7955279" cy="6400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正解：一方的変更</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利用規約には、複数ラベルや空集合もある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UNFAIR-ToSは、欧州の消費者法の観点で問題になりうる条項を、8種類で注釈したデータ。1文に複数の種類が付くこともある。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実例2には「一方的変更」のラベルが付く。どの種類にも当たらない文には、空のラベル集合が付く。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実例3：認定された違反条項を予測する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ECtHR A / 入力全文</a:t>
            </a:r>
          </a:p>
        </p:txBody>
      </p:sp>
      <p:sp>
        <p:nvSpPr>
          <p:cNvPr id="5" name="quote-frame"/>
          <p:cNvSpPr/>
          <p:nvPr/>
        </p:nvSpPr>
        <p:spPr>
          <a:xfrm>
            <a:off x="548640" y="1618488"/>
            <a:ext cx="8046720" cy="2362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4854" bIns="127000">
            <a:noAutofit/>
          </a:bodyPr>
          <a:lstStyle/>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5.  The applicant was born in 1967 and lives in Smederevo.</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6.  On 26 March 2007 the applicant lodged a claim with the Žabari Municipal Court against his employer, the Ministry of Interior, seeking payment of certain benefits.</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7.  On 23 April 2012 the Požarevac First Instance Court the Žabari Court Unit ruled in favour of the applicant.</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8.  On 4 October 2012 the Belgrade Appellate Court revised the First Instance Court’s judgment and rejected the applicant’s claim. The applicant received the said judgment on 5 November 2012.</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9.  On 12 November 2014 the Constitutional Court rejected the applicant’s constitutional appeal.</a:t>
            </a:r>
          </a:p>
        </p:txBody>
      </p:sp>
      <p:sp>
        <p:nvSpPr>
          <p:cNvPr id="6" name="TextBox 5"/>
          <p:cNvSpPr txBox="1"/>
          <p:nvPr/>
        </p:nvSpPr>
        <p:spPr>
          <a:xfrm>
            <a:off x="594360" y="4117849"/>
            <a:ext cx="7955279" cy="36576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正解：6</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実例3：認定された違反条項を予測する（訳）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表示原文の日本語訳 / 入力全文</a:t>
            </a:r>
          </a:p>
        </p:txBody>
      </p:sp>
      <p:sp>
        <p:nvSpPr>
          <p:cNvPr id="5" name="quote-frame"/>
          <p:cNvSpPr/>
          <p:nvPr/>
        </p:nvSpPr>
        <p:spPr>
          <a:xfrm>
            <a:off x="548640" y="1618488"/>
            <a:ext cx="8046720" cy="198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1787" bIns="127000">
            <a:noAutofit/>
          </a:bodyPr>
          <a:lstStyle/>
          <a:p>
            <a:pPr algn="l">
              <a:lnSpc>
                <a:spcPts val="179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5. 申立人は1967年生まれで、スメデレヴォに住む。</a:t>
            </a:r>
          </a:p>
          <a:p>
            <a:pPr algn="l">
              <a:lnSpc>
                <a:spcPts val="179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6. 2007年3月26日、内務省を雇用主とする申立人は、一定の手当の支払いを求めてジャバリ市裁判所に訴えを起こした。</a:t>
            </a:r>
          </a:p>
          <a:p>
            <a:pPr algn="l">
              <a:lnSpc>
                <a:spcPts val="179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7. 2012年4月23日、ポジャレヴァツ第一審裁判所ジャバリ支部は、申立人に有利な判決を下した。</a:t>
            </a:r>
          </a:p>
          <a:p>
            <a:pPr algn="l">
              <a:lnSpc>
                <a:spcPts val="179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8. 2012年10月4日、ベオグラード控訴裁判所は第一審判決を変更し、請求を棄却した。申立人は11月5日に判決を受け取った。</a:t>
            </a:r>
          </a:p>
          <a:p>
            <a:pPr algn="l">
              <a:lnSpc>
                <a:spcPts val="179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9. 2014年11月12日、憲法裁判所は申立人の憲法上の不服申立てを退けた。</a:t>
            </a:r>
          </a:p>
        </p:txBody>
      </p:sp>
      <p:sp>
        <p:nvSpPr>
          <p:cNvPr id="6" name="TextBox 5"/>
          <p:cNvSpPr txBox="1"/>
          <p:nvPr/>
        </p:nvSpPr>
        <p:spPr>
          <a:xfrm>
            <a:off x="594360" y="3736850"/>
            <a:ext cx="7955279" cy="4114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正解：欧州人権条約 第6条</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同じ事実から、二つの異なるラベルを予測する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ECtHR Aは、事実の段落列から、裁判所が違反を認定した条項を予測する。ECtHR Bは、違反が主張され、裁判所が検討した条項を予測する。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どちらも欧州人権条約の10条項を対象とする複数ラベル分類である。条番号と、配布データ中の整数ラベルとの対応は補足に示す。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法律の文章で何を当てるか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七つのデータと作り方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七つのデータと作り方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文書の種類と出力の形が異なる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七つのデータと作り方</a:t>
            </a:r>
          </a:p>
        </p:txBody>
      </p:sp>
      <p:graphicFrame>
        <p:nvGraphicFramePr>
          <p:cNvPr id="4" name="Table 3"/>
          <p:cNvGraphicFramePr>
            <a:graphicFrameLocks noGrp="1"/>
          </p:cNvGraphicFramePr>
          <p:nvPr/>
        </p:nvGraphicFramePr>
        <p:xfrm>
          <a:off x="548640" y="1508760"/>
          <a:ext cx="8046720" cy="2589209"/>
        </p:xfrm>
        <a:graphic>
          <a:graphicData uri="http://schemas.openxmlformats.org/drawingml/2006/table">
            <a:tbl>
              <a:tblPr firstRow="0" bandRow="0"/>
              <a:tblGrid>
                <a:gridCol w="1965960"/>
                <a:gridCol w="2423160"/>
                <a:gridCol w="365760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ECtHR A / 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事件の事実列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違反 / 主張条項の集合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SCOTUS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最高裁の判決文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争点分野を1つ</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EUR-LEX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EU法令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EuroVoc概念の集合</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LEDGAR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契約条項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主題を1つ</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UNFAIR-ToS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利用規約の1文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不公正条項の種類の集合</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CaseHOLD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判例の文脈と5候補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判旨の候補番号</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法律データを七つの課題に整える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既存の法律データを整理し、SCOTUSは判決文とSCDBの争点情報を組み合わせて新たに構築した。分割、入力とラベル、評価方法へのアクセスをそろえた。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EUR-LEXは7,000以上のEuroVoc概念から第2階層の頻出100概念に整理。LEDGARは頻出100テーマを対象に、単一の主題を持つ条項へ絞った。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CaseHOLDでは、米国判例の引用にある判旨を隠して5択を作る。年代情報がないため、ほかの課題のような時系列の分け直しは行わない。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七つのデータと作り方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学習・開発・評価の分割を保つ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七つのデータと作り方</a:t>
            </a:r>
          </a:p>
        </p:txBody>
      </p:sp>
      <p:graphicFrame>
        <p:nvGraphicFramePr>
          <p:cNvPr id="4" name="Table 3"/>
          <p:cNvGraphicFramePr>
            <a:graphicFrameLocks noGrp="1"/>
          </p:cNvGraphicFramePr>
          <p:nvPr/>
        </p:nvGraphicFramePr>
        <p:xfrm>
          <a:off x="548640" y="1508760"/>
          <a:ext cx="8046720" cy="2640330"/>
        </p:xfrm>
        <a:graphic>
          <a:graphicData uri="http://schemas.openxmlformats.org/drawingml/2006/table">
            <a:tbl>
              <a:tblPr firstRow="0" bandRow="0"/>
              <a:tblGrid>
                <a:gridCol w="2560320"/>
                <a:gridCol w="1828800"/>
                <a:gridCol w="1828800"/>
                <a:gridCol w="182880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ECtHR A / B 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9,000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SCOTUS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1,400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1,400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EUR-LEX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55,000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LEDGAR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60,000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10,000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UNFAIR-ToS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5,532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1,607</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CaseHOLD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45,000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3,900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052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配布の件数。CaseHOLD testは2022年の論文が3,900問、配布が3,600問。SCOTUSも、論文は14分野、配布のラベル名は13種類である。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t>
            </a:r>
            <a:r>
              <a:rPr sz="810" b="0" lang="ja-JP" altLang="en-US">
                <a:solidFill>
                  <a:srgbClr val="626669"/>
                </a:solidFill>
                <a:latin typeface="Noto Sans"/>
                <a:ea typeface="Noto Sans CJK JP"/>
                <a:cs typeface="Noto Sans"/>
                <a:hlinkClick r:id="rId3"/>
              </a:rPr>
              <a:t>https://aclanthology.org/2022.acl-long.297/</a:t>
            </a:r>
          </a:p>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多くの課題では、時間で分割する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ECtHRは2001〜2016年を学習、2016〜2017年を開発、2017〜2019年をtestとする。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SCOTUSは1946〜1982年、1982〜1991年、1991〜2016年の順に分ける。EUR-LEX、LEDGAR、UNFAIR-ToSも時系列の分割を使う。</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後の時期の文書を、以前の文書で学習したモデルが予測する条件で評価できる。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七つのデータと作り方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採点方法と2022年の成績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採点方法と2022年の成績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micro-F1とmacro-F1を並べて見る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F1は、予測ラベルの正しさを表す適合率と、正解ラベルをどれだけ拾えたかを表す再現率を合わせた指標。micro-F1は、全ラベルの正解・誤りをまとめて計算する。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macro-F1は、クラスごとに計算したF1の平均。出現の少ないクラスも、多いクラスと同じ重みで数える。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単一ラベル分類やCaseHOLDの5択では、全クラスを含めたmicro-F1は正解率と一致する。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採点方法と2022年の成績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空の正解も、評価に含める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ECtHRとUNFAIR-ToSでは、どのラベルも付かない文書や文がある。通常のラベルだけでF1を計算すると、空集合を正しく予測しても正例として数えられない。</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評価時には「どの種類にも当たらない」という追加ラベルを設け、空集合の正しい予測も数える。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公開testでは、UNFAIR-ToSの空集合は1,607文中1,435文、約89.3%を占める。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採点方法と2022年の成績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t>
            </a:r>
            <a:r>
              <a:rPr sz="810" b="0" lang="ja-JP" altLang="en-US">
                <a:solidFill>
                  <a:srgbClr val="626669"/>
                </a:solidFill>
                <a:latin typeface="Noto Sans"/>
                <a:ea typeface="Noto Sans CJK JP"/>
                <a:cs typeface="Noto Sans"/>
                <a:hlinkClick r:id="rId2"/>
              </a:rPr>
              <a:t>https://aclanthology.org/2022.acl-long.297/</a:t>
            </a:r>
          </a:p>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Chalkidis et al. LexGLUE公開データ。</a:t>
            </a:r>
            <a:r>
              <a:rPr sz="810" b="0" lang="ja-JP" altLang="en-US">
                <a:solidFill>
                  <a:srgbClr val="626669"/>
                </a:solidFill>
                <a:latin typeface="Noto Sans"/>
                <a:ea typeface="Noto Sans CJK JP"/>
                <a:cs typeface="Noto Sans"/>
                <a:hlinkClick r:id="rId3"/>
              </a:rPr>
              <a:t>https://huggingface.co/datasets/coastalcph/lex_glue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法律向け事前学習の効果は課題で異なる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採点方法と2022年の成績</a:t>
            </a:r>
          </a:p>
        </p:txBody>
      </p:sp>
      <p:graphicFrame>
        <p:nvGraphicFramePr>
          <p:cNvPr id="4" name="Table 3"/>
          <p:cNvGraphicFramePr>
            <a:graphicFrameLocks noGrp="1"/>
          </p:cNvGraphicFramePr>
          <p:nvPr/>
        </p:nvGraphicFramePr>
        <p:xfrm>
          <a:off x="548640" y="1508760"/>
          <a:ext cx="8046720" cy="2783840"/>
        </p:xfrm>
        <a:graphic>
          <a:graphicData uri="http://schemas.openxmlformats.org/drawingml/2006/table">
            <a:tbl>
              <a:tblPr firstRow="0" bandRow="0"/>
              <a:tblGrid>
                <a:gridCol w="2560320"/>
                <a:gridCol w="2743200"/>
                <a:gridCol w="2743200"/>
              </a:tblGrid>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BERT (2018)</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Legal-BERT (2020)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ECtHR 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63.6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64.0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ECtHR 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74.7</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SCOTUS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66.5</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EUR-LEX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57.4</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LEDGAR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81.8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83.0</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UNFAIR-ToS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81.3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83.0</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CaseHOLD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70.8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38404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2022年のtest macro-F1（%）。各課題で微調整し、初期化を変えた5回の実験のうち開発得点が最良の結果を採用。</a:t>
            </a:r>
          </a:p>
        </p:txBody>
      </p:sp>
      <p:sp>
        <p:nvSpPr>
          <p:cNvPr id="6" name="sources"/>
          <p:cNvSpPr txBox="1"/>
          <p:nvPr/>
        </p:nvSpPr>
        <p:spPr>
          <a:xfrm>
            <a:off x="502920" y="48524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長文を読む方法も、比較条件に含まれる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ECtHR A/BとSCOTUSでは、BERT系の階層モデルが最大64段落×128トークンを読む。段落を個別に符号化し、上位のTransformerで文書にまとめる。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LongformerとBigBirdは疎な注意を使い、最大4,096トークンを扱う。長い文書のどこまで読めるかが、方式ごとの評価条件に含まれる。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採点方法と2022年の成績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公開配布と利用方法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公開配布と利用方法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契約条項を読み、整数ラベルを主題名へ変換する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公開配布と利用方法</a:t>
            </a:r>
          </a:p>
        </p:txBody>
      </p:sp>
      <p:sp>
        <p:nvSpPr>
          <p:cNvPr id="4" name="code-frame"/>
          <p:cNvSpPr/>
          <p:nvPr/>
        </p:nvSpPr>
        <p:spPr>
          <a:xfrm>
            <a:off x="548640" y="1543050"/>
            <a:ext cx="8046720" cy="19543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67310"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import json</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import pyarrow.parquet as pq</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table = pq.read_table("ledgar-test.parquet")</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info = json.loads(table.schema.metadata[b"huggingface"])</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labels = info["info"]["features"]["label"]["names"]</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row = table.to_pylist()[0]</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print(row["text"])</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print(labels[row["label"]])</a:t>
            </a:r>
          </a:p>
        </p:txBody>
      </p:sp>
      <p:sp>
        <p:nvSpPr>
          <p:cNvPr id="5" name="TextBox 4"/>
          <p:cNvSpPr txBox="1"/>
          <p:nvPr/>
        </p:nvSpPr>
        <p:spPr>
          <a:xfrm>
            <a:off x="594360" y="3959352"/>
            <a:ext cx="7955279" cy="59436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ledgarのtest Parquetをledgar-test.parquetとして保存する。textが条項、labelが主題の整数番号。ClassLabelのnamesから主題名を取り出す。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共通の配布先から、七つの課題を選べる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公式GitHubは、7課題の説明、データ取得先、微調整と評価のコードを案内する。Hugging Faceでは課題名とtrain・validation・testを選んで取得できる。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データカードはCC BY 4.0を表示する。裁判所、EU機関、契約や規約の作成者など、元素材の出所と帰属も保って利用する。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コードと収録文書では利用条件の出所が異なるため、再配布時はそれぞれの出所を確認する。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 </a:t>
            </a:r>
            <a:r>
              <a:rPr sz="810" b="0" lang="ja-JP" altLang="en-US">
                <a:solidFill>
                  <a:srgbClr val="626669"/>
                </a:solidFill>
                <a:latin typeface="Noto Sans"/>
                <a:ea typeface="Noto Sans CJK JP"/>
                <a:cs typeface="Noto Sans"/>
                <a:hlinkClick r:id="rId3"/>
              </a:rPr>
              <a:t>https://github.com/coastalcph/lex-glue</a:t>
            </a:r>
          </a:p>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文書の種類、分割、ラベルをそろえて比較する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LexGLUEは、英語の法律文書に対する分類と5択を、7課題にまとめたベンチマーク。裁判・法令・契約など、文書ごとに異なる言語理解を扱う。</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長文の扱い、空集合の採点、少数クラス、時系列の分割が、成績を読むための重要な特徴である。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法律向け事前学習を使うLegal-BERTなどを、共通のデータ分割と指標で比較できる。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条約ラベルの対応</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実例4：税に関する契約条項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LEDGAR / 入力全文</a:t>
            </a:r>
          </a:p>
        </p:txBody>
      </p:sp>
      <p:sp>
        <p:nvSpPr>
          <p:cNvPr id="5" name="quote-frame"/>
          <p:cNvSpPr/>
          <p:nvPr/>
        </p:nvSpPr>
        <p:spPr>
          <a:xfrm>
            <a:off x="548640" y="1618488"/>
            <a:ext cx="8046720" cy="70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92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The Borrower covenants and agrees as follows with respect to Taxes.</a:t>
            </a:r>
          </a:p>
        </p:txBody>
      </p:sp>
      <p:sp>
        <p:nvSpPr>
          <p:cNvPr id="6" name="TextBox 5"/>
          <p:cNvSpPr txBox="1"/>
          <p:nvPr/>
        </p:nvSpPr>
        <p:spPr>
          <a:xfrm>
            <a:off x="594360" y="2467528"/>
            <a:ext cx="7955279" cy="25603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7" name="TextBox 6"/>
          <p:cNvSpPr txBox="1"/>
          <p:nvPr/>
        </p:nvSpPr>
        <p:spPr>
          <a:xfrm>
            <a:off x="594360" y="2760136"/>
            <a:ext cx="7955279" cy="1051560"/>
          </a:xfrm>
          <a:prstGeom prst="rect">
            <a:avLst/>
          </a:prstGeom>
          <a:noFill/>
        </p:spPr>
        <p:txBody>
          <a:bodyPr wrap="square" lIns="0" rIns="0" tIns="0" bIns="0">
            <a:noAutofit/>
          </a:bodyPr>
          <a:lstStyle/>
          <a:p>
            <a:pPr algn="l">
              <a:lnSpc>
                <a:spcPts val="2124"/>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借入人は、税について以下のとおり誓約し、合意する。</a:t>
            </a:r>
          </a:p>
        </p:txBody>
      </p:sp>
      <p:sp>
        <p:nvSpPr>
          <p:cNvPr id="8" name="TextBox 7"/>
          <p:cNvSpPr txBox="1"/>
          <p:nvPr/>
        </p:nvSpPr>
        <p:spPr>
          <a:xfrm>
            <a:off x="594360" y="3519087"/>
            <a:ext cx="7955279" cy="6400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正解：税</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実例5：死亡による雇用終了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LEDGAR / 入力全文</a:t>
            </a:r>
          </a:p>
        </p:txBody>
      </p:sp>
      <p:sp>
        <p:nvSpPr>
          <p:cNvPr id="5" name="quote-frame"/>
          <p:cNvSpPr/>
          <p:nvPr/>
        </p:nvSpPr>
        <p:spPr>
          <a:xfrm>
            <a:off x="548640" y="1618488"/>
            <a:ext cx="8046720" cy="762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92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The Employee’s employment under this Agreement will terminate upon the Employee’s death.</a:t>
            </a:r>
          </a:p>
        </p:txBody>
      </p:sp>
      <p:sp>
        <p:nvSpPr>
          <p:cNvPr id="6" name="TextBox 5"/>
          <p:cNvSpPr txBox="1"/>
          <p:nvPr/>
        </p:nvSpPr>
        <p:spPr>
          <a:xfrm>
            <a:off x="594360" y="2526795"/>
            <a:ext cx="7955279" cy="25603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7" name="TextBox 6"/>
          <p:cNvSpPr txBox="1"/>
          <p:nvPr/>
        </p:nvSpPr>
        <p:spPr>
          <a:xfrm>
            <a:off x="594360" y="2819403"/>
            <a:ext cx="7955279" cy="1051560"/>
          </a:xfrm>
          <a:prstGeom prst="rect">
            <a:avLst/>
          </a:prstGeom>
          <a:noFill/>
        </p:spPr>
        <p:txBody>
          <a:bodyPr wrap="square" lIns="0" rIns="0" tIns="0" bIns="0">
            <a:noAutofit/>
          </a:bodyPr>
          <a:lstStyle/>
          <a:p>
            <a:pPr algn="l">
              <a:lnSpc>
                <a:spcPts val="2124"/>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本契約に基づく従業員の雇用は、その従業員の死亡により終了する。</a:t>
            </a:r>
          </a:p>
        </p:txBody>
      </p:sp>
      <p:sp>
        <p:nvSpPr>
          <p:cNvPr id="8" name="TextBox 7"/>
          <p:cNvSpPr txBox="1"/>
          <p:nvPr/>
        </p:nvSpPr>
        <p:spPr>
          <a:xfrm>
            <a:off x="594360" y="3578354"/>
            <a:ext cx="7955279" cy="6400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正解：死亡</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実例6：ラベルのない文も含む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UNFAIR-ToS / 入力全文</a:t>
            </a:r>
          </a:p>
        </p:txBody>
      </p:sp>
      <p:sp>
        <p:nvSpPr>
          <p:cNvPr id="5" name="quote-frame"/>
          <p:cNvSpPr/>
          <p:nvPr/>
        </p:nvSpPr>
        <p:spPr>
          <a:xfrm>
            <a:off x="548640" y="1618488"/>
            <a:ext cx="8046720" cy="45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92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you may cancel your subscription at any time . </a:t>
            </a:r>
          </a:p>
        </p:txBody>
      </p:sp>
      <p:sp>
        <p:nvSpPr>
          <p:cNvPr id="6" name="TextBox 5"/>
          <p:cNvSpPr txBox="1"/>
          <p:nvPr/>
        </p:nvSpPr>
        <p:spPr>
          <a:xfrm>
            <a:off x="594360" y="2221995"/>
            <a:ext cx="7955279" cy="25603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7" name="TextBox 6"/>
          <p:cNvSpPr txBox="1"/>
          <p:nvPr/>
        </p:nvSpPr>
        <p:spPr>
          <a:xfrm>
            <a:off x="594360" y="2514603"/>
            <a:ext cx="7955279" cy="1051560"/>
          </a:xfrm>
          <a:prstGeom prst="rect">
            <a:avLst/>
          </a:prstGeom>
          <a:noFill/>
        </p:spPr>
        <p:txBody>
          <a:bodyPr wrap="square" lIns="0" rIns="0" tIns="0" bIns="0">
            <a:noAutofit/>
          </a:bodyPr>
          <a:lstStyle/>
          <a:p>
            <a:pPr algn="l">
              <a:lnSpc>
                <a:spcPts val="2124"/>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利用者は、いつでもサブスクリプションを解約できる。</a:t>
            </a:r>
          </a:p>
        </p:txBody>
      </p:sp>
      <p:sp>
        <p:nvSpPr>
          <p:cNvPr id="8" name="TextBox 7"/>
          <p:cNvSpPr txBox="1"/>
          <p:nvPr/>
        </p:nvSpPr>
        <p:spPr>
          <a:xfrm>
            <a:off x="594360" y="3273554"/>
            <a:ext cx="7955279" cy="6400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正解：該当ラベルなし</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実例7：一方的な終了権限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UNFAIR-ToS / 入力全文</a:t>
            </a:r>
          </a:p>
        </p:txBody>
      </p:sp>
      <p:sp>
        <p:nvSpPr>
          <p:cNvPr id="5" name="quote-frame"/>
          <p:cNvSpPr/>
          <p:nvPr/>
        </p:nvSpPr>
        <p:spPr>
          <a:xfrm>
            <a:off x="548640" y="1618488"/>
            <a:ext cx="80467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92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we reserve the right to modify or terminate free trials at any time , without notice and in our sole discretion . </a:t>
            </a:r>
          </a:p>
        </p:txBody>
      </p:sp>
      <p:sp>
        <p:nvSpPr>
          <p:cNvPr id="6" name="TextBox 5"/>
          <p:cNvSpPr txBox="1"/>
          <p:nvPr/>
        </p:nvSpPr>
        <p:spPr>
          <a:xfrm>
            <a:off x="594360" y="2501394"/>
            <a:ext cx="7955279" cy="25603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7" name="TextBox 6"/>
          <p:cNvSpPr txBox="1"/>
          <p:nvPr/>
        </p:nvSpPr>
        <p:spPr>
          <a:xfrm>
            <a:off x="594360" y="2794002"/>
            <a:ext cx="7955279" cy="1051560"/>
          </a:xfrm>
          <a:prstGeom prst="rect">
            <a:avLst/>
          </a:prstGeom>
          <a:noFill/>
        </p:spPr>
        <p:txBody>
          <a:bodyPr wrap="square" lIns="0" rIns="0" tIns="0" bIns="0">
            <a:noAutofit/>
          </a:bodyPr>
          <a:lstStyle/>
          <a:p>
            <a:pPr algn="l">
              <a:lnSpc>
                <a:spcPts val="2124"/>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当社は、いつでも通知なく、かつその単独の裁量で、無料試用を変更または終了する権利を留保する。</a:t>
            </a:r>
          </a:p>
        </p:txBody>
      </p:sp>
      <p:sp>
        <p:nvSpPr>
          <p:cNvPr id="8" name="TextBox 7"/>
          <p:cNvSpPr txBox="1"/>
          <p:nvPr/>
        </p:nvSpPr>
        <p:spPr>
          <a:xfrm>
            <a:off x="594360" y="3552953"/>
            <a:ext cx="7955279" cy="6400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正解：一方的終了</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実例8：1文に複数のラベルを付ける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UNFAIR-ToS / 入力全文</a:t>
            </a:r>
          </a:p>
        </p:txBody>
      </p:sp>
      <p:sp>
        <p:nvSpPr>
          <p:cNvPr id="5" name="quote-frame"/>
          <p:cNvSpPr/>
          <p:nvPr/>
        </p:nvSpPr>
        <p:spPr>
          <a:xfrm>
            <a:off x="548640" y="1645920"/>
            <a:ext cx="4206240" cy="2125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8419"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if we believe , in our sole discretion , that any member of academia.edu or academia premium or other academia.edu paid services is in breach of our terms , or act outside of the letter or spirit of our terms , we reserve the right to add limitations to your access to www.academia.edu , up to and including terminating all access to www.academia.edu . </a:t>
            </a:r>
          </a:p>
        </p:txBody>
      </p:sp>
      <p:sp>
        <p:nvSpPr>
          <p:cNvPr id="6" name="quote-frame"/>
          <p:cNvSpPr/>
          <p:nvPr/>
        </p:nvSpPr>
        <p:spPr>
          <a:xfrm>
            <a:off x="4937760" y="1645920"/>
            <a:ext cx="3657600" cy="2370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8419"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academia.edu、academia premium、またはその他のacademia.edu有料サービスの利用者が、本規約に違反し、またはその文言もしくは趣旨から外れて行動していると当社が単独の裁量で判断した場合、当社は、www.academia.eduへのアクセスに制限を加える権利を留保する。その制限には、すべてのアクセスの終了も含む。</a:t>
            </a:r>
          </a:p>
        </p:txBody>
      </p:sp>
      <p:sp>
        <p:nvSpPr>
          <p:cNvPr id="7" name="TextBox 6"/>
          <p:cNvSpPr txBox="1"/>
          <p:nvPr/>
        </p:nvSpPr>
        <p:spPr>
          <a:xfrm>
            <a:off x="594360" y="4143586"/>
            <a:ext cx="7955279" cy="36576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正解：一方的変更 / 一方的終了</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実例9：秘密文書を用いた審理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ECtHR A / 入力全文</a:t>
            </a:r>
          </a:p>
        </p:txBody>
      </p:sp>
      <p:sp>
        <p:nvSpPr>
          <p:cNvPr id="5" name="quote-frame"/>
          <p:cNvSpPr/>
          <p:nvPr/>
        </p:nvSpPr>
        <p:spPr>
          <a:xfrm>
            <a:off x="548640" y="1618488"/>
            <a:ext cx="8046720" cy="2539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4854" bIns="127000">
            <a:noAutofit/>
          </a:bodyPr>
          <a:lstStyle/>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5.  The applicant was born in 1989 and lives in Manisa.</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6.  The facts of the case, as submitted by the parties, may be summarised as follows.</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7.  On 7 July 2009 the applicant was dismissed from the Expert Gendarmerie School due to non-compliance with disciplinary rules.</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8.  On 28 July 2009 the applicant brought an action before the Supreme Military Administrative Court and requested the annulment of the decision to dismiss him.</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9.  On 6 January 2010 the Supreme Military Administrative Court rejected the applicant’s case, taking into account the “secret documents” submitted by the Ministry of Defence. These documents were not disclosed to the applicant.</a:t>
            </a:r>
          </a:p>
          <a:p>
            <a:pPr algn="l">
              <a:lnSpc>
                <a:spcPts val="1725"/>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10.  On 5 May 2010 the applicant’s request for rectification was rejected by the same court.</a:t>
            </a:r>
          </a:p>
        </p:txBody>
      </p:sp>
      <p:sp>
        <p:nvSpPr>
          <p:cNvPr id="6" name="TextBox 5"/>
          <p:cNvSpPr txBox="1"/>
          <p:nvPr/>
        </p:nvSpPr>
        <p:spPr>
          <a:xfrm>
            <a:off x="594360" y="4295649"/>
            <a:ext cx="7955279" cy="36576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正解：6</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実例9：秘密文書を用いた審理（訳）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表示原文の日本語訳 / 入力全文</a:t>
            </a:r>
          </a:p>
        </p:txBody>
      </p:sp>
      <p:sp>
        <p:nvSpPr>
          <p:cNvPr id="5" name="quote-frame"/>
          <p:cNvSpPr/>
          <p:nvPr/>
        </p:nvSpPr>
        <p:spPr>
          <a:xfrm>
            <a:off x="548640" y="1618488"/>
            <a:ext cx="8046720" cy="2209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90254" bIns="127000">
            <a:noAutofit/>
          </a:bodyPr>
          <a:lstStyle/>
          <a:p>
            <a:pPr algn="l">
              <a:lnSpc>
                <a:spcPts val="201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 申立人は1989年生まれで、マニサに住む。</a:t>
            </a:r>
          </a:p>
          <a:p>
            <a:pPr algn="l">
              <a:lnSpc>
                <a:spcPts val="201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6. 当事者から示された事件の経緯は、以下のように要約できる。</a:t>
            </a:r>
          </a:p>
          <a:p>
            <a:pPr algn="l">
              <a:lnSpc>
                <a:spcPts val="201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7. 2009年7月7日、申立人は規律違反を理由に専門憲兵学校から退学処分を受けた。</a:t>
            </a:r>
          </a:p>
          <a:p>
            <a:pPr algn="l">
              <a:lnSpc>
                <a:spcPts val="201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8. 7月28日、最高軍事行政裁判所に処分の取消しを求めて提訴した。</a:t>
            </a:r>
          </a:p>
          <a:p>
            <a:pPr algn="l">
              <a:lnSpc>
                <a:spcPts val="201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9. 2010年1月6日、同裁判所は国防省が提出した「秘密文書」を考慮して請求を退けた。この文書は申立人に開示されなかった。</a:t>
            </a:r>
          </a:p>
          <a:p>
            <a:pPr algn="l">
              <a:lnSpc>
                <a:spcPts val="201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10. 5月5日、同裁判所は申立人の訂正の申立ても退けた。</a:t>
            </a:r>
          </a:p>
        </p:txBody>
      </p:sp>
      <p:sp>
        <p:nvSpPr>
          <p:cNvPr id="6" name="TextBox 5"/>
          <p:cNvSpPr txBox="1"/>
          <p:nvPr/>
        </p:nvSpPr>
        <p:spPr>
          <a:xfrm>
            <a:off x="594360" y="3965448"/>
            <a:ext cx="7955279" cy="4114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正解：欧州人権条約 第6条</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実例10：検討対象となった条項を予測する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ECtHR B / 事実列の先頭2段落（抜粋）</a:t>
            </a:r>
          </a:p>
        </p:txBody>
      </p:sp>
      <p:sp>
        <p:nvSpPr>
          <p:cNvPr id="5" name="quote-frame"/>
          <p:cNvSpPr/>
          <p:nvPr/>
        </p:nvSpPr>
        <p:spPr>
          <a:xfrm>
            <a:off x="548640" y="1645920"/>
            <a:ext cx="420624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8419"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6.  The applicant was born in 1975 in Vladikavkaz, the Republic of North Ossetia‑Alania. He is currently detained in correctional colony no. 1 in Vladikavkaz (“the correctional colony”).</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7.  On 21 January 2013 the applicant was arrested on suspicion of drug trafficking and taken to remand prison no. 20/1 in Grozny, the Chechen Republic (“the remand prison”).</a:t>
            </a:r>
          </a:p>
        </p:txBody>
      </p:sp>
      <p:sp>
        <p:nvSpPr>
          <p:cNvPr id="6" name="quote-frame"/>
          <p:cNvSpPr/>
          <p:nvPr/>
        </p:nvSpPr>
        <p:spPr>
          <a:xfrm>
            <a:off x="4937760" y="1645920"/>
            <a:ext cx="3657600" cy="171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5353"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6. 申立人は1975年、北オセチア・アラニア共和国のウラジカフカスで生まれた。現在、同市の第1矯正収容所に収容されている。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7. 2013年1月21日、薬物取引の容疑で逮捕され、チェチェン共和国グロズヌイの第20/1拘置所に移送された。</a:t>
            </a:r>
          </a:p>
        </p:txBody>
      </p:sp>
      <p:sp>
        <p:nvSpPr>
          <p:cNvPr id="7" name="TextBox 6"/>
          <p:cNvSpPr txBox="1"/>
          <p:nvPr/>
        </p:nvSpPr>
        <p:spPr>
          <a:xfrm>
            <a:off x="594360" y="4168986"/>
            <a:ext cx="7955279" cy="36576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正解：主張された条項：第3条</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実例11：米国最高裁の争点分野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SCOTUS / 入力全文</a:t>
            </a:r>
          </a:p>
        </p:txBody>
      </p:sp>
      <p:sp>
        <p:nvSpPr>
          <p:cNvPr id="5" name="quote-frame"/>
          <p:cNvSpPr/>
          <p:nvPr/>
        </p:nvSpPr>
        <p:spPr>
          <a:xfrm>
            <a:off x="548640" y="1645920"/>
            <a:ext cx="420624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8419"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503 U.S. 257 112 S.Ct. 1151 117 L.Ed.2d 400 PFZ PROPERTIES, INC., Petitioner,v.Rene Alberto RODRIGUEZ, et al. No. 91-122. March 9, 1992. On Writ of Certiorari to the United States Court of Appeals for the First Circuit. Case below, 928 F.2d 28. PER CURIAM. 1 The writ of certiorari is dismissed as improvidently granted.</a:t>
            </a:r>
          </a:p>
        </p:txBody>
      </p:sp>
      <p:sp>
        <p:nvSpPr>
          <p:cNvPr id="6" name="quote-frame"/>
          <p:cNvSpPr/>
          <p:nvPr/>
        </p:nvSpPr>
        <p:spPr>
          <a:xfrm>
            <a:off x="4937760" y="1645920"/>
            <a:ext cx="3657600" cy="1913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49953"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503 U.S. 257 / 112 S.Ct. 1151 / 117 L.Ed.2d 400 申立人PFZ PROPERTIES, INC. 対 Rene Alberto RODRIGUEZほか 事件番号91-122。1992年3月9日。 第1巡回区控訴裁判所からの裁量上訴。原審928 F.2d 28。裁判所の名による意見。 1. 裁量上訴を認めたことが不適切だったため、これを却下する。</a:t>
            </a:r>
          </a:p>
        </p:txBody>
      </p:sp>
      <p:sp>
        <p:nvSpPr>
          <p:cNvPr id="7" name="TextBox 6"/>
          <p:cNvSpPr txBox="1"/>
          <p:nvPr/>
        </p:nvSpPr>
        <p:spPr>
          <a:xfrm>
            <a:off x="594360" y="3720253"/>
            <a:ext cx="7955279" cy="36576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正解：司法権（分野コード9）</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実例12：EU法令をEuroVocで分類する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EUR-LEX / 文書冒頭からWhereas直前まで（抜粋）</a:t>
            </a:r>
          </a:p>
        </p:txBody>
      </p:sp>
      <p:sp>
        <p:nvSpPr>
          <p:cNvPr id="5" name="quote-frame"/>
          <p:cNvSpPr/>
          <p:nvPr/>
        </p:nvSpPr>
        <p:spPr>
          <a:xfrm>
            <a:off x="548640" y="1645920"/>
            <a:ext cx="4572000" cy="1930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8419"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COUNCIL DECISION of 30 September 2013 appointing a Spanish member of the Committee of the Regions (2013/484/EU) THE COUNCIL OF THE EUROPEAN UNION, Having regard to the Treaty on the Functioning of the European Union, and in particular Article 305 thereof, Having regard to the proposal of the Spanish Government,</a:t>
            </a:r>
          </a:p>
        </p:txBody>
      </p:sp>
      <p:sp>
        <p:nvSpPr>
          <p:cNvPr id="6" name="quote-frame"/>
          <p:cNvSpPr/>
          <p:nvPr/>
        </p:nvSpPr>
        <p:spPr>
          <a:xfrm>
            <a:off x="5303520" y="1645920"/>
            <a:ext cx="3291840" cy="1490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5353"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理事会決定 2013年9月30日 スペインから地域委員会の委員を任命する件 (2013/484/EU) 欧州連合理事会は、 欧州連合の機能に関する条約、特に第305条を踏まえ、 スペイン政府の提案を踏まえ、</a:t>
            </a:r>
          </a:p>
        </p:txBody>
      </p:sp>
      <p:sp>
        <p:nvSpPr>
          <p:cNvPr id="7" name="TextBox 6"/>
          <p:cNvSpPr txBox="1"/>
          <p:nvPr/>
        </p:nvSpPr>
        <p:spPr>
          <a:xfrm>
            <a:off x="594360" y="3703320"/>
            <a:ext cx="7955279" cy="36576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正解：EU機関・欧州公務員制度／欧州／経済地理／政治地理</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EuroVocの識別子を概念名に対応させる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graphicFrame>
        <p:nvGraphicFramePr>
          <p:cNvPr id="4" name="Table 3"/>
          <p:cNvGraphicFramePr>
            <a:graphicFrameLocks noGrp="1"/>
          </p:cNvGraphicFramePr>
          <p:nvPr/>
        </p:nvGraphicFramePr>
        <p:xfrm>
          <a:off x="548640" y="1508760"/>
          <a:ext cx="8046720" cy="1812925"/>
        </p:xfrm>
        <a:graphic>
          <a:graphicData uri="http://schemas.openxmlformats.org/drawingml/2006/table">
            <a:tbl>
              <a:tblPr firstRow="0" bandRow="0"/>
              <a:tblGrid>
                <a:gridCol w="1828800"/>
                <a:gridCol w="621792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識別子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英語の推奨名称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100174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1006 EU institutions and European civil service</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100277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7206 Europe</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100282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7231 economic geography</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100283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7236 political geography</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1312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実例12の参照4件。名称はEU Publications Officeの公式EuroVocから取得。</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Publications Office of the European Union. EuroVoc, English preferred labels.  </a:t>
            </a:r>
            <a:r>
              <a:rPr sz="810" b="0" lang="ja-JP" altLang="en-US">
                <a:solidFill>
                  <a:srgbClr val="626669"/>
                </a:solidFill>
                <a:latin typeface="Noto Sans"/>
                <a:ea typeface="Noto Sans CJK JP"/>
                <a:cs typeface="Noto Sans"/>
                <a:hlinkClick r:id="rId2"/>
              </a:rPr>
              <a:t>https://op.europa.eu/en/web/eu-vocabularies/eurovoc</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実例13：引用に入る判旨を5択で選ぶ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CaseHOLD / context末尾の連続範囲＋選択肢5件全文</a:t>
            </a:r>
          </a:p>
        </p:txBody>
      </p:sp>
      <p:sp>
        <p:nvSpPr>
          <p:cNvPr id="5" name="quote-frame"/>
          <p:cNvSpPr/>
          <p:nvPr/>
        </p:nvSpPr>
        <p:spPr>
          <a:xfrm>
            <a:off x="548640" y="1618488"/>
            <a:ext cx="8046720" cy="2277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3321" bIns="127000">
            <a:noAutofit/>
          </a:bodyPr>
          <a:lstStyle/>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Turner concedes this precedent but encourages us to reconsider the court’s position, pointing to other circuits that have reached the opposite conclusion. See, e.g., United States v. Ciszkowski, 492 F.3d 1264, 1270 (11th Cir.2007) (&lt;HOLDING&gt;); United States v. Rizzo, 121 F.3d 794, 801 &amp;</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0: recognizing a challenge to jurisdiction as a viable claim</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1: recognizing sentencing manipulation as a viable defense</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2: recognizing primary assumption of risk as a viable doctrine</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3: holding that counsel was ineffective for failing to assert an entrapment defense that was legally available and where there was no other viable defense to present</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4: holding that such a theory is viable under title vii</a:t>
            </a:r>
          </a:p>
        </p:txBody>
      </p:sp>
      <p:sp>
        <p:nvSpPr>
          <p:cNvPr id="6" name="TextBox 5"/>
          <p:cNvSpPr txBox="1"/>
          <p:nvPr/>
        </p:nvSpPr>
        <p:spPr>
          <a:xfrm>
            <a:off x="594360" y="4033183"/>
            <a:ext cx="7955279" cy="36576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実例13：引用に入る判旨を5択で選ぶ（訳）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表示原文の日本語訳 / context末尾の連続範囲＋選択肢5件全文</a:t>
            </a:r>
          </a:p>
        </p:txBody>
      </p:sp>
      <p:sp>
        <p:nvSpPr>
          <p:cNvPr id="5" name="quote-frame"/>
          <p:cNvSpPr/>
          <p:nvPr/>
        </p:nvSpPr>
        <p:spPr>
          <a:xfrm>
            <a:off x="548640" y="1618488"/>
            <a:ext cx="8046720" cy="2142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1787" bIns="127000">
            <a:noAutofit/>
          </a:bodyPr>
          <a:lstStyle/>
          <a:p>
            <a:pPr algn="l">
              <a:lnSpc>
                <a:spcPts val="173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ターナーはこの先例を認めつつ、反対の結論に達した他の巡回区を挙げ、当巡回区の見解の再検討を求める。例えばUnited States v. Ciszkowski, 492 F.3d 1264, 1270 (第11巡回区、2007年)（&lt;HOLDING&gt;）、United States v. Rizzo, 121 F.3d 794, 801 &amp;</a:t>
            </a:r>
          </a:p>
          <a:p>
            <a:pPr algn="l">
              <a:lnSpc>
                <a:spcPts val="173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0: 管轄権への異議を有効な主張と認める</a:t>
            </a:r>
          </a:p>
          <a:p>
            <a:pPr algn="l">
              <a:lnSpc>
                <a:spcPts val="173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1: 量刑操作を有効な抗弁と認める</a:t>
            </a:r>
          </a:p>
          <a:p>
            <a:pPr algn="l">
              <a:lnSpc>
                <a:spcPts val="173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2: 第一次的危険引受けを有効な法理と認める</a:t>
            </a:r>
          </a:p>
          <a:p>
            <a:pPr algn="l">
              <a:lnSpc>
                <a:spcPts val="173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3: おとり捜査の抗弁が法的に認められ、ほかに有効な抗弁がなかったのに、それを主張しなかった弁護活動は不十分だったと判断する</a:t>
            </a:r>
          </a:p>
          <a:p>
            <a:pPr algn="l">
              <a:lnSpc>
                <a:spcPts val="173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4: そのような理論がTitle VIIの下で有効と判断する</a:t>
            </a:r>
          </a:p>
        </p:txBody>
      </p:sp>
      <p:sp>
        <p:nvSpPr>
          <p:cNvPr id="6" name="TextBox 5"/>
          <p:cNvSpPr txBox="1"/>
          <p:nvPr/>
        </p:nvSpPr>
        <p:spPr>
          <a:xfrm>
            <a:off x="594360" y="3897716"/>
            <a:ext cx="7955279" cy="411480"/>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正解：選択肢1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条約ラベルの対応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条約ラベルの対応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配布の整数ラベルを、条約の条番号へ対応付ける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条約ラベルの対応</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1097280"/>
                <a:gridCol w="2468880"/>
                <a:gridCol w="1097280"/>
                <a:gridCol w="338328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整数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条約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整数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条約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第2条</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第9条</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第3条</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第10条</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第5条</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第11条</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第6条</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第14条</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第8条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第1議定書 第1条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LexGLUE公開データ。</a:t>
            </a:r>
            <a:r>
              <a:rPr sz="810" b="0" lang="ja-JP" altLang="en-US">
                <a:solidFill>
                  <a:srgbClr val="626669"/>
                </a:solidFill>
                <a:latin typeface="Noto Sans"/>
                <a:ea typeface="Noto Sans CJK JP"/>
                <a:cs typeface="Noto Sans"/>
                <a:hlinkClick r:id="rId2"/>
              </a:rPr>
              <a:t>https://huggingface.co/datasets/coastalcph/lex_glue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法律データへの入口を、共通の評価でつくる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Ilias Chalkidis、Abhik Janaら7人による研究で、2021年に初公開され、ACL 2022で発表された。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法域や文書の形式が異なる公開データに、統一した取得方法と基準モデルを用意した。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Legal-BERTなどの法律向け事前学習、長文処理、ラベルの不均衡が、どの課題で役立つかを比較する基盤になっている。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Chalkidis et al. (2022). LexGLUE: A Benchmark Dataset for Legal Language Understanding in English. ACL.  </a:t>
            </a:r>
            <a:r>
              <a:rPr sz="810" b="0" lang="ja-JP" altLang="en-US">
                <a:solidFill>
                  <a:srgbClr val="626669"/>
                </a:solidFill>
                <a:latin typeface="Noto Sans"/>
                <a:ea typeface="Noto Sans CJK JP"/>
                <a:cs typeface="Noto Sans"/>
                <a:hlinkClick r:id="rId2"/>
              </a:rPr>
              <a:t>https://aclanthology.org/2022.acl-long.297/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38"/>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LexGLUE: A Benchmark Dataset for Legal Language Understanding in English</a:t>
            </a:r>
          </a:p>
        </p:txBody>
      </p:sp>
      <p:sp>
        <p:nvSpPr>
          <p:cNvPr id="5" name="TextBox 4"/>
          <p:cNvSpPr txBox="1"/>
          <p:nvPr/>
        </p:nvSpPr>
        <p:spPr>
          <a:xfrm>
            <a:off x="548640" y="19659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Ilias Chalkidis et al. · 2022 · ACL</a:t>
            </a:r>
          </a:p>
        </p:txBody>
      </p:sp>
      <p:sp>
        <p:nvSpPr>
          <p:cNvPr id="6" name="TextBox 5"/>
          <p:cNvSpPr txBox="1"/>
          <p:nvPr/>
        </p:nvSpPr>
        <p:spPr>
          <a:xfrm>
            <a:off x="548640" y="2249424"/>
            <a:ext cx="8046720" cy="475488"/>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七つの英語法律課題、共通の評価方法、基準モデルの比較を示す。</a:t>
            </a:r>
          </a:p>
        </p:txBody>
      </p:sp>
      <p:sp>
        <p:nvSpPr>
          <p:cNvPr id="7" name="TextBox 6"/>
          <p:cNvSpPr txBox="1"/>
          <p:nvPr/>
        </p:nvSpPr>
        <p:spPr>
          <a:xfrm>
            <a:off x="548640" y="2752344"/>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https://aclanthology.org/2022.acl-long.297/</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38"/>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LEGAL-BERT: The Muppets straight out of Law School</a:t>
            </a:r>
          </a:p>
        </p:txBody>
      </p:sp>
      <p:sp>
        <p:nvSpPr>
          <p:cNvPr id="9" name="TextBox 8"/>
          <p:cNvSpPr txBox="1"/>
          <p:nvPr/>
        </p:nvSpPr>
        <p:spPr>
          <a:xfrm>
            <a:off x="548640" y="370332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Ilias Chalkidis et al. · 2020 · Findings of EMNLP</a:t>
            </a:r>
          </a:p>
        </p:txBody>
      </p:sp>
      <p:sp>
        <p:nvSpPr>
          <p:cNvPr id="10" name="TextBox 9"/>
          <p:cNvSpPr txBox="1"/>
          <p:nvPr/>
        </p:nvSpPr>
        <p:spPr>
          <a:xfrm>
            <a:off x="548640" y="3986783"/>
            <a:ext cx="8046720" cy="475488"/>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法律文書による事前学習と語彙の設計を、法律分野の言語処理で検証する。</a:t>
            </a:r>
          </a:p>
        </p:txBody>
      </p:sp>
      <p:sp>
        <p:nvSpPr>
          <p:cNvPr id="11" name="TextBox 10"/>
          <p:cNvSpPr txBox="1"/>
          <p:nvPr/>
        </p:nvSpPr>
        <p:spPr>
          <a:xfrm>
            <a:off x="548640" y="4489704"/>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https://aclanthology.org/2020.findings-emnlp.261/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38"/>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When Does Pretraining Help? Assessing Self-Supervised Learning for Law and the CaseHOLD Dataset of 53,000+ Legal Holdings</a:t>
            </a:r>
          </a:p>
        </p:txBody>
      </p:sp>
      <p:sp>
        <p:nvSpPr>
          <p:cNvPr id="5" name="TextBox 4"/>
          <p:cNvSpPr txBox="1"/>
          <p:nvPr/>
        </p:nvSpPr>
        <p:spPr>
          <a:xfrm>
            <a:off x="548640" y="19659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Lucia Zheng et al. · 2021 · ICAIL</a:t>
            </a:r>
          </a:p>
        </p:txBody>
      </p:sp>
      <p:sp>
        <p:nvSpPr>
          <p:cNvPr id="6" name="TextBox 5"/>
          <p:cNvSpPr txBox="1"/>
          <p:nvPr/>
        </p:nvSpPr>
        <p:spPr>
          <a:xfrm>
            <a:off x="548640" y="2249424"/>
            <a:ext cx="8046720" cy="475488"/>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法律向けの事前学習を比較し、判例引用の判旨を選ぶCaseHOLDを公開する。</a:t>
            </a:r>
          </a:p>
        </p:txBody>
      </p:sp>
      <p:sp>
        <p:nvSpPr>
          <p:cNvPr id="7" name="TextBox 6"/>
          <p:cNvSpPr txBox="1"/>
          <p:nvPr/>
        </p:nvSpPr>
        <p:spPr>
          <a:xfrm>
            <a:off x="548640" y="2752344"/>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https://arxiv.org/abs/2104.08671</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38"/>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LEDGAR: A Large-Scale Multi-label Corpus for Text Classification of Legal Provisions in Contracts</a:t>
            </a:r>
          </a:p>
        </p:txBody>
      </p:sp>
      <p:sp>
        <p:nvSpPr>
          <p:cNvPr id="9" name="TextBox 8"/>
          <p:cNvSpPr txBox="1"/>
          <p:nvPr/>
        </p:nvSpPr>
        <p:spPr>
          <a:xfrm>
            <a:off x="548640" y="370332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Don Tuggener et al. · 2020 · LREC</a:t>
            </a:r>
          </a:p>
        </p:txBody>
      </p:sp>
      <p:sp>
        <p:nvSpPr>
          <p:cNvPr id="10" name="TextBox 9"/>
          <p:cNvSpPr txBox="1"/>
          <p:nvPr/>
        </p:nvSpPr>
        <p:spPr>
          <a:xfrm>
            <a:off x="548640" y="3986783"/>
            <a:ext cx="8046720" cy="475488"/>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SECへの提出契約から、条項とその主題ラベルを収集する。</a:t>
            </a:r>
          </a:p>
        </p:txBody>
      </p:sp>
      <p:sp>
        <p:nvSpPr>
          <p:cNvPr id="11" name="TextBox 10"/>
          <p:cNvSpPr txBox="1"/>
          <p:nvPr/>
        </p:nvSpPr>
        <p:spPr>
          <a:xfrm>
            <a:off x="548640" y="4489704"/>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https://aclanthology.org/2020.lrec-1.155/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38"/>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LexGLUE Dataset</a:t>
            </a:r>
          </a:p>
        </p:txBody>
      </p:sp>
      <p:sp>
        <p:nvSpPr>
          <p:cNvPr id="5" name="TextBox 4"/>
          <p:cNvSpPr txBox="1"/>
          <p:nvPr/>
        </p:nvSpPr>
        <p:spPr>
          <a:xfrm>
            <a:off x="548640" y="19659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Ilias Chalkidis et al. · n.d. · Hugging Face（2026-10-18参照）</a:t>
            </a:r>
          </a:p>
        </p:txBody>
      </p:sp>
      <p:sp>
        <p:nvSpPr>
          <p:cNvPr id="6" name="TextBox 5"/>
          <p:cNvSpPr txBox="1"/>
          <p:nvPr/>
        </p:nvSpPr>
        <p:spPr>
          <a:xfrm>
            <a:off x="548640" y="2249424"/>
            <a:ext cx="8046720" cy="475488"/>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各subsetの分割、ClassLabel、入力と参照ラベルを配布する。</a:t>
            </a:r>
          </a:p>
        </p:txBody>
      </p:sp>
      <p:sp>
        <p:nvSpPr>
          <p:cNvPr id="7" name="TextBox 6"/>
          <p:cNvSpPr txBox="1"/>
          <p:nvPr/>
        </p:nvSpPr>
        <p:spPr>
          <a:xfrm>
            <a:off x="548640" y="2752344"/>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https://huggingface.co/datasets/coastalcph/lex_glue</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38"/>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LexGLUE official repository</a:t>
            </a:r>
          </a:p>
        </p:txBody>
      </p:sp>
      <p:sp>
        <p:nvSpPr>
          <p:cNvPr id="9" name="TextBox 8"/>
          <p:cNvSpPr txBox="1"/>
          <p:nvPr/>
        </p:nvSpPr>
        <p:spPr>
          <a:xfrm>
            <a:off x="548640" y="370332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Ilias Chalkidis et al. · n.d. · GitHub（2026-10-18参照）</a:t>
            </a:r>
          </a:p>
        </p:txBody>
      </p:sp>
      <p:sp>
        <p:nvSpPr>
          <p:cNvPr id="10" name="TextBox 9"/>
          <p:cNvSpPr txBox="1"/>
          <p:nvPr/>
        </p:nvSpPr>
        <p:spPr>
          <a:xfrm>
            <a:off x="548640" y="3986783"/>
            <a:ext cx="8046720" cy="475488"/>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7課題の構成、データ取得先、微調整と評価のコードを案内する。</a:t>
            </a:r>
          </a:p>
        </p:txBody>
      </p:sp>
      <p:sp>
        <p:nvSpPr>
          <p:cNvPr id="11" name="TextBox 10"/>
          <p:cNvSpPr txBox="1"/>
          <p:nvPr/>
        </p:nvSpPr>
        <p:spPr>
          <a:xfrm>
            <a:off x="548640" y="4489704"/>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4"/>
              </a:rPr>
              <a:t>https://github.com/coastalcph/lex-glue</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2026-10-18T07:54:40Z</dcterms:modified>
  <dc:title>lexglue</dc:title>
  <dc:creator>sasakiy84</dc:creator>
  <dcterms:created xsi:type="dcterms:W3CDTF">2026-10-18T07:54:40Z</dcterms:created>
  <dc:language>ja-JP</dc:language>
</cp:coreProperties>
</file>