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2" r:id="rId1"/>
  </p:sldMasterIdLst>
  <p:sldIdLst>
    <p:sldId id="256" r:id="rId6"/>
    <p:sldId id="257" r:id="rId7"/>
    <p:sldId id="258" r:id="rId8"/>
    <p:sldId id="259" r:id="rId9"/>
    <p:sldId id="260" r:id="rId10"/>
    <p:sldId id="261" r:id="rId5"/>
    <p:sldId id="262" r:id="rId4"/>
    <p:sldId id="263" r:id="rId3"/>
    <p:sldId id="264" r:id="rId2"/>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1pPr>
    <a:lvl2pPr marR="0" lvl="1"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2pPr>
    <a:lvl3pPr marR="0" lvl="2"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3pPr>
    <a:lvl4pPr marR="0" lvl="3"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4pPr>
    <a:lvl5pPr marR="0" lvl="4"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5pPr>
    <a:lvl6pPr marR="0" lvl="5"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6pPr>
    <a:lvl7pPr marR="0" lvl="6"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7pPr>
    <a:lvl8pPr marR="0" lvl="7"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8pPr>
    <a:lvl9pPr marR="0" lvl="8" algn="l" rtl="0">
      <a:lnSpc>
        <a:spcPct val="100000"/>
      </a:lnSpc>
      <a:spcBef>
        <a:spcPts val="0"/>
      </a:spcBef>
      <a:spcAft>
        <a:spcPts val="0"/>
      </a:spcAft>
      <a:buClr>
        <a:srgbClr val="000000"/>
      </a:buClr>
      <a:buFont typeface="Noto Sans CJK JP"/>
      <a:defRPr sz="1400" b="0" i="0" u="none" strike="noStrike" cap="none" lang="ja-JP">
        <a:solidFill>
          <a:srgbClr val="000000"/>
        </a:solidFill>
        <a:latin typeface="Noto Sans"/>
        <a:ea typeface="Noto Sans CJK JP"/>
        <a:cs typeface="Noto Sans"/>
        <a:sym typeface="Arial"/>
      </a:defRPr>
    </a:lvl9pPr>
  </p:defaultTextStyle>
  <p:extLst>
    <p:ext uri="{EFAFB233-063F-42B5-8137-9DF3F51BA10A}">
      <p15:sldGuideLst xmlns:p15="http://schemas.microsoft.com/office/powerpoint/2012/main">
        <p15:guide id="1" orient="horz" pos="590">
          <p15:clr>
            <a:srgbClr val="747775"/>
          </p15:clr>
        </p15:guide>
        <p15:guide id="2" pos="1271">
          <p15:clr>
            <a:srgbClr val="747775"/>
          </p15:clr>
        </p15:guide>
        <p15:guide id="3" orient="horz" pos="1584">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77B4"/>
    <a:srgbClr val="7A81FF"/>
    <a:srgbClr val="0096FF"/>
    <a:srgbClr val="011893"/>
    <a:srgbClr val="B13731"/>
    <a:srgbClr val="EF8600"/>
    <a:srgbClr val="FFCD8C"/>
    <a:srgbClr val="0036FF"/>
    <a:srgbClr val="00D989"/>
    <a:srgbClr val="01D8A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D8A3C8B-3693-4FF3-BE57-18EF887A9C23}">
  <a:tblStyle styleId="{FD8A3C8B-3693-4FF3-BE57-18EF887A9C23}" styleName="Table_0">
    <a:wholeTbl>
      <a:tcTxStyle>
        <a:font>
          <a:latin typeface="Noto Sans"/>
          <a:ea typeface="Noto Sans CJK JP"/>
          <a:cs typeface="Noto Sans"/>
        </a:font>
        <a:srgbClr val="000000"/>
      </a:tcTxStyle>
      <a:tcStyle>
        <a:tcBdr>
          <a:left>
            <a:ln>
              <a:noFill/>
            </a:ln>
          </a:left>
          <a:right>
            <a:ln>
              <a:noFill/>
            </a:ln>
          </a:right>
          <a:top>
            <a:ln w="15240" cap="flat">
              <a:solidFill>
                <a:srgbClr val="626669"/>
              </a:solidFill>
              <a:prstDash val="solid"/>
            </a:ln>
          </a:top>
          <a:bottom>
            <a:ln w="15240" cap="flat">
              <a:solidFill>
                <a:srgbClr val="626669"/>
              </a:solidFill>
              <a:prstDash val="solid"/>
            </a:ln>
          </a:bottom>
          <a:insideH>
            <a:ln>
              <a:noFill/>
            </a:ln>
          </a:insideH>
          <a:insideV>
            <a:ln>
              <a:noFill/>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bottom>
            <a:ln w="15240" cap="flat">
              <a:solidFill>
                <a:srgbClr val="626669"/>
              </a:solidFill>
              <a:prstDash val="solid"/>
            </a:ln>
          </a:bottom>
        </a:tcBdr>
      </a:tcStyle>
    </a:lastRow>
    <a:seCell>
      <a:tcTxStyle/>
      <a:tcStyle>
        <a:tcBdr/>
      </a:tcStyle>
    </a:seCell>
    <a:swCell>
      <a:tcTxStyle/>
      <a:tcStyle>
        <a:tcBdr/>
      </a:tcStyle>
    </a:swCell>
    <a:firstRow>
      <a:tcTxStyle/>
      <a:tcStyle>
        <a:tcBdr>
          <a:top>
            <a:ln w="15240" cap="flat">
              <a:solidFill>
                <a:srgbClr val="626669"/>
              </a:solidFill>
              <a:prstDash val="solid"/>
            </a:ln>
          </a:top>
          <a:bottom>
            <a:ln w="7620" cap="flat">
              <a:solidFill>
                <a:srgbClr val="626669"/>
              </a:solidFill>
              <a:prstDash val="solid"/>
            </a:ln>
          </a:bottom>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082"/>
    <p:restoredTop sz="87828"/>
  </p:normalViewPr>
  <p:slideViewPr>
    <p:cSldViewPr snapToGrid="0">
      <p:cViewPr varScale="1">
        <p:scale>
          <a:sx n="169" d="100"/>
          <a:sy n="169" d="100"/>
        </p:scale>
        <p:origin x="520" y="192"/>
      </p:cViewPr>
      <p:guideLst>
        <p:guide orient="horz" pos="590"/>
        <p:guide pos="1271"/>
        <p:guide orient="horz" pos="1584"/>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9.xml"/><Relationship Id="rId3" Type="http://schemas.openxmlformats.org/officeDocument/2006/relationships/slide" Target="slides/slide8.xml"/><Relationship Id="rId4" Type="http://schemas.openxmlformats.org/officeDocument/2006/relationships/slide" Target="slides/slide7.xml"/><Relationship Id="rId5" Type="http://schemas.openxmlformats.org/officeDocument/2006/relationships/slide" Target="slides/slide6.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 Id="rId57" Type="http://schemas.openxmlformats.org/officeDocument/2006/relationships/slide" Target="slides/slide52.xml"/><Relationship Id="rId58" Type="http://schemas.openxmlformats.org/officeDocument/2006/relationships/slide" Target="slides/slide53.xml"/><Relationship Id="rId59" Type="http://schemas.openxmlformats.org/officeDocument/2006/relationships/slide" Target="slides/slide54.xml"/><Relationship Id="rId60" Type="http://schemas.openxmlformats.org/officeDocument/2006/relationships/slide" Target="slides/slide55.xml"/><Relationship Id="rId61" Type="http://schemas.openxmlformats.org/officeDocument/2006/relationships/slide" Target="slides/slide56.xml"/><Relationship Id="rId62" Type="http://schemas.openxmlformats.org/officeDocument/2006/relationships/slide" Target="slides/slide57.xml"/><Relationship Id="rId63" Type="http://schemas.openxmlformats.org/officeDocument/2006/relationships/slide" Target="slides/slide58.xml"/><Relationship Id="rId64" Type="http://schemas.openxmlformats.org/officeDocument/2006/relationships/slide" Target="slides/slide59.xml"/><Relationship Id="rId65" Type="http://schemas.openxmlformats.org/officeDocument/2006/relationships/slide" Target="slides/slide60.xml"/><Relationship Id="rId66" Type="http://schemas.openxmlformats.org/officeDocument/2006/relationships/slide" Target="slides/slide61.xml"/><Relationship Id="rId67" Type="http://schemas.openxmlformats.org/officeDocument/2006/relationships/slide" Target="slides/slide62.xml"/><Relationship Id="rId68" Type="http://schemas.openxmlformats.org/officeDocument/2006/relationships/slide" Target="slides/slide63.xml"/><Relationship Id="rId69" Type="http://schemas.openxmlformats.org/officeDocument/2006/relationships/slide" Target="slides/slide64.xml"/><Relationship Id="rId70" Type="http://schemas.openxmlformats.org/officeDocument/2006/relationships/slide" Target="slides/slide65.xml"/><Relationship Id="rId71" Type="http://schemas.openxmlformats.org/officeDocument/2006/relationships/slide" Target="slides/slide66.xml"/><Relationship Id="rId72" Type="http://schemas.openxmlformats.org/officeDocument/2006/relationships/slide" Target="slides/slide67.xml"/><Relationship Id="rId73" Type="http://schemas.openxmlformats.org/officeDocument/2006/relationships/slide" Target="slides/slide68.xml"/><Relationship Id="rId74" Type="http://schemas.openxmlformats.org/officeDocument/2006/relationships/slide" Target="slides/slide69.xml"/><Relationship Id="rId75" Type="http://schemas.openxmlformats.org/officeDocument/2006/relationships/slide" Target="slides/slide70.xml"/><Relationship Id="rId76" Type="http://schemas.openxmlformats.org/officeDocument/2006/relationships/slide" Target="slides/slide71.xml"/><Relationship Id="rId77" Type="http://schemas.openxmlformats.org/officeDocument/2006/relationships/slide" Target="slides/slide72.xml"/><Relationship Id="rId78" Type="http://schemas.openxmlformats.org/officeDocument/2006/relationships/slide" Target="slides/slide73.xml"/><Relationship Id="rId79" Type="http://schemas.openxmlformats.org/officeDocument/2006/relationships/slide" Target="slides/slide74.xml"/><Relationship Id="rId80" Type="http://schemas.openxmlformats.org/officeDocument/2006/relationships/slide" Target="slides/slide75.xml"/><Relationship Id="rId81" Type="http://schemas.openxmlformats.org/officeDocument/2006/relationships/slide" Target="slides/slide76.xml"/><Relationship Id="rId82" Type="http://schemas.openxmlformats.org/officeDocument/2006/relationships/slide" Target="slides/slide77.xml"/><Relationship Id="rId83" Type="http://schemas.openxmlformats.org/officeDocument/2006/relationships/slide" Target="slides/slide78.xml"/><Relationship Id="rId84" Type="http://schemas.openxmlformats.org/officeDocument/2006/relationships/slide" Target="slides/slide79.xml"/><Relationship Id="rId85" Type="http://schemas.openxmlformats.org/officeDocument/2006/relationships/slide" Target="slides/slide80.xml"/><Relationship Id="rId86" Type="http://schemas.openxmlformats.org/officeDocument/2006/relationships/slide" Target="slides/slide81.xml"/><Relationship Id="rId87" Type="http://schemas.openxmlformats.org/officeDocument/2006/relationships/slide" Target="slides/slide82.xml"/><Relationship Id="rId88" Type="http://schemas.openxmlformats.org/officeDocument/2006/relationships/slide" Target="slides/slide83.xml"/><Relationship Id="rId89" Type="http://schemas.openxmlformats.org/officeDocument/2006/relationships/slide" Target="slides/slide84.xml"/><Relationship Id="rId90" Type="http://schemas.openxmlformats.org/officeDocument/2006/relationships/slide" Target="slides/slide85.xml"/><Relationship Id="rId91" Type="http://schemas.openxmlformats.org/officeDocument/2006/relationships/slide" Target="slides/slide86.xml"/><Relationship Id="rId92" Type="http://schemas.openxmlformats.org/officeDocument/2006/relationships/slide" Target="slides/slide87.xml"/><Relationship Id="rId93" Type="http://schemas.openxmlformats.org/officeDocument/2006/relationships/slide" Target="slides/slide88.xml"/><Relationship Id="rId94" Type="http://schemas.openxmlformats.org/officeDocument/2006/relationships/slide" Target="slides/slide89.xml"/><Relationship Id="rId95" Type="http://schemas.openxmlformats.org/officeDocument/2006/relationships/slide" Target="slides/slide90.xml"/><Relationship Id="rId96" Type="http://schemas.openxmlformats.org/officeDocument/2006/relationships/slide" Target="slides/slide91.xml"/><Relationship Id="rId97" Type="http://schemas.openxmlformats.org/officeDocument/2006/relationships/slide" Target="slides/slide92.xml"/><Relationship Id="rId98" Type="http://schemas.openxmlformats.org/officeDocument/2006/relationships/slide" Target="slides/slide93.xml"/><Relationship Id="rId99" Type="http://schemas.openxmlformats.org/officeDocument/2006/relationships/slide" Target="slides/slide94.xml"/><Relationship Id="rId100" Type="http://schemas.openxmlformats.org/officeDocument/2006/relationships/slide" Target="slides/slide95.xml"/><Relationship Id="rId101" Type="http://schemas.openxmlformats.org/officeDocument/2006/relationships/slide" Target="slides/slide96.xml"/><Relationship Id="rId102" Type="http://schemas.openxmlformats.org/officeDocument/2006/relationships/slide" Target="slides/slide9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12471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dk1"/>
              </a:buClr>
              <a:buNone/>
              <a:defRPr sz="5200" b="1" lang="ja-JP">
                <a:solidFill>
                  <a:schemeClr val="dk1"/>
                </a:solidFill>
                <a:latin typeface="Noto Sans"/>
                <a:ea typeface="Noto Sans CJK JP"/>
                <a:cs typeface="Noto Sans"/>
              </a:defRPr>
            </a:lvl1pPr>
            <a:lvl2pPr lvl="1" algn="ctr">
              <a:spcBef>
                <a:spcPts val="0"/>
              </a:spcBef>
              <a:spcAft>
                <a:spcPts val="0"/>
              </a:spcAft>
              <a:buNone/>
              <a:defRPr sz="5200" lang="ja-JP">
                <a:latin typeface="Noto Sans"/>
                <a:ea typeface="Noto Sans CJK JP"/>
                <a:cs typeface="Noto Sans"/>
              </a:defRPr>
            </a:lvl2pPr>
            <a:lvl3pPr lvl="2" algn="ctr">
              <a:spcBef>
                <a:spcPts val="0"/>
              </a:spcBef>
              <a:spcAft>
                <a:spcPts val="0"/>
              </a:spcAft>
              <a:buNone/>
              <a:defRPr sz="5200" lang="ja-JP">
                <a:latin typeface="Noto Sans"/>
                <a:ea typeface="Noto Sans CJK JP"/>
                <a:cs typeface="Noto Sans"/>
              </a:defRPr>
            </a:lvl3pPr>
            <a:lvl4pPr lvl="3" algn="ctr">
              <a:spcBef>
                <a:spcPts val="0"/>
              </a:spcBef>
              <a:spcAft>
                <a:spcPts val="0"/>
              </a:spcAft>
              <a:buNone/>
              <a:defRPr sz="5200" lang="ja-JP">
                <a:latin typeface="Noto Sans"/>
                <a:ea typeface="Noto Sans CJK JP"/>
                <a:cs typeface="Noto Sans"/>
              </a:defRPr>
            </a:lvl4pPr>
            <a:lvl5pPr lvl="4" algn="ctr">
              <a:spcBef>
                <a:spcPts val="0"/>
              </a:spcBef>
              <a:spcAft>
                <a:spcPts val="0"/>
              </a:spcAft>
              <a:buNone/>
              <a:defRPr sz="5200" lang="ja-JP">
                <a:latin typeface="Noto Sans"/>
                <a:ea typeface="Noto Sans CJK JP"/>
                <a:cs typeface="Noto Sans"/>
              </a:defRPr>
            </a:lvl5pPr>
            <a:lvl6pPr lvl="5" algn="ctr">
              <a:spcBef>
                <a:spcPts val="0"/>
              </a:spcBef>
              <a:spcAft>
                <a:spcPts val="0"/>
              </a:spcAft>
              <a:buNone/>
              <a:defRPr sz="5200" lang="ja-JP">
                <a:latin typeface="Noto Sans"/>
                <a:ea typeface="Noto Sans CJK JP"/>
                <a:cs typeface="Noto Sans"/>
              </a:defRPr>
            </a:lvl6pPr>
            <a:lvl7pPr lvl="6" algn="ctr">
              <a:spcBef>
                <a:spcPts val="0"/>
              </a:spcBef>
              <a:spcAft>
                <a:spcPts val="0"/>
              </a:spcAft>
              <a:buNone/>
              <a:defRPr sz="5200" lang="ja-JP">
                <a:latin typeface="Noto Sans"/>
                <a:ea typeface="Noto Sans CJK JP"/>
                <a:cs typeface="Noto Sans"/>
              </a:defRPr>
            </a:lvl7pPr>
            <a:lvl8pPr lvl="7" algn="ctr">
              <a:spcBef>
                <a:spcPts val="0"/>
              </a:spcBef>
              <a:spcAft>
                <a:spcPts val="0"/>
              </a:spcAft>
              <a:buNone/>
              <a:defRPr sz="5200" lang="ja-JP">
                <a:latin typeface="Noto Sans"/>
                <a:ea typeface="Noto Sans CJK JP"/>
                <a:cs typeface="Noto Sans"/>
              </a:defRPr>
            </a:lvl8pPr>
            <a:lvl9pPr lvl="8" algn="ctr">
              <a:spcBef>
                <a:spcPts val="0"/>
              </a:spcBef>
              <a:spcAft>
                <a:spcPts val="0"/>
              </a:spcAft>
              <a:buNone/>
              <a:defRPr sz="5200" lang="ja-JP">
                <a:latin typeface="Noto Sans"/>
                <a:ea typeface="Noto Sans CJK JP"/>
                <a:cs typeface="Noto Sans"/>
              </a:defRPr>
            </a:lvl9pPr>
          </a:lstStyle>
          <a:p>
            <a:endParaRPr lang="ja-JP">
              <a:latin typeface="Noto Sans"/>
              <a:ea typeface="Noto Sans CJK JP"/>
              <a:cs typeface="Noto Sans"/>
            </a:endParaRPr>
          </a:p>
        </p:txBody>
      </p:sp>
      <p:sp>
        <p:nvSpPr>
          <p:cNvPr id="11" name="Google Shape;11;p2"/>
          <p:cNvSpPr txBox="1">
            <a:spLocks noGrp="1"/>
          </p:cNvSpPr>
          <p:nvPr>
            <p:ph type="subTitle" idx="1"/>
          </p:nvPr>
        </p:nvSpPr>
        <p:spPr>
          <a:xfrm>
            <a:off x="311700" y="3657600"/>
            <a:ext cx="8520600" cy="36576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dk1"/>
              </a:buClr>
              <a:buNone/>
              <a:defRPr sz="2800" lang="ja-JP">
                <a:solidFill>
                  <a:schemeClr val="dk1"/>
                </a:solidFill>
                <a:latin typeface="Noto Sans"/>
                <a:ea typeface="Noto Sans CJK JP"/>
                <a:cs typeface="Noto Sans"/>
              </a:defRPr>
            </a:lvl1pPr>
            <a:lvl2pPr lvl="1" algn="ctr">
              <a:lnSpc>
                <a:spcPct val="100000"/>
              </a:lnSpc>
              <a:spcBef>
                <a:spcPts val="0"/>
              </a:spcBef>
              <a:spcAft>
                <a:spcPts val="0"/>
              </a:spcAft>
              <a:buNone/>
              <a:defRPr sz="2800" lang="ja-JP">
                <a:latin typeface="Noto Sans"/>
                <a:ea typeface="Noto Sans CJK JP"/>
                <a:cs typeface="Noto Sans"/>
              </a:defRPr>
            </a:lvl2pPr>
            <a:lvl3pPr lvl="2" algn="ctr">
              <a:lnSpc>
                <a:spcPct val="100000"/>
              </a:lnSpc>
              <a:spcBef>
                <a:spcPts val="0"/>
              </a:spcBef>
              <a:spcAft>
                <a:spcPts val="0"/>
              </a:spcAft>
              <a:buNone/>
              <a:defRPr sz="2800" lang="ja-JP">
                <a:latin typeface="Noto Sans"/>
                <a:ea typeface="Noto Sans CJK JP"/>
                <a:cs typeface="Noto Sans"/>
              </a:defRPr>
            </a:lvl3pPr>
            <a:lvl4pPr lvl="3" algn="ctr">
              <a:lnSpc>
                <a:spcPct val="100000"/>
              </a:lnSpc>
              <a:spcBef>
                <a:spcPts val="0"/>
              </a:spcBef>
              <a:spcAft>
                <a:spcPts val="0"/>
              </a:spcAft>
              <a:buNone/>
              <a:defRPr sz="2800" lang="ja-JP">
                <a:latin typeface="Noto Sans"/>
                <a:ea typeface="Noto Sans CJK JP"/>
                <a:cs typeface="Noto Sans"/>
              </a:defRPr>
            </a:lvl4pPr>
            <a:lvl5pPr lvl="4" algn="ctr">
              <a:lnSpc>
                <a:spcPct val="100000"/>
              </a:lnSpc>
              <a:spcBef>
                <a:spcPts val="0"/>
              </a:spcBef>
              <a:spcAft>
                <a:spcPts val="0"/>
              </a:spcAft>
              <a:buNone/>
              <a:defRPr sz="2800" lang="ja-JP">
                <a:latin typeface="Noto Sans"/>
                <a:ea typeface="Noto Sans CJK JP"/>
                <a:cs typeface="Noto Sans"/>
              </a:defRPr>
            </a:lvl5pPr>
            <a:lvl6pPr lvl="5" algn="ctr">
              <a:lnSpc>
                <a:spcPct val="100000"/>
              </a:lnSpc>
              <a:spcBef>
                <a:spcPts val="0"/>
              </a:spcBef>
              <a:spcAft>
                <a:spcPts val="0"/>
              </a:spcAft>
              <a:buNone/>
              <a:defRPr sz="2800" lang="ja-JP">
                <a:latin typeface="Noto Sans"/>
                <a:ea typeface="Noto Sans CJK JP"/>
                <a:cs typeface="Noto Sans"/>
              </a:defRPr>
            </a:lvl6pPr>
            <a:lvl7pPr lvl="6" algn="ctr">
              <a:lnSpc>
                <a:spcPct val="100000"/>
              </a:lnSpc>
              <a:spcBef>
                <a:spcPts val="0"/>
              </a:spcBef>
              <a:spcAft>
                <a:spcPts val="0"/>
              </a:spcAft>
              <a:buNone/>
              <a:defRPr sz="2800" lang="ja-JP">
                <a:latin typeface="Noto Sans"/>
                <a:ea typeface="Noto Sans CJK JP"/>
                <a:cs typeface="Noto Sans"/>
              </a:defRPr>
            </a:lvl7pPr>
            <a:lvl8pPr lvl="7" algn="ctr">
              <a:lnSpc>
                <a:spcPct val="100000"/>
              </a:lnSpc>
              <a:spcBef>
                <a:spcPts val="0"/>
              </a:spcBef>
              <a:spcAft>
                <a:spcPts val="0"/>
              </a:spcAft>
              <a:buNone/>
              <a:defRPr sz="2800" lang="ja-JP">
                <a:latin typeface="Noto Sans"/>
                <a:ea typeface="Noto Sans CJK JP"/>
                <a:cs typeface="Noto Sans"/>
              </a:defRPr>
            </a:lvl8pPr>
            <a:lvl9pPr lvl="8" algn="ctr">
              <a:lnSpc>
                <a:spcPct val="100000"/>
              </a:lnSpc>
              <a:spcBef>
                <a:spcPts val="0"/>
              </a:spcBef>
              <a:spcAft>
                <a:spcPts val="0"/>
              </a:spcAft>
              <a:buNone/>
              <a:defRPr sz="2800" lang="ja-JP">
                <a:latin typeface="Noto Sans"/>
                <a:ea typeface="Noto Sans CJK JP"/>
                <a:cs typeface="Noto Sans"/>
              </a:defRPr>
            </a:lvl9pPr>
          </a:lstStyle>
          <a:p>
            <a:pPr>
              <a:defRPr sz="2200" lang="ja-JP">
                <a:latin typeface="Noto Sans"/>
                <a:ea typeface="Noto Sans CJK JP"/>
                <a:cs typeface="Noto Sans"/>
              </a:defRPr>
            </a:pPr>
            <a:endParaRPr lang="ja-JP">
              <a:latin typeface="Noto Sans"/>
              <a:ea typeface="Noto Sans CJK JP"/>
              <a:cs typeface="Noto Sans"/>
            </a:endParaRPr>
          </a:p>
        </p:txBody>
      </p:sp>
      <p:sp>
        <p:nvSpPr>
          <p:cNvPr id="2" name="Google Shape;22;p5">
            <a:extLst>
              <a:ext uri="{FF2B5EF4-FFF2-40B4-BE49-F238E27FC236}">
                <a16:creationId xmlns:a16="http://schemas.microsoft.com/office/drawing/2014/main" id="{97A17C7E-5073-6B99-C91A-19299DA839DE}"/>
              </a:ext>
            </a:extLst>
          </p:cNvPr>
          <p:cNvSpPr/>
          <p:nvPr userDrawn="1"/>
        </p:nvSpPr>
        <p:spPr>
          <a:xfrm>
            <a:off x="8607898" y="-10450"/>
            <a:ext cx="548701" cy="4797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lang="ja-JP">
              <a:latin typeface="Noto Sans"/>
              <a:ea typeface="Noto Sans CJK JP"/>
              <a:cs typeface="Noto Sans"/>
            </a:endParaRPr>
          </a:p>
        </p:txBody>
      </p:sp>
      <p:sp>
        <p:nvSpPr>
          <p:cNvPr id="7" name="Slide Number">
            <a:extLst>
              <a:ext uri="{FF2B5EF4-FFF2-40B4-BE49-F238E27FC236}">
                <a16:creationId xmlns:a16="http://schemas.microsoft.com/office/drawing/2014/main" id="{2BE9CD3C-2632-D40F-DBD2-47ACED4F9A3C}"/>
              </a:ext>
            </a:extLst>
          </p:cNvPr>
          <p:cNvSpPr txBox="1"/>
          <p:nvPr userDrawn="1"/>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pPr algn="ctr"/>
              <a:t>‹#›</a:t>
            </a:fld>
            <a:endParaRPr lang="ja-JP" sz="1800" b="1" dirty="0">
              <a:latin typeface="Noto Sans"/>
              <a:ea typeface="Noto Sans CJK JP"/>
              <a:cs typeface="Noto Sans"/>
            </a:endParaRPr>
          </a:p>
        </p:txBody>
      </p:sp>
      <p:sp>
        <p:nvSpPr>
          <p:cNvPr id="110" name="Author affiliation"/>
          <p:cNvSpPr txBox="1">
            <a:spLocks noGrp="1"/>
          </p:cNvSpPr>
          <p:nvPr>
            <p:ph type="body" idx="10"/>
          </p:nvPr>
        </p:nvSpPr>
        <p:spPr>
          <a:xfrm>
            <a:off x="5486400" y="4224528"/>
            <a:ext cx="310896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1400" b="0" lang="ja-JP">
                <a:solidFill>
                  <a:srgbClr val="626669"/>
                </a:solidFill>
                <a:latin typeface="Noto Sans"/>
                <a:ea typeface="Noto Sans CJK JP"/>
                <a:cs typeface="Noto Sans"/>
              </a:defRPr>
            </a:pPr>
            <a:r>
              <a:t>所属　［所属］</a:t>
            </a:r>
          </a:p>
        </p:txBody>
      </p:sp>
      <p:sp>
        <p:nvSpPr>
          <p:cNvPr id="111" name="Author name"/>
          <p:cNvSpPr txBox="1">
            <a:spLocks noGrp="1"/>
          </p:cNvSpPr>
          <p:nvPr>
            <p:ph type="body" idx="11"/>
          </p:nvPr>
        </p:nvSpPr>
        <p:spPr>
          <a:xfrm>
            <a:off x="5486400" y="4416552"/>
            <a:ext cx="3108960" cy="402336"/>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r">
              <a:lnSpc>
                <a:spcPct val="100000"/>
              </a:lnSpc>
              <a:spcBef>
                <a:spcPts val="0"/>
              </a:spcBef>
              <a:spcAft>
                <a:spcPts val="0"/>
              </a:spcAft>
              <a:defRPr sz="2000" b="0" lang="ja-JP">
                <a:solidFill>
                  <a:srgbClr val="626669"/>
                </a:solidFill>
                <a:latin typeface="Noto Sans"/>
                <a:ea typeface="Noto Sans CJK JP"/>
                <a:cs typeface="Noto Sans"/>
              </a:defRPr>
            </a:pPr>
            <a:r>
              <a:rPr sz="2000" lang="ja-JP">
                <a:solidFill>
                  <a:srgbClr val="303437"/>
                </a:solidFill>
                <a:latin typeface="Noto Sans"/>
                <a:ea typeface="Noto Sans CJK JP"/>
                <a:cs typeface="Noto Sans"/>
              </a:rPr>
              <a:t>氏名　［氏名］</a:t>
            </a:r>
          </a:p>
        </p:txBody>
      </p:sp>
      <p:sp>
        <p:nvSpPr>
          <p:cNvPr id="112" name="Creation date"/>
          <p:cNvSpPr txBox="1">
            <a:spLocks noGrp="1"/>
          </p:cNvSpPr>
          <p:nvPr>
            <p:ph type="body" idx="12"/>
          </p:nvPr>
        </p:nvSpPr>
        <p:spPr>
          <a:xfrm>
            <a:off x="457200" y="274320"/>
            <a:ext cx="3657600" cy="228600"/>
          </a:xfrm>
          <a:prstGeom prst="rect">
            <a:avLst/>
          </a:prstGeom>
        </p:spPr>
        <p:txBody>
          <a:bodyPr spcFirstLastPara="1" wrap="square" lIns="91425" tIns="91425" rIns="91425" bIns="91425" anchor="ctr"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pPr algn="l">
              <a:lnSpc>
                <a:spcPct val="100000"/>
              </a:lnSpc>
              <a:spcBef>
                <a:spcPts val="0"/>
              </a:spcBef>
              <a:spcAft>
                <a:spcPts val="0"/>
              </a:spcAft>
              <a:defRPr sz="1400" b="0" lang="ja-JP">
                <a:solidFill>
                  <a:srgbClr val="626669"/>
                </a:solidFill>
                <a:latin typeface="Noto Sans"/>
                <a:ea typeface="Noto Sans CJK JP"/>
                <a:cs typeface="Noto Sans"/>
              </a:defRPr>
            </a:pPr>
            <a:r>
              <a:t>作成日　YYYY-MM-DD</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カスタム レイアウト 1">
  <p:cSld name="CUSTOM">
    <p:spTree>
      <p:nvGrpSpPr>
        <p:cNvPr id="1" name="Shape 71"/>
        <p:cNvGrpSpPr/>
        <p:nvPr/>
      </p:nvGrpSpPr>
      <p:grpSpPr>
        <a:xfrm>
          <a:off x="0" y="0"/>
          <a:ext cx="0" cy="0"/>
          <a:chOff x="0" y="0"/>
          <a:chExt cx="0" cy="0"/>
        </a:xfrm>
      </p:grpSpPr>
      <p:sp>
        <p:nvSpPr>
          <p:cNvPr id="73" name="Google Shape;73;p11"/>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75" name="Google Shape;75;p11"/>
          <p:cNvSpPr txBox="1"/>
          <p:nvPr/>
        </p:nvSpPr>
        <p:spPr>
          <a:xfrm>
            <a:off x="76100" y="0"/>
            <a:ext cx="8059500" cy="480059"/>
          </a:xfrm>
          <a:prstGeom prst="rect">
            <a:avLst/>
          </a:prstGeom>
          <a:noFill/>
          <a:ln>
            <a:noFill/>
          </a:ln>
        </p:spPr>
        <p:txBody>
          <a:bodyPr spcFirstLastPara="1" wrap="square" lIns="91425" tIns="0" rIns="91425" bIns="0" anchor="ctr" anchorCtr="0">
            <a:normAutofit/>
          </a:bodyPr>
          <a:lstStyle/>
          <a:p>
            <a:pPr marL="0" lvl="0" indent="0" algn="l" rtl="0">
              <a:lnSpc>
                <a:spcPct val="100000"/>
              </a:lnSpc>
              <a:spcBef>
                <a:spcPts val="0"/>
              </a:spcBef>
              <a:spcAft>
                <a:spcPts val="0"/>
              </a:spcAft>
              <a:buNone/>
              <a:defRPr sz="1400" b="1" lang="ja-JP" altLang="en-US">
                <a:latin typeface="Noto Sans"/>
                <a:ea typeface="Noto Sans CJK JP"/>
                <a:cs typeface="Noto Sans"/>
              </a:defRPr>
            </a:pPr>
            <a:r>
              <a:rPr lang="ja-JP" altLang="en-US" b="1" dirty="0" sz="1400">
                <a:solidFill>
                  <a:schemeClr val="lt1"/>
                </a:solidFill>
                <a:latin typeface="Noto Sans"/>
                <a:ea typeface="Noto Sans CJK JP"/>
                <a:cs typeface="Noto Sans"/>
              </a:rPr>
              <a:t>T</a:t>
            </a:r>
            <a:r>
              <a:rPr lang="ja-JP" b="1" dirty="0" sz="1400" altLang="en-US">
                <a:solidFill>
                  <a:schemeClr val="lt1"/>
                </a:solidFill>
                <a:latin typeface="Noto Sans"/>
                <a:ea typeface="Noto Sans CJK JP"/>
                <a:cs typeface="Noto Sans"/>
              </a:rPr>
              <a:t>able of </a:t>
            </a:r>
            <a:r>
              <a:rPr lang="ja-JP" altLang="en-US" b="1" dirty="0" sz="1400">
                <a:solidFill>
                  <a:schemeClr val="lt1"/>
                </a:solidFill>
                <a:latin typeface="Noto Sans"/>
                <a:ea typeface="Noto Sans CJK JP"/>
                <a:cs typeface="Noto Sans"/>
              </a:rPr>
              <a:t>C</a:t>
            </a:r>
            <a:r>
              <a:rPr lang="ja-JP" b="1" dirty="0" sz="1400" altLang="en-US">
                <a:solidFill>
                  <a:schemeClr val="lt1"/>
                </a:solidFill>
                <a:latin typeface="Noto Sans"/>
                <a:ea typeface="Noto Sans CJK JP"/>
                <a:cs typeface="Noto Sans"/>
              </a:rPr>
              <a:t>ontents</a:t>
            </a:r>
            <a:endParaRPr b="1" dirty="0" lang="ja-JP" sz="1400" altLang="en-US">
              <a:solidFill>
                <a:schemeClr val="lt1"/>
              </a:solidFill>
              <a:latin typeface="Noto Sans"/>
              <a:ea typeface="Noto Sans CJK JP"/>
              <a:cs typeface="Noto Sans"/>
            </a:endParaRPr>
          </a:p>
        </p:txBody>
      </p:sp>
      <p:sp>
        <p:nvSpPr>
          <p:cNvPr id="76" name="Google Shape;76;p11"/>
          <p:cNvSpPr txBox="1"/>
          <p:nvPr/>
        </p:nvSpPr>
        <p:spPr>
          <a:xfrm>
            <a:off x="1236712" y="842226"/>
            <a:ext cx="5764979"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1.</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Background &amp; Purpose</a:t>
            </a:r>
            <a:endParaRPr lang="ja-JP" altLang="ja-JP" sz="2800" b="1" dirty="0">
              <a:solidFill>
                <a:schemeClr val="dk1"/>
              </a:solidFill>
              <a:latin typeface="Noto Sans"/>
              <a:ea typeface="Noto Sans CJK JP"/>
              <a:cs typeface="Noto Sans"/>
            </a:endParaRPr>
          </a:p>
        </p:txBody>
      </p:sp>
      <p:sp>
        <p:nvSpPr>
          <p:cNvPr id="79" name="Google Shape;79;p11"/>
          <p:cNvSpPr txBox="1"/>
          <p:nvPr/>
        </p:nvSpPr>
        <p:spPr>
          <a:xfrm>
            <a:off x="1236712" y="1664913"/>
            <a:ext cx="5412281"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2.</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Methodology</a:t>
            </a:r>
            <a:endParaRPr lang="ja-JP" altLang="ja-JP" sz="2800" b="1" dirty="0">
              <a:solidFill>
                <a:schemeClr val="dk1"/>
              </a:solidFill>
              <a:latin typeface="Noto Sans"/>
              <a:ea typeface="Noto Sans CJK JP"/>
              <a:cs typeface="Noto Sans"/>
            </a:endParaRPr>
          </a:p>
        </p:txBody>
      </p:sp>
      <p:sp>
        <p:nvSpPr>
          <p:cNvPr id="82" name="Google Shape;82;p11"/>
          <p:cNvSpPr txBox="1"/>
          <p:nvPr/>
        </p:nvSpPr>
        <p:spPr>
          <a:xfrm>
            <a:off x="1236712" y="2487598"/>
            <a:ext cx="6688590"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3.</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Classification Framework</a:t>
            </a:r>
            <a:endParaRPr lang="ja-JP" altLang="ja-JP" sz="2800" b="1" dirty="0">
              <a:solidFill>
                <a:schemeClr val="dk1"/>
              </a:solidFill>
              <a:latin typeface="Noto Sans"/>
              <a:ea typeface="Noto Sans CJK JP"/>
              <a:cs typeface="Noto Sans"/>
            </a:endParaRPr>
          </a:p>
        </p:txBody>
      </p:sp>
      <p:sp>
        <p:nvSpPr>
          <p:cNvPr id="85" name="Google Shape;85;p11"/>
          <p:cNvSpPr txBox="1"/>
          <p:nvPr userDrawn="1"/>
        </p:nvSpPr>
        <p:spPr>
          <a:xfrm>
            <a:off x="1236712" y="3310287"/>
            <a:ext cx="5020396"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4.</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Results &amp; Analysis</a:t>
            </a:r>
            <a:endParaRPr lang="ja-JP" altLang="ja-JP" sz="2800" b="1" dirty="0">
              <a:solidFill>
                <a:schemeClr val="dk1"/>
              </a:solidFill>
              <a:latin typeface="Noto Sans"/>
              <a:ea typeface="Noto Sans CJK JP"/>
              <a:cs typeface="Noto Sans"/>
            </a:endParaRPr>
          </a:p>
        </p:txBody>
      </p:sp>
      <p:sp>
        <p:nvSpPr>
          <p:cNvPr id="87" name="Google Shape;87;p11"/>
          <p:cNvSpPr txBox="1"/>
          <p:nvPr/>
        </p:nvSpPr>
        <p:spPr>
          <a:xfrm>
            <a:off x="1929203" y="3891800"/>
            <a:ext cx="5996100" cy="432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900" dirty="0" lang="ja-JP">
              <a:solidFill>
                <a:schemeClr val="dk1"/>
              </a:solidFill>
              <a:latin typeface="Noto Sans"/>
              <a:ea typeface="Noto Sans CJK JP"/>
              <a:cs typeface="Noto Sans"/>
            </a:endParaRPr>
          </a:p>
        </p:txBody>
      </p:sp>
      <p:sp>
        <p:nvSpPr>
          <p:cNvPr id="88" name="Google Shape;88;p11"/>
          <p:cNvSpPr txBox="1"/>
          <p:nvPr/>
        </p:nvSpPr>
        <p:spPr>
          <a:xfrm>
            <a:off x="1236712" y="4132975"/>
            <a:ext cx="6196053" cy="593978"/>
          </a:xfrm>
          <a:prstGeom prst="rect">
            <a:avLst/>
          </a:prstGeom>
          <a:noFill/>
          <a:ln>
            <a:noFill/>
          </a:ln>
        </p:spPr>
        <p:txBody>
          <a:bodyPr spcFirstLastPara="1" wrap="square" lIns="91425" tIns="91425" rIns="91425" bIns="91425" anchor="ctr" anchorCtr="0">
            <a:spAutoFit/>
          </a:bodyPr>
          <a:lstStyle/>
          <a:p>
            <a:pPr marL="0" marR="0" lvl="0" indent="0" algn="l" defTabSz="914400" rtl="0" eaLnBrk="1" fontAlgn="auto" latinLnBrk="0" hangingPunct="1">
              <a:lnSpc>
                <a:spcPct val="95000"/>
              </a:lnSpc>
              <a:spcBef>
                <a:spcPts val="0"/>
              </a:spcBef>
              <a:spcAft>
                <a:spcPts val="0"/>
              </a:spcAft>
              <a:buClr>
                <a:schemeClr val="dk1"/>
              </a:buClr>
              <a:buFont typeface="Noto Sans CJK JP"/>
              <a:buNone/>
              <a:tabLst/>
              <a:defRPr lang="ja-JP">
                <a:latin typeface="Noto Sans"/>
                <a:ea typeface="Noto Sans CJK JP"/>
                <a:cs typeface="Noto Sans"/>
              </a:defRPr>
            </a:pPr>
            <a:r>
              <a:rPr lang="ja-JP" sz="2800" b="1" dirty="0">
                <a:solidFill>
                  <a:schemeClr val="accent2"/>
                </a:solidFill>
                <a:latin typeface="Noto Sans"/>
                <a:ea typeface="Noto Sans CJK JP"/>
                <a:cs typeface="Noto Sans"/>
              </a:rPr>
              <a:t>5.</a:t>
            </a:r>
            <a:r>
              <a:rPr lang="ja-JP" altLang="ja" sz="2800" b="1" dirty="0">
                <a:solidFill>
                  <a:schemeClr val="accent2"/>
                </a:solidFill>
                <a:latin typeface="Noto Sans"/>
                <a:ea typeface="Noto Sans CJK JP"/>
                <a:cs typeface="Noto Sans"/>
              </a:rPr>
              <a:t> </a:t>
            </a:r>
            <a:r>
              <a:rPr lang="ja-JP" altLang="ja" sz="2800" b="1" dirty="0">
                <a:solidFill>
                  <a:schemeClr val="dk1"/>
                </a:solidFill>
                <a:latin typeface="Noto Sans"/>
                <a:ea typeface="Noto Sans CJK JP"/>
                <a:cs typeface="Noto Sans"/>
              </a:rPr>
              <a:t>Conclusions and future work</a:t>
            </a:r>
            <a:endParaRPr lang="ja-JP" altLang="ja-JP" sz="2800" b="1" dirty="0">
              <a:solidFill>
                <a:schemeClr val="dk1"/>
              </a:solidFill>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normal">
  <p:cSld name="ONE_COLUMN_TEXT_1">
    <p:spTree>
      <p:nvGrpSpPr>
        <p:cNvPr id="1" name="Shape 21"/>
        <p:cNvGrpSpPr/>
        <p:nvPr/>
      </p:nvGrpSpPr>
      <p:grpSpPr>
        <a:xfrm>
          <a:off x="0" y="0"/>
          <a:ext cx="0" cy="0"/>
          <a:chOff x="0" y="0"/>
          <a:chExt cx="0" cy="0"/>
        </a:xfrm>
      </p:grpSpPr>
      <p:sp>
        <p:nvSpPr>
          <p:cNvPr id="22" name="Google Shape;22;p5"/>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24" name="Google Shape;24;p5"/>
          <p:cNvSpPr txBox="1">
            <a:spLocks noGrp="1"/>
          </p:cNvSpPr>
          <p:nvPr>
            <p:ph type="title"/>
          </p:nvPr>
        </p:nvSpPr>
        <p:spPr>
          <a:xfrm>
            <a:off x="468600" y="748150"/>
            <a:ext cx="8394600" cy="616200"/>
          </a:xfrm>
          <a:prstGeom prst="rect">
            <a:avLst/>
          </a:prstGeom>
        </p:spPr>
        <p:txBody>
          <a:bodyPr spcFirstLastPara="1" wrap="none" lIns="91425" tIns="91425" rIns="91425" bIns="91425" anchor="t" anchorCtr="0">
            <a:normAutofit/>
          </a:bodyPr>
          <a:lstStyle>
            <a:lvl1pPr lvl="0">
              <a:spcBef>
                <a:spcPts val="0"/>
              </a:spcBef>
              <a:spcAft>
                <a:spcPts val="0"/>
              </a:spcAft>
              <a:buClr>
                <a:schemeClr val="dk1"/>
              </a:buClr>
              <a:buNone/>
              <a:defRPr sz="3000" b="1" lang="ja-JP">
                <a:solidFill>
                  <a:schemeClr val="dk1"/>
                </a:solidFill>
                <a:latin typeface="Noto Sans"/>
                <a:ea typeface="Noto Sans CJK JP"/>
                <a:cs typeface="Noto Sans"/>
              </a:defRPr>
            </a:lvl1pPr>
            <a:lvl2pPr lvl="1">
              <a:spcBef>
                <a:spcPts val="0"/>
              </a:spcBef>
              <a:spcAft>
                <a:spcPts val="0"/>
              </a:spcAft>
              <a:buNone/>
              <a:defRPr lang="ja-JP">
                <a:latin typeface="Noto Sans"/>
                <a:ea typeface="Noto Sans CJK JP"/>
                <a:cs typeface="Noto Sans"/>
              </a:defRPr>
            </a:lvl2pPr>
            <a:lvl3pPr lvl="2">
              <a:spcBef>
                <a:spcPts val="0"/>
              </a:spcBef>
              <a:spcAft>
                <a:spcPts val="0"/>
              </a:spcAft>
              <a:buNone/>
              <a:defRPr lang="ja-JP">
                <a:latin typeface="Noto Sans"/>
                <a:ea typeface="Noto Sans CJK JP"/>
                <a:cs typeface="Noto Sans"/>
              </a:defRPr>
            </a:lvl3pPr>
            <a:lvl4pPr lvl="3">
              <a:spcBef>
                <a:spcPts val="0"/>
              </a:spcBef>
              <a:spcAft>
                <a:spcPts val="0"/>
              </a:spcAft>
              <a:buNone/>
              <a:defRPr lang="ja-JP">
                <a:latin typeface="Noto Sans"/>
                <a:ea typeface="Noto Sans CJK JP"/>
                <a:cs typeface="Noto Sans"/>
              </a:defRPr>
            </a:lvl4pPr>
            <a:lvl5pPr lvl="4">
              <a:spcBef>
                <a:spcPts val="0"/>
              </a:spcBef>
              <a:spcAft>
                <a:spcPts val="0"/>
              </a:spcAft>
              <a:buNone/>
              <a:defRPr lang="ja-JP">
                <a:latin typeface="Noto Sans"/>
                <a:ea typeface="Noto Sans CJK JP"/>
                <a:cs typeface="Noto Sans"/>
              </a:defRPr>
            </a:lvl5pPr>
            <a:lvl6pPr lvl="5">
              <a:spcBef>
                <a:spcPts val="0"/>
              </a:spcBef>
              <a:spcAft>
                <a:spcPts val="0"/>
              </a:spcAft>
              <a:buNone/>
              <a:defRPr lang="ja-JP">
                <a:latin typeface="Noto Sans"/>
                <a:ea typeface="Noto Sans CJK JP"/>
                <a:cs typeface="Noto Sans"/>
              </a:defRPr>
            </a:lvl6pPr>
            <a:lvl7pPr lvl="6">
              <a:spcBef>
                <a:spcPts val="0"/>
              </a:spcBef>
              <a:spcAft>
                <a:spcPts val="0"/>
              </a:spcAft>
              <a:buNone/>
              <a:defRPr lang="ja-JP">
                <a:latin typeface="Noto Sans"/>
                <a:ea typeface="Noto Sans CJK JP"/>
                <a:cs typeface="Noto Sans"/>
              </a:defRPr>
            </a:lvl7pPr>
            <a:lvl8pPr lvl="7">
              <a:spcBef>
                <a:spcPts val="0"/>
              </a:spcBef>
              <a:spcAft>
                <a:spcPts val="0"/>
              </a:spcAft>
              <a:buNone/>
              <a:defRPr lang="ja-JP">
                <a:latin typeface="Noto Sans"/>
                <a:ea typeface="Noto Sans CJK JP"/>
                <a:cs typeface="Noto Sans"/>
              </a:defRPr>
            </a:lvl8pPr>
            <a:lvl9pPr lvl="8">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25" name="Google Shape;25;p5"/>
          <p:cNvSpPr txBox="1">
            <a:spLocks noGrp="1"/>
          </p:cNvSpPr>
          <p:nvPr>
            <p:ph type="body" idx="1"/>
          </p:nvPr>
        </p:nvSpPr>
        <p:spPr>
          <a:xfrm>
            <a:off x="589650" y="1474850"/>
            <a:ext cx="7964700" cy="34587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26" name="Google Shape;26;p5"/>
          <p:cNvSpPr txBox="1">
            <a:spLocks noGrp="1"/>
          </p:cNvSpPr>
          <p:nvPr>
            <p:ph type="title" idx="2"/>
          </p:nvPr>
        </p:nvSpPr>
        <p:spPr>
          <a:xfrm>
            <a:off x="76100" y="0"/>
            <a:ext cx="8048100" cy="480059"/>
          </a:xfrm>
          <a:prstGeom prst="rect">
            <a:avLst/>
          </a:prstGeom>
          <a:ln>
            <a:noFill/>
          </a:ln>
        </p:spPr>
        <p:txBody>
          <a:bodyPr spcFirstLastPara="1" wrap="square" lIns="91425" tIns="0" rIns="91425" bIns="0" anchor="ctr" anchorCtr="0">
            <a:normAutofit/>
          </a:bodyPr>
          <a:lstStyle>
            <a:lvl1pPr lv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a:spcBef>
                <a:spcPts val="0"/>
              </a:spcBef>
              <a:spcAft>
                <a:spcPts val="0"/>
              </a:spcAft>
              <a:buNone/>
              <a:defRPr lang="ja-JP" sz="1400" b="1" altLang="en-US">
                <a:latin typeface="Noto Sans"/>
                <a:ea typeface="Noto Sans CJK JP"/>
                <a:cs typeface="Noto Sans"/>
              </a:defRPr>
            </a:lvl2pPr>
            <a:lvl3pPr lvl="2">
              <a:spcBef>
                <a:spcPts val="0"/>
              </a:spcBef>
              <a:spcAft>
                <a:spcPts val="0"/>
              </a:spcAft>
              <a:buNone/>
              <a:defRPr lang="ja-JP" sz="1400" b="1" altLang="en-US">
                <a:latin typeface="Noto Sans"/>
                <a:ea typeface="Noto Sans CJK JP"/>
                <a:cs typeface="Noto Sans"/>
              </a:defRPr>
            </a:lvl3pPr>
            <a:lvl4pPr lvl="3">
              <a:spcBef>
                <a:spcPts val="0"/>
              </a:spcBef>
              <a:spcAft>
                <a:spcPts val="0"/>
              </a:spcAft>
              <a:buNone/>
              <a:defRPr lang="ja-JP" sz="1400" b="1" altLang="en-US">
                <a:latin typeface="Noto Sans"/>
                <a:ea typeface="Noto Sans CJK JP"/>
                <a:cs typeface="Noto Sans"/>
              </a:defRPr>
            </a:lvl4pPr>
            <a:lvl5pPr lvl="4">
              <a:spcBef>
                <a:spcPts val="0"/>
              </a:spcBef>
              <a:spcAft>
                <a:spcPts val="0"/>
              </a:spcAft>
              <a:buNone/>
              <a:defRPr lang="ja-JP" sz="1400" b="1" altLang="en-US">
                <a:latin typeface="Noto Sans"/>
                <a:ea typeface="Noto Sans CJK JP"/>
                <a:cs typeface="Noto Sans"/>
              </a:defRPr>
            </a:lvl5pPr>
            <a:lvl6pPr lvl="5">
              <a:spcBef>
                <a:spcPts val="0"/>
              </a:spcBef>
              <a:spcAft>
                <a:spcPts val="0"/>
              </a:spcAft>
              <a:buNone/>
              <a:defRPr lang="ja-JP" sz="1400" b="1" altLang="en-US">
                <a:latin typeface="Noto Sans"/>
                <a:ea typeface="Noto Sans CJK JP"/>
                <a:cs typeface="Noto Sans"/>
              </a:defRPr>
            </a:lvl6pPr>
            <a:lvl7pPr lvl="6">
              <a:spcBef>
                <a:spcPts val="0"/>
              </a:spcBef>
              <a:spcAft>
                <a:spcPts val="0"/>
              </a:spcAft>
              <a:buNone/>
              <a:defRPr lang="ja-JP" sz="1400" b="1" altLang="en-US">
                <a:latin typeface="Noto Sans"/>
                <a:ea typeface="Noto Sans CJK JP"/>
                <a:cs typeface="Noto Sans"/>
              </a:defRPr>
            </a:lvl7pPr>
            <a:lvl8pPr lvl="7">
              <a:spcBef>
                <a:spcPts val="0"/>
              </a:spcBef>
              <a:spcAft>
                <a:spcPts val="0"/>
              </a:spcAft>
              <a:buNone/>
              <a:defRPr lang="ja-JP" sz="1400" b="1" altLang="en-US">
                <a:latin typeface="Noto Sans"/>
                <a:ea typeface="Noto Sans CJK JP"/>
                <a:cs typeface="Noto Sans"/>
              </a:defRPr>
            </a:lvl8pPr>
            <a:lvl9pPr lvl="8">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dirty="0">
              <a:latin typeface="Noto Sans"/>
              <a:ea typeface="Noto Sans CJK JP"/>
              <a:cs typeface="Noto San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タイトルのみ">
  <p:cSld name="ONE_COLUMN_TEXT_1_4">
    <p:spTree>
      <p:nvGrpSpPr>
        <p:cNvPr id="1" name="Shape 27"/>
        <p:cNvGrpSpPr/>
        <p:nvPr/>
      </p:nvGrpSpPr>
      <p:grpSpPr>
        <a:xfrm>
          <a:off x="0" y="0"/>
          <a:ext cx="0" cy="0"/>
          <a:chOff x="0" y="0"/>
          <a:chExt cx="0" cy="0"/>
        </a:xfrm>
      </p:grpSpPr>
      <p:sp>
        <p:nvSpPr>
          <p:cNvPr id="28" name="Google Shape;28;p6"/>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0" name="Google Shape;30;p6"/>
          <p:cNvSpPr txBox="1">
            <a:spLocks noGrp="1"/>
          </p:cNvSpPr>
          <p:nvPr>
            <p:ph type="title"/>
          </p:nvPr>
        </p:nvSpPr>
        <p:spPr>
          <a:xfrm>
            <a:off x="468600" y="649825"/>
            <a:ext cx="8206800" cy="616200"/>
          </a:xfrm>
          <a:prstGeom prst="rect">
            <a:avLst/>
          </a:prstGeom>
        </p:spPr>
        <p:txBody>
          <a:bodyPr spcFirstLastPara="1" wrap="none" lIns="91425" tIns="91425" rIns="91425" bIns="91425" anchor="t" anchorCtr="0">
            <a:normAutofit/>
          </a:bodyPr>
          <a:lstStyle>
            <a:lvl1pPr lvl="0" rtl="0">
              <a:spcBef>
                <a:spcPts val="0"/>
              </a:spcBef>
              <a:spcAft>
                <a:spcPts val="0"/>
              </a:spcAft>
              <a:buClr>
                <a:schemeClr val="dk1"/>
              </a:buClr>
              <a:buNone/>
              <a:defRPr sz="3000" b="1" lang="ja-JP">
                <a:solidFill>
                  <a:schemeClr val="dk1"/>
                </a:solidFill>
                <a:latin typeface="Noto Sans"/>
                <a:ea typeface="Noto Sans CJK JP"/>
                <a:cs typeface="Noto Sans"/>
              </a:defRPr>
            </a:lvl1pPr>
            <a:lvl2pPr lvl="1" rtl="0">
              <a:spcBef>
                <a:spcPts val="0"/>
              </a:spcBef>
              <a:spcAft>
                <a:spcPts val="0"/>
              </a:spcAft>
              <a:buNone/>
              <a:defRPr lang="ja-JP">
                <a:latin typeface="Noto Sans"/>
                <a:ea typeface="Noto Sans CJK JP"/>
                <a:cs typeface="Noto Sans"/>
              </a:defRPr>
            </a:lvl2pPr>
            <a:lvl3pPr lvl="2" rtl="0">
              <a:spcBef>
                <a:spcPts val="0"/>
              </a:spcBef>
              <a:spcAft>
                <a:spcPts val="0"/>
              </a:spcAft>
              <a:buNone/>
              <a:defRPr lang="ja-JP">
                <a:latin typeface="Noto Sans"/>
                <a:ea typeface="Noto Sans CJK JP"/>
                <a:cs typeface="Noto Sans"/>
              </a:defRPr>
            </a:lvl3pPr>
            <a:lvl4pPr lvl="3" rtl="0">
              <a:spcBef>
                <a:spcPts val="0"/>
              </a:spcBef>
              <a:spcAft>
                <a:spcPts val="0"/>
              </a:spcAft>
              <a:buNone/>
              <a:defRPr lang="ja-JP">
                <a:latin typeface="Noto Sans"/>
                <a:ea typeface="Noto Sans CJK JP"/>
                <a:cs typeface="Noto Sans"/>
              </a:defRPr>
            </a:lvl4pPr>
            <a:lvl5pPr lvl="4" rtl="0">
              <a:spcBef>
                <a:spcPts val="0"/>
              </a:spcBef>
              <a:spcAft>
                <a:spcPts val="0"/>
              </a:spcAft>
              <a:buNone/>
              <a:defRPr lang="ja-JP">
                <a:latin typeface="Noto Sans"/>
                <a:ea typeface="Noto Sans CJK JP"/>
                <a:cs typeface="Noto Sans"/>
              </a:defRPr>
            </a:lvl5pPr>
            <a:lvl6pPr lvl="5" rtl="0">
              <a:spcBef>
                <a:spcPts val="0"/>
              </a:spcBef>
              <a:spcAft>
                <a:spcPts val="0"/>
              </a:spcAft>
              <a:buNone/>
              <a:defRPr lang="ja-JP">
                <a:latin typeface="Noto Sans"/>
                <a:ea typeface="Noto Sans CJK JP"/>
                <a:cs typeface="Noto Sans"/>
              </a:defRPr>
            </a:lvl6pPr>
            <a:lvl7pPr lvl="6" rtl="0">
              <a:spcBef>
                <a:spcPts val="0"/>
              </a:spcBef>
              <a:spcAft>
                <a:spcPts val="0"/>
              </a:spcAft>
              <a:buNone/>
              <a:defRPr lang="ja-JP">
                <a:latin typeface="Noto Sans"/>
                <a:ea typeface="Noto Sans CJK JP"/>
                <a:cs typeface="Noto Sans"/>
              </a:defRPr>
            </a:lvl7pPr>
            <a:lvl8pPr lvl="7" rtl="0">
              <a:spcBef>
                <a:spcPts val="0"/>
              </a:spcBef>
              <a:spcAft>
                <a:spcPts val="0"/>
              </a:spcAft>
              <a:buNone/>
              <a:defRPr lang="ja-JP">
                <a:latin typeface="Noto Sans"/>
                <a:ea typeface="Noto Sans CJK JP"/>
                <a:cs typeface="Noto Sans"/>
              </a:defRPr>
            </a:lvl8pPr>
            <a:lvl9pPr lvl="8" rtl="0">
              <a:spcBef>
                <a:spcPts val="0"/>
              </a:spcBef>
              <a:spcAft>
                <a:spcPts val="0"/>
              </a:spcAft>
              <a:buNone/>
              <a:defRPr lang="ja-JP">
                <a:latin typeface="Noto Sans"/>
                <a:ea typeface="Noto Sans CJK JP"/>
                <a:cs typeface="Noto Sans"/>
              </a:defRPr>
            </a:lvl9pPr>
          </a:lstStyle>
          <a:p>
            <a:endParaRPr lang="ja-JP">
              <a:latin typeface="Noto Sans"/>
              <a:ea typeface="Noto Sans CJK JP"/>
              <a:cs typeface="Noto Sans"/>
            </a:endParaRPr>
          </a:p>
        </p:txBody>
      </p:sp>
      <p:sp>
        <p:nvSpPr>
          <p:cNvPr id="31" name="Google Shape;31;p6"/>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ransition" type="secHead">
  <p:cSld name="ONE_COLUMN_TEXT_1_4_1">
    <p:spTree>
      <p:nvGrpSpPr>
        <p:cNvPr id="1" name="Shape 32"/>
        <p:cNvGrpSpPr/>
        <p:nvPr/>
      </p:nvGrpSpPr>
      <p:grpSpPr>
        <a:xfrm>
          <a:off x="0" y="0"/>
          <a:ext cx="0" cy="0"/>
          <a:chOff x="0" y="0"/>
          <a:chExt cx="0" cy="0"/>
        </a:xfrm>
      </p:grpSpPr>
      <p:sp>
        <p:nvSpPr>
          <p:cNvPr id="33" name="Google Shape;33;p7"/>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35" name="Google Shape;35;p7"/>
          <p:cNvSpPr txBox="1">
            <a:spLocks noGrp="1"/>
          </p:cNvSpPr>
          <p:nvPr>
            <p:ph type="title"/>
          </p:nvPr>
        </p:nvSpPr>
        <p:spPr>
          <a:xfrm>
            <a:off x="548640" y="2414016"/>
            <a:ext cx="8046720" cy="822960"/>
          </a:xfrm>
          <a:prstGeom prst="rect">
            <a:avLst/>
          </a:prstGeom>
        </p:spPr>
        <p:txBody>
          <a:bodyPr spcFirstLastPara="1" wrap="none" lIns="0" tIns="0" rIns="0" bIns="0" anchor="ctr" anchorCtr="0">
            <a:normAutofit/>
          </a:bodyPr>
          <a:lstStyle>
            <a:lvl1pPr lvl="0" rtl="0" algn="ctr">
              <a:spcBef>
                <a:spcPts val="0"/>
              </a:spcBef>
              <a:spcAft>
                <a:spcPts val="0"/>
              </a:spcAft>
              <a:buClr>
                <a:schemeClr val="dk1"/>
              </a:buClr>
              <a:buNone/>
              <a:defRPr sz="3600" b="1" lang="ja-JP" altLang="en-US">
                <a:solidFill>
                  <a:schemeClr val="dk1"/>
                </a:solidFill>
                <a:latin typeface="Noto Sans"/>
                <a:ea typeface="Noto Sans CJK JP"/>
                <a:cs typeface="Noto Sans"/>
              </a:defRPr>
            </a:lvl1pPr>
            <a:lvl2pPr lvl="1" rtl="0" algn="ctr">
              <a:spcBef>
                <a:spcPts val="0"/>
              </a:spcBef>
              <a:spcAft>
                <a:spcPts val="0"/>
              </a:spcAft>
              <a:buNone/>
              <a:defRPr lang="ja-JP" sz="3600" b="1" altLang="en-US">
                <a:latin typeface="Noto Sans"/>
                <a:ea typeface="Noto Sans CJK JP"/>
                <a:cs typeface="Noto Sans"/>
              </a:defRPr>
            </a:lvl2pPr>
            <a:lvl3pPr lvl="2" rtl="0" algn="ctr">
              <a:spcBef>
                <a:spcPts val="0"/>
              </a:spcBef>
              <a:spcAft>
                <a:spcPts val="0"/>
              </a:spcAft>
              <a:buNone/>
              <a:defRPr lang="ja-JP" sz="3600" b="1" altLang="en-US">
                <a:latin typeface="Noto Sans"/>
                <a:ea typeface="Noto Sans CJK JP"/>
                <a:cs typeface="Noto Sans"/>
              </a:defRPr>
            </a:lvl3pPr>
            <a:lvl4pPr lvl="3" rtl="0" algn="ctr">
              <a:spcBef>
                <a:spcPts val="0"/>
              </a:spcBef>
              <a:spcAft>
                <a:spcPts val="0"/>
              </a:spcAft>
              <a:buNone/>
              <a:defRPr lang="ja-JP" sz="3600" b="1" altLang="en-US">
                <a:latin typeface="Noto Sans"/>
                <a:ea typeface="Noto Sans CJK JP"/>
                <a:cs typeface="Noto Sans"/>
              </a:defRPr>
            </a:lvl4pPr>
            <a:lvl5pPr lvl="4" rtl="0" algn="ctr">
              <a:spcBef>
                <a:spcPts val="0"/>
              </a:spcBef>
              <a:spcAft>
                <a:spcPts val="0"/>
              </a:spcAft>
              <a:buNone/>
              <a:defRPr lang="ja-JP" sz="3600" b="1" altLang="en-US">
                <a:latin typeface="Noto Sans"/>
                <a:ea typeface="Noto Sans CJK JP"/>
                <a:cs typeface="Noto Sans"/>
              </a:defRPr>
            </a:lvl5pPr>
            <a:lvl6pPr lvl="5" rtl="0" algn="ctr">
              <a:spcBef>
                <a:spcPts val="0"/>
              </a:spcBef>
              <a:spcAft>
                <a:spcPts val="0"/>
              </a:spcAft>
              <a:buNone/>
              <a:defRPr lang="ja-JP" sz="3600" b="1" altLang="en-US">
                <a:latin typeface="Noto Sans"/>
                <a:ea typeface="Noto Sans CJK JP"/>
                <a:cs typeface="Noto Sans"/>
              </a:defRPr>
            </a:lvl6pPr>
            <a:lvl7pPr lvl="6" rtl="0" algn="ctr">
              <a:spcBef>
                <a:spcPts val="0"/>
              </a:spcBef>
              <a:spcAft>
                <a:spcPts val="0"/>
              </a:spcAft>
              <a:buNone/>
              <a:defRPr lang="ja-JP" sz="3600" b="1" altLang="en-US">
                <a:latin typeface="Noto Sans"/>
                <a:ea typeface="Noto Sans CJK JP"/>
                <a:cs typeface="Noto Sans"/>
              </a:defRPr>
            </a:lvl7pPr>
            <a:lvl8pPr lvl="7" rtl="0" algn="ctr">
              <a:spcBef>
                <a:spcPts val="0"/>
              </a:spcBef>
              <a:spcAft>
                <a:spcPts val="0"/>
              </a:spcAft>
              <a:buNone/>
              <a:defRPr lang="ja-JP" sz="3600" b="1" altLang="en-US">
                <a:latin typeface="Noto Sans"/>
                <a:ea typeface="Noto Sans CJK JP"/>
                <a:cs typeface="Noto Sans"/>
              </a:defRPr>
            </a:lvl8pPr>
            <a:lvl9pPr lvl="8" rtl="0" algn="ctr">
              <a:spcBef>
                <a:spcPts val="0"/>
              </a:spcBef>
              <a:spcAft>
                <a:spcPts val="0"/>
              </a:spcAft>
              <a:buNone/>
              <a:defRPr lang="ja-JP" sz="3600" b="1" altLang="en-US">
                <a:latin typeface="Noto Sans"/>
                <a:ea typeface="Noto Sans CJK JP"/>
                <a:cs typeface="Noto Sans"/>
              </a:defRPr>
            </a:lvl9pPr>
          </a:lstStyle>
          <a:p>
            <a:pPr algn="ctr">
              <a:lnSpc>
                <a:spcPct val="110000"/>
              </a:lnSpc>
              <a:defRPr sz="3600" b="1" lang="ja-JP" altLang="en-US">
                <a:latin typeface="Noto Sans"/>
                <a:ea typeface="Noto Sans CJK JP"/>
                <a:cs typeface="Noto Sans"/>
              </a:defRPr>
            </a:pPr>
            <a:endParaRPr lang="ja-JP" sz="3600" b="1" altLang="en-US">
              <a:latin typeface="Noto Sans"/>
              <a:ea typeface="Noto Sans CJK JP"/>
              <a:cs typeface="Noto Sans"/>
            </a:endParaRPr>
          </a:p>
        </p:txBody>
      </p:sp>
      <p:sp>
        <p:nvSpPr>
          <p:cNvPr id="36" name="Google Shape;36;p7"/>
          <p:cNvSpPr txBox="1">
            <a:spLocks noGrp="1"/>
          </p:cNvSpPr>
          <p:nvPr>
            <p:ph type="title" idx="2"/>
          </p:nvPr>
        </p:nvSpPr>
        <p:spPr>
          <a:xfrm>
            <a:off x="76100" y="0"/>
            <a:ext cx="81153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本文のみ">
  <p:cSld name="ONE_COLUMN_TEXT_1_3">
    <p:spTree>
      <p:nvGrpSpPr>
        <p:cNvPr id="1" name="Shape 37"/>
        <p:cNvGrpSpPr/>
        <p:nvPr/>
      </p:nvGrpSpPr>
      <p:grpSpPr>
        <a:xfrm>
          <a:off x="0" y="0"/>
          <a:ext cx="0" cy="0"/>
          <a:chOff x="0" y="0"/>
          <a:chExt cx="0" cy="0"/>
        </a:xfrm>
      </p:grpSpPr>
      <p:sp>
        <p:nvSpPr>
          <p:cNvPr id="38" name="Google Shape;38;p8"/>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0" name="Google Shape;40;p8"/>
          <p:cNvSpPr txBox="1">
            <a:spLocks noGrp="1"/>
          </p:cNvSpPr>
          <p:nvPr>
            <p:ph type="body" idx="1"/>
          </p:nvPr>
        </p:nvSpPr>
        <p:spPr>
          <a:xfrm>
            <a:off x="589650" y="1185250"/>
            <a:ext cx="7964700" cy="3272100"/>
          </a:xfrm>
          <a:prstGeom prst="rect">
            <a:avLst/>
          </a:prstGeom>
        </p:spPr>
        <p:txBody>
          <a:bodyPr spcFirstLastPara="1" wrap="square" lIns="91425" tIns="91425" rIns="91425" bIns="91425" anchor="t" anchorCtr="0">
            <a:normAutofit/>
          </a:bodyPr>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a:latin typeface="Noto Sans"/>
              <a:ea typeface="Noto Sans CJK JP"/>
              <a:cs typeface="Noto Sans"/>
            </a:endParaRPr>
          </a:p>
        </p:txBody>
      </p:sp>
      <p:sp>
        <p:nvSpPr>
          <p:cNvPr id="41" name="Google Shape;41;p8"/>
          <p:cNvSpPr txBox="1">
            <a:spLocks noGrp="1"/>
          </p:cNvSpPr>
          <p:nvPr>
            <p:ph type="title"/>
          </p:nvPr>
        </p:nvSpPr>
        <p:spPr>
          <a:xfrm>
            <a:off x="76100" y="0"/>
            <a:ext cx="80595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ヘッダーのみ">
  <p:cSld name="ONE_COLUMN_TEXT_1_1">
    <p:spTree>
      <p:nvGrpSpPr>
        <p:cNvPr id="1" name="Shape 42"/>
        <p:cNvGrpSpPr/>
        <p:nvPr/>
      </p:nvGrpSpPr>
      <p:grpSpPr>
        <a:xfrm>
          <a:off x="0" y="0"/>
          <a:ext cx="0" cy="0"/>
          <a:chOff x="0" y="0"/>
          <a:chExt cx="0" cy="0"/>
        </a:xfrm>
      </p:grpSpPr>
      <p:sp>
        <p:nvSpPr>
          <p:cNvPr id="43" name="Google Shape;43;p9"/>
          <p:cNvSpPr/>
          <p:nvPr/>
        </p:nvSpPr>
        <p:spPr>
          <a:xfrm>
            <a:off x="-12600" y="0"/>
            <a:ext cx="9169200" cy="480059"/>
          </a:xfrm>
          <a:prstGeom prst="rect">
            <a:avLst/>
          </a:prstGeom>
          <a:solidFill>
            <a:schemeClr val="accent2"/>
          </a:solidFill>
          <a:ln>
            <a:noFill/>
          </a:ln>
        </p:spPr>
        <p:txBody>
          <a:bodyPr spcFirstLastPara="1" wrap="square" lIns="91425" tIns="0" rIns="91425" bIns="0" anchor="ctr" anchorCtr="0">
            <a:noAutofit/>
          </a:bodyPr>
          <a:lstStyle/>
          <a:p>
            <a:pPr marL="0" lvl="0" indent="0" algn="ctr" rtl="0">
              <a:lnSpc>
                <a:spcPct val="100000"/>
              </a:lnSpc>
              <a:spcBef>
                <a:spcPts val="0"/>
              </a:spcBef>
              <a:spcAft>
                <a:spcPts val="0"/>
              </a:spcAft>
              <a:buNone/>
            </a:pPr>
            <a:endParaRPr lang="ja-JP">
              <a:latin typeface="Noto Sans"/>
              <a:ea typeface="Noto Sans CJK JP"/>
              <a:cs typeface="Noto Sans"/>
            </a:endParaRPr>
          </a:p>
        </p:txBody>
      </p:sp>
      <p:sp>
        <p:nvSpPr>
          <p:cNvPr id="45" name="Google Shape;45;p9"/>
          <p:cNvSpPr txBox="1">
            <a:spLocks noGrp="1"/>
          </p:cNvSpPr>
          <p:nvPr>
            <p:ph type="title"/>
          </p:nvPr>
        </p:nvSpPr>
        <p:spPr>
          <a:xfrm>
            <a:off x="76100" y="0"/>
            <a:ext cx="8148900" cy="480059"/>
          </a:xfrm>
          <a:prstGeom prst="rect">
            <a:avLst/>
          </a:prstGeom>
          <a:ln>
            <a:noFill/>
          </a:ln>
        </p:spPr>
        <p:txBody>
          <a:bodyPr spcFirstLastPara="1" wrap="square" lIns="91425" tIns="0" rIns="91425" bIns="0" anchor="ctr" anchorCtr="0">
            <a:normAutofit/>
          </a:bodyPr>
          <a:lstStyle>
            <a:lvl1pPr lvl="0" rtl="0">
              <a:spcBef>
                <a:spcPts val="0"/>
              </a:spcBef>
              <a:spcAft>
                <a:spcPts val="0"/>
              </a:spcAft>
              <a:buClr>
                <a:schemeClr val="lt1"/>
              </a:buClr>
              <a:buNone/>
              <a:defRPr sz="1400" b="1" lang="ja-JP" altLang="en-US">
                <a:solidFill>
                  <a:schemeClr val="lt1"/>
                </a:solidFill>
                <a:latin typeface="Noto Sans"/>
                <a:ea typeface="Noto Sans CJK JP"/>
                <a:cs typeface="Noto Sans"/>
              </a:defRPr>
            </a:lvl1pPr>
            <a:lvl2pPr lvl="1" rtl="0">
              <a:spcBef>
                <a:spcPts val="0"/>
              </a:spcBef>
              <a:spcAft>
                <a:spcPts val="0"/>
              </a:spcAft>
              <a:buNone/>
              <a:defRPr lang="ja-JP" sz="1400" b="1" altLang="en-US">
                <a:latin typeface="Noto Sans"/>
                <a:ea typeface="Noto Sans CJK JP"/>
                <a:cs typeface="Noto Sans"/>
              </a:defRPr>
            </a:lvl2pPr>
            <a:lvl3pPr lvl="2" rtl="0">
              <a:spcBef>
                <a:spcPts val="0"/>
              </a:spcBef>
              <a:spcAft>
                <a:spcPts val="0"/>
              </a:spcAft>
              <a:buNone/>
              <a:defRPr lang="ja-JP" sz="1400" b="1" altLang="en-US">
                <a:latin typeface="Noto Sans"/>
                <a:ea typeface="Noto Sans CJK JP"/>
                <a:cs typeface="Noto Sans"/>
              </a:defRPr>
            </a:lvl3pPr>
            <a:lvl4pPr lvl="3" rtl="0">
              <a:spcBef>
                <a:spcPts val="0"/>
              </a:spcBef>
              <a:spcAft>
                <a:spcPts val="0"/>
              </a:spcAft>
              <a:buNone/>
              <a:defRPr lang="ja-JP" sz="1400" b="1" altLang="en-US">
                <a:latin typeface="Noto Sans"/>
                <a:ea typeface="Noto Sans CJK JP"/>
                <a:cs typeface="Noto Sans"/>
              </a:defRPr>
            </a:lvl4pPr>
            <a:lvl5pPr lvl="4" rtl="0">
              <a:spcBef>
                <a:spcPts val="0"/>
              </a:spcBef>
              <a:spcAft>
                <a:spcPts val="0"/>
              </a:spcAft>
              <a:buNone/>
              <a:defRPr lang="ja-JP" sz="1400" b="1" altLang="en-US">
                <a:latin typeface="Noto Sans"/>
                <a:ea typeface="Noto Sans CJK JP"/>
                <a:cs typeface="Noto Sans"/>
              </a:defRPr>
            </a:lvl5pPr>
            <a:lvl6pPr lvl="5" rtl="0">
              <a:spcBef>
                <a:spcPts val="0"/>
              </a:spcBef>
              <a:spcAft>
                <a:spcPts val="0"/>
              </a:spcAft>
              <a:buNone/>
              <a:defRPr lang="ja-JP" sz="1400" b="1" altLang="en-US">
                <a:latin typeface="Noto Sans"/>
                <a:ea typeface="Noto Sans CJK JP"/>
                <a:cs typeface="Noto Sans"/>
              </a:defRPr>
            </a:lvl6pPr>
            <a:lvl7pPr lvl="6" rtl="0">
              <a:spcBef>
                <a:spcPts val="0"/>
              </a:spcBef>
              <a:spcAft>
                <a:spcPts val="0"/>
              </a:spcAft>
              <a:buNone/>
              <a:defRPr lang="ja-JP" sz="1400" b="1" altLang="en-US">
                <a:latin typeface="Noto Sans"/>
                <a:ea typeface="Noto Sans CJK JP"/>
                <a:cs typeface="Noto Sans"/>
              </a:defRPr>
            </a:lvl7pPr>
            <a:lvl8pPr lvl="7" rtl="0">
              <a:spcBef>
                <a:spcPts val="0"/>
              </a:spcBef>
              <a:spcAft>
                <a:spcPts val="0"/>
              </a:spcAft>
              <a:buNone/>
              <a:defRPr lang="ja-JP" sz="1400" b="1" altLang="en-US">
                <a:latin typeface="Noto Sans"/>
                <a:ea typeface="Noto Sans CJK JP"/>
                <a:cs typeface="Noto Sans"/>
              </a:defRPr>
            </a:lvl8pPr>
            <a:lvl9pPr lvl="8" rtl="0">
              <a:spcBef>
                <a:spcPts val="0"/>
              </a:spcBef>
              <a:spcAft>
                <a:spcPts val="0"/>
              </a:spcAft>
              <a:buNone/>
              <a:defRPr lang="ja-JP" sz="1400" b="1" altLang="en-US">
                <a:latin typeface="Noto Sans"/>
                <a:ea typeface="Noto Sans CJK JP"/>
                <a:cs typeface="Noto Sans"/>
              </a:defRPr>
            </a:lvl9pPr>
          </a:lstStyle>
          <a:p>
            <a:pPr>
              <a:lnSpc>
                <a:spcPct val="100000"/>
              </a:lnSpc>
              <a:spcBef>
                <a:spcPts val="0"/>
              </a:spcBef>
              <a:spcAft>
                <a:spcPts val="0"/>
              </a:spcAft>
              <a:defRPr sz="1400" b="1" lang="ja-JP" altLang="en-US">
                <a:latin typeface="Noto Sans"/>
                <a:ea typeface="Noto Sans CJK JP"/>
                <a:cs typeface="Noto Sans"/>
              </a:defRPr>
            </a:pPr>
            <a:endParaRPr dirty="0" lang="ja-JP" sz="1400" b="1" altLang="en-US">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RT_AND_EXPLANATION">
    <p:spTree>
      <p:nvGrpSpPr>
        <p:cNvPr id="1" name=""/>
        <p:cNvGrpSpPr/>
        <p:nvPr/>
      </p:nvGrpSpPr>
      <p:grpSpPr>
        <a:xfrm>
          <a:off x="0" y="0"/>
          <a:ext cx="0" cy="0"/>
          <a:chOff x="0" y="0"/>
          <a:chExt cx="0" cy="0"/>
        </a:xfrm>
      </p:grpSpPr>
      <p:sp>
        <p:nvSpPr>
          <p:cNvPr id="2" name="Header band"/>
          <p:cNvSpPr txBox="1"/>
          <p:nvPr userDrawn="1"/>
        </p:nvSpPr>
        <p:spPr>
          <a:xfrm>
            <a:off x="0" y="0"/>
            <a:ext cx="9144000" cy="480059"/>
          </a:xfrm>
          <a:prstGeom prst="rect">
            <a:avLst/>
          </a:prstGeom>
          <a:solidFill>
            <a:schemeClr val="accent2"/>
          </a:solidFill>
          <a:ln>
            <a:noFill/>
          </a:ln>
        </p:spPr>
        <p:txBody>
          <a:bodyPr wrap="square" anchor="ctr" tIns="0" bIns="0"/>
          <a:lstStyle/>
          <a:p>
            <a:pPr algn="l">
              <a:lnSpc>
                <a:spcPct val="100000"/>
              </a:lnSpc>
              <a:spcBef>
                <a:spcPts val="0"/>
              </a:spcBef>
              <a:spcAft>
                <a:spcPts val="0"/>
              </a:spcAft>
            </a:pPr>
            <a:endParaRPr lang="ja-JP" dirty="0">
              <a:latin typeface="Noto Sans"/>
              <a:ea typeface="Noto Sans CJK JP"/>
              <a:cs typeface="Noto Sans"/>
            </a:endParaRPr>
          </a:p>
        </p:txBody>
      </p:sp>
      <p:sp>
        <p:nvSpPr>
          <p:cNvPr id="4" name="Chart Placeholder"/>
          <p:cNvSpPr txBox="1">
            <a:spLocks noGrp="1"/>
          </p:cNvSpPr>
          <p:nvPr>
            <p:ph idx="1"/>
          </p:nvPr>
        </p:nvSpPr>
        <p:spPr>
          <a:xfrm>
            <a:off x="456520" y="1250000"/>
            <a:ext cx="5715000" cy="3000000"/>
          </a:xfrm>
          <a:prstGeom prst="rect">
            <a:avLst/>
          </a:prstGeom>
          <a:solidFill>
            <a:schemeClr val="lt2"/>
          </a:solidFill>
          <a:ln>
            <a:noFill/>
          </a:ln>
        </p:spPr>
        <p:txBody>
          <a:bodyPr wrap="square"/>
          <a:lstStyle/>
          <a:p>
            <a:r>
              <a:rPr lang="ja-JP" sz="1800" b="0">
                <a:solidFill>
                  <a:schemeClr val="dk2"/>
                </a:solidFill>
                <a:latin typeface="Noto Sans"/>
                <a:ea typeface="Noto Sans CJK JP"/>
                <a:cs typeface="Noto Sans"/>
              </a:rPr>
              <a:t>Insert chart</a:t>
            </a:r>
            <a:endParaRPr lang="ja-JP">
              <a:latin typeface="Noto Sans"/>
              <a:ea typeface="Noto Sans CJK JP"/>
              <a:cs typeface="Noto Sans"/>
            </a:endParaRPr>
          </a:p>
        </p:txBody>
      </p:sp>
      <p:sp>
        <p:nvSpPr>
          <p:cNvPr id="5" name="Explanation Placeholder"/>
          <p:cNvSpPr txBox="1">
            <a:spLocks noGrp="1"/>
          </p:cNvSpPr>
          <p:nvPr>
            <p:ph type="body" idx="2"/>
          </p:nvPr>
        </p:nvSpPr>
        <p:spPr>
          <a:xfrm>
            <a:off x="6295292" y="1550000"/>
            <a:ext cx="2500000" cy="240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6" name="Supporting Text Placeholder"/>
          <p:cNvSpPr txBox="1">
            <a:spLocks noGrp="1"/>
          </p:cNvSpPr>
          <p:nvPr>
            <p:ph type="body" idx="3"/>
          </p:nvPr>
        </p:nvSpPr>
        <p:spPr>
          <a:xfrm>
            <a:off x="500000" y="4650000"/>
            <a:ext cx="8144000" cy="260000"/>
          </a:xfrm>
          <a:prstGeom prst="rect">
            <a:avLst/>
          </a:prstGeom>
          <a:noFill/>
          <a:ln>
            <a:noFill/>
          </a:ln>
        </p:spPr>
        <p:txBody>
          <a:bodyPr wrap="square" lIns="91425" rIns="91425" tIns="91425" bIns="91425"/>
          <a:lst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a:lstStyle>
          <a:p>
            <a:endParaRPr lang="ja-JP" dirty="0">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lt1"/>
                </a:solidFill>
                <a:latin typeface="Noto Sans"/>
                <a:ea typeface="Noto Sans CJK JP"/>
                <a:cs typeface="Noto Sans"/>
              </a:rPr>
              <a:t>‹#›</a:t>
            </a:fld>
            <a:endParaRPr lang="ja-JP" sz="1800" b="1">
              <a:latin typeface="Noto Sans"/>
              <a:ea typeface="Noto Sans CJK JP"/>
              <a:cs typeface="Noto Sans"/>
            </a:endParaRPr>
          </a:p>
        </p:txBody>
      </p:sp>
      <p:sp>
        <p:nvSpPr>
          <p:cNvPr id="9" name="タイトル 8">
            <a:extLst>
              <a:ext uri="{FF2B5EF4-FFF2-40B4-BE49-F238E27FC236}">
                <a16:creationId xmlns:a16="http://schemas.microsoft.com/office/drawing/2014/main" id="{25C0E310-B322-8587-531C-0E2F5BB13C5E}"/>
              </a:ext>
            </a:extLst>
          </p:cNvPr>
          <p:cNvSpPr>
            <a:spLocks noGrp="1"/>
          </p:cNvSpPr>
          <p:nvPr>
            <p:ph type="title"/>
          </p:nvPr>
        </p:nvSpPr>
        <p:spPr/>
        <p:txBody>
          <a:bodyPr/>
          <a:lstStyle/>
          <a:p>
            <a:endParaRPr kumimoji="1" lang="ja-JP" altLang="en-US">
              <a:latin typeface="Noto Sans"/>
              <a:ea typeface="Noto Sans CJK JP"/>
              <a:cs typeface="Noto San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ページ番号のみ 1">
  <p:cSld name="ONE_COLUMN_TEXT_1_2_1">
    <p:spTree>
      <p:nvGrpSpPr>
        <p:cNvPr id="1" name="Shape 93"/>
        <p:cNvGrpSpPr/>
        <p:nvPr/>
      </p:nvGrpSpPr>
      <p:grpSpPr>
        <a:xfrm>
          <a:off x="0" y="0"/>
          <a:ext cx="0" cy="0"/>
          <a:chOff x="0" y="0"/>
          <a:chExt cx="0" cy="0"/>
        </a:xfrm>
      </p:grpSpPr>
      <p:sp>
        <p:nvSpPr>
          <p:cNvPr id="96" name="Google Shape;96;p13"/>
          <p:cNvSpPr txBox="1">
            <a:spLocks noGrp="1"/>
          </p:cNvSpPr>
          <p:nvPr>
            <p:ph type="title"/>
          </p:nvPr>
        </p:nvSpPr>
        <p:spPr>
          <a:xfrm>
            <a:off x="5796650" y="4091225"/>
            <a:ext cx="3347400" cy="1052400"/>
          </a:xfrm>
          <a:prstGeom prst="rect">
            <a:avLst/>
          </a:prstGeom>
          <a:solidFill>
            <a:schemeClr val="accent2"/>
          </a:solidFill>
        </p:spPr>
        <p:txBody>
          <a:bodyPr spcFirstLastPara="1" wrap="square" lIns="126000" tIns="126000" rIns="91425" bIns="91425" anchor="ctr" anchorCtr="0">
            <a:normAutofit/>
          </a:bodyPr>
          <a:lstStyle>
            <a:lvl1pPr lvl="0" algn="ctr">
              <a:spcBef>
                <a:spcPts val="0"/>
              </a:spcBef>
              <a:spcAft>
                <a:spcPts val="0"/>
              </a:spcAft>
              <a:buClr>
                <a:schemeClr val="lt1"/>
              </a:buClr>
              <a:buNone/>
              <a:defRPr b="1" lang="ja-JP">
                <a:solidFill>
                  <a:schemeClr val="lt1"/>
                </a:solidFill>
                <a:latin typeface="Noto Sans"/>
                <a:ea typeface="Noto Sans CJK JP"/>
                <a:cs typeface="Noto Sans"/>
              </a:defRPr>
            </a:lvl1pPr>
            <a:lvl2pPr lvl="1">
              <a:spcBef>
                <a:spcPts val="0"/>
              </a:spcBef>
              <a:spcAft>
                <a:spcPts val="0"/>
              </a:spcAft>
              <a:buClr>
                <a:schemeClr val="lt1"/>
              </a:buClr>
              <a:buNone/>
              <a:defRPr sz="3200" b="1" lang="ja-JP">
                <a:solidFill>
                  <a:schemeClr val="lt1"/>
                </a:solidFill>
                <a:latin typeface="Noto Sans"/>
                <a:ea typeface="Noto Sans CJK JP"/>
                <a:cs typeface="Noto Sans"/>
              </a:defRPr>
            </a:lvl2pPr>
            <a:lvl3pPr lvl="2">
              <a:spcBef>
                <a:spcPts val="0"/>
              </a:spcBef>
              <a:spcAft>
                <a:spcPts val="0"/>
              </a:spcAft>
              <a:buClr>
                <a:schemeClr val="lt1"/>
              </a:buClr>
              <a:buNone/>
              <a:defRPr sz="3200" b="1" lang="ja-JP">
                <a:solidFill>
                  <a:schemeClr val="lt1"/>
                </a:solidFill>
                <a:latin typeface="Noto Sans"/>
                <a:ea typeface="Noto Sans CJK JP"/>
                <a:cs typeface="Noto Sans"/>
              </a:defRPr>
            </a:lvl3pPr>
            <a:lvl4pPr lvl="3">
              <a:spcBef>
                <a:spcPts val="0"/>
              </a:spcBef>
              <a:spcAft>
                <a:spcPts val="0"/>
              </a:spcAft>
              <a:buClr>
                <a:schemeClr val="lt1"/>
              </a:buClr>
              <a:buNone/>
              <a:defRPr sz="3200" b="1" lang="ja-JP">
                <a:solidFill>
                  <a:schemeClr val="lt1"/>
                </a:solidFill>
                <a:latin typeface="Noto Sans"/>
                <a:ea typeface="Noto Sans CJK JP"/>
                <a:cs typeface="Noto Sans"/>
              </a:defRPr>
            </a:lvl4pPr>
            <a:lvl5pPr lvl="4">
              <a:spcBef>
                <a:spcPts val="0"/>
              </a:spcBef>
              <a:spcAft>
                <a:spcPts val="0"/>
              </a:spcAft>
              <a:buClr>
                <a:schemeClr val="lt1"/>
              </a:buClr>
              <a:buNone/>
              <a:defRPr sz="3200" b="1" lang="ja-JP">
                <a:solidFill>
                  <a:schemeClr val="lt1"/>
                </a:solidFill>
                <a:latin typeface="Noto Sans"/>
                <a:ea typeface="Noto Sans CJK JP"/>
                <a:cs typeface="Noto Sans"/>
              </a:defRPr>
            </a:lvl5pPr>
            <a:lvl6pPr lvl="5">
              <a:spcBef>
                <a:spcPts val="0"/>
              </a:spcBef>
              <a:spcAft>
                <a:spcPts val="0"/>
              </a:spcAft>
              <a:buClr>
                <a:schemeClr val="lt1"/>
              </a:buClr>
              <a:buNone/>
              <a:defRPr sz="3200" b="1" lang="ja-JP">
                <a:solidFill>
                  <a:schemeClr val="lt1"/>
                </a:solidFill>
                <a:latin typeface="Noto Sans"/>
                <a:ea typeface="Noto Sans CJK JP"/>
                <a:cs typeface="Noto Sans"/>
              </a:defRPr>
            </a:lvl6pPr>
            <a:lvl7pPr lvl="6">
              <a:spcBef>
                <a:spcPts val="0"/>
              </a:spcBef>
              <a:spcAft>
                <a:spcPts val="0"/>
              </a:spcAft>
              <a:buClr>
                <a:schemeClr val="lt1"/>
              </a:buClr>
              <a:buNone/>
              <a:defRPr sz="3200" b="1" lang="ja-JP">
                <a:solidFill>
                  <a:schemeClr val="lt1"/>
                </a:solidFill>
                <a:latin typeface="Noto Sans"/>
                <a:ea typeface="Noto Sans CJK JP"/>
                <a:cs typeface="Noto Sans"/>
              </a:defRPr>
            </a:lvl7pPr>
            <a:lvl8pPr lvl="7">
              <a:spcBef>
                <a:spcPts val="0"/>
              </a:spcBef>
              <a:spcAft>
                <a:spcPts val="0"/>
              </a:spcAft>
              <a:buClr>
                <a:schemeClr val="lt1"/>
              </a:buClr>
              <a:buNone/>
              <a:defRPr sz="3200" b="1" lang="ja-JP">
                <a:solidFill>
                  <a:schemeClr val="lt1"/>
                </a:solidFill>
                <a:latin typeface="Noto Sans"/>
                <a:ea typeface="Noto Sans CJK JP"/>
                <a:cs typeface="Noto Sans"/>
              </a:defRPr>
            </a:lvl8pPr>
            <a:lvl9pPr lvl="8">
              <a:spcBef>
                <a:spcPts val="0"/>
              </a:spcBef>
              <a:spcAft>
                <a:spcPts val="0"/>
              </a:spcAft>
              <a:buClr>
                <a:schemeClr val="lt1"/>
              </a:buClr>
              <a:buNone/>
              <a:defRPr sz="3200" b="1" lang="ja-JP">
                <a:solidFill>
                  <a:schemeClr val="lt1"/>
                </a:solidFill>
                <a:latin typeface="Noto Sans"/>
                <a:ea typeface="Noto Sans CJK JP"/>
                <a:cs typeface="Noto Sans"/>
              </a:defRPr>
            </a:lvl9pPr>
          </a:lstStyle>
          <a:p>
            <a:endParaRPr dirty="0" lang="ja-JP">
              <a:latin typeface="Noto Sans"/>
              <a:ea typeface="Noto Sans CJK JP"/>
              <a:cs typeface="Noto Sans"/>
            </a:endParaRPr>
          </a:p>
        </p:txBody>
      </p:sp>
      <p:sp>
        <p:nvSpPr>
          <p:cNvPr id="999" name="Slide Number"/>
          <p:cNvSpPr txBox="1"/>
          <p:nvPr/>
        </p:nvSpPr>
        <p:spPr>
          <a:xfrm>
            <a:off x="8412480" y="7937"/>
            <a:ext cx="640080" cy="480059"/>
          </a:xfrm>
          <a:prstGeom prst="rect">
            <a:avLst/>
          </a:prstGeom>
          <a:noFill/>
          <a:ln>
            <a:noFill/>
          </a:ln>
        </p:spPr>
        <p:txBody>
          <a:bodyPr anchor="ctr" lIns="0" tIns="0" bIns="0"/>
          <a:lstStyle/>
          <a:p>
            <a:pPr algn="r">
              <a:lnSpc>
                <a:spcPct val="100000"/>
              </a:lnSpc>
              <a:spcBef>
                <a:spcPts val="0"/>
              </a:spcBef>
              <a:spcAft>
                <a:spcPts val="0"/>
              </a:spcAft>
            </a:pPr>
            <a:fld id="{00000000-1234-1234-1234-000000000999}" type="slidenum">
              <a:rPr lang="ja-JP" sz="1800" b="1">
                <a:solidFill>
                  <a:schemeClr val="dk2"/>
                </a:solidFill>
                <a:latin typeface="Noto Sans"/>
                <a:ea typeface="Noto Sans CJK JP"/>
                <a:cs typeface="Noto Sans"/>
              </a:rPr>
              <a:t>‹#›</a:t>
            </a:fld>
            <a:endParaRPr lang="ja-JP" sz="1800" b="1">
              <a:latin typeface="Noto Sans"/>
              <a:ea typeface="Noto Sans CJK JP"/>
              <a:cs typeface="Noto Sans"/>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None/>
              <a:defRPr sz="2800" lang="ja-JP">
                <a:solidFill>
                  <a:schemeClr val="dk1"/>
                </a:solidFill>
                <a:latin typeface="Noto Sans"/>
                <a:ea typeface="Noto Sans CJK JP"/>
                <a:cs typeface="Noto Sans"/>
              </a:defRPr>
            </a:lvl1pPr>
            <a:lvl2pPr lvl="1">
              <a:spcBef>
                <a:spcPts val="0"/>
              </a:spcBef>
              <a:spcAft>
                <a:spcPts val="0"/>
              </a:spcAft>
              <a:buClr>
                <a:schemeClr val="dk1"/>
              </a:buClr>
              <a:buNone/>
              <a:defRPr sz="2800" lang="ja-JP">
                <a:solidFill>
                  <a:schemeClr val="dk1"/>
                </a:solidFill>
                <a:latin typeface="Noto Sans"/>
                <a:ea typeface="Noto Sans CJK JP"/>
                <a:cs typeface="Noto Sans"/>
              </a:defRPr>
            </a:lvl2pPr>
            <a:lvl3pPr lvl="2">
              <a:spcBef>
                <a:spcPts val="0"/>
              </a:spcBef>
              <a:spcAft>
                <a:spcPts val="0"/>
              </a:spcAft>
              <a:buClr>
                <a:schemeClr val="dk1"/>
              </a:buClr>
              <a:buNone/>
              <a:defRPr sz="2800" lang="ja-JP">
                <a:solidFill>
                  <a:schemeClr val="dk1"/>
                </a:solidFill>
                <a:latin typeface="Noto Sans"/>
                <a:ea typeface="Noto Sans CJK JP"/>
                <a:cs typeface="Noto Sans"/>
              </a:defRPr>
            </a:lvl3pPr>
            <a:lvl4pPr lvl="3">
              <a:spcBef>
                <a:spcPts val="0"/>
              </a:spcBef>
              <a:spcAft>
                <a:spcPts val="0"/>
              </a:spcAft>
              <a:buClr>
                <a:schemeClr val="dk1"/>
              </a:buClr>
              <a:buNone/>
              <a:defRPr sz="2800" lang="ja-JP">
                <a:solidFill>
                  <a:schemeClr val="dk1"/>
                </a:solidFill>
                <a:latin typeface="Noto Sans"/>
                <a:ea typeface="Noto Sans CJK JP"/>
                <a:cs typeface="Noto Sans"/>
              </a:defRPr>
            </a:lvl4pPr>
            <a:lvl5pPr lvl="4">
              <a:spcBef>
                <a:spcPts val="0"/>
              </a:spcBef>
              <a:spcAft>
                <a:spcPts val="0"/>
              </a:spcAft>
              <a:buClr>
                <a:schemeClr val="dk1"/>
              </a:buClr>
              <a:buNone/>
              <a:defRPr sz="2800" lang="ja-JP">
                <a:solidFill>
                  <a:schemeClr val="dk1"/>
                </a:solidFill>
                <a:latin typeface="Noto Sans"/>
                <a:ea typeface="Noto Sans CJK JP"/>
                <a:cs typeface="Noto Sans"/>
              </a:defRPr>
            </a:lvl5pPr>
            <a:lvl6pPr lvl="5">
              <a:spcBef>
                <a:spcPts val="0"/>
              </a:spcBef>
              <a:spcAft>
                <a:spcPts val="0"/>
              </a:spcAft>
              <a:buClr>
                <a:schemeClr val="dk1"/>
              </a:buClr>
              <a:buNone/>
              <a:defRPr sz="2800" lang="ja-JP">
                <a:solidFill>
                  <a:schemeClr val="dk1"/>
                </a:solidFill>
                <a:latin typeface="Noto Sans"/>
                <a:ea typeface="Noto Sans CJK JP"/>
                <a:cs typeface="Noto Sans"/>
              </a:defRPr>
            </a:lvl6pPr>
            <a:lvl7pPr lvl="6">
              <a:spcBef>
                <a:spcPts val="0"/>
              </a:spcBef>
              <a:spcAft>
                <a:spcPts val="0"/>
              </a:spcAft>
              <a:buClr>
                <a:schemeClr val="dk1"/>
              </a:buClr>
              <a:buNone/>
              <a:defRPr sz="2800" lang="ja-JP">
                <a:solidFill>
                  <a:schemeClr val="dk1"/>
                </a:solidFill>
                <a:latin typeface="Noto Sans"/>
                <a:ea typeface="Noto Sans CJK JP"/>
                <a:cs typeface="Noto Sans"/>
              </a:defRPr>
            </a:lvl7pPr>
            <a:lvl8pPr lvl="7">
              <a:spcBef>
                <a:spcPts val="0"/>
              </a:spcBef>
              <a:spcAft>
                <a:spcPts val="0"/>
              </a:spcAft>
              <a:buClr>
                <a:schemeClr val="dk1"/>
              </a:buClr>
              <a:buNone/>
              <a:defRPr sz="2800" lang="ja-JP">
                <a:solidFill>
                  <a:schemeClr val="dk1"/>
                </a:solidFill>
                <a:latin typeface="Noto Sans"/>
                <a:ea typeface="Noto Sans CJK JP"/>
                <a:cs typeface="Noto Sans"/>
              </a:defRPr>
            </a:lvl8pPr>
            <a:lvl9pPr lvl="8">
              <a:spcBef>
                <a:spcPts val="0"/>
              </a:spcBef>
              <a:spcAft>
                <a:spcPts val="0"/>
              </a:spcAft>
              <a:buClr>
                <a:schemeClr val="dk1"/>
              </a:buClr>
              <a:buNone/>
              <a:defRPr sz="2800" lang="ja-JP">
                <a:solidFill>
                  <a:schemeClr val="dk1"/>
                </a:solidFill>
                <a:latin typeface="Noto Sans"/>
                <a:ea typeface="Noto Sans CJK JP"/>
                <a:cs typeface="Noto Sans"/>
              </a:defRPr>
            </a:lvl9pPr>
          </a:lstStyle>
          <a:p>
            <a:endParaRPr lang="ja-JP">
              <a:latin typeface="Noto Sans"/>
              <a:ea typeface="Noto Sans CJK JP"/>
              <a:cs typeface="Noto Sans"/>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203200" lvl="0" indent="-152400">
              <a:lnSpc>
                <a:spcPct val="115000"/>
              </a:lnSpc>
              <a:spcBef>
                <a:spcPts val="0"/>
              </a:spcBef>
              <a:spcAft>
                <a:spcPts val="0"/>
              </a:spcAft>
              <a:buClr>
                <a:schemeClr val="dk2"/>
              </a:buClr>
              <a:buSzPct val="73889"/>
              <a:buFont typeface="Noto Sans CJK JP"/>
              <a:buChar char="●"/>
              <a:defRPr sz="1800" lang="ja-JP">
                <a:solidFill>
                  <a:schemeClr val="dk2"/>
                </a:solidFill>
                <a:latin typeface="Noto Sans"/>
                <a:ea typeface="Noto Sans CJK JP"/>
                <a:cs typeface="Noto Sans"/>
              </a:defRPr>
            </a:lvl1pPr>
            <a:lvl2pPr marL="482600" lvl="1"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2pPr>
            <a:lvl3pPr marL="762000" lvl="2"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3pPr>
            <a:lvl4pPr marL="1041400" lvl="3"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4pPr>
            <a:lvl5pPr marL="1320800" lvl="4"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5pPr>
            <a:lvl6pPr marL="1600200" lvl="5"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6pPr>
            <a:lvl7pPr marL="1879600" lvl="6"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7pPr>
            <a:lvl8pPr marL="2159000" lvl="7"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8pPr>
            <a:lvl9pPr marL="2438400" lvl="8" indent="-127000">
              <a:lnSpc>
                <a:spcPct val="115000"/>
              </a:lnSpc>
              <a:spcBef>
                <a:spcPts val="0"/>
              </a:spcBef>
              <a:spcAft>
                <a:spcPts val="0"/>
              </a:spcAft>
              <a:buClr>
                <a:schemeClr val="dk2"/>
              </a:buClr>
              <a:buSzPct val="66500"/>
              <a:buFont typeface="Noto Sans CJK JP"/>
              <a:buChar char="○"/>
              <a:defRPr lang="ja-JP">
                <a:solidFill>
                  <a:schemeClr val="dk2"/>
                </a:solidFill>
                <a:latin typeface="Noto Sans"/>
                <a:ea typeface="Noto Sans CJK JP"/>
                <a:cs typeface="Noto Sans"/>
              </a:defRPr>
            </a:lvl9pPr>
          </a:lstStyle>
          <a:p>
            <a:endParaRPr lang="ja-JP">
              <a:latin typeface="Noto Sans"/>
              <a:ea typeface="Noto Sans CJK JP"/>
              <a:cs typeface="Noto Sans"/>
            </a:endParaRPr>
          </a:p>
        </p:txBody>
      </p:sp>
      <p:sp>
        <p:nvSpPr>
          <p:cNvPr id="8" name="Google Shape;8;p1"/>
          <p:cNvSpPr txBox="1">
            <a:spLocks noGrp="1"/>
          </p:cNvSpPr>
          <p:nvPr>
            <p:ph type="sldNum" idx="12"/>
          </p:nvPr>
        </p:nvSpPr>
        <p:spPr>
          <a:xfrm>
            <a:off x="8412480" y="7937"/>
            <a:ext cx="640080" cy="480059"/>
          </a:xfrm>
          <a:prstGeom prst="rect">
            <a:avLst/>
          </a:prstGeom>
          <a:noFill/>
          <a:ln>
            <a:noFill/>
          </a:ln>
        </p:spPr>
        <p:txBody>
          <a:bodyPr spcFirstLastPara="1" wrap="square" lIns="0" tIns="0" bIns="0" anchor="ctr" anchorCtr="0">
            <a:normAutofit/>
          </a:bodyPr>
          <a:lstStyle>
            <a:lvl1pPr lvl="0" algn="r">
              <a:buNone/>
              <a:defRPr sz="1000" lang="ja-JP">
                <a:solidFill>
                  <a:schemeClr val="dk2"/>
                </a:solidFill>
                <a:latin typeface="Noto Sans"/>
                <a:ea typeface="Noto Sans CJK JP"/>
                <a:cs typeface="Noto Sans"/>
              </a:defRPr>
            </a:lvl1pPr>
            <a:lvl2pPr lvl="1" algn="r">
              <a:buNone/>
              <a:defRPr sz="1000" lang="ja-JP">
                <a:solidFill>
                  <a:schemeClr val="dk2"/>
                </a:solidFill>
                <a:latin typeface="Noto Sans"/>
                <a:ea typeface="Noto Sans CJK JP"/>
                <a:cs typeface="Noto Sans"/>
              </a:defRPr>
            </a:lvl2pPr>
            <a:lvl3pPr lvl="2" algn="r">
              <a:buNone/>
              <a:defRPr sz="1000" lang="ja-JP">
                <a:solidFill>
                  <a:schemeClr val="dk2"/>
                </a:solidFill>
                <a:latin typeface="Noto Sans"/>
                <a:ea typeface="Noto Sans CJK JP"/>
                <a:cs typeface="Noto Sans"/>
              </a:defRPr>
            </a:lvl3pPr>
            <a:lvl4pPr lvl="3" algn="r">
              <a:buNone/>
              <a:defRPr sz="1000" lang="ja-JP">
                <a:solidFill>
                  <a:schemeClr val="dk2"/>
                </a:solidFill>
                <a:latin typeface="Noto Sans"/>
                <a:ea typeface="Noto Sans CJK JP"/>
                <a:cs typeface="Noto Sans"/>
              </a:defRPr>
            </a:lvl4pPr>
            <a:lvl5pPr lvl="4" algn="r">
              <a:buNone/>
              <a:defRPr sz="1000" lang="ja-JP">
                <a:solidFill>
                  <a:schemeClr val="dk2"/>
                </a:solidFill>
                <a:latin typeface="Noto Sans"/>
                <a:ea typeface="Noto Sans CJK JP"/>
                <a:cs typeface="Noto Sans"/>
              </a:defRPr>
            </a:lvl5pPr>
            <a:lvl6pPr lvl="5" algn="r">
              <a:buNone/>
              <a:defRPr sz="1000" lang="ja-JP">
                <a:solidFill>
                  <a:schemeClr val="dk2"/>
                </a:solidFill>
                <a:latin typeface="Noto Sans"/>
                <a:ea typeface="Noto Sans CJK JP"/>
                <a:cs typeface="Noto Sans"/>
              </a:defRPr>
            </a:lvl6pPr>
            <a:lvl7pPr lvl="6" algn="r">
              <a:buNone/>
              <a:defRPr sz="1000" lang="ja-JP">
                <a:solidFill>
                  <a:schemeClr val="dk2"/>
                </a:solidFill>
                <a:latin typeface="Noto Sans"/>
                <a:ea typeface="Noto Sans CJK JP"/>
                <a:cs typeface="Noto Sans"/>
              </a:defRPr>
            </a:lvl7pPr>
            <a:lvl8pPr lvl="7" algn="r">
              <a:buNone/>
              <a:defRPr sz="1000" lang="ja-JP">
                <a:solidFill>
                  <a:schemeClr val="dk2"/>
                </a:solidFill>
                <a:latin typeface="Noto Sans"/>
                <a:ea typeface="Noto Sans CJK JP"/>
                <a:cs typeface="Noto Sans"/>
              </a:defRPr>
            </a:lvl8pPr>
            <a:lvl9pPr lvl="8" algn="r">
              <a:buNone/>
              <a:defRPr sz="1000" lang="ja-JP">
                <a:solidFill>
                  <a:schemeClr val="dk2"/>
                </a:solidFill>
                <a:latin typeface="Noto Sans"/>
                <a:ea typeface="Noto Sans CJK JP"/>
                <a:cs typeface="Noto Sans"/>
              </a:defRPr>
            </a:lvl9pPr>
          </a:lstStyle>
          <a:p>
            <a:pPr marL="0" lvl="0" indent="0" algn="r" rtl="0">
              <a:lnSpc>
                <a:spcPct val="100000"/>
              </a:lnSpc>
              <a:spcBef>
                <a:spcPts val="0"/>
              </a:spcBef>
              <a:spcAft>
                <a:spcPts val="0"/>
              </a:spcAft>
              <a:buNone/>
            </a:pPr>
            <a:fld id="{00000000-1234-1234-1234-123412341234}" type="slidenum">
              <a:rPr lang="ja-JP">
                <a:latin typeface="Noto Sans"/>
                <a:ea typeface="Noto Sans CJK JP"/>
                <a:cs typeface="Noto Sans"/>
              </a:rPr>
              <a:t>‹#›</a:t>
            </a:fld>
            <a:endParaRPr lang="ja-JP">
              <a:latin typeface="Noto Sans"/>
              <a:ea typeface="Noto Sans CJK JP"/>
              <a:cs typeface="Noto Sans"/>
            </a:endParaRPr>
          </a:p>
        </p:txBody>
      </p:sp>
    </p:spTree>
  </p:cSld>
  <p:clrMap bg1="lt1" tx1="dk1" bg2="dk2" tx2="lt2" accent1="accent1" accent2="accent2" accent3="accent3" accent4="accent4" accent5="accent5" accent6="accent6" hlink="hlink" folHlink="folHlink"/>
  <p:sldLayoutIdLst>
    <p:sldLayoutId id="2147483648" r:id="rId1"/>
    <p:sldLayoutId id="2147483657" r:id="rId2"/>
    <p:sldLayoutId id="2147483651" r:id="rId3"/>
    <p:sldLayoutId id="2147483652" r:id="rId4"/>
    <p:sldLayoutId id="2147483653" r:id="rId5"/>
    <p:sldLayoutId id="2147483654" r:id="rId6"/>
    <p:sldLayoutId id="2147483655" r:id="rId7"/>
    <p:sldLayoutId id="2147483658" r:id="rId8"/>
    <p:sldLayoutId id="2147483659"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titleStyle>
    <p:bodyStyle>
      <a:lvl1pPr marL="457200" lvl="0"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1pPr>
      <a:lvl2pPr marL="914400" lvl="1"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2pPr>
      <a:lvl3pPr marL="1371600" lvl="2"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3pPr>
      <a:lvl4pPr marL="1828800" lvl="3" indent="-368300">
        <a:spcBef>
          <a:spcPts val="0"/>
        </a:spcBef>
        <a:spcAft>
          <a:spcPts val="0"/>
        </a:spcAft>
        <a:buClr>
          <a:srgbClr val="303437"/>
        </a:buClr>
        <a:buSzPct val="60455"/>
        <a:buFont typeface="Noto Sans CJK JP"/>
        <a:buChar char="●"/>
        <a:defRPr sz="2200" lang="ja-JP">
          <a:solidFill>
            <a:srgbClr val="303437"/>
          </a:solidFill>
          <a:latin typeface="Noto Sans"/>
          <a:ea typeface="Noto Sans CJK JP"/>
          <a:cs typeface="Noto Sans"/>
        </a:defRPr>
      </a:lvl4pPr>
      <a:lvl5pPr marL="2286000" lvl="4"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5pPr>
      <a:lvl6pPr marL="2743200" lvl="5"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6pPr>
      <a:lvl7pPr marL="3200400" lvl="6"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7pPr>
      <a:lvl8pPr marL="3657600" lvl="7"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8pPr>
      <a:lvl9pPr marL="4114800" lvl="8" indent="-355600">
        <a:spcBef>
          <a:spcPts val="0"/>
        </a:spcBef>
        <a:spcAft>
          <a:spcPts val="0"/>
        </a:spcAft>
        <a:buClr>
          <a:srgbClr val="303437"/>
        </a:buClr>
        <a:buSzPct val="66500"/>
        <a:buFont typeface="Noto Sans CJK JP"/>
        <a:buChar char="○"/>
        <a:defRPr sz="2000" lang="ja-JP">
          <a:solidFill>
            <a:srgbClr val="303437"/>
          </a:solidFill>
          <a:latin typeface="Noto Sans"/>
          <a:ea typeface="Noto Sans CJK JP"/>
          <a:cs typeface="Noto Sans"/>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1pPr>
      <a:lvl2pPr marR="0" lvl="1"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2pPr>
      <a:lvl3pPr marR="0" lvl="2"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3pPr>
      <a:lvl4pPr marR="0" lvl="3"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4pPr>
      <a:lvl5pPr marR="0" lvl="4"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5pPr>
      <a:lvl6pPr marR="0" lvl="5"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6pPr>
      <a:lvl7pPr marR="0" lvl="6"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7pPr>
      <a:lvl8pPr marR="0" lvl="7"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8pPr>
      <a:lvl9pPr marR="0" lvl="8" algn="l" rtl="0">
        <a:lnSpc>
          <a:spcPct val="100000"/>
        </a:lnSpc>
        <a:spcBef>
          <a:spcPts val="0"/>
        </a:spcBef>
        <a:spcAft>
          <a:spcPts val="0"/>
        </a:spcAft>
        <a:buClr>
          <a:schemeClr val="dk1"/>
        </a:buClr>
        <a:buFont typeface="Noto Sans CJK JP"/>
        <a:defRPr sz="1400" b="0" i="0" u="none" strike="noStrike" cap="none" lang="ja-JP">
          <a:solidFill>
            <a:schemeClr val="dk1"/>
          </a:solidFill>
          <a:latin typeface="Noto Sans"/>
          <a:ea typeface="Noto Sans CJK JP"/>
          <a:cs typeface="Noto Sans"/>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1.png"/><Relationship Id="rId3" Type="http://schemas.openxmlformats.org/officeDocument/2006/relationships/hyperlink" Target="https://longbench2.github.io/"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412.15204"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huggingface.co/datasets/THUDM/LongBench-v2"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THUDM/LongBench-v2"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THUDM/LongBench-v2"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THUDM/LongBench-v2"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THUDM/LongBench-v2"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THUDM/LongBench-v2"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THUDM/LongBench-v2"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THUDM/LongBench-v2"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THUDM/LongBench-v2"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THUDM/LongBench-v2"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THUDM/LongBench-v2"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THUDM/LongBench-v2"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THUDM/LongBench-v2"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412.15204"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412.15204"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THUDM/LongBench-v2"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412.15204"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412.15204"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412.15204"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THUDM/LongBench"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412.15204"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412.15204"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longbench2.github.io/"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huggingface.co/Qwen/Qwen3.5-397B-A17B"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github.com/THUDM/LongBench"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412.15204" TargetMode="External"/><Relationship Id="rId3" Type="http://schemas.openxmlformats.org/officeDocument/2006/relationships/hyperlink" Target="https://aclanthology.org/2024.acl-long.172/"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huggingface.co/datasets/THUDM/LongBench-v2"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THUDM/LongBench"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https://arxiv.org/abs/2412.15204"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THUDM/LongBench-v2"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THUDM/LongBench-v2"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THUDM/LongBench-v2" TargetMode="Externa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THUDM/LongBench-v2"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THUDM/LongBench-v2"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THUDM/LongBench-v2"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THUDM/LongBench-v2"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THUDM/LongBench-v2" TargetMode="Externa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THUDM/LongBench-v2"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THUDM/LongBench-v2"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THUDM/LongBench-v2"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THUDM/LongBench-v2"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THUDM/LongBench-v2" TargetMode="Externa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THUDM/LongBench-v2"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THUDM/LongBench-v2" TargetMode="Externa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THUDM/LongBench-v2" TargetMode="Externa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THUDM/LongBench-v2" TargetMode="Externa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THUDM/LongBench-v2" TargetMode="Externa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THUDM/LongBench-v2" TargetMode="Externa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THUDM/LongBench-v2" TargetMode="Externa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THUDM/LongBench-v2" TargetMode="Externa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THUDM/LongBench-v2" TargetMode="Externa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THUDM/LongBench-v2" TargetMode="Externa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THUDM/LongBench-v2" TargetMode="Externa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THUDM/LongBench-v2" TargetMode="Externa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THUDM/LongBench-v2" TargetMode="Externa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THUDM/LongBench-v2" TargetMode="Externa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THUDM/LongBench-v2" TargetMode="Externa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THUDM/LongBench-v2" TargetMode="Externa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THUDM/LongBench-v2" TargetMode="Externa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THUDM/LongBench-v2" TargetMode="Externa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THUDM/LongBench-v2" TargetMode="Externa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THUDM/LongBench-v2" TargetMode="Externa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THUDM/LongBench-v2" TargetMode="Externa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THUDM/LongBench-v2" TargetMode="Externa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THUDM/LongBench-v2" TargetMode="Externa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THUDM/LongBench-v2" TargetMode="Externa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THUDM/LongBench-v2" TargetMode="Externa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THUDM/LongBench-v2" TargetMode="Externa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THUDM/LongBench-v2" TargetMode="Externa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THUDM/LongBench-v2" TargetMode="Externa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THUDM/LongBench-v2" TargetMode="Externa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THUDM/LongBench-v2" TargetMode="Externa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THUDM/LongBench-v2" TargetMode="Externa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THUDM/LongBench-v2" TargetMode="Externa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THUDM/LongBench-v2" TargetMode="Externa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THUDM/LongBench-v2" TargetMode="Externa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THUDM/LongBench-v2" TargetMode="Externa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THUDM/LongBench-v2" TargetMode="Externa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412.15204" TargetMode="Externa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412.15204" TargetMode="Externa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412.15204" TargetMode="Externa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arxiv.org/abs/2412.15204" TargetMode="External"/><Relationship Id="rId3" Type="http://schemas.openxmlformats.org/officeDocument/2006/relationships/hyperlink" Target="https://aclanthology.org/2024.acl-long.172/" TargetMode="Externa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longbench2.github.io/" TargetMode="External"/><Relationship Id="rId3" Type="http://schemas.openxmlformats.org/officeDocument/2006/relationships/hyperlink" Target="https://github.com/THUDM/LongBench" TargetMode="Externa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huggingface.co/datasets/THUDM/LongBench-v2" TargetMode="External"/><Relationship Id="rId3" Type="http://schemas.openxmlformats.org/officeDocument/2006/relationships/hyperlink" Target="https://huggingface.co/Qwen/Qwen3.5-397B-A17B"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a:xfrm>
            <a:off x="548640" y="1888452"/>
            <a:ext cx="8046720" cy="938950"/>
          </a:xfrm>
        </p:spPr>
        <p:txBody>
          <a:bodyPr wrap="square" lIns="0" rIns="0" tIns="0" bIns="35980">
            <a:noAutofit/>
          </a:bodyPr>
          <a:lstStyle/>
          <a:p>
            <a:pPr algn="ctr">
              <a:lnSpc>
                <a:spcPct val="110000"/>
              </a:lnSpc>
              <a:buNone/>
              <a:defRPr sz="5400" b="0">
                <a:solidFill>
                  <a:srgbClr val="303437"/>
                </a:solidFill>
                <a:latin typeface="Noto Sans"/>
              </a:defRPr>
            </a:pPr>
            <a:r>
              <a:rPr sz="5400" b="1" lang="ja-JP" altLang="en-US">
                <a:solidFill>
                  <a:srgbClr val="303437"/>
                </a:solidFill>
                <a:latin typeface="Noto Sans"/>
                <a:ea typeface="Noto Sans CJK JP"/>
                <a:cs typeface="Noto Sans"/>
              </a:rPr>
              <a:t>LongBench v2</a:t>
            </a:r>
          </a:p>
        </p:txBody>
      </p:sp>
      <p:sp>
        <p:nvSpPr>
          <p:cNvPr id="3" name="Subtitle 2"/>
          <p:cNvSpPr>
            <a:spLocks noGrp="1"/>
          </p:cNvSpPr>
          <p:nvPr>
            <p:ph type="subTitle" idx="1"/>
          </p:nvPr>
        </p:nvSpPr>
        <p:spPr>
          <a:xfrm>
            <a:off x="548640" y="2898102"/>
            <a:ext cx="8046720" cy="488315"/>
          </a:xfrm>
        </p:spPr>
        <p:txBody>
          <a:bodyPr lIns="0" rIns="0" tIns="0" bIns="0">
            <a:noAutofit/>
          </a:bodyPr>
          <a:lstStyle/>
          <a:p>
            <a:pPr algn="ctr">
              <a:lnSpc>
                <a:spcPct val="125000"/>
              </a:lnSpc>
              <a:spcAft>
                <a:spcPts val="0"/>
              </a:spcAft>
              <a:buNone/>
              <a:defRPr sz="2500" b="0">
                <a:solidFill>
                  <a:srgbClr val="303437"/>
                </a:solidFill>
                <a:latin typeface="Noto Sans"/>
              </a:defRPr>
            </a:pPr>
            <a:r>
              <a:rPr sz="2500" b="0" lang="ja-JP" altLang="en-US">
                <a:solidFill>
                  <a:srgbClr val="303437"/>
                </a:solidFill>
                <a:latin typeface="Noto Sans"/>
                <a:ea typeface="Noto Sans CJK JP"/>
                <a:cs typeface="Noto Sans"/>
              </a:rPr>
              <a:t>長い本文の理解と推論を四択問題で評価する</a:t>
            </a:r>
          </a:p>
        </p:txBody>
      </p:sp>
      <p:sp>
        <p:nvSpPr>
          <p:cNvPr id="5" name="Text Placeholder 4"/>
          <p:cNvSpPr>
            <a:spLocks noGrp="1"/>
          </p:cNvSpPr>
          <p:nvPr>
            <p:ph type="body" idx="11"/>
          </p:nvPr>
        </p:nvSpPr>
        <p:spPr>
          <a:xfrm>
            <a:off x="5486400" y="4416552"/>
            <a:ext cx="3108960" cy="402336"/>
          </a:xfrm>
        </p:spPr>
        <p:txBody>
          <a:bodyPr wrap="square" lIns="0" rIns="0" tIns="0" bIns="0">
            <a:noAutofit/>
          </a:bodyPr>
          <a:lstStyle/>
          <a:p>
            <a:pPr algn="r">
              <a:lnSpc>
                <a:spcPct val="110000"/>
              </a:lnSpc>
              <a:buNone/>
              <a:defRPr sz="2000" b="0">
                <a:solidFill>
                  <a:srgbClr val="303437"/>
                </a:solidFill>
                <a:latin typeface="Noto Sans"/>
              </a:defRPr>
            </a:pPr>
            <a:r>
              <a:rPr sz="2000" b="0" lang="ja-JP" altLang="en-US">
                <a:solidFill>
                  <a:srgbClr val="303437"/>
                </a:solidFill>
                <a:latin typeface="Noto Sans"/>
                <a:ea typeface="Noto Sans CJK JP"/>
                <a:cs typeface="Noto Sans"/>
              </a:rPr>
              <a:t>sasakiy84</a:t>
            </a:r>
          </a:p>
        </p:txBody>
      </p:sp>
      <p:sp>
        <p:nvSpPr>
          <p:cNvPr id="6" name="Text Placeholder 5"/>
          <p:cNvSpPr>
            <a:spLocks noGrp="1"/>
          </p:cNvSpPr>
          <p:nvPr>
            <p:ph type="body" idx="12"/>
          </p:nvPr>
        </p:nvSpPr>
        <p:spPr>
          <a:xfrm>
            <a:off x="457200" y="274320"/>
            <a:ext cx="8229600" cy="274320"/>
          </a:xfrm>
        </p:spPr>
        <p:txBody>
          <a:bodyPr wrap="square" lIns="0" rIns="0" tIns="0" bIns="0">
            <a:noAutofit/>
          </a:bodyPr>
          <a:lstStyle/>
          <a:p>
            <a:pPr algn="l">
              <a:lnSpc>
                <a:spcPct val="110000"/>
              </a:lnSpc>
              <a:buNone/>
              <a:defRPr sz="1400" b="0">
                <a:solidFill>
                  <a:srgbClr val="303437"/>
                </a:solidFill>
                <a:latin typeface="Noto Sans"/>
              </a:defRPr>
            </a:pPr>
            <a:r>
              <a:rPr sz="1400" b="0" lang="ja-JP" altLang="en-US">
                <a:solidFill>
                  <a:srgbClr val="626669"/>
                </a:solidFill>
                <a:latin typeface="Noto Sans"/>
                <a:ea typeface="Noto Sans CJK JP"/>
                <a:cs typeface="Noto Sans"/>
              </a:rPr>
              <a:t>datasets in 10 minutes (2026-10-26)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1663901"/>
            <a:ext cx="7863840" cy="2362199"/>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長い本文を使う課題と実例</a:t>
            </a:r>
          </a:p>
          <a:p>
            <a:pPr marL="457200" indent="-457200">
              <a:lnSpc>
                <a:spcPts val="3660"/>
              </a:lnSpc>
              <a:spcAft>
                <a:spcPts val="12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構築方法とデータの構成</a:t>
            </a:r>
          </a:p>
          <a:p>
            <a:pPr marL="457200" indent="-457200">
              <a:lnSpc>
                <a:spcPts val="3660"/>
              </a:lnSpc>
              <a:spcAft>
                <a:spcPts val="1200"/>
              </a:spcAft>
              <a:buSzPct val="100000"/>
              <a:buFont typeface="Noto Sans CJK JP"/>
              <a:buAutoNum type="arabicPeriod" startAt="3"/>
              <a:defRPr sz="3000" b="1">
                <a:solidFill>
                  <a:srgbClr val="303437"/>
                </a:solidFill>
                <a:latin typeface="Noto Sans"/>
              </a:defRPr>
            </a:pPr>
            <a:r>
              <a:rPr sz="3000" b="1" lang="ja-JP" altLang="en-US">
                <a:solidFill>
                  <a:srgbClr val="303437"/>
                </a:solidFill>
                <a:latin typeface="Noto Sans"/>
                <a:ea typeface="Noto Sans CJK JP"/>
                <a:cs typeface="Noto Sans"/>
              </a:rPr>
              <a:t>採点方法とモデルの成績</a:t>
            </a:r>
          </a:p>
          <a:p>
            <a:pPr marL="457200" indent="-457200">
              <a:lnSpc>
                <a:spcPts val="3660"/>
              </a:lnSpc>
              <a:spcAft>
                <a:spcPts val="0"/>
              </a:spcAft>
              <a:buSzPct val="100000"/>
              <a:buFont typeface="Noto Sans CJK JP"/>
              <a:buAutoNum type="arabicPeriod" startAt="4"/>
              <a:defRPr sz="3000" b="1">
                <a:solidFill>
                  <a:srgbClr val="303437"/>
                </a:solidFill>
                <a:latin typeface="Noto Sans"/>
              </a:defRPr>
            </a:pPr>
            <a:r>
              <a:rPr sz="3000" b="1" lang="ja-JP" altLang="en-US">
                <a:solidFill>
                  <a:srgbClr val="303437"/>
                </a:solidFill>
                <a:latin typeface="Noto Sans"/>
                <a:ea typeface="Noto Sans CJK JP"/>
                <a:cs typeface="Noto Sans"/>
              </a:rPr>
              <a:t>長文理解の評価での利用と入手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目次</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LongBench v2の公式サイト</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概要</a:t>
            </a:r>
          </a:p>
        </p:txBody>
      </p:sp>
      <p:pic>
        <p:nvPicPr>
          <p:cNvPr id="4" name="Picture 3" descr="official-site.png"/>
          <p:cNvPicPr>
            <a:picLocks noChangeAspect="1"/>
          </p:cNvPicPr>
          <p:nvPr/>
        </p:nvPicPr>
        <p:blipFill>
          <a:blip r:embed="rId2"/>
          <a:stretch>
            <a:fillRect/>
          </a:stretch>
        </p:blipFill>
        <p:spPr>
          <a:xfrm>
            <a:off x="2280879" y="1353312"/>
            <a:ext cx="4582241" cy="3182112"/>
          </a:xfrm>
          <a:prstGeom prst="rect">
            <a:avLst/>
          </a:prstGeom>
        </p:spPr>
      </p:pic>
      <p:sp>
        <p:nvSpPr>
          <p:cNvPr id="5" name="source-1"/>
          <p:cNvSpPr txBox="1"/>
          <p:nvPr/>
        </p:nvSpPr>
        <p:spPr>
          <a:xfrm>
            <a:off x="502920" y="4686633"/>
            <a:ext cx="8183879" cy="214551"/>
          </a:xfrm>
          <a:prstGeom prst="rect">
            <a:avLst/>
          </a:prstGeom>
          <a:noFill/>
        </p:spPr>
        <p:txBody>
          <a:bodyPr wrap="square" lIns="0" rIns="0" tIns="31671"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LongBench Team (2026-10-26参照), LongBench v2. </a:t>
            </a:r>
            <a:r>
              <a:rPr sz="800" b="0" lang="ja-JP" altLang="en-US">
                <a:solidFill>
                  <a:srgbClr val="626669"/>
                </a:solidFill>
                <a:latin typeface="Noto Sans"/>
                <a:ea typeface="Noto Sans CJK JP"/>
                <a:cs typeface="Noto Sans"/>
                <a:hlinkClick r:id="rId3"/>
              </a:rPr>
              <a:t>https://longbench2.github.io/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479443"/>
            <a:ext cx="8046720" cy="640080"/>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1. 長い本文を使う課題と実例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長い本文を使う課題と実例</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長い入力から、根拠を結び付けて答える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LongBench v2は、長い文書や会話、コードなどを読み、四つの選択肢から答える評価データセット。2024年12月に公開された。</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503問はすべて英語。本文は論文で約8千〜200万語と報告され、複数箇所の関係や、本文で学んだ規則の適用を問う。</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長い本文を使う課題と実例</a:t>
            </a:r>
          </a:p>
        </p:txBody>
      </p:sp>
      <p:sp>
        <p:nvSpPr>
          <p:cNvPr id="5" name="source-1"/>
          <p:cNvSpPr txBox="1"/>
          <p:nvPr/>
        </p:nvSpPr>
        <p:spPr>
          <a:xfrm>
            <a:off x="502920" y="4694755"/>
            <a:ext cx="8183879" cy="206429"/>
          </a:xfrm>
          <a:prstGeom prst="rect">
            <a:avLst/>
          </a:prstGeom>
          <a:noFill/>
        </p:spPr>
        <p:txBody>
          <a:bodyPr wrap="square" lIns="0" rIns="0" tIns="23549"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Bai et al. (2024), LongBench v2. </a:t>
            </a:r>
            <a:r>
              <a:rPr sz="800" b="0" lang="ja-JP" altLang="en-US">
                <a:solidFill>
                  <a:srgbClr val="626669"/>
                </a:solidFill>
                <a:latin typeface="Noto Sans"/>
                <a:ea typeface="Noto Sans CJK JP"/>
                <a:cs typeface="Noto Sans"/>
                <a:hlinkClick r:id="rId2"/>
              </a:rPr>
              <a:t>https://arxiv.org/abs/2412.15204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入力は長い本文と設問、出力は一つの記号</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モデルには本文、設問、四つの選択肢を与える。参照正解はA〜Dの一文字で、説明文の似かよい方ではなく、選んだ記号で採点する。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以下は公開503問から選んだ実例。設問と選択肢は全文を載せ、長い入力本文は答えの根拠が読める範囲を抜粋する。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長い本文を使う課題と実例</a:t>
            </a:r>
          </a:p>
        </p:txBody>
      </p:sp>
      <p:sp>
        <p:nvSpPr>
          <p:cNvPr id="5" name="source-1"/>
          <p:cNvSpPr txBox="1"/>
          <p:nvPr/>
        </p:nvSpPr>
        <p:spPr>
          <a:xfrm>
            <a:off x="502920" y="4686633"/>
            <a:ext cx="8183879" cy="214551"/>
          </a:xfrm>
          <a:prstGeom prst="rect">
            <a:avLst/>
          </a:prstGeom>
          <a:noFill/>
        </p:spPr>
        <p:txBody>
          <a:bodyPr wrap="square" lIns="0" rIns="0" tIns="31671"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LongBench Team (2026-10-26参照), LongBench v2. </a:t>
            </a:r>
            <a:r>
              <a:rPr sz="800" b="0" lang="ja-JP" altLang="en-US">
                <a:solidFill>
                  <a:srgbClr val="626669"/>
                </a:solidFill>
                <a:latin typeface="Noto Sans"/>
                <a:ea typeface="Noto Sans CJK JP"/>
                <a:cs typeface="Noto Sans"/>
                <a:hlinkClick r:id="rId2"/>
              </a:rPr>
              <a:t>https://huggingface.co/datasets/THUDM/LongBench-v2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 コードから保存先を決める：設問の原文</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長い本文を使う課題と実例</a:t>
            </a:r>
          </a:p>
        </p:txBody>
      </p:sp>
      <p:sp>
        <p:nvSpPr>
          <p:cNvPr id="4" name="TextBox 3"/>
          <p:cNvSpPr txBox="1"/>
          <p:nvPr/>
        </p:nvSpPr>
        <p:spPr>
          <a:xfrm>
            <a:off x="548640" y="1280160"/>
            <a:ext cx="804672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設問と四つの選択肢（全文）</a:t>
            </a:r>
          </a:p>
        </p:txBody>
      </p:sp>
      <p:sp>
        <p:nvSpPr>
          <p:cNvPr id="5" name="quote-frame"/>
          <p:cNvSpPr/>
          <p:nvPr/>
        </p:nvSpPr>
        <p:spPr>
          <a:xfrm>
            <a:off x="548640" y="1508760"/>
            <a:ext cx="8046720" cy="3105912"/>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88900" bIns="114300">
            <a:noAutofit/>
          </a:bodyPr>
          <a:lstStyle/>
          <a:p>
            <a:pPr algn="l" marL="0" indent="0">
              <a:lnSpc>
                <a:spcPts val="1888"/>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In this cloud storage system, the scheduler is a crucial component responsible for allocating file blocks to the appropriate slave servers. There are three Raspberry Pi devices acting as slave servers, named pi1, pi2, and pi3, with remaining storage capacities of 800 bytes, 700 bytes, and 500 bytes, respectively. A file has been divided into 9 blocks, each of 100 bytes, and two copies (including the original) need to be stored. Based on the scheduler’s allocation strategy, analyze how the two copies are distributed across the three Raspberry Pi devices:
A: Copy 1: pi3(500), pi2(400). Copy 2: pi2(300), pi1(600)
B: Copy 1: pi1(400), pi2(400), pi3(100). Copy 2: pi3(400), pi2(300), pi1(200)
C: Copy 1: pi1(400), pi2(200), pi3(300). Copy 2: pi1(400), pi1(500)
D: Copy 1: pi1(800), pi2(100). Copy 2: pi2(600), pi3(300)</a:t>
            </a:r>
          </a:p>
        </p:txBody>
      </p:sp>
      <p:sp>
        <p:nvSpPr>
          <p:cNvPr id="6" name="source-1"/>
          <p:cNvSpPr txBox="1"/>
          <p:nvPr/>
        </p:nvSpPr>
        <p:spPr>
          <a:xfrm>
            <a:off x="502920" y="4686633"/>
            <a:ext cx="8183879" cy="214551"/>
          </a:xfrm>
          <a:prstGeom prst="rect">
            <a:avLst/>
          </a:prstGeom>
          <a:noFill/>
        </p:spPr>
        <p:txBody>
          <a:bodyPr wrap="square" lIns="0" rIns="0" tIns="31671"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LongBench Team (2026-10-26参照), LongBench v2. </a:t>
            </a:r>
            <a:r>
              <a:rPr sz="800" b="0" lang="ja-JP" altLang="en-US">
                <a:solidFill>
                  <a:srgbClr val="626669"/>
                </a:solidFill>
                <a:latin typeface="Noto Sans"/>
                <a:ea typeface="Noto Sans CJK JP"/>
                <a:cs typeface="Noto Sans"/>
                <a:hlinkClick r:id="rId2"/>
              </a:rPr>
              <a:t>https://huggingface.co/datasets/THUDM/LongBench-v2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 コードから保存先を決める：本文の抜粋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長い本文を使う課題と実例</a:t>
            </a:r>
          </a:p>
        </p:txBody>
      </p:sp>
      <p:sp>
        <p:nvSpPr>
          <p:cNvPr id="4" name="TextBox 3"/>
          <p:cNvSpPr txBox="1"/>
          <p:nvPr/>
        </p:nvSpPr>
        <p:spPr>
          <a:xfrm>
            <a:off x="548640" y="1316736"/>
            <a:ext cx="8046720" cy="210312"/>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空き容量順にブロックを割り当てる原文コード（抜粋）</a:t>
            </a:r>
          </a:p>
        </p:txBody>
      </p:sp>
      <p:sp>
        <p:nvSpPr>
          <p:cNvPr id="5" name="code-frame"/>
          <p:cNvSpPr/>
          <p:nvPr/>
        </p:nvSpPr>
        <p:spPr>
          <a:xfrm>
            <a:off x="548640" y="1581912"/>
            <a:ext cx="8046720" cy="2764155"/>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88900" bIns="114300">
            <a:noAutofit/>
          </a:bodyPr>
          <a:lstStyle/>
          <a:p>
            <a:pPr algn="l" marL="0" indent="0">
              <a:lnSpc>
                <a:spcPts val="1815"/>
              </a:lnSpc>
              <a:spcBef>
                <a:spcPts val="0"/>
              </a:spcBef>
              <a:spcAft>
                <a:spcPts val="0"/>
              </a:spcAft>
              <a:buNone/>
              <a:defRPr sz="1650" b="0">
                <a:solidFill>
                  <a:srgbClr val="303437"/>
                </a:solidFill>
                <a:latin typeface="Noto Sans"/>
              </a:defRPr>
            </a:pPr>
            <a:r>
              <a:rPr sz="1650" b="0" lang="ja-JP" altLang="en-US">
                <a:solidFill>
                  <a:srgbClr val="303437"/>
                </a:solidFill>
                <a:latin typeface="Liberation Mono"/>
                <a:ea typeface="Noto Sans CJK JP"/>
                <a:cs typeface="Liberation Mono"/>
              </a:rPr>
              <a:t>n_empty_chunks.sort(key = lambda x: x[1], reverse = True)</a:t>
            </a:r>
          </a:p>
          <a:p>
            <a:pPr algn="l" marL="0" indent="0">
              <a:lnSpc>
                <a:spcPts val="1815"/>
              </a:lnSpc>
              <a:spcBef>
                <a:spcPts val="0"/>
              </a:spcBef>
              <a:spcAft>
                <a:spcPts val="0"/>
              </a:spcAft>
              <a:buNone/>
              <a:defRPr sz="1650" b="0">
                <a:solidFill>
                  <a:srgbClr val="303437"/>
                </a:solidFill>
                <a:latin typeface="Noto Sans"/>
              </a:defRPr>
            </a:pPr>
            <a:r>
              <a:rPr sz="1650" b="0" lang="ja-JP" altLang="en-US">
                <a:solidFill>
                  <a:srgbClr val="303437"/>
                </a:solidFill>
                <a:latin typeface="Liberation Mono"/>
                <a:ea typeface="Noto Sans CJK JP"/>
                <a:cs typeface="Liberation Mono"/>
              </a:rPr>
              <a:t>exclude_pi_names.add(n_empty_chunks[0][0])</a:t>
            </a:r>
          </a:p>
          <a:p>
            <a:pPr algn="l" marL="0" indent="0">
              <a:lnSpc>
                <a:spcPts val="1815"/>
              </a:lnSpc>
              <a:spcBef>
                <a:spcPts val="0"/>
              </a:spcBef>
              <a:spcAft>
                <a:spcPts val="0"/>
              </a:spcAft>
              <a:buNone/>
              <a:defRPr sz="1650" b="0">
                <a:solidFill>
                  <a:srgbClr val="303437"/>
                </a:solidFill>
                <a:latin typeface="Noto Sans"/>
              </a:defRPr>
            </a:pPr>
            <a:r>
              <a:rPr sz="1650" b="0" lang="ja-JP" altLang="en-US">
                <a:solidFill>
                  <a:srgbClr val="303437"/>
                </a:solidFill>
                <a:latin typeface="Liberation Mono"/>
                <a:ea typeface="Noto Sans CJK JP"/>
                <a:cs typeface="Liberation Mono"/>
              </a:rPr>
              <a:t>[...]</a:t>
            </a:r>
          </a:p>
          <a:p>
            <a:pPr algn="l" marL="0" indent="0">
              <a:lnSpc>
                <a:spcPts val="1815"/>
              </a:lnSpc>
              <a:spcBef>
                <a:spcPts val="0"/>
              </a:spcBef>
              <a:spcAft>
                <a:spcPts val="0"/>
              </a:spcAft>
              <a:buNone/>
              <a:defRPr sz="1650" b="0">
                <a:solidFill>
                  <a:srgbClr val="303437"/>
                </a:solidFill>
                <a:latin typeface="Noto Sans"/>
              </a:defRPr>
            </a:pPr>
            <a:r>
              <a:rPr sz="1650" b="0" lang="ja-JP" altLang="en-US">
                <a:solidFill>
                  <a:srgbClr val="303437"/>
                </a:solidFill>
                <a:latin typeface="Liberation Mono"/>
                <a:ea typeface="Noto Sans CJK JP"/>
                <a:cs typeface="Liberation Mono"/>
              </a:rPr>
              <a:t>for pi_name, n_empty_chunk in n_empty_chunks:</a:t>
            </a:r>
          </a:p>
          <a:p>
            <a:pPr algn="l" marL="0" indent="0">
              <a:lnSpc>
                <a:spcPts val="1815"/>
              </a:lnSpc>
              <a:spcBef>
                <a:spcPts val="0"/>
              </a:spcBef>
              <a:spcAft>
                <a:spcPts val="0"/>
              </a:spcAft>
              <a:buNone/>
              <a:defRPr sz="1650" b="0">
                <a:solidFill>
                  <a:srgbClr val="303437"/>
                </a:solidFill>
                <a:latin typeface="Noto Sans"/>
              </a:defRPr>
            </a:pPr>
            <a:r>
              <a:rPr sz="1650" b="0" lang="ja-JP" altLang="en-US">
                <a:solidFill>
                  <a:srgbClr val="303437"/>
                </a:solidFill>
                <a:latin typeface="Liberation Mono"/>
                <a:ea typeface="Noto Sans CJK JP"/>
                <a:cs typeface="Liberation Mono"/>
              </a:rPr>
              <a:t>    if cnt_allocated + n_empty_chunk &gt;= n_chunks:</a:t>
            </a:r>
          </a:p>
          <a:p>
            <a:pPr algn="l" marL="0" indent="0">
              <a:lnSpc>
                <a:spcPts val="1815"/>
              </a:lnSpc>
              <a:spcBef>
                <a:spcPts val="0"/>
              </a:spcBef>
              <a:spcAft>
                <a:spcPts val="0"/>
              </a:spcAft>
              <a:buNone/>
              <a:defRPr sz="1650" b="0">
                <a:solidFill>
                  <a:srgbClr val="303437"/>
                </a:solidFill>
                <a:latin typeface="Noto Sans"/>
              </a:defRPr>
            </a:pPr>
            <a:r>
              <a:rPr sz="1650" b="0" lang="ja-JP" altLang="en-US">
                <a:solidFill>
                  <a:srgbClr val="303437"/>
                </a:solidFill>
                <a:latin typeface="Liberation Mono"/>
                <a:ea typeface="Noto Sans CJK JP"/>
                <a:cs typeface="Liberation Mono"/>
              </a:rPr>
              <a:t>        pi_list.append((pi_name, n_chunks - cnt_allocated))</a:t>
            </a:r>
          </a:p>
          <a:p>
            <a:pPr algn="l" marL="0" indent="0">
              <a:lnSpc>
                <a:spcPts val="1815"/>
              </a:lnSpc>
              <a:spcBef>
                <a:spcPts val="0"/>
              </a:spcBef>
              <a:spcAft>
                <a:spcPts val="0"/>
              </a:spcAft>
              <a:buNone/>
              <a:defRPr sz="1650" b="0">
                <a:solidFill>
                  <a:srgbClr val="303437"/>
                </a:solidFill>
                <a:latin typeface="Noto Sans"/>
              </a:defRPr>
            </a:pPr>
            <a:r>
              <a:rPr sz="1650" b="0" lang="ja-JP" altLang="en-US">
                <a:solidFill>
                  <a:srgbClr val="303437"/>
                </a:solidFill>
                <a:latin typeface="Liberation Mono"/>
                <a:ea typeface="Noto Sans CJK JP"/>
                <a:cs typeface="Liberation Mono"/>
              </a:rPr>
              <a:t>        cnt_allocated = n_chunks</a:t>
            </a:r>
          </a:p>
          <a:p>
            <a:pPr algn="l" marL="0" indent="0">
              <a:lnSpc>
                <a:spcPts val="1815"/>
              </a:lnSpc>
              <a:spcBef>
                <a:spcPts val="0"/>
              </a:spcBef>
              <a:spcAft>
                <a:spcPts val="0"/>
              </a:spcAft>
              <a:buNone/>
              <a:defRPr sz="1650" b="0">
                <a:solidFill>
                  <a:srgbClr val="303437"/>
                </a:solidFill>
                <a:latin typeface="Noto Sans"/>
              </a:defRPr>
            </a:pPr>
            <a:r>
              <a:rPr sz="1650" b="0" lang="ja-JP" altLang="en-US">
                <a:solidFill>
                  <a:srgbClr val="303437"/>
                </a:solidFill>
                <a:latin typeface="Liberation Mono"/>
                <a:ea typeface="Noto Sans CJK JP"/>
                <a:cs typeface="Liberation Mono"/>
              </a:rPr>
              <a:t>        break</a:t>
            </a:r>
          </a:p>
          <a:p>
            <a:pPr algn="l" marL="0" indent="0">
              <a:lnSpc>
                <a:spcPts val="1815"/>
              </a:lnSpc>
              <a:spcBef>
                <a:spcPts val="0"/>
              </a:spcBef>
              <a:spcAft>
                <a:spcPts val="0"/>
              </a:spcAft>
              <a:buNone/>
              <a:defRPr sz="1650" b="0">
                <a:solidFill>
                  <a:srgbClr val="303437"/>
                </a:solidFill>
                <a:latin typeface="Noto Sans"/>
              </a:defRPr>
            </a:pPr>
            <a:r>
              <a:rPr sz="1650" b="0" lang="ja-JP" altLang="en-US">
                <a:solidFill>
                  <a:srgbClr val="303437"/>
                </a:solidFill>
                <a:latin typeface="Liberation Mono"/>
                <a:ea typeface="Noto Sans CJK JP"/>
                <a:cs typeface="Liberation Mono"/>
              </a:rPr>
              <a:t>    else:</a:t>
            </a:r>
          </a:p>
          <a:p>
            <a:pPr algn="l" marL="0" indent="0">
              <a:lnSpc>
                <a:spcPts val="1815"/>
              </a:lnSpc>
              <a:spcBef>
                <a:spcPts val="0"/>
              </a:spcBef>
              <a:spcAft>
                <a:spcPts val="0"/>
              </a:spcAft>
              <a:buNone/>
              <a:defRPr sz="1650" b="0">
                <a:solidFill>
                  <a:srgbClr val="303437"/>
                </a:solidFill>
                <a:latin typeface="Noto Sans"/>
              </a:defRPr>
            </a:pPr>
            <a:r>
              <a:rPr sz="1650" b="0" lang="ja-JP" altLang="en-US">
                <a:solidFill>
                  <a:srgbClr val="303437"/>
                </a:solidFill>
                <a:latin typeface="Liberation Mono"/>
                <a:ea typeface="Noto Sans CJK JP"/>
                <a:cs typeface="Liberation Mono"/>
              </a:rPr>
              <a:t>        pi_list.append((pi_name, n_empty_chunk))</a:t>
            </a:r>
          </a:p>
          <a:p>
            <a:pPr algn="l" marL="0" indent="0">
              <a:lnSpc>
                <a:spcPts val="1815"/>
              </a:lnSpc>
              <a:spcBef>
                <a:spcPts val="0"/>
              </a:spcBef>
              <a:spcAft>
                <a:spcPts val="0"/>
              </a:spcAft>
              <a:buNone/>
              <a:defRPr sz="1650" b="0">
                <a:solidFill>
                  <a:srgbClr val="303437"/>
                </a:solidFill>
                <a:latin typeface="Noto Sans"/>
              </a:defRPr>
            </a:pPr>
            <a:r>
              <a:rPr sz="1650" b="0" lang="ja-JP" altLang="en-US">
                <a:solidFill>
                  <a:srgbClr val="303437"/>
                </a:solidFill>
                <a:latin typeface="Liberation Mono"/>
                <a:ea typeface="Noto Sans CJK JP"/>
                <a:cs typeface="Liberation Mono"/>
              </a:rPr>
              <a:t>        cnt_allocated += n_empty_chunk</a:t>
            </a:r>
          </a:p>
        </p:txBody>
      </p:sp>
      <p:sp>
        <p:nvSpPr>
          <p:cNvPr id="6" name="source-1"/>
          <p:cNvSpPr txBox="1"/>
          <p:nvPr/>
        </p:nvSpPr>
        <p:spPr>
          <a:xfrm>
            <a:off x="502920" y="4686633"/>
            <a:ext cx="8183879" cy="214551"/>
          </a:xfrm>
          <a:prstGeom prst="rect">
            <a:avLst/>
          </a:prstGeom>
          <a:noFill/>
        </p:spPr>
        <p:txBody>
          <a:bodyPr wrap="square" lIns="0" rIns="0" tIns="31671"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LongBench Team (2026-10-26参照), LongBench v2. </a:t>
            </a:r>
            <a:r>
              <a:rPr sz="800" b="0" lang="ja-JP" altLang="en-US">
                <a:solidFill>
                  <a:srgbClr val="626669"/>
                </a:solidFill>
                <a:latin typeface="Noto Sans"/>
                <a:ea typeface="Noto Sans CJK JP"/>
                <a:cs typeface="Noto Sans"/>
                <a:hlinkClick r:id="rId2"/>
              </a:rPr>
              <a:t>https://huggingface.co/datasets/THUDM/LongBench-v2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 コードから保存先を決める：本文の抜粋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長い本文を使う課題と実例</a:t>
            </a:r>
          </a:p>
        </p:txBody>
      </p:sp>
      <p:sp>
        <p:nvSpPr>
          <p:cNvPr id="4" name="TextBox 3"/>
          <p:cNvSpPr txBox="1"/>
          <p:nvPr/>
        </p:nvSpPr>
        <p:spPr>
          <a:xfrm>
            <a:off x="548640" y="1316736"/>
            <a:ext cx="8046720" cy="210312"/>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候補を選び直す原文コード（抜粋・改行整形）</a:t>
            </a:r>
          </a:p>
        </p:txBody>
      </p:sp>
      <p:sp>
        <p:nvSpPr>
          <p:cNvPr id="5" name="code-frame"/>
          <p:cNvSpPr/>
          <p:nvPr/>
        </p:nvSpPr>
        <p:spPr>
          <a:xfrm>
            <a:off x="548640" y="1581912"/>
            <a:ext cx="8046720" cy="207264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88900" bIns="114300">
            <a:noAutofit/>
          </a:bodyPr>
          <a:lstStyle/>
          <a:p>
            <a:pPr algn="l" marL="0" indent="0">
              <a:lnSpc>
                <a:spcPts val="1815"/>
              </a:lnSpc>
              <a:spcBef>
                <a:spcPts val="0"/>
              </a:spcBef>
              <a:spcAft>
                <a:spcPts val="0"/>
              </a:spcAft>
              <a:buNone/>
              <a:defRPr sz="1650" b="0">
                <a:solidFill>
                  <a:srgbClr val="303437"/>
                </a:solidFill>
                <a:latin typeface="Noto Sans"/>
              </a:defRPr>
            </a:pPr>
            <a:r>
              <a:rPr sz="1650" b="0" lang="ja-JP" altLang="en-US">
                <a:solidFill>
                  <a:srgbClr val="303437"/>
                </a:solidFill>
                <a:latin typeface="Liberation Mono"/>
                <a:ea typeface="Noto Sans CJK JP"/>
                <a:cs typeface="Liberation Mono"/>
              </a:rPr>
              <a:t>capacities = self.slave_states.get_capacities(</a:t>
            </a:r>
          </a:p>
          <a:p>
            <a:pPr algn="l" marL="0" indent="0">
              <a:lnSpc>
                <a:spcPts val="1815"/>
              </a:lnSpc>
              <a:spcBef>
                <a:spcPts val="0"/>
              </a:spcBef>
              <a:spcAft>
                <a:spcPts val="0"/>
              </a:spcAft>
              <a:buNone/>
              <a:defRPr sz="1650" b="0">
                <a:solidFill>
                  <a:srgbClr val="303437"/>
                </a:solidFill>
                <a:latin typeface="Noto Sans"/>
              </a:defRPr>
            </a:pPr>
            <a:r>
              <a:rPr sz="1650" b="0" lang="ja-JP" altLang="en-US">
                <a:solidFill>
                  <a:srgbClr val="303437"/>
                </a:solidFill>
                <a:latin typeface="Liberation Mono"/>
                <a:ea typeface="Noto Sans CJK JP"/>
                <a:cs typeface="Liberation Mono"/>
              </a:rPr>
              <a:t>    exclude_pi_names = allocated</a:t>
            </a:r>
          </a:p>
          <a:p>
            <a:pPr algn="l" marL="0" indent="0">
              <a:lnSpc>
                <a:spcPts val="1815"/>
              </a:lnSpc>
              <a:spcBef>
                <a:spcPts val="0"/>
              </a:spcBef>
              <a:spcAft>
                <a:spcPts val="0"/>
              </a:spcAft>
              <a:buNone/>
              <a:defRPr sz="1650" b="0">
                <a:solidFill>
                  <a:srgbClr val="303437"/>
                </a:solidFill>
                <a:latin typeface="Noto Sans"/>
              </a:defRPr>
            </a:pPr>
            <a:r>
              <a:rPr sz="1650" b="0" lang="ja-JP" altLang="en-US">
                <a:solidFill>
                  <a:srgbClr val="303437"/>
                </a:solidFill>
                <a:latin typeface="Liberation Mono"/>
                <a:ea typeface="Noto Sans CJK JP"/>
                <a:cs typeface="Liberation Mono"/>
              </a:rPr>
              <a:t>)</a:t>
            </a:r>
          </a:p>
          <a:p>
            <a:pPr algn="l" marL="0" indent="0">
              <a:lnSpc>
                <a:spcPts val="1815"/>
              </a:lnSpc>
              <a:spcBef>
                <a:spcPts val="0"/>
              </a:spcBef>
              <a:spcAft>
                <a:spcPts val="0"/>
              </a:spcAft>
              <a:buNone/>
              <a:defRPr sz="1650" b="0">
                <a:solidFill>
                  <a:srgbClr val="303437"/>
                </a:solidFill>
                <a:latin typeface="Noto Sans"/>
              </a:defRPr>
            </a:pPr>
            <a:r>
              <a:rPr sz="1650" b="0" lang="ja-JP" altLang="en-US">
                <a:solidFill>
                  <a:srgbClr val="303437"/>
                </a:solidFill>
                <a:latin typeface="Liberation Mono"/>
                <a:ea typeface="Noto Sans CJK JP"/>
                <a:cs typeface="Liberation Mono"/>
              </a:rPr>
              <a:t>[...]</a:t>
            </a:r>
          </a:p>
          <a:p>
            <a:pPr algn="l" marL="0" indent="0">
              <a:lnSpc>
                <a:spcPts val="1815"/>
              </a:lnSpc>
              <a:spcBef>
                <a:spcPts val="0"/>
              </a:spcBef>
              <a:spcAft>
                <a:spcPts val="0"/>
              </a:spcAft>
              <a:buNone/>
              <a:defRPr sz="1650" b="0">
                <a:solidFill>
                  <a:srgbClr val="303437"/>
                </a:solidFill>
                <a:latin typeface="Noto Sans"/>
              </a:defRPr>
            </a:pPr>
            <a:r>
              <a:rPr sz="1650" b="0" lang="ja-JP" altLang="en-US">
                <a:solidFill>
                  <a:srgbClr val="303437"/>
                </a:solidFill>
                <a:latin typeface="Liberation Mono"/>
                <a:ea typeface="Noto Sans CJK JP"/>
                <a:cs typeface="Liberation Mono"/>
              </a:rPr>
              <a:t>if total_empty_chunks &lt; n_chunks:</a:t>
            </a:r>
          </a:p>
          <a:p>
            <a:pPr algn="l" marL="0" indent="0">
              <a:lnSpc>
                <a:spcPts val="1815"/>
              </a:lnSpc>
              <a:spcBef>
                <a:spcPts val="0"/>
              </a:spcBef>
              <a:spcAft>
                <a:spcPts val="0"/>
              </a:spcAft>
              <a:buNone/>
              <a:defRPr sz="1650" b="0">
                <a:solidFill>
                  <a:srgbClr val="303437"/>
                </a:solidFill>
                <a:latin typeface="Noto Sans"/>
              </a:defRPr>
            </a:pPr>
            <a:r>
              <a:rPr sz="1650" b="0" lang="ja-JP" altLang="en-US">
                <a:solidFill>
                  <a:srgbClr val="303437"/>
                </a:solidFill>
                <a:latin typeface="Liberation Mono"/>
                <a:ea typeface="Noto Sans CJK JP"/>
                <a:cs typeface="Liberation Mono"/>
              </a:rPr>
              <a:t>    capacities = self.slave_states.get_capacities(</a:t>
            </a:r>
          </a:p>
          <a:p>
            <a:pPr algn="l" marL="0" indent="0">
              <a:lnSpc>
                <a:spcPts val="1815"/>
              </a:lnSpc>
              <a:spcBef>
                <a:spcPts val="0"/>
              </a:spcBef>
              <a:spcAft>
                <a:spcPts val="0"/>
              </a:spcAft>
              <a:buNone/>
              <a:defRPr sz="1650" b="0">
                <a:solidFill>
                  <a:srgbClr val="303437"/>
                </a:solidFill>
                <a:latin typeface="Noto Sans"/>
              </a:defRPr>
            </a:pPr>
            <a:r>
              <a:rPr sz="1650" b="0" lang="ja-JP" altLang="en-US">
                <a:solidFill>
                  <a:srgbClr val="303437"/>
                </a:solidFill>
                <a:latin typeface="Liberation Mono"/>
                <a:ea typeface="Noto Sans CJK JP"/>
                <a:cs typeface="Liberation Mono"/>
              </a:rPr>
              <a:t>        exclude_pi_names = exclude_pi_names</a:t>
            </a:r>
          </a:p>
          <a:p>
            <a:pPr algn="l" marL="0" indent="0">
              <a:lnSpc>
                <a:spcPts val="1815"/>
              </a:lnSpc>
              <a:spcBef>
                <a:spcPts val="0"/>
              </a:spcBef>
              <a:spcAft>
                <a:spcPts val="0"/>
              </a:spcAft>
              <a:buNone/>
              <a:defRPr sz="1650" b="0">
                <a:solidFill>
                  <a:srgbClr val="303437"/>
                </a:solidFill>
                <a:latin typeface="Noto Sans"/>
              </a:defRPr>
            </a:pPr>
            <a:r>
              <a:rPr sz="1650" b="0" lang="ja-JP" altLang="en-US">
                <a:solidFill>
                  <a:srgbClr val="303437"/>
                </a:solidFill>
                <a:latin typeface="Liberation Mono"/>
                <a:ea typeface="Noto Sans CJK JP"/>
                <a:cs typeface="Liberation Mono"/>
              </a:rPr>
              <a:t>    )</a:t>
            </a:r>
          </a:p>
        </p:txBody>
      </p:sp>
      <p:sp>
        <p:nvSpPr>
          <p:cNvPr id="6" name="TextBox 5"/>
          <p:cNvSpPr txBox="1"/>
          <p:nvPr/>
        </p:nvSpPr>
        <p:spPr>
          <a:xfrm>
            <a:off x="594360" y="3782568"/>
            <a:ext cx="7955279" cy="182880"/>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コードの読み方</a:t>
            </a:r>
          </a:p>
        </p:txBody>
      </p:sp>
      <p:sp>
        <p:nvSpPr>
          <p:cNvPr id="7" name="japanese-context"/>
          <p:cNvSpPr txBox="1"/>
          <p:nvPr/>
        </p:nvSpPr>
        <p:spPr>
          <a:xfrm>
            <a:off x="594360" y="3983736"/>
            <a:ext cx="7955279" cy="636905"/>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コードでは、候補を空き容量順に並べ、必要なブロック数まで順番に割り当てる。各コピーで使った保存先と、先頭に選んだ保存先を別々に記録する。</a:t>
            </a:r>
          </a:p>
        </p:txBody>
      </p:sp>
      <p:sp>
        <p:nvSpPr>
          <p:cNvPr id="8" name="source-1"/>
          <p:cNvSpPr txBox="1"/>
          <p:nvPr/>
        </p:nvSpPr>
        <p:spPr>
          <a:xfrm>
            <a:off x="502920" y="4686633"/>
            <a:ext cx="8183879" cy="214551"/>
          </a:xfrm>
          <a:prstGeom prst="rect">
            <a:avLst/>
          </a:prstGeom>
          <a:noFill/>
        </p:spPr>
        <p:txBody>
          <a:bodyPr wrap="square" lIns="0" rIns="0" tIns="31671"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LongBench Team (2026-10-26参照), LongBench v2. </a:t>
            </a:r>
            <a:r>
              <a:rPr sz="800" b="0" lang="ja-JP" altLang="en-US">
                <a:solidFill>
                  <a:srgbClr val="626669"/>
                </a:solidFill>
                <a:latin typeface="Noto Sans"/>
                <a:ea typeface="Noto Sans CJK JP"/>
                <a:cs typeface="Noto Sans"/>
                <a:hlinkClick r:id="rId2"/>
              </a:rPr>
              <a:t>https://huggingface.co/datasets/THUDM/LongBench-v2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750" b="0">
                <a:solidFill>
                  <a:srgbClr val="303437"/>
                </a:solidFill>
                <a:latin typeface="Noto Sans"/>
              </a:defRPr>
            </a:pPr>
            <a:r>
              <a:rPr sz="2750" b="1" lang="ja-JP" altLang="en-US">
                <a:solidFill>
                  <a:srgbClr val="303437"/>
                </a:solidFill>
                <a:latin typeface="Noto Sans"/>
                <a:ea typeface="Noto Sans CJK JP"/>
                <a:cs typeface="Noto Sans"/>
              </a:rPr>
              <a:t>例1 コードから保存先を決める：設問の日本語訳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長い本文を使う課題と実例</a:t>
            </a:r>
          </a:p>
        </p:txBody>
      </p:sp>
      <p:sp>
        <p:nvSpPr>
          <p:cNvPr id="4" name="TextBox 3"/>
          <p:cNvSpPr txBox="1"/>
          <p:nvPr/>
        </p:nvSpPr>
        <p:spPr>
          <a:xfrm>
            <a:off x="594360" y="1362456"/>
            <a:ext cx="7955279"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設問と選択肢の日本語訳</a:t>
            </a:r>
          </a:p>
        </p:txBody>
      </p:sp>
      <p:sp>
        <p:nvSpPr>
          <p:cNvPr id="5" name="japanese-question"/>
          <p:cNvSpPr txBox="1"/>
          <p:nvPr/>
        </p:nvSpPr>
        <p:spPr>
          <a:xfrm>
            <a:off x="594360" y="1645920"/>
            <a:ext cx="7955279" cy="2692833"/>
          </a:xfrm>
          <a:prstGeom prst="rect">
            <a:avLst/>
          </a:prstGeom>
          <a:noFill/>
        </p:spPr>
        <p:txBody>
          <a:bodyPr wrap="square" lIns="0" rIns="0" tIns="0" bIns="168835">
            <a:noAutofit/>
          </a:bodyPr>
          <a:lstStyle/>
          <a:p>
            <a:pPr algn="l">
              <a:lnSpc>
                <a:spcPts val="210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クラウドストレージのスケジューラは、ファイルのブロックを保存先のサーバーへ割り当てる。pi1、pi2、pi3の空き容量は、それぞれ800、700、500バイト。100バイトのブロック9個を、原本を含めて二組保存するとき、実装に従う配置はどれか。</a:t>
            </a:r>
          </a:p>
          <a:p>
            <a:pPr algn="l">
              <a:lnSpc>
                <a:spcPts val="210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A：一組目はpi3に500、pi2に400。二組目はpi2に300、pi1に600。</a:t>
            </a:r>
          </a:p>
          <a:p>
            <a:pPr algn="l">
              <a:lnSpc>
                <a:spcPts val="210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B：一組目はpi1に400、pi2に400、pi3に100。二組目はpi3に400、pi2に300、pi1に200。</a:t>
            </a:r>
          </a:p>
          <a:p>
            <a:pPr algn="l">
              <a:lnSpc>
                <a:spcPts val="210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C：一組目はpi1に400、pi2に200、pi3に300。二組目はpi1に400と500。</a:t>
            </a:r>
          </a:p>
          <a:p>
            <a:pPr algn="l">
              <a:lnSpc>
                <a:spcPts val="210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D：一組目はpi1に800、pi2に100。二組目はpi2に600、pi3に300。</a:t>
            </a:r>
          </a:p>
        </p:txBody>
      </p:sp>
      <p:sp>
        <p:nvSpPr>
          <p:cNvPr id="6" name="source-1"/>
          <p:cNvSpPr txBox="1"/>
          <p:nvPr/>
        </p:nvSpPr>
        <p:spPr>
          <a:xfrm>
            <a:off x="502920" y="4686633"/>
            <a:ext cx="8183879" cy="214551"/>
          </a:xfrm>
          <a:prstGeom prst="rect">
            <a:avLst/>
          </a:prstGeom>
          <a:noFill/>
        </p:spPr>
        <p:txBody>
          <a:bodyPr wrap="square" lIns="0" rIns="0" tIns="31671"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LongBench Team (2026-10-26参照), LongBench v2. </a:t>
            </a:r>
            <a:r>
              <a:rPr sz="800" b="0" lang="ja-JP" altLang="en-US">
                <a:solidFill>
                  <a:srgbClr val="626669"/>
                </a:solidFill>
                <a:latin typeface="Noto Sans"/>
                <a:ea typeface="Noto Sans CJK JP"/>
                <a:cs typeface="Noto Sans"/>
                <a:hlinkClick r:id="rId2"/>
              </a:rPr>
              <a:t>https://huggingface.co/datasets/THUDM/LongBench-v2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 コードから保存先を決める：答えの理由</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長い本文を使う課題と実例</a:t>
            </a:r>
          </a:p>
        </p:txBody>
      </p:sp>
      <p:sp>
        <p:nvSpPr>
          <p:cNvPr id="4" name="expected-answer"/>
          <p:cNvSpPr txBox="1"/>
          <p:nvPr/>
        </p:nvSpPr>
        <p:spPr>
          <a:xfrm>
            <a:off x="594360" y="1408176"/>
            <a:ext cx="7955279" cy="755776"/>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正解：D：一組目はpi1に800、pi2に100。二組目はpi2に600、pi3に300。</a:t>
            </a:r>
          </a:p>
        </p:txBody>
      </p:sp>
      <p:sp>
        <p:nvSpPr>
          <p:cNvPr id="5" name="japanese-context-explanation"/>
          <p:cNvSpPr txBox="1"/>
          <p:nvPr/>
        </p:nvSpPr>
        <p:spPr>
          <a:xfrm>
            <a:off x="594360" y="2237105"/>
            <a:ext cx="7955279" cy="919226"/>
          </a:xfrm>
          <a:prstGeom prst="rect">
            <a:avLst/>
          </a:prstGeom>
          <a:noFill/>
        </p:spPr>
        <p:txBody>
          <a:bodyPr wrap="square" lIns="0" rIns="0" tIns="0" bIns="0">
            <a:noAutofit/>
          </a:bodyPr>
          <a:lstStyle/>
          <a:p>
            <a:pPr algn="l">
              <a:lnSpc>
                <a:spcPts val="210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一組目はpi1に8個、pi2に1個。残るpi3だけでは二組目の9個を置けない。pi1を除いて候補を選び直すと、空きが6個のpi2と5個のpi3を使えるため、二組目はpi2に6個、pi3に3個となる。</a:t>
            </a:r>
          </a:p>
        </p:txBody>
      </p:sp>
      <p:sp>
        <p:nvSpPr>
          <p:cNvPr id="6" name="source-1"/>
          <p:cNvSpPr txBox="1"/>
          <p:nvPr/>
        </p:nvSpPr>
        <p:spPr>
          <a:xfrm>
            <a:off x="502920" y="4686633"/>
            <a:ext cx="8183879" cy="214551"/>
          </a:xfrm>
          <a:prstGeom prst="rect">
            <a:avLst/>
          </a:prstGeom>
          <a:noFill/>
        </p:spPr>
        <p:txBody>
          <a:bodyPr wrap="square" lIns="0" rIns="0" tIns="31671"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LongBench Team (2026-10-26参照), LongBench v2. </a:t>
            </a:r>
            <a:r>
              <a:rPr sz="800" b="0" lang="ja-JP" altLang="en-US">
                <a:solidFill>
                  <a:srgbClr val="626669"/>
                </a:solidFill>
                <a:latin typeface="Noto Sans"/>
                <a:ea typeface="Noto Sans CJK JP"/>
                <a:cs typeface="Noto Sans"/>
                <a:hlinkClick r:id="rId2"/>
              </a:rPr>
              <a:t>https://huggingface.co/datasets/THUDM/LongBench-v2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500" b="0">
                <a:solidFill>
                  <a:srgbClr val="303437"/>
                </a:solidFill>
                <a:latin typeface="Noto Sans"/>
              </a:defRPr>
            </a:pPr>
            <a:r>
              <a:rPr sz="2500" b="1" lang="ja-JP" altLang="en-US">
                <a:solidFill>
                  <a:srgbClr val="303437"/>
                </a:solidFill>
                <a:latin typeface="Noto Sans"/>
                <a:ea typeface="Noto Sans CJK JP"/>
                <a:cs typeface="Noto Sans"/>
              </a:rPr>
              <a:t>例2 気象表で三つの条件を確かめる：原文と日本語訳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長い本文を使う課題と実例</a:t>
            </a:r>
          </a:p>
        </p:txBody>
      </p:sp>
      <p:sp>
        <p:nvSpPr>
          <p:cNvPr id="4" name="TextBox 3"/>
          <p:cNvSpPr txBox="1"/>
          <p:nvPr/>
        </p:nvSpPr>
        <p:spPr>
          <a:xfrm>
            <a:off x="548640" y="1325880"/>
            <a:ext cx="804672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設問と四つの選択肢（全文）</a:t>
            </a:r>
          </a:p>
        </p:txBody>
      </p:sp>
      <p:sp>
        <p:nvSpPr>
          <p:cNvPr id="5" name="quote-frame"/>
          <p:cNvSpPr/>
          <p:nvPr/>
        </p:nvSpPr>
        <p:spPr>
          <a:xfrm>
            <a:off x="548640" y="1581912"/>
            <a:ext cx="8046720" cy="180212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88900" bIns="114300">
            <a:noAutofit/>
          </a:bodyPr>
          <a:lstStyle/>
          <a:p>
            <a:pPr algn="l" marL="0" indent="0">
              <a:lnSpc>
                <a:spcPts val="2065"/>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If we define “wet-cold” as “humidity&gt;95 as well as temperature&lt;-5”, which of the following time is wet-cold without sun?
A: 2017-01-22T04:10:00Z
B: 2017-01-06T02:10:00Z
C: 2017-01-22T00:10:00Z
D: 2017-02-09T15:10:00Z</a:t>
            </a:r>
          </a:p>
        </p:txBody>
      </p:sp>
      <p:sp>
        <p:nvSpPr>
          <p:cNvPr id="6" name="TextBox 5"/>
          <p:cNvSpPr txBox="1"/>
          <p:nvPr/>
        </p:nvSpPr>
        <p:spPr>
          <a:xfrm>
            <a:off x="594360" y="3475481"/>
            <a:ext cx="7955279" cy="182880"/>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設問の日本語訳</a:t>
            </a:r>
          </a:p>
        </p:txBody>
      </p:sp>
      <p:sp>
        <p:nvSpPr>
          <p:cNvPr id="7" name="japanese-question"/>
          <p:cNvSpPr txBox="1"/>
          <p:nvPr/>
        </p:nvSpPr>
        <p:spPr>
          <a:xfrm>
            <a:off x="594360" y="3676649"/>
            <a:ext cx="7955279" cy="603758"/>
          </a:xfrm>
          <a:prstGeom prst="rect">
            <a:avLst/>
          </a:prstGeom>
          <a:noFill/>
        </p:spPr>
        <p:txBody>
          <a:bodyPr wrap="square" lIns="0" rIns="0" tIns="0" bIns="0">
            <a:noAutofit/>
          </a:bodyPr>
          <a:lstStyle/>
          <a:p>
            <a:pPr algn="l">
              <a:lnSpc>
                <a:spcPts val="1989"/>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「湿って寒い」を、湿度が95より高く、気温が−5より低い状態と定義する。この条件を満たし、日照がない時刻はどれか。</a:t>
            </a:r>
          </a:p>
        </p:txBody>
      </p:sp>
      <p:sp>
        <p:nvSpPr>
          <p:cNvPr id="8" name="source-1"/>
          <p:cNvSpPr txBox="1"/>
          <p:nvPr/>
        </p:nvSpPr>
        <p:spPr>
          <a:xfrm>
            <a:off x="502920" y="4686633"/>
            <a:ext cx="8183879" cy="214551"/>
          </a:xfrm>
          <a:prstGeom prst="rect">
            <a:avLst/>
          </a:prstGeom>
          <a:noFill/>
        </p:spPr>
        <p:txBody>
          <a:bodyPr wrap="square" lIns="0" rIns="0" tIns="31671"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LongBench Team (2026-10-26参照), LongBench v2. </a:t>
            </a:r>
            <a:r>
              <a:rPr sz="800" b="0" lang="ja-JP" altLang="en-US">
                <a:solidFill>
                  <a:srgbClr val="626669"/>
                </a:solidFill>
                <a:latin typeface="Noto Sans"/>
                <a:ea typeface="Noto Sans CJK JP"/>
                <a:cs typeface="Noto Sans"/>
                <a:hlinkClick r:id="rId2"/>
              </a:rPr>
              <a:t>https://huggingface.co/datasets/THUDM/LongBench-v2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550" b="0">
                <a:solidFill>
                  <a:srgbClr val="303437"/>
                </a:solidFill>
                <a:latin typeface="Noto Sans"/>
              </a:defRPr>
            </a:pPr>
            <a:r>
              <a:rPr sz="2550" b="1" lang="ja-JP" altLang="en-US">
                <a:solidFill>
                  <a:srgbClr val="303437"/>
                </a:solidFill>
                <a:latin typeface="Noto Sans"/>
                <a:ea typeface="Noto Sans CJK JP"/>
                <a:cs typeface="Noto Sans"/>
              </a:rPr>
              <a:t>例2 気象表で三つの条件を確かめる：判定に使う4列</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長い本文を使う課題と実例</a:t>
            </a:r>
          </a:p>
        </p:txBody>
      </p:sp>
      <p:graphicFrame>
        <p:nvGraphicFramePr>
          <p:cNvPr id="4" name="Table 3"/>
          <p:cNvGraphicFramePr>
            <a:graphicFrameLocks noGrp="1"/>
          </p:cNvGraphicFramePr>
          <p:nvPr/>
        </p:nvGraphicFramePr>
        <p:xfrm>
          <a:off x="548640" y="1508760"/>
          <a:ext cx="8046720" cy="2148840"/>
        </p:xfrm>
        <a:graphic>
          <a:graphicData uri="http://schemas.openxmlformats.org/drawingml/2006/table">
            <a:tbl>
              <a:tblPr firstRow="0" bandRow="0"/>
              <a:tblGrid>
                <a:gridCol w="4023360"/>
                <a:gridCol w="914400"/>
                <a:gridCol w="1645920"/>
                <a:gridCol w="1463040"/>
              </a:tblGrid>
              <a:tr h="42976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time</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sun</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temperature</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humidity</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2976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2017-01-06T02:10:00Z</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2</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-7.3</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96</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2976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2017-01-22T00:10:00Z</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2</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-5.3</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96</a:t>
                      </a:r>
                    </a:p>
                  </a:txBody>
                  <a:tcPr marL="63500" marR="63500" marT="38100" marB="38100" anchor="ctr">
                    <a:lnL w="7620">
                      <a:noFill/>
                    </a:lnL>
                    <a:lnR w="7620">
                      <a:noFill/>
                    </a:lnR>
                    <a:lnT w="7620">
                      <a:noFill/>
                    </a:lnT>
                    <a:lnB w="7620">
                      <a:noFill/>
                    </a:lnB>
                    <a:solidFill>
                      <a:srgbClr val="FFFEF8"/>
                    </a:solidFill>
                  </a:tcPr>
                </a:tc>
              </a:tr>
              <a:tr h="42976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2017-01-22T04:10:00Z</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-7.8</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96</a:t>
                      </a:r>
                    </a:p>
                  </a:txBody>
                  <a:tcPr marL="63500" marR="63500" marT="38100" marB="38100" anchor="ctr">
                    <a:lnL w="7620">
                      <a:noFill/>
                    </a:lnL>
                    <a:lnR w="7620">
                      <a:noFill/>
                    </a:lnR>
                    <a:lnT w="7620">
                      <a:noFill/>
                    </a:lnT>
                    <a:lnB w="7620">
                      <a:noFill/>
                    </a:lnB>
                    <a:solidFill>
                      <a:srgbClr val="FFFEF8"/>
                    </a:solidFill>
                  </a:tcPr>
                </a:tc>
              </a:tr>
              <a:tr h="42976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2017-02-09T15:10:00Z</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0</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1.1</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80</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source-1"/>
          <p:cNvSpPr txBox="1"/>
          <p:nvPr/>
        </p:nvSpPr>
        <p:spPr>
          <a:xfrm>
            <a:off x="502920" y="4686633"/>
            <a:ext cx="8183879" cy="214551"/>
          </a:xfrm>
          <a:prstGeom prst="rect">
            <a:avLst/>
          </a:prstGeom>
          <a:noFill/>
        </p:spPr>
        <p:txBody>
          <a:bodyPr wrap="square" lIns="0" rIns="0" tIns="31671"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LongBench Team (2026-10-26参照), LongBench v2. </a:t>
            </a:r>
            <a:r>
              <a:rPr sz="800" b="0" lang="ja-JP" altLang="en-US">
                <a:solidFill>
                  <a:srgbClr val="626669"/>
                </a:solidFill>
                <a:latin typeface="Noto Sans"/>
                <a:ea typeface="Noto Sans CJK JP"/>
                <a:cs typeface="Noto Sans"/>
                <a:hlinkClick r:id="rId2"/>
              </a:rPr>
              <a:t>https://huggingface.co/datasets/THUDM/LongBench-v2</a:t>
            </a:r>
          </a:p>
        </p:txBody>
      </p:sp>
      <p:sp>
        <p:nvSpPr>
          <p:cNvPr id="6" name="japanese-context"/>
          <p:cNvSpPr txBox="1"/>
          <p:nvPr/>
        </p:nvSpPr>
        <p:spPr>
          <a:xfrm>
            <a:off x="594360" y="3877056"/>
            <a:ext cx="7955279" cy="715537"/>
          </a:xfrm>
          <a:prstGeom prst="rect">
            <a:avLst/>
          </a:prstGeom>
          <a:noFill/>
        </p:spPr>
        <p:txBody>
          <a:bodyPr wrap="square" lIns="0" rIns="0" tIns="0" bIns="148609">
            <a:noAutofit/>
          </a:bodyPr>
          <a:lstStyle/>
          <a:p>
            <a:pPr algn="l">
              <a:lnSpc>
                <a:spcPts val="1930"/>
              </a:lnSpc>
              <a:spcBef>
                <a:spcPts val="0"/>
              </a:spcBef>
              <a:spcAft>
                <a:spcPts val="0"/>
              </a:spcAft>
              <a:buNone/>
              <a:defRPr sz="1650" b="0">
                <a:solidFill>
                  <a:srgbClr val="303437"/>
                </a:solidFill>
                <a:latin typeface="Noto Sans"/>
              </a:defRPr>
            </a:pPr>
            <a:r>
              <a:rPr sz="1650" b="0" lang="ja-JP" altLang="en-US">
                <a:solidFill>
                  <a:srgbClr val="303437"/>
                </a:solidFill>
                <a:latin typeface="Noto Sans"/>
                <a:ea typeface="Noto Sans CJK JP"/>
                <a:cs typeface="Noto Sans"/>
              </a:rPr>
              <a:t>四つの候補の行から、判定に使う4列を示した。sunは日照、temperatureは気温、humidityは湿度を表す。元のCSVには、ほかの列と多数の時刻の行も含まれる。</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750" b="0">
                <a:solidFill>
                  <a:srgbClr val="303437"/>
                </a:solidFill>
                <a:latin typeface="Noto Sans"/>
              </a:defRPr>
            </a:pPr>
            <a:r>
              <a:rPr sz="2750" b="1" lang="ja-JP" altLang="en-US">
                <a:solidFill>
                  <a:srgbClr val="303437"/>
                </a:solidFill>
                <a:latin typeface="Noto Sans"/>
                <a:ea typeface="Noto Sans CJK JP"/>
                <a:cs typeface="Noto Sans"/>
              </a:rPr>
              <a:t>例2 気象表で三つの条件を確かめる：答えの理由</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長い本文を使う課題と実例</a:t>
            </a:r>
          </a:p>
        </p:txBody>
      </p:sp>
      <p:sp>
        <p:nvSpPr>
          <p:cNvPr id="4" name="expected-answer"/>
          <p:cNvSpPr txBox="1"/>
          <p:nvPr/>
        </p:nvSpPr>
        <p:spPr>
          <a:xfrm>
            <a:off x="594360" y="1408176"/>
            <a:ext cx="7955279" cy="436308"/>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正解：A：2017-01-22T04:10:00Z</a:t>
            </a:r>
          </a:p>
        </p:txBody>
      </p:sp>
      <p:sp>
        <p:nvSpPr>
          <p:cNvPr id="5" name="japanese-context-explanation"/>
          <p:cNvSpPr txBox="1"/>
          <p:nvPr/>
        </p:nvSpPr>
        <p:spPr>
          <a:xfrm>
            <a:off x="594360" y="1917636"/>
            <a:ext cx="7955279" cy="651764"/>
          </a:xfrm>
          <a:prstGeom prst="rect">
            <a:avLst/>
          </a:prstGeom>
          <a:noFill/>
        </p:spPr>
        <p:txBody>
          <a:bodyPr wrap="square" lIns="0" rIns="0" tIns="0" bIns="0">
            <a:noAutofit/>
          </a:bodyPr>
          <a:lstStyle/>
          <a:p>
            <a:pPr algn="l">
              <a:lnSpc>
                <a:spcPts val="210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Aはsun=0、temperature=−7.8、humidity=96で、三つの条件をすべて満たす。BとCはsun=2。Dは気温も湿度も条件を満たさない。</a:t>
            </a:r>
          </a:p>
        </p:txBody>
      </p:sp>
      <p:sp>
        <p:nvSpPr>
          <p:cNvPr id="6" name="source-1"/>
          <p:cNvSpPr txBox="1"/>
          <p:nvPr/>
        </p:nvSpPr>
        <p:spPr>
          <a:xfrm>
            <a:off x="502920" y="4686633"/>
            <a:ext cx="8183879" cy="214551"/>
          </a:xfrm>
          <a:prstGeom prst="rect">
            <a:avLst/>
          </a:prstGeom>
          <a:noFill/>
        </p:spPr>
        <p:txBody>
          <a:bodyPr wrap="square" lIns="0" rIns="0" tIns="31671"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LongBench Team (2026-10-26参照), LongBench v2. </a:t>
            </a:r>
            <a:r>
              <a:rPr sz="800" b="0" lang="ja-JP" altLang="en-US">
                <a:solidFill>
                  <a:srgbClr val="626669"/>
                </a:solidFill>
                <a:latin typeface="Noto Sans"/>
                <a:ea typeface="Noto Sans CJK JP"/>
                <a:cs typeface="Noto Sans"/>
                <a:hlinkClick r:id="rId2"/>
              </a:rPr>
              <a:t>https://huggingface.co/datasets/THUDM/LongBench-v2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750" b="0">
                <a:solidFill>
                  <a:srgbClr val="303437"/>
                </a:solidFill>
                <a:latin typeface="Noto Sans"/>
              </a:defRPr>
            </a:pPr>
            <a:r>
              <a:rPr sz="2750" b="1" lang="ja-JP" altLang="en-US">
                <a:solidFill>
                  <a:srgbClr val="303437"/>
                </a:solidFill>
                <a:latin typeface="Noto Sans"/>
                <a:ea typeface="Noto Sans CJK JP"/>
                <a:cs typeface="Noto Sans"/>
              </a:rPr>
              <a:t>例3 天秤の説明書と操作を照合する：設問の原文</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長い本文を使う課題と実例</a:t>
            </a:r>
          </a:p>
        </p:txBody>
      </p:sp>
      <p:sp>
        <p:nvSpPr>
          <p:cNvPr id="4" name="TextBox 3"/>
          <p:cNvSpPr txBox="1"/>
          <p:nvPr/>
        </p:nvSpPr>
        <p:spPr>
          <a:xfrm>
            <a:off x="548640" y="1280160"/>
            <a:ext cx="804672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設問と四つの選択肢（全文）</a:t>
            </a:r>
          </a:p>
        </p:txBody>
      </p:sp>
      <p:sp>
        <p:nvSpPr>
          <p:cNvPr id="5" name="quote-frame"/>
          <p:cNvSpPr/>
          <p:nvPr/>
        </p:nvSpPr>
        <p:spPr>
          <a:xfrm>
            <a:off x="548640" y="1508760"/>
            <a:ext cx="8046720" cy="2588895"/>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88900" bIns="114300">
            <a:noAutofit/>
          </a:bodyPr>
          <a:lstStyle/>
          <a:p>
            <a:pPr algn="l" marL="0" indent="0">
              <a:lnSpc>
                <a:spcPts val="2065"/>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Which of the following is incorrect according to the instruction book?
A: When I use my right hand to handle the draft sheild and the other hand to load the balance, I push the right coupling element upward.
B: When I determine the additional unit to display the result, I can refer to the table of conversion factors in Appendix.
C: In dynamic weighing mode, I can press the "F" key to display time interval.
D: Key "C" can be used to clear the display information when there's something wrong in calibration.</a:t>
            </a:r>
          </a:p>
        </p:txBody>
      </p:sp>
      <p:sp>
        <p:nvSpPr>
          <p:cNvPr id="6" name="source-1"/>
          <p:cNvSpPr txBox="1"/>
          <p:nvPr/>
        </p:nvSpPr>
        <p:spPr>
          <a:xfrm>
            <a:off x="502920" y="4686633"/>
            <a:ext cx="8183879" cy="214551"/>
          </a:xfrm>
          <a:prstGeom prst="rect">
            <a:avLst/>
          </a:prstGeom>
          <a:noFill/>
        </p:spPr>
        <p:txBody>
          <a:bodyPr wrap="square" lIns="0" rIns="0" tIns="31671"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LongBench Team (2026-10-26参照), LongBench v2. </a:t>
            </a:r>
            <a:r>
              <a:rPr sz="800" b="0" lang="ja-JP" altLang="en-US">
                <a:solidFill>
                  <a:srgbClr val="626669"/>
                </a:solidFill>
                <a:latin typeface="Noto Sans"/>
                <a:ea typeface="Noto Sans CJK JP"/>
                <a:cs typeface="Noto Sans"/>
                <a:hlinkClick r:id="rId2"/>
              </a:rPr>
              <a:t>https://huggingface.co/datasets/THUDM/LongBench-v2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750" b="0">
                <a:solidFill>
                  <a:srgbClr val="303437"/>
                </a:solidFill>
                <a:latin typeface="Noto Sans"/>
              </a:defRPr>
            </a:pPr>
            <a:r>
              <a:rPr sz="2750" b="1" lang="ja-JP" altLang="en-US">
                <a:solidFill>
                  <a:srgbClr val="303437"/>
                </a:solidFill>
                <a:latin typeface="Noto Sans"/>
                <a:ea typeface="Noto Sans CJK JP"/>
                <a:cs typeface="Noto Sans"/>
              </a:rPr>
              <a:t>例3 天秤の説明書と操作を照合する：本文の抜粋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長い本文を使う課題と実例</a:t>
            </a:r>
          </a:p>
        </p:txBody>
      </p:sp>
      <p:sp>
        <p:nvSpPr>
          <p:cNvPr id="4" name="TextBox 3"/>
          <p:cNvSpPr txBox="1"/>
          <p:nvPr/>
        </p:nvSpPr>
        <p:spPr>
          <a:xfrm>
            <a:off x="548640" y="1316736"/>
            <a:ext cx="8046720" cy="210312"/>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天秤の説明書の原文（風防の操作に関する段落の抜粋）</a:t>
            </a:r>
          </a:p>
        </p:txBody>
      </p:sp>
      <p:sp>
        <p:nvSpPr>
          <p:cNvPr id="5" name="quote-frame"/>
          <p:cNvSpPr/>
          <p:nvPr/>
        </p:nvSpPr>
        <p:spPr>
          <a:xfrm>
            <a:off x="548640" y="1581912"/>
            <a:ext cx="8046720" cy="1539875"/>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88900" bIns="114300">
            <a:noAutofit/>
          </a:bodyPr>
          <a:lstStyle/>
          <a:p>
            <a:pPr algn="l" marL="0" indent="0">
              <a:lnSpc>
                <a:spcPts val="2065"/>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Example: If you operate the draft shield with your left hand and wish to load the balance with your right (this corresponds to the normal mode of operation for right-handers), push the right coupling element upward and the left downward. You can now open and close the right draft shield door with the bottom part of the left door handle.</a:t>
            </a:r>
          </a:p>
        </p:txBody>
      </p:sp>
      <p:sp>
        <p:nvSpPr>
          <p:cNvPr id="6" name="TextBox 5"/>
          <p:cNvSpPr txBox="1"/>
          <p:nvPr/>
        </p:nvSpPr>
        <p:spPr>
          <a:xfrm>
            <a:off x="594360" y="3249803"/>
            <a:ext cx="7955279" cy="182880"/>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本文の日本語要約</a:t>
            </a:r>
          </a:p>
        </p:txBody>
      </p:sp>
      <p:sp>
        <p:nvSpPr>
          <p:cNvPr id="7" name="japanese-context"/>
          <p:cNvSpPr txBox="1"/>
          <p:nvPr/>
        </p:nvSpPr>
        <p:spPr>
          <a:xfrm>
            <a:off x="594360" y="3450971"/>
            <a:ext cx="7955279" cy="896937"/>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例えば、左手で風防を動かして右手で試料を載せる場合は、右の連結部品を上へ、左を下へ押す。すると、左のドアの取っ手の下部で、右の風防ドアを開閉できる。</a:t>
            </a:r>
          </a:p>
        </p:txBody>
      </p:sp>
      <p:sp>
        <p:nvSpPr>
          <p:cNvPr id="8" name="source-1"/>
          <p:cNvSpPr txBox="1"/>
          <p:nvPr/>
        </p:nvSpPr>
        <p:spPr>
          <a:xfrm>
            <a:off x="502920" y="4686633"/>
            <a:ext cx="8183879" cy="214551"/>
          </a:xfrm>
          <a:prstGeom prst="rect">
            <a:avLst/>
          </a:prstGeom>
          <a:noFill/>
        </p:spPr>
        <p:txBody>
          <a:bodyPr wrap="square" lIns="0" rIns="0" tIns="31671"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LongBench Team (2026-10-26参照), LongBench v2. </a:t>
            </a:r>
            <a:r>
              <a:rPr sz="800" b="0" lang="ja-JP" altLang="en-US">
                <a:solidFill>
                  <a:srgbClr val="626669"/>
                </a:solidFill>
                <a:latin typeface="Noto Sans"/>
                <a:ea typeface="Noto Sans CJK JP"/>
                <a:cs typeface="Noto Sans"/>
                <a:hlinkClick r:id="rId2"/>
              </a:rPr>
              <a:t>https://huggingface.co/datasets/THUDM/LongBench-v2</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500" b="0">
                <a:solidFill>
                  <a:srgbClr val="303437"/>
                </a:solidFill>
                <a:latin typeface="Noto Sans"/>
              </a:defRPr>
            </a:pPr>
            <a:r>
              <a:rPr sz="2500" b="1" lang="ja-JP" altLang="en-US">
                <a:solidFill>
                  <a:srgbClr val="303437"/>
                </a:solidFill>
                <a:latin typeface="Noto Sans"/>
                <a:ea typeface="Noto Sans CJK JP"/>
                <a:cs typeface="Noto Sans"/>
              </a:rPr>
              <a:t>例3 天秤の説明書と操作を照合する：設問の日本語訳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長い本文を使う課題と実例</a:t>
            </a:r>
          </a:p>
        </p:txBody>
      </p:sp>
      <p:sp>
        <p:nvSpPr>
          <p:cNvPr id="4" name="TextBox 3"/>
          <p:cNvSpPr txBox="1"/>
          <p:nvPr/>
        </p:nvSpPr>
        <p:spPr>
          <a:xfrm>
            <a:off x="594360" y="1362456"/>
            <a:ext cx="7955279"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設問と選択肢の日本語訳</a:t>
            </a:r>
          </a:p>
        </p:txBody>
      </p:sp>
      <p:sp>
        <p:nvSpPr>
          <p:cNvPr id="5" name="japanese-question"/>
          <p:cNvSpPr txBox="1"/>
          <p:nvPr/>
        </p:nvSpPr>
        <p:spPr>
          <a:xfrm>
            <a:off x="594360" y="1645920"/>
            <a:ext cx="7955279" cy="1989073"/>
          </a:xfrm>
          <a:prstGeom prst="rect">
            <a:avLst/>
          </a:prstGeom>
          <a:noFill/>
        </p:spPr>
        <p:txBody>
          <a:bodyPr wrap="square" lIns="0" rIns="0" tIns="0" bIns="0">
            <a:noAutofit/>
          </a:bodyPr>
          <a:lstStyle/>
          <a:p>
            <a:pPr algn="l">
              <a:lnSpc>
                <a:spcPts val="210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説明書の内容と一致しないものはどれか。</a:t>
            </a:r>
          </a:p>
          <a:p>
            <a:pPr algn="l">
              <a:lnSpc>
                <a:spcPts val="210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A：右手で風防を操作し、もう一方の手で試料を載せるとき、右側の連結部品を上へ押す。</a:t>
            </a:r>
          </a:p>
          <a:p>
            <a:pPr algn="l">
              <a:lnSpc>
                <a:spcPts val="210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B：結果を表示する追加の単位を決めるときは、付録の換算係数表を参照できる。</a:t>
            </a:r>
          </a:p>
          <a:p>
            <a:pPr algn="l">
              <a:lnSpc>
                <a:spcPts val="210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C：動的計量モードでは、Fキーで時間間隔を表示できる。</a:t>
            </a:r>
          </a:p>
          <a:p>
            <a:pPr algn="l">
              <a:lnSpc>
                <a:spcPts val="210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D：校正中に問題が起きたときは、Cキーで表示を消せる。</a:t>
            </a:r>
          </a:p>
        </p:txBody>
      </p:sp>
      <p:sp>
        <p:nvSpPr>
          <p:cNvPr id="6" name="source-1"/>
          <p:cNvSpPr txBox="1"/>
          <p:nvPr/>
        </p:nvSpPr>
        <p:spPr>
          <a:xfrm>
            <a:off x="502920" y="4686633"/>
            <a:ext cx="8183879" cy="214551"/>
          </a:xfrm>
          <a:prstGeom prst="rect">
            <a:avLst/>
          </a:prstGeom>
          <a:noFill/>
        </p:spPr>
        <p:txBody>
          <a:bodyPr wrap="square" lIns="0" rIns="0" tIns="31671"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LongBench Team (2026-10-26参照), LongBench v2. </a:t>
            </a:r>
            <a:r>
              <a:rPr sz="800" b="0" lang="ja-JP" altLang="en-US">
                <a:solidFill>
                  <a:srgbClr val="626669"/>
                </a:solidFill>
                <a:latin typeface="Noto Sans"/>
                <a:ea typeface="Noto Sans CJK JP"/>
                <a:cs typeface="Noto Sans"/>
                <a:hlinkClick r:id="rId2"/>
              </a:rPr>
              <a:t>https://huggingface.co/datasets/THUDM/LongBench-v2</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750" b="0">
                <a:solidFill>
                  <a:srgbClr val="303437"/>
                </a:solidFill>
                <a:latin typeface="Noto Sans"/>
              </a:defRPr>
            </a:pPr>
            <a:r>
              <a:rPr sz="2750" b="1" lang="ja-JP" altLang="en-US">
                <a:solidFill>
                  <a:srgbClr val="303437"/>
                </a:solidFill>
                <a:latin typeface="Noto Sans"/>
                <a:ea typeface="Noto Sans CJK JP"/>
                <a:cs typeface="Noto Sans"/>
              </a:rPr>
              <a:t>例3 天秤の説明書と操作を照合する：答えの理由</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1. 長い本文を使う課題と実例</a:t>
            </a:r>
          </a:p>
        </p:txBody>
      </p:sp>
      <p:sp>
        <p:nvSpPr>
          <p:cNvPr id="4" name="expected-answer"/>
          <p:cNvSpPr txBox="1"/>
          <p:nvPr/>
        </p:nvSpPr>
        <p:spPr>
          <a:xfrm>
            <a:off x="594360" y="1408176"/>
            <a:ext cx="7955279" cy="436308"/>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正解：A：右手で操作する場合の、連結部品の向きが逆。</a:t>
            </a:r>
          </a:p>
        </p:txBody>
      </p:sp>
      <p:sp>
        <p:nvSpPr>
          <p:cNvPr id="5" name="japanese-context-explanation"/>
          <p:cNvSpPr txBox="1"/>
          <p:nvPr/>
        </p:nvSpPr>
        <p:spPr>
          <a:xfrm>
            <a:off x="594360" y="1917636"/>
            <a:ext cx="7955279" cy="919226"/>
          </a:xfrm>
          <a:prstGeom prst="rect">
            <a:avLst/>
          </a:prstGeom>
          <a:noFill/>
        </p:spPr>
        <p:txBody>
          <a:bodyPr wrap="square" lIns="0" rIns="0" tIns="0" bIns="0">
            <a:noAutofit/>
          </a:bodyPr>
          <a:lstStyle/>
          <a:p>
            <a:pPr algn="l">
              <a:lnSpc>
                <a:spcPts val="210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説明書では、左手で風防を動かして右手で試料を載せる場合に、右の部品を上へ、左を下へ押す。Aは操作する手を右手に変えながら同じ部品を上げており、左右の対応が逆になる。</a:t>
            </a:r>
          </a:p>
        </p:txBody>
      </p:sp>
      <p:sp>
        <p:nvSpPr>
          <p:cNvPr id="6" name="source-1"/>
          <p:cNvSpPr txBox="1"/>
          <p:nvPr/>
        </p:nvSpPr>
        <p:spPr>
          <a:xfrm>
            <a:off x="502920" y="4686633"/>
            <a:ext cx="8183879" cy="214551"/>
          </a:xfrm>
          <a:prstGeom prst="rect">
            <a:avLst/>
          </a:prstGeom>
          <a:noFill/>
        </p:spPr>
        <p:txBody>
          <a:bodyPr wrap="square" lIns="0" rIns="0" tIns="31671"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LongBench Team (2026-10-26参照), LongBench v2. </a:t>
            </a:r>
            <a:r>
              <a:rPr sz="800" b="0" lang="ja-JP" altLang="en-US">
                <a:solidFill>
                  <a:srgbClr val="626669"/>
                </a:solidFill>
                <a:latin typeface="Noto Sans"/>
                <a:ea typeface="Noto Sans CJK JP"/>
                <a:cs typeface="Noto Sans"/>
                <a:hlinkClick r:id="rId2"/>
              </a:rPr>
              <a:t>https://huggingface.co/datasets/THUDM/LongBench-v2</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479443"/>
            <a:ext cx="8046720" cy="640080"/>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2. 構築方法とデータの構成</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構築方法とデータの構成</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97人が素材と設問を用意し、別担当が検証する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大学で学ぶ人や卒業者97人が、自分で読んだり使ったりした文書を持ち寄った。24人が専門分野に応じて確認を担当した。</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本文、設問、選択肢、答えとその根拠を作る。英語の本文が8,192語未満、または既存の素材と大きく重なる場合は採用しない。</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構築方法とデータの構成</a:t>
            </a:r>
          </a:p>
        </p:txBody>
      </p:sp>
      <p:sp>
        <p:nvSpPr>
          <p:cNvPr id="5" name="source-1"/>
          <p:cNvSpPr txBox="1"/>
          <p:nvPr/>
        </p:nvSpPr>
        <p:spPr>
          <a:xfrm>
            <a:off x="502920" y="4694755"/>
            <a:ext cx="8183879" cy="206429"/>
          </a:xfrm>
          <a:prstGeom prst="rect">
            <a:avLst/>
          </a:prstGeom>
          <a:noFill/>
        </p:spPr>
        <p:txBody>
          <a:bodyPr wrap="square" lIns="0" rIns="0" tIns="23549"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Bai et al. (2024), LongBench v2. </a:t>
            </a:r>
            <a:r>
              <a:rPr sz="800" b="0" lang="ja-JP" altLang="en-US">
                <a:solidFill>
                  <a:srgbClr val="626669"/>
                </a:solidFill>
                <a:latin typeface="Noto Sans"/>
                <a:ea typeface="Noto Sans CJK JP"/>
                <a:cs typeface="Noto Sans"/>
                <a:hlinkClick r:id="rId2"/>
              </a:rPr>
              <a:t>https://arxiv.org/abs/2412.15204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自動確認と人の確認で難しさをそろえる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構築方法とデータの構成</a:t>
            </a:r>
          </a:p>
        </p:txBody>
      </p:sp>
      <p:graphicFrame>
        <p:nvGraphicFramePr>
          <p:cNvPr id="4" name="Table 3"/>
          <p:cNvGraphicFramePr>
            <a:graphicFrameLocks noGrp="1"/>
          </p:cNvGraphicFramePr>
          <p:nvPr/>
        </p:nvGraphicFramePr>
        <p:xfrm>
          <a:off x="548640" y="1508760"/>
          <a:ext cx="8046720" cy="2412238"/>
        </p:xfrm>
        <a:graphic>
          <a:graphicData uri="http://schemas.openxmlformats.org/drawingml/2006/table">
            <a:tbl>
              <a:tblPr firstRow="0" bandRow="0"/>
              <a:tblGrid>
                <a:gridCol w="2560320"/>
                <a:gridCol w="5486400"/>
              </a:tblGrid>
              <a:tr h="411480">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段階</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確認する内容</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658368">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三つのモデルで確認</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三つとも正解する問題を見直す</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671195">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人が本文を調べる</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3分以内に解ける問題や、正解に問題があるものを修正</a:t>
                      </a:r>
                    </a:p>
                  </a:txBody>
                  <a:tcPr marL="63500" marR="63500" marT="38100" marB="38100" anchor="ctr">
                    <a:lnL w="7620">
                      <a:noFill/>
                    </a:lnL>
                    <a:lnR w="7620">
                      <a:noFill/>
                    </a:lnR>
                    <a:lnT w="7620">
                      <a:noFill/>
                    </a:lnT>
                    <a:lnB w="7620">
                      <a:noFill/>
                    </a:lnB>
                    <a:solidFill>
                      <a:srgbClr val="FFFEF8"/>
                    </a:solidFill>
                  </a:tcPr>
                </a:tc>
              </a:tr>
              <a:tr h="671195">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難問の分類</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正解したモデルが1つ以下で、</a:t>
                      </a:r>
                    </a:p>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人の解答時間が10分を超える</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source-1"/>
          <p:cNvSpPr txBox="1"/>
          <p:nvPr/>
        </p:nvSpPr>
        <p:spPr>
          <a:xfrm>
            <a:off x="502920" y="4694755"/>
            <a:ext cx="8183879" cy="206429"/>
          </a:xfrm>
          <a:prstGeom prst="rect">
            <a:avLst/>
          </a:prstGeom>
          <a:noFill/>
        </p:spPr>
        <p:txBody>
          <a:bodyPr wrap="square" lIns="0" rIns="0" tIns="23549"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Bai et al. (2024), LongBench v2. </a:t>
            </a:r>
            <a:r>
              <a:rPr sz="800" b="0" lang="ja-JP" altLang="en-US">
                <a:solidFill>
                  <a:srgbClr val="626669"/>
                </a:solidFill>
                <a:latin typeface="Noto Sans"/>
                <a:ea typeface="Noto Sans CJK JP"/>
                <a:cs typeface="Noto Sans"/>
                <a:hlinkClick r:id="rId2"/>
              </a:rPr>
              <a:t>https://arxiv.org/abs/2412.15204</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六つの領域に503問を収録する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構築方法とデータの構成</a:t>
            </a:r>
          </a:p>
        </p:txBody>
      </p:sp>
      <p:graphicFrame>
        <p:nvGraphicFramePr>
          <p:cNvPr id="4" name="Table 3"/>
          <p:cNvGraphicFramePr>
            <a:graphicFrameLocks noGrp="1"/>
          </p:cNvGraphicFramePr>
          <p:nvPr/>
        </p:nvGraphicFramePr>
        <p:xfrm>
          <a:off x="548640" y="1508760"/>
          <a:ext cx="8046720" cy="2752344"/>
        </p:xfrm>
        <a:graphic>
          <a:graphicData uri="http://schemas.openxmlformats.org/drawingml/2006/table">
            <a:tbl>
              <a:tblPr firstRow="0" bandRow="0"/>
              <a:tblGrid>
                <a:gridCol w="6217920"/>
                <a:gridCol w="1828800"/>
              </a:tblGrid>
              <a:tr h="393192">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課題</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設問数</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393192">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単一文書の読解</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175</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393192">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複数文書の読解</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125</a:t>
                      </a:r>
                    </a:p>
                  </a:txBody>
                  <a:tcPr marL="63500" marR="63500" marT="38100" marB="38100" anchor="ctr">
                    <a:lnL w="7620">
                      <a:noFill/>
                    </a:lnL>
                    <a:lnR w="7620">
                      <a:noFill/>
                    </a:lnR>
                    <a:lnT w="7620">
                      <a:noFill/>
                    </a:lnT>
                    <a:lnB w="7620">
                      <a:noFill/>
                    </a:lnB>
                    <a:solidFill>
                      <a:srgbClr val="FFFEF8"/>
                    </a:solidFill>
                  </a:tcPr>
                </a:tc>
              </a:tr>
              <a:tr h="393192">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長い文脈からの学習</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81</a:t>
                      </a:r>
                    </a:p>
                  </a:txBody>
                  <a:tcPr marL="63500" marR="63500" marT="38100" marB="38100" anchor="ctr">
                    <a:lnL w="7620">
                      <a:noFill/>
                    </a:lnL>
                    <a:lnR w="7620">
                      <a:noFill/>
                    </a:lnR>
                    <a:lnT w="7620">
                      <a:noFill/>
                    </a:lnT>
                    <a:lnB w="7620">
                      <a:noFill/>
                    </a:lnB>
                    <a:solidFill>
                      <a:srgbClr val="FFFEF8"/>
                    </a:solidFill>
                  </a:tcPr>
                </a:tc>
              </a:tr>
              <a:tr h="393192">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コードリポジトリの理解</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50</a:t>
                      </a:r>
                    </a:p>
                  </a:txBody>
                  <a:tcPr marL="63500" marR="63500" marT="38100" marB="38100" anchor="ctr">
                    <a:lnL w="7620">
                      <a:noFill/>
                    </a:lnL>
                    <a:lnR w="7620">
                      <a:noFill/>
                    </a:lnR>
                    <a:lnT w="7620">
                      <a:noFill/>
                    </a:lnT>
                    <a:lnB w="7620">
                      <a:noFill/>
                    </a:lnB>
                    <a:solidFill>
                      <a:srgbClr val="FFFEF8"/>
                    </a:solidFill>
                  </a:tcPr>
                </a:tc>
              </a:tr>
              <a:tr h="393192">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長い会話履歴の理解</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39</a:t>
                      </a:r>
                    </a:p>
                  </a:txBody>
                  <a:tcPr marL="63500" marR="63500" marT="38100" marB="38100" anchor="ctr">
                    <a:lnL w="7620">
                      <a:noFill/>
                    </a:lnL>
                    <a:lnR w="7620">
                      <a:noFill/>
                    </a:lnR>
                    <a:lnT w="7620">
                      <a:noFill/>
                    </a:lnT>
                    <a:lnB w="7620">
                      <a:noFill/>
                    </a:lnB>
                    <a:solidFill>
                      <a:srgbClr val="FFFEF8"/>
                    </a:solidFill>
                  </a:tcPr>
                </a:tc>
              </a:tr>
              <a:tr h="393192">
                <a:tc>
                  <a:txBody>
                    <a:bodyPr wrap="square">
                      <a:noAutofit/>
                    </a:bodyPr>
                    <a:lstStyle/>
                    <a:p>
                      <a:pPr algn="l">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長い構造化データの理解</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242"/>
                        </a:lnSpc>
                        <a:buNone/>
                        <a:defRPr sz="1950" b="0">
                          <a:solidFill>
                            <a:srgbClr val="303437"/>
                          </a:solidFill>
                          <a:latin typeface="Noto Sans"/>
                        </a:defRPr>
                      </a:pPr>
                      <a:r>
                        <a:rPr sz="1950" b="0" lang="ja-JP" altLang="en-US">
                          <a:solidFill>
                            <a:srgbClr val="303437"/>
                          </a:solidFill>
                          <a:latin typeface="Noto Sans"/>
                          <a:ea typeface="Noto Sans CJK JP"/>
                          <a:cs typeface="Noto Sans"/>
                        </a:rPr>
                        <a:t>33</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source-1"/>
          <p:cNvSpPr txBox="1"/>
          <p:nvPr/>
        </p:nvSpPr>
        <p:spPr>
          <a:xfrm>
            <a:off x="502920" y="4686633"/>
            <a:ext cx="8183879" cy="214551"/>
          </a:xfrm>
          <a:prstGeom prst="rect">
            <a:avLst/>
          </a:prstGeom>
          <a:noFill/>
        </p:spPr>
        <p:txBody>
          <a:bodyPr wrap="square" lIns="0" rIns="0" tIns="31671"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LongBench Team (2026-10-26参照), LongBench v2. </a:t>
            </a:r>
            <a:r>
              <a:rPr sz="800" b="0" lang="ja-JP" altLang="en-US">
                <a:solidFill>
                  <a:srgbClr val="626669"/>
                </a:solidFill>
                <a:latin typeface="Noto Sans"/>
                <a:ea typeface="Noto Sans CJK JP"/>
                <a:cs typeface="Noto Sans"/>
                <a:hlinkClick r:id="rId2"/>
              </a:rPr>
              <a:t>https://huggingface.co/datasets/THUDM/LongBench-v2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文書の長さだけでなく、使い方にも幅がある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単一文書には論文、金融報告、法的文書、小説などがある。複数文書では、資料をまたいで説明や数値を比較する。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説明書からの規則の適用、未知の言語の翻訳、多数の例からの分類も含む。会話、コード、表、知識グラフでは、形式に応じた情報の対応付けが必要になる。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構築方法とデータの構成</a:t>
            </a:r>
          </a:p>
        </p:txBody>
      </p:sp>
      <p:sp>
        <p:nvSpPr>
          <p:cNvPr id="5" name="source-1"/>
          <p:cNvSpPr txBox="1"/>
          <p:nvPr/>
        </p:nvSpPr>
        <p:spPr>
          <a:xfrm>
            <a:off x="502920" y="4694755"/>
            <a:ext cx="8183879" cy="206429"/>
          </a:xfrm>
          <a:prstGeom prst="rect">
            <a:avLst/>
          </a:prstGeom>
          <a:noFill/>
        </p:spPr>
        <p:txBody>
          <a:bodyPr wrap="square" lIns="0" rIns="0" tIns="23549"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Bai et al. (2024), LongBench v2. </a:t>
            </a:r>
            <a:r>
              <a:rPr sz="800" b="0" lang="ja-JP" altLang="en-US">
                <a:solidFill>
                  <a:srgbClr val="626669"/>
                </a:solidFill>
                <a:latin typeface="Noto Sans"/>
                <a:ea typeface="Noto Sans CJK JP"/>
                <a:cs typeface="Noto Sans"/>
                <a:hlinkClick r:id="rId2"/>
              </a:rPr>
              <a:t>https://arxiv.org/abs/2412.15204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本文の長さと難しさを別々に分けて集計する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構築方法とデータの構成</a:t>
            </a:r>
          </a:p>
        </p:txBody>
      </p:sp>
      <p:graphicFrame>
        <p:nvGraphicFramePr>
          <p:cNvPr id="4" name="Table 3"/>
          <p:cNvGraphicFramePr>
            <a:graphicFrameLocks noGrp="1"/>
          </p:cNvGraphicFramePr>
          <p:nvPr/>
        </p:nvGraphicFramePr>
        <p:xfrm>
          <a:off x="548640" y="1508760"/>
          <a:ext cx="8046720" cy="2523744"/>
        </p:xfrm>
        <a:graphic>
          <a:graphicData uri="http://schemas.openxmlformats.org/drawingml/2006/table">
            <a:tbl>
              <a:tblPr firstRow="0" bandRow="0"/>
              <a:tblGrid>
                <a:gridCol w="2743200"/>
                <a:gridCol w="5303520"/>
              </a:tblGrid>
              <a:tr h="420624">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分類</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範囲・意味</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50292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Short</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3万2千語未満</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50292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Medium</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3万2千〜12万8千語</a:t>
                      </a:r>
                    </a:p>
                  </a:txBody>
                  <a:tcPr marL="63500" marR="63500" marT="38100" marB="38100" anchor="ctr">
                    <a:lnL w="7620">
                      <a:noFill/>
                    </a:lnL>
                    <a:lnR w="7620">
                      <a:noFill/>
                    </a:lnR>
                    <a:lnT w="7620">
                      <a:noFill/>
                    </a:lnT>
                    <a:lnB w="7620">
                      <a:noFill/>
                    </a:lnB>
                    <a:solidFill>
                      <a:srgbClr val="FFFEF8"/>
                    </a:solidFill>
                  </a:tcPr>
                </a:tc>
              </a:tr>
              <a:tr h="50292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Long</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12万8千語超〜約200万語</a:t>
                      </a:r>
                    </a:p>
                  </a:txBody>
                  <a:tcPr marL="63500" marR="63500" marT="38100" marB="38100" anchor="ctr">
                    <a:lnL w="7620">
                      <a:noFill/>
                    </a:lnL>
                    <a:lnR w="7620">
                      <a:noFill/>
                    </a:lnR>
                    <a:lnT w="7620">
                      <a:noFill/>
                    </a:lnT>
                    <a:lnB w="7620">
                      <a:noFill/>
                    </a:lnB>
                    <a:solidFill>
                      <a:srgbClr val="FFFEF8"/>
                    </a:solidFill>
                  </a:tcPr>
                </a:tc>
              </a:tr>
              <a:tr h="594360">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Easy / Hard</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300"/>
                        </a:lnSpc>
                        <a:buNone/>
                        <a:defRPr sz="2000" b="0">
                          <a:solidFill>
                            <a:srgbClr val="303437"/>
                          </a:solidFill>
                          <a:latin typeface="Noto Sans"/>
                        </a:defRPr>
                      </a:pPr>
                      <a:r>
                        <a:rPr sz="2000" b="0" lang="ja-JP" altLang="en-US">
                          <a:solidFill>
                            <a:srgbClr val="303437"/>
                          </a:solidFill>
                          <a:latin typeface="Noto Sans"/>
                          <a:ea typeface="Noto Sans CJK JP"/>
                          <a:cs typeface="Noto Sans"/>
                        </a:rPr>
                        <a:t>作成時のモデルと人の確認による難しさ</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source-1"/>
          <p:cNvSpPr txBox="1"/>
          <p:nvPr/>
        </p:nvSpPr>
        <p:spPr>
          <a:xfrm>
            <a:off x="502920" y="4694755"/>
            <a:ext cx="8183879" cy="206429"/>
          </a:xfrm>
          <a:prstGeom prst="rect">
            <a:avLst/>
          </a:prstGeom>
          <a:noFill/>
        </p:spPr>
        <p:txBody>
          <a:bodyPr wrap="square" lIns="0" rIns="0" tIns="23549"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Bai et al. (2024), LongBench v2. </a:t>
            </a:r>
            <a:r>
              <a:rPr sz="800" b="0" lang="ja-JP" altLang="en-US">
                <a:solidFill>
                  <a:srgbClr val="626669"/>
                </a:solidFill>
                <a:latin typeface="Noto Sans"/>
                <a:ea typeface="Noto Sans CJK JP"/>
                <a:cs typeface="Noto Sans"/>
                <a:hlinkClick r:id="rId2"/>
              </a:rPr>
              <a:t>https://arxiv.org/abs/2412.15204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本文の中央値は約5万4千語</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503問の本文は、論文の集計で中央値が約5万4千語、平均が約10万4千語。長い文書を一つ読めるだけでなく、複数の資料の関係を保つ力も試す。</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本文の長さには領域差もある。単一文書の中央値は約5万1千語、複数文書は約3万4千語で、コードの課題は約16万7千語だった。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2. 構築方法とデータの構成</a:t>
            </a:r>
          </a:p>
        </p:txBody>
      </p:sp>
      <p:sp>
        <p:nvSpPr>
          <p:cNvPr id="5" name="source-1"/>
          <p:cNvSpPr txBox="1"/>
          <p:nvPr/>
        </p:nvSpPr>
        <p:spPr>
          <a:xfrm>
            <a:off x="502920" y="4694755"/>
            <a:ext cx="8183879" cy="206429"/>
          </a:xfrm>
          <a:prstGeom prst="rect">
            <a:avLst/>
          </a:prstGeom>
          <a:noFill/>
        </p:spPr>
        <p:txBody>
          <a:bodyPr wrap="square" lIns="0" rIns="0" tIns="23549"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Bai et al. (2024), LongBench v2. </a:t>
            </a:r>
            <a:r>
              <a:rPr sz="800" b="0" lang="ja-JP" altLang="en-US">
                <a:solidFill>
                  <a:srgbClr val="626669"/>
                </a:solidFill>
                <a:latin typeface="Noto Sans"/>
                <a:ea typeface="Noto Sans CJK JP"/>
                <a:cs typeface="Noto Sans"/>
                <a:hlinkClick r:id="rId2"/>
              </a:rPr>
              <a:t>https://arxiv.org/abs/2412.15204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479443"/>
            <a:ext cx="8046720" cy="640080"/>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3. 採点方法とモデルの成績</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採点方法とモデルの成績</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選んだ記号の一致を、正解率にまとめる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各問では、抽出したA〜Dの記号が参照正解と同じなら1点、異なる場合や記号を読み取れない場合は0点とする。全問の平均を百分率で示す。</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公式コードは「The correct answer is (A)」などの回答形式から記号を取り出す。全体のほか、難しさ別、本文の長さ別の正解率も出す。</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採点方法とモデルの成績</a:t>
            </a:r>
          </a:p>
        </p:txBody>
      </p:sp>
      <p:sp>
        <p:nvSpPr>
          <p:cNvPr id="5" name="source-1"/>
          <p:cNvSpPr txBox="1"/>
          <p:nvPr/>
        </p:nvSpPr>
        <p:spPr>
          <a:xfrm>
            <a:off x="502920" y="4686633"/>
            <a:ext cx="8183879" cy="214551"/>
          </a:xfrm>
          <a:prstGeom prst="rect">
            <a:avLst/>
          </a:prstGeom>
          <a:noFill/>
        </p:spPr>
        <p:txBody>
          <a:bodyPr wrap="square" lIns="0" rIns="0" tIns="31671"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LongBench Team (2026-10-26参照), LongBench. </a:t>
            </a:r>
            <a:r>
              <a:rPr sz="800" b="0" lang="ja-JP" altLang="en-US">
                <a:solidFill>
                  <a:srgbClr val="626669"/>
                </a:solidFill>
                <a:latin typeface="Noto Sans"/>
                <a:ea typeface="Noto Sans CJK JP"/>
                <a:cs typeface="Noto Sans"/>
                <a:hlinkClick r:id="rId2"/>
              </a:rPr>
              <a:t>https://github.com/THUDM/LongBench</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公開時は、推論を行うo1-previewが57.7%</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採点方法とモデルの成績</a:t>
            </a:r>
          </a:p>
        </p:txBody>
      </p:sp>
      <p:graphicFrame>
        <p:nvGraphicFramePr>
          <p:cNvPr id="4" name="Table 3"/>
          <p:cNvGraphicFramePr>
            <a:graphicFrameLocks noGrp="1"/>
          </p:cNvGraphicFramePr>
          <p:nvPr/>
        </p:nvGraphicFramePr>
        <p:xfrm>
          <a:off x="548640" y="1508760"/>
          <a:ext cx="8046720" cy="2251329"/>
        </p:xfrm>
        <a:graphic>
          <a:graphicData uri="http://schemas.openxmlformats.org/drawingml/2006/table">
            <a:tbl>
              <a:tblPr firstRow="0" bandRow="0"/>
              <a:tblGrid>
                <a:gridCol w="4663440"/>
                <a:gridCol w="1691640"/>
                <a:gridCol w="1691640"/>
              </a:tblGrid>
              <a:tr h="641985">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モデル（2024年）</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直接回答（%）</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推論あり（%）</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02336">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GPT-4o（08-06）</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50.1</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51.2</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02336">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Claude 3.5 Sonnet（10-22）</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41.0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46.7</a:t>
                      </a:r>
                    </a:p>
                  </a:txBody>
                  <a:tcPr marL="63500" marR="63500" marT="38100" marB="38100" anchor="ctr">
                    <a:lnL w="7620">
                      <a:noFill/>
                    </a:lnL>
                    <a:lnR w="7620">
                      <a:noFill/>
                    </a:lnR>
                    <a:lnT w="7620">
                      <a:noFill/>
                    </a:lnT>
                    <a:lnB w="7620">
                      <a:noFill/>
                    </a:lnB>
                    <a:solidFill>
                      <a:srgbClr val="FFFEF8"/>
                    </a:solidFill>
                  </a:tcPr>
                </a:tc>
              </a:tr>
              <a:tr h="402336">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Qwen2.5-72B-Instruct</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39.4</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38.8</a:t>
                      </a:r>
                    </a:p>
                  </a:txBody>
                  <a:tcPr marL="63500" marR="63500" marT="38100" marB="38100" anchor="ctr">
                    <a:lnL w="7620">
                      <a:noFill/>
                    </a:lnL>
                    <a:lnR w="7620">
                      <a:noFill/>
                    </a:lnR>
                    <a:lnT w="7620">
                      <a:noFill/>
                    </a:lnT>
                    <a:lnB w="7620">
                      <a:noFill/>
                    </a:lnB>
                    <a:solidFill>
                      <a:srgbClr val="FFFEF8"/>
                    </a:solidFill>
                  </a:tcPr>
                </a:tc>
              </a:tr>
              <a:tr h="402336">
                <a:tc>
                  <a:txBody>
                    <a:bodyPr wrap="square">
                      <a:noAutofit/>
                    </a:bodyPr>
                    <a:lstStyle/>
                    <a:p>
                      <a:pPr algn="l">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o1-preview（09-12）</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57.7</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127"/>
                        </a:lnSpc>
                        <a:buNone/>
                        <a:defRPr sz="1850" b="0">
                          <a:solidFill>
                            <a:srgbClr val="303437"/>
                          </a:solidFill>
                          <a:latin typeface="Noto Sans"/>
                        </a:defRPr>
                      </a:pPr>
                      <a:r>
                        <a:rPr sz="1850" b="0" lang="ja-JP" altLang="en-US">
                          <a:solidFill>
                            <a:srgbClr val="303437"/>
                          </a:solidFill>
                          <a:latin typeface="Noto Sans"/>
                          <a:ea typeface="Noto Sans CJK JP"/>
                          <a:cs typeface="Noto Sans"/>
                        </a:rPr>
                        <a:t>56.2</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888104"/>
            <a:ext cx="7955279" cy="658368"/>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「直接回答」は追加の推論指示なし。o1-previewは、その設定でも内部で推論する。</a:t>
            </a:r>
          </a:p>
        </p:txBody>
      </p:sp>
      <p:sp>
        <p:nvSpPr>
          <p:cNvPr id="6" name="source-1"/>
          <p:cNvSpPr txBox="1"/>
          <p:nvPr/>
        </p:nvSpPr>
        <p:spPr>
          <a:xfrm>
            <a:off x="502920" y="4694755"/>
            <a:ext cx="8183879" cy="206429"/>
          </a:xfrm>
          <a:prstGeom prst="rect">
            <a:avLst/>
          </a:prstGeom>
          <a:noFill/>
        </p:spPr>
        <p:txBody>
          <a:bodyPr wrap="square" lIns="0" rIns="0" tIns="23549"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Bai et al. (2024), LongBench v2. </a:t>
            </a:r>
            <a:r>
              <a:rPr sz="800" b="0" lang="ja-JP" altLang="en-US">
                <a:solidFill>
                  <a:srgbClr val="626669"/>
                </a:solidFill>
                <a:latin typeface="Noto Sans"/>
                <a:ea typeface="Noto Sans CJK JP"/>
                <a:cs typeface="Noto Sans"/>
                <a:hlinkClick r:id="rId2"/>
              </a:rPr>
              <a:t>https://arxiv.org/abs/2412.15204</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人の53.7%は、1問15分の条件で得た値</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確認者は本文内の検索を使いながら回答し、15分を超える場合は「分からない」としてよい条件だった。正解率は53.7%で、全問の8%では回答を保留した。</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確認者は専攻に合わせて担当し、客観的な答えか、本文が必要か、設問が適切かも点検した。単なる文字列の検索で答えられる問題は修正の対象にした。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採点方法とモデルの成績</a:t>
            </a:r>
          </a:p>
        </p:txBody>
      </p:sp>
      <p:sp>
        <p:nvSpPr>
          <p:cNvPr id="5" name="source-1"/>
          <p:cNvSpPr txBox="1"/>
          <p:nvPr/>
        </p:nvSpPr>
        <p:spPr>
          <a:xfrm>
            <a:off x="502920" y="4694755"/>
            <a:ext cx="8183879" cy="206429"/>
          </a:xfrm>
          <a:prstGeom prst="rect">
            <a:avLst/>
          </a:prstGeom>
          <a:noFill/>
        </p:spPr>
        <p:txBody>
          <a:bodyPr wrap="square" lIns="0" rIns="0" tIns="23549"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Bai et al. (2024), LongBench v2. </a:t>
            </a:r>
            <a:r>
              <a:rPr sz="800" b="0" lang="ja-JP" altLang="en-US">
                <a:solidFill>
                  <a:srgbClr val="626669"/>
                </a:solidFill>
                <a:latin typeface="Noto Sans"/>
                <a:ea typeface="Noto Sans CJK JP"/>
                <a:cs typeface="Noto Sans"/>
                <a:hlinkClick r:id="rId2"/>
              </a:rPr>
              <a:t>https://arxiv.org/abs/2412.15204</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公式サイトには、後続モデルの成績もある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採点方法とモデルの成績</a:t>
            </a:r>
          </a:p>
        </p:txBody>
      </p:sp>
      <p:graphicFrame>
        <p:nvGraphicFramePr>
          <p:cNvPr id="4" name="Table 3"/>
          <p:cNvGraphicFramePr>
            <a:graphicFrameLocks noGrp="1"/>
          </p:cNvGraphicFramePr>
          <p:nvPr/>
        </p:nvGraphicFramePr>
        <p:xfrm>
          <a:off x="548640" y="1508760"/>
          <a:ext cx="8046720" cy="2222119"/>
        </p:xfrm>
        <a:graphic>
          <a:graphicData uri="http://schemas.openxmlformats.org/drawingml/2006/table">
            <a:tbl>
              <a:tblPr firstRow="0" bandRow="0"/>
              <a:tblGrid>
                <a:gridCol w="4846320"/>
                <a:gridCol w="1600200"/>
                <a:gridCol w="1600200"/>
              </a:tblGrid>
              <a:tr h="612775">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公式掲載モデル</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公開日</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推論あり（%）</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02336">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Gemini 2.5 Pro</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2025-03-25</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63.3</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02336">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Gemini 2.5 Flash</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2025-04-17</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62.1</a:t>
                      </a:r>
                    </a:p>
                  </a:txBody>
                  <a:tcPr marL="63500" marR="63500" marT="38100" marB="38100" anchor="ctr">
                    <a:lnL w="7620">
                      <a:noFill/>
                    </a:lnL>
                    <a:lnR w="7620">
                      <a:noFill/>
                    </a:lnR>
                    <a:lnT w="7620">
                      <a:noFill/>
                    </a:lnT>
                    <a:lnB w="7620">
                      <a:noFill/>
                    </a:lnB>
                    <a:solidFill>
                      <a:srgbClr val="FFFEF8"/>
                    </a:solidFill>
                  </a:tcPr>
                </a:tc>
              </a:tr>
              <a:tr h="402336">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Qwen3-235B-A22B-Thinking-2507</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2025-07-25</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60.6</a:t>
                      </a:r>
                    </a:p>
                  </a:txBody>
                  <a:tcPr marL="63500" marR="63500" marT="38100" marB="38100" anchor="ctr">
                    <a:lnL w="7620">
                      <a:noFill/>
                    </a:lnL>
                    <a:lnR w="7620">
                      <a:noFill/>
                    </a:lnR>
                    <a:lnT w="7620">
                      <a:noFill/>
                    </a:lnT>
                    <a:lnB w="7620">
                      <a:noFill/>
                    </a:lnB>
                    <a:solidFill>
                      <a:srgbClr val="FFFEF8"/>
                    </a:solidFill>
                  </a:tcPr>
                </a:tc>
              </a:tr>
              <a:tr h="402336">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DeepSeek-R1</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2025-01-20</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58.3</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TextBox 4"/>
          <p:cNvSpPr txBox="1"/>
          <p:nvPr/>
        </p:nvSpPr>
        <p:spPr>
          <a:xfrm>
            <a:off x="594360" y="3858895"/>
            <a:ext cx="7955279" cy="658368"/>
          </a:xfrm>
          <a:prstGeom prst="rect">
            <a:avLst/>
          </a:prstGeom>
          <a:noFill/>
        </p:spPr>
        <p:txBody>
          <a:bodyPr wrap="square" lIns="0" rIns="0" tIns="0" bIns="0">
            <a:noAutofit/>
          </a:bodyPr>
          <a:lstStyle/>
          <a:p>
            <a:pPr algn="l">
              <a:lnSpc>
                <a:spcPts val="1813"/>
              </a:lnSpc>
              <a:spcBef>
                <a:spcPts val="0"/>
              </a:spcBef>
              <a:spcAft>
                <a:spcPts val="0"/>
              </a:spcAft>
              <a:buNone/>
              <a:defRPr sz="1550" b="0">
                <a:solidFill>
                  <a:srgbClr val="303437"/>
                </a:solidFill>
                <a:latin typeface="Noto Sans"/>
              </a:defRPr>
            </a:pPr>
            <a:r>
              <a:rPr sz="1550" b="0" lang="ja-JP" altLang="en-US">
                <a:solidFill>
                  <a:srgbClr val="303437"/>
                </a:solidFill>
                <a:latin typeface="Noto Sans"/>
                <a:ea typeface="Noto Sans CJK JP"/>
                <a:cs typeface="Noto Sans"/>
              </a:rPr>
              <a:t>2026-10-26参照。公式掲載の後続評価。初期実験の表とは別の公表値。</a:t>
            </a:r>
          </a:p>
        </p:txBody>
      </p:sp>
      <p:sp>
        <p:nvSpPr>
          <p:cNvPr id="6" name="source-1"/>
          <p:cNvSpPr txBox="1"/>
          <p:nvPr/>
        </p:nvSpPr>
        <p:spPr>
          <a:xfrm>
            <a:off x="502920" y="4686633"/>
            <a:ext cx="8183879" cy="214551"/>
          </a:xfrm>
          <a:prstGeom prst="rect">
            <a:avLst/>
          </a:prstGeom>
          <a:noFill/>
        </p:spPr>
        <p:txBody>
          <a:bodyPr wrap="square" lIns="0" rIns="0" tIns="31671"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LongBench Team (2026-10-26参照), LongBench v2. </a:t>
            </a:r>
            <a:r>
              <a:rPr sz="800" b="0" lang="ja-JP" altLang="en-US">
                <a:solidFill>
                  <a:srgbClr val="626669"/>
                </a:solidFill>
                <a:latin typeface="Noto Sans"/>
                <a:ea typeface="Noto Sans CJK JP"/>
                <a:cs typeface="Noto Sans"/>
                <a:hlinkClick r:id="rId2"/>
              </a:rPr>
              <a:t>https://longbench2.github.io/</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2026年のQwen3.5の評価にも採用された</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Qwen3.5-397B-A17Bの公式モデルカードは、長文理解の評価にLongBench v2を使い、63.2を報告している。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同じ表では長文推論や情報検索なども評価している。LongBench v2は、長い文章に含まれる情報を結び付けて考える課題として使われ続けている。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採点方法とモデルの成績</a:t>
            </a:r>
          </a:p>
        </p:txBody>
      </p:sp>
      <p:sp>
        <p:nvSpPr>
          <p:cNvPr id="5" name="source-1"/>
          <p:cNvSpPr txBox="1"/>
          <p:nvPr/>
        </p:nvSpPr>
        <p:spPr>
          <a:xfrm>
            <a:off x="502920" y="4694248"/>
            <a:ext cx="8183879" cy="206936"/>
          </a:xfrm>
          <a:prstGeom prst="rect">
            <a:avLst/>
          </a:prstGeom>
          <a:noFill/>
        </p:spPr>
        <p:txBody>
          <a:bodyPr wrap="square" lIns="0" rIns="0" tIns="24056"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Qwen Team (2026), Qwen3.5-397B-A17B. </a:t>
            </a:r>
            <a:r>
              <a:rPr sz="800" b="0" lang="ja-JP" altLang="en-US">
                <a:solidFill>
                  <a:srgbClr val="626669"/>
                </a:solidFill>
                <a:latin typeface="Noto Sans"/>
                <a:ea typeface="Noto Sans CJK JP"/>
                <a:cs typeface="Noto Sans"/>
                <a:hlinkClick r:id="rId2"/>
              </a:rPr>
              <a:t>https://huggingface.co/Qwen/Qwen3.5-397B-A17B</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700" b="0">
                <a:solidFill>
                  <a:srgbClr val="303437"/>
                </a:solidFill>
                <a:latin typeface="Noto Sans"/>
              </a:defRPr>
            </a:pPr>
            <a:r>
              <a:rPr sz="2700" b="1" lang="ja-JP" altLang="en-US">
                <a:solidFill>
                  <a:srgbClr val="303437"/>
                </a:solidFill>
                <a:latin typeface="Noto Sans"/>
                <a:ea typeface="Noto Sans CJK JP"/>
                <a:cs typeface="Noto Sans"/>
              </a:rPr>
              <a:t>読み切れない本文と、推論の予算が得点を変える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公式の評価コードは、入力がモデルの上限を超えると、先頭と末尾を残して中央を削る。必要な根拠が中央にある場合には、モデルがその情報を読めなくなる。</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推論ありの設定では、先に考えた内容を作り、その内容を含めて最終回答を求める。検索で選んだ本文だけを読む設定もあり、読む範囲と推論の設定が結果に関わる。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3. 採点方法とモデルの成績</a:t>
            </a:r>
          </a:p>
        </p:txBody>
      </p:sp>
      <p:sp>
        <p:nvSpPr>
          <p:cNvPr id="5" name="source-1"/>
          <p:cNvSpPr txBox="1"/>
          <p:nvPr/>
        </p:nvSpPr>
        <p:spPr>
          <a:xfrm>
            <a:off x="502920" y="4686633"/>
            <a:ext cx="8183879" cy="214551"/>
          </a:xfrm>
          <a:prstGeom prst="rect">
            <a:avLst/>
          </a:prstGeom>
          <a:noFill/>
        </p:spPr>
        <p:txBody>
          <a:bodyPr wrap="square" lIns="0" rIns="0" tIns="31671"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LongBench Team (2026-10-26参照), LongBench. </a:t>
            </a:r>
            <a:r>
              <a:rPr sz="800" b="0" lang="ja-JP" altLang="en-US">
                <a:solidFill>
                  <a:srgbClr val="626669"/>
                </a:solidFill>
                <a:latin typeface="Noto Sans"/>
                <a:ea typeface="Noto Sans CJK JP"/>
                <a:cs typeface="Noto Sans"/>
                <a:hlinkClick r:id="rId2"/>
              </a:rPr>
              <a:t>https://github.com/THUDM/LongBench</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479443"/>
            <a:ext cx="8046720" cy="640080"/>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4. 長文理解の評価での利用と入手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長文理解の評価での利用と入手</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LongBenchから、推論を要する四択問題へ</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499"/>
              </a:lnSpc>
              <a:spcAft>
                <a:spcPts val="70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2023年公開のLongBenchは、中国語と英語の読解、要約、検索などをまとめた。課題ごとにF1やROUGEなどの指標を使う。</a:t>
            </a:r>
          </a:p>
          <a:p>
            <a:pPr marL="457200" indent="-355600">
              <a:lnSpc>
                <a:spcPts val="2499"/>
              </a:lnSpc>
              <a:spcAft>
                <a:spcPts val="0"/>
              </a:spcAft>
              <a:buSzPct val="63333"/>
              <a:buFont typeface="Noto Sans CJK JP"/>
              <a:buChar char="●"/>
              <a:defRPr sz="2100" b="0">
                <a:solidFill>
                  <a:srgbClr val="303437"/>
                </a:solidFill>
                <a:latin typeface="Noto Sans"/>
              </a:defRPr>
            </a:pPr>
            <a:r>
              <a:rPr sz="2100" b="0" lang="ja-JP" altLang="en-US">
                <a:solidFill>
                  <a:srgbClr val="303437"/>
                </a:solidFill>
                <a:latin typeface="Noto Sans"/>
                <a:ea typeface="Noto Sans CJK JP"/>
                <a:cs typeface="Noto Sans"/>
              </a:rPr>
              <a:t>v2では全問を英語の四択に統一し、人が根拠と難しさを確認した。単純に答えの文字列を探すだけでは解きにくい課題へ重点を移した。</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長文理解の評価での利用と入手</a:t>
            </a:r>
          </a:p>
        </p:txBody>
      </p:sp>
      <p:sp>
        <p:nvSpPr>
          <p:cNvPr id="5" name="source-1"/>
          <p:cNvSpPr txBox="1"/>
          <p:nvPr/>
        </p:nvSpPr>
        <p:spPr>
          <a:xfrm>
            <a:off x="502920" y="4694755"/>
            <a:ext cx="8183879" cy="206429"/>
          </a:xfrm>
          <a:prstGeom prst="rect">
            <a:avLst/>
          </a:prstGeom>
          <a:noFill/>
        </p:spPr>
        <p:txBody>
          <a:bodyPr wrap="square" lIns="0" rIns="0" tIns="23549"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Bai et al. (2024), LongBench v2. </a:t>
            </a:r>
            <a:r>
              <a:rPr sz="800" b="0" lang="ja-JP" altLang="en-US">
                <a:solidFill>
                  <a:srgbClr val="626669"/>
                </a:solidFill>
                <a:latin typeface="Noto Sans"/>
                <a:ea typeface="Noto Sans CJK JP"/>
                <a:cs typeface="Noto Sans"/>
                <a:hlinkClick r:id="rId2"/>
              </a:rPr>
              <a:t>https://arxiv.org/abs/2412.15204</a:t>
            </a:r>
          </a:p>
        </p:txBody>
      </p:sp>
      <p:sp>
        <p:nvSpPr>
          <p:cNvPr id="6" name="source-2"/>
          <p:cNvSpPr txBox="1"/>
          <p:nvPr/>
        </p:nvSpPr>
        <p:spPr>
          <a:xfrm>
            <a:off x="502920" y="4850279"/>
            <a:ext cx="8183879" cy="206353"/>
          </a:xfrm>
          <a:prstGeom prst="rect">
            <a:avLst/>
          </a:prstGeom>
          <a:noFill/>
        </p:spPr>
        <p:txBody>
          <a:bodyPr wrap="square" lIns="0" rIns="0" tIns="23473"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[2] Bai et al. (2024), LongBench. ACL 2024. </a:t>
            </a:r>
            <a:r>
              <a:rPr sz="800" b="0" lang="ja-JP" altLang="en-US">
                <a:solidFill>
                  <a:srgbClr val="626669"/>
                </a:solidFill>
                <a:latin typeface="Noto Sans"/>
                <a:ea typeface="Noto Sans CJK JP"/>
                <a:cs typeface="Noto Sans"/>
                <a:hlinkClick r:id="rId3"/>
              </a:rPr>
              <a:t>https://aclanthology.org/2024.acl-long.172/</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公開データのtrainは、評価問題の保存名</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公式配布はHugging FaceのTHUDM/LongBench-v2。trainという分割名で503問すべてを読み込む。用途はモデルの評価で、独立した学習用の正解データを意味しない。</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各行には課題名、難しさ、長さの区分、本文、設問、四つの選択肢と正解がある。公開JSONは約465 MB。データカードはApache License 2.0を表示する。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長文理解の評価での利用と入手</a:t>
            </a:r>
          </a:p>
        </p:txBody>
      </p:sp>
      <p:sp>
        <p:nvSpPr>
          <p:cNvPr id="5" name="source-1"/>
          <p:cNvSpPr txBox="1"/>
          <p:nvPr/>
        </p:nvSpPr>
        <p:spPr>
          <a:xfrm>
            <a:off x="502920" y="4686633"/>
            <a:ext cx="8183879" cy="214551"/>
          </a:xfrm>
          <a:prstGeom prst="rect">
            <a:avLst/>
          </a:prstGeom>
          <a:noFill/>
        </p:spPr>
        <p:txBody>
          <a:bodyPr wrap="square" lIns="0" rIns="0" tIns="31671"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LongBench Team (2026-10-26参照), LongBench v2. </a:t>
            </a:r>
            <a:r>
              <a:rPr sz="800" b="0" lang="ja-JP" altLang="en-US">
                <a:solidFill>
                  <a:srgbClr val="626669"/>
                </a:solidFill>
                <a:latin typeface="Noto Sans"/>
                <a:ea typeface="Noto Sans CJK JP"/>
                <a:cs typeface="Noto Sans"/>
                <a:hlinkClick r:id="rId2"/>
              </a:rPr>
              <a:t>https://huggingface.co/datasets/THUDM/LongBench-v2</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一つの公開問題の設問と選択肢を確認する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長文理解の評価での利用と入手</a:t>
            </a:r>
          </a:p>
        </p:txBody>
      </p:sp>
      <p:sp>
        <p:nvSpPr>
          <p:cNvPr id="4" name="code-frame"/>
          <p:cNvSpPr/>
          <p:nvPr/>
        </p:nvSpPr>
        <p:spPr>
          <a:xfrm>
            <a:off x="548640" y="1508760"/>
            <a:ext cx="8046720" cy="2611437"/>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t" wrap="none" lIns="152400" rIns="152400" tIns="92710" bIns="127000"/>
          <a:lstStyle/>
          <a:p>
            <a:pPr algn="l">
              <a:lnSpc>
                <a:spcPts val="2062"/>
              </a:lnSpc>
              <a:spcBef>
                <a:spcPts val="0"/>
              </a:spcBef>
              <a:spcAft>
                <a:spcPts val="0"/>
              </a:spcAft>
              <a:buNone/>
              <a:defRPr sz="1650" b="0">
                <a:solidFill>
                  <a:srgbClr val="303437"/>
                </a:solidFill>
                <a:latin typeface="Noto Sans"/>
              </a:defRPr>
            </a:pPr>
            <a:r>
              <a:rPr sz="1650" b="0" lang="ja-JP" altLang="en-US">
                <a:solidFill>
                  <a:srgbClr val="303437"/>
                </a:solidFill>
                <a:latin typeface="Liberation Mono"/>
                <a:ea typeface="Noto Sans CJK JP"/>
                <a:cs typeface="Liberation Mono"/>
              </a:rPr>
              <a:t>from datasets import load_dataset</a:t>
            </a:r>
          </a:p>
          <a:p>
            <a:pPr algn="l">
              <a:lnSpc>
                <a:spcPts val="2062"/>
              </a:lnSpc>
              <a:spcBef>
                <a:spcPts val="0"/>
              </a:spcBef>
              <a:spcAft>
                <a:spcPts val="0"/>
              </a:spcAft>
              <a:buNone/>
              <a:defRPr sz="1650" b="0">
                <a:solidFill>
                  <a:srgbClr val="303437"/>
                </a:solidFill>
                <a:latin typeface="Noto Sans"/>
              </a:defRPr>
            </a:pPr>
            <a:r>
              <a:rPr sz="1650" b="0" lang="ja-JP" altLang="en-US">
                <a:solidFill>
                  <a:srgbClr val="303437"/>
                </a:solidFill>
                <a:latin typeface="Liberation Mono"/>
                <a:ea typeface="Noto Sans CJK JP"/>
                <a:cs typeface="Liberation Mono"/>
              </a:rPr>
              <a:t/>
            </a:r>
          </a:p>
          <a:p>
            <a:pPr algn="l">
              <a:lnSpc>
                <a:spcPts val="2062"/>
              </a:lnSpc>
              <a:spcBef>
                <a:spcPts val="0"/>
              </a:spcBef>
              <a:spcAft>
                <a:spcPts val="0"/>
              </a:spcAft>
              <a:buNone/>
              <a:defRPr sz="1650" b="0">
                <a:solidFill>
                  <a:srgbClr val="303437"/>
                </a:solidFill>
                <a:latin typeface="Noto Sans"/>
              </a:defRPr>
            </a:pPr>
            <a:r>
              <a:rPr sz="1650" b="0" lang="ja-JP" altLang="en-US">
                <a:solidFill>
                  <a:srgbClr val="303437"/>
                </a:solidFill>
                <a:latin typeface="Liberation Mono"/>
                <a:ea typeface="Noto Sans CJK JP"/>
                <a:cs typeface="Liberation Mono"/>
              </a:rPr>
              <a:t>x = load_dataset(</a:t>
            </a:r>
          </a:p>
          <a:p>
            <a:pPr algn="l">
              <a:lnSpc>
                <a:spcPts val="2062"/>
              </a:lnSpc>
              <a:spcBef>
                <a:spcPts val="0"/>
              </a:spcBef>
              <a:spcAft>
                <a:spcPts val="0"/>
              </a:spcAft>
              <a:buNone/>
              <a:defRPr sz="1650" b="0">
                <a:solidFill>
                  <a:srgbClr val="303437"/>
                </a:solidFill>
                <a:latin typeface="Noto Sans"/>
              </a:defRPr>
            </a:pPr>
            <a:r>
              <a:rPr sz="1650" b="0" lang="ja-JP" altLang="en-US">
                <a:solidFill>
                  <a:srgbClr val="303437"/>
                </a:solidFill>
                <a:latin typeface="Liberation Mono"/>
                <a:ea typeface="Noto Sans CJK JP"/>
                <a:cs typeface="Liberation Mono"/>
              </a:rPr>
              <a:t>    'THUDM/LongBench-v2', split='train'</a:t>
            </a:r>
          </a:p>
          <a:p>
            <a:pPr algn="l">
              <a:lnSpc>
                <a:spcPts val="2062"/>
              </a:lnSpc>
              <a:spcBef>
                <a:spcPts val="0"/>
              </a:spcBef>
              <a:spcAft>
                <a:spcPts val="0"/>
              </a:spcAft>
              <a:buNone/>
              <a:defRPr sz="1650" b="0">
                <a:solidFill>
                  <a:srgbClr val="303437"/>
                </a:solidFill>
                <a:latin typeface="Noto Sans"/>
              </a:defRPr>
            </a:pPr>
            <a:r>
              <a:rPr sz="1650" b="0" lang="ja-JP" altLang="en-US">
                <a:solidFill>
                  <a:srgbClr val="303437"/>
                </a:solidFill>
                <a:latin typeface="Liberation Mono"/>
                <a:ea typeface="Noto Sans CJK JP"/>
                <a:cs typeface="Liberation Mono"/>
              </a:rPr>
              <a:t>)[0]</a:t>
            </a:r>
          </a:p>
          <a:p>
            <a:pPr algn="l">
              <a:lnSpc>
                <a:spcPts val="2062"/>
              </a:lnSpc>
              <a:spcBef>
                <a:spcPts val="0"/>
              </a:spcBef>
              <a:spcAft>
                <a:spcPts val="0"/>
              </a:spcAft>
              <a:buNone/>
              <a:defRPr sz="1650" b="0">
                <a:solidFill>
                  <a:srgbClr val="303437"/>
                </a:solidFill>
                <a:latin typeface="Noto Sans"/>
              </a:defRPr>
            </a:pPr>
            <a:r>
              <a:rPr sz="1650" b="0" lang="ja-JP" altLang="en-US">
                <a:solidFill>
                  <a:srgbClr val="303437"/>
                </a:solidFill>
                <a:latin typeface="Liberation Mono"/>
                <a:ea typeface="Noto Sans CJK JP"/>
                <a:cs typeface="Liberation Mono"/>
              </a:rPr>
              <a:t>print(x['context'][:200])</a:t>
            </a:r>
          </a:p>
          <a:p>
            <a:pPr algn="l">
              <a:lnSpc>
                <a:spcPts val="2062"/>
              </a:lnSpc>
              <a:spcBef>
                <a:spcPts val="0"/>
              </a:spcBef>
              <a:spcAft>
                <a:spcPts val="0"/>
              </a:spcAft>
              <a:buNone/>
              <a:defRPr sz="1650" b="0">
                <a:solidFill>
                  <a:srgbClr val="303437"/>
                </a:solidFill>
                <a:latin typeface="Noto Sans"/>
              </a:defRPr>
            </a:pPr>
            <a:r>
              <a:rPr sz="1650" b="0" lang="ja-JP" altLang="en-US">
                <a:solidFill>
                  <a:srgbClr val="303437"/>
                </a:solidFill>
                <a:latin typeface="Liberation Mono"/>
                <a:ea typeface="Noto Sans CJK JP"/>
                <a:cs typeface="Liberation Mono"/>
              </a:rPr>
              <a:t>print(x['question'])</a:t>
            </a:r>
          </a:p>
          <a:p>
            <a:pPr algn="l">
              <a:lnSpc>
                <a:spcPts val="2062"/>
              </a:lnSpc>
              <a:spcBef>
                <a:spcPts val="0"/>
              </a:spcBef>
              <a:spcAft>
                <a:spcPts val="0"/>
              </a:spcAft>
              <a:buNone/>
              <a:defRPr sz="1650" b="0">
                <a:solidFill>
                  <a:srgbClr val="303437"/>
                </a:solidFill>
                <a:latin typeface="Noto Sans"/>
              </a:defRPr>
            </a:pPr>
            <a:r>
              <a:rPr sz="1650" b="0" lang="ja-JP" altLang="en-US">
                <a:solidFill>
                  <a:srgbClr val="303437"/>
                </a:solidFill>
                <a:latin typeface="Liberation Mono"/>
                <a:ea typeface="Noto Sans CJK JP"/>
                <a:cs typeface="Liberation Mono"/>
              </a:rPr>
              <a:t>for key in 'ABCD':</a:t>
            </a:r>
          </a:p>
          <a:p>
            <a:pPr algn="l">
              <a:lnSpc>
                <a:spcPts val="2062"/>
              </a:lnSpc>
              <a:spcBef>
                <a:spcPts val="0"/>
              </a:spcBef>
              <a:spcAft>
                <a:spcPts val="0"/>
              </a:spcAft>
              <a:buNone/>
              <a:defRPr sz="1650" b="0">
                <a:solidFill>
                  <a:srgbClr val="303437"/>
                </a:solidFill>
                <a:latin typeface="Noto Sans"/>
              </a:defRPr>
            </a:pPr>
            <a:r>
              <a:rPr sz="1650" b="0" lang="ja-JP" altLang="en-US">
                <a:solidFill>
                  <a:srgbClr val="303437"/>
                </a:solidFill>
                <a:latin typeface="Liberation Mono"/>
                <a:ea typeface="Noto Sans CJK JP"/>
                <a:cs typeface="Liberation Mono"/>
              </a:rPr>
              <a:t>    print(key, x['choice_' + key])</a:t>
            </a:r>
          </a:p>
        </p:txBody>
      </p:sp>
      <p:sp>
        <p:nvSpPr>
          <p:cNvPr id="5" name="TextBox 4"/>
          <p:cNvSpPr txBox="1"/>
          <p:nvPr/>
        </p:nvSpPr>
        <p:spPr>
          <a:xfrm>
            <a:off x="594360" y="4206240"/>
            <a:ext cx="7955279" cy="365760"/>
          </a:xfrm>
          <a:prstGeom prst="rect">
            <a:avLst/>
          </a:prstGeom>
          <a:noFill/>
        </p:spPr>
        <p:txBody>
          <a:bodyPr wrap="square" lIns="0" rIns="0" tIns="0" bIns="0">
            <a:noAutofit/>
          </a:bodyPr>
          <a:lstStyle/>
          <a:p>
            <a:pPr algn="l">
              <a:lnSpc>
                <a:spcPts val="2000"/>
              </a:lnSpc>
              <a:spcBef>
                <a:spcPts val="0"/>
              </a:spcBef>
              <a:spcAft>
                <a:spcPts val="0"/>
              </a:spcAft>
              <a:buNone/>
              <a:defRPr sz="1900" b="0">
                <a:solidFill>
                  <a:srgbClr val="303437"/>
                </a:solidFill>
                <a:latin typeface="Noto Sans"/>
              </a:defRPr>
            </a:pPr>
            <a:r>
              <a:rPr sz="1700" b="0" lang="ja-JP" altLang="en-US">
                <a:solidFill>
                  <a:srgbClr val="303437"/>
                </a:solidFill>
                <a:latin typeface="Noto Sans"/>
                <a:ea typeface="Noto Sans CJK JP"/>
                <a:cs typeface="Noto Sans"/>
              </a:rPr>
              <a:t>contextの先頭200文字と、設問・四つの選択肢を表示する。</a:t>
            </a:r>
          </a:p>
        </p:txBody>
      </p:sp>
      <p:sp>
        <p:nvSpPr>
          <p:cNvPr id="6" name="source-1"/>
          <p:cNvSpPr txBox="1"/>
          <p:nvPr/>
        </p:nvSpPr>
        <p:spPr>
          <a:xfrm>
            <a:off x="502920" y="4686633"/>
            <a:ext cx="8183879" cy="214551"/>
          </a:xfrm>
          <a:prstGeom prst="rect">
            <a:avLst/>
          </a:prstGeom>
          <a:noFill/>
        </p:spPr>
        <p:txBody>
          <a:bodyPr wrap="square" lIns="0" rIns="0" tIns="31671"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LongBench Team (2026-10-26参照), LongBench. </a:t>
            </a:r>
            <a:r>
              <a:rPr sz="800" b="0" lang="ja-JP" altLang="en-US">
                <a:solidFill>
                  <a:srgbClr val="626669"/>
                </a:solidFill>
                <a:latin typeface="Noto Sans"/>
                <a:ea typeface="Noto Sans CJK JP"/>
                <a:cs typeface="Noto Sans"/>
                <a:hlinkClick r:id="rId2"/>
              </a:rPr>
              <a:t>https://github.com/THUDM/LongBench</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長い入力の理解を、根拠のある選択で確かめる</a:t>
            </a:r>
          </a:p>
        </p:txBody>
      </p:sp>
      <p:sp>
        <p:nvSpPr>
          <p:cNvPr id="3" name="Text Placeholder 2"/>
          <p:cNvSpPr>
            <a:spLocks noGrp="1"/>
          </p:cNvSpPr>
          <p:nvPr>
            <p:ph type="body" idx="1"/>
          </p:nvPr>
        </p:nvSpPr>
        <p:spPr>
          <a:xfrm>
            <a:off x="594360" y="1463040"/>
            <a:ext cx="7955279" cy="3044952"/>
          </a:xfrm>
        </p:spPr>
        <p:txBody>
          <a:bodyPr wrap="square" tIns="91440" bIns="91440">
            <a:noAutofit/>
          </a:bodyPr>
          <a:lstStyle/>
          <a:p>
            <a:pPr marL="457200" indent="-355600">
              <a:lnSpc>
                <a:spcPts val="2618"/>
              </a:lnSpc>
              <a:spcAft>
                <a:spcPts val="70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LongBench v2は、六つの課題領域に503問を持つ、英語の長文理解ベンチマーク。人が読んだ資料と根拠を使い、理解・適用・比較を問う四択問題を作った。</a:t>
            </a:r>
          </a:p>
          <a:p>
            <a:pPr marL="457200" indent="-355600">
              <a:lnSpc>
                <a:spcPts val="2618"/>
              </a:lnSpc>
              <a:spcAft>
                <a:spcPts val="0"/>
              </a:spcAft>
              <a:buSzPct val="60455"/>
              <a:buFont typeface="Noto Sans CJK JP"/>
              <a:buChar char="●"/>
              <a:defRPr sz="2200" b="0">
                <a:solidFill>
                  <a:srgbClr val="303437"/>
                </a:solidFill>
                <a:latin typeface="Noto Sans"/>
              </a:defRPr>
            </a:pPr>
            <a:r>
              <a:rPr sz="2200" b="0" lang="ja-JP" altLang="en-US">
                <a:solidFill>
                  <a:srgbClr val="303437"/>
                </a:solidFill>
                <a:latin typeface="Noto Sans"/>
                <a:ea typeface="Noto Sans CJK JP"/>
                <a:cs typeface="Noto Sans"/>
              </a:rPr>
              <a:t>正解率とともに、本文の長さ、読む範囲、推論の設定を確認する。文書を受け付けられる長さだけでなく、その内容を使って答えを選ぶ力を調べられる。</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4. 長文理解の評価での利用と入手</a:t>
            </a:r>
          </a:p>
        </p:txBody>
      </p:sp>
      <p:sp>
        <p:nvSpPr>
          <p:cNvPr id="5" name="source-1"/>
          <p:cNvSpPr txBox="1"/>
          <p:nvPr/>
        </p:nvSpPr>
        <p:spPr>
          <a:xfrm>
            <a:off x="502920" y="4694755"/>
            <a:ext cx="8183879" cy="206429"/>
          </a:xfrm>
          <a:prstGeom prst="rect">
            <a:avLst/>
          </a:prstGeom>
          <a:noFill/>
        </p:spPr>
        <p:txBody>
          <a:bodyPr wrap="square" lIns="0" rIns="0" tIns="23549"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Bai et al. (2024), LongBench v2. </a:t>
            </a:r>
            <a:r>
              <a:rPr sz="800" b="0" lang="ja-JP" altLang="en-US">
                <a:solidFill>
                  <a:srgbClr val="626669"/>
                </a:solidFill>
                <a:latin typeface="Noto Sans"/>
                <a:ea typeface="Noto Sans CJK JP"/>
                <a:cs typeface="Noto Sans"/>
                <a:hlinkClick r:id="rId2"/>
              </a:rPr>
              <a:t>https://arxiv.org/abs/2412.15204</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381203"/>
            <a:ext cx="8046720" cy="813514"/>
          </a:xfrm>
        </p:spPr>
        <p:txBody>
          <a:bodyPr wrap="square" lIns="0" rIns="0" tIns="0" bIns="21035" anchor="ctr">
            <a:noAutofit/>
          </a:bodyPr>
          <a:lstStyle/>
          <a:p>
            <a:pPr algn="ctr">
              <a:lnSpc>
                <a:spcPct val="110000"/>
              </a:lnSpc>
              <a:buNone/>
              <a:defRPr sz="4600" b="0">
                <a:solidFill>
                  <a:srgbClr val="303437"/>
                </a:solidFill>
                <a:latin typeface="Noto Sans"/>
              </a:defRPr>
            </a:pPr>
            <a:r>
              <a:rPr sz="4600" b="1" lang="ja-JP" altLang="en-US">
                <a:solidFill>
                  <a:srgbClr val="303437"/>
                </a:solidFill>
                <a:latin typeface="Noto Sans"/>
                <a:ea typeface="Noto Sans CJK JP"/>
                <a:cs typeface="Noto Sans"/>
              </a:rPr>
              <a:t>Appendix</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
            </a:r>
          </a:p>
        </p:txBody>
      </p:sp>
      <p:sp>
        <p:nvSpPr>
          <p:cNvPr id="3" name="Text Placeholder 2"/>
          <p:cNvSpPr>
            <a:spLocks noGrp="1"/>
          </p:cNvSpPr>
          <p:nvPr>
            <p:ph type="body" idx="1"/>
          </p:nvPr>
        </p:nvSpPr>
        <p:spPr>
          <a:xfrm>
            <a:off x="640080" y="1972511"/>
            <a:ext cx="7863840" cy="1744980"/>
          </a:xfrm>
        </p:spPr>
        <p:txBody>
          <a:bodyPr lIns="0" rIns="0" tIns="0" bIns="0">
            <a:noAutofit/>
          </a:bodyPr>
          <a:lstStyle/>
          <a:p>
            <a:pPr marL="457200" indent="-457200">
              <a:lnSpc>
                <a:spcPts val="3660"/>
              </a:lnSpc>
              <a:spcAft>
                <a:spcPts val="1200"/>
              </a:spcAft>
              <a:buSzPct val="100000"/>
              <a:buFont typeface="Noto Sans CJK JP"/>
              <a:buAutoNum type="arabicPeriod" startAt="1"/>
              <a:defRPr sz="3000" b="1">
                <a:solidFill>
                  <a:srgbClr val="303437"/>
                </a:solidFill>
                <a:latin typeface="Noto Sans"/>
              </a:defRPr>
            </a:pPr>
            <a:r>
              <a:rPr sz="3000" b="1" lang="ja-JP" altLang="en-US">
                <a:solidFill>
                  <a:srgbClr val="303437"/>
                </a:solidFill>
                <a:latin typeface="Noto Sans"/>
                <a:ea typeface="Noto Sans CJK JP"/>
                <a:cs typeface="Noto Sans"/>
              </a:rPr>
              <a:t>異なる課題の追加例</a:t>
            </a:r>
          </a:p>
          <a:p>
            <a:pPr marL="457200" indent="-457200">
              <a:lnSpc>
                <a:spcPts val="3660"/>
              </a:lnSpc>
              <a:spcAft>
                <a:spcPts val="1200"/>
              </a:spcAft>
              <a:buSzPct val="100000"/>
              <a:buFont typeface="Noto Sans CJK JP"/>
              <a:buAutoNum type="arabicPeriod" startAt="2"/>
              <a:defRPr sz="3000" b="1">
                <a:solidFill>
                  <a:srgbClr val="303437"/>
                </a:solidFill>
                <a:latin typeface="Noto Sans"/>
              </a:defRPr>
            </a:pPr>
            <a:r>
              <a:rPr sz="3000" b="1" lang="ja-JP" altLang="en-US">
                <a:solidFill>
                  <a:srgbClr val="303437"/>
                </a:solidFill>
                <a:latin typeface="Noto Sans"/>
                <a:ea typeface="Noto Sans CJK JP"/>
                <a:cs typeface="Noto Sans"/>
              </a:rPr>
              <a:t>課題の内訳とバージョン</a:t>
            </a:r>
          </a:p>
          <a:p>
            <a:pPr marL="457200" indent="-457200">
              <a:lnSpc>
                <a:spcPts val="3660"/>
              </a:lnSpc>
              <a:spcAft>
                <a:spcPts val="0"/>
              </a:spcAft>
              <a:buSzPct val="100000"/>
              <a:buFont typeface="Noto Sans CJK JP"/>
              <a:buAutoNum type="arabicPeriod" startAt="3"/>
              <a:defRPr sz="3000" b="1">
                <a:solidFill>
                  <a:srgbClr val="303437"/>
                </a:solidFill>
                <a:latin typeface="Noto Sans"/>
              </a:defRPr>
            </a:pPr>
            <a:r>
              <a:rPr sz="3000" b="1" lang="ja-JP" altLang="en-US">
                <a:solidFill>
                  <a:srgbClr val="303437"/>
                </a:solidFill>
                <a:latin typeface="Noto Sans"/>
                <a:ea typeface="Noto Sans CJK JP"/>
                <a:cs typeface="Noto Sans"/>
              </a:rPr>
              <a:t>参考文献</a:t>
            </a:r>
          </a:p>
        </p:txBody>
      </p:sp>
      <p:sp>
        <p:nvSpPr>
          <p:cNvPr id="4" name="Title 3"/>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目次</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479443"/>
            <a:ext cx="8046720" cy="640080"/>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1. 異なる課題の追加例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異なる課題の追加例</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例4 電池モデルの容量を合わせる：設問の原文</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異なる課題の追加例</a:t>
            </a:r>
          </a:p>
        </p:txBody>
      </p:sp>
      <p:sp>
        <p:nvSpPr>
          <p:cNvPr id="4" name="TextBox 3"/>
          <p:cNvSpPr txBox="1"/>
          <p:nvPr/>
        </p:nvSpPr>
        <p:spPr>
          <a:xfrm>
            <a:off x="548640" y="1280160"/>
            <a:ext cx="804672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設問と四つの選択肢（全文）</a:t>
            </a:r>
          </a:p>
        </p:txBody>
      </p:sp>
      <p:sp>
        <p:nvSpPr>
          <p:cNvPr id="5" name="quote-frame"/>
          <p:cNvSpPr/>
          <p:nvPr/>
        </p:nvSpPr>
        <p:spPr>
          <a:xfrm>
            <a:off x="548640" y="1508760"/>
            <a:ext cx="8046720" cy="2064384"/>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88900" bIns="114300">
            <a:noAutofit/>
          </a:bodyPr>
          <a:lstStyle/>
          <a:p>
            <a:pPr algn="l" marL="0" indent="0">
              <a:lnSpc>
                <a:spcPts val="2065"/>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According to this tutorial, for a cell being calibrated, if the current autolion battery capacity display does not match the experimental value, how to quickly and significantly adjust?
A: Change electrochemical materials in the GT library
B: Change the cathode and anode coating areas
C: Define different Cathode Loading cases
D: Change 7 properties related to battery balance</a:t>
            </a:r>
          </a:p>
        </p:txBody>
      </p:sp>
      <p:sp>
        <p:nvSpPr>
          <p:cNvPr id="6" name="source-1"/>
          <p:cNvSpPr txBox="1"/>
          <p:nvPr/>
        </p:nvSpPr>
        <p:spPr>
          <a:xfrm>
            <a:off x="502920" y="4686633"/>
            <a:ext cx="8183879" cy="214551"/>
          </a:xfrm>
          <a:prstGeom prst="rect">
            <a:avLst/>
          </a:prstGeom>
          <a:noFill/>
        </p:spPr>
        <p:txBody>
          <a:bodyPr wrap="square" lIns="0" rIns="0" tIns="31671"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LongBench Team (2026-10-26参照), LongBench v2. </a:t>
            </a:r>
            <a:r>
              <a:rPr sz="800" b="0" lang="ja-JP" altLang="en-US">
                <a:solidFill>
                  <a:srgbClr val="626669"/>
                </a:solidFill>
                <a:latin typeface="Noto Sans"/>
                <a:ea typeface="Noto Sans CJK JP"/>
                <a:cs typeface="Noto Sans"/>
                <a:hlinkClick r:id="rId2"/>
              </a:rPr>
              <a:t>https://huggingface.co/datasets/THUDM/LongBench-v2</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450" b="0">
                <a:solidFill>
                  <a:srgbClr val="303437"/>
                </a:solidFill>
                <a:latin typeface="Noto Sans"/>
              </a:defRPr>
            </a:pPr>
            <a:r>
              <a:rPr sz="2450" b="1" lang="ja-JP" altLang="en-US">
                <a:solidFill>
                  <a:srgbClr val="303437"/>
                </a:solidFill>
                <a:latin typeface="Noto Sans"/>
                <a:ea typeface="Noto Sans CJK JP"/>
                <a:cs typeface="Noto Sans"/>
              </a:rPr>
              <a:t>例4 電池モデルの容量を合わせる：本文の抜粋（1/2）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異なる課題の追加例</a:t>
            </a:r>
          </a:p>
        </p:txBody>
      </p:sp>
      <p:sp>
        <p:nvSpPr>
          <p:cNvPr id="4" name="TextBox 3"/>
          <p:cNvSpPr txBox="1"/>
          <p:nvPr/>
        </p:nvSpPr>
        <p:spPr>
          <a:xfrm>
            <a:off x="548640" y="1316736"/>
            <a:ext cx="8046720" cy="210312"/>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AutoLion教材の原文（容量を合わせる手順の抜粋）</a:t>
            </a:r>
          </a:p>
        </p:txBody>
      </p:sp>
      <p:sp>
        <p:nvSpPr>
          <p:cNvPr id="5" name="quote-frame"/>
          <p:cNvSpPr/>
          <p:nvPr/>
        </p:nvSpPr>
        <p:spPr>
          <a:xfrm>
            <a:off x="548640" y="1581912"/>
            <a:ext cx="8046720" cy="232664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88900" bIns="114300">
            <a:noAutofit/>
          </a:bodyPr>
          <a:lstStyle/>
          <a:p>
            <a:pPr algn="l" marL="0" indent="0">
              <a:lnSpc>
                <a:spcPts val="2065"/>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20. Based upon these results, it is clear that the capacity of the AutoLion cell is much higher than the capacity of the physical (“Experimental”) cell. The overall shape of the two curves seem very similar, but the AutoLion curve appears more “stretched” in the Time axis. Because of this, we should go back to the AutoLion model and vary the Cathode’s “Capacity Loading” attribute until the capacity of the cell more aligns with the experimental data.
[...]</a:t>
            </a:r>
          </a:p>
        </p:txBody>
      </p:sp>
      <p:sp>
        <p:nvSpPr>
          <p:cNvPr id="6" name="source-1"/>
          <p:cNvSpPr txBox="1"/>
          <p:nvPr/>
        </p:nvSpPr>
        <p:spPr>
          <a:xfrm>
            <a:off x="502920" y="4686633"/>
            <a:ext cx="8183879" cy="214551"/>
          </a:xfrm>
          <a:prstGeom prst="rect">
            <a:avLst/>
          </a:prstGeom>
          <a:noFill/>
        </p:spPr>
        <p:txBody>
          <a:bodyPr wrap="square" lIns="0" rIns="0" tIns="31671"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LongBench Team (2026-10-26参照), LongBench v2. </a:t>
            </a:r>
            <a:r>
              <a:rPr sz="800" b="0" lang="ja-JP" altLang="en-US">
                <a:solidFill>
                  <a:srgbClr val="626669"/>
                </a:solidFill>
                <a:latin typeface="Noto Sans"/>
                <a:ea typeface="Noto Sans CJK JP"/>
                <a:cs typeface="Noto Sans"/>
                <a:hlinkClick r:id="rId2"/>
              </a:rPr>
              <a:t>https://huggingface.co/datasets/THUDM/LongBench-v2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450" b="0">
                <a:solidFill>
                  <a:srgbClr val="303437"/>
                </a:solidFill>
                <a:latin typeface="Noto Sans"/>
              </a:defRPr>
            </a:pPr>
            <a:r>
              <a:rPr sz="2450" b="1" lang="ja-JP" altLang="en-US">
                <a:solidFill>
                  <a:srgbClr val="303437"/>
                </a:solidFill>
                <a:latin typeface="Noto Sans"/>
                <a:ea typeface="Noto Sans CJK JP"/>
                <a:cs typeface="Noto Sans"/>
              </a:rPr>
              <a:t>例4 電池モデルの容量を合わせる：本文の抜粋（2/2）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異なる課題の追加例</a:t>
            </a:r>
          </a:p>
        </p:txBody>
      </p:sp>
      <p:sp>
        <p:nvSpPr>
          <p:cNvPr id="4" name="TextBox 3"/>
          <p:cNvSpPr txBox="1"/>
          <p:nvPr/>
        </p:nvSpPr>
        <p:spPr>
          <a:xfrm>
            <a:off x="548640" y="1316736"/>
            <a:ext cx="8046720" cy="210312"/>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AutoLion教材の原文（容量を合わせる手順の抜粋）</a:t>
            </a:r>
          </a:p>
        </p:txBody>
      </p:sp>
      <p:sp>
        <p:nvSpPr>
          <p:cNvPr id="5" name="quote-frame"/>
          <p:cNvSpPr/>
          <p:nvPr/>
        </p:nvSpPr>
        <p:spPr>
          <a:xfrm>
            <a:off x="548640" y="1581912"/>
            <a:ext cx="8046720" cy="127762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88900" bIns="114300">
            <a:noAutofit/>
          </a:bodyPr>
          <a:lstStyle/>
          <a:p>
            <a:pPr algn="l" marL="0" indent="0">
              <a:lnSpc>
                <a:spcPts val="2065"/>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22.In Case Setup: a) Click the “Append Cases” button 9 times or use the “Append Multiple Cases” option to append 9 new cases b) Sweep the “CathodeLoading” attribute from 3.0 to 3.9 in increments of 0.1 across the 10 cases.</a:t>
            </a:r>
          </a:p>
        </p:txBody>
      </p:sp>
      <p:sp>
        <p:nvSpPr>
          <p:cNvPr id="6" name="source-1"/>
          <p:cNvSpPr txBox="1"/>
          <p:nvPr/>
        </p:nvSpPr>
        <p:spPr>
          <a:xfrm>
            <a:off x="502920" y="4686633"/>
            <a:ext cx="8183879" cy="214551"/>
          </a:xfrm>
          <a:prstGeom prst="rect">
            <a:avLst/>
          </a:prstGeom>
          <a:noFill/>
        </p:spPr>
        <p:txBody>
          <a:bodyPr wrap="square" lIns="0" rIns="0" tIns="31671"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LongBench Team (2026-10-26参照), LongBench v2. </a:t>
            </a:r>
            <a:r>
              <a:rPr sz="800" b="0" lang="ja-JP" altLang="en-US">
                <a:solidFill>
                  <a:srgbClr val="626669"/>
                </a:solidFill>
                <a:latin typeface="Noto Sans"/>
                <a:ea typeface="Noto Sans CJK JP"/>
                <a:cs typeface="Noto Sans"/>
                <a:hlinkClick r:id="rId2"/>
              </a:rPr>
              <a:t>https://huggingface.co/datasets/THUDM/LongBench-v2</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600" b="0">
                <a:solidFill>
                  <a:srgbClr val="303437"/>
                </a:solidFill>
                <a:latin typeface="Noto Sans"/>
              </a:defRPr>
            </a:pPr>
            <a:r>
              <a:rPr sz="2600" b="1" lang="ja-JP" altLang="en-US">
                <a:solidFill>
                  <a:srgbClr val="303437"/>
                </a:solidFill>
                <a:latin typeface="Noto Sans"/>
                <a:ea typeface="Noto Sans CJK JP"/>
                <a:cs typeface="Noto Sans"/>
              </a:rPr>
              <a:t>例4 電池モデルの容量を合わせる：設問の日本語訳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異なる課題の追加例</a:t>
            </a:r>
          </a:p>
        </p:txBody>
      </p:sp>
      <p:sp>
        <p:nvSpPr>
          <p:cNvPr id="4" name="TextBox 3"/>
          <p:cNvSpPr txBox="1"/>
          <p:nvPr/>
        </p:nvSpPr>
        <p:spPr>
          <a:xfrm>
            <a:off x="594360" y="1362456"/>
            <a:ext cx="7955279"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設問と選択肢の日本語訳</a:t>
            </a:r>
          </a:p>
        </p:txBody>
      </p:sp>
      <p:sp>
        <p:nvSpPr>
          <p:cNvPr id="5" name="japanese-question"/>
          <p:cNvSpPr txBox="1"/>
          <p:nvPr/>
        </p:nvSpPr>
        <p:spPr>
          <a:xfrm>
            <a:off x="594360" y="1645920"/>
            <a:ext cx="7955279" cy="1721612"/>
          </a:xfrm>
          <a:prstGeom prst="rect">
            <a:avLst/>
          </a:prstGeom>
          <a:noFill/>
        </p:spPr>
        <p:txBody>
          <a:bodyPr wrap="square" lIns="0" rIns="0" tIns="0" bIns="0">
            <a:noAutofit/>
          </a:bodyPr>
          <a:lstStyle/>
          <a:p>
            <a:pPr algn="l">
              <a:lnSpc>
                <a:spcPts val="210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校正中のセルについて、AutoLionに表示される容量が実験値と一致しないとき、短時間で大きく調整する方法はどれか。</a:t>
            </a:r>
          </a:p>
          <a:p>
            <a:pPr algn="l">
              <a:lnSpc>
                <a:spcPts val="210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A：GTライブラリの電極材料を変える。</a:t>
            </a:r>
          </a:p>
          <a:p>
            <a:pPr algn="l">
              <a:lnSpc>
                <a:spcPts val="210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B：正極と負極の塗工面積を変える。</a:t>
            </a:r>
          </a:p>
          <a:p>
            <a:pPr algn="l">
              <a:lnSpc>
                <a:spcPts val="210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C：Cathode Loadingを変えた複数のケースを設定する。</a:t>
            </a:r>
          </a:p>
          <a:p>
            <a:pPr algn="l">
              <a:lnSpc>
                <a:spcPts val="210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D：セルのバランスに関係する七つの特性を変える。</a:t>
            </a:r>
          </a:p>
        </p:txBody>
      </p:sp>
      <p:sp>
        <p:nvSpPr>
          <p:cNvPr id="6" name="source-1"/>
          <p:cNvSpPr txBox="1"/>
          <p:nvPr/>
        </p:nvSpPr>
        <p:spPr>
          <a:xfrm>
            <a:off x="502920" y="4686633"/>
            <a:ext cx="8183879" cy="214551"/>
          </a:xfrm>
          <a:prstGeom prst="rect">
            <a:avLst/>
          </a:prstGeom>
          <a:noFill/>
        </p:spPr>
        <p:txBody>
          <a:bodyPr wrap="square" lIns="0" rIns="0" tIns="31671"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LongBench Team (2026-10-26参照), LongBench v2. </a:t>
            </a:r>
            <a:r>
              <a:rPr sz="800" b="0" lang="ja-JP" altLang="en-US">
                <a:solidFill>
                  <a:srgbClr val="626669"/>
                </a:solidFill>
                <a:latin typeface="Noto Sans"/>
                <a:ea typeface="Noto Sans CJK JP"/>
                <a:cs typeface="Noto Sans"/>
                <a:hlinkClick r:id="rId2"/>
              </a:rPr>
              <a:t>https://huggingface.co/datasets/THUDM/LongBench-v2</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例4 電池モデルの容量を合わせる：答えの理由</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異なる課題の追加例</a:t>
            </a:r>
          </a:p>
        </p:txBody>
      </p:sp>
      <p:sp>
        <p:nvSpPr>
          <p:cNvPr id="4" name="expected-answer"/>
          <p:cNvSpPr txBox="1"/>
          <p:nvPr/>
        </p:nvSpPr>
        <p:spPr>
          <a:xfrm>
            <a:off x="594360" y="1408176"/>
            <a:ext cx="7955279" cy="436308"/>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正解：C：Cathode Loadingを変えたケースを設定する。</a:t>
            </a:r>
          </a:p>
        </p:txBody>
      </p:sp>
      <p:sp>
        <p:nvSpPr>
          <p:cNvPr id="5" name="japanese-context-explanation"/>
          <p:cNvSpPr txBox="1"/>
          <p:nvPr/>
        </p:nvSpPr>
        <p:spPr>
          <a:xfrm>
            <a:off x="594360" y="1917636"/>
            <a:ext cx="7955279" cy="919226"/>
          </a:xfrm>
          <a:prstGeom prst="rect">
            <a:avLst/>
          </a:prstGeom>
          <a:noFill/>
        </p:spPr>
        <p:txBody>
          <a:bodyPr wrap="square" lIns="0" rIns="0" tIns="0" bIns="0">
            <a:noAutofit/>
          </a:bodyPr>
          <a:lstStyle/>
          <a:p>
            <a:pPr algn="l">
              <a:lnSpc>
                <a:spcPts val="210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計算上の容量が実験値を上回るため、正極の活物質の量に関わるCathode Loadingを変えて比較する。教材では10ケースを用意し、3.0から3.9まで0.1ずつ変える。</a:t>
            </a:r>
          </a:p>
        </p:txBody>
      </p:sp>
      <p:sp>
        <p:nvSpPr>
          <p:cNvPr id="6" name="source-1"/>
          <p:cNvSpPr txBox="1"/>
          <p:nvPr/>
        </p:nvSpPr>
        <p:spPr>
          <a:xfrm>
            <a:off x="502920" y="4686633"/>
            <a:ext cx="8183879" cy="214551"/>
          </a:xfrm>
          <a:prstGeom prst="rect">
            <a:avLst/>
          </a:prstGeom>
          <a:noFill/>
        </p:spPr>
        <p:txBody>
          <a:bodyPr wrap="square" lIns="0" rIns="0" tIns="31671"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LongBench Team (2026-10-26参照), LongBench v2. </a:t>
            </a:r>
            <a:r>
              <a:rPr sz="800" b="0" lang="ja-JP" altLang="en-US">
                <a:solidFill>
                  <a:srgbClr val="626669"/>
                </a:solidFill>
                <a:latin typeface="Noto Sans"/>
                <a:ea typeface="Noto Sans CJK JP"/>
                <a:cs typeface="Noto Sans"/>
                <a:hlinkClick r:id="rId2"/>
              </a:rPr>
              <a:t>https://huggingface.co/datasets/THUDM/LongBench-v2</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600" b="0">
                <a:solidFill>
                  <a:srgbClr val="303437"/>
                </a:solidFill>
                <a:latin typeface="Noto Sans"/>
              </a:defRPr>
            </a:pPr>
            <a:r>
              <a:rPr sz="2600" b="1" lang="ja-JP" altLang="en-US">
                <a:solidFill>
                  <a:srgbClr val="303437"/>
                </a:solidFill>
                <a:latin typeface="Noto Sans"/>
                <a:ea typeface="Noto Sans CJK JP"/>
                <a:cs typeface="Noto Sans"/>
              </a:rPr>
              <a:t>例5 注意機構を計算するクラスを探す：設問の原文</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異なる課題の追加例</a:t>
            </a:r>
          </a:p>
        </p:txBody>
      </p:sp>
      <p:sp>
        <p:nvSpPr>
          <p:cNvPr id="4" name="TextBox 3"/>
          <p:cNvSpPr txBox="1"/>
          <p:nvPr/>
        </p:nvSpPr>
        <p:spPr>
          <a:xfrm>
            <a:off x="548640" y="1280160"/>
            <a:ext cx="804672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設問と四つの選択肢（全文）</a:t>
            </a:r>
          </a:p>
        </p:txBody>
      </p:sp>
      <p:sp>
        <p:nvSpPr>
          <p:cNvPr id="5" name="quote-frame"/>
          <p:cNvSpPr/>
          <p:nvPr/>
        </p:nvSpPr>
        <p:spPr>
          <a:xfrm>
            <a:off x="548640" y="1508760"/>
            <a:ext cx="8046720" cy="180212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88900" bIns="114300">
            <a:noAutofit/>
          </a:bodyPr>
          <a:lstStyle/>
          <a:p>
            <a:pPr algn="l" marL="0" indent="0">
              <a:lnSpc>
                <a:spcPts val="2065"/>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If I want to modify BLIP's VQA architecture and load parameters from the caption architecture, but only change the middleware, specifically the internal computation logic of the attention mechanism within the middleware, which class should I modify?
A: BertLayer / B: BertAttention
C: BertSelfAttention / D: BertIntermediate</a:t>
            </a:r>
          </a:p>
        </p:txBody>
      </p:sp>
      <p:sp>
        <p:nvSpPr>
          <p:cNvPr id="6" name="source-1"/>
          <p:cNvSpPr txBox="1"/>
          <p:nvPr/>
        </p:nvSpPr>
        <p:spPr>
          <a:xfrm>
            <a:off x="502920" y="4686633"/>
            <a:ext cx="8183879" cy="214551"/>
          </a:xfrm>
          <a:prstGeom prst="rect">
            <a:avLst/>
          </a:prstGeom>
          <a:noFill/>
        </p:spPr>
        <p:txBody>
          <a:bodyPr wrap="square" lIns="0" rIns="0" tIns="31671"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LongBench Team (2026-10-26参照), LongBench v2. </a:t>
            </a:r>
            <a:r>
              <a:rPr sz="800" b="0" lang="ja-JP" altLang="en-US">
                <a:solidFill>
                  <a:srgbClr val="626669"/>
                </a:solidFill>
                <a:latin typeface="Noto Sans"/>
                <a:ea typeface="Noto Sans CJK JP"/>
                <a:cs typeface="Noto Sans"/>
                <a:hlinkClick r:id="rId2"/>
              </a:rPr>
              <a:t>https://huggingface.co/datasets/THUDM/LongBench-v2</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600" b="0">
                <a:solidFill>
                  <a:srgbClr val="303437"/>
                </a:solidFill>
                <a:latin typeface="Noto Sans"/>
              </a:defRPr>
            </a:pPr>
            <a:r>
              <a:rPr sz="2600" b="1" lang="ja-JP" altLang="en-US">
                <a:solidFill>
                  <a:srgbClr val="303437"/>
                </a:solidFill>
                <a:latin typeface="Noto Sans"/>
                <a:ea typeface="Noto Sans CJK JP"/>
                <a:cs typeface="Noto Sans"/>
              </a:rPr>
              <a:t>例5 注意機構を計算するクラスを探す：本文の抜粋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異なる課題の追加例</a:t>
            </a:r>
          </a:p>
        </p:txBody>
      </p:sp>
      <p:sp>
        <p:nvSpPr>
          <p:cNvPr id="4" name="TextBox 3"/>
          <p:cNvSpPr txBox="1"/>
          <p:nvPr/>
        </p:nvSpPr>
        <p:spPr>
          <a:xfrm>
            <a:off x="548640" y="1316736"/>
            <a:ext cx="8046720" cy="210312"/>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BertSelfAttentionの原文コード（抜粋・改行整形）</a:t>
            </a:r>
          </a:p>
        </p:txBody>
      </p:sp>
      <p:sp>
        <p:nvSpPr>
          <p:cNvPr id="5" name="code-frame"/>
          <p:cNvSpPr/>
          <p:nvPr/>
        </p:nvSpPr>
        <p:spPr>
          <a:xfrm>
            <a:off x="548640" y="1581912"/>
            <a:ext cx="8046720" cy="299466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88900" bIns="114300">
            <a:noAutofit/>
          </a:bodyPr>
          <a:lstStyle/>
          <a:p>
            <a:pPr algn="l" marL="0" indent="0">
              <a:lnSpc>
                <a:spcPts val="1815"/>
              </a:lnSpc>
              <a:spcBef>
                <a:spcPts val="0"/>
              </a:spcBef>
              <a:spcAft>
                <a:spcPts val="0"/>
              </a:spcAft>
              <a:buNone/>
              <a:defRPr sz="1650" b="0">
                <a:solidFill>
                  <a:srgbClr val="303437"/>
                </a:solidFill>
                <a:latin typeface="Noto Sans"/>
              </a:defRPr>
            </a:pPr>
            <a:r>
              <a:rPr sz="1650" b="0" lang="ja-JP" altLang="en-US">
                <a:solidFill>
                  <a:srgbClr val="303437"/>
                </a:solidFill>
                <a:latin typeface="Liberation Mono"/>
                <a:ea typeface="Noto Sans CJK JP"/>
                <a:cs typeface="Liberation Mono"/>
              </a:rPr>
              <a:t>class BertSelfAttention(nn.Module):</a:t>
            </a:r>
          </a:p>
          <a:p>
            <a:pPr algn="l" marL="0" indent="0">
              <a:lnSpc>
                <a:spcPts val="1815"/>
              </a:lnSpc>
              <a:spcBef>
                <a:spcPts val="0"/>
              </a:spcBef>
              <a:spcAft>
                <a:spcPts val="0"/>
              </a:spcAft>
              <a:buNone/>
              <a:defRPr sz="1650" b="0">
                <a:solidFill>
                  <a:srgbClr val="303437"/>
                </a:solidFill>
                <a:latin typeface="Noto Sans"/>
              </a:defRPr>
            </a:pPr>
            <a:r>
              <a:rPr sz="1650" b="0" lang="ja-JP" altLang="en-US">
                <a:solidFill>
                  <a:srgbClr val="303437"/>
                </a:solidFill>
                <a:latin typeface="Liberation Mono"/>
                <a:ea typeface="Noto Sans CJK JP"/>
                <a:cs typeface="Liberation Mono"/>
              </a:rPr>
              <a:t>[...]</a:t>
            </a:r>
          </a:p>
          <a:p>
            <a:pPr algn="l" marL="0" indent="0">
              <a:lnSpc>
                <a:spcPts val="1815"/>
              </a:lnSpc>
              <a:spcBef>
                <a:spcPts val="0"/>
              </a:spcBef>
              <a:spcAft>
                <a:spcPts val="0"/>
              </a:spcAft>
              <a:buNone/>
              <a:defRPr sz="1650" b="0">
                <a:solidFill>
                  <a:srgbClr val="303437"/>
                </a:solidFill>
                <a:latin typeface="Noto Sans"/>
              </a:defRPr>
            </a:pPr>
            <a:r>
              <a:rPr sz="1650" b="0" lang="ja-JP" altLang="en-US">
                <a:solidFill>
                  <a:srgbClr val="303437"/>
                </a:solidFill>
                <a:latin typeface="Liberation Mono"/>
                <a:ea typeface="Noto Sans CJK JP"/>
                <a:cs typeface="Liberation Mono"/>
              </a:rPr>
              <a:t>self.query = nn.Linear(</a:t>
            </a:r>
          </a:p>
          <a:p>
            <a:pPr algn="l" marL="0" indent="0">
              <a:lnSpc>
                <a:spcPts val="1815"/>
              </a:lnSpc>
              <a:spcBef>
                <a:spcPts val="0"/>
              </a:spcBef>
              <a:spcAft>
                <a:spcPts val="0"/>
              </a:spcAft>
              <a:buNone/>
              <a:defRPr sz="1650" b="0">
                <a:solidFill>
                  <a:srgbClr val="303437"/>
                </a:solidFill>
                <a:latin typeface="Noto Sans"/>
              </a:defRPr>
            </a:pPr>
            <a:r>
              <a:rPr sz="1650" b="0" lang="ja-JP" altLang="en-US">
                <a:solidFill>
                  <a:srgbClr val="303437"/>
                </a:solidFill>
                <a:latin typeface="Liberation Mono"/>
                <a:ea typeface="Noto Sans CJK JP"/>
                <a:cs typeface="Liberation Mono"/>
              </a:rPr>
              <a:t>    config.hidden_size, self.all_head_size</a:t>
            </a:r>
          </a:p>
          <a:p>
            <a:pPr algn="l" marL="0" indent="0">
              <a:lnSpc>
                <a:spcPts val="1815"/>
              </a:lnSpc>
              <a:spcBef>
                <a:spcPts val="0"/>
              </a:spcBef>
              <a:spcAft>
                <a:spcPts val="0"/>
              </a:spcAft>
              <a:buNone/>
              <a:defRPr sz="1650" b="0">
                <a:solidFill>
                  <a:srgbClr val="303437"/>
                </a:solidFill>
                <a:latin typeface="Noto Sans"/>
              </a:defRPr>
            </a:pPr>
            <a:r>
              <a:rPr sz="1650" b="0" lang="ja-JP" altLang="en-US">
                <a:solidFill>
                  <a:srgbClr val="303437"/>
                </a:solidFill>
                <a:latin typeface="Liberation Mono"/>
                <a:ea typeface="Noto Sans CJK JP"/>
                <a:cs typeface="Liberation Mono"/>
              </a:rPr>
              <a:t>)</a:t>
            </a:r>
          </a:p>
          <a:p>
            <a:pPr algn="l" marL="0" indent="0">
              <a:lnSpc>
                <a:spcPts val="1815"/>
              </a:lnSpc>
              <a:spcBef>
                <a:spcPts val="0"/>
              </a:spcBef>
              <a:spcAft>
                <a:spcPts val="0"/>
              </a:spcAft>
              <a:buNone/>
              <a:defRPr sz="1650" b="0">
                <a:solidFill>
                  <a:srgbClr val="303437"/>
                </a:solidFill>
                <a:latin typeface="Noto Sans"/>
              </a:defRPr>
            </a:pPr>
            <a:r>
              <a:rPr sz="1650" b="0" lang="ja-JP" altLang="en-US">
                <a:solidFill>
                  <a:srgbClr val="303437"/>
                </a:solidFill>
                <a:latin typeface="Liberation Mono"/>
                <a:ea typeface="Noto Sans CJK JP"/>
                <a:cs typeface="Liberation Mono"/>
              </a:rPr>
              <a:t>[...]</a:t>
            </a:r>
          </a:p>
          <a:p>
            <a:pPr algn="l" marL="0" indent="0">
              <a:lnSpc>
                <a:spcPts val="1815"/>
              </a:lnSpc>
              <a:spcBef>
                <a:spcPts val="0"/>
              </a:spcBef>
              <a:spcAft>
                <a:spcPts val="0"/>
              </a:spcAft>
              <a:buNone/>
              <a:defRPr sz="1650" b="0">
                <a:solidFill>
                  <a:srgbClr val="303437"/>
                </a:solidFill>
                <a:latin typeface="Noto Sans"/>
              </a:defRPr>
            </a:pPr>
            <a:r>
              <a:rPr sz="1650" b="0" lang="ja-JP" altLang="en-US">
                <a:solidFill>
                  <a:srgbClr val="303437"/>
                </a:solidFill>
                <a:latin typeface="Liberation Mono"/>
                <a:ea typeface="Noto Sans CJK JP"/>
                <a:cs typeface="Liberation Mono"/>
              </a:rPr>
              <a:t>self.key = nn.Linear(</a:t>
            </a:r>
          </a:p>
          <a:p>
            <a:pPr algn="l" marL="0" indent="0">
              <a:lnSpc>
                <a:spcPts val="1815"/>
              </a:lnSpc>
              <a:spcBef>
                <a:spcPts val="0"/>
              </a:spcBef>
              <a:spcAft>
                <a:spcPts val="0"/>
              </a:spcAft>
              <a:buNone/>
              <a:defRPr sz="1650" b="0">
                <a:solidFill>
                  <a:srgbClr val="303437"/>
                </a:solidFill>
                <a:latin typeface="Noto Sans"/>
              </a:defRPr>
            </a:pPr>
            <a:r>
              <a:rPr sz="1650" b="0" lang="ja-JP" altLang="en-US">
                <a:solidFill>
                  <a:srgbClr val="303437"/>
                </a:solidFill>
                <a:latin typeface="Liberation Mono"/>
                <a:ea typeface="Noto Sans CJK JP"/>
                <a:cs typeface="Liberation Mono"/>
              </a:rPr>
              <a:t>    config.hidden_size, self.all_head_size</a:t>
            </a:r>
          </a:p>
          <a:p>
            <a:pPr algn="l" marL="0" indent="0">
              <a:lnSpc>
                <a:spcPts val="1815"/>
              </a:lnSpc>
              <a:spcBef>
                <a:spcPts val="0"/>
              </a:spcBef>
              <a:spcAft>
                <a:spcPts val="0"/>
              </a:spcAft>
              <a:buNone/>
              <a:defRPr sz="1650" b="0">
                <a:solidFill>
                  <a:srgbClr val="303437"/>
                </a:solidFill>
                <a:latin typeface="Noto Sans"/>
              </a:defRPr>
            </a:pPr>
            <a:r>
              <a:rPr sz="1650" b="0" lang="ja-JP" altLang="en-US">
                <a:solidFill>
                  <a:srgbClr val="303437"/>
                </a:solidFill>
                <a:latin typeface="Liberation Mono"/>
                <a:ea typeface="Noto Sans CJK JP"/>
                <a:cs typeface="Liberation Mono"/>
              </a:rPr>
              <a:t>)</a:t>
            </a:r>
          </a:p>
          <a:p>
            <a:pPr algn="l" marL="0" indent="0">
              <a:lnSpc>
                <a:spcPts val="1815"/>
              </a:lnSpc>
              <a:spcBef>
                <a:spcPts val="0"/>
              </a:spcBef>
              <a:spcAft>
                <a:spcPts val="0"/>
              </a:spcAft>
              <a:buNone/>
              <a:defRPr sz="1650" b="0">
                <a:solidFill>
                  <a:srgbClr val="303437"/>
                </a:solidFill>
                <a:latin typeface="Noto Sans"/>
              </a:defRPr>
            </a:pPr>
            <a:r>
              <a:rPr sz="1650" b="0" lang="ja-JP" altLang="en-US">
                <a:solidFill>
                  <a:srgbClr val="303437"/>
                </a:solidFill>
                <a:latin typeface="Liberation Mono"/>
                <a:ea typeface="Noto Sans CJK JP"/>
                <a:cs typeface="Liberation Mono"/>
              </a:rPr>
              <a:t>self.value = nn.Linear(</a:t>
            </a:r>
          </a:p>
          <a:p>
            <a:pPr algn="l" marL="0" indent="0">
              <a:lnSpc>
                <a:spcPts val="1815"/>
              </a:lnSpc>
              <a:spcBef>
                <a:spcPts val="0"/>
              </a:spcBef>
              <a:spcAft>
                <a:spcPts val="0"/>
              </a:spcAft>
              <a:buNone/>
              <a:defRPr sz="1650" b="0">
                <a:solidFill>
                  <a:srgbClr val="303437"/>
                </a:solidFill>
                <a:latin typeface="Noto Sans"/>
              </a:defRPr>
            </a:pPr>
            <a:r>
              <a:rPr sz="1650" b="0" lang="ja-JP" altLang="en-US">
                <a:solidFill>
                  <a:srgbClr val="303437"/>
                </a:solidFill>
                <a:latin typeface="Liberation Mono"/>
                <a:ea typeface="Noto Sans CJK JP"/>
                <a:cs typeface="Liberation Mono"/>
              </a:rPr>
              <a:t>    config.hidden_size, self.all_head_size</a:t>
            </a:r>
          </a:p>
          <a:p>
            <a:pPr algn="l" marL="0" indent="0">
              <a:lnSpc>
                <a:spcPts val="1815"/>
              </a:lnSpc>
              <a:spcBef>
                <a:spcPts val="0"/>
              </a:spcBef>
              <a:spcAft>
                <a:spcPts val="0"/>
              </a:spcAft>
              <a:buNone/>
              <a:defRPr sz="1650" b="0">
                <a:solidFill>
                  <a:srgbClr val="303437"/>
                </a:solidFill>
                <a:latin typeface="Noto Sans"/>
              </a:defRPr>
            </a:pPr>
            <a:r>
              <a:rPr sz="1650" b="0" lang="ja-JP" altLang="en-US">
                <a:solidFill>
                  <a:srgbClr val="303437"/>
                </a:solidFill>
                <a:latin typeface="Liberation Mono"/>
                <a:ea typeface="Noto Sans CJK JP"/>
                <a:cs typeface="Liberation Mono"/>
              </a:rPr>
              <a:t>)</a:t>
            </a:r>
          </a:p>
        </p:txBody>
      </p:sp>
      <p:sp>
        <p:nvSpPr>
          <p:cNvPr id="6" name="source-1"/>
          <p:cNvSpPr txBox="1"/>
          <p:nvPr/>
        </p:nvSpPr>
        <p:spPr>
          <a:xfrm>
            <a:off x="502920" y="4686633"/>
            <a:ext cx="8183879" cy="214551"/>
          </a:xfrm>
          <a:prstGeom prst="rect">
            <a:avLst/>
          </a:prstGeom>
          <a:noFill/>
        </p:spPr>
        <p:txBody>
          <a:bodyPr wrap="square" lIns="0" rIns="0" tIns="31671"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LongBench Team (2026-10-26参照), LongBench v2. </a:t>
            </a:r>
            <a:r>
              <a:rPr sz="800" b="0" lang="ja-JP" altLang="en-US">
                <a:solidFill>
                  <a:srgbClr val="626669"/>
                </a:solidFill>
                <a:latin typeface="Noto Sans"/>
                <a:ea typeface="Noto Sans CJK JP"/>
                <a:cs typeface="Noto Sans"/>
                <a:hlinkClick r:id="rId2"/>
              </a:rPr>
              <a:t>https://huggingface.co/datasets/THUDM/LongBench-v2</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600" b="0">
                <a:solidFill>
                  <a:srgbClr val="303437"/>
                </a:solidFill>
                <a:latin typeface="Noto Sans"/>
              </a:defRPr>
            </a:pPr>
            <a:r>
              <a:rPr sz="2600" b="1" lang="ja-JP" altLang="en-US">
                <a:solidFill>
                  <a:srgbClr val="303437"/>
                </a:solidFill>
                <a:latin typeface="Noto Sans"/>
                <a:ea typeface="Noto Sans CJK JP"/>
                <a:cs typeface="Noto Sans"/>
              </a:rPr>
              <a:t>例5 注意機構を計算するクラスを探す：本文の抜粋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異なる課題の追加例</a:t>
            </a:r>
          </a:p>
        </p:txBody>
      </p:sp>
      <p:sp>
        <p:nvSpPr>
          <p:cNvPr id="4" name="TextBox 3"/>
          <p:cNvSpPr txBox="1"/>
          <p:nvPr/>
        </p:nvSpPr>
        <p:spPr>
          <a:xfrm>
            <a:off x="548640" y="1316736"/>
            <a:ext cx="8046720" cy="210312"/>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外側のクラスの原文コード（離れた範囲の抜粋）</a:t>
            </a:r>
          </a:p>
        </p:txBody>
      </p:sp>
      <p:sp>
        <p:nvSpPr>
          <p:cNvPr id="5" name="code-frame"/>
          <p:cNvSpPr/>
          <p:nvPr/>
        </p:nvSpPr>
        <p:spPr>
          <a:xfrm>
            <a:off x="548640" y="1581912"/>
            <a:ext cx="8046720" cy="2303145"/>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88900" bIns="114300">
            <a:noAutofit/>
          </a:bodyPr>
          <a:lstStyle/>
          <a:p>
            <a:pPr algn="l" marL="0" indent="0">
              <a:lnSpc>
                <a:spcPts val="1815"/>
              </a:lnSpc>
              <a:spcBef>
                <a:spcPts val="0"/>
              </a:spcBef>
              <a:spcAft>
                <a:spcPts val="0"/>
              </a:spcAft>
              <a:buNone/>
              <a:defRPr sz="1650" b="0">
                <a:solidFill>
                  <a:srgbClr val="303437"/>
                </a:solidFill>
                <a:latin typeface="Noto Sans"/>
              </a:defRPr>
            </a:pPr>
            <a:r>
              <a:rPr sz="1650" b="0" lang="ja-JP" altLang="en-US">
                <a:solidFill>
                  <a:srgbClr val="303437"/>
                </a:solidFill>
                <a:latin typeface="Liberation Mono"/>
                <a:ea typeface="Noto Sans CJK JP"/>
                <a:cs typeface="Liberation Mono"/>
              </a:rPr>
              <a:t>class BertAttention(nn.Module):</a:t>
            </a:r>
          </a:p>
          <a:p>
            <a:pPr algn="l" marL="0" indent="0">
              <a:lnSpc>
                <a:spcPts val="1815"/>
              </a:lnSpc>
              <a:spcBef>
                <a:spcPts val="0"/>
              </a:spcBef>
              <a:spcAft>
                <a:spcPts val="0"/>
              </a:spcAft>
              <a:buNone/>
              <a:defRPr sz="1650" b="0">
                <a:solidFill>
                  <a:srgbClr val="303437"/>
                </a:solidFill>
                <a:latin typeface="Noto Sans"/>
              </a:defRPr>
            </a:pPr>
            <a:r>
              <a:rPr sz="1650" b="0" lang="ja-JP" altLang="en-US">
                <a:solidFill>
                  <a:srgbClr val="303437"/>
                </a:solidFill>
                <a:latin typeface="Liberation Mono"/>
                <a:ea typeface="Noto Sans CJK JP"/>
                <a:cs typeface="Liberation Mono"/>
              </a:rPr>
              <a:t>[...]</a:t>
            </a:r>
          </a:p>
          <a:p>
            <a:pPr algn="l" marL="0" indent="0">
              <a:lnSpc>
                <a:spcPts val="1815"/>
              </a:lnSpc>
              <a:spcBef>
                <a:spcPts val="0"/>
              </a:spcBef>
              <a:spcAft>
                <a:spcPts val="0"/>
              </a:spcAft>
              <a:buNone/>
              <a:defRPr sz="1650" b="0">
                <a:solidFill>
                  <a:srgbClr val="303437"/>
                </a:solidFill>
                <a:latin typeface="Noto Sans"/>
              </a:defRPr>
            </a:pPr>
            <a:r>
              <a:rPr sz="1650" b="0" lang="ja-JP" altLang="en-US">
                <a:solidFill>
                  <a:srgbClr val="303437"/>
                </a:solidFill>
                <a:latin typeface="Liberation Mono"/>
                <a:ea typeface="Noto Sans CJK JP"/>
                <a:cs typeface="Liberation Mono"/>
              </a:rPr>
              <a:t>self.self = BertSelfAttention(</a:t>
            </a:r>
          </a:p>
          <a:p>
            <a:pPr algn="l" marL="0" indent="0">
              <a:lnSpc>
                <a:spcPts val="1815"/>
              </a:lnSpc>
              <a:spcBef>
                <a:spcPts val="0"/>
              </a:spcBef>
              <a:spcAft>
                <a:spcPts val="0"/>
              </a:spcAft>
              <a:buNone/>
              <a:defRPr sz="1650" b="0">
                <a:solidFill>
                  <a:srgbClr val="303437"/>
                </a:solidFill>
                <a:latin typeface="Noto Sans"/>
              </a:defRPr>
            </a:pPr>
            <a:r>
              <a:rPr sz="1650" b="0" lang="ja-JP" altLang="en-US">
                <a:solidFill>
                  <a:srgbClr val="303437"/>
                </a:solidFill>
                <a:latin typeface="Liberation Mono"/>
                <a:ea typeface="Noto Sans CJK JP"/>
                <a:cs typeface="Liberation Mono"/>
              </a:rPr>
              <a:t>    config, is_cross_attention</a:t>
            </a:r>
          </a:p>
          <a:p>
            <a:pPr algn="l" marL="0" indent="0">
              <a:lnSpc>
                <a:spcPts val="1815"/>
              </a:lnSpc>
              <a:spcBef>
                <a:spcPts val="0"/>
              </a:spcBef>
              <a:spcAft>
                <a:spcPts val="0"/>
              </a:spcAft>
              <a:buNone/>
              <a:defRPr sz="1650" b="0">
                <a:solidFill>
                  <a:srgbClr val="303437"/>
                </a:solidFill>
                <a:latin typeface="Noto Sans"/>
              </a:defRPr>
            </a:pPr>
            <a:r>
              <a:rPr sz="1650" b="0" lang="ja-JP" altLang="en-US">
                <a:solidFill>
                  <a:srgbClr val="303437"/>
                </a:solidFill>
                <a:latin typeface="Liberation Mono"/>
                <a:ea typeface="Noto Sans CJK JP"/>
                <a:cs typeface="Liberation Mono"/>
              </a:rPr>
              <a:t>)</a:t>
            </a:r>
          </a:p>
          <a:p>
            <a:pPr algn="l" marL="0" indent="0">
              <a:lnSpc>
                <a:spcPts val="1815"/>
              </a:lnSpc>
              <a:spcBef>
                <a:spcPts val="0"/>
              </a:spcBef>
              <a:spcAft>
                <a:spcPts val="0"/>
              </a:spcAft>
              <a:buNone/>
              <a:defRPr sz="1650" b="0">
                <a:solidFill>
                  <a:srgbClr val="303437"/>
                </a:solidFill>
                <a:latin typeface="Noto Sans"/>
              </a:defRPr>
            </a:pPr>
            <a:r>
              <a:rPr sz="1650" b="0" lang="ja-JP" altLang="en-US">
                <a:solidFill>
                  <a:srgbClr val="303437"/>
                </a:solidFill>
                <a:latin typeface="Liberation Mono"/>
                <a:ea typeface="Noto Sans CJK JP"/>
                <a:cs typeface="Liberation Mono"/>
              </a:rPr>
              <a:t>[...]</a:t>
            </a:r>
          </a:p>
          <a:p>
            <a:pPr algn="l" marL="0" indent="0">
              <a:lnSpc>
                <a:spcPts val="1815"/>
              </a:lnSpc>
              <a:spcBef>
                <a:spcPts val="0"/>
              </a:spcBef>
              <a:spcAft>
                <a:spcPts val="0"/>
              </a:spcAft>
              <a:buNone/>
              <a:defRPr sz="1650" b="0">
                <a:solidFill>
                  <a:srgbClr val="303437"/>
                </a:solidFill>
                <a:latin typeface="Noto Sans"/>
              </a:defRPr>
            </a:pPr>
            <a:r>
              <a:rPr sz="1650" b="0" lang="ja-JP" altLang="en-US">
                <a:solidFill>
                  <a:srgbClr val="303437"/>
                </a:solidFill>
                <a:latin typeface="Liberation Mono"/>
                <a:ea typeface="Noto Sans CJK JP"/>
                <a:cs typeface="Liberation Mono"/>
              </a:rPr>
              <a:t>class BertLayer(nn.Module):</a:t>
            </a:r>
          </a:p>
          <a:p>
            <a:pPr algn="l" marL="0" indent="0">
              <a:lnSpc>
                <a:spcPts val="1815"/>
              </a:lnSpc>
              <a:spcBef>
                <a:spcPts val="0"/>
              </a:spcBef>
              <a:spcAft>
                <a:spcPts val="0"/>
              </a:spcAft>
              <a:buNone/>
              <a:defRPr sz="1650" b="0">
                <a:solidFill>
                  <a:srgbClr val="303437"/>
                </a:solidFill>
                <a:latin typeface="Noto Sans"/>
              </a:defRPr>
            </a:pPr>
            <a:r>
              <a:rPr sz="1650" b="0" lang="ja-JP" altLang="en-US">
                <a:solidFill>
                  <a:srgbClr val="303437"/>
                </a:solidFill>
                <a:latin typeface="Liberation Mono"/>
                <a:ea typeface="Noto Sans CJK JP"/>
                <a:cs typeface="Liberation Mono"/>
              </a:rPr>
              <a:t>[...]</a:t>
            </a:r>
          </a:p>
          <a:p>
            <a:pPr algn="l" marL="0" indent="0">
              <a:lnSpc>
                <a:spcPts val="1815"/>
              </a:lnSpc>
              <a:spcBef>
                <a:spcPts val="0"/>
              </a:spcBef>
              <a:spcAft>
                <a:spcPts val="0"/>
              </a:spcAft>
              <a:buNone/>
              <a:defRPr sz="1650" b="0">
                <a:solidFill>
                  <a:srgbClr val="303437"/>
                </a:solidFill>
                <a:latin typeface="Noto Sans"/>
              </a:defRPr>
            </a:pPr>
            <a:r>
              <a:rPr sz="1650" b="0" lang="ja-JP" altLang="en-US">
                <a:solidFill>
                  <a:srgbClr val="303437"/>
                </a:solidFill>
                <a:latin typeface="Liberation Mono"/>
                <a:ea typeface="Noto Sans CJK JP"/>
                <a:cs typeface="Liberation Mono"/>
              </a:rPr>
              <a:t>self.attention = BertAttention(config)</a:t>
            </a:r>
          </a:p>
        </p:txBody>
      </p:sp>
      <p:sp>
        <p:nvSpPr>
          <p:cNvPr id="6" name="source-1"/>
          <p:cNvSpPr txBox="1"/>
          <p:nvPr/>
        </p:nvSpPr>
        <p:spPr>
          <a:xfrm>
            <a:off x="502920" y="4686633"/>
            <a:ext cx="8183879" cy="214551"/>
          </a:xfrm>
          <a:prstGeom prst="rect">
            <a:avLst/>
          </a:prstGeom>
          <a:noFill/>
        </p:spPr>
        <p:txBody>
          <a:bodyPr wrap="square" lIns="0" rIns="0" tIns="31671"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LongBench Team (2026-10-26参照), LongBench v2. </a:t>
            </a:r>
            <a:r>
              <a:rPr sz="800" b="0" lang="ja-JP" altLang="en-US">
                <a:solidFill>
                  <a:srgbClr val="626669"/>
                </a:solidFill>
                <a:latin typeface="Noto Sans"/>
                <a:ea typeface="Noto Sans CJK JP"/>
                <a:cs typeface="Noto Sans"/>
                <a:hlinkClick r:id="rId2"/>
              </a:rPr>
              <a:t>https://huggingface.co/datasets/THUDM/LongBench-v2</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400" b="0">
                <a:solidFill>
                  <a:srgbClr val="303437"/>
                </a:solidFill>
                <a:latin typeface="Noto Sans"/>
              </a:defRPr>
            </a:pPr>
            <a:r>
              <a:rPr sz="2400" b="1" lang="ja-JP" altLang="en-US">
                <a:solidFill>
                  <a:srgbClr val="303437"/>
                </a:solidFill>
                <a:latin typeface="Noto Sans"/>
                <a:ea typeface="Noto Sans CJK JP"/>
                <a:cs typeface="Noto Sans"/>
              </a:rPr>
              <a:t>例5 注意機構を計算するクラスを探す：設問の日本語訳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異なる課題の追加例</a:t>
            </a:r>
          </a:p>
        </p:txBody>
      </p:sp>
      <p:sp>
        <p:nvSpPr>
          <p:cNvPr id="4" name="TextBox 3"/>
          <p:cNvSpPr txBox="1"/>
          <p:nvPr/>
        </p:nvSpPr>
        <p:spPr>
          <a:xfrm>
            <a:off x="594360" y="1362456"/>
            <a:ext cx="7955279"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設問と選択肢の日本語訳</a:t>
            </a:r>
          </a:p>
        </p:txBody>
      </p:sp>
      <p:sp>
        <p:nvSpPr>
          <p:cNvPr id="5" name="japanese-question"/>
          <p:cNvSpPr txBox="1"/>
          <p:nvPr/>
        </p:nvSpPr>
        <p:spPr>
          <a:xfrm>
            <a:off x="594360" y="1645920"/>
            <a:ext cx="7955279" cy="1454150"/>
          </a:xfrm>
          <a:prstGeom prst="rect">
            <a:avLst/>
          </a:prstGeom>
          <a:noFill/>
        </p:spPr>
        <p:txBody>
          <a:bodyPr wrap="square" lIns="0" rIns="0" tIns="0" bIns="0">
            <a:noAutofit/>
          </a:bodyPr>
          <a:lstStyle/>
          <a:p>
            <a:pPr algn="l">
              <a:lnSpc>
                <a:spcPts val="210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画像と言語を扱うBLIPの、画像質問応答の構成を変更し、画像説明用の構成からパラメータを読み込みたい。中間部分の注意機構の計算だけを変えるには、どのクラスを修正するか。</a:t>
            </a:r>
          </a:p>
          <a:p>
            <a:pPr algn="l">
              <a:lnSpc>
                <a:spcPts val="210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A：BertLayer / B：BertAttention</a:t>
            </a:r>
          </a:p>
          <a:p>
            <a:pPr algn="l">
              <a:lnSpc>
                <a:spcPts val="210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C：BertSelfAttention / D：BertIntermediate</a:t>
            </a:r>
          </a:p>
        </p:txBody>
      </p:sp>
      <p:sp>
        <p:nvSpPr>
          <p:cNvPr id="6" name="expected-answer"/>
          <p:cNvSpPr txBox="1"/>
          <p:nvPr/>
        </p:nvSpPr>
        <p:spPr>
          <a:xfrm>
            <a:off x="594360" y="3145790"/>
            <a:ext cx="7955279" cy="436308"/>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正解：C：BertSelfAttention</a:t>
            </a:r>
          </a:p>
        </p:txBody>
      </p:sp>
      <p:sp>
        <p:nvSpPr>
          <p:cNvPr id="7" name="explanation"/>
          <p:cNvSpPr txBox="1"/>
          <p:nvPr/>
        </p:nvSpPr>
        <p:spPr>
          <a:xfrm>
            <a:off x="594360" y="3627818"/>
            <a:ext cx="7955279" cy="636905"/>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外側の二つのクラスは、注意機構の計算部分を組み込む役割を持つ。内部の計算だけを変える場合は、その本体であるBertSelfAttentionを修正する。</a:t>
            </a:r>
          </a:p>
        </p:txBody>
      </p:sp>
      <p:sp>
        <p:nvSpPr>
          <p:cNvPr id="8" name="source-1"/>
          <p:cNvSpPr txBox="1"/>
          <p:nvPr/>
        </p:nvSpPr>
        <p:spPr>
          <a:xfrm>
            <a:off x="502920" y="4686633"/>
            <a:ext cx="8183879" cy="214551"/>
          </a:xfrm>
          <a:prstGeom prst="rect">
            <a:avLst/>
          </a:prstGeom>
          <a:noFill/>
        </p:spPr>
        <p:txBody>
          <a:bodyPr wrap="square" lIns="0" rIns="0" tIns="31671"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LongBench Team (2026-10-26参照), LongBench v2. </a:t>
            </a:r>
            <a:r>
              <a:rPr sz="800" b="0" lang="ja-JP" altLang="en-US">
                <a:solidFill>
                  <a:srgbClr val="626669"/>
                </a:solidFill>
                <a:latin typeface="Noto Sans"/>
                <a:ea typeface="Noto Sans CJK JP"/>
                <a:cs typeface="Noto Sans"/>
                <a:hlinkClick r:id="rId2"/>
              </a:rPr>
              <a:t>https://huggingface.co/datasets/THUDM/LongBench-v2</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例6 TCPの終了処理を追う：設問の原文（1/2）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異なる課題の追加例</a:t>
            </a:r>
          </a:p>
        </p:txBody>
      </p:sp>
      <p:sp>
        <p:nvSpPr>
          <p:cNvPr id="4" name="TextBox 3"/>
          <p:cNvSpPr txBox="1"/>
          <p:nvPr/>
        </p:nvSpPr>
        <p:spPr>
          <a:xfrm>
            <a:off x="548640" y="1280160"/>
            <a:ext cx="804672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設問と四つの選択肢（1/2）</a:t>
            </a:r>
          </a:p>
        </p:txBody>
      </p:sp>
      <p:sp>
        <p:nvSpPr>
          <p:cNvPr id="5" name="quote-frame"/>
          <p:cNvSpPr/>
          <p:nvPr/>
        </p:nvSpPr>
        <p:spPr>
          <a:xfrm>
            <a:off x="548640" y="1508760"/>
            <a:ext cx="8046720" cy="2146807"/>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88900" bIns="114300">
            <a:noAutofit/>
          </a:bodyPr>
          <a:lstStyle/>
          <a:p>
            <a:pPr algn="l" marL="0" indent="0">
              <a:lnSpc>
                <a:spcPts val="1888"/>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Regarding the statements about the TCP connection termination in this codebase, which is correct?
A: When one party is ready to terminate the TCP connection, it first enters the FIN_WAIT_1 state, indicating that it has sent a termination request FIN signal to the other party and is waiting for confirmation.
B: After receiving the FIN signal, the other party needs to return an ACK signal and meanwhile send a FIN signal, waiting for confirmation. Both parties send FIN signals and receive confirmation before the connection is terminated.</a:t>
            </a:r>
          </a:p>
        </p:txBody>
      </p:sp>
      <p:sp>
        <p:nvSpPr>
          <p:cNvPr id="6" name="source-1"/>
          <p:cNvSpPr txBox="1"/>
          <p:nvPr/>
        </p:nvSpPr>
        <p:spPr>
          <a:xfrm>
            <a:off x="502920" y="4686633"/>
            <a:ext cx="8183879" cy="214551"/>
          </a:xfrm>
          <a:prstGeom prst="rect">
            <a:avLst/>
          </a:prstGeom>
          <a:noFill/>
        </p:spPr>
        <p:txBody>
          <a:bodyPr wrap="square" lIns="0" rIns="0" tIns="31671"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LongBench Team (2026-10-26参照), LongBench v2. </a:t>
            </a:r>
            <a:r>
              <a:rPr sz="800" b="0" lang="ja-JP" altLang="en-US">
                <a:solidFill>
                  <a:srgbClr val="626669"/>
                </a:solidFill>
                <a:latin typeface="Noto Sans"/>
                <a:ea typeface="Noto Sans CJK JP"/>
                <a:cs typeface="Noto Sans"/>
                <a:hlinkClick r:id="rId2"/>
              </a:rPr>
              <a:t>https://huggingface.co/datasets/THUDM/LongBench-v2</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例6 TCPの終了処理を追う：設問の原文（2/2）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異なる課題の追加例</a:t>
            </a:r>
          </a:p>
        </p:txBody>
      </p:sp>
      <p:sp>
        <p:nvSpPr>
          <p:cNvPr id="4" name="TextBox 3"/>
          <p:cNvSpPr txBox="1"/>
          <p:nvPr/>
        </p:nvSpPr>
        <p:spPr>
          <a:xfrm>
            <a:off x="548640" y="1280160"/>
            <a:ext cx="804672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設問と四つの選択肢（2/2）</a:t>
            </a:r>
          </a:p>
        </p:txBody>
      </p:sp>
      <p:sp>
        <p:nvSpPr>
          <p:cNvPr id="5" name="quote-frame"/>
          <p:cNvSpPr/>
          <p:nvPr/>
        </p:nvSpPr>
        <p:spPr>
          <a:xfrm>
            <a:off x="548640" y="1508760"/>
            <a:ext cx="8046720" cy="1667256"/>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88900" bIns="114300">
            <a:noAutofit/>
          </a:bodyPr>
          <a:lstStyle/>
          <a:p>
            <a:pPr algn="l" marL="0" indent="0">
              <a:lnSpc>
                <a:spcPts val="1888"/>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C: The purpose of tcp-&gt;shutdown_waiting is to ensure that all unsent packets in the sending buffer are sent before the connection is terminated, but it cannot guarantee that all packets have been successfully received by the other party.
D: Before terminating the connection, using the Nagle algorithm when sending packets can combine scattered small packets for transmission to reduce network congestion.</a:t>
            </a:r>
          </a:p>
        </p:txBody>
      </p:sp>
      <p:sp>
        <p:nvSpPr>
          <p:cNvPr id="6" name="source-1"/>
          <p:cNvSpPr txBox="1"/>
          <p:nvPr/>
        </p:nvSpPr>
        <p:spPr>
          <a:xfrm>
            <a:off x="502920" y="4686633"/>
            <a:ext cx="8183879" cy="214551"/>
          </a:xfrm>
          <a:prstGeom prst="rect">
            <a:avLst/>
          </a:prstGeom>
          <a:noFill/>
        </p:spPr>
        <p:txBody>
          <a:bodyPr wrap="square" lIns="0" rIns="0" tIns="31671"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LongBench Team (2026-10-26参照), LongBench v2. </a:t>
            </a:r>
            <a:r>
              <a:rPr sz="800" b="0" lang="ja-JP" altLang="en-US">
                <a:solidFill>
                  <a:srgbClr val="626669"/>
                </a:solidFill>
                <a:latin typeface="Noto Sans"/>
                <a:ea typeface="Noto Sans CJK JP"/>
                <a:cs typeface="Noto Sans"/>
                <a:hlinkClick r:id="rId2"/>
              </a:rPr>
              <a:t>https://huggingface.co/datasets/THUDM/LongBench-v2</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例6 TCPの終了処理を追う：本文の抜粋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異なる課題の追加例</a:t>
            </a:r>
          </a:p>
        </p:txBody>
      </p:sp>
      <p:sp>
        <p:nvSpPr>
          <p:cNvPr id="4" name="TextBox 3"/>
          <p:cNvSpPr txBox="1"/>
          <p:nvPr/>
        </p:nvSpPr>
        <p:spPr>
          <a:xfrm>
            <a:off x="548640" y="1316736"/>
            <a:ext cx="8046720" cy="210312"/>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接続終了関数の原文（分岐の抜粋）</a:t>
            </a:r>
          </a:p>
        </p:txBody>
      </p:sp>
      <p:sp>
        <p:nvSpPr>
          <p:cNvPr id="5" name="code-frame"/>
          <p:cNvSpPr/>
          <p:nvPr/>
        </p:nvSpPr>
        <p:spPr>
          <a:xfrm>
            <a:off x="548640" y="1581912"/>
            <a:ext cx="8046720" cy="253365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88900" bIns="114300">
            <a:noAutofit/>
          </a:bodyPr>
          <a:lstStyle/>
          <a:p>
            <a:pPr algn="l" marL="0" indent="0">
              <a:lnSpc>
                <a:spcPts val="1815"/>
              </a:lnSpc>
              <a:spcBef>
                <a:spcPts val="0"/>
              </a:spcBef>
              <a:spcAft>
                <a:spcPts val="0"/>
              </a:spcAft>
              <a:buNone/>
              <a:defRPr sz="1650" b="0">
                <a:solidFill>
                  <a:srgbClr val="303437"/>
                </a:solidFill>
                <a:latin typeface="Noto Sans"/>
              </a:defRPr>
            </a:pPr>
            <a:r>
              <a:rPr sz="1650" b="0" lang="ja-JP" altLang="en-US">
                <a:solidFill>
                  <a:srgbClr val="303437"/>
                </a:solidFill>
                <a:latin typeface="Liberation Mono"/>
                <a:ea typeface="Noto Sans CJK JP"/>
                <a:cs typeface="Liberation Mono"/>
              </a:rPr>
              <a:t>else if(tcp-&gt;shutdown_waiting){</a:t>
            </a:r>
          </a:p>
          <a:p>
            <a:pPr algn="l" marL="0" indent="0">
              <a:lnSpc>
                <a:spcPts val="1815"/>
              </a:lnSpc>
              <a:spcBef>
                <a:spcPts val="0"/>
              </a:spcBef>
              <a:spcAft>
                <a:spcPts val="0"/>
              </a:spcAft>
              <a:buNone/>
              <a:defRPr sz="1650" b="0">
                <a:solidFill>
                  <a:srgbClr val="303437"/>
                </a:solidFill>
                <a:latin typeface="Noto Sans"/>
              </a:defRPr>
            </a:pPr>
            <a:r>
              <a:rPr sz="1650" b="0" lang="ja-JP" altLang="en-US">
                <a:solidFill>
                  <a:srgbClr val="303437"/>
                </a:solidFill>
                <a:latin typeface="Liberation Mono"/>
                <a:ea typeface="Noto Sans CJK JP"/>
                <a:cs typeface="Liberation Mono"/>
              </a:rPr>
              <a:t>  send_pkt_directly(tcp);</a:t>
            </a:r>
          </a:p>
          <a:p>
            <a:pPr algn="l" marL="0" indent="0">
              <a:lnSpc>
                <a:spcPts val="1815"/>
              </a:lnSpc>
              <a:spcBef>
                <a:spcPts val="0"/>
              </a:spcBef>
              <a:spcAft>
                <a:spcPts val="0"/>
              </a:spcAft>
              <a:buNone/>
              <a:defRPr sz="1650" b="0">
                <a:solidFill>
                  <a:srgbClr val="303437"/>
                </a:solidFill>
                <a:latin typeface="Noto Sans"/>
              </a:defRPr>
            </a:pPr>
            <a:r>
              <a:rPr sz="1650" b="0" lang="ja-JP" altLang="en-US">
                <a:solidFill>
                  <a:srgbClr val="303437"/>
                </a:solidFill>
                <a:latin typeface="Liberation Mono"/>
                <a:ea typeface="Noto Sans CJK JP"/>
                <a:cs typeface="Liberation Mono"/>
              </a:rPr>
              <a:t>  if(tcp-&gt;send.size == 0){</a:t>
            </a:r>
          </a:p>
          <a:p>
            <a:pPr algn="l" marL="0" indent="0">
              <a:lnSpc>
                <a:spcPts val="1815"/>
              </a:lnSpc>
              <a:spcBef>
                <a:spcPts val="0"/>
              </a:spcBef>
              <a:spcAft>
                <a:spcPts val="0"/>
              </a:spcAft>
              <a:buNone/>
              <a:defRPr sz="1650" b="0">
                <a:solidFill>
                  <a:srgbClr val="303437"/>
                </a:solidFill>
                <a:latin typeface="Noto Sans"/>
              </a:defRPr>
            </a:pPr>
            <a:r>
              <a:rPr sz="1650" b="0" lang="ja-JP" altLang="en-US">
                <a:solidFill>
                  <a:srgbClr val="303437"/>
                </a:solidFill>
                <a:latin typeface="Liberation Mono"/>
                <a:ea typeface="Noto Sans CJK JP"/>
                <a:cs typeface="Liberation Mono"/>
              </a:rPr>
              <a:t>    // 发送FIN 包</a:t>
            </a:r>
          </a:p>
          <a:p>
            <a:pPr algn="l" marL="0" indent="0">
              <a:lnSpc>
                <a:spcPts val="1815"/>
              </a:lnSpc>
              <a:spcBef>
                <a:spcPts val="0"/>
              </a:spcBef>
              <a:spcAft>
                <a:spcPts val="0"/>
              </a:spcAft>
              <a:buNone/>
              <a:defRPr sz="1650" b="0">
                <a:solidFill>
                  <a:srgbClr val="303437"/>
                </a:solidFill>
                <a:latin typeface="Noto Sans"/>
              </a:defRPr>
            </a:pPr>
            <a:r>
              <a:rPr sz="1650" b="0" lang="ja-JP" altLang="en-US">
                <a:solidFill>
                  <a:srgbClr val="303437"/>
                </a:solidFill>
                <a:latin typeface="Liberation Mono"/>
                <a:ea typeface="Noto Sans CJK JP"/>
                <a:cs typeface="Liberation Mono"/>
              </a:rPr>
              <a:t>    send_fin_pkt(tcp);</a:t>
            </a:r>
          </a:p>
          <a:p>
            <a:pPr algn="l" marL="0" indent="0">
              <a:lnSpc>
                <a:spcPts val="1815"/>
              </a:lnSpc>
              <a:spcBef>
                <a:spcPts val="0"/>
              </a:spcBef>
              <a:spcAft>
                <a:spcPts val="0"/>
              </a:spcAft>
              <a:buNone/>
              <a:defRPr sz="1650" b="0">
                <a:solidFill>
                  <a:srgbClr val="303437"/>
                </a:solidFill>
                <a:latin typeface="Noto Sans"/>
              </a:defRPr>
            </a:pPr>
            <a:r>
              <a:rPr sz="1650" b="0" lang="ja-JP" altLang="en-US">
                <a:solidFill>
                  <a:srgbClr val="303437"/>
                </a:solidFill>
                <a:latin typeface="Liberation Mono"/>
                <a:ea typeface="Noto Sans CJK JP"/>
                <a:cs typeface="Liberation Mono"/>
              </a:rPr>
              <a:t>    tcp-&gt;snd_nxt += 1;</a:t>
            </a:r>
          </a:p>
          <a:p>
            <a:pPr algn="l" marL="0" indent="0">
              <a:lnSpc>
                <a:spcPts val="1815"/>
              </a:lnSpc>
              <a:spcBef>
                <a:spcPts val="0"/>
              </a:spcBef>
              <a:spcAft>
                <a:spcPts val="0"/>
              </a:spcAft>
              <a:buNone/>
              <a:defRPr sz="1650" b="0">
                <a:solidFill>
                  <a:srgbClr val="303437"/>
                </a:solidFill>
                <a:latin typeface="Noto Sans"/>
              </a:defRPr>
            </a:pPr>
            <a:r>
              <a:rPr sz="1650" b="0" lang="ja-JP" altLang="en-US">
                <a:solidFill>
                  <a:srgbClr val="303437"/>
                </a:solidFill>
                <a:latin typeface="Liberation Mono"/>
                <a:ea typeface="Noto Sans CJK JP"/>
                <a:cs typeface="Liberation Mono"/>
              </a:rPr>
              <a:t>    tcp-&gt;set_state(TCPState::FIN_WAIT_1);</a:t>
            </a:r>
          </a:p>
          <a:p>
            <a:pPr algn="l" marL="0" indent="0">
              <a:lnSpc>
                <a:spcPts val="1815"/>
              </a:lnSpc>
              <a:spcBef>
                <a:spcPts val="0"/>
              </a:spcBef>
              <a:spcAft>
                <a:spcPts val="0"/>
              </a:spcAft>
              <a:buNone/>
              <a:defRPr sz="1650" b="0">
                <a:solidFill>
                  <a:srgbClr val="303437"/>
                </a:solidFill>
                <a:latin typeface="Noto Sans"/>
              </a:defRPr>
            </a:pPr>
            <a:r>
              <a:rPr sz="1650" b="0" lang="ja-JP" altLang="en-US">
                <a:solidFill>
                  <a:srgbClr val="303437"/>
                </a:solidFill>
                <a:latin typeface="Liberation Mono"/>
                <a:ea typeface="Noto Sans CJK JP"/>
                <a:cs typeface="Liberation Mono"/>
              </a:rPr>
              <a:t>  }</a:t>
            </a:r>
          </a:p>
          <a:p>
            <a:pPr algn="l" marL="0" indent="0">
              <a:lnSpc>
                <a:spcPts val="1815"/>
              </a:lnSpc>
              <a:spcBef>
                <a:spcPts val="0"/>
              </a:spcBef>
              <a:spcAft>
                <a:spcPts val="0"/>
              </a:spcAft>
              <a:buNone/>
              <a:defRPr sz="1650" b="0">
                <a:solidFill>
                  <a:srgbClr val="303437"/>
                </a:solidFill>
                <a:latin typeface="Noto Sans"/>
              </a:defRPr>
            </a:pPr>
            <a:r>
              <a:rPr sz="1650" b="0" lang="ja-JP" altLang="en-US">
                <a:solidFill>
                  <a:srgbClr val="303437"/>
                </a:solidFill>
                <a:latin typeface="Liberation Mono"/>
                <a:ea typeface="Noto Sans CJK JP"/>
                <a:cs typeface="Liberation Mono"/>
              </a:rPr>
              <a:t>[...]</a:t>
            </a:r>
          </a:p>
          <a:p>
            <a:pPr algn="l" marL="0" indent="0">
              <a:lnSpc>
                <a:spcPts val="1815"/>
              </a:lnSpc>
              <a:spcBef>
                <a:spcPts val="0"/>
              </a:spcBef>
              <a:spcAft>
                <a:spcPts val="0"/>
              </a:spcAft>
              <a:buNone/>
              <a:defRPr sz="1650" b="0">
                <a:solidFill>
                  <a:srgbClr val="303437"/>
                </a:solidFill>
                <a:latin typeface="Noto Sans"/>
              </a:defRPr>
            </a:pPr>
            <a:r>
              <a:rPr sz="1650" b="0" lang="ja-JP" altLang="en-US">
                <a:solidFill>
                  <a:srgbClr val="303437"/>
                </a:solidFill>
                <a:latin typeface="Liberation Mono"/>
                <a:ea typeface="Noto Sans CJK JP"/>
                <a:cs typeface="Liberation Mono"/>
              </a:rPr>
              <a:t>tcp-&gt;shutdown_waiting = true;</a:t>
            </a:r>
          </a:p>
        </p:txBody>
      </p:sp>
      <p:sp>
        <p:nvSpPr>
          <p:cNvPr id="6" name="source-1"/>
          <p:cNvSpPr txBox="1"/>
          <p:nvPr/>
        </p:nvSpPr>
        <p:spPr>
          <a:xfrm>
            <a:off x="502920" y="4686633"/>
            <a:ext cx="8183879" cy="214551"/>
          </a:xfrm>
          <a:prstGeom prst="rect">
            <a:avLst/>
          </a:prstGeom>
          <a:noFill/>
        </p:spPr>
        <p:txBody>
          <a:bodyPr wrap="square" lIns="0" rIns="0" tIns="31671"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LongBench Team (2026-10-26参照), LongBench v2. </a:t>
            </a:r>
            <a:r>
              <a:rPr sz="800" b="0" lang="ja-JP" altLang="en-US">
                <a:solidFill>
                  <a:srgbClr val="626669"/>
                </a:solidFill>
                <a:latin typeface="Noto Sans"/>
                <a:ea typeface="Noto Sans CJK JP"/>
                <a:cs typeface="Noto Sans"/>
                <a:hlinkClick r:id="rId2"/>
              </a:rPr>
              <a:t>https://huggingface.co/datasets/THUDM/LongBench-v2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550" b="0">
                <a:solidFill>
                  <a:srgbClr val="303437"/>
                </a:solidFill>
                <a:latin typeface="Noto Sans"/>
              </a:defRPr>
            </a:pPr>
            <a:r>
              <a:rPr sz="2550" b="1" lang="ja-JP" altLang="en-US">
                <a:solidFill>
                  <a:srgbClr val="303437"/>
                </a:solidFill>
                <a:latin typeface="Noto Sans"/>
                <a:ea typeface="Noto Sans CJK JP"/>
                <a:cs typeface="Noto Sans"/>
              </a:rPr>
              <a:t>例6 TCPの終了処理を追う：設問の日本語訳（1/2）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異なる課題の追加例</a:t>
            </a:r>
          </a:p>
        </p:txBody>
      </p:sp>
      <p:sp>
        <p:nvSpPr>
          <p:cNvPr id="4" name="TextBox 3"/>
          <p:cNvSpPr txBox="1"/>
          <p:nvPr/>
        </p:nvSpPr>
        <p:spPr>
          <a:xfrm>
            <a:off x="594360" y="1362456"/>
            <a:ext cx="7955279"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設問と選択肢の日本語訳</a:t>
            </a:r>
          </a:p>
        </p:txBody>
      </p:sp>
      <p:sp>
        <p:nvSpPr>
          <p:cNvPr id="5" name="japanese-question"/>
          <p:cNvSpPr txBox="1"/>
          <p:nvPr/>
        </p:nvSpPr>
        <p:spPr>
          <a:xfrm>
            <a:off x="594360" y="1645920"/>
            <a:ext cx="7955279" cy="1721612"/>
          </a:xfrm>
          <a:prstGeom prst="rect">
            <a:avLst/>
          </a:prstGeom>
          <a:noFill/>
        </p:spPr>
        <p:txBody>
          <a:bodyPr wrap="square" lIns="0" rIns="0" tIns="0" bIns="0">
            <a:noAutofit/>
          </a:bodyPr>
          <a:lstStyle/>
          <a:p>
            <a:pPr algn="l">
              <a:lnSpc>
                <a:spcPts val="210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このコードのTCP接続終了について、正しい説明はどれか。</a:t>
            </a:r>
          </a:p>
          <a:p>
            <a:pPr algn="l">
              <a:lnSpc>
                <a:spcPts val="210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A：一方がTCP接続を終了しようとすると、まずFIN_WAIT_1状態に入る。この状態は、相手へ終了要求のFIN信号を送り、その確認を待っていることを示す。</a:t>
            </a:r>
          </a:p>
          <a:p>
            <a:pPr algn="l">
              <a:lnSpc>
                <a:spcPts val="210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B：FINを受け取った側はACK信号を返すと同時にFIN信号も送り、その確認を待つ。両者がFIN信号を送り、確認を受け取ってから接続が終了する。</a:t>
            </a:r>
          </a:p>
        </p:txBody>
      </p:sp>
      <p:sp>
        <p:nvSpPr>
          <p:cNvPr id="6" name="source-1"/>
          <p:cNvSpPr txBox="1"/>
          <p:nvPr/>
        </p:nvSpPr>
        <p:spPr>
          <a:xfrm>
            <a:off x="502920" y="4686633"/>
            <a:ext cx="8183879" cy="214551"/>
          </a:xfrm>
          <a:prstGeom prst="rect">
            <a:avLst/>
          </a:prstGeom>
          <a:noFill/>
        </p:spPr>
        <p:txBody>
          <a:bodyPr wrap="square" lIns="0" rIns="0" tIns="31671"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LongBench Team (2026-10-26参照), LongBench v2. </a:t>
            </a:r>
            <a:r>
              <a:rPr sz="800" b="0" lang="ja-JP" altLang="en-US">
                <a:solidFill>
                  <a:srgbClr val="626669"/>
                </a:solidFill>
                <a:latin typeface="Noto Sans"/>
                <a:ea typeface="Noto Sans CJK JP"/>
                <a:cs typeface="Noto Sans"/>
                <a:hlinkClick r:id="rId2"/>
              </a:rPr>
              <a:t>https://huggingface.co/datasets/THUDM/LongBench-v2</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550" b="0">
                <a:solidFill>
                  <a:srgbClr val="303437"/>
                </a:solidFill>
                <a:latin typeface="Noto Sans"/>
              </a:defRPr>
            </a:pPr>
            <a:r>
              <a:rPr sz="2550" b="1" lang="ja-JP" altLang="en-US">
                <a:solidFill>
                  <a:srgbClr val="303437"/>
                </a:solidFill>
                <a:latin typeface="Noto Sans"/>
                <a:ea typeface="Noto Sans CJK JP"/>
                <a:cs typeface="Noto Sans"/>
              </a:rPr>
              <a:t>例6 TCPの終了処理を追う：設問の日本語訳（2/2）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異なる課題の追加例</a:t>
            </a:r>
          </a:p>
        </p:txBody>
      </p:sp>
      <p:sp>
        <p:nvSpPr>
          <p:cNvPr id="4" name="TextBox 3"/>
          <p:cNvSpPr txBox="1"/>
          <p:nvPr/>
        </p:nvSpPr>
        <p:spPr>
          <a:xfrm>
            <a:off x="594360" y="1362456"/>
            <a:ext cx="7955279"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設問と選択肢の日本語訳</a:t>
            </a:r>
          </a:p>
        </p:txBody>
      </p:sp>
      <p:sp>
        <p:nvSpPr>
          <p:cNvPr id="5" name="japanese-question"/>
          <p:cNvSpPr txBox="1"/>
          <p:nvPr/>
        </p:nvSpPr>
        <p:spPr>
          <a:xfrm>
            <a:off x="594360" y="1645920"/>
            <a:ext cx="7955279" cy="1721612"/>
          </a:xfrm>
          <a:prstGeom prst="rect">
            <a:avLst/>
          </a:prstGeom>
          <a:noFill/>
        </p:spPr>
        <p:txBody>
          <a:bodyPr wrap="square" lIns="0" rIns="0" tIns="0" bIns="0">
            <a:noAutofit/>
          </a:bodyPr>
          <a:lstStyle/>
          <a:p>
            <a:pPr algn="l">
              <a:lnSpc>
                <a:spcPts val="210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C：shutdown_waitingは、送信バッファー内の未送信パケットをすべて送り終えてから接続を終了するためのものだが、すべてのパケットが相手へ届いたことは保証できない。</a:t>
            </a:r>
          </a:p>
          <a:p>
            <a:pPr algn="l">
              <a:lnSpc>
                <a:spcPts val="210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D：接続を終了する前に、パケット送信時にNagleアルゴリズムを使うと、分散した小さいパケットをまとめて送信し、ネットワークの混雑を減らせる。</a:t>
            </a:r>
          </a:p>
        </p:txBody>
      </p:sp>
      <p:sp>
        <p:nvSpPr>
          <p:cNvPr id="6" name="source-1"/>
          <p:cNvSpPr txBox="1"/>
          <p:nvPr/>
        </p:nvSpPr>
        <p:spPr>
          <a:xfrm>
            <a:off x="502920" y="4686633"/>
            <a:ext cx="8183879" cy="214551"/>
          </a:xfrm>
          <a:prstGeom prst="rect">
            <a:avLst/>
          </a:prstGeom>
          <a:noFill/>
        </p:spPr>
        <p:txBody>
          <a:bodyPr wrap="square" lIns="0" rIns="0" tIns="31671"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LongBench Team (2026-10-26参照), LongBench v2. </a:t>
            </a:r>
            <a:r>
              <a:rPr sz="800" b="0" lang="ja-JP" altLang="en-US">
                <a:solidFill>
                  <a:srgbClr val="626669"/>
                </a:solidFill>
                <a:latin typeface="Noto Sans"/>
                <a:ea typeface="Noto Sans CJK JP"/>
                <a:cs typeface="Noto Sans"/>
                <a:hlinkClick r:id="rId2"/>
              </a:rPr>
              <a:t>https://huggingface.co/datasets/THUDM/LongBench-v2</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例6 TCPの終了処理を追う：答えの理由</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異なる課題の追加例</a:t>
            </a:r>
          </a:p>
        </p:txBody>
      </p:sp>
      <p:sp>
        <p:nvSpPr>
          <p:cNvPr id="4" name="expected-answer"/>
          <p:cNvSpPr txBox="1"/>
          <p:nvPr/>
        </p:nvSpPr>
        <p:spPr>
          <a:xfrm>
            <a:off x="594360" y="1408176"/>
            <a:ext cx="7955279" cy="436308"/>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正解：C：未送信データがなくなるまで待つためのフラグ。</a:t>
            </a:r>
          </a:p>
        </p:txBody>
      </p:sp>
      <p:sp>
        <p:nvSpPr>
          <p:cNvPr id="5" name="japanese-context-explanation"/>
          <p:cNvSpPr txBox="1"/>
          <p:nvPr/>
        </p:nvSpPr>
        <p:spPr>
          <a:xfrm>
            <a:off x="594360" y="1917636"/>
            <a:ext cx="7955279" cy="1721612"/>
          </a:xfrm>
          <a:prstGeom prst="rect">
            <a:avLst/>
          </a:prstGeom>
          <a:noFill/>
        </p:spPr>
        <p:txBody>
          <a:bodyPr wrap="square" lIns="0" rIns="0" tIns="0" bIns="0">
            <a:noAutofit/>
          </a:bodyPr>
          <a:lstStyle/>
          <a:p>
            <a:pPr algn="l">
              <a:lnSpc>
                <a:spcPts val="210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shutdown_waitingが真の場合、パケットを送る処理を呼び出す。送信バッファーのsizeが0になるとFINを送り、状態をFIN_WAIT_1へ進める。一方、バッファーにデータが残る場合はshutdown_waitingを真にする。</a:t>
            </a:r>
          </a:p>
          <a:p>
            <a:pPr algn="l">
              <a:lnSpc>
                <a:spcPts val="210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
            </a:r>
          </a:p>
          <a:p>
            <a:pPr algn="l">
              <a:lnSpc>
                <a:spcPts val="210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判定するのは送信バッファーの残量で、相手からの確認がすべて済んだかどうかではない。</a:t>
            </a:r>
          </a:p>
        </p:txBody>
      </p:sp>
      <p:sp>
        <p:nvSpPr>
          <p:cNvPr id="6" name="source-1"/>
          <p:cNvSpPr txBox="1"/>
          <p:nvPr/>
        </p:nvSpPr>
        <p:spPr>
          <a:xfrm>
            <a:off x="502920" y="4686633"/>
            <a:ext cx="8183879" cy="214551"/>
          </a:xfrm>
          <a:prstGeom prst="rect">
            <a:avLst/>
          </a:prstGeom>
          <a:noFill/>
        </p:spPr>
        <p:txBody>
          <a:bodyPr wrap="square" lIns="0" rIns="0" tIns="31671"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LongBench Team (2026-10-26参照), LongBench v2. </a:t>
            </a:r>
            <a:r>
              <a:rPr sz="800" b="0" lang="ja-JP" altLang="en-US">
                <a:solidFill>
                  <a:srgbClr val="626669"/>
                </a:solidFill>
                <a:latin typeface="Noto Sans"/>
                <a:ea typeface="Noto Sans CJK JP"/>
                <a:cs typeface="Noto Sans"/>
                <a:hlinkClick r:id="rId2"/>
              </a:rPr>
              <a:t>https://huggingface.co/datasets/THUDM/LongBench-v2</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750" b="0">
                <a:solidFill>
                  <a:srgbClr val="303437"/>
                </a:solidFill>
                <a:latin typeface="Noto Sans"/>
              </a:defRPr>
            </a:pPr>
            <a:r>
              <a:rPr sz="2750" b="1" lang="ja-JP" altLang="en-US">
                <a:solidFill>
                  <a:srgbClr val="303437"/>
                </a:solidFill>
                <a:latin typeface="Noto Sans"/>
                <a:ea typeface="Noto Sans CJK JP"/>
                <a:cs typeface="Noto Sans"/>
              </a:rPr>
              <a:t>例7 二つの判例に共通する点を探す：設問の原文</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異なる課題の追加例</a:t>
            </a:r>
          </a:p>
        </p:txBody>
      </p:sp>
      <p:sp>
        <p:nvSpPr>
          <p:cNvPr id="4" name="TextBox 3"/>
          <p:cNvSpPr txBox="1"/>
          <p:nvPr/>
        </p:nvSpPr>
        <p:spPr>
          <a:xfrm>
            <a:off x="548640" y="1280160"/>
            <a:ext cx="804672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設問と四つの選択肢（全文）</a:t>
            </a:r>
          </a:p>
        </p:txBody>
      </p:sp>
      <p:sp>
        <p:nvSpPr>
          <p:cNvPr id="5" name="quote-frame"/>
          <p:cNvSpPr/>
          <p:nvPr/>
        </p:nvSpPr>
        <p:spPr>
          <a:xfrm>
            <a:off x="548640" y="1508760"/>
            <a:ext cx="8046720" cy="2064384"/>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88900" bIns="114300">
            <a:noAutofit/>
          </a:bodyPr>
          <a:lstStyle/>
          <a:p>
            <a:pPr algn="l" marL="0" indent="0">
              <a:lnSpc>
                <a:spcPts val="2065"/>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What do these two cases have in common?
A: The truthfulness of the parties' intent in entering into the contract is of paramount importance.
B: The defaulting party's reasons for refusing to honor the agreement are all that the other party's offer was too low.
C: The basic terms of the main agreement are defined.
D: The court upheld all of the plaintiff's claims.</a:t>
            </a:r>
          </a:p>
        </p:txBody>
      </p:sp>
      <p:sp>
        <p:nvSpPr>
          <p:cNvPr id="6" name="source-1"/>
          <p:cNvSpPr txBox="1"/>
          <p:nvPr/>
        </p:nvSpPr>
        <p:spPr>
          <a:xfrm>
            <a:off x="502920" y="4686633"/>
            <a:ext cx="8183879" cy="214551"/>
          </a:xfrm>
          <a:prstGeom prst="rect">
            <a:avLst/>
          </a:prstGeom>
          <a:noFill/>
        </p:spPr>
        <p:txBody>
          <a:bodyPr wrap="square" lIns="0" rIns="0" tIns="31671"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LongBench Team (2026-10-26参照), LongBench v2. </a:t>
            </a:r>
            <a:r>
              <a:rPr sz="800" b="0" lang="ja-JP" altLang="en-US">
                <a:solidFill>
                  <a:srgbClr val="626669"/>
                </a:solidFill>
                <a:latin typeface="Noto Sans"/>
                <a:ea typeface="Noto Sans CJK JP"/>
                <a:cs typeface="Noto Sans"/>
                <a:hlinkClick r:id="rId2"/>
              </a:rPr>
              <a:t>https://huggingface.co/datasets/THUDM/LongBench-v2</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750" b="0">
                <a:solidFill>
                  <a:srgbClr val="303437"/>
                </a:solidFill>
                <a:latin typeface="Noto Sans"/>
              </a:defRPr>
            </a:pPr>
            <a:r>
              <a:rPr sz="2750" b="1" lang="ja-JP" altLang="en-US">
                <a:solidFill>
                  <a:srgbClr val="303437"/>
                </a:solidFill>
                <a:latin typeface="Noto Sans"/>
                <a:ea typeface="Noto Sans CJK JP"/>
                <a:cs typeface="Noto Sans"/>
              </a:rPr>
              <a:t>例7 二つの判例に共通する点を探す：本文の抜粋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異なる課題の追加例</a:t>
            </a:r>
          </a:p>
        </p:txBody>
      </p:sp>
      <p:sp>
        <p:nvSpPr>
          <p:cNvPr id="4" name="TextBox 3"/>
          <p:cNvSpPr txBox="1"/>
          <p:nvPr/>
        </p:nvSpPr>
        <p:spPr>
          <a:xfrm>
            <a:off x="548640" y="1316736"/>
            <a:ext cx="8046720" cy="210312"/>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判例の原文（二つの文書からの抜粋）</a:t>
            </a:r>
          </a:p>
        </p:txBody>
      </p:sp>
      <p:sp>
        <p:nvSpPr>
          <p:cNvPr id="5" name="quote-frame"/>
          <p:cNvSpPr/>
          <p:nvPr/>
        </p:nvSpPr>
        <p:spPr>
          <a:xfrm>
            <a:off x="548640" y="1581912"/>
            <a:ext cx="8046720" cy="2588895"/>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88900" bIns="114300">
            <a:noAutofit/>
          </a:bodyPr>
          <a:lstStyle/>
          <a:p>
            <a:pPr algn="l" marL="0" indent="0">
              <a:lnSpc>
                <a:spcPts val="2065"/>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The instrument sought to be enforced was written by A. H. Zehmer on December 20, 1952, in these words: “We hereby agree to sell to W. O. Lucy the Ferguson Farm complete for $50,000.00, title satisfactory to buyer,” and signed by the defendants, A. H. Zehmer and Ida S. Zehmer.
[...]
… There was sufficient evidence for the jury to conclude that the parties had reached agreement on all essential terms of the transaction with only the mechanics and details left to be supplied by the parties’ attorneys.</a:t>
            </a:r>
          </a:p>
        </p:txBody>
      </p:sp>
      <p:sp>
        <p:nvSpPr>
          <p:cNvPr id="6" name="source-1"/>
          <p:cNvSpPr txBox="1"/>
          <p:nvPr/>
        </p:nvSpPr>
        <p:spPr>
          <a:xfrm>
            <a:off x="502920" y="4686633"/>
            <a:ext cx="8183879" cy="214551"/>
          </a:xfrm>
          <a:prstGeom prst="rect">
            <a:avLst/>
          </a:prstGeom>
          <a:noFill/>
        </p:spPr>
        <p:txBody>
          <a:bodyPr wrap="square" lIns="0" rIns="0" tIns="31671"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LongBench Team (2026-10-26参照), LongBench v2. </a:t>
            </a:r>
            <a:r>
              <a:rPr sz="800" b="0" lang="ja-JP" altLang="en-US">
                <a:solidFill>
                  <a:srgbClr val="626669"/>
                </a:solidFill>
                <a:latin typeface="Noto Sans"/>
                <a:ea typeface="Noto Sans CJK JP"/>
                <a:cs typeface="Noto Sans"/>
                <a:hlinkClick r:id="rId2"/>
              </a:rPr>
              <a:t>https://huggingface.co/datasets/THUDM/LongBench-v2</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500" b="0">
                <a:solidFill>
                  <a:srgbClr val="303437"/>
                </a:solidFill>
                <a:latin typeface="Noto Sans"/>
              </a:defRPr>
            </a:pPr>
            <a:r>
              <a:rPr sz="2500" b="1" lang="ja-JP" altLang="en-US">
                <a:solidFill>
                  <a:srgbClr val="303437"/>
                </a:solidFill>
                <a:latin typeface="Noto Sans"/>
                <a:ea typeface="Noto Sans CJK JP"/>
                <a:cs typeface="Noto Sans"/>
              </a:rPr>
              <a:t>例7 二つの判例に共通する点を探す：設問の日本語訳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異なる課題の追加例</a:t>
            </a:r>
          </a:p>
        </p:txBody>
      </p:sp>
      <p:sp>
        <p:nvSpPr>
          <p:cNvPr id="4" name="TextBox 3"/>
          <p:cNvSpPr txBox="1"/>
          <p:nvPr/>
        </p:nvSpPr>
        <p:spPr>
          <a:xfrm>
            <a:off x="594360" y="1362456"/>
            <a:ext cx="7955279"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設問と選択肢の日本語訳</a:t>
            </a:r>
          </a:p>
        </p:txBody>
      </p:sp>
      <p:sp>
        <p:nvSpPr>
          <p:cNvPr id="5" name="japanese-question"/>
          <p:cNvSpPr txBox="1"/>
          <p:nvPr/>
        </p:nvSpPr>
        <p:spPr>
          <a:xfrm>
            <a:off x="594360" y="1645920"/>
            <a:ext cx="7955279" cy="1454150"/>
          </a:xfrm>
          <a:prstGeom prst="rect">
            <a:avLst/>
          </a:prstGeom>
          <a:noFill/>
        </p:spPr>
        <p:txBody>
          <a:bodyPr wrap="square" lIns="0" rIns="0" tIns="0" bIns="0">
            <a:noAutofit/>
          </a:bodyPr>
          <a:lstStyle/>
          <a:p>
            <a:pPr algn="l">
              <a:lnSpc>
                <a:spcPts val="210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二つの判例に共通する点は何か。</a:t>
            </a:r>
          </a:p>
          <a:p>
            <a:pPr algn="l">
              <a:lnSpc>
                <a:spcPts val="210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A：契約を結ぶ当事者の内心の意思が、何よりも重要である。</a:t>
            </a:r>
          </a:p>
          <a:p>
            <a:pPr algn="l">
              <a:lnSpc>
                <a:spcPts val="210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B：契約に従わない理由は、どちらも相手の提示額が低すぎたことだ。</a:t>
            </a:r>
          </a:p>
          <a:p>
            <a:pPr algn="l">
              <a:lnSpc>
                <a:spcPts val="210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C：主たる合意の基本的な条件が定まっている。</a:t>
            </a:r>
          </a:p>
          <a:p>
            <a:pPr algn="l">
              <a:lnSpc>
                <a:spcPts val="210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D：裁判所は原告の請求をすべて認めた。</a:t>
            </a:r>
          </a:p>
        </p:txBody>
      </p:sp>
      <p:sp>
        <p:nvSpPr>
          <p:cNvPr id="6" name="source-1"/>
          <p:cNvSpPr txBox="1"/>
          <p:nvPr/>
        </p:nvSpPr>
        <p:spPr>
          <a:xfrm>
            <a:off x="502920" y="4686633"/>
            <a:ext cx="8183879" cy="214551"/>
          </a:xfrm>
          <a:prstGeom prst="rect">
            <a:avLst/>
          </a:prstGeom>
          <a:noFill/>
        </p:spPr>
        <p:txBody>
          <a:bodyPr wrap="square" lIns="0" rIns="0" tIns="31671"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LongBench Team (2026-10-26参照), LongBench v2. </a:t>
            </a:r>
            <a:r>
              <a:rPr sz="800" b="0" lang="ja-JP" altLang="en-US">
                <a:solidFill>
                  <a:srgbClr val="626669"/>
                </a:solidFill>
                <a:latin typeface="Noto Sans"/>
                <a:ea typeface="Noto Sans CJK JP"/>
                <a:cs typeface="Noto Sans"/>
                <a:hlinkClick r:id="rId2"/>
              </a:rPr>
              <a:t>https://huggingface.co/datasets/THUDM/LongBench-v2</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750" b="0">
                <a:solidFill>
                  <a:srgbClr val="303437"/>
                </a:solidFill>
                <a:latin typeface="Noto Sans"/>
              </a:defRPr>
            </a:pPr>
            <a:r>
              <a:rPr sz="2750" b="1" lang="ja-JP" altLang="en-US">
                <a:solidFill>
                  <a:srgbClr val="303437"/>
                </a:solidFill>
                <a:latin typeface="Noto Sans"/>
                <a:ea typeface="Noto Sans CJK JP"/>
                <a:cs typeface="Noto Sans"/>
              </a:rPr>
              <a:t>例7 二つの判例に共通する点を探す：答えの理由</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異なる課題の追加例</a:t>
            </a:r>
          </a:p>
        </p:txBody>
      </p:sp>
      <p:sp>
        <p:nvSpPr>
          <p:cNvPr id="4" name="expected-answer"/>
          <p:cNvSpPr txBox="1"/>
          <p:nvPr/>
        </p:nvSpPr>
        <p:spPr>
          <a:xfrm>
            <a:off x="594360" y="1408176"/>
            <a:ext cx="7955279" cy="436308"/>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正解：C：主たる合意の基本条件が定まっている。</a:t>
            </a:r>
          </a:p>
        </p:txBody>
      </p:sp>
      <p:sp>
        <p:nvSpPr>
          <p:cNvPr id="5" name="japanese-context-explanation"/>
          <p:cNvSpPr txBox="1"/>
          <p:nvPr/>
        </p:nvSpPr>
        <p:spPr>
          <a:xfrm>
            <a:off x="594360" y="1917636"/>
            <a:ext cx="7955279" cy="1989073"/>
          </a:xfrm>
          <a:prstGeom prst="rect">
            <a:avLst/>
          </a:prstGeom>
          <a:noFill/>
        </p:spPr>
        <p:txBody>
          <a:bodyPr wrap="square" lIns="0" rIns="0" tIns="0" bIns="0">
            <a:noAutofit/>
          </a:bodyPr>
          <a:lstStyle/>
          <a:p>
            <a:pPr algn="l">
              <a:lnSpc>
                <a:spcPts val="210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一つ目の判例では、農場全体を5万ドルで売り、買い手が納得する権原を条件とする合意書に、売り手夫婦が署名していた。二つ目の判例では、取引の主要条件にすべて合意しており、弁護士が詰めるのは手続や詳細だけだったと、陪審が判断するに足る証拠があった。</a:t>
            </a:r>
          </a:p>
          <a:p>
            <a:pPr algn="l">
              <a:lnSpc>
                <a:spcPts val="210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
            </a:r>
          </a:p>
          <a:p>
            <a:pPr algn="l">
              <a:lnSpc>
                <a:spcPts val="210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両判例は、契約に必要な主要条件の合意を認めている。内心の意思だけを最重要とするAとは異なる。</a:t>
            </a:r>
          </a:p>
        </p:txBody>
      </p:sp>
      <p:sp>
        <p:nvSpPr>
          <p:cNvPr id="6" name="source-1"/>
          <p:cNvSpPr txBox="1"/>
          <p:nvPr/>
        </p:nvSpPr>
        <p:spPr>
          <a:xfrm>
            <a:off x="502920" y="4686633"/>
            <a:ext cx="8183879" cy="214551"/>
          </a:xfrm>
          <a:prstGeom prst="rect">
            <a:avLst/>
          </a:prstGeom>
          <a:noFill/>
        </p:spPr>
        <p:txBody>
          <a:bodyPr wrap="square" lIns="0" rIns="0" tIns="31671"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LongBench Team (2026-10-26参照), LongBench v2. </a:t>
            </a:r>
            <a:r>
              <a:rPr sz="800" b="0" lang="ja-JP" altLang="en-US">
                <a:solidFill>
                  <a:srgbClr val="626669"/>
                </a:solidFill>
                <a:latin typeface="Noto Sans"/>
                <a:ea typeface="Noto Sans CJK JP"/>
                <a:cs typeface="Noto Sans"/>
                <a:hlinkClick r:id="rId2"/>
              </a:rPr>
              <a:t>https://huggingface.co/datasets/THUDM/LongBench-v2</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150" b="0">
                <a:solidFill>
                  <a:srgbClr val="303437"/>
                </a:solidFill>
                <a:latin typeface="Noto Sans"/>
              </a:defRPr>
            </a:pPr>
            <a:r>
              <a:rPr sz="2150" b="1" lang="ja-JP" altLang="en-US">
                <a:solidFill>
                  <a:srgbClr val="303437"/>
                </a:solidFill>
                <a:latin typeface="Noto Sans"/>
                <a:ea typeface="Noto Sans CJK JP"/>
                <a:cs typeface="Noto Sans"/>
              </a:rPr>
              <a:t>例8 政策文書の内容と選択肢を照合する：設問の原文（1/2）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異なる課題の追加例</a:t>
            </a:r>
          </a:p>
        </p:txBody>
      </p:sp>
      <p:sp>
        <p:nvSpPr>
          <p:cNvPr id="4" name="TextBox 3"/>
          <p:cNvSpPr txBox="1"/>
          <p:nvPr/>
        </p:nvSpPr>
        <p:spPr>
          <a:xfrm>
            <a:off x="548640" y="1280160"/>
            <a:ext cx="804672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設問と四つの選択肢（1/2）</a:t>
            </a:r>
          </a:p>
        </p:txBody>
      </p:sp>
      <p:sp>
        <p:nvSpPr>
          <p:cNvPr id="5" name="quote-frame"/>
          <p:cNvSpPr/>
          <p:nvPr/>
        </p:nvSpPr>
        <p:spPr>
          <a:xfrm>
            <a:off x="548640" y="1508760"/>
            <a:ext cx="8046720" cy="142747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88900" bIns="114300">
            <a:noAutofit/>
          </a:bodyPr>
          <a:lstStyle/>
          <a:p>
            <a:pPr algn="l" marL="0" indent="0">
              <a:lnSpc>
                <a:spcPts val="1888"/>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Which of the following options is not part of the U.S. national COVID-19 preparedness plan？
A: With insufficient tools to fight COVID-19, the United States mobilized all of society to insist on surviving the outbreak with the least disruption to the United States.</a:t>
            </a:r>
          </a:p>
        </p:txBody>
      </p:sp>
      <p:sp>
        <p:nvSpPr>
          <p:cNvPr id="6" name="source-1"/>
          <p:cNvSpPr txBox="1"/>
          <p:nvPr/>
        </p:nvSpPr>
        <p:spPr>
          <a:xfrm>
            <a:off x="502920" y="4686633"/>
            <a:ext cx="8183879" cy="214551"/>
          </a:xfrm>
          <a:prstGeom prst="rect">
            <a:avLst/>
          </a:prstGeom>
          <a:noFill/>
        </p:spPr>
        <p:txBody>
          <a:bodyPr wrap="square" lIns="0" rIns="0" tIns="31671"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LongBench Team (2026-10-26参照), LongBench v2. </a:t>
            </a:r>
            <a:r>
              <a:rPr sz="800" b="0" lang="ja-JP" altLang="en-US">
                <a:solidFill>
                  <a:srgbClr val="626669"/>
                </a:solidFill>
                <a:latin typeface="Noto Sans"/>
                <a:ea typeface="Noto Sans CJK JP"/>
                <a:cs typeface="Noto Sans"/>
                <a:hlinkClick r:id="rId2"/>
              </a:rPr>
              <a:t>https://huggingface.co/datasets/THUDM/LongBench-v2</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150" b="0">
                <a:solidFill>
                  <a:srgbClr val="303437"/>
                </a:solidFill>
                <a:latin typeface="Noto Sans"/>
              </a:defRPr>
            </a:pPr>
            <a:r>
              <a:rPr sz="2150" b="1" lang="ja-JP" altLang="en-US">
                <a:solidFill>
                  <a:srgbClr val="303437"/>
                </a:solidFill>
                <a:latin typeface="Noto Sans"/>
                <a:ea typeface="Noto Sans CJK JP"/>
                <a:cs typeface="Noto Sans"/>
              </a:rPr>
              <a:t>例8 政策文書の内容と選択肢を照合する：設問の原文（2/2）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異なる課題の追加例</a:t>
            </a:r>
          </a:p>
        </p:txBody>
      </p:sp>
      <p:sp>
        <p:nvSpPr>
          <p:cNvPr id="4" name="TextBox 3"/>
          <p:cNvSpPr txBox="1"/>
          <p:nvPr/>
        </p:nvSpPr>
        <p:spPr>
          <a:xfrm>
            <a:off x="548640" y="1280160"/>
            <a:ext cx="804672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設問と四つの選択肢（2/2）</a:t>
            </a:r>
          </a:p>
        </p:txBody>
      </p:sp>
      <p:sp>
        <p:nvSpPr>
          <p:cNvPr id="5" name="quote-frame"/>
          <p:cNvSpPr/>
          <p:nvPr/>
        </p:nvSpPr>
        <p:spPr>
          <a:xfrm>
            <a:off x="548640" y="1508760"/>
            <a:ext cx="8046720" cy="2146807"/>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88900" bIns="114300">
            <a:noAutofit/>
          </a:bodyPr>
          <a:lstStyle/>
          <a:p>
            <a:pPr algn="l" marL="0" indent="0">
              <a:lnSpc>
                <a:spcPts val="1888"/>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B: Minimize the impact of new variants on the United States by collecting and analyzing data on previous variants of COVID-19 and strengthening regulation and review of specific variants.
C: Take specific measures for businesses and schools to help businesses and schools continue to operate through COVID-19 to reduce the cost and impact of the pandemic on the U.S. economy.
D: Expand global access to COVID-19 medicines, facilitate the formation of pharmaceutical research alliances, and increase global funding.</a:t>
            </a:r>
          </a:p>
        </p:txBody>
      </p:sp>
      <p:sp>
        <p:nvSpPr>
          <p:cNvPr id="6" name="source-1"/>
          <p:cNvSpPr txBox="1"/>
          <p:nvPr/>
        </p:nvSpPr>
        <p:spPr>
          <a:xfrm>
            <a:off x="502920" y="4686633"/>
            <a:ext cx="8183879" cy="214551"/>
          </a:xfrm>
          <a:prstGeom prst="rect">
            <a:avLst/>
          </a:prstGeom>
          <a:noFill/>
        </p:spPr>
        <p:txBody>
          <a:bodyPr wrap="square" lIns="0" rIns="0" tIns="31671"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LongBench Team (2026-10-26参照), LongBench v2. </a:t>
            </a:r>
            <a:r>
              <a:rPr sz="800" b="0" lang="ja-JP" altLang="en-US">
                <a:solidFill>
                  <a:srgbClr val="626669"/>
                </a:solidFill>
                <a:latin typeface="Noto Sans"/>
                <a:ea typeface="Noto Sans CJK JP"/>
                <a:cs typeface="Noto Sans"/>
                <a:hlinkClick r:id="rId2"/>
              </a:rPr>
              <a:t>https://huggingface.co/datasets/THUDM/LongBench-v2</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150" b="0">
                <a:solidFill>
                  <a:srgbClr val="303437"/>
                </a:solidFill>
                <a:latin typeface="Noto Sans"/>
              </a:defRPr>
            </a:pPr>
            <a:r>
              <a:rPr sz="2150" b="1" lang="ja-JP" altLang="en-US">
                <a:solidFill>
                  <a:srgbClr val="303437"/>
                </a:solidFill>
                <a:latin typeface="Noto Sans"/>
                <a:ea typeface="Noto Sans CJK JP"/>
                <a:cs typeface="Noto Sans"/>
              </a:rPr>
              <a:t>例8 政策文書の内容と選択肢を照合する：本文の抜粋（1/2）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異なる課題の追加例</a:t>
            </a:r>
          </a:p>
        </p:txBody>
      </p:sp>
      <p:sp>
        <p:nvSpPr>
          <p:cNvPr id="4" name="TextBox 3"/>
          <p:cNvSpPr txBox="1"/>
          <p:nvPr/>
        </p:nvSpPr>
        <p:spPr>
          <a:xfrm>
            <a:off x="548640" y="1316736"/>
            <a:ext cx="8046720" cy="210312"/>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政策文書の原文（計画と対抗手段に関する抜粋）</a:t>
            </a:r>
          </a:p>
        </p:txBody>
      </p:sp>
      <p:sp>
        <p:nvSpPr>
          <p:cNvPr id="5" name="quote-frame"/>
          <p:cNvSpPr/>
          <p:nvPr/>
        </p:nvSpPr>
        <p:spPr>
          <a:xfrm>
            <a:off x="548640" y="1581912"/>
            <a:ext cx="8046720" cy="2588895"/>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88900" bIns="114300">
            <a:noAutofit/>
          </a:bodyPr>
          <a:lstStyle/>
          <a:p>
            <a:pPr algn="l" marL="0" indent="0">
              <a:lnSpc>
                <a:spcPts val="2065"/>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As the country emerges from the Omicron wave, our path forward relies on maintaining and continually enhancing the numerous tools we now have to protect ourselves and our loved ones – from vaccines, to tests, to treatments, to masks, and more. In January 2021, Americans had very few tools to protect against COVID-19, and the tools we did have were in limited supply. Over the last year, together, with states, localities, and public and private partners, the Administration has mobilized an unprecedented, whole-of-society effort to give Americans the tools they need to protect themselves.</a:t>
            </a:r>
          </a:p>
        </p:txBody>
      </p:sp>
      <p:sp>
        <p:nvSpPr>
          <p:cNvPr id="6" name="source-1"/>
          <p:cNvSpPr txBox="1"/>
          <p:nvPr/>
        </p:nvSpPr>
        <p:spPr>
          <a:xfrm>
            <a:off x="502920" y="4686633"/>
            <a:ext cx="8183879" cy="214551"/>
          </a:xfrm>
          <a:prstGeom prst="rect">
            <a:avLst/>
          </a:prstGeom>
          <a:noFill/>
        </p:spPr>
        <p:txBody>
          <a:bodyPr wrap="square" lIns="0" rIns="0" tIns="31671"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LongBench Team (2026-10-26参照), LongBench v2. </a:t>
            </a:r>
            <a:r>
              <a:rPr sz="800" b="0" lang="ja-JP" altLang="en-US">
                <a:solidFill>
                  <a:srgbClr val="626669"/>
                </a:solidFill>
                <a:latin typeface="Noto Sans"/>
                <a:ea typeface="Noto Sans CJK JP"/>
                <a:cs typeface="Noto Sans"/>
                <a:hlinkClick r:id="rId2"/>
              </a:rPr>
              <a:t>https://huggingface.co/datasets/THUDM/LongBench-v2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150" b="0">
                <a:solidFill>
                  <a:srgbClr val="303437"/>
                </a:solidFill>
                <a:latin typeface="Noto Sans"/>
              </a:defRPr>
            </a:pPr>
            <a:r>
              <a:rPr sz="2150" b="1" lang="ja-JP" altLang="en-US">
                <a:solidFill>
                  <a:srgbClr val="303437"/>
                </a:solidFill>
                <a:latin typeface="Noto Sans"/>
                <a:ea typeface="Noto Sans CJK JP"/>
                <a:cs typeface="Noto Sans"/>
              </a:rPr>
              <a:t>例8 政策文書の内容と選択肢を照合する：本文の抜粋（2/2）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異なる課題の追加例</a:t>
            </a:r>
          </a:p>
        </p:txBody>
      </p:sp>
      <p:sp>
        <p:nvSpPr>
          <p:cNvPr id="4" name="TextBox 3"/>
          <p:cNvSpPr txBox="1"/>
          <p:nvPr/>
        </p:nvSpPr>
        <p:spPr>
          <a:xfrm>
            <a:off x="548640" y="1316736"/>
            <a:ext cx="8046720" cy="210312"/>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政策文書の原文（計画と対抗手段に関する抜粋）</a:t>
            </a:r>
          </a:p>
        </p:txBody>
      </p:sp>
      <p:sp>
        <p:nvSpPr>
          <p:cNvPr id="5" name="quote-frame"/>
          <p:cNvSpPr/>
          <p:nvPr/>
        </p:nvSpPr>
        <p:spPr>
          <a:xfrm>
            <a:off x="548640" y="1581912"/>
            <a:ext cx="8046720" cy="1015365"/>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88900" bIns="114300">
            <a:noAutofit/>
          </a:bodyPr>
          <a:lstStyle/>
          <a:p>
            <a:pPr algn="l" marL="0" indent="0">
              <a:lnSpc>
                <a:spcPts val="2065"/>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
This plan lays out the roadmap to help us fight COVID-19 in the future as we begin to get back to our more normal routines.</a:t>
            </a:r>
          </a:p>
        </p:txBody>
      </p:sp>
      <p:sp>
        <p:nvSpPr>
          <p:cNvPr id="6" name="source-1"/>
          <p:cNvSpPr txBox="1"/>
          <p:nvPr/>
        </p:nvSpPr>
        <p:spPr>
          <a:xfrm>
            <a:off x="502920" y="4686633"/>
            <a:ext cx="8183879" cy="214551"/>
          </a:xfrm>
          <a:prstGeom prst="rect">
            <a:avLst/>
          </a:prstGeom>
          <a:noFill/>
        </p:spPr>
        <p:txBody>
          <a:bodyPr wrap="square" lIns="0" rIns="0" tIns="31671"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LongBench Team (2026-10-26参照), LongBench v2. </a:t>
            </a:r>
            <a:r>
              <a:rPr sz="800" b="0" lang="ja-JP" altLang="en-US">
                <a:solidFill>
                  <a:srgbClr val="626669"/>
                </a:solidFill>
                <a:latin typeface="Noto Sans"/>
                <a:ea typeface="Noto Sans CJK JP"/>
                <a:cs typeface="Noto Sans"/>
                <a:hlinkClick r:id="rId2"/>
              </a:rPr>
              <a:t>https://huggingface.co/datasets/THUDM/LongBench-v2</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300" b="0">
                <a:solidFill>
                  <a:srgbClr val="303437"/>
                </a:solidFill>
                <a:latin typeface="Noto Sans"/>
              </a:defRPr>
            </a:pPr>
            <a:r>
              <a:rPr sz="2300" b="1" lang="ja-JP" altLang="en-US">
                <a:solidFill>
                  <a:srgbClr val="303437"/>
                </a:solidFill>
                <a:latin typeface="Noto Sans"/>
                <a:ea typeface="Noto Sans CJK JP"/>
                <a:cs typeface="Noto Sans"/>
              </a:rPr>
              <a:t>例8 政策文書の内容と選択肢を照合する：設問の日本語訳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異なる課題の追加例</a:t>
            </a:r>
          </a:p>
        </p:txBody>
      </p:sp>
      <p:sp>
        <p:nvSpPr>
          <p:cNvPr id="4" name="TextBox 3"/>
          <p:cNvSpPr txBox="1"/>
          <p:nvPr/>
        </p:nvSpPr>
        <p:spPr>
          <a:xfrm>
            <a:off x="594360" y="1362456"/>
            <a:ext cx="7955279"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設問と選択肢の日本語訳</a:t>
            </a:r>
          </a:p>
        </p:txBody>
      </p:sp>
      <p:sp>
        <p:nvSpPr>
          <p:cNvPr id="5" name="japanese-question"/>
          <p:cNvSpPr txBox="1"/>
          <p:nvPr/>
        </p:nvSpPr>
        <p:spPr>
          <a:xfrm>
            <a:off x="594360" y="1645920"/>
            <a:ext cx="7955279" cy="2523998"/>
          </a:xfrm>
          <a:prstGeom prst="rect">
            <a:avLst/>
          </a:prstGeom>
          <a:noFill/>
        </p:spPr>
        <p:txBody>
          <a:bodyPr wrap="square" lIns="0" rIns="0" tIns="0" bIns="0">
            <a:noAutofit/>
          </a:bodyPr>
          <a:lstStyle/>
          <a:p>
            <a:pPr algn="l">
              <a:lnSpc>
                <a:spcPts val="210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米国の国家COVID-19対策計画に含まれていない説明はどれか。</a:t>
            </a:r>
          </a:p>
          <a:p>
            <a:pPr algn="l">
              <a:lnSpc>
                <a:spcPts val="210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A：対抗手段が不十分な中、社会全体を動員して、混乱を最小限に抑えながら流行を乗り切る。</a:t>
            </a:r>
          </a:p>
          <a:p>
            <a:pPr algn="l">
              <a:lnSpc>
                <a:spcPts val="210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B：過去の変異株のデータを収集・分析し、特定の変異株に関する規制と審査を強化することで、新しい変異株が米国に与える影響を最小限にする。</a:t>
            </a:r>
          </a:p>
          <a:p>
            <a:pPr algn="l">
              <a:lnSpc>
                <a:spcPts val="210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C：企業や学校が活動を続けられるよう対策し、経済への費用と影響を減らす。</a:t>
            </a:r>
          </a:p>
          <a:p>
            <a:pPr algn="l">
              <a:lnSpc>
                <a:spcPts val="210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D：COVID-19の医薬品を世界で入手しやすくし、医薬品研究の連携体制の形成を促して、世界的な資金供給を増やす。</a:t>
            </a:r>
          </a:p>
        </p:txBody>
      </p:sp>
      <p:sp>
        <p:nvSpPr>
          <p:cNvPr id="6" name="source-1"/>
          <p:cNvSpPr txBox="1"/>
          <p:nvPr/>
        </p:nvSpPr>
        <p:spPr>
          <a:xfrm>
            <a:off x="502920" y="4686633"/>
            <a:ext cx="8183879" cy="214551"/>
          </a:xfrm>
          <a:prstGeom prst="rect">
            <a:avLst/>
          </a:prstGeom>
          <a:noFill/>
        </p:spPr>
        <p:txBody>
          <a:bodyPr wrap="square" lIns="0" rIns="0" tIns="31671"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LongBench Team (2026-10-26参照), LongBench v2. </a:t>
            </a:r>
            <a:r>
              <a:rPr sz="800" b="0" lang="ja-JP" altLang="en-US">
                <a:solidFill>
                  <a:srgbClr val="626669"/>
                </a:solidFill>
                <a:latin typeface="Noto Sans"/>
                <a:ea typeface="Noto Sans CJK JP"/>
                <a:cs typeface="Noto Sans"/>
                <a:hlinkClick r:id="rId2"/>
              </a:rPr>
              <a:t>https://huggingface.co/datasets/THUDM/LongBench-v2</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500" b="0">
                <a:solidFill>
                  <a:srgbClr val="303437"/>
                </a:solidFill>
                <a:latin typeface="Noto Sans"/>
              </a:defRPr>
            </a:pPr>
            <a:r>
              <a:rPr sz="2500" b="1" lang="ja-JP" altLang="en-US">
                <a:solidFill>
                  <a:srgbClr val="303437"/>
                </a:solidFill>
                <a:latin typeface="Noto Sans"/>
                <a:ea typeface="Noto Sans CJK JP"/>
                <a:cs typeface="Noto Sans"/>
              </a:rPr>
              <a:t>例8 政策文書の内容と選択肢を照合する：答えの理由</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異なる課題の追加例</a:t>
            </a:r>
          </a:p>
        </p:txBody>
      </p:sp>
      <p:sp>
        <p:nvSpPr>
          <p:cNvPr id="4" name="expected-answer"/>
          <p:cNvSpPr txBox="1"/>
          <p:nvPr/>
        </p:nvSpPr>
        <p:spPr>
          <a:xfrm>
            <a:off x="594360" y="1408176"/>
            <a:ext cx="7955279" cy="436308"/>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正解：A：対抗手段が不十分だとする説明。</a:t>
            </a:r>
          </a:p>
        </p:txBody>
      </p:sp>
      <p:sp>
        <p:nvSpPr>
          <p:cNvPr id="5" name="japanese-context-explanation"/>
          <p:cNvSpPr txBox="1"/>
          <p:nvPr/>
        </p:nvSpPr>
        <p:spPr>
          <a:xfrm>
            <a:off x="594360" y="1917636"/>
            <a:ext cx="7955279" cy="1989073"/>
          </a:xfrm>
          <a:prstGeom prst="rect">
            <a:avLst/>
          </a:prstGeom>
          <a:noFill/>
        </p:spPr>
        <p:txBody>
          <a:bodyPr wrap="square" lIns="0" rIns="0" tIns="0" bIns="0">
            <a:noAutofit/>
          </a:bodyPr>
          <a:lstStyle/>
          <a:p>
            <a:pPr algn="l">
              <a:lnSpc>
                <a:spcPts val="210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オミクロン株の流行が落ち着く中、今後の方針はワクチン、検査、治療、マスクなど、すでにある多数の手段を維持し、強化することにある。2021年1月には手段も供給も限られていたが、その後の社会全体の取組で必要な手段を広げた。計画は、日常へ戻りながらCOVID-19と闘うための道筋を示す。</a:t>
            </a:r>
          </a:p>
          <a:p>
            <a:pPr algn="l">
              <a:lnSpc>
                <a:spcPts val="210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
            </a:r>
          </a:p>
          <a:p>
            <a:pPr algn="l">
              <a:lnSpc>
                <a:spcPts val="210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Aの「対抗手段が不十分な中」という部分は、2021年1月の状況を計画の現状へ当てはめている。</a:t>
            </a:r>
          </a:p>
        </p:txBody>
      </p:sp>
      <p:sp>
        <p:nvSpPr>
          <p:cNvPr id="6" name="source-1"/>
          <p:cNvSpPr txBox="1"/>
          <p:nvPr/>
        </p:nvSpPr>
        <p:spPr>
          <a:xfrm>
            <a:off x="502920" y="4686633"/>
            <a:ext cx="8183879" cy="214551"/>
          </a:xfrm>
          <a:prstGeom prst="rect">
            <a:avLst/>
          </a:prstGeom>
          <a:noFill/>
        </p:spPr>
        <p:txBody>
          <a:bodyPr wrap="square" lIns="0" rIns="0" tIns="31671"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LongBench Team (2026-10-26参照), LongBench v2. </a:t>
            </a:r>
            <a:r>
              <a:rPr sz="800" b="0" lang="ja-JP" altLang="en-US">
                <a:solidFill>
                  <a:srgbClr val="626669"/>
                </a:solidFill>
                <a:latin typeface="Noto Sans"/>
                <a:ea typeface="Noto Sans CJK JP"/>
                <a:cs typeface="Noto Sans"/>
                <a:hlinkClick r:id="rId2"/>
              </a:rPr>
              <a:t>https://huggingface.co/datasets/THUDM/LongBench-v2</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500" b="0">
                <a:solidFill>
                  <a:srgbClr val="303437"/>
                </a:solidFill>
                <a:latin typeface="Noto Sans"/>
              </a:defRPr>
            </a:pPr>
            <a:r>
              <a:rPr sz="2500" b="1" lang="ja-JP" altLang="en-US">
                <a:solidFill>
                  <a:srgbClr val="303437"/>
                </a:solidFill>
                <a:latin typeface="Noto Sans"/>
                <a:ea typeface="Noto Sans CJK JP"/>
                <a:cs typeface="Noto Sans"/>
              </a:rPr>
              <a:t>例9 論文の数値から改善幅を求める：原文と日本語訳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異なる課題の追加例</a:t>
            </a:r>
          </a:p>
        </p:txBody>
      </p:sp>
      <p:sp>
        <p:nvSpPr>
          <p:cNvPr id="4" name="TextBox 3"/>
          <p:cNvSpPr txBox="1"/>
          <p:nvPr/>
        </p:nvSpPr>
        <p:spPr>
          <a:xfrm>
            <a:off x="548640" y="1325880"/>
            <a:ext cx="804672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設問と四つの選択肢（全文）</a:t>
            </a:r>
          </a:p>
        </p:txBody>
      </p:sp>
      <p:sp>
        <p:nvSpPr>
          <p:cNvPr id="5" name="quote-frame"/>
          <p:cNvSpPr/>
          <p:nvPr/>
        </p:nvSpPr>
        <p:spPr>
          <a:xfrm>
            <a:off x="548640" y="1581912"/>
            <a:ext cx="8046720" cy="75311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88900" bIns="114300">
            <a:noAutofit/>
          </a:bodyPr>
          <a:lstStyle/>
          <a:p>
            <a:pPr algn="l" marL="0" indent="0">
              <a:lnSpc>
                <a:spcPts val="2065"/>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How much has Meta-Rewarding training improved on AlpacaEval 2?
A: 39.4% / B: 22.9% / C: 16.5% / D: 18.7%</a:t>
            </a:r>
          </a:p>
        </p:txBody>
      </p:sp>
      <p:sp>
        <p:nvSpPr>
          <p:cNvPr id="6" name="TextBox 5"/>
          <p:cNvSpPr txBox="1"/>
          <p:nvPr/>
        </p:nvSpPr>
        <p:spPr>
          <a:xfrm>
            <a:off x="594360" y="2426462"/>
            <a:ext cx="7955279" cy="182880"/>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設問と選択肢の日本語訳</a:t>
            </a:r>
          </a:p>
        </p:txBody>
      </p:sp>
      <p:sp>
        <p:nvSpPr>
          <p:cNvPr id="7" name="japanese-question"/>
          <p:cNvSpPr txBox="1"/>
          <p:nvPr/>
        </p:nvSpPr>
        <p:spPr>
          <a:xfrm>
            <a:off x="594360" y="2627630"/>
            <a:ext cx="7955279" cy="603758"/>
          </a:xfrm>
          <a:prstGeom prst="rect">
            <a:avLst/>
          </a:prstGeom>
          <a:noFill/>
        </p:spPr>
        <p:txBody>
          <a:bodyPr wrap="square" lIns="0" rIns="0" tIns="0" bIns="0">
            <a:noAutofit/>
          </a:bodyPr>
          <a:lstStyle/>
          <a:p>
            <a:pPr algn="l">
              <a:lnSpc>
                <a:spcPts val="1989"/>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Meta-Rewardingによって、AlpacaEval 2の得点はどれだけ改善したか。</a:t>
            </a:r>
          </a:p>
          <a:p>
            <a:pPr algn="l">
              <a:lnSpc>
                <a:spcPts val="1989"/>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A：39.4% / B：22.9% / C：16.5% / D：18.7%</a:t>
            </a:r>
          </a:p>
        </p:txBody>
      </p:sp>
      <p:sp>
        <p:nvSpPr>
          <p:cNvPr id="8" name="source-1"/>
          <p:cNvSpPr txBox="1"/>
          <p:nvPr/>
        </p:nvSpPr>
        <p:spPr>
          <a:xfrm>
            <a:off x="502920" y="4686633"/>
            <a:ext cx="8183879" cy="214551"/>
          </a:xfrm>
          <a:prstGeom prst="rect">
            <a:avLst/>
          </a:prstGeom>
          <a:noFill/>
        </p:spPr>
        <p:txBody>
          <a:bodyPr wrap="square" lIns="0" rIns="0" tIns="31671"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LongBench Team (2026-10-26参照), LongBench v2. </a:t>
            </a:r>
            <a:r>
              <a:rPr sz="800" b="0" lang="ja-JP" altLang="en-US">
                <a:solidFill>
                  <a:srgbClr val="626669"/>
                </a:solidFill>
                <a:latin typeface="Noto Sans"/>
                <a:ea typeface="Noto Sans CJK JP"/>
                <a:cs typeface="Noto Sans"/>
                <a:hlinkClick r:id="rId2"/>
              </a:rPr>
              <a:t>https://huggingface.co/datasets/THUDM/LongBench-v2</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750" b="0">
                <a:solidFill>
                  <a:srgbClr val="303437"/>
                </a:solidFill>
                <a:latin typeface="Noto Sans"/>
              </a:defRPr>
            </a:pPr>
            <a:r>
              <a:rPr sz="2750" b="1" lang="ja-JP" altLang="en-US">
                <a:solidFill>
                  <a:srgbClr val="303437"/>
                </a:solidFill>
                <a:latin typeface="Noto Sans"/>
                <a:ea typeface="Noto Sans CJK JP"/>
                <a:cs typeface="Noto Sans"/>
              </a:rPr>
              <a:t>例9 論文の数値から改善幅を求める：本文の抜粋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異なる課題の追加例</a:t>
            </a:r>
          </a:p>
        </p:txBody>
      </p:sp>
      <p:sp>
        <p:nvSpPr>
          <p:cNvPr id="4" name="TextBox 3"/>
          <p:cNvSpPr txBox="1"/>
          <p:nvPr/>
        </p:nvSpPr>
        <p:spPr>
          <a:xfrm>
            <a:off x="548640" y="1316736"/>
            <a:ext cx="8046720" cy="210312"/>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Meta-Rewarding論文の原文（実験結果の段落の抜粋）</a:t>
            </a:r>
          </a:p>
        </p:txBody>
      </p:sp>
      <p:sp>
        <p:nvSpPr>
          <p:cNvPr id="5" name="quote-frame"/>
          <p:cNvSpPr/>
          <p:nvPr/>
        </p:nvSpPr>
        <p:spPr>
          <a:xfrm>
            <a:off x="548640" y="1581912"/>
            <a:ext cx="8046720" cy="232664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88900" bIns="114300">
            <a:noAutofit/>
          </a:bodyPr>
          <a:lstStyle/>
          <a:p>
            <a:pPr algn="l" marL="0" indent="0">
              <a:lnSpc>
                <a:spcPts val="2065"/>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In our experiments we start from Llama-3-8B-Instruct and perform multiple iterations of our Meta- Rewarding training. When evaluated on AlpacaEval 2 (Dubois et al., 2024b), we see a substantial improvement in the length-controlled (LC) win rate (from 22.9% to 39.4%), even outperforming GPT-4-03141. We also observe that our method outperforms standard Self-Rewarding training even if it is enhanced with our length-bias improvements (35.5% vs 39.4%), highlighting the importance of the meta-judge.</a:t>
            </a:r>
          </a:p>
        </p:txBody>
      </p:sp>
      <p:sp>
        <p:nvSpPr>
          <p:cNvPr id="6" name="source-1"/>
          <p:cNvSpPr txBox="1"/>
          <p:nvPr/>
        </p:nvSpPr>
        <p:spPr>
          <a:xfrm>
            <a:off x="502920" y="4686633"/>
            <a:ext cx="8183879" cy="214551"/>
          </a:xfrm>
          <a:prstGeom prst="rect">
            <a:avLst/>
          </a:prstGeom>
          <a:noFill/>
        </p:spPr>
        <p:txBody>
          <a:bodyPr wrap="square" lIns="0" rIns="0" tIns="31671"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LongBench Team (2026-10-26参照), LongBench v2. </a:t>
            </a:r>
            <a:r>
              <a:rPr sz="800" b="0" lang="ja-JP" altLang="en-US">
                <a:solidFill>
                  <a:srgbClr val="626669"/>
                </a:solidFill>
                <a:latin typeface="Noto Sans"/>
                <a:ea typeface="Noto Sans CJK JP"/>
                <a:cs typeface="Noto Sans"/>
                <a:hlinkClick r:id="rId2"/>
              </a:rPr>
              <a:t>https://huggingface.co/datasets/THUDM/LongBench-v2</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750" b="0">
                <a:solidFill>
                  <a:srgbClr val="303437"/>
                </a:solidFill>
                <a:latin typeface="Noto Sans"/>
              </a:defRPr>
            </a:pPr>
            <a:r>
              <a:rPr sz="2750" b="1" lang="ja-JP" altLang="en-US">
                <a:solidFill>
                  <a:srgbClr val="303437"/>
                </a:solidFill>
                <a:latin typeface="Noto Sans"/>
                <a:ea typeface="Noto Sans CJK JP"/>
                <a:cs typeface="Noto Sans"/>
              </a:rPr>
              <a:t>例9 論文の数値から改善幅を求める：答えの理由</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異なる課題の追加例</a:t>
            </a:r>
          </a:p>
        </p:txBody>
      </p:sp>
      <p:sp>
        <p:nvSpPr>
          <p:cNvPr id="4" name="expected-answer"/>
          <p:cNvSpPr txBox="1"/>
          <p:nvPr/>
        </p:nvSpPr>
        <p:spPr>
          <a:xfrm>
            <a:off x="594360" y="1408176"/>
            <a:ext cx="7955279" cy="436308"/>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正解：C：16.5ポイントの改善。</a:t>
            </a:r>
          </a:p>
        </p:txBody>
      </p:sp>
      <p:sp>
        <p:nvSpPr>
          <p:cNvPr id="5" name="japanese-context-explanation"/>
          <p:cNvSpPr txBox="1"/>
          <p:nvPr/>
        </p:nvSpPr>
        <p:spPr>
          <a:xfrm>
            <a:off x="594360" y="1917636"/>
            <a:ext cx="7955279" cy="1849198"/>
          </a:xfrm>
          <a:prstGeom prst="rect">
            <a:avLst/>
          </a:prstGeom>
          <a:noFill/>
        </p:spPr>
        <p:txBody>
          <a:bodyPr wrap="square" lIns="0" rIns="0" tIns="0" bIns="127586">
            <a:noAutofit/>
          </a:bodyPr>
          <a:lstStyle/>
          <a:p>
            <a:pPr algn="l">
              <a:lnSpc>
                <a:spcPts val="210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実験ではLlama-3-8B-Instructから始め、Meta-Rewardingを複数回繰り返した。AlpacaEval 2で、回答の長さを調整した勝率は22.9%から39.4%へ上がった。長さの偏りを調整した通常のSelf-Rewardingの35.5%も上回り、判断そのものを評価する工程の効果を示している。</a:t>
            </a:r>
          </a:p>
          <a:p>
            <a:pPr algn="l">
              <a:lnSpc>
                <a:spcPts val="210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
            </a:r>
          </a:p>
          <a:p>
            <a:pPr algn="l">
              <a:lnSpc>
                <a:spcPts val="210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39.4−22.9=16.5なので、改善幅は16.5ポイント。選択肢ではCに対応する。</a:t>
            </a:r>
          </a:p>
        </p:txBody>
      </p:sp>
      <p:sp>
        <p:nvSpPr>
          <p:cNvPr id="6" name="source-1"/>
          <p:cNvSpPr txBox="1"/>
          <p:nvPr/>
        </p:nvSpPr>
        <p:spPr>
          <a:xfrm>
            <a:off x="502920" y="4686633"/>
            <a:ext cx="8183879" cy="214551"/>
          </a:xfrm>
          <a:prstGeom prst="rect">
            <a:avLst/>
          </a:prstGeom>
          <a:noFill/>
        </p:spPr>
        <p:txBody>
          <a:bodyPr wrap="square" lIns="0" rIns="0" tIns="31671"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LongBench Team (2026-10-26参照), LongBench v2. </a:t>
            </a:r>
            <a:r>
              <a:rPr sz="800" b="0" lang="ja-JP" altLang="en-US">
                <a:solidFill>
                  <a:srgbClr val="626669"/>
                </a:solidFill>
                <a:latin typeface="Noto Sans"/>
                <a:ea typeface="Noto Sans CJK JP"/>
                <a:cs typeface="Noto Sans"/>
                <a:hlinkClick r:id="rId2"/>
              </a:rPr>
              <a:t>https://huggingface.co/datasets/THUDM/LongBench-v2</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300" b="0">
                <a:solidFill>
                  <a:srgbClr val="303437"/>
                </a:solidFill>
                <a:latin typeface="Noto Sans"/>
              </a:defRPr>
            </a:pPr>
            <a:r>
              <a:rPr sz="2300" b="1" lang="ja-JP" altLang="en-US">
                <a:solidFill>
                  <a:srgbClr val="303437"/>
                </a:solidFill>
                <a:latin typeface="Noto Sans"/>
                <a:ea typeface="Noto Sans CJK JP"/>
                <a:cs typeface="Noto Sans"/>
              </a:rPr>
              <a:t>例10 三種類の液滴の凍結を比較する：設問の原文（1/3）</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異なる課題の追加例</a:t>
            </a:r>
          </a:p>
        </p:txBody>
      </p:sp>
      <p:sp>
        <p:nvSpPr>
          <p:cNvPr id="4" name="TextBox 3"/>
          <p:cNvSpPr txBox="1"/>
          <p:nvPr/>
        </p:nvSpPr>
        <p:spPr>
          <a:xfrm>
            <a:off x="548640" y="1280160"/>
            <a:ext cx="804672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設問と四つの選択肢（1/3）</a:t>
            </a:r>
          </a:p>
        </p:txBody>
      </p:sp>
      <p:sp>
        <p:nvSpPr>
          <p:cNvPr id="5" name="quote-frame"/>
          <p:cNvSpPr/>
          <p:nvPr/>
        </p:nvSpPr>
        <p:spPr>
          <a:xfrm>
            <a:off x="548640" y="1508760"/>
            <a:ext cx="8046720" cy="2146807"/>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88900" bIns="114300">
            <a:noAutofit/>
          </a:bodyPr>
          <a:lstStyle/>
          <a:p>
            <a:pPr algn="l" marL="0" indent="0">
              <a:lnSpc>
                <a:spcPts val="1888"/>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During freezing, pure water, ethanol-water mixtures, and nanofluids exhibit different solidification behaviors.Read the given articles and answer: why a sharp tip forms in pure water and ethanol-water mixtures but not in nanofluids?
A: In the freezing of pure water and ethanol-water mixtures, heat conduction dominates the solidification process, leading to tip formation. In nanofluids, however, the presence of nanoparticles enhances fluid stability at the liquid-solid interface, suppressing local heat diffusion and flattening the solidification front, resulting in a plateau.</a:t>
            </a:r>
          </a:p>
        </p:txBody>
      </p:sp>
      <p:sp>
        <p:nvSpPr>
          <p:cNvPr id="6" name="source-1"/>
          <p:cNvSpPr txBox="1"/>
          <p:nvPr/>
        </p:nvSpPr>
        <p:spPr>
          <a:xfrm>
            <a:off x="502920" y="4686633"/>
            <a:ext cx="8183879" cy="214551"/>
          </a:xfrm>
          <a:prstGeom prst="rect">
            <a:avLst/>
          </a:prstGeom>
          <a:noFill/>
        </p:spPr>
        <p:txBody>
          <a:bodyPr wrap="square" lIns="0" rIns="0" tIns="31671"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LongBench Team (2026-10-26参照), LongBench v2. </a:t>
            </a:r>
            <a:r>
              <a:rPr sz="800" b="0" lang="ja-JP" altLang="en-US">
                <a:solidFill>
                  <a:srgbClr val="626669"/>
                </a:solidFill>
                <a:latin typeface="Noto Sans"/>
                <a:ea typeface="Noto Sans CJK JP"/>
                <a:cs typeface="Noto Sans"/>
                <a:hlinkClick r:id="rId2"/>
              </a:rPr>
              <a:t>https://huggingface.co/datasets/THUDM/LongBench-v2</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300" b="0">
                <a:solidFill>
                  <a:srgbClr val="303437"/>
                </a:solidFill>
                <a:latin typeface="Noto Sans"/>
              </a:defRPr>
            </a:pPr>
            <a:r>
              <a:rPr sz="2300" b="1" lang="ja-JP" altLang="en-US">
                <a:solidFill>
                  <a:srgbClr val="303437"/>
                </a:solidFill>
                <a:latin typeface="Noto Sans"/>
                <a:ea typeface="Noto Sans CJK JP"/>
                <a:cs typeface="Noto Sans"/>
              </a:rPr>
              <a:t>例10 三種類の液滴の凍結を比較する：設問の原文（2/3）</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異なる課題の追加例</a:t>
            </a:r>
          </a:p>
        </p:txBody>
      </p:sp>
      <p:sp>
        <p:nvSpPr>
          <p:cNvPr id="4" name="TextBox 3"/>
          <p:cNvSpPr txBox="1"/>
          <p:nvPr/>
        </p:nvSpPr>
        <p:spPr>
          <a:xfrm>
            <a:off x="548640" y="1280160"/>
            <a:ext cx="804672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設問と四つの選択肢（2/3）</a:t>
            </a:r>
          </a:p>
        </p:txBody>
      </p:sp>
      <p:sp>
        <p:nvSpPr>
          <p:cNvPr id="5" name="quote-frame"/>
          <p:cNvSpPr/>
          <p:nvPr/>
        </p:nvSpPr>
        <p:spPr>
          <a:xfrm>
            <a:off x="548640" y="1508760"/>
            <a:ext cx="8046720" cy="142747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88900" bIns="114300">
            <a:noAutofit/>
          </a:bodyPr>
          <a:lstStyle/>
          <a:p>
            <a:pPr algn="l" marL="0" indent="0">
              <a:lnSpc>
                <a:spcPts val="1888"/>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B: Nanoparticles accumulate along the freezing front during nanofluid solidification, generating capillary-driven compensating flows that counteract the formation of a tip, whereas the solute concentration gradient in ethanol-water mixtures induces an upward Marangoni flow, leading to self-lifting behavior, distinct from the sharp tip seen in pure water.</a:t>
            </a:r>
          </a:p>
        </p:txBody>
      </p:sp>
      <p:sp>
        <p:nvSpPr>
          <p:cNvPr id="6" name="source-1"/>
          <p:cNvSpPr txBox="1"/>
          <p:nvPr/>
        </p:nvSpPr>
        <p:spPr>
          <a:xfrm>
            <a:off x="502920" y="4686633"/>
            <a:ext cx="8183879" cy="214551"/>
          </a:xfrm>
          <a:prstGeom prst="rect">
            <a:avLst/>
          </a:prstGeom>
          <a:noFill/>
        </p:spPr>
        <p:txBody>
          <a:bodyPr wrap="square" lIns="0" rIns="0" tIns="31671"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LongBench Team (2026-10-26参照), LongBench v2. </a:t>
            </a:r>
            <a:r>
              <a:rPr sz="800" b="0" lang="ja-JP" altLang="en-US">
                <a:solidFill>
                  <a:srgbClr val="626669"/>
                </a:solidFill>
                <a:latin typeface="Noto Sans"/>
                <a:ea typeface="Noto Sans CJK JP"/>
                <a:cs typeface="Noto Sans"/>
                <a:hlinkClick r:id="rId2"/>
              </a:rPr>
              <a:t>https://huggingface.co/datasets/THUDM/LongBench-v2</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300" b="0">
                <a:solidFill>
                  <a:srgbClr val="303437"/>
                </a:solidFill>
                <a:latin typeface="Noto Sans"/>
              </a:defRPr>
            </a:pPr>
            <a:r>
              <a:rPr sz="2300" b="1" lang="ja-JP" altLang="en-US">
                <a:solidFill>
                  <a:srgbClr val="303437"/>
                </a:solidFill>
                <a:latin typeface="Noto Sans"/>
                <a:ea typeface="Noto Sans CJK JP"/>
                <a:cs typeface="Noto Sans"/>
              </a:rPr>
              <a:t>例10 三種類の液滴の凍結を比較する：設問の原文（3/3）</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異なる課題の追加例</a:t>
            </a:r>
          </a:p>
        </p:txBody>
      </p:sp>
      <p:sp>
        <p:nvSpPr>
          <p:cNvPr id="4" name="TextBox 3"/>
          <p:cNvSpPr txBox="1"/>
          <p:nvPr/>
        </p:nvSpPr>
        <p:spPr>
          <a:xfrm>
            <a:off x="548640" y="1280160"/>
            <a:ext cx="804672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設問と四つの選択肢（3/3）</a:t>
            </a:r>
          </a:p>
        </p:txBody>
      </p:sp>
      <p:sp>
        <p:nvSpPr>
          <p:cNvPr id="5" name="quote-frame"/>
          <p:cNvSpPr/>
          <p:nvPr/>
        </p:nvSpPr>
        <p:spPr>
          <a:xfrm>
            <a:off x="548640" y="1508760"/>
            <a:ext cx="8046720" cy="2386584"/>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88900" bIns="114300">
            <a:noAutofit/>
          </a:bodyPr>
          <a:lstStyle/>
          <a:p>
            <a:pPr algn="l" marL="0" indent="0">
              <a:lnSpc>
                <a:spcPts val="1888"/>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C: In nanofluids, the scattering of heat by nanoparticles lowers the temperature gradient within the droplet, reducing surface tension effects and inhibiting tip formation. In pure water, the higher surface tension maintains the sharp tip structure, while the addition of ethanol creates an asymmetric cooling pattern and localized heat release, encouraging tip formation.
D: In nanofluids, nanoparticles cause a non-uniform freezing front that suppresses deformation at the solid-liquid interface, preventing tip formation. By contrast, the freezing front in pure water and ethanol-water mixtures progresses uniformly, with heat diffusion driving tip formation.</a:t>
            </a:r>
          </a:p>
        </p:txBody>
      </p:sp>
      <p:sp>
        <p:nvSpPr>
          <p:cNvPr id="6" name="source-1"/>
          <p:cNvSpPr txBox="1"/>
          <p:nvPr/>
        </p:nvSpPr>
        <p:spPr>
          <a:xfrm>
            <a:off x="502920" y="4686633"/>
            <a:ext cx="8183879" cy="214551"/>
          </a:xfrm>
          <a:prstGeom prst="rect">
            <a:avLst/>
          </a:prstGeom>
          <a:noFill/>
        </p:spPr>
        <p:txBody>
          <a:bodyPr wrap="square" lIns="0" rIns="0" tIns="31671"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LongBench Team (2026-10-26参照), LongBench v2. </a:t>
            </a:r>
            <a:r>
              <a:rPr sz="800" b="0" lang="ja-JP" altLang="en-US">
                <a:solidFill>
                  <a:srgbClr val="626669"/>
                </a:solidFill>
                <a:latin typeface="Noto Sans"/>
                <a:ea typeface="Noto Sans CJK JP"/>
                <a:cs typeface="Noto Sans"/>
                <a:hlinkClick r:id="rId2"/>
              </a:rPr>
              <a:t>https://huggingface.co/datasets/THUDM/LongBench-v2</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650" b="0">
                <a:solidFill>
                  <a:srgbClr val="303437"/>
                </a:solidFill>
                <a:latin typeface="Noto Sans"/>
              </a:defRPr>
            </a:pPr>
            <a:r>
              <a:rPr sz="2650" b="1" lang="ja-JP" altLang="en-US">
                <a:solidFill>
                  <a:srgbClr val="303437"/>
                </a:solidFill>
                <a:latin typeface="Noto Sans"/>
                <a:ea typeface="Noto Sans CJK JP"/>
                <a:cs typeface="Noto Sans"/>
              </a:rPr>
              <a:t>例10 三種類の液滴の凍結を比較する：本文の抜粋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異なる課題の追加例</a:t>
            </a:r>
          </a:p>
        </p:txBody>
      </p:sp>
      <p:sp>
        <p:nvSpPr>
          <p:cNvPr id="4" name="TextBox 3"/>
          <p:cNvSpPr txBox="1"/>
          <p:nvPr/>
        </p:nvSpPr>
        <p:spPr>
          <a:xfrm>
            <a:off x="548640" y="1316736"/>
            <a:ext cx="8046720" cy="210312"/>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純水と混合液の論文の原文（抜粋）</a:t>
            </a:r>
          </a:p>
        </p:txBody>
      </p:sp>
      <p:sp>
        <p:nvSpPr>
          <p:cNvPr id="5" name="quote-frame"/>
          <p:cNvSpPr/>
          <p:nvPr/>
        </p:nvSpPr>
        <p:spPr>
          <a:xfrm>
            <a:off x="548640" y="1581912"/>
            <a:ext cx="8046720" cy="2326640"/>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88900" bIns="114300">
            <a:noAutofit/>
          </a:bodyPr>
          <a:lstStyle/>
          <a:p>
            <a:pPr algn="l" marL="0" indent="0">
              <a:lnSpc>
                <a:spcPts val="2065"/>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A drop of water deposited on a cold plate freezes into an ice drop with a pointy tip. While this phenomenon clearly finds its origin in the expansion of water upon freezing, a quantitative description of the tip singularity has remained elusive.
[...]
This counterintuitive observation is attributed to an internal solutal Marangoni flow up to 1 mm=s, which is driven by the enriched solute concentration locally in the vicinity of the solidification front.</a:t>
            </a:r>
          </a:p>
        </p:txBody>
      </p:sp>
      <p:sp>
        <p:nvSpPr>
          <p:cNvPr id="6" name="source-1"/>
          <p:cNvSpPr txBox="1"/>
          <p:nvPr/>
        </p:nvSpPr>
        <p:spPr>
          <a:xfrm>
            <a:off x="502920" y="4686633"/>
            <a:ext cx="8183879" cy="214551"/>
          </a:xfrm>
          <a:prstGeom prst="rect">
            <a:avLst/>
          </a:prstGeom>
          <a:noFill/>
        </p:spPr>
        <p:txBody>
          <a:bodyPr wrap="square" lIns="0" rIns="0" tIns="31671"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LongBench Team (2026-10-26参照), LongBench v2. </a:t>
            </a:r>
            <a:r>
              <a:rPr sz="800" b="0" lang="ja-JP" altLang="en-US">
                <a:solidFill>
                  <a:srgbClr val="626669"/>
                </a:solidFill>
                <a:latin typeface="Noto Sans"/>
                <a:ea typeface="Noto Sans CJK JP"/>
                <a:cs typeface="Noto Sans"/>
                <a:hlinkClick r:id="rId2"/>
              </a:rPr>
              <a:t>https://huggingface.co/datasets/THUDM/LongBench-v2</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650" b="0">
                <a:solidFill>
                  <a:srgbClr val="303437"/>
                </a:solidFill>
                <a:latin typeface="Noto Sans"/>
              </a:defRPr>
            </a:pPr>
            <a:r>
              <a:rPr sz="2650" b="1" lang="ja-JP" altLang="en-US">
                <a:solidFill>
                  <a:srgbClr val="303437"/>
                </a:solidFill>
                <a:latin typeface="Noto Sans"/>
                <a:ea typeface="Noto Sans CJK JP"/>
                <a:cs typeface="Noto Sans"/>
              </a:rPr>
              <a:t>例10 三種類の液滴の凍結を比較する：本文の抜粋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異なる課題の追加例</a:t>
            </a:r>
          </a:p>
        </p:txBody>
      </p:sp>
      <p:sp>
        <p:nvSpPr>
          <p:cNvPr id="4" name="TextBox 3"/>
          <p:cNvSpPr txBox="1"/>
          <p:nvPr/>
        </p:nvSpPr>
        <p:spPr>
          <a:xfrm>
            <a:off x="548640" y="1316736"/>
            <a:ext cx="8046720" cy="210312"/>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ナノ流体の論文の原文（抜粋）</a:t>
            </a:r>
          </a:p>
        </p:txBody>
      </p:sp>
      <p:sp>
        <p:nvSpPr>
          <p:cNvPr id="5" name="quote-frame"/>
          <p:cNvSpPr/>
          <p:nvPr/>
        </p:nvSpPr>
        <p:spPr>
          <a:xfrm>
            <a:off x="548640" y="1581912"/>
            <a:ext cx="8046720" cy="1015365"/>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88900" bIns="114300">
            <a:noAutofit/>
          </a:bodyPr>
          <a:lstStyle/>
          <a:p>
            <a:pPr algn="l" marL="0" indent="0">
              <a:lnSpc>
                <a:spcPts val="2065"/>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We propose an analytical model to attribute the plateau formation to a capillary driven compensating ﬂow due to segregated particles moving along the freezing interface.</a:t>
            </a:r>
          </a:p>
        </p:txBody>
      </p:sp>
      <p:sp>
        <p:nvSpPr>
          <p:cNvPr id="6" name="TextBox 5"/>
          <p:cNvSpPr txBox="1"/>
          <p:nvPr/>
        </p:nvSpPr>
        <p:spPr>
          <a:xfrm>
            <a:off x="594360" y="2725293"/>
            <a:ext cx="7955279" cy="182880"/>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本文の日本語要約</a:t>
            </a:r>
          </a:p>
        </p:txBody>
      </p:sp>
      <p:sp>
        <p:nvSpPr>
          <p:cNvPr id="7" name="japanese-context"/>
          <p:cNvSpPr txBox="1"/>
          <p:nvPr/>
        </p:nvSpPr>
        <p:spPr>
          <a:xfrm>
            <a:off x="594360" y="2926461"/>
            <a:ext cx="7955279" cy="1417002"/>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冷たい板の上の水滴は、尖った先端を持つ氷になる。凍結時に水が膨張することが、この現象の起源である。混合液の特異な動きは、凍結面の近くで溶質の濃度が高くなり、内部に溶質マランゴニ流が生じることで説明される。ナノ流体の平らな上面は、凍結面に沿って動く偏在した粒子による、毛管力で駆動される補償流としてモデル化される。</a:t>
            </a:r>
          </a:p>
        </p:txBody>
      </p:sp>
      <p:sp>
        <p:nvSpPr>
          <p:cNvPr id="8" name="source-1"/>
          <p:cNvSpPr txBox="1"/>
          <p:nvPr/>
        </p:nvSpPr>
        <p:spPr>
          <a:xfrm>
            <a:off x="502920" y="4686633"/>
            <a:ext cx="8183879" cy="214551"/>
          </a:xfrm>
          <a:prstGeom prst="rect">
            <a:avLst/>
          </a:prstGeom>
          <a:noFill/>
        </p:spPr>
        <p:txBody>
          <a:bodyPr wrap="square" lIns="0" rIns="0" tIns="31671"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LongBench Team (2026-10-26参照), LongBench v2. </a:t>
            </a:r>
            <a:r>
              <a:rPr sz="800" b="0" lang="ja-JP" altLang="en-US">
                <a:solidFill>
                  <a:srgbClr val="626669"/>
                </a:solidFill>
                <a:latin typeface="Noto Sans"/>
                <a:ea typeface="Noto Sans CJK JP"/>
                <a:cs typeface="Noto Sans"/>
                <a:hlinkClick r:id="rId2"/>
              </a:rPr>
              <a:t>https://huggingface.co/datasets/THUDM/LongBench-v2</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100" b="0">
                <a:solidFill>
                  <a:srgbClr val="303437"/>
                </a:solidFill>
                <a:latin typeface="Noto Sans"/>
              </a:defRPr>
            </a:pPr>
            <a:r>
              <a:rPr sz="2100" b="1" lang="ja-JP" altLang="en-US">
                <a:solidFill>
                  <a:srgbClr val="303437"/>
                </a:solidFill>
                <a:latin typeface="Noto Sans"/>
                <a:ea typeface="Noto Sans CJK JP"/>
                <a:cs typeface="Noto Sans"/>
              </a:rPr>
              <a:t>例10 三種類の液滴の凍結を比較する：設問の日本語訳（1/3）</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異なる課題の追加例</a:t>
            </a:r>
          </a:p>
        </p:txBody>
      </p:sp>
      <p:sp>
        <p:nvSpPr>
          <p:cNvPr id="4" name="TextBox 3"/>
          <p:cNvSpPr txBox="1"/>
          <p:nvPr/>
        </p:nvSpPr>
        <p:spPr>
          <a:xfrm>
            <a:off x="594360" y="1362456"/>
            <a:ext cx="7955279"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設問と選択肢の日本語訳</a:t>
            </a:r>
          </a:p>
        </p:txBody>
      </p:sp>
      <p:sp>
        <p:nvSpPr>
          <p:cNvPr id="5" name="japanese-question"/>
          <p:cNvSpPr txBox="1"/>
          <p:nvPr/>
        </p:nvSpPr>
        <p:spPr>
          <a:xfrm>
            <a:off x="594360" y="1645920"/>
            <a:ext cx="7955279" cy="1989073"/>
          </a:xfrm>
          <a:prstGeom prst="rect">
            <a:avLst/>
          </a:prstGeom>
          <a:noFill/>
        </p:spPr>
        <p:txBody>
          <a:bodyPr wrap="square" lIns="0" rIns="0" tIns="0" bIns="0">
            <a:noAutofit/>
          </a:bodyPr>
          <a:lstStyle/>
          <a:p>
            <a:pPr algn="l">
              <a:lnSpc>
                <a:spcPts val="210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純水、エタノールと水の混合液、ナノ粒子を含む液体では凍結の仕方が異なる。純水と混合液には尖った先端ができ、ナノ粒子を含む液体にはできないのはなぜか。</a:t>
            </a:r>
          </a:p>
          <a:p>
            <a:pPr algn="l">
              <a:lnSpc>
                <a:spcPts val="210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A：純水とエタノール・水の混合液の凍結では熱伝導が支配的になり、先端が形成される。一方、ナノ流体では、ナノ粒子が液体と固体の界面で流体の安定性を高め、局所的な熱拡散を抑える。これによって凍結面が平らになり、平坦な上面ができる。</a:t>
            </a:r>
          </a:p>
        </p:txBody>
      </p:sp>
      <p:sp>
        <p:nvSpPr>
          <p:cNvPr id="6" name="source-1"/>
          <p:cNvSpPr txBox="1"/>
          <p:nvPr/>
        </p:nvSpPr>
        <p:spPr>
          <a:xfrm>
            <a:off x="502920" y="4686633"/>
            <a:ext cx="8183879" cy="214551"/>
          </a:xfrm>
          <a:prstGeom prst="rect">
            <a:avLst/>
          </a:prstGeom>
          <a:noFill/>
        </p:spPr>
        <p:txBody>
          <a:bodyPr wrap="square" lIns="0" rIns="0" tIns="31671"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LongBench Team (2026-10-26参照), LongBench v2. </a:t>
            </a:r>
            <a:r>
              <a:rPr sz="800" b="0" lang="ja-JP" altLang="en-US">
                <a:solidFill>
                  <a:srgbClr val="626669"/>
                </a:solidFill>
                <a:latin typeface="Noto Sans"/>
                <a:ea typeface="Noto Sans CJK JP"/>
                <a:cs typeface="Noto Sans"/>
                <a:hlinkClick r:id="rId2"/>
              </a:rPr>
              <a:t>https://huggingface.co/datasets/THUDM/LongBench-v2</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100" b="0">
                <a:solidFill>
                  <a:srgbClr val="303437"/>
                </a:solidFill>
                <a:latin typeface="Noto Sans"/>
              </a:defRPr>
            </a:pPr>
            <a:r>
              <a:rPr sz="2100" b="1" lang="ja-JP" altLang="en-US">
                <a:solidFill>
                  <a:srgbClr val="303437"/>
                </a:solidFill>
                <a:latin typeface="Noto Sans"/>
                <a:ea typeface="Noto Sans CJK JP"/>
                <a:cs typeface="Noto Sans"/>
              </a:rPr>
              <a:t>例10 三種類の液滴の凍結を比較する：設問の日本語訳（2/3）</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異なる課題の追加例</a:t>
            </a:r>
          </a:p>
        </p:txBody>
      </p:sp>
      <p:sp>
        <p:nvSpPr>
          <p:cNvPr id="4" name="TextBox 3"/>
          <p:cNvSpPr txBox="1"/>
          <p:nvPr/>
        </p:nvSpPr>
        <p:spPr>
          <a:xfrm>
            <a:off x="594360" y="1362456"/>
            <a:ext cx="7955279"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設問と選択肢の日本語訳</a:t>
            </a:r>
          </a:p>
        </p:txBody>
      </p:sp>
      <p:sp>
        <p:nvSpPr>
          <p:cNvPr id="5" name="japanese-question"/>
          <p:cNvSpPr txBox="1"/>
          <p:nvPr/>
        </p:nvSpPr>
        <p:spPr>
          <a:xfrm>
            <a:off x="594360" y="1645920"/>
            <a:ext cx="7955279" cy="1186688"/>
          </a:xfrm>
          <a:prstGeom prst="rect">
            <a:avLst/>
          </a:prstGeom>
          <a:noFill/>
        </p:spPr>
        <p:txBody>
          <a:bodyPr wrap="square" lIns="0" rIns="0" tIns="0" bIns="0">
            <a:noAutofit/>
          </a:bodyPr>
          <a:lstStyle/>
          <a:p>
            <a:pPr algn="l">
              <a:lnSpc>
                <a:spcPts val="210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B：ナノ流体の固化では、ナノ粒子が凍結面に沿って集まり、毛管力による補償流が生じて、先端の形成を打ち消す。一方、エタノールと水の混合液では、溶質の濃度勾配が上向きのマランゴニ流を生み、液滴が自ら持ち上がる。これは純水に見られる尖った先端とは異なる。</a:t>
            </a:r>
          </a:p>
        </p:txBody>
      </p:sp>
      <p:sp>
        <p:nvSpPr>
          <p:cNvPr id="6" name="source-1"/>
          <p:cNvSpPr txBox="1"/>
          <p:nvPr/>
        </p:nvSpPr>
        <p:spPr>
          <a:xfrm>
            <a:off x="502920" y="4686633"/>
            <a:ext cx="8183879" cy="214551"/>
          </a:xfrm>
          <a:prstGeom prst="rect">
            <a:avLst/>
          </a:prstGeom>
          <a:noFill/>
        </p:spPr>
        <p:txBody>
          <a:bodyPr wrap="square" lIns="0" rIns="0" tIns="31671"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LongBench Team (2026-10-26参照), LongBench v2. </a:t>
            </a:r>
            <a:r>
              <a:rPr sz="800" b="0" lang="ja-JP" altLang="en-US">
                <a:solidFill>
                  <a:srgbClr val="626669"/>
                </a:solidFill>
                <a:latin typeface="Noto Sans"/>
                <a:ea typeface="Noto Sans CJK JP"/>
                <a:cs typeface="Noto Sans"/>
                <a:hlinkClick r:id="rId2"/>
              </a:rPr>
              <a:t>https://huggingface.co/datasets/THUDM/LongBench-v2</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100" b="0">
                <a:solidFill>
                  <a:srgbClr val="303437"/>
                </a:solidFill>
                <a:latin typeface="Noto Sans"/>
              </a:defRPr>
            </a:pPr>
            <a:r>
              <a:rPr sz="2100" b="1" lang="ja-JP" altLang="en-US">
                <a:solidFill>
                  <a:srgbClr val="303437"/>
                </a:solidFill>
                <a:latin typeface="Noto Sans"/>
                <a:ea typeface="Noto Sans CJK JP"/>
                <a:cs typeface="Noto Sans"/>
              </a:rPr>
              <a:t>例10 三種類の液滴の凍結を比較する：設問の日本語訳（3/3）</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異なる課題の追加例</a:t>
            </a:r>
          </a:p>
        </p:txBody>
      </p:sp>
      <p:sp>
        <p:nvSpPr>
          <p:cNvPr id="4" name="TextBox 3"/>
          <p:cNvSpPr txBox="1"/>
          <p:nvPr/>
        </p:nvSpPr>
        <p:spPr>
          <a:xfrm>
            <a:off x="594360" y="1362456"/>
            <a:ext cx="7955279"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設問と選択肢の日本語訳</a:t>
            </a:r>
          </a:p>
        </p:txBody>
      </p:sp>
      <p:sp>
        <p:nvSpPr>
          <p:cNvPr id="5" name="japanese-question"/>
          <p:cNvSpPr txBox="1"/>
          <p:nvPr/>
        </p:nvSpPr>
        <p:spPr>
          <a:xfrm>
            <a:off x="594360" y="1645920"/>
            <a:ext cx="7955279" cy="1989073"/>
          </a:xfrm>
          <a:prstGeom prst="rect">
            <a:avLst/>
          </a:prstGeom>
          <a:noFill/>
        </p:spPr>
        <p:txBody>
          <a:bodyPr wrap="square" lIns="0" rIns="0" tIns="0" bIns="0">
            <a:noAutofit/>
          </a:bodyPr>
          <a:lstStyle/>
          <a:p>
            <a:pPr algn="l">
              <a:lnSpc>
                <a:spcPts val="210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C：ナノ流体では、ナノ粒子が熱を散乱させることで液滴内部の温度勾配が小さくなり、表面張力の効果が弱まり、先端が形成されにくくなる。純水では高い表面張力が尖った先端を維持する。一方、エタノールを加えると冷却が非対称になって局所的な放熱が生じ、先端の形成を促す。</a:t>
            </a:r>
          </a:p>
          <a:p>
            <a:pPr algn="l">
              <a:lnSpc>
                <a:spcPts val="210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D：ナノ流体では、ナノ粒子が不均一な凍結面を作り、固体と液体の界面の変形を抑えるため、先端が形成されなくなる。対照的に、純水とエタノール・水の混合液では凍結面が均一に進み、熱拡散が先端の形成を駆動する。</a:t>
            </a:r>
          </a:p>
        </p:txBody>
      </p:sp>
      <p:sp>
        <p:nvSpPr>
          <p:cNvPr id="6" name="source-1"/>
          <p:cNvSpPr txBox="1"/>
          <p:nvPr/>
        </p:nvSpPr>
        <p:spPr>
          <a:xfrm>
            <a:off x="502920" y="4686633"/>
            <a:ext cx="8183879" cy="214551"/>
          </a:xfrm>
          <a:prstGeom prst="rect">
            <a:avLst/>
          </a:prstGeom>
          <a:noFill/>
        </p:spPr>
        <p:txBody>
          <a:bodyPr wrap="square" lIns="0" rIns="0" tIns="31671"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LongBench Team (2026-10-26参照), LongBench v2. </a:t>
            </a:r>
            <a:r>
              <a:rPr sz="800" b="0" lang="ja-JP" altLang="en-US">
                <a:solidFill>
                  <a:srgbClr val="626669"/>
                </a:solidFill>
                <a:latin typeface="Noto Sans"/>
                <a:ea typeface="Noto Sans CJK JP"/>
                <a:cs typeface="Noto Sans"/>
                <a:hlinkClick r:id="rId2"/>
              </a:rPr>
              <a:t>https://huggingface.co/datasets/THUDM/LongBench-v2</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650" b="0">
                <a:solidFill>
                  <a:srgbClr val="303437"/>
                </a:solidFill>
                <a:latin typeface="Noto Sans"/>
              </a:defRPr>
            </a:pPr>
            <a:r>
              <a:rPr sz="2650" b="1" lang="ja-JP" altLang="en-US">
                <a:solidFill>
                  <a:srgbClr val="303437"/>
                </a:solidFill>
                <a:latin typeface="Noto Sans"/>
                <a:ea typeface="Noto Sans CJK JP"/>
                <a:cs typeface="Noto Sans"/>
              </a:rPr>
              <a:t>例10 三種類の液滴の凍結を比較する：答えの理由</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異なる課題の追加例</a:t>
            </a:r>
          </a:p>
        </p:txBody>
      </p:sp>
      <p:sp>
        <p:nvSpPr>
          <p:cNvPr id="4" name="expected-answer"/>
          <p:cNvSpPr txBox="1"/>
          <p:nvPr/>
        </p:nvSpPr>
        <p:spPr>
          <a:xfrm>
            <a:off x="594360" y="1408176"/>
            <a:ext cx="7955279" cy="755776"/>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正解：B：粒子の集積による流れと、混合液の上向きの流れを説明する。</a:t>
            </a:r>
          </a:p>
        </p:txBody>
      </p:sp>
      <p:sp>
        <p:nvSpPr>
          <p:cNvPr id="5" name="japanese-context-explanation"/>
          <p:cNvSpPr txBox="1"/>
          <p:nvPr/>
        </p:nvSpPr>
        <p:spPr>
          <a:xfrm>
            <a:off x="594360" y="2237105"/>
            <a:ext cx="7955279" cy="919226"/>
          </a:xfrm>
          <a:prstGeom prst="rect">
            <a:avLst/>
          </a:prstGeom>
          <a:noFill/>
        </p:spPr>
        <p:txBody>
          <a:bodyPr wrap="square" lIns="0" rIns="0" tIns="0" bIns="0">
            <a:noAutofit/>
          </a:bodyPr>
          <a:lstStyle/>
          <a:p>
            <a:pPr algn="l">
              <a:lnSpc>
                <a:spcPts val="210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設問の導入は、混合液も純水と同じように尖った先端ができるとまとめている。Bは、混合液が持ち上がる機構と純水の先端形成の違いまで示している。</a:t>
            </a:r>
          </a:p>
        </p:txBody>
      </p:sp>
      <p:sp>
        <p:nvSpPr>
          <p:cNvPr id="6" name="source-1"/>
          <p:cNvSpPr txBox="1"/>
          <p:nvPr/>
        </p:nvSpPr>
        <p:spPr>
          <a:xfrm>
            <a:off x="502920" y="4686633"/>
            <a:ext cx="8183879" cy="214551"/>
          </a:xfrm>
          <a:prstGeom prst="rect">
            <a:avLst/>
          </a:prstGeom>
          <a:noFill/>
        </p:spPr>
        <p:txBody>
          <a:bodyPr wrap="square" lIns="0" rIns="0" tIns="31671"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LongBench Team (2026-10-26参照), LongBench v2. </a:t>
            </a:r>
            <a:r>
              <a:rPr sz="800" b="0" lang="ja-JP" altLang="en-US">
                <a:solidFill>
                  <a:srgbClr val="626669"/>
                </a:solidFill>
                <a:latin typeface="Noto Sans"/>
                <a:ea typeface="Noto Sans CJK JP"/>
                <a:cs typeface="Noto Sans"/>
                <a:hlinkClick r:id="rId2"/>
              </a:rPr>
              <a:t>https://huggingface.co/datasets/THUDM/LongBench-v2</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150" b="0">
                <a:solidFill>
                  <a:srgbClr val="303437"/>
                </a:solidFill>
                <a:latin typeface="Noto Sans"/>
              </a:defRPr>
            </a:pPr>
            <a:r>
              <a:rPr sz="2150" b="1" lang="ja-JP" altLang="en-US">
                <a:solidFill>
                  <a:srgbClr val="303437"/>
                </a:solidFill>
                <a:latin typeface="Noto Sans"/>
                <a:ea typeface="Noto Sans CJK JP"/>
                <a:cs typeface="Noto Sans"/>
              </a:rPr>
              <a:t>例11 過去の会話から購入前の価格を求める：原文と日本語訳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異なる課題の追加例</a:t>
            </a:r>
          </a:p>
        </p:txBody>
      </p:sp>
      <p:sp>
        <p:nvSpPr>
          <p:cNvPr id="4" name="TextBox 3"/>
          <p:cNvSpPr txBox="1"/>
          <p:nvPr/>
        </p:nvSpPr>
        <p:spPr>
          <a:xfrm>
            <a:off x="548640" y="1325880"/>
            <a:ext cx="804672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設問と四つの選択肢（全文）</a:t>
            </a:r>
          </a:p>
        </p:txBody>
      </p:sp>
      <p:sp>
        <p:nvSpPr>
          <p:cNvPr id="5" name="quote-frame"/>
          <p:cNvSpPr/>
          <p:nvPr/>
        </p:nvSpPr>
        <p:spPr>
          <a:xfrm>
            <a:off x="548640" y="1581912"/>
            <a:ext cx="8046720" cy="1015365"/>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88900" bIns="114300">
            <a:noAutofit/>
          </a:bodyPr>
          <a:lstStyle/>
          <a:p>
            <a:pPr algn="l" marL="0" indent="0">
              <a:lnSpc>
                <a:spcPts val="2065"/>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What was the original price of the Up &amp; Up brand cleaning supplies the user bought?
A: $12 / B: $120 / C: $60 / D: $80</a:t>
            </a:r>
          </a:p>
        </p:txBody>
      </p:sp>
      <p:sp>
        <p:nvSpPr>
          <p:cNvPr id="6" name="TextBox 5"/>
          <p:cNvSpPr txBox="1"/>
          <p:nvPr/>
        </p:nvSpPr>
        <p:spPr>
          <a:xfrm>
            <a:off x="594360" y="2688717"/>
            <a:ext cx="7955279" cy="182880"/>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設問と選択肢の日本語訳</a:t>
            </a:r>
          </a:p>
        </p:txBody>
      </p:sp>
      <p:sp>
        <p:nvSpPr>
          <p:cNvPr id="7" name="japanese-question"/>
          <p:cNvSpPr txBox="1"/>
          <p:nvPr/>
        </p:nvSpPr>
        <p:spPr>
          <a:xfrm>
            <a:off x="594360" y="2889885"/>
            <a:ext cx="7955279" cy="603758"/>
          </a:xfrm>
          <a:prstGeom prst="rect">
            <a:avLst/>
          </a:prstGeom>
          <a:noFill/>
        </p:spPr>
        <p:txBody>
          <a:bodyPr wrap="square" lIns="0" rIns="0" tIns="0" bIns="0">
            <a:noAutofit/>
          </a:bodyPr>
          <a:lstStyle/>
          <a:p>
            <a:pPr algn="l">
              <a:lnSpc>
                <a:spcPts val="1989"/>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ユーザーが買ったUp &amp; Upブランドの掃除用品は、割引前にいくらだったか。</a:t>
            </a:r>
          </a:p>
          <a:p>
            <a:pPr algn="l">
              <a:lnSpc>
                <a:spcPts val="1989"/>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A：12ドル / B：120ドル / C：60ドル / D：80ドル</a:t>
            </a:r>
          </a:p>
        </p:txBody>
      </p:sp>
      <p:sp>
        <p:nvSpPr>
          <p:cNvPr id="8" name="source-1"/>
          <p:cNvSpPr txBox="1"/>
          <p:nvPr/>
        </p:nvSpPr>
        <p:spPr>
          <a:xfrm>
            <a:off x="502920" y="4686633"/>
            <a:ext cx="8183879" cy="214551"/>
          </a:xfrm>
          <a:prstGeom prst="rect">
            <a:avLst/>
          </a:prstGeom>
          <a:noFill/>
        </p:spPr>
        <p:txBody>
          <a:bodyPr wrap="square" lIns="0" rIns="0" tIns="31671"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LongBench Team (2026-10-26参照), LongBench v2. </a:t>
            </a:r>
            <a:r>
              <a:rPr sz="800" b="0" lang="ja-JP" altLang="en-US">
                <a:solidFill>
                  <a:srgbClr val="626669"/>
                </a:solidFill>
                <a:latin typeface="Noto Sans"/>
                <a:ea typeface="Noto Sans CJK JP"/>
                <a:cs typeface="Noto Sans"/>
                <a:hlinkClick r:id="rId2"/>
              </a:rPr>
              <a:t>https://huggingface.co/datasets/THUDM/LongBench-v2</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350" b="0">
                <a:solidFill>
                  <a:srgbClr val="303437"/>
                </a:solidFill>
                <a:latin typeface="Noto Sans"/>
              </a:defRPr>
            </a:pPr>
            <a:r>
              <a:rPr sz="2350" b="1" lang="ja-JP" altLang="en-US">
                <a:solidFill>
                  <a:srgbClr val="303437"/>
                </a:solidFill>
                <a:latin typeface="Noto Sans"/>
                <a:ea typeface="Noto Sans CJK JP"/>
                <a:cs typeface="Noto Sans"/>
              </a:rPr>
              <a:t>例11 過去の会話から購入前の価格を求める：本文の抜粋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異なる課題の追加例</a:t>
            </a:r>
          </a:p>
        </p:txBody>
      </p:sp>
      <p:sp>
        <p:nvSpPr>
          <p:cNvPr id="4" name="TextBox 3"/>
          <p:cNvSpPr txBox="1"/>
          <p:nvPr/>
        </p:nvSpPr>
        <p:spPr>
          <a:xfrm>
            <a:off x="548640" y="1316736"/>
            <a:ext cx="8046720" cy="210312"/>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会話履歴の原文（関係するユーザー発言の全文）</a:t>
            </a:r>
          </a:p>
        </p:txBody>
      </p:sp>
      <p:sp>
        <p:nvSpPr>
          <p:cNvPr id="5" name="quote-frame"/>
          <p:cNvSpPr/>
          <p:nvPr/>
        </p:nvSpPr>
        <p:spPr>
          <a:xfrm>
            <a:off x="548640" y="1581912"/>
            <a:ext cx="8046720" cy="1539875"/>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88900" bIns="114300">
            <a:noAutofit/>
          </a:bodyPr>
          <a:lstStyle/>
          <a:p>
            <a:pPr algn="l" marL="0" indent="0">
              <a:lnSpc>
                <a:spcPts val="2065"/>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I'm planning to clean my house this weekend and I need to restock on some cleaning supplies. Can you tell me if there are any good deals on all-purpose cleaners or disinfecting wipes at Target this week? By the way, I saved $12 last week using a Cartwheel offer for 20% off on all Up &amp; Up brand cleaning supplies at Target!</a:t>
            </a:r>
          </a:p>
        </p:txBody>
      </p:sp>
      <p:sp>
        <p:nvSpPr>
          <p:cNvPr id="6" name="TextBox 5"/>
          <p:cNvSpPr txBox="1"/>
          <p:nvPr/>
        </p:nvSpPr>
        <p:spPr>
          <a:xfrm>
            <a:off x="594360" y="3249803"/>
            <a:ext cx="7955279" cy="182880"/>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ユーザー発言の日本語訳</a:t>
            </a:r>
          </a:p>
        </p:txBody>
      </p:sp>
      <p:sp>
        <p:nvSpPr>
          <p:cNvPr id="7" name="japanese-context"/>
          <p:cNvSpPr txBox="1"/>
          <p:nvPr/>
        </p:nvSpPr>
        <p:spPr>
          <a:xfrm>
            <a:off x="594360" y="3450971"/>
            <a:ext cx="7955279" cy="1156970"/>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今週末に家を掃除するので、掃除用品を補充したい。今週、Targetで万能クリーナーや除菌シートのよい特売があるか知りたい。ちなみに先週は、Up &amp; Upブランドの全掃除用品が20%引きになるCartwheelの特典を使って12ドル節約した。</a:t>
            </a:r>
          </a:p>
        </p:txBody>
      </p:sp>
      <p:sp>
        <p:nvSpPr>
          <p:cNvPr id="8" name="source-1"/>
          <p:cNvSpPr txBox="1"/>
          <p:nvPr/>
        </p:nvSpPr>
        <p:spPr>
          <a:xfrm>
            <a:off x="502920" y="4686633"/>
            <a:ext cx="8183879" cy="214551"/>
          </a:xfrm>
          <a:prstGeom prst="rect">
            <a:avLst/>
          </a:prstGeom>
          <a:noFill/>
        </p:spPr>
        <p:txBody>
          <a:bodyPr wrap="square" lIns="0" rIns="0" tIns="31671"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LongBench Team (2026-10-26参照), LongBench v2. </a:t>
            </a:r>
            <a:r>
              <a:rPr sz="800" b="0" lang="ja-JP" altLang="en-US">
                <a:solidFill>
                  <a:srgbClr val="626669"/>
                </a:solidFill>
                <a:latin typeface="Noto Sans"/>
                <a:ea typeface="Noto Sans CJK JP"/>
                <a:cs typeface="Noto Sans"/>
                <a:hlinkClick r:id="rId2"/>
              </a:rPr>
              <a:t>https://huggingface.co/datasets/THUDM/LongBench-v2</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350" b="0">
                <a:solidFill>
                  <a:srgbClr val="303437"/>
                </a:solidFill>
                <a:latin typeface="Noto Sans"/>
              </a:defRPr>
            </a:pPr>
            <a:r>
              <a:rPr sz="2350" b="1" lang="ja-JP" altLang="en-US">
                <a:solidFill>
                  <a:srgbClr val="303437"/>
                </a:solidFill>
                <a:latin typeface="Noto Sans"/>
                <a:ea typeface="Noto Sans CJK JP"/>
                <a:cs typeface="Noto Sans"/>
              </a:rPr>
              <a:t>例11 過去の会話から購入前の価格を求める：答えの理由</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異なる課題の追加例</a:t>
            </a:r>
          </a:p>
        </p:txBody>
      </p:sp>
      <p:sp>
        <p:nvSpPr>
          <p:cNvPr id="4" name="expected-answer"/>
          <p:cNvSpPr txBox="1"/>
          <p:nvPr/>
        </p:nvSpPr>
        <p:spPr>
          <a:xfrm>
            <a:off x="594360" y="1408176"/>
            <a:ext cx="7955279" cy="436308"/>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正解：C：60ドル</a:t>
            </a:r>
          </a:p>
        </p:txBody>
      </p:sp>
      <p:sp>
        <p:nvSpPr>
          <p:cNvPr id="5" name="japanese-context-explanation"/>
          <p:cNvSpPr txBox="1"/>
          <p:nvPr/>
        </p:nvSpPr>
        <p:spPr>
          <a:xfrm>
            <a:off x="594360" y="1917636"/>
            <a:ext cx="7955279" cy="651764"/>
          </a:xfrm>
          <a:prstGeom prst="rect">
            <a:avLst/>
          </a:prstGeom>
          <a:noFill/>
        </p:spPr>
        <p:txBody>
          <a:bodyPr wrap="square" lIns="0" rIns="0" tIns="0" bIns="0">
            <a:noAutofit/>
          </a:bodyPr>
          <a:lstStyle/>
          <a:p>
            <a:pPr algn="l">
              <a:lnSpc>
                <a:spcPts val="210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20%引きによって12ドル安くなったので、割引前の価格は12÷0.20=60ドル。支払額ではなく、値引き前の価格を求める。</a:t>
            </a:r>
          </a:p>
        </p:txBody>
      </p:sp>
      <p:sp>
        <p:nvSpPr>
          <p:cNvPr id="6" name="source-1"/>
          <p:cNvSpPr txBox="1"/>
          <p:nvPr/>
        </p:nvSpPr>
        <p:spPr>
          <a:xfrm>
            <a:off x="502920" y="4686633"/>
            <a:ext cx="8183879" cy="214551"/>
          </a:xfrm>
          <a:prstGeom prst="rect">
            <a:avLst/>
          </a:prstGeom>
          <a:noFill/>
        </p:spPr>
        <p:txBody>
          <a:bodyPr wrap="square" lIns="0" rIns="0" tIns="31671"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LongBench Team (2026-10-26参照), LongBench v2. </a:t>
            </a:r>
            <a:r>
              <a:rPr sz="800" b="0" lang="ja-JP" altLang="en-US">
                <a:solidFill>
                  <a:srgbClr val="626669"/>
                </a:solidFill>
                <a:latin typeface="Noto Sans"/>
                <a:ea typeface="Noto Sans CJK JP"/>
                <a:cs typeface="Noto Sans"/>
                <a:hlinkClick r:id="rId2"/>
              </a:rPr>
              <a:t>https://huggingface.co/datasets/THUDM/LongBench-v2</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250" b="0">
                <a:solidFill>
                  <a:srgbClr val="303437"/>
                </a:solidFill>
                <a:latin typeface="Noto Sans"/>
              </a:defRPr>
            </a:pPr>
            <a:r>
              <a:rPr sz="2250" b="1" lang="ja-JP" altLang="en-US">
                <a:solidFill>
                  <a:srgbClr val="303437"/>
                </a:solidFill>
                <a:latin typeface="Noto Sans"/>
                <a:ea typeface="Noto Sans CJK JP"/>
                <a:cs typeface="Noto Sans"/>
              </a:rPr>
              <a:t>例12 知識グラフで二つの属性を照合する：原文と日本語訳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異なる課題の追加例</a:t>
            </a:r>
          </a:p>
        </p:txBody>
      </p:sp>
      <p:sp>
        <p:nvSpPr>
          <p:cNvPr id="4" name="TextBox 3"/>
          <p:cNvSpPr txBox="1"/>
          <p:nvPr/>
        </p:nvSpPr>
        <p:spPr>
          <a:xfrm>
            <a:off x="548640" y="1325880"/>
            <a:ext cx="804672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設問と四つの選択肢（全文）</a:t>
            </a:r>
          </a:p>
        </p:txBody>
      </p:sp>
      <p:sp>
        <p:nvSpPr>
          <p:cNvPr id="5" name="quote-frame"/>
          <p:cNvSpPr/>
          <p:nvPr/>
        </p:nvSpPr>
        <p:spPr>
          <a:xfrm>
            <a:off x="548640" y="1581912"/>
            <a:ext cx="8046720" cy="1015365"/>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88900" bIns="114300">
            <a:noAutofit/>
          </a:bodyPr>
          <a:lstStyle/>
          <a:p>
            <a:pPr algn="l" marL="0" indent="0">
              <a:lnSpc>
                <a:spcPts val="2065"/>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Which town has a TOID of 4000000074573917 and has an OS grid reference of SP8778?
A: Q984613 / B: Q208143 / C: Q58900 / D: Q279000</a:t>
            </a:r>
          </a:p>
        </p:txBody>
      </p:sp>
      <p:sp>
        <p:nvSpPr>
          <p:cNvPr id="6" name="TextBox 5"/>
          <p:cNvSpPr txBox="1"/>
          <p:nvPr/>
        </p:nvSpPr>
        <p:spPr>
          <a:xfrm>
            <a:off x="594360" y="2688717"/>
            <a:ext cx="7955279" cy="182880"/>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設問と選択肢の日本語訳</a:t>
            </a:r>
          </a:p>
        </p:txBody>
      </p:sp>
      <p:sp>
        <p:nvSpPr>
          <p:cNvPr id="7" name="japanese-question"/>
          <p:cNvSpPr txBox="1"/>
          <p:nvPr/>
        </p:nvSpPr>
        <p:spPr>
          <a:xfrm>
            <a:off x="594360" y="2889885"/>
            <a:ext cx="7955279" cy="760406"/>
          </a:xfrm>
          <a:prstGeom prst="rect">
            <a:avLst/>
          </a:prstGeom>
          <a:noFill/>
        </p:spPr>
        <p:txBody>
          <a:bodyPr wrap="square" lIns="0" rIns="0" tIns="0" bIns="156648">
            <a:noAutofit/>
          </a:bodyPr>
          <a:lstStyle/>
          <a:p>
            <a:pPr algn="l">
              <a:lnSpc>
                <a:spcPts val="1989"/>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TOIDが4000000074573917で、OSグリッド参照がSP8778である町はどれか。</a:t>
            </a:r>
          </a:p>
          <a:p>
            <a:pPr algn="l">
              <a:lnSpc>
                <a:spcPts val="1989"/>
              </a:lnSpc>
              <a:spcBef>
                <a:spcPts val="0"/>
              </a:spcBef>
              <a:spcAft>
                <a:spcPts val="0"/>
              </a:spcAft>
              <a:buNone/>
              <a:defRPr sz="1700" b="0">
                <a:solidFill>
                  <a:srgbClr val="303437"/>
                </a:solidFill>
                <a:latin typeface="Noto Sans"/>
              </a:defRPr>
            </a:pPr>
            <a:r>
              <a:rPr sz="1700" b="0" lang="ja-JP" altLang="en-US">
                <a:solidFill>
                  <a:srgbClr val="303437"/>
                </a:solidFill>
                <a:latin typeface="Noto Sans"/>
                <a:ea typeface="Noto Sans CJK JP"/>
                <a:cs typeface="Noto Sans"/>
              </a:rPr>
              <a:t>A：Q984613 / B：Q208143 / C：Q58900 / D：Q279000</a:t>
            </a:r>
          </a:p>
        </p:txBody>
      </p:sp>
      <p:sp>
        <p:nvSpPr>
          <p:cNvPr id="8" name="source-1"/>
          <p:cNvSpPr txBox="1"/>
          <p:nvPr/>
        </p:nvSpPr>
        <p:spPr>
          <a:xfrm>
            <a:off x="502920" y="4686633"/>
            <a:ext cx="8183879" cy="214551"/>
          </a:xfrm>
          <a:prstGeom prst="rect">
            <a:avLst/>
          </a:prstGeom>
          <a:noFill/>
        </p:spPr>
        <p:txBody>
          <a:bodyPr wrap="square" lIns="0" rIns="0" tIns="31671"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LongBench Team (2026-10-26参照), LongBench v2. </a:t>
            </a:r>
            <a:r>
              <a:rPr sz="800" b="0" lang="ja-JP" altLang="en-US">
                <a:solidFill>
                  <a:srgbClr val="626669"/>
                </a:solidFill>
                <a:latin typeface="Noto Sans"/>
                <a:ea typeface="Noto Sans CJK JP"/>
                <a:cs typeface="Noto Sans"/>
                <a:hlinkClick r:id="rId2"/>
              </a:rPr>
              <a:t>https://huggingface.co/datasets/THUDM/LongBench-v2</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450" b="0">
                <a:solidFill>
                  <a:srgbClr val="303437"/>
                </a:solidFill>
                <a:latin typeface="Noto Sans"/>
              </a:defRPr>
            </a:pPr>
            <a:r>
              <a:rPr sz="2450" b="1" lang="ja-JP" altLang="en-US">
                <a:solidFill>
                  <a:srgbClr val="303437"/>
                </a:solidFill>
                <a:latin typeface="Noto Sans"/>
                <a:ea typeface="Noto Sans CJK JP"/>
                <a:cs typeface="Noto Sans"/>
              </a:rPr>
              <a:t>例12 知識グラフで二つの属性を照合する：属性の対応</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異なる課題の追加例</a:t>
            </a:r>
          </a:p>
        </p:txBody>
      </p:sp>
      <p:graphicFrame>
        <p:nvGraphicFramePr>
          <p:cNvPr id="4" name="Table 3"/>
          <p:cNvGraphicFramePr>
            <a:graphicFrameLocks noGrp="1"/>
          </p:cNvGraphicFramePr>
          <p:nvPr/>
        </p:nvGraphicFramePr>
        <p:xfrm>
          <a:off x="548640" y="1508760"/>
          <a:ext cx="8046720" cy="2194560"/>
        </p:xfrm>
        <a:graphic>
          <a:graphicData uri="http://schemas.openxmlformats.org/drawingml/2006/table">
            <a:tbl>
              <a:tblPr firstRow="0" bandRow="0"/>
              <a:tblGrid>
                <a:gridCol w="1920240"/>
                <a:gridCol w="4206240"/>
                <a:gridCol w="1920240"/>
              </a:tblGrid>
              <a:tr h="438912">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町のID</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TOID</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位置の表記</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38912">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Q984613</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4000000074573917</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SP8778</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38912">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Q208143</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4000000074548561</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SD583055</a:t>
                      </a:r>
                    </a:p>
                  </a:txBody>
                  <a:tcPr marL="63500" marR="63500" marT="38100" marB="38100" anchor="ctr">
                    <a:lnL w="7620">
                      <a:noFill/>
                    </a:lnL>
                    <a:lnR w="7620">
                      <a:noFill/>
                    </a:lnR>
                    <a:lnT w="7620">
                      <a:noFill/>
                    </a:lnT>
                    <a:lnB w="7620">
                      <a:noFill/>
                    </a:lnB>
                    <a:solidFill>
                      <a:srgbClr val="FFFEF8"/>
                    </a:solidFill>
                  </a:tcPr>
                </a:tc>
              </a:tr>
              <a:tr h="438912">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Q58900</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4000000074574343</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SE5702</a:t>
                      </a:r>
                    </a:p>
                  </a:txBody>
                  <a:tcPr marL="63500" marR="63500" marT="38100" marB="38100" anchor="ctr">
                    <a:lnL w="7620">
                      <a:noFill/>
                    </a:lnL>
                    <a:lnR w="7620">
                      <a:noFill/>
                    </a:lnR>
                    <a:lnT w="7620">
                      <a:noFill/>
                    </a:lnT>
                    <a:lnB w="7620">
                      <a:noFill/>
                    </a:lnB>
                    <a:solidFill>
                      <a:srgbClr val="FFFEF8"/>
                    </a:solidFill>
                  </a:tcPr>
                </a:tc>
              </a:tr>
              <a:tr h="438912">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Q279000</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4000000074551570</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NZ365665</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source-1"/>
          <p:cNvSpPr txBox="1"/>
          <p:nvPr/>
        </p:nvSpPr>
        <p:spPr>
          <a:xfrm>
            <a:off x="502920" y="4686633"/>
            <a:ext cx="8183879" cy="214551"/>
          </a:xfrm>
          <a:prstGeom prst="rect">
            <a:avLst/>
          </a:prstGeom>
          <a:noFill/>
        </p:spPr>
        <p:txBody>
          <a:bodyPr wrap="square" lIns="0" rIns="0" tIns="31671"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LongBench Team (2026-10-26参照), LongBench v2. </a:t>
            </a:r>
            <a:r>
              <a:rPr sz="800" b="0" lang="ja-JP" altLang="en-US">
                <a:solidFill>
                  <a:srgbClr val="626669"/>
                </a:solidFill>
                <a:latin typeface="Noto Sans"/>
                <a:ea typeface="Noto Sans CJK JP"/>
                <a:cs typeface="Noto Sans"/>
                <a:hlinkClick r:id="rId2"/>
              </a:rPr>
              <a:t>https://huggingface.co/datasets/THUDM/LongBench-v2</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450" b="0">
                <a:solidFill>
                  <a:srgbClr val="303437"/>
                </a:solidFill>
                <a:latin typeface="Noto Sans"/>
              </a:defRPr>
            </a:pPr>
            <a:r>
              <a:rPr sz="2450" b="1" lang="ja-JP" altLang="en-US">
                <a:solidFill>
                  <a:srgbClr val="303437"/>
                </a:solidFill>
                <a:latin typeface="Noto Sans"/>
                <a:ea typeface="Noto Sans CJK JP"/>
                <a:cs typeface="Noto Sans"/>
              </a:rPr>
              <a:t>例12 知識グラフで二つの属性を照合する：答えの理由</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異なる課題の追加例</a:t>
            </a:r>
          </a:p>
        </p:txBody>
      </p:sp>
      <p:sp>
        <p:nvSpPr>
          <p:cNvPr id="4" name="expected-answer"/>
          <p:cNvSpPr txBox="1"/>
          <p:nvPr/>
        </p:nvSpPr>
        <p:spPr>
          <a:xfrm>
            <a:off x="594360" y="1408176"/>
            <a:ext cx="7955279" cy="436308"/>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正解：A：Q984613（Kettering）</a:t>
            </a:r>
          </a:p>
        </p:txBody>
      </p:sp>
      <p:sp>
        <p:nvSpPr>
          <p:cNvPr id="5" name="japanese-context-explanation"/>
          <p:cNvSpPr txBox="1"/>
          <p:nvPr/>
        </p:nvSpPr>
        <p:spPr>
          <a:xfrm>
            <a:off x="594360" y="1917636"/>
            <a:ext cx="7955279" cy="1721612"/>
          </a:xfrm>
          <a:prstGeom prst="rect">
            <a:avLst/>
          </a:prstGeom>
          <a:noFill/>
        </p:spPr>
        <p:txBody>
          <a:bodyPr wrap="square" lIns="0" rIns="0" tIns="0" bIns="0">
            <a:noAutofit/>
          </a:bodyPr>
          <a:lstStyle/>
          <a:p>
            <a:pPr algn="l">
              <a:lnSpc>
                <a:spcPts val="210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表では、選択肢に現れる四つの町について、TOIDとOSグリッド参照の属性を取り出している。どちらも同じ町のレコードに含まれる属性である。</a:t>
            </a:r>
          </a:p>
          <a:p>
            <a:pPr algn="l">
              <a:lnSpc>
                <a:spcPts val="210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
            </a:r>
          </a:p>
          <a:p>
            <a:pPr algn="l">
              <a:lnSpc>
                <a:spcPts val="210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地物の識別子TOIDと、英国の位置表記であるOSグリッド参照を、同じ町の属性として照合する。Q984613の属性が両方に一致する。配布本文では町名Ketteringも確認できる。</a:t>
            </a:r>
          </a:p>
        </p:txBody>
      </p:sp>
      <p:sp>
        <p:nvSpPr>
          <p:cNvPr id="6" name="source-1"/>
          <p:cNvSpPr txBox="1"/>
          <p:nvPr/>
        </p:nvSpPr>
        <p:spPr>
          <a:xfrm>
            <a:off x="502920" y="4686633"/>
            <a:ext cx="8183879" cy="214551"/>
          </a:xfrm>
          <a:prstGeom prst="rect">
            <a:avLst/>
          </a:prstGeom>
          <a:noFill/>
        </p:spPr>
        <p:txBody>
          <a:bodyPr wrap="square" lIns="0" rIns="0" tIns="31671"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LongBench Team (2026-10-26参照), LongBench v2. </a:t>
            </a:r>
            <a:r>
              <a:rPr sz="800" b="0" lang="ja-JP" altLang="en-US">
                <a:solidFill>
                  <a:srgbClr val="626669"/>
                </a:solidFill>
                <a:latin typeface="Noto Sans"/>
                <a:ea typeface="Noto Sans CJK JP"/>
                <a:cs typeface="Noto Sans"/>
                <a:hlinkClick r:id="rId2"/>
              </a:rPr>
              <a:t>https://huggingface.co/datasets/THUDM/LongBench-v2</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450" b="0">
                <a:solidFill>
                  <a:srgbClr val="303437"/>
                </a:solidFill>
                <a:latin typeface="Noto Sans"/>
              </a:defRPr>
            </a:pPr>
            <a:r>
              <a:rPr sz="2450" b="1" lang="ja-JP" altLang="en-US">
                <a:solidFill>
                  <a:srgbClr val="303437"/>
                </a:solidFill>
                <a:latin typeface="Noto Sans"/>
                <a:ea typeface="Noto Sans CJK JP"/>
                <a:cs typeface="Noto Sans"/>
              </a:rPr>
              <a:t>例13 3Dの箱の符号化を読み取る：設問の原文（1/2）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異なる課題の追加例</a:t>
            </a:r>
          </a:p>
        </p:txBody>
      </p:sp>
      <p:sp>
        <p:nvSpPr>
          <p:cNvPr id="4" name="TextBox 3"/>
          <p:cNvSpPr txBox="1"/>
          <p:nvPr/>
        </p:nvSpPr>
        <p:spPr>
          <a:xfrm>
            <a:off x="548640" y="1280160"/>
            <a:ext cx="804672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設問と四つの選択肢（1/2）</a:t>
            </a:r>
          </a:p>
        </p:txBody>
      </p:sp>
      <p:sp>
        <p:nvSpPr>
          <p:cNvPr id="5" name="quote-frame"/>
          <p:cNvSpPr/>
          <p:nvPr/>
        </p:nvSpPr>
        <p:spPr>
          <a:xfrm>
            <a:off x="548640" y="1508760"/>
            <a:ext cx="8046720" cy="1427479"/>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88900" bIns="114300">
            <a:noAutofit/>
          </a:bodyPr>
          <a:lstStyle/>
          <a:p>
            <a:pPr algn="l" marL="0" indent="0">
              <a:lnSpc>
                <a:spcPts val="1888"/>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How does the MagicDrive encode the bounding box in training step?
A: MagicDrive encode the class labels of bounding box by the method similar to Li et al, where the pooled embeddings of the class names are considered as the label embeddings. And then uses an MLP to compress both the class and text embeddings into a single hidden vector for each bounding box.</a:t>
            </a:r>
          </a:p>
        </p:txBody>
      </p:sp>
      <p:sp>
        <p:nvSpPr>
          <p:cNvPr id="6" name="source-1"/>
          <p:cNvSpPr txBox="1"/>
          <p:nvPr/>
        </p:nvSpPr>
        <p:spPr>
          <a:xfrm>
            <a:off x="502920" y="4686633"/>
            <a:ext cx="8183879" cy="214551"/>
          </a:xfrm>
          <a:prstGeom prst="rect">
            <a:avLst/>
          </a:prstGeom>
          <a:noFill/>
        </p:spPr>
        <p:txBody>
          <a:bodyPr wrap="square" lIns="0" rIns="0" tIns="31671"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LongBench Team (2026-10-26参照), LongBench v2. </a:t>
            </a:r>
            <a:r>
              <a:rPr sz="800" b="0" lang="ja-JP" altLang="en-US">
                <a:solidFill>
                  <a:srgbClr val="626669"/>
                </a:solidFill>
                <a:latin typeface="Noto Sans"/>
                <a:ea typeface="Noto Sans CJK JP"/>
                <a:cs typeface="Noto Sans"/>
                <a:hlinkClick r:id="rId2"/>
              </a:rPr>
              <a:t>https://huggingface.co/datasets/THUDM/LongBench-v2</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450" b="0">
                <a:solidFill>
                  <a:srgbClr val="303437"/>
                </a:solidFill>
                <a:latin typeface="Noto Sans"/>
              </a:defRPr>
            </a:pPr>
            <a:r>
              <a:rPr sz="2450" b="1" lang="ja-JP" altLang="en-US">
                <a:solidFill>
                  <a:srgbClr val="303437"/>
                </a:solidFill>
                <a:latin typeface="Noto Sans"/>
                <a:ea typeface="Noto Sans CJK JP"/>
                <a:cs typeface="Noto Sans"/>
              </a:rPr>
              <a:t>例13 3Dの箱の符号化を読み取る：設問の原文（2/2）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異なる課題の追加例</a:t>
            </a:r>
          </a:p>
        </p:txBody>
      </p:sp>
      <p:sp>
        <p:nvSpPr>
          <p:cNvPr id="4" name="TextBox 3"/>
          <p:cNvSpPr txBox="1"/>
          <p:nvPr/>
        </p:nvSpPr>
        <p:spPr>
          <a:xfrm>
            <a:off x="548640" y="1280160"/>
            <a:ext cx="8046720"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設問と四つの選択肢（2/2）</a:t>
            </a:r>
          </a:p>
        </p:txBody>
      </p:sp>
      <p:sp>
        <p:nvSpPr>
          <p:cNvPr id="5" name="quote-frame"/>
          <p:cNvSpPr/>
          <p:nvPr/>
        </p:nvSpPr>
        <p:spPr>
          <a:xfrm>
            <a:off x="548640" y="1508760"/>
            <a:ext cx="8046720" cy="2386584"/>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88900" bIns="114300">
            <a:noAutofit/>
          </a:bodyPr>
          <a:lstStyle/>
          <a:p>
            <a:pPr algn="l" marL="0" indent="0">
              <a:lnSpc>
                <a:spcPts val="1888"/>
              </a:lnSpc>
              <a:spcBef>
                <a:spcPts val="0"/>
              </a:spcBef>
              <a:spcAft>
                <a:spcPts val="0"/>
              </a:spcAft>
              <a:buNone/>
              <a:defRPr sz="1600" b="0">
                <a:solidFill>
                  <a:srgbClr val="303437"/>
                </a:solidFill>
                <a:latin typeface="Noto Sans"/>
              </a:defRPr>
            </a:pPr>
            <a:r>
              <a:rPr sz="1600" b="0" lang="ja-JP" altLang="en-US">
                <a:solidFill>
                  <a:srgbClr val="303437"/>
                </a:solidFill>
                <a:latin typeface="Noto Sans"/>
                <a:ea typeface="Noto Sans CJK JP"/>
                <a:cs typeface="Noto Sans"/>
              </a:rPr>
              <a:t>B: MagicDrive uses Fourier embedding for 4 corner point and passes them through an MLP for encoding in training step. MagicDrive then uses an MLP to compress both the class label and position embeddings into a single hidden vector for each bounding box.
C: MagicDrive using the text encoder to encode the class label of bounding box,  and then uses an MLP to compress both the class and text embeddings into a single hidden vector for each bounding box.
D: MagicDrive encode the class labels and the corner points separately, and then uses an MLP to compress them into a vector.</a:t>
            </a:r>
          </a:p>
        </p:txBody>
      </p:sp>
      <p:sp>
        <p:nvSpPr>
          <p:cNvPr id="6" name="source-1"/>
          <p:cNvSpPr txBox="1"/>
          <p:nvPr/>
        </p:nvSpPr>
        <p:spPr>
          <a:xfrm>
            <a:off x="502920" y="4686633"/>
            <a:ext cx="8183879" cy="214551"/>
          </a:xfrm>
          <a:prstGeom prst="rect">
            <a:avLst/>
          </a:prstGeom>
          <a:noFill/>
        </p:spPr>
        <p:txBody>
          <a:bodyPr wrap="square" lIns="0" rIns="0" tIns="31671"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LongBench Team (2026-10-26参照), LongBench v2. </a:t>
            </a:r>
            <a:r>
              <a:rPr sz="800" b="0" lang="ja-JP" altLang="en-US">
                <a:solidFill>
                  <a:srgbClr val="626669"/>
                </a:solidFill>
                <a:latin typeface="Noto Sans"/>
                <a:ea typeface="Noto Sans CJK JP"/>
                <a:cs typeface="Noto Sans"/>
                <a:hlinkClick r:id="rId2"/>
              </a:rPr>
              <a:t>https://huggingface.co/datasets/THUDM/LongBench-v2</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例13 3Dの箱の符号化を読み取る：本文の抜粋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異なる課題の追加例</a:t>
            </a:r>
          </a:p>
        </p:txBody>
      </p:sp>
      <p:sp>
        <p:nvSpPr>
          <p:cNvPr id="4" name="TextBox 3"/>
          <p:cNvSpPr txBox="1"/>
          <p:nvPr/>
        </p:nvSpPr>
        <p:spPr>
          <a:xfrm>
            <a:off x="548640" y="1316736"/>
            <a:ext cx="8046720" cy="210312"/>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MagicDrive論文の原文（3Dボックスの符号化に関する抜粋）</a:t>
            </a:r>
          </a:p>
        </p:txBody>
      </p:sp>
      <p:sp>
        <p:nvSpPr>
          <p:cNvPr id="5" name="quote-frame"/>
          <p:cNvSpPr/>
          <p:nvPr/>
        </p:nvSpPr>
        <p:spPr>
          <a:xfrm>
            <a:off x="548640" y="1581912"/>
            <a:ext cx="8046720" cy="1539875"/>
          </a:xfrm>
          <a:prstGeom prst="rect">
            <a:avLst/>
          </a:prstGeom>
          <a:solidFill>
            <a:srgbClr val="EBEDEB"/>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177800" rIns="177800" tIns="88900" bIns="114300">
            <a:noAutofit/>
          </a:bodyPr>
          <a:lstStyle/>
          <a:p>
            <a:pPr algn="l" marL="0" indent="0">
              <a:lnSpc>
                <a:spcPts val="2065"/>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For box positions bi ∈R8×3, represented by the coordinates of its 8 corner points, we utilize Fourier embedding to each point and pass through an MLP for encoding, as in Equation 4. Then, we use an MLP to compress both class and position embedding into one hidden vector, as in Equation 5.</a:t>
            </a:r>
          </a:p>
        </p:txBody>
      </p:sp>
      <p:sp>
        <p:nvSpPr>
          <p:cNvPr id="6" name="TextBox 5"/>
          <p:cNvSpPr txBox="1"/>
          <p:nvPr/>
        </p:nvSpPr>
        <p:spPr>
          <a:xfrm>
            <a:off x="594360" y="3249803"/>
            <a:ext cx="7955279" cy="182880"/>
          </a:xfrm>
          <a:prstGeom prst="rect">
            <a:avLst/>
          </a:prstGeom>
          <a:noFill/>
        </p:spPr>
        <p:txBody>
          <a:bodyPr wrap="square" lIns="0" rIns="0" tIns="0" bIns="0">
            <a:noAutofit/>
          </a:bodyPr>
          <a:lstStyle/>
          <a:p>
            <a:pPr algn="l">
              <a:lnSpc>
                <a:spcPts val="1345"/>
              </a:lnSpc>
              <a:spcBef>
                <a:spcPts val="0"/>
              </a:spcBef>
              <a:spcAft>
                <a:spcPts val="0"/>
              </a:spcAft>
              <a:buNone/>
              <a:defRPr sz="1150" b="0">
                <a:solidFill>
                  <a:srgbClr val="303437"/>
                </a:solidFill>
                <a:latin typeface="Noto Sans"/>
              </a:defRPr>
            </a:pPr>
            <a:r>
              <a:rPr sz="1150" b="0" lang="ja-JP" altLang="en-US">
                <a:solidFill>
                  <a:srgbClr val="626669"/>
                </a:solidFill>
                <a:latin typeface="Noto Sans"/>
                <a:ea typeface="Noto Sans CJK JP"/>
                <a:cs typeface="Noto Sans"/>
              </a:rPr>
              <a:t>本文の日本語要約</a:t>
            </a:r>
          </a:p>
        </p:txBody>
      </p:sp>
      <p:sp>
        <p:nvSpPr>
          <p:cNvPr id="7" name="japanese-context"/>
          <p:cNvSpPr txBox="1"/>
          <p:nvPr/>
        </p:nvSpPr>
        <p:spPr>
          <a:xfrm>
            <a:off x="594360" y="3450971"/>
            <a:ext cx="7955279" cy="896937"/>
          </a:xfrm>
          <a:prstGeom prst="rect">
            <a:avLst/>
          </a:prstGeom>
          <a:noFill/>
        </p:spPr>
        <p:txBody>
          <a:bodyPr wrap="square" lIns="0" rIns="0" tIns="0" bIns="0">
            <a:noAutofit/>
          </a:bodyPr>
          <a:lstStyle/>
          <a:p>
            <a:pPr algn="l">
              <a:lnSpc>
                <a:spcPts val="2047"/>
              </a:lnSpc>
              <a:spcBef>
                <a:spcPts val="0"/>
              </a:spcBef>
              <a:spcAft>
                <a:spcPts val="0"/>
              </a:spcAft>
              <a:buNone/>
              <a:defRPr sz="1750" b="0">
                <a:solidFill>
                  <a:srgbClr val="303437"/>
                </a:solidFill>
                <a:latin typeface="Noto Sans"/>
              </a:defRPr>
            </a:pPr>
            <a:r>
              <a:rPr sz="1750" b="0" lang="ja-JP" altLang="en-US">
                <a:solidFill>
                  <a:srgbClr val="303437"/>
                </a:solidFill>
                <a:latin typeface="Noto Sans"/>
                <a:ea typeface="Noto Sans CJK JP"/>
                <a:cs typeface="Noto Sans"/>
              </a:rPr>
              <a:t>ボックスの位置は、八つの頂点の座標で表す。それぞれの頂点へFourier埋め込みを使い、MLPで符号化する。その後、クラスと位置の埋め込みを、MLPで一つの隠れベクトルへまとめる。</a:t>
            </a:r>
          </a:p>
        </p:txBody>
      </p:sp>
      <p:sp>
        <p:nvSpPr>
          <p:cNvPr id="8" name="source-1"/>
          <p:cNvSpPr txBox="1"/>
          <p:nvPr/>
        </p:nvSpPr>
        <p:spPr>
          <a:xfrm>
            <a:off x="502920" y="4686633"/>
            <a:ext cx="8183879" cy="214551"/>
          </a:xfrm>
          <a:prstGeom prst="rect">
            <a:avLst/>
          </a:prstGeom>
          <a:noFill/>
        </p:spPr>
        <p:txBody>
          <a:bodyPr wrap="square" lIns="0" rIns="0" tIns="31671"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LongBench Team (2026-10-26参照), LongBench v2. </a:t>
            </a:r>
            <a:r>
              <a:rPr sz="800" b="0" lang="ja-JP" altLang="en-US">
                <a:solidFill>
                  <a:srgbClr val="626669"/>
                </a:solidFill>
                <a:latin typeface="Noto Sans"/>
                <a:ea typeface="Noto Sans CJK JP"/>
                <a:cs typeface="Noto Sans"/>
                <a:hlinkClick r:id="rId2"/>
              </a:rPr>
              <a:t>https://huggingface.co/datasets/THUDM/LongBench-v2</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250" b="0">
                <a:solidFill>
                  <a:srgbClr val="303437"/>
                </a:solidFill>
                <a:latin typeface="Noto Sans"/>
              </a:defRPr>
            </a:pPr>
            <a:r>
              <a:rPr sz="2250" b="1" lang="ja-JP" altLang="en-US">
                <a:solidFill>
                  <a:srgbClr val="303437"/>
                </a:solidFill>
                <a:latin typeface="Noto Sans"/>
                <a:ea typeface="Noto Sans CJK JP"/>
                <a:cs typeface="Noto Sans"/>
              </a:rPr>
              <a:t>例13 3Dの箱の符号化を読み取る：設問の日本語訳（1/2）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異なる課題の追加例</a:t>
            </a:r>
          </a:p>
        </p:txBody>
      </p:sp>
      <p:sp>
        <p:nvSpPr>
          <p:cNvPr id="4" name="TextBox 3"/>
          <p:cNvSpPr txBox="1"/>
          <p:nvPr/>
        </p:nvSpPr>
        <p:spPr>
          <a:xfrm>
            <a:off x="594360" y="1362456"/>
            <a:ext cx="7955279"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設問と選択肢の日本語訳</a:t>
            </a:r>
          </a:p>
        </p:txBody>
      </p:sp>
      <p:sp>
        <p:nvSpPr>
          <p:cNvPr id="5" name="japanese-question"/>
          <p:cNvSpPr txBox="1"/>
          <p:nvPr/>
        </p:nvSpPr>
        <p:spPr>
          <a:xfrm>
            <a:off x="594360" y="1645920"/>
            <a:ext cx="7955279" cy="1721612"/>
          </a:xfrm>
          <a:prstGeom prst="rect">
            <a:avLst/>
          </a:prstGeom>
          <a:noFill/>
        </p:spPr>
        <p:txBody>
          <a:bodyPr wrap="square" lIns="0" rIns="0" tIns="0" bIns="0">
            <a:noAutofit/>
          </a:bodyPr>
          <a:lstStyle/>
          <a:p>
            <a:pPr algn="l">
              <a:lnSpc>
                <a:spcPts val="210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運転場面の画像を生成するMagicDriveは学習時に物体の境界ボックスをどのように符号化するか。</a:t>
            </a:r>
          </a:p>
          <a:p>
            <a:pPr algn="l">
              <a:lnSpc>
                <a:spcPts val="210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A：境界ボックスのクラスラベルはLiらと同様の方法で符号化し、クラス名を埋め込んでプーリングした表現を、ラベルの埋め込みとする。その後、クラスとテキストの埋め込みの両方を、MLPでボックスごとに一つの隠れベクトルへ圧縮する。</a:t>
            </a:r>
          </a:p>
        </p:txBody>
      </p:sp>
      <p:sp>
        <p:nvSpPr>
          <p:cNvPr id="6" name="source-1"/>
          <p:cNvSpPr txBox="1"/>
          <p:nvPr/>
        </p:nvSpPr>
        <p:spPr>
          <a:xfrm>
            <a:off x="502920" y="4686633"/>
            <a:ext cx="8183879" cy="214551"/>
          </a:xfrm>
          <a:prstGeom prst="rect">
            <a:avLst/>
          </a:prstGeom>
          <a:noFill/>
        </p:spPr>
        <p:txBody>
          <a:bodyPr wrap="square" lIns="0" rIns="0" tIns="31671"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LongBench Team (2026-10-26参照), LongBench v2. </a:t>
            </a:r>
            <a:r>
              <a:rPr sz="800" b="0" lang="ja-JP" altLang="en-US">
                <a:solidFill>
                  <a:srgbClr val="626669"/>
                </a:solidFill>
                <a:latin typeface="Noto Sans"/>
                <a:ea typeface="Noto Sans CJK JP"/>
                <a:cs typeface="Noto Sans"/>
                <a:hlinkClick r:id="rId2"/>
              </a:rPr>
              <a:t>https://huggingface.co/datasets/THUDM/LongBench-v2</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250" b="0">
                <a:solidFill>
                  <a:srgbClr val="303437"/>
                </a:solidFill>
                <a:latin typeface="Noto Sans"/>
              </a:defRPr>
            </a:pPr>
            <a:r>
              <a:rPr sz="2250" b="1" lang="ja-JP" altLang="en-US">
                <a:solidFill>
                  <a:srgbClr val="303437"/>
                </a:solidFill>
                <a:latin typeface="Noto Sans"/>
                <a:ea typeface="Noto Sans CJK JP"/>
                <a:cs typeface="Noto Sans"/>
              </a:rPr>
              <a:t>例13 3Dの箱の符号化を読み取る：設問の日本語訳（2/2）</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異なる課題の追加例</a:t>
            </a:r>
          </a:p>
        </p:txBody>
      </p:sp>
      <p:sp>
        <p:nvSpPr>
          <p:cNvPr id="4" name="TextBox 3"/>
          <p:cNvSpPr txBox="1"/>
          <p:nvPr/>
        </p:nvSpPr>
        <p:spPr>
          <a:xfrm>
            <a:off x="594360" y="1362456"/>
            <a:ext cx="7955279" cy="201168"/>
          </a:xfrm>
          <a:prstGeom prst="rect">
            <a:avLst/>
          </a:prstGeom>
          <a:noFill/>
        </p:spPr>
        <p:txBody>
          <a:bodyPr wrap="square" lIns="0" rIns="0" tIns="0" bIns="0">
            <a:noAutofit/>
          </a:bodyPr>
          <a:lstStyle/>
          <a:p>
            <a:pPr algn="l">
              <a:lnSpc>
                <a:spcPts val="1404"/>
              </a:lnSpc>
              <a:spcBef>
                <a:spcPts val="0"/>
              </a:spcBef>
              <a:spcAft>
                <a:spcPts val="0"/>
              </a:spcAft>
              <a:buNone/>
              <a:defRPr sz="1200" b="0">
                <a:solidFill>
                  <a:srgbClr val="303437"/>
                </a:solidFill>
                <a:latin typeface="Noto Sans"/>
              </a:defRPr>
            </a:pPr>
            <a:r>
              <a:rPr sz="1200" b="0" lang="ja-JP" altLang="en-US">
                <a:solidFill>
                  <a:srgbClr val="626669"/>
                </a:solidFill>
                <a:latin typeface="Noto Sans"/>
                <a:ea typeface="Noto Sans CJK JP"/>
                <a:cs typeface="Noto Sans"/>
              </a:rPr>
              <a:t>設問と選択肢の日本語訳</a:t>
            </a:r>
          </a:p>
        </p:txBody>
      </p:sp>
      <p:sp>
        <p:nvSpPr>
          <p:cNvPr id="5" name="japanese-question"/>
          <p:cNvSpPr txBox="1"/>
          <p:nvPr/>
        </p:nvSpPr>
        <p:spPr>
          <a:xfrm>
            <a:off x="594360" y="1645920"/>
            <a:ext cx="7955279" cy="2256536"/>
          </a:xfrm>
          <a:prstGeom prst="rect">
            <a:avLst/>
          </a:prstGeom>
          <a:noFill/>
        </p:spPr>
        <p:txBody>
          <a:bodyPr wrap="square" lIns="0" rIns="0" tIns="0" bIns="0">
            <a:noAutofit/>
          </a:bodyPr>
          <a:lstStyle/>
          <a:p>
            <a:pPr algn="l">
              <a:lnSpc>
                <a:spcPts val="210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B：MagicDriveは、四つの頂点にFourier埋め込みを使い、学習時にMLPを通して符号化する。その後、MLPでクラスラベルと位置の埋め込みの両方を、各ボックスにつき一つの隠れベクトルへ圧縮する。</a:t>
            </a:r>
          </a:p>
          <a:p>
            <a:pPr algn="l">
              <a:lnSpc>
                <a:spcPts val="210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C：MagicDriveは、テキストエンコーダーで境界ボックスのクラスラベルを符号化し、その後、MLPでクラスとテキストの埋め込みの両方を、各ボックスにつき一つの隠れベクトルへ圧縮する。</a:t>
            </a:r>
          </a:p>
          <a:p>
            <a:pPr algn="l">
              <a:lnSpc>
                <a:spcPts val="210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D：MagicDriveはクラスラベルと頂点を別々に符号化し、その後、MLPを使ってそれらを一つのベクトルへ圧縮する。</a:t>
            </a:r>
          </a:p>
        </p:txBody>
      </p:sp>
      <p:sp>
        <p:nvSpPr>
          <p:cNvPr id="6" name="source-1"/>
          <p:cNvSpPr txBox="1"/>
          <p:nvPr/>
        </p:nvSpPr>
        <p:spPr>
          <a:xfrm>
            <a:off x="502920" y="4686633"/>
            <a:ext cx="8183879" cy="214551"/>
          </a:xfrm>
          <a:prstGeom prst="rect">
            <a:avLst/>
          </a:prstGeom>
          <a:noFill/>
        </p:spPr>
        <p:txBody>
          <a:bodyPr wrap="square" lIns="0" rIns="0" tIns="31671"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LongBench Team (2026-10-26参照), LongBench v2. </a:t>
            </a:r>
            <a:r>
              <a:rPr sz="800" b="0" lang="ja-JP" altLang="en-US">
                <a:solidFill>
                  <a:srgbClr val="626669"/>
                </a:solidFill>
                <a:latin typeface="Noto Sans"/>
                <a:ea typeface="Noto Sans CJK JP"/>
                <a:cs typeface="Noto Sans"/>
                <a:hlinkClick r:id="rId2"/>
              </a:rPr>
              <a:t>https://huggingface.co/datasets/THUDM/LongBench-v2</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例13 3Dの箱の符号化を読み取る：答えの理由</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1. 異なる課題の追加例</a:t>
            </a:r>
          </a:p>
        </p:txBody>
      </p:sp>
      <p:sp>
        <p:nvSpPr>
          <p:cNvPr id="4" name="expected-answer"/>
          <p:cNvSpPr txBox="1"/>
          <p:nvPr/>
        </p:nvSpPr>
        <p:spPr>
          <a:xfrm>
            <a:off x="594360" y="1408176"/>
            <a:ext cx="7955279" cy="436308"/>
          </a:xfrm>
          <a:prstGeom prst="rect">
            <a:avLst/>
          </a:prstGeom>
          <a:noFill/>
        </p:spPr>
        <p:txBody>
          <a:bodyPr wrap="square" lIns="0" rIns="0" tIns="0" bIns="0">
            <a:noAutofit/>
          </a:bodyPr>
          <a:lstStyle/>
          <a:p>
            <a:pPr algn="l">
              <a:lnSpc>
                <a:spcPts val="2515"/>
              </a:lnSpc>
              <a:spcBef>
                <a:spcPts val="0"/>
              </a:spcBef>
              <a:spcAft>
                <a:spcPts val="0"/>
              </a:spcAft>
              <a:buNone/>
              <a:defRPr sz="2150" b="0">
                <a:solidFill>
                  <a:srgbClr val="303437"/>
                </a:solidFill>
                <a:latin typeface="Noto Sans"/>
              </a:defRPr>
            </a:pPr>
            <a:r>
              <a:rPr sz="2150" b="1" lang="ja-JP" altLang="en-US">
                <a:solidFill>
                  <a:srgbClr val="B13731"/>
                </a:solidFill>
                <a:latin typeface="Noto Sans"/>
                <a:ea typeface="Noto Sans CJK JP"/>
                <a:cs typeface="Noto Sans"/>
              </a:rPr>
              <a:t>正解：D：クラスと頂点を別々に符号化して統合する。</a:t>
            </a:r>
          </a:p>
        </p:txBody>
      </p:sp>
      <p:sp>
        <p:nvSpPr>
          <p:cNvPr id="5" name="japanese-context-explanation"/>
          <p:cNvSpPr txBox="1"/>
          <p:nvPr/>
        </p:nvSpPr>
        <p:spPr>
          <a:xfrm>
            <a:off x="594360" y="1917636"/>
            <a:ext cx="7955279" cy="919226"/>
          </a:xfrm>
          <a:prstGeom prst="rect">
            <a:avLst/>
          </a:prstGeom>
          <a:noFill/>
        </p:spPr>
        <p:txBody>
          <a:bodyPr wrap="square" lIns="0" rIns="0" tIns="0" bIns="0">
            <a:noAutofit/>
          </a:bodyPr>
          <a:lstStyle/>
          <a:p>
            <a:pPr algn="l">
              <a:lnSpc>
                <a:spcPts val="2106"/>
              </a:lnSpc>
              <a:spcBef>
                <a:spcPts val="0"/>
              </a:spcBef>
              <a:spcAft>
                <a:spcPts val="0"/>
              </a:spcAft>
              <a:buNone/>
              <a:defRPr sz="1800" b="0">
                <a:solidFill>
                  <a:srgbClr val="303437"/>
                </a:solidFill>
                <a:latin typeface="Noto Sans"/>
              </a:defRPr>
            </a:pPr>
            <a:r>
              <a:rPr sz="1800" b="0" lang="ja-JP" altLang="en-US">
                <a:solidFill>
                  <a:srgbClr val="303437"/>
                </a:solidFill>
                <a:latin typeface="Noto Sans"/>
                <a:ea typeface="Noto Sans CJK JP"/>
                <a:cs typeface="Noto Sans"/>
              </a:rPr>
              <a:t>ラベルの情報と、八つの頂点で表す位置の情報を別々に符号化してから統合する。Bは頂点数を四つとしており、AとCは位置の情報をテキストの情報に置き換えている。</a:t>
            </a:r>
          </a:p>
        </p:txBody>
      </p:sp>
      <p:sp>
        <p:nvSpPr>
          <p:cNvPr id="6" name="source-1"/>
          <p:cNvSpPr txBox="1"/>
          <p:nvPr/>
        </p:nvSpPr>
        <p:spPr>
          <a:xfrm>
            <a:off x="502920" y="4686633"/>
            <a:ext cx="8183879" cy="214551"/>
          </a:xfrm>
          <a:prstGeom prst="rect">
            <a:avLst/>
          </a:prstGeom>
          <a:noFill/>
        </p:spPr>
        <p:txBody>
          <a:bodyPr wrap="square" lIns="0" rIns="0" tIns="31671"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LongBench Team (2026-10-26参照), LongBench v2. </a:t>
            </a:r>
            <a:r>
              <a:rPr sz="800" b="0" lang="ja-JP" altLang="en-US">
                <a:solidFill>
                  <a:srgbClr val="626669"/>
                </a:solidFill>
                <a:latin typeface="Noto Sans"/>
                <a:ea typeface="Noto Sans CJK JP"/>
                <a:cs typeface="Noto Sans"/>
                <a:hlinkClick r:id="rId2"/>
              </a:rPr>
              <a:t>https://huggingface.co/datasets/THUDM/LongBench-v2</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479443"/>
            <a:ext cx="8046720" cy="640080"/>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2. 課題の内訳とバージョン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課題の内訳とバージョン</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単一文書と複数文書の課題の内訳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課題の内訳とバージョン</a:t>
            </a:r>
          </a:p>
        </p:txBody>
      </p:sp>
      <p:graphicFrame>
        <p:nvGraphicFramePr>
          <p:cNvPr id="4" name="Table 3"/>
          <p:cNvGraphicFramePr>
            <a:graphicFrameLocks noGrp="1"/>
          </p:cNvGraphicFramePr>
          <p:nvPr/>
        </p:nvGraphicFramePr>
        <p:xfrm>
          <a:off x="548640" y="1508760"/>
          <a:ext cx="8046720" cy="2414016"/>
        </p:xfrm>
        <a:graphic>
          <a:graphicData uri="http://schemas.openxmlformats.org/drawingml/2006/table">
            <a:tbl>
              <a:tblPr firstRow="0" bandRow="0"/>
              <a:tblGrid>
                <a:gridCol w="3200400"/>
                <a:gridCol w="822960"/>
                <a:gridCol w="3200400"/>
                <a:gridCol w="822960"/>
              </a:tblGrid>
              <a:tr h="402336">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単一文書（175問）</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問</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複数文書（125問）</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問</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402336">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学術</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44</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学術</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50</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402336">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文学・探偵・出来事の順序</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72</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法律</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14</a:t>
                      </a:r>
                    </a:p>
                  </a:txBody>
                  <a:tcPr marL="63500" marR="63500" marT="38100" marB="38100" anchor="ctr">
                    <a:lnL w="7620">
                      <a:noFill/>
                    </a:lnL>
                    <a:lnR w="7620">
                      <a:noFill/>
                    </a:lnR>
                    <a:lnT w="7620">
                      <a:noFill/>
                    </a:lnT>
                    <a:lnB w="7620">
                      <a:noFill/>
                    </a:lnB>
                    <a:solidFill>
                      <a:srgbClr val="FFFEF8"/>
                    </a:solidFill>
                  </a:tcPr>
                </a:tc>
              </a:tr>
              <a:tr h="402336">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法律</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19</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金融</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15</a:t>
                      </a:r>
                    </a:p>
                  </a:txBody>
                  <a:tcPr marL="63500" marR="63500" marT="38100" marB="38100" anchor="ctr">
                    <a:lnL w="7620">
                      <a:noFill/>
                    </a:lnL>
                    <a:lnR w="7620">
                      <a:noFill/>
                    </a:lnR>
                    <a:lnT w="7620">
                      <a:noFill/>
                    </a:lnT>
                    <a:lnB w="7620">
                      <a:noFill/>
                    </a:lnB>
                    <a:solidFill>
                      <a:srgbClr val="FFFEF8"/>
                    </a:solidFill>
                  </a:tcPr>
                </a:tc>
              </a:tr>
              <a:tr h="402336">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金融</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22</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政府の文書</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23</a:t>
                      </a:r>
                    </a:p>
                  </a:txBody>
                  <a:tcPr marL="63500" marR="63500" marT="38100" marB="38100" anchor="ctr">
                    <a:lnL w="7620">
                      <a:noFill/>
                    </a:lnL>
                    <a:lnR w="7620">
                      <a:noFill/>
                    </a:lnR>
                    <a:lnT w="7620">
                      <a:noFill/>
                    </a:lnT>
                    <a:lnB w="7620">
                      <a:noFill/>
                    </a:lnB>
                    <a:solidFill>
                      <a:srgbClr val="FFFEF8"/>
                    </a:solidFill>
                  </a:tcPr>
                </a:tc>
              </a:tr>
              <a:tr h="402336">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政府の文書</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18</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複数ニュース</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r">
                        <a:lnSpc>
                          <a:spcPts val="2012"/>
                        </a:lnSpc>
                        <a:buNone/>
                        <a:defRPr sz="1750" b="0">
                          <a:solidFill>
                            <a:srgbClr val="303437"/>
                          </a:solidFill>
                          <a:latin typeface="Noto Sans"/>
                        </a:defRPr>
                      </a:pPr>
                      <a:r>
                        <a:rPr sz="1750" b="0" lang="ja-JP" altLang="en-US">
                          <a:solidFill>
                            <a:srgbClr val="303437"/>
                          </a:solidFill>
                          <a:latin typeface="Noto Sans"/>
                          <a:ea typeface="Noto Sans CJK JP"/>
                          <a:cs typeface="Noto Sans"/>
                        </a:rPr>
                        <a:t>23</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source-1"/>
          <p:cNvSpPr txBox="1"/>
          <p:nvPr/>
        </p:nvSpPr>
        <p:spPr>
          <a:xfrm>
            <a:off x="502920" y="4694755"/>
            <a:ext cx="8183879" cy="206429"/>
          </a:xfrm>
          <a:prstGeom prst="rect">
            <a:avLst/>
          </a:prstGeom>
          <a:noFill/>
        </p:spPr>
        <p:txBody>
          <a:bodyPr wrap="square" lIns="0" rIns="0" tIns="23549"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Bai et al. (2024), LongBench v2. </a:t>
            </a:r>
            <a:r>
              <a:rPr sz="800" b="0" lang="ja-JP" altLang="en-US">
                <a:solidFill>
                  <a:srgbClr val="626669"/>
                </a:solidFill>
                <a:latin typeface="Noto Sans"/>
                <a:ea typeface="Noto Sans CJK JP"/>
                <a:cs typeface="Noto Sans"/>
                <a:hlinkClick r:id="rId2"/>
              </a:rPr>
              <a:t>https://arxiv.org/abs/2412.15204</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学習・会話・コード・構造化データの内訳</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課題の内訳とバージョン</a:t>
            </a:r>
          </a:p>
        </p:txBody>
      </p:sp>
      <p:graphicFrame>
        <p:nvGraphicFramePr>
          <p:cNvPr id="4" name="Table 3"/>
          <p:cNvGraphicFramePr>
            <a:graphicFrameLocks noGrp="1"/>
          </p:cNvGraphicFramePr>
          <p:nvPr/>
        </p:nvGraphicFramePr>
        <p:xfrm>
          <a:off x="548640" y="1508760"/>
          <a:ext cx="8046719" cy="2715768"/>
        </p:xfrm>
        <a:graphic>
          <a:graphicData uri="http://schemas.openxmlformats.org/drawingml/2006/table">
            <a:tbl>
              <a:tblPr firstRow="0" bandRow="0"/>
              <a:tblGrid>
                <a:gridCol w="3749039"/>
                <a:gridCol w="4297680"/>
              </a:tblGrid>
              <a:tr h="384048">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課題</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内訳</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68580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長い文脈からの学習：81問</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説明書40、未知言語の翻訳20、多数の例からの学習21</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54864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会話履歴の理解：39問</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エージェントの履歴20、対話の履歴19</a:t>
                      </a:r>
                    </a:p>
                  </a:txBody>
                  <a:tcPr marL="63500" marR="63500" marT="38100" marB="38100" anchor="ctr">
                    <a:lnL w="7620">
                      <a:noFill/>
                    </a:lnL>
                    <a:lnR w="7620">
                      <a:noFill/>
                    </a:lnR>
                    <a:lnT w="7620">
                      <a:noFill/>
                    </a:lnT>
                    <a:lnB w="7620">
                      <a:noFill/>
                    </a:lnB>
                    <a:solidFill>
                      <a:srgbClr val="FFFEF8"/>
                    </a:solidFill>
                  </a:tcPr>
                </a:tc>
              </a:tr>
              <a:tr h="54864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コードの理解：50問</a:t>
                      </a:r>
                    </a:p>
                  </a:txBody>
                  <a:tcPr marL="63500" marR="63500" marT="38100" marB="38100" anchor="ctr">
                    <a:lnL w="7620">
                      <a:noFill/>
                    </a:lnL>
                    <a:lnR w="7620">
                      <a:noFill/>
                    </a:lnR>
                    <a:lnT w="7620">
                      <a:noFill/>
                    </a:lnT>
                    <a:lnB w="7620">
                      <a:noFill/>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リポジトリの読解50</a:t>
                      </a:r>
                    </a:p>
                  </a:txBody>
                  <a:tcPr marL="63500" marR="63500" marT="38100" marB="38100" anchor="ctr">
                    <a:lnL w="7620">
                      <a:noFill/>
                    </a:lnL>
                    <a:lnR w="7620">
                      <a:noFill/>
                    </a:lnR>
                    <a:lnT w="7620">
                      <a:noFill/>
                    </a:lnT>
                    <a:lnB w="7620">
                      <a:noFill/>
                    </a:lnB>
                    <a:solidFill>
                      <a:srgbClr val="FFFEF8"/>
                    </a:solidFill>
                  </a:tcPr>
                </a:tc>
              </a:tr>
              <a:tr h="548640">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構造化データの理解：33問</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070"/>
                        </a:lnSpc>
                        <a:buNone/>
                        <a:defRPr sz="1800" b="0">
                          <a:solidFill>
                            <a:srgbClr val="303437"/>
                          </a:solidFill>
                          <a:latin typeface="Noto Sans"/>
                        </a:defRPr>
                      </a:pPr>
                      <a:r>
                        <a:rPr sz="1800" b="0" lang="ja-JP" altLang="en-US">
                          <a:solidFill>
                            <a:srgbClr val="303437"/>
                          </a:solidFill>
                          <a:latin typeface="Noto Sans"/>
                          <a:ea typeface="Noto Sans CJK JP"/>
                          <a:cs typeface="Noto Sans"/>
                        </a:rPr>
                        <a:t>表18、知識グラフ15</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source-1"/>
          <p:cNvSpPr txBox="1"/>
          <p:nvPr/>
        </p:nvSpPr>
        <p:spPr>
          <a:xfrm>
            <a:off x="502920" y="4694755"/>
            <a:ext cx="8183879" cy="206429"/>
          </a:xfrm>
          <a:prstGeom prst="rect">
            <a:avLst/>
          </a:prstGeom>
          <a:noFill/>
        </p:spPr>
        <p:txBody>
          <a:bodyPr wrap="square" lIns="0" rIns="0" tIns="23549"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Bai et al. (2024), LongBench v2. </a:t>
            </a:r>
            <a:r>
              <a:rPr sz="800" b="0" lang="ja-JP" altLang="en-US">
                <a:solidFill>
                  <a:srgbClr val="626669"/>
                </a:solidFill>
                <a:latin typeface="Noto Sans"/>
                <a:ea typeface="Noto Sans CJK JP"/>
                <a:cs typeface="Noto Sans"/>
                <a:hlinkClick r:id="rId2"/>
              </a:rPr>
              <a:t>https://arxiv.org/abs/2412.15204</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初代とv2では、言語と答えの形式が変わる</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2. 課題の内訳とバージョン</a:t>
            </a:r>
          </a:p>
        </p:txBody>
      </p:sp>
      <p:graphicFrame>
        <p:nvGraphicFramePr>
          <p:cNvPr id="4" name="Table 3"/>
          <p:cNvGraphicFramePr>
            <a:graphicFrameLocks noGrp="1"/>
          </p:cNvGraphicFramePr>
          <p:nvPr/>
        </p:nvGraphicFramePr>
        <p:xfrm>
          <a:off x="548640" y="1508760"/>
          <a:ext cx="8046720" cy="1975104"/>
        </p:xfrm>
        <a:graphic>
          <a:graphicData uri="http://schemas.openxmlformats.org/drawingml/2006/table">
            <a:tbl>
              <a:tblPr firstRow="0" bandRow="0"/>
              <a:tblGrid>
                <a:gridCol w="2834640"/>
                <a:gridCol w="5212080"/>
              </a:tblGrid>
              <a:tr h="420624">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対象</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中心となる特徴</a:t>
                      </a:r>
                    </a:p>
                  </a:txBody>
                  <a:tcPr marL="63500" marR="63500" marT="38100" marB="38100" anchor="ctr">
                    <a:lnL w="7620">
                      <a:noFill/>
                    </a:lnL>
                    <a:lnR w="7620">
                      <a:noFill/>
                    </a:lnR>
                    <a:lnT w="15240">
                      <a:solidFill>
                        <a:srgbClr val="626669"/>
                      </a:solidFill>
                      <a:prstDash val="solid"/>
                    </a:lnT>
                    <a:lnB w="7620">
                      <a:solidFill>
                        <a:srgbClr val="626669"/>
                      </a:solidFill>
                      <a:prstDash val="solid"/>
                    </a:lnB>
                    <a:solidFill>
                      <a:srgbClr val="FFFEF8"/>
                    </a:solidFill>
                  </a:tcPr>
                </a:tc>
              </a:tr>
              <a:tr h="777240">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LongBench（2023）</a:t>
                      </a:r>
                    </a:p>
                  </a:txBody>
                  <a:tcPr marL="63500" marR="63500" marT="38100" marB="38100" anchor="ctr">
                    <a:lnL w="7620">
                      <a:noFill/>
                    </a:lnL>
                    <a:lnR w="7620">
                      <a:noFill/>
                    </a:lnR>
                    <a:lnT w="7620">
                      <a:solidFill>
                        <a:srgbClr val="626669"/>
                      </a:solidFill>
                      <a:prstDash val="solid"/>
                    </a:lnT>
                    <a:lnB w="7620">
                      <a:noFill/>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中国語・英語、21課題、課題ごとの生成・抽出と採点</a:t>
                      </a:r>
                    </a:p>
                  </a:txBody>
                  <a:tcPr marL="63500" marR="63500" marT="38100" marB="38100" anchor="ctr">
                    <a:lnL w="7620">
                      <a:noFill/>
                    </a:lnL>
                    <a:lnR w="7620">
                      <a:noFill/>
                    </a:lnR>
                    <a:lnT w="7620">
                      <a:solidFill>
                        <a:srgbClr val="626669"/>
                      </a:solidFill>
                      <a:prstDash val="solid"/>
                    </a:lnT>
                    <a:lnB w="7620">
                      <a:noFill/>
                    </a:lnB>
                    <a:solidFill>
                      <a:srgbClr val="FFFEF8"/>
                    </a:solidFill>
                  </a:tcPr>
                </a:tc>
              </a:tr>
              <a:tr h="777240">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LongBench v2（2024）</a:t>
                      </a:r>
                    </a:p>
                  </a:txBody>
                  <a:tcPr marL="63500" marR="63500" marT="38100" marB="38100" anchor="ctr">
                    <a:lnL w="7620">
                      <a:noFill/>
                    </a:lnL>
                    <a:lnR w="7620">
                      <a:noFill/>
                    </a:lnR>
                    <a:lnT w="7620">
                      <a:noFill/>
                    </a:lnT>
                    <a:lnB w="15240">
                      <a:solidFill>
                        <a:srgbClr val="626669"/>
                      </a:solidFill>
                      <a:prstDash val="solid"/>
                    </a:lnB>
                    <a:solidFill>
                      <a:srgbClr val="FFFEF8"/>
                    </a:solidFill>
                  </a:tcPr>
                </a:tc>
                <a:tc>
                  <a:txBody>
                    <a:bodyPr wrap="square">
                      <a:noAutofit/>
                    </a:bodyPr>
                    <a:lstStyle/>
                    <a:p>
                      <a:pPr algn="l">
                        <a:lnSpc>
                          <a:spcPts val="2185"/>
                        </a:lnSpc>
                        <a:buNone/>
                        <a:defRPr sz="1900" b="0">
                          <a:solidFill>
                            <a:srgbClr val="303437"/>
                          </a:solidFill>
                          <a:latin typeface="Noto Sans"/>
                        </a:defRPr>
                      </a:pPr>
                      <a:r>
                        <a:rPr sz="1900" b="0" lang="ja-JP" altLang="en-US">
                          <a:solidFill>
                            <a:srgbClr val="303437"/>
                          </a:solidFill>
                          <a:latin typeface="Noto Sans"/>
                          <a:ea typeface="Noto Sans CJK JP"/>
                          <a:cs typeface="Noto Sans"/>
                        </a:rPr>
                        <a:t>英語、6領域20課題、503問の四択と正解率</a:t>
                      </a:r>
                    </a:p>
                  </a:txBody>
                  <a:tcPr marL="63500" marR="63500" marT="38100" marB="38100" anchor="ctr">
                    <a:lnL w="7620">
                      <a:noFill/>
                    </a:lnL>
                    <a:lnR w="7620">
                      <a:noFill/>
                    </a:lnR>
                    <a:lnT w="7620">
                      <a:noFill/>
                    </a:lnT>
                    <a:lnB w="15240">
                      <a:solidFill>
                        <a:srgbClr val="626669"/>
                      </a:solidFill>
                      <a:prstDash val="solid"/>
                    </a:lnB>
                    <a:solidFill>
                      <a:srgbClr val="FFFEF8"/>
                    </a:solidFill>
                  </a:tcPr>
                </a:tc>
              </a:tr>
            </a:tbl>
          </a:graphicData>
        </a:graphic>
      </p:graphicFrame>
      <p:sp>
        <p:nvSpPr>
          <p:cNvPr id="5" name="source-1"/>
          <p:cNvSpPr txBox="1"/>
          <p:nvPr/>
        </p:nvSpPr>
        <p:spPr>
          <a:xfrm>
            <a:off x="502920" y="4694755"/>
            <a:ext cx="8183879" cy="206429"/>
          </a:xfrm>
          <a:prstGeom prst="rect">
            <a:avLst/>
          </a:prstGeom>
          <a:noFill/>
        </p:spPr>
        <p:txBody>
          <a:bodyPr wrap="square" lIns="0" rIns="0" tIns="23549" bIns="0">
            <a:noAutofit/>
          </a:bodyPr>
          <a:lstStyle/>
          <a:p>
            <a:pPr algn="l">
              <a:lnSpc>
                <a:spcPts val="800"/>
              </a:lnSpc>
              <a:spcBef>
                <a:spcPts val="0"/>
              </a:spcBef>
              <a:spcAft>
                <a:spcPts val="0"/>
              </a:spcAft>
              <a:buNone/>
              <a:defRPr sz="800" b="0">
                <a:solidFill>
                  <a:srgbClr val="303437"/>
                </a:solidFill>
                <a:latin typeface="Noto Sans"/>
              </a:defRPr>
            </a:pPr>
            <a:r>
              <a:rPr sz="800" b="0" lang="ja-JP" altLang="en-US">
                <a:solidFill>
                  <a:srgbClr val="626669"/>
                </a:solidFill>
                <a:latin typeface="Noto Sans"/>
                <a:ea typeface="Noto Sans CJK JP"/>
                <a:cs typeface="Noto Sans"/>
              </a:rPr>
              <a:t/>
            </a:r>
            <a:r>
              <a:rPr sz="800" b="0" lang="ja-JP" altLang="en-US">
                <a:solidFill>
                  <a:srgbClr val="626669"/>
                </a:solidFill>
                <a:latin typeface="Noto Sans"/>
                <a:ea typeface="Noto Sans CJK JP"/>
                <a:cs typeface="Noto Sans"/>
              </a:rPr>
              <a:t>[1] Bai et al. (2024), LongBench v2. </a:t>
            </a:r>
            <a:r>
              <a:rPr sz="800" b="0" lang="ja-JP" altLang="en-US">
                <a:solidFill>
                  <a:srgbClr val="626669"/>
                </a:solidFill>
                <a:latin typeface="Noto Sans"/>
                <a:ea typeface="Noto Sans CJK JP"/>
                <a:cs typeface="Noto Sans"/>
                <a:hlinkClick r:id="rId2"/>
              </a:rPr>
              <a:t>https://arxiv.org/abs/2412.15204</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2479443"/>
            <a:ext cx="8046720" cy="640080"/>
          </a:xfrm>
        </p:spPr>
        <p:txBody>
          <a:bodyPr wrap="square" lIns="0" rIns="0" tIns="0" bIns="0" anchor="ctr">
            <a:noAutofit/>
          </a:bodyPr>
          <a:lstStyle/>
          <a:p>
            <a:pPr algn="ctr">
              <a:lnSpc>
                <a:spcPct val="110000"/>
              </a:lnSpc>
              <a:buNone/>
              <a:defRPr sz="3600" b="0">
                <a:solidFill>
                  <a:srgbClr val="303437"/>
                </a:solidFill>
                <a:latin typeface="Noto Sans"/>
              </a:defRPr>
            </a:pPr>
            <a:r>
              <a:rPr sz="3600" b="1" lang="ja-JP" altLang="en-US">
                <a:solidFill>
                  <a:srgbClr val="303437"/>
                </a:solidFill>
                <a:latin typeface="Noto Sans"/>
                <a:ea typeface="Noto Sans CJK JP"/>
                <a:cs typeface="Noto Sans"/>
              </a:rPr>
              <a:t>3. 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参考文献</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参考文献</a:t>
            </a:r>
          </a:p>
        </p:txBody>
      </p:sp>
      <p:sp>
        <p:nvSpPr>
          <p:cNvPr id="4" name="文献 1: LongBench v2: Towards Deeper Understanding and Reasoning on Realistic Long-context Multitasks"/>
          <p:cNvSpPr txBox="1"/>
          <p:nvPr/>
        </p:nvSpPr>
        <p:spPr>
          <a:xfrm>
            <a:off x="548640" y="1463040"/>
            <a:ext cx="8046720" cy="1678813"/>
          </a:xfrm>
          <a:prstGeom prst="rect">
            <a:avLst/>
          </a:prstGeom>
          <a:noFill/>
        </p:spPr>
        <p:txBody>
          <a:bodyPr wrap="square" lIns="0" rIns="0" tIns="0" bIns="0">
            <a:noAutofit/>
          </a:bodyPr>
          <a:lstStyle/>
          <a:p>
            <a:pPr algn="l">
              <a:lnSpc>
                <a:spcPct val="1140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LongBench v2: Towards Deeper Understanding and Reasoning on Realistic Long-context Multitasks</a:t>
            </a:r>
          </a:p>
          <a:p>
            <a:pPr algn="l">
              <a:lnSpc>
                <a:spcPct val="114000"/>
              </a:lnSpc>
              <a:spcBef>
                <a:spcPts val="0"/>
              </a:spcBef>
              <a:spcAft>
                <a:spcPts val="500"/>
              </a:spcAft>
              <a:buNone/>
              <a:defRPr sz="1300" b="0">
                <a:solidFill>
                  <a:srgbClr val="303437"/>
                </a:solidFill>
                <a:latin typeface="Noto Sans"/>
              </a:defRPr>
            </a:pPr>
            <a:r>
              <a:rPr sz="1300" b="0" lang="ja-JP" altLang="en-US">
                <a:solidFill>
                  <a:srgbClr val="626669"/>
                </a:solidFill>
                <a:latin typeface="Noto Sans"/>
                <a:ea typeface="Noto Sans CJK JP"/>
                <a:cs typeface="Noto Sans"/>
              </a:rPr>
              <a:t>Yushi Bai et al. (2024), arXiv:2412.15204.</a:t>
            </a:r>
          </a:p>
          <a:p>
            <a:pPr algn="l">
              <a:lnSpc>
                <a:spcPct val="114000"/>
              </a:lnSpc>
              <a:spcBef>
                <a:spcPts val="0"/>
              </a:spcBef>
              <a:spcAft>
                <a:spcPts val="400"/>
              </a:spcAft>
              <a:buNone/>
              <a:defRPr sz="1800" b="0">
                <a:solidFill>
                  <a:srgbClr val="303437"/>
                </a:solidFill>
                <a:latin typeface="Noto Sans"/>
              </a:defRPr>
            </a:pPr>
            <a:r>
              <a:rPr sz="1800" b="0" lang="ja-JP" altLang="en-US">
                <a:solidFill>
                  <a:srgbClr val="303437"/>
                </a:solidFill>
                <a:latin typeface="Noto Sans"/>
                <a:ea typeface="Noto Sans CJK JP"/>
                <a:cs typeface="Noto Sans"/>
              </a:rPr>
              <a:t>503問の構築、六領域の課題、人による確認とモデルの初期評価を報告する。</a:t>
            </a:r>
          </a:p>
          <a:p>
            <a:pPr algn="l">
              <a:lnSpc>
                <a:spcPct val="11400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2"/>
              </a:rPr>
              <a:t>https://arxiv.org/abs/2412.15204</a:t>
            </a:r>
          </a:p>
        </p:txBody>
      </p:sp>
      <p:sp>
        <p:nvSpPr>
          <p:cNvPr id="5" name="文献 2: LongBench: A Bilingual, Multitask Benchmark for Long Context Understanding"/>
          <p:cNvSpPr txBox="1"/>
          <p:nvPr/>
        </p:nvSpPr>
        <p:spPr>
          <a:xfrm>
            <a:off x="548640" y="3373501"/>
            <a:ext cx="8046720" cy="1597562"/>
          </a:xfrm>
          <a:prstGeom prst="rect">
            <a:avLst/>
          </a:prstGeom>
          <a:noFill/>
        </p:spPr>
        <p:txBody>
          <a:bodyPr wrap="square" lIns="0" rIns="0" tIns="0" bIns="179353">
            <a:noAutofit/>
          </a:bodyPr>
          <a:lstStyle/>
          <a:p>
            <a:pPr algn="l">
              <a:lnSpc>
                <a:spcPct val="1140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LongBench: A Bilingual, Multitask Benchmark for Long Context Understanding</a:t>
            </a:r>
          </a:p>
          <a:p>
            <a:pPr algn="l">
              <a:lnSpc>
                <a:spcPct val="114000"/>
              </a:lnSpc>
              <a:spcBef>
                <a:spcPts val="0"/>
              </a:spcBef>
              <a:spcAft>
                <a:spcPts val="500"/>
              </a:spcAft>
              <a:buNone/>
              <a:defRPr sz="1300" b="0">
                <a:solidFill>
                  <a:srgbClr val="303437"/>
                </a:solidFill>
                <a:latin typeface="Noto Sans"/>
              </a:defRPr>
            </a:pPr>
            <a:r>
              <a:rPr sz="1300" b="0" lang="ja-JP" altLang="en-US">
                <a:solidFill>
                  <a:srgbClr val="626669"/>
                </a:solidFill>
                <a:latin typeface="Noto Sans"/>
                <a:ea typeface="Noto Sans CJK JP"/>
                <a:cs typeface="Noto Sans"/>
              </a:rPr>
              <a:t>Yushi Bai et al. (2024), ACL 2024, pp.3119–3137.</a:t>
            </a:r>
          </a:p>
          <a:p>
            <a:pPr algn="l">
              <a:lnSpc>
                <a:spcPct val="114000"/>
              </a:lnSpc>
              <a:spcBef>
                <a:spcPts val="0"/>
              </a:spcBef>
              <a:spcAft>
                <a:spcPts val="400"/>
              </a:spcAft>
              <a:buNone/>
              <a:defRPr sz="1800" b="0">
                <a:solidFill>
                  <a:srgbClr val="303437"/>
                </a:solidFill>
                <a:latin typeface="Noto Sans"/>
              </a:defRPr>
            </a:pPr>
            <a:r>
              <a:rPr sz="1800" b="0" lang="ja-JP" altLang="en-US">
                <a:solidFill>
                  <a:srgbClr val="303437"/>
                </a:solidFill>
                <a:latin typeface="Noto Sans"/>
                <a:ea typeface="Noto Sans CJK JP"/>
                <a:cs typeface="Noto Sans"/>
              </a:rPr>
              <a:t>初代の中国語・英語の長文課題と、課題別の採点方法を示す。</a:t>
            </a:r>
          </a:p>
          <a:p>
            <a:pPr algn="l">
              <a:lnSpc>
                <a:spcPct val="11400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3"/>
              </a:rPr>
              <a:t>https://aclanthology.org/2024.acl-long.172/</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参考文献</a:t>
            </a:r>
          </a:p>
        </p:txBody>
      </p:sp>
      <p:sp>
        <p:nvSpPr>
          <p:cNvPr id="4" name="文献 1: LongBench v2"/>
          <p:cNvSpPr txBox="1"/>
          <p:nvPr/>
        </p:nvSpPr>
        <p:spPr>
          <a:xfrm>
            <a:off x="548640" y="1463040"/>
            <a:ext cx="8046720" cy="1250102"/>
          </a:xfrm>
          <a:prstGeom prst="rect">
            <a:avLst/>
          </a:prstGeom>
          <a:noFill/>
        </p:spPr>
        <p:txBody>
          <a:bodyPr wrap="square" lIns="0" rIns="0" tIns="0" bIns="121453">
            <a:noAutofit/>
          </a:bodyPr>
          <a:lstStyle/>
          <a:p>
            <a:pPr algn="l">
              <a:lnSpc>
                <a:spcPct val="1140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LongBench v2</a:t>
            </a:r>
          </a:p>
          <a:p>
            <a:pPr algn="l">
              <a:lnSpc>
                <a:spcPct val="114000"/>
              </a:lnSpc>
              <a:spcBef>
                <a:spcPts val="0"/>
              </a:spcBef>
              <a:spcAft>
                <a:spcPts val="500"/>
              </a:spcAft>
              <a:buNone/>
              <a:defRPr sz="1300" b="0">
                <a:solidFill>
                  <a:srgbClr val="303437"/>
                </a:solidFill>
                <a:latin typeface="Noto Sans"/>
              </a:defRPr>
            </a:pPr>
            <a:r>
              <a:rPr sz="1300" b="0" lang="ja-JP" altLang="en-US">
                <a:solidFill>
                  <a:srgbClr val="626669"/>
                </a:solidFill>
                <a:latin typeface="Noto Sans"/>
                <a:ea typeface="Noto Sans CJK JP"/>
                <a:cs typeface="Noto Sans"/>
              </a:rPr>
              <a:t>LongBench Team (n.d.; 2026-10-26参照), project website.</a:t>
            </a:r>
          </a:p>
          <a:p>
            <a:pPr algn="l">
              <a:lnSpc>
                <a:spcPct val="114000"/>
              </a:lnSpc>
              <a:spcBef>
                <a:spcPts val="0"/>
              </a:spcBef>
              <a:spcAft>
                <a:spcPts val="400"/>
              </a:spcAft>
              <a:buNone/>
              <a:defRPr sz="1800" b="0">
                <a:solidFill>
                  <a:srgbClr val="303437"/>
                </a:solidFill>
                <a:latin typeface="Noto Sans"/>
              </a:defRPr>
            </a:pPr>
            <a:r>
              <a:rPr sz="1800" b="0" lang="ja-JP" altLang="en-US">
                <a:solidFill>
                  <a:srgbClr val="303437"/>
                </a:solidFill>
                <a:latin typeface="Noto Sans"/>
                <a:ea typeface="Noto Sans CJK JP"/>
                <a:cs typeface="Noto Sans"/>
              </a:rPr>
              <a:t>評価の概要と、モデルごとの正解率、長さ別・難しさ別の結果を掲載する。</a:t>
            </a:r>
          </a:p>
          <a:p>
            <a:pPr algn="l">
              <a:lnSpc>
                <a:spcPct val="11400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2"/>
              </a:rPr>
              <a:t>https://longbench2.github.io/</a:t>
            </a:r>
          </a:p>
        </p:txBody>
      </p:sp>
      <p:sp>
        <p:nvSpPr>
          <p:cNvPr id="5" name="文献 2: LongBench"/>
          <p:cNvSpPr txBox="1"/>
          <p:nvPr/>
        </p:nvSpPr>
        <p:spPr>
          <a:xfrm>
            <a:off x="548640" y="2823337"/>
            <a:ext cx="8046720" cy="1250242"/>
          </a:xfrm>
          <a:prstGeom prst="rect">
            <a:avLst/>
          </a:prstGeom>
          <a:noFill/>
        </p:spPr>
        <p:txBody>
          <a:bodyPr wrap="square" lIns="0" rIns="0" tIns="0" bIns="121593">
            <a:noAutofit/>
          </a:bodyPr>
          <a:lstStyle/>
          <a:p>
            <a:pPr algn="l">
              <a:lnSpc>
                <a:spcPct val="1140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LongBench</a:t>
            </a:r>
          </a:p>
          <a:p>
            <a:pPr algn="l">
              <a:lnSpc>
                <a:spcPct val="114000"/>
              </a:lnSpc>
              <a:spcBef>
                <a:spcPts val="0"/>
              </a:spcBef>
              <a:spcAft>
                <a:spcPts val="500"/>
              </a:spcAft>
              <a:buNone/>
              <a:defRPr sz="1300" b="0">
                <a:solidFill>
                  <a:srgbClr val="303437"/>
                </a:solidFill>
                <a:latin typeface="Noto Sans"/>
              </a:defRPr>
            </a:pPr>
            <a:r>
              <a:rPr sz="1300" b="0" lang="ja-JP" altLang="en-US">
                <a:solidFill>
                  <a:srgbClr val="626669"/>
                </a:solidFill>
                <a:latin typeface="Noto Sans"/>
                <a:ea typeface="Noto Sans CJK JP"/>
                <a:cs typeface="Noto Sans"/>
              </a:rPr>
              <a:t>LongBench Team (n.d.; 2026-10-26参照), GitHub. MIT License.</a:t>
            </a:r>
          </a:p>
          <a:p>
            <a:pPr algn="l">
              <a:lnSpc>
                <a:spcPct val="114000"/>
              </a:lnSpc>
              <a:spcBef>
                <a:spcPts val="0"/>
              </a:spcBef>
              <a:spcAft>
                <a:spcPts val="400"/>
              </a:spcAft>
              <a:buNone/>
              <a:defRPr sz="1800" b="0">
                <a:solidFill>
                  <a:srgbClr val="303437"/>
                </a:solidFill>
                <a:latin typeface="Noto Sans"/>
              </a:defRPr>
            </a:pPr>
            <a:r>
              <a:rPr sz="1800" b="0" lang="ja-JP" altLang="en-US">
                <a:solidFill>
                  <a:srgbClr val="303437"/>
                </a:solidFill>
                <a:latin typeface="Noto Sans"/>
                <a:ea typeface="Noto Sans CJK JP"/>
                <a:cs typeface="Noto Sans"/>
              </a:rPr>
              <a:t>v2の入力形式、回答記号の抽出、推論・検索の評価用コードを公開する。</a:t>
            </a:r>
          </a:p>
          <a:p>
            <a:pPr algn="l">
              <a:lnSpc>
                <a:spcPct val="11400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3"/>
              </a:rPr>
              <a:t>https://github.com/THUDM/LongBench</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468172" y="650138"/>
            <a:ext cx="8206740" cy="616305"/>
          </a:xfrm>
        </p:spPr>
        <p:txBody>
          <a:bodyPr wrap="square" lIns="0" rIns="0" tIns="0" bIns="0">
            <a:noAutofit/>
          </a:bodyPr>
          <a:lstStyle/>
          <a:p>
            <a:pPr algn="l">
              <a:lnSpc>
                <a:spcPct val="110000"/>
              </a:lnSpc>
              <a:buNone/>
              <a:defRPr sz="2800" b="0">
                <a:solidFill>
                  <a:srgbClr val="303437"/>
                </a:solidFill>
                <a:latin typeface="Noto Sans"/>
              </a:defRPr>
            </a:pPr>
            <a:r>
              <a:rPr sz="2800" b="1" lang="ja-JP" altLang="en-US">
                <a:solidFill>
                  <a:srgbClr val="303437"/>
                </a:solidFill>
                <a:latin typeface="Noto Sans"/>
                <a:ea typeface="Noto Sans CJK JP"/>
                <a:cs typeface="Noto Sans"/>
              </a:rPr>
              <a:t>参考文献</a:t>
            </a:r>
          </a:p>
        </p:txBody>
      </p:sp>
      <p:sp>
        <p:nvSpPr>
          <p:cNvPr id="3" name="Title 2"/>
          <p:cNvSpPr>
            <a:spLocks noGrp="1"/>
          </p:cNvSpPr>
          <p:nvPr>
            <p:ph type="title" idx="2"/>
          </p:nvPr>
        </p:nvSpPr>
        <p:spPr>
          <a:xfrm>
            <a:off x="75895" y="0"/>
            <a:ext cx="8115300" cy="480060"/>
          </a:xfrm>
        </p:spPr>
        <p:txBody>
          <a:bodyPr wrap="square" lIns="0" rIns="0" tIns="0" bIns="0" anchor="ctr">
            <a:noAutofit/>
          </a:bodyPr>
          <a:lstStyle/>
          <a:p>
            <a:pPr algn="l">
              <a:lnSpc>
                <a:spcPct val="110000"/>
              </a:lnSpc>
              <a:buNone/>
              <a:defRPr sz="1400" b="0">
                <a:solidFill>
                  <a:srgbClr val="303437"/>
                </a:solidFill>
                <a:latin typeface="Noto Sans"/>
              </a:defRPr>
            </a:pPr>
            <a:r>
              <a:rPr sz="1400" b="1" lang="ja-JP" altLang="en-US">
                <a:solidFill>
                  <a:srgbClr val="FFFEF8"/>
                </a:solidFill>
                <a:latin typeface="Noto Sans"/>
                <a:ea typeface="Noto Sans CJK JP"/>
                <a:cs typeface="Noto Sans"/>
              </a:rPr>
              <a:t>Appendix: 3. 参考文献</a:t>
            </a:r>
          </a:p>
        </p:txBody>
      </p:sp>
      <p:sp>
        <p:nvSpPr>
          <p:cNvPr id="4" name="文献 1: LongBench-v2"/>
          <p:cNvSpPr txBox="1"/>
          <p:nvPr/>
        </p:nvSpPr>
        <p:spPr>
          <a:xfrm>
            <a:off x="548640" y="1463040"/>
            <a:ext cx="8046720" cy="1250102"/>
          </a:xfrm>
          <a:prstGeom prst="rect">
            <a:avLst/>
          </a:prstGeom>
          <a:noFill/>
        </p:spPr>
        <p:txBody>
          <a:bodyPr wrap="square" lIns="0" rIns="0" tIns="0" bIns="121453">
            <a:noAutofit/>
          </a:bodyPr>
          <a:lstStyle/>
          <a:p>
            <a:pPr algn="l">
              <a:lnSpc>
                <a:spcPct val="1140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LongBench-v2</a:t>
            </a:r>
          </a:p>
          <a:p>
            <a:pPr algn="l">
              <a:lnSpc>
                <a:spcPct val="114000"/>
              </a:lnSpc>
              <a:spcBef>
                <a:spcPts val="0"/>
              </a:spcBef>
              <a:spcAft>
                <a:spcPts val="500"/>
              </a:spcAft>
              <a:buNone/>
              <a:defRPr sz="1300" b="0">
                <a:solidFill>
                  <a:srgbClr val="303437"/>
                </a:solidFill>
                <a:latin typeface="Noto Sans"/>
              </a:defRPr>
            </a:pPr>
            <a:r>
              <a:rPr sz="1300" b="0" lang="ja-JP" altLang="en-US">
                <a:solidFill>
                  <a:srgbClr val="626669"/>
                </a:solidFill>
                <a:latin typeface="Noto Sans"/>
                <a:ea typeface="Noto Sans CJK JP"/>
                <a:cs typeface="Noto Sans"/>
              </a:rPr>
              <a:t>LongBench Team (n.d.; 2026-10-26参照), Hugging Face.</a:t>
            </a:r>
          </a:p>
          <a:p>
            <a:pPr algn="l">
              <a:lnSpc>
                <a:spcPct val="114000"/>
              </a:lnSpc>
              <a:spcBef>
                <a:spcPts val="0"/>
              </a:spcBef>
              <a:spcAft>
                <a:spcPts val="400"/>
              </a:spcAft>
              <a:buNone/>
              <a:defRPr sz="1800" b="0">
                <a:solidFill>
                  <a:srgbClr val="303437"/>
                </a:solidFill>
                <a:latin typeface="Noto Sans"/>
              </a:defRPr>
            </a:pPr>
            <a:r>
              <a:rPr sz="1800" b="0" lang="ja-JP" altLang="en-US">
                <a:solidFill>
                  <a:srgbClr val="303437"/>
                </a:solidFill>
                <a:latin typeface="Noto Sans"/>
                <a:ea typeface="Noto Sans CJK JP"/>
                <a:cs typeface="Noto Sans"/>
              </a:rPr>
              <a:t>503問の本文・設問・選択肢・参照正解をJSON形式で配布する。</a:t>
            </a:r>
          </a:p>
          <a:p>
            <a:pPr algn="l">
              <a:lnSpc>
                <a:spcPct val="11400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2"/>
              </a:rPr>
              <a:t>https://huggingface.co/datasets/THUDM/LongBench-v2</a:t>
            </a:r>
          </a:p>
        </p:txBody>
      </p:sp>
      <p:sp>
        <p:nvSpPr>
          <p:cNvPr id="5" name="文献 2: Qwen3.5-397B-A17B"/>
          <p:cNvSpPr txBox="1"/>
          <p:nvPr/>
        </p:nvSpPr>
        <p:spPr>
          <a:xfrm>
            <a:off x="548640" y="2921934"/>
            <a:ext cx="8046720" cy="1250242"/>
          </a:xfrm>
          <a:prstGeom prst="rect">
            <a:avLst/>
          </a:prstGeom>
          <a:noFill/>
        </p:spPr>
        <p:txBody>
          <a:bodyPr wrap="square" lIns="0" rIns="0" tIns="0" bIns="121593">
            <a:noAutofit/>
          </a:bodyPr>
          <a:lstStyle/>
          <a:p>
            <a:pPr algn="l">
              <a:lnSpc>
                <a:spcPct val="114000"/>
              </a:lnSpc>
              <a:spcBef>
                <a:spcPts val="0"/>
              </a:spcBef>
              <a:spcAft>
                <a:spcPts val="400"/>
              </a:spcAft>
              <a:buNone/>
              <a:defRPr sz="2000" b="0">
                <a:solidFill>
                  <a:srgbClr val="303437"/>
                </a:solidFill>
                <a:latin typeface="Noto Sans"/>
              </a:defRPr>
            </a:pPr>
            <a:r>
              <a:rPr sz="2000" b="1" lang="ja-JP" altLang="en-US">
                <a:solidFill>
                  <a:srgbClr val="303437"/>
                </a:solidFill>
                <a:latin typeface="Noto Sans"/>
                <a:ea typeface="Noto Sans CJK JP"/>
                <a:cs typeface="Noto Sans"/>
              </a:rPr>
              <a:t>Qwen3.5-397B-A17B</a:t>
            </a:r>
          </a:p>
          <a:p>
            <a:pPr algn="l">
              <a:lnSpc>
                <a:spcPct val="114000"/>
              </a:lnSpc>
              <a:spcBef>
                <a:spcPts val="0"/>
              </a:spcBef>
              <a:spcAft>
                <a:spcPts val="500"/>
              </a:spcAft>
              <a:buNone/>
              <a:defRPr sz="1300" b="0">
                <a:solidFill>
                  <a:srgbClr val="303437"/>
                </a:solidFill>
                <a:latin typeface="Noto Sans"/>
              </a:defRPr>
            </a:pPr>
            <a:r>
              <a:rPr sz="1300" b="0" lang="ja-JP" altLang="en-US">
                <a:solidFill>
                  <a:srgbClr val="626669"/>
                </a:solidFill>
                <a:latin typeface="Noto Sans"/>
                <a:ea typeface="Noto Sans CJK JP"/>
                <a:cs typeface="Noto Sans"/>
              </a:rPr>
              <a:t>Qwen Team (2026), Hugging Face model card.</a:t>
            </a:r>
          </a:p>
          <a:p>
            <a:pPr algn="l">
              <a:lnSpc>
                <a:spcPct val="114000"/>
              </a:lnSpc>
              <a:spcBef>
                <a:spcPts val="0"/>
              </a:spcBef>
              <a:spcAft>
                <a:spcPts val="400"/>
              </a:spcAft>
              <a:buNone/>
              <a:defRPr sz="1800" b="0">
                <a:solidFill>
                  <a:srgbClr val="303437"/>
                </a:solidFill>
                <a:latin typeface="Noto Sans"/>
              </a:defRPr>
            </a:pPr>
            <a:r>
              <a:rPr sz="1800" b="0" lang="ja-JP" altLang="en-US">
                <a:solidFill>
                  <a:srgbClr val="303437"/>
                </a:solidFill>
                <a:latin typeface="Noto Sans"/>
                <a:ea typeface="Noto Sans CJK JP"/>
                <a:cs typeface="Noto Sans"/>
              </a:rPr>
              <a:t>長文理解を含む2026年のモデル評価に、LongBench v2を採用する。</a:t>
            </a:r>
          </a:p>
          <a:p>
            <a:pPr algn="l">
              <a:lnSpc>
                <a:spcPct val="114000"/>
              </a:lnSpc>
              <a:spcBef>
                <a:spcPts val="0"/>
              </a:spcBef>
              <a:spcAft>
                <a:spcPts val="0"/>
              </a:spcAft>
              <a:buNone/>
              <a:defRPr sz="1050" b="0">
                <a:solidFill>
                  <a:srgbClr val="303437"/>
                </a:solidFill>
                <a:latin typeface="Noto Sans"/>
              </a:defRPr>
            </a:pPr>
            <a:r>
              <a:rPr sz="1050" b="0" lang="ja-JP" altLang="en-US">
                <a:solidFill>
                  <a:srgbClr val="626669"/>
                </a:solidFill>
                <a:latin typeface="Noto Sans"/>
                <a:ea typeface="Noto Sans CJK JP"/>
                <a:cs typeface="Noto Sans"/>
                <a:hlinkClick r:id="rId3"/>
              </a:rPr>
              <a:t>https://huggingface.co/Qwen/Qwen3.5-397B-A17B</a:t>
            </a:r>
          </a:p>
        </p:txBody>
      </p:sp>
    </p:spTree>
  </p:cSld>
  <p:clrMapOvr>
    <a:masterClrMapping/>
  </p:clrMapOvr>
</p:sld>
</file>

<file path=ppt/theme/theme1.xml><?xml version="1.0" encoding="utf-8"?>
<a:theme xmlns:a="http://schemas.openxmlformats.org/drawingml/2006/main" name="Simple Light">
  <a:themeElements>
    <a:clrScheme name="IARTEM Research Palette">
      <a:dk1>
        <a:srgbClr val="303437"/>
      </a:dk1>
      <a:lt1>
        <a:srgbClr val="FFFEF8"/>
      </a:lt1>
      <a:dk2>
        <a:srgbClr val="626669"/>
      </a:dk2>
      <a:lt2>
        <a:srgbClr val="EBEDEB"/>
      </a:lt2>
      <a:accent1>
        <a:srgbClr val="B13731"/>
      </a:accent1>
      <a:accent2>
        <a:srgbClr val="2C9100"/>
      </a:accent2>
      <a:accent3>
        <a:srgbClr val="2166AC"/>
      </a:accent3>
      <a:accent4>
        <a:srgbClr val="B84A00"/>
      </a:accent4>
      <a:accent5>
        <a:srgbClr val="007C91"/>
      </a:accent5>
      <a:accent6>
        <a:srgbClr val="763DA0"/>
      </a:accent6>
      <a:hlink>
        <a:srgbClr val="3F6F8F"/>
      </a:hlink>
      <a:folHlink>
        <a:srgbClr val="7A5C8E"/>
      </a:folHlink>
    </a:clrScheme>
    <a:fontScheme name="Office">
      <a:majorFont>
        <a:latin typeface="Noto Sans"/>
        <a:ea typeface="Noto Sans CJK JP"/>
        <a:cs typeface="Noto Sans"/>
        <a:font script="Jpan" typeface="Noto Sans CJK JP"/>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Noto Sans"/>
        <a:ea typeface="Noto Sans CJK JP"/>
        <a:cs typeface="Noto Sans"/>
        <a:font script="Jpan" typeface="Noto Sans CJK JP"/>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EA7E97F-3A5A-9342-98CB-7411DADE8916}">
  <we:reference id="wa200010215" version="2.0.0.0" store="ja-JP" storeType="OMEX"/>
  <we:alternateReferences>
    <we:reference id="WA200010215" version="2.0.0.0" store="WA200010215" storeType="OMEX"/>
  </we:alternateReferences>
  <we:properties>
    <we:property name="bps.codex_control.document_id" value="&quot;f3f6bd8f-7a20-4dbe-a71e-f9942711a911&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13685</TotalTime>
  <Words>14</Words>
  <Application>Microsoft Macintosh PowerPoint</Application>
  <PresentationFormat>画面に合わせる (16:9)</PresentationFormat>
  <Paragraphs>3</Paragraphs>
  <Slides>8</Slides>
  <Notes>0</Notes>
  <HiddenSlides>0</HiddenSlides>
  <MMClips>0</MMClips>
  <ScaleCrop>false</ScaleCrop>
  <HeadingPairs>
    <vt:vector size="6" baseType="variant">
      <vt:variant>
        <vt:lpstr>使用されているフォント</vt:lpstr>
      </vt:variant>
      <vt:variant>
        <vt:i4>1</vt:i4>
      </vt:variant>
      <vt:variant>
        <vt:lpstr>テーマ</vt:lpstr>
      </vt:variant>
      <vt:variant>
        <vt:i4>1</vt:i4>
      </vt:variant>
      <vt:variant>
        <vt:lpstr>スライド タイトル</vt:lpstr>
      </vt:variant>
      <vt:variant>
        <vt:i4>8</vt:i4>
      </vt:variant>
    </vt:vector>
  </HeadingPairs>
  <TitlesOfParts>
    <vt:vector size="10" baseType="lpstr">
      <vt:lpstr>Arial</vt:lpstr>
      <vt:lpstr>Simple Light</vt:lpstr>
      <vt:lpstr>Developing and Applying a Systematic Classification Framework</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Bottom-right caption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sasakiy84</cp:lastModifiedBy>
  <cp:revision>500</cp:revision>
  <dcterms:modified xsi:type="dcterms:W3CDTF">2026-10-26T07:00:23Z</dcterms:modified>
  <dc:title>longbench-v2</dc:title>
  <dc:creator>sasakiy84</dc:creator>
  <dcterms:created xsi:type="dcterms:W3CDTF">2026-10-26T07:00:23Z</dcterms:created>
  <dc:language>ja-JP</dc:language>
</cp:coreProperties>
</file>