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log.google/technology/developers/deep-research-agent-gemini-ap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2097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deepsearchq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ssa.gov/oact/babynames/limits.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ssa.gov/oact/babynames/limit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jmlr.org/paper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weather.gov/hazsta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20975"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2097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kaggle.com/code/andrewmingwang/deepsearchqa-starter-cod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2097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2097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kaggle.com/code/andrewmingwang/deepsearchqa-starter-cod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2097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moonshotai/Kimi-K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20975"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20975"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deepsearchq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1.20975"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nhs.uk/conditions/joint-hypermobility-syndrom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sec.gov/Archives/edgar/data/894405/000155837024001622/arcb-20231231x10k.ht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johnhgscott.com/teaching.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bie-paris.org/site/en/all-world-expo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artic.edu/collecti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lehmanathletics.com/sports/mens-basketball/roster/2023-24"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rfkhumanrights.org/our-programs/ripple-of-hope-award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religion.fsu.edu/person/matthew-gof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blog.library.si.edu/"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act.org/content/dam/act/unsecured/documents/2023-Average-ACT-Scores-by-State.pdf"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20975"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1.20975" TargetMode="External"/><Relationship Id="rId3" Type="http://schemas.openxmlformats.org/officeDocument/2006/relationships/hyperlink" Target="https://blog.google/technology/developers/deep-research-agent-gemini-api/"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deepsearchqa" TargetMode="External"/><Relationship Id="rId3" Type="http://schemas.openxmlformats.org/officeDocument/2006/relationships/hyperlink" Target="https://www.kaggle.com/code/andrewmingwang/deepsearchqa-starter-cod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kaggle.com/benchmarks/google/dsqa/leaderboard" TargetMode="External"/><Relationship Id="rId3" Type="http://schemas.openxmlformats.org/officeDocument/2006/relationships/hyperlink" Target="https://huggingface.co/moonshotai/Kimi-K3"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50352"/>
            <a:ext cx="8046720" cy="1015150"/>
          </a:xfrm>
        </p:spPr>
        <p:txBody>
          <a:bodyPr wrap="square" lIns="0" rIns="0" tIns="0" bIns="0" anchor="ctr">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DeepSearchQA</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検索エージェントの回答の正確さと網羅性を測る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課題と三つの実例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構築方法とデータの広がり</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検索エージェントの評価での利用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DeepSearchQAの公式公開案内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概要</a:t>
            </a:r>
          </a:p>
        </p:txBody>
      </p:sp>
      <p:pic>
        <p:nvPicPr>
          <p:cNvPr id="4" name="Picture 3" descr="official-site.png"/>
          <p:cNvPicPr>
            <a:picLocks noChangeAspect="1"/>
          </p:cNvPicPr>
          <p:nvPr/>
        </p:nvPicPr>
        <p:blipFill>
          <a:blip r:embed="rId2"/>
          <a:stretch>
            <a:fillRect/>
          </a:stretch>
        </p:blipFill>
        <p:spPr>
          <a:xfrm>
            <a:off x="2084832" y="1371600"/>
            <a:ext cx="4974336" cy="3108960"/>
          </a:xfrm>
          <a:prstGeom prst="rect">
            <a:avLst/>
          </a:prstGeom>
        </p:spPr>
      </p:pic>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Haas &amp; Mallick (2025), Build with Gemini Deep Research. </a:t>
            </a:r>
            <a:r>
              <a:rPr sz="800" b="0" lang="ja-JP" altLang="en-US">
                <a:solidFill>
                  <a:srgbClr val="626669"/>
                </a:solidFill>
                <a:latin typeface="Noto Sans"/>
                <a:ea typeface="Noto Sans CJK JP"/>
                <a:cs typeface="Noto Sans"/>
                <a:hlinkClick r:id="rId3"/>
              </a:rPr>
              <a:t>https://blog.google/technology/developers/deep-research-agent-gemini-api/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課題と三つの実例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一つの事実から、条件に合う回答の集合へ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DeepSearchQAは、ウェブを調べるAIエージェント向けの900問のベンチマーク。Google DeepMindが2025年12月に公開した。</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複数の資料をたどり、条件に合う名前や地域、年などを答える。答えが複数ある問題では、正しい項目を漏れなく集め、余分な項目を除く必要がある。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質問と参照回答を対応させて読む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入力は英語の質問。対象の年、情報源、人数や数値の条件などが書かれている。エージェントは検索やページの閲覧を通じて回答をまとめる。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公開データには質問、分野、参照回答、回答形式がある。以下の実例は、その公開900問から選んだもの。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三州に共通する人気の名前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According to the Social Security Administration, what are the identical names that show up in the top five boy's names of 1975 for the states of Maine, Texas, and California?</a:t>
            </a:r>
          </a:p>
        </p:txBody>
      </p:sp>
      <p:sp>
        <p:nvSpPr>
          <p:cNvPr id="6" name="TextBox 5"/>
          <p:cNvSpPr txBox="1"/>
          <p:nvPr/>
        </p:nvSpPr>
        <p:spPr>
          <a:xfrm>
            <a:off x="594360" y="2693352"/>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2876232"/>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米国社会保障局（SSA）による1975年の男の子の名前の人気順位で、メイン州、テキサス州、カリフォルニア州のすべてで5位以内に入っている名前は何か。</a:t>
            </a:r>
          </a:p>
        </p:txBody>
      </p:sp>
      <p:sp>
        <p:nvSpPr>
          <p:cNvPr id="8" name="expected-answer"/>
          <p:cNvSpPr txBox="1"/>
          <p:nvPr/>
        </p:nvSpPr>
        <p:spPr>
          <a:xfrm>
            <a:off x="594360" y="3771455"/>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参照回答：Michael、Christopher、Jason</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SSA (2026-10-25参照), Popular Baby Names. </a:t>
            </a:r>
            <a:r>
              <a:rPr sz="800" b="0" lang="ja-JP" altLang="en-US">
                <a:solidFill>
                  <a:srgbClr val="626669"/>
                </a:solidFill>
                <a:latin typeface="Noto Sans"/>
                <a:ea typeface="Noto Sans CJK JP"/>
                <a:cs typeface="Noto Sans"/>
                <a:hlinkClick r:id="rId3"/>
              </a:rPr>
              <a:t>https://www.ssa.gov/oact/babynames/limits.html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三州で人気の名前の上位5件を照合する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graphicFrame>
        <p:nvGraphicFramePr>
          <p:cNvPr id="4" name="Table 3"/>
          <p:cNvGraphicFramePr>
            <a:graphicFrameLocks noGrp="1"/>
          </p:cNvGraphicFramePr>
          <p:nvPr/>
        </p:nvGraphicFramePr>
        <p:xfrm>
          <a:off x="548640" y="1508760"/>
          <a:ext cx="8046720" cy="2211069"/>
        </p:xfrm>
        <a:graphic>
          <a:graphicData uri="http://schemas.openxmlformats.org/drawingml/2006/table">
            <a:tbl>
              <a:tblPr firstRow="0" bandRow="0"/>
              <a:tblGrid>
                <a:gridCol w="1828800"/>
                <a:gridCol w="621792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1975年の男の子の名前・上位5件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メイン</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Jason, Michael, Christopher, Matthew, Robert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6692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テキサス</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Michael, Christopher, Jason, David, James</a:t>
                      </a:r>
                    </a:p>
                  </a:txBody>
                  <a:tcPr marL="63500" marR="63500" marT="38100" marB="38100" anchor="ctr">
                    <a:lnL w="7620">
                      <a:noFill/>
                    </a:lnL>
                    <a:lnR w="7620">
                      <a:noFill/>
                    </a:lnR>
                    <a:lnT w="7620">
                      <a:noFill/>
                    </a:lnT>
                    <a:lnB w="7620">
                      <a:noFill/>
                    </a:lnB>
                    <a:solidFill>
                      <a:srgbClr val="FFFEF8"/>
                    </a:solidFill>
                  </a:tcPr>
                </a:tc>
              </a:tr>
              <a:tr h="656589">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カリフォルニア</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Michael, Jason, David, Christopher, Robert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4784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三つの一覧に共通するのはMichael、Christopher、Jason。</a:t>
            </a:r>
          </a:p>
        </p:txBody>
      </p:sp>
      <p:sp>
        <p:nvSpPr>
          <p:cNvPr id="6"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SSA (2026-10-25参照), Popular Baby Names. </a:t>
            </a:r>
            <a:r>
              <a:rPr sz="800" b="0" lang="ja-JP" altLang="en-US">
                <a:solidFill>
                  <a:srgbClr val="626669"/>
                </a:solidFill>
                <a:latin typeface="Noto Sans"/>
                <a:ea typeface="Noto Sans CJK JP"/>
                <a:cs typeface="Noto Sans"/>
                <a:hlinkClick r:id="rId2"/>
              </a:rPr>
              <a:t>https://www.ssa.gov/oact/babynames/limits.html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三つの巻すべてに登場する著者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Could you please provide a complete list of authors who published at least one article in each of the first three volumes (Volumes 1, 2, and 3) of the Journal of Machine Learning Research?</a:t>
            </a:r>
          </a:p>
        </p:txBody>
      </p:sp>
      <p:sp>
        <p:nvSpPr>
          <p:cNvPr id="6" name="TextBox 5"/>
          <p:cNvSpPr txBox="1"/>
          <p:nvPr/>
        </p:nvSpPr>
        <p:spPr>
          <a:xfrm>
            <a:off x="594360" y="2693352"/>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2876232"/>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機械学習の学術誌Journal of Machine Learning Researchの最初の3巻（第1・2・3巻）のそれぞれに、少なくとも1本の論文を発表した著者を全員挙げてほしい。</a:t>
            </a:r>
          </a:p>
        </p:txBody>
      </p:sp>
      <p:sp>
        <p:nvSpPr>
          <p:cNvPr id="8" name="expected-answer"/>
          <p:cNvSpPr txBox="1"/>
          <p:nvPr/>
        </p:nvSpPr>
        <p:spPr>
          <a:xfrm>
            <a:off x="594360" y="3771455"/>
            <a:ext cx="7955279" cy="721105"/>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参照回答：Robert C. Williamson、Yoram Singer、David Maxwell Chickering</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JMLR (2026-10-25参照), Published Papers. </a:t>
            </a:r>
            <a:r>
              <a:rPr sz="800" b="0" lang="ja-JP" altLang="en-US">
                <a:solidFill>
                  <a:srgbClr val="626669"/>
                </a:solidFill>
                <a:latin typeface="Noto Sans"/>
                <a:ea typeface="Noto Sans CJK JP"/>
                <a:cs typeface="Noto Sans"/>
                <a:hlinkClick r:id="rId3"/>
              </a:rPr>
              <a:t>https://jmlr.org/papers/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二つの条件を満たす洪水の年</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5763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I'm researching extreme weather in the United States. Between 2017 and 2021 (inclusive), which year saw flood-related fatalities in over 20 states, with over 100 total deaths (with all states combined)? This includes both flash flooding and river flooding. Use National Weather Service and NOAA data.</a:t>
            </a:r>
          </a:p>
        </p:txBody>
      </p:sp>
      <p:sp>
        <p:nvSpPr>
          <p:cNvPr id="6" name="TextBox 5"/>
          <p:cNvSpPr txBox="1"/>
          <p:nvPr/>
        </p:nvSpPr>
        <p:spPr>
          <a:xfrm>
            <a:off x="594360" y="3222307"/>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3405187"/>
            <a:ext cx="7955279" cy="1093724"/>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米国の極端な気象を調べている。2017年から2021年までのうち、洪水による死者が出た州が20を超え、全州の死者数が合計100人を超えた年はいつか。鉄砲水と河川の氾濫をともに含め、米国国立気象局（NWS）と米国海洋大気庁（NOAA）のデータを用いる。</a:t>
            </a:r>
          </a:p>
        </p:txBody>
      </p:sp>
      <p:sp>
        <p:nvSpPr>
          <p:cNvPr id="8"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例3 二つの条件を満たす洪水の年：回答と二つの条件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expected-answer"/>
          <p:cNvSpPr txBox="1"/>
          <p:nvPr/>
        </p:nvSpPr>
        <p:spPr>
          <a:xfrm>
            <a:off x="594360" y="1463040"/>
            <a:ext cx="7955279" cy="428117"/>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参照回答：2021年</a:t>
            </a:r>
          </a:p>
        </p:txBody>
      </p:sp>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6" name="source-2"/>
          <p:cNvSpPr txBox="1"/>
          <p:nvPr/>
        </p:nvSpPr>
        <p:spPr>
          <a:xfrm>
            <a:off x="502920" y="4840767"/>
            <a:ext cx="8183879" cy="206721"/>
          </a:xfrm>
          <a:prstGeom prst="rect">
            <a:avLst/>
          </a:prstGeom>
          <a:noFill/>
        </p:spPr>
        <p:txBody>
          <a:bodyPr wrap="square" lIns="0" rIns="0" tIns="2384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NWS / NOAA (2026-10-25参照), U.S. Natural Hazard Statistics (2017–2021). </a:t>
            </a:r>
            <a:r>
              <a:rPr sz="800" b="0" lang="ja-JP" altLang="en-US">
                <a:solidFill>
                  <a:srgbClr val="626669"/>
                </a:solidFill>
                <a:latin typeface="Noto Sans"/>
                <a:ea typeface="Noto Sans CJK JP"/>
                <a:cs typeface="Noto Sans"/>
                <a:hlinkClick r:id="rId3"/>
              </a:rPr>
              <a:t>https://www.weather.gov/hazstat/</a:t>
            </a:r>
          </a:p>
        </p:txBody>
      </p:sp>
      <p:graphicFrame>
        <p:nvGraphicFramePr>
          <p:cNvPr id="7" name="Table 3"/>
          <p:cNvGraphicFramePr>
            <a:graphicFrameLocks noGrp="1"/>
          </p:cNvGraphicFramePr>
          <p:nvPr/>
        </p:nvGraphicFramePr>
        <p:xfrm>
          <a:off x="594360" y="2011680"/>
          <a:ext cx="7955280" cy="2186940"/>
        </p:xfrm>
        <a:graphic>
          <a:graphicData uri="http://schemas.openxmlformats.org/drawingml/2006/table">
            <a:tbl>
              <a:tblPr firstRow="0" bandRow="0"/>
              <a:tblGrid>
                <a:gridCol w="1371600"/>
                <a:gridCol w="3108960"/>
                <a:gridCol w="3474720"/>
              </a:tblGrid>
              <a:tr h="364490">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死者が出た州の数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死者数（人）</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4490">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136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4490">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80</a:t>
                      </a:r>
                    </a:p>
                  </a:txBody>
                  <a:tcPr marL="63500" marR="63500" marT="38100" marB="38100" anchor="ctr">
                    <a:lnL w="7620">
                      <a:noFill/>
                    </a:lnL>
                    <a:lnR w="7620">
                      <a:noFill/>
                    </a:lnR>
                    <a:lnT w="7620">
                      <a:noFill/>
                    </a:lnT>
                    <a:lnB w="7620">
                      <a:noFill/>
                    </a:lnB>
                    <a:solidFill>
                      <a:srgbClr val="FFFEF8"/>
                    </a:solidFill>
                  </a:tcPr>
                </a:tc>
              </a:tr>
              <a:tr h="364490">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a:t>
                      </a:r>
                    </a:p>
                  </a:txBody>
                  <a:tcPr marL="63500" marR="63500" marT="38100" marB="38100" anchor="ctr">
                    <a:lnL w="7620">
                      <a:noFill/>
                    </a:lnL>
                    <a:lnR w="7620">
                      <a:noFill/>
                    </a:lnR>
                    <a:lnT w="7620">
                      <a:noFill/>
                    </a:lnT>
                    <a:lnB w="7620">
                      <a:noFill/>
                    </a:lnB>
                    <a:solidFill>
                      <a:srgbClr val="FFFEF8"/>
                    </a:solidFill>
                  </a:tcPr>
                </a:tc>
              </a:tr>
              <a:tr h="364490">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57</a:t>
                      </a:r>
                    </a:p>
                  </a:txBody>
                  <a:tcPr marL="63500" marR="63500" marT="38100" marB="38100" anchor="ctr">
                    <a:lnL w="7620">
                      <a:noFill/>
                    </a:lnL>
                    <a:lnR w="7620">
                      <a:noFill/>
                    </a:lnR>
                    <a:lnT w="7620">
                      <a:noFill/>
                    </a:lnT>
                    <a:lnB w="7620">
                      <a:noFill/>
                    </a:lnB>
                    <a:solidFill>
                      <a:srgbClr val="FFFEF8"/>
                    </a:solidFill>
                  </a:tcPr>
                </a:tc>
              </a:tr>
              <a:tr h="364490">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146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8" name="TextBox 7"/>
          <p:cNvSpPr txBox="1"/>
          <p:nvPr/>
        </p:nvSpPr>
        <p:spPr>
          <a:xfrm>
            <a:off x="594360" y="4270248"/>
            <a:ext cx="7955279" cy="384048"/>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2021年は22州で計146人。2017年は計136人だが18州。</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構築方法とデータの広がり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構築方法とデータの広がり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専門の作業者が質問を作り、別の三人が調べる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現実の調査に近く、客観的に答えを確かめられる質問を作る。質問には、参照する年や情報源を指定するものが多い。</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別の3人の確認者が参照回答を見ずに調べ、その結果を作成者の回答と照合する。不一致を解決し、解釈が曖昧な質問を除いた。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構築方法とデータの広がり</a:t>
            </a:r>
          </a:p>
        </p:txBody>
      </p:sp>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約3分の2が、複数項目を答える問題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構築方法とデータの広がり</a:t>
            </a:r>
          </a:p>
        </p:txBody>
      </p:sp>
      <p:graphicFrame>
        <p:nvGraphicFramePr>
          <p:cNvPr id="4" name="Table 3"/>
          <p:cNvGraphicFramePr>
            <a:graphicFrameLocks noGrp="1"/>
          </p:cNvGraphicFramePr>
          <p:nvPr/>
        </p:nvGraphicFramePr>
        <p:xfrm>
          <a:off x="548640" y="1508760"/>
          <a:ext cx="8046720" cy="1633216"/>
        </p:xfrm>
        <a:graphic>
          <a:graphicData uri="http://schemas.openxmlformats.org/drawingml/2006/table">
            <a:tbl>
              <a:tblPr firstRow="0" bandRow="0"/>
              <a:tblGrid>
                <a:gridCol w="4754880"/>
                <a:gridCol w="1554480"/>
                <a:gridCol w="1737360"/>
              </a:tblGrid>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回答形式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設問数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Set Answer（回答の集合）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584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64.9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Single Answer（単一の回答）</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316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35.1</a:t>
                      </a:r>
                    </a:p>
                  </a:txBody>
                  <a:tcPr marL="63500" marR="63500" marT="38100" marB="38100" anchor="ctr">
                    <a:lnL w="7620">
                      <a:noFill/>
                    </a:lnL>
                    <a:lnR w="7620">
                      <a:noFill/>
                    </a:lnR>
                    <a:lnT w="7620">
                      <a:noFill/>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6999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公開CSVの900行を回答形式ごとに集計した。</a:t>
            </a:r>
          </a:p>
        </p:txBody>
      </p:sp>
      <p:sp>
        <p:nvSpPr>
          <p:cNvPr id="6"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政治・経済などの分野に多くの質問がある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構築方法とデータの広がり</a:t>
            </a:r>
          </a:p>
        </p:txBody>
      </p:sp>
      <p:graphicFrame>
        <p:nvGraphicFramePr>
          <p:cNvPr id="4" name="Table 3"/>
          <p:cNvGraphicFramePr>
            <a:graphicFrameLocks noGrp="1"/>
          </p:cNvGraphicFramePr>
          <p:nvPr/>
        </p:nvGraphicFramePr>
        <p:xfrm>
          <a:off x="548640" y="1508760"/>
          <a:ext cx="8046720" cy="2653665"/>
        </p:xfrm>
        <a:graphic>
          <a:graphicData uri="http://schemas.openxmlformats.org/drawingml/2006/table">
            <a:tbl>
              <a:tblPr firstRow="0" bandRow="0"/>
              <a:tblGrid>
                <a:gridCol w="5943600"/>
                <a:gridCol w="2103120"/>
              </a:tblGrid>
              <a:tr h="3790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設問数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90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政治・行政</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90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金融・経済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132</a:t>
                      </a:r>
                    </a:p>
                  </a:txBody>
                  <a:tcPr marL="63500" marR="63500" marT="38100" marB="38100" anchor="ctr">
                    <a:lnL w="7620">
                      <a:noFill/>
                    </a:lnL>
                    <a:lnR w="7620">
                      <a:noFill/>
                    </a:lnR>
                    <a:lnT w="7620">
                      <a:noFill/>
                    </a:lnT>
                    <a:lnB w="7620">
                      <a:noFill/>
                    </a:lnB>
                    <a:solidFill>
                      <a:srgbClr val="FFFEF8"/>
                    </a:solidFill>
                  </a:tcPr>
                </a:tc>
              </a:tr>
              <a:tr h="3790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地理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95</a:t>
                      </a:r>
                    </a:p>
                  </a:txBody>
                  <a:tcPr marL="63500" marR="63500" marT="38100" marB="38100" anchor="ctr">
                    <a:lnL w="7620">
                      <a:noFill/>
                    </a:lnL>
                    <a:lnR w="7620">
                      <a:noFill/>
                    </a:lnR>
                    <a:lnT w="7620">
                      <a:noFill/>
                    </a:lnT>
                    <a:lnB w="7620">
                      <a:noFill/>
                    </a:lnB>
                    <a:solidFill>
                      <a:srgbClr val="FFFEF8"/>
                    </a:solidFill>
                  </a:tcPr>
                </a:tc>
              </a:tr>
              <a:tr h="3790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教育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94</a:t>
                      </a:r>
                    </a:p>
                  </a:txBody>
                  <a:tcPr marL="63500" marR="63500" marT="38100" marB="38100" anchor="ctr">
                    <a:lnL w="7620">
                      <a:noFill/>
                    </a:lnL>
                    <a:lnR w="7620">
                      <a:noFill/>
                    </a:lnR>
                    <a:lnT w="7620">
                      <a:noFill/>
                    </a:lnT>
                    <a:lnB w="7620">
                      <a:noFill/>
                    </a:lnB>
                    <a:solidFill>
                      <a:srgbClr val="FFFEF8"/>
                    </a:solidFill>
                  </a:tcPr>
                </a:tc>
              </a:tr>
              <a:tr h="3790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健康</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92</a:t>
                      </a:r>
                    </a:p>
                  </a:txBody>
                  <a:tcPr marL="63500" marR="63500" marT="38100" marB="38100" anchor="ctr">
                    <a:lnL w="7620">
                      <a:noFill/>
                    </a:lnL>
                    <a:lnR w="7620">
                      <a:noFill/>
                    </a:lnR>
                    <a:lnT w="7620">
                      <a:noFill/>
                    </a:lnT>
                    <a:lnB w="7620">
                      <a:noFill/>
                    </a:lnB>
                    <a:solidFill>
                      <a:srgbClr val="FFFEF8"/>
                    </a:solidFill>
                  </a:tcPr>
                </a:tc>
              </a:tr>
              <a:tr h="3790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科学</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9044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全17分野。言語学は1問、生物学は2問など、分野ごとの件数には差がある。</a:t>
            </a:r>
          </a:p>
        </p:txBody>
      </p:sp>
      <p:sp>
        <p:nvSpPr>
          <p:cNvPr id="6"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資料を集め、同じ対象をまとめ、探索を終える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資料の収集では、複数のサイトや文書に分散した情報を集める。検索で得た候補に、年や数値などの条件を当てはめる。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同じ人物や団体の表記の違いを整理し、重複を除く。候補を広げるだけでなく、条件を満たす対象を調べ切ったか判断することも課題になる。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構築方法とデータの広がり</a:t>
            </a:r>
          </a:p>
        </p:txBody>
      </p:sp>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正確さと、答えを集め切った度合いを測る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適合率（Precision）は、提出した項目のうち正しかった割合。再現率（Recall）は、参照回答の項目をどれだけ見つけたかを表す。</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F1は、この二つの調和平均。各設問について計算し、有効な採点結果のF1を平均する。回答の表記が違っても、同じ対象を指していれば一致と判定できる。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Wang (2026-10-25参照), DeepSearchQA Starter Code. </a:t>
            </a:r>
            <a:r>
              <a:rPr sz="800" b="0" lang="ja-JP" altLang="en-US">
                <a:solidFill>
                  <a:srgbClr val="626669"/>
                </a:solidFill>
                <a:latin typeface="Noto Sans"/>
                <a:ea typeface="Noto Sans CJK JP"/>
                <a:cs typeface="Noto Sans"/>
                <a:hlinkClick r:id="rId2"/>
              </a:rPr>
              <a:t>https://www.kaggle.com/code/andrewmingwang/deepsearchqa-starter-code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三つの正解を使って、F1の違いを見る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19" cy="2011680"/>
        </p:xfrm>
        <a:graphic>
          <a:graphicData uri="http://schemas.openxmlformats.org/drawingml/2006/table">
            <a:tbl>
              <a:tblPr firstRow="0" bandRow="0"/>
              <a:tblGrid>
                <a:gridCol w="3749039"/>
                <a:gridCol w="1463040"/>
                <a:gridCol w="1463040"/>
                <a:gridCol w="1371600"/>
              </a:tblGrid>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回答例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適合率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再現率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正解3名すべて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正解2名だけ</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0.80</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正解3名＋誤答1名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0.86</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正解1名＋誤答1名</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0.40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484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例1の参照回答3名を使った採点の説明例。F1 = 2PR / (P + R)。</a:t>
            </a:r>
          </a:p>
        </p:txBody>
      </p:sp>
      <p:sp>
        <p:nvSpPr>
          <p:cNvPr id="6"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完全正解は、漏れも余分な答えもない回答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2779776"/>
        </p:xfrm>
        <a:graphic>
          <a:graphicData uri="http://schemas.openxmlformats.org/drawingml/2006/table">
            <a:tbl>
              <a:tblPr firstRow="0" bandRow="0"/>
              <a:tblGrid>
                <a:gridCol w="2743200"/>
                <a:gridCol w="5303520"/>
              </a:tblGrid>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参照回答との関係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完全正解</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正しい項目をすべて含み、余分な項目がない</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9494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一部正解</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正しい項目を含むが、一部が欠ける</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正解と余分な答え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正しい項目をすべて含むが、誤答も含む</a:t>
                      </a:r>
                    </a:p>
                  </a:txBody>
                  <a:tcPr marL="63500" marR="63500" marT="38100" marB="38100" anchor="ctr">
                    <a:lnL w="7620">
                      <a:noFill/>
                    </a:lnL>
                    <a:lnR w="7620">
                      <a:noFill/>
                    </a:lnR>
                    <a:lnT w="7620">
                      <a:noFill/>
                    </a:lnT>
                    <a:lnB w="7620">
                      <a:noFill/>
                    </a:lnB>
                    <a:solidFill>
                      <a:srgbClr val="FFFEF8"/>
                    </a:solidFill>
                  </a:tcPr>
                </a:tc>
              </a:tr>
              <a:tr h="49377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すべて不正解</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正しい項目を一つも含まない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自動採点は、回答の意味を項目ごとに照合する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公式の採点方法では、Gemini 2.5 Flashが質問、参照回答、提出回答を読み、正解の各項目が含まれるかと、余分な項目を判定する。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その判定から適合率、再現率、F1と回答の分類を求める。公式スターターは、採点に失敗した例などを別に数えて集約する。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Wang (2026-10-25参照), DeepSearchQA Starter Code. </a:t>
            </a:r>
            <a:r>
              <a:rPr sz="800" b="0" lang="ja-JP" altLang="en-US">
                <a:solidFill>
                  <a:srgbClr val="626669"/>
                </a:solidFill>
                <a:latin typeface="Noto Sans"/>
                <a:ea typeface="Noto Sans CJK JP"/>
                <a:cs typeface="Noto Sans"/>
                <a:hlinkClick r:id="rId2"/>
              </a:rPr>
              <a:t>https://www.kaggle.com/code/andrewmingwang/deepsearchqa-starter-code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公開時は、F1と完全正解率に差があった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2192781"/>
        </p:xfrm>
        <a:graphic>
          <a:graphicData uri="http://schemas.openxmlformats.org/drawingml/2006/table">
            <a:tbl>
              <a:tblPr firstRow="0" bandRow="0"/>
              <a:tblGrid>
                <a:gridCol w="4937760"/>
                <a:gridCol w="1554480"/>
                <a:gridCol w="1554480"/>
              </a:tblGrid>
              <a:tr h="656589">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モデル・エージェント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完全正解（%）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Gemini Deep Research Agent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81.90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66.09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GPT-5 Pro High Reasoning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78.98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65.18</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Gemini 3 Pro Preview</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76.86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56.56</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Claude 4.5 Opus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24.01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29557"/>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2025年12月公開時の実験。Kaggleが独立に評価した報告値。</a:t>
            </a:r>
          </a:p>
        </p:txBody>
      </p:sp>
      <p:sp>
        <p:nvSpPr>
          <p:cNvPr id="6"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Kimi K3の公式評価にも採用された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Moonshot AIの2026年のKimi K3モデルカードは、検索を使う課題の一つとしてDeepSearchQAを掲載している。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Kimi K3のF1は95.0%。推論の設定はmax。質問に合う回答集合を調べる力の評価に、公開後も使われている。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85243"/>
            <a:ext cx="8183879" cy="206797"/>
          </a:xfrm>
          <a:prstGeom prst="rect">
            <a:avLst/>
          </a:prstGeom>
          <a:noFill/>
        </p:spPr>
        <p:txBody>
          <a:bodyPr wrap="square" lIns="0" rIns="0" tIns="23917"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Moonshot AI (2026), Kimi K3 Model Card. </a:t>
            </a:r>
            <a:r>
              <a:rPr sz="800" b="0" lang="ja-JP" altLang="en-US">
                <a:solidFill>
                  <a:srgbClr val="626669"/>
                </a:solidFill>
                <a:latin typeface="Noto Sans"/>
                <a:ea typeface="Noto Sans CJK JP"/>
                <a:cs typeface="Noto Sans"/>
                <a:hlinkClick r:id="rId2"/>
              </a:rPr>
              <a:t>https://huggingface.co/moonshotai/Kimi-K3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ウェブの変化と、探索過程を採点しない制約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参照する年や資料を指定した質問でも、検索先のサイトが削除・更新されると、同じ情報を取り出せなくなることがある。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採点が見るのは最終的な回答の集合。どの資料を調べ、どの段階で条件を見落としたかは、探索の記録を別に調べる必要がある。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検索エージェントの評価での利用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検索エージェントの評価での利用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同じ質問に対する回答と、検索の設定をそろえる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ウェブ検索を使うモデルや、複数回の検索・閲覧を繰り返すエージェントを評価する。使うツール、探索の予算、モデルの設定を結果に対応させる。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公開時の実験では最終回答をKaggleが評価した。その後もモデルカードや検索サービスの評価に採用されている。入手した問題の年や情報源の指定を保って比較する。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検索エージェントの評価での利用</a:t>
            </a:r>
          </a:p>
        </p:txBody>
      </p:sp>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公開CSVから、質問と参照回答を確認できる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Google DeepMindの公式配布は900問のCSV。約0.36 MBで、質問、分野、参照回答、回答形式の4列を持つ。</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ライセンスはApache License 2.0。回答を生成するときは質問を入力し、参照回答と回答形式は採点用に保持する。公式スターターには採点のプロンプトと集計コードがある。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検索エージェントの評価での利用</a:t>
            </a:r>
          </a:p>
        </p:txBody>
      </p:sp>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複数の条件を満たす答えを、過不足なく集める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DeepSearchQAは、900問・17分野の公開質問を通じて、検索エージェントが複数の資料を結び付け、条件に合う答えを集める力を測る。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回答集合の正確さと網羅性をF1で評価し、漏れも余分な答えもない完全正解率も示す。検索を早く終えすぎる問題と、候補を広げすぎる問題の両方を捉える。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検索エージェントの評価での利用</a:t>
            </a:r>
          </a:p>
        </p:txBody>
      </p:sp>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1203"/>
            <a:ext cx="8046720" cy="813514"/>
          </a:xfrm>
        </p:spPr>
        <p:txBody>
          <a:bodyPr wrap="square" lIns="0" rIns="0" tIns="0" bIns="0" anchor="ctr">
            <a:noAutofit/>
          </a:bodyPr>
          <a:lstStyle/>
          <a:p>
            <a:pPr algn="ctr">
              <a:lnSpc>
                <a:spcPct val="110000"/>
              </a:lnSpc>
              <a:buNone/>
              <a:defRPr sz="4600" b="0">
                <a:solidFill>
                  <a:srgbClr val="303437"/>
                </a:solidFill>
                <a:latin typeface="Noto Sans"/>
              </a:defRPr>
            </a:pPr>
            <a:r>
              <a:rPr sz="4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異なる分野の追加例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分野の内訳と周辺の課題</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異なる分野の追加例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二つの説明ページをつなぐ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By using the NHS website for “Shoulder Pain”, which of the possible causes of the condition creates symptoms like poor balance and coordination?</a:t>
            </a:r>
          </a:p>
        </p:txBody>
      </p:sp>
      <p:sp>
        <p:nvSpPr>
          <p:cNvPr id="6" name="TextBox 5"/>
          <p:cNvSpPr txBox="1"/>
          <p:nvPr/>
        </p:nvSpPr>
        <p:spPr>
          <a:xfrm>
            <a:off x="594360" y="2693352"/>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2876232"/>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英国の公的医療サービス（NHS）の「Shoulder Pain」のページを使い、肩の痛みの原因として挙げられているもののうち、バランスや動作の協調がうまくできないといった症状を伴うのはどれか。</a:t>
            </a:r>
          </a:p>
        </p:txBody>
      </p:sp>
      <p:sp>
        <p:nvSpPr>
          <p:cNvPr id="8" name="expected-answer"/>
          <p:cNvSpPr txBox="1"/>
          <p:nvPr/>
        </p:nvSpPr>
        <p:spPr>
          <a:xfrm>
            <a:off x="594360" y="3771455"/>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参照回答：Hypermobility（関節の過可動性）</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NHS (2026-10-25参照), Joint hypermobility syndrome. </a:t>
            </a:r>
            <a:r>
              <a:rPr sz="800" b="0" lang="ja-JP" altLang="en-US">
                <a:solidFill>
                  <a:srgbClr val="626669"/>
                </a:solidFill>
                <a:latin typeface="Noto Sans"/>
                <a:ea typeface="Noto Sans CJK JP"/>
                <a:cs typeface="Noto Sans"/>
                <a:hlinkClick r:id="rId3"/>
              </a:rPr>
              <a:t>https://www.nhs.uk/conditions/joint-hypermobility-syndrome/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運送会社の営業費用の減少</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Among Saia, Inc., Matson, Inc., and ArcBest Corporation, which company had the greatest reduction in operating expenses for the fiscal year ended December 31, 2023? Use the SEC website and filings.</a:t>
            </a:r>
          </a:p>
        </p:txBody>
      </p:sp>
      <p:sp>
        <p:nvSpPr>
          <p:cNvPr id="6" name="TextBox 5"/>
          <p:cNvSpPr txBox="1"/>
          <p:nvPr/>
        </p:nvSpPr>
        <p:spPr>
          <a:xfrm>
            <a:off x="594360" y="2693352"/>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2876232"/>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Saia, Inc.、Matson, Inc.、ArcBest Corporationのうち、2023年12月31日を期末とする会計年度に営業費用が最も大きく減少した会社はどれか。SECのウェブサイトと提出書類を用いる。</a:t>
            </a:r>
          </a:p>
        </p:txBody>
      </p:sp>
      <p:sp>
        <p:nvSpPr>
          <p:cNvPr id="8" name="expected-answer"/>
          <p:cNvSpPr txBox="1"/>
          <p:nvPr/>
        </p:nvSpPr>
        <p:spPr>
          <a:xfrm>
            <a:off x="594360" y="3771455"/>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参照回答：ArcBest Corporation</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41275"/>
            <a:ext cx="8183879" cy="206213"/>
          </a:xfrm>
          <a:prstGeom prst="rect">
            <a:avLst/>
          </a:prstGeom>
          <a:noFill/>
        </p:spPr>
        <p:txBody>
          <a:bodyPr wrap="square" lIns="0" rIns="0" tIns="23333"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ArcBest (2024), 2023 Form 10-K. </a:t>
            </a:r>
            <a:r>
              <a:rPr sz="800" b="0" lang="ja-JP" altLang="en-US">
                <a:solidFill>
                  <a:srgbClr val="626669"/>
                </a:solidFill>
                <a:latin typeface="Noto Sans"/>
                <a:ea typeface="Noto Sans CJK JP"/>
                <a:cs typeface="Noto Sans"/>
                <a:hlinkClick r:id="rId3"/>
              </a:rPr>
              <a:t>https://www.sec.gov/Archives/edgar/data/894405/000155837024001622/arcb-20231231x10k.htm</a:t>
            </a:r>
          </a:p>
        </p:txBody>
      </p:sp>
      <p:sp>
        <p:nvSpPr>
          <p:cNvPr id="11" name="specific-evidence"/>
          <p:cNvSpPr txBox="1"/>
          <p:nvPr/>
        </p:nvSpPr>
        <p:spPr>
          <a:xfrm>
            <a:off x="594360" y="4160520"/>
            <a:ext cx="7955279" cy="457200"/>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営業費用の減少額はArcBest約3.80億ドル、Matson約2.38億ドル。Saiaは増加。</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共著者から授業の担当者を探す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5763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Which of Isabelle Darcy's (2012) coauthors on the article "Direct Mapping of Acoustics to Phonology: On the Lexical Encoding of Front Rounded Vowels in L1 English-- L2 French acquisition" has taught courses on both the German language and constructed languages at Indiana University-Bloomington?</a:t>
            </a:r>
          </a:p>
        </p:txBody>
      </p:sp>
      <p:sp>
        <p:nvSpPr>
          <p:cNvPr id="6"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例6 共著者から授業の担当者を探す：日本語訳と回答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94360" y="1380744"/>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5" name="japanese-question"/>
          <p:cNvSpPr txBox="1"/>
          <p:nvPr/>
        </p:nvSpPr>
        <p:spPr>
          <a:xfrm>
            <a:off x="594360" y="1609344"/>
            <a:ext cx="7955279" cy="1456055"/>
          </a:xfrm>
          <a:prstGeom prst="rect">
            <a:avLst/>
          </a:prstGeom>
          <a:noFill/>
        </p:spPr>
        <p:txBody>
          <a:bodyPr wrap="square" lIns="0" rIns="0" tIns="0" bIns="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Isabelle Darcyの2012年の論文「Direct Mapping of Acoustics to Phonology: On the Lexical Encoding of Front Rounded Vowels in L1 English-- L2 French acquisition」の共著者のうち、インディアナ大学ブルーミントン校でドイツ語と人工言語の両方の授業を担当したことがあるのは誰か。</a:t>
            </a:r>
          </a:p>
        </p:txBody>
      </p:sp>
      <p:sp>
        <p:nvSpPr>
          <p:cNvPr id="6" name="expected-answer"/>
          <p:cNvSpPr txBox="1"/>
          <p:nvPr/>
        </p:nvSpPr>
        <p:spPr>
          <a:xfrm>
            <a:off x="594360" y="3156839"/>
            <a:ext cx="7955279" cy="428117"/>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参照回答：John H.G. Scott</a:t>
            </a:r>
          </a:p>
        </p:txBody>
      </p:sp>
      <p:sp>
        <p:nvSpPr>
          <p:cNvPr id="7" name="example-explanation"/>
          <p:cNvSpPr txBox="1"/>
          <p:nvPr/>
        </p:nvSpPr>
        <p:spPr>
          <a:xfrm>
            <a:off x="594360" y="3676395"/>
            <a:ext cx="7955279" cy="670814"/>
          </a:xfrm>
          <a:prstGeom prst="rect">
            <a:avLst/>
          </a:prstGeom>
          <a:noFill/>
        </p:spPr>
        <p:txBody>
          <a:bodyPr wrap="square" lIns="0" rIns="0" tIns="0" bIns="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論文の共著者を確認してから、各人の担当授業を調べる。「人工言語」は、人が意図的に設計した言語を指す。</a:t>
            </a:r>
          </a:p>
        </p:txBody>
      </p:sp>
      <p:sp>
        <p:nvSpPr>
          <p:cNvPr id="8"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9"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John H.G. Scott (2026-10-25参照), Teaching. </a:t>
            </a:r>
            <a:r>
              <a:rPr sz="800" b="0" lang="ja-JP" altLang="en-US">
                <a:solidFill>
                  <a:srgbClr val="626669"/>
                </a:solidFill>
                <a:latin typeface="Noto Sans"/>
                <a:ea typeface="Noto Sans CJK JP"/>
                <a:cs typeface="Noto Sans"/>
                <a:hlinkClick r:id="rId3"/>
              </a:rPr>
              <a:t>https://www.johnhgscott.com/teaching.html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首都以外の都市で開かれた万博</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5763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Consider all European cities that have ever hosted a World Expo (up to and including 2020) according to the Bureau International des Expositions (not Specialized Expos) but are not the capital of their respective country. List the year of the most recent World Expo hosted by each of those cities that are on the Iberian Peninsula.</a:t>
            </a:r>
          </a:p>
        </p:txBody>
      </p:sp>
      <p:sp>
        <p:nvSpPr>
          <p:cNvPr id="6"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例7 首都以外の都市で開かれた万博：日本語訳と回答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94360" y="1380744"/>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5" name="japanese-question"/>
          <p:cNvSpPr txBox="1"/>
          <p:nvPr/>
        </p:nvSpPr>
        <p:spPr>
          <a:xfrm>
            <a:off x="594360" y="1609344"/>
            <a:ext cx="7955279" cy="1188212"/>
          </a:xfrm>
          <a:prstGeom prst="rect">
            <a:avLst/>
          </a:prstGeom>
          <a:noFill/>
        </p:spPr>
        <p:txBody>
          <a:bodyPr wrap="square" lIns="0" rIns="0" tIns="0" bIns="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国際博覧会事務局（BIE）による2020年までのWorld Expoの開催都市から、その国の首都ではないヨーロッパの都市を考える。イベリア半島にある該当都市について、それぞれで最も最近開かれたWorld Expoの開催年を挙げよ。Specialized Expoは含めない。</a:t>
            </a:r>
          </a:p>
        </p:txBody>
      </p:sp>
      <p:sp>
        <p:nvSpPr>
          <p:cNvPr id="6" name="expected-answer"/>
          <p:cNvSpPr txBox="1"/>
          <p:nvPr/>
        </p:nvSpPr>
        <p:spPr>
          <a:xfrm>
            <a:off x="594360" y="2888996"/>
            <a:ext cx="7955279" cy="428117"/>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参照回答：1929年、1992年</a:t>
            </a:r>
          </a:p>
        </p:txBody>
      </p:sp>
      <p:sp>
        <p:nvSpPr>
          <p:cNvPr id="7" name="example-explanation"/>
          <p:cNvSpPr txBox="1"/>
          <p:nvPr/>
        </p:nvSpPr>
        <p:spPr>
          <a:xfrm>
            <a:off x="594360" y="3408553"/>
            <a:ext cx="7955279" cy="670814"/>
          </a:xfrm>
          <a:prstGeom prst="rect">
            <a:avLst/>
          </a:prstGeom>
          <a:noFill/>
        </p:spPr>
        <p:txBody>
          <a:bodyPr wrap="square" lIns="0" rIns="0" tIns="0" bIns="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該当する開催都市はバルセロナとセビリア。World ExpoとSpecialized Expoの区分を確認し、開催年と都市を対応させる。</a:t>
            </a:r>
          </a:p>
        </p:txBody>
      </p:sp>
      <p:sp>
        <p:nvSpPr>
          <p:cNvPr id="8"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9"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BIE (2026-10-25参照), All World Expos. </a:t>
            </a:r>
            <a:r>
              <a:rPr sz="800" b="0" lang="ja-JP" altLang="en-US">
                <a:solidFill>
                  <a:srgbClr val="626669"/>
                </a:solidFill>
                <a:latin typeface="Noto Sans"/>
                <a:ea typeface="Noto Sans CJK JP"/>
                <a:cs typeface="Noto Sans"/>
                <a:hlinkClick r:id="rId3"/>
              </a:rPr>
              <a:t>https://www.bie-paris.org/site/en/all-world-expos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画材と描かれた場所で絞る作品</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Which of Georgia O’Keeffe's works at the Art Institute of Chicago, as of June 2024, were landscapes of New Mexico created before 1940 with oil painting?</a:t>
            </a:r>
          </a:p>
        </p:txBody>
      </p:sp>
      <p:sp>
        <p:nvSpPr>
          <p:cNvPr id="6" name="TextBox 5"/>
          <p:cNvSpPr txBox="1"/>
          <p:nvPr/>
        </p:nvSpPr>
        <p:spPr>
          <a:xfrm>
            <a:off x="594360" y="2693352"/>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2876232"/>
            <a:ext cx="7955279" cy="586994"/>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2024年6月時点のシカゴ美術館の所蔵品のうち、Georgia O’Keeffeが1940年より前に制作した、ニューメキシコの風景を描いた油彩作品はどれか。</a:t>
            </a:r>
          </a:p>
        </p:txBody>
      </p:sp>
      <p:sp>
        <p:nvSpPr>
          <p:cNvPr id="8" name="expected-answer"/>
          <p:cNvSpPr txBox="1"/>
          <p:nvPr/>
        </p:nvSpPr>
        <p:spPr>
          <a:xfrm>
            <a:off x="594360" y="3518090"/>
            <a:ext cx="7955279" cy="721105"/>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参照回答：Red Hills with Flowers（1937年）</a:t>
            </a:r>
          </a:p>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Black Cross, New Mexico（1929年）</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Art Institute of Chicago (2026-10-25参照), Collection. </a:t>
            </a:r>
            <a:r>
              <a:rPr sz="800" b="0" lang="ja-JP" altLang="en-US">
                <a:solidFill>
                  <a:srgbClr val="626669"/>
                </a:solidFill>
                <a:latin typeface="Noto Sans"/>
                <a:ea typeface="Noto Sans CJK JP"/>
                <a:cs typeface="Noto Sans"/>
                <a:hlinkClick r:id="rId3"/>
              </a:rPr>
              <a:t>https://www.artic.edu/collection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二人分の身長を比較する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Which combined height is greater? Those of the two tallest players on the 2022-2023 Lehman College basketball team, or their counterparts on the 2023-2024?</a:t>
            </a:r>
          </a:p>
        </p:txBody>
      </p:sp>
      <p:sp>
        <p:nvSpPr>
          <p:cNvPr id="6" name="TextBox 5"/>
          <p:cNvSpPr txBox="1"/>
          <p:nvPr/>
        </p:nvSpPr>
        <p:spPr>
          <a:xfrm>
            <a:off x="594360" y="2693352"/>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2876232"/>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レーマン・カレッジのバスケットボールチームで、2022–2023シーズンの身長が高い上位2人と、2023–2024シーズンの上位2人では、身長の合計はどちらが大きいか。</a:t>
            </a:r>
          </a:p>
        </p:txBody>
      </p:sp>
      <p:sp>
        <p:nvSpPr>
          <p:cNvPr id="8" name="expected-answer"/>
          <p:cNvSpPr txBox="1"/>
          <p:nvPr/>
        </p:nvSpPr>
        <p:spPr>
          <a:xfrm>
            <a:off x="594360" y="3771455"/>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参照回答：2023–2024シーズンの上位2人</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41275"/>
            <a:ext cx="8183879" cy="206213"/>
          </a:xfrm>
          <a:prstGeom prst="rect">
            <a:avLst/>
          </a:prstGeom>
          <a:noFill/>
        </p:spPr>
        <p:txBody>
          <a:bodyPr wrap="square" lIns="0" rIns="0" tIns="23333"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Lehman College Athletics (2023), 2023-24 Men’s Basketball Roster. </a:t>
            </a:r>
            <a:r>
              <a:rPr sz="800" b="0" lang="ja-JP" altLang="en-US">
                <a:solidFill>
                  <a:srgbClr val="626669"/>
                </a:solidFill>
                <a:latin typeface="Noto Sans"/>
                <a:ea typeface="Noto Sans CJK JP"/>
                <a:cs typeface="Noto Sans"/>
                <a:hlinkClick r:id="rId3"/>
              </a:rPr>
              <a:t>https://lehmanathletics.com/sports/mens-basketball/roster/2023-24</a:t>
            </a:r>
          </a:p>
        </p:txBody>
      </p:sp>
      <p:sp>
        <p:nvSpPr>
          <p:cNvPr id="11" name="specific-evidence"/>
          <p:cNvSpPr txBox="1"/>
          <p:nvPr/>
        </p:nvSpPr>
        <p:spPr>
          <a:xfrm>
            <a:off x="594360" y="4160520"/>
            <a:ext cx="7955279" cy="457200"/>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上位2人の身長の合計は、2022–2023が156インチ、2023–2024が158インチ。</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二つの賞に共通する受賞者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7829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Who has won a Ripple of Hope Award before the year 2017 and has also won a Nobel Prize before the year 2010?</a:t>
            </a:r>
          </a:p>
        </p:txBody>
      </p:sp>
      <p:sp>
        <p:nvSpPr>
          <p:cNvPr id="6" name="TextBox 5"/>
          <p:cNvSpPr txBox="1"/>
          <p:nvPr/>
        </p:nvSpPr>
        <p:spPr>
          <a:xfrm>
            <a:off x="594360" y="2428875"/>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2611755"/>
            <a:ext cx="7955279" cy="586994"/>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2017年より前にRipple of Hope Awardを受賞し、かつ2010年より前にノーベル賞を受賞した人は誰か。</a:t>
            </a:r>
          </a:p>
        </p:txBody>
      </p:sp>
      <p:sp>
        <p:nvSpPr>
          <p:cNvPr id="8" name="expected-answer"/>
          <p:cNvSpPr txBox="1"/>
          <p:nvPr/>
        </p:nvSpPr>
        <p:spPr>
          <a:xfrm>
            <a:off x="594360" y="3253613"/>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参照回答：Al Gore、Muhammad Yunus、Desmond Tutu</a:t>
            </a:r>
          </a:p>
        </p:txBody>
      </p:sp>
      <p:sp>
        <p:nvSpPr>
          <p:cNvPr id="9" name="example-explanation"/>
          <p:cNvSpPr txBox="1"/>
          <p:nvPr/>
        </p:nvSpPr>
        <p:spPr>
          <a:xfrm>
            <a:off x="594360" y="3700018"/>
            <a:ext cx="7955279" cy="62356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二つの賞の受賞者一覧と受賞年を照合する。該当する3人のノーベル平和賞は、それぞれ2007年、2006年、1984年だった。</a:t>
            </a:r>
          </a:p>
        </p:txBody>
      </p:sp>
      <p:sp>
        <p:nvSpPr>
          <p:cNvPr id="10"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1"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RFK Human Rights (2026-10-25参照), Ripple of Hope Awards. </a:t>
            </a:r>
            <a:r>
              <a:rPr sz="800" b="0" lang="ja-JP" altLang="en-US">
                <a:solidFill>
                  <a:srgbClr val="626669"/>
                </a:solidFill>
                <a:latin typeface="Noto Sans"/>
                <a:ea typeface="Noto Sans CJK JP"/>
                <a:cs typeface="Noto Sans"/>
                <a:hlinkClick r:id="rId3"/>
              </a:rPr>
              <a:t>https://rfkhumanrights.org/our-programs/ripple-of-hope-awards/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肩書と研究歴から編集者を探す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3119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Who is the Associate Editor of the SBL Study Bible who is a graduate of the University of Chicago, who teaches at a public university in Florida, and who co-authored an article on the Qumran manuscripts  in 2014 with Dennis Duke?</a:t>
            </a:r>
          </a:p>
        </p:txBody>
      </p:sp>
      <p:sp>
        <p:nvSpPr>
          <p:cNvPr id="6" name="TextBox 5"/>
          <p:cNvSpPr txBox="1"/>
          <p:nvPr/>
        </p:nvSpPr>
        <p:spPr>
          <a:xfrm>
            <a:off x="594360" y="2957830"/>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3140710"/>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SBL Study Bibleの編集委員（Associate Editor）のうち、シカゴ大学の卒業生で、フロリダ州の公立大学で教え、2014年にDennis Dukeとクムラン文書に関する論文を共著したのは誰か。</a:t>
            </a:r>
          </a:p>
        </p:txBody>
      </p:sp>
      <p:sp>
        <p:nvSpPr>
          <p:cNvPr id="8" name="expected-answer"/>
          <p:cNvSpPr txBox="1"/>
          <p:nvPr/>
        </p:nvSpPr>
        <p:spPr>
          <a:xfrm>
            <a:off x="594360" y="4035933"/>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参照回答：Matthew Goff</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Florida State University (2026-10-25参照), Matthew Goff. </a:t>
            </a:r>
            <a:r>
              <a:rPr sz="800" b="0" lang="ja-JP" altLang="en-US">
                <a:solidFill>
                  <a:srgbClr val="626669"/>
                </a:solidFill>
                <a:latin typeface="Noto Sans"/>
                <a:ea typeface="Noto Sans CJK JP"/>
                <a:cs typeface="Noto Sans"/>
                <a:hlinkClick r:id="rId3"/>
              </a:rPr>
              <a:t>https://religion.fsu.edu/person/matthew-goff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同じ執筆者の最初の記事を探す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3119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Look at the Smithsonian Libraries and Archives official blog titled “Unbound”. Among the September 2023 posts is an article titled "Exploring Yellowstone in 1919". What was the title of the first Unbound blog post written by the author of "Exploring Yellowstone in 1919"?</a:t>
            </a:r>
          </a:p>
        </p:txBody>
      </p:sp>
      <p:sp>
        <p:nvSpPr>
          <p:cNvPr id="6" name="TextBox 5"/>
          <p:cNvSpPr txBox="1"/>
          <p:nvPr/>
        </p:nvSpPr>
        <p:spPr>
          <a:xfrm>
            <a:off x="594360" y="2957830"/>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3140710"/>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スミソニアン図書館・文書館の公式ブログ「Unbound」の2023年9月の記事に「Exploring Yellowstone in 1919」がある。その執筆者がUnboundで最初に書いた記事の題名は何か。</a:t>
            </a:r>
          </a:p>
        </p:txBody>
      </p:sp>
      <p:sp>
        <p:nvSpPr>
          <p:cNvPr id="8" name="expected-answer"/>
          <p:cNvSpPr txBox="1"/>
          <p:nvPr/>
        </p:nvSpPr>
        <p:spPr>
          <a:xfrm>
            <a:off x="594360" y="4035933"/>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参照回答：Chocolate Rabbits and…Elephants!</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33153"/>
            <a:ext cx="8183879" cy="214335"/>
          </a:xfrm>
          <a:prstGeom prst="rect">
            <a:avLst/>
          </a:prstGeom>
          <a:noFill/>
        </p:spPr>
        <p:txBody>
          <a:bodyPr wrap="square" lIns="0" rIns="0" tIns="31455"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Smithsonian Libraries and Archives (2026-10-25参照), Unbound. </a:t>
            </a:r>
            <a:r>
              <a:rPr sz="800" b="0" lang="ja-JP" altLang="en-US">
                <a:solidFill>
                  <a:srgbClr val="626669"/>
                </a:solidFill>
                <a:latin typeface="Noto Sans"/>
                <a:ea typeface="Noto Sans CJK JP"/>
                <a:cs typeface="Noto Sans"/>
                <a:hlinkClick r:id="rId3"/>
              </a:rPr>
              <a:t>https://blog.library.si.edu/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受験率と平均点で州を選ぶ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質問の原文（全文）</a:t>
            </a:r>
          </a:p>
        </p:txBody>
      </p:sp>
      <p:sp>
        <p:nvSpPr>
          <p:cNvPr id="5" name="quote-frame"/>
          <p:cNvSpPr/>
          <p:nvPr/>
        </p:nvSpPr>
        <p:spPr>
          <a:xfrm>
            <a:off x="548640" y="1554480"/>
            <a:ext cx="8046720" cy="13119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Determine which states had an ACT participation rate of 50% or higher for the graduating class of 2023 and received an average composite score of 20 or above. What percentage of each state's students met the science benchmark?</a:t>
            </a:r>
          </a:p>
        </p:txBody>
      </p:sp>
      <p:sp>
        <p:nvSpPr>
          <p:cNvPr id="6" name="TextBox 5"/>
          <p:cNvSpPr txBox="1"/>
          <p:nvPr/>
        </p:nvSpPr>
        <p:spPr>
          <a:xfrm>
            <a:off x="594360" y="2957830"/>
            <a:ext cx="7955279" cy="16459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質問の日本語訳</a:t>
            </a:r>
          </a:p>
        </p:txBody>
      </p:sp>
      <p:sp>
        <p:nvSpPr>
          <p:cNvPr id="7" name="japanese-question"/>
          <p:cNvSpPr txBox="1"/>
          <p:nvPr/>
        </p:nvSpPr>
        <p:spPr>
          <a:xfrm>
            <a:off x="594360" y="3140710"/>
            <a:ext cx="7955279" cy="840359"/>
          </a:xfrm>
          <a:prstGeom prst="rect">
            <a:avLst/>
          </a:prstGeom>
          <a:noFill/>
        </p:spPr>
        <p:txBody>
          <a:bodyPr wrap="square" lIns="0" rIns="0" tIns="0" bIns="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2023年の高校卒業者について、米国の大学進学適性試験ACTの受験率が50%以上、平均総合点が20点以上だった州を特定せよ。それぞれの州で、ACT受験者のうち理科の到達基準を満たしたのは何%だったか。</a:t>
            </a:r>
          </a:p>
        </p:txBody>
      </p:sp>
      <p:sp>
        <p:nvSpPr>
          <p:cNvPr id="8" name="expected-answer"/>
          <p:cNvSpPr txBox="1"/>
          <p:nvPr/>
        </p:nvSpPr>
        <p:spPr>
          <a:xfrm>
            <a:off x="594360" y="4035933"/>
            <a:ext cx="7955279" cy="409829"/>
          </a:xfrm>
          <a:prstGeom prst="rect">
            <a:avLst/>
          </a:prstGeom>
          <a:noFill/>
        </p:spPr>
        <p:txBody>
          <a:bodyPr wrap="square" lIns="0" rIns="0" tIns="0" bIns="0">
            <a:noAutofit/>
          </a:bodyPr>
          <a:lstStyle/>
          <a:p>
            <a:pPr algn="l">
              <a:lnSpc>
                <a:spcPts val="2451"/>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参照回答：ミネソタ州41%、サウスダコタ州41%</a:t>
            </a:r>
          </a:p>
        </p:txBody>
      </p:sp>
      <p:sp>
        <p:nvSpPr>
          <p:cNvPr id="9"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
        <p:nvSpPr>
          <p:cNvPr id="10" name="source-2"/>
          <p:cNvSpPr txBox="1"/>
          <p:nvPr/>
        </p:nvSpPr>
        <p:spPr>
          <a:xfrm>
            <a:off x="502920" y="4840767"/>
            <a:ext cx="8183879" cy="206721"/>
          </a:xfrm>
          <a:prstGeom prst="rect">
            <a:avLst/>
          </a:prstGeom>
          <a:noFill/>
        </p:spPr>
        <p:txBody>
          <a:bodyPr wrap="square" lIns="0" rIns="0" tIns="2384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ACT (2023), Average ACT Scores by State. </a:t>
            </a:r>
            <a:r>
              <a:rPr sz="800" b="0" lang="ja-JP" altLang="en-US">
                <a:solidFill>
                  <a:srgbClr val="626669"/>
                </a:solidFill>
                <a:latin typeface="Noto Sans"/>
                <a:ea typeface="Noto Sans CJK JP"/>
                <a:cs typeface="Noto Sans"/>
                <a:hlinkClick r:id="rId3"/>
              </a:rPr>
              <a:t>https://www.act.org/content/dam/act/unsecured/documents/2023-Average-ACT-Scores-by-State.pdf</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分野の内訳と周辺の課題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分野の内訳と周辺の課題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公開900問の分野別内訳（1/3）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分野の内訳と周辺の課題</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4572000"/>
                <a:gridCol w="2011680"/>
                <a:gridCol w="1463040"/>
              </a:tblGrid>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配布データの分野名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日本語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設問数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Politics &amp; Government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政治・行政</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148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Finance &amp; Economics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金融・経済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132</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Geography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地理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Education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教育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94</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Health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健康</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92</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Science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科学</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公開900問の分野別内訳（2/3）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分野の内訳と周辺の課題</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4572000"/>
                <a:gridCol w="2011680"/>
                <a:gridCol w="1463040"/>
              </a:tblGrid>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配布データの分野名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日本語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設問数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Other</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その他</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History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歴史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Travel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旅行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36</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Media &amp; Entertainment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メディア・娯楽</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29</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Arts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芸術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26</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Technology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技術</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公開900問の分野別内訳（3/3）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分野の内訳と周辺の課題</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4572000"/>
                <a:gridCol w="2011680"/>
                <a:gridCol w="1463040"/>
              </a:tblGrid>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配布データの分野名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日本語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設問数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Sports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スポーツ</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Current Events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時事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Biology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生物学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Linguistics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言語学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Arts &amp; Entertainment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芸術・娯楽</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77629"/>
            <a:ext cx="8183879" cy="214411"/>
          </a:xfrm>
          <a:prstGeom prst="rect">
            <a:avLst/>
          </a:prstGeom>
          <a:noFill/>
        </p:spPr>
        <p:txBody>
          <a:bodyPr wrap="square" lIns="0" rIns="0" tIns="3153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Google DeepMind (2026-10-25参照), DeepSearchQA. </a:t>
            </a:r>
            <a:r>
              <a:rPr sz="800" b="0" lang="ja-JP" altLang="en-US">
                <a:solidFill>
                  <a:srgbClr val="626669"/>
                </a:solidFill>
                <a:latin typeface="Noto Sans"/>
                <a:ea typeface="Noto Sans CJK JP"/>
                <a:cs typeface="Noto Sans"/>
                <a:hlinkClick r:id="rId2"/>
              </a:rPr>
              <a:t>https://huggingface.co/datasets/google/deepsearchqa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単一の答えを探す課題から、回答集合の評価へ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分野の内訳と周辺の課題</a:t>
            </a:r>
          </a:p>
        </p:txBody>
      </p:sp>
      <p:graphicFrame>
        <p:nvGraphicFramePr>
          <p:cNvPr id="4" name="Table 3"/>
          <p:cNvGraphicFramePr>
            <a:graphicFrameLocks noGrp="1"/>
          </p:cNvGraphicFramePr>
          <p:nvPr/>
        </p:nvGraphicFramePr>
        <p:xfrm>
          <a:off x="548640" y="1508760"/>
          <a:ext cx="8046720" cy="2247645"/>
        </p:xfrm>
        <a:graphic>
          <a:graphicData uri="http://schemas.openxmlformats.org/drawingml/2006/table">
            <a:tbl>
              <a:tblPr firstRow="0" bandRow="0"/>
              <a:tblGrid>
                <a:gridCol w="3108960"/>
                <a:gridCol w="4937760"/>
              </a:tblGrid>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中心となる課題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SimpleQA Verified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短い質問に対する、一つの事実の正確さ</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BrowseComp</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見つけにくい事実を探す、単一回答の検索</a:t>
                      </a:r>
                    </a:p>
                  </a:txBody>
                  <a:tcPr marL="63500" marR="63500" marT="38100" marB="38100" anchor="ctr">
                    <a:lnL w="7620">
                      <a:noFill/>
                    </a:lnL>
                    <a:lnR w="7620">
                      <a:noFill/>
                    </a:lnR>
                    <a:lnT w="7620">
                      <a:noFill/>
                    </a:lnT>
                    <a:lnB w="7620">
                      <a:noFill/>
                    </a:lnB>
                    <a:solidFill>
                      <a:srgbClr val="FFFEF8"/>
                    </a:solidFill>
                  </a:tcPr>
                </a:tc>
              </a:tr>
              <a:tr h="656589">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DeepSearchQA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条件に合う回答の集合を集め、その過不足を採点</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85751"/>
            <a:ext cx="8183879" cy="206289"/>
          </a:xfrm>
          <a:prstGeom prst="rect">
            <a:avLst/>
          </a:prstGeom>
          <a:noFill/>
        </p:spPr>
        <p:txBody>
          <a:bodyPr wrap="square" lIns="0" rIns="0" tIns="2340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Gupta et al. (2026), DeepSearchQA. </a:t>
            </a:r>
            <a:r>
              <a:rPr sz="800" b="0" lang="ja-JP" altLang="en-US">
                <a:solidFill>
                  <a:srgbClr val="626669"/>
                </a:solidFill>
                <a:latin typeface="Noto Sans"/>
                <a:ea typeface="Noto Sans CJK JP"/>
                <a:cs typeface="Noto Sans"/>
                <a:hlinkClick r:id="rId2"/>
              </a:rPr>
              <a:t>https://arxiv.org/abs/2601.20975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DeepSearchQA: Bridging the Comprehensiveness Gap for Deep Research Agents"/>
          <p:cNvSpPr txBox="1"/>
          <p:nvPr/>
        </p:nvSpPr>
        <p:spPr>
          <a:xfrm>
            <a:off x="548640" y="1463040"/>
            <a:ext cx="8046720" cy="1579502"/>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DeepSearchQA: Bridging the Comprehensiveness Gap for Deep Research Agents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Nikita Gupta et al. (2026), arXiv:2601.20975.</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900問の構築、複数項目の採点方法、公開時の実験を報告する。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https://arxiv.org/abs/2601.20975</a:t>
            </a:r>
          </a:p>
        </p:txBody>
      </p:sp>
      <p:sp>
        <p:nvSpPr>
          <p:cNvPr id="5" name="文献 2: Build with Gemini Deep Research"/>
          <p:cNvSpPr txBox="1"/>
          <p:nvPr/>
        </p:nvSpPr>
        <p:spPr>
          <a:xfrm>
            <a:off x="548640" y="3260280"/>
            <a:ext cx="8046720" cy="123219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Build with Gemini Deep Research</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Lukas Haas &amp; Shrestha Basu Mallick (2025), The Keyword / Google.</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Gemini Deep Researchとともに、DeepSearchQAの公開を紹介する。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https://blog.google/technology/developers/deep-research-agent-gemini-api/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DeepSearchQA"/>
          <p:cNvSpPr txBox="1"/>
          <p:nvPr/>
        </p:nvSpPr>
        <p:spPr>
          <a:xfrm>
            <a:off x="548640" y="1463040"/>
            <a:ext cx="8046720" cy="1232093"/>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DeepSearchQA</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Google DeepMind (n.d.; 2026-10-25参照), Hugging Face. Apache License 2.0.</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質問、分野、参照回答、回答形式を含む900問のCSVを配布する。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https://huggingface.co/datasets/google/deepsearchqa</a:t>
            </a:r>
          </a:p>
        </p:txBody>
      </p:sp>
      <p:sp>
        <p:nvSpPr>
          <p:cNvPr id="5" name="文献 2: DeepSearchQA Starter Code"/>
          <p:cNvSpPr txBox="1"/>
          <p:nvPr/>
        </p:nvSpPr>
        <p:spPr>
          <a:xfrm>
            <a:off x="548640" y="2913100"/>
            <a:ext cx="8046720" cy="1231954"/>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DeepSearchQA Starter Code</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Andrew Wang (n.d.; 2026-10-25参照), Kaggle.</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意味の一致と余分な回答を判定し、設問ごとの指標を集約する。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https://www.kaggle.com/code/andrewmingwang/deepsearchqa-starter-code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DeepSearchQA Leaderboard"/>
          <p:cNvSpPr txBox="1"/>
          <p:nvPr/>
        </p:nvSpPr>
        <p:spPr>
          <a:xfrm>
            <a:off x="548640" y="1463040"/>
            <a:ext cx="8046720" cy="1232093"/>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DeepSearchQA Leaderboard</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Google / Kaggle (n.d.; 2026-10-25参照).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完全正解率、すべて不正解の割合、余分な回答、F1を掲載する。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https://www.kaggle.com/benchmarks/google/dsqa/leaderboard</a:t>
            </a:r>
          </a:p>
        </p:txBody>
      </p:sp>
      <p:sp>
        <p:nvSpPr>
          <p:cNvPr id="5" name="文献 2: Kimi K3 Model Card"/>
          <p:cNvSpPr txBox="1"/>
          <p:nvPr/>
        </p:nvSpPr>
        <p:spPr>
          <a:xfrm>
            <a:off x="548640" y="2913100"/>
            <a:ext cx="8046720" cy="1231954"/>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Kimi K3 Model Card</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Moonshot AI (2026), Hugging Face.</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2026年のモデル比較と、DeepSearchQAのF1を掲載する。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https://huggingface.co/moonshotai/Kimi-K3</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2026-10-25T06:30:10Z</dcterms:modified>
  <dc:title>deepsearchqa</dc:title>
  <dc:creator>sasakiy84</dc:creator>
  <dcterms:created xsi:type="dcterms:W3CDTF">2026-10-25T06:30:10Z</dcterms:created>
  <dc:language>ja-JP</dc:language>
</cp:coreProperties>
</file>