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huggingface.co/datasets/opendatalab/OmniDocBench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12.07626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opendatalab/OmniDocBench/blob/main/tools/model_infer/gpt_5.2_img2md.py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hyperlink" Target="https://huggingface.co/datasets/opendatalab/OmniDocBench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datalab/OmniDocBench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hyperlink" Target="https://huggingface.co/datasets/opendatalab/OmniDocBench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datalab/OmniDocBench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hyperlink" Target="https://huggingface.co/datasets/opendatalab/OmniDocBench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datalab/OmniDocBench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opendatalab/OmniDocBench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opendatalab/OmniDocBench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opendatalab/OmniDocBench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opendatalab/OmniDocBench/tree/main/metrics/cdm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opendatalab/OmniDocBench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opendatalab/OmniDocBench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opendatalab/OmniDocBench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12.07626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opendatalab/OmniDocBench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opendatalab/OmniDocBench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datalab/OmniDocBench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opendatalab/OmniDocBench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opendatalab/OmniDocBench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Relationship Id="rId3" Type="http://schemas.openxmlformats.org/officeDocument/2006/relationships/hyperlink" Target="https://huggingface.co/datasets/opendatalab/OmniDocBench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datalab/OmniDocBench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hyperlink" Target="https://huggingface.co/datasets/opendatalab/OmniDocBench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datalab/OmniDocBench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Relationship Id="rId3" Type="http://schemas.openxmlformats.org/officeDocument/2006/relationships/hyperlink" Target="https://huggingface.co/datasets/opendatalab/OmniDocBench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datalab/OmniDocBench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Relationship Id="rId3" Type="http://schemas.openxmlformats.org/officeDocument/2006/relationships/hyperlink" Target="https://huggingface.co/datasets/opendatalab/OmniDocBench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datalab/OmniDocBench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hyperlink" Target="https://huggingface.co/datasets/opendatalab/OmniDocBench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datalab/OmniDocBench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hyperlink" Target="https://huggingface.co/datasets/opendatalab/OmniDocBench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datalab/OmniDocBench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hyperlink" Target="https://huggingface.co/datasets/opendatalab/OmniDocBench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datalab/OmniDocBench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Relationship Id="rId3" Type="http://schemas.openxmlformats.org/officeDocument/2006/relationships/hyperlink" Target="https://huggingface.co/datasets/opendatalab/OmniDocBench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datalab/OmniDocBench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Relationship Id="rId3" Type="http://schemas.openxmlformats.org/officeDocument/2006/relationships/hyperlink" Target="https://huggingface.co/datasets/opendatalab/OmniDocBench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datalab/OmniDocBench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Relationship Id="rId3" Type="http://schemas.openxmlformats.org/officeDocument/2006/relationships/hyperlink" Target="https://huggingface.co/datasets/opendatalab/OmniDocBench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datalab/OmniDocBench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datalab/OmniDocBench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datalab/OmniDocBench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datalab/OmniDocBench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datalab/OmniDocBench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datalab/OmniDocBench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12.07626" TargetMode="Externa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datalab/OmniDocBench" TargetMode="Externa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12.07626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12.07626" TargetMode="External"/><Relationship Id="rId3" Type="http://schemas.openxmlformats.org/officeDocument/2006/relationships/hyperlink" Target="https://huggingface.co/datasets/opendatalab/OmniDocBench" TargetMode="Externa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opendatalab/OmniDocBench" TargetMode="External"/><Relationship Id="rId3" Type="http://schemas.openxmlformats.org/officeDocument/2006/relationships/hyperlink" Target="https://github.com/opendatalab/OmniDocBench/tree/main/metrics/cd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734068"/>
            <a:ext cx="8046720" cy="859536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200" b="0">
                <a:solidFill>
                  <a:srgbClr val="303437"/>
                </a:solidFill>
                <a:latin typeface="Noto Sans"/>
              </a:defRPr>
            </a:pPr>
            <a:r>
              <a:rPr sz="5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OmniDocBench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105668"/>
            <a:ext cx="8046720" cy="859536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PDFのページから本文・表・数式を取り出す
文書解析の正解注釈と評価方法を読む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6766560" y="4489704"/>
            <a:ext cx="1828800" cy="365760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658368" y="274320"/>
            <a:ext cx="7772400" cy="36576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OmniDocBenchの公式配布ページ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OmniDocBench: 公開データ</a:t>
            </a:r>
          </a:p>
        </p:txBody>
      </p:sp>
      <p:pic>
        <p:nvPicPr>
          <p:cNvPr id="4" name="Picture 3" descr="hf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570" y="1481328"/>
            <a:ext cx="4594859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 (2026年10月参照). OmniDocBench: 公式配布・データカード。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226434"/>
            <a:ext cx="7772400" cy="2846324"/>
          </a:xfrm>
        </p:spPr>
        <p:txBody>
          <a:bodyPr lIns="0" rIns="0" tIns="0" bIns="0" wrap="square">
            <a:noAutofit/>
          </a:bodyPr>
          <a:lstStyle/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1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ページから本文・表・数式を取り出す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2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採点とモデルの到達水準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3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作成工程とバージョンの更新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4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配布形式と利用方法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ページから本文・表・数式を取り出す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ページから本文・表・数式を取り出す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文書の見た目から、読みやすい構造を復元する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OmniDocBenchは、PDFのページ画像から、本文、表、数式などを取り出す文書解析の評価データ。2024年に公開され、CVPR 2025で発表された。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文字を認識するだけでなく、どの部分が見出しや本文か、表のセルがどう並ぶか、どの順序で読むかを扱う。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正解は、領域の位置、種類、読む順番と内容。ページ全体をMarkdownへ変換するモデルや、要素ごとの認識を評価できる。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ページから本文・表・数式を取り出す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Ouyang et al. (2025). OmniDocBench: Benchmarking Diverse PDF Document Parsing with Comprehensive Annotations. CVPR.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https://arxiv.org/abs/2412.07626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入力はページ画像、出力はMarkdown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公式の汎用モデル向け実装は、ページ画像と変換の指示を渡し、見出し・段落・リストを保ったMarkdownを出力させる。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本文は文字列、数式はLaTeX、表はHTMLで表す。画像の内容は記述せず、本文や表などの読み取りに集中する。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以下は公式配布から選んだ3ページ。赤枠の領域と、その正解注釈を続けて示す。Appendixには別の10ページを載せる。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ページから本文・表・数式を取り出す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OmniDocBench: GPT-5.2 PDF image → Markdown inference script.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https://github.com/opendatalab/OmniDocBench/blob/main/tools/model_infer/gpt_5.2_img2md.py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実例1：2段組みの学術論文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ページから本文・表・数式を取り出す</a:t>
            </a:r>
          </a:p>
        </p:txBody>
      </p:sp>
      <p:pic>
        <p:nvPicPr>
          <p:cNvPr id="4" name="Picture 3" descr="4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565" y="1463040"/>
            <a:ext cx="2343309" cy="3127248"/>
          </a:xfrm>
          <a:prstGeom prst="rect">
            <a:avLst/>
          </a:prstGeom>
        </p:spPr>
      </p:pic>
      <p:sp>
        <p:nvSpPr>
          <p:cNvPr id="5" name="注釈の位置"/>
          <p:cNvSpPr/>
          <p:nvPr/>
        </p:nvSpPr>
        <p:spPr>
          <a:xfrm>
            <a:off x="2895412" y="2125873"/>
            <a:ext cx="901607" cy="131638"/>
          </a:xfrm>
          <a:prstGeom prst="rect">
            <a:avLst/>
          </a:prstGeom>
          <a:noFill/>
          <a:ln w="1651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32120" y="160020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英語の学術論文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33172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赤枠：本文の一領域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3108960"/>
            <a:ext cx="2971800" cy="1325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段組みの中の一段落を取り出す。改行位置が変わっても、語と順序を保つ。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OmniDocBench / JSON行433（0始まり） / 注釈22。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実例1：領域の正解注釈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ページから本文・表・数式を取り出す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配布の正解注釈（選択した領域の全文）</a:t>
            </a:r>
          </a:p>
        </p:txBody>
      </p:sp>
      <p:sp>
        <p:nvSpPr>
          <p:cNvPr id="5" name="引用背景"/>
          <p:cNvSpPr/>
          <p:nvPr/>
        </p:nvSpPr>
        <p:spPr>
          <a:xfrm>
            <a:off x="548640" y="1811872"/>
            <a:ext cx="8046720" cy="1128712"/>
          </a:xfrm>
          <a:prstGeom prst="rect">
            <a:avLst/>
          </a:prstGeom>
          <a:solidFill>
            <a:srgbClr val="EB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引用本文"/>
          <p:cNvSpPr txBox="1"/>
          <p:nvPr/>
        </p:nvSpPr>
        <p:spPr>
          <a:xfrm>
            <a:off x="548640" y="1719072"/>
            <a:ext cx="8046720" cy="1463040"/>
          </a:xfrm>
          <a:prstGeom prst="rect">
            <a:avLst/>
          </a:prstGeom>
          <a:noFill/>
        </p:spPr>
        <p:txBody>
          <a:bodyPr wrap="square" lIns="177800" rIns="177800" tIns="177800" bIns="17780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XHPLC-28MR Programmable logical control was obtained from Changzhou Xionghua Automation Equipment Co. Ltd. (Changzhou, China).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38144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内容の要約：XHPLC-28MRという制御装置の入手先を述べた文。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OmniDocBench / JSON行433（0始まり） / 注釈22。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実例2：講義スライドの表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ページから本文・表・数式を取り出す</a:t>
            </a:r>
          </a:p>
        </p:txBody>
      </p:sp>
      <p:pic>
        <p:nvPicPr>
          <p:cNvPr id="4" name="Picture 3" descr="3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" y="1463040"/>
            <a:ext cx="4169663" cy="3127248"/>
          </a:xfrm>
          <a:prstGeom prst="rect">
            <a:avLst/>
          </a:prstGeom>
        </p:spPr>
      </p:pic>
      <p:sp>
        <p:nvSpPr>
          <p:cNvPr id="5" name="注釈の位置"/>
          <p:cNvSpPr/>
          <p:nvPr/>
        </p:nvSpPr>
        <p:spPr>
          <a:xfrm>
            <a:off x="1245011" y="2086245"/>
            <a:ext cx="3071394" cy="1189601"/>
          </a:xfrm>
          <a:prstGeom prst="rect">
            <a:avLst/>
          </a:prstGeom>
          <a:noFill/>
          <a:ln w="1651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32120" y="160020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英語の講義スライド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33172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赤枠：表の全領域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3108960"/>
            <a:ext cx="2971800" cy="1325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行と列を保ち、変数名、型、オフセット、スコープを表のセルへ対応させる。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OmniDocBench / JSON行300（0始まり） / 注釈1。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実例2：表の正解をセルの対応で読む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ページから本文・表・数式を取り出す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43200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1371600"/>
                <a:gridCol w="1737360"/>
                <a:gridCol w="2377440"/>
              </a:tblGrid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Name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Type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Offset</a:t>
                      </a:r>
                    </a:p>
                  </a:txBody>
                  <a:tcPr marL="63500" marR="2286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Scope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inGlobal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2286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global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inLocal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2286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main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outLocalA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-1</a:t>
                      </a:r>
                    </a:p>
                  </a:txBody>
                  <a:tcPr marL="63500" marR="2286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main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outLocalB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-2</a:t>
                      </a:r>
                    </a:p>
                  </a:txBody>
                  <a:tcPr marL="63500" marR="2286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main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OmniDocBench / JSON行300（0始まり） / 注釈1。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実例3：数値計算の独立数式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ページから本文・表・数式を取り出す</a:t>
            </a:r>
          </a:p>
        </p:txBody>
      </p:sp>
      <p:pic>
        <p:nvPicPr>
          <p:cNvPr id="4" name="Picture 3" descr="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87" y="1463040"/>
            <a:ext cx="2210064" cy="3127248"/>
          </a:xfrm>
          <a:prstGeom prst="rect">
            <a:avLst/>
          </a:prstGeom>
        </p:spPr>
      </p:pic>
      <p:sp>
        <p:nvSpPr>
          <p:cNvPr id="5" name="注釈の位置"/>
          <p:cNvSpPr/>
          <p:nvPr/>
        </p:nvSpPr>
        <p:spPr>
          <a:xfrm>
            <a:off x="2639599" y="3143623"/>
            <a:ext cx="290569" cy="61207"/>
          </a:xfrm>
          <a:prstGeom prst="rect">
            <a:avLst/>
          </a:prstGeom>
          <a:noFill/>
          <a:ln w="1651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32120" y="160020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英語の書籍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33172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赤枠：独立した数式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3108960"/>
            <a:ext cx="2971800" cy="1325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角括弧、丸括弧、下付きのkをLaTeXで表す。本文中の式から独立数式の領域を分ける。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OmniDocBench / JSON行8（0始まり） / 注釈box_id_9。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実例3：領域の正解注釈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ページから本文・表・数式を取り出す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配布の正解注釈（選択した領域の全文）</a:t>
            </a:r>
          </a:p>
        </p:txBody>
      </p:sp>
      <p:sp>
        <p:nvSpPr>
          <p:cNvPr id="5" name="引用背景"/>
          <p:cNvSpPr/>
          <p:nvPr/>
        </p:nvSpPr>
        <p:spPr>
          <a:xfrm>
            <a:off x="548640" y="1811872"/>
            <a:ext cx="8046720" cy="514553"/>
          </a:xfrm>
          <a:prstGeom prst="rect">
            <a:avLst/>
          </a:prstGeom>
          <a:solidFill>
            <a:srgbClr val="EB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引用本文"/>
          <p:cNvSpPr txBox="1"/>
          <p:nvPr/>
        </p:nvSpPr>
        <p:spPr>
          <a:xfrm>
            <a:off x="548640" y="1719072"/>
            <a:ext cx="8046720" cy="1463040"/>
          </a:xfrm>
          <a:prstGeom prst="rect">
            <a:avLst/>
          </a:prstGeom>
          <a:noFill/>
        </p:spPr>
        <p:txBody>
          <a:bodyPr wrap="square" lIns="177800" rIns="177800" tIns="177800" bIns="17780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$$f[x_k] = f(x_k),$$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38144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LaTeX注釈：f[x_k] = f(x_k)。角括弧と丸括弧の違いを残す。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OmniDocBench / JSON行8（0始まり） / 注釈box_id_9。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200" b="0">
                <a:solidFill>
                  <a:srgbClr val="303437"/>
                </a:solidFill>
                <a:latin typeface="Noto Sans"/>
              </a:defRPr>
            </a:pPr>
            <a:r>
              <a:rPr sz="3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採点とモデルの到達水準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採点とモデルの到達水準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ページの出力と正解の領域を対応させる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モデルが出したMarkdownを、本文・数式・表などへ分ける。正解の各領域に、対応する予測を割り当てて採点する。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同じ段落でも、モデルによって一つにまとめたり、複数へ分けたりする。現在の照合は、正解を固定し、予測側の分割の細かさを調整する。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本文、数式、表をそれぞれ採点し、総合点を作る。読む順番の編集距離は、別の指標として報告する。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採点とモデルの到達水準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 (2026年10月参照). OmniDocBench: 更新履歴・評価実装・公式比較。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https://github.com/opendatalab/OmniDocBench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本文：編集距離が小さいほどよい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編集距離（ED）は、正解の文字列へ直すために必要な、文字の挿入・削除・置換の回数。文字列の長さで正規化して比較する。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説明用の例では、正解abcに対する予測adcは1文字の置換。最大長3で割ると、正規化した編集距離は1/3になる。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総合点に反映する際は、(1 − 編集距離) × 100 に換算する。この例の本文の得点は約66.7点となる。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採点とモデルの到達水準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 (2026年10月参照). OmniDocBench: 更新履歴・評価実装・公式比較。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https://github.com/opendatalab/OmniDocBench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表：セルの構造と中身を比べる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TEDSは、表をHTMLの木構造へ変換し、予測を正解へ直す編集の量から類似度を求める。値が大きいほどよい。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行、セル、結合セルの構造と、セル内の文字を比べる。先ほどの表では、outLocalAと−1が同じ行の対応するセルへ入る必要がある。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TEDS-Sは、セル内の文字を除き、表の構造を比べる指標。文字認識の誤りと、表の組み立ての誤りを分けて見られる。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採点とモデルの到達水準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 (2026年10月参照). OmniDocBench: 更新履歴・評価実装・公式比較。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https://github.com/opendatalab/OmniDocBench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数式：LaTeXを描画し、文字と位置を照合する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CDMはCharacter Detection Matching。予測と正解のLaTeXを画像へ描画し、数式内の文字とその位置を対応させる。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同じ数式でもLaTeXの書き方は複数ある。描画結果を使い、どの文字がどの位置に現れるかを比べる。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実例3では、f、x、k、括弧、等号の認識と配置が対象になる。下付きkを通常の大きさで並べる出力も、位置の違いとして扱える。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採点とモデルの到達水準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Image Over Text: Transforming Formula Recognition Evaluation with Character Detection Matching.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https://github.com/opendatalab/OmniDocBench/tree/main/metrics/cdm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総合点は、本文・表・数式の3成分の平均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Overall = ((1 − 本文の編集距離) × 100 + 表のTEDS + 数式のCDM) / 3。各成分を0〜100の尺度でそろえる。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説明用に、本文90点、表80点、数式100点なら、総合点は(90 + 80 + 100) / 3 = 90点となる。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次ページの表は、公式比較のv1.6_full、全1,651ページの評価。2026年10月参照の同じ公開表から、汎用モデルと文書専用モデルを選んだ。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採点とモデルの到達水準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 (2026年10月参照). OmniDocBench: 更新履歴・評価実装・公式比較。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https://github.com/opendatalab/OmniDocBench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公式評価：汎用モデルと文書専用モデル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採点とモデルの到達水準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43200"/>
        </p:xfrm>
        <a:graphic>
          <a:graphicData uri="http://schemas.openxmlformats.org/drawingml/2006/table">
            <a:tbl>
              <a:tblPr firstRow="0" bandRow="0"/>
              <a:tblGrid>
                <a:gridCol w="3474720"/>
                <a:gridCol w="2468880"/>
                <a:gridCol w="2103120"/>
              </a:tblGrid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Overall ↑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TeleOCR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文書専用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96.91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3 Pro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汎用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92.91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3 Flash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汎用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92.62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GPT-5.2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汎用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86.59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 (2026年10月参照). OmniDocBench: 更新履歴・評価実装・公式比較。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https://github.com/opendatalab/OmniDocBench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3成分を分けると、残る誤りが見える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採点とモデルの到達水準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43200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1645920"/>
                <a:gridCol w="1737360"/>
                <a:gridCol w="1737360"/>
              </a:tblGrid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本文ED 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数式CDM ↑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表TEDS ↑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TeleOCR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0.0267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96.5895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96.8183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3 Pro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0.064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95.99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89.15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3 Flash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0.066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95.16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89.29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4864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GPT-5.2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0.114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88.21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82.95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 (2026年10月参照). OmniDocBench: 更新履歴・評価実装・公式比較。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https://github.com/opendatalab/OmniDocBench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000" b="0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作成工程とバージョンの更新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作成工程とバージョンの更新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多様なPDFを集め、自動注釈を人手で直す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40"/>
              </a:lnSpc>
              <a:spcAft>
                <a:spcPts val="8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初期制作では、Common Crawl、検索サービス、内部データから20万件超のPDFを収集。見た目の特徴をクラスタリングし、6,000ページを候補に選んだ。</a:t>
            </a:r>
          </a:p>
          <a:p>
            <a:pPr marL="457200" indent="-355600">
              <a:lnSpc>
                <a:spcPts val="2340"/>
              </a:lnSpc>
              <a:spcAft>
                <a:spcPts val="8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作業者が文書の種類、レイアウト、言語などを確認し、構成を調整して981ページを採用。本文・表・数式などの領域と内容を注釈した。</a:t>
            </a:r>
          </a:p>
          <a:p>
            <a:pPr marL="457200" indent="-355600">
              <a:lnSpc>
                <a:spcPts val="2340"/>
              </a:lnSpc>
              <a:spcAft>
                <a:spcPts val="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レイアウトはLayoutLMv3、文字はPaddleOCR、数式はUniMERNet、表はGPT-4oで事前注釈し、人手の修正と研究者による確認を行った。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作成工程とバージョンの更新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Ouyang et al. (2025). OmniDocBench: Benchmarking Diverse PDF Document Parsing with Comprehensive Annotations. CVPR.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https://arxiv.org/abs/2412.07626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バージョンごとにページと注釈を更新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作成工程とバージョンの更新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77440"/>
        </p:xfrm>
        <a:graphic>
          <a:graphicData uri="http://schemas.openxmlformats.org/drawingml/2006/table">
            <a:tbl>
              <a:tblPr firstRow="0" bandRow="0"/>
              <a:tblGrid>
                <a:gridCol w="2468880"/>
                <a:gridCol w="1371600"/>
                <a:gridCol w="4206240"/>
              </a:tblGrid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バージョン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ページ数</a:t>
                      </a:r>
                    </a:p>
                  </a:txBody>
                  <a:tcPr marL="63500" marR="2286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主なデータの更新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1.0（2024）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981</a:t>
                      </a:r>
                    </a:p>
                  </a:txBody>
                  <a:tcPr marL="63500" marR="2286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9種類の文書で初期公開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1.5（2025）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1,355</a:t>
                      </a:r>
                    </a:p>
                  </a:txBody>
                  <a:tcPr marL="63500" marR="2286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374ページ追加・画像と注釈を改善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1.6（2026）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1,651</a:t>
                      </a:r>
                    </a:p>
                  </a:txBody>
                  <a:tcPr marL="63500" marR="2286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高難度296ページを追加・注釈修正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 (2026年10月参照). OmniDocBench: 更新履歴・評価実装・公式比較。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https://github.com/opendatalab/OmniDocBench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現在のデータと評価ツールの更新点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00"/>
              </a:lnSpc>
              <a:spcAft>
                <a:spcPts val="8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1.6で加わった296ページは、複雑な表、密な数式、特殊なレイアウトを含む。全体は1,355 + 296 = 1,651ページになった。</a:t>
            </a:r>
          </a:p>
          <a:p>
            <a:pPr marL="457200" indent="-355600">
              <a:lnSpc>
                <a:spcPts val="2400"/>
              </a:lnSpc>
              <a:spcAft>
                <a:spcPts val="8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評価ツール側でも、本文と数式の対応付けや予測の分割単位の調整方法を改善。1.5以降の総合点は、本文・表・数式の3成分を平均して算出する。</a:t>
            </a:r>
          </a:p>
          <a:p>
            <a:pPr marL="457200" indent="-355600">
              <a:lnSpc>
                <a:spcPts val="2400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2026年4月のv1.7更新では、評価実行用のスキルなどを追加。公式比較表の対象名は現在もv1.6_fullと表記されている。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作成工程とバージョンの更新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 (2026年10月参照). OmniDocBench: 更新履歴・評価実装・公式比較。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https://github.com/opendatalab/OmniDocBench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現在の1,651ページ：英語と中国語が中心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作成工程とバージョンの更新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43200"/>
        </p:xfrm>
        <a:graphic>
          <a:graphicData uri="http://schemas.openxmlformats.org/drawingml/2006/table">
            <a:tbl>
              <a:tblPr firstRow="0" bandRow="0"/>
              <a:tblGrid>
                <a:gridCol w="5852160"/>
                <a:gridCol w="219456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ページの言語ラベル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ページ数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簡体字中国語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765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英語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755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英語・中国語の混在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繁体字中国語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その他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 (2026年10月取得). OmniDocBench: OmniDocBench.json / 全1,651ページを集計。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300" b="0">
                <a:solidFill>
                  <a:srgbClr val="303437"/>
                </a:solidFill>
                <a:latin typeface="Noto Sans"/>
              </a:defRPr>
            </a:pPr>
            <a:r>
              <a:rPr sz="33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配布形式と利用方法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配布形式と利用方法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ページ画像とJSONから、入力と正解を読む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00"/>
              </a:lnSpc>
              <a:spcAft>
                <a:spcPts val="8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Hugging Faceのimagesにページ画像、OmniDocBench.jsonに領域の注釈とページ属性がある。配布カードは研究目的・非商用の利用を指定する。</a:t>
            </a:r>
          </a:p>
          <a:p>
            <a:pPr marL="457200" indent="-355600">
              <a:lnSpc>
                <a:spcPts val="2400"/>
              </a:lnSpc>
              <a:spcAft>
                <a:spcPts val="8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page_infoは画像名、寸法、文書種別、言語など。layout_detsには領域の種類、座標、順番と本文・LaTeX・HTMLが入る。</a:t>
            </a:r>
          </a:p>
          <a:p>
            <a:pPr marL="457200" indent="-355600">
              <a:lnSpc>
                <a:spcPts val="2400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公式コードはApache 2.0。画像ごとのMarkdownを用意し、照合方法・指標を指定して評価する。数式CDMには描画用の実行環境も用意する。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配布形式と利用方法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 (2026年10月参照). OmniDocBench: 公式配布・データカード。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ページ全体を、構造のあるテキストへ戻せるか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80"/>
              </a:lnSpc>
              <a:spcAft>
                <a:spcPts val="800"/>
              </a:spcAft>
              <a:buSzPct val="70000"/>
              <a:buFont typeface="Noto Sans CJK JP"/>
              <a:buChar char="●"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OmniDocBenchは、文字の認識、表や数式の復元、読む順番を、同じページの注釈へ結び付けた文書解析の評価ベンチマークである。</a:t>
            </a:r>
          </a:p>
          <a:p>
            <a:pPr marL="457200" indent="-355600">
              <a:lnSpc>
                <a:spcPts val="2580"/>
              </a:lnSpc>
              <a:spcAft>
                <a:spcPts val="800"/>
              </a:spcAft>
              <a:buSzPct val="70000"/>
              <a:buFont typeface="Noto Sans CJK JP"/>
              <a:buChar char="●"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現在の全1,651ページには、書籍、論文、スライド、新聞、手書きノートなどが含まれ、難しい表・数式・配置も追加されている。</a:t>
            </a:r>
          </a:p>
          <a:p>
            <a:pPr marL="457200" indent="-355600">
              <a:lnSpc>
                <a:spcPts val="2580"/>
              </a:lnSpc>
              <a:spcAft>
                <a:spcPts val="0"/>
              </a:spcAft>
              <a:buSzPct val="70000"/>
              <a:buFont typeface="Noto Sans CJK JP"/>
              <a:buChar char="●"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公式比較にはGemini 3 ProやGPT-5.2が含まれ、文書専用モデルも高い得点を示す。総合点と3成分から、どの要素に課題が残っているかを読み取れる。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配布形式と利用方法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 (2026年10月参照). OmniDocBench: 更新履歴・評価実装・公式比較。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https://github.com/opendatalab/OmniDocBench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59895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400" b="0">
                <a:solidFill>
                  <a:srgbClr val="303437"/>
                </a:solidFill>
                <a:latin typeface="Noto Sans"/>
              </a:defRPr>
            </a:pPr>
            <a:r>
              <a:rPr sz="4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668081"/>
            <a:ext cx="7772400" cy="2077720"/>
          </a:xfrm>
        </p:spPr>
        <p:txBody>
          <a:bodyPr lIns="0" rIns="0" tIns="0" bIns="0" wrap="square">
            <a:noAutofit/>
          </a:bodyPr>
          <a:lstStyle/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文書の異なる追加10例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データ構成と注釈の詳細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制作機関と参考文献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200" b="0">
                <a:solidFill>
                  <a:srgbClr val="303437"/>
                </a:solidFill>
                <a:latin typeface="Noto Sans"/>
              </a:defRPr>
            </a:pPr>
            <a:r>
              <a:rPr sz="3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文書の異なる追加10例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文書の異なる追加10例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追加例1：色付き教材の本文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文書の異なる追加10例</a:t>
            </a:r>
          </a:p>
        </p:txBody>
      </p:sp>
      <p:pic>
        <p:nvPicPr>
          <p:cNvPr id="4" name="Picture 3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519" y="1463040"/>
            <a:ext cx="2211401" cy="3127248"/>
          </a:xfrm>
          <a:prstGeom prst="rect">
            <a:avLst/>
          </a:prstGeom>
        </p:spPr>
      </p:pic>
      <p:sp>
        <p:nvSpPr>
          <p:cNvPr id="5" name="注釈の位置"/>
          <p:cNvSpPr/>
          <p:nvPr/>
        </p:nvSpPr>
        <p:spPr>
          <a:xfrm>
            <a:off x="2129326" y="3511777"/>
            <a:ext cx="1547066" cy="121225"/>
          </a:xfrm>
          <a:prstGeom prst="rect">
            <a:avLst/>
          </a:prstGeom>
          <a:noFill/>
          <a:ln w="1651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32120" y="160020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中国語のカラー教材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33172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赤枠：本文の一領域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3108960"/>
            <a:ext cx="2971800" cy="1325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色付きの見出しや数式群から、下側の説明文を取り出す。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OmniDocBench / JSON行23（0始まり） / 注釈box-6s09k9l9。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追加例1：領域の正解注釈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文書の異なる追加10例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配布の正解注釈（選択した領域の全文）</a:t>
            </a:r>
          </a:p>
        </p:txBody>
      </p:sp>
      <p:sp>
        <p:nvSpPr>
          <p:cNvPr id="5" name="引用背景"/>
          <p:cNvSpPr/>
          <p:nvPr/>
        </p:nvSpPr>
        <p:spPr>
          <a:xfrm>
            <a:off x="548640" y="1791070"/>
            <a:ext cx="8046720" cy="842429"/>
          </a:xfrm>
          <a:prstGeom prst="rect">
            <a:avLst/>
          </a:prstGeom>
          <a:solidFill>
            <a:srgbClr val="EB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引用本文"/>
          <p:cNvSpPr txBox="1"/>
          <p:nvPr/>
        </p:nvSpPr>
        <p:spPr>
          <a:xfrm>
            <a:off x="548640" y="1719072"/>
            <a:ext cx="8046720" cy="1463040"/>
          </a:xfrm>
          <a:prstGeom prst="rect">
            <a:avLst/>
          </a:prstGeom>
          <a:noFill/>
        </p:spPr>
        <p:txBody>
          <a:bodyPr wrap="square" lIns="177800" rIns="177800" tIns="177800" bIns="17780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以上只是列举一部分配凑变形的方式，核心在于朝基本不等式方向构造，多观察题干条件，合理配凑，当然还得多练习.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38144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内容の要約：式変形の考え方、問題の条件への着目と練習を促す段落。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OmniDocBench / JSON行23（0始まり） / 注釈box-6s09k9l9。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追加例2：写真と脇欄を持つ雑誌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文書の異なる追加10例</a:t>
            </a:r>
          </a:p>
        </p:txBody>
      </p:sp>
      <p:pic>
        <p:nvPicPr>
          <p:cNvPr id="4" name="Picture 3" descr="1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020" y="1463040"/>
            <a:ext cx="2452399" cy="3127248"/>
          </a:xfrm>
          <a:prstGeom prst="rect">
            <a:avLst/>
          </a:prstGeom>
        </p:spPr>
      </p:pic>
      <p:sp>
        <p:nvSpPr>
          <p:cNvPr id="5" name="注釈の位置"/>
          <p:cNvSpPr/>
          <p:nvPr/>
        </p:nvSpPr>
        <p:spPr>
          <a:xfrm>
            <a:off x="1887681" y="2872178"/>
            <a:ext cx="1112163" cy="113206"/>
          </a:xfrm>
          <a:prstGeom prst="rect">
            <a:avLst/>
          </a:prstGeom>
          <a:noFill/>
          <a:ln w="1651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32120" y="160020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英語の雑誌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33172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赤枠：本文の一領域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3108960"/>
            <a:ext cx="2971800" cy="1325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写真、中央の本文、右側の人物紹介を別の領域として扱う。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OmniDocBench / JSON行107（0始まり） / 注釈box_id_2。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追加例2：領域の正解注釈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文書の異なる追加10例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配布の正解注釈（選択した領域の全文）</a:t>
            </a:r>
          </a:p>
        </p:txBody>
      </p:sp>
      <p:sp>
        <p:nvSpPr>
          <p:cNvPr id="5" name="引用背景"/>
          <p:cNvSpPr/>
          <p:nvPr/>
        </p:nvSpPr>
        <p:spPr>
          <a:xfrm>
            <a:off x="548640" y="1811872"/>
            <a:ext cx="8046720" cy="821626"/>
          </a:xfrm>
          <a:prstGeom prst="rect">
            <a:avLst/>
          </a:prstGeom>
          <a:solidFill>
            <a:srgbClr val="EB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引用本文"/>
          <p:cNvSpPr txBox="1"/>
          <p:nvPr/>
        </p:nvSpPr>
        <p:spPr>
          <a:xfrm>
            <a:off x="548640" y="1719072"/>
            <a:ext cx="8046720" cy="1463040"/>
          </a:xfrm>
          <a:prstGeom prst="rect">
            <a:avLst/>
          </a:prstGeom>
          <a:noFill/>
        </p:spPr>
        <p:txBody>
          <a:bodyPr wrap="square" lIns="177800" rIns="177800" tIns="177800" bIns="17780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Embodied AI creates intelligent agents that perceive, understand, and interact with the physical world.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38144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内容の要約：身体性AIは、物理世界を知覚・理解し、相互作用する知的なエージェントの構築を目指す。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OmniDocBench / JSON行107（0始まり） / 注釈box_id_2。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追加例3：多数の記事を持つ新聞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文書の異なる追加10例</a:t>
            </a:r>
          </a:p>
        </p:txBody>
      </p:sp>
      <p:pic>
        <p:nvPicPr>
          <p:cNvPr id="4" name="Picture 3" descr="1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993" y="1463040"/>
            <a:ext cx="2186453" cy="3127248"/>
          </a:xfrm>
          <a:prstGeom prst="rect">
            <a:avLst/>
          </a:prstGeom>
        </p:spPr>
      </p:pic>
      <p:sp>
        <p:nvSpPr>
          <p:cNvPr id="5" name="注釈の位置"/>
          <p:cNvSpPr/>
          <p:nvPr/>
        </p:nvSpPr>
        <p:spPr>
          <a:xfrm>
            <a:off x="1845989" y="1849994"/>
            <a:ext cx="309698" cy="128334"/>
          </a:xfrm>
          <a:prstGeom prst="rect">
            <a:avLst/>
          </a:prstGeom>
          <a:noFill/>
          <a:ln w="1651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32120" y="160020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中国語の新聞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33172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赤枠：記事本文の一領域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3108960"/>
            <a:ext cx="2971800" cy="1325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複数の記事、写真、細かな表のある紙面から、記事の冒頭を取り出す。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OmniDocBench / JSON行1011（0始まり） / 注釈11。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追加例3：領域の正解注釈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文書の異なる追加10例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配布の正解注釈（選択した領域の全文）</a:t>
            </a:r>
          </a:p>
        </p:txBody>
      </p:sp>
      <p:sp>
        <p:nvSpPr>
          <p:cNvPr id="5" name="引用背景"/>
          <p:cNvSpPr/>
          <p:nvPr/>
        </p:nvSpPr>
        <p:spPr>
          <a:xfrm>
            <a:off x="548640" y="1791070"/>
            <a:ext cx="8046720" cy="1148372"/>
          </a:xfrm>
          <a:prstGeom prst="rect">
            <a:avLst/>
          </a:prstGeom>
          <a:solidFill>
            <a:srgbClr val="EB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引用本文"/>
          <p:cNvSpPr txBox="1"/>
          <p:nvPr/>
        </p:nvSpPr>
        <p:spPr>
          <a:xfrm>
            <a:off x="548640" y="1719072"/>
            <a:ext cx="8046720" cy="1463040"/>
          </a:xfrm>
          <a:prstGeom prst="rect">
            <a:avLst/>
          </a:prstGeom>
          <a:noFill/>
        </p:spPr>
        <p:txBody>
          <a:bodyPr wrap="square" lIns="177800" rIns="177800" tIns="177800" bIns="17780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据中国经济网日前报道称：“今年全国主要农作物种子供应充足，预计杂交玉米种子供大于求，杂交稻种子保持相对稳定，棉花、小麦、油菜等种子供应充足。”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38144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内容の要約：主要作物の種子は十分に供給されると伝える記事。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OmniDocBench / JSON行1011（0始まり） / 注釈11。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追加例4：手書きノートの段落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文書の異なる追加10例</a:t>
            </a:r>
          </a:p>
        </p:txBody>
      </p:sp>
      <p:pic>
        <p:nvPicPr>
          <p:cNvPr id="4" name="Picture 3" descr="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489" y="1463040"/>
            <a:ext cx="2213461" cy="3127248"/>
          </a:xfrm>
          <a:prstGeom prst="rect">
            <a:avLst/>
          </a:prstGeom>
        </p:spPr>
      </p:pic>
      <p:sp>
        <p:nvSpPr>
          <p:cNvPr id="5" name="注釈の位置"/>
          <p:cNvSpPr/>
          <p:nvPr/>
        </p:nvSpPr>
        <p:spPr>
          <a:xfrm>
            <a:off x="2047469" y="1922222"/>
            <a:ext cx="1824169" cy="295198"/>
          </a:xfrm>
          <a:prstGeom prst="rect">
            <a:avLst/>
          </a:prstGeom>
          <a:noFill/>
          <a:ln w="1651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32120" y="160020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中国語の手書きノート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33172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赤枠：手書き本文の一領域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3108960"/>
            <a:ext cx="2971800" cy="1325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罫線上の手書き文字を読み、複数行を一つの段落へまとめる。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OmniDocBench / JSON行895（0始まり） / 注釈2。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追加例4：領域の正解注釈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文書の異なる追加10例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配布の正解注釈（選択した領域の全文）</a:t>
            </a:r>
          </a:p>
        </p:txBody>
      </p:sp>
      <p:sp>
        <p:nvSpPr>
          <p:cNvPr id="5" name="引用背景"/>
          <p:cNvSpPr/>
          <p:nvPr/>
        </p:nvSpPr>
        <p:spPr>
          <a:xfrm>
            <a:off x="548640" y="1791070"/>
            <a:ext cx="8046720" cy="1148372"/>
          </a:xfrm>
          <a:prstGeom prst="rect">
            <a:avLst/>
          </a:prstGeom>
          <a:solidFill>
            <a:srgbClr val="EB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引用本文"/>
          <p:cNvSpPr txBox="1"/>
          <p:nvPr/>
        </p:nvSpPr>
        <p:spPr>
          <a:xfrm>
            <a:off x="548640" y="1719072"/>
            <a:ext cx="8046720" cy="1463040"/>
          </a:xfrm>
          <a:prstGeom prst="rect">
            <a:avLst/>
          </a:prstGeom>
          <a:noFill/>
        </p:spPr>
        <p:txBody>
          <a:bodyPr wrap="square" lIns="177800" rIns="177800" tIns="177800" bIns="17780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有利于因地制宜进行产业结构的调整，使农林牧副渔全面发展，可以增加农民收入，促进当地经济发展，改善农民生活条件，提高生活质量；有利于保护土地资源改善当地的生态环境；有利于促进生态和经济可持续发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38144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内容の要約：産業構成の調整が、農家の収入や地域経済、環境の改善につながると述べる段落。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OmniDocBench / JSON行895（0始まり） / 注釈2。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追加例5：大きな表の下にある箇条書き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文書の異なる追加10例</a:t>
            </a:r>
          </a:p>
        </p:txBody>
      </p:sp>
      <p:pic>
        <p:nvPicPr>
          <p:cNvPr id="4" name="Picture 3" descr="2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519" y="1463040"/>
            <a:ext cx="2211401" cy="3127248"/>
          </a:xfrm>
          <a:prstGeom prst="rect">
            <a:avLst/>
          </a:prstGeom>
        </p:spPr>
      </p:pic>
      <p:sp>
        <p:nvSpPr>
          <p:cNvPr id="5" name="注釈の位置"/>
          <p:cNvSpPr/>
          <p:nvPr/>
        </p:nvSpPr>
        <p:spPr>
          <a:xfrm>
            <a:off x="2083674" y="3142372"/>
            <a:ext cx="1598604" cy="251340"/>
          </a:xfrm>
          <a:prstGeom prst="rect">
            <a:avLst/>
          </a:prstGeom>
          <a:noFill/>
          <a:ln w="1651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32120" y="160020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中国語の調査報告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33172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赤枠：本文の一領域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3108960"/>
            <a:ext cx="2971800" cy="1325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ページ上部の大きな表と、下部の箇条書きの境界を読み分ける。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OmniDocBench / JSON行202（0始まり） / 注釈box_id_3。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追加例5：領域の正解注釈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文書の異なる追加10例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配布の正解注釈（選択した領域の全文）</a:t>
            </a:r>
          </a:p>
        </p:txBody>
      </p:sp>
      <p:sp>
        <p:nvSpPr>
          <p:cNvPr id="5" name="引用背景"/>
          <p:cNvSpPr/>
          <p:nvPr/>
        </p:nvSpPr>
        <p:spPr>
          <a:xfrm>
            <a:off x="548640" y="1791070"/>
            <a:ext cx="8046720" cy="1455445"/>
          </a:xfrm>
          <a:prstGeom prst="rect">
            <a:avLst/>
          </a:prstGeom>
          <a:solidFill>
            <a:srgbClr val="EB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引用本文"/>
          <p:cNvSpPr txBox="1"/>
          <p:nvPr/>
        </p:nvSpPr>
        <p:spPr>
          <a:xfrm>
            <a:off x="548640" y="1719072"/>
            <a:ext cx="8046720" cy="1463040"/>
          </a:xfrm>
          <a:prstGeom prst="rect">
            <a:avLst/>
          </a:prstGeom>
          <a:noFill/>
        </p:spPr>
        <p:txBody>
          <a:bodyPr wrap="square" lIns="177800" rIns="177800" tIns="177800" bIns="17780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- 内容传播和社交裂变，受限于不同电商平台与微信产品的壁垒，传统公域电商并不擅长内容及内容传播；私域的内容传播、社交裂变属性能够更充分地发挥企业品牌宣传和市场营销的功能，让企业的品牌、营销相关经费能够更加有效得反映在流量的变化上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38144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内容の要約：企業独自の顧客接点を使う情報発信や、マーケティング上の利点を説明する。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OmniDocBench / JSON行202（0始まり） / 注釈box_id_3。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追加例6：縦書きの古典資料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文書の異なる追加10例</a:t>
            </a:r>
          </a:p>
        </p:txBody>
      </p:sp>
      <p:pic>
        <p:nvPicPr>
          <p:cNvPr id="4" name="Picture 3" descr="1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114" y="1463040"/>
            <a:ext cx="2130210" cy="3127248"/>
          </a:xfrm>
          <a:prstGeom prst="rect">
            <a:avLst/>
          </a:prstGeom>
        </p:spPr>
      </p:pic>
      <p:sp>
        <p:nvSpPr>
          <p:cNvPr id="5" name="注釈の位置"/>
          <p:cNvSpPr/>
          <p:nvPr/>
        </p:nvSpPr>
        <p:spPr>
          <a:xfrm>
            <a:off x="2918095" y="1826496"/>
            <a:ext cx="80480" cy="2244028"/>
          </a:xfrm>
          <a:prstGeom prst="rect">
            <a:avLst/>
          </a:prstGeom>
          <a:noFill/>
          <a:ln w="1651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32120" y="160020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繁体字中国語の歴史資料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33172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赤枠：縦書き注釈の一領域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3108960"/>
            <a:ext cx="2971800" cy="1325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右から左へ進む縦組みの欄と、本文・校注の文字の大きさを読み取る。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OmniDocBench / JSON行111（0始まり） / 注釈box-a1va37rw。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追加例6：領域の正解注釈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文書の異なる追加10例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配布の正解注釈（選択した領域の全文）</a:t>
            </a:r>
          </a:p>
        </p:txBody>
      </p:sp>
      <p:sp>
        <p:nvSpPr>
          <p:cNvPr id="5" name="引用背景"/>
          <p:cNvSpPr/>
          <p:nvPr/>
        </p:nvSpPr>
        <p:spPr>
          <a:xfrm>
            <a:off x="548640" y="1791070"/>
            <a:ext cx="8046720" cy="841286"/>
          </a:xfrm>
          <a:prstGeom prst="rect">
            <a:avLst/>
          </a:prstGeom>
          <a:solidFill>
            <a:srgbClr val="EB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引用本文"/>
          <p:cNvSpPr txBox="1"/>
          <p:nvPr/>
        </p:nvSpPr>
        <p:spPr>
          <a:xfrm>
            <a:off x="548640" y="1719072"/>
            <a:ext cx="8046720" cy="1463040"/>
          </a:xfrm>
          <a:prstGeom prst="rect">
            <a:avLst/>
          </a:prstGeom>
          <a:noFill/>
        </p:spPr>
        <p:txBody>
          <a:bodyPr wrap="square" lIns="177800" rIns="177800" tIns="177800" bIns="17780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〔一〕奇猷案：史記田齊世家：「齊閔王二十二年與秦擊敗楚於重丘。」即此所指。又案：舊連上，今提行。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38144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内容の要約：史記の記述を引用し、本文との対応や改行位置を論じる校注。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OmniDocBench / JSON行111（0始まり） / 注釈box-a1va37rw。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追加例7：見開きの作文問題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文書の異なる追加10例</a:t>
            </a:r>
          </a:p>
        </p:txBody>
      </p:sp>
      <p:pic>
        <p:nvPicPr>
          <p:cNvPr id="4" name="Picture 3" descr="1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85" y="1463040"/>
            <a:ext cx="4353068" cy="3127248"/>
          </a:xfrm>
          <a:prstGeom prst="rect">
            <a:avLst/>
          </a:prstGeom>
        </p:spPr>
      </p:pic>
      <p:sp>
        <p:nvSpPr>
          <p:cNvPr id="5" name="注釈の位置"/>
          <p:cNvSpPr/>
          <p:nvPr/>
        </p:nvSpPr>
        <p:spPr>
          <a:xfrm>
            <a:off x="3149603" y="2007807"/>
            <a:ext cx="1514432" cy="147919"/>
          </a:xfrm>
          <a:prstGeom prst="rect">
            <a:avLst/>
          </a:prstGeom>
          <a:noFill/>
          <a:ln w="1651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32120" y="160020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中国語で書かれた試験教材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33172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赤枠：問題文の一領域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3108960"/>
            <a:ext cx="2971800" cy="1325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折り目、傾き、薄い文字、左右のページにまたがる配置を扱う。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OmniDocBench / JSON行126（0始まり） / 注釈box_id_9。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追加例7：領域の正解注釈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文書の異なる追加10例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配布の正解注釈（選択した領域の全文）</a:t>
            </a:r>
          </a:p>
        </p:txBody>
      </p:sp>
      <p:sp>
        <p:nvSpPr>
          <p:cNvPr id="5" name="引用背景"/>
          <p:cNvSpPr/>
          <p:nvPr/>
        </p:nvSpPr>
        <p:spPr>
          <a:xfrm>
            <a:off x="548640" y="1791070"/>
            <a:ext cx="8046720" cy="841286"/>
          </a:xfrm>
          <a:prstGeom prst="rect">
            <a:avLst/>
          </a:prstGeom>
          <a:solidFill>
            <a:srgbClr val="EB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引用本文"/>
          <p:cNvSpPr txBox="1"/>
          <p:nvPr/>
        </p:nvSpPr>
        <p:spPr>
          <a:xfrm>
            <a:off x="548640" y="1719072"/>
            <a:ext cx="8046720" cy="1463040"/>
          </a:xfrm>
          <a:prstGeom prst="rect">
            <a:avLst/>
          </a:prstGeom>
          <a:noFill/>
        </p:spPr>
        <p:txBody>
          <a:bodyPr wrap="square" lIns="177800" rIns="177800" tIns="177800" bIns="17780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5.假定你是李华，你的英国朋友Henry对中国相声（crosstalk）很感兴趣。请给他写封邮件，邀请他同去红星剧场听相声。内容包括：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38144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内容の要約：李華という設定で、英国の友人Henryを相声の公演へ誘うメールを書く課題。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OmniDocBench / JSON行126（0始まり） / 注釈box_id_9。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追加例8：結合セルを持つ論文の表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文書の異なる追加10例</a:t>
            </a:r>
          </a:p>
        </p:txBody>
      </p:sp>
      <p:pic>
        <p:nvPicPr>
          <p:cNvPr id="4" name="Picture 3" descr="4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565" y="1463040"/>
            <a:ext cx="2343309" cy="3127248"/>
          </a:xfrm>
          <a:prstGeom prst="rect">
            <a:avLst/>
          </a:prstGeom>
        </p:spPr>
      </p:pic>
      <p:sp>
        <p:nvSpPr>
          <p:cNvPr id="5" name="注釈の位置"/>
          <p:cNvSpPr/>
          <p:nvPr/>
        </p:nvSpPr>
        <p:spPr>
          <a:xfrm>
            <a:off x="1894798" y="1819787"/>
            <a:ext cx="1983951" cy="380092"/>
          </a:xfrm>
          <a:prstGeom prst="rect">
            <a:avLst/>
          </a:prstGeom>
          <a:noFill/>
          <a:ln w="1651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32120" y="160020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英語の学術論文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33172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赤枠：最上段の表全体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3108960"/>
            <a:ext cx="2971800" cy="1325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先頭行は3つの見出しがそれぞれ2列を占める。HTMLのcolspanで列のまとまりを残す。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OmniDocBench / JSON行465（0始まり） / 注釈4。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追加例8：先頭の見出し行のHTML注釈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文書の異なる追加10例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8046720" cy="208756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&lt;table border="1"&gt;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&lt;tr&gt;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&lt;td colspan="2"&gt;Training, step one&lt;/td&gt;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&lt;td colspan="2"&gt;Training, step two&lt;/td&gt;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&lt;td colspan="2"&gt;Validation error&lt;/td&gt;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&lt;/tr&gt;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&lt;/table&gt;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797490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配布HTMLの先頭行を抜粋。colspan="2"は、セルが2列を占める指定。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OmniDocBench / JSON行465（0始まり） / 注釈4。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追加例9：表と数式に挟まれた一文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文書の異なる追加10例</a:t>
            </a:r>
          </a:p>
        </p:txBody>
      </p:sp>
      <p:pic>
        <p:nvPicPr>
          <p:cNvPr id="4" name="Picture 3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965" y="1463040"/>
            <a:ext cx="2416509" cy="3127248"/>
          </a:xfrm>
          <a:prstGeom prst="rect">
            <a:avLst/>
          </a:prstGeom>
        </p:spPr>
      </p:pic>
      <p:sp>
        <p:nvSpPr>
          <p:cNvPr id="5" name="注釈の位置"/>
          <p:cNvSpPr/>
          <p:nvPr/>
        </p:nvSpPr>
        <p:spPr>
          <a:xfrm>
            <a:off x="2112389" y="2443745"/>
            <a:ext cx="1377801" cy="46909"/>
          </a:xfrm>
          <a:prstGeom prst="rect">
            <a:avLst/>
          </a:prstGeom>
          <a:noFill/>
          <a:ln w="1651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32120" y="160020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英語の学術論文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33172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赤枠：本文の一領域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3108960"/>
            <a:ext cx="2971800" cy="1325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上の表、説明の一文、式番号付きの数式を別の領域として扱い、読む順番を付ける。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OmniDocBench / JSON行10（0始まり） / 注釈box_id_3。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追加例9：領域の正解注釈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文書の異なる追加10例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配布の正解注釈（選択した領域の全文）</a:t>
            </a:r>
          </a:p>
        </p:txBody>
      </p:sp>
      <p:sp>
        <p:nvSpPr>
          <p:cNvPr id="5" name="引用背景"/>
          <p:cNvSpPr/>
          <p:nvPr/>
        </p:nvSpPr>
        <p:spPr>
          <a:xfrm>
            <a:off x="548640" y="1811872"/>
            <a:ext cx="8046720" cy="821626"/>
          </a:xfrm>
          <a:prstGeom prst="rect">
            <a:avLst/>
          </a:prstGeom>
          <a:solidFill>
            <a:srgbClr val="EB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引用本文"/>
          <p:cNvSpPr txBox="1"/>
          <p:nvPr/>
        </p:nvSpPr>
        <p:spPr>
          <a:xfrm>
            <a:off x="548640" y="1719072"/>
            <a:ext cx="8046720" cy="1463040"/>
          </a:xfrm>
          <a:prstGeom prst="rect">
            <a:avLst/>
          </a:prstGeom>
          <a:noFill/>
        </p:spPr>
        <p:txBody>
          <a:bodyPr wrap="square" lIns="177800" rIns="177800" tIns="177800" bIns="17780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number of parameters for all RWKV-7 models can be computed by the formula: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38144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内容の要約：すべてのRWKV-7モデルのパラメータ数は、次の式で計算できる。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OmniDocBench / JSON行10（0始まり） / 注釈box_id_3。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追加例10：コードを含む技術書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文書の異なる追加10例</a:t>
            </a:r>
          </a:p>
        </p:txBody>
      </p:sp>
      <p:pic>
        <p:nvPicPr>
          <p:cNvPr id="4" name="Picture 3" descr="5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965" y="1463040"/>
            <a:ext cx="2416509" cy="3127248"/>
          </a:xfrm>
          <a:prstGeom prst="rect">
            <a:avLst/>
          </a:prstGeom>
        </p:spPr>
      </p:pic>
      <p:sp>
        <p:nvSpPr>
          <p:cNvPr id="5" name="注釈の位置"/>
          <p:cNvSpPr/>
          <p:nvPr/>
        </p:nvSpPr>
        <p:spPr>
          <a:xfrm>
            <a:off x="1973282" y="4068898"/>
            <a:ext cx="1753296" cy="92789"/>
          </a:xfrm>
          <a:prstGeom prst="rect">
            <a:avLst/>
          </a:prstGeom>
          <a:noFill/>
          <a:ln w="1651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32120" y="160020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英語の技術書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2331720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赤枠：本文の一領域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3108960"/>
            <a:ext cx="2971800" cy="1325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表、囲み記事、コード、通常の段落が一つのページに共存する。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OmniDocBench / JSON行543（0始まり） / 注釈1。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追加例10：領域の正解注釈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文書の異なる追加10例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配布の正解注釈（選択した領域の全文）</a:t>
            </a:r>
          </a:p>
        </p:txBody>
      </p:sp>
      <p:sp>
        <p:nvSpPr>
          <p:cNvPr id="5" name="引用背景"/>
          <p:cNvSpPr/>
          <p:nvPr/>
        </p:nvSpPr>
        <p:spPr>
          <a:xfrm>
            <a:off x="548640" y="1811872"/>
            <a:ext cx="8046720" cy="1128712"/>
          </a:xfrm>
          <a:prstGeom prst="rect">
            <a:avLst/>
          </a:prstGeom>
          <a:solidFill>
            <a:srgbClr val="EB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引用本文"/>
          <p:cNvSpPr txBox="1"/>
          <p:nvPr/>
        </p:nvSpPr>
        <p:spPr>
          <a:xfrm>
            <a:off x="548640" y="1719072"/>
            <a:ext cx="8046720" cy="1463040"/>
          </a:xfrm>
          <a:prstGeom prst="rect">
            <a:avLst/>
          </a:prstGeom>
          <a:noFill/>
        </p:spPr>
        <p:txBody>
          <a:bodyPr wrap="square" lIns="177800" rIns="177800" tIns="177800" bIns="17780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Note that the dialog structure includes a window structure field. The Dialog Manager sets the windowkind field of this window structure to kDialogWindowKind.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38144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内容の要約：ダイアログ構造にはウィンドウ構造のフィールドがあり、Dialog Managerがwindowkindを設定する。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OpenDataLab. OmniDocBench / JSON行543（0始まり） / 注釈1。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200" b="0">
                <a:solidFill>
                  <a:srgbClr val="303437"/>
                </a:solidFill>
                <a:latin typeface="Noto Sans"/>
              </a:defRPr>
            </a:pPr>
            <a:r>
              <a:rPr sz="3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データ構成と注釈の詳細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データ構成と注釈の詳細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現在の文書種別：書籍・教材・論文など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データ構成と注釈の詳細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43200"/>
        </p:xfrm>
        <a:graphic>
          <a:graphicData uri="http://schemas.openxmlformats.org/drawingml/2006/table">
            <a:tbl>
              <a:tblPr firstRow="0" bandRow="0"/>
              <a:tblGrid>
                <a:gridCol w="5852160"/>
                <a:gridCol w="219456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文書の種類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ページ数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書籍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276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スライドのPDF化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学術論文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215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試験問題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カラー教材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 (2026年10月取得). OmniDocBench: OmniDocBench.json / 全1,651ページを集計。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現在の文書種別：新聞・雑誌・手書きなど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データ構成と注釈の詳細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43200"/>
        </p:xfrm>
        <a:graphic>
          <a:graphicData uri="http://schemas.openxmlformats.org/drawingml/2006/table">
            <a:tbl>
              <a:tblPr firstRow="0" bandRow="0"/>
              <a:tblGrid>
                <a:gridCol w="5852160"/>
                <a:gridCol w="219456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文書の種類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ページ数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新聞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雑誌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調査報告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手書きノート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歴史資料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 (2026年10月取得). OmniDocBench: OmniDocBench.json / 全1,651ページを集計。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段組みと、通常の段組みに収まらない配置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データ構成と注釈の詳細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43200"/>
        </p:xfrm>
        <a:graphic>
          <a:graphicData uri="http://schemas.openxmlformats.org/drawingml/2006/table">
            <a:tbl>
              <a:tblPr firstRow="0" bandRow="0"/>
              <a:tblGrid>
                <a:gridCol w="5852160"/>
                <a:gridCol w="219456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レイアウトのラベル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ページ数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単段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887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その他の配置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372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2段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単段と複数段の混在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3段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 (2026年10月取得). OmniDocBench: OmniDocBench.json / 全1,651ページを集計。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追加された高難度296ページの内訳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データ構成と注釈の詳細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77440"/>
        </p:xfrm>
        <a:graphic>
          <a:graphicData uri="http://schemas.openxmlformats.org/drawingml/2006/table">
            <a:tbl>
              <a:tblPr firstRow="0" bandRow="0"/>
              <a:tblGrid>
                <a:gridCol w="3383280"/>
                <a:gridCol w="3017520"/>
                <a:gridCol w="1645920"/>
              </a:tblGrid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配布のサブセット名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主な対象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ページ数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equation_hard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数式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layout_hard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レイアウト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table_hard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 (2026年10月取得). OmniDocBench: OmniDocBench.json / 全1,651ページを集計。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一つの領域に、位置・種類・内容を対応させる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データ構成と注釈の詳細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43200"/>
        </p:xfrm>
        <a:graphic>
          <a:graphicData uri="http://schemas.openxmlformats.org/drawingml/2006/table">
            <a:tbl>
              <a:tblPr firstRow="0" bandRow="0"/>
              <a:tblGrid>
                <a:gridCol w="3200400"/>
                <a:gridCol w="484632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JSONの項目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役割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category_type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text_block、tableなどの領域種別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poly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領域の四隅の画像上の座標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order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ページ内の読む順番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text / latex / html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本文・数式・表の内容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anno_id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ページ内の注釈ID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 (2026年10月取得). OmniDocBench: OmniDocBench.json / 全1,651ページを集計。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事前注釈を修正し、描画して再確認する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00"/>
              </a:lnSpc>
              <a:spcAft>
                <a:spcPts val="8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作業者は、検出された領域の境界を修正し、読む順番や、本文とキャプションなどの対応を付ける。認識結果は文字ごとに確認する。</a:t>
            </a:r>
          </a:p>
          <a:p>
            <a:pPr marL="457200" indent="-355600">
              <a:lnSpc>
                <a:spcPts val="2400"/>
              </a:lnSpc>
              <a:spcAft>
                <a:spcPts val="8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表と数式は、HTMLやLaTeXを編集できるツールで修正する。描画できない要素を検出し、3人の研究者が確認・修正した。</a:t>
            </a:r>
          </a:p>
          <a:p>
            <a:pPr marL="457200" indent="-355600">
              <a:lnSpc>
                <a:spcPts val="2400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初期版の9種類・981ページから追加を重ね、現在は歴史資料も含め10種類・1,651ページとなる。文書種別の内訳は現行JSONの全件から数えた。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データ構成と注釈の詳細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Ouyang et al. (2025). OmniDocBench: Benchmarking Diverse PDF Document Parsing with Comprehensive Annotations. CVPR.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https://arxiv.org/abs/2412.07626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正解JSONのページと領域を読む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データ構成と注釈の詳細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8046720" cy="23495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json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pathlib import Path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pages = json.loads(Path("OmniDocBench.json").read_text())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page = pages[300]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print(page["page_info"]["image_path"])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for region in page["layout_dets"]: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print(region["category_type"], region["anno_id"])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05942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本編の表のページを選び、画像名と注釈IDを取り出す。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 (2026年10月取得). OmniDocBench: OmniDocBench.json / 全1,651ページを集計。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200" b="0">
                <a:solidFill>
                  <a:srgbClr val="303437"/>
                </a:solidFill>
                <a:latin typeface="Noto Sans"/>
              </a:defRPr>
            </a:pPr>
            <a:r>
              <a:rPr sz="3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制作機関と参考文献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OpenDataLabを中心に、文書解析を共同評価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00"/>
              </a:lnSpc>
              <a:spcAft>
                <a:spcPts val="8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第一著者はLinke Ouyang、最終著者はConghui He。Shanghai AI Laboratory、Abaka AI、2077 AIの研究者が制作した。</a:t>
            </a:r>
          </a:p>
          <a:p>
            <a:pPr marL="457200" indent="-355600">
              <a:lnSpc>
                <a:spcPts val="2400"/>
              </a:lnSpc>
              <a:spcAft>
                <a:spcPts val="8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2024年12月にデータと論文を公開し、CVPR 2025で発表。要素別の評価と、ページ全体の解析の評価を同じ注釈へまとめる。</a:t>
            </a:r>
          </a:p>
          <a:p>
            <a:pPr marL="457200" indent="-355600">
              <a:lnSpc>
                <a:spcPts val="2400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その後も、ページや正解注釈、照合アルゴリズム、推論用コードを更新。2026年の公式比較では、汎用モデルと文書専用モデルを並べて評価している。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Ouyang et al. (2025). OmniDocBench: Benchmarking Diverse PDF Document Parsing with Comprehensive Annotations. CVPR.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https://arxiv.org/abs/2412.07626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  <p:sp>
        <p:nvSpPr>
          <p:cNvPr id="4" name="文献 1: OmniDocBench: Benchmarking Diverse PDF Document Parsing with Comprehensive Annotations"/>
          <p:cNvSpPr txBox="1"/>
          <p:nvPr/>
        </p:nvSpPr>
        <p:spPr>
          <a:xfrm>
            <a:off x="548640" y="13716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OmniDocBench: Benchmarking Diverse PDF Document Parsing with Comprehensive Annotations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Linke Ouyang et al. / CVPR 2025 / arXiv:2412.07626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初期データの収集・注釈と、文書解析の評価設計を説明する。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https://arxiv.org/abs/2412.07626</a:t>
            </a:r>
          </a:p>
        </p:txBody>
      </p:sp>
      <p:sp>
        <p:nvSpPr>
          <p:cNvPr id="5" name="文献 2: OmniDocBench: Dataset and Annotations"/>
          <p:cNvSpPr txBox="1"/>
          <p:nvPr/>
        </p:nvSpPr>
        <p:spPr>
          <a:xfrm>
            <a:off x="548640" y="32004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OmniDocBench: Dataset and Annotations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 / Hugging Face / 2024年初出・2026年10月取得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ページ画像、正解JSON、更新履歴、データの利用条件を確認する。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https://huggingface.co/datasets/opendatalab/OmniDocBench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  <p:sp>
        <p:nvSpPr>
          <p:cNvPr id="4" name="文献 1: OmniDocBench: Evaluation Code and Model Results"/>
          <p:cNvSpPr txBox="1"/>
          <p:nvPr/>
        </p:nvSpPr>
        <p:spPr>
          <a:xfrm>
            <a:off x="548640" y="13716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OmniDocBench: Evaluation Code and Model Results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 / GitHub / 2026年10月参照 / コードApache 2.0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バージョンの変更、照合と採点、公式比較と推論実装を公開する。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https://github.com/opendatalab/OmniDocBench</a:t>
            </a:r>
          </a:p>
        </p:txBody>
      </p:sp>
      <p:sp>
        <p:nvSpPr>
          <p:cNvPr id="5" name="文献 2: Image Over Text: Transforming Formula Recognition Evaluation with Character Detection Matching"/>
          <p:cNvSpPr txBox="1"/>
          <p:nvPr/>
        </p:nvSpPr>
        <p:spPr>
          <a:xfrm>
            <a:off x="548640" y="32004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Image Over Text: Transforming Formula Recognition Evaluation with Character Detection Matching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OpenDataLab / OmniDocBench内のCDM実装と解説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数式の描画結果から、文字と位置を対応させる指標を説明する。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https://github.com/opendatalab/OmniDocBench/tree/main/metrics/cdm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佐々木　悠太</cp:lastModifiedBy>
  <cp:revision>500</cp:revision>
  <dcterms:modified xsi:type="dcterms:W3CDTF">2026-10-13T12:49:59Z</dcterms:modified>
  <dc:title>OmniDocBench — datasets in 10 minutes</dc:title>
  <dc:creator>sasakiy84</dc:creator>
  <dc:subject>文書解析：13実例、正解注釈、1,651ページの構成とバージョン、モデル評価</dc:subject>
</cp:coreProperties>
</file>