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2" r:id="rId1"/>
  </p:sldMasterIdLst>
  <p:sldIdLst>
    <p:sldId id="256" r:id="rId7"/>
    <p:sldId id="307" r:id="rId58"/>
    <p:sldId id="308" r:id="rId59"/>
    <p:sldId id="257" r:id="rId8"/>
    <p:sldId id="258" r:id="rId9"/>
    <p:sldId id="259" r:id="rId6"/>
    <p:sldId id="260" r:id="rId5"/>
    <p:sldId id="261" r:id="rId4"/>
    <p:sldId id="267" r:id="rId18"/>
    <p:sldId id="309" r:id="rId60"/>
    <p:sldId id="262" r:id="rId3"/>
    <p:sldId id="263" r:id="rId2"/>
    <p:sldId id="264" r:id="rId15"/>
    <p:sldId id="265" r:id="rId16"/>
    <p:sldId id="266" r:id="rId17"/>
    <p:sldId id="314" r:id="rId10"/>
    <p:sldId id="310" r:id="rId61"/>
    <p:sldId id="268" r:id="rId19"/>
    <p:sldId id="311" r:id="rId62"/>
    <p:sldId id="269" r:id="rId20"/>
    <p:sldId id="270" r:id="rId21"/>
    <p:sldId id="312" r:id="rId63"/>
    <p:sldId id="271" r:id="rId22"/>
    <p:sldId id="272" r:id="rId23"/>
    <p:sldId id="273" r:id="rId24"/>
    <p:sldId id="274" r:id="rId25"/>
    <p:sldId id="313" r:id="rId64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</p:sldIdLst>
  <p:sldSz cx="9144000" cy="5143500" type="screen16x9"/>
  <p:notesSz cx="6858000" cy="9144000"/>
  <p:extLst>
    <p:ext uri="{EFAFB233-063F-42B5-8137-9DF3F51BA10A}">
      <p15:sldGuideLst xmlns:p15="http://schemas.microsoft.com/office/powerpoint/2012/main">
        <p15:guide id="1" orient="horz" pos="590">
          <p15:clr>
            <a:srgbClr val="747775"/>
          </p15:clr>
        </p15:guide>
        <p15:guide id="2" pos="1271">
          <p15:clr>
            <a:srgbClr val="747775"/>
          </p15:clr>
        </p15:guide>
        <p15:guide id="3" orient="horz" pos="1584">
          <p15:clr>
            <a:srgbClr val="747775"/>
          </p15:clr>
        </p15:guide>
      </p15:sldGuideLst>
    </p:ext>
  </p:ex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E77B4"/>
    <a:srgbClr val="7A81FF"/>
    <a:srgbClr val="0096FF"/>
    <a:srgbClr val="011893"/>
    <a:srgbClr val="B13731"/>
    <a:srgbClr val="EF8600"/>
    <a:srgbClr val="FFCD8C"/>
    <a:srgbClr val="0036FF"/>
    <a:srgbClr val="00D989"/>
    <a:srgbClr val="01D8A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FD8A3C8B-3693-4FF3-BE57-18EF887A9C23}">
  <a:tblStyle styleId="{FD8A3C8B-3693-4FF3-BE57-18EF887A9C23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082"/>
    <p:restoredTop sz="87828"/>
  </p:normalViewPr>
  <p:slideViewPr>
    <p:cSldViewPr snapToGrid="0">
      <p:cViewPr varScale="1">
        <p:scale>
          <a:sx n="169" d="100"/>
          <a:sy n="169" d="100"/>
        </p:scale>
        <p:origin x="520" y="192"/>
      </p:cViewPr>
      <p:guideLst>
        <p:guide orient="horz" pos="590"/>
        <p:guide pos="1271"/>
        <p:guide orient="horz" pos="1584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2.xml"/><Relationship Id="rId3" Type="http://schemas.openxmlformats.org/officeDocument/2006/relationships/slide" Target="slides/slide11.xml"/><Relationship Id="rId4" Type="http://schemas.openxmlformats.org/officeDocument/2006/relationships/slide" Target="slides/slide8.xml"/><Relationship Id="rId5" Type="http://schemas.openxmlformats.org/officeDocument/2006/relationships/slide" Target="slides/slide7.xml"/><Relationship Id="rId6" Type="http://schemas.openxmlformats.org/officeDocument/2006/relationships/slide" Target="slides/slide6.xml"/><Relationship Id="rId7" Type="http://schemas.openxmlformats.org/officeDocument/2006/relationships/slide" Target="slides/slide1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16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9.xml"/><Relationship Id="rId19" Type="http://schemas.openxmlformats.org/officeDocument/2006/relationships/slide" Target="slides/slide18.xml"/><Relationship Id="rId20" Type="http://schemas.openxmlformats.org/officeDocument/2006/relationships/slide" Target="slides/slide20.xml"/><Relationship Id="rId21" Type="http://schemas.openxmlformats.org/officeDocument/2006/relationships/slide" Target="slides/slide21.xml"/><Relationship Id="rId22" Type="http://schemas.openxmlformats.org/officeDocument/2006/relationships/slide" Target="slides/slide23.xml"/><Relationship Id="rId23" Type="http://schemas.openxmlformats.org/officeDocument/2006/relationships/slide" Target="slides/slide24.xml"/><Relationship Id="rId24" Type="http://schemas.openxmlformats.org/officeDocument/2006/relationships/slide" Target="slides/slide25.xml"/><Relationship Id="rId25" Type="http://schemas.openxmlformats.org/officeDocument/2006/relationships/slide" Target="slides/slide26.xml"/><Relationship Id="rId26" Type="http://schemas.openxmlformats.org/officeDocument/2006/relationships/slide" Target="slides/slide28.xml"/><Relationship Id="rId27" Type="http://schemas.openxmlformats.org/officeDocument/2006/relationships/slide" Target="slides/slide29.xml"/><Relationship Id="rId28" Type="http://schemas.openxmlformats.org/officeDocument/2006/relationships/slide" Target="slides/slide30.xml"/><Relationship Id="rId29" Type="http://schemas.openxmlformats.org/officeDocument/2006/relationships/slide" Target="slides/slide31.xml"/><Relationship Id="rId30" Type="http://schemas.openxmlformats.org/officeDocument/2006/relationships/slide" Target="slides/slide32.xml"/><Relationship Id="rId31" Type="http://schemas.openxmlformats.org/officeDocument/2006/relationships/slide" Target="slides/slide33.xml"/><Relationship Id="rId32" Type="http://schemas.openxmlformats.org/officeDocument/2006/relationships/slide" Target="slides/slide34.xml"/><Relationship Id="rId33" Type="http://schemas.openxmlformats.org/officeDocument/2006/relationships/slide" Target="slides/slide35.xml"/><Relationship Id="rId34" Type="http://schemas.openxmlformats.org/officeDocument/2006/relationships/slide" Target="slides/slide36.xml"/><Relationship Id="rId35" Type="http://schemas.openxmlformats.org/officeDocument/2006/relationships/slide" Target="slides/slide37.xml"/><Relationship Id="rId36" Type="http://schemas.openxmlformats.org/officeDocument/2006/relationships/slide" Target="slides/slide38.xml"/><Relationship Id="rId37" Type="http://schemas.openxmlformats.org/officeDocument/2006/relationships/slide" Target="slides/slide39.xml"/><Relationship Id="rId38" Type="http://schemas.openxmlformats.org/officeDocument/2006/relationships/slide" Target="slides/slide40.xml"/><Relationship Id="rId39" Type="http://schemas.openxmlformats.org/officeDocument/2006/relationships/slide" Target="slides/slide41.xml"/><Relationship Id="rId40" Type="http://schemas.openxmlformats.org/officeDocument/2006/relationships/slide" Target="slides/slide42.xml"/><Relationship Id="rId41" Type="http://schemas.openxmlformats.org/officeDocument/2006/relationships/slide" Target="slides/slide43.xml"/><Relationship Id="rId42" Type="http://schemas.openxmlformats.org/officeDocument/2006/relationships/slide" Target="slides/slide44.xml"/><Relationship Id="rId43" Type="http://schemas.openxmlformats.org/officeDocument/2006/relationships/slide" Target="slides/slide45.xml"/><Relationship Id="rId44" Type="http://schemas.openxmlformats.org/officeDocument/2006/relationships/slide" Target="slides/slide46.xml"/><Relationship Id="rId45" Type="http://schemas.openxmlformats.org/officeDocument/2006/relationships/slide" Target="slides/slide47.xml"/><Relationship Id="rId46" Type="http://schemas.openxmlformats.org/officeDocument/2006/relationships/slide" Target="slides/slide48.xml"/><Relationship Id="rId47" Type="http://schemas.openxmlformats.org/officeDocument/2006/relationships/slide" Target="slides/slide49.xml"/><Relationship Id="rId48" Type="http://schemas.openxmlformats.org/officeDocument/2006/relationships/slide" Target="slides/slide50.xml"/><Relationship Id="rId49" Type="http://schemas.openxmlformats.org/officeDocument/2006/relationships/slide" Target="slides/slide51.xml"/><Relationship Id="rId50" Type="http://schemas.openxmlformats.org/officeDocument/2006/relationships/slide" Target="slides/slide52.xml"/><Relationship Id="rId51" Type="http://schemas.openxmlformats.org/officeDocument/2006/relationships/slide" Target="slides/slide53.xml"/><Relationship Id="rId52" Type="http://schemas.openxmlformats.org/officeDocument/2006/relationships/slide" Target="slides/slide54.xml"/><Relationship Id="rId53" Type="http://schemas.openxmlformats.org/officeDocument/2006/relationships/slide" Target="slides/slide55.xml"/><Relationship Id="rId54" Type="http://schemas.openxmlformats.org/officeDocument/2006/relationships/slide" Target="slides/slide56.xml"/><Relationship Id="rId55" Type="http://schemas.openxmlformats.org/officeDocument/2006/relationships/slide" Target="slides/slide57.xml"/><Relationship Id="rId56" Type="http://schemas.openxmlformats.org/officeDocument/2006/relationships/slide" Target="slides/slide58.xml"/><Relationship Id="rId57" Type="http://schemas.openxmlformats.org/officeDocument/2006/relationships/slide" Target="slides/slide59.xml"/><Relationship Id="rId58" Type="http://schemas.openxmlformats.org/officeDocument/2006/relationships/slide" Target="slides/slide2.xml"/><Relationship Id="rId59" Type="http://schemas.openxmlformats.org/officeDocument/2006/relationships/slide" Target="slides/slide3.xml"/><Relationship Id="rId60" Type="http://schemas.openxmlformats.org/officeDocument/2006/relationships/slide" Target="slides/slide10.xml"/><Relationship Id="rId61" Type="http://schemas.openxmlformats.org/officeDocument/2006/relationships/slide" Target="slides/slide17.xml"/><Relationship Id="rId62" Type="http://schemas.openxmlformats.org/officeDocument/2006/relationships/slide" Target="slides/slide19.xml"/><Relationship Id="rId63" Type="http://schemas.openxmlformats.org/officeDocument/2006/relationships/slide" Target="slides/slide22.xml"/><Relationship Id="rId64" Type="http://schemas.openxmlformats.org/officeDocument/2006/relationships/slide" Target="slides/slide2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12471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200"/>
              <a:buNone/>
              <a:defRPr sz="5200" b="1">
                <a:solidFill>
                  <a:schemeClr val="dk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3657600"/>
            <a:ext cx="8520600" cy="36576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pPr>
              <a:defRPr sz="2200"/>
            </a:pPr>
            <a:endParaRPr/>
          </a:p>
        </p:txBody>
      </p:sp>
      <p:sp>
        <p:nvSpPr>
          <p:cNvPr id="2" name="Google Shape;22;p5">
            <a:extLst>
              <a:ext uri="{FF2B5EF4-FFF2-40B4-BE49-F238E27FC236}">
                <a16:creationId xmlns:a16="http://schemas.microsoft.com/office/drawing/2014/main" id="{97A17C7E-5073-6B99-C91A-19299DA839DE}"/>
              </a:ext>
            </a:extLst>
          </p:cNvPr>
          <p:cNvSpPr/>
          <p:nvPr userDrawn="1"/>
        </p:nvSpPr>
        <p:spPr>
          <a:xfrm>
            <a:off x="8607898" y="-10450"/>
            <a:ext cx="548701" cy="4797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" name="Slide Number">
            <a:extLst>
              <a:ext uri="{FF2B5EF4-FFF2-40B4-BE49-F238E27FC236}">
                <a16:creationId xmlns:a16="http://schemas.microsoft.com/office/drawing/2014/main" id="{2BE9CD3C-2632-D40F-DBD2-47ACED4F9A3C}"/>
              </a:ext>
            </a:extLst>
          </p:cNvPr>
          <p:cNvSpPr txBox="1"/>
          <p:nvPr userDrawn="1"/>
        </p:nvSpPr>
        <p:spPr>
          <a:xfrm>
            <a:off x="8607898" y="-10450"/>
            <a:ext cx="548701" cy="4797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ctr"/>
            <a:fld id="{00000000-1234-1234-1234-000000000999}" type="slidenum">
              <a:rPr lang="en-US" sz="1800" b="1">
                <a:solidFill>
                  <a:schemeClr val="lt1"/>
                </a:solidFill>
              </a:rPr>
              <a:pPr algn="ctr"/>
              <a:t>‹#›</a:t>
            </a:fld>
            <a:endParaRPr lang="en-US" sz="1800" b="1" dirty="0"/>
          </a:p>
        </p:txBody>
      </p:sp>
      <p:sp>
        <p:nvSpPr>
          <p:cNvPr id="110" name="Author affiliation"/>
          <p:cNvSpPr txBox="1">
            <a:spLocks noGrp="1"/>
          </p:cNvSpPr>
          <p:nvPr>
            <p:ph type="body" idx="10"/>
          </p:nvPr>
        </p:nvSpPr>
        <p:spPr>
          <a:xfrm>
            <a:off x="5486400" y="4224528"/>
            <a:ext cx="3108960" cy="228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626669"/>
                </a:solidFill>
                <a:latin typeface="Noto Sans CJK JP"/>
              </a:defRPr>
            </a:pPr>
            <a:r>
              <a:t>所属　［所属］</a:t>
            </a:r>
          </a:p>
        </p:txBody>
      </p:sp>
      <p:sp>
        <p:nvSpPr>
          <p:cNvPr id="111" name="Author name"/>
          <p:cNvSpPr txBox="1">
            <a:spLocks noGrp="1"/>
          </p:cNvSpPr>
          <p:nvPr>
            <p:ph type="body" idx="11"/>
          </p:nvPr>
        </p:nvSpPr>
        <p:spPr>
          <a:xfrm>
            <a:off x="5486400" y="4498848"/>
            <a:ext cx="3108960" cy="228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626669"/>
                </a:solidFill>
                <a:latin typeface="Noto Sans CJK JP"/>
              </a:defRPr>
            </a:pPr>
            <a:r>
              <a:t>氏名　［氏名］</a:t>
            </a:r>
          </a:p>
        </p:txBody>
      </p:sp>
      <p:sp>
        <p:nvSpPr>
          <p:cNvPr id="112" name="Creation date"/>
          <p:cNvSpPr txBox="1">
            <a:spLocks noGrp="1"/>
          </p:cNvSpPr>
          <p:nvPr>
            <p:ph type="body" idx="12"/>
          </p:nvPr>
        </p:nvSpPr>
        <p:spPr>
          <a:xfrm>
            <a:off x="457200" y="274320"/>
            <a:ext cx="3657600" cy="2286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626669"/>
                </a:solidFill>
                <a:latin typeface="Noto Sans CJK JP"/>
              </a:defRPr>
            </a:pPr>
            <a:r>
              <a:t>作成日　YYYY-MM-DD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カスタム レイアウト 1">
  <p:cSld name="CUSTOM"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1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5" name="Google Shape;75;p11"/>
          <p:cNvSpPr txBox="1"/>
          <p:nvPr/>
        </p:nvSpPr>
        <p:spPr>
          <a:xfrm>
            <a:off x="76100" y="0"/>
            <a:ext cx="8059500" cy="480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ja" b="1" dirty="0">
                <a:solidFill>
                  <a:schemeClr val="lt1"/>
                </a:solidFill>
              </a:rPr>
              <a:t>T</a:t>
            </a:r>
            <a:r>
              <a:rPr lang="ja" b="1" dirty="0">
                <a:solidFill>
                  <a:schemeClr val="lt1"/>
                </a:solidFill>
              </a:rPr>
              <a:t>able of </a:t>
            </a:r>
            <a:r>
              <a:rPr lang="en-US" altLang="ja" b="1" dirty="0">
                <a:solidFill>
                  <a:schemeClr val="lt1"/>
                </a:solidFill>
              </a:rPr>
              <a:t>C</a:t>
            </a:r>
            <a:r>
              <a:rPr lang="ja" b="1" dirty="0">
                <a:solidFill>
                  <a:schemeClr val="lt1"/>
                </a:solidFill>
              </a:rPr>
              <a:t>ontents</a:t>
            </a:r>
            <a:endParaRPr b="1" dirty="0">
              <a:solidFill>
                <a:schemeClr val="lt1"/>
              </a:solidFill>
            </a:endParaRPr>
          </a:p>
        </p:txBody>
      </p:sp>
      <p:sp>
        <p:nvSpPr>
          <p:cNvPr id="76" name="Google Shape;76;p11"/>
          <p:cNvSpPr txBox="1"/>
          <p:nvPr/>
        </p:nvSpPr>
        <p:spPr>
          <a:xfrm>
            <a:off x="1236712" y="842226"/>
            <a:ext cx="5764979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18"/>
              <a:buFont typeface="Arial"/>
              <a:buNone/>
              <a:tabLst/>
              <a:defRPr/>
            </a:pPr>
            <a:r>
              <a:rPr lang="ja" sz="2800" b="1" dirty="0">
                <a:solidFill>
                  <a:schemeClr val="accent2"/>
                </a:solidFill>
              </a:rPr>
              <a:t>1.</a:t>
            </a:r>
            <a:r>
              <a:rPr lang="en-US" altLang="ja" sz="2800" b="1" dirty="0">
                <a:solidFill>
                  <a:schemeClr val="accent2"/>
                </a:solidFill>
              </a:rPr>
              <a:t> </a:t>
            </a:r>
            <a:r>
              <a:rPr lang="en" altLang="ja" sz="2800" b="1" dirty="0">
                <a:solidFill>
                  <a:schemeClr val="dk1"/>
                </a:solidFill>
              </a:rPr>
              <a:t>Background &amp; Purpose</a:t>
            </a:r>
            <a:endParaRPr lang="en" altLang="ja-JP" sz="2800" b="1" dirty="0">
              <a:solidFill>
                <a:schemeClr val="dk1"/>
              </a:solidFill>
            </a:endParaRPr>
          </a:p>
        </p:txBody>
      </p:sp>
      <p:sp>
        <p:nvSpPr>
          <p:cNvPr id="79" name="Google Shape;79;p11"/>
          <p:cNvSpPr txBox="1"/>
          <p:nvPr/>
        </p:nvSpPr>
        <p:spPr>
          <a:xfrm>
            <a:off x="1236712" y="1664913"/>
            <a:ext cx="5412281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18"/>
              <a:buFont typeface="Arial"/>
              <a:buNone/>
              <a:tabLst/>
              <a:defRPr/>
            </a:pPr>
            <a:r>
              <a:rPr lang="ja" sz="2800" b="1" dirty="0">
                <a:solidFill>
                  <a:schemeClr val="accent2"/>
                </a:solidFill>
              </a:rPr>
              <a:t>2.</a:t>
            </a:r>
            <a:r>
              <a:rPr lang="en-US" altLang="ja" sz="2800" b="1" dirty="0">
                <a:solidFill>
                  <a:schemeClr val="accent2"/>
                </a:solidFill>
              </a:rPr>
              <a:t> </a:t>
            </a:r>
            <a:r>
              <a:rPr lang="en" altLang="ja" sz="2800" b="1" dirty="0">
                <a:solidFill>
                  <a:schemeClr val="dk1"/>
                </a:solidFill>
              </a:rPr>
              <a:t>Methodology</a:t>
            </a:r>
            <a:endParaRPr lang="en" altLang="ja-JP" sz="2800" b="1" dirty="0">
              <a:solidFill>
                <a:schemeClr val="dk1"/>
              </a:solidFill>
            </a:endParaRPr>
          </a:p>
        </p:txBody>
      </p:sp>
      <p:sp>
        <p:nvSpPr>
          <p:cNvPr id="82" name="Google Shape;82;p11"/>
          <p:cNvSpPr txBox="1"/>
          <p:nvPr/>
        </p:nvSpPr>
        <p:spPr>
          <a:xfrm>
            <a:off x="1236712" y="2487598"/>
            <a:ext cx="6688590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18"/>
              <a:buFont typeface="Arial"/>
              <a:buNone/>
              <a:tabLst/>
              <a:defRPr/>
            </a:pPr>
            <a:r>
              <a:rPr lang="ja" sz="2800" b="1" dirty="0">
                <a:solidFill>
                  <a:schemeClr val="accent2"/>
                </a:solidFill>
              </a:rPr>
              <a:t>3.</a:t>
            </a:r>
            <a:r>
              <a:rPr lang="en-US" altLang="ja" sz="2800" b="1" dirty="0">
                <a:solidFill>
                  <a:schemeClr val="accent2"/>
                </a:solidFill>
              </a:rPr>
              <a:t> </a:t>
            </a:r>
            <a:r>
              <a:rPr lang="en" altLang="ja" sz="2800" b="1" dirty="0">
                <a:solidFill>
                  <a:schemeClr val="dk1"/>
                </a:solidFill>
              </a:rPr>
              <a:t>Classification Framework</a:t>
            </a:r>
            <a:endParaRPr lang="en" altLang="ja-JP" sz="2800" b="1" dirty="0">
              <a:solidFill>
                <a:schemeClr val="dk1"/>
              </a:solidFill>
            </a:endParaRPr>
          </a:p>
        </p:txBody>
      </p:sp>
      <p:sp>
        <p:nvSpPr>
          <p:cNvPr id="85" name="Google Shape;85;p11"/>
          <p:cNvSpPr txBox="1"/>
          <p:nvPr userDrawn="1"/>
        </p:nvSpPr>
        <p:spPr>
          <a:xfrm>
            <a:off x="1236712" y="3310287"/>
            <a:ext cx="5020396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18"/>
              <a:buFont typeface="Arial"/>
              <a:buNone/>
              <a:tabLst/>
              <a:defRPr/>
            </a:pPr>
            <a:r>
              <a:rPr lang="ja" sz="2800" b="1" dirty="0">
                <a:solidFill>
                  <a:schemeClr val="accent2"/>
                </a:solidFill>
              </a:rPr>
              <a:t>4.</a:t>
            </a:r>
            <a:r>
              <a:rPr lang="en-US" altLang="ja" sz="2800" b="1" dirty="0">
                <a:solidFill>
                  <a:schemeClr val="accent2"/>
                </a:solidFill>
              </a:rPr>
              <a:t> </a:t>
            </a:r>
            <a:r>
              <a:rPr lang="en" altLang="ja" sz="2800" b="1" dirty="0">
                <a:solidFill>
                  <a:schemeClr val="dk1"/>
                </a:solidFill>
              </a:rPr>
              <a:t>Results &amp; Analysis</a:t>
            </a:r>
            <a:endParaRPr lang="en" altLang="ja-JP" sz="2800" b="1" dirty="0">
              <a:solidFill>
                <a:schemeClr val="dk1"/>
              </a:solidFill>
            </a:endParaRPr>
          </a:p>
        </p:txBody>
      </p:sp>
      <p:sp>
        <p:nvSpPr>
          <p:cNvPr id="87" name="Google Shape;87;p11"/>
          <p:cNvSpPr txBox="1"/>
          <p:nvPr/>
        </p:nvSpPr>
        <p:spPr>
          <a:xfrm>
            <a:off x="1929203" y="3891800"/>
            <a:ext cx="5996100" cy="43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900" dirty="0">
              <a:solidFill>
                <a:schemeClr val="dk1"/>
              </a:solidFill>
            </a:endParaRPr>
          </a:p>
        </p:txBody>
      </p:sp>
      <p:sp>
        <p:nvSpPr>
          <p:cNvPr id="88" name="Google Shape;88;p11"/>
          <p:cNvSpPr txBox="1"/>
          <p:nvPr/>
        </p:nvSpPr>
        <p:spPr>
          <a:xfrm>
            <a:off x="1236712" y="4132975"/>
            <a:ext cx="6196053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18"/>
              <a:buFont typeface="Arial"/>
              <a:buNone/>
              <a:tabLst/>
              <a:defRPr/>
            </a:pPr>
            <a:r>
              <a:rPr lang="ja" sz="2800" b="1" dirty="0">
                <a:solidFill>
                  <a:schemeClr val="accent2"/>
                </a:solidFill>
              </a:rPr>
              <a:t>5.</a:t>
            </a:r>
            <a:r>
              <a:rPr lang="en-US" altLang="ja" sz="2800" b="1" dirty="0">
                <a:solidFill>
                  <a:schemeClr val="accent2"/>
                </a:solidFill>
              </a:rPr>
              <a:t> </a:t>
            </a:r>
            <a:r>
              <a:rPr lang="en" altLang="ja" sz="2800" b="1" dirty="0">
                <a:solidFill>
                  <a:schemeClr val="dk1"/>
                </a:solidFill>
              </a:rPr>
              <a:t>Conclusions and future work</a:t>
            </a:r>
            <a:endParaRPr lang="en" altLang="ja-JP" sz="2800" b="1" dirty="0">
              <a:solidFill>
                <a:schemeClr val="dk1"/>
              </a:solidFill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501908" y="2868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r"/>
            <a:fld id="{00000000-1234-1234-1234-000000000999}" type="slidenum">
              <a:rPr lang="en-US" sz="1800" b="1">
                <a:solidFill>
                  <a:schemeClr val="lt1"/>
                </a:solidFill>
              </a:rPr>
              <a:t>‹#›</a:t>
            </a:fld>
            <a:endParaRPr lang="en-US" sz="1800" b="1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ormal">
  <p:cSld name="ONE_COLUMN_TEXT_1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5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title"/>
          </p:nvPr>
        </p:nvSpPr>
        <p:spPr>
          <a:xfrm>
            <a:off x="468600" y="748150"/>
            <a:ext cx="8394600" cy="61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 b="1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5"/>
          <p:cNvSpPr txBox="1">
            <a:spLocks noGrp="1"/>
          </p:cNvSpPr>
          <p:nvPr>
            <p:ph type="body" idx="1"/>
          </p:nvPr>
        </p:nvSpPr>
        <p:spPr>
          <a:xfrm>
            <a:off x="589650" y="1474850"/>
            <a:ext cx="7964700" cy="345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203200" lvl="0" indent="-152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Char char="•"/>
              <a:defRPr sz="2000">
                <a:solidFill>
                  <a:schemeClr val="dk2"/>
                </a:solidFill>
              </a:defRPr>
            </a:lvl1pPr>
            <a:lvl2pPr marL="482600" lvl="1" indent="-1270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Char char="○"/>
              <a:defRPr sz="2000">
                <a:solidFill>
                  <a:schemeClr val="dk2"/>
                </a:solidFill>
              </a:defRPr>
            </a:lvl2pPr>
            <a:lvl3pPr marL="762000" lvl="2" indent="-1270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Char char="■"/>
              <a:defRPr sz="2000">
                <a:solidFill>
                  <a:schemeClr val="dk2"/>
                </a:solidFill>
              </a:defRPr>
            </a:lvl3pPr>
            <a:lvl4pPr marL="1041400" lvl="3" indent="-1270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200"/>
              <a:buChar char="•"/>
              <a:defRPr sz="2200">
                <a:solidFill>
                  <a:schemeClr val="dk2"/>
                </a:solidFill>
              </a:defRPr>
            </a:lvl4pPr>
            <a:lvl5pPr marL="1320800" lvl="4" indent="-1270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Char char="○"/>
              <a:defRPr sz="2000">
                <a:solidFill>
                  <a:schemeClr val="dk2"/>
                </a:solidFill>
              </a:defRPr>
            </a:lvl5pPr>
            <a:lvl6pPr marL="1600200" lvl="5" indent="-1270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Char char="■"/>
              <a:defRPr sz="2000">
                <a:solidFill>
                  <a:schemeClr val="dk2"/>
                </a:solidFill>
              </a:defRPr>
            </a:lvl6pPr>
            <a:lvl7pPr marL="1879600" lvl="6" indent="-1270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Char char="•"/>
              <a:defRPr sz="2000">
                <a:solidFill>
                  <a:schemeClr val="dk2"/>
                </a:solidFill>
              </a:defRPr>
            </a:lvl7pPr>
            <a:lvl8pPr marL="2159000" lvl="7" indent="-1270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Char char="○"/>
              <a:defRPr sz="2000">
                <a:solidFill>
                  <a:schemeClr val="dk2"/>
                </a:solidFill>
              </a:defRPr>
            </a:lvl8pPr>
            <a:lvl9pPr marL="2438400" lvl="8" indent="-1270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Char char="■"/>
              <a:defRPr sz="20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26" name="Google Shape;26;p5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0481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 b="1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/>
          </a:p>
        </p:txBody>
      </p:sp>
      <p:sp>
        <p:nvSpPr>
          <p:cNvPr id="999" name="Slide Number"/>
          <p:cNvSpPr txBox="1"/>
          <p:nvPr/>
        </p:nvSpPr>
        <p:spPr>
          <a:xfrm>
            <a:off x="8501908" y="2868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r"/>
            <a:fld id="{00000000-1234-1234-1234-000000000999}" type="slidenum">
              <a:rPr lang="en-US" sz="1800" b="1">
                <a:solidFill>
                  <a:schemeClr val="lt1"/>
                </a:solidFill>
              </a:rPr>
              <a:t>‹#›</a:t>
            </a:fld>
            <a:endParaRPr lang="en-US" sz="1800" b="1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タイトルのみ">
  <p:cSld name="ONE_COLUMN_TEXT_1_4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6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" name="Google Shape;30;p6"/>
          <p:cNvSpPr txBox="1">
            <a:spLocks noGrp="1"/>
          </p:cNvSpPr>
          <p:nvPr>
            <p:ph type="title"/>
          </p:nvPr>
        </p:nvSpPr>
        <p:spPr>
          <a:xfrm>
            <a:off x="468600" y="649825"/>
            <a:ext cx="8206800" cy="61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 b="1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6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1153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 b="1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/>
          </a:p>
        </p:txBody>
      </p:sp>
      <p:sp>
        <p:nvSpPr>
          <p:cNvPr id="999" name="Slide Number"/>
          <p:cNvSpPr txBox="1"/>
          <p:nvPr/>
        </p:nvSpPr>
        <p:spPr>
          <a:xfrm>
            <a:off x="8501908" y="2868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r"/>
            <a:fld id="{00000000-1234-1234-1234-000000000999}" type="slidenum">
              <a:rPr lang="en-US" sz="1800" b="1">
                <a:solidFill>
                  <a:schemeClr val="lt1"/>
                </a:solidFill>
              </a:rPr>
              <a:t>‹#›</a:t>
            </a:fld>
            <a:endParaRPr lang="en-US" sz="1800" b="1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ransition">
  <p:cSld name="ONE_COLUMN_TEXT_1_4_1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7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" name="Google Shape;35;p7"/>
          <p:cNvSpPr txBox="1">
            <a:spLocks noGrp="1"/>
          </p:cNvSpPr>
          <p:nvPr>
            <p:ph type="title"/>
          </p:nvPr>
        </p:nvSpPr>
        <p:spPr>
          <a:xfrm>
            <a:off x="468600" y="2263650"/>
            <a:ext cx="8206800" cy="61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 b="1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36" name="Google Shape;36;p7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1153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 b="1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dirty="0"/>
          </a:p>
        </p:txBody>
      </p:sp>
      <p:sp>
        <p:nvSpPr>
          <p:cNvPr id="999" name="Slide Number"/>
          <p:cNvSpPr txBox="1"/>
          <p:nvPr/>
        </p:nvSpPr>
        <p:spPr>
          <a:xfrm>
            <a:off x="8501908" y="2868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r"/>
            <a:fld id="{00000000-1234-1234-1234-000000000999}" type="slidenum">
              <a:rPr lang="en-US" sz="1800" b="1">
                <a:solidFill>
                  <a:schemeClr val="lt1"/>
                </a:solidFill>
              </a:rPr>
              <a:t>‹#›</a:t>
            </a:fld>
            <a:endParaRPr lang="en-US" sz="1800" b="1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本文のみ">
  <p:cSld name="ONE_COLUMN_TEXT_1_3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8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" name="Google Shape;40;p8"/>
          <p:cNvSpPr txBox="1">
            <a:spLocks noGrp="1"/>
          </p:cNvSpPr>
          <p:nvPr>
            <p:ph type="body" idx="1"/>
          </p:nvPr>
        </p:nvSpPr>
        <p:spPr>
          <a:xfrm>
            <a:off x="589650" y="1185250"/>
            <a:ext cx="7964700" cy="3272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203200" lvl="0" indent="-152400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Char char="•"/>
              <a:defRPr sz="2000">
                <a:solidFill>
                  <a:schemeClr val="dk2"/>
                </a:solidFill>
              </a:defRPr>
            </a:lvl1pPr>
            <a:lvl2pPr marL="482600" lvl="1" indent="-127000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Char char="○"/>
              <a:defRPr sz="2000">
                <a:solidFill>
                  <a:schemeClr val="dk2"/>
                </a:solidFill>
              </a:defRPr>
            </a:lvl2pPr>
            <a:lvl3pPr marL="762000" lvl="2" indent="-127000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Char char="■"/>
              <a:defRPr sz="2000">
                <a:solidFill>
                  <a:schemeClr val="dk2"/>
                </a:solidFill>
              </a:defRPr>
            </a:lvl3pPr>
            <a:lvl4pPr marL="1041400" lvl="3" indent="-127000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200"/>
              <a:buChar char="•"/>
              <a:defRPr sz="2200">
                <a:solidFill>
                  <a:schemeClr val="dk2"/>
                </a:solidFill>
              </a:defRPr>
            </a:lvl4pPr>
            <a:lvl5pPr marL="1320800" lvl="4" indent="-127000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Char char="○"/>
              <a:defRPr sz="2000">
                <a:solidFill>
                  <a:schemeClr val="dk2"/>
                </a:solidFill>
              </a:defRPr>
            </a:lvl5pPr>
            <a:lvl6pPr marL="1600200" lvl="5" indent="-127000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Char char="■"/>
              <a:defRPr sz="2000">
                <a:solidFill>
                  <a:schemeClr val="dk2"/>
                </a:solidFill>
              </a:defRPr>
            </a:lvl6pPr>
            <a:lvl7pPr marL="1879600" lvl="6" indent="-127000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Char char="•"/>
              <a:defRPr sz="2000">
                <a:solidFill>
                  <a:schemeClr val="dk2"/>
                </a:solidFill>
              </a:defRPr>
            </a:lvl7pPr>
            <a:lvl8pPr marL="2159000" lvl="7" indent="-127000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Char char="○"/>
              <a:defRPr sz="2000">
                <a:solidFill>
                  <a:schemeClr val="dk2"/>
                </a:solidFill>
              </a:defRPr>
            </a:lvl8pPr>
            <a:lvl9pPr marL="2438400" lvl="8" indent="-127000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Char char="■"/>
              <a:defRPr sz="20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41" name="Google Shape;41;p8"/>
          <p:cNvSpPr txBox="1">
            <a:spLocks noGrp="1"/>
          </p:cNvSpPr>
          <p:nvPr>
            <p:ph type="title"/>
          </p:nvPr>
        </p:nvSpPr>
        <p:spPr>
          <a:xfrm>
            <a:off x="76100" y="0"/>
            <a:ext cx="80595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 b="1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dirty="0"/>
          </a:p>
        </p:txBody>
      </p:sp>
      <p:sp>
        <p:nvSpPr>
          <p:cNvPr id="999" name="Slide Number"/>
          <p:cNvSpPr txBox="1"/>
          <p:nvPr/>
        </p:nvSpPr>
        <p:spPr>
          <a:xfrm>
            <a:off x="8501908" y="2868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r"/>
            <a:fld id="{00000000-1234-1234-1234-000000000999}" type="slidenum">
              <a:rPr lang="en-US" sz="1800" b="1">
                <a:solidFill>
                  <a:schemeClr val="lt1"/>
                </a:solidFill>
              </a:rPr>
              <a:t>‹#›</a:t>
            </a:fld>
            <a:endParaRPr lang="en-US" sz="1800" b="1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ヘッダーのみ">
  <p:cSld name="ONE_COLUMN_TEXT_1_1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9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" name="Google Shape;45;p9"/>
          <p:cNvSpPr txBox="1">
            <a:spLocks noGrp="1"/>
          </p:cNvSpPr>
          <p:nvPr>
            <p:ph type="title"/>
          </p:nvPr>
        </p:nvSpPr>
        <p:spPr>
          <a:xfrm>
            <a:off x="76100" y="0"/>
            <a:ext cx="81489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 b="1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dirty="0"/>
          </a:p>
        </p:txBody>
      </p:sp>
      <p:sp>
        <p:nvSpPr>
          <p:cNvPr id="999" name="Slide Number"/>
          <p:cNvSpPr txBox="1"/>
          <p:nvPr/>
        </p:nvSpPr>
        <p:spPr>
          <a:xfrm>
            <a:off x="8501908" y="2868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r"/>
            <a:fld id="{00000000-1234-1234-1234-000000000999}" type="slidenum">
              <a:rPr lang="en-US" sz="1800" b="1">
                <a:solidFill>
                  <a:schemeClr val="lt1"/>
                </a:solidFill>
              </a:rPr>
              <a:t>‹#›</a:t>
            </a:fld>
            <a:endParaRPr lang="en-US" sz="1800" b="1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RT_AND_EXPLAN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band"/>
          <p:cNvSpPr txBox="1"/>
          <p:nvPr userDrawn="1"/>
        </p:nvSpPr>
        <p:spPr>
          <a:xfrm>
            <a:off x="0" y="0"/>
            <a:ext cx="91440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wrap="square" anchor="ctr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en-US" dirty="0"/>
          </a:p>
        </p:txBody>
      </p:sp>
      <p:sp>
        <p:nvSpPr>
          <p:cNvPr id="4" name="Chart Placeholder"/>
          <p:cNvSpPr txBox="1">
            <a:spLocks noGrp="1"/>
          </p:cNvSpPr>
          <p:nvPr>
            <p:ph idx="1"/>
          </p:nvPr>
        </p:nvSpPr>
        <p:spPr>
          <a:xfrm>
            <a:off x="456520" y="1250000"/>
            <a:ext cx="5715000" cy="3000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wrap="square"/>
          <a:lstStyle/>
          <a:p>
            <a:r>
              <a:rPr lang="en-US" sz="1800" b="0">
                <a:solidFill>
                  <a:schemeClr val="dk2"/>
                </a:solidFill>
              </a:rPr>
              <a:t>Insert chart</a:t>
            </a:r>
            <a:endParaRPr lang="en-US"/>
          </a:p>
        </p:txBody>
      </p:sp>
      <p:sp>
        <p:nvSpPr>
          <p:cNvPr id="5" name="Explanation Placeholder"/>
          <p:cNvSpPr txBox="1">
            <a:spLocks noGrp="1"/>
          </p:cNvSpPr>
          <p:nvPr>
            <p:ph type="body" idx="2"/>
          </p:nvPr>
        </p:nvSpPr>
        <p:spPr>
          <a:xfrm>
            <a:off x="6295292" y="1550000"/>
            <a:ext cx="2500000" cy="240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>
            <a:lvl1pPr>
              <a:buNone/>
              <a:defRPr/>
            </a:lvl1pPr>
          </a:lstStyle>
          <a:p>
            <a:endParaRPr lang="en-US" dirty="0"/>
          </a:p>
        </p:txBody>
      </p:sp>
      <p:sp>
        <p:nvSpPr>
          <p:cNvPr id="6" name="Supporting Text Placeholder"/>
          <p:cNvSpPr txBox="1">
            <a:spLocks noGrp="1"/>
          </p:cNvSpPr>
          <p:nvPr>
            <p:ph type="body" idx="3"/>
          </p:nvPr>
        </p:nvSpPr>
        <p:spPr>
          <a:xfrm>
            <a:off x="500000" y="4650000"/>
            <a:ext cx="8144000" cy="260000"/>
          </a:xfrm>
          <a:prstGeom prst="rect">
            <a:avLst/>
          </a:prstGeom>
          <a:noFill/>
          <a:ln>
            <a:noFill/>
          </a:ln>
        </p:spPr>
        <p:txBody>
          <a:bodyPr wrap="square"/>
          <a:lstStyle>
            <a:lvl1pPr>
              <a:buNone/>
              <a:defRPr/>
            </a:lvl1pPr>
          </a:lstStyle>
          <a:p>
            <a:endParaRPr lang="en-US" dirty="0"/>
          </a:p>
        </p:txBody>
      </p:sp>
      <p:sp>
        <p:nvSpPr>
          <p:cNvPr id="999" name="Slide Number"/>
          <p:cNvSpPr txBox="1"/>
          <p:nvPr/>
        </p:nvSpPr>
        <p:spPr>
          <a:xfrm>
            <a:off x="8501908" y="2868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r"/>
            <a:fld id="{00000000-1234-1234-1234-000000000999}" type="slidenum">
              <a:rPr lang="en-US" sz="1800" b="1">
                <a:solidFill>
                  <a:schemeClr val="lt1"/>
                </a:solidFill>
              </a:rPr>
              <a:t>‹#›</a:t>
            </a:fld>
            <a:endParaRPr lang="en-US" sz="1800" b="1"/>
          </a:p>
        </p:txBody>
      </p:sp>
      <p:sp>
        <p:nvSpPr>
          <p:cNvPr id="9" name="タイトル 8">
            <a:extLst>
              <a:ext uri="{FF2B5EF4-FFF2-40B4-BE49-F238E27FC236}">
                <a16:creationId xmlns:a16="http://schemas.microsoft.com/office/drawing/2014/main" id="{25C0E310-B322-8587-531C-0E2F5BB13C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ページ番号のみ 1">
  <p:cSld name="ONE_COLUMN_TEXT_1_2_1"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3"/>
          <p:cNvSpPr txBox="1">
            <a:spLocks noGrp="1"/>
          </p:cNvSpPr>
          <p:nvPr>
            <p:ph type="title"/>
          </p:nvPr>
        </p:nvSpPr>
        <p:spPr>
          <a:xfrm>
            <a:off x="5796650" y="4091225"/>
            <a:ext cx="3347400" cy="1052400"/>
          </a:xfrm>
          <a:prstGeom prst="rect">
            <a:avLst/>
          </a:prstGeom>
          <a:solidFill>
            <a:schemeClr val="accent2"/>
          </a:solidFill>
        </p:spPr>
        <p:txBody>
          <a:bodyPr spcFirstLastPara="1" wrap="square" lIns="126000" tIns="126000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sz="3200" b="1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sz="3200" b="1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sz="3200" b="1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sz="3200" b="1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sz="3200" b="1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sz="3200" b="1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sz="3200" b="1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sz="3200" b="1">
                <a:solidFill>
                  <a:schemeClr val="lt1"/>
                </a:solidFill>
              </a:defRPr>
            </a:lvl9pPr>
          </a:lstStyle>
          <a:p>
            <a:endParaRPr dirty="0"/>
          </a:p>
        </p:txBody>
      </p:sp>
      <p:sp>
        <p:nvSpPr>
          <p:cNvPr id="999" name="Slide Number"/>
          <p:cNvSpPr txBox="1"/>
          <p:nvPr/>
        </p:nvSpPr>
        <p:spPr>
          <a:xfrm>
            <a:off x="8472458" y="28683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r"/>
            <a:fld id="{00000000-1234-1234-1234-000000000999}" type="slidenum">
              <a:rPr lang="en-US" sz="1800" b="1">
                <a:solidFill>
                  <a:schemeClr val="dk2"/>
                </a:solidFill>
              </a:rPr>
              <a:t>‹#›</a:t>
            </a:fld>
            <a:endParaRPr lang="en-US" sz="1800" b="1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203200" lvl="0" indent="-152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•"/>
              <a:defRPr sz="1800">
                <a:solidFill>
                  <a:schemeClr val="dk2"/>
                </a:solidFill>
              </a:defRPr>
            </a:lvl1pPr>
            <a:lvl2pPr marL="482600" lvl="1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762000" lvl="2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041400" lvl="3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•"/>
              <a:defRPr>
                <a:solidFill>
                  <a:schemeClr val="dk2"/>
                </a:solidFill>
              </a:defRPr>
            </a:lvl4pPr>
            <a:lvl5pPr marL="1320800" lvl="4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1600200" lvl="5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1879600" lvl="6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•"/>
              <a:defRPr>
                <a:solidFill>
                  <a:schemeClr val="dk2"/>
                </a:solidFill>
              </a:defRPr>
            </a:lvl7pPr>
            <a:lvl8pPr marL="2159000" lvl="7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2438400" lvl="8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7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8" r:id="rId8"/>
    <p:sldLayoutId id="2147483659" r:id="rId9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Arial"/>
        <a:defRPr sz="1400" b="0" i="0" u="none" strike="noStrike" cap="none">
          <a:solidFill>
            <a:schemeClr val="dk1"/>
          </a:solidFill>
          <a:latin typeface="+mn-lt"/>
          <a:ea typeface="+mn-lt"/>
          <a:cs typeface="+mn-lt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.png"/><Relationship Id="rId3" Type="http://schemas.openxmlformats.org/officeDocument/2006/relationships/image" Target="../media/image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Relationship Id="rId3" Type="http://schemas.openxmlformats.org/officeDocument/2006/relationships/image" Target="../media/image7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4.png"/><Relationship Id="rId3" Type="http://schemas.openxmlformats.org/officeDocument/2006/relationships/image" Target="../media/image8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clanthology.org/D15-1075/" TargetMode="External"/><Relationship Id="rId3" Type="http://schemas.openxmlformats.org/officeDocument/2006/relationships/hyperlink" Target="https://aclanthology.org/N18-1101/" TargetMode="External"/><Relationship Id="rId4" Type="http://schemas.openxmlformats.org/officeDocument/2006/relationships/hyperlink" Target="https://github.com/OanaMariaCamburu/e-SNLI" TargetMode="External"/><Relationship Id="rId5" Type="http://schemas.openxmlformats.org/officeDocument/2006/relationships/hyperlink" Target="https://github.com/facebookresearch/anli" TargetMode="External"/><Relationship Id="rId6" Type="http://schemas.openxmlformats.org/officeDocument/2006/relationships/hyperlink" Target="https://aclanthology.org/N18-2017/" TargetMode="External"/><Relationship Id="rId7" Type="http://schemas.openxmlformats.org/officeDocument/2006/relationships/hyperlink" Target="https://aclanthology.org/W07-1401/" TargetMode="Externa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coetaur0/ESIM" TargetMode="External"/><Relationship Id="rId3" Type="http://schemas.openxmlformats.org/officeDocument/2006/relationships/hyperlink" Target="https://github.com/cooelf/SemBERT" TargetMode="External"/><Relationship Id="rId4" Type="http://schemas.openxmlformats.org/officeDocument/2006/relationships/hyperlink" Target="https://github.com/alibaba-edu/simple-effective-text-matching" TargetMode="External"/><Relationship Id="rId5" Type="http://schemas.openxmlformats.org/officeDocument/2006/relationships/hyperlink" Target="https://github.com/princeton-nlp/SimCSE" TargetMode="External"/><Relationship Id="rId6" Type="http://schemas.openxmlformats.org/officeDocument/2006/relationships/hyperlink" Target="https://github.com/UKPLab/sentence-transformers/tree/master/examples/sentence_transformer/training/nli" TargetMode="External"/><Relationship Id="rId7" Type="http://schemas.openxmlformats.org/officeDocument/2006/relationships/hyperlink" Target="https://arxiv.org/abs/2402.16829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097280"/>
            <a:ext cx="8229600" cy="2240280"/>
          </a:xfrm>
        </p:spPr>
        <p:txBody>
          <a:bodyPr wrap="square" lIns="0" rIns="0" tIns="0" bIns="0" anchor="ctr"/>
          <a:lstStyle/>
          <a:p>
            <a:pPr algn="ctr">
              <a:lnSpc>
                <a:spcPts val="4400"/>
              </a:lnSpc>
              <a:spcBef>
                <a:spcPts val="0"/>
              </a:spcBef>
              <a:spcAft>
                <a:spcPts val="0"/>
              </a:spcAft>
              <a:defRPr sz="3200" b="0">
                <a:solidFill>
                  <a:srgbClr val="303437"/>
                </a:solidFill>
                <a:latin typeface="Noto Sans CJK JP"/>
              </a:defRPr>
            </a:pPr>
            <a:r>
              <a:rPr sz="3200" b="0" lang="ja-JP">
                <a:solidFill>
                  <a:srgbClr val="303437"/>
                </a:solidFill>
                <a:latin typeface="Noto Sans CJK JP"/>
                <a:ea typeface="Noto Sans CJK JP"/>
              </a:rPr>
              <a:t>自然言語推論用データセット</a:t>
            </a:r>
            <a:endParaRPr sz="3200" lang="ja-JP"/>
          </a:p>
          <a:p>
            <a:pPr algn="ctr">
              <a:lnSpc>
                <a:spcPts val="3800"/>
              </a:lnSpc>
              <a:spcBef>
                <a:spcPts val="0"/>
              </a:spcBef>
              <a:spcAft>
                <a:spcPts val="0"/>
              </a:spcAft>
              <a:defRPr sz="3000" b="0">
                <a:solidFill>
                  <a:srgbClr val="303437"/>
                </a:solidFill>
                <a:latin typeface="Liberation Sans"/>
              </a:defRPr>
            </a:pPr>
            <a:r>
              <a:rPr sz="3000" b="0" lang="ja-JP">
                <a:solidFill>
                  <a:srgbClr val="303437"/>
                </a:solidFill>
                <a:latin typeface="Liberation Sans"/>
                <a:ea typeface="Liberation Sans"/>
              </a:rPr>
              <a:t>Stanford Natural Language Inference Corpus</a:t>
            </a:r>
            <a:endParaRPr sz="3200" lang="ja-JP"/>
          </a:p>
          <a:p>
            <a:pPr algn="ctr">
              <a:lnSpc>
                <a:spcPts val="6500"/>
              </a:lnSpc>
              <a:spcBef>
                <a:spcPts val="0"/>
              </a:spcBef>
              <a:spcAft>
                <a:spcPts val="0"/>
              </a:spcAft>
              <a:defRPr sz="5400" b="0">
                <a:solidFill>
                  <a:srgbClr val="303437"/>
                </a:solidFill>
                <a:latin typeface="Liberation Sans"/>
              </a:defRPr>
            </a:pPr>
            <a:r>
              <a:rPr sz="5400" b="0" lang="ja-JP">
                <a:solidFill>
                  <a:srgbClr val="303437"/>
                </a:solidFill>
                <a:latin typeface="Liberation Sans"/>
                <a:ea typeface="Liberation Sans"/>
              </a:rPr>
              <a:t>SNLI</a:t>
            </a:r>
            <a:endParaRPr sz="3200" lang="ja-JP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/>
          </a:p>
        </p:txBody>
      </p:sp>
      <p:sp>
        <p:nvSpPr>
          <p:cNvPr id="5" name="Text Placeholder 4"/>
          <p:cNvSpPr>
            <a:spLocks noGrp="1"/>
          </p:cNvSpPr>
          <p:nvPr>
            <p:ph type="body" idx="11"/>
          </p:nvPr>
        </p:nvSpPr>
        <p:spPr>
          <a:xfrm>
            <a:off x="5486400" y="4498848"/>
            <a:ext cx="3108960" cy="22860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626669"/>
                </a:solidFill>
                <a:latin typeface="Noto Sans CJK JP"/>
              </a:defRPr>
              <a:buNone/>
            </a:pPr>
            <a:r>
              <a:rPr sz="1400" lang="ja-JP">
                <a:solidFill>
                  <a:srgbClr val="626669"/>
                </a:solidFill>
                <a:latin typeface="Noto Sans CJK JP"/>
                <a:ea typeface="Noto Sans CJK JP"/>
              </a:rPr>
              <a:t>sasakiy84</a:t>
            </a:r>
            <a:endParaRPr sz="1400" lang="ja-JP"/>
            <a:endParaRPr sz="1400"/>
          </a:p>
        </p:txBody>
      </p:sp>
      <p:sp>
        <p:nvSpPr>
          <p:cNvPr id="6" name="Text Placeholder 5"/>
          <p:cNvSpPr>
            <a:spLocks noGrp="1"/>
          </p:cNvSpPr>
          <p:nvPr>
            <p:ph type="body" idx="12"/>
          </p:nvPr>
        </p:nvSpPr>
        <p:spPr>
          <a:xfrm>
            <a:off x="457200" y="274320"/>
            <a:ext cx="8046720" cy="27432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1400" b="0">
                <a:solidFill>
                  <a:srgbClr val="626669"/>
                </a:solidFill>
                <a:latin typeface="Noto Sans CJK JP"/>
              </a:defRPr>
              <a:spcAft>
                <a:spcPts val="0"/>
              </a:spcAft>
              <a:buNone/>
            </a:pPr>
            <a:r>
              <a:rPr sz="1400" lang="ja-JP">
                <a:solidFill>
                  <a:srgbClr val="626669"/>
                </a:solidFill>
                <a:latin typeface="Noto Sans CJK JP"/>
                <a:ea typeface="Noto Sans CJK JP"/>
              </a:rPr>
              <a:t>datasets in 10 minutes (2026-10-15)</a:t>
            </a:r>
            <a:endParaRPr sz="1400" lang="ja-JP"/>
            <a:endParaRPr sz="1400"/>
            <a:endParaRPr sz="14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2800">
                <a:latin typeface="Noto Sans CJK JP"/>
              </a:defRPr>
              <a:spcAft>
                <a:spcPts val="0"/>
              </a:spcAft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本編の構成</a:t>
            </a:r>
            <a:endParaRPr sz="2800"/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>
                <a:latin typeface="Noto Sans CJK JP"/>
              </a:defRPr>
              <a:buNone/>
            </a:pPr>
            <a:r>
              <a:rPr sz="1400" lang="ja-JP">
                <a:solidFill>
                  <a:srgbClr val="FFFEF8"/>
                </a:solidFill>
                <a:latin typeface="Noto Sans CJK JP"/>
                <a:ea typeface="Noto Sans CJK JP"/>
              </a:rPr>
              <a:t>SNLIの構成</a:t>
            </a:r>
            <a:endParaRPr sz="1400"/>
          </a:p>
        </p:txBody>
      </p:sp>
      <p:sp>
        <p:nvSpPr>
          <p:cNvPr id="4" name="TextBox 3"/>
          <p:cNvSpPr txBox="1"/>
          <p:nvPr/>
        </p:nvSpPr>
        <p:spPr>
          <a:xfrm>
            <a:off x="594360" y="1463040"/>
            <a:ext cx="7955279" cy="3383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533400" indent="-482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defRPr sz="2400">
                <a:latin typeface="Noto Sans CJK JP"/>
              </a:defRPr>
              <a:buAutoNum type="arabicPeriod" startAt="1"/>
            </a:pPr>
            <a:r>
              <a:rPr sz="2400" lang="ja-JP">
                <a:solidFill>
                  <a:srgbClr val="303437"/>
                </a:solidFill>
                <a:latin typeface="Noto Sans CJK JP"/>
                <a:ea typeface="Noto Sans CJK JP"/>
              </a:rPr>
              <a:t>概要とタスク</a:t>
            </a:r>
            <a:endParaRPr sz="2400"/>
          </a:p>
          <a:p>
            <a:pPr algn="l" marL="533400" indent="-482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defRPr sz="2400">
                <a:latin typeface="Noto Sans CJK JP"/>
              </a:defRPr>
              <a:buAutoNum type="arabicPeriod" startAt="2"/>
            </a:pPr>
            <a:r>
              <a:rPr sz="2400" lang="ja-JP">
                <a:solidFill>
                  <a:srgbClr val="303437"/>
                </a:solidFill>
                <a:latin typeface="Noto Sans CJK JP"/>
                <a:ea typeface="Noto Sans CJK JP"/>
              </a:rPr>
              <a:t>作成方法と規模</a:t>
            </a:r>
            <a:endParaRPr sz="2400"/>
          </a:p>
          <a:p>
            <a:pPr algn="l" marL="533400" indent="-482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defRPr sz="2400">
                <a:latin typeface="Noto Sans CJK JP"/>
              </a:defRPr>
              <a:buAutoNum type="arabicPeriod" startAt="3"/>
            </a:pPr>
            <a:r>
              <a:rPr sz="2400" lang="ja-JP">
                <a:solidFill>
                  <a:srgbClr val="303437"/>
                </a:solidFill>
                <a:latin typeface="Noto Sans CJK JP"/>
                <a:ea typeface="Noto Sans CJK JP"/>
              </a:rPr>
              <a:t>評価と性能</a:t>
            </a:r>
            <a:endParaRPr sz="2400"/>
          </a:p>
          <a:p>
            <a:pPr algn="l" marL="533400" indent="-482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defRPr sz="2400">
                <a:latin typeface="Noto Sans CJK JP"/>
              </a:defRPr>
              <a:buAutoNum type="arabicPeriod" startAt="4"/>
            </a:pPr>
            <a:r>
              <a:rPr sz="2400" lang="ja-JP">
                <a:solidFill>
                  <a:srgbClr val="303437"/>
                </a:solidFill>
                <a:latin typeface="Noto Sans CJK JP"/>
                <a:ea typeface="Noto Sans CJK JP"/>
              </a:rPr>
              <a:t>利用の変遷と現在</a:t>
            </a:r>
            <a:endParaRPr sz="2400"/>
          </a:p>
          <a:p>
            <a:pPr algn="l" marL="533400" indent="-482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defRPr sz="2400">
                <a:latin typeface="Noto Sans CJK JP"/>
              </a:defRPr>
              <a:buAutoNum type="arabicPeriod" startAt="5"/>
            </a:pPr>
            <a:r>
              <a:rPr sz="2400" lang="ja-JP">
                <a:solidFill>
                  <a:srgbClr val="303437"/>
                </a:solidFill>
                <a:latin typeface="Noto Sans CJK JP"/>
                <a:ea typeface="Noto Sans CJK JP"/>
              </a:rPr>
              <a:t>入手方法とまとめ</a:t>
            </a:r>
            <a:endParaRPr sz="24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783080"/>
            <a:ext cx="8229600" cy="1417320"/>
          </a:xfrm>
        </p:spPr>
        <p:txBody>
          <a:bodyPr wrap="none" lIns="0" rIns="0" tIns="0" bIns="0" anchor="ctr"/>
          <a:lstStyle/>
          <a:p>
            <a:pPr algn="ctr" marL="0" indent="0">
              <a:defRPr sz="4000">
                <a:latin typeface="Noto Sans CJK JP"/>
              </a:defR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4000" lang="ja-JP" b="1">
                <a:solidFill>
                  <a:srgbClr val="303437"/>
                </a:solidFill>
                <a:latin typeface="Noto Sans CJK JP"/>
                <a:ea typeface="Noto Sans CJK JP"/>
              </a:rPr>
              <a:t>1 概要とタスク</a:t>
            </a:r>
            <a:endParaRPr sz="4000"/>
            <a:endParaRPr sz="4000"/>
            <a:endParaRPr sz="40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p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303437"/>
                </a:solidFill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SNLIの公式サイト</a:t>
            </a:r>
            <a:endParaRPr sz="2800" lang="ja-JP"/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EF8"/>
                </a:solidFill>
                <a:latin typeface="Noto Sans CJK JP"/>
              </a:defRPr>
            </a:pPr>
            <a:r>
              <a:rPr sz="1400" b="1" lang="ja-JP">
                <a:solidFill>
                  <a:srgbClr val="FFFEF8"/>
                </a:solidFill>
                <a:latin typeface="Noto Sans CJK JP"/>
                <a:ea typeface="Noto Sans CJK JP"/>
              </a:rPr>
              <a:t>SNLIの概要</a:t>
            </a:r>
            <a:endParaRPr sz="1400" lang="ja-JP"/>
          </a:p>
        </p:txBody>
      </p:sp>
      <p:pic>
        <p:nvPicPr>
          <p:cNvPr id="4" name="Picture 3" descr="official-homep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17320"/>
            <a:ext cx="8046720" cy="2682240"/>
          </a:xfrm>
          <a:prstGeom prst="rect">
            <a:avLst/>
          </a:prstGeom>
        </p:spPr>
      </p:pic>
      <p:sp>
        <p:nvSpPr>
          <p:cNvPr id="6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SNLI公式サイト. https://nlp.stanford.edu/projects/snli/</a:t>
            </a:r>
            <a:endParaRPr sz="85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303437"/>
                </a:solidFill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英語の文対を3種類の関係に分類する</a:t>
            </a:r>
            <a:endParaRPr sz="2800" lang="ja-JP"/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EF8"/>
                </a:solidFill>
                <a:latin typeface="Noto Sans CJK JP"/>
              </a:defRPr>
            </a:pPr>
            <a:r>
              <a:rPr sz="1400" b="1" lang="ja-JP">
                <a:solidFill>
                  <a:srgbClr val="FFFEF8"/>
                </a:solidFill>
                <a:latin typeface="Noto Sans CJK JP"/>
                <a:ea typeface="Noto Sans CJK JP"/>
              </a:rPr>
              <a:t>SNLIの概要</a:t>
            </a:r>
            <a:endParaRPr sz="1400" lang="ja-JP"/>
          </a:p>
        </p:txBody>
      </p:sp>
      <p:sp>
        <p:nvSpPr>
          <p:cNvPr id="4" name="body"/>
          <p:cNvSpPr txBox="1"/>
          <p:nvPr/>
        </p:nvSpPr>
        <p:spPr>
          <a:xfrm>
            <a:off x="594360" y="1490472"/>
            <a:ext cx="7955279" cy="30906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03200" indent="-1524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 b="0">
                <a:solidFill>
                  <a:srgbClr val="303437"/>
                </a:solidFill>
                <a:latin typeface="Noto Sans CJK JP"/>
              </a:defRPr>
              <a:buChar char="•"/>
            </a:pP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SNLIは自然言語推論（NLI）のデータセットである。</a:t>
            </a:r>
            <a:endParaRPr sz="2100" lang="ja-JP"/>
            <a:endParaRPr sz="2100"/>
          </a:p>
          <a:p>
            <a:pPr algn="l" marL="203200" indent="-1524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Noto Sans CJK JP"/>
              </a:defRPr>
              <a:buChar char="•"/>
            </a:pP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入力には前提文と仮説文の2つのテキストを使う。</a:t>
            </a:r>
            <a:endParaRPr sz="2100"/>
          </a:p>
          <a:p>
            <a:pPr algn="l" lvl="1" marL="482600" indent="-1270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Noto Sans CJK JP"/>
              </a:defRPr>
              <a:buChar char="○"/>
            </a:pP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仮説が前提から導けるかを含意・中立・矛盾で判断する。</a:t>
            </a:r>
            <a:endParaRPr sz="2100"/>
          </a:p>
          <a:p>
            <a:pPr algn="l" marL="203200" indent="-1524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Noto Sans CJK JP"/>
              </a:defRPr>
              <a:buChar char="•"/>
            </a:pP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画像の説明文を利用するが、モデルの入力に画像は含まれない。</a:t>
            </a:r>
            <a:endParaRPr sz="2100"/>
          </a:p>
          <a:p>
            <a:pPr algn="l" marL="203200" indent="-1524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Noto Sans CJK JP"/>
              </a:defRPr>
              <a:buChar char="•"/>
            </a:pP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約57万組を収録し、2015年のEMNLPで発表された </a:t>
            </a: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[1]</a:t>
            </a: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。</a:t>
            </a:r>
            <a:endParaRPr sz="2100"/>
          </a:p>
        </p:txBody>
      </p:sp>
      <p:sp>
        <p:nvSpPr>
          <p:cNvPr id="5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Bowman et al. (2015), EMNLP. https://aclanthology.org/D15-1075/</a:t>
            </a:r>
            <a:endParaRPr sz="85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303437"/>
                </a:solidFill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含意の例</a:t>
            </a:r>
            <a:endParaRPr sz="2800" lang="ja-JP"/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EF8"/>
                </a:solidFill>
                <a:latin typeface="Noto Sans CJK JP"/>
              </a:defRPr>
            </a:pPr>
            <a:r>
              <a:rPr sz="1400" b="1" lang="ja-JP">
                <a:solidFill>
                  <a:srgbClr val="FFFEF8"/>
                </a:solidFill>
                <a:latin typeface="Noto Sans CJK JP"/>
                <a:ea typeface="Noto Sans CJK JP"/>
              </a:rPr>
              <a:t>含意・中立・矛盾の実例</a:t>
            </a:r>
            <a:endParaRPr sz="1400" lang="ja-JP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626669"/>
                </a:solidFill>
                <a:latin typeface="Noto Sans CJK JP"/>
              </a:defRPr>
            </a:pPr>
            <a:r>
              <a:rPr sz="1400" b="0" lang="ja-JP">
                <a:solidFill>
                  <a:srgbClr val="626669"/>
                </a:solidFill>
                <a:latin typeface="Noto Sans CJK JP"/>
                <a:ea typeface="Noto Sans CJK JP"/>
              </a:rPr>
              <a:t>前提文</a:t>
            </a:r>
            <a:endParaRPr sz="1400" lang="ja-JP"/>
          </a:p>
        </p:txBody>
      </p:sp>
      <p:sp>
        <p:nvSpPr>
          <p:cNvPr id="5" name="quote-frame-premise"/>
          <p:cNvSpPr/>
          <p:nvPr/>
        </p:nvSpPr>
        <p:spPr>
          <a:xfrm>
            <a:off x="548640" y="1673352"/>
            <a:ext cx="8046720" cy="458317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quote-text-premise"/>
          <p:cNvSpPr txBox="1"/>
          <p:nvPr/>
        </p:nvSpPr>
        <p:spPr>
          <a:xfrm>
            <a:off x="726440" y="1741678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303437"/>
                </a:solidFill>
                <a:latin typeface="Liberation Sans"/>
              </a:defRPr>
              <a:buNone/>
            </a:pPr>
            <a:r>
              <a:rPr sz="1800" lang="en-US">
                <a:solidFill>
                  <a:srgbClr val="303437"/>
                </a:solidFill>
                <a:latin typeface="Liberation Sans"/>
                <a:ea typeface="Liberation Sans"/>
              </a:rPr>
              <a:t>A man playing an electric guitar on stage.</a:t>
            </a:r>
            <a:endParaRPr sz="1800" lang="en-US"/>
            <a:endParaRPr sz="1800"/>
          </a:p>
        </p:txBody>
      </p:sp>
      <p:sp>
        <p:nvSpPr>
          <p:cNvPr id="7" name="TextBox 6"/>
          <p:cNvSpPr txBox="1"/>
          <p:nvPr/>
        </p:nvSpPr>
        <p:spPr>
          <a:xfrm>
            <a:off x="548640" y="2259685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626669"/>
                </a:solidFill>
                <a:latin typeface="Noto Sans CJK JP"/>
              </a:defRPr>
            </a:pPr>
            <a:r>
              <a:rPr sz="1400" b="0" lang="ja-JP">
                <a:solidFill>
                  <a:srgbClr val="626669"/>
                </a:solidFill>
                <a:latin typeface="Noto Sans CJK JP"/>
                <a:ea typeface="Noto Sans CJK JP"/>
              </a:rPr>
              <a:t>仮説文</a:t>
            </a:r>
            <a:endParaRPr sz="1400" lang="ja-JP"/>
          </a:p>
        </p:txBody>
      </p:sp>
      <p:sp>
        <p:nvSpPr>
          <p:cNvPr id="8" name="quote-frame-hypothesis"/>
          <p:cNvSpPr/>
          <p:nvPr/>
        </p:nvSpPr>
        <p:spPr>
          <a:xfrm>
            <a:off x="548640" y="2561437"/>
            <a:ext cx="8046720" cy="458317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quote-text-hypothesis"/>
          <p:cNvSpPr txBox="1"/>
          <p:nvPr/>
        </p:nvSpPr>
        <p:spPr>
          <a:xfrm>
            <a:off x="726440" y="2629763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303437"/>
                </a:solidFill>
                <a:latin typeface="Liberation Sans"/>
              </a:defRPr>
              <a:buNone/>
            </a:pPr>
            <a:r>
              <a:rPr sz="1800" lang="en-US">
                <a:solidFill>
                  <a:srgbClr val="303437"/>
                </a:solidFill>
                <a:latin typeface="Liberation Sans"/>
                <a:ea typeface="Liberation Sans"/>
              </a:rPr>
              <a:t>A man playing guitar on stage.</a:t>
            </a:r>
            <a:endParaRPr sz="1800" lang="en-US"/>
            <a:endParaRPr sz="1800"/>
          </a:p>
        </p:txBody>
      </p:sp>
      <p:sp>
        <p:nvSpPr>
          <p:cNvPr id="10" name="TextBox 9"/>
          <p:cNvSpPr txBox="1"/>
          <p:nvPr/>
        </p:nvSpPr>
        <p:spPr>
          <a:xfrm>
            <a:off x="548640" y="3147771"/>
            <a:ext cx="8046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B13731"/>
                </a:solidFill>
                <a:latin typeface="Noto Sans CJK JP"/>
              </a:defRPr>
            </a:pPr>
            <a:r>
              <a:rPr sz="2100" b="0" lang="ja-JP">
                <a:solidFill>
                  <a:srgbClr val="B13731"/>
                </a:solidFill>
                <a:latin typeface="Noto Sans CJK JP"/>
                <a:ea typeface="Noto Sans CJK JP"/>
              </a:rPr>
              <a:t>正解は含意</a:t>
            </a:r>
            <a:endParaRPr sz="2100" lang="ja-JP"/>
          </a:p>
        </p:txBody>
      </p:sp>
      <p:sp>
        <p:nvSpPr>
          <p:cNvPr id="11" name="TextBox 10"/>
          <p:cNvSpPr txBox="1"/>
          <p:nvPr/>
        </p:nvSpPr>
        <p:spPr>
          <a:xfrm>
            <a:off x="548640" y="3531819"/>
            <a:ext cx="8046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303437"/>
                </a:solidFill>
                <a:latin typeface="Noto Sans CJK JP"/>
              </a:defRPr>
              <a:buNone/>
            </a:pPr>
            <a:r>
              <a:rPr sz="1900" lang="ja-JP">
                <a:solidFill>
                  <a:srgbClr val="303437"/>
                </a:solidFill>
                <a:latin typeface="Noto Sans CJK JP"/>
                <a:ea typeface="Noto Sans CJK JP"/>
              </a:rPr>
              <a:t>電気ギターを弾いているなら、ギターを弾いている。</a:t>
            </a:r>
            <a:endParaRPr sz="1900" lang="ja-JP"/>
            <a:endParaRPr sz="1900"/>
          </a:p>
        </p:txBody>
      </p:sp>
      <p:sp>
        <p:nvSpPr>
          <p:cNvPr id="12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SNLI 1.0公式データ. https://nlp.stanford.edu/projects/snli/  文対ID 1034985636.jpg#3r1e</a:t>
            </a:r>
            <a:endParaRPr sz="85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303437"/>
                </a:solidFill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中立の例</a:t>
            </a:r>
            <a:endParaRPr sz="2800" lang="ja-JP"/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EF8"/>
                </a:solidFill>
                <a:latin typeface="Noto Sans CJK JP"/>
              </a:defRPr>
            </a:pPr>
            <a:r>
              <a:rPr sz="1400" b="1" lang="ja-JP">
                <a:solidFill>
                  <a:srgbClr val="FFFEF8"/>
                </a:solidFill>
                <a:latin typeface="Noto Sans CJK JP"/>
                <a:ea typeface="Noto Sans CJK JP"/>
              </a:rPr>
              <a:t>含意・中立・矛盾の実例</a:t>
            </a:r>
            <a:endParaRPr sz="1400" lang="ja-JP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626669"/>
                </a:solidFill>
                <a:latin typeface="Noto Sans CJK JP"/>
              </a:defRPr>
            </a:pPr>
            <a:r>
              <a:rPr sz="1400" b="0" lang="ja-JP">
                <a:solidFill>
                  <a:srgbClr val="626669"/>
                </a:solidFill>
                <a:latin typeface="Noto Sans CJK JP"/>
                <a:ea typeface="Noto Sans CJK JP"/>
              </a:rPr>
              <a:t>前提文</a:t>
            </a:r>
            <a:endParaRPr sz="1400" lang="ja-JP"/>
          </a:p>
        </p:txBody>
      </p:sp>
      <p:sp>
        <p:nvSpPr>
          <p:cNvPr id="5" name="quote-frame-premise"/>
          <p:cNvSpPr/>
          <p:nvPr/>
        </p:nvSpPr>
        <p:spPr>
          <a:xfrm>
            <a:off x="548640" y="1673352"/>
            <a:ext cx="8046720" cy="458317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quote-text-premise"/>
          <p:cNvSpPr txBox="1"/>
          <p:nvPr/>
        </p:nvSpPr>
        <p:spPr>
          <a:xfrm>
            <a:off x="726440" y="1741678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303437"/>
                </a:solidFill>
                <a:latin typeface="Liberation Sans"/>
              </a:defRPr>
              <a:buNone/>
            </a:pPr>
            <a:r>
              <a:rPr sz="1800" lang="en-US">
                <a:solidFill>
                  <a:srgbClr val="303437"/>
                </a:solidFill>
                <a:latin typeface="Liberation Sans"/>
                <a:ea typeface="Liberation Sans"/>
              </a:rPr>
              <a:t>A man reads the paper in a bar with green lighting.</a:t>
            </a:r>
            <a:endParaRPr sz="1800" lang="en-US"/>
            <a:endParaRPr sz="1800"/>
          </a:p>
        </p:txBody>
      </p:sp>
      <p:sp>
        <p:nvSpPr>
          <p:cNvPr id="7" name="TextBox 6"/>
          <p:cNvSpPr txBox="1"/>
          <p:nvPr/>
        </p:nvSpPr>
        <p:spPr>
          <a:xfrm>
            <a:off x="548640" y="2259685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626669"/>
                </a:solidFill>
                <a:latin typeface="Noto Sans CJK JP"/>
              </a:defRPr>
            </a:pPr>
            <a:r>
              <a:rPr sz="1400" b="0" lang="ja-JP">
                <a:solidFill>
                  <a:srgbClr val="626669"/>
                </a:solidFill>
                <a:latin typeface="Noto Sans CJK JP"/>
                <a:ea typeface="Noto Sans CJK JP"/>
              </a:rPr>
              <a:t>仮説文</a:t>
            </a:r>
            <a:endParaRPr sz="1400" lang="ja-JP"/>
          </a:p>
        </p:txBody>
      </p:sp>
      <p:sp>
        <p:nvSpPr>
          <p:cNvPr id="8" name="quote-frame-hypothesis"/>
          <p:cNvSpPr/>
          <p:nvPr/>
        </p:nvSpPr>
        <p:spPr>
          <a:xfrm>
            <a:off x="548640" y="2561437"/>
            <a:ext cx="8046720" cy="458317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quote-text-hypothesis"/>
          <p:cNvSpPr txBox="1"/>
          <p:nvPr/>
        </p:nvSpPr>
        <p:spPr>
          <a:xfrm>
            <a:off x="726440" y="2629763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303437"/>
                </a:solidFill>
                <a:latin typeface="Liberation Sans"/>
              </a:defRPr>
              <a:buNone/>
            </a:pPr>
            <a:r>
              <a:rPr sz="1800" lang="en-US">
                <a:solidFill>
                  <a:srgbClr val="303437"/>
                </a:solidFill>
                <a:latin typeface="Liberation Sans"/>
                <a:ea typeface="Liberation Sans"/>
              </a:rPr>
              <a:t>The man is reading the sportspage.</a:t>
            </a:r>
            <a:endParaRPr sz="1800" lang="en-US"/>
            <a:endParaRPr sz="1800"/>
          </a:p>
        </p:txBody>
      </p:sp>
      <p:sp>
        <p:nvSpPr>
          <p:cNvPr id="10" name="TextBox 9"/>
          <p:cNvSpPr txBox="1"/>
          <p:nvPr/>
        </p:nvSpPr>
        <p:spPr>
          <a:xfrm>
            <a:off x="548640" y="3147771"/>
            <a:ext cx="8046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B13731"/>
                </a:solidFill>
                <a:latin typeface="Noto Sans CJK JP"/>
              </a:defRPr>
            </a:pPr>
            <a:r>
              <a:rPr sz="2100" b="0" lang="ja-JP">
                <a:solidFill>
                  <a:srgbClr val="B13731"/>
                </a:solidFill>
                <a:latin typeface="Noto Sans CJK JP"/>
                <a:ea typeface="Noto Sans CJK JP"/>
              </a:rPr>
              <a:t>正解は中立</a:t>
            </a:r>
            <a:endParaRPr sz="2100" lang="ja-JP"/>
          </a:p>
        </p:txBody>
      </p:sp>
      <p:sp>
        <p:nvSpPr>
          <p:cNvPr id="11" name="TextBox 10"/>
          <p:cNvSpPr txBox="1"/>
          <p:nvPr/>
        </p:nvSpPr>
        <p:spPr>
          <a:xfrm>
            <a:off x="548640" y="3531819"/>
            <a:ext cx="8046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303437"/>
                </a:solidFill>
                <a:latin typeface="Noto Sans CJK JP"/>
              </a:defRPr>
              <a:buNone/>
            </a:pPr>
            <a:r>
              <a:rPr sz="1900" lang="ja-JP">
                <a:solidFill>
                  <a:srgbClr val="303437"/>
                </a:solidFill>
                <a:latin typeface="Noto Sans CJK JP"/>
                <a:ea typeface="Noto Sans CJK JP"/>
              </a:rPr>
              <a:t>新聞のどの面を読んでいるかは、前提に書かれていない。</a:t>
            </a:r>
            <a:endParaRPr sz="1900" lang="ja-JP"/>
            <a:endParaRPr sz="1900"/>
          </a:p>
        </p:txBody>
      </p:sp>
      <p:sp>
        <p:nvSpPr>
          <p:cNvPr id="12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SNLI 1.0公式データ. https://nlp.stanford.edu/projects/snli/  文対ID 2096485764.jpg#0r1n</a:t>
            </a:r>
            <a:endParaRPr sz="85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303437"/>
                </a:solidFill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矛盾の例</a:t>
            </a:r>
            <a:endParaRPr sz="2800" lang="ja-JP"/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EF8"/>
                </a:solidFill>
                <a:latin typeface="Noto Sans CJK JP"/>
              </a:defRPr>
            </a:pPr>
            <a:r>
              <a:rPr sz="1400" b="1" lang="ja-JP">
                <a:solidFill>
                  <a:srgbClr val="FFFEF8"/>
                </a:solidFill>
                <a:latin typeface="Noto Sans CJK JP"/>
                <a:ea typeface="Noto Sans CJK JP"/>
              </a:rPr>
              <a:t>含意・中立・矛盾の実例</a:t>
            </a:r>
            <a:endParaRPr sz="1400" lang="ja-JP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626669"/>
                </a:solidFill>
                <a:latin typeface="Noto Sans CJK JP"/>
              </a:defRPr>
            </a:pPr>
            <a:r>
              <a:rPr sz="1400" b="0" lang="ja-JP">
                <a:solidFill>
                  <a:srgbClr val="626669"/>
                </a:solidFill>
                <a:latin typeface="Noto Sans CJK JP"/>
                <a:ea typeface="Noto Sans CJK JP"/>
              </a:rPr>
              <a:t>前提文</a:t>
            </a:r>
            <a:endParaRPr sz="1400" lang="ja-JP"/>
          </a:p>
        </p:txBody>
      </p:sp>
      <p:sp>
        <p:nvSpPr>
          <p:cNvPr id="5" name="quote-frame-premise"/>
          <p:cNvSpPr/>
          <p:nvPr/>
        </p:nvSpPr>
        <p:spPr>
          <a:xfrm>
            <a:off x="548640" y="1673352"/>
            <a:ext cx="8046720" cy="744067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quote-text-premise"/>
          <p:cNvSpPr txBox="1"/>
          <p:nvPr/>
        </p:nvSpPr>
        <p:spPr>
          <a:xfrm>
            <a:off x="726440" y="1741678"/>
            <a:ext cx="7691120" cy="6424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303437"/>
                </a:solidFill>
                <a:latin typeface="Liberation Sans"/>
              </a:defRPr>
              <a:buNone/>
            </a:pPr>
            <a:r>
              <a:rPr sz="1800" lang="en-US">
                <a:solidFill>
                  <a:srgbClr val="303437"/>
                </a:solidFill>
                <a:latin typeface="Liberation Sans"/>
                <a:ea typeface="Liberation Sans"/>
              </a:rPr>
              <a:t>3 young man in hoods standing in the middle of a quiet street facing the camera.</a:t>
            </a:r>
            <a:endParaRPr sz="1800" lang="en-US"/>
            <a:endParaRPr sz="1800"/>
          </a:p>
        </p:txBody>
      </p:sp>
      <p:sp>
        <p:nvSpPr>
          <p:cNvPr id="7" name="TextBox 6"/>
          <p:cNvSpPr txBox="1"/>
          <p:nvPr/>
        </p:nvSpPr>
        <p:spPr>
          <a:xfrm>
            <a:off x="548640" y="2545435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626669"/>
                </a:solidFill>
                <a:latin typeface="Noto Sans CJK JP"/>
              </a:defRPr>
            </a:pPr>
            <a:r>
              <a:rPr sz="1400" b="0" lang="ja-JP">
                <a:solidFill>
                  <a:srgbClr val="626669"/>
                </a:solidFill>
                <a:latin typeface="Noto Sans CJK JP"/>
                <a:ea typeface="Noto Sans CJK JP"/>
              </a:rPr>
              <a:t>仮説文</a:t>
            </a:r>
            <a:endParaRPr sz="1400" lang="ja-JP"/>
          </a:p>
        </p:txBody>
      </p:sp>
      <p:sp>
        <p:nvSpPr>
          <p:cNvPr id="8" name="quote-frame-hypothesis"/>
          <p:cNvSpPr/>
          <p:nvPr/>
        </p:nvSpPr>
        <p:spPr>
          <a:xfrm>
            <a:off x="548640" y="2847187"/>
            <a:ext cx="8046720" cy="458317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quote-text-hypothesis"/>
          <p:cNvSpPr txBox="1"/>
          <p:nvPr/>
        </p:nvSpPr>
        <p:spPr>
          <a:xfrm>
            <a:off x="726440" y="2915513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303437"/>
                </a:solidFill>
                <a:latin typeface="Liberation Sans"/>
              </a:defRPr>
              <a:buNone/>
            </a:pPr>
            <a:r>
              <a:rPr sz="1800" lang="en-US">
                <a:solidFill>
                  <a:srgbClr val="303437"/>
                </a:solidFill>
                <a:latin typeface="Liberation Sans"/>
                <a:ea typeface="Liberation Sans"/>
              </a:rPr>
              <a:t>Three people sit by a busy street bareheaded.</a:t>
            </a:r>
            <a:endParaRPr sz="1800" lang="en-US"/>
            <a:endParaRPr sz="1800"/>
          </a:p>
        </p:txBody>
      </p:sp>
      <p:sp>
        <p:nvSpPr>
          <p:cNvPr id="10" name="TextBox 9"/>
          <p:cNvSpPr txBox="1"/>
          <p:nvPr/>
        </p:nvSpPr>
        <p:spPr>
          <a:xfrm>
            <a:off x="548640" y="3433521"/>
            <a:ext cx="8046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B13731"/>
                </a:solidFill>
                <a:latin typeface="Noto Sans CJK JP"/>
              </a:defRPr>
            </a:pPr>
            <a:r>
              <a:rPr sz="2100" b="0" lang="ja-JP">
                <a:solidFill>
                  <a:srgbClr val="B13731"/>
                </a:solidFill>
                <a:latin typeface="Noto Sans CJK JP"/>
                <a:ea typeface="Noto Sans CJK JP"/>
              </a:rPr>
              <a:t>正解は矛盾</a:t>
            </a:r>
            <a:endParaRPr sz="2100" lang="ja-JP"/>
          </a:p>
        </p:txBody>
      </p:sp>
      <p:sp>
        <p:nvSpPr>
          <p:cNvPr id="11" name="TextBox 10"/>
          <p:cNvSpPr txBox="1"/>
          <p:nvPr/>
        </p:nvSpPr>
        <p:spPr>
          <a:xfrm>
            <a:off x="548640" y="3817569"/>
            <a:ext cx="8046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303437"/>
                </a:solidFill>
                <a:latin typeface="Noto Sans CJK JP"/>
              </a:defRPr>
              <a:buNone/>
            </a:pPr>
            <a:r>
              <a:rPr sz="1900" lang="ja-JP">
                <a:solidFill>
                  <a:srgbClr val="303437"/>
                </a:solidFill>
                <a:latin typeface="Noto Sans CJK JP"/>
                <a:ea typeface="Noto Sans CJK JP"/>
              </a:rPr>
              <a:t>立っていることと座っていることなどが両立しない。</a:t>
            </a:r>
            <a:endParaRPr sz="1900" lang="ja-JP"/>
            <a:endParaRPr sz="1900"/>
          </a:p>
        </p:txBody>
      </p:sp>
      <p:sp>
        <p:nvSpPr>
          <p:cNvPr id="12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SNLI 1.0公式データ. https://nlp.stanford.edu/projects/snli/  文対ID 4460943467.jpg#0r1c</a:t>
            </a:r>
            <a:endParaRPr sz="85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303437"/>
                </a:solidFill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「片手」と「両手」の違いは矛盾か</a:t>
            </a:r>
            <a:endParaRPr sz="2800" lang="ja-JP"/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EF8"/>
                </a:solidFill>
                <a:latin typeface="Noto Sans CJK JP"/>
              </a:defRPr>
            </a:pPr>
            <a:r>
              <a:rPr sz="1400" b="1" lang="ja-JP">
                <a:solidFill>
                  <a:srgbClr val="FFFEF8"/>
                </a:solidFill>
                <a:latin typeface="Noto Sans CJK JP"/>
                <a:ea typeface="Noto Sans CJK JP"/>
              </a:rPr>
              <a:t>SNLIの判断と限界</a:t>
            </a:r>
            <a:endParaRPr sz="1400" lang="ja-JP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626669"/>
                </a:solidFill>
                <a:latin typeface="Noto Sans CJK JP"/>
              </a:defRPr>
            </a:pPr>
            <a:r>
              <a:rPr sz="1400" b="0" lang="ja-JP">
                <a:solidFill>
                  <a:srgbClr val="626669"/>
                </a:solidFill>
                <a:latin typeface="Noto Sans CJK JP"/>
                <a:ea typeface="Noto Sans CJK JP"/>
              </a:rPr>
              <a:t>前提文の一部</a:t>
            </a:r>
            <a:endParaRPr sz="1400" lang="ja-JP"/>
          </a:p>
        </p:txBody>
      </p:sp>
      <p:sp>
        <p:nvSpPr>
          <p:cNvPr id="5" name="quote-frame-premise"/>
          <p:cNvSpPr/>
          <p:nvPr/>
        </p:nvSpPr>
        <p:spPr>
          <a:xfrm>
            <a:off x="548640" y="1673352"/>
            <a:ext cx="8046720" cy="458317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quote-text-premise"/>
          <p:cNvSpPr txBox="1"/>
          <p:nvPr/>
        </p:nvSpPr>
        <p:spPr>
          <a:xfrm>
            <a:off x="726440" y="1741678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303437"/>
                </a:solidFill>
                <a:latin typeface="Liberation Sans"/>
              </a:defRPr>
              <a:buNone/>
            </a:pPr>
            <a:r>
              <a:rPr sz="1800" lang="en-US">
                <a:solidFill>
                  <a:srgbClr val="303437"/>
                </a:solidFill>
                <a:latin typeface="Liberation Sans"/>
                <a:ea typeface="Liberation Sans"/>
              </a:rPr>
              <a:t>with one hand holding a skinny but long stick</a:t>
            </a:r>
            <a:endParaRPr sz="1800" lang="en-US"/>
            <a:endParaRPr sz="1800"/>
          </a:p>
        </p:txBody>
      </p:sp>
      <p:sp>
        <p:nvSpPr>
          <p:cNvPr id="7" name="TextBox 6"/>
          <p:cNvSpPr txBox="1"/>
          <p:nvPr/>
        </p:nvSpPr>
        <p:spPr>
          <a:xfrm>
            <a:off x="548640" y="2259685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626669"/>
                </a:solidFill>
                <a:latin typeface="Noto Sans CJK JP"/>
              </a:defRPr>
            </a:pPr>
            <a:r>
              <a:rPr sz="1400" b="0" lang="ja-JP">
                <a:solidFill>
                  <a:srgbClr val="626669"/>
                </a:solidFill>
                <a:latin typeface="Noto Sans CJK JP"/>
                <a:ea typeface="Noto Sans CJK JP"/>
              </a:rPr>
              <a:t>仮説文の一部</a:t>
            </a:r>
            <a:endParaRPr sz="1400" lang="ja-JP"/>
          </a:p>
        </p:txBody>
      </p:sp>
      <p:sp>
        <p:nvSpPr>
          <p:cNvPr id="8" name="quote-frame-hypothesis"/>
          <p:cNvSpPr/>
          <p:nvPr/>
        </p:nvSpPr>
        <p:spPr>
          <a:xfrm>
            <a:off x="548640" y="2561437"/>
            <a:ext cx="8046720" cy="458317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quote-text-hypothesis"/>
          <p:cNvSpPr txBox="1"/>
          <p:nvPr/>
        </p:nvSpPr>
        <p:spPr>
          <a:xfrm>
            <a:off x="726440" y="2629763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303437"/>
                </a:solidFill>
                <a:latin typeface="Liberation Sans"/>
              </a:defRPr>
              <a:buNone/>
            </a:pPr>
            <a:r>
              <a:rPr sz="1800" lang="en-US">
                <a:solidFill>
                  <a:srgbClr val="303437"/>
                </a:solidFill>
                <a:latin typeface="Liberation Sans"/>
                <a:ea typeface="Liberation Sans"/>
              </a:rPr>
              <a:t>with both hands holding a skinny but long stick</a:t>
            </a:r>
            <a:endParaRPr sz="1800" lang="en-US"/>
            <a:endParaRPr sz="1800"/>
          </a:p>
        </p:txBody>
      </p:sp>
      <p:sp>
        <p:nvSpPr>
          <p:cNvPr id="10" name="TextBox 9"/>
          <p:cNvSpPr txBox="1"/>
          <p:nvPr/>
        </p:nvSpPr>
        <p:spPr>
          <a:xfrm>
            <a:off x="548640" y="3147771"/>
            <a:ext cx="8046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B13731"/>
                </a:solidFill>
                <a:latin typeface="Noto Sans CJK JP"/>
              </a:defRPr>
            </a:pPr>
            <a:r>
              <a:rPr sz="2100" b="0" lang="ja-JP">
                <a:solidFill>
                  <a:srgbClr val="B13731"/>
                </a:solidFill>
                <a:latin typeface="Noto Sans CJK JP"/>
                <a:ea typeface="Noto Sans CJK JP"/>
              </a:rPr>
              <a:t>正解は矛盾</a:t>
            </a:r>
            <a:endParaRPr sz="2100" lang="ja-JP"/>
          </a:p>
        </p:txBody>
      </p:sp>
      <p:sp>
        <p:nvSpPr>
          <p:cNvPr id="11" name="TextBox 10"/>
          <p:cNvSpPr txBox="1"/>
          <p:nvPr/>
        </p:nvSpPr>
        <p:spPr>
          <a:xfrm>
            <a:off x="548640" y="3531819"/>
            <a:ext cx="8046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303437"/>
                </a:solidFill>
                <a:latin typeface="Noto Sans CJK JP"/>
              </a:defRPr>
              <a:buNone/>
            </a:pPr>
            <a:r>
              <a:rPr sz="1900" lang="ja-JP">
                <a:solidFill>
                  <a:srgbClr val="303437"/>
                </a:solidFill>
                <a:latin typeface="Noto Sans CJK JP"/>
                <a:ea typeface="Noto Sans CJK JP"/>
              </a:rPr>
              <a:t>「片手だけ」と読むなら、両手で持つ仮説と矛盾する。片手という表現が、他方の手を排除するかは曖昧である。</a:t>
            </a:r>
            <a:endParaRPr sz="1900" lang="ja-JP"/>
            <a:endParaRPr sz="1900"/>
          </a:p>
        </p:txBody>
      </p:sp>
      <p:sp>
        <p:nvSpPr>
          <p:cNvPr id="12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SNLI 1.0公式データ. https://nlp.stanford.edu/projects/snli/  文対ID 71651754.jpg#0r1c</a:t>
            </a:r>
            <a:endParaRPr sz="85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783080"/>
            <a:ext cx="8229600" cy="1417320"/>
          </a:xfrm>
        </p:spPr>
        <p:txBody>
          <a:bodyPr wrap="none" lIns="0" rIns="0" tIns="0" bIns="0" anchor="ctr"/>
          <a:lstStyle/>
          <a:p>
            <a:pPr algn="ctr" marL="0" indent="0">
              <a:defRPr sz="4000">
                <a:latin typeface="Noto Sans CJK JP"/>
              </a:defR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4000" lang="ja-JP" b="1">
                <a:solidFill>
                  <a:srgbClr val="303437"/>
                </a:solidFill>
                <a:latin typeface="Noto Sans CJK JP"/>
                <a:ea typeface="Noto Sans CJK JP"/>
              </a:rPr>
              <a:t>2 作成方法と規模</a:t>
            </a:r>
            <a:endParaRPr sz="4000"/>
            <a:endParaRPr sz="4000"/>
            <a:endParaRPr sz="40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p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303437"/>
                </a:solidFill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大規模な学習データが必要だった</a:t>
            </a:r>
            <a:endParaRPr sz="2800" lang="ja-JP"/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EF8"/>
                </a:solidFill>
                <a:latin typeface="Noto Sans CJK JP"/>
              </a:defRPr>
            </a:pPr>
            <a:r>
              <a:rPr sz="1400" b="1" lang="ja-JP">
                <a:solidFill>
                  <a:srgbClr val="FFFEF8"/>
                </a:solidFill>
                <a:latin typeface="Noto Sans CJK JP"/>
                <a:ea typeface="Noto Sans CJK JP"/>
              </a:rPr>
              <a:t>SNLIの開発目的</a:t>
            </a:r>
            <a:endParaRPr sz="1400" lang="ja-JP"/>
          </a:p>
        </p:txBody>
      </p:sp>
      <p:sp>
        <p:nvSpPr>
          <p:cNvPr id="4" name="body"/>
          <p:cNvSpPr txBox="1"/>
          <p:nvPr/>
        </p:nvSpPr>
        <p:spPr>
          <a:xfrm>
            <a:off x="594360" y="1490472"/>
            <a:ext cx="7955279" cy="30906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03200" indent="-1524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 b="0">
                <a:solidFill>
                  <a:srgbClr val="303437"/>
                </a:solidFill>
                <a:latin typeface="Noto Sans CJK JP"/>
              </a:defRPr>
              <a:buChar char="•"/>
            </a:pP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先行する含意判定の課題であるRTEは、評価用の規模だった。</a:t>
            </a:r>
            <a:endParaRPr sz="2100" lang="ja-JP"/>
            <a:endParaRPr sz="2100"/>
          </a:p>
          <a:p>
            <a:pPr algn="l" lvl="1" marL="482600" indent="-1270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Noto Sans CJK JP"/>
              </a:defRPr>
              <a:buChar char="○"/>
            </a:pP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大規模なニューラルモデルの教師あり学習には限界があった。</a:t>
            </a:r>
            <a:endParaRPr sz="2100"/>
          </a:p>
          <a:p>
            <a:pPr algn="l" marL="203200" indent="-1524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Noto Sans CJK JP"/>
              </a:defRPr>
              <a:buChar char="•"/>
            </a:pP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これに対してSNLIは、人が書いた570,152組を用意した </a:t>
            </a: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[1]</a:t>
            </a: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。</a:t>
            </a:r>
            <a:endParaRPr sz="2100"/>
          </a:p>
          <a:p>
            <a:pPr algn="l" lvl="1" marL="482600" indent="-1270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Noto Sans CJK JP"/>
              </a:defRPr>
              <a:buChar char="○"/>
            </a:pP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語彙・構文・意味を扱う文表現モデルの学習と評価に使う。</a:t>
            </a:r>
            <a:endParaRPr sz="2100"/>
          </a:p>
          <a:p>
            <a:pPr algn="l" marL="203200" indent="-1524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Noto Sans CJK JP"/>
              </a:defRPr>
              <a:buChar char="•"/>
            </a:pP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写真の同じ状況を想定し、文の関係を判断しやすくした。</a:t>
            </a:r>
            <a:endParaRPr sz="2100"/>
          </a:p>
        </p:txBody>
      </p:sp>
      <p:sp>
        <p:nvSpPr>
          <p:cNvPr id="5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SNLI dataset card. https://github.com/huggingface/datasets/blob/1.18.4/datasets/snli/README.md</a:t>
            </a:r>
            <a:endParaRPr sz="85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303437"/>
                </a:solidFill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写真説明文から3種類の仮説を作成した</a:t>
            </a:r>
            <a:endParaRPr sz="2800" lang="ja-JP"/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EF8"/>
                </a:solidFill>
                <a:latin typeface="Noto Sans CJK JP"/>
              </a:defRPr>
            </a:pPr>
            <a:r>
              <a:rPr sz="1400" b="1" lang="ja-JP">
                <a:solidFill>
                  <a:srgbClr val="FFFEF8"/>
                </a:solidFill>
                <a:latin typeface="Noto Sans CJK JP"/>
                <a:ea typeface="Noto Sans CJK JP"/>
              </a:rPr>
              <a:t>SNLIの作成方法</a:t>
            </a:r>
            <a:endParaRPr sz="1400" lang="ja-JP"/>
          </a:p>
        </p:txBody>
      </p:sp>
      <p:sp>
        <p:nvSpPr>
          <p:cNvPr id="4" name="body"/>
          <p:cNvSpPr txBox="1"/>
          <p:nvPr/>
        </p:nvSpPr>
        <p:spPr>
          <a:xfrm>
            <a:off x="594360" y="1490472"/>
            <a:ext cx="7955279" cy="30906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03200" indent="-1524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000" b="0">
                <a:solidFill>
                  <a:srgbClr val="303437"/>
                </a:solidFill>
                <a:latin typeface="Noto Sans CJK JP"/>
              </a:defRPr>
              <a:buChar char="•"/>
            </a:pPr>
            <a:r>
              <a:rPr sz="2000" lang="ja-JP">
                <a:solidFill>
                  <a:srgbClr val="303437"/>
                </a:solidFill>
                <a:latin typeface="Noto Sans CJK JP"/>
                <a:ea typeface="Noto Sans CJK JP"/>
              </a:rPr>
              <a:t>写真に英語の説明文を付けたFlickr30kなどを素材にした </a:t>
            </a:r>
            <a:r>
              <a:rPr sz="2000" lang="ja-JP">
                <a:solidFill>
                  <a:srgbClr val="303437"/>
                </a:solidFill>
                <a:latin typeface="Noto Sans CJK JP"/>
                <a:ea typeface="Noto Sans CJK JP"/>
              </a:rPr>
              <a:t>[1]</a:t>
            </a:r>
            <a:r>
              <a:rPr sz="2000" lang="ja-JP">
                <a:solidFill>
                  <a:srgbClr val="303437"/>
                </a:solidFill>
                <a:latin typeface="Noto Sans CJK JP"/>
                <a:ea typeface="Noto Sans CJK JP"/>
              </a:rPr>
              <a:t>。</a:t>
            </a:r>
            <a:endParaRPr sz="2000" lang="ja-JP"/>
            <a:endParaRPr sz="2000"/>
          </a:p>
          <a:p>
            <a:pPr algn="l" lvl="1" marL="482600" indent="-1270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000">
                <a:latin typeface="Noto Sans CJK JP"/>
              </a:defRPr>
              <a:buChar char="○"/>
            </a:pPr>
            <a:r>
              <a:rPr sz="2000" lang="ja-JP">
                <a:solidFill>
                  <a:srgbClr val="303437"/>
                </a:solidFill>
                <a:latin typeface="Noto Sans CJK JP"/>
                <a:ea typeface="Noto Sans CJK JP"/>
              </a:rPr>
              <a:t>物体や関係を注釈したVisual Genomeの初期データも使った。</a:t>
            </a:r>
            <a:endParaRPr sz="2000"/>
          </a:p>
          <a:p>
            <a:pPr algn="l" marL="203200" indent="-1524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000">
                <a:latin typeface="Noto Sans CJK JP"/>
              </a:defRPr>
              <a:buChar char="•"/>
            </a:pPr>
            <a:r>
              <a:rPr sz="2000" lang="ja-JP">
                <a:solidFill>
                  <a:srgbClr val="303437"/>
                </a:solidFill>
                <a:latin typeface="Noto Sans CJK JP"/>
                <a:ea typeface="Noto Sans CJK JP"/>
              </a:rPr>
              <a:t>作業者には説明文だけを提示し、写真は見せなかった。</a:t>
            </a:r>
            <a:endParaRPr sz="2000"/>
          </a:p>
          <a:p>
            <a:pPr algn="l" lvl="1" marL="482600" indent="-1270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000">
                <a:latin typeface="Noto Sans CJK JP"/>
              </a:defRPr>
              <a:buChar char="○"/>
            </a:pPr>
            <a:r>
              <a:rPr sz="2000" lang="ja-JP">
                <a:solidFill>
                  <a:srgbClr val="303437"/>
                </a:solidFill>
                <a:latin typeface="Noto Sans CJK JP"/>
                <a:ea typeface="Noto Sans CJK JP"/>
              </a:rPr>
              <a:t>確実に真・真かもしれない・確実に偽の文を各1つ書く。</a:t>
            </a:r>
            <a:endParaRPr sz="2000"/>
          </a:p>
          <a:p>
            <a:pPr algn="l" marL="203200" indent="-1524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000">
                <a:latin typeface="Noto Sans CJK JP"/>
              </a:defRPr>
              <a:buChar char="•"/>
            </a:pPr>
            <a:r>
              <a:rPr sz="2000" lang="ja-JP">
                <a:solidFill>
                  <a:srgbClr val="303437"/>
                </a:solidFill>
                <a:latin typeface="Noto Sans CJK JP"/>
                <a:ea typeface="Noto Sans CJK JP"/>
              </a:rPr>
              <a:t>この仮説文の作成には約2,500人の作業者が参加した </a:t>
            </a:r>
            <a:r>
              <a:rPr sz="2000" lang="ja-JP">
                <a:solidFill>
                  <a:srgbClr val="303437"/>
                </a:solidFill>
                <a:latin typeface="Noto Sans CJK JP"/>
                <a:ea typeface="Noto Sans CJK JP"/>
              </a:rPr>
              <a:t>[1]</a:t>
            </a:r>
            <a:r>
              <a:rPr sz="2000" lang="ja-JP">
                <a:solidFill>
                  <a:srgbClr val="303437"/>
                </a:solidFill>
                <a:latin typeface="Noto Sans CJK JP"/>
                <a:ea typeface="Noto Sans CJK JP"/>
              </a:rPr>
              <a:t>。</a:t>
            </a:r>
            <a:endParaRPr sz="2000"/>
          </a:p>
        </p:txBody>
      </p:sp>
      <p:sp>
        <p:nvSpPr>
          <p:cNvPr id="5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Bowman et al. (2015), §2.1. https://aclanthology.org/D15-1075/</a:t>
            </a:r>
            <a:endParaRPr sz="85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303437"/>
                </a:solidFill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追加の4人が一部の文対を判定した</a:t>
            </a:r>
            <a:endParaRPr sz="2800" lang="ja-JP"/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EF8"/>
                </a:solidFill>
                <a:latin typeface="Noto Sans CJK JP"/>
              </a:defRPr>
            </a:pPr>
            <a:r>
              <a:rPr sz="1400" b="1" lang="ja-JP">
                <a:solidFill>
                  <a:srgbClr val="FFFEF8"/>
                </a:solidFill>
                <a:latin typeface="Noto Sans CJK JP"/>
                <a:ea typeface="Noto Sans CJK JP"/>
              </a:rPr>
              <a:t>SNLIの作成方法</a:t>
            </a:r>
            <a:endParaRPr sz="1400" lang="ja-JP"/>
          </a:p>
        </p:txBody>
      </p:sp>
      <p:sp>
        <p:nvSpPr>
          <p:cNvPr id="4" name="body"/>
          <p:cNvSpPr txBox="1"/>
          <p:nvPr/>
        </p:nvSpPr>
        <p:spPr>
          <a:xfrm>
            <a:off x="594360" y="1490472"/>
            <a:ext cx="7955279" cy="30906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03200" indent="-1524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000" b="0">
                <a:solidFill>
                  <a:srgbClr val="303437"/>
                </a:solidFill>
                <a:latin typeface="Noto Sans CJK JP"/>
              </a:defRPr>
              <a:buChar char="•"/>
            </a:pPr>
            <a:r>
              <a:rPr sz="2000" lang="ja-JP">
                <a:solidFill>
                  <a:srgbClr val="303437"/>
                </a:solidFill>
                <a:latin typeface="Noto Sans CJK JP"/>
                <a:ea typeface="Noto Sans CJK JP"/>
              </a:rPr>
              <a:t>56,951組について、4人の判定を追加した </a:t>
            </a:r>
            <a:r>
              <a:rPr sz="2000" lang="ja-JP">
                <a:solidFill>
                  <a:srgbClr val="303437"/>
                </a:solidFill>
                <a:latin typeface="Noto Sans CJK JP"/>
                <a:ea typeface="Noto Sans CJK JP"/>
              </a:rPr>
              <a:t>[1, 2]</a:t>
            </a:r>
            <a:r>
              <a:rPr sz="2000" lang="ja-JP">
                <a:solidFill>
                  <a:srgbClr val="303437"/>
                </a:solidFill>
                <a:latin typeface="Noto Sans CJK JP"/>
                <a:ea typeface="Noto Sans CJK JP"/>
              </a:rPr>
              <a:t>。</a:t>
            </a:r>
            <a:endParaRPr sz="2000" lang="ja-JP"/>
            <a:endParaRPr sz="2000"/>
          </a:p>
          <a:p>
            <a:pPr algn="l" lvl="1" marL="482600" indent="-1270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000">
                <a:latin typeface="Noto Sans CJK JP"/>
              </a:defRPr>
              <a:buChar char="○"/>
            </a:pPr>
            <a:r>
              <a:rPr sz="2000" lang="ja-JP">
                <a:solidFill>
                  <a:srgbClr val="303437"/>
                </a:solidFill>
                <a:latin typeface="Noto Sans CJK JP"/>
                <a:ea typeface="Noto Sans CJK JP"/>
              </a:rPr>
              <a:t>作成者のラベルを含め、1組あたり5票を得た。</a:t>
            </a:r>
            <a:endParaRPr sz="2000"/>
          </a:p>
          <a:p>
            <a:pPr algn="l" marL="203200" indent="-1524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000">
                <a:latin typeface="Noto Sans CJK JP"/>
              </a:defRPr>
              <a:buChar char="•"/>
            </a:pPr>
            <a:r>
              <a:rPr sz="2000" lang="ja-JP">
                <a:solidFill>
                  <a:srgbClr val="303437"/>
                </a:solidFill>
                <a:latin typeface="Noto Sans CJK JP"/>
                <a:ea typeface="Noto Sans CJK JP"/>
              </a:rPr>
              <a:t>3票以上が一致したクラスを正解ラベルとした。</a:t>
            </a:r>
            <a:endParaRPr sz="2000"/>
          </a:p>
          <a:p>
            <a:pPr algn="l" lvl="1" marL="482600" indent="-1270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000">
                <a:latin typeface="Noto Sans CJK JP"/>
              </a:defRPr>
              <a:buChar char="○"/>
            </a:pPr>
            <a:r>
              <a:rPr sz="2000" lang="ja-JP">
                <a:solidFill>
                  <a:srgbClr val="303437"/>
                </a:solidFill>
                <a:latin typeface="Noto Sans CJK JP"/>
                <a:ea typeface="Noto Sans CJK JP"/>
              </a:rPr>
              <a:t>検証対象の98%で3票以上が一致し、58.3%は全員一致。</a:t>
            </a:r>
            <a:endParaRPr sz="2000"/>
          </a:p>
          <a:p>
            <a:pPr algn="l" marL="203200" indent="-1524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000">
                <a:latin typeface="Noto Sans CJK JP"/>
              </a:defRPr>
              <a:buChar char="•"/>
            </a:pPr>
            <a:r>
              <a:rPr sz="2000" lang="ja-JP">
                <a:solidFill>
                  <a:srgbClr val="303437"/>
                </a:solidFill>
                <a:latin typeface="Noto Sans CJK JP"/>
                <a:ea typeface="Noto Sans CJK JP"/>
              </a:rPr>
              <a:t>検証は約30人の信頼された作業者が担当した </a:t>
            </a:r>
            <a:r>
              <a:rPr sz="2000" lang="ja-JP">
                <a:solidFill>
                  <a:srgbClr val="303437"/>
                </a:solidFill>
                <a:latin typeface="Noto Sans CJK JP"/>
                <a:ea typeface="Noto Sans CJK JP"/>
              </a:rPr>
              <a:t>[1]</a:t>
            </a:r>
            <a:r>
              <a:rPr sz="2000" lang="ja-JP">
                <a:solidFill>
                  <a:srgbClr val="303437"/>
                </a:solidFill>
                <a:latin typeface="Noto Sans CJK JP"/>
                <a:ea typeface="Noto Sans CJK JP"/>
              </a:rPr>
              <a:t>。</a:t>
            </a:r>
            <a:endParaRPr sz="2000"/>
          </a:p>
          <a:p>
            <a:pPr algn="l" marL="203200" indent="-1524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000">
                <a:latin typeface="Noto Sans CJK JP"/>
              </a:defRPr>
              <a:buChar char="•"/>
            </a:pPr>
            <a:r>
              <a:rPr sz="2000" lang="ja-JP">
                <a:solidFill>
                  <a:srgbClr val="303437"/>
                </a:solidFill>
                <a:latin typeface="Noto Sans CJK JP"/>
                <a:ea typeface="Noto Sans CJK JP"/>
              </a:rPr>
              <a:t>一致しない文対には「-」を付け、通常の3分類から除く。</a:t>
            </a:r>
            <a:endParaRPr sz="2000"/>
          </a:p>
        </p:txBody>
      </p:sp>
      <p:sp>
        <p:nvSpPr>
          <p:cNvPr id="5" name="lookup-sources"/>
          <p:cNvSpPr txBox="1"/>
          <p:nvPr/>
        </p:nvSpPr>
        <p:spPr>
          <a:xfrm>
            <a:off x="502920" y="4744720"/>
            <a:ext cx="8183879" cy="3393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Bowman et al. (2015), §2.2 / Table 3. https://aclanthology.org/D15-1075/</a:t>
            </a:r>
            <a:endParaRPr sz="850"/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[2]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SNLI 1.0公式データ. https://nlp.stanford.edu/projects/snli/</a:t>
            </a:r>
            <a:endParaRPr sz="85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303437"/>
                </a:solidFill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収録規模と3分類に使う文対数</a:t>
            </a:r>
            <a:endParaRPr sz="2800" lang="ja-JP"/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EF8"/>
                </a:solidFill>
                <a:latin typeface="Noto Sans CJK JP"/>
              </a:defRPr>
            </a:pPr>
            <a:r>
              <a:rPr sz="1400" b="1" lang="ja-JP">
                <a:solidFill>
                  <a:srgbClr val="FFFEF8"/>
                </a:solidFill>
                <a:latin typeface="Noto Sans CJK JP"/>
                <a:ea typeface="Noto Sans CJK JP"/>
              </a:rPr>
              <a:t>SNLIの規模と文の長さ</a:t>
            </a:r>
            <a:endParaRPr sz="1400" lang="ja-JP"/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554480"/>
          <a:ext cx="8046720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560320"/>
                <a:gridCol w="2743200"/>
              </a:tblGrid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分割</a:t>
                      </a:r>
                      <a:endParaRPr sz="22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元の収録数</a:t>
                      </a:r>
                      <a:endParaRPr sz="22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正解ラベル付き</a:t>
                      </a:r>
                      <a:endParaRPr sz="22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学習用</a:t>
                      </a:r>
                      <a:endParaRPr sz="22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550,152</a:t>
                      </a:r>
                      <a:endParaRPr sz="22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549,367</a:t>
                      </a:r>
                      <a:endParaRPr sz="22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開発用</a:t>
                      </a:r>
                      <a:endParaRPr sz="22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10,000</a:t>
                      </a:r>
                      <a:endParaRPr sz="22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9,842</a:t>
                      </a:r>
                      <a:endParaRPr sz="22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テスト用</a:t>
                      </a:r>
                      <a:endParaRPr sz="22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10,000</a:t>
                      </a:r>
                      <a:endParaRPr sz="22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9,824</a:t>
                      </a:r>
                      <a:endParaRPr sz="22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合計</a:t>
                      </a:r>
                      <a:endParaRPr sz="22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570,152</a:t>
                      </a:r>
                      <a:endParaRPr sz="22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569,033</a:t>
                      </a:r>
                      <a:endParaRPr sz="22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5" name="table-caption"/>
          <p:cNvSpPr txBox="1"/>
          <p:nvPr/>
        </p:nvSpPr>
        <p:spPr>
          <a:xfrm>
            <a:off x="594360" y="4246880"/>
            <a:ext cx="7955279" cy="334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303437"/>
                </a:solidFill>
                <a:latin typeface="Noto Sans CJK JP"/>
              </a:defRPr>
              <a:buNone/>
            </a:pPr>
            <a:r>
              <a:rPr sz="1700" lang="ja-JP">
                <a:solidFill>
                  <a:srgbClr val="303437"/>
                </a:solidFill>
                <a:latin typeface="Noto Sans CJK JP"/>
                <a:ea typeface="Noto Sans CJK JP"/>
              </a:rPr>
              <a:t>右列は、正解ラベルが付いたSNLI 1.0の文対数。</a:t>
            </a:r>
            <a:endParaRPr sz="1700" lang="ja-JP"/>
            <a:endParaRPr sz="1700"/>
          </a:p>
        </p:txBody>
      </p:sp>
      <p:sp>
        <p:nvSpPr>
          <p:cNvPr id="6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SNLI 1.0公式データ. https://nlp.stanford.edu/projects/snli/</a:t>
            </a:r>
            <a:endParaRPr sz="85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2800" b="1">
                <a:solidFill>
                  <a:srgbClr val="303437"/>
                </a:solidFill>
                <a:latin typeface="Noto Sans CJK JP"/>
              </a:defRPr>
              <a:spcAft>
                <a:spcPts val="70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 CJK JP"/>
                <a:ea typeface="Noto Sans CJK JP"/>
              </a:rPr>
              <a:t>前提文の単語数の分布</a:t>
            </a:r>
            <a:endParaRPr sz="2800" lang="ja-JP"/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EF8"/>
                </a:solidFill>
                <a:latin typeface="Noto Sans CJK JP"/>
              </a:defRPr>
            </a:pPr>
            <a:r>
              <a:rPr sz="1400" b="1" lang="ja-JP">
                <a:solidFill>
                  <a:srgbClr val="FFFEF8"/>
                </a:solidFill>
                <a:latin typeface="Noto Sans CJK JP"/>
                <a:ea typeface="Noto Sans CJK JP"/>
              </a:rPr>
              <a:t>SNLIの規模と文の長さ</a:t>
            </a:r>
            <a:endParaRPr sz="1400" lang="ja-JP"/>
          </a:p>
        </p:txBody>
      </p:sp>
      <p:pic>
        <p:nvPicPr>
          <p:cNvPr id="4" name="Picture 3" descr="snli-p_word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371600"/>
            <a:ext cx="8046720" cy="2743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94360" y="4169663"/>
            <a:ext cx="7955279" cy="4846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defRPr sz="1700">
                <a:latin typeface="Noto Sans CJK JP"/>
              </a:defRPr>
              <a:buNone/>
            </a:pPr>
            <a:r>
              <a:rPr sz="1700" lang="ja-JP">
                <a:solidFill>
                  <a:srgbClr val="303437"/>
                </a:solidFill>
                <a:latin typeface="Noto Sans CJK JP"/>
                <a:ea typeface="Noto Sans CJK JP"/>
              </a:rPr>
              <a:t>平均12.89語、中央値12語、最大78語。</a:t>
            </a:r>
          </a:p>
        </p:txBody>
      </p:sp>
      <p:sp>
        <p:nvSpPr>
          <p:cNvPr id="6" name="lookup-sources"/>
          <p:cNvSpPr txBox="1"/>
          <p:nvPr/>
        </p:nvSpPr>
        <p:spPr>
          <a:xfrm>
            <a:off x="502920" y="4773168"/>
            <a:ext cx="818387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defRPr sz="850">
                <a:latin typeface="Noto Sans CJK JP"/>
              </a:defRPr>
              <a:spcAft>
                <a:spcPts val="0"/>
              </a:spcAft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 SNLI 1.0. https://nlp.stanford.edu/projects/snli/
正解付き569,033文対。同じ前提文が複数の文対に現れる場合も、それぞれ数えた。 棒1本は0〜1語、2〜3語…の区間を表す。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 lIns="0" rIns="0" tIns="0" bIns="0"/>
          <a:lstStyle/>
          <a:p>
            <a:pPr marL="0" indent="0">
              <a:lnSpc>
                <a:spcPct val="110000"/>
              </a:lnSpc>
              <a:spcBef>
                <a:spcPts val="0"/>
              </a:spcBef>
              <a:defRPr sz="2800">
                <a:latin typeface="Noto Sans CJK JP"/>
              </a:defRPr>
              <a:spcAft>
                <a:spcPts val="70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 CJK JP"/>
                <a:ea typeface="Noto Sans CJK JP"/>
              </a:rPr>
              <a:t>仮説文の単語数の分布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 wrap="square" lIns="0" rIns="0" tIns="0" bIns="0" anchor="ctr"/>
          <a:lstStyle/>
          <a:p>
            <a:pPr marL="0" indent="0">
              <a:lnSpc>
                <a:spcPct val="110000"/>
              </a:lnSpc>
              <a:spcBef>
                <a:spcPts val="0"/>
              </a:spcBef>
              <a:defRPr sz="1400">
                <a:latin typeface="Noto Sans CJK JP"/>
              </a:defRPr>
              <a:spcAft>
                <a:spcPts val="0"/>
              </a:spcAft>
              <a:buNone/>
            </a:pPr>
            <a:r>
              <a:rPr sz="1400" b="1" lang="ja-JP">
                <a:solidFill>
                  <a:srgbClr val="FFFEF8"/>
                </a:solidFill>
                <a:latin typeface="Noto Sans CJK JP"/>
                <a:ea typeface="Noto Sans CJK JP"/>
              </a:rPr>
              <a:t>SNLIの規模と文の長さ</a:t>
            </a:r>
          </a:p>
        </p:txBody>
      </p:sp>
      <p:pic>
        <p:nvPicPr>
          <p:cNvPr id="4" name="Picture 3" descr="snli-h_wor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71600"/>
            <a:ext cx="8046720" cy="2743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94360" y="4169663"/>
            <a:ext cx="7955279" cy="4846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defRPr sz="1700">
                <a:latin typeface="Noto Sans CJK JP"/>
              </a:defRPr>
              <a:buNone/>
            </a:pPr>
            <a:r>
              <a:rPr sz="1700" lang="ja-JP">
                <a:solidFill>
                  <a:srgbClr val="303437"/>
                </a:solidFill>
                <a:latin typeface="Noto Sans CJK JP"/>
                <a:ea typeface="Noto Sans CJK JP"/>
              </a:rPr>
              <a:t>平均7.42語、中央値7語、最大56語。</a:t>
            </a:r>
          </a:p>
        </p:txBody>
      </p:sp>
      <p:sp>
        <p:nvSpPr>
          <p:cNvPr id="6" name="lookup-sources"/>
          <p:cNvSpPr txBox="1"/>
          <p:nvPr/>
        </p:nvSpPr>
        <p:spPr>
          <a:xfrm>
            <a:off x="502920" y="4773168"/>
            <a:ext cx="818387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defRPr sz="850">
                <a:latin typeface="Noto Sans CJK JP"/>
              </a:defRPr>
              <a:spcAft>
                <a:spcPts val="0"/>
              </a:spcAft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 SNLI 1.0. https://nlp.stanford.edu/projects/snli/
正解付き569,033文対の仮説文を集計した。 棒1本は0〜1語、2〜3語…の区間を表す。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783080"/>
            <a:ext cx="8229600" cy="1417320"/>
          </a:xfrm>
        </p:spPr>
        <p:txBody>
          <a:bodyPr wrap="none" lIns="0" rIns="0" tIns="0" bIns="0" anchor="ctr"/>
          <a:lstStyle/>
          <a:p>
            <a:pPr algn="ctr" marL="0" indent="0">
              <a:defRPr sz="4000">
                <a:latin typeface="Noto Sans CJK JP"/>
              </a:defR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4000" lang="ja-JP" b="1">
                <a:solidFill>
                  <a:srgbClr val="303437"/>
                </a:solidFill>
                <a:latin typeface="Noto Sans CJK JP"/>
                <a:ea typeface="Noto Sans CJK JP"/>
              </a:rPr>
              <a:t>3 評価と性能</a:t>
            </a:r>
            <a:endParaRPr sz="4000"/>
            <a:endParaRPr sz="4000"/>
            <a:endParaRPr sz="40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p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303437"/>
                </a:solidFill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分類性能を正解率で評価する</a:t>
            </a:r>
            <a:endParaRPr sz="2800" lang="ja-JP"/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EF8"/>
                </a:solidFill>
                <a:latin typeface="Noto Sans CJK JP"/>
              </a:defRPr>
            </a:pPr>
            <a:r>
              <a:rPr sz="1400" b="1" lang="ja-JP">
                <a:solidFill>
                  <a:srgbClr val="FFFEF8"/>
                </a:solidFill>
                <a:latin typeface="Noto Sans CJK JP"/>
                <a:ea typeface="Noto Sans CJK JP"/>
              </a:rPr>
              <a:t>SNLIの評価方法</a:t>
            </a:r>
            <a:endParaRPr sz="1400" lang="ja-JP"/>
          </a:p>
        </p:txBody>
      </p:sp>
      <p:sp>
        <p:nvSpPr>
          <p:cNvPr id="4" name="body"/>
          <p:cNvSpPr txBox="1"/>
          <p:nvPr/>
        </p:nvSpPr>
        <p:spPr>
          <a:xfrm>
            <a:off x="594360" y="1490472"/>
            <a:ext cx="7955279" cy="30906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03200" indent="-1524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 b="0">
                <a:solidFill>
                  <a:srgbClr val="303437"/>
                </a:solidFill>
                <a:latin typeface="Noto Sans CJK JP"/>
              </a:defRPr>
              <a:buChar char="•"/>
            </a:pP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1組の予測クラスが正解と一致すれば1、不一致なら0。</a:t>
            </a:r>
            <a:endParaRPr sz="2100" lang="ja-JP"/>
            <a:endParaRPr sz="2100"/>
          </a:p>
          <a:p>
            <a:pPr algn="l" marL="203200" indent="-1524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Noto Sans CJK JP"/>
              </a:defRPr>
              <a:buChar char="•"/>
            </a:pP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正解率は正解した組数を評価対象の組数で割る。3組中2組が正解なら、正解率は66.7%となる。</a:t>
            </a:r>
            <a:endParaRPr sz="2100"/>
          </a:p>
          <a:p>
            <a:pPr algn="l" marL="203200" indent="-1524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Noto Sans CJK JP"/>
              </a:defRPr>
              <a:buChar char="•"/>
            </a:pP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正解ラベルがない「-」の文対は3分類の評価から除く。</a:t>
            </a:r>
            <a:endParaRPr sz="2100"/>
          </a:p>
          <a:p>
            <a:pPr algn="l" marL="203200" indent="-1524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Noto Sans CJK JP"/>
              </a:defRPr>
              <a:buChar char="•"/>
            </a:pP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テスト用では正解付き9,824組を評価対象とする </a:t>
            </a: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[1]</a:t>
            </a: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。</a:t>
            </a:r>
            <a:endParaRPr sz="2100"/>
          </a:p>
        </p:txBody>
      </p:sp>
      <p:sp>
        <p:nvSpPr>
          <p:cNvPr id="5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SNLI 1.0公式データ. https://nlp.stanford.edu/projects/snli/</a:t>
            </a:r>
            <a:endParaRPr sz="85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2800">
                <a:latin typeface="Noto Sans CJK JP"/>
              </a:defRPr>
              <a:spcAft>
                <a:spcPts val="0"/>
              </a:spcAft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2015年のLSTMの正解率は77.6%だった</a:t>
            </a:r>
            <a:endParaRPr sz="2800"/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>
                <a:latin typeface="Noto Sans CJK JP"/>
              </a:defRPr>
              <a:buNone/>
            </a:pPr>
            <a:r>
              <a:rPr sz="1400" lang="ja-JP">
                <a:solidFill>
                  <a:srgbClr val="FFFEF8"/>
                </a:solidFill>
                <a:latin typeface="Noto Sans CJK JP"/>
                <a:ea typeface="Noto Sans CJK JP"/>
              </a:rPr>
              <a:t>SNLIの登場時の性能</a:t>
            </a:r>
            <a:endParaRPr sz="1400"/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554480"/>
          <a:ext cx="804672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2560320"/>
              </a:tblGrid>
              <a:tr h="52578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>
                          <a:latin typeface="Noto Sans CJK JP"/>
                        </a:defRPr>
                        <a:buNone/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原著のモデル</a:t>
                      </a:r>
                      <a:endParaRPr sz="22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>
                          <a:latin typeface="Noto Sans CJK JP"/>
                        </a:defRPr>
                        <a:buNone/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テスト正解率</a:t>
                      </a:r>
                      <a:endParaRPr sz="22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</a:tr>
              <a:tr h="52578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>
                          <a:latin typeface="Noto Sans CJK JP"/>
                        </a:defRPr>
                        <a:buNone/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単語埋め込みの和</a:t>
                      </a:r>
                      <a:endParaRPr sz="22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>
                          <a:latin typeface="Noto Sans CJK JP"/>
                        </a:defRPr>
                        <a:buNone/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75.3%</a:t>
                      </a:r>
                      <a:endParaRPr sz="22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52578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>
                          <a:latin typeface="Noto Sans CJK JP"/>
                        </a:defRPr>
                        <a:buNone/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単純な再帰型ネットワーク</a:t>
                      </a:r>
                      <a:endParaRPr sz="22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>
                          <a:latin typeface="Noto Sans CJK JP"/>
                        </a:defRPr>
                        <a:buNone/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72.2%</a:t>
                      </a:r>
                      <a:endParaRPr sz="22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52578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>
                          <a:latin typeface="Noto Sans CJK JP"/>
                        </a:defRPr>
                        <a:buNone/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長期依存を扱うLSTM</a:t>
                      </a:r>
                      <a:endParaRPr sz="22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>
                          <a:latin typeface="Noto Sans CJK JP"/>
                        </a:defRPr>
                        <a:buNone/>
                      </a:pPr>
                      <a:r>
                        <a:rPr sz="22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77.6%</a:t>
                      </a:r>
                      <a:endParaRPr sz="2200"/>
                    </a:p>
                  </a:txBody>
                  <a:tcPr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858768"/>
            <a:ext cx="795527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900">
                <a:latin typeface="Noto Sans CJK JP"/>
              </a:defRPr>
              <a:buNone/>
            </a:pPr>
            <a:r>
              <a:rPr sz="1900" lang="ja-JP">
                <a:solidFill>
                  <a:srgbClr val="303437"/>
                </a:solidFill>
                <a:latin typeface="Noto Sans CJK JP"/>
                <a:ea typeface="Noto Sans CJK JP"/>
              </a:rPr>
              <a:t>いずれもSNLIの学習用で学習し、テスト用で評価した </a:t>
            </a:r>
            <a:r>
              <a:rPr sz="1900" lang="ja-JP">
                <a:solidFill>
                  <a:srgbClr val="303437"/>
                </a:solidFill>
                <a:latin typeface="Noto Sans CJK JP"/>
                <a:ea typeface="Noto Sans CJK JP"/>
              </a:rPr>
              <a:t>[1]</a:t>
            </a:r>
            <a:r>
              <a:rPr sz="1900" lang="ja-JP">
                <a:solidFill>
                  <a:srgbClr val="303437"/>
                </a:solidFill>
                <a:latin typeface="Noto Sans CJK JP"/>
                <a:ea typeface="Noto Sans CJK JP"/>
              </a:rPr>
              <a:t>。</a:t>
            </a:r>
            <a:endParaRPr sz="1900"/>
          </a:p>
        </p:txBody>
      </p:sp>
      <p:sp>
        <p:nvSpPr>
          <p:cNvPr id="6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Bowman et al. (2015), Table 6. https://aclanthology.org/D15-1075/</a:t>
            </a:r>
            <a:endParaRPr sz="85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303437"/>
                </a:solidFill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SNLIで報告されたモデルの正解率</a:t>
            </a:r>
            <a:endParaRPr sz="2800" lang="ja-JP"/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EF8"/>
                </a:solidFill>
                <a:latin typeface="Noto Sans CJK JP"/>
              </a:defRPr>
            </a:pPr>
            <a:r>
              <a:rPr sz="1400" b="1" lang="ja-JP">
                <a:solidFill>
                  <a:srgbClr val="FFFEF8"/>
                </a:solidFill>
                <a:latin typeface="Noto Sans CJK JP"/>
                <a:ea typeface="Noto Sans CJK JP"/>
              </a:rPr>
              <a:t>SNLIのモデル評価</a:t>
            </a:r>
            <a:endParaRPr sz="1400" lang="ja-JP"/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554480"/>
          <a:ext cx="8046720" cy="1508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3108960"/>
                <a:gridCol w="2011680"/>
              </a:tblGrid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1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モデル</a:t>
                      </a:r>
                      <a:endParaRPr sz="21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1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方式</a:t>
                      </a:r>
                      <a:endParaRPr sz="21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1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テスト正解率</a:t>
                      </a:r>
                      <a:endParaRPr sz="21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100" b="0">
                          <a:solidFill>
                            <a:srgbClr val="303437"/>
                          </a:solidFill>
                          <a:latin typeface="Noto Sans CJK JP"/>
                        </a:defRPr>
                        <a:buNone/>
                      </a:pPr>
                      <a:r>
                        <a:rPr sz="21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ESIM 2017 </a:t>
                      </a:r>
                      <a:r>
                        <a:rPr sz="21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[1]</a:t>
                      </a:r>
                      <a:endParaRPr sz="2100" lang="ja-JP"/>
                      <a:endParaRPr sz="2100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1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双方向LSTM＋注意</a:t>
                      </a:r>
                      <a:endParaRPr sz="21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1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88.0%</a:t>
                      </a:r>
                      <a:endParaRPr sz="21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 marL="0" indent="0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100" b="0">
                          <a:solidFill>
                            <a:srgbClr val="303437"/>
                          </a:solidFill>
                          <a:latin typeface="Noto Sans CJK JP"/>
                        </a:defRPr>
                        <a:buNone/>
                      </a:pPr>
                      <a:r>
                        <a:rPr sz="21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SemBERT 2020 </a:t>
                      </a:r>
                      <a:r>
                        <a:rPr sz="210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[2]</a:t>
                      </a:r>
                      <a:endParaRPr sz="2100" lang="ja-JP"/>
                      <a:endParaRPr sz="2100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1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BERT＋意味役割</a:t>
                      </a:r>
                      <a:endParaRPr sz="21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1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21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91.9%</a:t>
                      </a:r>
                      <a:endParaRPr sz="21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5" name="table-caption"/>
          <p:cNvSpPr txBox="1"/>
          <p:nvPr/>
        </p:nvSpPr>
        <p:spPr>
          <a:xfrm>
            <a:off x="594360" y="3241040"/>
            <a:ext cx="7955279" cy="13401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303437"/>
                </a:solidFill>
                <a:latin typeface="Noto Sans CJK JP"/>
              </a:defRPr>
              <a:buNone/>
            </a:pPr>
            <a:r>
              <a:rPr sz="1700" lang="ja-JP">
                <a:solidFill>
                  <a:srgbClr val="303437"/>
                </a:solidFill>
                <a:latin typeface="Noto Sans CJK JP"/>
                <a:ea typeface="Noto Sans CJK JP"/>
              </a:rPr>
              <a:t>文間の注意を計算するESIMと、BERTを意味役割で拡張したSemBERT。各公開実装の報告値であり、学習条件は異なる。</a:t>
            </a:r>
            <a:endParaRPr sz="1700" lang="ja-JP"/>
            <a:endParaRPr sz="1700"/>
          </a:p>
        </p:txBody>
      </p:sp>
      <p:sp>
        <p:nvSpPr>
          <p:cNvPr id="6" name="lookup-sources"/>
          <p:cNvSpPr txBox="1"/>
          <p:nvPr/>
        </p:nvSpPr>
        <p:spPr>
          <a:xfrm>
            <a:off x="502920" y="4744720"/>
            <a:ext cx="8183879" cy="3393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ESIM 公開実装. https://github.com/coetaur0/ESIM</a:t>
            </a:r>
            <a:endParaRPr sz="850"/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[2]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SemBERT 著者実装. https://github.com/cooelf/SemBERT</a:t>
            </a:r>
            <a:endParaRPr sz="85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303437"/>
                </a:solidFill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正解率だけでは文の理解を判断できない</a:t>
            </a:r>
            <a:endParaRPr sz="2800" lang="ja-JP"/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EF8"/>
                </a:solidFill>
                <a:latin typeface="Noto Sans CJK JP"/>
              </a:defRPr>
            </a:pPr>
            <a:r>
              <a:rPr sz="1400" b="1" lang="ja-JP">
                <a:solidFill>
                  <a:srgbClr val="FFFEF8"/>
                </a:solidFill>
                <a:latin typeface="Noto Sans CJK JP"/>
                <a:ea typeface="Noto Sans CJK JP"/>
              </a:rPr>
              <a:t>SNLIの判断と限界</a:t>
            </a:r>
            <a:endParaRPr sz="1400" lang="ja-JP"/>
          </a:p>
        </p:txBody>
      </p:sp>
      <p:sp>
        <p:nvSpPr>
          <p:cNvPr id="4" name="body"/>
          <p:cNvSpPr txBox="1"/>
          <p:nvPr/>
        </p:nvSpPr>
        <p:spPr>
          <a:xfrm>
            <a:off x="594360" y="1490472"/>
            <a:ext cx="7955279" cy="30906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03200" indent="-1524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 b="0">
                <a:solidFill>
                  <a:srgbClr val="303437"/>
                </a:solidFill>
                <a:latin typeface="Noto Sans CJK JP"/>
              </a:defRPr>
              <a:buChar char="•"/>
            </a:pP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写真説明文に偏り、長文・専門文書を代表しない。</a:t>
            </a:r>
            <a:endParaRPr sz="2100" lang="ja-JP"/>
            <a:endParaRPr sz="2100"/>
          </a:p>
          <a:p>
            <a:pPr algn="l" marL="203200" indent="-1524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Noto Sans CJK JP"/>
              </a:defRPr>
              <a:buChar char="•"/>
            </a:pP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仮説文だけでもラベルを推測できる注釈の偏りがある </a:t>
            </a: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[1]</a:t>
            </a: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。</a:t>
            </a:r>
            <a:endParaRPr sz="2100"/>
          </a:p>
          <a:p>
            <a:pPr algn="l" lvl="1" marL="482600" indent="-1270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Noto Sans CJK JP"/>
              </a:defRPr>
              <a:buChar char="○"/>
            </a:pP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仮説だけを使う分類器で約67%という報告がある。</a:t>
            </a:r>
            <a:endParaRPr sz="2100"/>
          </a:p>
          <a:p>
            <a:pPr algn="l" marL="203200" indent="-1524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Noto Sans CJK JP"/>
              </a:defRPr>
              <a:buChar char="•"/>
            </a:pP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中立と矛盾の境界には、場面の解釈が関わる。</a:t>
            </a:r>
            <a:endParaRPr sz="2100"/>
          </a:p>
          <a:p>
            <a:pPr algn="l" marL="203200" indent="-1524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Noto Sans CJK JP"/>
              </a:defRPr>
              <a:buChar char="•"/>
            </a:pP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文対全体の性能と、推論の種類ごとの性能を分けて見る。</a:t>
            </a:r>
            <a:endParaRPr sz="2100"/>
          </a:p>
        </p:txBody>
      </p:sp>
      <p:sp>
        <p:nvSpPr>
          <p:cNvPr id="5" name="lookup-sources"/>
          <p:cNvSpPr txBox="1"/>
          <p:nvPr/>
        </p:nvSpPr>
        <p:spPr>
          <a:xfrm>
            <a:off x="502920" y="4744720"/>
            <a:ext cx="8183879" cy="3393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Gururangan et al. (2018), NAACL. https://aclanthology.org/N18-2017/</a:t>
            </a:r>
            <a:endParaRPr sz="850"/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[2]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SNLI dataset card. https://github.com/huggingface/datasets/blob/1.18.4/datasets/snli/README.md</a:t>
            </a:r>
            <a:endParaRPr sz="85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783080"/>
            <a:ext cx="8229600" cy="1417320"/>
          </a:xfrm>
        </p:spPr>
        <p:txBody>
          <a:bodyPr wrap="none" lIns="0" rIns="0" tIns="0" bIns="0" anchor="ctr"/>
          <a:lstStyle/>
          <a:p>
            <a:pPr algn="ctr" marL="0" indent="0">
              <a:defRPr sz="4000">
                <a:latin typeface="Noto Sans CJK JP"/>
              </a:defR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4000" lang="ja-JP" b="1">
                <a:solidFill>
                  <a:srgbClr val="303437"/>
                </a:solidFill>
                <a:latin typeface="Noto Sans CJK JP"/>
                <a:ea typeface="Noto Sans CJK JP"/>
              </a:rPr>
              <a:t>4 利用の変遷と現在</a:t>
            </a:r>
            <a:endParaRPr sz="4000"/>
            <a:endParaRPr sz="4000"/>
            <a:endParaRPr sz="40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p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303437"/>
                </a:solidFill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先行するRTEとSNLIの規模の違い</a:t>
            </a:r>
            <a:endParaRPr sz="2800" lang="ja-JP"/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EF8"/>
                </a:solidFill>
                <a:latin typeface="Noto Sans CJK JP"/>
              </a:defRPr>
            </a:pPr>
            <a:r>
              <a:rPr sz="1400" b="1" lang="ja-JP">
                <a:solidFill>
                  <a:srgbClr val="FFFEF8"/>
                </a:solidFill>
                <a:latin typeface="Noto Sans CJK JP"/>
                <a:ea typeface="Noto Sans CJK JP"/>
              </a:rPr>
              <a:t>関連データセットの動向</a:t>
            </a:r>
            <a:endParaRPr sz="1400" lang="ja-JP"/>
          </a:p>
        </p:txBody>
      </p:sp>
      <p:sp>
        <p:nvSpPr>
          <p:cNvPr id="4" name="body"/>
          <p:cNvSpPr txBox="1"/>
          <p:nvPr/>
        </p:nvSpPr>
        <p:spPr>
          <a:xfrm>
            <a:off x="594360" y="1490472"/>
            <a:ext cx="7955279" cy="30906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03200" indent="-1524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 b="0">
                <a:solidFill>
                  <a:srgbClr val="303437"/>
                </a:solidFill>
                <a:latin typeface="Noto Sans CJK JP"/>
              </a:defRPr>
              <a:buChar char="•"/>
            </a:pP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含意を判定する先行ベンチマークとしてRTEがあった </a:t>
            </a: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[1]</a:t>
            </a: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。</a:t>
            </a:r>
            <a:endParaRPr sz="2100" lang="ja-JP"/>
            <a:endParaRPr sz="2100"/>
          </a:p>
          <a:p>
            <a:pPr algn="l" lvl="1" marL="482600" indent="-1270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Noto Sans CJK JP"/>
              </a:defRPr>
              <a:buChar char="○"/>
            </a:pP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RTE第3回（2007年）は、開発800組＋テスト800組だった。</a:t>
            </a:r>
            <a:endParaRPr sz="2100"/>
          </a:p>
          <a:p>
            <a:pPr algn="l" marL="203200" indent="-1524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Noto Sans CJK JP"/>
              </a:defRPr>
              <a:buChar char="•"/>
            </a:pP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それに対してSNLI（2015年）は570,152組を収録した。</a:t>
            </a:r>
            <a:endParaRPr sz="2100"/>
          </a:p>
          <a:p>
            <a:pPr algn="l" lvl="1" marL="482600" indent="-1270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Noto Sans CJK JP"/>
              </a:defRPr>
              <a:buChar char="○"/>
            </a:pP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合計1,600組のRTE第3回に対し、収録数は約356倍となる。</a:t>
            </a:r>
            <a:endParaRPr sz="2100"/>
          </a:p>
          <a:p>
            <a:pPr algn="l" marL="203200" indent="-1524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Noto Sans CJK JP"/>
              </a:defRPr>
              <a:buChar char="•"/>
            </a:pP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その結果、ニューラルモデルを学習しやすくなった。</a:t>
            </a:r>
            <a:endParaRPr sz="2100"/>
          </a:p>
        </p:txBody>
      </p:sp>
      <p:sp>
        <p:nvSpPr>
          <p:cNvPr id="5" name="lookup-sources"/>
          <p:cNvSpPr txBox="1"/>
          <p:nvPr/>
        </p:nvSpPr>
        <p:spPr>
          <a:xfrm>
            <a:off x="502920" y="4744720"/>
            <a:ext cx="8183879" cy="3393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Giampiccolo et al. (2007), §2. https://aclanthology.org/W07-1401/</a:t>
            </a:r>
            <a:endParaRPr sz="850"/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[2]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Bowman et al. (2015). https://aclanthology.org/D15-1075/</a:t>
            </a:r>
            <a:endParaRPr sz="85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303437"/>
                </a:solidFill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その後のMultiNLIはジャンルを広げた</a:t>
            </a:r>
            <a:endParaRPr sz="2800" lang="ja-JP"/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EF8"/>
                </a:solidFill>
                <a:latin typeface="Noto Sans CJK JP"/>
              </a:defRPr>
            </a:pPr>
            <a:r>
              <a:rPr sz="1400" b="1" lang="ja-JP">
                <a:solidFill>
                  <a:srgbClr val="FFFEF8"/>
                </a:solidFill>
                <a:latin typeface="Noto Sans CJK JP"/>
                <a:ea typeface="Noto Sans CJK JP"/>
              </a:rPr>
              <a:t>関連データセットの動向</a:t>
            </a:r>
            <a:endParaRPr sz="1400" lang="ja-JP"/>
          </a:p>
        </p:txBody>
      </p:sp>
      <p:sp>
        <p:nvSpPr>
          <p:cNvPr id="4" name="body"/>
          <p:cNvSpPr txBox="1"/>
          <p:nvPr/>
        </p:nvSpPr>
        <p:spPr>
          <a:xfrm>
            <a:off x="594360" y="1490472"/>
            <a:ext cx="7955279" cy="30906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03200" indent="-1524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 b="0">
                <a:solidFill>
                  <a:srgbClr val="303437"/>
                </a:solidFill>
                <a:latin typeface="Noto Sans CJK JP"/>
              </a:defRPr>
              <a:buChar char="•"/>
            </a:pP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その後、多ジャンルの推論データMultiNLIが登場した </a:t>
            </a: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[1]</a:t>
            </a: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。</a:t>
            </a:r>
            <a:endParaRPr sz="2100" lang="ja-JP"/>
            <a:endParaRPr sz="2100"/>
          </a:p>
          <a:p>
            <a:pPr algn="l" lvl="1" marL="482600" indent="-1270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Noto Sans CJK JP"/>
              </a:defRPr>
              <a:buChar char="○"/>
            </a:pP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2018年の論文で発表された。</a:t>
            </a:r>
            <a:endParaRPr sz="2100"/>
          </a:p>
          <a:p>
            <a:pPr algn="l" marL="203200" indent="-1524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Noto Sans CJK JP"/>
              </a:defRPr>
              <a:buChar char="•"/>
            </a:pP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SNLIは写真説明を扱った。これに対し、会話・小説など10ジャンルへ広げた </a:t>
            </a: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[2]</a:t>
            </a: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。</a:t>
            </a:r>
            <a:endParaRPr sz="2100"/>
          </a:p>
          <a:p>
            <a:pPr algn="l" marL="203200" indent="-1524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100">
                <a:latin typeface="Noto Sans CJK JP"/>
              </a:defRPr>
              <a:buChar char="•"/>
            </a:pPr>
            <a:r>
              <a:rPr sz="2100" lang="ja-JP">
                <a:solidFill>
                  <a:srgbClr val="303437"/>
                </a:solidFill>
                <a:latin typeface="Noto Sans CJK JP"/>
                <a:ea typeface="Noto Sans CJK JP"/>
              </a:rPr>
              <a:t>さらに、未知のジャンルへの汎化も評価する。</a:t>
            </a:r>
            <a:endParaRPr sz="2100"/>
          </a:p>
        </p:txBody>
      </p:sp>
      <p:sp>
        <p:nvSpPr>
          <p:cNvPr id="5" name="lookup-sources"/>
          <p:cNvSpPr txBox="1"/>
          <p:nvPr/>
        </p:nvSpPr>
        <p:spPr>
          <a:xfrm>
            <a:off x="502920" y="4744720"/>
            <a:ext cx="8183879" cy="3393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Williams et al. (2018). https://aclanthology.org/N18-1101/</a:t>
            </a:r>
            <a:endParaRPr sz="850"/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[2]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MultiNLI著者リポジトリ. https://github.com/nyu-mll/multiNLI</a:t>
            </a:r>
            <a:endParaRPr sz="85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303437"/>
                </a:solidFill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e-SNLIとANLIでは何を追加したか</a:t>
            </a:r>
            <a:endParaRPr sz="2800" lang="ja-JP"/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EF8"/>
                </a:solidFill>
                <a:latin typeface="Noto Sans CJK JP"/>
              </a:defRPr>
            </a:pPr>
            <a:r>
              <a:rPr sz="1400" b="1" lang="ja-JP">
                <a:solidFill>
                  <a:srgbClr val="FFFEF8"/>
                </a:solidFill>
                <a:latin typeface="Noto Sans CJK JP"/>
                <a:ea typeface="Noto Sans CJK JP"/>
              </a:rPr>
              <a:t>関連データセットの動向</a:t>
            </a:r>
            <a:endParaRPr sz="1400" lang="ja-JP"/>
          </a:p>
        </p:txBody>
      </p:sp>
      <p:sp>
        <p:nvSpPr>
          <p:cNvPr id="4" name="body"/>
          <p:cNvSpPr txBox="1"/>
          <p:nvPr/>
        </p:nvSpPr>
        <p:spPr>
          <a:xfrm>
            <a:off x="594360" y="1490472"/>
            <a:ext cx="7955279" cy="30906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03200" indent="-152400">
              <a:lnSpc>
                <a:spcPct val="110000"/>
              </a:lnSpc>
              <a:spcBef>
                <a:spcPts val="0"/>
              </a:spcBef>
              <a:defRPr sz="2000" b="0">
                <a:solidFill>
                  <a:srgbClr val="303437"/>
                </a:solidFill>
                <a:latin typeface="Noto Sans CJK JP"/>
              </a:defRPr>
              <a:spcAft>
                <a:spcPts val="500"/>
              </a:spcAft>
              <a:buChar char="•"/>
            </a:pPr>
            <a:r>
              <a:rPr sz="2000" lang="ja-JP">
                <a:solidFill>
                  <a:srgbClr val="303437"/>
                </a:solidFill>
                <a:latin typeface="Noto Sans CJK JP"/>
                <a:ea typeface="Noto Sans CJK JP"/>
              </a:rPr>
              <a:t>判断理由を付けた拡張データe-SNLIも作られた </a:t>
            </a:r>
            <a:r>
              <a:rPr sz="2000" lang="ja-JP">
                <a:solidFill>
                  <a:srgbClr val="303437"/>
                </a:solidFill>
                <a:latin typeface="Noto Sans CJK JP"/>
                <a:ea typeface="Noto Sans CJK JP"/>
              </a:rPr>
              <a:t>[1]</a:t>
            </a:r>
            <a:r>
              <a:rPr sz="2000" lang="ja-JP">
                <a:solidFill>
                  <a:srgbClr val="303437"/>
                </a:solidFill>
                <a:latin typeface="Noto Sans CJK JP"/>
                <a:ea typeface="Noto Sans CJK JP"/>
              </a:rPr>
              <a:t>。</a:t>
            </a:r>
            <a:endParaRPr sz="2000" lang="ja-JP"/>
            <a:endParaRPr sz="2000"/>
            <a:endParaRPr sz="2000"/>
          </a:p>
          <a:p>
            <a:pPr algn="l" lvl="1" marL="482600" indent="-1270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000">
                <a:latin typeface="Noto Sans CJK JP"/>
              </a:defRPr>
              <a:buChar char="○"/>
            </a:pPr>
            <a:r>
              <a:rPr sz="2000" lang="ja-JP">
                <a:solidFill>
                  <a:srgbClr val="303437"/>
                </a:solidFill>
                <a:latin typeface="Noto Sans CJK JP"/>
                <a:ea typeface="Noto Sans CJK JP"/>
              </a:rPr>
              <a:t>SNLIの文対を使い、クラスに加えて自然言語の説明を学習する。</a:t>
            </a:r>
            <a:endParaRPr sz="2000"/>
          </a:p>
          <a:p>
            <a:pPr algn="l" marL="203200" indent="-1524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000">
                <a:latin typeface="Noto Sans CJK JP"/>
              </a:defRPr>
              <a:buChar char="•"/>
            </a:pPr>
            <a:r>
              <a:rPr sz="2000" lang="ja-JP">
                <a:solidFill>
                  <a:srgbClr val="303437"/>
                </a:solidFill>
                <a:latin typeface="Noto Sans CJK JP"/>
                <a:ea typeface="Noto Sans CJK JP"/>
              </a:rPr>
              <a:t>一方、人がモデルを誤らせる例を作るデータANLIもある </a:t>
            </a:r>
            <a:r>
              <a:rPr sz="2000" lang="ja-JP">
                <a:solidFill>
                  <a:srgbClr val="303437"/>
                </a:solidFill>
                <a:latin typeface="Noto Sans CJK JP"/>
                <a:ea typeface="Noto Sans CJK JP"/>
              </a:rPr>
              <a:t>[2]</a:t>
            </a:r>
            <a:r>
              <a:rPr sz="2000" lang="ja-JP">
                <a:solidFill>
                  <a:srgbClr val="303437"/>
                </a:solidFill>
                <a:latin typeface="Noto Sans CJK JP"/>
                <a:ea typeface="Noto Sans CJK JP"/>
              </a:rPr>
              <a:t>。</a:t>
            </a:r>
            <a:endParaRPr sz="2000"/>
          </a:p>
          <a:p>
            <a:pPr algn="l" lvl="1" marL="482600" indent="-1270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000">
                <a:latin typeface="Noto Sans CJK JP"/>
              </a:defRPr>
              <a:buChar char="○"/>
            </a:pPr>
            <a:r>
              <a:rPr sz="2000" lang="ja-JP">
                <a:solidFill>
                  <a:srgbClr val="303437"/>
                </a:solidFill>
                <a:latin typeface="Noto Sans CJK JP"/>
                <a:ea typeface="Noto Sans CJK JP"/>
              </a:rPr>
              <a:t>モデルと作業者を交互に用い、難しい推論例を増やす。</a:t>
            </a:r>
            <a:endParaRPr sz="2000"/>
          </a:p>
          <a:p>
            <a:pPr algn="l" marL="203200" indent="-1524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000">
                <a:latin typeface="Noto Sans CJK JP"/>
              </a:defRPr>
              <a:buChar char="•"/>
            </a:pPr>
            <a:r>
              <a:rPr sz="2000" lang="ja-JP">
                <a:solidFill>
                  <a:srgbClr val="303437"/>
                </a:solidFill>
                <a:latin typeface="Noto Sans CJK JP"/>
                <a:ea typeface="Noto Sans CJK JP"/>
              </a:rPr>
              <a:t>いずれもSNLIの版の更新ではなく、別のデータである。</a:t>
            </a:r>
            <a:endParaRPr sz="2000"/>
          </a:p>
        </p:txBody>
      </p:sp>
      <p:sp>
        <p:nvSpPr>
          <p:cNvPr id="5" name="lookup-sources"/>
          <p:cNvSpPr txBox="1"/>
          <p:nvPr/>
        </p:nvSpPr>
        <p:spPr>
          <a:xfrm>
            <a:off x="502920" y="4744720"/>
            <a:ext cx="8183879" cy="3393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Camburu et al. (2018), NeurIPS. https://github.com/OanaMariaCamburu/e-SNLI</a:t>
            </a:r>
            <a:endParaRPr sz="850"/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[2]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Nie et al. (2020), ACL. https://github.com/facebookresearch/anli</a:t>
            </a:r>
            <a:endParaRPr sz="85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2800" b="1">
                <a:solidFill>
                  <a:srgbClr val="303437"/>
                </a:solidFill>
                <a:latin typeface="Noto Sans CJK JP"/>
              </a:defRPr>
              <a:spcAft>
                <a:spcPts val="0"/>
              </a:spcAft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SNLIは現在も文埋め込みの学習に使われる</a:t>
            </a:r>
            <a:endParaRPr sz="2800" lang="ja-JP"/>
            <a:endParaRPr sz="2800"/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EF8"/>
                </a:solidFill>
                <a:latin typeface="Noto Sans CJK JP"/>
              </a:defRPr>
            </a:pPr>
            <a:r>
              <a:rPr sz="1400" b="1" lang="ja-JP">
                <a:solidFill>
                  <a:srgbClr val="FFFEF8"/>
                </a:solidFill>
                <a:latin typeface="Noto Sans CJK JP"/>
                <a:ea typeface="Noto Sans CJK JP"/>
              </a:rPr>
              <a:t>SNLIの利用の変遷</a:t>
            </a:r>
            <a:endParaRPr sz="1400" lang="ja-JP"/>
          </a:p>
        </p:txBody>
      </p:sp>
      <p:sp>
        <p:nvSpPr>
          <p:cNvPr id="4" name="body"/>
          <p:cNvSpPr txBox="1"/>
          <p:nvPr/>
        </p:nvSpPr>
        <p:spPr>
          <a:xfrm>
            <a:off x="594360" y="1490472"/>
            <a:ext cx="7955279" cy="30906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03200" indent="-1524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000" b="0">
                <a:solidFill>
                  <a:srgbClr val="303437"/>
                </a:solidFill>
                <a:latin typeface="Noto Sans CJK JP"/>
              </a:defRPr>
              <a:buChar char="•"/>
            </a:pPr>
            <a:r>
              <a:rPr sz="2000" lang="ja-JP">
                <a:solidFill>
                  <a:srgbClr val="303437"/>
                </a:solidFill>
                <a:latin typeface="Noto Sans CJK JP"/>
                <a:ea typeface="Noto Sans CJK JP"/>
              </a:rPr>
              <a:t>2015年には、3分類の学習と評価を目的として登場した。</a:t>
            </a:r>
            <a:endParaRPr sz="2000" lang="ja-JP"/>
            <a:endParaRPr sz="2000"/>
          </a:p>
          <a:p>
            <a:pPr algn="l" marL="203200" indent="-1524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000">
                <a:latin typeface="Noto Sans CJK JP"/>
              </a:defRPr>
              <a:buChar char="•"/>
            </a:pPr>
            <a:r>
              <a:rPr sz="2000" lang="ja-JP">
                <a:solidFill>
                  <a:srgbClr val="303437"/>
                </a:solidFill>
                <a:latin typeface="Noto Sans CJK JP"/>
                <a:ea typeface="Noto Sans CJK JP"/>
              </a:rPr>
              <a:t>その後、文埋め込みを学ぶSimCSEにも利用された </a:t>
            </a:r>
            <a:r>
              <a:rPr sz="2000" lang="ja-JP">
                <a:solidFill>
                  <a:srgbClr val="303437"/>
                </a:solidFill>
                <a:latin typeface="Noto Sans CJK JP"/>
                <a:ea typeface="Noto Sans CJK JP"/>
              </a:rPr>
              <a:t>[1]</a:t>
            </a:r>
            <a:r>
              <a:rPr sz="2000" lang="ja-JP">
                <a:solidFill>
                  <a:srgbClr val="303437"/>
                </a:solidFill>
                <a:latin typeface="Noto Sans CJK JP"/>
                <a:ea typeface="Noto Sans CJK JP"/>
              </a:rPr>
              <a:t>。</a:t>
            </a:r>
            <a:endParaRPr sz="2000"/>
          </a:p>
          <a:p>
            <a:pPr algn="l" lvl="1" marL="482600" indent="-1270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000">
                <a:latin typeface="Noto Sans CJK JP"/>
              </a:defRPr>
              <a:buChar char="○"/>
            </a:pPr>
            <a:r>
              <a:rPr sz="2000" lang="ja-JP">
                <a:solidFill>
                  <a:srgbClr val="303437"/>
                </a:solidFill>
                <a:latin typeface="Noto Sans CJK JP"/>
                <a:ea typeface="Noto Sans CJK JP"/>
              </a:rPr>
              <a:t>2021年には、含意を正例、矛盾を難しい負例に使った。</a:t>
            </a:r>
            <a:endParaRPr sz="2000"/>
          </a:p>
          <a:p>
            <a:pPr algn="l" marL="203200" indent="-1524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000">
                <a:latin typeface="Noto Sans CJK JP"/>
              </a:defRPr>
              <a:buChar char="•"/>
            </a:pPr>
            <a:r>
              <a:rPr sz="2000" lang="ja-JP">
                <a:solidFill>
                  <a:srgbClr val="303437"/>
                </a:solidFill>
                <a:latin typeface="Noto Sans CJK JP"/>
                <a:ea typeface="Noto Sans CJK JP"/>
              </a:rPr>
              <a:t>2026年現在も、Sentence TransformersにAllNLIを用いる学習手順がある </a:t>
            </a:r>
            <a:r>
              <a:rPr sz="2000" lang="ja-JP">
                <a:solidFill>
                  <a:srgbClr val="303437"/>
                </a:solidFill>
                <a:latin typeface="Noto Sans CJK JP"/>
                <a:ea typeface="Noto Sans CJK JP"/>
              </a:rPr>
              <a:t>[2]</a:t>
            </a:r>
            <a:r>
              <a:rPr sz="2000" lang="ja-JP">
                <a:solidFill>
                  <a:srgbClr val="303437"/>
                </a:solidFill>
                <a:latin typeface="Noto Sans CJK JP"/>
                <a:ea typeface="Noto Sans CJK JP"/>
              </a:rPr>
              <a:t>。</a:t>
            </a:r>
            <a:endParaRPr sz="2000"/>
          </a:p>
          <a:p>
            <a:pPr algn="l" lvl="1" marL="482600" indent="-1270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000">
                <a:latin typeface="Noto Sans CJK JP"/>
              </a:defRPr>
              <a:buChar char="○"/>
            </a:pPr>
            <a:r>
              <a:rPr sz="2000" lang="ja-JP">
                <a:solidFill>
                  <a:srgbClr val="303437"/>
                </a:solidFill>
                <a:latin typeface="Noto Sans CJK JP"/>
                <a:ea typeface="Noto Sans CJK JP"/>
              </a:rPr>
              <a:t>AllNLIはSNLIとMultiNLIをまとめた学習データである。</a:t>
            </a:r>
            <a:endParaRPr sz="2000"/>
          </a:p>
          <a:p>
            <a:pPr algn="l" marL="203200" indent="-1524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000">
                <a:latin typeface="Noto Sans CJK JP"/>
              </a:defRPr>
              <a:buChar char="•"/>
            </a:pPr>
            <a:r>
              <a:rPr sz="2000" lang="ja-JP">
                <a:solidFill>
                  <a:srgbClr val="303437"/>
                </a:solidFill>
                <a:latin typeface="Noto Sans CJK JP"/>
                <a:ea typeface="Noto Sans CJK JP"/>
              </a:rPr>
              <a:t>2024年のGISTEmbedでは、負例を選び直す損失にも用いられる。</a:t>
            </a:r>
            <a:endParaRPr sz="2000"/>
          </a:p>
        </p:txBody>
      </p:sp>
      <p:sp>
        <p:nvSpPr>
          <p:cNvPr id="5" name="lookup-sources"/>
          <p:cNvSpPr txBox="1"/>
          <p:nvPr/>
        </p:nvSpPr>
        <p:spPr>
          <a:xfrm>
            <a:off x="502920" y="4744720"/>
            <a:ext cx="8183879" cy="3393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Gao et al. (2021), EMNLP. https://github.com/princeton-nlp/SimCSE</a:t>
            </a:r>
            <a:endParaRPr sz="850"/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[2]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Sentence Transformers NLI学習例. https://github.com/UKPLab/sentence-transformers</a:t>
            </a:r>
            <a:endParaRPr sz="85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783080"/>
            <a:ext cx="8229600" cy="1417320"/>
          </a:xfrm>
        </p:spPr>
        <p:txBody>
          <a:bodyPr wrap="none" lIns="0" rIns="0" tIns="0" bIns="0" anchor="ctr"/>
          <a:lstStyle/>
          <a:p>
            <a:pPr algn="ctr" marL="0" indent="0">
              <a:defRPr sz="4000">
                <a:latin typeface="Noto Sans CJK JP"/>
              </a:defRPr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4000" lang="ja-JP" b="1">
                <a:solidFill>
                  <a:srgbClr val="303437"/>
                </a:solidFill>
                <a:latin typeface="Noto Sans CJK JP"/>
                <a:ea typeface="Noto Sans CJK JP"/>
              </a:rPr>
              <a:t>5 入手方法とまとめ</a:t>
            </a:r>
            <a:endParaRPr sz="4000"/>
            <a:endParaRPr sz="4000"/>
            <a:endParaRPr sz="40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/>
        <p:txBody>
          <a:bodyPr/>
          <a:lstStyle/>
          <a:p>
            <a:p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303437"/>
                </a:solidFill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Hugging Faceから文対を取得する</a:t>
            </a:r>
            <a:endParaRPr sz="2800" lang="ja-JP"/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EF8"/>
                </a:solidFill>
                <a:latin typeface="Noto Sans CJK JP"/>
              </a:defRPr>
            </a:pPr>
            <a:r>
              <a:rPr sz="1400" b="1" lang="ja-JP">
                <a:solidFill>
                  <a:srgbClr val="FFFEF8"/>
                </a:solidFill>
                <a:latin typeface="Noto Sans CJK JP"/>
                <a:ea typeface="Noto Sans CJK JP"/>
              </a:rPr>
              <a:t>SNLIの入手方法</a:t>
            </a:r>
            <a:endParaRPr sz="1400" lang="ja-JP"/>
          </a:p>
        </p:txBody>
      </p:sp>
      <p:sp>
        <p:nvSpPr>
          <p:cNvPr id="4" name="code-background"/>
          <p:cNvSpPr/>
          <p:nvPr/>
        </p:nvSpPr>
        <p:spPr>
          <a:xfrm>
            <a:off x="548640" y="1481328"/>
            <a:ext cx="8046720" cy="2084832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609344"/>
            <a:ext cx="77724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8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303437"/>
                </a:solidFill>
                <a:latin typeface="Liberation Mono"/>
              </a:defRPr>
            </a:pPr>
            <a:r>
              <a:rPr sz="1600" b="0" lang="en-US">
                <a:solidFill>
                  <a:srgbClr val="303437"/>
                </a:solidFill>
                <a:latin typeface="Liberation Mono"/>
                <a:ea typeface="Liberation Mono"/>
              </a:rPr>
              <a:t>from datasets import load_dataset</a:t>
            </a:r>
            <a:endParaRPr sz="1600" lang="en-US"/>
          </a:p>
          <a:p>
            <a:pPr algn="l">
              <a:lnSpc>
                <a:spcPts val="208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303437"/>
                </a:solidFill>
                <a:latin typeface="Liberation Mono"/>
              </a:defRPr>
            </a:pPr>
            <a:r>
              <a:rPr sz="1600" b="0" lang="en-US">
                <a:solidFill>
                  <a:srgbClr val="303437"/>
                </a:solidFill>
                <a:latin typeface="Liberation Mono"/>
                <a:ea typeface="Liberation Mono"/>
              </a:rPr>
              <a:t/>
            </a:r>
            <a:endParaRPr sz="1600" lang="en-US"/>
          </a:p>
          <a:p>
            <a:pPr algn="l">
              <a:lnSpc>
                <a:spcPts val="208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303437"/>
                </a:solidFill>
                <a:latin typeface="Liberation Mono"/>
              </a:defRPr>
            </a:pPr>
            <a:r>
              <a:rPr sz="1600" b="0" lang="en-US">
                <a:solidFill>
                  <a:srgbClr val="303437"/>
                </a:solidFill>
                <a:latin typeface="Liberation Mono"/>
                <a:ea typeface="Liberation Mono"/>
              </a:rPr>
              <a:t>ds = load_dataset("stanfordnlp/snli")</a:t>
            </a:r>
            <a:endParaRPr sz="1600" lang="en-US"/>
          </a:p>
          <a:p>
            <a:pPr algn="l">
              <a:lnSpc>
                <a:spcPts val="208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303437"/>
                </a:solidFill>
                <a:latin typeface="Liberation Mono"/>
              </a:defRPr>
            </a:pPr>
            <a:r>
              <a:rPr sz="1600" b="0" lang="en-US">
                <a:solidFill>
                  <a:srgbClr val="303437"/>
                </a:solidFill>
                <a:latin typeface="Liberation Mono"/>
                <a:ea typeface="Liberation Mono"/>
              </a:rPr>
              <a:t>valid = ds.filter(lambda row: row["label"] &gt;= 0)</a:t>
            </a:r>
            <a:endParaRPr sz="1600" lang="en-US"/>
          </a:p>
          <a:p>
            <a:pPr algn="l">
              <a:lnSpc>
                <a:spcPts val="208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303437"/>
                </a:solidFill>
                <a:latin typeface="Liberation Mono"/>
              </a:defRPr>
            </a:pPr>
            <a:r>
              <a:rPr sz="1600" b="0" lang="en-US">
                <a:solidFill>
                  <a:srgbClr val="303437"/>
                </a:solidFill>
                <a:latin typeface="Liberation Mono"/>
                <a:ea typeface="Liberation Mono"/>
              </a:rPr>
              <a:t/>
            </a:r>
            <a:endParaRPr sz="1600" lang="en-US"/>
          </a:p>
          <a:p>
            <a:pPr algn="l">
              <a:lnSpc>
                <a:spcPts val="208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303437"/>
                </a:solidFill>
                <a:latin typeface="Liberation Mono"/>
              </a:defRPr>
            </a:pPr>
            <a:r>
              <a:rPr sz="1600" b="0" lang="en-US">
                <a:solidFill>
                  <a:srgbClr val="303437"/>
                </a:solidFill>
                <a:latin typeface="Liberation Mono"/>
                <a:ea typeface="Liberation Mono"/>
              </a:rPr>
              <a:t>print(valid["test"][0])</a:t>
            </a:r>
            <a:endParaRPr sz="1600" lang="en-US"/>
          </a:p>
          <a:p>
            <a:pPr algn="l">
              <a:lnSpc>
                <a:spcPts val="208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303437"/>
                </a:solidFill>
                <a:latin typeface="Liberation Mono"/>
              </a:defRPr>
            </a:pPr>
            <a:r>
              <a:rPr sz="1600" b="0" lang="en-US">
                <a:solidFill>
                  <a:srgbClr val="303437"/>
                </a:solidFill>
                <a:latin typeface="Liberation Mono"/>
                <a:ea typeface="Liberation Mono"/>
              </a:rPr>
              <a:t>print(ds["train"].features["label"].names)</a:t>
            </a:r>
            <a:endParaRPr sz="1600" lang="en-US"/>
          </a:p>
        </p:txBody>
      </p:sp>
      <p:sp>
        <p:nvSpPr>
          <p:cNvPr id="6" name="TextBox 5"/>
          <p:cNvSpPr txBox="1"/>
          <p:nvPr/>
        </p:nvSpPr>
        <p:spPr>
          <a:xfrm>
            <a:off x="594360" y="3730752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303437"/>
                </a:solidFill>
                <a:latin typeface="Noto Sans CJK JP"/>
              </a:defRPr>
              <a:buNone/>
            </a:pPr>
            <a:r>
              <a:rPr sz="1700" lang="ja-JP">
                <a:solidFill>
                  <a:srgbClr val="303437"/>
                </a:solidFill>
                <a:latin typeface="Noto Sans CJK JP"/>
                <a:ea typeface="Noto Sans CJK JP"/>
              </a:rPr>
              <a:t>データ配布サービスのHugging Faceを利用する。前提はpremise、仮説はhypothesis、クラスはlabelに入る。</a:t>
            </a:r>
            <a:endParaRPr sz="1700" lang="ja-JP"/>
            <a:endParaRPr sz="1700"/>
          </a:p>
        </p:txBody>
      </p:sp>
      <p:sp>
        <p:nvSpPr>
          <p:cNvPr id="7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Hugging Face SNLI loader. https://github.com/huggingface/datasets/blob/1.18.4/datasets/snli/snli.py</a:t>
            </a:r>
            <a:endParaRPr sz="85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303437"/>
                </a:solidFill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SNLIの特徴と役割</a:t>
            </a:r>
            <a:endParaRPr sz="2800" lang="ja-JP"/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EF8"/>
                </a:solidFill>
                <a:latin typeface="Noto Sans CJK JP"/>
              </a:defRPr>
            </a:pPr>
            <a:r>
              <a:rPr sz="1400" b="1" lang="ja-JP">
                <a:solidFill>
                  <a:srgbClr val="FFFEF8"/>
                </a:solidFill>
                <a:latin typeface="Noto Sans CJK JP"/>
                <a:ea typeface="Noto Sans CJK JP"/>
              </a:rPr>
              <a:t>SNLIの特徴のまとめ</a:t>
            </a:r>
            <a:endParaRPr sz="1400" lang="ja-JP"/>
          </a:p>
        </p:txBody>
      </p:sp>
      <p:sp>
        <p:nvSpPr>
          <p:cNvPr id="4" name="body"/>
          <p:cNvSpPr txBox="1"/>
          <p:nvPr/>
        </p:nvSpPr>
        <p:spPr>
          <a:xfrm>
            <a:off x="594360" y="1490472"/>
            <a:ext cx="7955279" cy="30906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03200" indent="-1524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500" b="0">
                <a:solidFill>
                  <a:srgbClr val="303437"/>
                </a:solidFill>
                <a:latin typeface="Noto Sans CJK JP"/>
              </a:defRPr>
              <a:buChar char="•"/>
            </a:pPr>
            <a:r>
              <a:rPr sz="2500" lang="ja-JP">
                <a:solidFill>
                  <a:srgbClr val="303437"/>
                </a:solidFill>
                <a:latin typeface="Noto Sans CJK JP"/>
                <a:ea typeface="Noto Sans CJK JP"/>
              </a:rPr>
              <a:t>英語の文対を、含意・中立・矛盾に分類する。</a:t>
            </a:r>
            <a:endParaRPr sz="2600" lang="ja-JP"/>
            <a:endParaRPr sz="2500"/>
          </a:p>
          <a:p>
            <a:pPr algn="l" marL="203200" indent="-1524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500">
                <a:latin typeface="Noto Sans CJK JP"/>
              </a:defRPr>
              <a:buChar char="•"/>
            </a:pPr>
            <a:r>
              <a:rPr sz="2500" lang="ja-JP">
                <a:solidFill>
                  <a:srgbClr val="303437"/>
                </a:solidFill>
                <a:latin typeface="Noto Sans CJK JP"/>
                <a:ea typeface="Noto Sans CJK JP"/>
              </a:rPr>
              <a:t>2015年に、大規模な学習用データとして作られた。</a:t>
            </a:r>
            <a:endParaRPr sz="2500"/>
          </a:p>
          <a:p>
            <a:pPr algn="l" marL="203200" indent="-1524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500">
                <a:latin typeface="Noto Sans CJK JP"/>
              </a:defRPr>
              <a:buChar char="•"/>
            </a:pPr>
            <a:r>
              <a:rPr sz="2500" lang="ja-JP">
                <a:solidFill>
                  <a:srgbClr val="303437"/>
                </a:solidFill>
                <a:latin typeface="Noto Sans CJK JP"/>
                <a:ea typeface="Noto Sans CJK JP"/>
              </a:rPr>
              <a:t>写真説明文から人が仮説を作り、一部を再検証した。</a:t>
            </a:r>
            <a:endParaRPr sz="2500"/>
          </a:p>
          <a:p>
            <a:pPr algn="l" marL="203200" indent="-1524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500">
                <a:latin typeface="Noto Sans CJK JP"/>
              </a:defRPr>
              <a:buChar char="•"/>
            </a:pPr>
            <a:r>
              <a:rPr sz="2500" lang="ja-JP">
                <a:solidFill>
                  <a:srgbClr val="303437"/>
                </a:solidFill>
                <a:latin typeface="Noto Sans CJK JP"/>
                <a:ea typeface="Noto Sans CJK JP"/>
              </a:rPr>
              <a:t>MultiNLIはジャンル、e-SNLIは説明を拡張した。</a:t>
            </a:r>
            <a:endParaRPr sz="2500"/>
          </a:p>
          <a:p>
            <a:pPr algn="l" marL="203200" indent="-1524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500">
                <a:latin typeface="Noto Sans CJK JP"/>
              </a:defRPr>
              <a:buChar char="•"/>
            </a:pPr>
            <a:r>
              <a:rPr sz="2500" lang="ja-JP">
                <a:solidFill>
                  <a:srgbClr val="303437"/>
                </a:solidFill>
                <a:latin typeface="Noto Sans CJK JP"/>
                <a:ea typeface="Noto Sans CJK JP"/>
              </a:rPr>
              <a:t>現在も、文埋め込みの教師データとして使われる。</a:t>
            </a:r>
            <a:endParaRPr sz="250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303437"/>
                </a:solidFill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Appendixの目次</a:t>
            </a:r>
            <a:endParaRPr sz="2800" lang="ja-JP"/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EF8"/>
                </a:solidFill>
                <a:latin typeface="Noto Sans CJK JP"/>
              </a:defRPr>
            </a:pPr>
            <a:r>
              <a:rPr sz="1400" b="1" lang="ja-JP">
                <a:solidFill>
                  <a:srgbClr val="FFFEF8"/>
                </a:solidFill>
                <a:latin typeface="Noto Sans CJK JP"/>
                <a:ea typeface="Noto Sans CJK JP"/>
              </a:rPr>
              <a:t>Appendix: 目次</a:t>
            </a:r>
            <a:endParaRPr sz="1400" lang="ja-JP"/>
          </a:p>
        </p:txBody>
      </p:sp>
      <p:sp>
        <p:nvSpPr>
          <p:cNvPr id="4" name="TextBox 3"/>
          <p:cNvSpPr txBox="1"/>
          <p:nvPr/>
        </p:nvSpPr>
        <p:spPr>
          <a:xfrm>
            <a:off x="594360" y="1463040"/>
            <a:ext cx="79552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533400" indent="-482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defRPr sz="2400" b="0">
                <a:solidFill>
                  <a:srgbClr val="303437"/>
                </a:solidFill>
                <a:latin typeface="Noto Sans CJK JP"/>
              </a:defRPr>
              <a:buAutoNum type="arabicPeriod" startAt="1"/>
            </a:pPr>
            <a:r>
              <a:rPr sz="2400" lang="ja-JP">
                <a:solidFill>
                  <a:srgbClr val="303437"/>
                </a:solidFill>
                <a:latin typeface="Noto Sans CJK JP"/>
                <a:ea typeface="Noto Sans CJK JP"/>
              </a:rPr>
              <a:t>著者と発表先</a:t>
            </a:r>
            <a:endParaRPr sz="2200" lang="ja-JP"/>
            <a:endParaRPr sz="2400"/>
          </a:p>
        </p:txBody>
      </p:sp>
      <p:sp>
        <p:nvSpPr>
          <p:cNvPr id="5" name="TextBox 4"/>
          <p:cNvSpPr txBox="1"/>
          <p:nvPr/>
        </p:nvSpPr>
        <p:spPr>
          <a:xfrm>
            <a:off x="594360" y="1929384"/>
            <a:ext cx="79552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533400" indent="-482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defRPr sz="2400" b="0">
                <a:solidFill>
                  <a:srgbClr val="303437"/>
                </a:solidFill>
                <a:latin typeface="Noto Sans CJK JP"/>
              </a:defRPr>
              <a:buAutoNum type="arabicPeriod" startAt="2"/>
            </a:pPr>
            <a:r>
              <a:rPr sz="2400" lang="ja-JP">
                <a:solidFill>
                  <a:srgbClr val="303437"/>
                </a:solidFill>
                <a:latin typeface="Noto Sans CJK JP"/>
                <a:ea typeface="Noto Sans CJK JP"/>
              </a:rPr>
              <a:t>追加の実例</a:t>
            </a:r>
            <a:endParaRPr sz="2200" lang="ja-JP"/>
            <a:endParaRPr sz="2400"/>
          </a:p>
        </p:txBody>
      </p:sp>
      <p:sp>
        <p:nvSpPr>
          <p:cNvPr id="6" name="TextBox 5"/>
          <p:cNvSpPr txBox="1"/>
          <p:nvPr/>
        </p:nvSpPr>
        <p:spPr>
          <a:xfrm>
            <a:off x="594360" y="2395728"/>
            <a:ext cx="79552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533400" indent="-482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defRPr sz="2400" b="0">
                <a:solidFill>
                  <a:srgbClr val="303437"/>
                </a:solidFill>
                <a:latin typeface="Noto Sans CJK JP"/>
              </a:defRPr>
              <a:buAutoNum type="arabicPeriod" startAt="3"/>
            </a:pPr>
            <a:r>
              <a:rPr sz="2400" lang="ja-JP">
                <a:solidFill>
                  <a:srgbClr val="303437"/>
                </a:solidFill>
                <a:latin typeface="Noto Sans CJK JP"/>
                <a:ea typeface="Noto Sans CJK JP"/>
              </a:rPr>
              <a:t>件数・長さの統計と実例</a:t>
            </a:r>
            <a:endParaRPr sz="2200" lang="ja-JP"/>
            <a:endParaRPr sz="2400"/>
          </a:p>
        </p:txBody>
      </p:sp>
      <p:sp>
        <p:nvSpPr>
          <p:cNvPr id="7" name="TextBox 6"/>
          <p:cNvSpPr txBox="1"/>
          <p:nvPr/>
        </p:nvSpPr>
        <p:spPr>
          <a:xfrm>
            <a:off x="594360" y="2862072"/>
            <a:ext cx="79552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533400" indent="-482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defRPr sz="2400" b="0">
                <a:solidFill>
                  <a:srgbClr val="303437"/>
                </a:solidFill>
                <a:latin typeface="Noto Sans CJK JP"/>
              </a:defRPr>
              <a:buAutoNum type="arabicPeriod" startAt="4"/>
            </a:pPr>
            <a:r>
              <a:rPr sz="2400" lang="ja-JP">
                <a:solidFill>
                  <a:srgbClr val="303437"/>
                </a:solidFill>
                <a:latin typeface="Noto Sans CJK JP"/>
                <a:ea typeface="Noto Sans CJK JP"/>
              </a:rPr>
              <a:t>モデル・入手・作成の補足</a:t>
            </a:r>
            <a:endParaRPr sz="2200" lang="ja-JP"/>
            <a:endParaRPr sz="2400"/>
          </a:p>
        </p:txBody>
      </p:sp>
      <p:sp>
        <p:nvSpPr>
          <p:cNvPr id="8" name="TextBox 7"/>
          <p:cNvSpPr txBox="1"/>
          <p:nvPr/>
        </p:nvSpPr>
        <p:spPr>
          <a:xfrm>
            <a:off x="594360" y="3328416"/>
            <a:ext cx="79552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533400" indent="-482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defRPr sz="2400" b="0">
                <a:solidFill>
                  <a:srgbClr val="303437"/>
                </a:solidFill>
                <a:latin typeface="Noto Sans CJK JP"/>
              </a:defRPr>
              <a:buAutoNum type="arabicPeriod" startAt="5"/>
            </a:pPr>
            <a:r>
              <a:rPr sz="2400" lang="ja-JP">
                <a:solidFill>
                  <a:srgbClr val="303437"/>
                </a:solidFill>
                <a:latin typeface="Noto Sans CJK JP"/>
                <a:ea typeface="Noto Sans CJK JP"/>
              </a:rPr>
              <a:t>参考文献と集計条件</a:t>
            </a:r>
            <a:endParaRPr sz="2200" lang="ja-JP"/>
            <a:endParaRPr sz="240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303437"/>
                </a:solidFill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著者と発表先</a:t>
            </a:r>
            <a:endParaRPr sz="2800" lang="ja-JP"/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EF8"/>
                </a:solidFill>
                <a:latin typeface="Noto Sans CJK JP"/>
              </a:defRPr>
            </a:pPr>
            <a:r>
              <a:rPr sz="1400" b="1" lang="ja-JP">
                <a:solidFill>
                  <a:srgbClr val="FFFEF8"/>
                </a:solidFill>
                <a:latin typeface="Noto Sans CJK JP"/>
                <a:ea typeface="Noto Sans CJK JP"/>
              </a:rPr>
              <a:t>Appendix: 1 著者と発表先</a:t>
            </a:r>
            <a:endParaRPr sz="1400" lang="ja-JP"/>
          </a:p>
        </p:txBody>
      </p:sp>
      <p:sp>
        <p:nvSpPr>
          <p:cNvPr id="4" name="body"/>
          <p:cNvSpPr txBox="1"/>
          <p:nvPr/>
        </p:nvSpPr>
        <p:spPr>
          <a:xfrm>
            <a:off x="594360" y="1490472"/>
            <a:ext cx="7955279" cy="30906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03200" indent="-1524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000" b="0">
                <a:solidFill>
                  <a:srgbClr val="303437"/>
                </a:solidFill>
                <a:latin typeface="Noto Sans CJK JP"/>
              </a:defRPr>
              <a:buChar char="•"/>
            </a:pPr>
            <a:r>
              <a:rPr sz="2000" lang="ja-JP">
                <a:solidFill>
                  <a:srgbClr val="303437"/>
                </a:solidFill>
                <a:latin typeface="Noto Sans CJK JP"/>
                <a:ea typeface="Noto Sans CJK JP"/>
              </a:rPr>
              <a:t>SNLIは2015年9月のEMNLPで発表された（リスボン）</a:t>
            </a:r>
            <a:r>
              <a:rPr sz="2000" lang="ja-JP">
                <a:solidFill>
                  <a:srgbClr val="303437"/>
                </a:solidFill>
                <a:latin typeface="Noto Sans CJK JP"/>
                <a:ea typeface="Noto Sans CJK JP"/>
              </a:rPr>
              <a:t>[1]</a:t>
            </a:r>
            <a:r>
              <a:rPr sz="2000" lang="ja-JP">
                <a:solidFill>
                  <a:srgbClr val="303437"/>
                </a:solidFill>
                <a:latin typeface="Noto Sans CJK JP"/>
                <a:ea typeface="Noto Sans CJK JP"/>
              </a:rPr>
              <a:t>。</a:t>
            </a:r>
            <a:endParaRPr sz="2000" lang="ja-JP"/>
            <a:endParaRPr sz="2000"/>
          </a:p>
          <a:p>
            <a:pPr algn="l" marL="203200" indent="-1524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000">
                <a:latin typeface="Noto Sans CJK JP"/>
              </a:defRPr>
              <a:buChar char="•"/>
            </a:pPr>
            <a:r>
              <a:rPr sz="2000" lang="ja-JP">
                <a:solidFill>
                  <a:srgbClr val="303437"/>
                </a:solidFill>
                <a:latin typeface="Noto Sans CJK JP"/>
                <a:ea typeface="Noto Sans CJK JP"/>
              </a:rPr>
              <a:t>第一著者のSamuel R. Bowmanは自然言語推論を研究する。</a:t>
            </a:r>
            <a:endParaRPr sz="2000"/>
          </a:p>
          <a:p>
            <a:pPr algn="l" lvl="1" marL="482600" indent="-1270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000">
                <a:latin typeface="Noto Sans CJK JP"/>
              </a:defRPr>
              <a:buChar char="○"/>
            </a:pPr>
            <a:r>
              <a:rPr sz="2000" lang="ja-JP">
                <a:solidFill>
                  <a:srgbClr val="303437"/>
                </a:solidFill>
                <a:latin typeface="Noto Sans CJK JP"/>
                <a:ea typeface="Noto Sans CJK JP"/>
              </a:rPr>
              <a:t>SNLIに加え、多ジャンルのMultiNLIの共著者である </a:t>
            </a:r>
            <a:r>
              <a:rPr sz="2000" lang="ja-JP">
                <a:solidFill>
                  <a:srgbClr val="303437"/>
                </a:solidFill>
                <a:latin typeface="Noto Sans CJK JP"/>
                <a:ea typeface="Noto Sans CJK JP"/>
              </a:rPr>
              <a:t>[2]</a:t>
            </a:r>
            <a:r>
              <a:rPr sz="2000" lang="ja-JP">
                <a:solidFill>
                  <a:srgbClr val="303437"/>
                </a:solidFill>
                <a:latin typeface="Noto Sans CJK JP"/>
                <a:ea typeface="Noto Sans CJK JP"/>
              </a:rPr>
              <a:t>。</a:t>
            </a:r>
            <a:endParaRPr sz="2000"/>
          </a:p>
          <a:p>
            <a:pPr algn="l" marL="203200" indent="-1524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000">
                <a:latin typeface="Noto Sans CJK JP"/>
              </a:defRPr>
              <a:buChar char="•"/>
            </a:pPr>
            <a:r>
              <a:rPr sz="2000" lang="ja-JP">
                <a:solidFill>
                  <a:srgbClr val="303437"/>
                </a:solidFill>
                <a:latin typeface="Noto Sans CJK JP"/>
                <a:ea typeface="Noto Sans CJK JP"/>
              </a:rPr>
              <a:t>最終著者のChristopher D. Manningは単語表現などを研究する。</a:t>
            </a:r>
            <a:endParaRPr sz="2000"/>
          </a:p>
          <a:p>
            <a:pPr algn="l" lvl="1" marL="482600" indent="-1270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000">
                <a:latin typeface="Noto Sans CJK JP"/>
              </a:defRPr>
              <a:buChar char="○"/>
            </a:pPr>
            <a:r>
              <a:rPr sz="2000" lang="ja-JP">
                <a:solidFill>
                  <a:srgbClr val="303437"/>
                </a:solidFill>
                <a:latin typeface="Noto Sans CJK JP"/>
                <a:ea typeface="Noto Sans CJK JP"/>
              </a:rPr>
              <a:t>単語ベクトルを学習するGloVeの共著者である </a:t>
            </a:r>
            <a:r>
              <a:rPr sz="2000" lang="ja-JP">
                <a:solidFill>
                  <a:srgbClr val="303437"/>
                </a:solidFill>
                <a:latin typeface="Noto Sans CJK JP"/>
                <a:ea typeface="Noto Sans CJK JP"/>
              </a:rPr>
              <a:t>[3]</a:t>
            </a:r>
            <a:r>
              <a:rPr sz="2000" lang="ja-JP">
                <a:solidFill>
                  <a:srgbClr val="303437"/>
                </a:solidFill>
                <a:latin typeface="Noto Sans CJK JP"/>
                <a:ea typeface="Noto Sans CJK JP"/>
              </a:rPr>
              <a:t>。</a:t>
            </a:r>
            <a:endParaRPr sz="2000"/>
          </a:p>
        </p:txBody>
      </p:sp>
      <p:sp>
        <p:nvSpPr>
          <p:cNvPr id="5" name="lookup-sources"/>
          <p:cNvSpPr txBox="1"/>
          <p:nvPr/>
        </p:nvSpPr>
        <p:spPr>
          <a:xfrm>
            <a:off x="502920" y="4612640"/>
            <a:ext cx="8183879" cy="4714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Bowman et al. (2015), EMNLP. https://aclanthology.org/D15-1075/</a:t>
            </a:r>
            <a:endParaRPr sz="850"/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[2]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Williams et al. (2018), MultiNLI. https://aclanthology.org/N18-1101/</a:t>
            </a:r>
            <a:endParaRPr sz="850"/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[3]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Pennington et al. (2014), GloVe. https://aclanthology.org/D14-1162/</a:t>
            </a:r>
            <a:endParaRPr sz="85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303437"/>
                </a:solidFill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追加例1 含意</a:t>
            </a:r>
            <a:endParaRPr sz="2800" lang="ja-JP"/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EF8"/>
                </a:solidFill>
                <a:latin typeface="Noto Sans CJK JP"/>
              </a:defRPr>
            </a:pPr>
            <a:r>
              <a:rPr sz="1400" b="1" lang="ja-JP">
                <a:solidFill>
                  <a:srgbClr val="FFFEF8"/>
                </a:solidFill>
                <a:latin typeface="Noto Sans CJK JP"/>
                <a:ea typeface="Noto Sans CJK JP"/>
              </a:rPr>
              <a:t>Appendix: 2 追加の実例</a:t>
            </a:r>
            <a:endParaRPr sz="1400" lang="ja-JP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626669"/>
                </a:solidFill>
                <a:latin typeface="Noto Sans CJK JP"/>
              </a:defRPr>
            </a:pPr>
            <a:r>
              <a:rPr sz="1400" b="0" lang="ja-JP">
                <a:solidFill>
                  <a:srgbClr val="626669"/>
                </a:solidFill>
                <a:latin typeface="Noto Sans CJK JP"/>
                <a:ea typeface="Noto Sans CJK JP"/>
              </a:rPr>
              <a:t>前提文</a:t>
            </a:r>
            <a:endParaRPr sz="1400" lang="ja-JP"/>
          </a:p>
        </p:txBody>
      </p:sp>
      <p:sp>
        <p:nvSpPr>
          <p:cNvPr id="5" name="quote-frame-premise"/>
          <p:cNvSpPr/>
          <p:nvPr/>
        </p:nvSpPr>
        <p:spPr>
          <a:xfrm>
            <a:off x="548640" y="1673352"/>
            <a:ext cx="8046720" cy="744067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quote-text-premise"/>
          <p:cNvSpPr txBox="1"/>
          <p:nvPr/>
        </p:nvSpPr>
        <p:spPr>
          <a:xfrm>
            <a:off x="726440" y="1741678"/>
            <a:ext cx="7691120" cy="6424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303437"/>
                </a:solidFill>
                <a:latin typeface="Liberation Sans"/>
              </a:defRPr>
              <a:buNone/>
            </a:pPr>
            <a:r>
              <a:rPr sz="1800" lang="en-US">
                <a:solidFill>
                  <a:srgbClr val="303437"/>
                </a:solidFill>
                <a:latin typeface="Liberation Sans"/>
                <a:ea typeface="Liberation Sans"/>
              </a:rPr>
              <a:t>This church choir sings to the masses as they sing joyous songs from the book at a church.</a:t>
            </a:r>
            <a:endParaRPr sz="1800" lang="en-US"/>
            <a:endParaRPr sz="1800"/>
          </a:p>
        </p:txBody>
      </p:sp>
      <p:sp>
        <p:nvSpPr>
          <p:cNvPr id="7" name="TextBox 6"/>
          <p:cNvSpPr txBox="1"/>
          <p:nvPr/>
        </p:nvSpPr>
        <p:spPr>
          <a:xfrm>
            <a:off x="548640" y="2545435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626669"/>
                </a:solidFill>
                <a:latin typeface="Noto Sans CJK JP"/>
              </a:defRPr>
            </a:pPr>
            <a:r>
              <a:rPr sz="1400" b="0" lang="ja-JP">
                <a:solidFill>
                  <a:srgbClr val="626669"/>
                </a:solidFill>
                <a:latin typeface="Noto Sans CJK JP"/>
                <a:ea typeface="Noto Sans CJK JP"/>
              </a:rPr>
              <a:t>仮説文</a:t>
            </a:r>
            <a:endParaRPr sz="1400" lang="ja-JP"/>
          </a:p>
        </p:txBody>
      </p:sp>
      <p:sp>
        <p:nvSpPr>
          <p:cNvPr id="8" name="quote-frame-hypothesis"/>
          <p:cNvSpPr/>
          <p:nvPr/>
        </p:nvSpPr>
        <p:spPr>
          <a:xfrm>
            <a:off x="548640" y="2847187"/>
            <a:ext cx="8046720" cy="458317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quote-text-hypothesis"/>
          <p:cNvSpPr txBox="1"/>
          <p:nvPr/>
        </p:nvSpPr>
        <p:spPr>
          <a:xfrm>
            <a:off x="726440" y="2915513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303437"/>
                </a:solidFill>
                <a:latin typeface="Liberation Sans"/>
              </a:defRPr>
              <a:buNone/>
            </a:pPr>
            <a:r>
              <a:rPr sz="1800" lang="en-US">
                <a:solidFill>
                  <a:srgbClr val="303437"/>
                </a:solidFill>
                <a:latin typeface="Liberation Sans"/>
                <a:ea typeface="Liberation Sans"/>
              </a:rPr>
              <a:t>The church is filled with song.</a:t>
            </a:r>
            <a:endParaRPr sz="1800" lang="en-US"/>
            <a:endParaRPr sz="1800"/>
          </a:p>
        </p:txBody>
      </p:sp>
      <p:sp>
        <p:nvSpPr>
          <p:cNvPr id="10" name="TextBox 9"/>
          <p:cNvSpPr txBox="1"/>
          <p:nvPr/>
        </p:nvSpPr>
        <p:spPr>
          <a:xfrm>
            <a:off x="548640" y="3433521"/>
            <a:ext cx="8046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B13731"/>
                </a:solidFill>
                <a:latin typeface="Noto Sans CJK JP"/>
              </a:defRPr>
            </a:pPr>
            <a:r>
              <a:rPr sz="2100" b="0" lang="ja-JP">
                <a:solidFill>
                  <a:srgbClr val="B13731"/>
                </a:solidFill>
                <a:latin typeface="Noto Sans CJK JP"/>
                <a:ea typeface="Noto Sans CJK JP"/>
              </a:rPr>
              <a:t>正解は含意</a:t>
            </a:r>
            <a:endParaRPr sz="2100" lang="ja-JP"/>
          </a:p>
        </p:txBody>
      </p:sp>
      <p:sp>
        <p:nvSpPr>
          <p:cNvPr id="11" name="TextBox 10"/>
          <p:cNvSpPr txBox="1"/>
          <p:nvPr/>
        </p:nvSpPr>
        <p:spPr>
          <a:xfrm>
            <a:off x="548640" y="3817569"/>
            <a:ext cx="8046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303437"/>
                </a:solidFill>
                <a:latin typeface="Noto Sans CJK JP"/>
              </a:defRPr>
              <a:buNone/>
            </a:pPr>
            <a:r>
              <a:rPr sz="1900" lang="ja-JP">
                <a:solidFill>
                  <a:srgbClr val="303437"/>
                </a:solidFill>
                <a:latin typeface="Noto Sans CJK JP"/>
                <a:ea typeface="Noto Sans CJK JP"/>
              </a:rPr>
              <a:t>合唱していることを、教会が歌で満たされていると言い換える。</a:t>
            </a:r>
            <a:endParaRPr sz="1900" lang="ja-JP"/>
            <a:endParaRPr sz="1900"/>
          </a:p>
        </p:txBody>
      </p:sp>
      <p:sp>
        <p:nvSpPr>
          <p:cNvPr id="12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SNLI 1.0公式データ. https://nlp.stanford.edu/projects/snli/  文対ID 2677109430.jpg#1r1e</a:t>
            </a:r>
            <a:endParaRPr sz="85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303437"/>
                </a:solidFill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追加例2 中立</a:t>
            </a:r>
            <a:endParaRPr sz="2800" lang="ja-JP"/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EF8"/>
                </a:solidFill>
                <a:latin typeface="Noto Sans CJK JP"/>
              </a:defRPr>
            </a:pPr>
            <a:r>
              <a:rPr sz="1400" b="1" lang="ja-JP">
                <a:solidFill>
                  <a:srgbClr val="FFFEF8"/>
                </a:solidFill>
                <a:latin typeface="Noto Sans CJK JP"/>
                <a:ea typeface="Noto Sans CJK JP"/>
              </a:rPr>
              <a:t>Appendix: 2 追加の実例</a:t>
            </a:r>
            <a:endParaRPr sz="1400" lang="ja-JP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626669"/>
                </a:solidFill>
                <a:latin typeface="Noto Sans CJK JP"/>
              </a:defRPr>
            </a:pPr>
            <a:r>
              <a:rPr sz="1400" b="0" lang="ja-JP">
                <a:solidFill>
                  <a:srgbClr val="626669"/>
                </a:solidFill>
                <a:latin typeface="Noto Sans CJK JP"/>
                <a:ea typeface="Noto Sans CJK JP"/>
              </a:rPr>
              <a:t>前提文</a:t>
            </a:r>
            <a:endParaRPr sz="1400" lang="ja-JP"/>
          </a:p>
        </p:txBody>
      </p:sp>
      <p:sp>
        <p:nvSpPr>
          <p:cNvPr id="5" name="quote-frame-premise"/>
          <p:cNvSpPr/>
          <p:nvPr/>
        </p:nvSpPr>
        <p:spPr>
          <a:xfrm>
            <a:off x="548640" y="1673352"/>
            <a:ext cx="8046720" cy="458317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quote-text-premise"/>
          <p:cNvSpPr txBox="1"/>
          <p:nvPr/>
        </p:nvSpPr>
        <p:spPr>
          <a:xfrm>
            <a:off x="726440" y="1741678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303437"/>
                </a:solidFill>
                <a:latin typeface="Liberation Sans"/>
              </a:defRPr>
              <a:buNone/>
            </a:pPr>
            <a:r>
              <a:rPr sz="1800" lang="en-US">
                <a:solidFill>
                  <a:srgbClr val="303437"/>
                </a:solidFill>
                <a:latin typeface="Liberation Sans"/>
                <a:ea typeface="Liberation Sans"/>
              </a:rPr>
              <a:t>A woman with a green headscarf, blue shirt and a very big grin.</a:t>
            </a:r>
            <a:endParaRPr sz="1800" lang="en-US"/>
            <a:endParaRPr sz="1800"/>
          </a:p>
        </p:txBody>
      </p:sp>
      <p:sp>
        <p:nvSpPr>
          <p:cNvPr id="7" name="TextBox 6"/>
          <p:cNvSpPr txBox="1"/>
          <p:nvPr/>
        </p:nvSpPr>
        <p:spPr>
          <a:xfrm>
            <a:off x="548640" y="2259685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626669"/>
                </a:solidFill>
                <a:latin typeface="Noto Sans CJK JP"/>
              </a:defRPr>
            </a:pPr>
            <a:r>
              <a:rPr sz="1400" b="0" lang="ja-JP">
                <a:solidFill>
                  <a:srgbClr val="626669"/>
                </a:solidFill>
                <a:latin typeface="Noto Sans CJK JP"/>
                <a:ea typeface="Noto Sans CJK JP"/>
              </a:rPr>
              <a:t>仮説文</a:t>
            </a:r>
            <a:endParaRPr sz="1400" lang="ja-JP"/>
          </a:p>
        </p:txBody>
      </p:sp>
      <p:sp>
        <p:nvSpPr>
          <p:cNvPr id="8" name="quote-frame-hypothesis"/>
          <p:cNvSpPr/>
          <p:nvPr/>
        </p:nvSpPr>
        <p:spPr>
          <a:xfrm>
            <a:off x="548640" y="2561437"/>
            <a:ext cx="8046720" cy="458317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quote-text-hypothesis"/>
          <p:cNvSpPr txBox="1"/>
          <p:nvPr/>
        </p:nvSpPr>
        <p:spPr>
          <a:xfrm>
            <a:off x="726440" y="2629763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303437"/>
                </a:solidFill>
                <a:latin typeface="Liberation Sans"/>
              </a:defRPr>
              <a:buNone/>
            </a:pPr>
            <a:r>
              <a:rPr sz="1800" lang="en-US">
                <a:solidFill>
                  <a:srgbClr val="303437"/>
                </a:solidFill>
                <a:latin typeface="Liberation Sans"/>
                <a:ea typeface="Liberation Sans"/>
              </a:rPr>
              <a:t>The woman is young.</a:t>
            </a:r>
            <a:endParaRPr sz="1800" lang="en-US"/>
            <a:endParaRPr sz="1800"/>
          </a:p>
        </p:txBody>
      </p:sp>
      <p:sp>
        <p:nvSpPr>
          <p:cNvPr id="10" name="TextBox 9"/>
          <p:cNvSpPr txBox="1"/>
          <p:nvPr/>
        </p:nvSpPr>
        <p:spPr>
          <a:xfrm>
            <a:off x="548640" y="3147771"/>
            <a:ext cx="8046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B13731"/>
                </a:solidFill>
                <a:latin typeface="Noto Sans CJK JP"/>
              </a:defRPr>
            </a:pPr>
            <a:r>
              <a:rPr sz="2100" b="0" lang="ja-JP">
                <a:solidFill>
                  <a:srgbClr val="B13731"/>
                </a:solidFill>
                <a:latin typeface="Noto Sans CJK JP"/>
                <a:ea typeface="Noto Sans CJK JP"/>
              </a:rPr>
              <a:t>正解は中立</a:t>
            </a:r>
            <a:endParaRPr sz="2100" lang="ja-JP"/>
          </a:p>
        </p:txBody>
      </p:sp>
      <p:sp>
        <p:nvSpPr>
          <p:cNvPr id="11" name="TextBox 10"/>
          <p:cNvSpPr txBox="1"/>
          <p:nvPr/>
        </p:nvSpPr>
        <p:spPr>
          <a:xfrm>
            <a:off x="548640" y="3531819"/>
            <a:ext cx="8046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303437"/>
                </a:solidFill>
                <a:latin typeface="Noto Sans CJK JP"/>
              </a:defRPr>
              <a:buNone/>
            </a:pPr>
            <a:r>
              <a:rPr sz="1900" lang="ja-JP">
                <a:solidFill>
                  <a:srgbClr val="303437"/>
                </a:solidFill>
                <a:latin typeface="Noto Sans CJK JP"/>
                <a:ea typeface="Noto Sans CJK JP"/>
              </a:rPr>
              <a:t>服装や表情だけでは、若いかどうかは判断できない。</a:t>
            </a:r>
            <a:endParaRPr sz="1900" lang="ja-JP"/>
            <a:endParaRPr sz="1900"/>
          </a:p>
        </p:txBody>
      </p:sp>
      <p:sp>
        <p:nvSpPr>
          <p:cNvPr id="12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SNLI 1.0公式データ. https://nlp.stanford.edu/projects/snli/  文対ID 6160193920.jpg#4r1n</a:t>
            </a:r>
            <a:endParaRPr sz="85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303437"/>
                </a:solidFill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追加例3 含意</a:t>
            </a:r>
            <a:endParaRPr sz="2800" lang="ja-JP"/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EF8"/>
                </a:solidFill>
                <a:latin typeface="Noto Sans CJK JP"/>
              </a:defRPr>
            </a:pPr>
            <a:r>
              <a:rPr sz="1400" b="1" lang="ja-JP">
                <a:solidFill>
                  <a:srgbClr val="FFFEF8"/>
                </a:solidFill>
                <a:latin typeface="Noto Sans CJK JP"/>
                <a:ea typeface="Noto Sans CJK JP"/>
              </a:rPr>
              <a:t>Appendix: 2 追加の実例</a:t>
            </a:r>
            <a:endParaRPr sz="1400" lang="ja-JP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626669"/>
                </a:solidFill>
                <a:latin typeface="Noto Sans CJK JP"/>
              </a:defRPr>
            </a:pPr>
            <a:r>
              <a:rPr sz="1400" b="0" lang="ja-JP">
                <a:solidFill>
                  <a:srgbClr val="626669"/>
                </a:solidFill>
                <a:latin typeface="Noto Sans CJK JP"/>
                <a:ea typeface="Noto Sans CJK JP"/>
              </a:rPr>
              <a:t>前提文</a:t>
            </a:r>
            <a:endParaRPr sz="1400" lang="ja-JP"/>
          </a:p>
        </p:txBody>
      </p:sp>
      <p:sp>
        <p:nvSpPr>
          <p:cNvPr id="5" name="quote-frame-premise"/>
          <p:cNvSpPr/>
          <p:nvPr/>
        </p:nvSpPr>
        <p:spPr>
          <a:xfrm>
            <a:off x="548640" y="1673352"/>
            <a:ext cx="8046720" cy="458317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quote-text-premise"/>
          <p:cNvSpPr txBox="1"/>
          <p:nvPr/>
        </p:nvSpPr>
        <p:spPr>
          <a:xfrm>
            <a:off x="726440" y="1741678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303437"/>
                </a:solidFill>
                <a:latin typeface="Liberation Sans"/>
              </a:defRPr>
              <a:buNone/>
            </a:pPr>
            <a:r>
              <a:rPr sz="1800" lang="en-US">
                <a:solidFill>
                  <a:srgbClr val="303437"/>
                </a:solidFill>
                <a:latin typeface="Liberation Sans"/>
                <a:ea typeface="Liberation Sans"/>
              </a:rPr>
              <a:t>An old man with a package poses in front of an advertisement.</a:t>
            </a:r>
            <a:endParaRPr sz="1800" lang="en-US"/>
            <a:endParaRPr sz="1800"/>
          </a:p>
        </p:txBody>
      </p:sp>
      <p:sp>
        <p:nvSpPr>
          <p:cNvPr id="7" name="TextBox 6"/>
          <p:cNvSpPr txBox="1"/>
          <p:nvPr/>
        </p:nvSpPr>
        <p:spPr>
          <a:xfrm>
            <a:off x="548640" y="2259685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626669"/>
                </a:solidFill>
                <a:latin typeface="Noto Sans CJK JP"/>
              </a:defRPr>
            </a:pPr>
            <a:r>
              <a:rPr sz="1400" b="0" lang="ja-JP">
                <a:solidFill>
                  <a:srgbClr val="626669"/>
                </a:solidFill>
                <a:latin typeface="Noto Sans CJK JP"/>
                <a:ea typeface="Noto Sans CJK JP"/>
              </a:rPr>
              <a:t>仮説文</a:t>
            </a:r>
            <a:endParaRPr sz="1400" lang="ja-JP"/>
          </a:p>
        </p:txBody>
      </p:sp>
      <p:sp>
        <p:nvSpPr>
          <p:cNvPr id="8" name="quote-frame-hypothesis"/>
          <p:cNvSpPr/>
          <p:nvPr/>
        </p:nvSpPr>
        <p:spPr>
          <a:xfrm>
            <a:off x="548640" y="2561437"/>
            <a:ext cx="8046720" cy="458317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quote-text-hypothesis"/>
          <p:cNvSpPr txBox="1"/>
          <p:nvPr/>
        </p:nvSpPr>
        <p:spPr>
          <a:xfrm>
            <a:off x="726440" y="2629763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303437"/>
                </a:solidFill>
                <a:latin typeface="Liberation Sans"/>
              </a:defRPr>
              <a:buNone/>
            </a:pPr>
            <a:r>
              <a:rPr sz="1800" lang="en-US">
                <a:solidFill>
                  <a:srgbClr val="303437"/>
                </a:solidFill>
                <a:latin typeface="Liberation Sans"/>
                <a:ea typeface="Liberation Sans"/>
              </a:rPr>
              <a:t>A man poses in front of an ad.</a:t>
            </a:r>
            <a:endParaRPr sz="1800" lang="en-US"/>
            <a:endParaRPr sz="1800"/>
          </a:p>
        </p:txBody>
      </p:sp>
      <p:sp>
        <p:nvSpPr>
          <p:cNvPr id="10" name="TextBox 9"/>
          <p:cNvSpPr txBox="1"/>
          <p:nvPr/>
        </p:nvSpPr>
        <p:spPr>
          <a:xfrm>
            <a:off x="548640" y="3147771"/>
            <a:ext cx="8046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B13731"/>
                </a:solidFill>
                <a:latin typeface="Noto Sans CJK JP"/>
              </a:defRPr>
            </a:pPr>
            <a:r>
              <a:rPr sz="2100" b="0" lang="ja-JP">
                <a:solidFill>
                  <a:srgbClr val="B13731"/>
                </a:solidFill>
                <a:latin typeface="Noto Sans CJK JP"/>
                <a:ea typeface="Noto Sans CJK JP"/>
              </a:rPr>
              <a:t>正解は含意</a:t>
            </a:r>
            <a:endParaRPr sz="2100" lang="ja-JP"/>
          </a:p>
        </p:txBody>
      </p:sp>
      <p:sp>
        <p:nvSpPr>
          <p:cNvPr id="11" name="TextBox 10"/>
          <p:cNvSpPr txBox="1"/>
          <p:nvPr/>
        </p:nvSpPr>
        <p:spPr>
          <a:xfrm>
            <a:off x="548640" y="3531819"/>
            <a:ext cx="8046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303437"/>
                </a:solidFill>
                <a:latin typeface="Noto Sans CJK JP"/>
              </a:defRPr>
              <a:buNone/>
            </a:pPr>
            <a:r>
              <a:rPr sz="1900" lang="ja-JP">
                <a:solidFill>
                  <a:srgbClr val="303437"/>
                </a:solidFill>
                <a:latin typeface="Noto Sans CJK JP"/>
                <a:ea typeface="Noto Sans CJK JP"/>
              </a:rPr>
              <a:t>advertisementとadは同じ内容を表す。</a:t>
            </a:r>
            <a:endParaRPr sz="1900" lang="ja-JP"/>
            <a:endParaRPr sz="1900"/>
          </a:p>
        </p:txBody>
      </p:sp>
      <p:sp>
        <p:nvSpPr>
          <p:cNvPr id="12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SNLI 1.0公式データ. https://nlp.stanford.edu/projects/snli/  文対ID 4791890474.jpg#3r1e</a:t>
            </a:r>
            <a:endParaRPr sz="85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303437"/>
                </a:solidFill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追加例4 中立</a:t>
            </a:r>
            <a:endParaRPr sz="2800" lang="ja-JP"/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EF8"/>
                </a:solidFill>
                <a:latin typeface="Noto Sans CJK JP"/>
              </a:defRPr>
            </a:pPr>
            <a:r>
              <a:rPr sz="1400" b="1" lang="ja-JP">
                <a:solidFill>
                  <a:srgbClr val="FFFEF8"/>
                </a:solidFill>
                <a:latin typeface="Noto Sans CJK JP"/>
                <a:ea typeface="Noto Sans CJK JP"/>
              </a:rPr>
              <a:t>Appendix: 2 追加の実例</a:t>
            </a:r>
            <a:endParaRPr sz="1400" lang="ja-JP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626669"/>
                </a:solidFill>
                <a:latin typeface="Noto Sans CJK JP"/>
              </a:defRPr>
            </a:pPr>
            <a:r>
              <a:rPr sz="1400" b="0" lang="ja-JP">
                <a:solidFill>
                  <a:srgbClr val="626669"/>
                </a:solidFill>
                <a:latin typeface="Noto Sans CJK JP"/>
                <a:ea typeface="Noto Sans CJK JP"/>
              </a:rPr>
              <a:t>前提文</a:t>
            </a:r>
            <a:endParaRPr sz="1400" lang="ja-JP"/>
          </a:p>
        </p:txBody>
      </p:sp>
      <p:sp>
        <p:nvSpPr>
          <p:cNvPr id="5" name="quote-frame-premise"/>
          <p:cNvSpPr/>
          <p:nvPr/>
        </p:nvSpPr>
        <p:spPr>
          <a:xfrm>
            <a:off x="548640" y="1673352"/>
            <a:ext cx="8046720" cy="458317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quote-text-premise"/>
          <p:cNvSpPr txBox="1"/>
          <p:nvPr/>
        </p:nvSpPr>
        <p:spPr>
          <a:xfrm>
            <a:off x="726440" y="1741678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303437"/>
                </a:solidFill>
                <a:latin typeface="Liberation Sans"/>
              </a:defRPr>
              <a:buNone/>
            </a:pPr>
            <a:r>
              <a:rPr sz="1800" lang="en-US">
                <a:solidFill>
                  <a:srgbClr val="303437"/>
                </a:solidFill>
                <a:latin typeface="Liberation Sans"/>
                <a:ea typeface="Liberation Sans"/>
              </a:rPr>
              <a:t>A statue at a museum that no seems to be looking at.</a:t>
            </a:r>
            <a:endParaRPr sz="1800" lang="en-US"/>
            <a:endParaRPr sz="1800"/>
          </a:p>
        </p:txBody>
      </p:sp>
      <p:sp>
        <p:nvSpPr>
          <p:cNvPr id="7" name="TextBox 6"/>
          <p:cNvSpPr txBox="1"/>
          <p:nvPr/>
        </p:nvSpPr>
        <p:spPr>
          <a:xfrm>
            <a:off x="548640" y="2259685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626669"/>
                </a:solidFill>
                <a:latin typeface="Noto Sans CJK JP"/>
              </a:defRPr>
            </a:pPr>
            <a:r>
              <a:rPr sz="1400" b="0" lang="ja-JP">
                <a:solidFill>
                  <a:srgbClr val="626669"/>
                </a:solidFill>
                <a:latin typeface="Noto Sans CJK JP"/>
                <a:ea typeface="Noto Sans CJK JP"/>
              </a:rPr>
              <a:t>仮説文</a:t>
            </a:r>
            <a:endParaRPr sz="1400" lang="ja-JP"/>
          </a:p>
        </p:txBody>
      </p:sp>
      <p:sp>
        <p:nvSpPr>
          <p:cNvPr id="8" name="quote-frame-hypothesis"/>
          <p:cNvSpPr/>
          <p:nvPr/>
        </p:nvSpPr>
        <p:spPr>
          <a:xfrm>
            <a:off x="548640" y="2561437"/>
            <a:ext cx="8046720" cy="458317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quote-text-hypothesis"/>
          <p:cNvSpPr txBox="1"/>
          <p:nvPr/>
        </p:nvSpPr>
        <p:spPr>
          <a:xfrm>
            <a:off x="726440" y="2629763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303437"/>
                </a:solidFill>
                <a:latin typeface="Liberation Sans"/>
              </a:defRPr>
              <a:buNone/>
            </a:pPr>
            <a:r>
              <a:rPr sz="1800" lang="en-US">
                <a:solidFill>
                  <a:srgbClr val="303437"/>
                </a:solidFill>
                <a:latin typeface="Liberation Sans"/>
                <a:ea typeface="Liberation Sans"/>
              </a:rPr>
              <a:t>The statue is offensive and people are mad that it is on display.</a:t>
            </a:r>
            <a:endParaRPr sz="1800" lang="en-US"/>
            <a:endParaRPr sz="1800"/>
          </a:p>
        </p:txBody>
      </p:sp>
      <p:sp>
        <p:nvSpPr>
          <p:cNvPr id="10" name="TextBox 9"/>
          <p:cNvSpPr txBox="1"/>
          <p:nvPr/>
        </p:nvSpPr>
        <p:spPr>
          <a:xfrm>
            <a:off x="548640" y="3147771"/>
            <a:ext cx="8046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B13731"/>
                </a:solidFill>
                <a:latin typeface="Noto Sans CJK JP"/>
              </a:defRPr>
            </a:pPr>
            <a:r>
              <a:rPr sz="2100" b="0" lang="ja-JP">
                <a:solidFill>
                  <a:srgbClr val="B13731"/>
                </a:solidFill>
                <a:latin typeface="Noto Sans CJK JP"/>
                <a:ea typeface="Noto Sans CJK JP"/>
              </a:rPr>
              <a:t>正解は中立</a:t>
            </a:r>
            <a:endParaRPr sz="2100" lang="ja-JP"/>
          </a:p>
        </p:txBody>
      </p:sp>
      <p:sp>
        <p:nvSpPr>
          <p:cNvPr id="11" name="TextBox 10"/>
          <p:cNvSpPr txBox="1"/>
          <p:nvPr/>
        </p:nvSpPr>
        <p:spPr>
          <a:xfrm>
            <a:off x="548640" y="3531819"/>
            <a:ext cx="8046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303437"/>
                </a:solidFill>
                <a:latin typeface="Noto Sans CJK JP"/>
              </a:defRPr>
              <a:buNone/>
            </a:pPr>
            <a:r>
              <a:rPr sz="1900" lang="ja-JP">
                <a:solidFill>
                  <a:srgbClr val="303437"/>
                </a:solidFill>
                <a:latin typeface="Noto Sans CJK JP"/>
                <a:ea typeface="Noto Sans CJK JP"/>
              </a:rPr>
              <a:t>見られていない理由や人々の感情は、前提から分からない。</a:t>
            </a:r>
            <a:endParaRPr sz="1900" lang="ja-JP"/>
            <a:endParaRPr sz="1900"/>
          </a:p>
        </p:txBody>
      </p:sp>
      <p:sp>
        <p:nvSpPr>
          <p:cNvPr id="12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SNLI 1.0公式データ. https://nlp.stanford.edu/projects/snli/  文対ID 6526219567.jpg#4r1n</a:t>
            </a:r>
            <a:endParaRPr sz="85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303437"/>
                </a:solidFill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追加例5 矛盾</a:t>
            </a:r>
            <a:endParaRPr sz="2800" lang="ja-JP"/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EF8"/>
                </a:solidFill>
                <a:latin typeface="Noto Sans CJK JP"/>
              </a:defRPr>
            </a:pPr>
            <a:r>
              <a:rPr sz="1400" b="1" lang="ja-JP">
                <a:solidFill>
                  <a:srgbClr val="FFFEF8"/>
                </a:solidFill>
                <a:latin typeface="Noto Sans CJK JP"/>
                <a:ea typeface="Noto Sans CJK JP"/>
              </a:rPr>
              <a:t>Appendix: 2 追加の実例</a:t>
            </a:r>
            <a:endParaRPr sz="1400" lang="ja-JP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626669"/>
                </a:solidFill>
                <a:latin typeface="Noto Sans CJK JP"/>
              </a:defRPr>
            </a:pPr>
            <a:r>
              <a:rPr sz="1400" b="0" lang="ja-JP">
                <a:solidFill>
                  <a:srgbClr val="626669"/>
                </a:solidFill>
                <a:latin typeface="Noto Sans CJK JP"/>
                <a:ea typeface="Noto Sans CJK JP"/>
              </a:rPr>
              <a:t>前提文</a:t>
            </a:r>
            <a:endParaRPr sz="1400" lang="ja-JP"/>
          </a:p>
        </p:txBody>
      </p:sp>
      <p:sp>
        <p:nvSpPr>
          <p:cNvPr id="5" name="quote-frame-premise"/>
          <p:cNvSpPr/>
          <p:nvPr/>
        </p:nvSpPr>
        <p:spPr>
          <a:xfrm>
            <a:off x="548640" y="1673352"/>
            <a:ext cx="8046720" cy="458317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quote-text-premise"/>
          <p:cNvSpPr txBox="1"/>
          <p:nvPr/>
        </p:nvSpPr>
        <p:spPr>
          <a:xfrm>
            <a:off x="726440" y="1741678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303437"/>
                </a:solidFill>
                <a:latin typeface="Liberation Sans"/>
              </a:defRPr>
              <a:buNone/>
            </a:pPr>
            <a:r>
              <a:rPr sz="1800" lang="en-US">
                <a:solidFill>
                  <a:srgbClr val="303437"/>
                </a:solidFill>
                <a:latin typeface="Liberation Sans"/>
                <a:ea typeface="Liberation Sans"/>
              </a:rPr>
              <a:t>A land rover is being driven across a river.</a:t>
            </a:r>
            <a:endParaRPr sz="1800" lang="en-US"/>
            <a:endParaRPr sz="1800"/>
          </a:p>
        </p:txBody>
      </p:sp>
      <p:sp>
        <p:nvSpPr>
          <p:cNvPr id="7" name="TextBox 6"/>
          <p:cNvSpPr txBox="1"/>
          <p:nvPr/>
        </p:nvSpPr>
        <p:spPr>
          <a:xfrm>
            <a:off x="548640" y="2259685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626669"/>
                </a:solidFill>
                <a:latin typeface="Noto Sans CJK JP"/>
              </a:defRPr>
            </a:pPr>
            <a:r>
              <a:rPr sz="1400" b="0" lang="ja-JP">
                <a:solidFill>
                  <a:srgbClr val="626669"/>
                </a:solidFill>
                <a:latin typeface="Noto Sans CJK JP"/>
                <a:ea typeface="Noto Sans CJK JP"/>
              </a:rPr>
              <a:t>仮説文</a:t>
            </a:r>
            <a:endParaRPr sz="1400" lang="ja-JP"/>
          </a:p>
        </p:txBody>
      </p:sp>
      <p:sp>
        <p:nvSpPr>
          <p:cNvPr id="8" name="quote-frame-hypothesis"/>
          <p:cNvSpPr/>
          <p:nvPr/>
        </p:nvSpPr>
        <p:spPr>
          <a:xfrm>
            <a:off x="548640" y="2561437"/>
            <a:ext cx="8046720" cy="458317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quote-text-hypothesis"/>
          <p:cNvSpPr txBox="1"/>
          <p:nvPr/>
        </p:nvSpPr>
        <p:spPr>
          <a:xfrm>
            <a:off x="726440" y="2629763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303437"/>
                </a:solidFill>
                <a:latin typeface="Liberation Sans"/>
              </a:defRPr>
              <a:buNone/>
            </a:pPr>
            <a:r>
              <a:rPr sz="1800" lang="en-US">
                <a:solidFill>
                  <a:srgbClr val="303437"/>
                </a:solidFill>
                <a:latin typeface="Liberation Sans"/>
                <a:ea typeface="Liberation Sans"/>
              </a:rPr>
              <a:t>A sedan is stuck in the middle of a river.</a:t>
            </a:r>
            <a:endParaRPr sz="1800" lang="en-US"/>
            <a:endParaRPr sz="1800"/>
          </a:p>
        </p:txBody>
      </p:sp>
      <p:sp>
        <p:nvSpPr>
          <p:cNvPr id="10" name="TextBox 9"/>
          <p:cNvSpPr txBox="1"/>
          <p:nvPr/>
        </p:nvSpPr>
        <p:spPr>
          <a:xfrm>
            <a:off x="548640" y="3147771"/>
            <a:ext cx="8046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B13731"/>
                </a:solidFill>
                <a:latin typeface="Noto Sans CJK JP"/>
              </a:defRPr>
            </a:pPr>
            <a:r>
              <a:rPr sz="2100" b="0" lang="ja-JP">
                <a:solidFill>
                  <a:srgbClr val="B13731"/>
                </a:solidFill>
                <a:latin typeface="Noto Sans CJK JP"/>
                <a:ea typeface="Noto Sans CJK JP"/>
              </a:rPr>
              <a:t>正解は矛盾</a:t>
            </a:r>
            <a:endParaRPr sz="2100" lang="ja-JP"/>
          </a:p>
        </p:txBody>
      </p:sp>
      <p:sp>
        <p:nvSpPr>
          <p:cNvPr id="11" name="TextBox 10"/>
          <p:cNvSpPr txBox="1"/>
          <p:nvPr/>
        </p:nvSpPr>
        <p:spPr>
          <a:xfrm>
            <a:off x="548640" y="3531819"/>
            <a:ext cx="8046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303437"/>
                </a:solidFill>
                <a:latin typeface="Noto Sans CJK JP"/>
              </a:defRPr>
              <a:buNone/>
            </a:pPr>
            <a:r>
              <a:rPr sz="1900" lang="ja-JP">
                <a:solidFill>
                  <a:srgbClr val="303437"/>
                </a:solidFill>
                <a:latin typeface="Noto Sans CJK JP"/>
                <a:ea typeface="Noto Sans CJK JP"/>
              </a:rPr>
              <a:t>車種と動作が、同じ場面の説明として両立しない。</a:t>
            </a:r>
            <a:endParaRPr sz="1900" lang="ja-JP"/>
            <a:endParaRPr sz="1900"/>
          </a:p>
        </p:txBody>
      </p:sp>
      <p:sp>
        <p:nvSpPr>
          <p:cNvPr id="12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SNLI 1.0公式データ. https://nlp.stanford.edu/projects/snli/  文対ID 2832076014.jpg#2r1c</a:t>
            </a:r>
            <a:endParaRPr sz="85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303437"/>
                </a:solidFill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追加例6 中立</a:t>
            </a:r>
            <a:endParaRPr sz="2800" lang="ja-JP"/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EF8"/>
                </a:solidFill>
                <a:latin typeface="Noto Sans CJK JP"/>
              </a:defRPr>
            </a:pPr>
            <a:r>
              <a:rPr sz="1400" b="1" lang="ja-JP">
                <a:solidFill>
                  <a:srgbClr val="FFFEF8"/>
                </a:solidFill>
                <a:latin typeface="Noto Sans CJK JP"/>
                <a:ea typeface="Noto Sans CJK JP"/>
              </a:rPr>
              <a:t>Appendix: 2 追加の実例</a:t>
            </a:r>
            <a:endParaRPr sz="1400" lang="ja-JP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626669"/>
                </a:solidFill>
                <a:latin typeface="Noto Sans CJK JP"/>
              </a:defRPr>
            </a:pPr>
            <a:r>
              <a:rPr sz="1400" b="0" lang="ja-JP">
                <a:solidFill>
                  <a:srgbClr val="626669"/>
                </a:solidFill>
                <a:latin typeface="Noto Sans CJK JP"/>
                <a:ea typeface="Noto Sans CJK JP"/>
              </a:rPr>
              <a:t>前提文</a:t>
            </a:r>
            <a:endParaRPr sz="1400" lang="ja-JP"/>
          </a:p>
        </p:txBody>
      </p:sp>
      <p:sp>
        <p:nvSpPr>
          <p:cNvPr id="5" name="quote-frame-premise"/>
          <p:cNvSpPr/>
          <p:nvPr/>
        </p:nvSpPr>
        <p:spPr>
          <a:xfrm>
            <a:off x="548640" y="1673352"/>
            <a:ext cx="8046720" cy="744067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quote-text-premise"/>
          <p:cNvSpPr txBox="1"/>
          <p:nvPr/>
        </p:nvSpPr>
        <p:spPr>
          <a:xfrm>
            <a:off x="726440" y="1741678"/>
            <a:ext cx="7691120" cy="6424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303437"/>
                </a:solidFill>
                <a:latin typeface="Liberation Sans"/>
              </a:defRPr>
              <a:buNone/>
            </a:pPr>
            <a:r>
              <a:rPr sz="1800" lang="en-US">
                <a:solidFill>
                  <a:srgbClr val="303437"/>
                </a:solidFill>
                <a:latin typeface="Liberation Sans"/>
                <a:ea typeface="Liberation Sans"/>
              </a:rPr>
              <a:t>A blond-haired doctor and her African american assistant looking threw new medical manuals.</a:t>
            </a:r>
            <a:endParaRPr sz="1800" lang="en-US"/>
            <a:endParaRPr sz="1800"/>
          </a:p>
        </p:txBody>
      </p:sp>
      <p:sp>
        <p:nvSpPr>
          <p:cNvPr id="7" name="TextBox 6"/>
          <p:cNvSpPr txBox="1"/>
          <p:nvPr/>
        </p:nvSpPr>
        <p:spPr>
          <a:xfrm>
            <a:off x="548640" y="2545435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626669"/>
                </a:solidFill>
                <a:latin typeface="Noto Sans CJK JP"/>
              </a:defRPr>
            </a:pPr>
            <a:r>
              <a:rPr sz="1400" b="0" lang="ja-JP">
                <a:solidFill>
                  <a:srgbClr val="626669"/>
                </a:solidFill>
                <a:latin typeface="Noto Sans CJK JP"/>
                <a:ea typeface="Noto Sans CJK JP"/>
              </a:rPr>
              <a:t>仮説文</a:t>
            </a:r>
            <a:endParaRPr sz="1400" lang="ja-JP"/>
          </a:p>
        </p:txBody>
      </p:sp>
      <p:sp>
        <p:nvSpPr>
          <p:cNvPr id="8" name="quote-frame-hypothesis"/>
          <p:cNvSpPr/>
          <p:nvPr/>
        </p:nvSpPr>
        <p:spPr>
          <a:xfrm>
            <a:off x="548640" y="2847187"/>
            <a:ext cx="8046720" cy="458317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quote-text-hypothesis"/>
          <p:cNvSpPr txBox="1"/>
          <p:nvPr/>
        </p:nvSpPr>
        <p:spPr>
          <a:xfrm>
            <a:off x="726440" y="2915513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303437"/>
                </a:solidFill>
                <a:latin typeface="Liberation Sans"/>
              </a:defRPr>
              <a:buNone/>
            </a:pPr>
            <a:r>
              <a:rPr sz="1800" lang="en-US">
                <a:solidFill>
                  <a:srgbClr val="303437"/>
                </a:solidFill>
                <a:latin typeface="Liberation Sans"/>
                <a:ea typeface="Liberation Sans"/>
              </a:rPr>
              <a:t>A doctor is studying</a:t>
            </a:r>
            <a:endParaRPr sz="1800" lang="en-US"/>
            <a:endParaRPr sz="1800"/>
          </a:p>
        </p:txBody>
      </p:sp>
      <p:sp>
        <p:nvSpPr>
          <p:cNvPr id="10" name="TextBox 9"/>
          <p:cNvSpPr txBox="1"/>
          <p:nvPr/>
        </p:nvSpPr>
        <p:spPr>
          <a:xfrm>
            <a:off x="548640" y="3433521"/>
            <a:ext cx="8046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B13731"/>
                </a:solidFill>
                <a:latin typeface="Noto Sans CJK JP"/>
              </a:defRPr>
            </a:pPr>
            <a:r>
              <a:rPr sz="2100" b="0" lang="ja-JP">
                <a:solidFill>
                  <a:srgbClr val="B13731"/>
                </a:solidFill>
                <a:latin typeface="Noto Sans CJK JP"/>
                <a:ea typeface="Noto Sans CJK JP"/>
              </a:rPr>
              <a:t>正解は中立</a:t>
            </a:r>
            <a:endParaRPr sz="2100" lang="ja-JP"/>
          </a:p>
        </p:txBody>
      </p:sp>
      <p:sp>
        <p:nvSpPr>
          <p:cNvPr id="11" name="TextBox 10"/>
          <p:cNvSpPr txBox="1"/>
          <p:nvPr/>
        </p:nvSpPr>
        <p:spPr>
          <a:xfrm>
            <a:off x="548640" y="3817569"/>
            <a:ext cx="8046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50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303437"/>
                </a:solidFill>
                <a:latin typeface="Noto Sans CJK JP"/>
              </a:defRPr>
            </a:pPr>
            <a:r>
              <a:rPr sz="1900" b="0" lang="ja-JP">
                <a:solidFill>
                  <a:srgbClr val="303437"/>
                </a:solidFill>
                <a:latin typeface="Noto Sans CJK JP"/>
                <a:ea typeface="Noto Sans CJK JP"/>
              </a:rPr>
              <a:t>正解は中立だが「勉強している」と読めるかは解釈に依存する。</a:t>
            </a:r>
            <a:endParaRPr sz="1900" lang="ja-JP"/>
          </a:p>
        </p:txBody>
      </p:sp>
      <p:sp>
        <p:nvSpPr>
          <p:cNvPr id="12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SNLI 1.0公式データ. https://nlp.stanford.edu/projects/snli/  文対ID 3856149623.jpg#1r1n</a:t>
            </a:r>
            <a:endParaRPr sz="85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303437"/>
                </a:solidFill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追加例7 矛盾</a:t>
            </a:r>
            <a:endParaRPr sz="2800" lang="ja-JP"/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EF8"/>
                </a:solidFill>
                <a:latin typeface="Noto Sans CJK JP"/>
              </a:defRPr>
            </a:pPr>
            <a:r>
              <a:rPr sz="1400" b="1" lang="ja-JP">
                <a:solidFill>
                  <a:srgbClr val="FFFEF8"/>
                </a:solidFill>
                <a:latin typeface="Noto Sans CJK JP"/>
                <a:ea typeface="Noto Sans CJK JP"/>
              </a:rPr>
              <a:t>Appendix: 2 追加の実例</a:t>
            </a:r>
            <a:endParaRPr sz="1400" lang="ja-JP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626669"/>
                </a:solidFill>
                <a:latin typeface="Noto Sans CJK JP"/>
              </a:defRPr>
            </a:pPr>
            <a:r>
              <a:rPr sz="1400" b="0" lang="ja-JP">
                <a:solidFill>
                  <a:srgbClr val="626669"/>
                </a:solidFill>
                <a:latin typeface="Noto Sans CJK JP"/>
                <a:ea typeface="Noto Sans CJK JP"/>
              </a:rPr>
              <a:t>前提文</a:t>
            </a:r>
            <a:endParaRPr sz="1400" lang="ja-JP"/>
          </a:p>
        </p:txBody>
      </p:sp>
      <p:sp>
        <p:nvSpPr>
          <p:cNvPr id="5" name="quote-frame-premise"/>
          <p:cNvSpPr/>
          <p:nvPr/>
        </p:nvSpPr>
        <p:spPr>
          <a:xfrm>
            <a:off x="548640" y="1673352"/>
            <a:ext cx="8046720" cy="458317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quote-text-premise"/>
          <p:cNvSpPr txBox="1"/>
          <p:nvPr/>
        </p:nvSpPr>
        <p:spPr>
          <a:xfrm>
            <a:off x="726440" y="1741678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303437"/>
                </a:solidFill>
                <a:latin typeface="Liberation Sans"/>
              </a:defRPr>
              <a:buNone/>
            </a:pPr>
            <a:r>
              <a:rPr sz="1800" lang="en-US">
                <a:solidFill>
                  <a:srgbClr val="303437"/>
                </a:solidFill>
                <a:latin typeface="Liberation Sans"/>
                <a:ea typeface="Liberation Sans"/>
              </a:rPr>
              <a:t>A young family enjoys feeling ocean waves lap at their feet.</a:t>
            </a:r>
            <a:endParaRPr sz="1800" lang="en-US"/>
            <a:endParaRPr sz="1800"/>
          </a:p>
        </p:txBody>
      </p:sp>
      <p:sp>
        <p:nvSpPr>
          <p:cNvPr id="7" name="TextBox 6"/>
          <p:cNvSpPr txBox="1"/>
          <p:nvPr/>
        </p:nvSpPr>
        <p:spPr>
          <a:xfrm>
            <a:off x="548640" y="2259685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626669"/>
                </a:solidFill>
                <a:latin typeface="Noto Sans CJK JP"/>
              </a:defRPr>
            </a:pPr>
            <a:r>
              <a:rPr sz="1400" b="0" lang="ja-JP">
                <a:solidFill>
                  <a:srgbClr val="626669"/>
                </a:solidFill>
                <a:latin typeface="Noto Sans CJK JP"/>
                <a:ea typeface="Noto Sans CJK JP"/>
              </a:rPr>
              <a:t>仮説文</a:t>
            </a:r>
            <a:endParaRPr sz="1400" lang="ja-JP"/>
          </a:p>
        </p:txBody>
      </p:sp>
      <p:sp>
        <p:nvSpPr>
          <p:cNvPr id="8" name="quote-frame-hypothesis"/>
          <p:cNvSpPr/>
          <p:nvPr/>
        </p:nvSpPr>
        <p:spPr>
          <a:xfrm>
            <a:off x="548640" y="2561437"/>
            <a:ext cx="8046720" cy="458317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quote-text-hypothesis"/>
          <p:cNvSpPr txBox="1"/>
          <p:nvPr/>
        </p:nvSpPr>
        <p:spPr>
          <a:xfrm>
            <a:off x="726440" y="2629763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303437"/>
                </a:solidFill>
                <a:latin typeface="Liberation Sans"/>
              </a:defRPr>
              <a:buNone/>
            </a:pPr>
            <a:r>
              <a:rPr sz="1800" lang="en-US">
                <a:solidFill>
                  <a:srgbClr val="303437"/>
                </a:solidFill>
                <a:latin typeface="Liberation Sans"/>
                <a:ea typeface="Liberation Sans"/>
              </a:rPr>
              <a:t>A family is out at a restaurant.</a:t>
            </a:r>
            <a:endParaRPr sz="1800" lang="en-US"/>
            <a:endParaRPr sz="1800"/>
          </a:p>
        </p:txBody>
      </p:sp>
      <p:sp>
        <p:nvSpPr>
          <p:cNvPr id="10" name="TextBox 9"/>
          <p:cNvSpPr txBox="1"/>
          <p:nvPr/>
        </p:nvSpPr>
        <p:spPr>
          <a:xfrm>
            <a:off x="548640" y="3147771"/>
            <a:ext cx="8046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B13731"/>
                </a:solidFill>
                <a:latin typeface="Noto Sans CJK JP"/>
              </a:defRPr>
            </a:pPr>
            <a:r>
              <a:rPr sz="2100" b="0" lang="ja-JP">
                <a:solidFill>
                  <a:srgbClr val="B13731"/>
                </a:solidFill>
                <a:latin typeface="Noto Sans CJK JP"/>
                <a:ea typeface="Noto Sans CJK JP"/>
              </a:rPr>
              <a:t>正解は矛盾</a:t>
            </a:r>
            <a:endParaRPr sz="2100" lang="ja-JP"/>
          </a:p>
        </p:txBody>
      </p:sp>
      <p:sp>
        <p:nvSpPr>
          <p:cNvPr id="11" name="TextBox 10"/>
          <p:cNvSpPr txBox="1"/>
          <p:nvPr/>
        </p:nvSpPr>
        <p:spPr>
          <a:xfrm>
            <a:off x="548640" y="3531819"/>
            <a:ext cx="8046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303437"/>
                </a:solidFill>
                <a:latin typeface="Noto Sans CJK JP"/>
              </a:defRPr>
              <a:buNone/>
            </a:pPr>
            <a:r>
              <a:rPr sz="1900" lang="ja-JP">
                <a:solidFill>
                  <a:srgbClr val="303437"/>
                </a:solidFill>
                <a:latin typeface="Noto Sans CJK JP"/>
                <a:ea typeface="Noto Sans CJK JP"/>
              </a:rPr>
              <a:t>海の波を感じる場面と、レストランの場面を区別している。</a:t>
            </a:r>
            <a:endParaRPr sz="1900" lang="ja-JP"/>
            <a:endParaRPr sz="1900"/>
          </a:p>
        </p:txBody>
      </p:sp>
      <p:sp>
        <p:nvSpPr>
          <p:cNvPr id="12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SNLI 1.0公式データ. https://nlp.stanford.edu/projects/snli/  文対ID 2946464027.jpg#0r1c</a:t>
            </a:r>
            <a:endParaRPr sz="85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303437"/>
                </a:solidFill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追加例8 含意</a:t>
            </a:r>
            <a:endParaRPr sz="2800" lang="ja-JP"/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EF8"/>
                </a:solidFill>
                <a:latin typeface="Noto Sans CJK JP"/>
              </a:defRPr>
            </a:pPr>
            <a:r>
              <a:rPr sz="1400" b="1" lang="ja-JP">
                <a:solidFill>
                  <a:srgbClr val="FFFEF8"/>
                </a:solidFill>
                <a:latin typeface="Noto Sans CJK JP"/>
                <a:ea typeface="Noto Sans CJK JP"/>
              </a:rPr>
              <a:t>Appendix: 2 追加の実例</a:t>
            </a:r>
            <a:endParaRPr sz="1400" lang="ja-JP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626669"/>
                </a:solidFill>
                <a:latin typeface="Noto Sans CJK JP"/>
              </a:defRPr>
            </a:pPr>
            <a:r>
              <a:rPr sz="1400" b="0" lang="ja-JP">
                <a:solidFill>
                  <a:srgbClr val="626669"/>
                </a:solidFill>
                <a:latin typeface="Noto Sans CJK JP"/>
                <a:ea typeface="Noto Sans CJK JP"/>
              </a:rPr>
              <a:t>前提文</a:t>
            </a:r>
            <a:endParaRPr sz="1400" lang="ja-JP"/>
          </a:p>
        </p:txBody>
      </p:sp>
      <p:sp>
        <p:nvSpPr>
          <p:cNvPr id="5" name="quote-frame-premise"/>
          <p:cNvSpPr/>
          <p:nvPr/>
        </p:nvSpPr>
        <p:spPr>
          <a:xfrm>
            <a:off x="548640" y="1673352"/>
            <a:ext cx="8046720" cy="458317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quote-text-premise"/>
          <p:cNvSpPr txBox="1"/>
          <p:nvPr/>
        </p:nvSpPr>
        <p:spPr>
          <a:xfrm>
            <a:off x="726440" y="1741678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303437"/>
                </a:solidFill>
                <a:latin typeface="Liberation Sans"/>
              </a:defRPr>
              <a:buNone/>
            </a:pPr>
            <a:r>
              <a:rPr sz="1800" lang="en-US">
                <a:solidFill>
                  <a:srgbClr val="303437"/>
                </a:solidFill>
                <a:latin typeface="Liberation Sans"/>
                <a:ea typeface="Liberation Sans"/>
              </a:rPr>
              <a:t>A couple walk hand in hand down a street.</a:t>
            </a:r>
            <a:endParaRPr sz="1800" lang="en-US"/>
            <a:endParaRPr sz="1800"/>
          </a:p>
        </p:txBody>
      </p:sp>
      <p:sp>
        <p:nvSpPr>
          <p:cNvPr id="7" name="TextBox 6"/>
          <p:cNvSpPr txBox="1"/>
          <p:nvPr/>
        </p:nvSpPr>
        <p:spPr>
          <a:xfrm>
            <a:off x="548640" y="2259685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626669"/>
                </a:solidFill>
                <a:latin typeface="Noto Sans CJK JP"/>
              </a:defRPr>
            </a:pPr>
            <a:r>
              <a:rPr sz="1400" b="0" lang="ja-JP">
                <a:solidFill>
                  <a:srgbClr val="626669"/>
                </a:solidFill>
                <a:latin typeface="Noto Sans CJK JP"/>
                <a:ea typeface="Noto Sans CJK JP"/>
              </a:rPr>
              <a:t>仮説文</a:t>
            </a:r>
            <a:endParaRPr sz="1400" lang="ja-JP"/>
          </a:p>
        </p:txBody>
      </p:sp>
      <p:sp>
        <p:nvSpPr>
          <p:cNvPr id="8" name="quote-frame-hypothesis"/>
          <p:cNvSpPr/>
          <p:nvPr/>
        </p:nvSpPr>
        <p:spPr>
          <a:xfrm>
            <a:off x="548640" y="2561437"/>
            <a:ext cx="8046720" cy="458317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quote-text-hypothesis"/>
          <p:cNvSpPr txBox="1"/>
          <p:nvPr/>
        </p:nvSpPr>
        <p:spPr>
          <a:xfrm>
            <a:off x="726440" y="2629763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303437"/>
                </a:solidFill>
                <a:latin typeface="Liberation Sans"/>
              </a:defRPr>
              <a:buNone/>
            </a:pPr>
            <a:r>
              <a:rPr sz="1800" lang="en-US">
                <a:solidFill>
                  <a:srgbClr val="303437"/>
                </a:solidFill>
                <a:latin typeface="Liberation Sans"/>
                <a:ea typeface="Liberation Sans"/>
              </a:rPr>
              <a:t>A couple is walking together.</a:t>
            </a:r>
            <a:endParaRPr sz="1800" lang="en-US"/>
            <a:endParaRPr sz="1800"/>
          </a:p>
        </p:txBody>
      </p:sp>
      <p:sp>
        <p:nvSpPr>
          <p:cNvPr id="10" name="TextBox 9"/>
          <p:cNvSpPr txBox="1"/>
          <p:nvPr/>
        </p:nvSpPr>
        <p:spPr>
          <a:xfrm>
            <a:off x="548640" y="3147771"/>
            <a:ext cx="8046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B13731"/>
                </a:solidFill>
                <a:latin typeface="Noto Sans CJK JP"/>
              </a:defRPr>
            </a:pPr>
            <a:r>
              <a:rPr sz="2100" b="0" lang="ja-JP">
                <a:solidFill>
                  <a:srgbClr val="B13731"/>
                </a:solidFill>
                <a:latin typeface="Noto Sans CJK JP"/>
                <a:ea typeface="Noto Sans CJK JP"/>
              </a:rPr>
              <a:t>正解は含意</a:t>
            </a:r>
            <a:endParaRPr sz="2100" lang="ja-JP"/>
          </a:p>
        </p:txBody>
      </p:sp>
      <p:sp>
        <p:nvSpPr>
          <p:cNvPr id="11" name="TextBox 10"/>
          <p:cNvSpPr txBox="1"/>
          <p:nvPr/>
        </p:nvSpPr>
        <p:spPr>
          <a:xfrm>
            <a:off x="548640" y="3531819"/>
            <a:ext cx="8046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303437"/>
                </a:solidFill>
                <a:latin typeface="Noto Sans CJK JP"/>
              </a:defRPr>
              <a:buNone/>
            </a:pPr>
            <a:r>
              <a:rPr sz="1900" lang="ja-JP">
                <a:solidFill>
                  <a:srgbClr val="303437"/>
                </a:solidFill>
                <a:latin typeface="Noto Sans CJK JP"/>
                <a:ea typeface="Noto Sans CJK JP"/>
              </a:rPr>
              <a:t>手をつないで歩くことから、一緒に歩くことが導ける。</a:t>
            </a:r>
            <a:endParaRPr sz="1900" lang="ja-JP"/>
            <a:endParaRPr sz="1900"/>
          </a:p>
        </p:txBody>
      </p:sp>
      <p:sp>
        <p:nvSpPr>
          <p:cNvPr id="12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SNLI 1.0公式データ. https://nlp.stanford.edu/projects/snli/  文対ID 3572548523.jpg#4r1e</a:t>
            </a:r>
            <a:endParaRPr sz="85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303437"/>
                </a:solidFill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追加例9 中立</a:t>
            </a:r>
            <a:endParaRPr sz="2800" lang="ja-JP"/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EF8"/>
                </a:solidFill>
                <a:latin typeface="Noto Sans CJK JP"/>
              </a:defRPr>
            </a:pPr>
            <a:r>
              <a:rPr sz="1400" b="1" lang="ja-JP">
                <a:solidFill>
                  <a:srgbClr val="FFFEF8"/>
                </a:solidFill>
                <a:latin typeface="Noto Sans CJK JP"/>
                <a:ea typeface="Noto Sans CJK JP"/>
              </a:rPr>
              <a:t>Appendix: 2 追加の実例</a:t>
            </a:r>
            <a:endParaRPr sz="1400" lang="ja-JP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626669"/>
                </a:solidFill>
                <a:latin typeface="Noto Sans CJK JP"/>
              </a:defRPr>
            </a:pPr>
            <a:r>
              <a:rPr sz="1400" b="0" lang="ja-JP">
                <a:solidFill>
                  <a:srgbClr val="626669"/>
                </a:solidFill>
                <a:latin typeface="Noto Sans CJK JP"/>
                <a:ea typeface="Noto Sans CJK JP"/>
              </a:rPr>
              <a:t>前提文</a:t>
            </a:r>
            <a:endParaRPr sz="1400" lang="ja-JP"/>
          </a:p>
        </p:txBody>
      </p:sp>
      <p:sp>
        <p:nvSpPr>
          <p:cNvPr id="5" name="quote-frame-premise"/>
          <p:cNvSpPr/>
          <p:nvPr/>
        </p:nvSpPr>
        <p:spPr>
          <a:xfrm>
            <a:off x="548640" y="1673352"/>
            <a:ext cx="8046720" cy="458317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quote-text-premise"/>
          <p:cNvSpPr txBox="1"/>
          <p:nvPr/>
        </p:nvSpPr>
        <p:spPr>
          <a:xfrm>
            <a:off x="726440" y="1741678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303437"/>
                </a:solidFill>
                <a:latin typeface="Liberation Sans"/>
              </a:defRPr>
              <a:buNone/>
            </a:pPr>
            <a:r>
              <a:rPr sz="1800" lang="en-US">
                <a:solidFill>
                  <a:srgbClr val="303437"/>
                </a:solidFill>
                <a:latin typeface="Liberation Sans"/>
                <a:ea typeface="Liberation Sans"/>
              </a:rPr>
              <a:t>Three firefighter come out of subway station.</a:t>
            </a:r>
            <a:endParaRPr sz="1800" lang="en-US"/>
            <a:endParaRPr sz="1800"/>
          </a:p>
        </p:txBody>
      </p:sp>
      <p:sp>
        <p:nvSpPr>
          <p:cNvPr id="7" name="TextBox 6"/>
          <p:cNvSpPr txBox="1"/>
          <p:nvPr/>
        </p:nvSpPr>
        <p:spPr>
          <a:xfrm>
            <a:off x="548640" y="2259685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626669"/>
                </a:solidFill>
                <a:latin typeface="Noto Sans CJK JP"/>
              </a:defRPr>
            </a:pPr>
            <a:r>
              <a:rPr sz="1400" b="0" lang="ja-JP">
                <a:solidFill>
                  <a:srgbClr val="626669"/>
                </a:solidFill>
                <a:latin typeface="Noto Sans CJK JP"/>
                <a:ea typeface="Noto Sans CJK JP"/>
              </a:rPr>
              <a:t>仮説文</a:t>
            </a:r>
            <a:endParaRPr sz="1400" lang="ja-JP"/>
          </a:p>
        </p:txBody>
      </p:sp>
      <p:sp>
        <p:nvSpPr>
          <p:cNvPr id="8" name="quote-frame-hypothesis"/>
          <p:cNvSpPr/>
          <p:nvPr/>
        </p:nvSpPr>
        <p:spPr>
          <a:xfrm>
            <a:off x="548640" y="2561437"/>
            <a:ext cx="8046720" cy="458317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quote-text-hypothesis"/>
          <p:cNvSpPr txBox="1"/>
          <p:nvPr/>
        </p:nvSpPr>
        <p:spPr>
          <a:xfrm>
            <a:off x="726440" y="2629763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303437"/>
                </a:solidFill>
                <a:latin typeface="Liberation Sans"/>
              </a:defRPr>
              <a:buNone/>
            </a:pPr>
            <a:r>
              <a:rPr sz="1800" lang="en-US">
                <a:solidFill>
                  <a:srgbClr val="303437"/>
                </a:solidFill>
                <a:latin typeface="Liberation Sans"/>
                <a:ea typeface="Liberation Sans"/>
              </a:rPr>
              <a:t>Three firefighters putting out a fire inside of a subway station.</a:t>
            </a:r>
            <a:endParaRPr sz="1800" lang="en-US"/>
            <a:endParaRPr sz="1800"/>
          </a:p>
        </p:txBody>
      </p:sp>
      <p:sp>
        <p:nvSpPr>
          <p:cNvPr id="10" name="TextBox 9"/>
          <p:cNvSpPr txBox="1"/>
          <p:nvPr/>
        </p:nvSpPr>
        <p:spPr>
          <a:xfrm>
            <a:off x="548640" y="3147771"/>
            <a:ext cx="8046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B13731"/>
                </a:solidFill>
                <a:latin typeface="Noto Sans CJK JP"/>
              </a:defRPr>
            </a:pPr>
            <a:r>
              <a:rPr sz="2100" b="0" lang="ja-JP">
                <a:solidFill>
                  <a:srgbClr val="B13731"/>
                </a:solidFill>
                <a:latin typeface="Noto Sans CJK JP"/>
                <a:ea typeface="Noto Sans CJK JP"/>
              </a:rPr>
              <a:t>正解は中立</a:t>
            </a:r>
            <a:endParaRPr sz="2100" lang="ja-JP"/>
          </a:p>
        </p:txBody>
      </p:sp>
      <p:sp>
        <p:nvSpPr>
          <p:cNvPr id="11" name="TextBox 10"/>
          <p:cNvSpPr txBox="1"/>
          <p:nvPr/>
        </p:nvSpPr>
        <p:spPr>
          <a:xfrm>
            <a:off x="548640" y="3531819"/>
            <a:ext cx="8046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303437"/>
                </a:solidFill>
                <a:latin typeface="Noto Sans CJK JP"/>
              </a:defRPr>
              <a:buNone/>
            </a:pPr>
            <a:r>
              <a:rPr sz="1900" lang="ja-JP">
                <a:solidFill>
                  <a:srgbClr val="303437"/>
                </a:solidFill>
                <a:latin typeface="Noto Sans CJK JP"/>
                <a:ea typeface="Noto Sans CJK JP"/>
              </a:rPr>
              <a:t>消防士が駅を出ることから、消火しているとは限らない。</a:t>
            </a:r>
            <a:endParaRPr sz="1900" lang="ja-JP"/>
            <a:endParaRPr sz="1900"/>
          </a:p>
        </p:txBody>
      </p:sp>
      <p:sp>
        <p:nvSpPr>
          <p:cNvPr id="12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SNLI 1.0公式データ. https://nlp.stanford.edu/projects/snli/  文対ID 4679111230.jpg#2r1n</a:t>
            </a:r>
            <a:endParaRPr sz="85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303437"/>
                </a:solidFill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追加例10 中立</a:t>
            </a:r>
            <a:endParaRPr sz="2800" lang="ja-JP"/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EF8"/>
                </a:solidFill>
                <a:latin typeface="Noto Sans CJK JP"/>
              </a:defRPr>
            </a:pPr>
            <a:r>
              <a:rPr sz="1400" b="1" lang="ja-JP">
                <a:solidFill>
                  <a:srgbClr val="FFFEF8"/>
                </a:solidFill>
                <a:latin typeface="Noto Sans CJK JP"/>
                <a:ea typeface="Noto Sans CJK JP"/>
              </a:rPr>
              <a:t>Appendix: 2 追加の実例</a:t>
            </a:r>
            <a:endParaRPr sz="1400" lang="ja-JP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626669"/>
                </a:solidFill>
                <a:latin typeface="Noto Sans CJK JP"/>
              </a:defRPr>
            </a:pPr>
            <a:r>
              <a:rPr sz="1400" b="0" lang="ja-JP">
                <a:solidFill>
                  <a:srgbClr val="626669"/>
                </a:solidFill>
                <a:latin typeface="Noto Sans CJK JP"/>
                <a:ea typeface="Noto Sans CJK JP"/>
              </a:rPr>
              <a:t>前提文</a:t>
            </a:r>
            <a:endParaRPr sz="1400" lang="ja-JP"/>
          </a:p>
        </p:txBody>
      </p:sp>
      <p:sp>
        <p:nvSpPr>
          <p:cNvPr id="5" name="quote-frame-premise"/>
          <p:cNvSpPr/>
          <p:nvPr/>
        </p:nvSpPr>
        <p:spPr>
          <a:xfrm>
            <a:off x="548640" y="1673352"/>
            <a:ext cx="8046720" cy="744067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quote-text-premise"/>
          <p:cNvSpPr txBox="1"/>
          <p:nvPr/>
        </p:nvSpPr>
        <p:spPr>
          <a:xfrm>
            <a:off x="726440" y="1741678"/>
            <a:ext cx="7691120" cy="6424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303437"/>
                </a:solidFill>
                <a:latin typeface="Liberation Sans"/>
              </a:defRPr>
              <a:buNone/>
            </a:pPr>
            <a:r>
              <a:rPr sz="1800" lang="en-US">
                <a:solidFill>
                  <a:srgbClr val="303437"/>
                </a:solidFill>
                <a:latin typeface="Liberation Sans"/>
                <a:ea typeface="Liberation Sans"/>
              </a:rPr>
              <a:t>This church choir sings to the masses as they sing joyous songs from the book at a church.</a:t>
            </a:r>
            <a:endParaRPr sz="1800" lang="en-US"/>
            <a:endParaRPr sz="1800"/>
          </a:p>
        </p:txBody>
      </p:sp>
      <p:sp>
        <p:nvSpPr>
          <p:cNvPr id="7" name="TextBox 6"/>
          <p:cNvSpPr txBox="1"/>
          <p:nvPr/>
        </p:nvSpPr>
        <p:spPr>
          <a:xfrm>
            <a:off x="548640" y="2545435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626669"/>
                </a:solidFill>
                <a:latin typeface="Noto Sans CJK JP"/>
              </a:defRPr>
            </a:pPr>
            <a:r>
              <a:rPr sz="1400" b="0" lang="ja-JP">
                <a:solidFill>
                  <a:srgbClr val="626669"/>
                </a:solidFill>
                <a:latin typeface="Noto Sans CJK JP"/>
                <a:ea typeface="Noto Sans CJK JP"/>
              </a:rPr>
              <a:t>仮説文</a:t>
            </a:r>
            <a:endParaRPr sz="1400" lang="ja-JP"/>
          </a:p>
        </p:txBody>
      </p:sp>
      <p:sp>
        <p:nvSpPr>
          <p:cNvPr id="8" name="quote-frame-hypothesis"/>
          <p:cNvSpPr/>
          <p:nvPr/>
        </p:nvSpPr>
        <p:spPr>
          <a:xfrm>
            <a:off x="548640" y="2847187"/>
            <a:ext cx="8046720" cy="458317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quote-text-hypothesis"/>
          <p:cNvSpPr txBox="1"/>
          <p:nvPr/>
        </p:nvSpPr>
        <p:spPr>
          <a:xfrm>
            <a:off x="726440" y="2915513"/>
            <a:ext cx="7691120" cy="35671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303437"/>
                </a:solidFill>
                <a:latin typeface="Liberation Sans"/>
              </a:defRPr>
              <a:buNone/>
            </a:pPr>
            <a:r>
              <a:rPr sz="1800" lang="en-US">
                <a:solidFill>
                  <a:srgbClr val="303437"/>
                </a:solidFill>
                <a:latin typeface="Liberation Sans"/>
                <a:ea typeface="Liberation Sans"/>
              </a:rPr>
              <a:t>The church has cracks in the ceiling.</a:t>
            </a:r>
            <a:endParaRPr sz="1800" lang="en-US"/>
            <a:endParaRPr sz="1800"/>
          </a:p>
        </p:txBody>
      </p:sp>
      <p:sp>
        <p:nvSpPr>
          <p:cNvPr id="10" name="TextBox 9"/>
          <p:cNvSpPr txBox="1"/>
          <p:nvPr/>
        </p:nvSpPr>
        <p:spPr>
          <a:xfrm>
            <a:off x="548640" y="3433521"/>
            <a:ext cx="80467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B13731"/>
                </a:solidFill>
                <a:latin typeface="Noto Sans CJK JP"/>
              </a:defRPr>
            </a:pPr>
            <a:r>
              <a:rPr sz="2100" b="0" lang="ja-JP">
                <a:solidFill>
                  <a:srgbClr val="B13731"/>
                </a:solidFill>
                <a:latin typeface="Noto Sans CJK JP"/>
                <a:ea typeface="Noto Sans CJK JP"/>
              </a:rPr>
              <a:t>正解は中立</a:t>
            </a:r>
            <a:endParaRPr sz="2100" lang="ja-JP"/>
          </a:p>
        </p:txBody>
      </p:sp>
      <p:sp>
        <p:nvSpPr>
          <p:cNvPr id="11" name="TextBox 10"/>
          <p:cNvSpPr txBox="1"/>
          <p:nvPr/>
        </p:nvSpPr>
        <p:spPr>
          <a:xfrm>
            <a:off x="548640" y="3817569"/>
            <a:ext cx="8046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303437"/>
                </a:solidFill>
                <a:latin typeface="Noto Sans CJK JP"/>
              </a:defRPr>
              <a:buNone/>
            </a:pPr>
            <a:r>
              <a:rPr sz="1900" lang="ja-JP">
                <a:solidFill>
                  <a:srgbClr val="303437"/>
                </a:solidFill>
                <a:latin typeface="Noto Sans CJK JP"/>
                <a:ea typeface="Noto Sans CJK JP"/>
              </a:rPr>
              <a:t>合唱の説明からは、天井のひびの有無は分からない。</a:t>
            </a:r>
            <a:endParaRPr sz="1900" lang="ja-JP"/>
            <a:endParaRPr sz="1900"/>
          </a:p>
        </p:txBody>
      </p:sp>
      <p:sp>
        <p:nvSpPr>
          <p:cNvPr id="12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SNLI 1.0公式データ. https://nlp.stanford.edu/projects/snli/  文対ID 2677109430.jpg#1r1n</a:t>
            </a:r>
            <a:endParaRPr sz="85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303437"/>
                </a:solidFill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統計と実例の対象範囲</a:t>
            </a:r>
            <a:endParaRPr sz="2800" lang="ja-JP"/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EF8"/>
                </a:solidFill>
                <a:latin typeface="Noto Sans CJK JP"/>
              </a:defRPr>
            </a:pPr>
            <a:r>
              <a:rPr sz="1400" b="1" lang="ja-JP">
                <a:solidFill>
                  <a:srgbClr val="FFFEF8"/>
                </a:solidFill>
                <a:latin typeface="Noto Sans CJK JP"/>
                <a:ea typeface="Noto Sans CJK JP"/>
              </a:rPr>
              <a:t>Appendix: 3 データの件数と集計条件</a:t>
            </a:r>
            <a:endParaRPr sz="1400" lang="ja-JP"/>
          </a:p>
        </p:txBody>
      </p:sp>
      <p:sp>
        <p:nvSpPr>
          <p:cNvPr id="4" name="body"/>
          <p:cNvSpPr txBox="1"/>
          <p:nvPr/>
        </p:nvSpPr>
        <p:spPr>
          <a:xfrm>
            <a:off x="594360" y="1490472"/>
            <a:ext cx="7955279" cy="30906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03200" indent="-1524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000" b="0">
                <a:solidFill>
                  <a:srgbClr val="303437"/>
                </a:solidFill>
                <a:latin typeface="Noto Sans CJK JP"/>
              </a:defRPr>
              <a:buChar char="•"/>
            </a:pPr>
            <a:r>
              <a:rPr sz="2000" lang="ja-JP">
                <a:solidFill>
                  <a:srgbClr val="303437"/>
                </a:solidFill>
                <a:latin typeface="Noto Sans CJK JP"/>
                <a:ea typeface="Noto Sans CJK JP"/>
              </a:rPr>
              <a:t>集計対象は、SNLI 1.0の公式データに含まれる文対である </a:t>
            </a:r>
            <a:r>
              <a:rPr sz="2000" lang="ja-JP">
                <a:solidFill>
                  <a:srgbClr val="303437"/>
                </a:solidFill>
                <a:latin typeface="Noto Sans CJK JP"/>
                <a:ea typeface="Noto Sans CJK JP"/>
              </a:rPr>
              <a:t>[1]</a:t>
            </a:r>
            <a:r>
              <a:rPr sz="2000" lang="ja-JP">
                <a:solidFill>
                  <a:srgbClr val="303437"/>
                </a:solidFill>
                <a:latin typeface="Noto Sans CJK JP"/>
                <a:ea typeface="Noto Sans CJK JP"/>
              </a:rPr>
              <a:t>。</a:t>
            </a:r>
            <a:endParaRPr sz="2000" lang="ja-JP"/>
            <a:endParaRPr sz="2000"/>
          </a:p>
          <a:p>
            <a:pPr algn="l" lvl="1" marL="482600" indent="-1270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000">
                <a:latin typeface="Noto Sans CJK JP"/>
              </a:defRPr>
              <a:buChar char="○"/>
            </a:pPr>
            <a:r>
              <a:rPr sz="2000" lang="ja-JP">
                <a:solidFill>
                  <a:srgbClr val="303437"/>
                </a:solidFill>
                <a:latin typeface="Noto Sans CJK JP"/>
                <a:ea typeface="Noto Sans CJK JP"/>
              </a:rPr>
              <a:t>正解付き569,033組を使い、ラベルが「-」の組は除く。</a:t>
            </a:r>
            <a:endParaRPr sz="2000"/>
          </a:p>
          <a:p>
            <a:pPr algn="l" marL="203200" indent="-1524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000">
                <a:latin typeface="Noto Sans CJK JP"/>
              </a:defRPr>
              <a:buChar char="•"/>
            </a:pPr>
            <a:r>
              <a:rPr sz="2000" lang="ja-JP">
                <a:solidFill>
                  <a:srgbClr val="303437"/>
                </a:solidFill>
                <a:latin typeface="Noto Sans CJK JP"/>
                <a:ea typeface="Noto Sans CJK JP"/>
              </a:rPr>
              <a:t>sentence1とsentence2を加工せずに数えた。</a:t>
            </a:r>
            <a:endParaRPr sz="2000"/>
          </a:p>
          <a:p>
            <a:pPr algn="l" lvl="1" marL="482600" indent="-1270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000">
                <a:latin typeface="Noto Sans CJK JP"/>
              </a:defRPr>
              <a:buChar char="○"/>
            </a:pPr>
            <a:r>
              <a:rPr sz="2000" lang="ja-JP">
                <a:solidFill>
                  <a:srgbClr val="303437"/>
                </a:solidFill>
                <a:latin typeface="Noto Sans CJK JP"/>
                <a:ea typeface="Noto Sans CJK JP"/>
              </a:rPr>
              <a:t>Pythonのlen()で空白・句読点を含むUnicode文字を数える。</a:t>
            </a:r>
            <a:endParaRPr sz="2000"/>
          </a:p>
          <a:p>
            <a:pPr algn="l" lvl="1" marL="482600" indent="-1270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000">
                <a:latin typeface="Noto Sans CJK JP"/>
              </a:defRPr>
              <a:buChar char="○"/>
            </a:pPr>
            <a:r>
              <a:rPr sz="2000" lang="ja-JP">
                <a:solidFill>
                  <a:srgbClr val="303437"/>
                </a:solidFill>
                <a:latin typeface="Noto Sans CJK JP"/>
                <a:ea typeface="Noto Sans CJK JP"/>
              </a:rPr>
              <a:t>str.split()で空白区切りの単語を数える。</a:t>
            </a:r>
            <a:endParaRPr sz="2000"/>
          </a:p>
          <a:p>
            <a:pPr algn="l" marL="203200" indent="-1524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000">
                <a:latin typeface="Noto Sans CJK JP"/>
              </a:defRPr>
              <a:buChar char="•"/>
            </a:pPr>
            <a:r>
              <a:rPr sz="2000" lang="ja-JP">
                <a:solidFill>
                  <a:srgbClr val="303437"/>
                </a:solidFill>
                <a:latin typeface="Noto Sans CJK JP"/>
                <a:ea typeface="Noto Sans CJK JP"/>
              </a:rPr>
              <a:t>前提は文対ごとに繰り返し数える。</a:t>
            </a:r>
            <a:endParaRPr sz="2000"/>
          </a:p>
        </p:txBody>
      </p:sp>
      <p:sp>
        <p:nvSpPr>
          <p:cNvPr id="5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SNLI 1.0公式データ. https://nlp.stanford.edu/projects/snli/</a:t>
            </a:r>
            <a:endParaRPr sz="85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303437"/>
                </a:solidFill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正解ラベル付きのクラス別件数</a:t>
            </a:r>
            <a:endParaRPr sz="2800" lang="ja-JP"/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EF8"/>
                </a:solidFill>
                <a:latin typeface="Noto Sans CJK JP"/>
              </a:defRPr>
            </a:pPr>
            <a:r>
              <a:rPr sz="1400" b="1" lang="ja-JP">
                <a:solidFill>
                  <a:srgbClr val="FFFEF8"/>
                </a:solidFill>
                <a:latin typeface="Noto Sans CJK JP"/>
                <a:ea typeface="Noto Sans CJK JP"/>
              </a:rPr>
              <a:t>Appendix: 3 データの件数と集計条件</a:t>
            </a:r>
            <a:endParaRPr sz="1400" lang="ja-JP"/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554480"/>
          <a:ext cx="804672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1554480"/>
                <a:gridCol w="1554480"/>
                <a:gridCol w="1554480"/>
                <a:gridCol w="1828800"/>
              </a:tblGrid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分割</a:t>
                      </a:r>
                      <a:endParaRPr sz="22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含意</a:t>
                      </a:r>
                      <a:endParaRPr sz="22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中立</a:t>
                      </a:r>
                      <a:endParaRPr sz="22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矛盾</a:t>
                      </a:r>
                      <a:endParaRPr sz="22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合計</a:t>
                      </a:r>
                      <a:endParaRPr sz="22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学習用</a:t>
                      </a:r>
                      <a:endParaRPr sz="22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183,416</a:t>
                      </a:r>
                      <a:endParaRPr sz="22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182,764</a:t>
                      </a:r>
                      <a:endParaRPr sz="22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183,187</a:t>
                      </a:r>
                      <a:endParaRPr sz="22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549,367</a:t>
                      </a:r>
                      <a:endParaRPr sz="22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開発用</a:t>
                      </a:r>
                      <a:endParaRPr sz="22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3,329</a:t>
                      </a:r>
                      <a:endParaRPr sz="22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3,235</a:t>
                      </a:r>
                      <a:endParaRPr sz="22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3,278</a:t>
                      </a:r>
                      <a:endParaRPr sz="22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9,842</a:t>
                      </a:r>
                      <a:endParaRPr sz="22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テスト用</a:t>
                      </a:r>
                      <a:endParaRPr sz="22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3,368</a:t>
                      </a:r>
                      <a:endParaRPr sz="22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3,219</a:t>
                      </a:r>
                      <a:endParaRPr sz="22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3,237</a:t>
                      </a:r>
                      <a:endParaRPr sz="22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9,824</a:t>
                      </a:r>
                      <a:endParaRPr sz="22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5" name="table-caption"/>
          <p:cNvSpPr txBox="1"/>
          <p:nvPr/>
        </p:nvSpPr>
        <p:spPr>
          <a:xfrm>
            <a:off x="594360" y="3743960"/>
            <a:ext cx="7955279" cy="8371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303437"/>
                </a:solidFill>
                <a:latin typeface="Noto Sans CJK JP"/>
              </a:defRPr>
              <a:buNone/>
            </a:pPr>
            <a:r>
              <a:rPr sz="1700" lang="ja-JP">
                <a:solidFill>
                  <a:srgbClr val="303437"/>
                </a:solidFill>
                <a:latin typeface="Noto Sans CJK JP"/>
                <a:ea typeface="Noto Sans CJK JP"/>
              </a:rPr>
              <a:t>ラベルが付いた569,033組を集計。各クラスは約3分の1となる。</a:t>
            </a:r>
            <a:endParaRPr sz="1700" lang="ja-JP"/>
            <a:endParaRPr sz="1700"/>
          </a:p>
        </p:txBody>
      </p:sp>
      <p:sp>
        <p:nvSpPr>
          <p:cNvPr id="6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SNLI 1.0公式データ. https://nlp.stanford.edu/projects/snli/</a:t>
            </a:r>
            <a:endParaRPr sz="85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303437"/>
                </a:solidFill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文対数と前提文の種類数は異なる</a:t>
            </a:r>
            <a:endParaRPr sz="2800" lang="ja-JP"/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EF8"/>
                </a:solidFill>
                <a:latin typeface="Noto Sans CJK JP"/>
              </a:defRPr>
            </a:pPr>
            <a:r>
              <a:rPr sz="1400" b="1" lang="ja-JP">
                <a:solidFill>
                  <a:srgbClr val="FFFEF8"/>
                </a:solidFill>
                <a:latin typeface="Noto Sans CJK JP"/>
                <a:ea typeface="Noto Sans CJK JP"/>
              </a:rPr>
              <a:t>Appendix: 3 データの件数と集計条件</a:t>
            </a:r>
            <a:endParaRPr sz="1400" lang="ja-JP"/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554480"/>
          <a:ext cx="804672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2926080"/>
                <a:gridCol w="2926080"/>
              </a:tblGrid>
              <a:tr h="45720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分割</a:t>
                      </a:r>
                      <a:endParaRPr sz="20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正解付き文対</a:t>
                      </a:r>
                      <a:endParaRPr sz="20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異なる前提文字列</a:t>
                      </a:r>
                      <a:endParaRPr sz="20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</a:tr>
              <a:tr h="45720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学習用</a:t>
                      </a:r>
                      <a:endParaRPr sz="20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549,367</a:t>
                      </a:r>
                      <a:endParaRPr sz="20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150,736</a:t>
                      </a:r>
                      <a:endParaRPr sz="20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45720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開発用</a:t>
                      </a:r>
                      <a:endParaRPr sz="20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9,842</a:t>
                      </a:r>
                      <a:endParaRPr sz="20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3,319</a:t>
                      </a:r>
                      <a:endParaRPr sz="20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45720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テスト用</a:t>
                      </a:r>
                      <a:endParaRPr sz="20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9,824</a:t>
                      </a:r>
                      <a:endParaRPr sz="20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0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20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3,323</a:t>
                      </a:r>
                      <a:endParaRPr sz="20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5" name="table-caption"/>
          <p:cNvSpPr txBox="1"/>
          <p:nvPr/>
        </p:nvSpPr>
        <p:spPr>
          <a:xfrm>
            <a:off x="594360" y="3561080"/>
            <a:ext cx="7955279" cy="10200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303437"/>
                </a:solidFill>
                <a:latin typeface="Noto Sans CJK JP"/>
              </a:defRPr>
              <a:buNone/>
            </a:pPr>
            <a:r>
              <a:rPr sz="1700" lang="ja-JP">
                <a:solidFill>
                  <a:srgbClr val="303437"/>
                </a:solidFill>
                <a:latin typeface="Noto Sans CJK JP"/>
                <a:ea typeface="Noto Sans CJK JP"/>
              </a:rPr>
              <a:t>同じ前提から複数の仮説が作られるため、前提は繰り返し現れる。種類数は完全一致の文字列数。写真数や説明文ID数とは異なる。</a:t>
            </a:r>
            <a:endParaRPr sz="1700" lang="ja-JP"/>
            <a:endParaRPr sz="1700"/>
          </a:p>
        </p:txBody>
      </p:sp>
      <p:sp>
        <p:nvSpPr>
          <p:cNvPr id="6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SNLI 1.0公式データ. https://nlp.stanford.edu/projects/snli/</a:t>
            </a:r>
            <a:endParaRPr sz="85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303437"/>
                </a:solidFill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単語数の記述統計</a:t>
            </a:r>
            <a:endParaRPr sz="2800" lang="ja-JP"/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EF8"/>
                </a:solidFill>
                <a:latin typeface="Noto Sans CJK JP"/>
              </a:defRPr>
            </a:pPr>
            <a:r>
              <a:rPr sz="1400" b="1" lang="ja-JP">
                <a:solidFill>
                  <a:srgbClr val="FFFEF8"/>
                </a:solidFill>
                <a:latin typeface="Noto Sans CJK JP"/>
                <a:ea typeface="Noto Sans CJK JP"/>
              </a:rPr>
              <a:t>Appendix: 3 文の長さの統計</a:t>
            </a:r>
            <a:endParaRPr sz="1400" lang="ja-JP"/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554480"/>
          <a:ext cx="8046720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960120"/>
                <a:gridCol w="1097280"/>
                <a:gridCol w="777240"/>
                <a:gridCol w="777240"/>
                <a:gridCol w="1005840"/>
                <a:gridCol w="777240"/>
                <a:gridCol w="868680"/>
                <a:gridCol w="868680"/>
              </a:tblGrid>
              <a:tr h="41148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文</a:t>
                      </a:r>
                      <a:endParaRPr sz="16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平均</a:t>
                      </a:r>
                      <a:endParaRPr sz="16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標準偏差</a:t>
                      </a:r>
                      <a:endParaRPr sz="16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最小</a:t>
                      </a:r>
                      <a:endParaRPr sz="16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25%</a:t>
                      </a:r>
                      <a:endParaRPr sz="16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中央</a:t>
                      </a:r>
                      <a:endParaRPr sz="16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75%</a:t>
                      </a:r>
                      <a:endParaRPr sz="16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95%</a:t>
                      </a:r>
                      <a:endParaRPr sz="16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最大</a:t>
                      </a:r>
                      <a:endParaRPr sz="16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</a:tr>
              <a:tr h="41148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前提</a:t>
                      </a:r>
                      <a:endParaRPr sz="16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12.89</a:t>
                      </a:r>
                      <a:endParaRPr sz="16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5.68</a:t>
                      </a:r>
                      <a:endParaRPr sz="16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2</a:t>
                      </a:r>
                      <a:endParaRPr sz="16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9</a:t>
                      </a:r>
                      <a:endParaRPr sz="16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12</a:t>
                      </a:r>
                      <a:endParaRPr sz="16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16</a:t>
                      </a:r>
                      <a:endParaRPr sz="16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23</a:t>
                      </a:r>
                      <a:endParaRPr sz="16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78</a:t>
                      </a:r>
                      <a:endParaRPr sz="16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41148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仮説</a:t>
                      </a:r>
                      <a:endParaRPr sz="16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7.42</a:t>
                      </a:r>
                      <a:endParaRPr sz="16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3.07</a:t>
                      </a:r>
                      <a:endParaRPr sz="16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1</a:t>
                      </a:r>
                      <a:endParaRPr sz="16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5</a:t>
                      </a:r>
                      <a:endParaRPr sz="16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7</a:t>
                      </a:r>
                      <a:endParaRPr sz="16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9</a:t>
                      </a:r>
                      <a:endParaRPr sz="16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13</a:t>
                      </a:r>
                      <a:endParaRPr sz="16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56</a:t>
                      </a:r>
                      <a:endParaRPr sz="16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5" name="table-caption"/>
          <p:cNvSpPr txBox="1"/>
          <p:nvPr/>
        </p:nvSpPr>
        <p:spPr>
          <a:xfrm>
            <a:off x="594360" y="2966720"/>
            <a:ext cx="7955279" cy="16144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defRPr sz="1700" b="0">
                <a:solidFill>
                  <a:srgbClr val="303437"/>
                </a:solidFill>
                <a:latin typeface="Noto Sans CJK JP"/>
              </a:defRPr>
            </a:pPr>
            <a:r>
              <a:rPr sz="1700" b="0" lang="ja-JP">
                <a:solidFill>
                  <a:srgbClr val="303437"/>
                </a:solidFill>
                <a:latin typeface="Noto Sans CJK JP"/>
                <a:ea typeface="Noto Sans CJK JP"/>
              </a:rPr>
              <a:t>569,033組を集計。標準偏差は母標準偏差（分母N）。</a:t>
            </a:r>
            <a:endParaRPr sz="1700" lang="ja-JP"/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defRPr sz="1700" b="0">
                <a:solidFill>
                  <a:srgbClr val="303437"/>
                </a:solidFill>
                <a:latin typeface="Noto Sans CJK JP"/>
              </a:defRPr>
            </a:pPr>
            <a:r>
              <a:rPr sz="1700" b="0" lang="ja-JP">
                <a:solidFill>
                  <a:srgbClr val="303437"/>
                </a:solidFill>
                <a:latin typeface="Noto Sans CJK JP"/>
                <a:ea typeface="Noto Sans CJK JP"/>
              </a:rPr>
              <a:t>前提を文対ごとに数える。</a:t>
            </a:r>
            <a:endParaRPr sz="1700" lang="ja-JP"/>
          </a:p>
        </p:txBody>
      </p:sp>
      <p:sp>
        <p:nvSpPr>
          <p:cNvPr id="6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SNLI 1.0公式データ. https://nlp.stanford.edu/projects/snli/</a:t>
            </a:r>
            <a:endParaRPr sz="85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303437"/>
                </a:solidFill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文字数の記述統計</a:t>
            </a:r>
            <a:endParaRPr sz="2800" lang="ja-JP"/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EF8"/>
                </a:solidFill>
                <a:latin typeface="Noto Sans CJK JP"/>
              </a:defRPr>
            </a:pPr>
            <a:r>
              <a:rPr sz="1400" b="1" lang="ja-JP">
                <a:solidFill>
                  <a:srgbClr val="FFFEF8"/>
                </a:solidFill>
                <a:latin typeface="Noto Sans CJK JP"/>
                <a:ea typeface="Noto Sans CJK JP"/>
              </a:rPr>
              <a:t>Appendix: 3 文の長さの統計</a:t>
            </a:r>
            <a:endParaRPr sz="1400" lang="ja-JP"/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554480"/>
          <a:ext cx="8046720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960120"/>
                <a:gridCol w="1097280"/>
                <a:gridCol w="777240"/>
                <a:gridCol w="777240"/>
                <a:gridCol w="1005840"/>
                <a:gridCol w="777240"/>
                <a:gridCol w="868680"/>
                <a:gridCol w="868680"/>
              </a:tblGrid>
              <a:tr h="41148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文</a:t>
                      </a:r>
                      <a:endParaRPr sz="16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平均</a:t>
                      </a:r>
                      <a:endParaRPr sz="16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標準偏差</a:t>
                      </a:r>
                      <a:endParaRPr sz="16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最小</a:t>
                      </a:r>
                      <a:endParaRPr sz="16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25%</a:t>
                      </a:r>
                      <a:endParaRPr sz="16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中央</a:t>
                      </a:r>
                      <a:endParaRPr sz="16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75%</a:t>
                      </a:r>
                      <a:endParaRPr sz="16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95%</a:t>
                      </a:r>
                      <a:endParaRPr sz="16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最大</a:t>
                      </a:r>
                      <a:endParaRPr sz="16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</a:tr>
              <a:tr h="41148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前提</a:t>
                      </a:r>
                      <a:endParaRPr sz="16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66.48</a:t>
                      </a:r>
                      <a:endParaRPr sz="16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29.52</a:t>
                      </a:r>
                      <a:endParaRPr sz="16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7</a:t>
                      </a:r>
                      <a:endParaRPr sz="16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46</a:t>
                      </a:r>
                      <a:endParaRPr sz="16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60</a:t>
                      </a:r>
                      <a:endParaRPr sz="16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81</a:t>
                      </a:r>
                      <a:endParaRPr sz="16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121</a:t>
                      </a:r>
                      <a:endParaRPr sz="16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402</a:t>
                      </a:r>
                      <a:endParaRPr sz="16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41148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仮説</a:t>
                      </a:r>
                      <a:endParaRPr sz="16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37.49</a:t>
                      </a:r>
                      <a:endParaRPr sz="16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15.88</a:t>
                      </a:r>
                      <a:endParaRPr sz="16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1</a:t>
                      </a:r>
                      <a:endParaRPr sz="16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26</a:t>
                      </a:r>
                      <a:endParaRPr sz="16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34</a:t>
                      </a:r>
                      <a:endParaRPr sz="16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45</a:t>
                      </a:r>
                      <a:endParaRPr sz="16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68</a:t>
                      </a:r>
                      <a:endParaRPr sz="16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16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16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295</a:t>
                      </a:r>
                      <a:endParaRPr sz="16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5" name="table-caption"/>
          <p:cNvSpPr txBox="1"/>
          <p:nvPr/>
        </p:nvSpPr>
        <p:spPr>
          <a:xfrm>
            <a:off x="594360" y="2966720"/>
            <a:ext cx="7955279" cy="16144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defRPr sz="1700" b="0">
                <a:solidFill>
                  <a:srgbClr val="303437"/>
                </a:solidFill>
                <a:latin typeface="Noto Sans CJK JP"/>
              </a:defRPr>
            </a:pPr>
            <a:r>
              <a:rPr sz="1700" b="0" lang="ja-JP">
                <a:solidFill>
                  <a:srgbClr val="303437"/>
                </a:solidFill>
                <a:latin typeface="Noto Sans CJK JP"/>
                <a:ea typeface="Noto Sans CJK JP"/>
              </a:rPr>
              <a:t>569,033組を集計。標準偏差は母標準偏差（分母N）。</a:t>
            </a:r>
            <a:endParaRPr sz="1700" lang="ja-JP"/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defRPr sz="1700" b="0">
                <a:solidFill>
                  <a:srgbClr val="303437"/>
                </a:solidFill>
                <a:latin typeface="Noto Sans CJK JP"/>
              </a:defRPr>
            </a:pPr>
            <a:r>
              <a:rPr sz="1700" b="0" lang="ja-JP">
                <a:solidFill>
                  <a:srgbClr val="303437"/>
                </a:solidFill>
                <a:latin typeface="Noto Sans CJK JP"/>
                <a:ea typeface="Noto Sans CJK JP"/>
              </a:rPr>
              <a:t>前提を文対ごとに数える。</a:t>
            </a:r>
            <a:endParaRPr sz="1700" lang="ja-JP"/>
          </a:p>
        </p:txBody>
      </p:sp>
      <p:sp>
        <p:nvSpPr>
          <p:cNvPr id="6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SNLI 1.0公式データ. https://nlp.stanford.edu/projects/snli/</a:t>
            </a:r>
            <a:endParaRPr sz="85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2800" b="1">
                <a:solidFill>
                  <a:srgbClr val="303437"/>
                </a:solidFill>
                <a:latin typeface="Noto Sans CJK JP"/>
              </a:defRPr>
              <a:spcAft>
                <a:spcPts val="70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 CJK JP"/>
                <a:ea typeface="Noto Sans CJK JP"/>
              </a:rPr>
              <a:t>前提文の文字数の分布</a:t>
            </a:r>
            <a:endParaRPr sz="2800" lang="ja-JP"/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EF8"/>
                </a:solidFill>
                <a:latin typeface="Noto Sans CJK JP"/>
              </a:defRPr>
            </a:pPr>
            <a:r>
              <a:rPr sz="1400" b="1" lang="ja-JP">
                <a:solidFill>
                  <a:srgbClr val="FFFEF8"/>
                </a:solidFill>
                <a:latin typeface="Noto Sans CJK JP"/>
                <a:ea typeface="Noto Sans CJK JP"/>
              </a:rPr>
              <a:t>Appendix: 3 前提文の長さ</a:t>
            </a:r>
            <a:endParaRPr sz="1400" lang="ja-JP"/>
          </a:p>
        </p:txBody>
      </p:sp>
      <p:pic>
        <p:nvPicPr>
          <p:cNvPr id="4" name="Picture 3" descr="snli-p_cha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371600"/>
            <a:ext cx="8046720" cy="2743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94360" y="4169663"/>
            <a:ext cx="7955279" cy="4846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defRPr sz="1700">
                <a:latin typeface="Noto Sans CJK JP"/>
              </a:defRPr>
              <a:buNone/>
            </a:pPr>
            <a:r>
              <a:rPr sz="1700" lang="ja-JP">
                <a:solidFill>
                  <a:srgbClr val="303437"/>
                </a:solidFill>
                <a:latin typeface="Noto Sans CJK JP"/>
                <a:ea typeface="Noto Sans CJK JP"/>
              </a:rPr>
              <a:t>平均66.48文字、中央値60文字、最大402文字。</a:t>
            </a:r>
          </a:p>
        </p:txBody>
      </p:sp>
      <p:sp>
        <p:nvSpPr>
          <p:cNvPr id="6" name="lookup-sources"/>
          <p:cNvSpPr txBox="1"/>
          <p:nvPr/>
        </p:nvSpPr>
        <p:spPr>
          <a:xfrm>
            <a:off x="502920" y="4773168"/>
            <a:ext cx="818387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defRPr sz="850">
                <a:latin typeface="Noto Sans CJK JP"/>
              </a:defRPr>
              <a:spcAft>
                <a:spcPts val="0"/>
              </a:spcAft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 SNLI 1.0. https://nlp.stanford.edu/projects/snli/
正解付き569,033文対。同じ前提文が複数の文対に現れる場合も、それぞれ数えた。 棒1本は0〜24文字、25〜49文字…の区間を表す。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303437"/>
                </a:solidFill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分割別の前提の単語数</a:t>
            </a:r>
            <a:endParaRPr sz="2800" lang="ja-JP"/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EF8"/>
                </a:solidFill>
                <a:latin typeface="Noto Sans CJK JP"/>
              </a:defRPr>
            </a:pPr>
            <a:r>
              <a:rPr sz="1400" b="1" lang="ja-JP">
                <a:solidFill>
                  <a:srgbClr val="FFFEF8"/>
                </a:solidFill>
                <a:latin typeface="Noto Sans CJK JP"/>
                <a:ea typeface="Noto Sans CJK JP"/>
              </a:rPr>
              <a:t>Appendix: 3 前提文の長さ</a:t>
            </a:r>
            <a:endParaRPr sz="1400" lang="ja-JP"/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554480"/>
          <a:ext cx="804672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1691640"/>
                <a:gridCol w="1097280"/>
                <a:gridCol w="1463040"/>
                <a:gridCol w="1280160"/>
                <a:gridCol w="1325880"/>
              </a:tblGrid>
              <a:tr h="59436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分割</a:t>
                      </a:r>
                      <a:endParaRPr sz="24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件数</a:t>
                      </a:r>
                      <a:endParaRPr sz="24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平均</a:t>
                      </a:r>
                      <a:endParaRPr sz="24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標準偏差</a:t>
                      </a:r>
                      <a:endParaRPr sz="24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中央</a:t>
                      </a:r>
                      <a:endParaRPr sz="24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95%点</a:t>
                      </a:r>
                      <a:endParaRPr sz="24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</a:tr>
              <a:tr h="59436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学習</a:t>
                      </a:r>
                      <a:endParaRPr sz="24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549,367</a:t>
                      </a:r>
                      <a:endParaRPr sz="24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12.85</a:t>
                      </a:r>
                      <a:endParaRPr sz="24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5.66</a:t>
                      </a:r>
                      <a:endParaRPr sz="24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12</a:t>
                      </a:r>
                      <a:endParaRPr sz="24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23</a:t>
                      </a:r>
                      <a:endParaRPr sz="24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59436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開発</a:t>
                      </a:r>
                      <a:endParaRPr sz="24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9,842</a:t>
                      </a:r>
                      <a:endParaRPr sz="24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13.94</a:t>
                      </a:r>
                      <a:endParaRPr sz="24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6.32</a:t>
                      </a:r>
                      <a:endParaRPr sz="24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12</a:t>
                      </a:r>
                      <a:endParaRPr sz="24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25</a:t>
                      </a:r>
                      <a:endParaRPr sz="24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59436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テスト</a:t>
                      </a:r>
                      <a:endParaRPr sz="24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9,824</a:t>
                      </a:r>
                      <a:endParaRPr sz="24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13.91</a:t>
                      </a:r>
                      <a:endParaRPr sz="24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6.18</a:t>
                      </a:r>
                      <a:endParaRPr sz="24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13</a:t>
                      </a:r>
                      <a:endParaRPr sz="24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25</a:t>
                      </a:r>
                      <a:endParaRPr sz="24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5" name="table-caption"/>
          <p:cNvSpPr txBox="1"/>
          <p:nvPr/>
        </p:nvSpPr>
        <p:spPr>
          <a:xfrm>
            <a:off x="594360" y="4109720"/>
            <a:ext cx="7955279" cy="4714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303437"/>
                </a:solidFill>
                <a:latin typeface="Noto Sans CJK JP"/>
              </a:defRPr>
              <a:buNone/>
            </a:pPr>
            <a:r>
              <a:rPr sz="1700" lang="ja-JP">
                <a:solidFill>
                  <a:srgbClr val="303437"/>
                </a:solidFill>
                <a:latin typeface="Noto Sans CJK JP"/>
                <a:ea typeface="Noto Sans CJK JP"/>
              </a:rPr>
              <a:t>単語はPythonのstr.split()による空白区切り。</a:t>
            </a:r>
            <a:endParaRPr sz="1700" lang="ja-JP"/>
            <a:endParaRPr sz="1700"/>
          </a:p>
        </p:txBody>
      </p:sp>
      <p:sp>
        <p:nvSpPr>
          <p:cNvPr id="6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SNLI 1.0公式データ. https://nlp.stanford.edu/projects/snli/</a:t>
            </a:r>
            <a:endParaRPr sz="85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303437"/>
                </a:solidFill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前提が最長の実例</a:t>
            </a:r>
            <a:endParaRPr sz="2800" lang="ja-JP"/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EF8"/>
                </a:solidFill>
                <a:latin typeface="Noto Sans CJK JP"/>
              </a:defRPr>
            </a:pPr>
            <a:r>
              <a:rPr sz="1400" b="1" lang="ja-JP">
                <a:solidFill>
                  <a:srgbClr val="FFFEF8"/>
                </a:solidFill>
                <a:latin typeface="Noto Sans CJK JP"/>
                <a:ea typeface="Noto Sans CJK JP"/>
              </a:rPr>
              <a:t>Appendix: 3 前提文の長さ</a:t>
            </a:r>
            <a:endParaRPr sz="1400" lang="ja-JP"/>
          </a:p>
        </p:txBody>
      </p:sp>
      <p:sp>
        <p:nvSpPr>
          <p:cNvPr id="4" name="TextBox 3"/>
          <p:cNvSpPr txBox="1"/>
          <p:nvPr/>
        </p:nvSpPr>
        <p:spPr>
          <a:xfrm>
            <a:off x="548640" y="1353312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400" b="0">
                <a:solidFill>
                  <a:srgbClr val="626669"/>
                </a:solidFill>
                <a:latin typeface="Noto Sans CJK JP"/>
              </a:defRPr>
              <a:buNone/>
            </a:pPr>
            <a:r>
              <a:rPr sz="1400" lang="ja-JP">
                <a:solidFill>
                  <a:srgbClr val="303437"/>
                </a:solidFill>
                <a:latin typeface="Noto Sans CJK JP"/>
                <a:ea typeface="Noto Sans CJK JP"/>
              </a:rPr>
              <a:t>正解付き文対中で402文字・78語。</a:t>
            </a:r>
            <a:endParaRPr sz="1400" lang="ja-JP"/>
            <a:endParaRPr sz="1400"/>
          </a:p>
        </p:txBody>
      </p:sp>
      <p:sp>
        <p:nvSpPr>
          <p:cNvPr id="5" name="quote-frame-full"/>
          <p:cNvSpPr/>
          <p:nvPr/>
        </p:nvSpPr>
        <p:spPr>
          <a:xfrm>
            <a:off x="548640" y="1810512"/>
            <a:ext cx="8046720" cy="1523644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quote-text-full"/>
          <p:cNvSpPr txBox="1"/>
          <p:nvPr/>
        </p:nvSpPr>
        <p:spPr>
          <a:xfrm>
            <a:off x="726440" y="1880870"/>
            <a:ext cx="7691120" cy="14220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125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303437"/>
                </a:solidFill>
                <a:latin typeface="Liberation Sans"/>
              </a:defRPr>
              <a:buNone/>
            </a:pPr>
            <a:r>
              <a:rPr sz="1700" lang="en-US">
                <a:solidFill>
                  <a:srgbClr val="303437"/>
                </a:solidFill>
                <a:latin typeface="Liberation Sans"/>
                <a:ea typeface="Liberation Sans"/>
              </a:rPr>
              <a:t>A man wearing a helmet, red pants with white stripes going down the sides and a white and red shirt is on a small bicycle using only his hands while his legs are up in the air, while another man wearing a light blue shirt with dark blue trim and black pants with red stripes going up the sides is standing nearby, gesturing toward the first man and holding a small figurine of one of the seven dwarves.</a:t>
            </a:r>
            <a:endParaRPr sz="1700" lang="en-US"/>
            <a:endParaRPr sz="1700"/>
          </a:p>
        </p:txBody>
      </p:sp>
      <p:sp>
        <p:nvSpPr>
          <p:cNvPr id="7" name="TextBox 6"/>
          <p:cNvSpPr txBox="1"/>
          <p:nvPr/>
        </p:nvSpPr>
        <p:spPr>
          <a:xfrm>
            <a:off x="548640" y="3517036"/>
            <a:ext cx="8046720" cy="1073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303437"/>
                </a:solidFill>
                <a:latin typeface="Noto Sans CJK JP"/>
              </a:defRPr>
              <a:buNone/>
            </a:pPr>
            <a:r>
              <a:rPr sz="1700" lang="ja-JP">
                <a:solidFill>
                  <a:srgbClr val="303437"/>
                </a:solidFill>
                <a:latin typeface="Noto Sans CJK JP"/>
                <a:ea typeface="Noto Sans CJK JP"/>
              </a:rPr>
              <a:t>仮説は “The people who are shown are not all doing the exact same thing.”正解は含意。</a:t>
            </a:r>
            <a:endParaRPr sz="1700" lang="ja-JP"/>
            <a:endParaRPr sz="1700"/>
          </a:p>
        </p:txBody>
      </p:sp>
      <p:sp>
        <p:nvSpPr>
          <p:cNvPr id="8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SNLI 1.0公式データ. https://nlp.stanford.edu/projects/snli/  文対ID 207344485.jpg#0r5e</a:t>
            </a:r>
            <a:endParaRPr sz="85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defRPr sz="2800" b="1">
                <a:solidFill>
                  <a:srgbClr val="303437"/>
                </a:solidFill>
                <a:latin typeface="Noto Sans CJK JP"/>
              </a:defRPr>
              <a:spcAft>
                <a:spcPts val="700"/>
              </a:spcAft>
              <a:buNone/>
            </a:pPr>
            <a:r>
              <a:rPr sz="2800" b="1" lang="ja-JP">
                <a:solidFill>
                  <a:srgbClr val="303437"/>
                </a:solidFill>
                <a:latin typeface="Noto Sans CJK JP"/>
                <a:ea typeface="Noto Sans CJK JP"/>
              </a:rPr>
              <a:t>仮説文の文字数の分布</a:t>
            </a:r>
            <a:endParaRPr sz="2800" lang="ja-JP"/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EF8"/>
                </a:solidFill>
                <a:latin typeface="Noto Sans CJK JP"/>
              </a:defRPr>
            </a:pPr>
            <a:r>
              <a:rPr sz="1400" b="1" lang="ja-JP">
                <a:solidFill>
                  <a:srgbClr val="FFFEF8"/>
                </a:solidFill>
                <a:latin typeface="Noto Sans CJK JP"/>
                <a:ea typeface="Noto Sans CJK JP"/>
              </a:rPr>
              <a:t>Appendix: 3 仮説文の長さ</a:t>
            </a:r>
            <a:endParaRPr sz="1400" lang="ja-JP"/>
          </a:p>
        </p:txBody>
      </p:sp>
      <p:pic>
        <p:nvPicPr>
          <p:cNvPr id="4" name="Picture 3" descr="snli-h_cha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371600"/>
            <a:ext cx="8046720" cy="2743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94360" y="4169663"/>
            <a:ext cx="7955279" cy="4846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  <a:defRPr sz="1700">
                <a:latin typeface="Noto Sans CJK JP"/>
              </a:defRPr>
              <a:buNone/>
            </a:pPr>
            <a:r>
              <a:rPr sz="1700" lang="ja-JP">
                <a:solidFill>
                  <a:srgbClr val="303437"/>
                </a:solidFill>
                <a:latin typeface="Noto Sans CJK JP"/>
                <a:ea typeface="Noto Sans CJK JP"/>
              </a:rPr>
              <a:t>平均37.49文字、中央値34文字、最大295文字。</a:t>
            </a:r>
          </a:p>
        </p:txBody>
      </p:sp>
      <p:sp>
        <p:nvSpPr>
          <p:cNvPr id="6" name="lookup-sources"/>
          <p:cNvSpPr txBox="1"/>
          <p:nvPr/>
        </p:nvSpPr>
        <p:spPr>
          <a:xfrm>
            <a:off x="502920" y="4773168"/>
            <a:ext cx="818387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defRPr sz="850">
                <a:latin typeface="Noto Sans CJK JP"/>
              </a:defRPr>
              <a:spcAft>
                <a:spcPts val="0"/>
              </a:spcAft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 SNLI 1.0. https://nlp.stanford.edu/projects/snli/
正解付き569,033文対の仮説文を集計した。 棒1本は0〜24文字、25〜49文字…の区間を表す。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303437"/>
                </a:solidFill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分割別の仮説の単語数</a:t>
            </a:r>
            <a:endParaRPr sz="2800" lang="ja-JP"/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EF8"/>
                </a:solidFill>
                <a:latin typeface="Noto Sans CJK JP"/>
              </a:defRPr>
            </a:pPr>
            <a:r>
              <a:rPr sz="1400" b="1" lang="ja-JP">
                <a:solidFill>
                  <a:srgbClr val="FFFEF8"/>
                </a:solidFill>
                <a:latin typeface="Noto Sans CJK JP"/>
                <a:ea typeface="Noto Sans CJK JP"/>
              </a:rPr>
              <a:t>Appendix: 3 仮説文の長さ</a:t>
            </a:r>
            <a:endParaRPr sz="1400" lang="ja-JP"/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554480"/>
          <a:ext cx="804672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1691640"/>
                <a:gridCol w="1097280"/>
                <a:gridCol w="1463040"/>
                <a:gridCol w="1280160"/>
                <a:gridCol w="1325880"/>
              </a:tblGrid>
              <a:tr h="59436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分割</a:t>
                      </a:r>
                      <a:endParaRPr sz="24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件数</a:t>
                      </a:r>
                      <a:endParaRPr sz="24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平均</a:t>
                      </a:r>
                      <a:endParaRPr sz="24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標準偏差</a:t>
                      </a:r>
                      <a:endParaRPr sz="24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中央</a:t>
                      </a:r>
                      <a:endParaRPr sz="24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95%点</a:t>
                      </a:r>
                      <a:endParaRPr sz="24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</a:tr>
              <a:tr h="59436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学習</a:t>
                      </a:r>
                      <a:endParaRPr sz="24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549,367</a:t>
                      </a:r>
                      <a:endParaRPr sz="24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7.42</a:t>
                      </a:r>
                      <a:endParaRPr sz="24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3.07</a:t>
                      </a:r>
                      <a:endParaRPr sz="24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7</a:t>
                      </a:r>
                      <a:endParaRPr sz="24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13</a:t>
                      </a:r>
                      <a:endParaRPr sz="24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59436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開発</a:t>
                      </a:r>
                      <a:endParaRPr sz="24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9,842</a:t>
                      </a:r>
                      <a:endParaRPr sz="24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7.51</a:t>
                      </a:r>
                      <a:endParaRPr sz="24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3.13</a:t>
                      </a:r>
                      <a:endParaRPr sz="24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7</a:t>
                      </a:r>
                      <a:endParaRPr sz="24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13</a:t>
                      </a:r>
                      <a:endParaRPr sz="24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</a:tcPr>
                </a:tc>
              </a:tr>
              <a:tr h="59436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テスト</a:t>
                      </a:r>
                      <a:endParaRPr sz="24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9,824</a:t>
                      </a:r>
                      <a:endParaRPr sz="24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7.48</a:t>
                      </a:r>
                      <a:endParaRPr sz="24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3.08</a:t>
                      </a:r>
                      <a:endParaRPr sz="24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7</a:t>
                      </a:r>
                      <a:endParaRPr sz="24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4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24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13</a:t>
                      </a:r>
                      <a:endParaRPr sz="24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5" name="table-caption"/>
          <p:cNvSpPr txBox="1"/>
          <p:nvPr/>
        </p:nvSpPr>
        <p:spPr>
          <a:xfrm>
            <a:off x="594360" y="4109720"/>
            <a:ext cx="7955279" cy="4714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303437"/>
                </a:solidFill>
                <a:latin typeface="Noto Sans CJK JP"/>
              </a:defRPr>
              <a:buNone/>
            </a:pPr>
            <a:r>
              <a:rPr sz="1700" lang="ja-JP">
                <a:solidFill>
                  <a:srgbClr val="303437"/>
                </a:solidFill>
                <a:latin typeface="Noto Sans CJK JP"/>
                <a:ea typeface="Noto Sans CJK JP"/>
              </a:rPr>
              <a:t>単語はPythonのstr.split()による空白区切り。</a:t>
            </a:r>
            <a:endParaRPr sz="1700" lang="ja-JP"/>
            <a:endParaRPr sz="1700"/>
          </a:p>
        </p:txBody>
      </p:sp>
      <p:sp>
        <p:nvSpPr>
          <p:cNvPr id="6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SNLI 1.0公式データ. https://nlp.stanford.edu/projects/snli/</a:t>
            </a:r>
            <a:endParaRPr sz="85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303437"/>
                </a:solidFill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仮説の文字数が最大の実例</a:t>
            </a:r>
            <a:endParaRPr sz="2800" lang="ja-JP"/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EF8"/>
                </a:solidFill>
                <a:latin typeface="Noto Sans CJK JP"/>
              </a:defRPr>
            </a:pPr>
            <a:r>
              <a:rPr sz="1400" b="1" lang="ja-JP">
                <a:solidFill>
                  <a:srgbClr val="FFFEF8"/>
                </a:solidFill>
                <a:latin typeface="Noto Sans CJK JP"/>
                <a:ea typeface="Noto Sans CJK JP"/>
              </a:rPr>
              <a:t>Appendix: 3 仮説文の長さ</a:t>
            </a:r>
            <a:endParaRPr sz="1400" lang="ja-JP"/>
          </a:p>
        </p:txBody>
      </p:sp>
      <p:sp>
        <p:nvSpPr>
          <p:cNvPr id="4" name="TextBox 3"/>
          <p:cNvSpPr txBox="1"/>
          <p:nvPr/>
        </p:nvSpPr>
        <p:spPr>
          <a:xfrm>
            <a:off x="548640" y="1353312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1400" b="0">
                <a:solidFill>
                  <a:srgbClr val="626669"/>
                </a:solidFill>
                <a:latin typeface="Noto Sans CJK JP"/>
              </a:defRPr>
              <a:buNone/>
            </a:pPr>
            <a:r>
              <a:rPr sz="1400" lang="ja-JP">
                <a:solidFill>
                  <a:srgbClr val="303437"/>
                </a:solidFill>
                <a:latin typeface="Noto Sans CJK JP"/>
                <a:ea typeface="Noto Sans CJK JP"/>
              </a:rPr>
              <a:t>正解付き文対中で295文字。</a:t>
            </a:r>
            <a:endParaRPr sz="1400" lang="ja-JP"/>
            <a:endParaRPr sz="1400"/>
          </a:p>
        </p:txBody>
      </p:sp>
      <p:sp>
        <p:nvSpPr>
          <p:cNvPr id="5" name="quote-frame-full"/>
          <p:cNvSpPr/>
          <p:nvPr/>
        </p:nvSpPr>
        <p:spPr>
          <a:xfrm>
            <a:off x="548640" y="1810512"/>
            <a:ext cx="8046720" cy="1253769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quote-text-full"/>
          <p:cNvSpPr txBox="1"/>
          <p:nvPr/>
        </p:nvSpPr>
        <p:spPr>
          <a:xfrm>
            <a:off x="726440" y="1880870"/>
            <a:ext cx="7691120" cy="11521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125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303437"/>
                </a:solidFill>
                <a:latin typeface="Liberation Sans"/>
              </a:defRPr>
              <a:buNone/>
            </a:pPr>
            <a:r>
              <a:rPr sz="1700" lang="en-US">
                <a:solidFill>
                  <a:srgbClr val="303437"/>
                </a:solidFill>
                <a:latin typeface="Liberation Sans"/>
                <a:ea typeface="Liberation Sans"/>
              </a:rPr>
              <a:t>The cat toys with the catastrophically injured yet alive mouse before putting it out of it's misery.  Just a few more broken ribs and guts coming out the anus, and Kitty Kat will let you die, mouse.  Then the cat will go leave a steaming pile of parasitic feces in the litterbox.  Cats are cute!</a:t>
            </a:r>
            <a:endParaRPr sz="1700" lang="en-US"/>
            <a:endParaRPr sz="1700"/>
          </a:p>
        </p:txBody>
      </p:sp>
      <p:sp>
        <p:nvSpPr>
          <p:cNvPr id="7" name="TextBox 6"/>
          <p:cNvSpPr txBox="1"/>
          <p:nvPr/>
        </p:nvSpPr>
        <p:spPr>
          <a:xfrm>
            <a:off x="548640" y="3247161"/>
            <a:ext cx="8046720" cy="13431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303437"/>
                </a:solidFill>
                <a:latin typeface="Noto Sans CJK JP"/>
              </a:defRPr>
              <a:buNone/>
            </a:pPr>
            <a:r>
              <a:rPr sz="1700" lang="ja-JP">
                <a:solidFill>
                  <a:srgbClr val="303437"/>
                </a:solidFill>
                <a:latin typeface="Noto Sans CJK JP"/>
                <a:ea typeface="Noto Sans CJK JP"/>
              </a:rPr>
              <a:t>前提は “A doberman bites a large blue ball.”正解は矛盾。仮説には前提と無関係な描写が多い。</a:t>
            </a:r>
            <a:endParaRPr sz="1700" lang="ja-JP"/>
            <a:endParaRPr sz="1700"/>
          </a:p>
        </p:txBody>
      </p:sp>
      <p:sp>
        <p:nvSpPr>
          <p:cNvPr id="8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SNLI 1.0公式データ. https://nlp.stanford.edu/projects/snli/  文対ID 248994078.jpg#4r1c</a:t>
            </a:r>
            <a:endParaRPr sz="85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303437"/>
                </a:solidFill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仮説が56語の実例の前提全文</a:t>
            </a:r>
            <a:endParaRPr sz="2800" lang="ja-JP"/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EF8"/>
                </a:solidFill>
                <a:latin typeface="Noto Sans CJK JP"/>
              </a:defRPr>
            </a:pPr>
            <a:r>
              <a:rPr sz="1400" b="1" lang="ja-JP">
                <a:solidFill>
                  <a:srgbClr val="FFFEF8"/>
                </a:solidFill>
                <a:latin typeface="Noto Sans CJK JP"/>
                <a:ea typeface="Noto Sans CJK JP"/>
              </a:rPr>
              <a:t>Appendix: 3 仮説文の長さ</a:t>
            </a:r>
            <a:endParaRPr sz="1400" lang="ja-JP"/>
          </a:p>
        </p:txBody>
      </p:sp>
      <p:sp>
        <p:nvSpPr>
          <p:cNvPr id="4" name="TextBox 3"/>
          <p:cNvSpPr txBox="1"/>
          <p:nvPr/>
        </p:nvSpPr>
        <p:spPr>
          <a:xfrm>
            <a:off x="548640" y="1353312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626669"/>
                </a:solidFill>
                <a:latin typeface="Noto Sans CJK JP"/>
              </a:defRPr>
            </a:pPr>
            <a:r>
              <a:rPr sz="1400" b="0" lang="ja-JP">
                <a:solidFill>
                  <a:srgbClr val="626669"/>
                </a:solidFill>
                <a:latin typeface="Noto Sans CJK JP"/>
                <a:ea typeface="Noto Sans CJK JP"/>
              </a:rPr>
              <a:t>仮説の単語数が最大の実例の前提文。</a:t>
            </a:r>
            <a:endParaRPr sz="1400" lang="ja-JP"/>
          </a:p>
        </p:txBody>
      </p:sp>
      <p:sp>
        <p:nvSpPr>
          <p:cNvPr id="5" name="quote-frame-full"/>
          <p:cNvSpPr/>
          <p:nvPr/>
        </p:nvSpPr>
        <p:spPr>
          <a:xfrm>
            <a:off x="548640" y="1810512"/>
            <a:ext cx="8046720" cy="1253769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quote-text-full"/>
          <p:cNvSpPr txBox="1"/>
          <p:nvPr/>
        </p:nvSpPr>
        <p:spPr>
          <a:xfrm>
            <a:off x="726440" y="1880870"/>
            <a:ext cx="7691120" cy="11521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125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303437"/>
                </a:solidFill>
                <a:latin typeface="Liberation Sans"/>
              </a:defRPr>
              <a:buNone/>
            </a:pPr>
            <a:r>
              <a:rPr sz="1700" lang="en-US">
                <a:solidFill>
                  <a:srgbClr val="303437"/>
                </a:solidFill>
                <a:latin typeface="Liberation Sans"/>
                <a:ea typeface="Liberation Sans"/>
              </a:rPr>
              <a:t>It is a photo of a young girl wearing pink pants and a jacket that's pink, red, blue and white the little girl is on one knee sitting on some big rocks smiling posing for a picture with one hand holding a skinny but long stick behind her there is what looks like a wooded area.</a:t>
            </a:r>
            <a:endParaRPr sz="1700" lang="en-US"/>
            <a:endParaRPr sz="1700"/>
          </a:p>
        </p:txBody>
      </p:sp>
      <p:sp>
        <p:nvSpPr>
          <p:cNvPr id="7" name="TextBox 6"/>
          <p:cNvSpPr txBox="1"/>
          <p:nvPr/>
        </p:nvSpPr>
        <p:spPr>
          <a:xfrm>
            <a:off x="548640" y="3247161"/>
            <a:ext cx="8046720" cy="13431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303437"/>
                </a:solidFill>
                <a:latin typeface="Noto Sans CJK JP"/>
              </a:defRPr>
              <a:buNone/>
            </a:pPr>
            <a:r>
              <a:rPr sz="1700" lang="ja-JP">
                <a:solidFill>
                  <a:srgbClr val="303437"/>
                </a:solidFill>
                <a:latin typeface="Noto Sans CJK JP"/>
                <a:ea typeface="Noto Sans CJK JP"/>
              </a:rPr>
              <a:t>前提には “one hand” とある。正解ラベルは矛盾。</a:t>
            </a:r>
            <a:endParaRPr sz="1700" lang="ja-JP"/>
            <a:endParaRPr sz="1700"/>
          </a:p>
        </p:txBody>
      </p:sp>
      <p:sp>
        <p:nvSpPr>
          <p:cNvPr id="8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SNLI 1.0公式データ. https://nlp.stanford.edu/projects/snli/  文対ID 71651754.jpg#0r1c</a:t>
            </a:r>
            <a:endParaRPr sz="85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303437"/>
                </a:solidFill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仮説が56語の実例の仮説全文</a:t>
            </a:r>
            <a:endParaRPr sz="2800" lang="ja-JP"/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EF8"/>
                </a:solidFill>
                <a:latin typeface="Noto Sans CJK JP"/>
              </a:defRPr>
            </a:pPr>
            <a:r>
              <a:rPr sz="1400" b="1" lang="ja-JP">
                <a:solidFill>
                  <a:srgbClr val="FFFEF8"/>
                </a:solidFill>
                <a:latin typeface="Noto Sans CJK JP"/>
                <a:ea typeface="Noto Sans CJK JP"/>
              </a:rPr>
              <a:t>Appendix: 3 仮説文の長さ</a:t>
            </a:r>
            <a:endParaRPr sz="1400" lang="ja-JP"/>
          </a:p>
        </p:txBody>
      </p:sp>
      <p:sp>
        <p:nvSpPr>
          <p:cNvPr id="4" name="TextBox 3"/>
          <p:cNvSpPr txBox="1"/>
          <p:nvPr/>
        </p:nvSpPr>
        <p:spPr>
          <a:xfrm>
            <a:off x="548640" y="1353312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626669"/>
                </a:solidFill>
                <a:latin typeface="Noto Sans CJK JP"/>
              </a:defRPr>
            </a:pPr>
            <a:r>
              <a:rPr sz="1400" b="0" lang="ja-JP">
                <a:solidFill>
                  <a:srgbClr val="626669"/>
                </a:solidFill>
                <a:latin typeface="Noto Sans CJK JP"/>
                <a:ea typeface="Noto Sans CJK JP"/>
              </a:rPr>
              <a:t>正解付き文対中で単語数が最大の仮説文。</a:t>
            </a:r>
            <a:endParaRPr sz="1400" lang="ja-JP"/>
          </a:p>
        </p:txBody>
      </p:sp>
      <p:sp>
        <p:nvSpPr>
          <p:cNvPr id="5" name="quote-frame-full"/>
          <p:cNvSpPr/>
          <p:nvPr/>
        </p:nvSpPr>
        <p:spPr>
          <a:xfrm>
            <a:off x="548640" y="1810512"/>
            <a:ext cx="8046720" cy="1253769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quote-text-full"/>
          <p:cNvSpPr txBox="1"/>
          <p:nvPr/>
        </p:nvSpPr>
        <p:spPr>
          <a:xfrm>
            <a:off x="726440" y="1880870"/>
            <a:ext cx="7691120" cy="11521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ts val="2125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303437"/>
                </a:solidFill>
                <a:latin typeface="Liberation Sans"/>
              </a:defRPr>
              <a:buNone/>
            </a:pPr>
            <a:r>
              <a:rPr sz="1700" lang="en-US">
                <a:solidFill>
                  <a:srgbClr val="303437"/>
                </a:solidFill>
                <a:latin typeface="Liberation Sans"/>
                <a:ea typeface="Liberation Sans"/>
              </a:rPr>
              <a:t>It is a photo of a young girl wearing pink pants and a jacket that's pink, red, blue and white the little girl is on one knee sitting on some big rocks smiling posing for a picture with both hands holding a skinny but long stick behind her there is what looks like a wooded area.</a:t>
            </a:r>
            <a:endParaRPr sz="1700" lang="en-US"/>
            <a:endParaRPr sz="1700"/>
          </a:p>
        </p:txBody>
      </p:sp>
      <p:sp>
        <p:nvSpPr>
          <p:cNvPr id="7" name="TextBox 6"/>
          <p:cNvSpPr txBox="1"/>
          <p:nvPr/>
        </p:nvSpPr>
        <p:spPr>
          <a:xfrm>
            <a:off x="548640" y="3247161"/>
            <a:ext cx="8046720" cy="13431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303437"/>
                </a:solidFill>
                <a:latin typeface="Noto Sans CJK JP"/>
              </a:defRPr>
              <a:buNone/>
            </a:pPr>
            <a:r>
              <a:rPr sz="1700" lang="ja-JP">
                <a:solidFill>
                  <a:srgbClr val="303437"/>
                </a:solidFill>
                <a:latin typeface="Noto Sans CJK JP"/>
                <a:ea typeface="Noto Sans CJK JP"/>
              </a:rPr>
              <a:t>仮説では “both hands” に変わっている。正解ラベルは矛盾。</a:t>
            </a:r>
            <a:endParaRPr sz="1700" lang="ja-JP"/>
            <a:endParaRPr sz="1700"/>
          </a:p>
        </p:txBody>
      </p:sp>
      <p:sp>
        <p:nvSpPr>
          <p:cNvPr id="8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SNLI 1.0公式データ. https://nlp.stanford.edu/projects/snli/  文対ID 71651754.jpg#0r1c</a:t>
            </a:r>
            <a:endParaRPr sz="85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303437"/>
                </a:solidFill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単語の対応を用いるRE2の評価結果</a:t>
            </a:r>
            <a:endParaRPr sz="2800" lang="ja-JP"/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EF8"/>
                </a:solidFill>
                <a:latin typeface="Noto Sans CJK JP"/>
              </a:defRPr>
            </a:pPr>
            <a:r>
              <a:rPr sz="1400" b="1" lang="ja-JP">
                <a:solidFill>
                  <a:srgbClr val="FFFEF8"/>
                </a:solidFill>
                <a:latin typeface="Noto Sans CJK JP"/>
                <a:ea typeface="Noto Sans CJK JP"/>
              </a:rPr>
              <a:t>Appendix: 4 モデル評価の補足</a:t>
            </a:r>
            <a:endParaRPr sz="1400" lang="ja-JP"/>
          </a:p>
        </p:txBody>
      </p:sp>
      <p:graphicFrame>
        <p:nvGraphicFramePr>
          <p:cNvPr id="4" name="data-table"/>
          <p:cNvGraphicFramePr>
            <a:graphicFrameLocks noGrp="1"/>
          </p:cNvGraphicFramePr>
          <p:nvPr/>
        </p:nvGraphicFramePr>
        <p:xfrm>
          <a:off x="548640" y="1554480"/>
          <a:ext cx="8046720" cy="1005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2743200"/>
                <a:gridCol w="3840480"/>
              </a:tblGrid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モデル</a:t>
                      </a:r>
                      <a:endParaRPr sz="22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SNLIの正解率</a:t>
                      </a:r>
                      <a:endParaRPr sz="22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報告条件</a:t>
                      </a:r>
                      <a:endParaRPr sz="22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10160">
                      <a:solidFill>
                        <a:srgbClr val="626669"/>
                      </a:solidFill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</a:tr>
              <a:tr h="502920"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RE2</a:t>
                      </a:r>
                      <a:endParaRPr sz="22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88.9 ± 0.1%</a:t>
                      </a:r>
                      <a:endParaRPr sz="22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  <a:tc>
                  <a:txBody>
                    <a:bodyPr wrap="square" lIns="38100" rIns="38100" tIns="38100" bIns="38100" anchor="ctr"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 sz="2200" b="0">
                          <a:solidFill>
                            <a:srgbClr val="303437"/>
                          </a:solidFill>
                          <a:latin typeface="Noto Sans CJK JP"/>
                        </a:defRPr>
                      </a:pPr>
                      <a:r>
                        <a:rPr sz="2200" b="0" lang="ja-JP">
                          <a:solidFill>
                            <a:srgbClr val="303437"/>
                          </a:solidFill>
                          <a:latin typeface="Noto Sans CJK JP"/>
                          <a:ea typeface="Noto Sans CJK JP"/>
                        </a:rPr>
                        <a:t>10回の平均と標準偏差</a:t>
                      </a:r>
                      <a:endParaRPr sz="2200" lang="ja-JP"/>
                    </a:p>
                  </a:txBody>
                  <a:tcPr marL="76200" marR="76200" marT="38100" marB="38100">
                    <a:solidFill>
                      <a:srgbClr val="FFFEF8"/>
                    </a:solidFill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0160">
                      <a:solidFill>
                        <a:srgbClr val="626669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5" name="table-caption"/>
          <p:cNvSpPr txBox="1"/>
          <p:nvPr/>
        </p:nvSpPr>
        <p:spPr>
          <a:xfrm>
            <a:off x="594360" y="2738120"/>
            <a:ext cx="7955279" cy="18430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defRPr sz="1700" b="0">
                <a:solidFill>
                  <a:srgbClr val="303437"/>
                </a:solidFill>
                <a:latin typeface="Noto Sans CJK JP"/>
              </a:defRPr>
            </a:pPr>
            <a:r>
              <a:rPr sz="1700" b="0" lang="ja-JP">
                <a:solidFill>
                  <a:srgbClr val="303437"/>
                </a:solidFill>
                <a:latin typeface="Noto Sans CJK JP"/>
                <a:ea typeface="Noto Sans CJK JP"/>
              </a:rPr>
              <a:t>ACL 2019の手法。著者リポジトリ掲載の報告値。</a:t>
            </a:r>
            <a:endParaRPr sz="1700" lang="ja-JP"/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defRPr sz="1700" b="0">
                <a:solidFill>
                  <a:srgbClr val="303437"/>
                </a:solidFill>
                <a:latin typeface="Noto Sans CJK JP"/>
              </a:defRPr>
            </a:pPr>
            <a:r>
              <a:rPr sz="1700" b="0" lang="ja-JP">
                <a:solidFill>
                  <a:srgbClr val="303437"/>
                </a:solidFill>
                <a:latin typeface="Noto Sans CJK JP"/>
                <a:ea typeface="Noto Sans CJK JP"/>
              </a:rPr>
              <a:t>比較には前処理、学習条件、単一実行か平均かの確認が必要。</a:t>
            </a:r>
            <a:endParaRPr sz="1700" lang="ja-JP"/>
          </a:p>
        </p:txBody>
      </p:sp>
      <p:sp>
        <p:nvSpPr>
          <p:cNvPr id="6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RE2 著者実装. https://github.com/alibaba-edu/simple-effective-text-matching</a:t>
            </a:r>
            <a:endParaRPr sz="85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303437"/>
                </a:solidFill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公式ZIPでは文対IDと投票を確認できる</a:t>
            </a:r>
            <a:endParaRPr sz="2800" lang="ja-JP"/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EF8"/>
                </a:solidFill>
                <a:latin typeface="Noto Sans CJK JP"/>
              </a:defRPr>
            </a:pPr>
            <a:r>
              <a:rPr sz="1400" b="1" lang="ja-JP">
                <a:solidFill>
                  <a:srgbClr val="FFFEF8"/>
                </a:solidFill>
                <a:latin typeface="Noto Sans CJK JP"/>
                <a:ea typeface="Noto Sans CJK JP"/>
              </a:rPr>
              <a:t>Appendix: 4 入手方法の補足</a:t>
            </a:r>
            <a:endParaRPr sz="1400" lang="ja-JP"/>
          </a:p>
        </p:txBody>
      </p:sp>
      <p:sp>
        <p:nvSpPr>
          <p:cNvPr id="4" name="code-background"/>
          <p:cNvSpPr/>
          <p:nvPr/>
        </p:nvSpPr>
        <p:spPr>
          <a:xfrm>
            <a:off x="548640" y="1481328"/>
            <a:ext cx="8046720" cy="2549652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609344"/>
            <a:ext cx="7772400" cy="2293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303437"/>
                </a:solidFill>
                <a:latin typeface="Liberation Mono"/>
              </a:defRPr>
            </a:pPr>
            <a:r>
              <a:rPr sz="1400" b="0" lang="en-US">
                <a:solidFill>
                  <a:srgbClr val="303437"/>
                </a:solidFill>
                <a:latin typeface="Liberation Mono"/>
                <a:ea typeface="Liberation Mono"/>
              </a:rPr>
              <a:t>import json</a:t>
            </a:r>
            <a:endParaRPr sz="1400" lang="en-US"/>
          </a:p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303437"/>
                </a:solidFill>
                <a:latin typeface="Liberation Mono"/>
              </a:defRPr>
            </a:pPr>
            <a:r>
              <a:rPr sz="1400" b="0" lang="en-US">
                <a:solidFill>
                  <a:srgbClr val="303437"/>
                </a:solidFill>
                <a:latin typeface="Liberation Mono"/>
                <a:ea typeface="Liberation Mono"/>
              </a:rPr>
              <a:t>from urllib.request import urlretrieve</a:t>
            </a:r>
            <a:endParaRPr sz="1400" lang="en-US"/>
          </a:p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303437"/>
                </a:solidFill>
                <a:latin typeface="Liberation Mono"/>
              </a:defRPr>
            </a:pPr>
            <a:r>
              <a:rPr sz="1400" b="0" lang="en-US">
                <a:solidFill>
                  <a:srgbClr val="303437"/>
                </a:solidFill>
                <a:latin typeface="Liberation Mono"/>
                <a:ea typeface="Liberation Mono"/>
              </a:rPr>
              <a:t>from zipfile import ZipFile</a:t>
            </a:r>
            <a:endParaRPr sz="1400" lang="en-US"/>
          </a:p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303437"/>
                </a:solidFill>
                <a:latin typeface="Liberation Mono"/>
              </a:defRPr>
            </a:pPr>
            <a:r>
              <a:rPr sz="1400" b="0" lang="en-US">
                <a:solidFill>
                  <a:srgbClr val="303437"/>
                </a:solidFill>
                <a:latin typeface="Liberation Mono"/>
                <a:ea typeface="Liberation Mono"/>
              </a:rPr>
              <a:t/>
            </a:r>
            <a:endParaRPr sz="1400" lang="en-US"/>
          </a:p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303437"/>
                </a:solidFill>
                <a:latin typeface="Liberation Mono"/>
              </a:defRPr>
            </a:pPr>
            <a:r>
              <a:rPr sz="1400" b="0" lang="en-US">
                <a:solidFill>
                  <a:srgbClr val="303437"/>
                </a:solidFill>
                <a:latin typeface="Liberation Mono"/>
                <a:ea typeface="Liberation Mono"/>
              </a:rPr>
              <a:t>url = "https://nlp.stanford.edu/projects/snli/snli_1.0.zip"</a:t>
            </a:r>
            <a:endParaRPr sz="1400" lang="en-US"/>
          </a:p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303437"/>
                </a:solidFill>
                <a:latin typeface="Liberation Mono"/>
              </a:defRPr>
            </a:pPr>
            <a:r>
              <a:rPr sz="1400" b="0" lang="en-US">
                <a:solidFill>
                  <a:srgbClr val="303437"/>
                </a:solidFill>
                <a:latin typeface="Liberation Mono"/>
                <a:ea typeface="Liberation Mono"/>
              </a:rPr>
              <a:t>urlretrieve(url, "snli_1.0.zip")</a:t>
            </a:r>
            <a:endParaRPr sz="1400" lang="en-US"/>
          </a:p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303437"/>
                </a:solidFill>
                <a:latin typeface="Liberation Mono"/>
              </a:defRPr>
            </a:pPr>
            <a:r>
              <a:rPr sz="1400" b="0" lang="en-US">
                <a:solidFill>
                  <a:srgbClr val="303437"/>
                </a:solidFill>
                <a:latin typeface="Liberation Mono"/>
                <a:ea typeface="Liberation Mono"/>
              </a:rPr>
              <a:t>with ZipFile("snli_1.0.zip") as z:</a:t>
            </a:r>
            <a:endParaRPr sz="1400" lang="en-US"/>
          </a:p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303437"/>
                </a:solidFill>
                <a:latin typeface="Liberation Mono"/>
              </a:defRPr>
            </a:pPr>
            <a:r>
              <a:rPr sz="1400" b="0" lang="en-US">
                <a:solidFill>
                  <a:srgbClr val="303437"/>
                </a:solidFill>
                <a:latin typeface="Liberation Mono"/>
                <a:ea typeface="Liberation Mono"/>
              </a:rPr>
              <a:t>    path = "snli_1.0/snli_1.0_test.jsonl"</a:t>
            </a:r>
            <a:endParaRPr sz="1400" lang="en-US"/>
          </a:p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303437"/>
                </a:solidFill>
                <a:latin typeface="Liberation Mono"/>
              </a:defRPr>
            </a:pPr>
            <a:r>
              <a:rPr sz="1400" b="0" lang="en-US">
                <a:solidFill>
                  <a:srgbClr val="303437"/>
                </a:solidFill>
                <a:latin typeface="Liberation Mono"/>
                <a:ea typeface="Liberation Mono"/>
              </a:rPr>
              <a:t>    row = json.loads(next(z.open(path)))</a:t>
            </a:r>
            <a:endParaRPr sz="1400" lang="en-US"/>
          </a:p>
          <a:p>
            <a:pPr algn="l">
              <a:lnSpc>
                <a:spcPts val="182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303437"/>
                </a:solidFill>
                <a:latin typeface="Liberation Mono"/>
              </a:defRPr>
            </a:pPr>
            <a:r>
              <a:rPr sz="1400" b="0" lang="en-US">
                <a:solidFill>
                  <a:srgbClr val="303437"/>
                </a:solidFill>
                <a:latin typeface="Liberation Mono"/>
                <a:ea typeface="Liberation Mono"/>
              </a:rPr>
              <a:t>print(row["pairID"], row["annotator_labels"])</a:t>
            </a:r>
            <a:endParaRPr sz="1400" lang="en-US"/>
          </a:p>
        </p:txBody>
      </p:sp>
      <p:sp>
        <p:nvSpPr>
          <p:cNvPr id="6" name="TextBox 5"/>
          <p:cNvSpPr txBox="1"/>
          <p:nvPr/>
        </p:nvSpPr>
        <p:spPr>
          <a:xfrm>
            <a:off x="594360" y="4195572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303437"/>
                </a:solidFill>
                <a:latin typeface="Noto Sans CJK JP"/>
              </a:defRPr>
              <a:buNone/>
            </a:pPr>
            <a:r>
              <a:rPr sz="1700" lang="ja-JP">
                <a:solidFill>
                  <a:srgbClr val="303437"/>
                </a:solidFill>
                <a:latin typeface="Noto Sans CJK JP"/>
                <a:ea typeface="Noto Sans CJK JP"/>
              </a:rPr>
              <a:t>公式のJSONLにはsentence1、sentence2、gold_labelなどを含む。</a:t>
            </a:r>
            <a:endParaRPr sz="1700" lang="ja-JP"/>
            <a:endParaRPr sz="1700"/>
          </a:p>
        </p:txBody>
      </p:sp>
      <p:sp>
        <p:nvSpPr>
          <p:cNvPr id="7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Hugging Face SNLI loader. https://github.com/huggingface/datasets/blob/1.18.4/datasets/snli/snli.py</a:t>
            </a:r>
            <a:endParaRPr sz="85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303437"/>
                </a:solidFill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作成時の指示と品質確認の補足</a:t>
            </a:r>
            <a:endParaRPr sz="2800" lang="ja-JP"/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EF8"/>
                </a:solidFill>
                <a:latin typeface="Noto Sans CJK JP"/>
              </a:defRPr>
            </a:pPr>
            <a:r>
              <a:rPr sz="1400" b="1" lang="ja-JP">
                <a:solidFill>
                  <a:srgbClr val="FFFEF8"/>
                </a:solidFill>
                <a:latin typeface="Noto Sans CJK JP"/>
                <a:ea typeface="Noto Sans CJK JP"/>
              </a:rPr>
              <a:t>Appendix: 4 作成方法の補足</a:t>
            </a:r>
            <a:endParaRPr sz="1400" lang="ja-JP"/>
          </a:p>
        </p:txBody>
      </p:sp>
      <p:sp>
        <p:nvSpPr>
          <p:cNvPr id="4" name="body"/>
          <p:cNvSpPr txBox="1"/>
          <p:nvPr/>
        </p:nvSpPr>
        <p:spPr>
          <a:xfrm>
            <a:off x="594360" y="1490472"/>
            <a:ext cx="7955279" cy="30906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03200" indent="-1524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000" b="0">
                <a:solidFill>
                  <a:srgbClr val="303437"/>
                </a:solidFill>
                <a:latin typeface="Noto Sans CJK JP"/>
              </a:defRPr>
              <a:buChar char="•"/>
            </a:pPr>
            <a:r>
              <a:rPr sz="2000" lang="ja-JP">
                <a:solidFill>
                  <a:srgbClr val="303437"/>
                </a:solidFill>
                <a:latin typeface="Noto Sans CJK JP"/>
                <a:ea typeface="Noto Sans CJK JP"/>
              </a:rPr>
              <a:t>作業者は前提の説明に合う同じ写真を想定して仮説を書く。</a:t>
            </a:r>
            <a:endParaRPr sz="2000" lang="ja-JP"/>
            <a:endParaRPr sz="2000"/>
          </a:p>
          <a:p>
            <a:pPr algn="l" lvl="1" marL="482600" indent="-1270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000">
                <a:latin typeface="Noto Sans CJK JP"/>
              </a:defRPr>
              <a:buChar char="○"/>
            </a:pPr>
            <a:r>
              <a:rPr sz="2000" lang="ja-JP">
                <a:solidFill>
                  <a:srgbClr val="303437"/>
                </a:solidFill>
                <a:latin typeface="Noto Sans CJK JP"/>
                <a:ea typeface="Noto Sans CJK JP"/>
              </a:rPr>
              <a:t>画像自体は見せず、3つの関係に対応する文を作成する </a:t>
            </a:r>
            <a:r>
              <a:rPr sz="2000" lang="ja-JP">
                <a:solidFill>
                  <a:srgbClr val="303437"/>
                </a:solidFill>
                <a:latin typeface="Noto Sans CJK JP"/>
                <a:ea typeface="Noto Sans CJK JP"/>
              </a:rPr>
              <a:t>[1]</a:t>
            </a:r>
            <a:r>
              <a:rPr sz="2000" lang="ja-JP">
                <a:solidFill>
                  <a:srgbClr val="303437"/>
                </a:solidFill>
                <a:latin typeface="Noto Sans CJK JP"/>
                <a:ea typeface="Noto Sans CJK JP"/>
              </a:rPr>
              <a:t>。</a:t>
            </a:r>
            <a:endParaRPr sz="2000"/>
          </a:p>
          <a:p>
            <a:pPr algn="l" marL="203200" indent="-1524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000">
                <a:latin typeface="Noto Sans CJK JP"/>
              </a:defRPr>
              <a:buChar char="•"/>
            </a:pPr>
            <a:r>
              <a:rPr sz="2000" lang="ja-JP">
                <a:solidFill>
                  <a:srgbClr val="303437"/>
                </a:solidFill>
                <a:latin typeface="Noto Sans CJK JP"/>
                <a:ea typeface="Noto Sans CJK JP"/>
              </a:rPr>
              <a:t>規約を守らない作業者を外し、自動の大量投稿を拒否した。</a:t>
            </a:r>
            <a:endParaRPr sz="2000"/>
          </a:p>
          <a:p>
            <a:pPr algn="l" marL="203200" indent="-1524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000">
                <a:latin typeface="Noto Sans CJK JP"/>
              </a:defRPr>
              <a:buChar char="•"/>
            </a:pPr>
            <a:r>
              <a:rPr sz="2000" lang="ja-JP">
                <a:solidFill>
                  <a:srgbClr val="303437"/>
                </a:solidFill>
                <a:latin typeface="Noto Sans CJK JP"/>
                <a:ea typeface="Noto Sans CJK JP"/>
              </a:rPr>
              <a:t>追加検証の多数決と、作成者のラベルを区別する。</a:t>
            </a:r>
            <a:endParaRPr sz="2000"/>
          </a:p>
          <a:p>
            <a:pPr algn="l" lvl="1" marL="482600" indent="-1270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000">
                <a:latin typeface="Noto Sans CJK JP"/>
              </a:defRPr>
              <a:buChar char="○"/>
            </a:pPr>
            <a:r>
              <a:rPr sz="2000" lang="ja-JP">
                <a:solidFill>
                  <a:srgbClr val="303437"/>
                </a:solidFill>
                <a:latin typeface="Noto Sans CJK JP"/>
                <a:ea typeface="Noto Sans CJK JP"/>
              </a:rPr>
              <a:t>開発用とテスト用には複数の判定が付いた文対を使う。</a:t>
            </a:r>
            <a:endParaRPr sz="2000"/>
          </a:p>
          <a:p>
            <a:pPr algn="l" marL="203200" indent="-152400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  <a:defRPr sz="2000">
                <a:latin typeface="Noto Sans CJK JP"/>
              </a:defRPr>
              <a:buChar char="•"/>
            </a:pPr>
            <a:r>
              <a:rPr sz="2000" lang="ja-JP">
                <a:solidFill>
                  <a:srgbClr val="303437"/>
                </a:solidFill>
                <a:latin typeface="Noto Sans CJK JP"/>
                <a:ea typeface="Noto Sans CJK JP"/>
              </a:rPr>
              <a:t>自然な場面の読みと形式的な論理関係は必ずしも一致しない。</a:t>
            </a:r>
            <a:endParaRPr sz="2000"/>
          </a:p>
        </p:txBody>
      </p:sp>
      <p:sp>
        <p:nvSpPr>
          <p:cNvPr id="5" name="lookup-sources"/>
          <p:cNvSpPr txBox="1"/>
          <p:nvPr/>
        </p:nvSpPr>
        <p:spPr>
          <a:xfrm>
            <a:off x="502920" y="4876800"/>
            <a:ext cx="8183879" cy="20726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850">
                <a:latin typeface="Noto Sans CJK JP"/>
              </a:defRPr>
              <a:buNone/>
            </a:pP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[1]</a:t>
            </a:r>
            <a:r>
              <a:rPr sz="850" lang="ja-JP">
                <a:solidFill>
                  <a:srgbClr val="626669"/>
                </a:solidFill>
                <a:latin typeface="Noto Sans CJK JP"/>
                <a:ea typeface="Noto Sans CJK JP"/>
              </a:rPr>
              <a:t> Bowman et al. (2015), §2.1–2.2. https://aclanthology.org/D15-1075/</a:t>
            </a:r>
            <a:endParaRPr sz="85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303437"/>
                </a:solidFill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参考文献（データと関連研究）</a:t>
            </a:r>
            <a:endParaRPr sz="2800" lang="ja-JP"/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EF8"/>
                </a:solidFill>
                <a:latin typeface="Noto Sans CJK JP"/>
              </a:defRPr>
            </a:pPr>
            <a:r>
              <a:rPr sz="1400" b="1" lang="ja-JP">
                <a:solidFill>
                  <a:srgbClr val="FFFEF8"/>
                </a:solidFill>
                <a:latin typeface="Noto Sans CJK JP"/>
                <a:ea typeface="Noto Sans CJK JP"/>
              </a:rPr>
              <a:t>Appendix: 5 参考文献</a:t>
            </a:r>
            <a:endParaRPr sz="1400" lang="ja-JP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046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303437"/>
                </a:solidFill>
                <a:latin typeface="Noto Sans CJK JP"/>
              </a:defRPr>
            </a:pPr>
            <a:r>
              <a:rPr sz="1800" b="0" lang="ja-JP">
                <a:solidFill>
                  <a:srgbClr val="303437"/>
                </a:solidFill>
                <a:latin typeface="Noto Sans CJK JP"/>
                <a:ea typeface="Noto Sans CJK JP"/>
              </a:rPr>
              <a:t>Bowman et al. (2015), SNLI, EMNLP</a:t>
            </a:r>
            <a:endParaRPr sz="1800" lang="ja-JP"/>
          </a:p>
        </p:txBody>
      </p:sp>
      <p:sp>
        <p:nvSpPr>
          <p:cNvPr id="5" name="TextBox 4"/>
          <p:cNvSpPr txBox="1"/>
          <p:nvPr/>
        </p:nvSpPr>
        <p:spPr>
          <a:xfrm>
            <a:off x="548640" y="1773936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626669"/>
                </a:solidFill>
                <a:latin typeface="Liberation Sans"/>
              </a:defRPr>
            </a:pPr>
            <a:r>
              <a:rPr sz="1000" b="0" lang="en-US">
                <a:solidFill>
                  <a:srgbClr val="626669"/>
                </a:solidFill>
                <a:latin typeface="Liberation Sans"/>
                <a:ea typeface="Liberation Sans"/>
                <a:hlinkClick r:id="rId2"/>
              </a:rPr>
              <a:t>https://aclanthology.org/D15-1075/</a:t>
            </a:r>
            <a:endParaRPr sz="1000" lang="en-US"/>
          </a:p>
        </p:txBody>
      </p:sp>
      <p:sp>
        <p:nvSpPr>
          <p:cNvPr id="6" name="TextBox 5"/>
          <p:cNvSpPr txBox="1"/>
          <p:nvPr/>
        </p:nvSpPr>
        <p:spPr>
          <a:xfrm>
            <a:off x="548640" y="1984248"/>
            <a:ext cx="8046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303437"/>
                </a:solidFill>
                <a:latin typeface="Noto Sans CJK JP"/>
              </a:defRPr>
            </a:pPr>
            <a:r>
              <a:rPr sz="1800" b="0" lang="ja-JP">
                <a:solidFill>
                  <a:srgbClr val="303437"/>
                </a:solidFill>
                <a:latin typeface="Noto Sans CJK JP"/>
                <a:ea typeface="Noto Sans CJK JP"/>
              </a:rPr>
              <a:t>Williams et al. (2018), MultiNLI, NAACL</a:t>
            </a:r>
            <a:endParaRPr sz="1800" lang="ja-JP"/>
          </a:p>
        </p:txBody>
      </p:sp>
      <p:sp>
        <p:nvSpPr>
          <p:cNvPr id="7" name="TextBox 6"/>
          <p:cNvSpPr txBox="1"/>
          <p:nvPr/>
        </p:nvSpPr>
        <p:spPr>
          <a:xfrm>
            <a:off x="548640" y="2386584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626669"/>
                </a:solidFill>
                <a:latin typeface="Liberation Sans"/>
              </a:defRPr>
            </a:pPr>
            <a:r>
              <a:rPr sz="1000" b="0" lang="en-US">
                <a:solidFill>
                  <a:srgbClr val="626669"/>
                </a:solidFill>
                <a:latin typeface="Liberation Sans"/>
                <a:ea typeface="Liberation Sans"/>
                <a:hlinkClick r:id="rId3"/>
              </a:rPr>
              <a:t>https://aclanthology.org/N18-1101/</a:t>
            </a:r>
            <a:endParaRPr sz="1000" lang="en-US"/>
          </a:p>
        </p:txBody>
      </p:sp>
      <p:sp>
        <p:nvSpPr>
          <p:cNvPr id="8" name="TextBox 7"/>
          <p:cNvSpPr txBox="1"/>
          <p:nvPr/>
        </p:nvSpPr>
        <p:spPr>
          <a:xfrm>
            <a:off x="548640" y="2596896"/>
            <a:ext cx="8046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303437"/>
                </a:solidFill>
                <a:latin typeface="Noto Sans CJK JP"/>
              </a:defRPr>
            </a:pPr>
            <a:r>
              <a:rPr sz="1800" b="0" lang="ja-JP">
                <a:solidFill>
                  <a:srgbClr val="303437"/>
                </a:solidFill>
                <a:latin typeface="Noto Sans CJK JP"/>
                <a:ea typeface="Noto Sans CJK JP"/>
              </a:rPr>
              <a:t>Camburu et al. (2018), e-SNLI, NeurIPS</a:t>
            </a:r>
            <a:endParaRPr sz="1800" lang="ja-JP"/>
          </a:p>
        </p:txBody>
      </p:sp>
      <p:sp>
        <p:nvSpPr>
          <p:cNvPr id="9" name="TextBox 8"/>
          <p:cNvSpPr txBox="1"/>
          <p:nvPr/>
        </p:nvSpPr>
        <p:spPr>
          <a:xfrm>
            <a:off x="548640" y="2999232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626669"/>
                </a:solidFill>
                <a:latin typeface="Liberation Sans"/>
              </a:defRPr>
            </a:pPr>
            <a:r>
              <a:rPr sz="1000" b="0" lang="en-US">
                <a:solidFill>
                  <a:srgbClr val="626669"/>
                </a:solidFill>
                <a:latin typeface="Liberation Sans"/>
                <a:ea typeface="Liberation Sans"/>
                <a:hlinkClick r:id="rId4"/>
              </a:rPr>
              <a:t>https://github.com/OanaMariaCamburu/e-SNLI</a:t>
            </a:r>
            <a:endParaRPr sz="1000" lang="en-US"/>
          </a:p>
        </p:txBody>
      </p:sp>
      <p:sp>
        <p:nvSpPr>
          <p:cNvPr id="10" name="TextBox 9"/>
          <p:cNvSpPr txBox="1"/>
          <p:nvPr/>
        </p:nvSpPr>
        <p:spPr>
          <a:xfrm>
            <a:off x="548640" y="3209544"/>
            <a:ext cx="8046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303437"/>
                </a:solidFill>
                <a:latin typeface="Noto Sans CJK JP"/>
              </a:defRPr>
            </a:pPr>
            <a:r>
              <a:rPr sz="1800" b="0" lang="ja-JP">
                <a:solidFill>
                  <a:srgbClr val="303437"/>
                </a:solidFill>
                <a:latin typeface="Noto Sans CJK JP"/>
                <a:ea typeface="Noto Sans CJK JP"/>
              </a:rPr>
              <a:t>Nie et al. (2020), ANLI, ACL</a:t>
            </a:r>
            <a:endParaRPr sz="1800" lang="ja-JP"/>
          </a:p>
        </p:txBody>
      </p:sp>
      <p:sp>
        <p:nvSpPr>
          <p:cNvPr id="11" name="TextBox 10"/>
          <p:cNvSpPr txBox="1"/>
          <p:nvPr/>
        </p:nvSpPr>
        <p:spPr>
          <a:xfrm>
            <a:off x="548640" y="3611880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626669"/>
                </a:solidFill>
                <a:latin typeface="Liberation Sans"/>
              </a:defRPr>
            </a:pPr>
            <a:r>
              <a:rPr sz="1000" b="0" lang="en-US">
                <a:solidFill>
                  <a:srgbClr val="626669"/>
                </a:solidFill>
                <a:latin typeface="Liberation Sans"/>
                <a:ea typeface="Liberation Sans"/>
                <a:hlinkClick r:id="rId5"/>
              </a:rPr>
              <a:t>https://github.com/facebookresearch/anli</a:t>
            </a:r>
            <a:endParaRPr sz="1000" lang="en-US"/>
          </a:p>
        </p:txBody>
      </p:sp>
      <p:sp>
        <p:nvSpPr>
          <p:cNvPr id="12" name="TextBox 11"/>
          <p:cNvSpPr txBox="1"/>
          <p:nvPr/>
        </p:nvSpPr>
        <p:spPr>
          <a:xfrm>
            <a:off x="548640" y="3822191"/>
            <a:ext cx="8046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303437"/>
                </a:solidFill>
                <a:latin typeface="Noto Sans CJK JP"/>
              </a:defRPr>
            </a:pPr>
            <a:r>
              <a:rPr sz="1800" b="0" lang="ja-JP">
                <a:solidFill>
                  <a:srgbClr val="303437"/>
                </a:solidFill>
                <a:latin typeface="Noto Sans CJK JP"/>
                <a:ea typeface="Noto Sans CJK JP"/>
              </a:rPr>
              <a:t>Gururangan et al. (2018), Annotation Artifacts, NAACL</a:t>
            </a:r>
            <a:endParaRPr sz="1800" lang="ja-JP"/>
          </a:p>
        </p:txBody>
      </p:sp>
      <p:sp>
        <p:nvSpPr>
          <p:cNvPr id="13" name="TextBox 12"/>
          <p:cNvSpPr txBox="1"/>
          <p:nvPr/>
        </p:nvSpPr>
        <p:spPr>
          <a:xfrm>
            <a:off x="548640" y="4224528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626669"/>
                </a:solidFill>
                <a:latin typeface="Liberation Sans"/>
              </a:defRPr>
            </a:pPr>
            <a:r>
              <a:rPr sz="1000" b="0" lang="en-US">
                <a:solidFill>
                  <a:srgbClr val="626669"/>
                </a:solidFill>
                <a:latin typeface="Liberation Sans"/>
                <a:ea typeface="Liberation Sans"/>
                <a:hlinkClick r:id="rId6"/>
              </a:rPr>
              <a:t>https://aclanthology.org/N18-2017/</a:t>
            </a:r>
            <a:endParaRPr sz="1000" lang="en-US"/>
          </a:p>
        </p:txBody>
      </p:sp>
      <p:sp>
        <p:nvSpPr>
          <p:cNvPr id="14" name="TextBox 13"/>
          <p:cNvSpPr txBox="1"/>
          <p:nvPr/>
        </p:nvSpPr>
        <p:spPr>
          <a:xfrm>
            <a:off x="548640" y="4434840"/>
            <a:ext cx="8046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303437"/>
                </a:solidFill>
                <a:latin typeface="Noto Sans CJK JP"/>
              </a:defRPr>
            </a:pPr>
            <a:r>
              <a:rPr sz="1800" b="0" lang="ja-JP">
                <a:solidFill>
                  <a:srgbClr val="303437"/>
                </a:solidFill>
                <a:latin typeface="Noto Sans CJK JP"/>
                <a:ea typeface="Noto Sans CJK JP"/>
              </a:rPr>
              <a:t>Giampiccolo et al. (2007), RTE第3回</a:t>
            </a:r>
            <a:endParaRPr sz="1800" lang="ja-JP"/>
          </a:p>
        </p:txBody>
      </p:sp>
      <p:sp>
        <p:nvSpPr>
          <p:cNvPr id="15" name="TextBox 14"/>
          <p:cNvSpPr txBox="1"/>
          <p:nvPr/>
        </p:nvSpPr>
        <p:spPr>
          <a:xfrm>
            <a:off x="548640" y="4837176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626669"/>
                </a:solidFill>
                <a:latin typeface="Liberation Sans"/>
              </a:defRPr>
            </a:pPr>
            <a:r>
              <a:rPr sz="1000" b="0" lang="en-US">
                <a:solidFill>
                  <a:srgbClr val="626669"/>
                </a:solidFill>
                <a:latin typeface="Liberation Sans"/>
                <a:ea typeface="Liberation Sans"/>
                <a:hlinkClick r:id="rId7"/>
              </a:rPr>
              <a:t>https://aclanthology.org/W07-1401/</a:t>
            </a:r>
            <a:endParaRPr sz="1000" lang="en-US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none" lIns="0" rIns="0" tIns="0" bIns="0" anchor="t"/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2800" b="1">
                <a:solidFill>
                  <a:srgbClr val="303437"/>
                </a:solidFill>
                <a:latin typeface="Noto Sans CJK JP"/>
              </a:defRPr>
              <a:buNone/>
            </a:pPr>
            <a:r>
              <a:rPr sz="2800" lang="ja-JP" b="1">
                <a:solidFill>
                  <a:srgbClr val="303437"/>
                </a:solidFill>
                <a:latin typeface="Noto Sans CJK JP"/>
                <a:ea typeface="Noto Sans CJK JP"/>
              </a:rPr>
              <a:t>参考文献（モデルと利用例）</a:t>
            </a:r>
            <a:endParaRPr sz="2800" lang="ja-JP"/>
            <a:endParaRPr sz="2800"/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EF8"/>
                </a:solidFill>
                <a:latin typeface="Noto Sans CJK JP"/>
              </a:defRPr>
            </a:pPr>
            <a:r>
              <a:rPr sz="1400" b="1" lang="ja-JP">
                <a:solidFill>
                  <a:srgbClr val="FFFEF8"/>
                </a:solidFill>
                <a:latin typeface="Noto Sans CJK JP"/>
                <a:ea typeface="Noto Sans CJK JP"/>
              </a:rPr>
              <a:t>Appendix: 5 参考文献</a:t>
            </a:r>
            <a:endParaRPr sz="1400" lang="ja-JP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8046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303437"/>
                </a:solidFill>
                <a:latin typeface="Noto Sans CJK JP"/>
              </a:defRPr>
            </a:pPr>
            <a:r>
              <a:rPr sz="1800" b="0" lang="ja-JP">
                <a:solidFill>
                  <a:srgbClr val="303437"/>
                </a:solidFill>
                <a:latin typeface="Noto Sans CJK JP"/>
                <a:ea typeface="Noto Sans CJK JP"/>
              </a:rPr>
              <a:t>ESIM公開実装とSNLIの評価結果</a:t>
            </a:r>
            <a:endParaRPr sz="1800" lang="ja-JP"/>
          </a:p>
        </p:txBody>
      </p:sp>
      <p:sp>
        <p:nvSpPr>
          <p:cNvPr id="5" name="TextBox 4"/>
          <p:cNvSpPr txBox="1"/>
          <p:nvPr/>
        </p:nvSpPr>
        <p:spPr>
          <a:xfrm>
            <a:off x="548640" y="1773936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626669"/>
                </a:solidFill>
                <a:latin typeface="Liberation Sans"/>
              </a:defRPr>
            </a:pPr>
            <a:r>
              <a:rPr sz="1000" b="0" lang="en-US">
                <a:solidFill>
                  <a:srgbClr val="626669"/>
                </a:solidFill>
                <a:latin typeface="Liberation Sans"/>
                <a:ea typeface="Liberation Sans"/>
                <a:hlinkClick r:id="rId2"/>
              </a:rPr>
              <a:t>https://github.com/coetaur0/ESIM</a:t>
            </a:r>
            <a:endParaRPr sz="1000" lang="en-US"/>
          </a:p>
        </p:txBody>
      </p:sp>
      <p:sp>
        <p:nvSpPr>
          <p:cNvPr id="6" name="TextBox 5"/>
          <p:cNvSpPr txBox="1"/>
          <p:nvPr/>
        </p:nvSpPr>
        <p:spPr>
          <a:xfrm>
            <a:off x="548640" y="1984248"/>
            <a:ext cx="8046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303437"/>
                </a:solidFill>
                <a:latin typeface="Noto Sans CJK JP"/>
              </a:defRPr>
            </a:pPr>
            <a:r>
              <a:rPr sz="1800" b="0" lang="ja-JP">
                <a:solidFill>
                  <a:srgbClr val="303437"/>
                </a:solidFill>
                <a:latin typeface="Noto Sans CJK JP"/>
                <a:ea typeface="Noto Sans CJK JP"/>
              </a:rPr>
              <a:t>Zhang et al. (2020), SemBERT, AAAI</a:t>
            </a:r>
            <a:endParaRPr sz="1800" lang="ja-JP"/>
          </a:p>
        </p:txBody>
      </p:sp>
      <p:sp>
        <p:nvSpPr>
          <p:cNvPr id="7" name="TextBox 6"/>
          <p:cNvSpPr txBox="1"/>
          <p:nvPr/>
        </p:nvSpPr>
        <p:spPr>
          <a:xfrm>
            <a:off x="548640" y="2386584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626669"/>
                </a:solidFill>
                <a:latin typeface="Liberation Sans"/>
              </a:defRPr>
            </a:pPr>
            <a:r>
              <a:rPr sz="1000" b="0" lang="en-US">
                <a:solidFill>
                  <a:srgbClr val="626669"/>
                </a:solidFill>
                <a:latin typeface="Liberation Sans"/>
                <a:ea typeface="Liberation Sans"/>
                <a:hlinkClick r:id="rId3"/>
              </a:rPr>
              <a:t>https://github.com/cooelf/SemBERT</a:t>
            </a:r>
            <a:endParaRPr sz="1000" lang="en-US"/>
          </a:p>
        </p:txBody>
      </p:sp>
      <p:sp>
        <p:nvSpPr>
          <p:cNvPr id="8" name="TextBox 7"/>
          <p:cNvSpPr txBox="1"/>
          <p:nvPr/>
        </p:nvSpPr>
        <p:spPr>
          <a:xfrm>
            <a:off x="548640" y="2596896"/>
            <a:ext cx="8046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303437"/>
                </a:solidFill>
                <a:latin typeface="Noto Sans CJK JP"/>
              </a:defRPr>
            </a:pPr>
            <a:r>
              <a:rPr sz="1800" b="0" lang="ja-JP">
                <a:solidFill>
                  <a:srgbClr val="303437"/>
                </a:solidFill>
                <a:latin typeface="Noto Sans CJK JP"/>
                <a:ea typeface="Noto Sans CJK JP"/>
              </a:rPr>
              <a:t>Yang et al. (2019), RE2, ACL</a:t>
            </a:r>
            <a:endParaRPr sz="1800" lang="ja-JP"/>
          </a:p>
        </p:txBody>
      </p:sp>
      <p:sp>
        <p:nvSpPr>
          <p:cNvPr id="9" name="TextBox 8"/>
          <p:cNvSpPr txBox="1"/>
          <p:nvPr/>
        </p:nvSpPr>
        <p:spPr>
          <a:xfrm>
            <a:off x="548640" y="2999232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626669"/>
                </a:solidFill>
                <a:latin typeface="Liberation Sans"/>
              </a:defRPr>
            </a:pPr>
            <a:r>
              <a:rPr sz="1000" b="0" lang="en-US">
                <a:solidFill>
                  <a:srgbClr val="626669"/>
                </a:solidFill>
                <a:latin typeface="Liberation Sans"/>
                <a:ea typeface="Liberation Sans"/>
                <a:hlinkClick r:id="rId4"/>
              </a:rPr>
              <a:t>https://github.com/alibaba-edu/simple-effective-text-matching</a:t>
            </a:r>
            <a:endParaRPr sz="1000" lang="en-US"/>
          </a:p>
        </p:txBody>
      </p:sp>
      <p:sp>
        <p:nvSpPr>
          <p:cNvPr id="10" name="TextBox 9"/>
          <p:cNvSpPr txBox="1"/>
          <p:nvPr/>
        </p:nvSpPr>
        <p:spPr>
          <a:xfrm>
            <a:off x="548640" y="3209544"/>
            <a:ext cx="8046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303437"/>
                </a:solidFill>
                <a:latin typeface="Noto Sans CJK JP"/>
              </a:defRPr>
            </a:pPr>
            <a:r>
              <a:rPr sz="1800" b="0" lang="ja-JP">
                <a:solidFill>
                  <a:srgbClr val="303437"/>
                </a:solidFill>
                <a:latin typeface="Noto Sans CJK JP"/>
                <a:ea typeface="Noto Sans CJK JP"/>
              </a:rPr>
              <a:t>Gao et al. (2021), SimCSE, EMNLP</a:t>
            </a:r>
            <a:endParaRPr sz="1800" lang="ja-JP"/>
          </a:p>
        </p:txBody>
      </p:sp>
      <p:sp>
        <p:nvSpPr>
          <p:cNvPr id="11" name="TextBox 10"/>
          <p:cNvSpPr txBox="1"/>
          <p:nvPr/>
        </p:nvSpPr>
        <p:spPr>
          <a:xfrm>
            <a:off x="548640" y="3611880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626669"/>
                </a:solidFill>
                <a:latin typeface="Liberation Sans"/>
              </a:defRPr>
            </a:pPr>
            <a:r>
              <a:rPr sz="1000" b="0" lang="en-US">
                <a:solidFill>
                  <a:srgbClr val="626669"/>
                </a:solidFill>
                <a:latin typeface="Liberation Sans"/>
                <a:ea typeface="Liberation Sans"/>
                <a:hlinkClick r:id="rId5"/>
              </a:rPr>
              <a:t>https://github.com/princeton-nlp/SimCSE</a:t>
            </a:r>
            <a:endParaRPr sz="1000" lang="en-US"/>
          </a:p>
        </p:txBody>
      </p:sp>
      <p:sp>
        <p:nvSpPr>
          <p:cNvPr id="12" name="TextBox 11"/>
          <p:cNvSpPr txBox="1"/>
          <p:nvPr/>
        </p:nvSpPr>
        <p:spPr>
          <a:xfrm>
            <a:off x="548640" y="3822191"/>
            <a:ext cx="8046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303437"/>
                </a:solidFill>
                <a:latin typeface="Noto Sans CJK JP"/>
              </a:defRPr>
            </a:pPr>
            <a:r>
              <a:rPr sz="1800" b="0" lang="ja-JP">
                <a:solidFill>
                  <a:srgbClr val="303437"/>
                </a:solidFill>
                <a:latin typeface="Noto Sans CJK JP"/>
                <a:ea typeface="Noto Sans CJK JP"/>
              </a:rPr>
              <a:t>Sentence TransformersのAllNLI学習例</a:t>
            </a:r>
            <a:endParaRPr sz="1800" lang="ja-JP"/>
          </a:p>
        </p:txBody>
      </p:sp>
      <p:sp>
        <p:nvSpPr>
          <p:cNvPr id="13" name="TextBox 12"/>
          <p:cNvSpPr txBox="1"/>
          <p:nvPr/>
        </p:nvSpPr>
        <p:spPr>
          <a:xfrm>
            <a:off x="548640" y="4224528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626669"/>
                </a:solidFill>
                <a:latin typeface="Liberation Sans"/>
              </a:defRPr>
            </a:pPr>
            <a:r>
              <a:rPr sz="1000" b="0" lang="en-US">
                <a:solidFill>
                  <a:srgbClr val="626669"/>
                </a:solidFill>
                <a:latin typeface="Liberation Sans"/>
                <a:ea typeface="Liberation Sans"/>
                <a:hlinkClick r:id="rId6"/>
              </a:rPr>
              <a:t>https://github.com/UKPLab/sentence-transformers/tree/master/examples/sentence_transformer/training/nli</a:t>
            </a:r>
            <a:endParaRPr sz="1000" lang="en-US"/>
          </a:p>
        </p:txBody>
      </p:sp>
      <p:sp>
        <p:nvSpPr>
          <p:cNvPr id="14" name="TextBox 13"/>
          <p:cNvSpPr txBox="1"/>
          <p:nvPr/>
        </p:nvSpPr>
        <p:spPr>
          <a:xfrm>
            <a:off x="548640" y="4434840"/>
            <a:ext cx="8046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303437"/>
                </a:solidFill>
                <a:latin typeface="Noto Sans CJK JP"/>
              </a:defRPr>
            </a:pPr>
            <a:r>
              <a:rPr sz="1800" b="0" lang="ja-JP">
                <a:solidFill>
                  <a:srgbClr val="303437"/>
                </a:solidFill>
                <a:latin typeface="Noto Sans CJK JP"/>
                <a:ea typeface="Noto Sans CJK JP"/>
              </a:rPr>
              <a:t>Solatorio (2024), GISTEmbed</a:t>
            </a:r>
            <a:endParaRPr sz="1800" lang="ja-JP"/>
          </a:p>
        </p:txBody>
      </p:sp>
      <p:sp>
        <p:nvSpPr>
          <p:cNvPr id="15" name="TextBox 14"/>
          <p:cNvSpPr txBox="1"/>
          <p:nvPr/>
        </p:nvSpPr>
        <p:spPr>
          <a:xfrm>
            <a:off x="548640" y="4837176"/>
            <a:ext cx="8046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626669"/>
                </a:solidFill>
                <a:latin typeface="Liberation Sans"/>
              </a:defRPr>
            </a:pPr>
            <a:r>
              <a:rPr sz="1000" b="0" lang="en-US">
                <a:solidFill>
                  <a:srgbClr val="626669"/>
                </a:solidFill>
                <a:latin typeface="Liberation Sans"/>
                <a:ea typeface="Liberation Sans"/>
                <a:hlinkClick r:id="rId7"/>
              </a:rPr>
              <a:t>https://arxiv.org/abs/2402.16829</a:t>
            </a:r>
            <a:endParaRPr sz="1000"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IARTEM Research Palette">
      <a:dk1>
        <a:srgbClr val="303437"/>
      </a:dk1>
      <a:lt1>
        <a:srgbClr val="FFFEF8"/>
      </a:lt1>
      <a:dk2>
        <a:srgbClr val="626669"/>
      </a:dk2>
      <a:lt2>
        <a:srgbClr val="EBEDEB"/>
      </a:lt2>
      <a:accent1>
        <a:srgbClr val="B13731"/>
      </a:accent1>
      <a:accent2>
        <a:srgbClr val="2C9100"/>
      </a:accent2>
      <a:accent3>
        <a:srgbClr val="2166AC"/>
      </a:accent3>
      <a:accent4>
        <a:srgbClr val="B84A00"/>
      </a:accent4>
      <a:accent5>
        <a:srgbClr val="007C91"/>
      </a:accent5>
      <a:accent6>
        <a:srgbClr val="763DA0"/>
      </a:accent6>
      <a:hlink>
        <a:srgbClr val="3F6F8F"/>
      </a:hlink>
      <a:folHlink>
        <a:srgbClr val="7A5C8E"/>
      </a:folHlink>
    </a:clrScheme>
    <a:fontScheme name="Office">
      <a:maj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3EA7E97F-3A5A-9342-98CB-7411DADE8916}">
  <we:reference id="wa200010215" version="2.0.0.0" store="ja-JP" storeType="OMEX"/>
  <we:alternateReferences>
    <we:reference id="WA200010215" version="2.0.0.0" store="WA200010215" storeType="OMEX"/>
  </we:alternateReferences>
  <we:properties>
    <we:property name="bps.codex_control.document_id" value="&quot;f3f6bd8f-7a20-4dbe-a71e-f9942711a911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13685</TotalTime>
  <Words>14</Words>
  <Application>Microsoft Macintosh PowerPoint</Application>
  <PresentationFormat>画面に合わせる (16:9)</PresentationFormat>
  <Paragraphs>3</Paragraphs>
  <Slides>8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1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8</vt:i4>
      </vt:variant>
    </vt:vector>
  </HeadingPairs>
  <TitlesOfParts>
    <vt:vector size="10" baseType="lpstr">
      <vt:lpstr>Arial</vt:lpstr>
      <vt:lpstr>Simple Light</vt:lpstr>
      <vt:lpstr>Developing and Applying a Systematic Classification Framework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Bottom-right caption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佐々木　悠太</cp:lastModifiedBy>
  <cp:revision>500</cp:revision>
  <dcterms:modified xsi:type="dcterms:W3CDTF">2026-10-13T12:49:59Z</dcterms:modified>
</cp:coreProperties>
</file>