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7"/>
    <p:sldId id="307" r:id="rId58"/>
    <p:sldId id="308" r:id="rId59"/>
    <p:sldId id="257" r:id="rId8"/>
    <p:sldId id="258" r:id="rId9"/>
    <p:sldId id="259" r:id="rId6"/>
    <p:sldId id="260" r:id="rId5"/>
    <p:sldId id="261" r:id="rId4"/>
    <p:sldId id="267" r:id="rId18"/>
    <p:sldId id="309" r:id="rId60"/>
    <p:sldId id="262" r:id="rId3"/>
    <p:sldId id="263" r:id="rId2"/>
    <p:sldId id="264" r:id="rId15"/>
    <p:sldId id="265" r:id="rId16"/>
    <p:sldId id="266" r:id="rId17"/>
    <p:sldId id="314" r:id="rId10"/>
    <p:sldId id="310" r:id="rId61"/>
    <p:sldId id="268" r:id="rId19"/>
    <p:sldId id="311" r:id="rId62"/>
    <p:sldId id="269" r:id="rId20"/>
    <p:sldId id="270" r:id="rId21"/>
    <p:sldId id="312" r:id="rId63"/>
    <p:sldId id="271" r:id="rId22"/>
    <p:sldId id="272" r:id="rId23"/>
    <p:sldId id="273" r:id="rId24"/>
    <p:sldId id="274" r:id="rId25"/>
    <p:sldId id="313" r:id="rId64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15" r:id="rId57"/>
    <p:sldId id="316" r:id="rId56"/>
    <p:sldId id="317" r:id="rId65"/>
    <p:sldId id="318" r:id="rId66"/>
    <p:sldId id="319" r:id="rId67"/>
    <p:sldId id="320" r:id="rId68"/>
    <p:sldId id="321" r:id="rId6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2.xml"/><Relationship Id="rId3" Type="http://schemas.openxmlformats.org/officeDocument/2006/relationships/slide" Target="slides/slide11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1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16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9.xml"/><Relationship Id="rId19" Type="http://schemas.openxmlformats.org/officeDocument/2006/relationships/slide" Target="slides/slide18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slide" Target="slides/slide28.xml"/><Relationship Id="rId27" Type="http://schemas.openxmlformats.org/officeDocument/2006/relationships/slide" Target="slides/slide29.xml"/><Relationship Id="rId28" Type="http://schemas.openxmlformats.org/officeDocument/2006/relationships/slide" Target="slides/slide30.xml"/><Relationship Id="rId29" Type="http://schemas.openxmlformats.org/officeDocument/2006/relationships/slide" Target="slides/slide31.xml"/><Relationship Id="rId30" Type="http://schemas.openxmlformats.org/officeDocument/2006/relationships/slide" Target="slides/slide32.xml"/><Relationship Id="rId31" Type="http://schemas.openxmlformats.org/officeDocument/2006/relationships/slide" Target="slides/slide33.xml"/><Relationship Id="rId32" Type="http://schemas.openxmlformats.org/officeDocument/2006/relationships/slide" Target="slides/slide34.xml"/><Relationship Id="rId33" Type="http://schemas.openxmlformats.org/officeDocument/2006/relationships/slide" Target="slides/slide35.xml"/><Relationship Id="rId34" Type="http://schemas.openxmlformats.org/officeDocument/2006/relationships/slide" Target="slides/slide36.xml"/><Relationship Id="rId35" Type="http://schemas.openxmlformats.org/officeDocument/2006/relationships/slide" Target="slides/slide37.xml"/><Relationship Id="rId36" Type="http://schemas.openxmlformats.org/officeDocument/2006/relationships/slide" Target="slides/slide38.xml"/><Relationship Id="rId37" Type="http://schemas.openxmlformats.org/officeDocument/2006/relationships/slide" Target="slides/slide39.xml"/><Relationship Id="rId38" Type="http://schemas.openxmlformats.org/officeDocument/2006/relationships/slide" Target="slides/slide40.xml"/><Relationship Id="rId39" Type="http://schemas.openxmlformats.org/officeDocument/2006/relationships/slide" Target="slides/slide41.xml"/><Relationship Id="rId40" Type="http://schemas.openxmlformats.org/officeDocument/2006/relationships/slide" Target="slides/slide42.xml"/><Relationship Id="rId41" Type="http://schemas.openxmlformats.org/officeDocument/2006/relationships/slide" Target="slides/slide43.xml"/><Relationship Id="rId42" Type="http://schemas.openxmlformats.org/officeDocument/2006/relationships/slide" Target="slides/slide44.xml"/><Relationship Id="rId43" Type="http://schemas.openxmlformats.org/officeDocument/2006/relationships/slide" Target="slides/slide45.xml"/><Relationship Id="rId44" Type="http://schemas.openxmlformats.org/officeDocument/2006/relationships/slide" Target="slides/slide46.xml"/><Relationship Id="rId45" Type="http://schemas.openxmlformats.org/officeDocument/2006/relationships/slide" Target="slides/slide47.xml"/><Relationship Id="rId46" Type="http://schemas.openxmlformats.org/officeDocument/2006/relationships/slide" Target="slides/slide48.xml"/><Relationship Id="rId47" Type="http://schemas.openxmlformats.org/officeDocument/2006/relationships/slide" Target="slides/slide49.xml"/><Relationship Id="rId48" Type="http://schemas.openxmlformats.org/officeDocument/2006/relationships/slide" Target="slides/slide50.xml"/><Relationship Id="rId49" Type="http://schemas.openxmlformats.org/officeDocument/2006/relationships/slide" Target="slides/slide51.xml"/><Relationship Id="rId50" Type="http://schemas.openxmlformats.org/officeDocument/2006/relationships/slide" Target="slides/slide52.xml"/><Relationship Id="rId51" Type="http://schemas.openxmlformats.org/officeDocument/2006/relationships/slide" Target="slides/slide53.xml"/><Relationship Id="rId52" Type="http://schemas.openxmlformats.org/officeDocument/2006/relationships/slide" Target="slides/slide54.xml"/><Relationship Id="rId53" Type="http://schemas.openxmlformats.org/officeDocument/2006/relationships/slide" Target="slides/slide55.xml"/><Relationship Id="rId54" Type="http://schemas.openxmlformats.org/officeDocument/2006/relationships/slide" Target="slides/slide56.xml"/><Relationship Id="rId55" Type="http://schemas.openxmlformats.org/officeDocument/2006/relationships/slide" Target="slides/slide57.xml"/><Relationship Id="rId56" Type="http://schemas.openxmlformats.org/officeDocument/2006/relationships/slide" Target="slides/slide59.xml"/><Relationship Id="rId57" Type="http://schemas.openxmlformats.org/officeDocument/2006/relationships/slide" Target="slides/slide58.xml"/><Relationship Id="rId58" Type="http://schemas.openxmlformats.org/officeDocument/2006/relationships/slide" Target="slides/slide2.xml"/><Relationship Id="rId59" Type="http://schemas.openxmlformats.org/officeDocument/2006/relationships/slide" Target="slides/slide3.xml"/><Relationship Id="rId60" Type="http://schemas.openxmlformats.org/officeDocument/2006/relationships/slide" Target="slides/slide10.xml"/><Relationship Id="rId61" Type="http://schemas.openxmlformats.org/officeDocument/2006/relationships/slide" Target="slides/slide17.xml"/><Relationship Id="rId62" Type="http://schemas.openxmlformats.org/officeDocument/2006/relationships/slide" Target="slides/slide19.xml"/><Relationship Id="rId63" Type="http://schemas.openxmlformats.org/officeDocument/2006/relationships/slide" Target="slides/slide22.xml"/><Relationship Id="rId64" Type="http://schemas.openxmlformats.org/officeDocument/2006/relationships/slide" Target="slides/slide27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ja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ja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468600" y="2263650"/>
            <a:ext cx="8206800" cy="6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7245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D15-1075/" TargetMode="External"/><Relationship Id="rId3" Type="http://schemas.openxmlformats.org/officeDocument/2006/relationships/hyperlink" Target="https://aclanthology.org/N18-1101/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N18-2017/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UKPLab/sentence-transformers/tree/master/examples/sentence_transformer/training/nli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D19-1410/" TargetMode="External"/><Relationship Id="rId3" Type="http://schemas.openxmlformats.org/officeDocument/2006/relationships/hyperlink" Target="https://aclanthology.org/2021.emnlp-main.552/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P19-1334/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acl-main.441/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OanaMariaCamburu/e-SNLI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097280"/>
            <a:ext cx="8229600" cy="2240280"/>
          </a:xfrm>
        </p:spPr>
        <p:txBody>
          <a:bodyPr wrap="square" lIns="0" rIns="0" tIns="0" bIns="0" anchor="ctr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3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自然言語推論用データセット</a:t>
            </a:r>
            <a:endParaRPr sz="3200" lang="ja-JP">
              <a:latin typeface="Noto Sans"/>
              <a:ea typeface="Noto Sans CJK JP"/>
              <a:cs typeface="Noto Sans"/>
            </a:endParaRPr>
          </a:p>
          <a:p>
            <a:pPr algn="ctr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defRPr sz="3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3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Stanford Natural Language Inference Corpus</a:t>
            </a:r>
            <a:endParaRPr sz="3200" lang="ja-JP">
              <a:latin typeface="Noto Sans"/>
              <a:ea typeface="Noto Sans CJK JP"/>
              <a:cs typeface="Noto Sans"/>
            </a:endParaRPr>
          </a:p>
          <a:p>
            <a:pPr algn="ctr">
              <a:lnSpc>
                <a:spcPts val="6500"/>
              </a:lnSpc>
              <a:spcBef>
                <a:spcPts val="0"/>
              </a:spcBef>
              <a:spcAft>
                <a:spcPts val="0"/>
              </a:spcAft>
              <a:defRPr sz="54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54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SNLI</a:t>
            </a:r>
            <a:endParaRPr sz="32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 anchor="t"/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046720" cy="27432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(2026-10-15)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本編の構成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SNLIの構成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1"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概要とタスク</a:t>
            </a:r>
            <a:endParaRPr sz="2800" lang="ja-JP">
              <a:latin typeface="Noto Sans"/>
              <a:ea typeface="Noto Sans CJK JP"/>
              <a:cs typeface="Noto Sans"/>
            </a:endParaRPr>
          </a:p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2"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作成方法と規模</a:t>
            </a:r>
            <a:endParaRPr sz="2800" lang="ja-JP">
              <a:latin typeface="Noto Sans"/>
              <a:ea typeface="Noto Sans CJK JP"/>
              <a:cs typeface="Noto Sans"/>
            </a:endParaRPr>
          </a:p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3"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評価と性能</a:t>
            </a:r>
            <a:endParaRPr sz="2800" lang="ja-JP">
              <a:latin typeface="Noto Sans"/>
              <a:ea typeface="Noto Sans CJK JP"/>
              <a:cs typeface="Noto Sans"/>
            </a:endParaRPr>
          </a:p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4"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利用の変遷と現在</a:t>
            </a:r>
            <a:endParaRPr sz="2800" lang="ja-JP">
              <a:latin typeface="Noto Sans"/>
              <a:ea typeface="Noto Sans CJK JP"/>
              <a:cs typeface="Noto Sans"/>
            </a:endParaRPr>
          </a:p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5"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入手方法とまとめ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83080"/>
            <a:ext cx="8229600" cy="1417320"/>
          </a:xfrm>
        </p:spPr>
        <p:txBody>
          <a:bodyPr wrap="none" lIns="0" rIns="0" tIns="0" bIns="0" anchor="ctr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lang="ja-JP">
                <a:latin typeface="Noto Sans"/>
                <a:ea typeface="Noto Sans CJK JP"/>
                <a:cs typeface="Noto Sans"/>
              </a:defRPr>
            </a:pPr>
            <a:r>
              <a:rPr sz="40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 概要とタスク</a:t>
            </a:r>
            <a:endParaRPr sz="40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SNLIの公式サイト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SNLIの概要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4" name="Picture 3" descr="official-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8046720" cy="2682240"/>
          </a:xfrm>
          <a:prstGeom prst="rect">
            <a:avLst/>
          </a:prstGeom>
        </p:spPr>
      </p:pic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SNLI公式サイト. https://nlp.stanford.edu/projects/snli/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英語の文対を3種類の関係に分類する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SNLIの概要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ct val="60455"/>
              <a:buFont typeface="Noto Sans CJK JP"/>
              <a:buChar char="●"/>
              <a:def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SNLIは自然言語推論（NLI）のデータセットである。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入力には前提文と仮説文の2つのテキストを使う。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0455"/>
              <a:buFont typeface="Noto Sans CJK JP"/>
              <a:buChar char="○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仮説が前提から導けるかを含意・中立・矛盾で判断する。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画像の説明文を利用するが、モデルの入力に画像は含まれない。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約57万組を収録し、2015年のEMNLPで発表された 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2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Bowman et al. (2015), EMNLP. https://aclanthology.org/D15-1075/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含意の例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含意・中立・矛盾の実例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前提文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quote-frame-premise"/>
          <p:cNvSpPr/>
          <p:nvPr/>
        </p:nvSpPr>
        <p:spPr>
          <a:xfrm>
            <a:off x="548640" y="1673352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-text-premise"/>
          <p:cNvSpPr txBox="1"/>
          <p:nvPr/>
        </p:nvSpPr>
        <p:spPr>
          <a:xfrm>
            <a:off x="726440" y="1741678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man playing an electric guitar on stage.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259685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仮説文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quote-frame-hypothesis"/>
          <p:cNvSpPr/>
          <p:nvPr/>
        </p:nvSpPr>
        <p:spPr>
          <a:xfrm>
            <a:off x="548640" y="2561437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-text-hypothesis"/>
          <p:cNvSpPr txBox="1"/>
          <p:nvPr/>
        </p:nvSpPr>
        <p:spPr>
          <a:xfrm>
            <a:off x="726440" y="2629763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man playing guitar on stage.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147771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defRPr>
            </a:pPr>
            <a:r>
              <a: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正解は含意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531819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電気ギターを弾いているなら、ギターを弾いている。</a:t>
            </a:r>
            <a:endParaRPr sz="19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  文対ID 1034985636.jpg#3r1e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中立の例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含意・中立・矛盾の実例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前提文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quote-frame-premise"/>
          <p:cNvSpPr/>
          <p:nvPr/>
        </p:nvSpPr>
        <p:spPr>
          <a:xfrm>
            <a:off x="548640" y="1673352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-text-premise"/>
          <p:cNvSpPr txBox="1"/>
          <p:nvPr/>
        </p:nvSpPr>
        <p:spPr>
          <a:xfrm>
            <a:off x="726440" y="1741678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man reads the paper in a bar with green lighting.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259685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仮説文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quote-frame-hypothesis"/>
          <p:cNvSpPr/>
          <p:nvPr/>
        </p:nvSpPr>
        <p:spPr>
          <a:xfrm>
            <a:off x="548640" y="2561437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-text-hypothesis"/>
          <p:cNvSpPr txBox="1"/>
          <p:nvPr/>
        </p:nvSpPr>
        <p:spPr>
          <a:xfrm>
            <a:off x="726440" y="2629763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man is reading the sportspage.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147771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defRPr>
            </a:pPr>
            <a:r>
              <a: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正解は中立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531819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新聞のどの面を読んでいるかは、前提に書かれていない。</a:t>
            </a:r>
            <a:endParaRPr sz="19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  文対ID 2096485764.jpg#0r1n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矛盾の例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含意・中立・矛盾の実例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前提文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quote-frame-premise"/>
          <p:cNvSpPr/>
          <p:nvPr/>
        </p:nvSpPr>
        <p:spPr>
          <a:xfrm>
            <a:off x="548640" y="1673352"/>
            <a:ext cx="8046720" cy="74406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-text-premise"/>
          <p:cNvSpPr txBox="1"/>
          <p:nvPr/>
        </p:nvSpPr>
        <p:spPr>
          <a:xfrm>
            <a:off x="726440" y="1741678"/>
            <a:ext cx="7691120" cy="6424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 young man in hoods standing in the middle of a quiet street facing the camera.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545435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仮説文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quote-frame-hypothesis"/>
          <p:cNvSpPr/>
          <p:nvPr/>
        </p:nvSpPr>
        <p:spPr>
          <a:xfrm>
            <a:off x="548640" y="2847187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-text-hypothesis"/>
          <p:cNvSpPr txBox="1"/>
          <p:nvPr/>
        </p:nvSpPr>
        <p:spPr>
          <a:xfrm>
            <a:off x="726440" y="2915513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Three people sit by a busy street bareheaded.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433521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defRPr>
            </a:pPr>
            <a:r>
              <a: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正解は矛盾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817569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立っていることと座っていることなどが両立しない。</a:t>
            </a:r>
            <a:endParaRPr sz="19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  文対ID 4460943467.jpg#0r1c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「片手」と「両手」の違いは矛盾か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SNLIの判断と限界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前提文の一部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quote-frame-premise"/>
          <p:cNvSpPr/>
          <p:nvPr/>
        </p:nvSpPr>
        <p:spPr>
          <a:xfrm>
            <a:off x="548640" y="1673352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-text-premise"/>
          <p:cNvSpPr txBox="1"/>
          <p:nvPr/>
        </p:nvSpPr>
        <p:spPr>
          <a:xfrm>
            <a:off x="726440" y="1741678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with one hand holding a skinny but long stick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259685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仮説文の一部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quote-frame-hypothesis"/>
          <p:cNvSpPr/>
          <p:nvPr/>
        </p:nvSpPr>
        <p:spPr>
          <a:xfrm>
            <a:off x="548640" y="2561437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-text-hypothesis"/>
          <p:cNvSpPr txBox="1"/>
          <p:nvPr/>
        </p:nvSpPr>
        <p:spPr>
          <a:xfrm>
            <a:off x="726440" y="2629763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with both hands holding a skinny but long stick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147771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defRPr>
            </a:pPr>
            <a:r>
              <a: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正解は矛盾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531819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「片手だけ」と読むなら、両手で持つ仮説と矛盾する。片手という表現が、他方の手を排除するかは曖昧である。</a:t>
            </a:r>
            <a:endParaRPr sz="19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  文対ID 71651754.jpg#0r1c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83080"/>
            <a:ext cx="8229600" cy="1417320"/>
          </a:xfrm>
        </p:spPr>
        <p:txBody>
          <a:bodyPr wrap="none" lIns="0" rIns="0" tIns="0" bIns="0" anchor="ctr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lang="ja-JP">
                <a:latin typeface="Noto Sans"/>
                <a:ea typeface="Noto Sans CJK JP"/>
                <a:cs typeface="Noto Sans"/>
              </a:defRPr>
            </a:pPr>
            <a:r>
              <a:rPr sz="40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 作成方法と規模</a:t>
            </a:r>
            <a:endParaRPr sz="40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大規模な学習データが必要だった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SNLIの開発目的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ct val="60455"/>
              <a:buFont typeface="Noto Sans CJK JP"/>
              <a:buChar char="●"/>
              <a:def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先行する含意判定の課題であるRTEは、評価用の規模だった。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0455"/>
              <a:buFont typeface="Noto Sans CJK JP"/>
              <a:buChar char="○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大規模なニューラルモデルの教師あり学習には限界があった。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これに対してSNLIは、人手で570,152組を作った 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0455"/>
              <a:buFont typeface="Noto Sans CJK JP"/>
              <a:buChar char="○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語彙・構文・意味を扱う文表現モデルの学習と評価に使う。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写真の同じ状況を想定し、文の関係を判断しやすくした。</a:t>
            </a:r>
            <a:endParaRPr sz="22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dataset card. https://github.com/huggingface/datasets/blob/1.18.4/datasets/snli/README.md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写真説明文から3種類の仮説を作成した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SNLIの作成方法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ct val="63333"/>
              <a:buFont typeface="Noto Sans CJK JP"/>
              <a:buChar char="●"/>
              <a:def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写真に英語の説明文を付けたFlickr30kなどを素材にした 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3333"/>
              <a:buFont typeface="Noto Sans CJK JP"/>
              <a:buChar char="○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物体や関係を注釈したVisual Genomeの初期データも使った。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3333"/>
              <a:buFont typeface="Noto Sans CJK JP"/>
              <a:buChar char="●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作業者には説明文だけを提示し、写真は見せなかった。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3333"/>
              <a:buFont typeface="Noto Sans CJK JP"/>
              <a:buChar char="○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確実に真・真かもしれない・確実に偽の文を各1つ書く。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3333"/>
              <a:buFont typeface="Noto Sans CJK JP"/>
              <a:buChar char="●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この仮説文の作成には約2,500人の作業者が参加した 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Bowman et al. (2015), §2.1. https://aclanthology.org/D15-1075/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追加の4人が一部の文対を判定した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SNLIの作成方法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ct val="63333"/>
              <a:buFont typeface="Noto Sans CJK JP"/>
              <a:buChar char="●"/>
              <a:def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56,951組について、4人の判定を追加した 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[1, 2]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3333"/>
              <a:buFont typeface="Noto Sans CJK JP"/>
              <a:buChar char="○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作成者のラベルを含め、1組あたり5票を得た。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3333"/>
              <a:buFont typeface="Noto Sans CJK JP"/>
              <a:buChar char="●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3票以上が一致したクラスを正解ラベルとした。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3333"/>
              <a:buFont typeface="Noto Sans CJK JP"/>
              <a:buChar char="○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検証対象の98%で3票以上が一致し、58.3%は全員一致。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3333"/>
              <a:buFont typeface="Noto Sans CJK JP"/>
              <a:buChar char="●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検証は約30人の信頼された作業者が担当した 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3333"/>
              <a:buFont typeface="Noto Sans CJK JP"/>
              <a:buChar char="●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一致しない文対には「-」を付け、通常の3分類から除く。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Bowman et al. (2015), §2.2 / Table 3. https://aclanthology.org/D15-1075/</a:t>
            </a:r>
            <a:endParaRPr sz="850" lang="ja-JP">
              <a:latin typeface="Noto Sans"/>
              <a:ea typeface="Noto Sans CJK JP"/>
              <a:cs typeface="Noto Sans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収録規模と3分類に使う文対数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SNLIの規模と文の長さ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554480"/>
          <a:ext cx="8046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2743200"/>
              </a:tblGrid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分割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元の収録数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正解ラベル付き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学習用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550,152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549,367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開発用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10,000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9,842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テスト用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10,000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9,824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合計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570,152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569,033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4246880"/>
            <a:ext cx="7955279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右列は、正解ラベルが付いたSNLI 1.0の文対数。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前提文の単語数の分布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SNLIの規模と文の長さ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4" name="Picture 3" descr="snli-p_w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804672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169663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平均12.89語、中央値12語、最大78語。</a:t>
            </a:r>
          </a:p>
        </p:txBody>
      </p:sp>
      <p:sp>
        <p:nvSpPr>
          <p:cNvPr id="6" name="lookup-sources"/>
          <p:cNvSpPr txBox="1"/>
          <p:nvPr/>
        </p:nvSpPr>
        <p:spPr>
          <a:xfrm>
            <a:off x="502920" y="4773168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SNLI 1.0. https://nlp.stanford.edu/projects/snli/
正解付き569,033文対。同じ前提文が複数の文対に現れる場合も、それぞれ数えた。 棒1本は0〜1語、2〜3語…の区間を表す。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rIns="0" tIns="0" bIns="0"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仮説文の単語数の分布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 lIns="0" rIns="0" tIns="0" bIns="0" anchor="ctr"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SNLIの規模と文の長さ</a:t>
            </a:r>
          </a:p>
        </p:txBody>
      </p:sp>
      <p:pic>
        <p:nvPicPr>
          <p:cNvPr id="4" name="Picture 3" descr="snli-h_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804672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169663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平均7.42語、中央値7語、最大56語。</a:t>
            </a:r>
          </a:p>
        </p:txBody>
      </p:sp>
      <p:sp>
        <p:nvSpPr>
          <p:cNvPr id="6" name="lookup-sources"/>
          <p:cNvSpPr txBox="1"/>
          <p:nvPr/>
        </p:nvSpPr>
        <p:spPr>
          <a:xfrm>
            <a:off x="502920" y="4773168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SNLI 1.0. https://nlp.stanford.edu/projects/snli/
正解付き569,033文対の仮説文を集計した。 棒1本は0〜1語、2〜3語…の区間を表す。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83080"/>
            <a:ext cx="8229600" cy="1417320"/>
          </a:xfrm>
        </p:spPr>
        <p:txBody>
          <a:bodyPr wrap="none" lIns="0" rIns="0" tIns="0" bIns="0" anchor="ctr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lang="ja-JP">
                <a:latin typeface="Noto Sans"/>
                <a:ea typeface="Noto Sans CJK JP"/>
                <a:cs typeface="Noto Sans"/>
              </a:defRPr>
            </a:pPr>
            <a:r>
              <a:rPr sz="40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 評価と性能</a:t>
            </a:r>
            <a:endParaRPr sz="40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分類性能を正解率で評価する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SNLIの評価方法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ct val="57826"/>
              <a:buFont typeface="Noto Sans CJK JP"/>
              <a:buChar char="●"/>
              <a:def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1組の予測クラスが正解と一致すれば1、不一致なら0。</a:t>
            </a:r>
            <a:endParaRPr sz="23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正解率は正解した組数を評価対象の組数で割る。3組中2組が正解なら、正解率は66.7%となる。</a:t>
            </a:r>
            <a:endParaRPr sz="23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正解ラベルがない「-」の文対は3分類の評価から除く。</a:t>
            </a:r>
            <a:endParaRPr sz="23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テスト用では正解付き9,824組を評価対象とする </a:t>
            </a: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3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2015年のLSTMの正解率は77.6%だった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SNLIの登場時の性能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554480"/>
          <a:ext cx="8046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560320"/>
              </a:tblGrid>
              <a:tr h="52578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原著のモデル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テスト正解率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2578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単語埋め込みの和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75.3%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2578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単純な再帰型ネットワーク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72.2%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2578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長期依存を扱うLSTM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200" lang="ja-JP"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77.6%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58768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900" lang="ja-JP"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いずれもSNLIの学習用で学習し、テスト用で評価した </a:t>
            </a: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19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Bowman et al. (2015), Table 6. https://aclanthology.org/D15-1075/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SNLIで報告されたモデルの正解率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SNLIのモデル評価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554480"/>
          <a:ext cx="80467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108960"/>
                <a:gridCol w="2011680"/>
              </a:tblGrid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  <a:endParaRPr sz="21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方式</a:t>
                      </a:r>
                      <a:endParaRPr sz="21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テスト正解率</a:t>
                      </a:r>
                      <a:endParaRPr sz="21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1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ESIM 2017 </a:t>
                      </a:r>
                      <a:r>
                        <a:rPr sz="21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[1]</a:t>
                      </a:r>
                      <a:endParaRPr sz="21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双方向LSTM＋注意</a:t>
                      </a:r>
                      <a:endParaRPr sz="21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88.0%</a:t>
                      </a:r>
                      <a:endParaRPr sz="21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1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SemBERT 2020 </a:t>
                      </a:r>
                      <a:r>
                        <a:rPr sz="210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[2]</a:t>
                      </a:r>
                      <a:endParaRPr sz="21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BERT＋意味役割</a:t>
                      </a:r>
                      <a:endParaRPr sz="21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1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91.9%</a:t>
                      </a:r>
                      <a:endParaRPr sz="21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3241040"/>
            <a:ext cx="7955279" cy="1340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文間の注意を計算するESIMと、BERTを意味役割で拡張したSemBERT。各公開実装の報告値であり、学習条件は異なる。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ESIM 公開実装. https://github.com/coetaur0/ESIM</a:t>
            </a:r>
            <a:endParaRPr sz="850" lang="ja-JP">
              <a:latin typeface="Noto Sans"/>
              <a:ea typeface="Noto Sans CJK JP"/>
              <a:cs typeface="Noto Sans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SemBERT 著者実装. https://github.com/cooelf/SemBERT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正解率だけでは文の理解を判断できない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SNLIの判断と限界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ct val="60455"/>
              <a:buFont typeface="Noto Sans CJK JP"/>
              <a:buChar char="●"/>
              <a:def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写真説明文に偏り、長文・専門文書を代表しない。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仮説文だけでもラベルを推測できる注釈の偏りがある 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0455"/>
              <a:buFont typeface="Noto Sans CJK JP"/>
              <a:buChar char="○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仮説だけを使う分類器で約67%という報告がある。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中立と矛盾の境界には、場面の解釈が関わる。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文対全体の性能と、推論の種類ごとの性能を分けて見る。</a:t>
            </a:r>
            <a:endParaRPr sz="22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Gururangan et al. (2018), NAACL. https://aclanthology.org/N18-2017/</a:t>
            </a:r>
            <a:endParaRPr sz="850" lang="ja-JP">
              <a:latin typeface="Noto Sans"/>
              <a:ea typeface="Noto Sans CJK JP"/>
              <a:cs typeface="Noto Sans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dataset card. https://github.com/huggingface/datasets/blob/1.18.4/datasets/snli/README.md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83080"/>
            <a:ext cx="8229600" cy="1417320"/>
          </a:xfrm>
        </p:spPr>
        <p:txBody>
          <a:bodyPr wrap="none" lIns="0" rIns="0" tIns="0" bIns="0" anchor="ctr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lang="ja-JP">
                <a:latin typeface="Noto Sans"/>
                <a:ea typeface="Noto Sans CJK JP"/>
                <a:cs typeface="Noto Sans"/>
              </a:defRPr>
            </a:pPr>
            <a:r>
              <a:rPr sz="40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 利用の変遷と現在</a:t>
            </a:r>
            <a:endParaRPr sz="40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先行するRTEとSNLIの規模の違い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関連データセットの動向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ct val="63333"/>
              <a:buFont typeface="Noto Sans CJK JP"/>
              <a:buChar char="●"/>
              <a:def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含意を判定する先行ベンチマークとしてRTEがあった 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3333"/>
              <a:buFont typeface="Noto Sans CJK JP"/>
              <a:buChar char="○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RTE第3回（2007年）は、開発800組＋テスト800組だった。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3333"/>
              <a:buFont typeface="Noto Sans CJK JP"/>
              <a:buChar char="●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それに対してSNLI（2015年）は570,152組を収録した。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3333"/>
              <a:buFont typeface="Noto Sans CJK JP"/>
              <a:buChar char="○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合計1,600組のRTE第3回に対し、収録数は約356倍となる。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3333"/>
              <a:buFont typeface="Noto Sans CJK JP"/>
              <a:buChar char="●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その結果、ニューラルモデルを学習しやすくなった。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Giampiccolo et al. (2007), §2. https://aclanthology.org/W07-1401/</a:t>
            </a:r>
            <a:endParaRPr sz="850" lang="ja-JP">
              <a:latin typeface="Noto Sans"/>
              <a:ea typeface="Noto Sans CJK JP"/>
              <a:cs typeface="Noto Sans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Bowman et al. (2015). https://aclanthology.org/D15-1075/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その後のMultiNLIはジャンルを広げた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関連データセットの動向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ct val="57826"/>
              <a:buFont typeface="Noto Sans CJK JP"/>
              <a:buChar char="●"/>
              <a:defRPr sz="23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その後、多ジャンルの推論データMultiNLIが登場した </a:t>
            </a: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3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57826"/>
              <a:buFont typeface="Noto Sans CJK JP"/>
              <a:buChar char="○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2018年の論文で発表された。</a:t>
            </a:r>
            <a:endParaRPr sz="23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SNLIは写真説明を扱った。これに対し、会話・小説など10ジャンルへ広げた </a:t>
            </a: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3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57826"/>
              <a:buFont typeface="Noto Sans CJK JP"/>
              <a:buChar char="●"/>
              <a:defRPr sz="2300" lang="ja-JP">
                <a:latin typeface="Noto Sans"/>
                <a:ea typeface="Noto Sans CJK JP"/>
                <a:cs typeface="Noto Sans"/>
              </a:defRPr>
            </a:pPr>
            <a:r>
              <a:rPr sz="23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さらに、未知のジャンルへの汎化も評価する。</a:t>
            </a:r>
            <a:endParaRPr sz="23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Williams et al. (2018). https://aclanthology.org/N18-1101/</a:t>
            </a:r>
            <a:endParaRPr sz="850" lang="ja-JP">
              <a:latin typeface="Noto Sans"/>
              <a:ea typeface="Noto Sans CJK JP"/>
              <a:cs typeface="Noto Sans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MultiNLI著者リポジトリ. https://github.com/nyu-mll/multiNLI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e-SNLIとANLIでは何を追加したか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関連データセットの動向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ct val="63333"/>
              <a:buFont typeface="Noto Sans CJK JP"/>
              <a:buChar char="●"/>
              <a:def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判断理由を付けた拡張データe-SNLIも作られた 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3333"/>
              <a:buFont typeface="Noto Sans CJK JP"/>
              <a:buChar char="○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SNLIの文対を使い、クラスに加えて自然言語の説明を学習する。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3333"/>
              <a:buFont typeface="Noto Sans CJK JP"/>
              <a:buChar char="●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一方、人がモデルを誤らせる例を作るデータANLIもある 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3333"/>
              <a:buFont typeface="Noto Sans CJK JP"/>
              <a:buChar char="○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モデルと作業者を交互に用い、難しい推論例を増やす。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3333"/>
              <a:buFont typeface="Noto Sans CJK JP"/>
              <a:buChar char="●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いずれもSNLIの版の更新ではなく、別のデータである。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Camburu et al. (2018), NeurIPS. https://github.com/OanaMariaCamburu/e-SNLI</a:t>
            </a:r>
            <a:endParaRPr sz="850" lang="ja-JP">
              <a:latin typeface="Noto Sans"/>
              <a:ea typeface="Noto Sans CJK JP"/>
              <a:cs typeface="Noto Sans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Nie et al. (2020), ACL. https://github.com/facebookresearch/anli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SNLIは現在も文埋め込みの学習に使われる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SNLIの利用の変遷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ct val="66500"/>
              <a:buFont typeface="Noto Sans CJK JP"/>
              <a:buChar char="●"/>
              <a:defRPr sz="2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2015年には、3分類の学習と評価を目的として登場した。</a:t>
            </a:r>
            <a:endParaRPr sz="20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6500"/>
              <a:buFont typeface="Noto Sans CJK JP"/>
              <a:buChar char="●"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その後、文埋め込みを学ぶSimCSEにも利用された </a:t>
            </a: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0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6500"/>
              <a:buFont typeface="Noto Sans CJK JP"/>
              <a:buChar char="○"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2021年には、含意を正例、矛盾を難しい負例に使った。</a:t>
            </a:r>
            <a:endParaRPr sz="20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6500"/>
              <a:buFont typeface="Noto Sans CJK JP"/>
              <a:buChar char="●"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2026年現在も、Sentence TransformersにAllNLIを用いる学習手順がある </a:t>
            </a: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0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6500"/>
              <a:buFont typeface="Noto Sans CJK JP"/>
              <a:buChar char="○"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AllNLIはSNLIとMultiNLIをまとめた学習データである。</a:t>
            </a:r>
            <a:endParaRPr sz="20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6500"/>
              <a:buFont typeface="Noto Sans CJK JP"/>
              <a:buChar char="●"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2024年のGISTEmbedでは、負例を選び直す損失にも用いられる。</a:t>
            </a:r>
            <a:endParaRPr sz="20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744720"/>
            <a:ext cx="8183879" cy="339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Gao et al. (2021), EMNLP. https://github.com/princeton-nlp/SimCSE</a:t>
            </a:r>
            <a:endParaRPr sz="850" lang="ja-JP">
              <a:latin typeface="Noto Sans"/>
              <a:ea typeface="Noto Sans CJK JP"/>
              <a:cs typeface="Noto Sans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Sentence Transformers NLI学習例. https://github.com/UKPLab/sentence-transformers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83080"/>
            <a:ext cx="8229600" cy="1417320"/>
          </a:xfrm>
        </p:spPr>
        <p:txBody>
          <a:bodyPr wrap="none" lIns="0" rIns="0" tIns="0" bIns="0" anchor="ctr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lang="ja-JP">
                <a:latin typeface="Noto Sans"/>
                <a:ea typeface="Noto Sans CJK JP"/>
                <a:cs typeface="Noto Sans"/>
              </a:defRPr>
            </a:pPr>
            <a:r>
              <a:rPr sz="40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 入手方法とまとめ</a:t>
            </a:r>
            <a:endParaRPr sz="40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Hugging Faceから文対を取得する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SNLIの入手方法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ode-background"/>
          <p:cNvSpPr/>
          <p:nvPr/>
        </p:nvSpPr>
        <p:spPr>
          <a:xfrm>
            <a:off x="548640" y="1481328"/>
            <a:ext cx="8046720" cy="186435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8046720" cy="1864359"/>
          </a:xfrm>
          <a:prstGeom prst="rect">
            <a:avLst/>
          </a:prstGeom>
          <a:noFill/>
        </p:spPr>
        <p:txBody>
          <a:bodyPr wrap="none" lIns="152400" rIns="152400" tIns="114300" bIns="114300" anchor="t">
            <a:spAutoFit/>
          </a:bodyPr>
          <a:lstStyle/>
          <a:p>
            <a:pPr algn="l" marL="0" indent="0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None/>
              <a:defRPr sz="1600" b="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defRPr>
            </a:pPr>
            <a:r>
              <a:rPr sz="16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from datasets import load_dataset</a:t>
            </a:r>
            <a:endParaRPr sz="1600" lang="ja-JP">
              <a:latin typeface="Noto Sans"/>
              <a:ea typeface="Noto Sans CJK JP"/>
              <a:cs typeface="Noto Sans"/>
            </a:endParaRPr>
          </a:p>
          <a:p>
            <a:pPr algn="l" marL="0" indent="0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None/>
              <a:defRPr sz="1600" lang="ja-JP">
                <a:latin typeface="Liberation Mono"/>
                <a:ea typeface="Noto Sans CJK JP"/>
                <a:cs typeface="Noto Sans"/>
              </a:defRPr>
            </a:pPr>
            <a:r>
              <a:rPr sz="16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/>
            </a:r>
          </a:p>
          <a:p>
            <a:pPr algn="l" marL="0" indent="0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None/>
              <a:defRPr sz="1600" lang="ja-JP">
                <a:latin typeface="Liberation Mono"/>
                <a:ea typeface="Noto Sans CJK JP"/>
                <a:cs typeface="Noto Sans"/>
              </a:defRPr>
            </a:pPr>
            <a:r>
              <a:rPr sz="16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ds = load_dataset("stanfordnlp/snli")</a:t>
            </a:r>
          </a:p>
          <a:p>
            <a:pPr algn="l" marL="0" indent="0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None/>
              <a:defRPr sz="1600" lang="ja-JP">
                <a:latin typeface="Liberation Mono"/>
                <a:ea typeface="Noto Sans CJK JP"/>
                <a:cs typeface="Noto Sans"/>
              </a:defRPr>
            </a:pPr>
            <a:r>
              <a:rPr sz="16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valid = ds.filter(lambda row: row["label"] &gt;= 0)</a:t>
            </a:r>
          </a:p>
          <a:p>
            <a:pPr algn="l" marL="0" indent="0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None/>
              <a:defRPr sz="1600" lang="ja-JP">
                <a:latin typeface="Liberation Mono"/>
                <a:ea typeface="Noto Sans CJK JP"/>
                <a:cs typeface="Noto Sans"/>
              </a:defRPr>
            </a:pPr>
            <a:r>
              <a:rPr sz="16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/>
            </a:r>
          </a:p>
          <a:p>
            <a:pPr algn="l" marL="0" indent="0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None/>
              <a:defRPr sz="1600" lang="ja-JP">
                <a:latin typeface="Liberation Mono"/>
                <a:ea typeface="Noto Sans CJK JP"/>
                <a:cs typeface="Noto Sans"/>
              </a:defRPr>
            </a:pPr>
            <a:r>
              <a:rPr sz="16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print(valid["test"][0])</a:t>
            </a:r>
          </a:p>
          <a:p>
            <a:pPr algn="l" marL="0" indent="0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None/>
              <a:defRPr sz="1600" lang="ja-JP">
                <a:latin typeface="Liberation Mono"/>
                <a:ea typeface="Noto Sans CJK JP"/>
                <a:cs typeface="Noto Sans"/>
              </a:defRPr>
            </a:pPr>
            <a:r>
              <a:rPr sz="16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print(ds["train"].features["label"].names)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73075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データ配布サービスのHugging Faceを利用する。前提はpremise、仮説はhypothesis、クラスはlabelに入る。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Hugging Face SNLI loader. https://github.com/huggingface/datasets/blob/1.18.4/datasets/snli/snli.py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SNLIの特徴と役割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SNLIの特徴のまとめ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ct val="53200"/>
              <a:buFont typeface="Noto Sans CJK JP"/>
              <a:buChar char="●"/>
              <a:defRPr sz="25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5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英語の文対を、含意・中立・矛盾に分類する。</a:t>
            </a:r>
            <a:endParaRPr sz="25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53200"/>
              <a:buFont typeface="Noto Sans CJK JP"/>
              <a:buChar char="●"/>
              <a:defRPr sz="2500" lang="ja-JP">
                <a:latin typeface="Noto Sans"/>
                <a:ea typeface="Noto Sans CJK JP"/>
                <a:cs typeface="Noto Sans"/>
              </a:defRPr>
            </a:pPr>
            <a:r>
              <a:rPr sz="25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2015年に、大規模な学習用データとして作られた。</a:t>
            </a:r>
            <a:endParaRPr sz="25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53200"/>
              <a:buFont typeface="Noto Sans CJK JP"/>
              <a:buChar char="●"/>
              <a:defRPr sz="2500" lang="ja-JP">
                <a:latin typeface="Noto Sans"/>
                <a:ea typeface="Noto Sans CJK JP"/>
                <a:cs typeface="Noto Sans"/>
              </a:defRPr>
            </a:pPr>
            <a:r>
              <a:rPr sz="25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写真説明文から人が仮説を作り、一部を再検証した。</a:t>
            </a:r>
            <a:endParaRPr sz="25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53200"/>
              <a:buFont typeface="Noto Sans CJK JP"/>
              <a:buChar char="●"/>
              <a:defRPr sz="2500" lang="ja-JP">
                <a:latin typeface="Noto Sans"/>
                <a:ea typeface="Noto Sans CJK JP"/>
                <a:cs typeface="Noto Sans"/>
              </a:defRPr>
            </a:pPr>
            <a:r>
              <a:rPr sz="25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MultiNLIはジャンル、e-SNLIは説明を拡張した。</a:t>
            </a:r>
            <a:endParaRPr sz="25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53200"/>
              <a:buFont typeface="Noto Sans CJK JP"/>
              <a:buChar char="●"/>
              <a:defRPr sz="2500" lang="ja-JP">
                <a:latin typeface="Noto Sans"/>
                <a:ea typeface="Noto Sans CJK JP"/>
                <a:cs typeface="Noto Sans"/>
              </a:defRPr>
            </a:pPr>
            <a:r>
              <a:rPr sz="25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現在も、文埋め込みの教師データとして使われる。</a:t>
            </a:r>
            <a:endParaRPr sz="250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Appendixの目次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1"/>
              <a:defRPr sz="2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著者と発表先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929384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2"/>
              <a:defRPr sz="2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追加の実例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2395728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3"/>
              <a:defRPr sz="2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件数・長さの統計と実例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2862072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4"/>
              <a:defRPr sz="2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モデル・入手・作成の補足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3328416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533400" indent="-38100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AutoNum type="arabicPeriod" startAt="5"/>
              <a:defRPr sz="2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参考文献と集計条件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著者と発表先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 著者と発表先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ct val="66500"/>
              <a:buFont typeface="Noto Sans CJK JP"/>
              <a:buChar char="●"/>
              <a:defRPr sz="2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SNLIは2015年9月のEMNLPで発表された（リスボン）</a:t>
            </a: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0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6500"/>
              <a:buFont typeface="Noto Sans CJK JP"/>
              <a:buChar char="●"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第一著者のSamuel R. Bowmanは自然言語推論を研究する。</a:t>
            </a:r>
            <a:endParaRPr sz="20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6500"/>
              <a:buFont typeface="Noto Sans CJK JP"/>
              <a:buChar char="○"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SNLIに加え、多ジャンルのMultiNLIの共著者である </a:t>
            </a: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0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6500"/>
              <a:buFont typeface="Noto Sans CJK JP"/>
              <a:buChar char="●"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最終著者のChristopher D. Manningは単語表現などを研究する。</a:t>
            </a:r>
            <a:endParaRPr sz="20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6500"/>
              <a:buFont typeface="Noto Sans CJK JP"/>
              <a:buChar char="○"/>
              <a:defRPr sz="20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単語ベクトルを学習するGloVeの共著者である </a:t>
            </a: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[3]</a:t>
            </a: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0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612640"/>
            <a:ext cx="8183879" cy="4714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Bowman et al. (2015), EMNLP. https://aclanthology.org/D15-1075/</a:t>
            </a:r>
            <a:endParaRPr sz="850" lang="ja-JP">
              <a:latin typeface="Noto Sans"/>
              <a:ea typeface="Noto Sans CJK JP"/>
              <a:cs typeface="Noto Sans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Williams et al. (2018), MultiNLI. https://aclanthology.org/N18-1101/</a:t>
            </a:r>
            <a:endParaRPr sz="850" lang="ja-JP">
              <a:latin typeface="Noto Sans"/>
              <a:ea typeface="Noto Sans CJK JP"/>
              <a:cs typeface="Noto Sans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[3]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Pennington et al. (2014), GloVe. https://aclanthology.org/D14-1162/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 含意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追加の実例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前提文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quote-frame-premise"/>
          <p:cNvSpPr/>
          <p:nvPr/>
        </p:nvSpPr>
        <p:spPr>
          <a:xfrm>
            <a:off x="548640" y="1673352"/>
            <a:ext cx="8046720" cy="74406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-text-premise"/>
          <p:cNvSpPr txBox="1"/>
          <p:nvPr/>
        </p:nvSpPr>
        <p:spPr>
          <a:xfrm>
            <a:off x="726440" y="1741678"/>
            <a:ext cx="7691120" cy="6424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This church choir sings to the masses as they sing joyous songs from the book at a church.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545435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仮説文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quote-frame-hypothesis"/>
          <p:cNvSpPr/>
          <p:nvPr/>
        </p:nvSpPr>
        <p:spPr>
          <a:xfrm>
            <a:off x="548640" y="2847187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-text-hypothesis"/>
          <p:cNvSpPr txBox="1"/>
          <p:nvPr/>
        </p:nvSpPr>
        <p:spPr>
          <a:xfrm>
            <a:off x="726440" y="2915513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church is filled with song.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433521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defRPr>
            </a:pPr>
            <a:r>
              <a: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正解は含意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817569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合唱していることを、教会が歌で満たされていると言い換える。</a:t>
            </a:r>
            <a:endParaRPr sz="19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  文対ID 2677109430.jpg#1r1e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 中立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追加の実例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前提文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quote-frame-premise"/>
          <p:cNvSpPr/>
          <p:nvPr/>
        </p:nvSpPr>
        <p:spPr>
          <a:xfrm>
            <a:off x="548640" y="1673352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-text-premise"/>
          <p:cNvSpPr txBox="1"/>
          <p:nvPr/>
        </p:nvSpPr>
        <p:spPr>
          <a:xfrm>
            <a:off x="726440" y="1741678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woman with a green headscarf, blue shirt and a very big grin.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259685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仮説文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quote-frame-hypothesis"/>
          <p:cNvSpPr/>
          <p:nvPr/>
        </p:nvSpPr>
        <p:spPr>
          <a:xfrm>
            <a:off x="548640" y="2561437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-text-hypothesis"/>
          <p:cNvSpPr txBox="1"/>
          <p:nvPr/>
        </p:nvSpPr>
        <p:spPr>
          <a:xfrm>
            <a:off x="726440" y="2629763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woman is young.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147771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defRPr>
            </a:pPr>
            <a:r>
              <a: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正解は中立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531819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服装や表情だけでは、若いかどうかは判断できない。</a:t>
            </a:r>
            <a:endParaRPr sz="19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  文対ID 6160193920.jpg#4r1n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 含意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追加の実例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前提文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quote-frame-premise"/>
          <p:cNvSpPr/>
          <p:nvPr/>
        </p:nvSpPr>
        <p:spPr>
          <a:xfrm>
            <a:off x="548640" y="1673352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-text-premise"/>
          <p:cNvSpPr txBox="1"/>
          <p:nvPr/>
        </p:nvSpPr>
        <p:spPr>
          <a:xfrm>
            <a:off x="726440" y="1741678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 old man with a package poses in front of an advertisement.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259685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仮説文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quote-frame-hypothesis"/>
          <p:cNvSpPr/>
          <p:nvPr/>
        </p:nvSpPr>
        <p:spPr>
          <a:xfrm>
            <a:off x="548640" y="2561437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-text-hypothesis"/>
          <p:cNvSpPr txBox="1"/>
          <p:nvPr/>
        </p:nvSpPr>
        <p:spPr>
          <a:xfrm>
            <a:off x="726440" y="2629763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man poses in front of an ad.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147771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defRPr>
            </a:pPr>
            <a:r>
              <a: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正解は含意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531819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advertisementとadは同じ内容を表す。</a:t>
            </a:r>
            <a:endParaRPr sz="19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  文対ID 4791890474.jpg#3r1e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 中立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追加の実例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前提文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quote-frame-premise"/>
          <p:cNvSpPr/>
          <p:nvPr/>
        </p:nvSpPr>
        <p:spPr>
          <a:xfrm>
            <a:off x="548640" y="1673352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-text-premise"/>
          <p:cNvSpPr txBox="1"/>
          <p:nvPr/>
        </p:nvSpPr>
        <p:spPr>
          <a:xfrm>
            <a:off x="726440" y="1741678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statue at a museum that no seems to be looking at.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259685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仮説文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quote-frame-hypothesis"/>
          <p:cNvSpPr/>
          <p:nvPr/>
        </p:nvSpPr>
        <p:spPr>
          <a:xfrm>
            <a:off x="548640" y="2561437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-text-hypothesis"/>
          <p:cNvSpPr txBox="1"/>
          <p:nvPr/>
        </p:nvSpPr>
        <p:spPr>
          <a:xfrm>
            <a:off x="726440" y="2629763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statue is offensive and people are mad that it is on display.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147771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defRPr>
            </a:pPr>
            <a:r>
              <a: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正解は中立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531819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見られていない理由や人々の感情は、前提から分からない。</a:t>
            </a:r>
            <a:endParaRPr sz="19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  文対ID 6526219567.jpg#4r1n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 矛盾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追加の実例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前提文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quote-frame-premise"/>
          <p:cNvSpPr/>
          <p:nvPr/>
        </p:nvSpPr>
        <p:spPr>
          <a:xfrm>
            <a:off x="548640" y="1673352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-text-premise"/>
          <p:cNvSpPr txBox="1"/>
          <p:nvPr/>
        </p:nvSpPr>
        <p:spPr>
          <a:xfrm>
            <a:off x="726440" y="1741678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land rover is being driven across a river.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259685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仮説文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quote-frame-hypothesis"/>
          <p:cNvSpPr/>
          <p:nvPr/>
        </p:nvSpPr>
        <p:spPr>
          <a:xfrm>
            <a:off x="548640" y="2561437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-text-hypothesis"/>
          <p:cNvSpPr txBox="1"/>
          <p:nvPr/>
        </p:nvSpPr>
        <p:spPr>
          <a:xfrm>
            <a:off x="726440" y="2629763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sedan is stuck in the middle of a river.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147771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defRPr>
            </a:pPr>
            <a:r>
              <a: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正解は矛盾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531819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車種と動作が、同じ場面の説明として両立しない。</a:t>
            </a:r>
            <a:endParaRPr sz="19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  文対ID 2832076014.jpg#2r1c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 中立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追加の実例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前提文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quote-frame-premise"/>
          <p:cNvSpPr/>
          <p:nvPr/>
        </p:nvSpPr>
        <p:spPr>
          <a:xfrm>
            <a:off x="548640" y="1673352"/>
            <a:ext cx="8046720" cy="74406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-text-premise"/>
          <p:cNvSpPr txBox="1"/>
          <p:nvPr/>
        </p:nvSpPr>
        <p:spPr>
          <a:xfrm>
            <a:off x="726440" y="1741678"/>
            <a:ext cx="7691120" cy="6424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blond-haired doctor and her African american assistant looking threw new medical manuals.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545435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仮説文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quote-frame-hypothesis"/>
          <p:cNvSpPr/>
          <p:nvPr/>
        </p:nvSpPr>
        <p:spPr>
          <a:xfrm>
            <a:off x="548640" y="2847187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-text-hypothesis"/>
          <p:cNvSpPr txBox="1"/>
          <p:nvPr/>
        </p:nvSpPr>
        <p:spPr>
          <a:xfrm>
            <a:off x="726440" y="2915513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doctor is studying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433521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defRPr>
            </a:pPr>
            <a:r>
              <a: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正解は中立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817569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正解は中立だが「勉強している」と読めるかは解釈に依存する。</a:t>
            </a:r>
            <a:endParaRPr sz="19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  文対ID 3856149623.jpg#1r1n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 矛盾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追加の実例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前提文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quote-frame-premise"/>
          <p:cNvSpPr/>
          <p:nvPr/>
        </p:nvSpPr>
        <p:spPr>
          <a:xfrm>
            <a:off x="548640" y="1673352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-text-premise"/>
          <p:cNvSpPr txBox="1"/>
          <p:nvPr/>
        </p:nvSpPr>
        <p:spPr>
          <a:xfrm>
            <a:off x="726440" y="1741678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young family enjoys feeling ocean waves lap at their feet.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259685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仮説文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quote-frame-hypothesis"/>
          <p:cNvSpPr/>
          <p:nvPr/>
        </p:nvSpPr>
        <p:spPr>
          <a:xfrm>
            <a:off x="548640" y="2561437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-text-hypothesis"/>
          <p:cNvSpPr txBox="1"/>
          <p:nvPr/>
        </p:nvSpPr>
        <p:spPr>
          <a:xfrm>
            <a:off x="726440" y="2629763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family is out at a restaurant.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147771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defRPr>
            </a:pPr>
            <a:r>
              <a: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正解は矛盾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531819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海の波を感じる場面と、レストランの場面を区別している。</a:t>
            </a:r>
            <a:endParaRPr sz="19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  文対ID 2946464027.jpg#0r1c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 含意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追加の実例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前提文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quote-frame-premise"/>
          <p:cNvSpPr/>
          <p:nvPr/>
        </p:nvSpPr>
        <p:spPr>
          <a:xfrm>
            <a:off x="548640" y="1673352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-text-premise"/>
          <p:cNvSpPr txBox="1"/>
          <p:nvPr/>
        </p:nvSpPr>
        <p:spPr>
          <a:xfrm>
            <a:off x="726440" y="1741678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couple walk hand in hand down a street.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259685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仮説文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quote-frame-hypothesis"/>
          <p:cNvSpPr/>
          <p:nvPr/>
        </p:nvSpPr>
        <p:spPr>
          <a:xfrm>
            <a:off x="548640" y="2561437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-text-hypothesis"/>
          <p:cNvSpPr txBox="1"/>
          <p:nvPr/>
        </p:nvSpPr>
        <p:spPr>
          <a:xfrm>
            <a:off x="726440" y="2629763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couple is walking together.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147771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defRPr>
            </a:pPr>
            <a:r>
              <a: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正解は含意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531819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手をつないで歩くことから、一緒に歩くことが導ける。</a:t>
            </a:r>
            <a:endParaRPr sz="19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  文対ID 3572548523.jpg#4r1e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 中立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追加の実例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前提文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quote-frame-premise"/>
          <p:cNvSpPr/>
          <p:nvPr/>
        </p:nvSpPr>
        <p:spPr>
          <a:xfrm>
            <a:off x="548640" y="1673352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-text-premise"/>
          <p:cNvSpPr txBox="1"/>
          <p:nvPr/>
        </p:nvSpPr>
        <p:spPr>
          <a:xfrm>
            <a:off x="726440" y="1741678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Three firefighter come out of subway station.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259685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仮説文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quote-frame-hypothesis"/>
          <p:cNvSpPr/>
          <p:nvPr/>
        </p:nvSpPr>
        <p:spPr>
          <a:xfrm>
            <a:off x="548640" y="2561437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-text-hypothesis"/>
          <p:cNvSpPr txBox="1"/>
          <p:nvPr/>
        </p:nvSpPr>
        <p:spPr>
          <a:xfrm>
            <a:off x="726440" y="2629763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Three firefighters putting out a fire inside of a subway station.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147771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defRPr>
            </a:pPr>
            <a:r>
              <a: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正解は中立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531819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消防士が駅を出ることから、消火しているとは限らない。</a:t>
            </a:r>
            <a:endParaRPr sz="19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  文対ID 4679111230.jpg#2r1n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 中立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 追加の実例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前提文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quote-frame-premise"/>
          <p:cNvSpPr/>
          <p:nvPr/>
        </p:nvSpPr>
        <p:spPr>
          <a:xfrm>
            <a:off x="548640" y="1673352"/>
            <a:ext cx="8046720" cy="74406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-text-premise"/>
          <p:cNvSpPr txBox="1"/>
          <p:nvPr/>
        </p:nvSpPr>
        <p:spPr>
          <a:xfrm>
            <a:off x="726440" y="1741678"/>
            <a:ext cx="7691120" cy="6424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This church choir sings to the masses as they sing joyous songs from the book at a church.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545435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仮説文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quote-frame-hypothesis"/>
          <p:cNvSpPr/>
          <p:nvPr/>
        </p:nvSpPr>
        <p:spPr>
          <a:xfrm>
            <a:off x="548640" y="2847187"/>
            <a:ext cx="8046720" cy="45831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-text-hypothesis"/>
          <p:cNvSpPr txBox="1"/>
          <p:nvPr/>
        </p:nvSpPr>
        <p:spPr>
          <a:xfrm>
            <a:off x="726440" y="2915513"/>
            <a:ext cx="7691120" cy="356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church has cracks in the ceiling.</a:t>
            </a:r>
            <a:endParaRPr sz="1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433521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defRPr>
            </a:pPr>
            <a:r>
              <a:rPr sz="2100" b="0" lang="ja-JP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正解は中立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817569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9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合唱の説明からは、天井のひびの有無は分からない。</a:t>
            </a:r>
            <a:endParaRPr sz="19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2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  文対ID 2677109430.jpg#1r1n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統計と実例の対象範囲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データの件数と集計条件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ct val="60455"/>
              <a:buFont typeface="Noto Sans CJK JP"/>
              <a:buChar char="●"/>
              <a:defRPr sz="22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SNLI 1.0の公式データに含まれる文対を集計した 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0455"/>
              <a:buFont typeface="Noto Sans CJK JP"/>
              <a:buChar char="○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正解付き569,033組を使い、ラベルが「-」の組は除く。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sentence1とsentence2を加工せずに数えた。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0455"/>
              <a:buFont typeface="Noto Sans CJK JP"/>
              <a:buChar char="○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Pythonのlen()で空白・句読点を含むUnicode文字を数える。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0455"/>
              <a:buFont typeface="Noto Sans CJK JP"/>
              <a:buChar char="○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str.split()で空白区切りの単語を数える。</a:t>
            </a:r>
            <a:endParaRPr sz="22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0455"/>
              <a:buFont typeface="Noto Sans CJK JP"/>
              <a:buChar char="●"/>
              <a:defRPr sz="2200" lang="ja-JP">
                <a:latin typeface="Noto Sans"/>
                <a:ea typeface="Noto Sans CJK JP"/>
                <a:cs typeface="Noto Sans"/>
              </a:defRPr>
            </a:pPr>
            <a:r>
              <a: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前提は文対ごとに繰り返し数える。</a:t>
            </a:r>
            <a:endParaRPr sz="22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正解ラベル付きのクラス別件数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データの件数と集計条件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554480"/>
          <a:ext cx="8046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828800"/>
              </a:tblGrid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分割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含意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中立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矛盾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合計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学習用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183,416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182,764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183,187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549,367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開発用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3,329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3,235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3,278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9,842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テスト用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3,368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3,219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3,237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9,824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3743960"/>
            <a:ext cx="7955279" cy="837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ラベルが付いた569,033組を集計。各クラスは約3分の1となる。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文対数と前提文の種類数は異なる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データの件数と集計条件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55448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2926080"/>
              </a:tblGrid>
              <a:tr h="45720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分割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正解付き文対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異なる前提文字列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学習用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549,367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150,736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開発用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9,842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3,319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テスト用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9,824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0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3,323</a:t>
                      </a:r>
                      <a:endParaRPr sz="20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3561080"/>
            <a:ext cx="7955279" cy="1020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同じ前提から複数の仮説が作られるため、前提は繰り返し現れる。種類数は完全一致の文字列数。写真数や説明文ID数とは異なる。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単語数の記述統計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文の長さの統計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554480"/>
          <a:ext cx="80467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60120"/>
                <a:gridCol w="1097280"/>
                <a:gridCol w="777240"/>
                <a:gridCol w="777240"/>
                <a:gridCol w="1005840"/>
                <a:gridCol w="777240"/>
                <a:gridCol w="868680"/>
                <a:gridCol w="868680"/>
              </a:tblGrid>
              <a:tr h="41148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平均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標準偏差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最小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25%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中央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75%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95%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最大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前提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12.89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5.68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78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仮説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7.42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3.07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56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2966720"/>
            <a:ext cx="7955279" cy="16144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569,033組を集計。標準偏差は母標準偏差（分母N）。</a:t>
            </a:r>
            <a:endParaRPr sz="1700" lang="ja-JP">
              <a:latin typeface="Noto Sans"/>
              <a:ea typeface="Noto Sans CJK JP"/>
              <a:cs typeface="Noto San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前提を文対ごとに数える。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文字数の記述統計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文の長さの統計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554480"/>
          <a:ext cx="80467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60120"/>
                <a:gridCol w="1097280"/>
                <a:gridCol w="777240"/>
                <a:gridCol w="777240"/>
                <a:gridCol w="1005840"/>
                <a:gridCol w="777240"/>
                <a:gridCol w="868680"/>
                <a:gridCol w="868680"/>
              </a:tblGrid>
              <a:tr h="41148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平均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標準偏差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最小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25%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中央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75%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95%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最大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前提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66.48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29.52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46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81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121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402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仮説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37.49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15.88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26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34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45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68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16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295</a:t>
                      </a:r>
                      <a:endParaRPr sz="16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2966720"/>
            <a:ext cx="7955279" cy="16144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569,033組を集計。標準偏差は母標準偏差（分母N）。</a:t>
            </a:r>
            <a:endParaRPr sz="1700" lang="ja-JP">
              <a:latin typeface="Noto Sans"/>
              <a:ea typeface="Noto Sans CJK JP"/>
              <a:cs typeface="Noto San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前提を文対ごとに数える。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前提文の文字数の分布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前提文の長さ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4" name="Picture 3" descr="snli-p_ch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804672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169663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平均66.48文字、中央値60文字、最大402文字。</a:t>
            </a:r>
          </a:p>
        </p:txBody>
      </p:sp>
      <p:sp>
        <p:nvSpPr>
          <p:cNvPr id="6" name="lookup-sources"/>
          <p:cNvSpPr txBox="1"/>
          <p:nvPr/>
        </p:nvSpPr>
        <p:spPr>
          <a:xfrm>
            <a:off x="502920" y="4773168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SNLI 1.0. https://nlp.stanford.edu/projects/snli/
正解付き569,033文対。同じ前提文が複数の文対に現れる場合も、それぞれ数えた。 棒1本は0〜24文字、25〜49文字…の区間を表す。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分割別の前提の単語数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前提文の長さ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554480"/>
          <a:ext cx="8046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91640"/>
                <a:gridCol w="1097280"/>
                <a:gridCol w="1463040"/>
                <a:gridCol w="1280160"/>
                <a:gridCol w="1325880"/>
              </a:tblGrid>
              <a:tr h="59436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分割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平均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標準偏差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中央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95%点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学習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549,367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12.85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5.66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開発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9,842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13.94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6.32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9,824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13.91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6.18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4109720"/>
            <a:ext cx="7955279" cy="4714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単語はPythonのstr.split()による空白区切り。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前提が最長の実例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前提文の長さ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正解付き文対中で402文字・78語。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quote-frame-full"/>
          <p:cNvSpPr/>
          <p:nvPr/>
        </p:nvSpPr>
        <p:spPr>
          <a:xfrm>
            <a:off x="548640" y="1810512"/>
            <a:ext cx="8046720" cy="152364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-text-full"/>
          <p:cNvSpPr txBox="1"/>
          <p:nvPr/>
        </p:nvSpPr>
        <p:spPr>
          <a:xfrm>
            <a:off x="726440" y="1880870"/>
            <a:ext cx="7691120" cy="142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man wearing a helmet, red pants with white stripes going down the sides and a white and red shirt is on a small bicycle using only his hands while his legs are up in the air, while another man wearing a light blue shirt with dark blue trim and black pants with red stripes going up the sides is standing nearby, gesturing toward the first man and holding a small figurine of one of the seven dwarves.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517036"/>
            <a:ext cx="8046720" cy="1073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仮説は “The people who are shown are not all doing the exact same thing.”正解は含意。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  文対ID 207344485.jpg#0r5e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仮説文の文字数の分布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仮説文の長さ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pic>
        <p:nvPicPr>
          <p:cNvPr id="4" name="Picture 3" descr="snli-h_ch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804672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169663"/>
            <a:ext cx="7955279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  <a:defRPr sz="1700" lang="ja-JP"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平均37.49文字、中央値34文字、最大295文字。</a:t>
            </a:r>
          </a:p>
        </p:txBody>
      </p:sp>
      <p:sp>
        <p:nvSpPr>
          <p:cNvPr id="6" name="lookup-sources"/>
          <p:cNvSpPr txBox="1"/>
          <p:nvPr/>
        </p:nvSpPr>
        <p:spPr>
          <a:xfrm>
            <a:off x="502920" y="4773168"/>
            <a:ext cx="81838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SNLI 1.0. https://nlp.stanford.edu/projects/snli/
正解付き569,033文対の仮説文を集計した。 棒1本は0〜24文字、25〜49文字…の区間を表す。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分割別の仮説の単語数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仮説文の長さ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554480"/>
          <a:ext cx="8046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91640"/>
                <a:gridCol w="1097280"/>
                <a:gridCol w="1463040"/>
                <a:gridCol w="1280160"/>
                <a:gridCol w="1325880"/>
              </a:tblGrid>
              <a:tr h="59436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分割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平均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標準偏差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中央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95%点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学習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549,367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7.42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3.07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開発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9,842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7.51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3.13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9,824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7.48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3.08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4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</a:t>
                      </a:r>
                      <a:endParaRPr sz="24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4109720"/>
            <a:ext cx="7955279" cy="4714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単語はPythonのstr.split()による空白区切り。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仮説の文字数が最大の実例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仮説文の長さ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正解付き文対中で295文字。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quote-frame-full"/>
          <p:cNvSpPr/>
          <p:nvPr/>
        </p:nvSpPr>
        <p:spPr>
          <a:xfrm>
            <a:off x="548640" y="1810512"/>
            <a:ext cx="8046720" cy="125376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-text-full"/>
          <p:cNvSpPr txBox="1"/>
          <p:nvPr/>
        </p:nvSpPr>
        <p:spPr>
          <a:xfrm>
            <a:off x="726440" y="1880870"/>
            <a:ext cx="7691120" cy="1152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The cat toys with the catastrophically injured yet alive mouse before putting it out of it's misery.  Just a few more broken ribs and guts coming out the anus, and Kitty Kat will let you die, mouse.  Then the cat will go leave a steaming pile of parasitic feces in the litterbox.  Cats are cute!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247161"/>
            <a:ext cx="8046720" cy="1343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前提は “A doberman bites a large blue ball.”正解は矛盾。仮説には前提と無関係な描写が多い。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  文対ID 248994078.jpg#4r1c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仮説が56語の実例の前提全文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仮説文の長さ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仮説の単語数が最大の実例の前提文。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quote-frame-full"/>
          <p:cNvSpPr/>
          <p:nvPr/>
        </p:nvSpPr>
        <p:spPr>
          <a:xfrm>
            <a:off x="548640" y="1810512"/>
            <a:ext cx="8046720" cy="125376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-text-full"/>
          <p:cNvSpPr txBox="1"/>
          <p:nvPr/>
        </p:nvSpPr>
        <p:spPr>
          <a:xfrm>
            <a:off x="726440" y="1880870"/>
            <a:ext cx="7691120" cy="1152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It is a photo of a young girl wearing pink pants and a jacket that's pink, red, blue and white the little girl is on one knee sitting on some big rocks smiling posing for a picture with one hand holding a skinny but long stick behind her there is what looks like a wooded area.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247161"/>
            <a:ext cx="8046720" cy="1343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前提には “one hand” とある。正解ラベルは矛盾。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  文対ID 71651754.jpg#0r1c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仮説が56語の実例の仮説全文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 仮説文の長さ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正解付き文対中で単語数が最大の仮説文。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quote-frame-full"/>
          <p:cNvSpPr/>
          <p:nvPr/>
        </p:nvSpPr>
        <p:spPr>
          <a:xfrm>
            <a:off x="548640" y="1810512"/>
            <a:ext cx="8046720" cy="125376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quote-text-full"/>
          <p:cNvSpPr txBox="1"/>
          <p:nvPr/>
        </p:nvSpPr>
        <p:spPr>
          <a:xfrm>
            <a:off x="726440" y="1880870"/>
            <a:ext cx="7691120" cy="1152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7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It is a photo of a young girl wearing pink pants and a jacket that's pink, red, blue and white the little girl is on one knee sitting on some big rocks smiling posing for a picture with both hands holding a skinny but long stick behind her there is what looks like a wooded area.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247161"/>
            <a:ext cx="8046720" cy="1343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仮説では “both hands” に変わっている。正解ラベルは矛盾。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SNLI 1.0公式データ. https://nlp.stanford.edu/projects/snli/  文対ID 71651754.jpg#0r1c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単語の対応を用いるRE2の評価結果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4 モデル評価の補足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graphicFrame>
        <p:nvGraphicFramePr>
          <p:cNvPr id="4" name="data-table"/>
          <p:cNvGraphicFramePr>
            <a:graphicFrameLocks noGrp="1"/>
          </p:cNvGraphicFramePr>
          <p:nvPr/>
        </p:nvGraphicFramePr>
        <p:xfrm>
          <a:off x="548640" y="1554480"/>
          <a:ext cx="80467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  <a:gridCol w="3840480"/>
              </a:tblGrid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SNLIの正解率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報告条件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RE2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88.9 ± 0.1%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 lIns="38100" rIns="38100" tIns="38100" bIns="38100" anchor="ctr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sz="2200" b="0" lang="ja-JP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10回の平均と標準偏差</a:t>
                      </a:r>
                      <a:endParaRPr sz="2200" lang="ja-JP">
                        <a:latin typeface="Noto Sans"/>
                        <a:ea typeface="Noto Sans CJK JP"/>
                        <a:cs typeface="Noto Sans"/>
                      </a:endParaRPr>
                    </a:p>
                  </a:txBody>
                  <a:tcPr marL="76200" marR="76200" marT="38100" marB="381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able-caption"/>
          <p:cNvSpPr txBox="1"/>
          <p:nvPr/>
        </p:nvSpPr>
        <p:spPr>
          <a:xfrm>
            <a:off x="594360" y="2738120"/>
            <a:ext cx="7955279" cy="184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ACL 2019の手法。著者リポジトリ掲載の報告値。</a:t>
            </a:r>
            <a:endParaRPr sz="1700" lang="ja-JP">
              <a:latin typeface="Noto Sans"/>
              <a:ea typeface="Noto Sans CJK JP"/>
              <a:cs typeface="Noto Sans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比較には前処理、学習条件、単一実行か平均かの確認が必要。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RE2 著者実装. https://github.com/alibaba-edu/simple-effective-text-matching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公式ZIPでは文対IDと投票を確認できる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4 入手方法の補足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ode-background"/>
          <p:cNvSpPr/>
          <p:nvPr/>
        </p:nvSpPr>
        <p:spPr>
          <a:xfrm>
            <a:off x="548640" y="1481328"/>
            <a:ext cx="8046720" cy="22733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8046720" cy="2273300"/>
          </a:xfrm>
          <a:prstGeom prst="rect">
            <a:avLst/>
          </a:prstGeom>
          <a:noFill/>
        </p:spPr>
        <p:txBody>
          <a:bodyPr wrap="none" lIns="152400" rIns="152400" tIns="114300" bIns="114300" anchor="t">
            <a:spAutoFit/>
          </a:bodyPr>
          <a:lstStyle/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b="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import json</a:t>
            </a:r>
            <a:endParaRPr sz="1400" lang="ja-JP">
              <a:latin typeface="Noto Sans"/>
              <a:ea typeface="Noto Sans CJK JP"/>
              <a:cs typeface="Noto Sans"/>
            </a:endParaRP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from urllib.request import urlretrieve</a:t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from zipfile import ZipFile</a:t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/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url = "https://nlp.stanford.edu/projects/snli/snli_1.0.zip"</a:t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urlretrieve(url, "snli_1.0.zip")</a:t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with ZipFile("snli_1.0.zip") as z:</a:t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    path = "snli_1.0/snli_1.0_test.jsonl"</a:t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    row = json.loads(next(z.open(path)))</a:t>
            </a:r>
          </a:p>
          <a:p>
            <a:pPr algn="l" marL="0" indent="0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buNone/>
              <a:defRPr sz="1400" lang="ja-JP">
                <a:latin typeface="Liberation Mono"/>
                <a:ea typeface="Noto Sans CJK JP"/>
                <a:cs typeface="Noto Sans"/>
              </a:defRPr>
            </a:pPr>
            <a:r>
              <a:rPr sz="1400" lang="ja-JP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print(row["pairID"], row["annotator_labels"])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017772"/>
            <a:ext cx="7955279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公式のJSONLにはsentence1、sentence2、gold_labelなどを含む。</a:t>
            </a:r>
            <a:endParaRPr sz="17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Hugging Face SNLI loader. https://github.com/huggingface/datasets/blob/1.18.4/datasets/snli/snli.py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none" lIns="0" rIns="0" tIns="0" bIns="0" anchor="t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8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作成時の指示と品質確認の補足</a:t>
            </a:r>
            <a:endParaRPr sz="28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sz="1400" b="1" lang="ja-JP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4 作成方法の補足</a:t>
            </a:r>
            <a:endParaRPr sz="14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body"/>
          <p:cNvSpPr txBox="1"/>
          <p:nvPr>
            <p:ph type="body" idx="1"/>
          </p:nvPr>
        </p:nvSpPr>
        <p:spPr>
          <a:xfrm>
            <a:off x="594360" y="1490472"/>
            <a:ext cx="7955279" cy="3090672"/>
          </a:xfrm>
          <a:prstGeom prst="rect">
            <a:avLst/>
          </a:prstGeom>
          <a:noFill/>
        </p:spPr>
        <p:txBody>
          <a:bodyPr wrap="square" lIns="91425" rIns="91425" tIns="91425" bIns="91425" anchor="t">
            <a:spAutoFit/>
          </a:bodyPr>
          <a:lstStyle/>
          <a:p>
            <a:pPr algn="l" lvl="0" marL="457200" indent="-355600">
              <a:buSzPct val="63333"/>
              <a:buFont typeface="Noto Sans CJK JP"/>
              <a:buChar char="●"/>
              <a:defRPr sz="210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作業者は前提の説明に合う同じ写真を想定して仮説を書く。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3333"/>
              <a:buFont typeface="Noto Sans CJK JP"/>
              <a:buChar char="○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画像を見せず、3つの関係に対応する文を作る 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3333"/>
              <a:buFont typeface="Noto Sans CJK JP"/>
              <a:buChar char="●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規約を守らない作業者を外し、自動の大量投稿を拒否した。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3333"/>
              <a:buFont typeface="Noto Sans CJK JP"/>
              <a:buChar char="●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追加検証の多数決と、作成者のラベルを区別する。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1" marL="914400" indent="-355600">
              <a:buSzPct val="63333"/>
              <a:buFont typeface="Noto Sans CJK JP"/>
              <a:buChar char="○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開発用とテスト用には複数の判定が付いた文対を使う。</a:t>
            </a:r>
            <a:endParaRPr sz="2100" lang="ja-JP">
              <a:latin typeface="Noto Sans"/>
              <a:ea typeface="Noto Sans CJK JP"/>
              <a:cs typeface="Noto Sans"/>
            </a:endParaRPr>
          </a:p>
          <a:p>
            <a:pPr algn="l" lvl="0" marL="457200" indent="-355600">
              <a:buSzPct val="63333"/>
              <a:buFont typeface="Noto Sans CJK JP"/>
              <a:buChar char="●"/>
              <a:defRPr sz="2100" lang="ja-JP">
                <a:latin typeface="Noto Sans"/>
                <a:ea typeface="Noto Sans CJK JP"/>
                <a:cs typeface="Noto Sans"/>
              </a:defRPr>
            </a:pPr>
            <a:r>
              <a:rPr sz="21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自然な場面の読みと形式的な論理関係は必ずしも一致しない。</a:t>
            </a:r>
            <a:endParaRPr sz="210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lookup-sources"/>
          <p:cNvSpPr txBox="1"/>
          <p:nvPr/>
        </p:nvSpPr>
        <p:spPr>
          <a:xfrm>
            <a:off x="502920" y="4876800"/>
            <a:ext cx="8183879" cy="20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50" lang="ja-JP">
                <a:latin typeface="Noto Sans"/>
                <a:ea typeface="Noto Sans CJK JP"/>
                <a:cs typeface="Noto Sans"/>
              </a:defRPr>
            </a:pP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</a:t>
            </a:r>
            <a:r>
              <a:rPr sz="85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Bowman et al. (2015), §2.1–2.2. https://aclanthology.org/D15-1075/</a:t>
            </a:r>
            <a:endParaRPr sz="850" lang="ja-JP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1400" b="1">
                <a:solidFill>
                  <a:srgbClr val="FFFEF8"/>
                </a:solidFill>
                <a:latin typeface="Noto Sans"/>
                <a:ea typeface="Noto Sans CJK JP"/>
              </a:rPr>
              <a:t>Appendix: 5 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058"/>
            <a:ext cx="7955279" cy="455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ja-JP">
                <a:solidFill>
                  <a:srgbClr val="303437"/>
                </a:solidFill>
                <a:latin typeface="Noto Sans"/>
                <a:ea typeface="Noto Sans CJK JP"/>
              </a:rPr>
              <a:t>A large annotated corpus for learning natural language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1857"/>
            <a:ext cx="7955279" cy="360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lang="ja-JP">
                <a:solidFill>
                  <a:srgbClr val="303437"/>
                </a:solidFill>
                <a:latin typeface="Noto Sans"/>
                <a:ea typeface="Noto Sans CJK JP"/>
              </a:rPr>
              <a:t>Bowman, S. R., Angeli, G., Potts, C., &amp; Manning, C. D. (2015). EMNLP, pp. 632–642.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9475"/>
            <a:ext cx="7955279" cy="7323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lang="ja-JP">
                <a:solidFill>
                  <a:srgbClr val="303437"/>
                </a:solidFill>
                <a:latin typeface="Noto Sans"/>
                <a:ea typeface="Noto Sans CJK JP"/>
              </a:rPr>
              <a:t>SNLIの原著論文。文対の収集、3種類の関係の注釈と検証、初期モデルの評価を報告する。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00922"/>
            <a:ext cx="7955279" cy="308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lang="ja-JP">
                <a:solidFill>
                  <a:srgbClr val="626669"/>
                </a:solidFill>
                <a:latin typeface="Noto Sans"/>
                <a:ea typeface="Noto Sans CJK JP"/>
                <a:hlinkClick r:id="rId2"/>
              </a:rPr>
              <a:t>https://aclanthology.org/D15-1075/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18211"/>
            <a:ext cx="7955279" cy="744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ja-JP">
                <a:solidFill>
                  <a:srgbClr val="303437"/>
                </a:solidFill>
                <a:latin typeface="Noto Sans"/>
                <a:ea typeface="Noto Sans CJK JP"/>
              </a:rPr>
              <a:t>A Broad-Coverage Challenge Corpus for Sentence Understanding through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94444"/>
            <a:ext cx="7955279" cy="360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lang="ja-JP">
                <a:solidFill>
                  <a:srgbClr val="303437"/>
                </a:solidFill>
                <a:latin typeface="Noto Sans"/>
                <a:ea typeface="Noto Sans CJK JP"/>
              </a:rPr>
              <a:t>Williams, A., Nangia, N., &amp; Bowman, S. R. (2018). NAACL-HLT, pp. 1112–1122.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142062"/>
            <a:ext cx="7955279" cy="7323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lang="ja-JP">
                <a:solidFill>
                  <a:srgbClr val="303437"/>
                </a:solidFill>
                <a:latin typeface="Noto Sans"/>
                <a:ea typeface="Noto Sans CJK JP"/>
              </a:rPr>
              <a:t>MultiNLIの原著論文。10ジャンルの文対を収集し、分野内・分野間の汎化を評価する。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3509"/>
            <a:ext cx="7955279" cy="308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lang="ja-JP">
                <a:solidFill>
                  <a:srgbClr val="626669"/>
                </a:solidFill>
                <a:latin typeface="Noto Sans"/>
                <a:ea typeface="Noto Sans CJK JP"/>
                <a:hlinkClick r:id="rId3"/>
              </a:rPr>
              <a:t>https://aclanthology.org/N18-1101/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1400" b="1">
                <a:solidFill>
                  <a:srgbClr val="FFFEF8"/>
                </a:solidFill>
                <a:latin typeface="Noto Sans"/>
                <a:ea typeface="Noto Sans CJK JP"/>
              </a:rPr>
              <a:t>Appendix: 5 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7691"/>
            <a:ext cx="7955279" cy="5074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ja-JP">
                <a:solidFill>
                  <a:srgbClr val="303437"/>
                </a:solidFill>
                <a:latin typeface="Noto Sans"/>
                <a:ea typeface="Noto Sans CJK JP"/>
              </a:rPr>
              <a:t>Annotation Artifacts in Natural Language Inference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65600"/>
            <a:ext cx="7955279" cy="631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 lang="ja-JP">
                <a:solidFill>
                  <a:srgbClr val="303437"/>
                </a:solidFill>
                <a:latin typeface="Noto Sans"/>
                <a:ea typeface="Noto Sans CJK JP"/>
              </a:rPr>
              <a:t>Gururangan, S., Swayamdipta, S., Levy, O., Schwartz, R., Bowman, S. R., &amp; Smith, N. A. (2018). NAACL-HLT, pp. 107–112.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86533"/>
            <a:ext cx="7955279" cy="7999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lang="ja-JP">
                <a:solidFill>
                  <a:srgbClr val="303437"/>
                </a:solidFill>
                <a:latin typeface="Noto Sans"/>
                <a:ea typeface="Noto Sans CJK JP"/>
              </a:rPr>
              <a:t>NLIの注釈に伴う偏りを分析した研究。仮説文だけでもラベルを予測できることを示す。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91949"/>
            <a:ext cx="7955279" cy="31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lang="ja-JP">
                <a:solidFill>
                  <a:srgbClr val="626669"/>
                </a:solidFill>
                <a:latin typeface="Noto Sans"/>
                <a:ea typeface="Noto Sans CJK JP"/>
                <a:hlinkClick r:id="rId2"/>
              </a:rPr>
              <a:t>https://aclanthology.org/N18-2017/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1400" b="1">
                <a:solidFill>
                  <a:srgbClr val="FFFEF8"/>
                </a:solidFill>
                <a:latin typeface="Noto Sans"/>
                <a:ea typeface="Noto Sans CJK JP"/>
              </a:rPr>
              <a:t>Appendix: 5 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7691"/>
            <a:ext cx="7955279" cy="5074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ja-JP">
                <a:solidFill>
                  <a:srgbClr val="303437"/>
                </a:solidFill>
                <a:latin typeface="Noto Sans"/>
                <a:ea typeface="Noto Sans CJK JP"/>
              </a:rPr>
              <a:t>Natural Language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520"/>
            <a:ext cx="7955279" cy="6492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 lang="ja-JP">
                <a:solidFill>
                  <a:srgbClr val="303437"/>
                </a:solidFill>
                <a:latin typeface="Noto Sans"/>
                <a:ea typeface="Noto Sans CJK JP"/>
              </a:rPr>
              <a:t>Sentence Transformers contributors (n.d.). Sentence Transformers documentation. 参照 2026-10-15.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04453"/>
            <a:ext cx="7955279" cy="7999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lang="ja-JP">
                <a:solidFill>
                  <a:srgbClr val="303437"/>
                </a:solidFill>
                <a:latin typeface="Noto Sans"/>
                <a:ea typeface="Noto Sans CJK JP"/>
              </a:rPr>
              <a:t>Sentence Transformersの公式学習例。NLI文対を使う文埋め込みの損失関数と実装を示す。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9869"/>
            <a:ext cx="7955279" cy="31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lang="ja-JP">
                <a:solidFill>
                  <a:srgbClr val="626669"/>
                </a:solidFill>
                <a:latin typeface="Noto Sans"/>
                <a:ea typeface="Noto Sans CJK JP"/>
                <a:hlinkClick r:id="rId2"/>
              </a:rPr>
              <a:t>https://github.com/UKPLab/sentence-transformers/tree/master/examples/sentence_transformer/training/nli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1400" b="1">
                <a:solidFill>
                  <a:srgbClr val="FFFEF8"/>
                </a:solidFill>
                <a:latin typeface="Noto Sans"/>
                <a:ea typeface="Noto Sans CJK JP"/>
              </a:rPr>
              <a:t>Appendix: 5 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058"/>
            <a:ext cx="7955279" cy="744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ja-JP">
                <a:solidFill>
                  <a:srgbClr val="303437"/>
                </a:solidFill>
                <a:latin typeface="Noto Sans"/>
                <a:ea typeface="Noto Sans CJK JP"/>
              </a:rPr>
              <a:t>Sentence-BERT: Sentence Embeddings using Siamese BERT-Networks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01290"/>
            <a:ext cx="7955279" cy="360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lang="ja-JP">
                <a:solidFill>
                  <a:srgbClr val="303437"/>
                </a:solidFill>
                <a:latin typeface="Noto Sans"/>
                <a:ea typeface="Noto Sans CJK JP"/>
              </a:rPr>
              <a:t>Reimers, N., &amp; Gurevych, I. (2019). EMNLP-IJCNLP, pp. 3982–3992.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48908"/>
            <a:ext cx="7955279" cy="7323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lang="ja-JP">
                <a:solidFill>
                  <a:srgbClr val="303437"/>
                </a:solidFill>
                <a:latin typeface="Noto Sans"/>
                <a:ea typeface="Noto Sans CJK JP"/>
              </a:rPr>
              <a:t>Sentence-BERTの原著論文。BERTから文埋め込みを生成し、文間の類似度を計算する。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90355"/>
            <a:ext cx="7955279" cy="308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lang="ja-JP">
                <a:solidFill>
                  <a:srgbClr val="626669"/>
                </a:solidFill>
                <a:latin typeface="Noto Sans"/>
                <a:ea typeface="Noto Sans CJK JP"/>
                <a:hlinkClick r:id="rId2"/>
              </a:rPr>
              <a:t>https://aclanthology.org/D19-1410/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07645"/>
            <a:ext cx="7955279" cy="455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ja-JP">
                <a:solidFill>
                  <a:srgbClr val="303437"/>
                </a:solidFill>
                <a:latin typeface="Noto Sans"/>
                <a:ea typeface="Noto Sans CJK JP"/>
              </a:rPr>
              <a:t>SimCSE: Simple Contrastive Learning of Sentence 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94444"/>
            <a:ext cx="7955279" cy="360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lang="ja-JP">
                <a:solidFill>
                  <a:srgbClr val="303437"/>
                </a:solidFill>
                <a:latin typeface="Noto Sans"/>
                <a:ea typeface="Noto Sans CJK JP"/>
              </a:rPr>
              <a:t>Gao, T., Yao, X., &amp; Chen, D. (2021). EMNLP.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142062"/>
            <a:ext cx="7955279" cy="7323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lang="ja-JP">
                <a:solidFill>
                  <a:srgbClr val="303437"/>
                </a:solidFill>
                <a:latin typeface="Noto Sans"/>
                <a:ea typeface="Noto Sans CJK JP"/>
              </a:rPr>
              <a:t>文埋め込みの対照学習手法を提案した論文。ドロップアウトとNLI文対を正例の構成に用いる。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3509"/>
            <a:ext cx="7955279" cy="308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lang="ja-JP">
                <a:solidFill>
                  <a:srgbClr val="626669"/>
                </a:solidFill>
                <a:latin typeface="Noto Sans"/>
                <a:ea typeface="Noto Sans CJK JP"/>
                <a:hlinkClick r:id="rId3"/>
              </a:rPr>
              <a:t>https://aclanthology.org/2021.emnlp-main.552/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1400" b="1">
                <a:solidFill>
                  <a:srgbClr val="FFFEF8"/>
                </a:solidFill>
                <a:latin typeface="Noto Sans"/>
                <a:ea typeface="Noto Sans CJK JP"/>
              </a:rPr>
              <a:t>Appendix: 5 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7691"/>
            <a:ext cx="7955279" cy="8426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ja-JP">
                <a:solidFill>
                  <a:srgbClr val="303437"/>
                </a:solidFill>
                <a:latin typeface="Noto Sans"/>
                <a:ea typeface="Noto Sans CJK JP"/>
              </a:rPr>
              <a:t>Right for the Wrong Reasons: Diagnosing Syntactic Heuristics in Natural Language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00753"/>
            <a:ext cx="7955279" cy="395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 lang="ja-JP">
                <a:solidFill>
                  <a:srgbClr val="303437"/>
                </a:solidFill>
                <a:latin typeface="Noto Sans"/>
                <a:ea typeface="Noto Sans CJK JP"/>
              </a:rPr>
              <a:t>McCoy, R. T., Pavlick, E., &amp; Linzen, T. (2019). ACL, pp. 3428–3448.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85529"/>
            <a:ext cx="7955279" cy="7999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lang="ja-JP">
                <a:solidFill>
                  <a:srgbClr val="303437"/>
                </a:solidFill>
                <a:latin typeface="Noto Sans"/>
                <a:ea typeface="Noto Sans CJK JP"/>
              </a:rPr>
              <a:t>HANSの提案論文。語の重なりや部分列などの統語的な近道にNLIモデルが依存するかを検査する。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90946"/>
            <a:ext cx="7955279" cy="31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lang="ja-JP">
                <a:solidFill>
                  <a:srgbClr val="626669"/>
                </a:solidFill>
                <a:latin typeface="Noto Sans"/>
                <a:ea typeface="Noto Sans CJK JP"/>
                <a:hlinkClick r:id="rId2"/>
              </a:rPr>
              <a:t>https://aclanthology.org/P19-1334/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1400" b="1">
                <a:solidFill>
                  <a:srgbClr val="FFFEF8"/>
                </a:solidFill>
                <a:latin typeface="Noto Sans"/>
                <a:ea typeface="Noto Sans CJK JP"/>
              </a:rPr>
              <a:t>Appendix: 5 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7691"/>
            <a:ext cx="7955279" cy="8426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ja-JP">
                <a:solidFill>
                  <a:srgbClr val="303437"/>
                </a:solidFill>
                <a:latin typeface="Noto Sans"/>
                <a:ea typeface="Noto Sans CJK JP"/>
              </a:rPr>
              <a:t>Adversarial NLI: A New Benchmark for Natural Language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00753"/>
            <a:ext cx="7955279" cy="395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 lang="ja-JP">
                <a:solidFill>
                  <a:srgbClr val="303437"/>
                </a:solidFill>
                <a:latin typeface="Noto Sans"/>
                <a:ea typeface="Noto Sans CJK JP"/>
              </a:rPr>
              <a:t>Nie, Y., Williams, A., Dinan, E., Bansal, M., Weston, J., &amp; Kiela, D. (2020). ACL.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85529"/>
            <a:ext cx="7955279" cy="7999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lang="ja-JP">
                <a:solidFill>
                  <a:srgbClr val="303437"/>
                </a:solidFill>
                <a:latin typeface="Noto Sans"/>
                <a:ea typeface="Noto Sans CJK JP"/>
              </a:rPr>
              <a:t>ANLIの原著論文。人がモデルを誤らせる文対を作る反復的なデータ収集を提案する。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90946"/>
            <a:ext cx="7955279" cy="31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lang="ja-JP">
                <a:solidFill>
                  <a:srgbClr val="626669"/>
                </a:solidFill>
                <a:latin typeface="Noto Sans"/>
                <a:ea typeface="Noto Sans CJK JP"/>
                <a:hlinkClick r:id="rId2"/>
              </a:rPr>
              <a:t>https://aclanthology.org/2020.acl-main.441/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1400" b="1">
                <a:solidFill>
                  <a:srgbClr val="FFFEF8"/>
                </a:solidFill>
                <a:latin typeface="Noto Sans"/>
                <a:ea typeface="Noto Sans CJK JP"/>
              </a:rPr>
              <a:t>Appendix: 5 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7691"/>
            <a:ext cx="7955279" cy="8426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lang="ja-JP">
                <a:solidFill>
                  <a:srgbClr val="303437"/>
                </a:solidFill>
                <a:latin typeface="Noto Sans"/>
                <a:ea typeface="Noto Sans CJK JP"/>
              </a:rPr>
              <a:t>e-SNLI: Natural Language Inference with Natural Language Explanations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00753"/>
            <a:ext cx="7955279" cy="631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 lang="ja-JP">
                <a:solidFill>
                  <a:srgbClr val="303437"/>
                </a:solidFill>
                <a:latin typeface="Noto Sans"/>
                <a:ea typeface="Noto Sans CJK JP"/>
              </a:rPr>
              <a:t>Camburu, O.-M., Rocktäschel, T., Lukasiewicz, T., &amp; Blunsom, P. (2018). Advances in Neural Information Processing Systems, 31, pp. 9539–9549.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21686"/>
            <a:ext cx="7955279" cy="7999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lang="ja-JP">
                <a:solidFill>
                  <a:srgbClr val="303437"/>
                </a:solidFill>
                <a:latin typeface="Noto Sans"/>
                <a:ea typeface="Noto Sans CJK JP"/>
              </a:rPr>
              <a:t>SNLIに自然言語の説明を追加した論文。関係ラベルに加えて、その判断理由を収録する。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27102"/>
            <a:ext cx="7955279" cy="31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lang="ja-JP">
                <a:solidFill>
                  <a:srgbClr val="626669"/>
                </a:solidFill>
                <a:latin typeface="Noto Sans"/>
                <a:ea typeface="Noto Sans CJK JP"/>
                <a:hlinkClick r:id="rId2"/>
              </a:rPr>
              <a:t>https://github.com/OanaMariaCamburu/e-SNLI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佐々木　悠太</cp:lastModifiedBy>
  <cp:revision>500</cp:revision>
  <dcterms:modified xsi:type="dcterms:W3CDTF">2026-10-13T12:49:59Z</dcterms:modified>
</cp:coreProperties>
</file>