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267" r:id="rId18"/>
    <p:sldId id="309" r:id="rId60"/>
    <p:sldId id="262" r:id="rId3"/>
    <p:sldId id="263" r:id="rId2"/>
    <p:sldId id="264" r:id="rId15"/>
    <p:sldId id="265" r:id="rId16"/>
    <p:sldId id="266" r:id="rId17"/>
    <p:sldId id="314" r:id="rId10"/>
    <p:sldId id="310" r:id="rId61"/>
    <p:sldId id="268" r:id="rId19"/>
    <p:sldId id="311" r:id="rId62"/>
    <p:sldId id="269" r:id="rId20"/>
    <p:sldId id="270" r:id="rId21"/>
    <p:sldId id="312" r:id="rId63"/>
    <p:sldId id="271" r:id="rId22"/>
    <p:sldId id="272" r:id="rId23"/>
    <p:sldId id="273" r:id="rId24"/>
    <p:sldId id="274" r:id="rId25"/>
    <p:sldId id="313" r:id="rId6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15" r:id="rId6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6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9.xml"/><Relationship Id="rId19" Type="http://schemas.openxmlformats.org/officeDocument/2006/relationships/slide" Target="slides/slide18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44.xml"/><Relationship Id="rId43" Type="http://schemas.openxmlformats.org/officeDocument/2006/relationships/slide" Target="slides/slide45.xml"/><Relationship Id="rId44" Type="http://schemas.openxmlformats.org/officeDocument/2006/relationships/slide" Target="slides/slide46.xml"/><Relationship Id="rId45" Type="http://schemas.openxmlformats.org/officeDocument/2006/relationships/slide" Target="slides/slide47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slide" Target="slides/slide53.xml"/><Relationship Id="rId52" Type="http://schemas.openxmlformats.org/officeDocument/2006/relationships/slide" Target="slides/slide54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8.xml"/><Relationship Id="rId57" Type="http://schemas.openxmlformats.org/officeDocument/2006/relationships/slide" Target="slides/slide59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0.xml"/><Relationship Id="rId61" Type="http://schemas.openxmlformats.org/officeDocument/2006/relationships/slide" Target="slides/slide17.xml"/><Relationship Id="rId62" Type="http://schemas.openxmlformats.org/officeDocument/2006/relationships/slide" Target="slides/slide19.xml"/><Relationship Id="rId63" Type="http://schemas.openxmlformats.org/officeDocument/2006/relationships/slide" Target="slides/slide22.xml"/><Relationship Id="rId64" Type="http://schemas.openxmlformats.org/officeDocument/2006/relationships/slide" Target="slides/slide27.xml"/><Relationship Id="rId65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ts val="2200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github.com/OanaMariaCamburu/e-SNLI" TargetMode="External"/><Relationship Id="rId5" Type="http://schemas.openxmlformats.org/officeDocument/2006/relationships/hyperlink" Target="https://github.com/facebookresearch/anli" TargetMode="External"/><Relationship Id="rId6" Type="http://schemas.openxmlformats.org/officeDocument/2006/relationships/hyperlink" Target="https://aclanthology.org/N18-2017/" TargetMode="External"/><Relationship Id="rId7" Type="http://schemas.openxmlformats.org/officeDocument/2006/relationships/hyperlink" Target="https://aclanthology.org/W07-1401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Relationship Id="rId4" Type="http://schemas.openxmlformats.org/officeDocument/2006/relationships/hyperlink" Target="https://github.com/alibaba-edu/simple-effective-text-matching" TargetMode="External"/><Relationship Id="rId5" Type="http://schemas.openxmlformats.org/officeDocument/2006/relationships/hyperlink" Target="https://github.com/princeton-nlp/SimCSE" TargetMode="External"/><Relationship Id="rId6" Type="http://schemas.openxmlformats.org/officeDocument/2006/relationships/hyperlink" Target="https://github.com/UKPLab/sentence-transformers/tree/master/examples/sentence_transformer/training/nli" TargetMode="External"/><Relationship Id="rId7" Type="http://schemas.openxmlformats.org/officeDocument/2006/relationships/hyperlink" Target="https://arxiv.org/abs/2402.16829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square" lIns="0" rIns="0" tIns="0" bIns="0" anchor="ctr"/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def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defRPr sz="3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5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</a:t>
            </a:r>
            <a:endParaRPr sz="3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本編の構成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SNLIの構成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1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概要とタスク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2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作成方法と規模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3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評価と性能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4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利用の変遷と現在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5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入手方法とまとめ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概要とタスク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SNLIの概要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SNLI公式サイト.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英語の文対を3種類の関係に分類する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SNLIの概要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SNLIは自然言語推論（NLI）のデータセットである。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入力には前提文と仮説文の2つのテキストを使う。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仮説が前提から導けるかを含意・中立・矛盾で判断する。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画像の説明文を利用するが、モデルの入力に画像は含まれない。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約57万組を収録し、2015年のEMNLPで発表された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(2015), EMNLP.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含意・中立・矛盾の実例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an electric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電気ギターを弾いているなら、ギターを弾いている。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1034985636.jpg#3r1e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中立の例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含意・中立・矛盾の実例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reads the paper in a bar with green lighting.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man is reading the sportspage.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新聞のどの面を読んでいるかは、前提に書かれていない。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2096485764.jpg#0r1n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矛盾の例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含意・中立・矛盾の実例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young man in hoods standing in the middle of a quiet street facing the camera.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people sit by a busy street bareheaded.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立っていることと座っていることなどが両立しない。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4460943467.jpg#0r1c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「片手」と「両手」の違いは矛盾か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SNLIの判断と限界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one hand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both hands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71651754.jpg#0r1c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作成方法と規模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大規模な学習データが必要だった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SNLIの開発目的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先行する含意判定の課題であるRTEは、評価用の規模だった。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大規模なニューラルモデルの教師あり学習には限界があった。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これに対してSNLIは、人手で570,152組を作った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語彙・構文・意味を扱う文表現モデルの学習と評価に使う。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写真の同じ状況を想定し、文の関係を判断しやすくした。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dataset card. https://github.com/huggingface/datasets/blob/1.18.4/datasets/snli/README.md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写真説明文から3種類の仮説を作成した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SNLIの作成方法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写真に英語の説明文を付けたFlickr30kなどを素材にした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物体や関係を注釈したVisual Genomeの初期データも使った。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作業者には説明文だけを提示し、写真は見せなかった。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確実に真・真かもしれない・確実に偽の文を各1つ書く。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この仮説文の作成には約2,500人の作業者が参加した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(2015), §2.1.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追加の4人が一部の文対を判定した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SNLIの作成方法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56,951組について、4人の判定を追加した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[1, 2]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作成者のラベルを含め、1組あたり5票を得た。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3票以上が一致したクラスを正解ラベルとした。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検証対象の98%で3票以上が一致し、58.3%は全員一致。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検証は約30人の信頼された作業者が担当した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一致しない文対には「-」を付け、通常の3分類から除く。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(2015), §2.2 / Table 3.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収録規模と3分類に使う文対数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SNLIの規模と文の長さ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元の収録数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正解ラベル付き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569,033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34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右列は、正解ラベルが付いたSNLI 1.0の文対数。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前提文の単語数の分布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SNLIの規模と文の長さ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https://nlp.stanford.edu/projects/snli/
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SNLIの規模と文の長さ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https://nlp.stanford.edu/projects/snli/
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評価と性能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分類性能を正解率で評価する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SNLIの評価方法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1組の予測クラスが正解と一致すれば1、不一致なら0。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正解率は正解した組数を評価対象の組数で割る。3組中2組が正解なら、正解率は66.7%となる。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正解ラベルがない「-」の文対は3分類の評価から除く。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テスト用では正解付き9,824組を評価対象とする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2015年のLSTMの正解率は77.6%だった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SNLIの登場時の性能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単語埋め込みの和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単純な再帰型ネットワーク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長期依存を扱うLSTM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いずれもSNLIの学習用で学習し、テスト用で評価した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(2015), Table 6.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SNLIで報告されたモデルの正解率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SNLIのモデル評価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双方向LSTM＋注意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BERT＋意味役割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91.9%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文間の注意を計算するESIMと、BERTを意味役割で拡張したSemBERT。各公開実装の報告値であり、学習条件は異なる。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ESIM 公開実装. https://github.com/coetaur0/ESIM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SemBERT 著者実装. https://github.com/cooelf/SemBERT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正解率だけでは文の理解を判断できない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SNLIの判断と限界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写真説明文に偏り、長文・専門文書を代表しない。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仮説文だけでもラベルを推測できる注釈の偏りがある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仮説だけを使う分類器で約67%という報告がある。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中立と矛盾の境界には、場面の解釈が関わる。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文対全体の性能と、推論の種類ごとの性能を分けて見る。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Gururangan et al. (2018), NAACL. https://aclanthology.org/N18-2017/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dataset card. https://github.com/huggingface/datasets/blob/1.18.4/datasets/snli/README.md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利用の変遷と現在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先行するRTEとSNLIの規模の違い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関連データセットの動向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RTE第3回（2007年）は、開発800組＋テスト800組だった。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それに対してSNLI（2015年）は570,152組を収録した。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合計1,600組のRTE第3回に対し、収録数は約356倍となる。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その結果、ニューラルモデルを学習しやすくなった。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Giampiccolo et al. (2007), §2. https://aclanthology.org/W07-1401/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その後のMultiNLIはジャンルを広げた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関連データセットの動向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その後、多ジャンルの推論データMultiNLIが登場した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2018年の論文で発表された。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SNLIは写真説明を扱った。これに対し、会話・小説など10ジャンルへ広げた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さらに、未知のジャンルへの汎化も評価する。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Williams et al. (2018). https://aclanthology.org/N18-1101/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MultiNLI著者リポジトリ. https://github.com/nyu-mll/multiNLI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e-SNLIとANLIでは何を追加したか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関連データセットの動向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判断理由を付けた拡張データe-SNLIも作られた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SNLIの文対を使い、クラスに加えて自然言語の説明を学習する。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一方、人がモデルを誤らせる例を作るデータANLIもある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モデルと作業者を交互に用い、難しい推論例を増やす。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いずれもSNLIの版の更新ではなく、別のデータである。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Camburu et al. (2018), NeurIPS. https://github.com/OanaMariaCamburu/e-SNLI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Nie et al. (2020), ACL. https://github.com/facebookresearch/anli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SNLIは現在も文埋め込みの学習に使われる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SNLIの利用の変遷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2015年には、3分類の学習と評価を目的として登場した。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その後、文埋め込みを学ぶSimCSEにも利用された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2021年には、含意を正例、矛盾を難しい負例に使った。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2026年現在も、Sentence TransformersにAllNLIを用いる学習手順がある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AllNLIはSNLIとMultiNLIをまとめた学習データである。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2024年のGISTEmbedでは、負例を選び直す損失にも用いられる。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Gao et al. (2021), EMNLP. https://github.com/princeton-nlp/SimCSE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Sentence Transformers NLI学習例. https://github.com/UKPLab/sentence-transformers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入手方法とまとめ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Faceから文対を取得する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ode-background"/>
          <p:cNvSpPr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Hugging Face SNLI loader. https://github.com/huggingface/datasets/blob/1.18.4/datasets/snli/snli.py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SNLIの特徴と役割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SNLIの特徴のまとめ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英語の文対を、含意・中立・矛盾に分類する。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2015年に、大規模な学習用データとして作られた。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写真説明文から人が仮説を作り、一部を再検証した。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MultiNLIはジャンル、e-SNLIは説明を拡張した。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現在も、文埋め込みの教師データとして使われる。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Appendixの目次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1"/>
              <a:defRPr sz="2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著者と発表先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92938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2"/>
              <a:defRPr sz="2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239572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3"/>
              <a:defRPr sz="2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件数・長さの統計と実例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86207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4"/>
              <a:defRPr sz="2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モデル・入手・作成の補足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332841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5"/>
              <a:defRPr sz="2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参考文献と集計条件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著者と発表先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 著者と発表先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SNLIは2015年9月のEMNLPで発表された（リスボン）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第一著者のSamuel R. Bowmanは自然言語推論を研究する。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SNLIに加え、多ジャンルのMultiNLIの共著者である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最終著者のChristopher D. Manningは単語表現などを研究する。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単語ベクトルを学習するGloVeの共著者である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612640"/>
            <a:ext cx="81838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(2015), EMNLP.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Williams et al. (2018), MultiNLI. https://aclanthology.org/N18-1101/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Pennington et al. (2014), GloVe. https://aclanthology.org/D14-1162/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is filled with song.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合唱していることを、教会が歌で満たされていると言い換える。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2677109430.jpg#1r1e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woman with a green headscarf, blue shirt and a very big grin.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woman is young.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服装や表情だけでは、若いかどうかは判断できない。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6160193920.jpg#4r1n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old man with a package poses in front of an advertisement.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poses in front of an ad.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advertisementとadは同じ内容を表す。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4791890474.jpg#3r1e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statue at a museum that no seems to be looking at.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statue is offensive and people are mad that it is on display.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見られていない理由や人々の感情は、前提から分からない。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6526219567.jpg#4r1n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land rover is being driven across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sedan is stuck in the middle of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車種と動作が、同じ場面の説明として両立しない。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2832076014.jpg#2r1c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blond-haired doctor and her African american assistant looking threw new medical manuals.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doctor is studying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正解は中立だが「勉強している」と読めるかは解釈に依存する。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3856149623.jpg#1r1n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young family enjoys feeling ocean waves lap at their feet.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family is out at a restaurant.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海の波を感じる場面と、レストランの場面を区別している。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2946464027.jpg#0r1c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walk hand in hand down a street.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is walking together.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手をつないで歩くことから、一緒に歩くことが導ける。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3572548523.jpg#4r1e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 come out of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firefighters putting out a fire inside of a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消防士が駅を出ることから、消火しているとは限らない。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4679111230.jpg#2r1n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has cracks in the ceiling.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合唱の説明からは、天井のひびの有無は分からない。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2677109430.jpg#1r1n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統計と実例の対象範囲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 1.0の公式データに含まれる文対を集計した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正解付き569,033組を使い、ラベルが「-」の組は除く。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sentence1とsentence2を加工せずに数えた。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Pythonのlen()で空白・句読点を含むUnicode文字を数える。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str.split()で空白区切りの単語を数える。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前提は文対ごとに繰り返し数える。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正解ラベル付きのクラス別件数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183,416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182,764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183,187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3,235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3,278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3,368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ラベルが付いた569,033組を集計。各クラスは約3分の1となる。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文対数と前提文の種類数は異なる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正解付き文対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異なる前提文字列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150,736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同じ前提から複数の仮説が作られるため、前提は繰り返し現れる。種類数は完全一致の文字列数。写真数や説明文ID数とは異なる。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66.48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29.52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15.88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https://nlp.stanford.edu/projects/snli/
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分割別の前提の単語数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5.66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6.18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前提が最長の実例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正解付き文対中で402文字・78語。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52364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 “The people who are shown are not all doing the exact same thing.”正解は含意。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207344485.jpg#0r5e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https://nlp.stanford.edu/projects/snli/
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分割別の仮説の単語数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仮説の文字数が最大の実例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正解付き文対中で295文字。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 “A doberman bites a large blue ball.”正解は矛盾。仮説には前提と無関係な描写が多い。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248994078.jpg#4r1c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仮説が56語の実例の前提全文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仮説の単語数が最大の実例の前提文。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 “one hand” とある。正解ラベルは矛盾。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71651754.jpg#0r1c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仮説が56語の実例の仮説全文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正解付き文対中で単語数が最大の仮説文。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仮説では “both hands” に変わっている。正解ラベルは矛盾。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SNLI 1.0公式データ. https://nlp.stanford.edu/projects/snli/  文対ID 71651754.jpg#0r1c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単語の対応を用いるRE2の評価結果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モデル評価の補足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SNLIの正解率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報告条件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88.9 ± 0.1%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10回の平均と標準偏差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ACL 2019の手法。著者リポジトリ掲載の報告値。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比較には前処理、学習条件、単一実行か平均かの確認が必要。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RE2 著者実装. https://github.com/alibaba-edu/simple-effective-text-matching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公式ZIPでは文対IDと投票を確認できる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入手方法の補足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ode-background"/>
          <p:cNvSpPr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import json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 = "https://nlp.stanford.edu/projects/snli/snli_1.0.zip"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1955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公式のJSONLにはsentence1、sentence2、gold_labelなどを含む。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Hugging Face SNLI loader. https://github.com/huggingface/datasets/blob/1.18.4/datasets/snli/snli.py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作成時の指示と品質確認の補足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作成方法の補足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作業者は前提の説明に合う同じ写真を想定して仮説を書く。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画像を見せず、3つの関係に対応する文を作る 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規約を守らない作業者を外し、自動の大量投稿を拒否した。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追加検証の多数決と、作成者のラベルを区別する。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開発用とテスト用には複数の判定が付いた文対を使う。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自然な場面の読みと形式的な論理関係は必ずしも一致しない。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Bowman et al. (2015), §2.1–2.2. https://aclanthology.org/D15-1075/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参考文献と参照した内容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参考文献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Bowman et al. (2015). SNLI. EMNLP.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構築目的、作成・検証方法、初期モデルの評価を示す原著。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Williams et al. (2018). MultiNLI. NAACL.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写真説明から10ジャンルへ対象を広げた後続データの原著。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https://aclanthology.org/N18-1101/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Camburu et al. (2018). e-SNLI. NeurIPS.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SNLIの判断に自然言語の説明を加えた拡張の根拠。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https://github.com/OanaMariaCamburu/e-SNLI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Nie et al. (2020). ANLI. ACL.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モデルが誤る例を人が作る後続データの構築方法。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参考文献と参照した内容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参考文献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Gururangan et al. (2018). Annotation Artifacts. NAACL.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仮説文だけでも予測できる注釈の偏りを示した研究。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https://aclanthology.org/N18-2017/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Giampiccolo et al. (2007). RTE第3回.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SNLI以前の含意認識ベンチマークと規模の比較。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https://aclanthology.org/W07-1401/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ESIM公開実装とSNLIの評価結果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SNLI上の分類性能を比較するためのモデル実装と報告値。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https://github.com/coetaur0/ESIM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Zhang et al. (2020). SemBERT. AAAI.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意味役割を加えたモデルのSNLI評価結果。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参考文献と参照した内容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Yang et al. (2019). RE2. ACL.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単語間の対応を利用したモデルの反復評価結果。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https://github.com/alibaba-edu/simple-effective-text-matching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Gao et al. (2021). SimCSE. EMNLP.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SNLIを文埋め込みの教師データに使う利用例。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https://github.com/princeton-nlp/SimCSE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 TransformersのAllNLI学習例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SNLIを含む学習手順が現在も公開されている根拠。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Solatorio (2024). GISTEmbed.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文埋め込みの負例を選ぶために含意データを用いる利用例。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https://arxiv.org/abs/2402.16829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