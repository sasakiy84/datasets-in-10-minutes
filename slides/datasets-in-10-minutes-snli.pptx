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7"/>
    <p:sldId id="307" r:id="rId58"/>
    <p:sldId id="308" r:id="rId59"/>
    <p:sldId id="257" r:id="rId8"/>
    <p:sldId id="258" r:id="rId9"/>
    <p:sldId id="259" r:id="rId6"/>
    <p:sldId id="260" r:id="rId5"/>
    <p:sldId id="261" r:id="rId4"/>
    <p:sldId id="322" r:id="rId70"/>
    <p:sldId id="267" r:id="rId18"/>
    <p:sldId id="309" r:id="rId60"/>
    <p:sldId id="271" r:id="rId22"/>
    <p:sldId id="262" r:id="rId3"/>
    <p:sldId id="263" r:id="rId2"/>
    <p:sldId id="323" r:id="rId71"/>
    <p:sldId id="264" r:id="rId15"/>
    <p:sldId id="265" r:id="rId16"/>
    <p:sldId id="291" r:id="rId42"/>
    <p:sldId id="324" r:id="rId72"/>
    <p:sldId id="266" r:id="rId17"/>
    <p:sldId id="296" r:id="rId47"/>
    <p:sldId id="314" r:id="rId10"/>
    <p:sldId id="310" r:id="rId61"/>
    <p:sldId id="325" r:id="rId73"/>
    <p:sldId id="268" r:id="rId19"/>
    <p:sldId id="326" r:id="rId74"/>
    <p:sldId id="311" r:id="rId62"/>
    <p:sldId id="269" r:id="rId20"/>
    <p:sldId id="270" r:id="rId21"/>
    <p:sldId id="312" r:id="rId63"/>
    <p:sldId id="272" r:id="rId23"/>
    <p:sldId id="273" r:id="rId24"/>
    <p:sldId id="327" r:id="rId75"/>
    <p:sldId id="328" r:id="rId76"/>
    <p:sldId id="274" r:id="rId25"/>
    <p:sldId id="313" r:id="rId64"/>
    <p:sldId id="329" r:id="rId77"/>
    <p:sldId id="330" r:id="rId78"/>
    <p:sldId id="275" r:id="rId26"/>
    <p:sldId id="276" r:id="rId27"/>
    <p:sldId id="331" r:id="rId79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2" r:id="rId43"/>
    <p:sldId id="293" r:id="rId44"/>
    <p:sldId id="294" r:id="rId45"/>
    <p:sldId id="295" r:id="rId46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15" r:id="rId57"/>
    <p:sldId id="316" r:id="rId56"/>
    <p:sldId id="317" r:id="rId65"/>
    <p:sldId id="318" r:id="rId66"/>
    <p:sldId id="319" r:id="rId67"/>
    <p:sldId id="320" r:id="rId68"/>
    <p:sldId id="321" r:id="rId6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4.xml"/><Relationship Id="rId3" Type="http://schemas.openxmlformats.org/officeDocument/2006/relationships/slide" Target="slides/slide13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22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20.xml"/><Relationship Id="rId18" Type="http://schemas.openxmlformats.org/officeDocument/2006/relationships/slide" Target="slides/slide10.xml"/><Relationship Id="rId19" Type="http://schemas.openxmlformats.org/officeDocument/2006/relationships/slide" Target="slides/slide25.xml"/><Relationship Id="rId20" Type="http://schemas.openxmlformats.org/officeDocument/2006/relationships/slide" Target="slides/slide28.xml"/><Relationship Id="rId21" Type="http://schemas.openxmlformats.org/officeDocument/2006/relationships/slide" Target="slides/slide29.xml"/><Relationship Id="rId22" Type="http://schemas.openxmlformats.org/officeDocument/2006/relationships/slide" Target="slides/slide12.xml"/><Relationship Id="rId23" Type="http://schemas.openxmlformats.org/officeDocument/2006/relationships/slide" Target="slides/slide31.xml"/><Relationship Id="rId24" Type="http://schemas.openxmlformats.org/officeDocument/2006/relationships/slide" Target="slides/slide32.xml"/><Relationship Id="rId25" Type="http://schemas.openxmlformats.org/officeDocument/2006/relationships/slide" Target="slides/slide35.xml"/><Relationship Id="rId26" Type="http://schemas.openxmlformats.org/officeDocument/2006/relationships/slide" Target="slides/slide39.xml"/><Relationship Id="rId27" Type="http://schemas.openxmlformats.org/officeDocument/2006/relationships/slide" Target="slides/slide40.xml"/><Relationship Id="rId28" Type="http://schemas.openxmlformats.org/officeDocument/2006/relationships/slide" Target="slides/slide42.xml"/><Relationship Id="rId29" Type="http://schemas.openxmlformats.org/officeDocument/2006/relationships/slide" Target="slides/slide43.xml"/><Relationship Id="rId30" Type="http://schemas.openxmlformats.org/officeDocument/2006/relationships/slide" Target="slides/slide44.xml"/><Relationship Id="rId31" Type="http://schemas.openxmlformats.org/officeDocument/2006/relationships/slide" Target="slides/slide45.xml"/><Relationship Id="rId32" Type="http://schemas.openxmlformats.org/officeDocument/2006/relationships/slide" Target="slides/slide46.xml"/><Relationship Id="rId33" Type="http://schemas.openxmlformats.org/officeDocument/2006/relationships/slide" Target="slides/slide47.xml"/><Relationship Id="rId34" Type="http://schemas.openxmlformats.org/officeDocument/2006/relationships/slide" Target="slides/slide48.xml"/><Relationship Id="rId35" Type="http://schemas.openxmlformats.org/officeDocument/2006/relationships/slide" Target="slides/slide49.xml"/><Relationship Id="rId36" Type="http://schemas.openxmlformats.org/officeDocument/2006/relationships/slide" Target="slides/slide50.xml"/><Relationship Id="rId37" Type="http://schemas.openxmlformats.org/officeDocument/2006/relationships/slide" Target="slides/slide51.xml"/><Relationship Id="rId38" Type="http://schemas.openxmlformats.org/officeDocument/2006/relationships/slide" Target="slides/slide52.xml"/><Relationship Id="rId39" Type="http://schemas.openxmlformats.org/officeDocument/2006/relationships/slide" Target="slides/slide53.xml"/><Relationship Id="rId40" Type="http://schemas.openxmlformats.org/officeDocument/2006/relationships/slide" Target="slides/slide54.xml"/><Relationship Id="rId41" Type="http://schemas.openxmlformats.org/officeDocument/2006/relationships/slide" Target="slides/slide55.xml"/><Relationship Id="rId42" Type="http://schemas.openxmlformats.org/officeDocument/2006/relationships/slide" Target="slides/slide18.xml"/><Relationship Id="rId43" Type="http://schemas.openxmlformats.org/officeDocument/2006/relationships/slide" Target="slides/slide56.xml"/><Relationship Id="rId44" Type="http://schemas.openxmlformats.org/officeDocument/2006/relationships/slide" Target="slides/slide57.xml"/><Relationship Id="rId45" Type="http://schemas.openxmlformats.org/officeDocument/2006/relationships/slide" Target="slides/slide58.xml"/><Relationship Id="rId46" Type="http://schemas.openxmlformats.org/officeDocument/2006/relationships/slide" Target="slides/slide59.xml"/><Relationship Id="rId47" Type="http://schemas.openxmlformats.org/officeDocument/2006/relationships/slide" Target="slides/slide21.xml"/><Relationship Id="rId48" Type="http://schemas.openxmlformats.org/officeDocument/2006/relationships/slide" Target="slides/slide60.xml"/><Relationship Id="rId49" Type="http://schemas.openxmlformats.org/officeDocument/2006/relationships/slide" Target="slides/slide61.xml"/><Relationship Id="rId50" Type="http://schemas.openxmlformats.org/officeDocument/2006/relationships/slide" Target="slides/slide62.xml"/><Relationship Id="rId51" Type="http://schemas.openxmlformats.org/officeDocument/2006/relationships/slide" Target="slides/slide63.xml"/><Relationship Id="rId52" Type="http://schemas.openxmlformats.org/officeDocument/2006/relationships/slide" Target="slides/slide64.xml"/><Relationship Id="rId53" Type="http://schemas.openxmlformats.org/officeDocument/2006/relationships/slide" Target="slides/slide65.xml"/><Relationship Id="rId54" Type="http://schemas.openxmlformats.org/officeDocument/2006/relationships/slide" Target="slides/slide66.xml"/><Relationship Id="rId55" Type="http://schemas.openxmlformats.org/officeDocument/2006/relationships/slide" Target="slides/slide67.xml"/><Relationship Id="rId56" Type="http://schemas.openxmlformats.org/officeDocument/2006/relationships/slide" Target="slides/slide69.xml"/><Relationship Id="rId57" Type="http://schemas.openxmlformats.org/officeDocument/2006/relationships/slide" Target="slides/slide68.xml"/><Relationship Id="rId58" Type="http://schemas.openxmlformats.org/officeDocument/2006/relationships/slide" Target="slides/slide2.xml"/><Relationship Id="rId59" Type="http://schemas.openxmlformats.org/officeDocument/2006/relationships/slide" Target="slides/slide3.xml"/><Relationship Id="rId60" Type="http://schemas.openxmlformats.org/officeDocument/2006/relationships/slide" Target="slides/slide11.xml"/><Relationship Id="rId61" Type="http://schemas.openxmlformats.org/officeDocument/2006/relationships/slide" Target="slides/slide23.xml"/><Relationship Id="rId62" Type="http://schemas.openxmlformats.org/officeDocument/2006/relationships/slide" Target="slides/slide27.xml"/><Relationship Id="rId63" Type="http://schemas.openxmlformats.org/officeDocument/2006/relationships/slide" Target="slides/slide30.xml"/><Relationship Id="rId64" Type="http://schemas.openxmlformats.org/officeDocument/2006/relationships/slide" Target="slides/slide36.xml"/><Relationship Id="rId65" Type="http://schemas.openxmlformats.org/officeDocument/2006/relationships/slide" Target="slides/slide70.xml"/><Relationship Id="rId66" Type="http://schemas.openxmlformats.org/officeDocument/2006/relationships/slide" Target="slides/slide71.xml"/><Relationship Id="rId67" Type="http://schemas.openxmlformats.org/officeDocument/2006/relationships/slide" Target="slides/slide72.xml"/><Relationship Id="rId68" Type="http://schemas.openxmlformats.org/officeDocument/2006/relationships/slide" Target="slides/slide73.xml"/><Relationship Id="rId69" Type="http://schemas.openxmlformats.org/officeDocument/2006/relationships/slide" Target="slides/slide74.xml"/><Relationship Id="rId70" Type="http://schemas.openxmlformats.org/officeDocument/2006/relationships/slide" Target="slides/slide9.xml"/><Relationship Id="rId71" Type="http://schemas.openxmlformats.org/officeDocument/2006/relationships/slide" Target="slides/slide15.xml"/><Relationship Id="rId72" Type="http://schemas.openxmlformats.org/officeDocument/2006/relationships/slide" Target="slides/slide19.xml"/><Relationship Id="rId73" Type="http://schemas.openxmlformats.org/officeDocument/2006/relationships/slide" Target="slides/slide24.xml"/><Relationship Id="rId74" Type="http://schemas.openxmlformats.org/officeDocument/2006/relationships/slide" Target="slides/slide26.xml"/><Relationship Id="rId75" Type="http://schemas.openxmlformats.org/officeDocument/2006/relationships/slide" Target="slides/slide33.xml"/><Relationship Id="rId76" Type="http://schemas.openxmlformats.org/officeDocument/2006/relationships/slide" Target="slides/slide34.xml"/><Relationship Id="rId77" Type="http://schemas.openxmlformats.org/officeDocument/2006/relationships/slide" Target="slides/slide37.xml"/><Relationship Id="rId78" Type="http://schemas.openxmlformats.org/officeDocument/2006/relationships/slide" Target="slides/slide38.xml"/><Relationship Id="rId79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nlp.stanford.edu/projects/snli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W07-1401/" TargetMode="External"/><Relationship Id="rId3" Type="http://schemas.openxmlformats.org/officeDocument/2006/relationships/hyperlink" Target="https://aclanthology.org/D15-1075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nlp.stanford.edu/projects/snli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hyperlink" Target="https://nlp.stanford.edu/projects/snli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nlp.stanford.edu/projects/snli/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github.com/coetaur0/ESIM" TargetMode="External"/><Relationship Id="rId4" Type="http://schemas.openxmlformats.org/officeDocument/2006/relationships/hyperlink" Target="https://github.com/cooelf/SemBERT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etaur0/ESIM" TargetMode="External"/><Relationship Id="rId3" Type="http://schemas.openxmlformats.org/officeDocument/2006/relationships/hyperlink" Target="https://github.com/cooelf/SemBERT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N18-2017/" TargetMode="External"/><Relationship Id="rId3" Type="http://schemas.openxmlformats.org/officeDocument/2006/relationships/hyperlink" Target="https://github.com/huggingface/datasets/blob/1.18.4/datasets/snli/README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N18-1101/" TargetMode="External"/><Relationship Id="rId3" Type="http://schemas.openxmlformats.org/officeDocument/2006/relationships/hyperlink" Target="https://github.com/nyu-mll/multiNLI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anaMariaCamburu/e-SNLI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facebookresearch/anli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SimCSE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UKPLab/sentence-transformers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sets/blob/1.18.4/datasets/snli/snli.py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aclanthology.org/N18-1101/" TargetMode="External"/><Relationship Id="rId4" Type="http://schemas.openxmlformats.org/officeDocument/2006/relationships/hyperlink" Target="https://aclanthology.org/D14-1162/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hyperlink" Target="https://nlp.stanford.edu/projects/snli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hyperlink" Target="https://nlp.stanford.edu/projects/snli/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libaba-edu/simple-effective-text-matching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sets/blob/1.18.4/datasets/snli/snli.py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aclanthology.org/N18-1101/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N18-2017/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UKPLab/sentence-transformers/tree/master/examples/sentence_transformer/training/nli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9-1410/" TargetMode="External"/><Relationship Id="rId3" Type="http://schemas.openxmlformats.org/officeDocument/2006/relationships/hyperlink" Target="https://aclanthology.org/2021.emnlp-main.552/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P19-1334/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0.acl-main.441/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anaMariaCamburu/e-SNL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097280"/>
            <a:ext cx="8229600" cy="2240280"/>
          </a:xfrm>
        </p:spPr>
        <p:txBody>
          <a:bodyPr wrap="square" lIns="0" rIns="0" tIns="0" bIns="0" anchor="ctr"/>
          <a:lstStyle/>
          <a:p>
            <a:pPr algn="ctr">
              <a:lnSpc>
                <a:spcPts val="4400"/>
              </a:lnSpc>
              <a:spcBef>
                <a:spcPts val="0"/>
              </a:spcBef>
              <a:spcAft>
                <a:spcPts val="0"/>
              </a:spcAft>
              <a:defRPr sz="3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自然言語推論用データセット</a:t>
            </a:r>
            <a:endParaRPr sz="3200" lang="ja-JP">
              <a:latin typeface="Noto Sans"/>
              <a:ea typeface="Noto Sans CJK JP"/>
              <a:cs typeface="Noto Sans"/>
            </a:endParaRPr>
          </a:p>
          <a:p>
            <a:pPr algn="ctr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defRPr sz="3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Stanford Natural Language Inference Corpus</a:t>
            </a:r>
            <a:endParaRPr sz="3200" lang="ja-JP">
              <a:latin typeface="Noto Sans"/>
              <a:ea typeface="Noto Sans CJK JP"/>
              <a:cs typeface="Noto Sans"/>
            </a:endParaRPr>
          </a:p>
          <a:p>
            <a:pPr algn="ctr">
              <a:lnSpc>
                <a:spcPts val="6500"/>
              </a:lnSpc>
              <a:spcBef>
                <a:spcPts val="0"/>
              </a:spcBef>
              <a:spcAft>
                <a:spcPts val="0"/>
              </a:spcAft>
              <a:defRPr sz="5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5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</a:t>
            </a:r>
            <a:endParaRPr sz="3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34440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文対と3つの推論関係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成立の背景と収集・規模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評価方法とモデル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利用の変遷と関連データ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入手方法とまとめ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文対と3つの推論関係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1 文対と3つの推論関係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SNLIの公式サイト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official-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8046720" cy="2682240"/>
          </a:xfrm>
          <a:prstGeom prst="rect">
            <a:avLst/>
          </a:prstGeom>
        </p:spPr>
      </p:pic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SNLI公式サイト.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前提文と仮説文の関係を3種類に分類する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自然言語推論（Natural Language Inference、NLI）は、前提の記述をもとに別の記述が成り立つかを判断する課題である。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SNLIでは、状況を述べる前提文と、成り立つかを調べる仮説文を入力する。写真説明文から作られたデータだが、モデルの入力は2つの文だけである。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判断の選択肢は、仮説が導ける「含意」、真偽が決まらない「中立」、両立しない「矛盾」の3つである。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含意の例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playing an electric guitar on stage.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playing guitar on stage.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電気ギターを弾いているなら、ギターを弾いている。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1034985636.jpg#3r1e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中立の例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reads the paper in a bar with green lighting.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man is reading the sportspage.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新聞のどの面を読んでいるかは、前提に書かれていない。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2096485764.jpg#0r1n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矛盾の例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young man in hoods standing in the middle of a quiet street facing the camera.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people sit by a busy street bareheaded.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立っていることと座っていることなどが両立しない。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4460943467.jpg#0r1c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語の一致ではなく文が述べる関係を判定する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1 文対と3つの推論関係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電気ギターを弾く人は、ギターを弾く人でもある。このように前提の情報から仮説が導ける場合が含意である。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新聞を読むという情報だけでは、スポーツ面を読むかは決まらない。情報が足りない場合が中立である。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同じ場面で立っていることと座っていることが両立しないように、前提と仮説が衝突する場合が矛盾である。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「片手」と「両手」の違いは矛盾か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前提文の一部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with one hand holding a skinny but long stick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仮説文の一部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with both hands holding a skinny but long stick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「片手だけ」と読むなら、両手で持つ仮説と矛盾する。片手という表現が、他方の手を排除するかは曖昧である。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 成立の背景と収集・規模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2 成立の背景と収集・規模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先行するRTEとSNLIの規模の違い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成立の背景と収集・規模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含意を判定する先行ベンチマークとしてRTEがあった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RTE第3回（2007年）は、開発800組＋テスト800組だった。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それに対してSNLI（2015年）は570,152組を収録した。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合計1,600組のRTE第3回に対し、収録数は約356倍となる。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その結果、ニューラルモデルを学習しやすくなった。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Giampiccolo et al. (2007), §2.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https://aclanthology.org/W07-1401/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Bowman et al. (2015).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大規模な人手作成の文対で学習と評価を行う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成立の背景と収集・規模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先行する含意判定課題RTEに対し、SNLIはニューラルモデルを学習できる規模の文対を用意した。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写真の説明文を前提とし、人が3種類の関係に対応する仮説を書いた。写真の同じ状況を想定して関係を判断する。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Stanford Natural Language Inference Corpusとして、570,152組を収録し、2015年のEMNLPで発表された。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写真説明文をもとに3種類の仮説を書く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成立の背景と収集・規模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写真に英語の説明文を付けたデータFlickr30kと、写真の物体や関係を注釈するVisual Genomeの初期データを素材にした。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作業者には写真を見せず、その説明文だけを提示した。同じ写真の状況について、確実に真・真かもしれない・確実に偽の文を各1つ書いた。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この仮説文の作成には約2,500人が参加した。各文対には、作成した仮説に対応するラベルが付いた。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5人の票から正解ラベルを決める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2 成立の背景と収集・規模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1536192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108960"/>
                <a:gridCol w="1645920"/>
                <a:gridCol w="1645920"/>
                <a:gridCol w="1645920"/>
              </a:tblGrid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判定者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作成者＋追加の4人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127248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3票以上が一致すれば、そのクラスを正解とする。3票に達するクラスがなければ「-」を付ける。票の配分は規則を示す例。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追加検証の合意がない文対を3分類から除く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成立の背景と収集・規模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56,951組には追加の4人が判定を行い、作成者のラベルと合わせて1組5票を得た。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検証対象の98%では3票以上が一致し、58.3%では全員が一致した。検証は約30人の信頼された作業者が担当した。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したがって、配布された文対の総数と、正解ラベル付きで3分類に使う文対数は異なる。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収録規模と3分類に使う文対数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成立の背景と収集・規模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  <a:gridCol w="27432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元の収録数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正解ラベル付き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550,152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10,000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10,000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570,152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569,033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246880"/>
            <a:ext cx="7955279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右列は、正解ラベルが付いたSNLI 1.0の文対数。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文対数と前提文の種類数は異なる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成立の背景と収集・規模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926080"/>
                <a:gridCol w="292608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正解付き文対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異なる前提文字列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150,736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3,319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3,323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561080"/>
            <a:ext cx="7955279" cy="1020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同じ前提から複数の仮説が作られるため、前提は繰り返し現れる。種類数は完全一致の文字列数。写真数や説明文ID数とは異なる。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前提文と仮説文を別々に数えて長さを比べる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2 成立の背景と収集・規模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含意の例では、前提の “A man playing an electric guitar on stage.” は8語、仮説の “A man playing guitar on stage.” は6語である。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単語数は空白で区切って数える。前提と仮説は役割が違うため、それぞれの分布を調べる。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全体の集計では正解付き569,033文対を対象とし、同じ前提が複数の文対に現れる場合も文対ごとに数える。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前提文の単語数の分布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成立の背景と収集・規模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p_w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平均12.89語、中央値12語、最大78語。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正解付き569,033文対。同じ前提文が複数の文対に現れる場合も、それぞれ数えた。 棒1本は0〜1語、2〜3語…の区間を表す。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前提が最長の実例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成立の背景と収集・規模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正解付き文対中で402文字・78語。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52364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42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wearing a helmet, red pants with white stripes going down the sides and a white and red shirt is on a small bicycle using only his hands while his legs are up in the air, while another man wearing a light blue shirt with dark blue trim and black pants with red stripes going up the sides is standing nearby, gesturing toward the first man and holding a small figurine of one of the seven dwarves.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517036"/>
            <a:ext cx="8046720" cy="1073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仮説は “The people who are shown are not all doing the exact same thing.”正解は含意。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207344485.jpg#0r5e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仮説文の単語数の分布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成立の背景と収集・規模</a:t>
            </a:r>
          </a:p>
        </p:txBody>
      </p:sp>
      <p:pic>
        <p:nvPicPr>
          <p:cNvPr id="4" name="Picture 3" descr="snli-h_w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平均7.42語、中央値7語、最大56語。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正解付き569,033文対の仮説文を集計した。 棒1本は0〜1語、2〜3語…の区間を表す。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評価方法とモデル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3 評価方法とモデル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文対3組の予測から正解率を計算する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3 評価方法とモデル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048256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108960"/>
                <a:gridCol w="310896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63931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正解した2組を評価した3組で割り、2÷3×100＝66.7%となる。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正解率は正解付き文対について集計する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評価方法とモデル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各文対では、予測クラスと正解ラベルが一致すれば1、不一致なら0とする。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その得点を評価対象の文対全体で平均し、百分率で報告する。正解ラベルがない「-」の文対は除く。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SNLIのテスト用では、正解付き9,824組を評価対象とする。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文を数値表現へ変換して関係を予測する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3 評価方法とモデル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3502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ニューラルモデルは、まず単語を数値のベクトルへ変換し、単語列から文の特徴を計算する。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LSTMは、語を順に処理して離れた位置の情報を保持する再帰型ネットワークである。ESIM（2017）は双方向LSTMと、文間の語の対応を重み付けする注意機構を使う。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BERTは大量の文で事前学習した言語モデルである。SemBERT（2020）は、誰が何をしたかなどの意味役割をBERTへ加える。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355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https://github.com/coetaur0/ESIM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https://github.com/cooelf/SemBERT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2015年のLSTMの正解率は77.6%だった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評価方法とモデル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560320"/>
              </a:tblGrid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原著のモデル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単語埋め込みの和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単純な再帰型ネットワーク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72.2%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長期依存を扱うLSTM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77.6%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58768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いずれもSNLIの学習用で学習し、テスト用で評価した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(2015), Table 6.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SNLIで報告されたモデルの正解率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評価方法とモデル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108960"/>
                <a:gridCol w="20116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テスト正解率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ESIM 2017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双方向LSTM＋注意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88.0%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SemBERT 2020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[2]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BERT＋意味役割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91.9%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241040"/>
            <a:ext cx="7955279" cy="1340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文間の注意を計算するESIMと、BERTを意味役割で拡張したSemBERT。各公開実装の報告値であり、学習条件は異なる。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ESIM 公開実装.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https://github.com/coetaur0/ESIM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SemBERT 著者実装.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https://github.com/cooelf/SemBERT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正解率だけでは文の理解を判断できない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評価方法とモデル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写真説明文に偏り、長文・専門文書を代表しない。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仮説文だけでもラベルを推測できる注釈の偏りがある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仮説だけを使う分類器で約67%という報告がある。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中立と矛盾の境界には、場面の解釈が関わる。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文対全体の性能と、推論の種類ごとの性能を分けて見る。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Gururangan et al. (2018), NAACL.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https://aclanthology.org/N18-2017/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SNLI dataset card.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https://github.com/huggingface/datasets/blob/1.18.4/datasets/snli/README.md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 利用の変遷と関連データ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4 利用の変遷と関連データ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その後のMultiNLIはジャンルを広げた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利用の変遷と関連データ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その後、多ジャンルの推論データMultiNLIが登場した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57826"/>
              <a:buFont typeface="Noto Sans CJK JP"/>
              <a:buChar char="○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2018年の論文で発表された。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SNLIは写真説明を扱った。これに対し、会話・小説など10ジャンルへ広げた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さらに、未知のジャンルへの汎化も評価する。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Williams et al. (2018).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https://aclanthology.org/N18-1101/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MultiNLI著者リポジトリ.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https://github.com/nyu-mll/multiNLI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e-SNLIは関係ラベルに判断理由を加えた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利用の変遷と関連データ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e-SNLI（2018）は、SNLIの文対へ自然言語で書いた判断理由を追加した拡張データである。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含意・中立・矛盾というラベルに加えて、なぜその関係になるかを文章として収録する。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SNLIの文対を利用するが、SNLIそのものの版更新ではない。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https://github.com/OanaMariaCamburu/e-SNLI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ANLIはモデルが誤る文対を反復して集める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4 利用の変遷と関連データ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Adversarial NLI（ANLI、2020）は、人がモデルを誤らせる文対を作る推論データである。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モデルの予測を作業者へ返し、難しい例を集める。この例でモデルを学び直す工程を繰り返す。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多ジャンルへ広げたMultiNLI、説明を加えたe-SNLIとは、推論例を増やす方法が異なる。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https://github.com/facebookresearch/anli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推論ラベルを文の類似度の学習にも使う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4 利用の変遷と関連データ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文埋め込みは、文全体を1つの数値ベクトルで表す方法である。近い意味の文が近い位置になるように学習する。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SimCSE（2021）の教師あり学習では、前提と含意の仮説を近付ける正例、前提と矛盾の仮説を区別する難しい負例として使う。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この利用では、3分類の正解率を上げるだけでなく、文同士の類似度に使える表現を学習する。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https://github.com/princeton-nlp/SimCSE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SNLIとMultiNLIをまとめて学習に使う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利用の変遷と関連データ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AllNLIは、SNLIとMultiNLIをまとめた学習データである。写真説明文と多ジャンルの文対を含む。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文埋め込み用ライブラリSentence Transformersは、2026-10-15の確認時点でもAllNLIによる学習例を公開している。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その学習例には、比較する負例を選び直すGISTEmbed（2024）の損失関数を用いる構成も含まれる。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https://github.com/UKPLab/sentence-transformers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 入手方法とまとめ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5 入手方法とまとめ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配布データでは文・クラス・識別子を対応させる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5 入手方法とまとめ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Faceはデータセットを配布するサービスである。SNLIのpremiseには前提文、hypothesisには仮説文、labelにはクラスが入る。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公式ZIPでは、1行に1件のJSONオブジェクトを格納するJSONL形式で配布する。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サービスと公式ZIPでは項目名が異なるが、前提文・仮説文・正解ラベルを持つ点は共通する。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公式ZIPには文対IDと作業者の票も入る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5 入手方法とまとめ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sentence1は前提文、sentence2は仮説文、gold_labelは正解ラベルである。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pairIDは文対の識別子、annotator_labelsは作業者による判定の一覧を表す。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正解ラベルが「-」の文対は、3分類の学習・評価から除く。数値でラベルを返す配布サービスでは、未確定のラベルは負の値で表される。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Faceから文対を取得する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 入手方法とまとめ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code-background"/>
          <p:cNvSpPr/>
          <p:nvPr/>
        </p:nvSpPr>
        <p:spPr>
          <a:xfrm>
            <a:off x="548640" y="1492922"/>
            <a:ext cx="8046720" cy="1885674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864359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  <a:endParaRPr sz="16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ds = load_dataset("stanfordnlp/snli")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valid = ds.filter(lambda row: row["label"] &gt;= 0)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print(valid["test"][0])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print(ds["train"].features["label"].names)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307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データ配布サービスのHugging Faceを利用する。前提はpremise、仮説はhypothesis、クラスはlabelに入る。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SNLI loader.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https://github.com/huggingface/datasets/blob/1.18.4/datasets/snli/snli.py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SNLIの特徴と役割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 入手方法とまとめ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3200"/>
              <a:buFont typeface="Noto Sans CJK JP"/>
              <a:buChar char="●"/>
              <a:defRPr sz="2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英語の文対を、含意・中立・矛盾に分類する。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2015年に、大規模な学習用データとして作られた。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写真説明文から人が仮説を作り、一部を再検証した。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MultiNLIはジャンル、e-SNLIは説明を拡張した。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現在も、文埋め込みの教師データとして使われる。</a:t>
            </a:r>
            <a:endParaRPr sz="25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438848"/>
            <a:ext cx="8229600" cy="731520"/>
          </a:xfrm>
        </p:spPr>
        <p:txBody>
          <a:bodyPr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Appendix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34440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著者と発表先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追加の実例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件数・長さの統計と実例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モデル・入手・作成の補足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著者と発表先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 著者と発表先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SNLIは2015年9月のEMNLPで発表された（リスボン）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第一著者のSamuel R. Bowmanは自然言語推論を研究する。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6500"/>
              <a:buFont typeface="Noto Sans CJK JP"/>
              <a:buChar char="○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SNLIに加え、多ジャンルのMultiNLIの共著者である 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最終著者のChristopher D. Manningは単語表現などを研究する。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6500"/>
              <a:buFont typeface="Noto Sans CJK JP"/>
              <a:buChar char="○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単語ベクトルを学習するGloVeの共著者である 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[3]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6355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(2015), EMNLP.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Williams et al. (2018), MultiNLI.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https://aclanthology.org/N18-1101/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Pennington et al. (2014), GloVe.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https://aclanthology.org/D14-1162/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This church choir sings to the masses as they sing joyous songs from the book at a church.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church is filled with song.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合唱していることを、教会が歌で満たされていると言い換える。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2677109430.jpg#1r1e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woman with a green headscarf, blue shirt and a very big grin.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woman is young.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服装や表情だけでは、若いかどうかは判断できない。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6160193920.jpg#4r1n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 old man with a package poses in front of an advertisement.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poses in front of an ad.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advertisementとadは同じ内容を表す。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4791890474.jpg#3r1e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statue at a museum that no seems to be looking at.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statue is offensive and people are mad that it is on display.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見られていない理由や人々の感情は、前提から分からない。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6526219567.jpg#4r1n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 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land rover is being driven across a river.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sedan is stuck in the middle of a river.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車種と動作が、同じ場面の説明として両立しない。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2832076014.jpg#2r1c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blond-haired doctor and her African american assistant looking threw new medical manuals.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doctor is studying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正解は中立だが「勉強している」と読めるかは解釈に依存する。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3856149623.jpg#1r1n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 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young family enjoys feeling ocean waves lap at their feet.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family is out at a restaurant.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海の波を感じる場面と、レストランの場面を区別している。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2946464027.jpg#0r1c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couple walk hand in hand down a street.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couple is walking together.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手をつないで歩くことから、一緒に歩くことが導ける。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3572548523.jpg#4r1e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firefighter come out of subway station.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firefighters putting out a fire inside of a subway station.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消防士が駅を出ることから、消火しているとは限らない。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4679111230.jpg#2r1n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This church choir sings to the masses as they sing joyous songs from the book at a church.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church has cracks in the ceiling.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合唱の説明からは、天井のひびの有無は分からない。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2677109430.jpg#1r1n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統計と実例の対象範囲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データの件数と集計条件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 1.0の公式データに含まれる文対を集計した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正解付き569,033組を使い、ラベルが「-」の組は除く。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sentence1とsentence2を加工せずに数えた。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Pythonのlen()で空白・句読点を含むUnicode文字を数える。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str.split()で空白区切りの単語を数える。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前提は文対ごとに繰り返し数える。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正解ラベル付きのクラス別件数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データの件数と集計条件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8288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183,416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182,764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183,187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3,329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3,235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3,278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3,368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3,219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743960"/>
            <a:ext cx="7955279" cy="837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ラベルが付いた569,033組を集計。各クラスは約3分の1となる。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単語数の記述統計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文の長さの統計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12.89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5.68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仮説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569,033組を集計。標準偏差は母標準偏差（分母N）。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前提を文対ごとに数える。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文字数の記述統計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文の長さの統計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66.48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29.52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仮説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37.49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15.88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569,033組を集計。標準偏差は母標準偏差（分母N）。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前提を文対ごとに数える。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前提文の文字数の分布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前提文の長さ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p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平均66.48文字、中央値60文字、最大402文字。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正解付き569,033文対。同じ前提文が複数の文対に現れる場合も、それぞれ数えた。 棒1本は0〜24文字、25〜49文字…の区間を表す。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分割別の前提の単語数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前提文の長さ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12.85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5.66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13.94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6.32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13.91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6.18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単語はPythonのstr.split()による空白区切り。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仮説文の文字数の分布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h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平均37.49文字、中央値34文字、最大295文字。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正解付き569,033文対の仮説文を集計した。 棒1本は0〜24文字、25〜49文字…の区間を表す。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分割別の仮説の単語数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7.51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単語はPythonのstr.split()による空白区切り。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仮説の文字数が最大の実例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正解付き文対中で295文字。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253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cat toys with the catastrophically injured yet alive mouse before putting it out of it's misery.  Just a few more broken ribs and guts coming out the anus, and Kitty Kat will let you die, mouse.  Then the cat will go leave a steaming pile of parasitic feces in the litterbox.  Cats are cute!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前提は “A doberman bites a large blue ball.”正解は矛盾。仮説には前提と無関係な描写が多い。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248994078.jpg#4r1c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仮説が56語の実例の前提全文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仮説の単語数が最大の実例の前提文。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253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It is a photo of a young girl wearing pink pants and a jacket that's pink, red, blue and white the little girl is on one knee sitting on some big rocks smiling posing for a picture with one hand holding a skinny but long stick behind her there is what looks like a wooded area.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前提には “one hand” とある。正解ラベルは矛盾。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仮説が56語の実例の仮説全文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正解付き文対中で単語数が最大の仮説文。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253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It is a photo of a young girl wearing pink pants and a jacket that's pink, red, blue and white the little girl is on one knee sitting on some big rocks smiling posing for a picture with both hands holding a skinny but long stick behind her there is what looks like a wooded area.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仮説では “both hands” に変わっている。正解ラベルは矛盾。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単語の対応を用いるRE2の評価結果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モデル評価の補足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38404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SNLIの正解率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報告条件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88.9 ± 0.1%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10回の平均と標準偏差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738120"/>
            <a:ext cx="7955279" cy="18430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ACL 2019の手法。著者リポジトリ掲載の報告値。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比較には前処理、学習条件、単一実行か平均かの確認が必要。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RE2 著者実装.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https://github.com/alibaba-edu/simple-effective-text-matching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公式ZIPでは文対IDと投票を確認できる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入手方法の補足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code-background"/>
          <p:cNvSpPr/>
          <p:nvPr/>
        </p:nvSpPr>
        <p:spPr>
          <a:xfrm>
            <a:off x="548640" y="1489756"/>
            <a:ext cx="8046720" cy="2295631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2273300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import json</a:t>
            </a:r>
            <a:endParaRPr sz="14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urllib.request import urlretrieve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zipfile import ZipFile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url = "https://nlp.stanford.edu/projects/snli/snli_1.0.zip"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urlretrieve(url, "snli_1.0.zip")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with ZipFile("snli_1.0.zip") as z: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path = "snli_1.0/snli_1.0_test.jsonl"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row = json.loads(next(z.open(path)))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print(row["pairID"], row["annotator_labels"])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17772"/>
            <a:ext cx="7955279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公式のJSONLにはsentence1、sentence2、gold_labelなどを含む。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SNLI loader.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https://github.com/huggingface/datasets/blob/1.18.4/datasets/snli/snli.py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作成時の指示と品質確認の補足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作成方法の補足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作業者は前提の説明に合う同じ写真を想定して仮説を書く。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画像を見せず、3つの関係に対応する文を作る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規約を守らない作業者を外し、自動の大量投稿を拒否した。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追加検証の多数決と、作成者のラベルを区別する。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開発用とテスト用には複数の判定が付いた文対を使う。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自然な場面の読みと形式的な論理関係は必ずしも一致しない。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(2015), §2.1–2.2.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1400" b="1">
                <a:solidFill>
                  <a:srgbClr val="FFFEF8"/>
                </a:solidFill>
                <a:latin typeface="Noto Sans"/>
                <a:ea typeface="Noto Sans CJK JP"/>
              </a:rPr>
              <a:t>Appendix: 5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05840"/>
            <a:ext cx="7955279" cy="8412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large annotated corpus for learning natural language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73936"/>
            <a:ext cx="7955279" cy="3154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Bowman, S. R., Angeli, G., Potts, C., &amp; Manning, C. D. (2015). EMNLP, pp. 632–642.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48255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SNLIの原著論文。文対の収集、3種類の関係の注釈と検証、初期モデルの評価を報告する。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65475"/>
            <a:ext cx="7955279" cy="284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145536"/>
            <a:ext cx="7955279" cy="7345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Broad-Coverage Challenge Corpus for Sentence Understanding through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806952"/>
            <a:ext cx="7955279" cy="3154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Williams, A., Nangia, N., &amp; Bowman, S. R. (2018). NAACL-HLT, pp. 1112–1122.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081271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MultiNLIの原著論文。10ジャンルの文対を収集し、分野内・分野間の汎化を評価する。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698491"/>
            <a:ext cx="7955279" cy="284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https://aclanthology.org/N18-1101/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3008376"/>
            <a:ext cx="7955279" cy="8890"/>
          </a:xfrm>
          <a:prstGeom prst="rect">
            <a:avLst/>
          </a:prstGeom>
          <a:solidFill>
            <a:srgbClr val="A9AB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1400" b="1">
                <a:solidFill>
                  <a:srgbClr val="FFFEF8"/>
                </a:solidFill>
                <a:latin typeface="Noto Sans"/>
                <a:ea typeface="Noto Sans CJK JP"/>
              </a:rPr>
              <a:t>Appendix: 5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05840"/>
            <a:ext cx="7955279" cy="8412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Annotation Artifacts in Natural Language Inference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73936"/>
            <a:ext cx="7955279" cy="5212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Gururangan, S., Swayamdipta, S., Levy, O., Schwartz, R., Bowman, S. R., &amp; Smith, N. A. (2018). NAACL-HLT, pp. 107–112.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253996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NLIの注釈に伴う偏りを分析した研究。仮説文だけでもラベルを予測できることを示す。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71215"/>
            <a:ext cx="7955279" cy="284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https://aclanthology.org/N18-2017/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1400" b="1">
                <a:solidFill>
                  <a:srgbClr val="FFFEF8"/>
                </a:solidFill>
                <a:latin typeface="Noto Sans"/>
                <a:ea typeface="Noto Sans CJK JP"/>
              </a:rPr>
              <a:t>Appendix: 5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05840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Natural Language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08176"/>
            <a:ext cx="7955279" cy="5212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Sentence Transformers contributors (n.d.). Sentence Transformers documentation. 参照 2026-10-15.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88236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 Transformersの公式学習例。NLI文対を使う文埋め込みの損失関数と実装を示す。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05456"/>
            <a:ext cx="7955279" cy="284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https://github.com/UKPLab/sentence-transformers/tree/master/examples/sentence_transformer/training/nli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1400" b="1">
                <a:solidFill>
                  <a:srgbClr val="FFFEF8"/>
                </a:solidFill>
                <a:latin typeface="Noto Sans"/>
                <a:ea typeface="Noto Sans CJK JP"/>
              </a:rPr>
              <a:t>Appendix: 5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05840"/>
            <a:ext cx="7955279" cy="8412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Sentence-BERT: Sentence Embeddings using Siamese BERT-Networks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73936"/>
            <a:ext cx="7955279" cy="3154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Reimers, N., &amp; Gurevych, I. (2019). EMNLP-IJCNLP, pp. 3982–3992.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48255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Sentence-BERTの原著論文。BERTから文埋め込みを生成し、文間の類似度を計算する。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65475"/>
            <a:ext cx="7955279" cy="284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https://aclanthology.org/D19-1410/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145536"/>
            <a:ext cx="7955279" cy="8412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SimCSE: Simple Contrastive Learning of Sentence Embeddings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13632"/>
            <a:ext cx="7955279" cy="3154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Gao, T., Yao, X., &amp; Chen, D. (2021). EMNLP.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18795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文埋め込みの対照学習手法を提案した論文。ドロップアウトとNLI文対を正例の構成に用いる。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805172"/>
            <a:ext cx="7955279" cy="284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https://aclanthology.org/2021.emnlp-main.552/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3008376"/>
            <a:ext cx="7955279" cy="8890"/>
          </a:xfrm>
          <a:prstGeom prst="rect">
            <a:avLst/>
          </a:prstGeom>
          <a:solidFill>
            <a:srgbClr val="A9AB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1400" b="1">
                <a:solidFill>
                  <a:srgbClr val="FFFEF8"/>
                </a:solidFill>
                <a:latin typeface="Noto Sans"/>
                <a:ea typeface="Noto Sans CJK JP"/>
              </a:rPr>
              <a:t>Appendix: 5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05840"/>
            <a:ext cx="7955279" cy="7345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Right for the Wrong Reasons: Diagnosing Syntactic Heuristics in Natural Language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7256"/>
            <a:ext cx="7955279" cy="3154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McCoy, R. T., Pavlick, E., &amp; Linzen, T. (2019). ACL, pp. 3428–3448.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41575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HANSの提案論文。語の重なりや部分列などの統語的な近道にNLIモデルが依存するかを検査する。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58795"/>
            <a:ext cx="7955279" cy="284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https://aclanthology.org/P19-1334/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1400" b="1">
                <a:solidFill>
                  <a:srgbClr val="FFFEF8"/>
                </a:solidFill>
                <a:latin typeface="Noto Sans"/>
                <a:ea typeface="Noto Sans CJK JP"/>
              </a:rPr>
              <a:t>Appendix: 5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05840"/>
            <a:ext cx="7955279" cy="8412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Adversarial NLI: A New Benchmark for Natural Language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73936"/>
            <a:ext cx="7955279" cy="3154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Nie, Y., Williams, A., Dinan, E., Bansal, M., Weston, J., &amp; Kiela, D. (2020). ACL.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48255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ANLIの原著論文。人がモデルを誤らせる文対を作る反復的なデータ収集を提案する。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65475"/>
            <a:ext cx="7955279" cy="284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https://aclanthology.org/2020.acl-main.441/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1400" b="1">
                <a:solidFill>
                  <a:srgbClr val="FFFEF8"/>
                </a:solidFill>
                <a:latin typeface="Noto Sans"/>
                <a:ea typeface="Noto Sans CJK JP"/>
              </a:rPr>
              <a:t>Appendix: 5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05840"/>
            <a:ext cx="7955279" cy="8412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e-SNLI: Natural Language Inference with Natural Language Explanations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73936"/>
            <a:ext cx="7955279" cy="5212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Camburu, O.-M., Rocktäschel, T., Lukasiewicz, T., &amp; Blunsom, P. (2018). Advances in Neural Information Processing Systems, 31, pp. 9539–9549.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253996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SNLIに自然言語の説明を追加した論文。関係ラベルに加えて、その判断理由を収録する。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71215"/>
            <a:ext cx="7955279" cy="284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https://github.com/OanaMariaCamburu/e-SNLI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