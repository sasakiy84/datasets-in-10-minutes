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267" r:id="rId18"/>
    <p:sldId id="309" r:id="rId60"/>
    <p:sldId id="262" r:id="rId3"/>
    <p:sldId id="263" r:id="rId2"/>
    <p:sldId id="264" r:id="rId15"/>
    <p:sldId id="265" r:id="rId16"/>
    <p:sldId id="266" r:id="rId17"/>
    <p:sldId id="310" r:id="rId61"/>
    <p:sldId id="268" r:id="rId19"/>
    <p:sldId id="311" r:id="rId62"/>
    <p:sldId id="269" r:id="rId20"/>
    <p:sldId id="270" r:id="rId21"/>
    <p:sldId id="312" r:id="rId63"/>
    <p:sldId id="271" r:id="rId22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9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33.xml"/><Relationship Id="rId33" Type="http://schemas.openxmlformats.org/officeDocument/2006/relationships/slide" Target="slides/slide34.xml"/><Relationship Id="rId34" Type="http://schemas.openxmlformats.org/officeDocument/2006/relationships/slide" Target="slides/slide35.xml"/><Relationship Id="rId35" Type="http://schemas.openxmlformats.org/officeDocument/2006/relationships/slide" Target="slides/slide36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slide" Target="slides/slide39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0.xml"/><Relationship Id="rId61" Type="http://schemas.openxmlformats.org/officeDocument/2006/relationships/slide" Target="slides/slide16.xml"/><Relationship Id="rId62" Type="http://schemas.openxmlformats.org/officeDocument/2006/relationships/slide" Target="slides/slide18.xml"/><Relationship Id="rId63" Type="http://schemas.openxmlformats.org/officeDocument/2006/relationships/slide" Target="slides/slide21.xml"/><Relationship Id="rId64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github.com/OanaMariaCamburu/e-SNLI" TargetMode="External"/><Relationship Id="rId5" Type="http://schemas.openxmlformats.org/officeDocument/2006/relationships/hyperlink" Target="https://github.com/facebookresearch/anli" TargetMode="External"/><Relationship Id="rId6" Type="http://schemas.openxmlformats.org/officeDocument/2006/relationships/hyperlink" Target="https://aclanthology.org/N18-2017/" TargetMode="External"/><Relationship Id="rId7" Type="http://schemas.openxmlformats.org/officeDocument/2006/relationships/hyperlink" Target="https://aclanthology.org/W07-1401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Relationship Id="rId4" Type="http://schemas.openxmlformats.org/officeDocument/2006/relationships/hyperlink" Target="https://github.com/alibaba-edu/simple-effective-text-matching" TargetMode="External"/><Relationship Id="rId5" Type="http://schemas.openxmlformats.org/officeDocument/2006/relationships/hyperlink" Target="https://github.com/princeton-nlp/SimCSE" TargetMode="External"/><Relationship Id="rId6" Type="http://schemas.openxmlformats.org/officeDocument/2006/relationships/hyperlink" Target="https://github.com/UKPLab/sentence-transformers/tree/master/examples/sentence_transformer/training/nli" TargetMode="External"/><Relationship Id="rId7" Type="http://schemas.openxmlformats.org/officeDocument/2006/relationships/hyperlink" Target="https://arxiv.org/abs/2402.16829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lIns="0" rIns="0" tIns="0" bIns="0" anchor="ctr"/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303437"/>
                </a:solidFill>
                <a:latin typeface="Noto Sans CJK JP"/>
              </a:defRPr>
            </a:pPr>
            <a:r>
              <a:rPr sz="3200" b="0" lang="ja-JP">
                <a:solidFill>
                  <a:srgbClr val="303437"/>
                </a:solidFill>
                <a:latin typeface="Noto Sans CJK JP"/>
                <a:ea typeface="Noto Sans CJK JP"/>
              </a:rPr>
              <a:t>自然言語推論用データセット</a:t>
            </a:r>
            <a:endParaRPr sz="3200" lang="ja-JP"/>
          </a:p>
          <a:p>
            <a:pPr algn="ctr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303437"/>
                </a:solidFill>
                <a:latin typeface="Liberation Sans"/>
              </a:defRPr>
            </a:pPr>
            <a:r>
              <a:rPr sz="3000" b="0" lang="ja-JP">
                <a:solidFill>
                  <a:srgbClr val="303437"/>
                </a:solidFill>
                <a:latin typeface="Liberation Sans"/>
                <a:ea typeface="Liberation Sans"/>
              </a:rPr>
              <a:t>Stanford Natural Language Inference Corpus</a:t>
            </a:r>
            <a:endParaRPr sz="3200" lang="ja-JP"/>
          </a:p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303437"/>
                </a:solidFill>
                <a:latin typeface="Liberation Sans"/>
              </a:defRPr>
            </a:pPr>
            <a:r>
              <a:rPr sz="5400" b="0" lang="ja-JP">
                <a:solidFill>
                  <a:srgbClr val="303437"/>
                </a:solidFill>
                <a:latin typeface="Liberation Sans"/>
                <a:ea typeface="Liberation Sans"/>
              </a:rPr>
              <a:t>SNLI</a:t>
            </a:r>
            <a:endParaRPr sz="3200" lang="ja-JP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sasakiy84</a:t>
            </a:r>
            <a:endParaRPr sz="1400" lang="ja-JP"/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0">
                <a:solidFill>
                  <a:srgbClr val="626669"/>
                </a:solidFill>
                <a:latin typeface="Noto Sans CJK JP"/>
              </a:defRPr>
              <a:spcAft>
                <a:spcPts val="0"/>
              </a:spcAft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 lang="ja-JP"/>
            <a:endParaRPr sz="1400"/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SNLIの構成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400">
                <a:solidFill>
                  <a:srgbClr val="303437"/>
                </a:solidFill>
                <a:latin typeface="Noto Sans CJK JP"/>
              </a:rPr>
              <a:t>概要とタスク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400">
                <a:solidFill>
                  <a:srgbClr val="303437"/>
                </a:solidFill>
                <a:latin typeface="Noto Sans CJK JP"/>
              </a:rPr>
              <a:t>作成方法と規模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400">
                <a:solidFill>
                  <a:srgbClr val="303437"/>
                </a:solidFill>
                <a:latin typeface="Noto Sans CJK JP"/>
              </a:rPr>
              <a:t>評価と性能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400">
                <a:solidFill>
                  <a:srgbClr val="303437"/>
                </a:solidFill>
                <a:latin typeface="Noto Sans CJK JP"/>
              </a:rPr>
              <a:t>利用の変遷と現在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400">
                <a:solidFill>
                  <a:srgbClr val="303437"/>
                </a:solidFill>
                <a:latin typeface="Noto Sans CJK JP"/>
              </a:rPr>
              <a:t>入手方法とまとめ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SNLIの公式サイト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SNLIの概要</a:t>
            </a:r>
            <a:endParaRPr sz="1400" lang="ja-JP"/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SNLI公式サイト.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英語の文対を3種類の関係に分類する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SNLIの概要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SNLIは自然言語推論（NLI）のデータセットである。</a:t>
            </a:r>
            <a:endParaRPr sz="2100" lang="ja-JP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入力には前提文と仮説文の2つのテキストを使う。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仮説が前提から導けるかを含意・中立・矛盾で判断する。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画像の説明文を利用するが、モデルの入力に画像は含まれない。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約57万組を収録し、2015年のEMNLPで発表された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EMNLP.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含意の例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playing an electric guitar on stage.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playing guitar on stage.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電気ギターを弾いているなら、ギターを弾いている。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1034985636.jpg#3r1e（テスト用）</a:t>
            </a:r>
            <a:endParaRPr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中立の例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reads the paper in a bar with green lighting.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man is reading the sportspage.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新聞のどの面を読んでいるかは、前提に書かれていない。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2096485764.jpg#0r1n（テスト用）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矛盾の例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3 young man in hoods standing in the middle of a quiet street facing the camera.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people sit by a busy street bareheaded.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立っていることと座っていることなどが両立しない。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4460943467.jpg#0r1c（テスト用）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「片手」と「両手」の違いは矛盾か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SNLIの判断と限界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前提文の一部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with one hand holding a skinny but long stick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仮説文の一部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with both hands holding a skinny but long stick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「片手だけ」と読むなら、両手で持つ仮説と矛盾する。片手という表現が、他方の手を排除するかは曖昧である。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71651754.jpg#0r1c（学習用）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大規模な学習データが必要だった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SNLIの開発目的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先行する含意判定の課題であるRTEは、評価用の規模だった。</a:t>
            </a:r>
            <a:endParaRPr sz="2100" lang="ja-JP"/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大規模なニューラルモデルの教師あり学習には限界があった。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これに対してSNLIは、人が書いた570,152組を用意した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語彙・構文・意味を扱う文表現モデルの学習と評価に使う。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写真の同じ状況を想定し、文の関係を判断しやすくした。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dataset card. https://github.com/huggingface/datasets/blob/1.18.4/datasets/snli/README.md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写真説明文から3種類の仮説を作成した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SNLIの作成方法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写真に英語の説明文を付けたFlickr30kなどを素材にした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物体や関係を注釈したVisual Genomeの初期データも使った。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作業者には説明文だけを提示し、写真は見せなかった。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確実に真・真かもしれない・確実に偽の文を各1つ書く。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この仮説文の作成には約2,500人の作業者が参加した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§2.1.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追加の4人が一部の文対を判定した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SNLIの作成方法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56,951組について、4人の判定を追加した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[1, 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作成者のラベルを含め、1組あたり5票を得た。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3票以上が一致したクラスを正解ラベルとした。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検証対象の98%で3票以上が一致し、58.3%は全員一致。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検証は約30人の信頼された作業者が担当した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一致しない文対には「-」を付け、通常の3分類から除く。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§2.2 / Table 3. https://aclanthology.org/D15-1075/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収録規模と3分類に使う文対数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元の収録数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正解ラベル付き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550,152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10,000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10,000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570,152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569,033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34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右列は、正解ラベルが付いたSNLI 1.0の文対数。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前提文と仮説文の単語数の分布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  <a:endParaRPr sz="1400" lang="ja-JP"/>
          </a:p>
        </p:txBody>
      </p:sp>
      <p:pic>
        <p:nvPicPr>
          <p:cNvPr id="4" name="Picture 3" descr="main-word-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35024"/>
            <a:ext cx="80467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9959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平均12.89・中央値12・最大78</a:t>
            </a:r>
            <a:endParaRPr sz="1700" lang="ja-JP"/>
          </a:p>
        </p:txBody>
      </p:sp>
      <p:sp>
        <p:nvSpPr>
          <p:cNvPr id="6" name="TextBox 5"/>
          <p:cNvSpPr txBox="1"/>
          <p:nvPr/>
        </p:nvSpPr>
        <p:spPr>
          <a:xfrm>
            <a:off x="4800600" y="39959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平均7.42・中央値7・最大56</a:t>
            </a:r>
            <a:endParaRPr sz="1700" lang="ja-JP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　正解付き569,033組。前提を文対ごとに数え、2語幅で集計する。</a:t>
            </a:r>
            <a:endParaRPr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3 評価と性能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分類性能を正解率で評価する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SNLIの評価方法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1組の予測クラスが正解と一致すれば1、不一致なら0。</a:t>
            </a:r>
            <a:endParaRPr sz="2100" lang="ja-JP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正解率は正解した組数を評価対象の組数で割る。3組中2組が正解なら、正解率は66.7%となる。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正解ラベルがない「-」の文対は3分類の評価から除く。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テスト用では正解付き9,824組を評価対象とする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2015年のLSTMの正解率は77.6%だった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SNLIの登場時の性能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原著のモデル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単語埋め込みの和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単純な再帰型ネットワーク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72.2%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長期依存を扱うLSTM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77.6%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いずれもSNLIの学習用で学習し、テスト用で評価した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19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Table 6.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SNLIで報告されたモデルの正解率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SNLIのモデル評価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方式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テスト正解率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ESIM 2017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 lang="ja-JP"/>
                      <a:endParaRPr sz="2100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双方向LSTM＋注意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88.0%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SemBERT 2020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[2]</a:t>
                      </a:r>
                      <a:endParaRPr sz="2100" lang="ja-JP"/>
                      <a:endParaRPr sz="2100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BERT＋意味役割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91.9%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文間の注意を計算するESIMと、BERTを意味役割で拡張したSemBERT。各公開実装の報告値であり、学習条件は異なる。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ESIM 公開実装. https://github.com/coetaur0/ESIM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SemBERT 著者実装. https://github.com/cooelf/SemBERT</a:t>
            </a:r>
            <a:endParaRPr sz="8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正解率だけでは文の理解を判断できない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SNLIの判断と限界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写真説明文に偏り、長文・専門文書を代表しない。</a:t>
            </a:r>
            <a:endParaRPr sz="2100" lang="ja-JP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仮説文だけでもラベルを推測できる注釈の偏りがある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仮説だけを使う分類器で約67%という報告がある。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中立と矛盾の境界には、場面の解釈が関わる。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文対全体の性能と、推論の種類ごとの性能を分けて見る。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Gururangan et al. (2018), NAACL. https://aclanthology.org/N18-2017/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dataset card. https://github.com/huggingface/datasets/blob/1.18.4/datasets/snli/README.md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先行するRTEとSNLIの規模の違い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含意を判定する先行ベンチマークとしてRTEがあった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 lang="ja-JP"/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RTE第3回（2007年）は、開発800組＋テスト800組だった。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それに対してSNLI（2015年）は570,152組を収録した。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合計1,600組のRTE第3回に対し、収録数は約356倍となる。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その結果、ニューラルモデルを学習しやすくなった。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Giampiccolo et al. (2007), §2. https://aclanthology.org/W07-1401/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その後のMultiNLIはジャンルを広げた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その後、多ジャンルの推論データMultiNLIが登場した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 lang="ja-JP"/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2018年の論文で発表された。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SNLIの写真説明に対し、会話・小説など10ジャンルを扱う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さらに、未知のジャンルへの汎化も評価する。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Williams et al. (2018). https://aclanthology.org/N18-1101/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MultiNLI著者リポジトリ. https://github.com/nyu-mll/multiNLI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e-SNLIとANLIでは何を追加したか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65100">
              <a:lnSpc>
                <a:spcPct val="110000"/>
              </a:lnSpc>
              <a:spcBef>
                <a:spcPts val="0"/>
              </a:spcBef>
              <a:defRPr sz="2000" b="0">
                <a:solidFill>
                  <a:srgbClr val="303437"/>
                </a:solidFill>
                <a:latin typeface="Noto Sans CJK JP"/>
              </a:defRPr>
              <a:spcAft>
                <a:spcPts val="500"/>
              </a:spcAft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判断理由を付けた拡張データe-SNLIも作られた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SNLIの文対を使い、クラスに加えて自然言語の説明を学習する。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一方、人がモデルを誤らせる例を作るデータANLIもある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モデルと作業者を交互に用い、難しい推論例を増やす。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いずれもSNLIの版の更新ではなく、別のデータである。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Camburu et al. (2018), NeurIPS. https://github.com/OanaMariaCamburu/e-SNLI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Nie et al. (2020), ACL. https://github.com/facebookresearch/anli</a:t>
            </a:r>
            <a:endParaRPr sz="8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SNLIは現在も文埋め込みの学習に使われる</a:t>
            </a:r>
            <a:endParaRPr sz="2800" lang="ja-JP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SNLIの利用の変遷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2015年には、3分類の学習と評価を目的として登場した。</a:t>
            </a:r>
            <a:endParaRPr sz="2000" lang="ja-JP"/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その後、文埋め込みを学ぶSimCSEにも利用された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2021年には、含意を正例、矛盾を難しい負例に使った。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2026年現在も、Sentence TransformersにAllNLIを用いる学習手順がある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AllNLIはSNLIとMultiNLIをまとめた学習データである。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2024年のGISTEmbedでは、負例を選び直す損失にも用いられる。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Gao et al. (2021), EMNLP. https://github.com/princeton-nlp/SimCSE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Sentence Transformers NLI学習例. https://github.com/UKPLab/sentence-transformers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Hugging Faceから文対を取得する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SNLIの入手方法</a:t>
            </a:r>
            <a:endParaRPr sz="1400" lang="ja-JP"/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0848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datasets import load_dataset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ds = load_dataset("stanfordnlp/snli")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valid = ds.filter(lambda row: row["label"] &gt;= 0)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print(valid["test"][0])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print(ds["train"].features["label"].names)</a:t>
            </a:r>
            <a:endParaRPr sz="1600" lang="en-US"/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データ配布サービスのHugging Faceを利用する。前提はpremise、仮説はhypothesis、クラスはlabelに入る。</a:t>
            </a:r>
            <a:endParaRPr sz="1700" lang="ja-JP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Hugging Face SNLI loader. https://github.com/huggingface/datasets/blob/1.18.4/datasets/snli/snli.py</a:t>
            </a:r>
            <a:endParaRPr sz="8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SNLIの特徴と役割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SNLIの特徴のまとめ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英語の文対を、含意・中立・矛盾に分類する。</a:t>
            </a:r>
            <a:endParaRPr sz="2600" lang="ja-JP"/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2015年に、大規模な学習用データとして作られた。</a:t>
            </a:r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写真説明文から人が仮説を作り、一部を再検証した。</a:t>
            </a:r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MultiNLIはジャンル、e-SNLIは説明を拡張した。</a:t>
            </a:r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現在も、文埋め込みの教師データとして使われる。</a:t>
            </a:r>
            <a:endParaRPr sz="25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目次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1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200" lang="ja-JP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594360" y="1929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2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追加の実例</a:t>
            </a:r>
            <a:endParaRPr sz="2200" lang="ja-JP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594360" y="239572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3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件数・長さの統計と実例</a:t>
            </a:r>
            <a:endParaRPr sz="2200" lang="ja-JP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594360" y="286207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4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モデル・入手・作成の補足</a:t>
            </a:r>
            <a:endParaRPr sz="2200" lang="ja-JP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594360" y="33284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5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参考文献と集計条件</a:t>
            </a:r>
            <a:endParaRPr sz="2200" lang="ja-JP"/>
            <a:endParaRPr sz="2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SNLIは2015年9月のEMNLPで発表された（リスボン）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第一著者のSamuel R. Bowmanは自然言語推論を研究する。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SNLIに加え、多ジャンルのMultiNLIの共著者である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最終著者のChristopher D. Manningは単語表現などを研究する。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単語ベクトルを学習するGloVeの共著者である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[3]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612640"/>
            <a:ext cx="81838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EMNLP. https://aclanthology.org/D15-1075/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Williams et al. (2018), MultiNLI. https://aclanthology.org/N18-1101/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[3]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Pennington et al. (2014), GloVe. https://aclanthology.org/D14-1162/</a:t>
            </a:r>
            <a:endParaRPr sz="8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追加例1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This church choir sings to the masses as they sing joyous songs from the book at a church.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church is filled with song.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合唱していることを、教会が歌で満たされていると言い換える。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2677109430.jpg#1r1e（テスト用）</a:t>
            </a:r>
            <a:endParaRPr sz="8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追加例2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woman with a green headscarf, blue shirt and a very big grin.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woman is young.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服装や表情だけでは、若いかどうかは判断できない。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6160193920.jpg#4r1n（テスト用）</a:t>
            </a:r>
            <a:endParaRPr sz="8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追加例3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An old man with a package poses in front of an advertisement.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poses in front of an ad.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advertisementとadは同じ内容を表す。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4791890474.jpg#3r1e（テスト用）</a:t>
            </a:r>
            <a:endParaRPr sz="8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追加例4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statue at a museum that no seems to be looking at.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statue is offensive and people are mad that it is on display.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見られていない理由や人々の感情は、前提から分からない。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6526219567.jpg#4r1n（テスト用）</a:t>
            </a:r>
            <a:endParaRPr sz="8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追加例5 矛盾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land rover is being driven across a river.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sedan is stuck in the middle of a river.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車種と動作が、同じ場面の説明として両立しない。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2832076014.jpg#2r1c（テスト用）</a:t>
            </a:r>
            <a:endParaRPr sz="8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追加例6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blond-haired doctor and her African american assistant looking threw new medical manuals.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doctor is studying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</a:pPr>
            <a:r>
              <a:rPr sz="1900" b="0" lang="ja-JP">
                <a:solidFill>
                  <a:srgbClr val="303437"/>
                </a:solidFill>
                <a:latin typeface="Noto Sans CJK JP"/>
                <a:ea typeface="Noto Sans CJK JP"/>
              </a:rPr>
              <a:t>正解は中立だが「勉強している」と読めるかは解釈に依存する。</a:t>
            </a:r>
            <a:endParaRPr sz="1900" lang="ja-JP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3856149623.jpg#1r1n（テスト用）</a:t>
            </a:r>
            <a:endParaRPr sz="85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追加例7 矛盾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young family enjoys feeling ocean waves lap at their feet.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family is out at a restaurant.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海の波を感じる場面と、レストランの場面を区別している。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2946464027.jpg#0r1c（テスト用）</a:t>
            </a:r>
            <a:endParaRPr sz="85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追加例8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couple walk hand in hand down a street.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couple is walking together.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手をつないで歩くことから、一緒に歩くことが導ける。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3572548523.jpg#4r1e（テスト用）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追加例9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firefighter come out of subway station.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firefighters putting out a fire inside of a subway station.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消防士が駅を出ることから、消火しているとは限らない。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4679111230.jpg#2r1n（テスト用）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追加例10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This church choir sings to the masses as they sing joyous songs from the book at a church.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church has cracks in the ceiling.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合唱の説明からは、天井のひびの有無は分からない。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2677109430.jpg#1r1n（テスト用）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統計と実例の対象範囲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集計対象は、SNLI 1.0の公式データに含まれる文対である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正解付き569,033組を使い、ラベルが「-」の組は除く。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sentence1とsentence2を加工せずに数えた。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Pythonのlen()で空白・句読点を含むUnicode文字を数える。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str.split()で空白区切りの単語を数える。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前提は文対ごとに繰り返し数える。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正解ラベル付きのクラス別件数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含意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中立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矛盾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183,416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182,764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183,187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3,329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3,235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3,278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3,368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3,219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3,237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ラベルが付いた569,033組を集計。各クラスは約3分の1となる。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文対数と前提文の種類数は異なる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正解付き文対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異なる前提文字列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150,736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3,319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3,323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単語数の記述統計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文の長さの統計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前提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12.89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5.68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23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仮説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569,033組を集計。標準偏差は母標準偏差（分母N）。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前提を文対ごとに数える。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文字数の記述統計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文の長さの統計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前提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66.48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29.52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60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402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仮説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37.49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15.88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34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295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569,033組を集計。標準偏差は母標準偏差（分母N）。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前提を文対ごとに数える。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前提文の長さの分布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pic>
        <p:nvPicPr>
          <p:cNvPr id="4" name="Picture 3" descr="premise-length-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35024"/>
            <a:ext cx="80467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9959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平均12.89・中央値12・最大78</a:t>
            </a:r>
            <a:endParaRPr sz="1700" lang="ja-JP"/>
          </a:p>
        </p:txBody>
      </p:sp>
      <p:sp>
        <p:nvSpPr>
          <p:cNvPr id="6" name="TextBox 5"/>
          <p:cNvSpPr txBox="1"/>
          <p:nvPr/>
        </p:nvSpPr>
        <p:spPr>
          <a:xfrm>
            <a:off x="4800600" y="39959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平均66.48・中央値60・最大402</a:t>
            </a:r>
            <a:endParaRPr sz="1700" lang="ja-JP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　正解付き569,033組。単語は2語幅、文字は25文字幅で集計する。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分割別の前提の単語数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件数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12.85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5.66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13.94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6.32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13.91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6.18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単語はPythonのstr.split()による空白区切り。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前提が最長の実例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正解付き文対中で402文字・78語。</a:t>
            </a:r>
            <a:endParaRPr sz="1400" lang="ja-JP"/>
            <a:endParaRPr sz="1400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5236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仮説は “The people who are shown are not all doing the exact same thing.”正解は含意。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207344485.jpg#0r5e（学習用）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仮説文の長さの分布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pic>
        <p:nvPicPr>
          <p:cNvPr id="4" name="Picture 3" descr="hypothesis-length-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35024"/>
            <a:ext cx="80467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9959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平均7.42・中央値7・最大56</a:t>
            </a:r>
            <a:endParaRPr sz="1700" lang="ja-JP"/>
          </a:p>
        </p:txBody>
      </p:sp>
      <p:sp>
        <p:nvSpPr>
          <p:cNvPr id="6" name="TextBox 5"/>
          <p:cNvSpPr txBox="1"/>
          <p:nvPr/>
        </p:nvSpPr>
        <p:spPr>
          <a:xfrm>
            <a:off x="4800600" y="39959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平均37.49・中央値34・最大295</a:t>
            </a:r>
            <a:endParaRPr sz="1700" lang="ja-JP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　正解付き569,033組。単語は2語幅、文字は25文字幅で集計する。</a:t>
            </a:r>
            <a:endParaRPr sz="8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分割別の仮説の単語数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件数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7.51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単語はPythonのstr.split()による空白区切り。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仮説の文字数が最大の実例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正解付き文対中で295文字。</a:t>
            </a:r>
            <a:endParaRPr sz="1400" lang="ja-JP"/>
            <a:endParaRPr sz="1400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前提は “A doberman bites a large blue ball.”正解は矛盾。仮説には前提と無関係な描写が多い。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248994078.jpg#4r1c（学習用）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仮説が56語の実例の前提全文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仮説の単語数が最大の実例の前提文。</a:t>
            </a:r>
            <a:endParaRPr sz="1400" lang="ja-JP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前提には “one hand” とある。正解ラベルは矛盾。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71651754.jpg#0r1c（学習用）</a:t>
            </a:r>
            <a:endParaRPr sz="85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仮説が56語の実例の仮説全文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正解付き文対中で単語数が最大の仮説文。</a:t>
            </a:r>
            <a:endParaRPr sz="1400" lang="ja-JP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仮説では “both hands” に変わっている。正解ラベルは矛盾。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71651754.jpg#0r1c（学習用）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単語の対応を用いるRE2の評価結果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モデル評価の補足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SNLIの正解率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報告条件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88.9 ± 0.1%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10回の平均と標準偏差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ACL 2019の手法。著者リポジトリ掲載の報告値。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比較には前処理、学習条件、単一実行か平均かの確認が必要。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RE2 著者実装. https://github.com/alibaba-edu/simple-effective-text-matching</a:t>
            </a:r>
            <a:endParaRPr sz="85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公式ZIPでは文対IDと投票を確認できる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入手方法の補足</a:t>
            </a:r>
            <a:endParaRPr sz="1400" lang="ja-JP"/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5496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2293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import json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urllib.request import urlretrieve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zipfile import ZipFile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url = "https://nlp.stanford.edu/projects/snli/snli_1.0.zip"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urlretrieve(url, "snli_1.0.zip")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with ZipFile("snli_1.0.zip") as z: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path = "snli_1.0/snli_1.0_test.jsonl"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row = json.loads(next(z.open(path)))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print(row["pairID"], row["annotator_labels"])</a:t>
            </a:r>
            <a:endParaRPr sz="1400" lang="en-US"/>
          </a:p>
        </p:txBody>
      </p:sp>
      <p:sp>
        <p:nvSpPr>
          <p:cNvPr id="6" name="TextBox 5"/>
          <p:cNvSpPr txBox="1"/>
          <p:nvPr/>
        </p:nvSpPr>
        <p:spPr>
          <a:xfrm>
            <a:off x="594360" y="41955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公式のJSONLにはsentence1、sentence2、gold_labelなどを含む。</a:t>
            </a:r>
            <a:endParaRPr sz="1700" lang="ja-JP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Hugging Face SNLI loader. https://github.com/huggingface/datasets/blob/1.18.4/datasets/snli/snli.py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作成時の指示と品質確認の補足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作成方法の補足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作業者は前提の説明に合う同じ写真を想定して仮説を書く。</a:t>
            </a:r>
            <a:endParaRPr sz="2000" lang="ja-JP"/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画像自体は見せず、3つの関係に対応する文を作成する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規約を守らない作業者を外し、自動の大量投稿を拒否した。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追加検証の多数決と、作成者のラベルを区別する。</a:t>
            </a:r>
            <a:endParaRPr sz="2000"/>
          </a:p>
          <a:p>
            <a:pPr algn="l" lvl="1" marL="4064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–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開発用とテスト用には複数の判定が付いた文対を使う。</a:t>
            </a:r>
            <a:endParaRPr sz="2000"/>
          </a:p>
          <a:p>
            <a:pPr algn="l" marL="177800" indent="-1651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自然な場面の読みと形式的な論理関係は必ずしも一致しない。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§2.1–2.2.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参考文献（データと関連研究）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参考文献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Bowman et al. (2015), SNLI, EMNLP</a:t>
            </a:r>
            <a:endParaRPr sz="1800" lang="ja-JP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2"/>
              </a:rPr>
              <a:t>https://aclanthology.org/D15-1075/</a:t>
            </a:r>
            <a:endParaRPr sz="1000"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Williams et al. (2018), MultiNLI, NAACL</a:t>
            </a:r>
            <a:endParaRPr sz="1800" lang="ja-JP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3"/>
              </a:rPr>
              <a:t>https://aclanthology.org/N18-1101/</a:t>
            </a:r>
            <a:endParaRPr sz="1000" lang="en-US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Camburu et al. (2018), e-SNLI, NeurIPS</a:t>
            </a:r>
            <a:endParaRPr sz="1800" lang="ja-JP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4"/>
              </a:rPr>
              <a:t>https://github.com/OanaMariaCamburu/e-SNLI</a:t>
            </a:r>
            <a:endParaRPr sz="1000" lang="en-US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Nie et al. (2020), ANLI, ACL</a:t>
            </a:r>
            <a:endParaRPr sz="18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5"/>
              </a:rPr>
              <a:t>https://github.com/facebookresearch/anli</a:t>
            </a:r>
            <a:endParaRPr sz="1000" lang="en-US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Gururangan et al. (2018), Annotation Artifacts, NAACL</a:t>
            </a:r>
            <a:endParaRPr sz="1800" lang="ja-JP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6"/>
              </a:rPr>
              <a:t>https://aclanthology.org/N18-2017/</a:t>
            </a:r>
            <a:endParaRPr sz="1000" lang="en-US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Giampiccolo et al. (2007), RTE第3回</a:t>
            </a:r>
            <a:endParaRPr sz="1800" lang="ja-JP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7"/>
              </a:rPr>
              <a:t>https://aclanthology.org/W07-1401/</a:t>
            </a:r>
            <a:endParaRPr sz="1000"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参考文献（モデルと利用例）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参考文献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ESIM公開実装とSNLIの評価結果</a:t>
            </a:r>
            <a:endParaRPr sz="1800" lang="ja-JP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2"/>
              </a:rPr>
              <a:t>https://github.com/coetaur0/ESIM</a:t>
            </a:r>
            <a:endParaRPr sz="1000"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Zhang et al. (2020), SemBERT, AAAI</a:t>
            </a:r>
            <a:endParaRPr sz="1800" lang="ja-JP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3"/>
              </a:rPr>
              <a:t>https://github.com/cooelf/SemBERT</a:t>
            </a:r>
            <a:endParaRPr sz="1000" lang="en-US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Yang et al. (2019), RE2, ACL</a:t>
            </a:r>
            <a:endParaRPr sz="1800" lang="ja-JP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4"/>
              </a:rPr>
              <a:t>https://github.com/alibaba-edu/simple-effective-text-matching</a:t>
            </a:r>
            <a:endParaRPr sz="1000" lang="en-US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Gao et al. (2021), SimCSE, EMNLP</a:t>
            </a:r>
            <a:endParaRPr sz="18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5"/>
              </a:rPr>
              <a:t>https://github.com/princeton-nlp/SimCSE</a:t>
            </a:r>
            <a:endParaRPr sz="1000" lang="en-US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Sentence TransformersのAllNLI学習例</a:t>
            </a:r>
            <a:endParaRPr sz="1800" lang="ja-JP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6"/>
              </a:rPr>
              <a:t>https://github.com/UKPLab/sentence-transformers/tree/master/examples/sentence_transformer/training/nli</a:t>
            </a:r>
            <a:endParaRPr sz="1000" lang="en-US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Solatorio (2024), GISTEmbed</a:t>
            </a:r>
            <a:endParaRPr sz="1800" lang="ja-JP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7"/>
              </a:rPr>
              <a:t>https://arxiv.org/abs/2402.16829</a:t>
            </a:r>
            <a:endParaRPr sz="1000"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