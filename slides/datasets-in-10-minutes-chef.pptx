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Macro F1</c:v>
                </c:pt>
              </c:strCache>
            </c:strRef>
          </c:tx>
          <c:spPr>
            <a:solidFill>
              <a:srgbClr val="2C9100"/>
            </a:solidFill>
            <a:ln>
              <a:noFill/>
            </a:ln>
          </c:spPr>
          <c:cat>
            <c:strRef>
              <c:f>Sheet1!$A$2:$A$6</c:f>
              <c:strCache>
                <c:ptCount val="5"/>
                <c:pt idx="0">
                  <c:v>根拠なし</c:v>
                </c:pt>
                <c:pt idx="1">
                  <c:v>Snippets</c:v>
                </c:pt>
                <c:pt idx="2">
                  <c:v>Semantic</c:v>
                </c:pt>
                <c:pt idx="3">
                  <c:v>Latent文書</c:v>
                </c:pt>
                <c:pt idx="4">
                  <c:v>人の根拠</c:v>
                </c:pt>
              </c:strCache>
            </c:strRef>
          </c:cat>
          <c:val>
            <c:numRef>
              <c:f>Sheet1!$B$2:$B$6</c:f>
              <c:numCache>
                <c:formatCode>General</c:formatCode>
                <c:ptCount val="5"/>
                <c:pt idx="0">
                  <c:v>52.49</c:v>
                </c:pt>
                <c:pt idx="1">
                  <c:v>60.61</c:v>
                </c:pt>
                <c:pt idx="2">
                  <c:v>61.94</c:v>
                </c:pt>
                <c:pt idx="3">
                  <c:v>64.65</c:v>
                </c:pt>
                <c:pt idx="4">
                  <c:v>77.62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ax val="100.0"/>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THU-BPM/CHEF"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rive.google.com/file/d/1QKe9i-yXDKh87p4ukRFSnzE03-hAzMto/view"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rive.google.com/file/d/1QKe9i-yXDKh87p4ukRFSnzE03-hAzMto/view"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rive.google.com/file/d/1QKe9i-yXDKh87p4ukRFSnzE03-hAzMto/view"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clanthology.org/2022.naacl-main.246/"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scenarios/cleva_scenario.p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BPM/CHEF" TargetMode="External"/><Relationship Id="rId3" Type="http://schemas.openxmlformats.org/officeDocument/2006/relationships/hyperlink" Target="https://github.com/stanford-crfm/helm/blob/v0.4.0/src/helm/benchmark/scenarios/cleva_scenario.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 Id="rId3" Type="http://schemas.openxmlformats.org/officeDocument/2006/relationships/hyperlink" Target="https://aclanthology.org/2023.emnlp-demo.17/"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 Id="rId3" Type="http://schemas.openxmlformats.org/officeDocument/2006/relationships/hyperlink" Target="https://drive.google.com/file/d/1QKe9i-yXDKh87p4ukRFSnzE03-hAzMto/view"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 Id="rId3" Type="http://schemas.openxmlformats.org/officeDocument/2006/relationships/hyperlink" Target="https://drive.google.com/file/d/1QKe9i-yXDKh87p4ukRFSnzE03-hAzMto/view"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rive.google.com/file/d/1QKe9i-yXDKh87p4ukRFSnzE03-hAzMto/view"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BPM/CHEF"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 Id="rId3" Type="http://schemas.openxmlformats.org/officeDocument/2006/relationships/hyperlink" Target="https://github.com/THU-BPM/CHEF"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CHEF</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CHinese Evidence-based Fact-checking</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中国語の実在する主張を、根拠に照らして検証する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CHEFの公式配布と実装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主張と根拠を対応させる</a:t>
            </a:r>
          </a:p>
        </p:txBody>
      </p:sp>
      <p:pic>
        <p:nvPicPr>
          <p:cNvPr id="4" name="Picture 3" descr="official-site.png"/>
          <p:cNvPicPr>
            <a:picLocks noChangeAspect="1"/>
          </p:cNvPicPr>
          <p:nvPr/>
        </p:nvPicPr>
        <p:blipFill>
          <a:blip r:embed="rId2"/>
          <a:stretch>
            <a:fillRect/>
          </a:stretch>
        </p:blipFill>
        <p:spPr>
          <a:xfrm>
            <a:off x="1977255" y="1481328"/>
            <a:ext cx="518948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CHEF公式配布。commit8909b3035c、2026-10-18取得。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https://github.com/THU-BPM/CHEF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主張と根拠を対応させる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作成方法と配布の構成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根拠の検索と真偽の評価</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CLEVAでの採用と利用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主張と根拠を対応させる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主張の真偽を、根拠とともに判断する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CHEFは、中国語で実際に流通した10,000件の主張を、支持・反証・情報不足の3ラベルで整理したデータセット。2022年のNAACLで発表された。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主張だけを分類する設計に加え、関連文書から根拠を選び、その根拠を使って判断する課題を扱う。配布レコードは検索文書欄と、最大5文の注釈根拠欄を持つ。</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3ラベルは、主張と根拠の関係を表す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914400"/>
                <a:gridCol w="2926080"/>
                <a:gridCol w="420624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配布ID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ラベル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判断の意味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Supported / 支持</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根拠によって主張が支持される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Refuted / 反証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根拠によって主張が反証される</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Not Enough Information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主張を確定する情報が足りない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65576"/>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ここで示す正解は配布された注釈。時点や主張の範囲を伴い、現在の一般的な真偽へ一律に置き換えない。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実例1：金星で生命は発見されたか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 ／ 日本語訳</a:t>
            </a:r>
          </a:p>
        </p:txBody>
      </p:sp>
      <p:sp>
        <p:nvSpPr>
          <p:cNvPr id="5" name="quote-frame"/>
          <p:cNvSpPr/>
          <p:nvPr/>
        </p:nvSpPr>
        <p:spPr>
          <a:xfrm>
            <a:off x="548640" y="1536192"/>
            <a:ext cx="3657600" cy="1270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主张：2021年，金星上没有发现生命。</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索萨·席尔瓦教授表示，金星上生存生命只是一种推测。</a:t>
            </a:r>
          </a:p>
        </p:txBody>
      </p:sp>
      <p:sp>
        <p:nvSpPr>
          <p:cNvPr id="6" name="quote-frame"/>
          <p:cNvSpPr/>
          <p:nvPr/>
        </p:nvSpPr>
        <p:spPr>
          <a:xfrm>
            <a:off x="4389120" y="1536192"/>
            <a:ext cx="4206240" cy="1270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主張：2021年、金星では生命は発見されていない。</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注釈根拠：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ソウザ・シルバ教授は、金星に生命が存在するというのは推測にすぎないと述べた。</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配布ラベル：支持 / SUP</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train row128 / claimId977 / 根拠1文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発見と推測を分ける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金星に生命が存在する可能性が論じられていることと、生命が発見されたことは異なる。根拠は、生命の存在は推測にとどまると述べている。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表示したのは主張と、人が選んだ根拠文の全文。検索で集めた記事全体を載せたものではない。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実例2：成都の受験者数と募集範囲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a:t>
            </a:r>
          </a:p>
        </p:txBody>
      </p:sp>
      <p:sp>
        <p:nvSpPr>
          <p:cNvPr id="5" name="quote-frame"/>
          <p:cNvSpPr/>
          <p:nvPr/>
        </p:nvSpPr>
        <p:spPr>
          <a:xfrm>
            <a:off x="548640" y="1536192"/>
            <a:ext cx="8046720" cy="2116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主张：2019年成都中考12.08万人招生计划只有4.3万。</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标注证据：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而43015是中心城区的招生计划数，中心城区是指11+2区域，不是整个成都市，这个计划数不是全成都市的招生计划数，直接拿中心城区计划数对比全成都市参考人数是不对的。</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此外，除中心城区外，其他区（市）县高中招生计划由当地教育行政部门制定并公布。</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配布ラベル：反証 / REF</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train row3728 / claimId1281 / 根拠2文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実例2：成都の受験者数と募集範囲（訳）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日本語訳：主張と注釈根拠の全文</a:t>
            </a:r>
          </a:p>
        </p:txBody>
      </p:sp>
      <p:sp>
        <p:nvSpPr>
          <p:cNvPr id="5" name="quote-frame"/>
          <p:cNvSpPr/>
          <p:nvPr/>
        </p:nvSpPr>
        <p:spPr>
          <a:xfrm>
            <a:off x="548640" y="1536192"/>
            <a:ext cx="804672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主張：2019年の成都の高校入試では、受験者12万800人に対し募集計画は4万3,000人しかない。</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注釈根拠：</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1. 4万3,015人は中心市街地の募集計画数である。中心市街地とは11＋2の区域を指し、成都市全体ではない。この計画数は成都市全体の募集計画ではなく、中心市街地の計画数を成都市全体の受験者数と直接比較するのは誤りである。</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2. また、中心市街地以外の区・市・県の高校募集計画は、それぞれの教育行政部門が策定し、公表する。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配布ラベル：反証 / REF</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train row3728 / claimId1281 / 根拠2文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同じ数値でも、比較する範囲が違う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人数を数えた地域の範囲が異なる。中心市街地の募集数と市全体の受験者数を比較していることが、反証の理由になる。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実例3：白いコウモリの体重と画像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 ／ 日本語訳</a:t>
            </a:r>
          </a:p>
        </p:txBody>
      </p:sp>
      <p:sp>
        <p:nvSpPr>
          <p:cNvPr id="5" name="quote-frame"/>
          <p:cNvSpPr/>
          <p:nvPr/>
        </p:nvSpPr>
        <p:spPr>
          <a:xfrm>
            <a:off x="548640" y="1536192"/>
            <a:ext cx="365760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主张：宏都拉斯白蝙蝠體重僅5g，專吃無花果。</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網傳照片為絨毛玩具，並非真實的宏都拉斯白蝙蝠。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確實有宏都拉斯白蝙蝠，牠的學名為「ectophylla alba」，身長平均3.7到4.7公分，布在中美洲地區，以無花果為主食。</a:t>
            </a:r>
          </a:p>
        </p:txBody>
      </p:sp>
      <p:sp>
        <p:nvSpPr>
          <p:cNvPr id="6" name="quote-frame"/>
          <p:cNvSpPr/>
          <p:nvPr/>
        </p:nvSpPr>
        <p:spPr>
          <a:xfrm>
            <a:off x="4389120" y="1536192"/>
            <a:ext cx="4206240" cy="2387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主張：ホンジュラスシロヘラコウモリは体重わずか5gで、イチジクだけを食べる。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注釈根拠：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ネットで広まった写真はぬいぐるみであり、本物のホンジュラスシロヘラコウモリではない。</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ホンジュラスシロヘラコウモリは実在する。学名は「ectophylla alba」で、平均体長は3.7〜4.7cm、中米地域に分布し、イチジクを主食とする。</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配布ラベル：情報不足 / NEI</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test row701 / claimId3345 / 根拠2文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一部が分かっても、主張全体は確定しない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配布ラベルは情報不足。根拠は写真と主食には触れるが、体重5gや「それだけを食べる」という範囲を全て確定してはいない。元の画像は本文の引用範囲に含まれない。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作成方法と配布の構成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中国語の実在する主張と、多様なウェブ根拠</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従来の検証データは英語が中心で、Wikipediaから人工的に作った主張も多かった。CHEFは中国語で元々書かれた主張と、複数のウェブ情報源を対象にする。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事実検証サイトとニュースサイトから14,770記事を収集。抽出した主張に時点・場所を補い、疑問形を断定文へ言い換えて、単独で検証できる形に整えた。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収集・主張化・検索・注釈をつなぐ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sp>
        <p:nvSpPr>
          <p:cNvPr id="4" name="TextBox 3"/>
          <p:cNvSpPr txBox="1"/>
          <p:nvPr/>
        </p:nvSpPr>
        <p:spPr>
          <a:xfrm>
            <a:off x="548640" y="1783080"/>
            <a:ext cx="2286000" cy="12801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303437"/>
                </a:solidFill>
                <a:latin typeface="Noto Sans"/>
                <a:ea typeface="Noto Sans CJK JP"/>
                <a:cs typeface="Noto Sans"/>
              </a:rPr>
              <a:t>記事を収集</a:t>
            </a:r>
          </a:p>
          <a:p>
            <a:pPr algn="l">
              <a:lnSpc>
                <a:spcPts val="2457"/>
              </a:lnSpc>
              <a:spcBef>
                <a:spcPts val="0"/>
              </a:spcBef>
              <a:spcAft>
                <a:spcPts val="0"/>
              </a:spcAft>
              <a:buNone/>
              <a:defRPr sz="2100" b="0">
                <a:solidFill>
                  <a:srgbClr val="303437"/>
                </a:solidFill>
                <a:latin typeface="Noto Sans"/>
              </a:defRPr>
            </a:pPr>
            <a:r>
              <a:rPr sz="2100" b="1" lang="ja-JP" altLang="en-US">
                <a:solidFill>
                  <a:srgbClr val="303437"/>
                </a:solidFill>
                <a:latin typeface="Noto Sans"/>
                <a:ea typeface="Noto Sans CJK JP"/>
                <a:cs typeface="Noto Sans"/>
              </a:rPr>
              <a:t>検証記事・報道</a:t>
            </a:r>
          </a:p>
        </p:txBody>
      </p:sp>
      <p:sp>
        <p:nvSpPr>
          <p:cNvPr id="5" name="TextBox 4"/>
          <p:cNvSpPr txBox="1"/>
          <p:nvPr/>
        </p:nvSpPr>
        <p:spPr>
          <a:xfrm>
            <a:off x="3337560" y="1783080"/>
            <a:ext cx="2468880" cy="12801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303437"/>
                </a:solidFill>
                <a:latin typeface="Noto Sans"/>
                <a:ea typeface="Noto Sans CJK JP"/>
                <a:cs typeface="Noto Sans"/>
              </a:rPr>
              <a:t>主張を抽出・補完</a:t>
            </a:r>
          </a:p>
          <a:p>
            <a:pPr algn="l">
              <a:lnSpc>
                <a:spcPts val="2457"/>
              </a:lnSpc>
              <a:spcBef>
                <a:spcPts val="0"/>
              </a:spcBef>
              <a:spcAft>
                <a:spcPts val="0"/>
              </a:spcAft>
              <a:buNone/>
              <a:defRPr sz="2100" b="0">
                <a:solidFill>
                  <a:srgbClr val="303437"/>
                </a:solidFill>
                <a:latin typeface="Noto Sans"/>
              </a:defRPr>
            </a:pPr>
            <a:r>
              <a:rPr sz="2100" b="1" lang="ja-JP" altLang="en-US">
                <a:solidFill>
                  <a:srgbClr val="303437"/>
                </a:solidFill>
                <a:latin typeface="Noto Sans"/>
                <a:ea typeface="Noto Sans CJK JP"/>
                <a:cs typeface="Noto Sans"/>
              </a:rPr>
              <a:t>時点・場所・断定文</a:t>
            </a:r>
          </a:p>
        </p:txBody>
      </p:sp>
      <p:sp>
        <p:nvSpPr>
          <p:cNvPr id="6" name="TextBox 5"/>
          <p:cNvSpPr txBox="1"/>
          <p:nvPr/>
        </p:nvSpPr>
        <p:spPr>
          <a:xfrm>
            <a:off x="6355080" y="1783080"/>
            <a:ext cx="2240280" cy="128016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303437"/>
                </a:solidFill>
                <a:latin typeface="Noto Sans"/>
                <a:ea typeface="Noto Sans CJK JP"/>
                <a:cs typeface="Noto Sans"/>
              </a:rPr>
              <a:t>根拠を検索・選択</a:t>
            </a:r>
          </a:p>
          <a:p>
            <a:pPr algn="l">
              <a:lnSpc>
                <a:spcPts val="2457"/>
              </a:lnSpc>
              <a:spcBef>
                <a:spcPts val="0"/>
              </a:spcBef>
              <a:spcAft>
                <a:spcPts val="0"/>
              </a:spcAft>
              <a:buNone/>
              <a:defRPr sz="2100" b="0">
                <a:solidFill>
                  <a:srgbClr val="303437"/>
                </a:solidFill>
                <a:latin typeface="Noto Sans"/>
              </a:defRPr>
            </a:pPr>
            <a:r>
              <a:rPr sz="2100" b="1" lang="ja-JP" altLang="en-US">
                <a:solidFill>
                  <a:srgbClr val="303437"/>
                </a:solidFill>
                <a:latin typeface="Noto Sans"/>
                <a:ea typeface="Noto Sans CJK JP"/>
                <a:cs typeface="Noto Sans"/>
              </a:rPr>
              <a:t>最大5文／3分類</a:t>
            </a:r>
          </a:p>
        </p:txBody>
      </p:sp>
      <p:sp>
        <p:nvSpPr>
          <p:cNvPr id="7" name="TextBox 6"/>
          <p:cNvSpPr txBox="1"/>
          <p:nvPr/>
        </p:nvSpPr>
        <p:spPr>
          <a:xfrm>
            <a:off x="2834640" y="2103120"/>
            <a:ext cx="365760" cy="457200"/>
          </a:xfrm>
          <a:prstGeom prst="rect">
            <a:avLst/>
          </a:prstGeom>
          <a:noFill/>
        </p:spPr>
        <p:txBody>
          <a:bodyPr wrap="square" lIns="0" rIns="0" tIns="0" bIns="0">
            <a:noAutofit/>
          </a:bodyPr>
          <a:lstStyle/>
          <a:p>
            <a:pPr algn="l">
              <a:lnSpc>
                <a:spcPts val="3158"/>
              </a:lnSpc>
              <a:spcBef>
                <a:spcPts val="0"/>
              </a:spcBef>
              <a:spcAft>
                <a:spcPts val="0"/>
              </a:spcAft>
              <a:buNone/>
              <a:defRPr sz="2700" b="0">
                <a:solidFill>
                  <a:srgbClr val="303437"/>
                </a:solidFill>
                <a:latin typeface="Noto Sans"/>
              </a:defRPr>
            </a:pPr>
            <a:r>
              <a:rPr sz="2700" b="1" lang="ja-JP" altLang="en-US">
                <a:solidFill>
                  <a:srgbClr val="2C9100"/>
                </a:solidFill>
                <a:latin typeface="Noto Sans"/>
                <a:ea typeface="Noto Sans CJK JP"/>
                <a:cs typeface="Noto Sans"/>
              </a:rPr>
              <a:t>→</a:t>
            </a:r>
          </a:p>
        </p:txBody>
      </p:sp>
      <p:sp>
        <p:nvSpPr>
          <p:cNvPr id="8" name="TextBox 7"/>
          <p:cNvSpPr txBox="1"/>
          <p:nvPr/>
        </p:nvSpPr>
        <p:spPr>
          <a:xfrm>
            <a:off x="5852160" y="2103120"/>
            <a:ext cx="365760" cy="457200"/>
          </a:xfrm>
          <a:prstGeom prst="rect">
            <a:avLst/>
          </a:prstGeom>
          <a:noFill/>
        </p:spPr>
        <p:txBody>
          <a:bodyPr wrap="square" lIns="0" rIns="0" tIns="0" bIns="0">
            <a:noAutofit/>
          </a:bodyPr>
          <a:lstStyle/>
          <a:p>
            <a:pPr algn="l">
              <a:lnSpc>
                <a:spcPts val="3158"/>
              </a:lnSpc>
              <a:spcBef>
                <a:spcPts val="0"/>
              </a:spcBef>
              <a:spcAft>
                <a:spcPts val="0"/>
              </a:spcAft>
              <a:buNone/>
              <a:defRPr sz="2700" b="0">
                <a:solidFill>
                  <a:srgbClr val="303437"/>
                </a:solidFill>
                <a:latin typeface="Noto Sans"/>
              </a:defRPr>
            </a:pPr>
            <a:r>
              <a:rPr sz="2700" b="1" lang="ja-JP" altLang="en-US">
                <a:solidFill>
                  <a:srgbClr val="2C9100"/>
                </a:solidFill>
                <a:latin typeface="Noto Sans"/>
                <a:ea typeface="Noto Sans CJK JP"/>
                <a:cs typeface="Noto Sans"/>
              </a:rPr>
              <a:t>→</a:t>
            </a:r>
          </a:p>
        </p:txBody>
      </p:sp>
      <p:sp>
        <p:nvSpPr>
          <p:cNvPr id="9" name="TextBox 8"/>
          <p:cNvSpPr txBox="1"/>
          <p:nvPr/>
        </p:nvSpPr>
        <p:spPr>
          <a:xfrm>
            <a:off x="594360" y="3474720"/>
            <a:ext cx="7863840" cy="82296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Google検索の上位10結果を収集し、誤情報サイトや答えを直接示す事実検証サイトを除く。残った文書から人が根拠文を選ぶ。</a:t>
            </a:r>
          </a:p>
        </p:txBody>
      </p:sp>
      <p:sp>
        <p:nvSpPr>
          <p:cNvPr id="10"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原配布は、8,002／999／999件に分かれる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graphicFrame>
        <p:nvGraphicFramePr>
          <p:cNvPr id="4" name="Table 3"/>
          <p:cNvGraphicFramePr>
            <a:graphicFrameLocks noGrp="1"/>
          </p:cNvGraphicFramePr>
          <p:nvPr/>
        </p:nvGraphicFramePr>
        <p:xfrm>
          <a:off x="548640" y="1508760"/>
          <a:ext cx="8046720" cy="1958975"/>
        </p:xfrm>
        <a:graphic>
          <a:graphicData uri="http://schemas.openxmlformats.org/drawingml/2006/table">
            <a:tbl>
              <a:tblPr firstRow="0" bandRow="0"/>
              <a:tblGrid>
                <a:gridCol w="1463040"/>
                <a:gridCol w="1554480"/>
                <a:gridCol w="1554480"/>
                <a:gridCol w="1645920"/>
                <a:gridCol w="1828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split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支持</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反証</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情報不足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2,877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4,349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776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8,002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999</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999</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3,543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5,015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1,442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22599"/>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公式アーカイブの全件再集計。dev/testは各クラス333件。論文表のtrain反証4,399と、原配布4,349の差は補足で示す。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領域は公衆衛生と社会が多い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graphicFrame>
        <p:nvGraphicFramePr>
          <p:cNvPr id="4" name="Table 3"/>
          <p:cNvGraphicFramePr>
            <a:graphicFrameLocks noGrp="1"/>
          </p:cNvGraphicFramePr>
          <p:nvPr/>
        </p:nvGraphicFramePr>
        <p:xfrm>
          <a:off x="548640" y="1508760"/>
          <a:ext cx="8046720" cy="2640330"/>
        </p:xfrm>
        <a:graphic>
          <a:graphicData uri="http://schemas.openxmlformats.org/drawingml/2006/table">
            <a:tbl>
              <a:tblPr firstRow="0" bandRow="0"/>
              <a:tblGrid>
                <a:gridCol w="3657600"/>
                <a:gridCol w="2194560"/>
                <a:gridCol w="219456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domain原表記</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公卫 / 公衆衛生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3,679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36.79％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社会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3,013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30.13％</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1,661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16.61％</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政治</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11.32％</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科学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5.08％</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0.07％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0395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原配布の全件集計。「生活」7件も原表記のまま含む。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25人の注釈チームが、別途の検証も行う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注釈者は中国語を母語とする25人で、うち5人は検証だけを担当した。著者による訓練と、複数回の試行注釈を行った。</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310件の主張を5人が再注釈し、Fleissのκは0.74。さらに別の310件では、根拠だけから付けたラベルの正答率は88.7％、十分な情報があるとされた例が83.6％だった。</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根拠文は多ければよいわけではない。関連性と判断に十分な情報があるかを確認して選ぶ。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根拠の検索と真偽の評価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根拠を先に選ぶ方法と、同時に学ぶ方法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graphicFrame>
        <p:nvGraphicFramePr>
          <p:cNvPr id="4" name="Table 3"/>
          <p:cNvGraphicFramePr>
            <a:graphicFrameLocks noGrp="1"/>
          </p:cNvGraphicFramePr>
          <p:nvPr/>
        </p:nvGraphicFramePr>
        <p:xfrm>
          <a:off x="548640" y="1508760"/>
          <a:ext cx="8046720" cy="2589530"/>
        </p:xfrm>
        <a:graphic>
          <a:graphicData uri="http://schemas.openxmlformats.org/drawingml/2006/table">
            <a:tbl>
              <a:tblPr firstRow="0" bandRow="0"/>
              <a:tblGrid>
                <a:gridCol w="2011680"/>
                <a:gridCol w="6035040"/>
              </a:tblGrid>
              <a:tr h="64008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根拠の扱い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4685">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Pipeline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TF-IDF・BERT・混合順位付けなどで先に根拠を選び、真偽分類器へ渡す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4685">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Joint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分類の学習から根拠選択にもフィードバックする。REINFORCE・Multi-task・Latentを比較</a:t>
                      </a:r>
                    </a:p>
                  </a:txBody>
                  <a:tcPr marL="63500" marR="63500" marT="38100" marB="38100" anchor="ctr">
                    <a:lnL w="7620">
                      <a:noFill/>
                    </a:lnL>
                    <a:lnR w="7620">
                      <a:noFill/>
                    </a:lnR>
                    <a:lnT w="7620">
                      <a:noFill/>
                    </a:lnT>
                    <a:lnB w="7620">
                      <a:noFill/>
                    </a:lnB>
                    <a:solidFill>
                      <a:srgbClr val="FFFEF8"/>
                    </a:solidFill>
                  </a:tcPr>
                </a:tc>
              </a:tr>
              <a:tr h="64008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Gold Evidence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人が選んだ根拠を直接与え、検索の影響を分けて見る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Micro F1とMacro F1を、5試行で比較する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Micro F1は全体の分類結果を集計する。1件1ラベルの3クラス分類では、正解率と同じ値になる。Macro F1は各クラスのF1を等しい重みで平均する。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2022年の比較は、独立した5回の実行による平均と標準偏差を報告する。BERT系・Attention系・Graph系の3分類器を、根拠の条件を変えて評価した。</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testは999件でクラスは均等。根拠選択まで含む値と、人の根拠を与えた値を区別する。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BERT分類器：根拠の条件で性能が変わる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graphicFrame>
        <p:nvGraphicFramePr>
          <p:cNvPr id="4" name="Table 3"/>
          <p:cNvGraphicFramePr>
            <a:graphicFrameLocks noGrp="1"/>
          </p:cNvGraphicFramePr>
          <p:nvPr/>
        </p:nvGraphicFramePr>
        <p:xfrm>
          <a:off x="548640" y="1508760"/>
          <a:ext cx="8046720" cy="1965960"/>
        </p:xfrm>
        <a:graphic>
          <a:graphicData uri="http://schemas.openxmlformats.org/drawingml/2006/table">
            <a:tbl>
              <a:tblPr firstRow="0" bandRow="0"/>
              <a:tblGrid>
                <a:gridCol w="4023360"/>
                <a:gridCol w="2011680"/>
                <a:gridCol w="2011680"/>
              </a:tblGrid>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Pipeline／根拠なし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54.46±2.89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52.49±2.44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Pipeline／Semantic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63.47±1.71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61.94±1.66</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Joint Latent／文書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66.77±1.43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64.65±1.74</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Pipeline／人の根拠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78.99±0.82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77.62±1.02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2958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百分率スケールの平均±標準偏差。5独立実行。単一分類器の条件比較。</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根拠なしと、人が選んだ根拠の差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BERT系のMacro F1（0–100）。分類器と根拠条件を対応させた固定比較。</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https://aclanthology.org/2022.naacl-main.246/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検索の失敗と、根拠からの推論を分ける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人が選んだ根拠を使うBERT系のMacro F1は77.62、文書から選ぶLatentでは64.65。根拠を見つける段階にも課題が残る。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Graph系Latentの文書条件はMicro 69.12、Macro 65.26。人の根拠を使うGraph系は79.84、78.47だった。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検索結果の短い要約だけでは、時点・数値の範囲・否定など、判断に必要な情報が欠ける場合がある。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CLEVAでの採用と利用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CLEVAでの採用と利用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CLEVAでは、事実確認の選択式課題に採用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CLEVAは中国語モデル評価のプラットフォームで、事実確認課題の素材としてCHEFを採用した。元データセットとプラットフォームは別の対象である。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HELM v0.4.0の公開コードには、金星の主張に「真实・虚假・信息不足」から答える例がある。この例は根拠文を入力に表示しない。</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元のCHEFが持つ検索文書・注釈根拠付きの検証と、公開コードに示された主張中心の入力を区別する。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https://aclanthology.org/2023.emnlp-demo.17/</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CLEVAFactCheckingScenario, HELM v0.4.0.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公開コードの金星例と、元レコード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CLEVAでの採用と利用</a:t>
            </a:r>
          </a:p>
        </p:txBody>
      </p:sp>
      <p:sp>
        <p:nvSpPr>
          <p:cNvPr id="4" name="quote-frame"/>
          <p:cNvSpPr/>
          <p:nvPr/>
        </p:nvSpPr>
        <p:spPr>
          <a:xfrm>
            <a:off x="548640" y="1572768"/>
            <a:ext cx="3886200" cy="1481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8" bIns="12700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请判断以下陈述是否为真实的。</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陈述：2021年，金星上没有发现生命。</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A. 真实　B. 虚假　C. 信息不足</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答案：</a:t>
            </a:r>
          </a:p>
        </p:txBody>
      </p:sp>
      <p:sp>
        <p:nvSpPr>
          <p:cNvPr id="5" name="quote-frame"/>
          <p:cNvSpPr/>
          <p:nvPr/>
        </p:nvSpPr>
        <p:spPr>
          <a:xfrm>
            <a:off x="4572000" y="1572768"/>
            <a:ext cx="4023360" cy="1447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8" bIns="12700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次の記述が真実か判定する。</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記述：2021年、金星で生命は発見されていない。</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A. 真実　B. 虚偽　C. 情報不足</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答え：</a:t>
            </a:r>
          </a:p>
        </p:txBody>
      </p:sp>
      <p:sp>
        <p:nvSpPr>
          <p:cNvPr id="6" name="TextBox 5"/>
          <p:cNvSpPr txBox="1"/>
          <p:nvPr/>
        </p:nvSpPr>
        <p:spPr>
          <a:xfrm>
            <a:off x="548640" y="3977639"/>
            <a:ext cx="8046720" cy="41148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公開例の正解：A ／ 元CHEF：支持（0）</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CLEVAFactCheckingScenario, HELM v0.4.0. 同一claimはtrain row128 / claimId977。選択肢順はこの公開例のもの。</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https://github.com/stanford-crfm/helm/blob/v0.4.0/src/helm/benchmark/scenarios/cleva_scenario.py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原データを固定し、採用版の違いを残す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公式配布のtrain/dev/testでは、主張・検索文書・注釈根拠・ラベルを対応付けられる。split・行位置・claimIdを組み合わせ、元レコードをたどれる。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CLEVA v1の配布は現在取得できず、元CHEFの全件と同一集合・同一入力とは確認できていない。HELM Classic v0.4.0の公開run一覧で、該当実行は0件だった。</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根拠本文や記事の著作権は各提供元に帰属する。コード内のライセンスと、データ全体の利用許諾を同一視せず、公式配布と出典を確認して利用する。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CHEF公式配布。commit8909b3035c、2026-10-18取得。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https://github.com/THU-BPM/CHEF</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CLEVAFactCheckingScenario, HELM v0.4.0.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主張・根拠・ラベルの対応を読む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CHEFは、実在する中国語の主張10,000件に、検索文書と人が選んだ根拠を結び付けた事実検証データである。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支持・反証・情報不足は、与えられた根拠と主張の範囲に対応する。成都の例では人数の地域範囲、金星の例では発見と推測の差が要点になる。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元の根拠付き課題、根拠を選ぶ評価、CLEVAの公開入力例を分けると、何を解かせた成績なのかを理解できる。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CLEVAでの採用と利用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追加10件の主張と根拠</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配布・注釈・評価の補足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追加10件の主張と根拠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実例4：発熱のない感染者と伝播</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a:t>
            </a:r>
          </a:p>
        </p:txBody>
      </p:sp>
      <p:sp>
        <p:nvSpPr>
          <p:cNvPr id="5" name="quote-frame"/>
          <p:cNvSpPr/>
          <p:nvPr/>
        </p:nvSpPr>
        <p:spPr>
          <a:xfrm>
            <a:off x="548640" y="1536192"/>
            <a:ext cx="8046720" cy="2396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主张：有些感染了新冠病毒的病人没有发热，但也会传染给别人。</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标注证据：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不过有些患者仅出现很轻微的症状，在隔离观察期间也不一定会被发现，也常常被认为是无症状。</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这些传染性疾病的一个特点是无症状感染患者和有症状的患者会共同存在，而现在的新冠病毒也是如此。</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3. 从群体水平来看，由无症状感染者传播的病例占总发病人数的构成比有4.4%。</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配布ラベル：支持 / SUP</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train row11 / claimId82 / 根拠3文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実例4：発熱のない感染者と伝播（訳）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日本語訳：主張と注釈根拠の全文</a:t>
            </a:r>
          </a:p>
        </p:txBody>
      </p:sp>
      <p:sp>
        <p:nvSpPr>
          <p:cNvPr id="5" name="quote-frame"/>
          <p:cNvSpPr/>
          <p:nvPr/>
        </p:nvSpPr>
        <p:spPr>
          <a:xfrm>
            <a:off x="548640" y="1536192"/>
            <a:ext cx="804672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主張：新型コロナウイルスに感染した患者の中には発熱がなくても、他人へ感染させる人がいる。</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注釈根拠：</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1. ただし、ごく軽い症状しか出ない患者もおり、隔離観察中にも発見されるとは限らず、無症状と見なされることも多い。</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2. こうした感染症の特徴の一つは、無症状の感染者と症状のある患者が共存することで、今回の新型コロナウイルスも同様である。</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3. 集団全体で見ると、無症状感染者から伝播した症例は、総発症者数の4.4％を占める。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配布ラベル：支持 / SUP</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train row11 / claimId82 / 根拠3文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実例5：地下鉄カードの無料配布という告知</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 ／ 日本語訳</a:t>
            </a:r>
          </a:p>
        </p:txBody>
      </p:sp>
      <p:sp>
        <p:nvSpPr>
          <p:cNvPr id="5" name="quote-frame"/>
          <p:cNvSpPr/>
          <p:nvPr/>
        </p:nvSpPr>
        <p:spPr>
          <a:xfrm>
            <a:off x="548640" y="1536192"/>
            <a:ext cx="3657600" cy="2387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主张：2020年12月太原地铁限量版地铁卡免费送</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对此，太原中铁轨道交通建设运营有限公司作为太原地铁乘车票卡的独家发行方，在此特别提醒：目前有关太原地铁2号线所有乘车票卡还未正式对外发售，会适时在相应官方平台对外发布地铁2号线所有的种类、样式车票及购买方式，市民莫要轻信网上不实信息。</a:t>
            </a:r>
          </a:p>
        </p:txBody>
      </p:sp>
      <p:sp>
        <p:nvSpPr>
          <p:cNvPr id="6" name="quote-frame"/>
          <p:cNvSpPr/>
          <p:nvPr/>
        </p:nvSpPr>
        <p:spPr>
          <a:xfrm>
            <a:off x="4389120" y="1536192"/>
            <a:ext cx="4206240" cy="2599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主張：2020年12月、太原地下鉄の限定版乗車カードを無料配布する。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注釈根拠：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これに対し、太原中鉄軌道交通建設運営有限公司は、太原地下鉄乗車カードの独占発行者として注意を呼びかけた。現在、太原地下鉄2号線の乗車カードは、どの種類も正式には発売していない。種類・デザイン・購入方法は、適切な時期に公式媒体で公表する。市民はネット上の虚偽情報を軽々しく信じないでほしい。</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配布ラベル：反証 / REF</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dev row337 / claimId1724 / 根拠1文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実例6：地球の自転と地震の相関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a:t>
            </a:r>
          </a:p>
        </p:txBody>
      </p:sp>
      <p:sp>
        <p:nvSpPr>
          <p:cNvPr id="5" name="quote-frame"/>
          <p:cNvSpPr/>
          <p:nvPr/>
        </p:nvSpPr>
        <p:spPr>
          <a:xfrm>
            <a:off x="548640" y="1536192"/>
            <a:ext cx="8046720" cy="2294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主张：地球自转变慢，导致地震频繁。</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标注证据：</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1. 目前研究显示，地球自转和地球上地震活动之间的相关性并不显著。</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2. 因为之前文章有类似题材，也提到过增速自转和地震活动之间的关系，虽然有一些统计结果，但分析认为统计关系不是非常显著，不能作为地球活动增强或者预测某一种趋势的依据。</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3. 地球上的一些大地震都是板块构造运动的结果，委内瑞拉东北部沿岸近海地区发生7.3级地震，与之前的印尼龙目岛地震都处于环太平洋地震带。</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配布ラベル：反証 / REF</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dev row348 / claimId1201 / 根拠3文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実例6：地球の自転と地震の相関（訳）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日本語訳：主張と注釈根拠の全文</a:t>
            </a:r>
          </a:p>
        </p:txBody>
      </p:sp>
      <p:sp>
        <p:nvSpPr>
          <p:cNvPr id="5" name="quote-frame"/>
          <p:cNvSpPr/>
          <p:nvPr/>
        </p:nvSpPr>
        <p:spPr>
          <a:xfrm>
            <a:off x="548640" y="1536192"/>
            <a:ext cx="8046720" cy="2226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主張：地球の自転が遅くなると、地震が頻発する。</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注釈根拠：</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1. 現在の研究では、地球の自転と地震活動の間に、顕著な相関は認められていない。</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2. 以前の記事でも似た題材として、自転の加速と地震活動の関係に触れていた。統計的な結果はあるが、分析では統計的関係はそれほど顕著でなく、地球活動の活発化や特定の傾向を予測する根拠にはできないとされた。</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3. 地球上の大地震の一部は、プレートの構造運動による。ベネズエラ北東部沿岸沖で起きたマグニチュード7.3の地震も、それ以前のインドネシア・ロンボク島の地震も、環太平洋地震帯で発生した。</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配布ラベル：反証 / REF</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dev row348 / claimId1201 / 根拠3文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実例7：かみ跡で金の真偽を判定できるか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 ／ 日本語訳</a:t>
            </a:r>
          </a:p>
        </p:txBody>
      </p:sp>
      <p:sp>
        <p:nvSpPr>
          <p:cNvPr id="5" name="quote-frame"/>
          <p:cNvSpPr/>
          <p:nvPr/>
        </p:nvSpPr>
        <p:spPr>
          <a:xfrm>
            <a:off x="548640" y="1536192"/>
            <a:ext cx="3657600" cy="193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主张：用牙齿咬可以辨别黄金真假。</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据了解，人牙齿的莫氏硬度为6，黄金和银的相对莫氏硬度为2.53，纯铜的莫氏硬度为3，铁为4，很多金属材料的硬度都比较低，用牙齿咬都会留下明显的咬痕，所以用牙咬来判断真伪没有科学依据。</a:t>
            </a:r>
          </a:p>
        </p:txBody>
      </p:sp>
      <p:sp>
        <p:nvSpPr>
          <p:cNvPr id="6" name="quote-frame"/>
          <p:cNvSpPr/>
          <p:nvPr/>
        </p:nvSpPr>
        <p:spPr>
          <a:xfrm>
            <a:off x="4389120" y="1536192"/>
            <a:ext cx="420624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主張：歯でかめば、金が本物かどうか見分けられる。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注釈根拠：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調べたところ、人の歯のモース硬度は6、金と銀の相対的なモース硬度は2.53、純銅は3、鉄は4である。多くの金属は硬度が比較的低く、歯でかめば明瞭なかみ跡が残る。このため、かみ跡による真偽の判定には科学的根拠がない。</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配布ラベル：反証 / REF</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test row343 / claimId1453 / 根拠1文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実例8：ビタミンCとAの「黄金法則」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a:t>
            </a:r>
          </a:p>
        </p:txBody>
      </p:sp>
      <p:sp>
        <p:nvSpPr>
          <p:cNvPr id="5" name="quote-frame"/>
          <p:cNvSpPr/>
          <p:nvPr/>
        </p:nvSpPr>
        <p:spPr>
          <a:xfrm>
            <a:off x="548640" y="1536192"/>
            <a:ext cx="8046720" cy="1837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主张：早上使用具有抗氧化作用的维生素C类产品，晚上使用抗衰老的维生素A类产品，是护肤的黄金法则。</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标注证据：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这种“黄金公式”搭配并不是因为维生素C和维生素A是美白抗老界的完美CP，有可能只是因为叫着顺嘴或是为了捆绑销售。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这也是为什么视黄醇在皮肤学界公认具有抗衰老作用。</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配布ラベル：情報不足 / NEI</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dev row787 / claimId393 / 根拠2文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実例8：ビタミンCとAの「黄金法則」（訳）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日本語訳：主張と注釈根拠の全文</a:t>
            </a:r>
          </a:p>
        </p:txBody>
      </p:sp>
      <p:sp>
        <p:nvSpPr>
          <p:cNvPr id="5" name="quote-frame"/>
          <p:cNvSpPr/>
          <p:nvPr/>
        </p:nvSpPr>
        <p:spPr>
          <a:xfrm>
            <a:off x="548640" y="1536192"/>
            <a:ext cx="8046720" cy="2396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主張：朝は抗酸化作用のあるビタミンC製品を使い、夜は抗老化作用のあるビタミンA製品を使うことが、スキンケアの黄金法則である。</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注釈根拠：</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この「黄金の組合せ」は、ビタミンCとビタミンAが美白・抗老化の完璧な相棒だからというわけではない。単に言いやすい名前だから、あるいは抱き合わせ販売のためかもしれない。</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これも、皮膚科学界でレチノールの抗老化作用が認められている理由である。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配布ラベル：情報不足 / NEI</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dev row787 / claimId393 / 根拠2文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実例9：歌手の親族関係と曲名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 ／ 日本語訳</a:t>
            </a:r>
          </a:p>
        </p:txBody>
      </p:sp>
      <p:sp>
        <p:nvSpPr>
          <p:cNvPr id="5" name="quote-frame"/>
          <p:cNvSpPr/>
          <p:nvPr/>
        </p:nvSpPr>
        <p:spPr>
          <a:xfrm>
            <a:off x="548640" y="1536192"/>
            <a:ext cx="365760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主张：帕華洛帝的孫女演唱親愛的爺爺。</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網傳影片中的歌手為荷蘭女音樂家艾蜜拉．維莉哈根，她並非義大利男高音帕華洛帝的孫女。</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網傳影片中的曲目為義大利作曲家普契尼（Puccini）作品〈親愛的爸爸〉，並非「親愛的爺爺」。</a:t>
            </a:r>
          </a:p>
        </p:txBody>
      </p:sp>
      <p:sp>
        <p:nvSpPr>
          <p:cNvPr id="6" name="quote-frame"/>
          <p:cNvSpPr/>
          <p:nvPr/>
        </p:nvSpPr>
        <p:spPr>
          <a:xfrm>
            <a:off x="4389120" y="1536192"/>
            <a:ext cx="4206240" cy="2387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主張：パヴァロッティの孫娘が「親愛なるおじいさん」を歌っている。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注釈根拠：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ネットで広まった動画の歌手は、オランダの音楽家アミラ・ウィルハーフンであり、イタリアのテノール歌手パヴァロッティの孫娘ではない。</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動画の曲は、イタリアの作曲家プッチーニの作品「私のお父さん」であり、「親愛なるおじいさん」ではない。</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配布ラベル：反証 / REF</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test row349 / claimId2501 / 根拠2文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実例10：人民元の基準値と前営業日</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 ／ 日本語訳</a:t>
            </a:r>
          </a:p>
        </p:txBody>
      </p:sp>
      <p:sp>
        <p:nvSpPr>
          <p:cNvPr id="5" name="quote-frame"/>
          <p:cNvSpPr/>
          <p:nvPr/>
        </p:nvSpPr>
        <p:spPr>
          <a:xfrm>
            <a:off x="548640" y="1536192"/>
            <a:ext cx="365760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主张：2020年11月30日人民币对美元汇率中间价下调27个基点。</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新华社上海11月30日电 来自中国外汇交易中心的数据显示，30日人民币对美元汇率中间价报6.5782，较前一交易日下调27个基点。</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前一交易日，人民币对美元汇率中间价报6.5755。</a:t>
            </a:r>
          </a:p>
        </p:txBody>
      </p:sp>
      <p:sp>
        <p:nvSpPr>
          <p:cNvPr id="6" name="quote-frame"/>
          <p:cNvSpPr/>
          <p:nvPr/>
        </p:nvSpPr>
        <p:spPr>
          <a:xfrm>
            <a:off x="4389120" y="1536192"/>
            <a:ext cx="4206240" cy="2599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主張：2020年11月30日、人民元の対米ドル為替基準値は27ベーシスポイント引き下げられた。</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注釈根拠：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新華社上海11月30日電。中国外貨取引センターのデータによると、30日の人民元の対米ドル為替基準値は6.5782で、前営業日から27ベーシスポイント引き下げられた。</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前営業日の人民元の対米ドル為替基準値は6.5755だった。</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配布ラベル：支持 / SUP</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test row0 / claimId11633 / 根拠2文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実例11：映画会社が公表した作品一覧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a:t>
            </a:r>
          </a:p>
        </p:txBody>
      </p:sp>
      <p:sp>
        <p:nvSpPr>
          <p:cNvPr id="5" name="quote-frame"/>
          <p:cNvSpPr/>
          <p:nvPr/>
        </p:nvSpPr>
        <p:spPr>
          <a:xfrm>
            <a:off x="548640" y="1536192"/>
            <a:ext cx="8046720" cy="2396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主张：2020年华人影业发布新片片单，《三叉戟》《巨齿鲨2》在列。</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标注证据：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中新网12月10日电 9日，2020华人影业战略发布会在北京举行，并揭晓了片单。</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华人影业一口气公布29部新片片单，并邀请了众多影片主创到场推介。</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3. 29部新片涵盖了不同题材、不同风格，其中也包括高群书执导的《三叉戟》和惊险大片《巨齿鲨2》。</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配布ラベル：支持 / SUP</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test row16 / claimId9778 / 根拠3文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実例11：映画会社が公表した作品一覧（訳）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日本語訳：主張と注釈根拠の全文</a:t>
            </a:r>
          </a:p>
        </p:txBody>
      </p:sp>
      <p:sp>
        <p:nvSpPr>
          <p:cNvPr id="5" name="quote-frame"/>
          <p:cNvSpPr/>
          <p:nvPr/>
        </p:nvSpPr>
        <p:spPr>
          <a:xfrm>
            <a:off x="548640" y="1536192"/>
            <a:ext cx="804672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主張：2020年、華人影業が新作映画の一覧を公表し、「三叉戟」と「巨歯鮫2」が含まれた。</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注釈根拠：</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1. 中国新聞網12月10日電。9日、2020年華人影業戦略発表会が北京で開かれ、作品一覧が公表された。</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2. 華人影業は29本の新作一覧を一度に公表し、多数の制作関係者を招いて紹介した。</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3. 29本は多様な題材・作風にわたり、高群書監督の「三叉戟」とスリラー大作「巨歯鮫2」も含まれる。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配布ラベル：支持 / SUP</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test row16 / claimId9778 / 根拠3文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実例12：「60年で最も寒い冬」という予測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a:t>
            </a:r>
          </a:p>
        </p:txBody>
      </p:sp>
      <p:sp>
        <p:nvSpPr>
          <p:cNvPr id="5" name="quote-frame"/>
          <p:cNvSpPr/>
          <p:nvPr/>
        </p:nvSpPr>
        <p:spPr>
          <a:xfrm>
            <a:off x="548640" y="1536192"/>
            <a:ext cx="8046720" cy="2226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主张：2020年冬天是60年来最冷寒冬。</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标注证据：</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1. 而最近，冷空气又在发力，于是，网络上关于“最冷冬天”的消息、短视频不断发酵，有人称“根据气象学专家分析，2020年有可能成为2008年以来最寒冷的冬天”“‘拉尼娜现象’持续升级，专家表示今冬明春恐多有暴雪，今年可能是60年来最冷的冬天。</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2. “60年来最冷”每次拉尼娜事件的影响不尽相同今冬偏冷还是偏暖需科学分析综合研判“今冬将现60年来最寒冷冬天、最严重降雪”“2008年以来的最冷一年”“这一切都与拉尼娜有关”……最近多个小视频和帖子在微博、微信、朋友圈、论坛等广为流传，而且言之凿凿。</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配布ラベル：情報不足 / NEI</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train row7253 / claimId301 / 根拠2文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400" b="1" lang="ja-JP" altLang="en-US">
                <a:solidFill>
                  <a:srgbClr val="303437"/>
                </a:solidFill>
                <a:latin typeface="Noto Sans"/>
                <a:ea typeface="Noto Sans CJK JP"/>
                <a:cs typeface="Noto Sans"/>
              </a:rPr>
              <a:t>実例12：「60年で最も寒い冬」という予測（訳）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日本語訳：主張と注釈根拠の全文</a:t>
            </a:r>
          </a:p>
        </p:txBody>
      </p:sp>
      <p:sp>
        <p:nvSpPr>
          <p:cNvPr id="5" name="quote-frame"/>
          <p:cNvSpPr/>
          <p:nvPr/>
        </p:nvSpPr>
        <p:spPr>
          <a:xfrm>
            <a:off x="548640" y="1536192"/>
            <a:ext cx="8046720" cy="2387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主張：2020年の冬は、過去60年間で最も寒い冬である。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注釈根拠：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最近また寒気が強まり、ネットで「最も寒い冬」の情報や短い動画が広がっている。「気象専門家の分析では、2020年は2008年以来最も寒い冬になる可能性がある」「ラニーニャ現象が強まり続け、専門家は今冬から来春にかけて大雪が多く、今年は過去60年間で最も寒い冬になるかもしれないと述べた」とするものもあ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60年で最も寒い」。ラニーニャ現象の影響は毎回異なり、今冬が平年より寒いか暖かいかは、科学的に分析し総合判断する必要がある。「今冬は60年で最も寒く、雪も最も多い」「2008年以来最も寒い年」「全てラニーニャが原因だ」……。最近、こうした動画や投稿が微博・微信・朋友圈・掲示板などで広まり、断定的に語られてい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配布ラベル：情報不足 / NEI</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train row7253 / claimId301 / 根拠2文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実例13：デジタル人民元と紙幣の共存</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中国語：主張と注釈根拠の全文 ／ 日本語訳</a:t>
            </a:r>
          </a:p>
        </p:txBody>
      </p:sp>
      <p:sp>
        <p:nvSpPr>
          <p:cNvPr id="5" name="quote-frame"/>
          <p:cNvSpPr/>
          <p:nvPr/>
        </p:nvSpPr>
        <p:spPr>
          <a:xfrm>
            <a:off x="548640" y="1536192"/>
            <a:ext cx="3657600" cy="193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主张：数字人民币和纸钞将长期并存。</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“在可预见的将来，数字人民币和纸钞将长期并存。</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在可预见的将来，数字人民币和纸钞将长期并存。</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3. 我个人觉得，在可预见的将来，数字人民币和纸钞将长期并存。</a:t>
            </a:r>
          </a:p>
        </p:txBody>
      </p:sp>
      <p:sp>
        <p:nvSpPr>
          <p:cNvPr id="6" name="quote-frame"/>
          <p:cNvSpPr/>
          <p:nvPr/>
        </p:nvSpPr>
        <p:spPr>
          <a:xfrm>
            <a:off x="4389120" y="1536192"/>
            <a:ext cx="4206240" cy="2379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主張：デジタル人民元と紙幣は、長期にわたり共存する。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注釈根拠：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「予見できる将来において、デジタル人民元と紙幣は長期にわたり共存する。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予見できる将来において、デジタル人民元と紙幣は長期にわたり共存する。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3. 私個人は、予見できる将来において、デジタル人民元と紙幣は長期にわたり共存すると思う。</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配布ラベル：支持 / SUP</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 train row41 / claimId323 / 根拠3文</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配布・注釈・評価の補足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配布の注釈根拠には空欄もある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743200"/>
                <a:gridCol w="1325880"/>
                <a:gridCol w="1325880"/>
                <a:gridCol w="1325880"/>
                <a:gridCol w="132588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非空goldが0文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1,552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2,158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非空goldの文数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16,254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1,775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1,856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19,885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非空の検索文書</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34,985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4,057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4,030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43,072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65576"/>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5枠×10,000行の検索文書欄は50,000枠。空欄は除いて集計。空のgoldとNEIは同義ではない。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空欄の件数と、構築時の除外は別に数える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原配布でgoldが全て空の2,158行は、支持394・反証897・情報不足867件だった。情報不足だけに現れる欠測ではない。</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構築時の説明では、関連根拠がなかった5.6％の候補を棄却したとされる。現在の配布空欄を、その除外済み候補の件数に読み替えない。</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本資料の13例は非空goldのある独立した行を選び、各行の非空文を全て掲載した。検索文書全体は原票に保持し、スライドでは注釈根拠の範囲を示す。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THU-BPM. CHEF公式CHEF.tar.gz、train/dev/test原JSON。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https://drive.google.com/file/d/1QKe9i-yXDKh87p4ukRFSnzE03-hAzMto/view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論文表と、取得した配布の値の差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graphicFrame>
        <p:nvGraphicFramePr>
          <p:cNvPr id="4" name="Table 3"/>
          <p:cNvGraphicFramePr>
            <a:graphicFrameLocks noGrp="1"/>
          </p:cNvGraphicFramePr>
          <p:nvPr/>
        </p:nvGraphicFramePr>
        <p:xfrm>
          <a:off x="548640" y="1508760"/>
          <a:ext cx="8046720" cy="2263140"/>
        </p:xfrm>
        <a:graphic>
          <a:graphicData uri="http://schemas.openxmlformats.org/drawingml/2006/table">
            <a:tbl>
              <a:tblPr firstRow="0" bandRow="0"/>
              <a:tblGrid>
                <a:gridCol w="3474720"/>
                <a:gridCol w="2011680"/>
                <a:gridCol w="256032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論文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取得配布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train反証数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4,399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4,349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Jiaozhen由来</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56</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Cnews由来</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2,689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2,789</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Piyao由来</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3,741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3,741＋表記違い1</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領域の種類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5領域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6原表記（生活7件）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2676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不一致の理由は公開情報だけでは確定しない。全体10,000件とtrain計8,002件は一致する。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THU-BPM. CHEF公式CHEF.tar.gz、train/dev/test原JSON。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https://drive.google.com/file/d/1QKe9i-yXDKh87p4ukRFSnzE03-hAzMto/view</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IDと配布列を、独立に追える形で残す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claimIdを文字列にそろえると、10,000行の中で851行分が重複する。主張文字列にも369行分の重複がある。実例はsplit・行位置・claimId・レコードSHA-256で同定する。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Pipeline合成例の配列番号1127は、原trainの行番号128とは異なる（両方0始まり）。元のclaimIdは977。</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成都の元レコードのdomainは「文化」で、題材から推測して付け直していない。重複したgold文や原文の誤字も、原票のまま保持する。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BERT系：公開された固定比較（1/2）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根拠なし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54.46±2.89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52.49±2.44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62.07±2.55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60.61±2.96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Surface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63.17±1.67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61.47±2.02</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Semantic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63.47±1.71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61.94±1.66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Hybrid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63.29±1.65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61.80±2.31</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Snippets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63.76±1.52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61.74±1.88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BERT系：公開された固定比較（2/2）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Documents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64.37±1.65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62.46±1.72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62.78±1.41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61.98±2.59</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65.02±1.46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63.12±1.78</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64.45±1.68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62.52±2.23</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66.77±1.43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64.65±1.74</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Gold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78.99±0.82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77.62±1.02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Attention系：公開された固定比較（1/2）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根拠なし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54.87±1.95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53.47±2.82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62.42±2.31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60.24±2.56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Surface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63.77±1.89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62.65±2.32</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Semantic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63.95±1.46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62.80±1.33</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Hybrid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63.48±1.22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62.74±1.30</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Snippets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64.06±1.76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61.97±1.04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Attention系：公開された固定比較（2/2）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Documents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64.86±1.83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62.66±1.32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64.43±1.72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61.58±1.34</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65.45±1.59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62.94±2.03</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65.73±1.75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63.44±1.68</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67.62±1.48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64.81±1.26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Gold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79.18±1.07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78.36±1.40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Graph系：公開された固定比較（1/2）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根拠なし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62.78±1.70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61.06±2.59</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Surface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64.58±1.45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61.46±1.72</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Semantic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64.67±1.54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62.28±1.50</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Hybrid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64.37±1.66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62.58±1.43</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Snippets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65.77±1.23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62.34±1.11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Graph系：公開された固定比較（2/2）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Documents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66.58±1.45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63.47±1.58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66.21±1.57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63.15±1.46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67.46±1.72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64.31±1.81</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67.81±1.74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64.34±1.57</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69.12±1.13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65.26±1.67</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Gold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79.84±1.24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78.47±1.17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配布のラベル数を、短いコードで再集計する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sp>
        <p:nvSpPr>
          <p:cNvPr id="4" name="code-frame"/>
          <p:cNvSpPr/>
          <p:nvPr/>
        </p:nvSpPr>
        <p:spPr>
          <a:xfrm>
            <a:off x="548640" y="1572768"/>
            <a:ext cx="8046720" cy="1667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768" bIns="127000">
            <a:noAutofit/>
          </a:bodyPr>
          <a:lstStyle/>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Noto Sans"/>
              </a:rPr>
              <a:t>import json</a:t>
            </a:r>
          </a:p>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Noto Sans"/>
              </a:rPr>
              <a:t>from collections import Counter</a:t>
            </a:r>
          </a:p>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Noto Sans"/>
              </a:rPr>
              <a:t>with open("train.json", encoding="utf-8") as f:</a:t>
            </a:r>
          </a:p>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Noto Sans"/>
              </a:rPr>
              <a:t>    rows = json.load(f)</a:t>
            </a:r>
          </a:p>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Noto Sans"/>
              </a:rPr>
              <a:t>print(len(rows))</a:t>
            </a:r>
          </a:p>
          <a:p>
            <a:pPr algn="l">
              <a:lnSpc>
                <a:spcPts val="1989"/>
              </a:lnSpc>
              <a:spcBef>
                <a:spcPts val="0"/>
              </a:spcBef>
              <a:spcAft>
                <a:spcPts val="0"/>
              </a:spcAft>
              <a:buNone/>
              <a:defRPr sz="1700" b="0">
                <a:solidFill>
                  <a:srgbClr val="303437"/>
                </a:solidFill>
                <a:latin typeface="Noto Sans"/>
              </a:defRPr>
            </a:pPr>
            <a:r>
              <a:rPr sz="1700" b="0" lang="ja-JP" altLang="en-US">
                <a:solidFill>
                  <a:srgbClr val="303437"/>
                </a:solidFill>
                <a:latin typeface="Liberation Mono"/>
                <a:ea typeface="Noto Sans CJK JP"/>
                <a:cs typeface="Noto Sans"/>
              </a:rPr>
              <a:t>print(Counter(row["label"] for row in rows))</a:t>
            </a:r>
          </a:p>
        </p:txBody>
      </p:sp>
      <p:sp>
        <p:nvSpPr>
          <p:cNvPr id="5" name="TextBox 4"/>
          <p:cNvSpPr txBox="1"/>
          <p:nvPr/>
        </p:nvSpPr>
        <p:spPr>
          <a:xfrm>
            <a:off x="594360" y="3703320"/>
            <a:ext cx="7955279" cy="64008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実行結果：8,002件 ／ 0: 2,877、1: 4,349、2: 776。原配布JSONで実行して確認した。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CHEF公式CHEF.tar.gz、train/dev/test原JSON。</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公開範囲と権利の確認</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公式リポジトリの主配布はCHEF.tar.gz。2026年10月18日に38,326,111 bytesを取得し、原3JSONとアーカイブのSHA-256を保存した。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リポジトリ直下にデータ全体を明示するライセンスは見当たらない。Joint/LICENSEはJ. Bastings名義のMITで、取り込まれたコードの許諾を示す。</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主張と根拠は、元の事実検証・報道サイトに由来する。スライドは出典を伴う研究説明の引用で、日本語訳は本資料で作成した。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配布・注釈・評価の補足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CHEF公式配布。commit8909b3035c、2026-10-18取得。</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https://github.com/THU-BPM/CHEF</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中国語の検証基盤を、検索と推論へ広げる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Xuming Hu、Zhijiang Guo、Guanyu Wu、Aiwei Liu、Lijie Wen、Philip S. Yuが2022年に発表。第一著者HuとGuoは同等貢献と記される。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清華大学、ケンブリッジ大学、イリノイ大学シカゴ校の研究者による研究で、非英語の実在主張を検証する資源を整備した。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根拠を伴う中国語の検証資源を整備した研究であり、CHEFの主張は後にCLEVAの事実確認課題にも採用された。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Guo, Wu, Liu, Wen and Yu (2022). CHEF. NAACL-HLT, pp3362–3376.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53312"/>
            <a:ext cx="8046720" cy="353060"/>
          </a:xfrm>
          <a:prstGeom prst="rect">
            <a:avLst/>
          </a:prstGeom>
          <a:noFill/>
        </p:spPr>
        <p:txBody>
          <a:bodyPr wrap="square" lIns="0" rIns="0" tIns="0" bIns="0">
            <a:noAutofit/>
          </a:bodyPr>
          <a:lstStyle/>
          <a:p>
            <a:pPr algn="l">
              <a:lnSpc>
                <a:spcPts val="2480"/>
              </a:lnSpc>
              <a:spcBef>
                <a:spcPts val="0"/>
              </a:spcBef>
              <a:spcAft>
                <a:spcPts val="0"/>
              </a:spcAft>
              <a:buNone/>
              <a:defRPr sz="2000" b="0">
                <a:solidFill>
                  <a:srgbClr val="303437"/>
                </a:solidFill>
                <a:latin typeface="Noto Sans"/>
              </a:defRPr>
            </a:pPr>
            <a:r>
              <a:rPr sz="2000" b="1" lang="ja-JP" altLang="en-US">
                <a:solidFill>
                  <a:srgbClr val="303437"/>
                </a:solidFill>
                <a:latin typeface="Noto Sans CJK JP"/>
                <a:ea typeface="Noto Sans CJK JP"/>
                <a:cs typeface="Noto Sans CJK JP"/>
              </a:rPr>
              <a:t>CHEF: A Pilot Chinese Dataset for Evidence-Based Fact-Checking</a:t>
            </a:r>
          </a:p>
        </p:txBody>
      </p:sp>
      <p:sp>
        <p:nvSpPr>
          <p:cNvPr id="5" name="TextBox 4"/>
          <p:cNvSpPr txBox="1"/>
          <p:nvPr/>
        </p:nvSpPr>
        <p:spPr>
          <a:xfrm>
            <a:off x="548640" y="1757172"/>
            <a:ext cx="8046720" cy="234949"/>
          </a:xfrm>
          <a:prstGeom prst="rect">
            <a:avLst/>
          </a:prstGeom>
          <a:noFill/>
        </p:spPr>
        <p:txBody>
          <a:bodyPr wrap="square" lIns="0" rIns="0" tIns="0" bIns="0">
            <a:noAutofit/>
          </a:bodyPr>
          <a:lstStyle/>
          <a:p>
            <a:pPr algn="l">
              <a:lnSpc>
                <a:spcPts val="1550"/>
              </a:lnSpc>
              <a:spcBef>
                <a:spcPts val="0"/>
              </a:spcBef>
              <a:spcAft>
                <a:spcPts val="0"/>
              </a:spcAft>
              <a:buNone/>
              <a:defRPr sz="1250" b="0">
                <a:solidFill>
                  <a:srgbClr val="303437"/>
                </a:solidFill>
                <a:latin typeface="Noto Sans"/>
              </a:defRPr>
            </a:pPr>
            <a:r>
              <a:rPr sz="1250" b="0" lang="ja-JP" altLang="en-US">
                <a:solidFill>
                  <a:srgbClr val="626669"/>
                </a:solidFill>
                <a:latin typeface="Noto Sans CJK JP"/>
                <a:ea typeface="Noto Sans CJK JP"/>
                <a:cs typeface="Noto Sans CJK JP"/>
              </a:rPr>
              <a:t>Xuming Hu, Zhijiang Guo, Guanyu Wu, Aiwei Liu, Lijie Wen, Philip S. Yu · 2022 · NAACL-HLT, pp3362–3376</a:t>
            </a:r>
          </a:p>
        </p:txBody>
      </p:sp>
      <p:sp>
        <p:nvSpPr>
          <p:cNvPr id="6" name="TextBox 5"/>
          <p:cNvSpPr txBox="1"/>
          <p:nvPr/>
        </p:nvSpPr>
        <p:spPr>
          <a:xfrm>
            <a:off x="548640" y="2055621"/>
            <a:ext cx="8046720" cy="589279"/>
          </a:xfrm>
          <a:prstGeom prst="rect">
            <a:avLst/>
          </a:prstGeom>
          <a:noFill/>
        </p:spPr>
        <p:txBody>
          <a:bodyPr wrap="square" lIns="0" rIns="0" tIns="0" bIns="0">
            <a:noAutofit/>
          </a:bodyPr>
          <a:lstStyle/>
          <a:p>
            <a:pPr algn="l">
              <a:lnSpc>
                <a:spcPts val="2170"/>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CJK JP"/>
              </a:rPr>
              <a:t>中国語の実在主張、検索文書、注釈根拠を構築し、PipelineとJointの検証モデルを比較する。</a:t>
            </a:r>
          </a:p>
        </p:txBody>
      </p:sp>
      <p:sp>
        <p:nvSpPr>
          <p:cNvPr id="7" name="TextBox 6"/>
          <p:cNvSpPr txBox="1"/>
          <p:nvPr/>
        </p:nvSpPr>
        <p:spPr>
          <a:xfrm>
            <a:off x="548640" y="2695702"/>
            <a:ext cx="8046720" cy="219201"/>
          </a:xfrm>
          <a:prstGeom prst="rect">
            <a:avLst/>
          </a:prstGeom>
          <a:noFill/>
        </p:spPr>
        <p:txBody>
          <a:bodyPr wrap="square" lIns="0" rIns="0" tIns="0" bIns="0">
            <a:noAutofit/>
          </a:bodyPr>
          <a:lstStyle/>
          <a:p>
            <a:pPr algn="l">
              <a:lnSpc>
                <a:spcPts val="1426"/>
              </a:lnSpc>
              <a:spcBef>
                <a:spcPts val="0"/>
              </a:spcBef>
              <a:spcAft>
                <a:spcPts val="0"/>
              </a:spcAft>
              <a:buNone/>
              <a:defRPr sz="1150" b="0">
                <a:solidFill>
                  <a:srgbClr val="303437"/>
                </a:solidFill>
                <a:latin typeface="Noto Sans"/>
              </a:defRPr>
            </a:pPr>
            <a:r>
              <a:rPr sz="1150" b="0" lang="ja-JP" altLang="en-US">
                <a:solidFill>
                  <a:srgbClr val="626669"/>
                </a:solidFill>
                <a:latin typeface="Noto Sans CJK JP"/>
                <a:ea typeface="Noto Sans CJK JP"/>
                <a:cs typeface="Noto Sans CJK JP"/>
                <a:hlinkClick r:id="rId2"/>
              </a:rPr>
              <a:t>https://aclanthology.org/2022.naacl-main.246/</a:t>
            </a:r>
          </a:p>
        </p:txBody>
      </p:sp>
      <p:sp>
        <p:nvSpPr>
          <p:cNvPr id="8" name="TextBox 7"/>
          <p:cNvSpPr txBox="1"/>
          <p:nvPr/>
        </p:nvSpPr>
        <p:spPr>
          <a:xfrm>
            <a:off x="548640" y="3097784"/>
            <a:ext cx="8046720" cy="353060"/>
          </a:xfrm>
          <a:prstGeom prst="rect">
            <a:avLst/>
          </a:prstGeom>
          <a:noFill/>
        </p:spPr>
        <p:txBody>
          <a:bodyPr wrap="square" lIns="0" rIns="0" tIns="0" bIns="0">
            <a:noAutofit/>
          </a:bodyPr>
          <a:lstStyle/>
          <a:p>
            <a:pPr algn="l">
              <a:lnSpc>
                <a:spcPts val="2480"/>
              </a:lnSpc>
              <a:spcBef>
                <a:spcPts val="0"/>
              </a:spcBef>
              <a:spcAft>
                <a:spcPts val="0"/>
              </a:spcAft>
              <a:buNone/>
              <a:defRPr sz="2000" b="0">
                <a:solidFill>
                  <a:srgbClr val="303437"/>
                </a:solidFill>
                <a:latin typeface="Noto Sans"/>
              </a:defRPr>
            </a:pPr>
            <a:r>
              <a:rPr sz="2000" b="1" lang="ja-JP" altLang="en-US">
                <a:solidFill>
                  <a:srgbClr val="303437"/>
                </a:solidFill>
                <a:latin typeface="Noto Sans CJK JP"/>
                <a:ea typeface="Noto Sans CJK JP"/>
                <a:cs typeface="Noto Sans CJK JP"/>
              </a:rPr>
              <a:t>CHEF — official repository and dataset</a:t>
            </a:r>
          </a:p>
        </p:txBody>
      </p:sp>
      <p:sp>
        <p:nvSpPr>
          <p:cNvPr id="9" name="TextBox 8"/>
          <p:cNvSpPr txBox="1"/>
          <p:nvPr/>
        </p:nvSpPr>
        <p:spPr>
          <a:xfrm>
            <a:off x="548640" y="3501644"/>
            <a:ext cx="8046720" cy="234949"/>
          </a:xfrm>
          <a:prstGeom prst="rect">
            <a:avLst/>
          </a:prstGeom>
          <a:noFill/>
        </p:spPr>
        <p:txBody>
          <a:bodyPr wrap="square" lIns="0" rIns="0" tIns="0" bIns="0">
            <a:noAutofit/>
          </a:bodyPr>
          <a:lstStyle/>
          <a:p>
            <a:pPr algn="l">
              <a:lnSpc>
                <a:spcPts val="1550"/>
              </a:lnSpc>
              <a:spcBef>
                <a:spcPts val="0"/>
              </a:spcBef>
              <a:spcAft>
                <a:spcPts val="0"/>
              </a:spcAft>
              <a:buNone/>
              <a:defRPr sz="1250" b="0">
                <a:solidFill>
                  <a:srgbClr val="303437"/>
                </a:solidFill>
                <a:latin typeface="Noto Sans"/>
              </a:defRPr>
            </a:pPr>
            <a:r>
              <a:rPr sz="1250" b="0" lang="ja-JP" altLang="en-US">
                <a:solidFill>
                  <a:srgbClr val="626669"/>
                </a:solidFill>
                <a:latin typeface="Noto Sans CJK JP"/>
                <a:ea typeface="Noto Sans CJK JP"/>
                <a:cs typeface="Noto Sans CJK JP"/>
              </a:rPr>
              <a:t>THU-BPM · commit8909b3035c14437b55154a341060b6a1866c9ba1 · 2026-10-18取得</a:t>
            </a:r>
          </a:p>
        </p:txBody>
      </p:sp>
      <p:sp>
        <p:nvSpPr>
          <p:cNvPr id="10" name="TextBox 9"/>
          <p:cNvSpPr txBox="1"/>
          <p:nvPr/>
        </p:nvSpPr>
        <p:spPr>
          <a:xfrm>
            <a:off x="548640" y="3800094"/>
            <a:ext cx="8046720" cy="313690"/>
          </a:xfrm>
          <a:prstGeom prst="rect">
            <a:avLst/>
          </a:prstGeom>
          <a:noFill/>
        </p:spPr>
        <p:txBody>
          <a:bodyPr wrap="square" lIns="0" rIns="0" tIns="0" bIns="0">
            <a:noAutofit/>
          </a:bodyPr>
          <a:lstStyle/>
          <a:p>
            <a:pPr algn="l">
              <a:lnSpc>
                <a:spcPts val="2170"/>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CJK JP"/>
              </a:rPr>
              <a:t>原train/dev/testの配布リンクと、根拠選択・分類のモデル実装を公開する。</a:t>
            </a:r>
          </a:p>
        </p:txBody>
      </p:sp>
      <p:sp>
        <p:nvSpPr>
          <p:cNvPr id="11" name="TextBox 10"/>
          <p:cNvSpPr txBox="1"/>
          <p:nvPr/>
        </p:nvSpPr>
        <p:spPr>
          <a:xfrm>
            <a:off x="548640" y="4164584"/>
            <a:ext cx="8046720" cy="219201"/>
          </a:xfrm>
          <a:prstGeom prst="rect">
            <a:avLst/>
          </a:prstGeom>
          <a:noFill/>
        </p:spPr>
        <p:txBody>
          <a:bodyPr wrap="square" lIns="0" rIns="0" tIns="0" bIns="0">
            <a:noAutofit/>
          </a:bodyPr>
          <a:lstStyle/>
          <a:p>
            <a:pPr algn="l">
              <a:lnSpc>
                <a:spcPts val="1426"/>
              </a:lnSpc>
              <a:spcBef>
                <a:spcPts val="0"/>
              </a:spcBef>
              <a:spcAft>
                <a:spcPts val="0"/>
              </a:spcAft>
              <a:buNone/>
              <a:defRPr sz="1150" b="0">
                <a:solidFill>
                  <a:srgbClr val="303437"/>
                </a:solidFill>
                <a:latin typeface="Noto Sans"/>
              </a:defRPr>
            </a:pPr>
            <a:r>
              <a:rPr sz="1150" b="0" lang="ja-JP" altLang="en-US">
                <a:solidFill>
                  <a:srgbClr val="626669"/>
                </a:solidFill>
                <a:latin typeface="Noto Sans CJK JP"/>
                <a:ea typeface="Noto Sans CJK JP"/>
                <a:cs typeface="Noto Sans CJK JP"/>
                <a:hlinkClick r:id="rId3"/>
              </a:rPr>
              <a:t>https://github.com/THU-BPM/CHEF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53312"/>
            <a:ext cx="8046720" cy="353060"/>
          </a:xfrm>
          <a:prstGeom prst="rect">
            <a:avLst/>
          </a:prstGeom>
          <a:noFill/>
        </p:spPr>
        <p:txBody>
          <a:bodyPr wrap="square" lIns="0" rIns="0" tIns="0" bIns="0">
            <a:noAutofit/>
          </a:bodyPr>
          <a:lstStyle/>
          <a:p>
            <a:pPr algn="l">
              <a:lnSpc>
                <a:spcPts val="2480"/>
              </a:lnSpc>
              <a:spcBef>
                <a:spcPts val="0"/>
              </a:spcBef>
              <a:spcAft>
                <a:spcPts val="0"/>
              </a:spcAft>
              <a:buNone/>
              <a:defRPr sz="2000" b="0">
                <a:solidFill>
                  <a:srgbClr val="303437"/>
                </a:solidFill>
                <a:latin typeface="Noto Sans"/>
              </a:defRPr>
            </a:pPr>
            <a:r>
              <a:rPr sz="2000" b="1" lang="ja-JP" altLang="en-US">
                <a:solidFill>
                  <a:srgbClr val="303437"/>
                </a:solidFill>
                <a:latin typeface="Noto Sans CJK JP"/>
                <a:ea typeface="Noto Sans CJK JP"/>
                <a:cs typeface="Noto Sans CJK JP"/>
              </a:rPr>
              <a:t>CLEVA: Chinese Language Models EVAluation Platform</a:t>
            </a:r>
          </a:p>
        </p:txBody>
      </p:sp>
      <p:sp>
        <p:nvSpPr>
          <p:cNvPr id="5" name="TextBox 4"/>
          <p:cNvSpPr txBox="1"/>
          <p:nvPr/>
        </p:nvSpPr>
        <p:spPr>
          <a:xfrm>
            <a:off x="548640" y="1757172"/>
            <a:ext cx="8046720" cy="234949"/>
          </a:xfrm>
          <a:prstGeom prst="rect">
            <a:avLst/>
          </a:prstGeom>
          <a:noFill/>
        </p:spPr>
        <p:txBody>
          <a:bodyPr wrap="square" lIns="0" rIns="0" tIns="0" bIns="0">
            <a:noAutofit/>
          </a:bodyPr>
          <a:lstStyle/>
          <a:p>
            <a:pPr algn="l">
              <a:lnSpc>
                <a:spcPts val="1550"/>
              </a:lnSpc>
              <a:spcBef>
                <a:spcPts val="0"/>
              </a:spcBef>
              <a:spcAft>
                <a:spcPts val="0"/>
              </a:spcAft>
              <a:buNone/>
              <a:defRPr sz="1250" b="0">
                <a:solidFill>
                  <a:srgbClr val="303437"/>
                </a:solidFill>
                <a:latin typeface="Noto Sans"/>
              </a:defRPr>
            </a:pPr>
            <a:r>
              <a:rPr sz="1250" b="0" lang="ja-JP" altLang="en-US">
                <a:solidFill>
                  <a:srgbClr val="626669"/>
                </a:solidFill>
                <a:latin typeface="Noto Sans CJK JP"/>
                <a:ea typeface="Noto Sans CJK JP"/>
                <a:cs typeface="Noto Sans CJK JP"/>
              </a:rPr>
              <a:t>Yanyang Li et al. · 2023 · EMNLP System Demonstrations, pp186–217</a:t>
            </a:r>
          </a:p>
        </p:txBody>
      </p:sp>
      <p:sp>
        <p:nvSpPr>
          <p:cNvPr id="6" name="TextBox 5"/>
          <p:cNvSpPr txBox="1"/>
          <p:nvPr/>
        </p:nvSpPr>
        <p:spPr>
          <a:xfrm>
            <a:off x="548640" y="2055621"/>
            <a:ext cx="8046720" cy="589279"/>
          </a:xfrm>
          <a:prstGeom prst="rect">
            <a:avLst/>
          </a:prstGeom>
          <a:noFill/>
        </p:spPr>
        <p:txBody>
          <a:bodyPr wrap="square" lIns="0" rIns="0" tIns="0" bIns="0">
            <a:noAutofit/>
          </a:bodyPr>
          <a:lstStyle/>
          <a:p>
            <a:pPr algn="l">
              <a:lnSpc>
                <a:spcPts val="2170"/>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CJK JP"/>
              </a:rPr>
              <a:t>中国語モデルを多様な課題で評価するプラットフォームで、事実確認の素材にCHEFを採用する。</a:t>
            </a:r>
          </a:p>
        </p:txBody>
      </p:sp>
      <p:sp>
        <p:nvSpPr>
          <p:cNvPr id="7" name="TextBox 6"/>
          <p:cNvSpPr txBox="1"/>
          <p:nvPr/>
        </p:nvSpPr>
        <p:spPr>
          <a:xfrm>
            <a:off x="548640" y="2695702"/>
            <a:ext cx="8046720" cy="219201"/>
          </a:xfrm>
          <a:prstGeom prst="rect">
            <a:avLst/>
          </a:prstGeom>
          <a:noFill/>
        </p:spPr>
        <p:txBody>
          <a:bodyPr wrap="square" lIns="0" rIns="0" tIns="0" bIns="0">
            <a:noAutofit/>
          </a:bodyPr>
          <a:lstStyle/>
          <a:p>
            <a:pPr algn="l">
              <a:lnSpc>
                <a:spcPts val="1426"/>
              </a:lnSpc>
              <a:spcBef>
                <a:spcPts val="0"/>
              </a:spcBef>
              <a:spcAft>
                <a:spcPts val="0"/>
              </a:spcAft>
              <a:buNone/>
              <a:defRPr sz="1150" b="0">
                <a:solidFill>
                  <a:srgbClr val="303437"/>
                </a:solidFill>
                <a:latin typeface="Noto Sans"/>
              </a:defRPr>
            </a:pPr>
            <a:r>
              <a:rPr sz="1150" b="0" lang="ja-JP" altLang="en-US">
                <a:solidFill>
                  <a:srgbClr val="626669"/>
                </a:solidFill>
                <a:latin typeface="Noto Sans CJK JP"/>
                <a:ea typeface="Noto Sans CJK JP"/>
                <a:cs typeface="Noto Sans CJK JP"/>
                <a:hlinkClick r:id="rId2"/>
              </a:rPr>
              <a:t>https://aclanthology.org/2023.emnlp-demo.17/</a:t>
            </a:r>
          </a:p>
        </p:txBody>
      </p:sp>
      <p:sp>
        <p:nvSpPr>
          <p:cNvPr id="8" name="TextBox 7"/>
          <p:cNvSpPr txBox="1"/>
          <p:nvPr/>
        </p:nvSpPr>
        <p:spPr>
          <a:xfrm>
            <a:off x="548640" y="3097784"/>
            <a:ext cx="8046720" cy="353060"/>
          </a:xfrm>
          <a:prstGeom prst="rect">
            <a:avLst/>
          </a:prstGeom>
          <a:noFill/>
        </p:spPr>
        <p:txBody>
          <a:bodyPr wrap="square" lIns="0" rIns="0" tIns="0" bIns="0">
            <a:noAutofit/>
          </a:bodyPr>
          <a:lstStyle/>
          <a:p>
            <a:pPr algn="l">
              <a:lnSpc>
                <a:spcPts val="2480"/>
              </a:lnSpc>
              <a:spcBef>
                <a:spcPts val="0"/>
              </a:spcBef>
              <a:spcAft>
                <a:spcPts val="0"/>
              </a:spcAft>
              <a:buNone/>
              <a:defRPr sz="2000" b="0">
                <a:solidFill>
                  <a:srgbClr val="303437"/>
                </a:solidFill>
                <a:latin typeface="Noto Sans"/>
              </a:defRPr>
            </a:pPr>
            <a:r>
              <a:rPr sz="2000" b="1" lang="ja-JP" altLang="en-US">
                <a:solidFill>
                  <a:srgbClr val="303437"/>
                </a:solidFill>
                <a:latin typeface="Noto Sans CJK JP"/>
                <a:ea typeface="Noto Sans CJK JP"/>
                <a:cs typeface="Noto Sans CJK JP"/>
              </a:rPr>
              <a:t>CLEVAFactCheckingScenario</a:t>
            </a:r>
          </a:p>
        </p:txBody>
      </p:sp>
      <p:sp>
        <p:nvSpPr>
          <p:cNvPr id="9" name="TextBox 8"/>
          <p:cNvSpPr txBox="1"/>
          <p:nvPr/>
        </p:nvSpPr>
        <p:spPr>
          <a:xfrm>
            <a:off x="548640" y="3501644"/>
            <a:ext cx="8046720" cy="234949"/>
          </a:xfrm>
          <a:prstGeom prst="rect">
            <a:avLst/>
          </a:prstGeom>
          <a:noFill/>
        </p:spPr>
        <p:txBody>
          <a:bodyPr wrap="square" lIns="0" rIns="0" tIns="0" bIns="0">
            <a:noAutofit/>
          </a:bodyPr>
          <a:lstStyle/>
          <a:p>
            <a:pPr algn="l">
              <a:lnSpc>
                <a:spcPts val="1550"/>
              </a:lnSpc>
              <a:spcBef>
                <a:spcPts val="0"/>
              </a:spcBef>
              <a:spcAft>
                <a:spcPts val="0"/>
              </a:spcAft>
              <a:buNone/>
              <a:defRPr sz="1250" b="0">
                <a:solidFill>
                  <a:srgbClr val="303437"/>
                </a:solidFill>
                <a:latin typeface="Noto Sans"/>
              </a:defRPr>
            </a:pPr>
            <a:r>
              <a:rPr sz="1250" b="0" lang="ja-JP" altLang="en-US">
                <a:solidFill>
                  <a:srgbClr val="626669"/>
                </a:solidFill>
                <a:latin typeface="Noto Sans CJK JP"/>
                <a:ea typeface="Noto Sans CJK JP"/>
                <a:cs typeface="Noto Sans CJK JP"/>
              </a:rPr>
              <a:t>Stanford CRFM · HELM v0.4.0 · Python実装</a:t>
            </a:r>
          </a:p>
        </p:txBody>
      </p:sp>
      <p:sp>
        <p:nvSpPr>
          <p:cNvPr id="10" name="TextBox 9"/>
          <p:cNvSpPr txBox="1"/>
          <p:nvPr/>
        </p:nvSpPr>
        <p:spPr>
          <a:xfrm>
            <a:off x="548640" y="3800094"/>
            <a:ext cx="8046720" cy="589279"/>
          </a:xfrm>
          <a:prstGeom prst="rect">
            <a:avLst/>
          </a:prstGeom>
          <a:noFill/>
        </p:spPr>
        <p:txBody>
          <a:bodyPr wrap="square" lIns="0" rIns="0" tIns="0" bIns="0">
            <a:noAutofit/>
          </a:bodyPr>
          <a:lstStyle/>
          <a:p>
            <a:pPr algn="l">
              <a:lnSpc>
                <a:spcPts val="2170"/>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CJK JP"/>
              </a:rPr>
              <a:t>CLEVA形式の事実確認課題をHELMへ適用し、金星の主張を使った選択式の公開例を示す。</a:t>
            </a:r>
          </a:p>
        </p:txBody>
      </p:sp>
      <p:sp>
        <p:nvSpPr>
          <p:cNvPr id="11" name="TextBox 10"/>
          <p:cNvSpPr txBox="1"/>
          <p:nvPr/>
        </p:nvSpPr>
        <p:spPr>
          <a:xfrm>
            <a:off x="548640" y="4440174"/>
            <a:ext cx="8046720" cy="219201"/>
          </a:xfrm>
          <a:prstGeom prst="rect">
            <a:avLst/>
          </a:prstGeom>
          <a:noFill/>
        </p:spPr>
        <p:txBody>
          <a:bodyPr wrap="square" lIns="0" rIns="0" tIns="0" bIns="0">
            <a:noAutofit/>
          </a:bodyPr>
          <a:lstStyle/>
          <a:p>
            <a:pPr algn="l">
              <a:lnSpc>
                <a:spcPts val="1426"/>
              </a:lnSpc>
              <a:spcBef>
                <a:spcPts val="0"/>
              </a:spcBef>
              <a:spcAft>
                <a:spcPts val="0"/>
              </a:spcAft>
              <a:buNone/>
              <a:defRPr sz="1150" b="0">
                <a:solidFill>
                  <a:srgbClr val="303437"/>
                </a:solidFill>
                <a:latin typeface="Noto Sans"/>
              </a:defRPr>
            </a:pPr>
            <a:r>
              <a:rPr sz="1150" b="0" lang="ja-JP" altLang="en-US">
                <a:solidFill>
                  <a:srgbClr val="626669"/>
                </a:solidFill>
                <a:latin typeface="Noto Sans CJK JP"/>
                <a:ea typeface="Noto Sans CJK JP"/>
                <a:cs typeface="Noto Sans CJK JP"/>
                <a:hlinkClick r:id="rId3"/>
              </a:rPr>
              <a:t>https://github.com/stanford-crfm/helm/blob/v0.4.0/src/helm/benchmark/scenarios/cleva_scenario.py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2026-10-18T09:47:11Z</dcterms:modified>
  <dc:title>chef</dc:title>
  <dc:creator>sasakiy84</dc:creator>
  <dcterms:created xsi:type="dcterms:W3CDTF">2026-10-18T09:47:11Z</dcterms:created>
  <dc:language>ja-JP</dc:language>
</cp:coreProperties>
</file>