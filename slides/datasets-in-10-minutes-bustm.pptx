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302" r:id="rId52"/>
    <p:sldId id="303" r:id="rId53"/>
    <p:sldId id="305" r:id="rId55"/>
    <p:sldId id="306" r:id="rId56"/>
    <p:sldId id="307" r:id="rId57"/>
    <p:sldId id="309" r:id="rId5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9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xiaobu-coai/BUST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iaobu-coai/BUST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iaobu-coai/BUST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iaobu-coai/BUSTM" TargetMode="External"/><Relationship Id="rId3" Type="http://schemas.openxmlformats.org/officeDocument/2006/relationships/hyperlink" Target="https://arxiv.org/abs/2107.074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/tree/62a02c6f31cf32814cfe522f78ef088228840f8d/datasets/bustm" TargetMode="External"/><Relationship Id="rId4" Type="http://schemas.openxmlformats.org/officeDocument/2006/relationships/hyperlink" Target="https://github.com/CLUEbenchmark/FewCLUE/tree/main/datasets/bust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blob/62a02c6f31cf32814cfe522f78ef088228840f8d/README.md" TargetMode="External"/><Relationship Id="rId3" Type="http://schemas.openxmlformats.org/officeDocument/2006/relationships/hyperlink" Target="https://github.com/CLUEbenchmark/FewCLUE/blob/main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/tree/62a02c6f31cf32814cfe522f78ef088228840f8d/datasets/bustm" TargetMode="External"/><Relationship Id="rId4" Type="http://schemas.openxmlformats.org/officeDocument/2006/relationships/hyperlink" Target="https://github.com/CLUEbenchmark/FewCLUE/tree/main/datasets/bust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/blob/62a02c6f31cf32814cfe522f78ef088228840f8d/README.md" TargetMode="External"/><Relationship Id="rId4" Type="http://schemas.openxmlformats.org/officeDocument/2006/relationships/hyperlink" Target="https://github.com/CLUEbenchmark/FewCLUE/blob/main/README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baselines/models_keras/pet/pet_bustm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iaobu-coai/BUSTM" TargetMode="External"/><Relationship Id="rId3" Type="http://schemas.openxmlformats.org/officeDocument/2006/relationships/hyperlink" Target="https://github.com/CLUEbenchmark/FewCLUE/blob/62a02c6f31cf32814cfe522f78ef088228840f8d/README.md" TargetMode="External"/><Relationship Id="rId4" Type="http://schemas.openxmlformats.org/officeDocument/2006/relationships/hyperlink" Target="https://github.com/CLUEbenchmark/FewCLUE/blob/main/README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aclanthology.org/2023.emnlp-demo.17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62a02c6f31cf32814cfe522f78ef088228840f8d/datasets/bustm" TargetMode="External"/><Relationship Id="rId3" Type="http://schemas.openxmlformats.org/officeDocument/2006/relationships/hyperlink" Target="https://github.com/CLUEbenchmark/FewCLUE/tree/main/datasets/bust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iaobu-coai/BUSTM" TargetMode="External"/><Relationship Id="rId3" Type="http://schemas.openxmlformats.org/officeDocument/2006/relationships/hyperlink" Target="https://arxiv.org/abs/2107.07498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bustm" TargetMode="External"/><Relationship Id="rId3" Type="http://schemas.openxmlformats.org/officeDocument/2006/relationships/hyperlink" Target="https://github.com/CLUEbenchmark/FewCLUE/blob/main/README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baselines/models_keras/pet/pet_bustm.py" TargetMode="External"/><Relationship Id="rId3" Type="http://schemas.openxmlformats.org/officeDocument/2006/relationships/hyperlink" Target="https://github.com/stanford-crfm/helm/blob/v0.4.0/src/helm/benchmark/presentation/run_specs_cleva_v1.con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OPPO XiaoBu Dialogue Short Text Matching Dataset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小布助手の短い発話から、意味の一致を判定する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公式公開元：OPPO小布助手のBUSTM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BUSTM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1481328"/>
            <a:ext cx="4901184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https://github.com/xiaobu-coai/BUSTM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二つの発話が同じ意味かを判定する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少数の学習例と複数の分割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正解率と2021年の到達水準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公開配布と利用条件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二つの発話が同じ意味かを判定する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入力は二つの発話、答えは「同じ意味」かどうか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BUSTMは、OPPOの音声アシスタント「小布助手」に由来する、短文の意味照合データ。口語の二つの発話を読み、意味が一致するなら1、一致しないなら0を返す。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同じ操作の言い換えを見分けることは、利用者の意図を認識するために役立つ。話題や語句が似た発話から、依頼や質問の違いを読み取る。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実例1：言い方が違っても、怒りっぽさを尋ねる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你的火气大吗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你火气大不大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あなたは怒りっぽい？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あなたは怒りっぽいの？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語尾や語順が違っても、問う内容は同じ。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実例2：「歌って」と「曲を流して」を分ける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给我唱首歌吧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放首歌给我们听听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私に歌を1曲歌って。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私たちに曲を1曲流して。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歌う動作と、音楽を再生する動作の違い。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実例3：通話中に画面が暗くなる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通话时黑屏黑屏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手机通话时黑屏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通話中に画面が真っ暗、真っ暗。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携帯電話で通話中に画面が真っ暗になる。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繰り返しや言い換えがあっても、同じ症状を伝える。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同じ話題でも、求める動作や時間を見分ける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「歌ってほしい」と「曲を流してほしい」は、音楽の話でも求める動作が違う。「けがをしそう」と「すでにけがをした」では、出来事が起きたかどうかが変わる。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入力には語順の崩れ、繰り返し、短い名詞句もある。口語の意図を、短い文字列から読み取る課題である。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二つの発話が同じ意味かを判定する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少数の学習例と複数の分割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元の会話サービスから、少数例の評価へ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78638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小布助手は、スマートフォンやIoT機器に対する依頼・質問の意図を認識する。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BUSTMは、このような短い口語の発話を二つずつ組にし、意味が一致するかをラベルで示す。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FewCLUEは、32件の学習例を使う少数例学習の課題としてBUSTMを採用した。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32件の学習例で、意味の対応を学べるかを調べる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教師ありデータを大量に用意しにくい実務上の課題を受け、OPPOは2021年にBUSTMを公開した。FewCLUEは、中国語の少数例学習を比べる九つの課題の一つに採用した。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BUSTMでは、意味が一致する対と一致しない対を合わせて32件の学習例を用いる。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学習・開発は32件、評価は千件単位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077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468880"/>
                <a:gridCol w="2560320"/>
              </a:tblGrid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train_0〜4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dev_0〜4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unlabeled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4,251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8754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train_few_allとdev_few_allは、五つの小集合をまとめた各160件の配布。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公開テストと、提出用テストを使い分ける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test_public.jsonは正解を含み、研究用の実験に使える。test.jsonは入力のみで、2021年のコンテストでは予測結果を提出して評価を受ける集合だった。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学習・開発には五つの組があり、少数の例の選ばれ方による性能の揺れを調べられる。コンテスト第2段階では、五つの組とそれらをまとめたallの計六つの学習条件で評価した。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README.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1行に二つの発話と正解ラベルを収める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968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"id": 35,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"sentence1": "你的火气大吗",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"sentence2": "你火气大不大",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"label": "1"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78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sentence1とsentence2が二つの発話。labelは文字列の"0"（不一致）または"1"（一致）。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公開テストは、二つのラベルが同数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少数の学習例と複数の分割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671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0：不一致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1：一致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train_few_all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dev_few_all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9179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395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学習・開発のラベルの割合は、組ごとに異なる。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正解率と2021年の到達水準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正解率は、ラベルを正しく予測した発話対の割合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二つの発話から0または1を予測し、正解ラベルと一致した件数を、評価した発話対の数で割る。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公開テストは1,772対で、二つのラベルが同数ある。いつも同じラベルを予測する方法の正解率は50%。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少数例のEFLは71.8%、直接微調整は60.7%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92324"/>
        </p:xfrm>
        <a:graphic>
          <a:graphicData uri="http://schemas.openxmlformats.org/drawingml/2006/table">
            <a:tbl>
              <a:tblPr firstRow="0" bandRow="0"/>
              <a:tblGrid>
                <a:gridCol w="5394960"/>
                <a:gridCol w="2651760"/>
              </a:tblGrid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2021年の方式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BUSTM Accuracy (%)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一定ラベル（Majority）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RoBERTa・ゼロショット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RoBERTa・直接微調整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P-tuning・RoBERTa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03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2909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2021年の公開テスト正解率。学習する方式は少数例を使う。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README.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予測の形式を変えて、少数例を生かす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PETは二つの発話の関係を穴埋め形式に直し、同じ意味かを表す語を予測する。P-tuningは、学習可能なプロンプト表現を加えてモデルを適応させる。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EFLは各課題を含意判定へ直す方式。中国語へ翻訳した自然言語推論データCMNLIで先に学習し、その後に少数例で微調整する。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基盤モデルが変わると、方式ごとの結果も変わる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320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方式（2021年）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ERNIE 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直接微調整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6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6877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13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BUSTMの正解率（%）。RoBERTa側はchinese_roberta_wwm_extを使用。EFLの結果は、基盤モデルによって71.8%と54.6%に分かれる。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人間評価は88%、各注釈者が100問を解く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人間評価では、開発例30〜50件で正解と照らして議論した後、各注釈者がテスト例100件を解いた。BUSTMで報告された正解率は88%。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モデルの公開テスト1,772件に対し、人間は各100問で評価した結果である。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公式PET実装は「相／不」を予測する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正解率と2021年の到達水準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3174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入力：sentence1 + "和" + sentence2 + "意思[MASK]同"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label = "1"  →  "相"  →  意思相同（同じ意味）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label = "0"  →  "不"  →  意思不同（異なる意味）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75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二つの発話をつなぐ文の穴を埋め、「同じ意味」か「異なる意味」かを予測する。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pet_bustm.py、BUSTM向け穴埋め形式・ラベル・採点の実装。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https://github.com/CLUEbenchmark/FewCLUE/blob/main/baselines/models_keras/pet/pet_bustm.py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公開配布と利用条件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公開配布と利用条件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公式配布から入手でき、利用条件の確認が必要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OPPOの公式リポジトリは、FewCLUEでのBUSTM配布を案内し、2021年のデータセットの引用方法を示している。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OPPOのリポジトリにはライセンスが明示されていない。FewCLUEのREADMEでも、ライセンス欄は「追加中」とされている。再利用・再配布の条件は配布元へ確認する。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公開配布と利用条件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OPPO XiaoBu Conversational-AI Center (2021). BUSTM: OPPO XiaoBu Dialogue Short Text Matching Dataset.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(2021). FewCLUE — README.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まとめ：口語の意味を、少数例で照合する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BUSTMは、小布助手に由来する短い中国語発話対の二値判定データ。言い換え、異なる操作、時点や欲求の違いを扱い、学習・開発を各32件から始める。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FewCLUEの公開テストは1,772件。2021年のEFLの報告正解率は71.8%で、各100問を解いた人間評価は88%。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公開配布と利用条件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arXiv:2107.07498v2.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追加10対の原文と日本語訳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入力の読み方と利用例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実例4：好意と問いかけを含む二つの発話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我喜欢你那你喜欢我吗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你喜欢我不我也喜欢你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6442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私はあなたが好き。あなたは私が好き？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私のことが好き？私もあなたが好き。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どちらも好意と問いかけを含むが、この対の正解ラベルは0。判断理由や対話履歴は付いていない。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実例5：音声アシスタントを替えたい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请求换一个语音助手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能不能换一个语音助手？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音声アシスタントの変更をお願いします。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音声アシスタントを変更できる？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依頼の表し方が変わっても、求める操作は同じ。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実例6：音声で答えてほしい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用语音来回答我你可以吗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你可以用语音回答我吗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音声で答えてもらえますか。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音声で答えてくれますか。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語順が違う、音声による応答の依頼。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実例7：同じ単位換算でも、問う量は違う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六十平方千米等于多少公顷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一吨等于多少千克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60平方キロメートルは何ヘクタール？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1トンは何キログラム？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換算という話題だけでは、同じ内容の問いにならない。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実例8：これからと、すでに起きたこと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我刚要受伤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我已经受伤了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私は今にもけがをしそうだ。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私はもうけがをしている。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けがが起きる前と、起きた後の違い。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実例9：好みと、そのときの欲求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我爱吃苹果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我想吃苹果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私はリンゴを食べるのが好きだ。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私はリンゴを食べたい。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食べるのが好きなことと、食べたいという欲求は同じ意味ではない。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実例10：連絡先の復元と、重複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手机联系人恢复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手机重复联系人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携帯電話の連絡先を復元する。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携帯電話の連絡先が重複している。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同じ連絡先という語を含んでも、問題と操作が異なる。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実例11：ボタンを特定する問いか、名詞句か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下面三个按钮，哪一个是菜单键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下面那三个按钮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下の三つのボタンのうち、どれがメニューボタン？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下のあの三つのボタン。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同じボタンを指しても、名詞句だけではメニューボタンを尋ねたことにならない。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実例12：崩れた語順を読み取る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聊什么你想和我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你想和我聊些什么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何を話したいの、私と。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私と何を話したいの？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正解：1（意味が一致する）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口語的に崩れた語順も収録されている。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実例13：表現そのものと、その意味を尋ねる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追加10対の原文と日本語訳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71016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中国語原文：二つの発話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7101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45920"/>
            <a:ext cx="3474720" cy="106849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阿伟死了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阿伟死了是什么梗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645920"/>
            <a:ext cx="4389120" cy="1356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「アーウェイが死んだ」。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「アーウェイが死んだ」とは、どういうネットのネタ？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正解：0（意味が一致しない）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7083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61"/>
              </a:lnSpc>
              <a:spcBef>
                <a:spcPts val="0"/>
              </a:spcBef>
              <a:spcAft>
                <a:spcPts val="0"/>
              </a:spcAft>
              <a:buNone/>
              <a:defRPr sz="1420" b="0">
                <a:solidFill>
                  <a:srgbClr val="303437"/>
                </a:solidFill>
                <a:latin typeface="Noto Sans"/>
              </a:defRPr>
            </a:pPr>
            <a:r>
              <a:rPr sz="14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同じ語句の使用と、その語句についての質問を分ける。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818888"/>
            <a:ext cx="81838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入力の読み方と利用例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入力の読み方と利用例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JSONLから二つの発話と正解を読み出す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入力の読み方と利用例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(2021). FewCLUE — BUSTM.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https://github.com/CLUEbenchmark/FewCLUE/tree/main/datasets/bustm</a:t>
            </a:r>
          </a:p>
        </p:txBody>
      </p:sp>
      <p:sp>
        <p:nvSpPr>
          <p:cNvPr id="7" name="code-frame"/>
          <p:cNvSpPr txBox="1"/>
          <p:nvPr/>
        </p:nvSpPr>
        <p:spPr>
          <a:xfrm>
            <a:off x="594360" y="1568069"/>
            <a:ext cx="8046720" cy="1979803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54991" bIns="114300">
            <a:spAutoFit/>
          </a:bodyPr>
          <a:lstStyle/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import json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with open("train_0.json", encoding="utf-8") as f: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    pair = json.loads(next(f))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print(pair["sentence1"])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print(pair["sentence2"])</a:t>
            </a:r>
          </a:p>
          <a:p>
            <a:pPr>
              <a:lnSpc>
                <a:spcPct val="115000"/>
              </a:lnSpc>
              <a:defRPr sz="1700">
                <a:latin typeface="Noto Sans Mono CJK JP"/>
              </a:defRPr>
            </a:pPr>
            <a:r>
              <a:t>print("正解:", pair["label"])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49039"/>
            <a:ext cx="7955279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>
                <a:latin typeface="Noto Sans CJK JP"/>
              </a:defRPr>
            </a:pPr>
            <a:r>
              <a:t>train_0.jsonは1行に1対のJSONを収める。最初の発話対と、その正解ラベルを表示する。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応用例：二つの発話を二択で尋ねる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入力の読み方と利用例</a:t>
            </a:r>
          </a:p>
        </p:txBody>
      </p:sp>
      <p:sp>
        <p:nvSpPr>
          <p:cNvPr id="4" name="quote-frame"/>
          <p:cNvSpPr/>
          <p:nvPr/>
        </p:nvSpPr>
        <p:spPr>
          <a:xfrm>
            <a:off x="548640" y="1463040"/>
            <a:ext cx="3474720" cy="19083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下面这两个句子表达的意思是相同的吗？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我喜欢你那你喜欢我吗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你喜欢我不我也喜欢你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不是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是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5" name="quote-frame"/>
          <p:cNvSpPr/>
          <p:nvPr/>
        </p:nvSpPr>
        <p:spPr>
          <a:xfrm>
            <a:off x="4206240" y="1463040"/>
            <a:ext cx="4389120" cy="16628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次の二つの文は同じ意味を表している？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私はあなたが好き。あなたは私が好き？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私のことが好き？私もあなたが好き。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いいえ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はい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60520"/>
            <a:ext cx="786384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正解：A（いいえ）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CLEVAParaphraseIdentificationScenario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USTM: OPPO XiaoBu Dialogue Short Text Matching Dataset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BUSTM: OPPO XiaoBu Dialogue Short Text Matching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OPPO XiaoBu Conversational-AI Center · 2021 · 公式公開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スマートフォンとIoT機器向けアシスタントの短文意味照合データ。FewCLUE配布へのリンクと引用方法を示す。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https://github.com/xiaobu-coai/BUSTM</a:t>
            </a:r>
          </a:p>
        </p:txBody>
      </p:sp>
      <p:sp>
        <p:nvSpPr>
          <p:cNvPr id="5" name="文献 2: FewCLUE: A Chinese Few-shot Learning Evaluation Benchmark"/>
          <p:cNvSpPr txBox="1"/>
          <p:nvPr/>
        </p:nvSpPr>
        <p:spPr>
          <a:xfrm>
            <a:off x="548640" y="3040507"/>
            <a:ext cx="8046720" cy="17553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A Chinese Few-shot Learning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Liang Xu, Xiaojing Lu, Chenyang Yuan, Xuanwei Zhang, Huilin Xu, Hu Yuan, Guoao Wei, Xiang Pan, Xin Tian, Libo Qin, Hai Hu · 2021 · arXiv:2107.07498v2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中国語の九つの少数例学習課題と、直接微調整・穴埋め形式・含意判定などの比較を報告する。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FewCLUE — Official Dataset Distribution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 — Official Dataset Distribution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2021 · 公式配布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32件ずつの学習・開発組、公開正解付きテスト、提出用入力、未ラベル対をJSONL形式で公開する。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https://github.com/CLUEbenchmark/FewCLUE/tree/main/datasets/bustm</a:t>
            </a:r>
          </a:p>
        </p:txBody>
      </p:sp>
      <p:sp>
        <p:nvSpPr>
          <p:cNvPr id="5" name="文献 2: FewCLUE — README and Evaluation Protocol"/>
          <p:cNvSpPr txBox="1"/>
          <p:nvPr/>
        </p:nvSpPr>
        <p:spPr>
          <a:xfrm>
            <a:off x="548640" y="3040507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 — README and Evaluation Protocol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2021年の実験・コンテスト条件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公開テストと提出用テストの役割、複数学習条件の提出、人間評価とモデル比較、ライセンス欄を示す。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https://github.com/CLUEbenchmark/FewCLUE/blob/main/README.md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pet_bustm.py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pet_bustm.py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(n.d.). FewCLUE公式実装。参照2026-10-19。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発話対を穴埋め文に変え、「相」「不」のラベル語を予測する。学習・開発・公開テストの読込と採点を実装する。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https://github.com/CLUEbenchmark/FewCLUE/blob/main/baselines/models_keras/pet/pet_bustm.py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2026-10-18T10:09:17Z</dcterms:modified>
  <dc:title>bustm</dc:title>
  <dc:creator>sasakiy84</dc:creator>
  <dcterms:created xsi:type="dcterms:W3CDTF">2026-10-18T10:09:17Z</dcterms:created>
  <dc:language>ja-JP</dc:language>
</cp:coreProperties>
</file>