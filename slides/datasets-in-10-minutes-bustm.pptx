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xiaobu-coai/BUST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xiaobu-coai/BUST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iaobu-coai/BUST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xiaobu-coai/BUSTM" TargetMode="External"/><Relationship Id="rId3" Type="http://schemas.openxmlformats.org/officeDocument/2006/relationships/hyperlink" Target="https://arxiv.org/abs/2107.07498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7.07498" TargetMode="External"/><Relationship Id="rId3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/blob/62a02c6f31cf32814cfe522f78ef088228840f8d/README.m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7.07498" TargetMode="External"/><Relationship Id="rId3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7.07498" TargetMode="External"/><Relationship Id="rId3" Type="http://schemas.openxmlformats.org/officeDocument/2006/relationships/hyperlink" Target="https://github.com/CLUEbenchmark/FewCLUE/blob/62a02c6f31cf32814cfe522f78ef088228840f8d/README.md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7.07498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7.07498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7.07498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blob/main/baselines/models_keras/pet/pet_bustm.py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cleva_scenario.py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xiaobu-coai/BUSTM" TargetMode="External"/><Relationship Id="rId3" Type="http://schemas.openxmlformats.org/officeDocument/2006/relationships/hyperlink" Target="https://github.com/CLUEbenchmark/FewCLUE/blob/62a02c6f31cf32814cfe522f78ef088228840f8d/README.md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7.07498" TargetMode="External"/><Relationship Id="rId3" Type="http://schemas.openxmlformats.org/officeDocument/2006/relationships/hyperlink" Target="https://aclanthology.org/2023.emnlp-demo.17/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scenarios/cleva_scenario.py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/tree/62a02c6f31cf32814cfe522f78ef088228840f8d/datasets/bustm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iaobu-coai/BUSTM" TargetMode="External"/><Relationship Id="rId3" Type="http://schemas.openxmlformats.org/officeDocument/2006/relationships/hyperlink" Target="https://arxiv.org/abs/2107.07498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bustm" TargetMode="External"/><Relationship Id="rId3" Type="http://schemas.openxmlformats.org/officeDocument/2006/relationships/hyperlink" Target="https://github.com/CLUEbenchmark/FewCLUE/blob/62a02c6f31cf32814cfe522f78ef088228840f8d/README.md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blob/main/baselines/models_keras/pet/pet_bustm.py" TargetMode="External"/><Relationship Id="rId3" Type="http://schemas.openxmlformats.org/officeDocument/2006/relationships/hyperlink" Target="https://github.com/stanford-crfm/helm/blob/v0.4.0/src/helm/benchmark/presentation/run_specs_cleva_v1.con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BUSTM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OPPO XiaoBu Dialogue Short Text Matching Dataset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小布助手の短い発話から、意味の一致を判定する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公式公開元：OPPO小布助手のBUSTM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BUSTM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1481328"/>
            <a:ext cx="4901184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OPPO XiaoBu Conversational-AI Center (2021). BUSTM: OPPO XiaoBu Dialogue Short Text Matching Dataset.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https://github.com/xiaobu-coai/BUSTM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二つの発話が同じ意味かを判定する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少数の学習例と複数の分割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正解率と2021年の到達水準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CLEVAでの利用と公開範囲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二つの発話が同じ意味かを判定する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二つの発話が同じ意味かを判定する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入力は二つの発話、答えは「同じ意味」かどうか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BUSTMは、OPPOの音声アシスタント「小布助手」で使う短文の意味照合データ。口語の二つの発話を読み、意味が一致するなら1、一致しないなら0を返す。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同じ操作の言い換えを見分けることは、利用者の意図を認識するために役立つ。話題や語句が似ているだけでは、同じ依頼・質問とは限らない。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二つの発話が同じ意味かを判定する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OPPO XiaoBu Conversational-AI Center (2021). BUSTM: OPPO XiaoBu Dialogue Short Text Matching Dataset.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https://github.com/xiaobu-coai/BUSTM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実例1：言い方が違っても、怒りっぽさを尋ねる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二つの発話が同じ意味かを判定する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你的火气大吗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你火气大不大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あなたは怒りっぽい？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あなたは怒りっぽいの？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正解：1（意味が一致する）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語尾や語順が違っても、問う内容は同じ。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train_few_all.json:36行 / id=35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実例2：「歌って」と「曲を流して」を分ける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二つの発話が同じ意味かを判定する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给我唱首歌吧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放首歌给我们听听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私に歌を1曲歌って。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私たちに曲を1曲流して。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正解：0（意味が一致しない）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歌う動作と、音楽を再生する動作の違い。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test_public.json:11行 / id=479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実例3：通話中に画面が暗くなる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二つの発話が同じ意味かを判定する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通话时黑屏黑屏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手机通话时黑屏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356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通話中に画面が真っ暗、真っ暗。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携帯電話で通話中に画面が真っ暗になる。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正解：1（意味が一致する）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繰り返しや言い換えがあっても、同じ症状を伝える。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test_public.json:17行 / id=2363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同じ話題でも、求める動作や時間を見分ける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「歌ってほしい」と「曲を流してほしい」は、音楽の話でも求める動作が違う。「けがをしそう」と「すでにけがをした」では、出来事が起きたかどうかが変わる。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入力には語順の崩れ、繰り返し、短い名詞句もある。文法の整った文だけを比較する課題とは異なり、口語の意図を短い文字列から読み取る。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二つの発話が同じ意味かを判定する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少数の学習例と複数の分割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少数の学習例と複数の分割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元の会話サービスから、少数例の評価へ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少数の学習例と複数の分割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2423160" cy="1371600"/>
          </a:xfrm>
          <a:prstGeom prst="round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874519"/>
            <a:ext cx="2203704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小布助手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322576"/>
            <a:ext cx="2203704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発話の意味を照合し</a:t>
            </a:r>
          </a:p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意図認識に利用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286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737360"/>
            <a:ext cx="2423160" cy="1371600"/>
          </a:xfrm>
          <a:prstGeom prst="round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5576" y="1874519"/>
            <a:ext cx="2203704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5576" y="2322576"/>
            <a:ext cx="2203704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口語の短い発話を</a:t>
            </a:r>
          </a:p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二つずつ組にする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4728" y="2286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1737360"/>
            <a:ext cx="2423160" cy="1371600"/>
          </a:xfrm>
          <a:prstGeom prst="round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1874519"/>
            <a:ext cx="2203704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2322576"/>
            <a:ext cx="2203704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32件の学習例で</a:t>
            </a:r>
          </a:p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意味の一致を学ぶ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スマートフォンやIoT機器への依頼・質問を含む。意図のカテゴリ名を出すのではなく、二つの発話が同じ意味かを二値で判定する。</a:t>
            </a:r>
          </a:p>
        </p:txBody>
      </p:sp>
      <p:sp>
        <p:nvSpPr>
          <p:cNvPr id="1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OPPO XiaoBu Conversational-AI Center (2021). BUSTM: OPPO XiaoBu Dialogue Short Text Matching Dataset.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https://github.com/xiaobu-coai/BUSTM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32件の学習例で、意味の対応を学べるかを調べる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教師ありデータを大量に用意しにくい実務上の課題を受け、OPPOは2021年にBUSTMを公開した。FewCLUEは中国語の少数例学習を比べる九つの課題の一つに採用した。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FewCLUEでは、ラベルが三種類以下の課題に合計32件の学習例を用意する。BUSTMの32件は各ラベル32件ではなく、二つのラベルを合わせた件数。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少数の学習例と複数の分割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OPPO XiaoBu Conversational-AI Center (2021). BUSTM: OPPO XiaoBu Dialogue Short Text Matching Dataset.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https://github.com/xiaobu-coai/BUSTM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https://arxiv.org/abs/2107.07498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学習・開発は32件、評価は千件単位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少数の学習例と複数の分割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50770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2468880"/>
                <a:gridCol w="256032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レコード数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train_0〜4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各32（5組）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あり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dev_0〜4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各32（5組）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あり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1,772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あり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unlabeled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4,251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8754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train_few_allとdev_few_allは各160行。五つの小集合をまとめた配布で、それぞれ異なる発話対は156種類。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CLUE team. FewCLUE / BUSTM 公式配布、commit 62a02c6f31cf32814cfe522f78ef088228840f8d、2026-10-18参照。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公開テストと、提出用テストを使い分ける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test_public.jsonは正解を含み、研究用の実験に使える。test.jsonは入力のみで、2021年のコンテストでは予測結果を提出して評価を受ける集合だった。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複数の学習・開発組を用意することで、少数の例の選ばれ方による揺れを調べる。コンテスト第2段階では0〜4とallの六つの学習条件ごとにtestへの予測を提出する。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少数の学習例と複数の分割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README、公式の実験・提出・配布条件。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https://github.com/CLUEbenchmark/FewCLUE/blob/62a02c6f31cf32814cfe522f78ef088228840f8d/README.md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一行に二つの発話と文字列の正解を持つ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少数の学習例と複数の分割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968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"id": 35,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"sentence1": "你的火气大吗",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"sentence2": "你火气大不大",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"label": "1"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78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train_few_all.jsonの36行。labelは文字列の"0"または"1"。testとunlabeledにはlabel欄がない。idはファイルをまたいで一意とは限らない。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公開テストは、二つのラベルが同数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少数の学習例と複数の分割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6718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1645920"/>
                <a:gridCol w="1645920"/>
                <a:gridCol w="164592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0：不一致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1：一致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train_few_all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dev_few_all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1,772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039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固定版の全レコードを集計。学習の5組は、それぞれ必ず16対16になるわけではない。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正解率と2021年の到達水準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正解率と2021年の到達水準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Accuracyは、配布ラベルと一致した対の割合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二つの発話から0または1を予測し、正解ラベルと一致した件数を評価件数で割る。test_publicの1,772対では、いつも同じラベルを出すだけなら886対が正しく、正解率は50%。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意味が近く見える対にも、配布ラベルが0の例がある。正解率を再現するときは元のラベルを使い、解釈だけで正解を付け替えない。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正解率と2021年の到達水準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CLUE team. FewCLUE / BUSTM 公式配布、commit 62a02c6f31cf32814cfe522f78ef088228840f8d、2026-10-18参照。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少数例のEFLは71.8%、直接微調整は60.7%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正解率と2021年の到達水準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92324"/>
        </p:xfrm>
        <a:graphic>
          <a:graphicData uri="http://schemas.openxmlformats.org/drawingml/2006/table">
            <a:tbl>
              <a:tblPr firstRow="0" bandRow="0"/>
              <a:tblGrid>
                <a:gridCol w="5394960"/>
                <a:gridCol w="2651760"/>
              </a:tblGrid>
              <a:tr h="3703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2021年の方式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BUSTM Accuracy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03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一定ラベル（Majority）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03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RoBERTa・ゼロショット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03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RoBERTa・直接微調整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03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PET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56.0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03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P-tuning・RoBERTa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03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EFL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71.8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29099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2021年の公開テスト正解率。学習する方式は少数例を使う。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CLUE team. FewCLUE README、公式の実験・提出・配布条件。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https://github.com/CLUEbenchmark/FewCLUE/blob/62a02c6f31cf32814cfe522f78ef088228840f8d/README.md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予測の形式を変えて、少数例を生かす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PETは二つの発話の関係を穴埋め形式に直し、同じ意味かを表す語を予測する。P-tuningは、学習可能なプロンプト表現を加えてモデルを適応させる。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EFLは各課題を含意判定へ直す方式。中国語へ翻訳した自然言語推論データCMNLIで先に学習し、その後に少数例で微調整する。追加学習の条件も含めて結果を読む。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正解率と2021年の到達水準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基盤モデルが変わると、方式ごとの結果も変わる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正解率と2021年の到達水準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2286000"/>
                <a:gridCol w="22860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方式（2021年）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RoBERTa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ERNIE 1.0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直接微調整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PET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56.0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58.4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P-tuning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EFL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71.8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BUSTM Accuracy (%)。RoBERTa側はchinese_roberta_wwm_extを基盤に使う。異なる基盤で、同じ手法が常に同じ改善を生むとは限らない。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人間評価は88%、各注釈者が100問を解く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新しく加えた課題の人間評価では、まず開発例30〜50件を解き、正解と比べて議論する。その後、各注釈者がテスト例100件を解く手順を用いた。BUSTMの公表正解率は88%。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人間評価の100問という単位は、モデルを評価する公開テスト全件とは異なる。少数例学習の性能を、人間の意味判断の到達水準と比較するための結果。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正解率と2021年の到達水準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公式PET実装は「相／不」を予測する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正解率と2021年の到達水準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31741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入力：sentence1 + "和" + sentence2 + "意思[MASK]同"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label = "1"  →  "相"  →  意思相同（同じ意味）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label = "0"  →  "不"  →  意思不同（異なる意味）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7517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PET実装はtrainの指定組で学習し、dev_few_allの正解率でモデルを選び、test_publicで評価する。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pet_bustm.py、BUSTM向け穴埋め形式・ラベル・採点の実装。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https://github.com/CLUEbenchmark/FewCLUE/blob/main/baselines/models_keras/pet/pet_bustm.py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CLEVAでの利用と公開範囲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CLEVAでの利用と公開範囲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CLEVAは、短い発話の言い換え判定へ採用した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2023年のCLEVAは、CLUEとFewCLUEの発話対を二択形式に直し、同じことを述べているかを正解率で評価する。短い発話の下位課題short_utteranceとしてBUSTMを扱う。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公開論文の掲載例は、実例1の「怒りっぽいか」を尋ねる二つの発話と一致する。元データではtrain_few_allの36行、train_1の4行にある。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CLEVAでの利用と公開範囲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 et al. (2023). CLEVA: Chinese Language Models EVAluation Platform. EMNLP: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HELMには実装があり、公開実行は0件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v0.4.0のCLEVAParaphraseIdentificationScenarioは、実例4の「好きかどうか」を尋ねる対を掲載する。元ラベル0は、二択のA「不是」（いいえ）へ対応する。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short_utteranceにはprompt_id 0〜5の六つの設定がある。Classic v0.4.0公開run_specs全8,526件にはCLEVA実行がなく、実際の得点や提示例数、生成条件は確認できない。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CLEVAでの利用と公開範囲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CLEVAParaphraseIdentificationScenario / Converter.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元の配布と、CLEVAの採用集合は別の範囲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CLEVAでの利用と公開範囲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76272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76072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公開・確認できた範囲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BUSTM元データ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公式が案内するFewCLUEの15ファイル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CLEVA論文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言い換え判定の定義と、元データに一致する掲載例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HELM実装・設定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入力変換、二択の説明例、六つのprompt 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CLEVA全採用集合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外部評価ZIPは未取得。元配布との同一性は未確認。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 et al. (2023). CLEVA: Chinese Language Models EVAluation Platform. EMNLP: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CLEVAParaphraseIdentificationScenario / Converter.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配布元は明確だが、利用許諾は確定していない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OPPOの公式リポジトリはFewCLUEのBUSTM配布を案内し、2021年のデータセット引用を示す。元の発話はアシスタント利用に由来する。</a:t>
            </a:r>
          </a:p>
          <a:p>
            <a:pPr marL="457200" indent="-355600">
              <a:lnSpc>
                <a:spcPts val="232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取得したOPPOの固定ツリーにライセンスファイルはない。FewCLUEの固定READMEでもLicense欄は「追加中」となっている。公開されていることと、再配布や商用利用の許諾を同じものとして扱わない。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CLEVAでの利用と公開範囲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OPPO XiaoBu Conversational-AI Center (2021). BUSTM: OPPO XiaoBu Dialogue Short Text Matching Dataset.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https://github.com/xiaobu-coai/BUSTM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CLUE team. FewCLUE README、公式の実験・提出・配布条件。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https://github.com/CLUEbenchmark/FewCLUE/blob/62a02c6f31cf32814cfe522f78ef088228840f8d/README.md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まとめ：口語の意味を、少数例で照合する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BUSTMは小布助手に由来する短い中国語発話対の二値判定データ。言い換え、異なる操作、時点や欲求の違いを扱い、学習・開発を各32件から始める。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FewCLUEの公開テストは1,772件で、EFLの公表正解率は71.8%、人間評価は88%。CLEVAでの後利用を含め、正解付き元配布・提出用入力・未取得の採用集合を区別する。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CLEVAでの利用と公開範囲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Li et al. (2023). CLEVA: Chinese Language Models EVAluation Platform. EMNLP: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追加10対の原文と日本語訳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全ファイル・重複・形式の補足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実例4：語句が近い対でも、配布ラベルを読む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追加10対の原文と日本語訳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我喜欢你那你喜欢我吗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你喜欢我不我也喜欢你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64422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私はあなたが好き。あなたは私が好き？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私のことが好き？私もあなたが好き。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正解：0（意味が一致しない）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二つの発話は近いが、配布ラベルは0。追加の対話文脈や注釈理由は配布されていない。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train_0.json:3行 / id=2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実例5：音声アシスタントを替えたい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追加10対の原文と日本語訳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请求换一个语音助手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能不能换一个语音助手？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356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音声アシスタントの変更をお願いします。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音声アシスタントを変更できる？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正解：1（意味が一致する）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依頼の表し方が変わっても、求める操作は同じ。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test_public.json:19行 / id=408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実例6：音声で答えてほしい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追加10対の原文と日本語訳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用语音来回答我你可以吗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你可以用语音回答我吗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音声で答えてもらえますか。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音声で答えてくれますか。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正解：1（意味が一致する）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語順が違う、音声による応答の依頼。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test_public.json:26行 / id=2274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実例7：同じ単位換算でも、問う量は違う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追加10対の原文と日本語訳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356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六十平方千米等于多少公顷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一吨等于多少千克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356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60平方キロメートルは何ヘクタール？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1トンは何キログラム？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正解：0（意味が一致しない）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換算という話題だけでは、同じ内容の問いにならない。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test_public.json:20行 / id=1336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実例8：これからと、すでに起きたこと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追加10対の原文と日本語訳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我刚要受伤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我已经受伤了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私は今にもけがをしそうだ。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私はもうけがをしている。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正解：0（意味が一致しない）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けがが起きる前と、起きた後の違い。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test_public.json:33行 / id=2126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実例9：好みと、そのときの欲求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追加10対の原文と日本語訳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我爱吃苹果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我想吃苹果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私はリンゴを食べるのが好きだ。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私はリンゴを食べたい。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正解：0（意味が一致しない）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食べるのが好きなことと、食べたいという欲求は同じ意味ではない。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test_public.json:41行 / id=68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実例10：連絡先の復元と、重複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追加10対の原文と日本語訳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手机联系人恢复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手机重复联系人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356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携帯電話の連絡先を復元する。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携帯電話の連絡先が重複している。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正解：0（意味が一致しない）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同じ連絡先という語を含んでも、問題と操作が異なる。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test_public.json:54行 / id=2380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実例11：ボタンを特定する問いか、名詞句か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追加10対の原文と日本語訳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356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下面三个按钮，哪一个是菜单键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下面那三个按钮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356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下の三つのボタンのうち、どれがメニューボタン？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下のあの三つのボタン。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正解：0（意味が一致しない）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同じボタンを指しても、名詞句だけではメニューボタンを尋ねたことにならない。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test_public.json:53行 / id=2470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実例12：崩れた語順を読み取る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追加10対の原文と日本語訳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聊什么你想和我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你想和我聊些什么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何を話したいの、私と。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私と何を話したいの？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正解：1（意味が一致する）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口語的に崩れた語順も収録されている。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test_public.json:12行 / id=510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実例13：表現そのものと、その意味を尋ねる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追加10対の原文と日本語訳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710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中国語原文：二つの発話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7101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45920"/>
            <a:ext cx="3474720" cy="10684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阿伟死了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阿伟死了是什么梗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645920"/>
            <a:ext cx="4389120" cy="1356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「アーウェイが死んだ」。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「アーウェイが死んだ」とは、どういうネットのネタ？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正解：0（意味が一致しない）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61"/>
              </a:lnSpc>
              <a:spcBef>
                <a:spcPts val="0"/>
              </a:spcBef>
              <a:spcAft>
                <a:spcPts val="0"/>
              </a:spcAft>
              <a:buNone/>
              <a:defRPr sz="1420" b="0">
                <a:solidFill>
                  <a:srgbClr val="303437"/>
                </a:solidFill>
                <a:latin typeface="Noto Sans"/>
              </a:defRPr>
            </a:pPr>
            <a:r>
              <a:rPr sz="14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同じ語句の使用と、その語句についての質問を分ける。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81888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 train_0.json:20行 / id=19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全ファイル・重複・形式の補足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全ファイル・重複・形式の補足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学習の五つの小集合は各32行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全ファイル・重複・形式の補足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3840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2194560"/>
                <a:gridCol w="219456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0：不一致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1：一致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train_0.json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train_1.json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train_2.json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train_3.json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train_4.json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7517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各ファイル32行・32種類。小集合のラベル比率は組ごとに異なる。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開発の五つの小集合は各32行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全ファイル・重複・形式の補足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3840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2194560"/>
                <a:gridCol w="219456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0：不一致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1：一致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dev_0.json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dev_1.json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dev_2.json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dev_3.json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dev_4.json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7517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各ファイル32行・32種類。小集合のラベル比率は組ごとに異なる。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集約・評価・未ラベルの五つのファイル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全ファイル・重複・形式の補足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50770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2011680"/>
                <a:gridCol w="219456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発話対の種類数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train_few_all.json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dev_few_all.json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1,772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1,772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unlabeled.json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4,251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4,251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8754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「種類」はsentence1とsentence2を順序付きで比較した数。train/devの集約は、五つの小集合を重複込みでつないだ内容と一致。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集約内の重複と、集合間の一致を区別する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train_few_allとdev_few_allは各160行で、同一の順序付き発話対をまとめると各156種類になる。複数の小集合で選ばれた同じ対を、独立した新しい問題とは数えない。</a:t>
            </a:r>
          </a:p>
          <a:p>
            <a:pPr marL="457200" indent="-355600">
              <a:lnSpc>
                <a:spcPts val="232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train_few_all、dev_few_all、test_public、test、unlabeledの全10組み合わせで、順序付き発話対の文字列完全一致は0だった。意味が近い表現まで分割間に存在しないことを示す検査ではない。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全ファイル・重複・形式の補足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公開テストの発話は、1件あたり平均7.37文字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全ファイル・重複・形式の補足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8"/>
        </p:xfrm>
        <a:graphic>
          <a:graphicData uri="http://schemas.openxmlformats.org/drawingml/2006/table">
            <a:tbl>
              <a:tblPr firstRow="0" bandRow="0"/>
              <a:tblGrid>
                <a:gridCol w="3383280"/>
                <a:gridCol w="1554480"/>
                <a:gridCol w="1554480"/>
                <a:gridCol w="155448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train_few_all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7.33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dev_few_all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7.38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7.37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unlabeled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41063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二つの発話を別々に数えたUnicode文字数。空白・句読点を含み、トークン数とは異なる。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HELMの説明例は、近い表現でも正解A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全ファイル・重複・形式の補足</a:t>
            </a:r>
          </a:p>
        </p:txBody>
      </p:sp>
      <p:sp>
        <p:nvSpPr>
          <p:cNvPr id="4" name="quote-frame"/>
          <p:cNvSpPr/>
          <p:nvPr/>
        </p:nvSpPr>
        <p:spPr>
          <a:xfrm>
            <a:off x="548640" y="1463040"/>
            <a:ext cx="3474720" cy="190838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下面这两个句子表达的意思是相同的吗？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我喜欢你那你喜欢我吗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你喜欢我不我也喜欢你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不是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是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答：</a:t>
            </a:r>
          </a:p>
        </p:txBody>
      </p:sp>
      <p:sp>
        <p:nvSpPr>
          <p:cNvPr id="5" name="quote-frame"/>
          <p:cNvSpPr/>
          <p:nvPr/>
        </p:nvSpPr>
        <p:spPr>
          <a:xfrm>
            <a:off x="4206240" y="1463040"/>
            <a:ext cx="4389120" cy="16628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次の二つの文は同じ意味を表している？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私はあなたが好き。あなたは私が好き？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私のことが好き？私もあなたが好き。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いいえ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はい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答え：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60520"/>
            <a:ext cx="786384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正解：A（いいえ）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CLEVAParaphraseIdentificationScenario / Converter.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正解理由が付かない対は、文脈を補わずに読む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実例4の二つの発話は、どちらも好意と相手への問いを含む。しかし、配布ラベルは0で、追加の対話履歴や個別の注釈理由は含まれていない。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この資料では元ラベルを保持し、なぜ0になったかを推測で説明しない。ラベルの解釈や品質を調べる場合にも、元の発話対と正解を参照できる形が必要になる。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全ファイル・重複・形式の補足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/ BUSTM 公式配布、commit 62a02c6f31cf32814cfe522f78ef088228840f8d、2026-10-18参照。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BUSTM: OPPO XiaoBu Dialogue Short Text Matching Dataset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BUSTM: OPPO XiaoBu Dialogue Short Text Matching Dataset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OPPO XiaoBu Conversational-AI Center · 2021 · 公式公開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スマートフォンとIoT機器向けアシスタントの短文意味照合データ。FewCLUE配布へのリンクと引用方法を示す。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https://github.com/xiaobu-coai/BUSTM</a:t>
            </a:r>
          </a:p>
        </p:txBody>
      </p:sp>
      <p:sp>
        <p:nvSpPr>
          <p:cNvPr id="5" name="文献 2: FewCLUE: A Chinese Few-shot Learning Evaluation Benchmark"/>
          <p:cNvSpPr txBox="1"/>
          <p:nvPr/>
        </p:nvSpPr>
        <p:spPr>
          <a:xfrm>
            <a:off x="548640" y="3040507"/>
            <a:ext cx="8046720" cy="15267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FewCLUE: A Chinese Few-shot Learning Evaluation Benchmark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Liang Xu, Xiaojing Lu, Chenyang Yuan, Xuanwei Zhang, Huilin Xu, Hu Yuan, Guoao Wei, Xiang Pan, Xin Tian, Libo Qin, Hai Hu · 2021 · arXiv:2107.07498v2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中国語の九つの少数例学習課題と、直接微調整・穴埋め形式・含意判定などの比較を報告する。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https://arxiv.org/abs/2107.07498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FewCLUE — Official Dataset Distribution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 — Official Dataset Distribution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CLUE team · 固定commit 62a02c6f31cf32814cfe522f78ef088228840f8d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32件ずつの学習・開発組、公開正解付きテスト、提出用入力、未ラベル対をJSONL形式で公開する。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https://github.com/CLUEbenchmark/FewCLUE/tree/62a02c6f31cf32814cfe522f78ef088228840f8d/datasets/bustm</a:t>
            </a:r>
          </a:p>
        </p:txBody>
      </p:sp>
      <p:sp>
        <p:nvSpPr>
          <p:cNvPr id="5" name="文献 2: FewCLUE — README and Evaluation Protocol"/>
          <p:cNvSpPr txBox="1"/>
          <p:nvPr/>
        </p:nvSpPr>
        <p:spPr>
          <a:xfrm>
            <a:off x="548640" y="3040507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 — README and Evaluation Protocol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CLUE team · 2021年の実験・コンテスト条件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公開テストと提出用テストの役割、複数学習条件の提出、人間評価とモデル比較、ライセンス欄を示す。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https://github.com/CLUEbenchmark/FewCLUE/blob/62a02c6f31cf32814cfe522f78ef088228840f8d/README.md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CLEVA: Chinese Language Models EVAluation Platform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CLEVA: Chinese Language Models EVAluation Platform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Yanyang Li et al. · 2023 · EMNLP: System Demonstrations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中国語モデルを多様な課題で評価するプラットフォーム。短い発話対の言い換え判定に元データを採用する。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  <p:sp>
        <p:nvSpPr>
          <p:cNvPr id="5" name="文献 2: CLEVAParaphraseIdentificationScenario / Converter"/>
          <p:cNvSpPr txBox="1"/>
          <p:nvPr/>
        </p:nvSpPr>
        <p:spPr>
          <a:xfrm>
            <a:off x="548640" y="3040507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CLEVAParaphraseIdentificationScenario / Converter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HELM v0.4.0 · Python実装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二つの発話を二択形式へ変換する課題。外部データ・テンプレートの読込と、正解参照の変換を実装する。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pet_bustm.py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pet_bustm.py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CLUE team · FewCLUE公式実装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発話対を穴埋め文に変え、「相」「不」のラベル語を予測する。学習・開発・公開テストの読込と採点を実装する。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https://github.com/CLUEbenchmark/FewCLUE/blob/main/baselines/models_keras/pet/pet_bustm.py</a:t>
            </a:r>
          </a:p>
        </p:txBody>
      </p:sp>
      <p:sp>
        <p:nvSpPr>
          <p:cNvPr id="5" name="文献 2: run_specs_cleva_v1.conf"/>
          <p:cNvSpPr txBox="1"/>
          <p:nvPr/>
        </p:nvSpPr>
        <p:spPr>
          <a:xfrm>
            <a:off x="548640" y="3040507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run_specs_cleva_v1.conf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HELM v0.4.0 · CLEVA設定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短い発話対の下位課題short_utteranceについて、0〜5の六つのprompt IDを登録する。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https://github.com/stanford-crfm/helm/blob/v0.4.0/src/helm/benchmark/presentation/run_specs_cleva_v1.conf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2026-10-18T10:09:17Z</dcterms:modified>
  <dc:title>bustm</dc:title>
  <dc:creator>sasakiy84</dc:creator>
  <dcterms:created xsi:type="dcterms:W3CDTF">2026-10-18T10:09:17Z</dcterms:created>
  <dc:language>ja-JP</dc:language>
</cp:coreProperties>
</file>