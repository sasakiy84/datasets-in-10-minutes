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zhongwanjun/AR-LSAT"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04.06598"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04.06598"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ongwanjun/AR-LSAT/blob/main/data/AR_TestData.json"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ongwanjun/AR-LSAT/blob/main/data/AR_TestData.json"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ongwanjun/AR-LSAT/blob/main/data/AR_TestData.json"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ongwanjun/AR-LSAT/blob/main/data/AR_TestData.json"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ongwanjun/AR-LSAT/blob/main/data/AR_TestData.json"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ongwanjun/AR-LSAT/blob/main/data/AR_TestData.json"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ongwanjun/AR-LSAT/blob/main/data/AR_TestData.json"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zhongwanjun/AR-LSAT/blob/main/data/AR_TestData.json"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04.06598"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04.06598" TargetMode="External"/><Relationship Id="rId3" Type="http://schemas.openxmlformats.org/officeDocument/2006/relationships/hyperlink" Target="https://github.com/zhongwanjun/AR-LSAT"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04.06598"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04.06598"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04.06598" TargetMode="External"/><Relationship Id="rId3" Type="http://schemas.openxmlformats.org/officeDocument/2006/relationships/hyperlink" Target="https://github.com/zhongwanjun/AR-LSAT/tree/main/data"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04.06598"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04.06598"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04.06598"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04.06598"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ongwanjun/AR-LSAT"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zhongwanjun/AR-LSAT"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04.06598"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ongwanjun/AR-LSAT/blob/main/data/AR_TestData.json"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ongwanjun/AR-LSAT/blob/main/data/AR_TestData.json"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ongwanjun/AR-LSAT/blob/main/data/AR_TestData.json"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ongwanjun/AR-LSAT/blob/main/data/AR_TestData.json"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ongwanjun/AR-LSAT/blob/main/data/AR_TestData.json"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ongwanjun/AR-LSAT/blob/main/data/AR_TestData.json"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ongwanjun/AR-LSAT/blob/main/data/AR_TestData.json"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ongwanjun/AR-LSAT/blob/main/data/AR_TestData.json"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ongwanjun/AR-LSAT/blob/main/data/AR_TestData.json"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ongwanjun/AR-LSAT/blob/main/data/AR_TestData.json"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ongwanjun/AR-LSAT/blob/main/data/AR_TestData.json"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ongwanjun/AR-LSAT/blob/main/data/AR_TestData.json"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ongwanjun/AR-LSAT/blob/main/data/AR_TestData.json"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ongwanjun/AR-LSAT/blob/main/data/AR_TestData.json"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ongwanjun/AR-LSAT/blob/main/data/AR_TestData.json"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ongwanjun/AR-LSAT/blob/main/data/AR_TestData.json"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ongwanjun/AR-LSAT/blob/main/data/AR_TestData.json"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ongwanjun/AR-LSAT/blob/main/data/AR_TestData.json"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ongwanjun/AR-LSAT/blob/main/data/AR_TestData.json"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ongwanjun/AR-LSAT/blob/main/data/AR_TestData.json"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04.06598" TargetMode="External"/><Relationship Id="rId3" Type="http://schemas.openxmlformats.org/officeDocument/2006/relationships/hyperlink" Target="https://github.com/zhongwanjun/AR-LSAT"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637627"/>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AR-LSAT</a:t>
            </a:r>
          </a:p>
        </p:txBody>
      </p:sp>
      <p:sp>
        <p:nvSpPr>
          <p:cNvPr id="3" name="Subtitle 2"/>
          <p:cNvSpPr>
            <a:spLocks noGrp="1"/>
          </p:cNvSpPr>
          <p:nvPr>
            <p:ph type="subTitle" idx="1"/>
          </p:nvPr>
        </p:nvSpPr>
        <p:spPr>
          <a:xfrm>
            <a:off x="548640" y="2647277"/>
            <a:ext cx="8046720" cy="1116965"/>
          </a:xfrm>
        </p:spPr>
        <p:txBody>
          <a:bodyPr lIns="0" rIns="0" tIns="0" bIns="127000">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Analytical Reasoning · LSAT: Law School Admission Test</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条件を満たす配置を、言葉から推論する</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AR-LSATの公式データ・実装</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AR-LSAT</a:t>
            </a:r>
          </a:p>
        </p:txBody>
      </p:sp>
      <p:pic>
        <p:nvPicPr>
          <p:cNvPr id="4" name="Picture 3" descr="official-site.png"/>
          <p:cNvPicPr>
            <a:picLocks noChangeAspect="1"/>
          </p:cNvPicPr>
          <p:nvPr/>
        </p:nvPicPr>
        <p:blipFill>
          <a:blip r:embed="rId2"/>
          <a:stretch>
            <a:fillRect/>
          </a:stretch>
        </p:blipFill>
        <p:spPr>
          <a:xfrm>
            <a:off x="2121408" y="1481328"/>
            <a:ext cx="4901184" cy="3063240"/>
          </a:xfrm>
          <a:prstGeom prst="rect">
            <a:avLst/>
          </a:prstGeom>
        </p:spPr>
      </p:pic>
      <p:sp>
        <p:nvSpPr>
          <p:cNvPr id="5" name="sources"/>
          <p:cNvSpPr txBox="1"/>
          <p:nvPr/>
        </p:nvSpPr>
        <p:spPr>
          <a:xfrm>
            <a:off x="502920" y="480060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Zhong et al. (n.d.). AR-LSAT.</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https://github.com/zhongwanjun/AR-LSAT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条件を読んで、五つから選ぶ</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収集とデータの構成</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解き方と元研究の評価</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研究での位置付けと入手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条件を読んで、五つから選ぶ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条件を読んで、五つから選ぶ</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条件から、可能な配置を絞り込む</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AR-LSATは、LSAT（ロースクール入学適性試験）の分析的推論問題を集めた英語データセット。Zhongらが2021年に公開した。</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登場人物・順番・所属・役割などの条件から、可能な配置や必ず成り立つことを判断する。法律の条文知識より、言葉で示された条件の組合せを扱う。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条件を読んで、五つから選ぶ</a:t>
            </a:r>
          </a:p>
        </p:txBody>
      </p:sp>
      <p:sp>
        <p:nvSpPr>
          <p:cNvPr id="5" name="sources"/>
          <p:cNvSpPr txBox="1"/>
          <p:nvPr/>
        </p:nvSpPr>
        <p:spPr>
          <a:xfrm>
            <a:off x="502920" y="480060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Zhong et al. (2021). AR-LSAT: Investigating Analytical Reasoning of Text. arXiv:2104.06598v2.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https://arxiv.org/abs/2104.06598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条件文と設問を読み、候補から答えを選ぶ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一つの条件文を複数の設問で共有する。設問で加わる条件や、否定・例外の指定も読んで、正しい選択肢を一つ選ぶ。</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開発・テストの問題は5択。次の3例は公開テストから選び、条件文・設問・全選択肢・正解と日本語訳を示す。</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条件を読んで、五つから選ぶ</a:t>
            </a:r>
          </a:p>
        </p:txBody>
      </p:sp>
      <p:sp>
        <p:nvSpPr>
          <p:cNvPr id="5" name="sources"/>
          <p:cNvSpPr txBox="1"/>
          <p:nvPr/>
        </p:nvSpPr>
        <p:spPr>
          <a:xfrm>
            <a:off x="502920" y="480060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Zhong et al. (2021). AR-LSAT: Investigating Analytical Reasoning of Text. arXiv:2104.06598v2.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https://arxiv.org/abs/2104.06598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実例1：歌手のオーディションを順に並べる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条件を読んで、五つから選ぶ</a:t>
            </a:r>
          </a:p>
        </p:txBody>
      </p:sp>
      <p:sp>
        <p:nvSpPr>
          <p:cNvPr id="4" name="TextBox 3"/>
          <p:cNvSpPr txBox="1"/>
          <p:nvPr/>
        </p:nvSpPr>
        <p:spPr>
          <a:xfrm>
            <a:off x="548640" y="1271016"/>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条件文・設問・5選択肢の原文全文</a:t>
            </a:r>
          </a:p>
        </p:txBody>
      </p:sp>
      <p:sp>
        <p:nvSpPr>
          <p:cNvPr id="5" name="quote-frame"/>
          <p:cNvSpPr/>
          <p:nvPr/>
        </p:nvSpPr>
        <p:spPr>
          <a:xfrm>
            <a:off x="548640" y="1517904"/>
            <a:ext cx="8046720" cy="25654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3170" bIns="127000">
            <a:noAutofit/>
          </a:bodyPr>
          <a:lstStyle/>
          <a:p>
            <a:pPr algn="l">
              <a:lnSpc>
                <a:spcPts val="1933"/>
              </a:lnSpc>
              <a:spcBef>
                <a:spcPts val="0"/>
              </a:spcBef>
              <a:spcAft>
                <a:spcPts val="0"/>
              </a:spcAft>
              <a:buNone/>
              <a:defRPr sz="1625" b="0">
                <a:solidFill>
                  <a:srgbClr val="303437"/>
                </a:solidFill>
                <a:latin typeface="Noto Sans"/>
              </a:defRPr>
            </a:pPr>
            <a:r>
              <a:rPr sz="1625" b="0" lang="ja-JP" altLang="en-US">
                <a:solidFill>
                  <a:srgbClr val="303437"/>
                </a:solidFill>
                <a:latin typeface="Noto Sans"/>
                <a:ea typeface="Noto Sans CJK JP"/>
                <a:cs typeface="Noto Sans"/>
              </a:rPr>
              <a:t>A chorus director is planning to audition exactly six singers: Kammer, Lugo, Trillo, Waite, Yoshida, and Zinn. Kammer's audition and Lugo's audition will be recorded; the other four will not be. The six auditions are to take place one after the other on a single day, in accordance with the following conditions: The fourth audition cannot be recorded. The fifth audition must be recorded. Waite's audition must take place earlier than the two recorded auditions. Kammer's audition must take place earlier than Trillo's audition. Zinn's audition must take place earlier than Yoshida's audition.</a:t>
            </a:r>
          </a:p>
          <a:p>
            <a:pPr algn="l">
              <a:lnSpc>
                <a:spcPts val="1933"/>
              </a:lnSpc>
              <a:spcBef>
                <a:spcPts val="0"/>
              </a:spcBef>
              <a:spcAft>
                <a:spcPts val="0"/>
              </a:spcAft>
              <a:buNone/>
              <a:defRPr sz="1625" b="0">
                <a:solidFill>
                  <a:srgbClr val="303437"/>
                </a:solidFill>
                <a:latin typeface="Noto Sans"/>
              </a:defRPr>
            </a:pPr>
            <a:r>
              <a:rPr sz="1625" b="0" lang="ja-JP" altLang="en-US">
                <a:solidFill>
                  <a:srgbClr val="303437"/>
                </a:solidFill>
                <a:latin typeface="Noto Sans"/>
                <a:ea typeface="Noto Sans CJK JP"/>
                <a:cs typeface="Noto Sans"/>
              </a:rPr>
              <a:t>Yoshida's audition could be</a:t>
            </a:r>
          </a:p>
          <a:p>
            <a:pPr algn="l">
              <a:lnSpc>
                <a:spcPts val="1933"/>
              </a:lnSpc>
              <a:spcBef>
                <a:spcPts val="0"/>
              </a:spcBef>
              <a:spcAft>
                <a:spcPts val="0"/>
              </a:spcAft>
              <a:buNone/>
              <a:defRPr sz="1625" b="0">
                <a:solidFill>
                  <a:srgbClr val="303437"/>
                </a:solidFill>
                <a:latin typeface="Noto Sans"/>
              </a:defRPr>
            </a:pPr>
            <a:r>
              <a:rPr sz="1625" b="0" lang="ja-JP" altLang="en-US">
                <a:solidFill>
                  <a:srgbClr val="303437"/>
                </a:solidFill>
                <a:latin typeface="Noto Sans"/>
                <a:ea typeface="Noto Sans CJK JP"/>
                <a:cs typeface="Noto Sans"/>
              </a:rPr>
              <a:t>A. fifth   /   B. fourth   /   C. third   /   D. second   /   E. first</a:t>
            </a:r>
          </a:p>
        </p:txBody>
      </p:sp>
      <p:sp>
        <p:nvSpPr>
          <p:cNvPr id="6" name="TextBox 5"/>
          <p:cNvSpPr txBox="1"/>
          <p:nvPr/>
        </p:nvSpPr>
        <p:spPr>
          <a:xfrm>
            <a:off x="594360" y="4159504"/>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正解：B</a:t>
            </a:r>
          </a:p>
        </p:txBody>
      </p:sp>
      <p:sp>
        <p:nvSpPr>
          <p:cNvPr id="7" name="sources"/>
          <p:cNvSpPr txBox="1"/>
          <p:nvPr/>
        </p:nvSpPr>
        <p:spPr>
          <a:xfrm>
            <a:off x="502920" y="480060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Zhong et al. (n.d.). AR-LSAT: AR_TestData.json.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https://github.com/zhongwanjun/AR-LSAT/blob/main/data/AR_TestData.json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条件を読んで、五つから選ぶ</a:t>
            </a:r>
          </a:p>
        </p:txBody>
      </p:sp>
      <p:sp>
        <p:nvSpPr>
          <p:cNvPr id="4" name="TextBox 3"/>
          <p:cNvSpPr txBox="1"/>
          <p:nvPr/>
        </p:nvSpPr>
        <p:spPr>
          <a:xfrm>
            <a:off x="548640" y="1271016"/>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対応する日本語訳</a:t>
            </a:r>
          </a:p>
        </p:txBody>
      </p:sp>
      <p:sp>
        <p:nvSpPr>
          <p:cNvPr id="5" name="quote-frame"/>
          <p:cNvSpPr/>
          <p:nvPr/>
        </p:nvSpPr>
        <p:spPr>
          <a:xfrm>
            <a:off x="548640" y="1517904"/>
            <a:ext cx="8046720" cy="22436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1637"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合唱の指揮者が、Kammer、Lugo、Trillo、Waite、Yoshida、Zinnの6人を、同じ日に1人ずつ続けて審査する。KammerとLugoの審査は録音し、残り4人は録音しない。4番目は録音せず、5番目は録音する。Waiteは録音する2人より先。KammerはTrilloより先。ZinnはYoshidaより先。</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Yoshidaの審査が行われる順番として、可能なのはどれか。</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A. 5番目   /   B. 4番目   /   C. 3番目   /   D. 2番目   /   E. 1番目</a:t>
            </a:r>
          </a:p>
        </p:txBody>
      </p:sp>
      <p:sp>
        <p:nvSpPr>
          <p:cNvPr id="6" name="TextBox 5"/>
          <p:cNvSpPr txBox="1"/>
          <p:nvPr/>
        </p:nvSpPr>
        <p:spPr>
          <a:xfrm>
            <a:off x="594360" y="3837770"/>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正解：B</a:t>
            </a:r>
          </a:p>
        </p:txBody>
      </p:sp>
      <p:sp>
        <p:nvSpPr>
          <p:cNvPr id="7" name="sources"/>
          <p:cNvSpPr txBox="1"/>
          <p:nvPr/>
        </p:nvSpPr>
        <p:spPr>
          <a:xfrm>
            <a:off x="502920" y="480060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Zhong et al. (n.d.). AR-LSAT: AR_TestData.json.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https://github.com/zhongwanjun/AR-LSAT/blob/main/data/AR_TestData.json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実例2：条件付きのチーム選抜</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条件を読んで、五つから選ぶ</a:t>
            </a:r>
          </a:p>
        </p:txBody>
      </p:sp>
      <p:sp>
        <p:nvSpPr>
          <p:cNvPr id="4" name="TextBox 3"/>
          <p:cNvSpPr txBox="1"/>
          <p:nvPr/>
        </p:nvSpPr>
        <p:spPr>
          <a:xfrm>
            <a:off x="548640" y="1271016"/>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条件文・設問・5選択肢の原文全文</a:t>
            </a:r>
          </a:p>
        </p:txBody>
      </p:sp>
      <p:sp>
        <p:nvSpPr>
          <p:cNvPr id="5" name="quote-frame"/>
          <p:cNvSpPr/>
          <p:nvPr/>
        </p:nvSpPr>
        <p:spPr>
          <a:xfrm>
            <a:off x="548640" y="1517904"/>
            <a:ext cx="8046720" cy="2726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4703"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A corporate manager is selecting employees for a research team. The team will include at least four employees, all from among the following eight: Myers, Ortega, Paine, Schmidt, Thomson, Wong, Yoder, and Zayre. The selection is constrained by the following conditions: If Myers is on the team, neither Ortega nor Paine can be. If Schmidt is on the team, both Paine and Thomson must also be. If Wong is on the team, both Myers and Yoder must also be.</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If Yoder is not on the team, then any of the following could be on the team EXCEPT:</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A. Zayre   /   B. Thomson   /   C. Paine   /   D. Ortega   /   E. Myers</a:t>
            </a:r>
          </a:p>
        </p:txBody>
      </p:sp>
      <p:sp>
        <p:nvSpPr>
          <p:cNvPr id="6" name="TextBox 5"/>
          <p:cNvSpPr txBox="1"/>
          <p:nvPr/>
        </p:nvSpPr>
        <p:spPr>
          <a:xfrm>
            <a:off x="594360" y="4320370"/>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正解：E</a:t>
            </a:r>
          </a:p>
        </p:txBody>
      </p:sp>
      <p:sp>
        <p:nvSpPr>
          <p:cNvPr id="7" name="sources"/>
          <p:cNvSpPr txBox="1"/>
          <p:nvPr/>
        </p:nvSpPr>
        <p:spPr>
          <a:xfrm>
            <a:off x="502920" y="480060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Zhong et al. (n.d.). AR-LSAT: AR_TestData.json.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https://github.com/zhongwanjun/AR-LSAT/blob/main/data/AR_TestData.json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条件を読んで、五つから選ぶ</a:t>
            </a:r>
          </a:p>
        </p:txBody>
      </p:sp>
      <p:sp>
        <p:nvSpPr>
          <p:cNvPr id="4" name="TextBox 3"/>
          <p:cNvSpPr txBox="1"/>
          <p:nvPr/>
        </p:nvSpPr>
        <p:spPr>
          <a:xfrm>
            <a:off x="548640" y="1271016"/>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対応する日本語訳</a:t>
            </a:r>
          </a:p>
        </p:txBody>
      </p:sp>
      <p:sp>
        <p:nvSpPr>
          <p:cNvPr id="5" name="quote-frame"/>
          <p:cNvSpPr/>
          <p:nvPr/>
        </p:nvSpPr>
        <p:spPr>
          <a:xfrm>
            <a:off x="548640" y="1517904"/>
            <a:ext cx="8046720" cy="25400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0103" bIns="127000">
            <a:noAutofit/>
          </a:bodyPr>
          <a:lstStyle/>
          <a:p>
            <a:pPr algn="l">
              <a:lnSpc>
                <a:spcPts val="232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企業の管理者が、Myers、Ortega、Paine、Schmidt、Thomson、Wong、Yoder、Zayreの8人から4人以上を研究チームに選ぶ。Myersを選ぶならOrtegaもPaineも選べない。Schmidtを選ぶならPaineとThomsonも選ぶ。Wongを選ぶならMyersとYoderも選ぶ。</a:t>
            </a:r>
          </a:p>
          <a:p>
            <a:pPr algn="l">
              <a:lnSpc>
                <a:spcPts val="232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Yoderを選ばない場合、次のうちチームに選ばれる可能性がないのは誰か。</a:t>
            </a:r>
          </a:p>
          <a:p>
            <a:pPr algn="l">
              <a:lnSpc>
                <a:spcPts val="232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A. Zayre   /   B. Thomson   /   C. Paine   /   D. Ortega   /   E. Myers</a:t>
            </a:r>
          </a:p>
        </p:txBody>
      </p:sp>
      <p:sp>
        <p:nvSpPr>
          <p:cNvPr id="6" name="TextBox 5"/>
          <p:cNvSpPr txBox="1"/>
          <p:nvPr/>
        </p:nvSpPr>
        <p:spPr>
          <a:xfrm>
            <a:off x="594360" y="4134104"/>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正解：E</a:t>
            </a:r>
          </a:p>
        </p:txBody>
      </p:sp>
      <p:sp>
        <p:nvSpPr>
          <p:cNvPr id="7" name="sources"/>
          <p:cNvSpPr txBox="1"/>
          <p:nvPr/>
        </p:nvSpPr>
        <p:spPr>
          <a:xfrm>
            <a:off x="502920" y="480060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Zhong et al. (n.d.). AR-LSAT: AR_TestData.json.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https://github.com/zhongwanjun/AR-LSAT/blob/main/data/AR_TestData.json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実例3：複数の作品を担当する学生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条件を読んで、五つから選ぶ</a:t>
            </a:r>
          </a:p>
        </p:txBody>
      </p:sp>
      <p:sp>
        <p:nvSpPr>
          <p:cNvPr id="4" name="TextBox 3"/>
          <p:cNvSpPr txBox="1"/>
          <p:nvPr/>
        </p:nvSpPr>
        <p:spPr>
          <a:xfrm>
            <a:off x="548640" y="1271016"/>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条件文・設問・5選択肢の原文全文</a:t>
            </a:r>
          </a:p>
        </p:txBody>
      </p:sp>
      <p:sp>
        <p:nvSpPr>
          <p:cNvPr id="5" name="quote-frame"/>
          <p:cNvSpPr/>
          <p:nvPr/>
        </p:nvSpPr>
        <p:spPr>
          <a:xfrm>
            <a:off x="548640" y="1517904"/>
            <a:ext cx="8046720" cy="27432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1637"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For the school paper, five students—Jiang, Kramer, Lopez, Megregian, and O'Neill—each review one or more of exactly three plays: Sunset, Tamerlane, and Undulation, but do not review any other plays. The following conditions must apply: Kramer and Lopez each review fewer of the plays than Megregian. Neither Lopez nor Megregian reviews any play Jiang reviews. Kramer and O'Neill both review Tamerlane. Exactly two of the students review exactly the same play or plays as each other.</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Which one of the following could be an accurate and complete list of the students who review only Sunset?</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A. Lopez   /   B. O'Neill   /   C. Jiang, Lopez   /   D. Kramer, O'Neill   /   E. Lopez, Megregian</a:t>
            </a:r>
          </a:p>
        </p:txBody>
      </p:sp>
      <p:sp>
        <p:nvSpPr>
          <p:cNvPr id="6" name="TextBox 5"/>
          <p:cNvSpPr txBox="1"/>
          <p:nvPr/>
        </p:nvSpPr>
        <p:spPr>
          <a:xfrm>
            <a:off x="594360" y="4337304"/>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正解：A</a:t>
            </a:r>
          </a:p>
        </p:txBody>
      </p:sp>
      <p:sp>
        <p:nvSpPr>
          <p:cNvPr id="7" name="sources"/>
          <p:cNvSpPr txBox="1"/>
          <p:nvPr/>
        </p:nvSpPr>
        <p:spPr>
          <a:xfrm>
            <a:off x="502920" y="480060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Zhong et al. (n.d.). AR-LSAT: AR_TestData.json.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https://github.com/zhongwanjun/AR-LSAT/blob/main/data/AR_TestData.json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条件を読んで、五つから選ぶ</a:t>
            </a:r>
          </a:p>
        </p:txBody>
      </p:sp>
      <p:sp>
        <p:nvSpPr>
          <p:cNvPr id="4" name="TextBox 3"/>
          <p:cNvSpPr txBox="1"/>
          <p:nvPr/>
        </p:nvSpPr>
        <p:spPr>
          <a:xfrm>
            <a:off x="548640" y="1271016"/>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対応する日本語訳</a:t>
            </a:r>
          </a:p>
        </p:txBody>
      </p:sp>
      <p:sp>
        <p:nvSpPr>
          <p:cNvPr id="5" name="quote-frame"/>
          <p:cNvSpPr/>
          <p:nvPr/>
        </p:nvSpPr>
        <p:spPr>
          <a:xfrm>
            <a:off x="548640" y="1517904"/>
            <a:ext cx="8046720" cy="27432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1637"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学内新聞のため、Jiang、Kramer、Lopez、Megregian、O’Neillの5人が、Sunset、Tamerlane、Undulationの3作品から、それぞれ1作品以上を批評する。他の作品は扱わない。KramerとLopezの担当数は、それぞれMegregianより少ない。Jiangが担当する作品は、LopezもMegregianも担当しない。KramerとO’NeillはともにTamerlaneを担当する。互いにまったく同じ作品集合を担当する学生が、ちょうど2人いる。</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Sunsetだけを担当する学生を漏れなく挙げた一覧として、あり得るのはどれか。</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A. Lopez   /   B. O’Neill   /   C. Jiang、Lopez   /   D. Kramer、O’Neill   /   E. Lopez、Megregian</a:t>
            </a:r>
          </a:p>
        </p:txBody>
      </p:sp>
      <p:sp>
        <p:nvSpPr>
          <p:cNvPr id="6" name="TextBox 5"/>
          <p:cNvSpPr txBox="1"/>
          <p:nvPr/>
        </p:nvSpPr>
        <p:spPr>
          <a:xfrm>
            <a:off x="594360" y="4337304"/>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正解：A</a:t>
            </a:r>
          </a:p>
        </p:txBody>
      </p:sp>
      <p:sp>
        <p:nvSpPr>
          <p:cNvPr id="7" name="sources"/>
          <p:cNvSpPr txBox="1"/>
          <p:nvPr/>
        </p:nvSpPr>
        <p:spPr>
          <a:xfrm>
            <a:off x="502920" y="480060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Zhong et al. (n.d.). AR-LSAT: AR_TestData.json.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https://github.com/zhongwanjun/AR-LSAT/blob/main/data/AR_TestData.json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実例1：条件を満たす審査順の一例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条件を読んで、五つから選ぶ</a:t>
            </a:r>
          </a:p>
        </p:txBody>
      </p:sp>
      <p:graphicFrame>
        <p:nvGraphicFramePr>
          <p:cNvPr id="4" name="Table 3"/>
          <p:cNvGraphicFramePr>
            <a:graphicFrameLocks noGrp="1"/>
          </p:cNvGraphicFramePr>
          <p:nvPr/>
        </p:nvGraphicFramePr>
        <p:xfrm>
          <a:off x="548640" y="1508760"/>
          <a:ext cx="8046720" cy="1261872"/>
        </p:xfrm>
        <a:graphic>
          <a:graphicData uri="http://schemas.openxmlformats.org/drawingml/2006/table">
            <a:tbl>
              <a:tblPr firstRow="0" bandRow="0"/>
              <a:tblGrid>
                <a:gridCol w="914400"/>
                <a:gridCol w="1188720"/>
                <a:gridCol w="1188720"/>
                <a:gridCol w="1188720"/>
                <a:gridCol w="1188720"/>
                <a:gridCol w="1188720"/>
                <a:gridCol w="1188720"/>
              </a:tblGrid>
              <a:tr h="420624">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順番</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2</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3</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4</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5</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6</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歌手</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Waite</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Zinn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Kammer</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Yoshida</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Lugo</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Trillo</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録音</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なし</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なし</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あり</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なし</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あり</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なし</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2971800"/>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Yoshidaを4番目にした、条件を満たす並び。選択肢ではBが可能。</a:t>
            </a:r>
          </a:p>
        </p:txBody>
      </p:sp>
      <p:sp>
        <p:nvSpPr>
          <p:cNvPr id="6" name="sources"/>
          <p:cNvSpPr txBox="1"/>
          <p:nvPr/>
        </p:nvSpPr>
        <p:spPr>
          <a:xfrm>
            <a:off x="502920" y="480060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Zhong et al. (n.d.). AR-LSAT: AR_TestData.json.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https://github.com/zhongwanjun/AR-LSAT/blob/main/data/AR_TestData.json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実例2：選べる人数の下限まで考える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Yoderを選ばないなら、Wongも選べない。さらにMyersを選ぶと、OrtegaとPaineは選べず、Paineが必要なSchmidtも選べない。</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残るのはMyers・Thomson・Zayreの3人。4人以上という条件を満たせないため、Myersは選べない。正解はE。</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条件を読んで、五つから選ぶ</a:t>
            </a:r>
          </a:p>
        </p:txBody>
      </p:sp>
      <p:sp>
        <p:nvSpPr>
          <p:cNvPr id="5" name="sources"/>
          <p:cNvSpPr txBox="1"/>
          <p:nvPr/>
        </p:nvSpPr>
        <p:spPr>
          <a:xfrm>
            <a:off x="502920" y="480060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Zhong et al. (n.d.). AR-LSAT: AR_TestData.json.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https://github.com/zhongwanjun/AR-LSAT/blob/main/data/AR_TestData.json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収集とデータの構成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収集とデータの構成</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1991〜2016年の試験問題から集めた</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Zhongらは約90回のLSAT試験から、分析的推論の設問を収集した。5選択肢を持つ問題を残し、AR-LSATとして2021年に公開した。</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原研究は、学習済み言語モデルによる回答と、文章から事実・論理関数を抽出して配置を探索するAnalytical Reasoning Machine（ARM）を比較した。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収集とデータの構成</a:t>
            </a:r>
          </a:p>
        </p:txBody>
      </p:sp>
      <p:sp>
        <p:nvSpPr>
          <p:cNvPr id="5" name="sources"/>
          <p:cNvSpPr txBox="1"/>
          <p:nvPr/>
        </p:nvSpPr>
        <p:spPr>
          <a:xfrm>
            <a:off x="502920" y="480060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Zhong et al. (2021). AR-LSAT: Investigating Analytical Reasoning of Text. arXiv:2104.06598v2.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https://arxiv.org/abs/2104.06598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公開JSONには、2,091問が入っている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収集とデータの構成</a:t>
            </a:r>
          </a:p>
        </p:txBody>
      </p:sp>
      <p:graphicFrame>
        <p:nvGraphicFramePr>
          <p:cNvPr id="4" name="Table 3"/>
          <p:cNvGraphicFramePr>
            <a:graphicFrameLocks noGrp="1"/>
          </p:cNvGraphicFramePr>
          <p:nvPr/>
        </p:nvGraphicFramePr>
        <p:xfrm>
          <a:off x="548640" y="1508760"/>
          <a:ext cx="8046720" cy="2103120"/>
        </p:xfrm>
        <a:graphic>
          <a:graphicData uri="http://schemas.openxmlformats.org/drawingml/2006/table">
            <a:tbl>
              <a:tblPr firstRow="0" bandRow="0"/>
              <a:tblGrid>
                <a:gridCol w="1280160"/>
                <a:gridCol w="2377440"/>
                <a:gridCol w="4389120"/>
              </a:tblGrid>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分割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質問数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共通の条件文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学習</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1,630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280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開発</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231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40</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テスト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230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40</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合計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2,091</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360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1304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原論文は学習1,585問・計2,046問を報告。現在の学習件数との差の理由は明記されていない。</a:t>
            </a:r>
          </a:p>
        </p:txBody>
      </p:sp>
      <p:sp>
        <p:nvSpPr>
          <p:cNvPr id="6" name="sources"/>
          <p:cNvSpPr txBox="1"/>
          <p:nvPr/>
        </p:nvSpPr>
        <p:spPr>
          <a:xfrm>
            <a:off x="502920" y="4648200"/>
            <a:ext cx="8183879" cy="457200"/>
          </a:xfrm>
          <a:prstGeom prst="rect">
            <a:avLst/>
          </a:prstGeom>
          <a:noFill/>
        </p:spPr>
        <p:txBody>
          <a:bodyPr wrap="square" lIns="0" rIns="0" tIns="0" bIns="0">
            <a:noAutofit/>
          </a:bodyPr>
          <a:lstStyle/>
          <a:p>
            <a:pPr algn="l">
              <a:lnSpc>
                <a:spcPts val="1000"/>
              </a:lnSpc>
              <a:spcBef>
                <a:spcPts val="0"/>
              </a:spcBef>
              <a:spcAft>
                <a:spcPts val="20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Zhong et al. (2021). AR-LSAT: Investigating Analytical Reasoning of Text.  </a:t>
            </a:r>
            <a:r>
              <a:rPr sz="810" b="0" lang="ja-JP" altLang="en-US">
                <a:solidFill>
                  <a:srgbClr val="626669"/>
                </a:solidFill>
                <a:latin typeface="Noto Sans"/>
                <a:ea typeface="Noto Sans CJK JP"/>
                <a:cs typeface="Noto Sans"/>
                <a:hlinkClick r:id="rId2"/>
              </a:rPr>
              <a:t>https://arxiv.org/abs/2104.06598</a:t>
            </a:r>
          </a:p>
          <a:p>
            <a:pPr>
              <a:lnSpc>
                <a:spcPts val="1000"/>
              </a:lnSpc>
              <a:spcAft>
                <a:spcPts val="200"/>
              </a:spcAft>
            </a:pPr>
            <a:r>
              <a:rPr sz="810" b="0" lang="ja-JP" altLang="en-US">
                <a:solidFill>
                  <a:srgbClr val="626669"/>
                </a:solidFill>
                <a:latin typeface="Noto Sans"/>
                <a:ea typeface="Noto Sans CJK JP"/>
                <a:cs typeface="Noto Sans"/>
              </a:rPr>
              <a:t>[2] Zhong et al. (n.d.). AR-LSAT.  </a:t>
            </a:r>
            <a:r>
              <a:rPr sz="810" b="0" lang="ja-JP" altLang="en-US">
                <a:solidFill>
                  <a:srgbClr val="626669"/>
                </a:solidFill>
                <a:latin typeface="Noto Sans"/>
                <a:ea typeface="Noto Sans CJK JP"/>
                <a:cs typeface="Noto Sans"/>
                <a:hlinkClick r:id="rId3"/>
              </a:rPr>
              <a:t>https://github.com/zhongwanjun/AR-LSAT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主なゲームは、順序・集団・割当</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収集とデータの構成</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1828800"/>
                <a:gridCol w="4297680"/>
                <a:gridCol w="192024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種類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何を決めるか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論文の割合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順序</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人や出来事の並び</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42.5%</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グループ分け</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どの集団に所属するか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38.75%</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割当</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人と日程・役割などの対応</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18.75%</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92424"/>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原研究で、ゲームの種類を人手で分類した割合。</a:t>
            </a:r>
          </a:p>
        </p:txBody>
      </p:sp>
      <p:sp>
        <p:nvSpPr>
          <p:cNvPr id="6" name="sources"/>
          <p:cNvSpPr txBox="1"/>
          <p:nvPr/>
        </p:nvSpPr>
        <p:spPr>
          <a:xfrm>
            <a:off x="502920" y="480060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Zhong et al. (2021). AR-LSAT: Investigating Analytical Reasoning of Text. arXiv:2104.06598v2.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https://arxiv.org/abs/2104.06598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論文では、何を問うかも分類した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収集とデータの構成</a:t>
            </a:r>
          </a:p>
        </p:txBody>
      </p:sp>
      <p:graphicFrame>
        <p:nvGraphicFramePr>
          <p:cNvPr id="4" name="Table 3"/>
          <p:cNvGraphicFramePr>
            <a:graphicFrameLocks noGrp="1"/>
          </p:cNvGraphicFramePr>
          <p:nvPr/>
        </p:nvGraphicFramePr>
        <p:xfrm>
          <a:off x="548640" y="1508760"/>
          <a:ext cx="8046720" cy="2523744"/>
        </p:xfrm>
        <a:graphic>
          <a:graphicData uri="http://schemas.openxmlformats.org/drawingml/2006/table">
            <a:tbl>
              <a:tblPr firstRow="0" bandRow="0"/>
              <a:tblGrid>
                <a:gridCol w="6217920"/>
                <a:gridCol w="1828800"/>
              </a:tblGrid>
              <a:tr h="420624">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設問の型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テスト中の割合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可能な完成形を選ぶ</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15.6%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正確で完全な一覧を選ぶ</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3.5%</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成り立つ／成り立たない可能性</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26.8%</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必ず真／必ず偽</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26.4%</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否定を含む問い</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14.7%</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233672"/>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代表的な設問型の一部。列挙した区分だけで全設問を尽くす表ではない。</a:t>
            </a:r>
          </a:p>
        </p:txBody>
      </p:sp>
      <p:sp>
        <p:nvSpPr>
          <p:cNvPr id="6" name="sources"/>
          <p:cNvSpPr txBox="1"/>
          <p:nvPr/>
        </p:nvSpPr>
        <p:spPr>
          <a:xfrm>
            <a:off x="502920" y="480060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Zhong et al. (2021). AR-LSAT: Investigating Analytical Reasoning of Text. arXiv:2104.06598v2.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https://arxiv.org/abs/2104.06598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条件文と、そこから出題される複数の設問</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公開JSONでは、条件文ごとに設問がまとまっている。各設問には選択肢と正解ラベルがあり、一部には設問の種類を表すtagsもある。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現在の学習用は1,630問のうち45問が4択。開発231問・テスト230問はすべて5択である。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収集とデータの構成</a:t>
            </a:r>
          </a:p>
        </p:txBody>
      </p:sp>
      <p:sp>
        <p:nvSpPr>
          <p:cNvPr id="5" name="sources"/>
          <p:cNvSpPr txBox="1"/>
          <p:nvPr/>
        </p:nvSpPr>
        <p:spPr>
          <a:xfrm>
            <a:off x="502920" y="4800600"/>
            <a:ext cx="8183879" cy="530352"/>
          </a:xfrm>
          <a:prstGeom prst="rect">
            <a:avLst/>
          </a:prstGeom>
          <a:noFill/>
        </p:spPr>
        <p:txBody>
          <a:bodyPr wrap="square" lIns="0" rIns="0" tIns="0" bIns="0">
            <a:noAutofit/>
          </a:bodyPr>
          <a:lstStyle/>
          <a:p>
            <a:pPr algn="l">
              <a:lnSpc>
                <a:spcPts val="100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Zhong et al. (n.d.). AR-LSAT data.  </a:t>
            </a:r>
            <a:r>
              <a:rPr sz="810" b="0" lang="ja-JP" altLang="en-US">
                <a:solidFill>
                  <a:srgbClr val="626669"/>
                </a:solidFill>
                <a:latin typeface="Noto Sans"/>
                <a:ea typeface="Noto Sans CJK JP"/>
                <a:cs typeface="Noto Sans"/>
                <a:hlinkClick r:id="rId3"/>
              </a:rPr>
              <a:t>https://github.com/zhongwanjun/AR-LSAT/tree/main/data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解き方と元研究の評価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解き方と元研究の評価</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選んだ答えが、正解と一致した割合を測る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モデルは、条件文・設問・選択肢を受け取り、答えを一つ選ぶ。正解の選択肢を選べた問題の割合を正答率とする。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原研究は、文章から直接答えを予測する言語モデルと、条件を論理的な制約に変えて配置を探索するARMを比べた。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解き方と元研究の評価</a:t>
            </a:r>
          </a:p>
        </p:txBody>
      </p:sp>
      <p:sp>
        <p:nvSpPr>
          <p:cNvPr id="5" name="sources"/>
          <p:cNvSpPr txBox="1"/>
          <p:nvPr/>
        </p:nvSpPr>
        <p:spPr>
          <a:xfrm>
            <a:off x="502920" y="480060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Zhong et al. (2021). AR-LSAT: Investigating Analytical Reasoning of Text. arXiv:2104.06598v2.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https://arxiv.org/abs/2104.06598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論理的な探索を組み込むARMは30.9%</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解き方と元研究の評価</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5943600"/>
                <a:gridCol w="210312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方式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テスト正答率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BERT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21.4%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RoBERTa</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23.1%</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Analytical Reasoning Machine（ARM）</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30.9%</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92424"/>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原研究（2021年）、テスト230問の正答率。ARMは文章解析→論理関数→可能な配置の探索を行う。</a:t>
            </a:r>
          </a:p>
        </p:txBody>
      </p:sp>
      <p:sp>
        <p:nvSpPr>
          <p:cNvPr id="6" name="sources"/>
          <p:cNvSpPr txBox="1"/>
          <p:nvPr/>
        </p:nvSpPr>
        <p:spPr>
          <a:xfrm>
            <a:off x="502920" y="480060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Zhong et al. (2021). AR-LSAT: Investigating Analytical Reasoning of Text. arXiv:2104.06598v2.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https://arxiv.org/abs/2104.06598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専門訓練を受けていない学生の平均は59.7%</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原研究は、AR-LSATから約100問を選び、文学・商学・法学を専攻する大学生10人に回答してもらった。LSATの専門訓練を受けていない学生の平均正答率は59.7%だった。</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モデルの表はテスト230問、人の値は別の約100問を使った結果である。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解き方と元研究の評価</a:t>
            </a:r>
          </a:p>
        </p:txBody>
      </p:sp>
      <p:sp>
        <p:nvSpPr>
          <p:cNvPr id="5" name="sources"/>
          <p:cNvSpPr txBox="1"/>
          <p:nvPr/>
        </p:nvSpPr>
        <p:spPr>
          <a:xfrm>
            <a:off x="502920" y="480060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Zhong et al. (2021). AR-LSAT: Investigating Analytical Reasoning of Text. arXiv:2104.06598v2.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https://arxiv.org/abs/2104.06598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研究での位置付けと入手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研究での位置付けと入手</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文章理解と、組合せ探索をつなぐ課題</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同じ条件文でも「可能」と「必須」では答え方が変わる。否定、only if、either…or、人数の上下限を正しく読み、複数の条件を同時に満たす配置を考える。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ARMは参加者・位置・論理関数を文章から抽出し、可能な配置を探索する。条件の読み取りと、その条件を使った推論の両方を研究できる。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研究での位置付けと入手</a:t>
            </a:r>
          </a:p>
        </p:txBody>
      </p:sp>
      <p:sp>
        <p:nvSpPr>
          <p:cNvPr id="5" name="sources"/>
          <p:cNvSpPr txBox="1"/>
          <p:nvPr/>
        </p:nvSpPr>
        <p:spPr>
          <a:xfrm>
            <a:off x="502920" y="480060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Zhong et al. (2021). AR-LSAT: Investigating Analytical Reasoning of Text. arXiv:2104.06598v2.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https://arxiv.org/abs/2104.06598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条件文と最初の設問をJSONから読む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研究での位置付けと入手</a:t>
            </a:r>
          </a:p>
        </p:txBody>
      </p:sp>
      <p:sp>
        <p:nvSpPr>
          <p:cNvPr id="4" name="TextBox 3"/>
          <p:cNvSpPr txBox="1"/>
          <p:nvPr/>
        </p:nvSpPr>
        <p:spPr>
          <a:xfrm>
            <a:off x="548640" y="1316736"/>
            <a:ext cx="8046720" cy="365760"/>
          </a:xfrm>
          <a:prstGeom prst="rect">
            <a:avLst/>
          </a:prstGeom>
          <a:noFill/>
        </p:spPr>
        <p:txBody>
          <a:bodyPr wrap="square" lIns="0" rIns="0" tIns="0" bIns="0">
            <a:noAutofit/>
          </a:bodyPr>
          <a:lstStyle/>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公式配布のdata/AR_TestData.jsonを読み込む。</a:t>
            </a:r>
          </a:p>
        </p:txBody>
      </p:sp>
      <p:sp>
        <p:nvSpPr>
          <p:cNvPr id="5" name="code-frame"/>
          <p:cNvSpPr/>
          <p:nvPr/>
        </p:nvSpPr>
        <p:spPr>
          <a:xfrm>
            <a:off x="548640" y="1828800"/>
            <a:ext cx="8046720" cy="18626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42333" bIns="127000">
            <a:noAutofit/>
          </a:bodyPr>
          <a:lstStyle/>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import json</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with open('data/AR_TestData.json', encoding='utf-8') as f:</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    passages = json.load(f)</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p = passages[0]</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q = p['questions'][0]</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print(p['passage'])</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print(q['question'], q['options'], q['answer'])</a:t>
            </a:r>
          </a:p>
        </p:txBody>
      </p:sp>
      <p:sp>
        <p:nvSpPr>
          <p:cNvPr id="6" name="TextBox 5"/>
          <p:cNvSpPr txBox="1"/>
          <p:nvPr/>
        </p:nvSpPr>
        <p:spPr>
          <a:xfrm>
            <a:off x="594360" y="3843866"/>
            <a:ext cx="7955279" cy="594360"/>
          </a:xfrm>
          <a:prstGeom prst="rect">
            <a:avLst/>
          </a:prstGeom>
          <a:noFill/>
        </p:spPr>
        <p:txBody>
          <a:bodyPr wrap="square" lIns="0" rIns="0" tIns="0" bIns="0">
            <a:noAutofit/>
          </a:bodyPr>
          <a:lstStyle/>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passageが共通の条件文。questionsに設問、optionsに候補、answerに正解の記号がある。</a:t>
            </a:r>
          </a:p>
        </p:txBody>
      </p:sp>
      <p:sp>
        <p:nvSpPr>
          <p:cNvPr id="7" name="sources"/>
          <p:cNvSpPr txBox="1"/>
          <p:nvPr/>
        </p:nvSpPr>
        <p:spPr>
          <a:xfrm>
            <a:off x="502920" y="480060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Zhong et al. (n.d.). AR-LSAT.</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https://github.com/zhongwanjun/AR-LSAT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公式リポジトリから、データと研究コードを入手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公式GitHubは、学習・開発・テストのJSONと、言語モデル・ARMの研究コードを公開している。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リポジトリにはMIT Licenseがある。問題文はLSAT試験に由来するため、再利用時には配布元の条件と元試験問題の権利も確認する。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研究での位置付けと入手</a:t>
            </a:r>
          </a:p>
        </p:txBody>
      </p:sp>
      <p:sp>
        <p:nvSpPr>
          <p:cNvPr id="5" name="sources"/>
          <p:cNvSpPr txBox="1"/>
          <p:nvPr/>
        </p:nvSpPr>
        <p:spPr>
          <a:xfrm>
            <a:off x="502920" y="480060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Zhong et al. (n.d.). AR-LSAT.</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https://github.com/zhongwanjun/AR-LSAT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条件を読み、可能な配置から答えを選ぶ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AR-LSATは、1991〜2016年のLSATに由来する英語の分析的推論問題を集めたデータセットである。順序・グループ・割当を、文章の条件から考える。</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条件文を共有する複数の設問と正解があり、可能・必須・不可能を読み分ける力を調べられる。原研究では、論理的探索を使うARMのテスト正答率が30.9%だった。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研究での位置付けと入手</a:t>
            </a:r>
          </a:p>
        </p:txBody>
      </p:sp>
      <p:sp>
        <p:nvSpPr>
          <p:cNvPr id="5" name="sources"/>
          <p:cNvSpPr txBox="1"/>
          <p:nvPr/>
        </p:nvSpPr>
        <p:spPr>
          <a:xfrm>
            <a:off x="502920" y="480060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Zhong et al. (2021). AR-LSAT: Investigating Analytical Reasoning of Text. arXiv:2104.06598v2.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https://arxiv.org/abs/2104.06598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84835"/>
            <a:ext cx="8046720" cy="712216"/>
          </a:xfrm>
        </p:spPr>
        <p:txBody>
          <a:bodyPr wrap="square" lIns="0" rIns="0" tIns="0" bIns="12700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2281121"/>
            <a:ext cx="7863840" cy="112776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追加の実例</a:t>
            </a:r>
          </a:p>
          <a:p>
            <a:pPr marL="457200" indent="-457200">
              <a:lnSpc>
                <a:spcPts val="3660"/>
              </a:lnSpc>
              <a:spcAft>
                <a:spcPts val="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実例4：仲間に誘った順番を絞り込む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71016"/>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条件文・設問・5選択肢の原文全文</a:t>
            </a:r>
          </a:p>
        </p:txBody>
      </p:sp>
      <p:sp>
        <p:nvSpPr>
          <p:cNvPr id="5" name="quote-frame"/>
          <p:cNvSpPr/>
          <p:nvPr/>
        </p:nvSpPr>
        <p:spPr>
          <a:xfrm>
            <a:off x="548640" y="1517904"/>
            <a:ext cx="8046720" cy="2709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4703"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A detective is trying to determine the order in which a criminal recruited seven accomplices—Peters, Quinn, Rovero, Stanton, Tao, Villas, and White. In addition to discovering that the suspect recruited the accomplices one at a time, the detective has established the following: Stanton was recruited neither immediately before nor immediately after Tao. Quinn was recruited earlier than Rovero. Villas was recruited immediately before White. Peters was recruited fourth.</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If White was recruited immediately before Quinn, which one of the following must have been recruited sixth?</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A. Quinn   /   B. Rovero   /   C. Stanton   /   D. Villas   /   E. White</a:t>
            </a:r>
          </a:p>
        </p:txBody>
      </p:sp>
      <p:sp>
        <p:nvSpPr>
          <p:cNvPr id="6" name="TextBox 5"/>
          <p:cNvSpPr txBox="1"/>
          <p:nvPr/>
        </p:nvSpPr>
        <p:spPr>
          <a:xfrm>
            <a:off x="594360" y="4303437"/>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正解：B</a:t>
            </a:r>
          </a:p>
        </p:txBody>
      </p:sp>
      <p:sp>
        <p:nvSpPr>
          <p:cNvPr id="7" name="sources"/>
          <p:cNvSpPr txBox="1"/>
          <p:nvPr/>
        </p:nvSpPr>
        <p:spPr>
          <a:xfrm>
            <a:off x="502920" y="480060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Zhong et al. (n.d.). AR-LSAT: AR_TestData.json.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https://github.com/zhongwanjun/AR-LSAT/blob/main/data/AR_TestData.json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71016"/>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対応する日本語訳</a:t>
            </a:r>
          </a:p>
        </p:txBody>
      </p:sp>
      <p:sp>
        <p:nvSpPr>
          <p:cNvPr id="5" name="quote-frame"/>
          <p:cNvSpPr/>
          <p:nvPr/>
        </p:nvSpPr>
        <p:spPr>
          <a:xfrm>
            <a:off x="548640" y="1517904"/>
            <a:ext cx="8046720" cy="2573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1637"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刑事が、ある犯人がPeters、Quinn、Rovero、Stanton、Tao、Villas、Whiteの7人を仲間に誘った順番を調べている。1人ずつ誘ったことに加え、次のことが分かっている。StantonはTaoの直前でも直後でもない。QuinnはRoveroより先。VillasはWhiteの直前。Petersは4番目。</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WhiteがQuinnの直前だった場合、必ず6番目に誘われたのは誰か。</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A. Quinn   /   B. Rovero   /   C. Stanton   /   D. Villas   /   E. White</a:t>
            </a:r>
          </a:p>
        </p:txBody>
      </p:sp>
      <p:sp>
        <p:nvSpPr>
          <p:cNvPr id="6" name="TextBox 5"/>
          <p:cNvSpPr txBox="1"/>
          <p:nvPr/>
        </p:nvSpPr>
        <p:spPr>
          <a:xfrm>
            <a:off x="594360" y="4167970"/>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正解：B</a:t>
            </a:r>
          </a:p>
        </p:txBody>
      </p:sp>
      <p:sp>
        <p:nvSpPr>
          <p:cNvPr id="7" name="sources"/>
          <p:cNvSpPr txBox="1"/>
          <p:nvPr/>
        </p:nvSpPr>
        <p:spPr>
          <a:xfrm>
            <a:off x="502920" y="480060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Zhong et al. (n.d.). AR-LSAT: AR_TestData.json.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https://github.com/zhongwanjun/AR-LSAT/blob/main/data/AR_TestData.json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実例5：メンバーとリーダーを選ぶ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71016"/>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条件文・設問・5選択肢の原文全文</a:t>
            </a:r>
          </a:p>
        </p:txBody>
      </p:sp>
      <p:sp>
        <p:nvSpPr>
          <p:cNvPr id="5" name="quote-frame"/>
          <p:cNvSpPr/>
          <p:nvPr/>
        </p:nvSpPr>
        <p:spPr>
          <a:xfrm>
            <a:off x="548640" y="1517904"/>
            <a:ext cx="8046720" cy="2709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4703"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Seven workers—Quinn, Ruiz, Smith, Taylor, Verma, Wells, and Xue—are being considered for a special project. Exactly three of the workers will be selected to be project members, and exactly one of these project members will be the project leader. The selection is subject to the following constraints: Quinn or Ruiz can be a project member only if leading the project. If Smith is a project member, Taylor must also be. If Wells is a project member, neither Ruiz nor Verma can be.</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If Taylor is not a project member, which one of the following workers must be a project member?</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A. Quinn   /   B. Ruiz   /   C. Verma   /   D. Wells   /   E. Xue</a:t>
            </a:r>
          </a:p>
        </p:txBody>
      </p:sp>
      <p:sp>
        <p:nvSpPr>
          <p:cNvPr id="6" name="TextBox 5"/>
          <p:cNvSpPr txBox="1"/>
          <p:nvPr/>
        </p:nvSpPr>
        <p:spPr>
          <a:xfrm>
            <a:off x="594360" y="4303437"/>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正解：E</a:t>
            </a:r>
          </a:p>
        </p:txBody>
      </p:sp>
      <p:sp>
        <p:nvSpPr>
          <p:cNvPr id="7" name="sources"/>
          <p:cNvSpPr txBox="1"/>
          <p:nvPr/>
        </p:nvSpPr>
        <p:spPr>
          <a:xfrm>
            <a:off x="502920" y="480060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Zhong et al. (n.d.). AR-LSAT: AR_TestData.json.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https://github.com/zhongwanjun/AR-LSAT/blob/main/data/AR_TestData.json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71016"/>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対応する日本語訳</a:t>
            </a:r>
          </a:p>
        </p:txBody>
      </p:sp>
      <p:sp>
        <p:nvSpPr>
          <p:cNvPr id="5" name="quote-frame"/>
          <p:cNvSpPr/>
          <p:nvPr/>
        </p:nvSpPr>
        <p:spPr>
          <a:xfrm>
            <a:off x="548640" y="1517904"/>
            <a:ext cx="8046720" cy="25654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317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Quinn、Ruiz、Smith、Taylor、Verma、Wells、Xueの7人から、特別プロジェクトのメンバーをちょうど3人選ぶ。そのうち、ちょうど1人をリーダーにする。QuinnまたはRuizがメンバーになるには、その人がリーダーでなければならない。Smithを選ぶならTaylorも選ぶ。Wellsを選ぶならRuizもVermaも選ばない。</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Taylorを選ばない場合、必ずメンバーになるのは誰か。</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A. Quinn   /   B. Ruiz   /   C. Verma   /   D. Wells   /   E. Xue</a:t>
            </a:r>
          </a:p>
        </p:txBody>
      </p:sp>
      <p:sp>
        <p:nvSpPr>
          <p:cNvPr id="6" name="TextBox 5"/>
          <p:cNvSpPr txBox="1"/>
          <p:nvPr/>
        </p:nvSpPr>
        <p:spPr>
          <a:xfrm>
            <a:off x="594360" y="4159504"/>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正解：E</a:t>
            </a:r>
          </a:p>
        </p:txBody>
      </p:sp>
      <p:sp>
        <p:nvSpPr>
          <p:cNvPr id="7" name="sources"/>
          <p:cNvSpPr txBox="1"/>
          <p:nvPr/>
        </p:nvSpPr>
        <p:spPr>
          <a:xfrm>
            <a:off x="502920" y="480060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Zhong et al. (n.d.). AR-LSAT: AR_TestData.json.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https://github.com/zhongwanjun/AR-LSAT/blob/main/data/AR_TestData.json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実例6：異なる分野の記事を並べる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71016"/>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条件文・設問・5選択肢の原文全文</a:t>
            </a:r>
          </a:p>
        </p:txBody>
      </p:sp>
      <p:sp>
        <p:nvSpPr>
          <p:cNvPr id="5" name="quote-frame"/>
          <p:cNvSpPr/>
          <p:nvPr/>
        </p:nvSpPr>
        <p:spPr>
          <a:xfrm>
            <a:off x="548640" y="1517904"/>
            <a:ext cx="8046720" cy="2675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4703"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An editor will edit seven articles, one at a time. Three of the articles—G, H, and J—cover finance; three other articles—Q, R, and S—cover nutrition; and the remaining article, Y, covers wildlife. The order in which the articles are edited is subject to the following conditions: Consecutive articles cannot cover the same topic as each other. S can be earlier than Q only if Q is third. S must be earlier than Y. J must be earlier than G, and G must be earlier than R.</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Which one of the following could be true?</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A. G is second   /   B. H is second.   /   C. S is second   /   D. R is third.   /   E. Y is third</a:t>
            </a:r>
          </a:p>
        </p:txBody>
      </p:sp>
      <p:sp>
        <p:nvSpPr>
          <p:cNvPr id="6" name="TextBox 5"/>
          <p:cNvSpPr txBox="1"/>
          <p:nvPr/>
        </p:nvSpPr>
        <p:spPr>
          <a:xfrm>
            <a:off x="594360" y="4269570"/>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正解：B</a:t>
            </a:r>
          </a:p>
        </p:txBody>
      </p:sp>
      <p:sp>
        <p:nvSpPr>
          <p:cNvPr id="7" name="sources"/>
          <p:cNvSpPr txBox="1"/>
          <p:nvPr/>
        </p:nvSpPr>
        <p:spPr>
          <a:xfrm>
            <a:off x="502920" y="480060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Zhong et al. (n.d.). AR-LSAT: AR_TestData.json.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https://github.com/zhongwanjun/AR-LSAT/blob/main/data/AR_TestData.json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71016"/>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対応する日本語訳</a:t>
            </a:r>
          </a:p>
        </p:txBody>
      </p:sp>
      <p:sp>
        <p:nvSpPr>
          <p:cNvPr id="5" name="quote-frame"/>
          <p:cNvSpPr/>
          <p:nvPr/>
        </p:nvSpPr>
        <p:spPr>
          <a:xfrm>
            <a:off x="548640" y="1517904"/>
            <a:ext cx="8046720" cy="2548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1637"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編集者が7本の記事を1本ずつ編集する。G、H、Jは金融、Q、R、Sは栄養、Yは野生生物を扱う。同じ分野の記事を続けて編集してはならない。SがQより先になるには、Qが3番目でなければならない。SはYより先。JはGより先で、GはRより先。</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次のうち、成立する可能性があるのはどれか。</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A. Gが2番目   /   B. Hが2番目   /   C. Sが2番目   /   D. Rが3番目   /   E. Yが3番目</a:t>
            </a:r>
          </a:p>
        </p:txBody>
      </p:sp>
      <p:sp>
        <p:nvSpPr>
          <p:cNvPr id="6" name="TextBox 5"/>
          <p:cNvSpPr txBox="1"/>
          <p:nvPr/>
        </p:nvSpPr>
        <p:spPr>
          <a:xfrm>
            <a:off x="594360" y="4142570"/>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正解：B</a:t>
            </a:r>
          </a:p>
        </p:txBody>
      </p:sp>
      <p:sp>
        <p:nvSpPr>
          <p:cNvPr id="7" name="sources"/>
          <p:cNvSpPr txBox="1"/>
          <p:nvPr/>
        </p:nvSpPr>
        <p:spPr>
          <a:xfrm>
            <a:off x="502920" y="480060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Zhong et al. (n.d.). AR-LSAT: AR_TestData.json.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https://github.com/zhongwanjun/AR-LSAT/blob/main/data/AR_TestData.json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実例7：荷物と積み込み区画</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71016"/>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条件文・設問・5選択肢の原文全文</a:t>
            </a:r>
          </a:p>
        </p:txBody>
      </p:sp>
      <p:sp>
        <p:nvSpPr>
          <p:cNvPr id="5" name="quote-frame"/>
          <p:cNvSpPr/>
          <p:nvPr/>
        </p:nvSpPr>
        <p:spPr>
          <a:xfrm>
            <a:off x="548640" y="1517904"/>
            <a:ext cx="8046720" cy="2726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4703"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A loading dock consists of exactly six bays numbered 1 through 6 consecutively from one side of the dock to the other. Each bay is holding a different one of exactly six types of cargo—fuel, grain, livestock, machinery, produce, or textiles. The following apply: The bay holding grain has a higher number than the bay holding livestock. The bay holding livestock has a higher number than the bay holding textiles. The bay holding produce has a higher number than the bay holding fuel. The bay holding textiles is next to the bay holding produce.</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Which one of the following CANNOT be the type of cargo held in bay 4?</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A. grain   /   B. livestock   /   C. machinery   /   D. produce   /   E. textiles</a:t>
            </a:r>
          </a:p>
        </p:txBody>
      </p:sp>
      <p:sp>
        <p:nvSpPr>
          <p:cNvPr id="6" name="TextBox 5"/>
          <p:cNvSpPr txBox="1"/>
          <p:nvPr/>
        </p:nvSpPr>
        <p:spPr>
          <a:xfrm>
            <a:off x="594360" y="4320370"/>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正解：A</a:t>
            </a:r>
          </a:p>
        </p:txBody>
      </p:sp>
      <p:sp>
        <p:nvSpPr>
          <p:cNvPr id="7" name="sources"/>
          <p:cNvSpPr txBox="1"/>
          <p:nvPr/>
        </p:nvSpPr>
        <p:spPr>
          <a:xfrm>
            <a:off x="502920" y="480060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Zhong et al. (n.d.). AR-LSAT: AR_TestData.json.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https://github.com/zhongwanjun/AR-LSAT/blob/main/data/AR_TestData.json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71016"/>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対応する日本語訳</a:t>
            </a:r>
          </a:p>
        </p:txBody>
      </p:sp>
      <p:sp>
        <p:nvSpPr>
          <p:cNvPr id="5" name="quote-frame"/>
          <p:cNvSpPr/>
          <p:nvPr/>
        </p:nvSpPr>
        <p:spPr>
          <a:xfrm>
            <a:off x="548640" y="1517904"/>
            <a:ext cx="8046720" cy="22436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1637"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荷積み場には、一方から順に1〜6と番号を付けた6区画がある。各区画には、燃料、穀物、家畜、機械、農産物、繊維製品のうち、異なる1種類を置く。穀物の番号は家畜より大きく、家畜の番号は繊維製品より大きい。農産物の番号は燃料より大きい。繊維製品の区画は農産物の区画と隣接する。</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区画4に置くことができない荷物はどれか。</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A. 穀物   /   B. 家畜   /   C. 機械   /   D. 農産物   /   E. 繊維製品</a:t>
            </a:r>
          </a:p>
        </p:txBody>
      </p:sp>
      <p:sp>
        <p:nvSpPr>
          <p:cNvPr id="6" name="TextBox 5"/>
          <p:cNvSpPr txBox="1"/>
          <p:nvPr/>
        </p:nvSpPr>
        <p:spPr>
          <a:xfrm>
            <a:off x="594360" y="3837770"/>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正解：A</a:t>
            </a:r>
          </a:p>
        </p:txBody>
      </p:sp>
      <p:sp>
        <p:nvSpPr>
          <p:cNvPr id="7" name="sources"/>
          <p:cNvSpPr txBox="1"/>
          <p:nvPr/>
        </p:nvSpPr>
        <p:spPr>
          <a:xfrm>
            <a:off x="502920" y="480060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Zhong et al. (n.d.). AR-LSAT: AR_TestData.json.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https://github.com/zhongwanjun/AR-LSAT/blob/main/data/AR_TestData.json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実例8：8曲の演奏順を決める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71016"/>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条件文・設問・5選択肢の原文全文</a:t>
            </a:r>
          </a:p>
        </p:txBody>
      </p:sp>
      <p:sp>
        <p:nvSpPr>
          <p:cNvPr id="5" name="quote-frame"/>
          <p:cNvSpPr/>
          <p:nvPr/>
        </p:nvSpPr>
        <p:spPr>
          <a:xfrm>
            <a:off x="548640" y="1517904"/>
            <a:ext cx="8046720" cy="24976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3170" bIns="127000">
            <a:noAutofit/>
          </a:bodyPr>
          <a:lstStyle/>
          <a:p>
            <a:pPr algn="l">
              <a:lnSpc>
                <a:spcPts val="1874"/>
              </a:lnSpc>
              <a:spcBef>
                <a:spcPts val="0"/>
              </a:spcBef>
              <a:spcAft>
                <a:spcPts val="0"/>
              </a:spcAft>
              <a:buNone/>
              <a:defRPr sz="1575" b="0">
                <a:solidFill>
                  <a:srgbClr val="303437"/>
                </a:solidFill>
                <a:latin typeface="Noto Sans"/>
              </a:defRPr>
            </a:pPr>
            <a:r>
              <a:rPr sz="1575" b="0" lang="ja-JP" altLang="en-US">
                <a:solidFill>
                  <a:srgbClr val="303437"/>
                </a:solidFill>
                <a:latin typeface="Noto Sans"/>
                <a:ea typeface="Noto Sans CJK JP"/>
                <a:cs typeface="Noto Sans"/>
              </a:rPr>
              <a:t>At a concert, exactly eight compositions—F, H, L, O, P, R, S, and T—are to be performed exactly once each, consecutively and one composition at a time. The order of their performance must satisfy the following conditions: T is performed either immediately before F or immediately after R. At least two compositions are performed either after F and before R, or after R and before F. O is performed either first or fifth. The eighth composition performed is either L or H. P is performed at some time before S. At least one composition is performed either after O and before S, or after S and before O.</a:t>
            </a:r>
          </a:p>
          <a:p>
            <a:pPr algn="l">
              <a:lnSpc>
                <a:spcPts val="1874"/>
              </a:lnSpc>
              <a:spcBef>
                <a:spcPts val="0"/>
              </a:spcBef>
              <a:spcAft>
                <a:spcPts val="0"/>
              </a:spcAft>
              <a:buNone/>
              <a:defRPr sz="1575" b="0">
                <a:solidFill>
                  <a:srgbClr val="303437"/>
                </a:solidFill>
                <a:latin typeface="Noto Sans"/>
              </a:defRPr>
            </a:pPr>
            <a:r>
              <a:rPr sz="1575" b="0" lang="ja-JP" altLang="en-US">
                <a:solidFill>
                  <a:srgbClr val="303437"/>
                </a:solidFill>
                <a:latin typeface="Noto Sans"/>
                <a:ea typeface="Noto Sans CJK JP"/>
                <a:cs typeface="Noto Sans"/>
              </a:rPr>
              <a:t>P CANNOT be performed</a:t>
            </a:r>
          </a:p>
          <a:p>
            <a:pPr algn="l">
              <a:lnSpc>
                <a:spcPts val="1874"/>
              </a:lnSpc>
              <a:spcBef>
                <a:spcPts val="0"/>
              </a:spcBef>
              <a:spcAft>
                <a:spcPts val="0"/>
              </a:spcAft>
              <a:buNone/>
              <a:defRPr sz="1575" b="0">
                <a:solidFill>
                  <a:srgbClr val="303437"/>
                </a:solidFill>
                <a:latin typeface="Noto Sans"/>
              </a:defRPr>
            </a:pPr>
            <a:r>
              <a:rPr sz="1575" b="0" lang="ja-JP" altLang="en-US">
                <a:solidFill>
                  <a:srgbClr val="303437"/>
                </a:solidFill>
                <a:latin typeface="Noto Sans"/>
                <a:ea typeface="Noto Sans CJK JP"/>
                <a:cs typeface="Noto Sans"/>
              </a:rPr>
              <a:t>A. second   /   B. third   /   C. fourth   /   D. sixth   /   E. seventh</a:t>
            </a:r>
          </a:p>
        </p:txBody>
      </p:sp>
      <p:sp>
        <p:nvSpPr>
          <p:cNvPr id="6" name="TextBox 5"/>
          <p:cNvSpPr txBox="1"/>
          <p:nvPr/>
        </p:nvSpPr>
        <p:spPr>
          <a:xfrm>
            <a:off x="594360" y="4091770"/>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正解：E</a:t>
            </a:r>
          </a:p>
        </p:txBody>
      </p:sp>
      <p:sp>
        <p:nvSpPr>
          <p:cNvPr id="7" name="sources"/>
          <p:cNvSpPr txBox="1"/>
          <p:nvPr/>
        </p:nvSpPr>
        <p:spPr>
          <a:xfrm>
            <a:off x="502920" y="480060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Zhong et al. (n.d.). AR-LSAT: AR_TestData.json.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https://github.com/zhongwanjun/AR-LSAT/blob/main/data/AR_TestData.json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71016"/>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対応する日本語訳</a:t>
            </a:r>
          </a:p>
        </p:txBody>
      </p:sp>
      <p:sp>
        <p:nvSpPr>
          <p:cNvPr id="5" name="quote-frame"/>
          <p:cNvSpPr/>
          <p:nvPr/>
        </p:nvSpPr>
        <p:spPr>
          <a:xfrm>
            <a:off x="548640" y="1517904"/>
            <a:ext cx="8046720" cy="22436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1637"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F、H、L、O、P、R、S、Tの8曲を、1曲ずつ続けて、それぞれ1回演奏する。TはFの直前、またはRの直後。FとRの間には少なくとも2曲入る。Oは1番目または5番目。8番目はLまたはH。PはSより先。OとSの間には少なくとも1曲入る。</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Pを演奏できない順番はどれか。</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A. 2番目   /   B. 3番目   /   C. 4番目   /   D. 6番目   /   E. 7番目</a:t>
            </a:r>
          </a:p>
        </p:txBody>
      </p:sp>
      <p:sp>
        <p:nvSpPr>
          <p:cNvPr id="6" name="TextBox 5"/>
          <p:cNvSpPr txBox="1"/>
          <p:nvPr/>
        </p:nvSpPr>
        <p:spPr>
          <a:xfrm>
            <a:off x="594360" y="3837770"/>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正解：E</a:t>
            </a:r>
          </a:p>
        </p:txBody>
      </p:sp>
      <p:sp>
        <p:nvSpPr>
          <p:cNvPr id="7" name="sources"/>
          <p:cNvSpPr txBox="1"/>
          <p:nvPr/>
        </p:nvSpPr>
        <p:spPr>
          <a:xfrm>
            <a:off x="502920" y="480060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Zhong et al. (n.d.). AR-LSAT: AR_TestData.json.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https://github.com/zhongwanjun/AR-LSAT/blob/main/data/AR_TestData.json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実例9：専門分野をまたぐ委員選び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71016"/>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条件文・設問・5選択肢の原文全文</a:t>
            </a:r>
          </a:p>
        </p:txBody>
      </p:sp>
      <p:sp>
        <p:nvSpPr>
          <p:cNvPr id="5" name="quote-frame"/>
          <p:cNvSpPr/>
          <p:nvPr/>
        </p:nvSpPr>
        <p:spPr>
          <a:xfrm>
            <a:off x="548640" y="1517904"/>
            <a:ext cx="8046720" cy="26416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3170" bIns="127000">
            <a:noAutofit/>
          </a:bodyPr>
          <a:lstStyle/>
          <a:p>
            <a:pPr algn="l">
              <a:lnSpc>
                <a:spcPts val="1993"/>
              </a:lnSpc>
              <a:spcBef>
                <a:spcPts val="0"/>
              </a:spcBef>
              <a:spcAft>
                <a:spcPts val="0"/>
              </a:spcAft>
              <a:buNone/>
              <a:defRPr sz="1675" b="0">
                <a:solidFill>
                  <a:srgbClr val="303437"/>
                </a:solidFill>
                <a:latin typeface="Noto Sans"/>
              </a:defRPr>
            </a:pPr>
            <a:r>
              <a:rPr sz="1675" b="0" lang="ja-JP" altLang="en-US">
                <a:solidFill>
                  <a:srgbClr val="303437"/>
                </a:solidFill>
                <a:latin typeface="Noto Sans"/>
                <a:ea typeface="Noto Sans CJK JP"/>
                <a:cs typeface="Noto Sans"/>
              </a:rPr>
              <a:t>A panel of five scientists will be formed. The panelists will be selected from among three botanists—F, G, and H—three chemists—K, L, and M—and three zoologists—P, Q, and R. Selection is governed by the following conditions: The panel must include at least one scientist of each of the three types. If more than one botanist is selected, then at most one zoologist is selected. F and K cannot both be selected. K and M cannot both be selected. If M is selected, both P and R must be selected.</a:t>
            </a:r>
          </a:p>
          <a:p>
            <a:pPr algn="l">
              <a:lnSpc>
                <a:spcPts val="1993"/>
              </a:lnSpc>
              <a:spcBef>
                <a:spcPts val="0"/>
              </a:spcBef>
              <a:spcAft>
                <a:spcPts val="0"/>
              </a:spcAft>
              <a:buNone/>
              <a:defRPr sz="1675" b="0">
                <a:solidFill>
                  <a:srgbClr val="303437"/>
                </a:solidFill>
                <a:latin typeface="Noto Sans"/>
              </a:defRPr>
            </a:pPr>
            <a:r>
              <a:rPr sz="1675" b="0" lang="ja-JP" altLang="en-US">
                <a:solidFill>
                  <a:srgbClr val="303437"/>
                </a:solidFill>
                <a:latin typeface="Noto Sans"/>
                <a:ea typeface="Noto Sans CJK JP"/>
                <a:cs typeface="Noto Sans"/>
              </a:rPr>
              <a:t>If four of the scientists selected are F, L, Q, and R, which one of the following must be the fifth scientist selected?</a:t>
            </a:r>
          </a:p>
          <a:p>
            <a:pPr algn="l">
              <a:lnSpc>
                <a:spcPts val="1993"/>
              </a:lnSpc>
              <a:spcBef>
                <a:spcPts val="0"/>
              </a:spcBef>
              <a:spcAft>
                <a:spcPts val="0"/>
              </a:spcAft>
              <a:buNone/>
              <a:defRPr sz="1675" b="0">
                <a:solidFill>
                  <a:srgbClr val="303437"/>
                </a:solidFill>
                <a:latin typeface="Noto Sans"/>
              </a:defRPr>
            </a:pPr>
            <a:r>
              <a:rPr sz="1675" b="0" lang="ja-JP" altLang="en-US">
                <a:solidFill>
                  <a:srgbClr val="303437"/>
                </a:solidFill>
                <a:latin typeface="Noto Sans"/>
                <a:ea typeface="Noto Sans CJK JP"/>
                <a:cs typeface="Noto Sans"/>
              </a:rPr>
              <a:t>A. G   /   B. H   /   C. K   /   D. M   /   E. P</a:t>
            </a:r>
          </a:p>
        </p:txBody>
      </p:sp>
      <p:sp>
        <p:nvSpPr>
          <p:cNvPr id="6" name="TextBox 5"/>
          <p:cNvSpPr txBox="1"/>
          <p:nvPr/>
        </p:nvSpPr>
        <p:spPr>
          <a:xfrm>
            <a:off x="594360" y="4235704"/>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正解：E</a:t>
            </a:r>
          </a:p>
        </p:txBody>
      </p:sp>
      <p:sp>
        <p:nvSpPr>
          <p:cNvPr id="7" name="sources"/>
          <p:cNvSpPr txBox="1"/>
          <p:nvPr/>
        </p:nvSpPr>
        <p:spPr>
          <a:xfrm>
            <a:off x="502920" y="480060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Zhong et al. (n.d.). AR-LSAT: AR_TestData.json.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https://github.com/zhongwanjun/AR-LSAT/blob/main/data/AR_TestData.json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71016"/>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対応する日本語訳</a:t>
            </a:r>
          </a:p>
        </p:txBody>
      </p:sp>
      <p:sp>
        <p:nvSpPr>
          <p:cNvPr id="5" name="quote-frame"/>
          <p:cNvSpPr/>
          <p:nvPr/>
        </p:nvSpPr>
        <p:spPr>
          <a:xfrm>
            <a:off x="548640" y="1517904"/>
            <a:ext cx="8046720" cy="2531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1637"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植物学者F、G、H、化学者K、L、M、動物学者P、Q、Rから、5人の委員を選ぶ。各分野から少なくとも1人を含める。植物学者を2人以上選ぶなら、動物学者は多くても1人。FとKは同時に選べず、KとMも同時に選べない。Mを選ぶなら、PとRも選ぶ。</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選ばれた4人がF、L、Q、Rである場合、5人目として必ず選ばれるのは誰か。</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A. G   /   B. H   /   C. K   /   D. M   /   E. P</a:t>
            </a:r>
          </a:p>
        </p:txBody>
      </p:sp>
      <p:sp>
        <p:nvSpPr>
          <p:cNvPr id="6" name="TextBox 5"/>
          <p:cNvSpPr txBox="1"/>
          <p:nvPr/>
        </p:nvSpPr>
        <p:spPr>
          <a:xfrm>
            <a:off x="594360" y="4125637"/>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正解：E</a:t>
            </a:r>
          </a:p>
        </p:txBody>
      </p:sp>
      <p:sp>
        <p:nvSpPr>
          <p:cNvPr id="7" name="sources"/>
          <p:cNvSpPr txBox="1"/>
          <p:nvPr/>
        </p:nvSpPr>
        <p:spPr>
          <a:xfrm>
            <a:off x="502920" y="480060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Zhong et al. (n.d.). AR-LSAT: AR_TestData.json.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https://github.com/zhongwanjun/AR-LSAT/blob/main/data/AR_TestData.json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実例10：二つのチームと進行役</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71016"/>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条件文・設問・5選択肢の原文全文</a:t>
            </a:r>
          </a:p>
        </p:txBody>
      </p:sp>
      <p:sp>
        <p:nvSpPr>
          <p:cNvPr id="5" name="quote-frame"/>
          <p:cNvSpPr/>
          <p:nvPr/>
        </p:nvSpPr>
        <p:spPr>
          <a:xfrm>
            <a:off x="548640" y="1517904"/>
            <a:ext cx="8046720" cy="25146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1637"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A teacher will assign each of five students—Juana, Kelly, Lateefah, Mei, and Olga—to exactly one of two research teams, the green team and the red team. One team will have two members, and the other will have three members. One member of each team will be designated as facilitator. The assignment must satisfy the following conditions: Juana is assigned to a different team than Olga is. Lateefah is assigned to the green team. Kelly is not a facilitator. Olga is a facilitator.</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Which one of the following must be true?</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A. Juana is assigned to the red team.   /   B. Lateefah is a facilitator.   /   C. Olga is assigned to the green team.   /   D. Juana and Mei are not both facilitators.   /   E. Neither Juana nor Kelly is a facilitator.</a:t>
            </a:r>
          </a:p>
        </p:txBody>
      </p:sp>
      <p:sp>
        <p:nvSpPr>
          <p:cNvPr id="6" name="TextBox 5"/>
          <p:cNvSpPr txBox="1"/>
          <p:nvPr/>
        </p:nvSpPr>
        <p:spPr>
          <a:xfrm>
            <a:off x="594360" y="4108704"/>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正解：D</a:t>
            </a:r>
          </a:p>
        </p:txBody>
      </p:sp>
      <p:sp>
        <p:nvSpPr>
          <p:cNvPr id="7" name="sources"/>
          <p:cNvSpPr txBox="1"/>
          <p:nvPr/>
        </p:nvSpPr>
        <p:spPr>
          <a:xfrm>
            <a:off x="502920" y="480060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Zhong et al. (n.d.). AR-LSAT: AR_TestData.json.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https://github.com/zhongwanjun/AR-LSAT/blob/main/data/AR_TestData.json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71016"/>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対応する日本語訳</a:t>
            </a:r>
          </a:p>
        </p:txBody>
      </p:sp>
      <p:sp>
        <p:nvSpPr>
          <p:cNvPr id="5" name="quote-frame"/>
          <p:cNvSpPr/>
          <p:nvPr/>
        </p:nvSpPr>
        <p:spPr>
          <a:xfrm>
            <a:off x="548640" y="1517904"/>
            <a:ext cx="8046720" cy="23706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1637" bIns="127000">
            <a:noAutofit/>
          </a:bodyPr>
          <a:lstStyle/>
          <a:p>
            <a:pPr algn="l">
              <a:lnSpc>
                <a:spcPts val="2201"/>
              </a:lnSpc>
              <a:spcBef>
                <a:spcPts val="0"/>
              </a:spcBef>
              <a:spcAft>
                <a:spcPts val="0"/>
              </a:spcAft>
              <a:buNone/>
              <a:defRPr sz="1950" b="0">
                <a:solidFill>
                  <a:srgbClr val="303437"/>
                </a:solidFill>
                <a:latin typeface="Noto Sans"/>
              </a:defRPr>
            </a:pPr>
            <a:r>
              <a:rPr sz="1850" b="0" lang="ja-JP" altLang="en-US">
                <a:solidFill>
                  <a:srgbClr val="303437"/>
                </a:solidFill>
                <a:latin typeface="Noto Sans"/>
                <a:ea typeface="Noto Sans CJK JP"/>
                <a:cs typeface="Noto Sans"/>
              </a:rPr>
              <a:t>教師がJuana、Kelly、Lateefah、Mei、Olgaの5人を、緑または赤のどちらか一方の研究チームに割り当てる。一方は2人、他方は3人。各チームで1人を進行役にする。JuanaとOlgaは別のチーム。Lateefahは緑チーム。Kellyは進行役ではない。Olgaは進行役。</a:t>
            </a:r>
          </a:p>
          <a:p>
            <a:pPr algn="l">
              <a:lnSpc>
                <a:spcPts val="2201"/>
              </a:lnSpc>
              <a:spcBef>
                <a:spcPts val="0"/>
              </a:spcBef>
              <a:spcAft>
                <a:spcPts val="0"/>
              </a:spcAft>
              <a:buNone/>
              <a:defRPr sz="1950" b="0">
                <a:solidFill>
                  <a:srgbClr val="303437"/>
                </a:solidFill>
                <a:latin typeface="Noto Sans"/>
              </a:defRPr>
            </a:pPr>
            <a:r>
              <a:rPr sz="1850" b="0" lang="ja-JP" altLang="en-US">
                <a:solidFill>
                  <a:srgbClr val="303437"/>
                </a:solidFill>
                <a:latin typeface="Noto Sans"/>
                <a:ea typeface="Noto Sans CJK JP"/>
                <a:cs typeface="Noto Sans"/>
              </a:rPr>
              <a:t>次のうち、必ず成り立つのはどれか。</a:t>
            </a:r>
          </a:p>
          <a:p>
            <a:pPr algn="l">
              <a:lnSpc>
                <a:spcPts val="2201"/>
              </a:lnSpc>
              <a:spcBef>
                <a:spcPts val="0"/>
              </a:spcBef>
              <a:spcAft>
                <a:spcPts val="0"/>
              </a:spcAft>
              <a:buNone/>
              <a:defRPr sz="1950" b="0">
                <a:solidFill>
                  <a:srgbClr val="303437"/>
                </a:solidFill>
                <a:latin typeface="Noto Sans"/>
              </a:defRPr>
            </a:pPr>
            <a:r>
              <a:rPr sz="1850" b="0" lang="ja-JP" altLang="en-US">
                <a:solidFill>
                  <a:srgbClr val="303437"/>
                </a:solidFill>
                <a:latin typeface="Noto Sans"/>
                <a:ea typeface="Noto Sans CJK JP"/>
                <a:cs typeface="Noto Sans"/>
              </a:rPr>
              <a:t>A. Juanaは赤チーム   /   B. Lateefahは進行役   /   C. Olgaは緑チーム   /   D. JuanaとMeiがともに進行役になることはない   /   E. JuanaもKellyも進行役ではない</a:t>
            </a:r>
          </a:p>
        </p:txBody>
      </p:sp>
      <p:sp>
        <p:nvSpPr>
          <p:cNvPr id="6" name="TextBox 5"/>
          <p:cNvSpPr txBox="1"/>
          <p:nvPr/>
        </p:nvSpPr>
        <p:spPr>
          <a:xfrm>
            <a:off x="594360" y="3964770"/>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正解：D</a:t>
            </a:r>
          </a:p>
        </p:txBody>
      </p:sp>
      <p:sp>
        <p:nvSpPr>
          <p:cNvPr id="7" name="sources"/>
          <p:cNvSpPr txBox="1"/>
          <p:nvPr/>
        </p:nvSpPr>
        <p:spPr>
          <a:xfrm>
            <a:off x="502920" y="480060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Zhong et al. (n.d.). AR-LSAT: AR_TestData.json.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https://github.com/zhongwanjun/AR-LSAT/blob/main/data/AR_TestData.json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実例11：営業担当者と三つの区域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71016"/>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条件文・設問・5選択肢の原文全文</a:t>
            </a:r>
          </a:p>
        </p:txBody>
      </p:sp>
      <p:sp>
        <p:nvSpPr>
          <p:cNvPr id="5" name="quote-frame"/>
          <p:cNvSpPr/>
          <p:nvPr/>
        </p:nvSpPr>
        <p:spPr>
          <a:xfrm>
            <a:off x="548640" y="1517904"/>
            <a:ext cx="8046720" cy="2548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3170" bIns="127000">
            <a:noAutofit/>
          </a:bodyPr>
          <a:lstStyle/>
          <a:p>
            <a:pPr algn="l">
              <a:lnSpc>
                <a:spcPts val="1874"/>
              </a:lnSpc>
              <a:spcBef>
                <a:spcPts val="0"/>
              </a:spcBef>
              <a:spcAft>
                <a:spcPts val="0"/>
              </a:spcAft>
              <a:buNone/>
              <a:defRPr sz="1575" b="0">
                <a:solidFill>
                  <a:srgbClr val="303437"/>
                </a:solidFill>
                <a:latin typeface="Noto Sans"/>
              </a:defRPr>
            </a:pPr>
            <a:r>
              <a:rPr sz="1575" b="0" lang="ja-JP" altLang="en-US">
                <a:solidFill>
                  <a:srgbClr val="303437"/>
                </a:solidFill>
                <a:latin typeface="Noto Sans"/>
                <a:ea typeface="Noto Sans CJK JP"/>
                <a:cs typeface="Noto Sans"/>
              </a:rPr>
              <a:t>A software company employs exactly seven sales representatives—Kim, Mahr, Parra, Quinn, Stuckey, Tiao, and Udall—to work in its three sales zones—Zone 1, Zone 2, and Zone 3. Each sales representative works in exactly one of the sales zones, in accordance with the following conditions: Either Parra or Tiao (but not both) works in Zone 1. Either Tiao or Udall (but not both) works in Zone 2. Parra and Quinn work in the same sales zone as each other. Stuckey and Udall work in the same sales zone as each other. There are more of the sales representatives working in Zone 3 than in Zone 2.</a:t>
            </a:r>
          </a:p>
          <a:p>
            <a:pPr algn="l">
              <a:lnSpc>
                <a:spcPts val="1874"/>
              </a:lnSpc>
              <a:spcBef>
                <a:spcPts val="0"/>
              </a:spcBef>
              <a:spcAft>
                <a:spcPts val="0"/>
              </a:spcAft>
              <a:buNone/>
              <a:defRPr sz="1575" b="0">
                <a:solidFill>
                  <a:srgbClr val="303437"/>
                </a:solidFill>
                <a:latin typeface="Noto Sans"/>
              </a:defRPr>
            </a:pPr>
            <a:r>
              <a:rPr sz="1575" b="0" lang="ja-JP" altLang="en-US">
                <a:solidFill>
                  <a:srgbClr val="303437"/>
                </a:solidFill>
                <a:latin typeface="Noto Sans"/>
                <a:ea typeface="Noto Sans CJK JP"/>
                <a:cs typeface="Noto Sans"/>
              </a:rPr>
              <a:t>Quinn CANNOT work in the same sales zone as which one of the following?</a:t>
            </a:r>
          </a:p>
          <a:p>
            <a:pPr algn="l">
              <a:lnSpc>
                <a:spcPts val="1874"/>
              </a:lnSpc>
              <a:spcBef>
                <a:spcPts val="0"/>
              </a:spcBef>
              <a:spcAft>
                <a:spcPts val="0"/>
              </a:spcAft>
              <a:buNone/>
              <a:defRPr sz="1575" b="0">
                <a:solidFill>
                  <a:srgbClr val="303437"/>
                </a:solidFill>
                <a:latin typeface="Noto Sans"/>
              </a:defRPr>
            </a:pPr>
            <a:r>
              <a:rPr sz="1575" b="0" lang="ja-JP" altLang="en-US">
                <a:solidFill>
                  <a:srgbClr val="303437"/>
                </a:solidFill>
                <a:latin typeface="Noto Sans"/>
                <a:ea typeface="Noto Sans CJK JP"/>
                <a:cs typeface="Noto Sans"/>
              </a:rPr>
              <a:t>A. Kim   /   B. Mahr   /   C. Stuckey   /   D. Tiao   /   E. Udall</a:t>
            </a:r>
          </a:p>
        </p:txBody>
      </p:sp>
      <p:sp>
        <p:nvSpPr>
          <p:cNvPr id="6" name="TextBox 5"/>
          <p:cNvSpPr txBox="1"/>
          <p:nvPr/>
        </p:nvSpPr>
        <p:spPr>
          <a:xfrm>
            <a:off x="594360" y="4142570"/>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正解：D</a:t>
            </a:r>
          </a:p>
        </p:txBody>
      </p:sp>
      <p:sp>
        <p:nvSpPr>
          <p:cNvPr id="7" name="sources"/>
          <p:cNvSpPr txBox="1"/>
          <p:nvPr/>
        </p:nvSpPr>
        <p:spPr>
          <a:xfrm>
            <a:off x="502920" y="480060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Zhong et al. (n.d.). AR-LSAT: AR_TestData.json.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https://github.com/zhongwanjun/AR-LSAT/blob/main/data/AR_TestData.json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71016"/>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対応する日本語訳</a:t>
            </a:r>
          </a:p>
        </p:txBody>
      </p:sp>
      <p:sp>
        <p:nvSpPr>
          <p:cNvPr id="5" name="quote-frame"/>
          <p:cNvSpPr/>
          <p:nvPr/>
        </p:nvSpPr>
        <p:spPr>
          <a:xfrm>
            <a:off x="548640" y="1517904"/>
            <a:ext cx="8046720" cy="25908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1637"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ソフトウェア会社の営業担当者Kim、Mahr、Parra、Quinn、Stuckey、Tiao、Udallの7人を、区域1、2、3のどれか一つに割り当てる。ParraとTiaoのうち、区域1にいるのは一方だけ。TiaoとUdallのうち、区域2にいるのは一方だけ。ParraとQuinnは同じ区域。StuckeyとUdallは同じ区域。区域3の人数は区域2より多い。</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Quinnと同じ区域に割り当てることができないのは誰か。</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A. Kim   /   B. Mahr   /   C. Stuckey   /   D. Tiao   /   E. Udall</a:t>
            </a:r>
          </a:p>
        </p:txBody>
      </p:sp>
      <p:sp>
        <p:nvSpPr>
          <p:cNvPr id="6" name="TextBox 5"/>
          <p:cNvSpPr txBox="1"/>
          <p:nvPr/>
        </p:nvSpPr>
        <p:spPr>
          <a:xfrm>
            <a:off x="594360" y="4184904"/>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正解：D</a:t>
            </a:r>
          </a:p>
        </p:txBody>
      </p:sp>
      <p:sp>
        <p:nvSpPr>
          <p:cNvPr id="7" name="sources"/>
          <p:cNvSpPr txBox="1"/>
          <p:nvPr/>
        </p:nvSpPr>
        <p:spPr>
          <a:xfrm>
            <a:off x="502920" y="480060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Zhong et al. (n.d.). AR-LSAT: AR_TestData.json.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https://github.com/zhongwanjun/AR-LSAT/blob/main/data/AR_TestData.json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実例12：本を三段の棚へ配置する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71016"/>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条件文・設問・5選択肢の原文全文</a:t>
            </a:r>
          </a:p>
        </p:txBody>
      </p:sp>
      <p:sp>
        <p:nvSpPr>
          <p:cNvPr id="5" name="quote-frame"/>
          <p:cNvSpPr/>
          <p:nvPr/>
        </p:nvSpPr>
        <p:spPr>
          <a:xfrm>
            <a:off x="548640" y="1517904"/>
            <a:ext cx="8046720" cy="24384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4703"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Exactly eight books—F, G, H, I, K, L, M, O—are placed on a bookcase with exactly three shelves—the top shelf, the middle shelf, and the bottom shelf. At least two books are placed on each shelf. The following conditions must apply: More of the books are placed on the bottom shelf than the top shelf. I is placed on the middle shelf. K is placed on a higher shelf than F. O is placed on a higher shelf than L. F is placed on the same shelf as M.</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Which one of the following could be a complete and accurate list of the books placed on the bottom shelf?</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A. F, M   /   B. F, H, M   /   C. G, H, K   /   D. F, G, M, O   /   E. G, H, L, M</a:t>
            </a:r>
          </a:p>
        </p:txBody>
      </p:sp>
      <p:sp>
        <p:nvSpPr>
          <p:cNvPr id="6" name="TextBox 5"/>
          <p:cNvSpPr txBox="1"/>
          <p:nvPr/>
        </p:nvSpPr>
        <p:spPr>
          <a:xfrm>
            <a:off x="594360" y="4032504"/>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正解：B</a:t>
            </a:r>
          </a:p>
        </p:txBody>
      </p:sp>
      <p:sp>
        <p:nvSpPr>
          <p:cNvPr id="7" name="sources"/>
          <p:cNvSpPr txBox="1"/>
          <p:nvPr/>
        </p:nvSpPr>
        <p:spPr>
          <a:xfrm>
            <a:off x="502920" y="480060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Zhong et al. (n.d.). AR-LSAT: AR_TestData.json.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https://github.com/zhongwanjun/AR-LSAT/blob/main/data/AR_TestData.json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71016"/>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対応する日本語訳</a:t>
            </a:r>
          </a:p>
        </p:txBody>
      </p:sp>
      <p:sp>
        <p:nvSpPr>
          <p:cNvPr id="5" name="quote-frame"/>
          <p:cNvSpPr/>
          <p:nvPr/>
        </p:nvSpPr>
        <p:spPr>
          <a:xfrm>
            <a:off x="548640" y="1517904"/>
            <a:ext cx="8046720" cy="2226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4007"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F、G、H、I、K、L、M、Oの8冊を、上段、中段、下段の3段の本棚に置く。各段に少なくとも2冊置く。下段は上段より冊数が多い。Iは中段。KはFより上の段。OはLより上の段。FとMは同じ段。</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下段に置く本を漏れなく挙げた一覧として、あり得るのはどれか。</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A. F・M   /   B. F・H・M   /   C. G・H・K   /   D. F・G・M・O   /   E. G・H・L・M</a:t>
            </a:r>
          </a:p>
        </p:txBody>
      </p:sp>
      <p:sp>
        <p:nvSpPr>
          <p:cNvPr id="6" name="TextBox 5"/>
          <p:cNvSpPr txBox="1"/>
          <p:nvPr/>
        </p:nvSpPr>
        <p:spPr>
          <a:xfrm>
            <a:off x="594360" y="3820837"/>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正解：B</a:t>
            </a:r>
          </a:p>
        </p:txBody>
      </p:sp>
      <p:sp>
        <p:nvSpPr>
          <p:cNvPr id="7" name="sources"/>
          <p:cNvSpPr txBox="1"/>
          <p:nvPr/>
        </p:nvSpPr>
        <p:spPr>
          <a:xfrm>
            <a:off x="502920" y="480060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Zhong et al. (n.d.). AR-LSAT: AR_TestData.json.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https://github.com/zhongwanjun/AR-LSAT/blob/main/data/AR_TestData.json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実例13：読書会の作品を選ぶ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71016"/>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条件文・設問・5選択肢の原文全文</a:t>
            </a:r>
          </a:p>
        </p:txBody>
      </p:sp>
      <p:sp>
        <p:nvSpPr>
          <p:cNvPr id="5" name="quote-frame"/>
          <p:cNvSpPr/>
          <p:nvPr/>
        </p:nvSpPr>
        <p:spPr>
          <a:xfrm>
            <a:off x="548640" y="1517904"/>
            <a:ext cx="8046720" cy="2700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1637"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The organizer of a reading club will select at least five and at most six works from a group of nine works. The group consists of three French novels, three Russian novels, two French plays, and one Russian play. The organizer's selection of works must conform to the following requirements: No more than four French works are selected. At least three but no more than four novels are selected. At least as many French novels as Russian novels are selected. If both French plays are selected, then the Russian play is not selected.</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The organizer must at least select</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A. one French novel and one French play   /   B. one French novel and one Russian play   /   C. one Russian novel and one French play   /   D. two French novels   /   E. two Russian novels</a:t>
            </a:r>
          </a:p>
        </p:txBody>
      </p:sp>
      <p:sp>
        <p:nvSpPr>
          <p:cNvPr id="6" name="TextBox 5"/>
          <p:cNvSpPr txBox="1"/>
          <p:nvPr/>
        </p:nvSpPr>
        <p:spPr>
          <a:xfrm>
            <a:off x="594360" y="4294970"/>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正解：D</a:t>
            </a:r>
          </a:p>
        </p:txBody>
      </p:sp>
      <p:sp>
        <p:nvSpPr>
          <p:cNvPr id="7" name="sources"/>
          <p:cNvSpPr txBox="1"/>
          <p:nvPr/>
        </p:nvSpPr>
        <p:spPr>
          <a:xfrm>
            <a:off x="502920" y="480060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Zhong et al. (n.d.). AR-LSAT: AR_TestData.json.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https://github.com/zhongwanjun/AR-LSAT/blob/main/data/AR_TestData.json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71016"/>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対応する日本語訳</a:t>
            </a:r>
          </a:p>
        </p:txBody>
      </p:sp>
      <p:sp>
        <p:nvSpPr>
          <p:cNvPr id="5" name="quote-frame"/>
          <p:cNvSpPr/>
          <p:nvPr/>
        </p:nvSpPr>
        <p:spPr>
          <a:xfrm>
            <a:off x="548640" y="1517904"/>
            <a:ext cx="8046720" cy="2726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0103"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読書会の主催者が、9作品から5〜6作品を選ぶ。候補はフランス小説3作、ロシア小説3作、フランス戯曲2作、ロシア戯曲1作。選ぶフランス作品は4作以下。小説は3〜4作。フランス小説の数はロシア小説以上。フランス戯曲を2作とも選ぶなら、ロシア戯曲は選ばない。</a:t>
            </a:r>
          </a:p>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最低限、次のどれを選ばなければならないか。</a:t>
            </a:r>
          </a:p>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A. フランス小説1作とフランス戯曲1作   /   B. フランス小説1作とロシア戯曲1作   /   C. ロシア小説1作とフランス戯曲1作   /   D. フランス小説2作   /   E. ロシア小説2作</a:t>
            </a:r>
          </a:p>
        </p:txBody>
      </p:sp>
      <p:sp>
        <p:nvSpPr>
          <p:cNvPr id="6" name="TextBox 5"/>
          <p:cNvSpPr txBox="1"/>
          <p:nvPr/>
        </p:nvSpPr>
        <p:spPr>
          <a:xfrm>
            <a:off x="594360" y="4320370"/>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正解：D</a:t>
            </a:r>
          </a:p>
        </p:txBody>
      </p:sp>
      <p:sp>
        <p:nvSpPr>
          <p:cNvPr id="7" name="sources"/>
          <p:cNvSpPr txBox="1"/>
          <p:nvPr/>
        </p:nvSpPr>
        <p:spPr>
          <a:xfrm>
            <a:off x="502920" y="480060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Zhong et al. (n.d.). AR-LSAT: AR_TestData.json.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https://github.com/zhongwanjun/AR-LSAT/blob/main/data/AR_TestData.json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参考文献</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参考文献</a:t>
            </a:r>
          </a:p>
        </p:txBody>
      </p:sp>
      <p:sp>
        <p:nvSpPr>
          <p:cNvPr id="4" name="文献 1: AR-LSAT: Investigating Analytical Reasoning of Text"/>
          <p:cNvSpPr txBox="1"/>
          <p:nvPr/>
        </p:nvSpPr>
        <p:spPr>
          <a:xfrm>
            <a:off x="548640" y="1463040"/>
            <a:ext cx="8046720" cy="1565202"/>
          </a:xfrm>
          <a:prstGeom prst="rect">
            <a:avLst/>
          </a:prstGeom>
          <a:noFill/>
        </p:spPr>
        <p:txBody>
          <a:bodyPr wrap="square" lIns="0" rIns="0" tIns="0" bIns="0">
            <a:noAutofit/>
          </a:bodyPr>
          <a:lstStyle/>
          <a:p>
            <a:pPr algn="l">
              <a:lnSpc>
                <a:spcPct val="114000"/>
              </a:lnSpc>
              <a:spcBef>
                <a:spcPts val="0"/>
              </a:spcBef>
              <a:spcAft>
                <a:spcPts val="400"/>
              </a:spcAft>
              <a:buNone/>
              <a:defRPr sz="1850" b="0">
                <a:solidFill>
                  <a:srgbClr val="303437"/>
                </a:solidFill>
                <a:latin typeface="Noto Sans"/>
              </a:defRPr>
            </a:pPr>
            <a:r>
              <a:rPr sz="1850" b="1" lang="ja-JP" altLang="en-US">
                <a:solidFill>
                  <a:srgbClr val="303437"/>
                </a:solidFill>
                <a:latin typeface="Noto Sans"/>
                <a:ea typeface="Noto Sans CJK JP"/>
                <a:cs typeface="Noto Sans"/>
              </a:rPr>
              <a:t>AR-LSAT: Investigating Analytical Reasoning of Text</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Wanjun Zhong et al. · 2021 · arXiv:2104.06598v2</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試験由来の分析的推論データを整備し、学習型の回答モデルと明示的な論理処理を比較する。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https://arxiv.org/abs/2104.06598</a:t>
            </a:r>
          </a:p>
        </p:txBody>
      </p:sp>
      <p:sp>
        <p:nvSpPr>
          <p:cNvPr id="5" name="文献 2: AR-LSAT"/>
          <p:cNvSpPr txBox="1"/>
          <p:nvPr/>
        </p:nvSpPr>
        <p:spPr>
          <a:xfrm>
            <a:off x="548640" y="3333042"/>
            <a:ext cx="8046720" cy="1565177"/>
          </a:xfrm>
          <a:prstGeom prst="rect">
            <a:avLst/>
          </a:prstGeom>
          <a:noFill/>
        </p:spPr>
        <p:txBody>
          <a:bodyPr wrap="square" lIns="0" rIns="0" tIns="0" bIns="0">
            <a:noAutofit/>
          </a:bodyPr>
          <a:lstStyle/>
          <a:p>
            <a:pPr algn="l">
              <a:lnSpc>
                <a:spcPct val="114000"/>
              </a:lnSpc>
              <a:spcBef>
                <a:spcPts val="0"/>
              </a:spcBef>
              <a:spcAft>
                <a:spcPts val="400"/>
              </a:spcAft>
              <a:buNone/>
              <a:defRPr sz="1850" b="0">
                <a:solidFill>
                  <a:srgbClr val="303437"/>
                </a:solidFill>
                <a:latin typeface="Noto Sans"/>
              </a:defRPr>
            </a:pPr>
            <a:r>
              <a:rPr sz="1850" b="1" lang="ja-JP" altLang="en-US">
                <a:solidFill>
                  <a:srgbClr val="303437"/>
                </a:solidFill>
                <a:latin typeface="Noto Sans"/>
                <a:ea typeface="Noto Sans CJK JP"/>
                <a:cs typeface="Noto Sans"/>
              </a:rPr>
              <a:t>AR-LSAT</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Wanjun Zhong et al. · n.d. · 公式リポジトリ · 参照2026-10-18</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分割データ、Transformer型の実験、Analytical Reasoning Machineの実装を公開する。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https://github.com/zhongwanjun/AR-LSAT</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2026-10-19T10:00:55Z</dcterms:modified>
  <dc:title>lsat</dc:title>
  <dc:creator>sasakiy84</dc:creator>
  <dcterms:created xsi:type="dcterms:W3CDTF">2026-10-19T10:00:55Z</dcterms:created>
  <dc:language>ja-JP</dc:language>
</cp:coreProperties>
</file>