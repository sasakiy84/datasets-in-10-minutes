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github.com/zhongwanjun/AR-LSA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104.06598"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zhongwanjun/AR-LSAT/blob/main/data/AR_TestData.json"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zhongwanjun/AR-LSAT/blob/main/data/AR_TestData.json"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lsat_qa"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104.06598"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4.06598" TargetMode="External"/><Relationship Id="rId3" Type="http://schemas.openxmlformats.org/officeDocument/2006/relationships/hyperlink" Target="https://github.com/zhongwanjun/AR-LSAT"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4.06598"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4.06598"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104.06598"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rfm.stanford.edu/helm/classic/v0.4.0/#/groups/lsat_qa"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lsat_qa"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lsat_qa"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4.06598"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104.06598"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104.06598" TargetMode="External"/><Relationship Id="rId3" Type="http://schemas.openxmlformats.org/officeDocument/2006/relationships/hyperlink" Target="https://arxiv.org/abs/2211.09110"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www.lsac.org/lsat/about/types-lsat-questions" TargetMode="External"/><Relationship Id="rId3" Type="http://schemas.openxmlformats.org/officeDocument/2006/relationships/hyperlink" Target="https://github.com/zhongwanjun/AR-LSAT"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zhongwanjun/AR-LSAT/blob/main/LICENSE" TargetMode="External"/><Relationship Id="rId3" Type="http://schemas.openxmlformats.org/officeDocument/2006/relationships/hyperlink" Target="https://arxiv.org/abs/2104.06598"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crfm.stanford.edu/helm/classic/v0.4.0/#/groups/lsat_qa"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zhongwanjun/AR-LSAT/blob/main/data/AR_TestData.json"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crfm.stanford.edu/helm/classic/v0.4.0/#/groups/lsat_qa"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stanford-crfm/helm/blob/v0.3.0/src/helm/benchmark/scenarios/lsat_qa_scenario.py"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zhongwanjun/AR-LSAT"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104.06598" TargetMode="External"/><Relationship Id="rId3" Type="http://schemas.openxmlformats.org/officeDocument/2006/relationships/hyperlink" Target="https://github.com/zhongwanjun/AR-LSAT"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211.09110" TargetMode="External"/><Relationship Id="rId3" Type="http://schemas.openxmlformats.org/officeDocument/2006/relationships/hyperlink" Target="https://crfm.stanford.edu/helm/classic/v0.4.0/#/groups/lsat_qa"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www.lsac.org/lsat/about/types-lsat-questions" TargetMode="External"/><Relationship Id="rId3" Type="http://schemas.openxmlformats.org/officeDocument/2006/relationships/hyperlink" Target="https://github.com/stanford-crfm/helm/blob/v0.3.0/src/helm/benchmark/scenarios/lsat_qa_scenario.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637627"/>
            <a:ext cx="8046720" cy="902970"/>
          </a:xfrm>
        </p:spPr>
        <p:txBody>
          <a:bodyPr wrap="square" lIns="0" rIns="0" tIns="0" bIns="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LSAT</a:t>
            </a:r>
          </a:p>
        </p:txBody>
      </p:sp>
      <p:sp>
        <p:nvSpPr>
          <p:cNvPr id="3" name="Subtitle 2"/>
          <p:cNvSpPr>
            <a:spLocks noGrp="1"/>
          </p:cNvSpPr>
          <p:nvPr>
            <p:ph type="subTitle" idx="1"/>
          </p:nvPr>
        </p:nvSpPr>
        <p:spPr>
          <a:xfrm>
            <a:off x="548640" y="2647277"/>
            <a:ext cx="8046720" cy="989965"/>
          </a:xfrm>
        </p:spPr>
        <p:txBody>
          <a:bodyPr lIns="0" rIns="0" tIns="0" bIns="0">
            <a:noAutofit/>
          </a:bodyPr>
          <a:lstStyle/>
          <a:p>
            <a:pPr algn="ctr">
              <a:lnSpc>
                <a:spcPct val="125000"/>
              </a:lnSpc>
              <a:spcAft>
                <a:spcPts val="1200"/>
              </a:spcAft>
              <a:buNone/>
              <a:defRPr sz="2200" b="0">
                <a:solidFill>
                  <a:srgbClr val="303437"/>
                </a:solidFill>
                <a:latin typeface="Noto Sans"/>
              </a:defRPr>
            </a:pPr>
            <a:r>
              <a:rPr sz="2200" b="0" lang="ja-JP" altLang="en-US">
                <a:solidFill>
                  <a:srgbClr val="303437"/>
                </a:solidFill>
                <a:latin typeface="Noto Sans"/>
                <a:ea typeface="Noto Sans CJK JP"/>
                <a:cs typeface="Noto Sans"/>
              </a:rPr>
              <a:t>Law School Admission Test</a:t>
            </a:r>
          </a:p>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AR-LSAT：条件を満たす配置を、言葉から推論する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000" b="0">
                <a:solidFill>
                  <a:srgbClr val="303437"/>
                </a:solidFill>
                <a:latin typeface="Noto Sans"/>
              </a:defRPr>
            </a:pPr>
            <a:r>
              <a:rPr sz="1000" b="0" lang="ja-JP" altLang="en-US">
                <a:solidFill>
                  <a:srgbClr val="626669"/>
                </a:solidFill>
                <a:latin typeface="Noto Sans"/>
                <a:ea typeface="Noto Sans CJK JP"/>
                <a:cs typeface="Noto Sans"/>
              </a:rPr>
              <a:t>datasets in 10 minutes (2026-10-18)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AR-LSATの公式データ・実装</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AR-LSAT</a:t>
            </a:r>
          </a:p>
        </p:txBody>
      </p:sp>
      <p:pic>
        <p:nvPicPr>
          <p:cNvPr id="4" name="Picture 3" descr="official-site.png"/>
          <p:cNvPicPr>
            <a:picLocks noChangeAspect="1"/>
          </p:cNvPicPr>
          <p:nvPr/>
        </p:nvPicPr>
        <p:blipFill>
          <a:blip r:embed="rId2"/>
          <a:stretch>
            <a:fillRect/>
          </a:stretch>
        </p:blipFill>
        <p:spPr>
          <a:xfrm>
            <a:off x="2121408" y="1481328"/>
            <a:ext cx="4901184" cy="3063240"/>
          </a:xfrm>
          <a:prstGeom prst="rect">
            <a:avLst/>
          </a:prstGeom>
        </p:spPr>
      </p:pic>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公式データ・実装。2026-10-18取得。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https://github.com/zhongwanjun/AR-LSAT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条件を読んで、五つから選ぶ</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収集とデータの構成</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HELMの実行条件と公開成績</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研究での位置付けと入手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条件を読んで、五つから選ぶ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条件を読んで、五つから選ぶ</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条件から、可能な配置を絞り込む</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AR-LSATは、LSAT（ロースクール入学適性試験）の分析的推論問題を集めた英語データセット。本資料の評価例は5択。法律の条文知識ではなく、文章で指定した条件の組合せを扱う。</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登場人物・順番・所属・役割などの条件を読み、配置として可能か、常に必要か、成立しないかを判断する。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条件を読んで、五つから選ぶ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(2021). AR-LSAT: Investigating Analytical Reasoning of Text. arXiv:2104.06598v2.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https://arxiv.org/abs/2104.06598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入力は条件文・設問・五つの候補</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一つの条件文を複数の設問で共有する。HELMの評価設問は、5候補から正解を一つ選ぶ。設問で追加された条件や、否定・例外の指定も入力の一部。</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次の3例は公開テストから選んだ。条件・設問・全選択肢・正解を原文の1頁に収め、その直後に対応する日本語訳を示す。</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条件を読んで、五つから選ぶ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実例1：歌手のオーディションを順に並べる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条件を読んで、五つから選ぶ</a:t>
            </a:r>
          </a:p>
        </p:txBody>
      </p:sp>
      <p:sp>
        <p:nvSpPr>
          <p:cNvPr id="4" name="TextBox 3"/>
          <p:cNvSpPr txBox="1"/>
          <p:nvPr/>
        </p:nvSpPr>
        <p:spPr>
          <a:xfrm>
            <a:off x="548640" y="127101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条件・設問・5選択肢の原文全文（表示上の改行・区切りを追加）</a:t>
            </a:r>
          </a:p>
        </p:txBody>
      </p:sp>
      <p:sp>
        <p:nvSpPr>
          <p:cNvPr id="5" name="quote-frame"/>
          <p:cNvSpPr/>
          <p:nvPr/>
        </p:nvSpPr>
        <p:spPr>
          <a:xfrm>
            <a:off x="548640" y="1517904"/>
            <a:ext cx="8046720" cy="263858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933"/>
              </a:lnSpc>
              <a:spcBef>
                <a:spcPts val="0"/>
              </a:spcBef>
              <a:spcAft>
                <a:spcPts val="0"/>
              </a:spcAft>
              <a:buNone/>
              <a:defRPr sz="1625" b="0">
                <a:solidFill>
                  <a:srgbClr val="303437"/>
                </a:solidFill>
                <a:latin typeface="Noto Sans"/>
              </a:defRPr>
            </a:pPr>
            <a:r>
              <a:rPr sz="1625" b="0" lang="ja-JP" altLang="en-US">
                <a:solidFill>
                  <a:srgbClr val="303437"/>
                </a:solidFill>
                <a:latin typeface="Noto Sans"/>
                <a:ea typeface="Noto Sans CJK JP"/>
                <a:cs typeface="Noto Sans"/>
              </a:rPr>
              <a:t>A chorus director is planning to audition exactly six singers: Kammer, Lugo, Trillo, Waite, Yoshida, and Zinn. Kammer's audition and Lugo's audition will be recorded; the other four will not be. The six auditions are to take place one after the other on a single day, in accordance with the following conditions: The fourth audition cannot be recorded. The fifth audition must be recorded. Waite's audition must take place earlier than the two recorded auditions. Kammer's audition must take place earlier than Trillo's audition. Zinn's audition must take place earlier than Yoshida's audition.</a:t>
            </a:r>
          </a:p>
          <a:p>
            <a:pPr algn="l">
              <a:lnSpc>
                <a:spcPts val="1933"/>
              </a:lnSpc>
              <a:spcBef>
                <a:spcPts val="0"/>
              </a:spcBef>
              <a:spcAft>
                <a:spcPts val="0"/>
              </a:spcAft>
              <a:buNone/>
              <a:defRPr sz="1625" b="0">
                <a:solidFill>
                  <a:srgbClr val="303437"/>
                </a:solidFill>
                <a:latin typeface="Noto Sans"/>
              </a:defRPr>
            </a:pPr>
            <a:r>
              <a:rPr sz="1625" b="0" lang="ja-JP" altLang="en-US">
                <a:solidFill>
                  <a:srgbClr val="303437"/>
                </a:solidFill>
                <a:latin typeface="Noto Sans"/>
                <a:ea typeface="Noto Sans CJK JP"/>
                <a:cs typeface="Noto Sans"/>
              </a:rPr>
              <a:t>Yoshida's audition could be</a:t>
            </a:r>
          </a:p>
          <a:p>
            <a:pPr algn="l">
              <a:lnSpc>
                <a:spcPts val="1933"/>
              </a:lnSpc>
              <a:spcBef>
                <a:spcPts val="0"/>
              </a:spcBef>
              <a:spcAft>
                <a:spcPts val="0"/>
              </a:spcAft>
              <a:buNone/>
              <a:defRPr sz="1625" b="0">
                <a:solidFill>
                  <a:srgbClr val="303437"/>
                </a:solidFill>
                <a:latin typeface="Noto Sans"/>
              </a:defRPr>
            </a:pPr>
            <a:r>
              <a:rPr sz="1625" b="0" lang="ja-JP" altLang="en-US">
                <a:solidFill>
                  <a:srgbClr val="303437"/>
                </a:solidFill>
                <a:latin typeface="Noto Sans"/>
                <a:ea typeface="Noto Sans CJK JP"/>
                <a:cs typeface="Noto Sans"/>
              </a:rPr>
              <a:t>A. fifth   /   B. fourth   /   C. third   /   D. second   /   E. first</a:t>
            </a:r>
          </a:p>
        </p:txBody>
      </p:sp>
      <p:sp>
        <p:nvSpPr>
          <p:cNvPr id="6" name="TextBox 5"/>
          <p:cNvSpPr txBox="1"/>
          <p:nvPr/>
        </p:nvSpPr>
        <p:spPr>
          <a:xfrm>
            <a:off x="594360" y="4443984"/>
            <a:ext cx="7955279"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正解：B</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 201606_2-G_4_22 / HELM id2066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条件を読んで、五つから選ぶ</a:t>
            </a:r>
          </a:p>
        </p:txBody>
      </p:sp>
      <p:sp>
        <p:nvSpPr>
          <p:cNvPr id="4" name="TextBox 3"/>
          <p:cNvSpPr txBox="1"/>
          <p:nvPr/>
        </p:nvSpPr>
        <p:spPr>
          <a:xfrm>
            <a:off x="548640" y="127101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対応する日本語訳。人名・記号は原綴りを保持。</a:t>
            </a:r>
          </a:p>
        </p:txBody>
      </p:sp>
      <p:sp>
        <p:nvSpPr>
          <p:cNvPr id="5" name="quote-frame"/>
          <p:cNvSpPr/>
          <p:nvPr/>
        </p:nvSpPr>
        <p:spPr>
          <a:xfrm>
            <a:off x="548640" y="1517904"/>
            <a:ext cx="8046720" cy="230281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合唱の指揮者が、Kammer、Lugo、Trillo、Waite、Yoshida、Zinnの6人を、同じ日に1人ずつ続けて審査する。KammerとLugoの審査は録音し、残り4人は録音しない。4番目は録音せず、5番目は録音する。Waiteは録音する2人より先。KammerはTrilloより先。ZinnはYoshidaより先。</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Yoshidaの審査が行われる順番として、可能なのはどれか。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A. 5番目   /   B. 4番目   /   C. 3番目   /   D. 2番目   /   E. 1番目</a:t>
            </a:r>
          </a:p>
        </p:txBody>
      </p:sp>
      <p:sp>
        <p:nvSpPr>
          <p:cNvPr id="6" name="TextBox 5"/>
          <p:cNvSpPr txBox="1"/>
          <p:nvPr/>
        </p:nvSpPr>
        <p:spPr>
          <a:xfrm>
            <a:off x="594360" y="4443984"/>
            <a:ext cx="7955279"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正解：B</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 201606_2-G_4_22 / HELM id2066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実例2：条件付きのチーム選抜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条件を読んで、五つから選ぶ</a:t>
            </a:r>
          </a:p>
        </p:txBody>
      </p:sp>
      <p:sp>
        <p:nvSpPr>
          <p:cNvPr id="4" name="TextBox 3"/>
          <p:cNvSpPr txBox="1"/>
          <p:nvPr/>
        </p:nvSpPr>
        <p:spPr>
          <a:xfrm>
            <a:off x="548640" y="127101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条件・設問・5選択肢の原文全文（表示上の改行・区切りを追加）</a:t>
            </a:r>
          </a:p>
        </p:txBody>
      </p:sp>
      <p:sp>
        <p:nvSpPr>
          <p:cNvPr id="5" name="quote-frame"/>
          <p:cNvSpPr/>
          <p:nvPr/>
        </p:nvSpPr>
        <p:spPr>
          <a:xfrm>
            <a:off x="548640" y="1517904"/>
            <a:ext cx="8046720" cy="275494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 corporate manager is selecting employees for a research team. The team will include at least four employees, all from among the following eight: Myers, Ortega, Paine, Schmidt, Thomson, Wong, Yoder, and Zayre. The selection is constrained by the following conditions: If Myers is on the team, neither Ortega nor Paine can be. If Schmidt is on the team, both Paine and Thomson must also be. If Wong is on the team, both Myers and Yoder must also be.</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If Yoder is not on the team, then any of the following could be on the team EXCEPT:</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 Zayre   /   B. Thomson   /   C. Paine   /   D. Ortega   /   E. Myers</a:t>
            </a:r>
          </a:p>
        </p:txBody>
      </p:sp>
      <p:sp>
        <p:nvSpPr>
          <p:cNvPr id="6" name="TextBox 5"/>
          <p:cNvSpPr txBox="1"/>
          <p:nvPr/>
        </p:nvSpPr>
        <p:spPr>
          <a:xfrm>
            <a:off x="594360" y="4443984"/>
            <a:ext cx="7955279"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正解：E</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 201310_3-G_2_10 / HELM id1985</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条件を読んで、五つから選ぶ</a:t>
            </a:r>
          </a:p>
        </p:txBody>
      </p:sp>
      <p:sp>
        <p:nvSpPr>
          <p:cNvPr id="4" name="TextBox 3"/>
          <p:cNvSpPr txBox="1"/>
          <p:nvPr/>
        </p:nvSpPr>
        <p:spPr>
          <a:xfrm>
            <a:off x="548640" y="127101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対応する日本語訳。人名・記号は原綴りを保持。</a:t>
            </a:r>
          </a:p>
        </p:txBody>
      </p:sp>
      <p:sp>
        <p:nvSpPr>
          <p:cNvPr id="5" name="quote-frame"/>
          <p:cNvSpPr/>
          <p:nvPr/>
        </p:nvSpPr>
        <p:spPr>
          <a:xfrm>
            <a:off x="548640" y="1517904"/>
            <a:ext cx="8046720" cy="254319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企業の管理者が、Myers、Ortega、Paine、Schmidt、Thomson、Wong、Yoder、Zayreの8人から4人以上を研究チームに選ぶ。Myersを選ぶならOrtegaもPaineも選べない。Schmidtを選ぶならPaineとThomsonも選ぶ。Wongを選ぶならMyersとYoderも選ぶ。</a:t>
            </a:r>
          </a:p>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Yoderを選ばない場合、次のうちチームに選ばれる可能性がないのは誰か。</a:t>
            </a:r>
          </a:p>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A. Zayre   /   B. Thomson   /   C. Paine   /   D. Ortega   /   E. Myers</a:t>
            </a:r>
          </a:p>
        </p:txBody>
      </p:sp>
      <p:sp>
        <p:nvSpPr>
          <p:cNvPr id="6" name="TextBox 5"/>
          <p:cNvSpPr txBox="1"/>
          <p:nvPr/>
        </p:nvSpPr>
        <p:spPr>
          <a:xfrm>
            <a:off x="594360" y="4443984"/>
            <a:ext cx="7955279"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正解：E</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 201310_3-G_2_10 / HELM id1985</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実例3：複数の作品を担当する学生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条件を読んで、五つから選ぶ</a:t>
            </a:r>
          </a:p>
        </p:txBody>
      </p:sp>
      <p:sp>
        <p:nvSpPr>
          <p:cNvPr id="4" name="TextBox 3"/>
          <p:cNvSpPr txBox="1"/>
          <p:nvPr/>
        </p:nvSpPr>
        <p:spPr>
          <a:xfrm>
            <a:off x="548640" y="127101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条件・設問・5選択肢の原文全文（表示上の改行・区切りを追加）</a:t>
            </a:r>
          </a:p>
        </p:txBody>
      </p:sp>
      <p:sp>
        <p:nvSpPr>
          <p:cNvPr id="5" name="quote-frame"/>
          <p:cNvSpPr/>
          <p:nvPr/>
        </p:nvSpPr>
        <p:spPr>
          <a:xfrm>
            <a:off x="548640" y="1517904"/>
            <a:ext cx="8046720" cy="276123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For the school paper, five students—Jiang, Kramer, Lopez, Megregian, and O'Neill—each review one or more of exactly three plays: Sunset, Tamerlane, and Undulation, but do not review any other plays. The following conditions must apply: Kramer and Lopez each review fewer of the plays than Megregian. Neither Lopez nor Megregian reviews any play Jiang reviews. Kramer and O'Neill both review Tamerlane. Exactly two of the students review exactly the same play or plays as each other.</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Which one of the following could be an accurate and complete list of the students who review only Sunset?</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A. Lopez   /   B. O'Neill   /   C. Jiang, Lopez   /   D. Kramer, O'Neill   /   E. Lopez, Megregian</a:t>
            </a:r>
          </a:p>
        </p:txBody>
      </p:sp>
      <p:sp>
        <p:nvSpPr>
          <p:cNvPr id="6" name="TextBox 5"/>
          <p:cNvSpPr txBox="1"/>
          <p:nvPr/>
        </p:nvSpPr>
        <p:spPr>
          <a:xfrm>
            <a:off x="594360" y="4443984"/>
            <a:ext cx="7955279"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正解：A</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 200312_1-G_4_19 / HELM id1903</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条件を読んで、五つから選ぶ</a:t>
            </a:r>
          </a:p>
        </p:txBody>
      </p:sp>
      <p:sp>
        <p:nvSpPr>
          <p:cNvPr id="4" name="TextBox 3"/>
          <p:cNvSpPr txBox="1"/>
          <p:nvPr/>
        </p:nvSpPr>
        <p:spPr>
          <a:xfrm>
            <a:off x="548640" y="127101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対応する日本語訳。人名・記号は原綴りを保持。</a:t>
            </a:r>
          </a:p>
        </p:txBody>
      </p:sp>
      <p:sp>
        <p:nvSpPr>
          <p:cNvPr id="5" name="quote-frame"/>
          <p:cNvSpPr/>
          <p:nvPr/>
        </p:nvSpPr>
        <p:spPr>
          <a:xfrm>
            <a:off x="548640" y="1517904"/>
            <a:ext cx="8046720" cy="275494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学内新聞のため、Jiang、Kramer、Lopez、Megregian、O’Neillの5人が、Sunset、Tamerlane、Undulationの3作品から、それぞれ1作品以上を批評する。他の作品は扱わない。KramerとLopezの担当数は、それぞれMegregianより少ない。Jiangが担当する作品は、LopezもMegregianも担当しない。KramerとO’NeillはともにTamerlaneを担当する。互いにまったく同じ作品集合を担当する学生が、ちょうど2人いる。</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Sunsetだけを担当する学生の、正確かつ全員を含む一覧として可能なのはどれか。</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 Lopez   /   B. O’Neill   /   C. Jiang、Lopez   /   D. Kramer、O’Neill   /   E. Lopez、Megregian</a:t>
            </a:r>
          </a:p>
        </p:txBody>
      </p:sp>
      <p:sp>
        <p:nvSpPr>
          <p:cNvPr id="6" name="TextBox 5"/>
          <p:cNvSpPr txBox="1"/>
          <p:nvPr/>
        </p:nvSpPr>
        <p:spPr>
          <a:xfrm>
            <a:off x="594360" y="4443984"/>
            <a:ext cx="7955279"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正解：A</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 200312_1-G_4_19 / HELM id1903</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実例1：条件を満たす審査順の一例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条件を読んで、五つから選ぶ</a:t>
            </a:r>
          </a:p>
        </p:txBody>
      </p:sp>
      <p:graphicFrame>
        <p:nvGraphicFramePr>
          <p:cNvPr id="4" name="Table 3"/>
          <p:cNvGraphicFramePr>
            <a:graphicFrameLocks noGrp="1"/>
          </p:cNvGraphicFramePr>
          <p:nvPr/>
        </p:nvGraphicFramePr>
        <p:xfrm>
          <a:off x="548640" y="1508760"/>
          <a:ext cx="8046720" cy="1261872"/>
        </p:xfrm>
        <a:graphic>
          <a:graphicData uri="http://schemas.openxmlformats.org/drawingml/2006/table">
            <a:tbl>
              <a:tblPr firstRow="0" bandRow="0"/>
              <a:tblGrid>
                <a:gridCol w="914400"/>
                <a:gridCol w="1188720"/>
                <a:gridCol w="1188720"/>
                <a:gridCol w="1188720"/>
                <a:gridCol w="1188720"/>
                <a:gridCol w="1188720"/>
                <a:gridCol w="1188720"/>
              </a:tblGrid>
              <a:tr h="420624">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順番</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2</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3</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4</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5</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6</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歌手</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Waite</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Zinn</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Kammer</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Yoshida</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Lugo</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Trillo</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録音</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なし</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なし</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あり</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なし</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あり</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1839"/>
                        </a:lnSpc>
                        <a:buNone/>
                        <a:defRPr sz="1600" b="0">
                          <a:solidFill>
                            <a:srgbClr val="303437"/>
                          </a:solidFill>
                          <a:latin typeface="Noto Sans"/>
                        </a:defRPr>
                      </a:pPr>
                      <a:r>
                        <a:rPr sz="1600" b="0" lang="ja-JP" altLang="en-US">
                          <a:solidFill>
                            <a:srgbClr val="303437"/>
                          </a:solidFill>
                          <a:latin typeface="Noto Sans"/>
                          <a:ea typeface="Noto Sans CJK JP"/>
                          <a:cs typeface="Noto Sans"/>
                        </a:rPr>
                        <a:t>なし</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2971800"/>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Yoshidaは4番目にできる。全720通りを独立列挙すると、条件を満たす10通りで位置は4または6。選択肢ではBだけが可能。</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実例2：選べる人数の下限まで考える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Yoderを選ばないなら、Wongも選べない。さらにMyersを選ぶと、OrtegaとPaineは選べず、Paineが必要なSchmidtも選べない。</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残るのはMyers・Thomson・Zayreの3人。4人以上という条件を満たせないため、Myersは選べない。正解はE。</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条件を読んで、五つから選ぶ</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三つの例で、公開モデルの出力を見る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条件を読んで、五つから選ぶ</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2423160"/>
                <a:gridCol w="914400"/>
                <a:gridCol w="3566160"/>
                <a:gridCol w="1143000"/>
              </a:tblGrid>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実例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正解</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text-davinci-003の出力</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正誤</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歌手の順番</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B</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B</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研究チーム</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E</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作品の担当</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A</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C</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公開test、第1試行の実出力。ここでは選択文字を表示する。13例は理解のための選定で、全体成績の標本推定ではない。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LSAT. 2023-11-17の固定版。2026-10-18参照。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https://crfm.stanford.edu/helm/classic/v0.4.0/#/groups/lsat_qa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収集とデータの構成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収集とデータの構成</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1991〜2016年の試験問題から集めた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Zhongらは約90回のLSAT試験から、分析的推論の設問を収集した。5選択肢を持つ問題を残し、AR-LSATとして2021年に公開した。</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原研究は、学習済み言語モデルによる回答と、文章から事実・論理関数を抽出して配置を探索するAnalytical Reasoning Machine（ARM）を比較した。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収集とデータの構成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(2021). AR-LSAT: Investigating Analytical Reasoning of Text. arXiv:2104.06598v2.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https://arxiv.org/abs/2104.06598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原論文と現在の公開ファイルを分ける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収集とデータの構成</a:t>
            </a:r>
          </a:p>
        </p:txBody>
      </p:sp>
      <p:graphicFrame>
        <p:nvGraphicFramePr>
          <p:cNvPr id="4" name="Table 3"/>
          <p:cNvGraphicFramePr>
            <a:graphicFrameLocks noGrp="1"/>
          </p:cNvGraphicFramePr>
          <p:nvPr/>
        </p:nvGraphicFramePr>
        <p:xfrm>
          <a:off x="548640" y="1508760"/>
          <a:ext cx="8046720" cy="2103120"/>
        </p:xfrm>
        <a:graphic>
          <a:graphicData uri="http://schemas.openxmlformats.org/drawingml/2006/table">
            <a:tbl>
              <a:tblPr firstRow="0" bandRow="0"/>
              <a:tblGrid>
                <a:gridCol w="1280160"/>
                <a:gridCol w="2377440"/>
                <a:gridCol w="4389120"/>
              </a:tblGrid>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分割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論文（2021）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公開JSON（今回取得）</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学習</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1,585問</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1,630問（4択45問）／280条件文</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開発</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231問</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231問／40条件文</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テスト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230問</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230問／40条件文</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合計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2,046問</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2,091問／360条件文</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1304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現在のテスト230問はHELM公開入力・全選択肢・正解と全件一致。学習件数の差の理由は資料に記載がない。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(2021). AR-LSAT: Investigating Analytical Reasoning of Text. arXiv:2104.06598v2.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https://arxiv.org/abs/2104.06598</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Zhong et al. AR-LSAT, 公式データ・実装。2026-10-18取得。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https://github.com/zhongwanjun/AR-LSAT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主なゲームは、順序・集団・割当</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収集とデータの構成</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1828800"/>
                <a:gridCol w="4297680"/>
                <a:gridCol w="192024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種類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何を決めるか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論文の割合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順序</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人や出来事の並び</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42.5%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グループ分け</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どの集団に所属するか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38.75%</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割当</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人と日程・役割などの対応</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18.75%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手作業で分類したゲーム種類の割合。現在配布の欠損を含むtagsを数え直した値ではない。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(2021). AR-LSAT: Investigating Analytical Reasoning of Text. arXiv:2104.06598v2.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https://arxiv.org/abs/2104.06598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論文では、何を問うかも分類した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収集とデータの構成</a:t>
            </a:r>
          </a:p>
        </p:txBody>
      </p:sp>
      <p:graphicFrame>
        <p:nvGraphicFramePr>
          <p:cNvPr id="4" name="Table 3"/>
          <p:cNvGraphicFramePr>
            <a:graphicFrameLocks noGrp="1"/>
          </p:cNvGraphicFramePr>
          <p:nvPr/>
        </p:nvGraphicFramePr>
        <p:xfrm>
          <a:off x="548640" y="1508760"/>
          <a:ext cx="8046720" cy="2523744"/>
        </p:xfrm>
        <a:graphic>
          <a:graphicData uri="http://schemas.openxmlformats.org/drawingml/2006/table">
            <a:tbl>
              <a:tblPr firstRow="0" bandRow="0"/>
              <a:tblGrid>
                <a:gridCol w="6217920"/>
                <a:gridCol w="1828800"/>
              </a:tblGrid>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設問の型</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テスト中の割合</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可能な完成形を選ぶ</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15.6%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正確で完全な一覧を選ぶ</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3.5%</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成り立つ／成り立たない可能性</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26.8%</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必ず真／必ず偽</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26.4%</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否定を含む問い</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14.7%</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233672"/>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代表的な設問型の一部。列挙した区分だけで全設問を尽くす表ではない。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(2021). AR-LSAT: Investigating Analytical Reasoning of Text. arXiv:2104.06598v2.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https://arxiv.org/abs/2104.06598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正解ラベルと、論理注釈を区別する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公開データには条件文、設問、選択肢、正解ラベル、ID、設問のtagsが含まれる。正解は問題に付属する選択肢ラベルとして与えられる。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ARMは参加者・位置・論理関数を抽出する。原研究は開発データで参加者・位置を人手注釈して抽出性能を測ったが、全問題に完成した論理式を付けたデータセットではない。</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現在の学習分割には4択が45問ある。開発231問・テスト230問は全て5択で、HELMの評価に使われる。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収集とデータの構成</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(2021). AR-LSAT: Investigating Analytical Reasoning of Text. arXiv:2104.06598v2.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https://arxiv.org/abs/2104.06598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HELMの実行条件と公開成績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HELMの実行条件と公開成績</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HELMは、五つの候補を一度に提示する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公開の標準条件はmultiple_choice_joint。英語の指示と、正解付きの学習例5件を示してから、条件文・設問・A〜Eの選択肢をまとめて入力する。</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モデルは選択文字を一つ出す。選択文字を元の選択肢へ対応付け、正解候補との一致をquasi_exact_matchで採点する。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HELMの実行条件と公開成績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LSAT. 2023-11-17の固定版。2026-10-18参照。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https://crfm.stanford.edu/helm/classic/v0.4.0/#/groups/lsat_qa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全230問の正答率を比較する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HELMの実行条件と公開成績</a:t>
            </a:r>
          </a:p>
        </p:txBody>
      </p:sp>
      <p:graphicFrame>
        <p:nvGraphicFramePr>
          <p:cNvPr id="4" name="Table 3"/>
          <p:cNvGraphicFramePr>
            <a:graphicFrameLocks noGrp="1"/>
          </p:cNvGraphicFramePr>
          <p:nvPr/>
        </p:nvGraphicFramePr>
        <p:xfrm>
          <a:off x="548640" y="1508760"/>
          <a:ext cx="8046720" cy="1828800"/>
        </p:xfrm>
        <a:graphic>
          <a:graphicData uri="http://schemas.openxmlformats.org/drawingml/2006/table">
            <a:tbl>
              <a:tblPr firstRow="0" bandRow="0"/>
              <a:tblGrid>
                <a:gridCol w="4663440"/>
                <a:gridCol w="1371600"/>
                <a:gridCol w="2011680"/>
              </a:tblGrid>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モデル（公開時期）</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試行数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正答率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OPT-175B（2022）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22.03%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text-davinci-003（2022）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23.33%</a:t>
                      </a:r>
                    </a:p>
                  </a:txBody>
                  <a:tcPr marL="63500" marR="63500" marT="38100" marB="38100" anchor="ctr">
                    <a:lnL w="7620">
                      <a:noFill/>
                    </a:lnL>
                    <a:lnR w="7620">
                      <a:noFill/>
                    </a:lnR>
                    <a:lnT w="7620">
                      <a:noFill/>
                    </a:lnT>
                    <a:lnB w="7620">
                      <a:noFill/>
                    </a:lnB>
                    <a:solidFill>
                      <a:srgbClr val="FFFEF8"/>
                    </a:solidFill>
                  </a:tcPr>
                </a:tc>
              </a:tr>
              <a:tr h="457200">
                <a:tc>
                  <a:txBody>
                    <a:bodyPr wrap="square">
                      <a:noAutofit/>
                    </a:bodyPr>
                    <a:lstStyle/>
                    <a:p>
                      <a:pPr algn="l">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Llama 2 70B（2023）</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415"/>
                        </a:lnSpc>
                        <a:buNone/>
                        <a:defRPr sz="2100" b="0">
                          <a:solidFill>
                            <a:srgbClr val="303437"/>
                          </a:solidFill>
                          <a:latin typeface="Noto Sans"/>
                        </a:defRPr>
                      </a:pPr>
                      <a:r>
                        <a:rPr sz="2100" b="0" lang="ja-JP" altLang="en-US">
                          <a:solidFill>
                            <a:srgbClr val="303437"/>
                          </a:solidFill>
                          <a:latin typeface="Noto Sans"/>
                          <a:ea typeface="Noto Sans CJK JP"/>
                          <a:cs typeface="Noto Sans"/>
                        </a:rPr>
                        <a:t>23.48%</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538728"/>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Classic v0.4.0の掲載値、run suite v0.3.0。5択の一様ランダム期待値は20%。現在のモデル順位を示す表ではない。</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LSAT. 2023-11-17の固定版。2026-10-18参照。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https://crfm.stanford.edu/helm/classic/v0.4.0/#/groups/lsat_qa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各試行を、全実出力から再計算した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HELMの実行条件と公開成績</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3383280"/>
                <a:gridCol w="1554480"/>
                <a:gridCol w="1554480"/>
                <a:gridCol w="1554480"/>
              </a:tblGrid>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試行0</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試行1</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試行2</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OPT-175B</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19.13%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22.61%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24.35%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text-davinci-003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22.61%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23.48%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23.91%</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Llama 2 70B</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23.48%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各試行230問。同一の公開出力を再集計し、3モデルとも公開集計と一致した。</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LSAT. 2023-11-17の固定版。2026-10-18参照。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https://crfm.stanford.edu/helm/classic/v0.4.0/#/groups/lsat_qa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原研究では、探索を組み込む方法も比較</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HELMの実行条件と公開成績</a:t>
            </a:r>
          </a:p>
        </p:txBody>
      </p:sp>
      <p:graphicFrame>
        <p:nvGraphicFramePr>
          <p:cNvPr id="4" name="Table 3"/>
          <p:cNvGraphicFramePr>
            <a:graphicFrameLocks noGrp="1"/>
          </p:cNvGraphicFramePr>
          <p:nvPr/>
        </p:nvGraphicFramePr>
        <p:xfrm>
          <a:off x="548640" y="1508760"/>
          <a:ext cx="8046720" cy="1682496"/>
        </p:xfrm>
        <a:graphic>
          <a:graphicData uri="http://schemas.openxmlformats.org/drawingml/2006/table">
            <a:tbl>
              <a:tblPr firstRow="0" bandRow="0"/>
              <a:tblGrid>
                <a:gridCol w="5943600"/>
                <a:gridCol w="210312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方式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テスト正答率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BERT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21.4%</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RoBERTa</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23.1%</a:t>
                      </a:r>
                    </a:p>
                  </a:txBody>
                  <a:tcPr marL="63500" marR="63500" marT="38100" marB="38100" anchor="ctr">
                    <a:lnL w="7620">
                      <a:noFill/>
                    </a:lnL>
                    <a:lnR w="7620">
                      <a:noFill/>
                    </a:lnR>
                    <a:lnT w="7620">
                      <a:noFill/>
                    </a:lnT>
                    <a:lnB w="7620">
                      <a:noFill/>
                    </a:lnB>
                    <a:solidFill>
                      <a:srgbClr val="FFFEF8"/>
                    </a:solidFill>
                  </a:tcPr>
                </a:tc>
              </a:tr>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Analytical Reasoning Machine（ARM）</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30.9%</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392424"/>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モデル学習や推論手順はHELMの5例提示と異なる。ARMは文章解析→論理関数→可能な配置の探索を行う。</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(2021). AR-LSAT: Investigating Analytical Reasoning of Text. arXiv:2104.06598v2.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https://arxiv.org/abs/2104.06598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人の59.7%は、別の小標本で測った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原研究は、AR-LSATから約100問を選び、文学・商学・法学を専攻する大学生10人に回答してもらった。LSATの専門訓練を受けていない学生を選び、その平均は59.7%。</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この値は、HELMのテスト230問の全件成績ではない。モデルの公開成績と同一のテスト条件で測った人間の上限としては扱わない。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HELMの実行条件と公開成績</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(2021). AR-LSAT: Investigating Analytical Reasoning of Text. arXiv:2104.06598v2.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https://arxiv.org/abs/2104.06598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研究での位置付けと入手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研究での位置付けと入手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文章理解と、組合せ探索をつなぐ課題</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同じ条件文でも「可能」と「必須」では答え方が変わる。否定、only if、either…or、人数の上下限などを正しく読み、複数の条件を同時に保つ必要がある。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原研究は学習型の回答と明示的な論理処理を比較した。HELMはこのデータを、多様な課題に共通する少数例提示の枠組みへ組み込んだ。</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研究での位置付けと入手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(2021). AR-LSAT: Investigating Analytical Reasoning of Text. arXiv:2104.06598v2.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https://arxiv.org/abs/2104.06598</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Liang et al. (2023). Holistic Evaluation of Language Models. Transactions on Machine Learning Research.</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https://arxiv.org/abs/2211.09110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現在の試験構成と、研究用の公開版</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2026年10月に確認したLSACの現行案内は、Logical ReasoningとReading Comprehensionを試験の設問形式として挙げる。AR-LSATは1991〜2016年の分析的推論問題を保存した研究用データ。</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公式GitHubから分割JSONと研究コードを取得でき、HELM Classicには固定版の結果と実際の予測記録が残る。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研究での位置付けと入手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Law School Admission Council. Types of LSAT Questions. 現在の試験構成、2026-10-18参照。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https://www.lsac.org/lsat/about/types-lsat-questions</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Zhong et al. AR-LSAT, 公式データ・実装。2026-10-18取得。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https://github.com/zhongwanjun/AR-LSAT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原データと、コードの利用条件を確認する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AR-LSATリポジトリにはMIT Licenseを掲載し、コードとデータを公開している。試験問題の由来はLSAT。コードのライセンス表示だけから、元試験問題の権利まで同一と断定しない。</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再利用時には公式配布と原試験の条件を確認する。この資料の実例は、出典と元IDを付けた解説用の引用として掲載した。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研究での位置付けと入手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AR-LSAT / LICENSE. MIT License, Copyright 2022 Wanjun Zhong.</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https://github.com/zhongwanjun/AR-LSAT/blob/main/LICENSE</a:t>
            </a:r>
          </a:p>
          <a:p>
            <a:pPr>
              <a:lnSpc>
                <a:spcPts val="940"/>
              </a:lnSpc>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[2] Zhong et al. (2021). AR-LSAT: Investigating Analytical Reasoning of Text. arXiv:2104.06598v2.</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3"/>
              </a:rPr>
              <a:t>https://arxiv.org/abs/2104.06598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まとめ：五択の背後に、配置の集合がある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AR-LSATは、試験由来の英語の条件文を使い、順序・グループ・割当についての分析的推論を問う。HELMの評価では条件文と追加条件を保ち、全5候補の中から一つを選ぶ。</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公開テストは230問。HELMの標準条件は5例提示のjoint方式で、ここで比較した固定版モデルの正答率は22〜23%台。原論文、現在の配布、公開実行の条件を分けて読む。</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研究での位置付けと入手</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LSAT. 2023-11-17の固定版。2026-10-18参照。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https://crfm.stanford.edu/helm/classic/v0.4.0/#/groups/lsat_qa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8483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追加の実例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採点・配布版の補足</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実例4：募集した順番を絞り込む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7101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条件・設問・5選択肢の原文全文（表示上の改行・区切りを追加）</a:t>
            </a:r>
          </a:p>
        </p:txBody>
      </p:sp>
      <p:sp>
        <p:nvSpPr>
          <p:cNvPr id="5" name="quote-frame"/>
          <p:cNvSpPr/>
          <p:nvPr/>
        </p:nvSpPr>
        <p:spPr>
          <a:xfrm>
            <a:off x="548640" y="1517904"/>
            <a:ext cx="8046720" cy="275494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 detective is trying to determine the order in which a criminal recruited seven accomplices—Peters, Quinn, Rovero, Stanton, Tao, Villas, and White. In addition to discovering that the suspect recruited the accomplices one at a time, the detective has established the following: Stanton was recruited neither immediately before nor immediately after Tao. Quinn was recruited earlier than Rovero. Villas was recruited immediately before White. Peters was recruited fourth.</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If White was recruited immediately before Quinn, which one of the following must have been recruited sixth?</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 Quinn   /   B. Rovero   /   C. Stanton   /   D. Villas   /   E. White</a:t>
            </a:r>
          </a:p>
        </p:txBody>
      </p:sp>
      <p:sp>
        <p:nvSpPr>
          <p:cNvPr id="6" name="TextBox 5"/>
          <p:cNvSpPr txBox="1"/>
          <p:nvPr/>
        </p:nvSpPr>
        <p:spPr>
          <a:xfrm>
            <a:off x="594360" y="4443984"/>
            <a:ext cx="7955279"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正解：B</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 201510_3-G_1_6 / HELM id2027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実例4：日本語訳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7101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対応する日本語訳。人名・記号は原綴りを保持。</a:t>
            </a:r>
          </a:p>
        </p:txBody>
      </p:sp>
      <p:sp>
        <p:nvSpPr>
          <p:cNvPr id="5" name="quote-frame"/>
          <p:cNvSpPr/>
          <p:nvPr/>
        </p:nvSpPr>
        <p:spPr>
          <a:xfrm>
            <a:off x="548640" y="1517904"/>
            <a:ext cx="8046720" cy="260449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刑事が、ある犯人がPeters、Quinn、Rovero、Stanton、Tao、Villas、Whiteの7人を仲間に誘った順番を調べている。1人ずつ誘ったことに加え、次のことが分かっている。StantonはTaoの直前でも直後でもない。QuinnはRoveroより先。VillasはWhiteの直前。Petersは4番目。</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WhiteがQuinnの直前だった場合、必ず6番目に誘われたのは誰か。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A. Quinn   /   B. Rovero   /   C. Stanton   /   D. Villas   /   E. White</a:t>
            </a:r>
          </a:p>
        </p:txBody>
      </p:sp>
      <p:sp>
        <p:nvSpPr>
          <p:cNvPr id="6" name="TextBox 5"/>
          <p:cNvSpPr txBox="1"/>
          <p:nvPr/>
        </p:nvSpPr>
        <p:spPr>
          <a:xfrm>
            <a:off x="594360" y="4443984"/>
            <a:ext cx="7955279"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正解：B</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 201510_3-G_1_6 / HELM id2027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実例5：メンバーとリーダーを選ぶ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7101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条件・設問・5選択肢の原文全文（表示上の改行・区切りを追加）</a:t>
            </a:r>
          </a:p>
        </p:txBody>
      </p:sp>
      <p:sp>
        <p:nvSpPr>
          <p:cNvPr id="5" name="quote-frame"/>
          <p:cNvSpPr/>
          <p:nvPr/>
        </p:nvSpPr>
        <p:spPr>
          <a:xfrm>
            <a:off x="548640" y="1517904"/>
            <a:ext cx="8046720" cy="275494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Seven workers—Quinn, Ruiz, Smith, Taylor, Verma, Wells, and Xue—are being considered for a special project. Exactly three of the workers will be selected to be project members, and exactly one of these project members will be the project leader. The selection is subject to the following constraints: Quinn or Ruiz can be a project member only if leading the project. If Smith is a project member, Taylor must also be. If Wells is a project member, neither Ruiz nor Verma can be.</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If Taylor is not a project member, which one of the following workers must be a project member?</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 Quinn   /   B. Ruiz   /   C. Verma   /   D. Wells   /   E. Xue</a:t>
            </a:r>
          </a:p>
        </p:txBody>
      </p:sp>
      <p:sp>
        <p:nvSpPr>
          <p:cNvPr id="6" name="TextBox 5"/>
          <p:cNvSpPr txBox="1"/>
          <p:nvPr/>
        </p:nvSpPr>
        <p:spPr>
          <a:xfrm>
            <a:off x="594360" y="4443984"/>
            <a:ext cx="7955279"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正解：E</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 201606_2-G_1_4 / HELM id2048</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実例5：日本語訳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7101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対応する日本語訳。人名・記号は原綴りを保持。</a:t>
            </a:r>
          </a:p>
        </p:txBody>
      </p:sp>
      <p:sp>
        <p:nvSpPr>
          <p:cNvPr id="5" name="quote-frame"/>
          <p:cNvSpPr/>
          <p:nvPr/>
        </p:nvSpPr>
        <p:spPr>
          <a:xfrm>
            <a:off x="548640" y="1517904"/>
            <a:ext cx="8046720" cy="260484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Quinn、Ruiz、Smith、Taylor、Verma、Wells、Xueの7人から、特別プロジェクトのメンバーをちょうど3人選ぶ。そのうち、ちょうど1人をリーダーにする。QuinnまたはRuizがメンバーになるには、その人がリーダーでなければならない。Smithを選ぶならTaylorも選ぶ。Wellsを選ぶならRuizもVermaも選ばない。</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Taylorを選ばない場合、必ずメンバーになるのは誰か。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A. Quinn   /   B. Ruiz   /   C. Verma   /   D. Wells   /   E. Xue</a:t>
            </a:r>
          </a:p>
        </p:txBody>
      </p:sp>
      <p:sp>
        <p:nvSpPr>
          <p:cNvPr id="6" name="TextBox 5"/>
          <p:cNvSpPr txBox="1"/>
          <p:nvPr/>
        </p:nvSpPr>
        <p:spPr>
          <a:xfrm>
            <a:off x="594360" y="4443984"/>
            <a:ext cx="7955279"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正解：E</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 201606_2-G_1_4 / HELM id2048</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実例6：異なる分野の記事を並べる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7101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条件・設問・5選択肢の原文全文（表示上の改行・区切りを追加）</a:t>
            </a:r>
          </a:p>
        </p:txBody>
      </p:sp>
      <p:sp>
        <p:nvSpPr>
          <p:cNvPr id="5" name="quote-frame"/>
          <p:cNvSpPr/>
          <p:nvPr/>
        </p:nvSpPr>
        <p:spPr>
          <a:xfrm>
            <a:off x="548640" y="1517904"/>
            <a:ext cx="8046720" cy="275494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An editor will edit seven articles, one at a time. Three of the articles—G, H, and J—cover finance; three other articles—Q, R, and S—cover nutrition; and the remaining article, Y, covers wildlife. The order in which the articles are edited is subject to the following conditions: Consecutive articles cannot cover the same topic as each other. S can be earlier than Q only if Q is third. S must be earlier than Y. J must be earlier than G, and G must be earlier than R.</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Which one of the following could be true?</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 G is second   /   B. H is second.   /   C. S is second   /   D. R is third.   /   E. Y is third</a:t>
            </a:r>
          </a:p>
        </p:txBody>
      </p:sp>
      <p:sp>
        <p:nvSpPr>
          <p:cNvPr id="6" name="TextBox 5"/>
          <p:cNvSpPr txBox="1"/>
          <p:nvPr/>
        </p:nvSpPr>
        <p:spPr>
          <a:xfrm>
            <a:off x="594360" y="4443984"/>
            <a:ext cx="7955279"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正解：B</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 201212_4-G_4_20 / HELM id1972</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実例6：日本語訳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7101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対応する日本語訳。人名・記号は原綴りを保持。</a:t>
            </a:r>
          </a:p>
        </p:txBody>
      </p:sp>
      <p:sp>
        <p:nvSpPr>
          <p:cNvPr id="5" name="quote-frame"/>
          <p:cNvSpPr/>
          <p:nvPr/>
        </p:nvSpPr>
        <p:spPr>
          <a:xfrm>
            <a:off x="548640" y="1517904"/>
            <a:ext cx="8046720" cy="260484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編集者が7本の記事を1本ずつ編集する。G、H、Jは金融、Q、R、Sは栄養、Yは野生生物を扱う。同じ分野の記事を続けて編集してはならない。SがQより先になるには、Qが3番目でなければならない。SはYより先。JはGより先で、GはRより先。</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次のうち、成立する可能性があるのはどれか。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A. Gが2番目   /   B. Hが2番目   /   C. Sが2番目   /   D. Rが3番目   /   E. Yが3番目</a:t>
            </a:r>
          </a:p>
        </p:txBody>
      </p:sp>
      <p:sp>
        <p:nvSpPr>
          <p:cNvPr id="6" name="TextBox 5"/>
          <p:cNvSpPr txBox="1"/>
          <p:nvPr/>
        </p:nvSpPr>
        <p:spPr>
          <a:xfrm>
            <a:off x="594360" y="4443984"/>
            <a:ext cx="7955279"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正解：B</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 201212_4-G_4_20 / HELM id1972</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実例7：荷物と積み込み区画</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7101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条件・設問・5選択肢の原文全文（表示上の改行・区切りを追加）</a:t>
            </a:r>
          </a:p>
        </p:txBody>
      </p:sp>
      <p:sp>
        <p:nvSpPr>
          <p:cNvPr id="5" name="quote-frame"/>
          <p:cNvSpPr/>
          <p:nvPr/>
        </p:nvSpPr>
        <p:spPr>
          <a:xfrm>
            <a:off x="548640" y="1517904"/>
            <a:ext cx="8046720" cy="275494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 loading dock consists of exactly six bays numbered 1 through 6 consecutively from one side of the dock to the other. Each bay is holding a different one of exactly six types of cargo—fuel, grain, livestock, machinery, produce, or textiles. The following apply: The bay holding grain has a higher number than the bay holding livestock. The bay holding livestock has a higher number than the bay holding textiles. The bay holding produce has a higher number than the bay holding fuel. The bay holding textiles is next to the bay holding produce.</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Which one of the following CANNOT be the type of cargo held in bay 4?</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 grain   /   B. livestock   /   C. machinery   /   D. produce   /   E. textiles</a:t>
            </a:r>
          </a:p>
        </p:txBody>
      </p:sp>
      <p:sp>
        <p:nvSpPr>
          <p:cNvPr id="6" name="TextBox 5"/>
          <p:cNvSpPr txBox="1"/>
          <p:nvPr/>
        </p:nvSpPr>
        <p:spPr>
          <a:xfrm>
            <a:off x="594360" y="4443984"/>
            <a:ext cx="7955279"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正解：A</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 200312_1-G_2_7 / HELM id1891</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実例7：日本語訳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7101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対応する日本語訳。人名・記号は原綴りを保持。</a:t>
            </a:r>
          </a:p>
        </p:txBody>
      </p:sp>
      <p:sp>
        <p:nvSpPr>
          <p:cNvPr id="5" name="quote-frame"/>
          <p:cNvSpPr/>
          <p:nvPr/>
        </p:nvSpPr>
        <p:spPr>
          <a:xfrm>
            <a:off x="548640" y="1517904"/>
            <a:ext cx="8046720" cy="230281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荷積み場には、一方から順に1〜6と番号を付けた6区画がある。各区画には、燃料、穀物、家畜、機械、農産物、繊維製品のうち、異なる1種類を置く。穀物の番号は家畜より大きく、家畜の番号は繊維製品より大きい。農産物の番号は燃料より大きい。繊維製品の区画は農産物の区画と隣接す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区画4に置くことができない荷物はどれか。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A. 穀物   /   B. 家畜   /   C. 機械   /   D. 農産物   /   E. 繊維製品</a:t>
            </a:r>
          </a:p>
        </p:txBody>
      </p:sp>
      <p:sp>
        <p:nvSpPr>
          <p:cNvPr id="6" name="TextBox 5"/>
          <p:cNvSpPr txBox="1"/>
          <p:nvPr/>
        </p:nvSpPr>
        <p:spPr>
          <a:xfrm>
            <a:off x="594360" y="4443984"/>
            <a:ext cx="7955279"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正解：A</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 200312_1-G_2_7 / HELM id1891</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実例8：8曲の演奏順を決める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7101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条件・設問・5選択肢の原文全文（表示上の改行・区切りを追加）</a:t>
            </a:r>
          </a:p>
        </p:txBody>
      </p:sp>
      <p:sp>
        <p:nvSpPr>
          <p:cNvPr id="5" name="quote-frame"/>
          <p:cNvSpPr/>
          <p:nvPr/>
        </p:nvSpPr>
        <p:spPr>
          <a:xfrm>
            <a:off x="548640" y="1517904"/>
            <a:ext cx="8046720" cy="256320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874"/>
              </a:lnSpc>
              <a:spcBef>
                <a:spcPts val="0"/>
              </a:spcBef>
              <a:spcAft>
                <a:spcPts val="0"/>
              </a:spcAft>
              <a:buNone/>
              <a:defRPr sz="1575" b="0">
                <a:solidFill>
                  <a:srgbClr val="303437"/>
                </a:solidFill>
                <a:latin typeface="Noto Sans"/>
              </a:defRPr>
            </a:pPr>
            <a:r>
              <a:rPr sz="1575" b="0" lang="ja-JP" altLang="en-US">
                <a:solidFill>
                  <a:srgbClr val="303437"/>
                </a:solidFill>
                <a:latin typeface="Noto Sans"/>
                <a:ea typeface="Noto Sans CJK JP"/>
                <a:cs typeface="Noto Sans"/>
              </a:rPr>
              <a:t>At a concert, exactly eight compositions—F, H, L, O, P, R, S, and T—are to be performed exactly once each, consecutively and one composition at a time. The order of their performance must satisfy the following conditions: T is performed either immediately before F or immediately after R. At least two compositions are performed either after F and before R, or after R and before F. O is performed either first or fifth. The eighth composition performed is either L or H. P is performed at some time before S. At least one composition is performed either after O and before S, or after S and before O.</a:t>
            </a:r>
          </a:p>
          <a:p>
            <a:pPr algn="l">
              <a:lnSpc>
                <a:spcPts val="1874"/>
              </a:lnSpc>
              <a:spcBef>
                <a:spcPts val="0"/>
              </a:spcBef>
              <a:spcAft>
                <a:spcPts val="0"/>
              </a:spcAft>
              <a:buNone/>
              <a:defRPr sz="1575" b="0">
                <a:solidFill>
                  <a:srgbClr val="303437"/>
                </a:solidFill>
                <a:latin typeface="Noto Sans"/>
              </a:defRPr>
            </a:pPr>
            <a:r>
              <a:rPr sz="1575" b="0" lang="ja-JP" altLang="en-US">
                <a:solidFill>
                  <a:srgbClr val="303437"/>
                </a:solidFill>
                <a:latin typeface="Noto Sans"/>
                <a:ea typeface="Noto Sans CJK JP"/>
                <a:cs typeface="Noto Sans"/>
              </a:rPr>
              <a:t>P CANNOT be performed</a:t>
            </a:r>
          </a:p>
          <a:p>
            <a:pPr algn="l">
              <a:lnSpc>
                <a:spcPts val="1874"/>
              </a:lnSpc>
              <a:spcBef>
                <a:spcPts val="0"/>
              </a:spcBef>
              <a:spcAft>
                <a:spcPts val="0"/>
              </a:spcAft>
              <a:buNone/>
              <a:defRPr sz="1575" b="0">
                <a:solidFill>
                  <a:srgbClr val="303437"/>
                </a:solidFill>
                <a:latin typeface="Noto Sans"/>
              </a:defRPr>
            </a:pPr>
            <a:r>
              <a:rPr sz="1575" b="0" lang="ja-JP" altLang="en-US">
                <a:solidFill>
                  <a:srgbClr val="303437"/>
                </a:solidFill>
                <a:latin typeface="Noto Sans"/>
                <a:ea typeface="Noto Sans CJK JP"/>
                <a:cs typeface="Noto Sans"/>
              </a:rPr>
              <a:t>A. second   /   B. third   /   C. fourth   /   D. sixth   /   E. seventh</a:t>
            </a:r>
          </a:p>
        </p:txBody>
      </p:sp>
      <p:sp>
        <p:nvSpPr>
          <p:cNvPr id="6" name="TextBox 5"/>
          <p:cNvSpPr txBox="1"/>
          <p:nvPr/>
        </p:nvSpPr>
        <p:spPr>
          <a:xfrm>
            <a:off x="594360" y="4443984"/>
            <a:ext cx="7955279"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正解：E</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 200010_3-G_3_13 / HELM id1873</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実例8：日本語訳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7101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対応する日本語訳。人名・記号は原綴りを保持。</a:t>
            </a:r>
          </a:p>
        </p:txBody>
      </p:sp>
      <p:sp>
        <p:nvSpPr>
          <p:cNvPr id="5" name="quote-frame"/>
          <p:cNvSpPr/>
          <p:nvPr/>
        </p:nvSpPr>
        <p:spPr>
          <a:xfrm>
            <a:off x="548640" y="1517904"/>
            <a:ext cx="8046720" cy="230281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F、H、L、O、P、R、S、Tの8曲を、1曲ずつ続けて、それぞれ1回演奏する。TはFの直前、またはRの直後。FとRの間には少なくとも2曲入る。Oは1番目または5番目。8番目はLまたはH。PはSより先。OとSの間には少なくとも1曲入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Pを演奏できない順番はどれか。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A. 2番目   /   B. 3番目   /   C. 4番目   /   D. 6番目   /   E. 7番目</a:t>
            </a:r>
          </a:p>
        </p:txBody>
      </p:sp>
      <p:sp>
        <p:nvSpPr>
          <p:cNvPr id="6" name="TextBox 5"/>
          <p:cNvSpPr txBox="1"/>
          <p:nvPr/>
        </p:nvSpPr>
        <p:spPr>
          <a:xfrm>
            <a:off x="594360" y="4443984"/>
            <a:ext cx="7955279"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正解：E</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 200010_3-G_3_13 / HELM id1873</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実例9：専門分野をまたぐ委員選び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7101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条件・設問・5選択肢の原文全文（表示上の改行・区切りを追加）</a:t>
            </a:r>
          </a:p>
        </p:txBody>
      </p:sp>
      <p:sp>
        <p:nvSpPr>
          <p:cNvPr id="5" name="quote-frame"/>
          <p:cNvSpPr/>
          <p:nvPr/>
        </p:nvSpPr>
        <p:spPr>
          <a:xfrm>
            <a:off x="548640" y="1517904"/>
            <a:ext cx="8046720" cy="271568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A panel of five scientists will be formed. The panelists will be selected from among three botanists—F, G, and H—three chemists—K, L, and M—and three zoologists—P, Q, and R. Selection is governed by the following conditions: The panel must include at least one scientist of each of the three types. If more than one botanist is selected, then at most one zoologist is selected. F and K cannot both be selected. K and M cannot both be selected. If M is selected, both P and R must be selected.</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If four of the scientists selected are F, L, Q, and R, which one of the following must be the fifth scientist selected?</a:t>
            </a:r>
          </a:p>
          <a:p>
            <a:pPr algn="l">
              <a:lnSpc>
                <a:spcPts val="1993"/>
              </a:lnSpc>
              <a:spcBef>
                <a:spcPts val="0"/>
              </a:spcBef>
              <a:spcAft>
                <a:spcPts val="0"/>
              </a:spcAft>
              <a:buNone/>
              <a:defRPr sz="1675" b="0">
                <a:solidFill>
                  <a:srgbClr val="303437"/>
                </a:solidFill>
                <a:latin typeface="Noto Sans"/>
              </a:defRPr>
            </a:pPr>
            <a:r>
              <a:rPr sz="1675" b="0" lang="ja-JP" altLang="en-US">
                <a:solidFill>
                  <a:srgbClr val="303437"/>
                </a:solidFill>
                <a:latin typeface="Noto Sans"/>
                <a:ea typeface="Noto Sans CJK JP"/>
                <a:cs typeface="Noto Sans"/>
              </a:rPr>
              <a:t>A. G   /   B. H   /   C. K   /   D. M   /   E. P</a:t>
            </a:r>
          </a:p>
        </p:txBody>
      </p:sp>
      <p:sp>
        <p:nvSpPr>
          <p:cNvPr id="6" name="TextBox 5"/>
          <p:cNvSpPr txBox="1"/>
          <p:nvPr/>
        </p:nvSpPr>
        <p:spPr>
          <a:xfrm>
            <a:off x="594360" y="4443984"/>
            <a:ext cx="7955279"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正解：E</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 200312_1-G_1_3 / HELM id1887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実例9：日本語訳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7101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対応する日本語訳。人名・記号は原綴りを保持。</a:t>
            </a:r>
          </a:p>
        </p:txBody>
      </p:sp>
      <p:sp>
        <p:nvSpPr>
          <p:cNvPr id="5" name="quote-frame"/>
          <p:cNvSpPr/>
          <p:nvPr/>
        </p:nvSpPr>
        <p:spPr>
          <a:xfrm>
            <a:off x="548640" y="1517904"/>
            <a:ext cx="8046720" cy="260484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植物学者F、G、H、化学者K、L、M、動物学者P、Q、Rから、5人の委員を選ぶ。各分野から少なくとも1人を含める。植物学者を2人以上選ぶなら、動物学者は多くても1人。FとKは同時に選べず、KとMも同時に選べない。Mを選ぶなら、PとRも選ぶ。</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選ばれた4人がF、L、Q、Rである場合、5人目として必ず選ばれるのは誰か。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A. G   /   B. H   /   C. K   /   D. M   /   E. P</a:t>
            </a:r>
          </a:p>
        </p:txBody>
      </p:sp>
      <p:sp>
        <p:nvSpPr>
          <p:cNvPr id="6" name="TextBox 5"/>
          <p:cNvSpPr txBox="1"/>
          <p:nvPr/>
        </p:nvSpPr>
        <p:spPr>
          <a:xfrm>
            <a:off x="594360" y="4443984"/>
            <a:ext cx="7955279"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正解：E</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 200312_1-G_1_3 / HELM id1887</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実例10：二つのチームと進行役</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7101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条件・設問・5選択肢の原文全文（表示上の改行・区切りを追加）</a:t>
            </a:r>
          </a:p>
        </p:txBody>
      </p:sp>
      <p:sp>
        <p:nvSpPr>
          <p:cNvPr id="5" name="quote-frame"/>
          <p:cNvSpPr/>
          <p:nvPr/>
        </p:nvSpPr>
        <p:spPr>
          <a:xfrm>
            <a:off x="548640" y="1517904"/>
            <a:ext cx="8046720" cy="252687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A teacher will assign each of five students—Juana, Kelly, Lateefah, Mei, and Olga—to exactly one of two research teams, the green team and the red team. One team will have two members, and the other will have three members. One member of each team will be designated as facilitator. The assignment must satisfy the following conditions: Juana is assigned to a different team than Olga is. Lateefah is assigned to the green team. Kelly is not a facilitator. Olga is a facilitator.</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Which one of the following must be true?</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A. Juana is assigned to the red team.   /   B. Lateefah is a facilitator.   /   C. Olga is assigned to the green team.   /   D. Juana and Mei are not both facilitators.   /   E. Neither Juana nor Kelly is a facilitator.</a:t>
            </a:r>
          </a:p>
        </p:txBody>
      </p:sp>
      <p:sp>
        <p:nvSpPr>
          <p:cNvPr id="6" name="TextBox 5"/>
          <p:cNvSpPr txBox="1"/>
          <p:nvPr/>
        </p:nvSpPr>
        <p:spPr>
          <a:xfrm>
            <a:off x="594360" y="4443984"/>
            <a:ext cx="7955279"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正解：D</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 201612_3-G_1_2 / HELM id2069</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実例10：日本語訳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7101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対応する日本語訳。人名・記号は原綴りを保持。</a:t>
            </a:r>
          </a:p>
        </p:txBody>
      </p:sp>
      <p:sp>
        <p:nvSpPr>
          <p:cNvPr id="5" name="quote-frame"/>
          <p:cNvSpPr/>
          <p:nvPr/>
        </p:nvSpPr>
        <p:spPr>
          <a:xfrm>
            <a:off x="548640" y="1517904"/>
            <a:ext cx="8046720" cy="283766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教師がJuana、Kelly、Lateefah、Mei、Olgaの5人を、緑または赤のどちらか一方の研究チームに割り当てる。一方は2人、他方は3人。各チームで1人を進行役にする。JuanaとOlgaは別のチーム。Lateefahは緑チーム。Kellyは進行役ではない。Olgaは進行役。</a:t>
            </a:r>
          </a:p>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次のうち、必ず成り立つのはどれか。</a:t>
            </a:r>
          </a:p>
          <a:p>
            <a:pPr algn="l">
              <a:lnSpc>
                <a:spcPts val="2320"/>
              </a:lnSpc>
              <a:spcBef>
                <a:spcPts val="0"/>
              </a:spcBef>
              <a:spcAft>
                <a:spcPts val="0"/>
              </a:spcAft>
              <a:buNone/>
              <a:defRPr sz="1950" b="0">
                <a:solidFill>
                  <a:srgbClr val="303437"/>
                </a:solidFill>
                <a:latin typeface="Noto Sans"/>
              </a:defRPr>
            </a:pPr>
            <a:r>
              <a:rPr sz="1950" b="0" lang="ja-JP" altLang="en-US">
                <a:solidFill>
                  <a:srgbClr val="303437"/>
                </a:solidFill>
                <a:latin typeface="Noto Sans"/>
                <a:ea typeface="Noto Sans CJK JP"/>
                <a:cs typeface="Noto Sans"/>
              </a:rPr>
              <a:t>A. Juanaは赤チーム   /   B. Lateefahは進行役   /   C. Olgaは緑チーム   /   D. JuanaとMeiがともに進行役になることはない   /   E. JuanaもKellyも進行役ではない</a:t>
            </a:r>
          </a:p>
        </p:txBody>
      </p:sp>
      <p:sp>
        <p:nvSpPr>
          <p:cNvPr id="6" name="TextBox 5"/>
          <p:cNvSpPr txBox="1"/>
          <p:nvPr/>
        </p:nvSpPr>
        <p:spPr>
          <a:xfrm>
            <a:off x="594360" y="4443984"/>
            <a:ext cx="7955279"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正解：D</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 201612_3-G_1_2 / HELM id2069</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実例11：営業担当者と三つの区域</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7101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条件・設問・5選択肢の原文全文（表示上の改行・区切りを追加）</a:t>
            </a:r>
          </a:p>
        </p:txBody>
      </p:sp>
      <p:sp>
        <p:nvSpPr>
          <p:cNvPr id="5" name="quote-frame"/>
          <p:cNvSpPr/>
          <p:nvPr/>
        </p:nvSpPr>
        <p:spPr>
          <a:xfrm>
            <a:off x="548640" y="1517904"/>
            <a:ext cx="8046720" cy="256320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874"/>
              </a:lnSpc>
              <a:spcBef>
                <a:spcPts val="0"/>
              </a:spcBef>
              <a:spcAft>
                <a:spcPts val="0"/>
              </a:spcAft>
              <a:buNone/>
              <a:defRPr sz="1575" b="0">
                <a:solidFill>
                  <a:srgbClr val="303437"/>
                </a:solidFill>
                <a:latin typeface="Noto Sans"/>
              </a:defRPr>
            </a:pPr>
            <a:r>
              <a:rPr sz="1575" b="0" lang="ja-JP" altLang="en-US">
                <a:solidFill>
                  <a:srgbClr val="303437"/>
                </a:solidFill>
                <a:latin typeface="Noto Sans"/>
                <a:ea typeface="Noto Sans CJK JP"/>
                <a:cs typeface="Noto Sans"/>
              </a:rPr>
              <a:t>A software company employs exactly seven sales representatives—Kim, Mahr, Parra, Quinn, Stuckey, Tiao, and Udall—to work in its three sales zones—Zone 1, Zone 2, and Zone 3. Each sales representative works in exactly one of the sales zones, in accordance with the following conditions: Either Parra or Tiao (but not both) works in Zone 1. Either Tiao or Udall (but not both) works in Zone 2. Parra and Quinn work in the same sales zone as each other. Stuckey and Udall work in the same sales zone as each other. There are more of the sales representatives working in Zone 3 than in Zone 2.</a:t>
            </a:r>
          </a:p>
          <a:p>
            <a:pPr algn="l">
              <a:lnSpc>
                <a:spcPts val="1874"/>
              </a:lnSpc>
              <a:spcBef>
                <a:spcPts val="0"/>
              </a:spcBef>
              <a:spcAft>
                <a:spcPts val="0"/>
              </a:spcAft>
              <a:buNone/>
              <a:defRPr sz="1575" b="0">
                <a:solidFill>
                  <a:srgbClr val="303437"/>
                </a:solidFill>
                <a:latin typeface="Noto Sans"/>
              </a:defRPr>
            </a:pPr>
            <a:r>
              <a:rPr sz="1575" b="0" lang="ja-JP" altLang="en-US">
                <a:solidFill>
                  <a:srgbClr val="303437"/>
                </a:solidFill>
                <a:latin typeface="Noto Sans"/>
                <a:ea typeface="Noto Sans CJK JP"/>
                <a:cs typeface="Noto Sans"/>
              </a:rPr>
              <a:t>Quinn CANNOT work in the same sales zone as which one of the following?</a:t>
            </a:r>
          </a:p>
          <a:p>
            <a:pPr algn="l">
              <a:lnSpc>
                <a:spcPts val="1874"/>
              </a:lnSpc>
              <a:spcBef>
                <a:spcPts val="0"/>
              </a:spcBef>
              <a:spcAft>
                <a:spcPts val="0"/>
              </a:spcAft>
              <a:buNone/>
              <a:defRPr sz="1575" b="0">
                <a:solidFill>
                  <a:srgbClr val="303437"/>
                </a:solidFill>
                <a:latin typeface="Noto Sans"/>
              </a:defRPr>
            </a:pPr>
            <a:r>
              <a:rPr sz="1575" b="0" lang="ja-JP" altLang="en-US">
                <a:solidFill>
                  <a:srgbClr val="303437"/>
                </a:solidFill>
                <a:latin typeface="Noto Sans"/>
                <a:ea typeface="Noto Sans CJK JP"/>
                <a:cs typeface="Noto Sans"/>
              </a:rPr>
              <a:t>A. Kim   /   B. Mahr   /   C. Stuckey   /   D. Tiao   /   E. Udall</a:t>
            </a:r>
          </a:p>
        </p:txBody>
      </p:sp>
      <p:sp>
        <p:nvSpPr>
          <p:cNvPr id="6" name="TextBox 5"/>
          <p:cNvSpPr txBox="1"/>
          <p:nvPr/>
        </p:nvSpPr>
        <p:spPr>
          <a:xfrm>
            <a:off x="594360" y="4443984"/>
            <a:ext cx="7955279"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正解：D</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 201206_3-G_3_16 / HELM id1946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実例11：日本語訳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7101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対応する日本語訳。人名・記号は原綴りを保持。</a:t>
            </a:r>
          </a:p>
        </p:txBody>
      </p:sp>
      <p:sp>
        <p:nvSpPr>
          <p:cNvPr id="5" name="quote-frame"/>
          <p:cNvSpPr/>
          <p:nvPr/>
        </p:nvSpPr>
        <p:spPr>
          <a:xfrm>
            <a:off x="548640" y="1517904"/>
            <a:ext cx="8046720" cy="260449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ソフトウェア会社の営業担当者Kim、Mahr、Parra、Quinn、Stuckey、Tiao、Udallの7人を、区域1、2、3のどれか一つに割り当てる。ParraとTiaoのうち、区域1にいるのは一方だけ。TiaoとUdallのうち、区域2にいるのは一方だけ。ParraとQuinnは同じ区域。StuckeyとUdallは同じ区域。区域3の人数は区域2より多い。</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Quinnと同じ区域に割り当てることができないのは誰か。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A. Kim   /   B. Mahr   /   C. Stuckey   /   D. Tiao   /   E. Udall</a:t>
            </a:r>
          </a:p>
        </p:txBody>
      </p:sp>
      <p:sp>
        <p:nvSpPr>
          <p:cNvPr id="6" name="TextBox 5"/>
          <p:cNvSpPr txBox="1"/>
          <p:nvPr/>
        </p:nvSpPr>
        <p:spPr>
          <a:xfrm>
            <a:off x="594360" y="4443984"/>
            <a:ext cx="7955279"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正解：D</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 201206_3-G_3_16 / HELM id1946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実例12：本を三段の棚へ配置する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7101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条件・設問・5選択肢の原文全文（表示上の改行・区切りを追加）</a:t>
            </a:r>
          </a:p>
        </p:txBody>
      </p:sp>
      <p:sp>
        <p:nvSpPr>
          <p:cNvPr id="5" name="quote-frame"/>
          <p:cNvSpPr/>
          <p:nvPr/>
        </p:nvSpPr>
        <p:spPr>
          <a:xfrm>
            <a:off x="548640" y="1517904"/>
            <a:ext cx="8046720" cy="249790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Exactly eight books—F, G, H, I, K, L, M, O—are placed on a bookcase with exactly three shelves—the top shelf, the middle shelf, and the bottom shelf. At least two books are placed on each shelf. The following conditions must apply: More of the books are placed on the bottom shelf than the top shelf. I is placed on the middle shelf. K is placed on a higher shelf than F. O is placed on a higher shelf than L. F is placed on the same shelf as M.</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Which one of the following could be a complete and accurate list of the books placed on the bottom shelf?</a:t>
            </a:r>
          </a:p>
          <a:p>
            <a:pPr algn="l">
              <a:lnSpc>
                <a:spcPts val="2023"/>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 F, M   /   B. F, H, M   /   C. G, H, K   /   D. F, G, M, O   /   E. G, H, L, M</a:t>
            </a:r>
          </a:p>
        </p:txBody>
      </p:sp>
      <p:sp>
        <p:nvSpPr>
          <p:cNvPr id="6" name="TextBox 5"/>
          <p:cNvSpPr txBox="1"/>
          <p:nvPr/>
        </p:nvSpPr>
        <p:spPr>
          <a:xfrm>
            <a:off x="594360" y="4443984"/>
            <a:ext cx="7955279"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正解：B</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 201110_2-G_4_19 / HELM id1926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実例12：日本語訳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7101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対応する日本語訳。人名・記号は原綴りを保持。</a:t>
            </a:r>
          </a:p>
        </p:txBody>
      </p:sp>
      <p:sp>
        <p:nvSpPr>
          <p:cNvPr id="5" name="quote-frame"/>
          <p:cNvSpPr/>
          <p:nvPr/>
        </p:nvSpPr>
        <p:spPr>
          <a:xfrm>
            <a:off x="548640" y="1517904"/>
            <a:ext cx="8046720" cy="260449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F、G、H、I、K、L、M、Oの8冊を、上段、中段、下段の3段の本棚に置く。各段に少なくとも2冊置く。下段は上段より冊数が多い。Iは中段。KはFより上の段。OはLより上の段。FとMは同じ段。</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下段に置く本の、正確かつ全冊を含む一覧として可能なのはどれか。</a:t>
            </a:r>
          </a:p>
          <a:p>
            <a:pPr algn="l">
              <a:lnSpc>
                <a:spcPts val="2379"/>
              </a:lnSpc>
              <a:spcBef>
                <a:spcPts val="0"/>
              </a:spcBef>
              <a:spcAft>
                <a:spcPts val="0"/>
              </a:spcAft>
              <a:buNone/>
              <a:defRPr sz="2000" b="0">
                <a:solidFill>
                  <a:srgbClr val="303437"/>
                </a:solidFill>
                <a:latin typeface="Noto Sans"/>
              </a:defRPr>
            </a:pPr>
            <a:r>
              <a:rPr sz="2000" b="0" lang="ja-JP" altLang="en-US">
                <a:solidFill>
                  <a:srgbClr val="303437"/>
                </a:solidFill>
                <a:latin typeface="Noto Sans"/>
                <a:ea typeface="Noto Sans CJK JP"/>
                <a:cs typeface="Noto Sans"/>
              </a:rPr>
              <a:t>A. F・M   /   B. F・H・M   /   C. G・H・K   /   D. F・G・M・O   /   E. G・H・L・M</a:t>
            </a:r>
          </a:p>
        </p:txBody>
      </p:sp>
      <p:sp>
        <p:nvSpPr>
          <p:cNvPr id="6" name="TextBox 5"/>
          <p:cNvSpPr txBox="1"/>
          <p:nvPr/>
        </p:nvSpPr>
        <p:spPr>
          <a:xfrm>
            <a:off x="594360" y="4443984"/>
            <a:ext cx="7955279"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正解：B</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 201110_2-G_4_19 / HELM id1926</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実例13：読書会の作品を選ぶ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7101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条件・設問・5選択肢の原文全文（表示上の改行・区切りを追加）</a:t>
            </a:r>
          </a:p>
        </p:txBody>
      </p:sp>
      <p:sp>
        <p:nvSpPr>
          <p:cNvPr id="5" name="quote-frame"/>
          <p:cNvSpPr/>
          <p:nvPr/>
        </p:nvSpPr>
        <p:spPr>
          <a:xfrm>
            <a:off x="548640" y="1517904"/>
            <a:ext cx="8046720" cy="276123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The organizer of a reading club will select at least five and at most six works from a group of nine works. The group consists of three French novels, three Russian novels, two French plays, and one Russian play. The organizer's selection of works must conform to the following requirements: No more than four French works are selected. At least three but no more than four novels are selected. At least as many French novels as Russian novels are selected. If both French plays are selected, then the Russian play is not selected.</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The organizer must at least select</a:t>
            </a:r>
          </a:p>
          <a:p>
            <a:pPr algn="l">
              <a:lnSpc>
                <a:spcPts val="1844"/>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A. one French novel and one French play   /   B. one French novel and one Russian play   /   C. one Russian novel and one French play   /   D. two French novels   /   E. two Russian novels</a:t>
            </a:r>
          </a:p>
        </p:txBody>
      </p:sp>
      <p:sp>
        <p:nvSpPr>
          <p:cNvPr id="6" name="TextBox 5"/>
          <p:cNvSpPr txBox="1"/>
          <p:nvPr/>
        </p:nvSpPr>
        <p:spPr>
          <a:xfrm>
            <a:off x="594360" y="4443984"/>
            <a:ext cx="7955279"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正解：D</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 200010_3-G_2_10 / HELM id1870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実例13：日本語訳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追加の実例</a:t>
            </a:r>
          </a:p>
        </p:txBody>
      </p:sp>
      <p:sp>
        <p:nvSpPr>
          <p:cNvPr id="4" name="TextBox 3"/>
          <p:cNvSpPr txBox="1"/>
          <p:nvPr/>
        </p:nvSpPr>
        <p:spPr>
          <a:xfrm>
            <a:off x="548640" y="127101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対応する日本語訳。人名・記号は原綴りを保持。</a:t>
            </a:r>
          </a:p>
        </p:txBody>
      </p:sp>
      <p:sp>
        <p:nvSpPr>
          <p:cNvPr id="5" name="quote-frame"/>
          <p:cNvSpPr/>
          <p:nvPr/>
        </p:nvSpPr>
        <p:spPr>
          <a:xfrm>
            <a:off x="548640" y="1517904"/>
            <a:ext cx="8046720" cy="277240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63500" bIns="12700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読書会の主催者が、9作品から5〜6作品を選ぶ。候補はフランス小説3作、ロシア小説3作、フランス戯曲2作、ロシア戯曲1作。選ぶフランス作品は4作以下。小説は3〜4作。フランス小説の数はロシア小説以上。フランス戯曲を2作とも選ぶなら、ロシア戯曲は選ばない。</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最低限、次のどれを選ばなければならないか。</a:t>
            </a:r>
          </a:p>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A. フランス小説1作とフランス戯曲1作   /   B. フランス小説1作とロシア戯曲1作   /   C. ロシア小説1作とフランス戯曲1作   /   D. フランス小説2作   /   E. ロシア小説2作</a:t>
            </a:r>
          </a:p>
        </p:txBody>
      </p:sp>
      <p:sp>
        <p:nvSpPr>
          <p:cNvPr id="6" name="TextBox 5"/>
          <p:cNvSpPr txBox="1"/>
          <p:nvPr/>
        </p:nvSpPr>
        <p:spPr>
          <a:xfrm>
            <a:off x="594360" y="4443984"/>
            <a:ext cx="7955279" cy="338328"/>
          </a:xfrm>
          <a:prstGeom prst="rect">
            <a:avLst/>
          </a:prstGeom>
          <a:noFill/>
        </p:spPr>
        <p:txBody>
          <a:bodyPr wrap="square" lIns="0" rIns="0" tIns="0" bIns="0">
            <a:noAutofit/>
          </a:bodyPr>
          <a:lstStyle/>
          <a:p>
            <a:pPr algn="l">
              <a:lnSpc>
                <a:spcPts val="2457"/>
              </a:lnSpc>
              <a:spcBef>
                <a:spcPts val="0"/>
              </a:spcBef>
              <a:spcAft>
                <a:spcPts val="0"/>
              </a:spcAft>
              <a:buNone/>
              <a:defRPr sz="2100" b="0">
                <a:solidFill>
                  <a:srgbClr val="303437"/>
                </a:solidFill>
                <a:latin typeface="Noto Sans"/>
              </a:defRPr>
            </a:pPr>
            <a:r>
              <a:rPr sz="2100" b="1" lang="ja-JP" altLang="en-US">
                <a:solidFill>
                  <a:srgbClr val="B13731"/>
                </a:solidFill>
                <a:latin typeface="Noto Sans"/>
                <a:ea typeface="Noto Sans CJK JP"/>
                <a:cs typeface="Noto Sans"/>
              </a:rPr>
              <a:t>正解：D</a:t>
            </a:r>
          </a:p>
        </p:txBody>
      </p:sp>
      <p:sp>
        <p:nvSpPr>
          <p:cNvPr id="7" name="sources"/>
          <p:cNvSpPr txBox="1"/>
          <p:nvPr/>
        </p:nvSpPr>
        <p:spPr>
          <a:xfrm>
            <a:off x="502920" y="4800600"/>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 AR_TestData.json, 公開テスト原文。2026-10-18取得。 200010_3-G_2_10 / HELM id1870</a:t>
            </a:r>
          </a:p>
          <a:p>
            <a:pPr>
              <a:lnSpc>
                <a:spcPts val="940"/>
              </a:lnSpc>
              <a:buNone/>
              <a:defRPr sz="810" b="0">
                <a:solidFill>
                  <a:srgbClr val="303437"/>
                </a:solidFill>
                <a:latin typeface="Noto Sans"/>
              </a:defRPr>
            </a:pPr>
            <a:r>
              <a:rPr sz="810" b="0" lang="ja-JP" altLang="en-US">
                <a:solidFill>
                  <a:srgbClr val="626669"/>
                </a:solidFill>
                <a:latin typeface="Noto Sans"/>
                <a:ea typeface="Noto Sans CJK JP"/>
                <a:cs typeface="Noto Sans"/>
                <a:hlinkClick r:id="rId2"/>
              </a:rPr>
              <a:t>https://github.com/zhongwanjun/AR-LSAT/blob/main/data/AR_TestData.json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採点・配布版の補足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採点・配布版の補足</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設定値と、送信された生成条件を分ける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採点・配布版の補足</a:t>
            </a:r>
          </a:p>
        </p:txBody>
      </p:sp>
      <p:sp>
        <p:nvSpPr>
          <p:cNvPr id="5" name="TextBox 4"/>
          <p:cNvSpPr txBox="1"/>
          <p:nvPr/>
        </p:nvSpPr>
        <p:spPr>
          <a:xfrm>
            <a:off x="594360" y="3611880"/>
            <a:ext cx="7955279" cy="658368"/>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全モデルで温度0、実提示例数5、入力切詰め0件。stopは設定上改行、実requestは空配列。</a:t>
            </a:r>
          </a:p>
        </p:txBody>
      </p:sp>
      <p:sp>
        <p:nvSpPr>
          <p:cNvPr id="6"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Classic v0.4.0, LSAT. 2023-11-17の固定版。2026-10-18参照。</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https://crfm.stanford.edu/helm/classic/v0.4.0/#/groups/lsat_qa</a:t>
            </a:r>
          </a:p>
        </p:txBody>
      </p:sp>
      <p:graphicFrame>
        <p:nvGraphicFramePr>
          <p:cNvPr id="4" name="Table 3"/>
          <p:cNvGraphicFramePr>
            <a:graphicFrameLocks noGrp="1"/>
          </p:cNvGraphicFramePr>
          <p:nvPr/>
        </p:nvGraphicFramePr>
        <p:xfrm>
          <a:off x="548640" y="1508760"/>
          <a:ext cx="8046720" cy="1865376"/>
        </p:xfrm>
        <a:graphic>
          <a:graphicData uri="http://schemas.openxmlformats.org/drawingml/2006/table">
            <a:tbl>
              <a:tblPr firstRow="0" bandRow="0"/>
              <a:tblGrid>
                <a:gridCol w="3017520"/>
                <a:gridCol w="2514600"/>
                <a:gridCol w="2514600"/>
              </a:tblGrid>
              <a:tr h="658368">
                <a:tc>
                  <a:txBody>
                    <a:bodyPr wrap="square">
                      <a:noAutofit/>
                    </a:bodyPr>
                    <a:lstStyle/>
                    <a:p>
                      <a:pPr algn="l">
                        <a:lnSpc>
                          <a:spcPts val="2012"/>
                        </a:lnSpc>
                        <a:spcBef>
                          <a:spcPts val="0"/>
                        </a:spcBef>
                        <a:spcAft>
                          <a:spcPts val="0"/>
                        </a:spcAft>
                        <a:buNone/>
                        <a:defRPr sz="2100" b="0">
                          <a:solidFill>
                            <a:srgbClr val="303437"/>
                          </a:solidFill>
                          <a:latin typeface="Noto Sans"/>
                        </a:defRPr>
                      </a:pPr>
                      <a:r>
                        <a:rPr sz="1750" b="0">
                          <a:solidFill>
                            <a:srgbClr val="303437"/>
                          </a:solidFill>
                          <a:latin typeface="Noto Sans"/>
                        </a:rPr>
                        <a:t>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spcBef>
                          <a:spcPts val="0"/>
                        </a:spcBef>
                        <a:spcAft>
                          <a:spcPts val="0"/>
                        </a:spcAft>
                        <a:buNone/>
                        <a:defRPr sz="2100" b="0">
                          <a:solidFill>
                            <a:srgbClr val="303437"/>
                          </a:solidFill>
                          <a:latin typeface="Noto Sans"/>
                        </a:defRPr>
                      </a:pPr>
                      <a:r>
                        <a:rPr sz="1750" b="0">
                          <a:solidFill>
                            <a:srgbClr val="303437"/>
                          </a:solidFill>
                          <a:latin typeface="Noto Sans"/>
                        </a:rPr>
                        <a:t>max_tokens
設定／実送信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spcBef>
                          <a:spcPts val="0"/>
                        </a:spcBef>
                        <a:spcAft>
                          <a:spcPts val="0"/>
                        </a:spcAft>
                        <a:buNone/>
                        <a:defRPr sz="2100" b="0">
                          <a:solidFill>
                            <a:srgbClr val="303437"/>
                          </a:solidFill>
                          <a:latin typeface="Noto Sans"/>
                        </a:defRPr>
                      </a:pPr>
                      <a:r>
                        <a:rPr sz="1750" b="0">
                          <a:solidFill>
                            <a:srgbClr val="303437"/>
                          </a:solidFill>
                          <a:latin typeface="Noto Sans"/>
                        </a:rPr>
                        <a:t>num_outputs
設定／実出力</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2336">
                <a:tc>
                  <a:txBody>
                    <a:bodyPr wrap="square">
                      <a:noAutofit/>
                    </a:bodyPr>
                    <a:lstStyle/>
                    <a:p>
                      <a:pPr algn="l">
                        <a:lnSpc>
                          <a:spcPts val="2012"/>
                        </a:lnSpc>
                        <a:spcBef>
                          <a:spcPts val="0"/>
                        </a:spcBef>
                        <a:spcAft>
                          <a:spcPts val="0"/>
                        </a:spcAft>
                        <a:buNone/>
                        <a:defRPr sz="2100" b="0">
                          <a:solidFill>
                            <a:srgbClr val="303437"/>
                          </a:solidFill>
                          <a:latin typeface="Noto Sans"/>
                        </a:defRPr>
                      </a:pPr>
                      <a:r>
                        <a:rPr sz="1750" b="0">
                          <a:solidFill>
                            <a:srgbClr val="303437"/>
                          </a:solidFill>
                          <a:latin typeface="Noto Sans"/>
                        </a:rPr>
                        <a:t>OPT-175B</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spcBef>
                          <a:spcPts val="0"/>
                        </a:spcBef>
                        <a:spcAft>
                          <a:spcPts val="0"/>
                        </a:spcAft>
                        <a:buNone/>
                        <a:defRPr sz="2100" b="0">
                          <a:solidFill>
                            <a:srgbClr val="303437"/>
                          </a:solidFill>
                          <a:latin typeface="Noto Sans"/>
                        </a:defRPr>
                      </a:pPr>
                      <a:r>
                        <a:rPr sz="1750" b="0">
                          <a:solidFill>
                            <a:srgbClr val="303437"/>
                          </a:solidFill>
                          <a:latin typeface="Noto Sans"/>
                        </a:rPr>
                        <a:t>5 ／ 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spcBef>
                          <a:spcPts val="0"/>
                        </a:spcBef>
                        <a:spcAft>
                          <a:spcPts val="0"/>
                        </a:spcAft>
                        <a:buNone/>
                        <a:defRPr sz="2100" b="0">
                          <a:solidFill>
                            <a:srgbClr val="303437"/>
                          </a:solidFill>
                          <a:latin typeface="Noto Sans"/>
                        </a:defRPr>
                      </a:pPr>
                      <a:r>
                        <a:rPr sz="1750" b="0">
                          <a:solidFill>
                            <a:srgbClr val="303437"/>
                          </a:solidFill>
                          <a:latin typeface="Noto Sans"/>
                        </a:rPr>
                        <a:t>1 ／ 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2336">
                <a:tc>
                  <a:txBody>
                    <a:bodyPr wrap="square">
                      <a:noAutofit/>
                    </a:bodyPr>
                    <a:lstStyle/>
                    <a:p>
                      <a:pPr algn="l">
                        <a:lnSpc>
                          <a:spcPts val="2012"/>
                        </a:lnSpc>
                        <a:spcBef>
                          <a:spcPts val="0"/>
                        </a:spcBef>
                        <a:spcAft>
                          <a:spcPts val="0"/>
                        </a:spcAft>
                        <a:buNone/>
                        <a:defRPr sz="2100" b="0">
                          <a:solidFill>
                            <a:srgbClr val="303437"/>
                          </a:solidFill>
                          <a:latin typeface="Noto Sans"/>
                        </a:defRPr>
                      </a:pPr>
                      <a:r>
                        <a:rPr sz="1750" b="0">
                          <a:solidFill>
                            <a:srgbClr val="303437"/>
                          </a:solidFill>
                          <a:latin typeface="Noto Sans"/>
                        </a:rPr>
                        <a:t>text-davinci-003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spcBef>
                          <a:spcPts val="0"/>
                        </a:spcBef>
                        <a:spcAft>
                          <a:spcPts val="0"/>
                        </a:spcAft>
                        <a:buNone/>
                        <a:defRPr sz="2100" b="0">
                          <a:solidFill>
                            <a:srgbClr val="303437"/>
                          </a:solidFill>
                          <a:latin typeface="Noto Sans"/>
                        </a:defRPr>
                      </a:pPr>
                      <a:r>
                        <a:rPr sz="1750" b="0">
                          <a:solidFill>
                            <a:srgbClr val="303437"/>
                          </a:solidFill>
                          <a:latin typeface="Noto Sans"/>
                        </a:rPr>
                        <a:t>5 ／ 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spcBef>
                          <a:spcPts val="0"/>
                        </a:spcBef>
                        <a:spcAft>
                          <a:spcPts val="0"/>
                        </a:spcAft>
                        <a:buNone/>
                        <a:defRPr sz="2100" b="0">
                          <a:solidFill>
                            <a:srgbClr val="303437"/>
                          </a:solidFill>
                          <a:latin typeface="Noto Sans"/>
                        </a:defRPr>
                      </a:pPr>
                      <a:r>
                        <a:rPr sz="1750" b="0">
                          <a:solidFill>
                            <a:srgbClr val="303437"/>
                          </a:solidFill>
                          <a:latin typeface="Noto Sans"/>
                        </a:rPr>
                        <a:t>1 ／ 1</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012"/>
                        </a:lnSpc>
                        <a:spcBef>
                          <a:spcPts val="0"/>
                        </a:spcBef>
                        <a:spcAft>
                          <a:spcPts val="0"/>
                        </a:spcAft>
                        <a:buNone/>
                        <a:defRPr sz="2100" b="0">
                          <a:solidFill>
                            <a:srgbClr val="303437"/>
                          </a:solidFill>
                          <a:latin typeface="Noto Sans"/>
                        </a:defRPr>
                      </a:pPr>
                      <a:r>
                        <a:rPr sz="1750" b="0">
                          <a:solidFill>
                            <a:srgbClr val="303437"/>
                          </a:solidFill>
                          <a:latin typeface="Noto Sans"/>
                        </a:rPr>
                        <a:t>Llama 2 70B</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spcBef>
                          <a:spcPts val="0"/>
                        </a:spcBef>
                        <a:spcAft>
                          <a:spcPts val="0"/>
                        </a:spcAft>
                        <a:buNone/>
                        <a:defRPr sz="2100" b="0">
                          <a:solidFill>
                            <a:srgbClr val="303437"/>
                          </a:solidFill>
                          <a:latin typeface="Noto Sans"/>
                        </a:defRPr>
                      </a:pPr>
                      <a:r>
                        <a:rPr sz="1750" b="0">
                          <a:solidFill>
                            <a:srgbClr val="303437"/>
                          </a:solidFill>
                          <a:latin typeface="Noto Sans"/>
                        </a:rPr>
                        <a:t>1 ／ 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spcBef>
                          <a:spcPts val="0"/>
                        </a:spcBef>
                        <a:spcAft>
                          <a:spcPts val="0"/>
                        </a:spcAft>
                        <a:buNone/>
                        <a:defRPr sz="2100" b="0">
                          <a:solidFill>
                            <a:srgbClr val="303437"/>
                          </a:solidFill>
                          <a:latin typeface="Noto Sans"/>
                        </a:defRPr>
                      </a:pPr>
                      <a:r>
                        <a:rPr sz="1750" b="0">
                          <a:solidFill>
                            <a:srgbClr val="303437"/>
                          </a:solidFill>
                          <a:latin typeface="Noto Sans"/>
                        </a:rPr>
                        <a:t>5 ／ 1</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現配布のtagsだけでは、分類を再現できない</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379"/>
              </a:lnSpc>
              <a:spcAft>
                <a:spcPts val="70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現在の公開JSONでは、ゲーム種類を入れるtagsの3番目に空欄が多い。テスト230問のうち182問が空欄で、分類以外の文字列を入れた例もある。</a:t>
            </a:r>
          </a:p>
          <a:p>
            <a:pPr marL="457200" indent="-355600">
              <a:lnSpc>
                <a:spcPts val="2379"/>
              </a:lnSpc>
              <a:spcAft>
                <a:spcPts val="0"/>
              </a:spcAft>
              <a:buSzPct val="66500"/>
              <a:buFont typeface="Noto Sans CJK JP"/>
              <a:buChar char="●"/>
              <a:defRPr sz="2000" b="0">
                <a:solidFill>
                  <a:srgbClr val="303437"/>
                </a:solidFill>
                <a:latin typeface="Noto Sans"/>
              </a:defRPr>
            </a:pPr>
            <a:r>
              <a:rPr sz="2000" b="0" lang="ja-JP" altLang="en-US">
                <a:solidFill>
                  <a:srgbClr val="303437"/>
                </a:solidFill>
                <a:latin typeface="Noto Sans"/>
                <a:ea typeface="Noto Sans CJK JP"/>
                <a:cs typeface="Noto Sans"/>
              </a:rPr>
              <a:t>固定v0.3.0の読込コードには分類名を辞書へ引くassertがあるため、現在のファイルをそのまま読ませると全件を読み通せない。一方、本文・全選択肢・正解は公開HELMの230問と全件一致した。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採点・配布版の補足</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Stanford CRFM. HELM v0.3.0, LSATScenario.</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https://github.com/stanford-crfm/helm/blob/v0.3.0/src/helm/benchmark/scenarios/lsat_qa_scenario.py</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公開記録と元IDを対応付けて保存した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39"/>
              </a:lnSpc>
              <a:spcAft>
                <a:spcPts val="70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13実例の条件文、設問、全選択肢、正解、公開モデル出力を原記録から保存した。原JSONの設問IDとHELMの条件内IDを両方示した。</a:t>
            </a:r>
          </a:p>
          <a:p>
            <a:pPr marL="457200" indent="-355600">
              <a:lnSpc>
                <a:spcPts val="2439"/>
              </a:lnSpc>
              <a:spcAft>
                <a:spcPts val="0"/>
              </a:spcAft>
              <a:buSzPct val="64878"/>
              <a:buFont typeface="Noto Sans CJK JP"/>
              <a:buChar char="●"/>
              <a:defRPr sz="2050" b="0">
                <a:solidFill>
                  <a:srgbClr val="303437"/>
                </a:solidFill>
                <a:latin typeface="Noto Sans"/>
              </a:defRPr>
            </a:pPr>
            <a:r>
              <a:rPr sz="2050" b="0" lang="ja-JP" altLang="en-US">
                <a:solidFill>
                  <a:srgbClr val="303437"/>
                </a:solidFill>
                <a:latin typeface="Noto Sans"/>
                <a:ea typeface="Noto Sans CJK JP"/>
                <a:cs typeface="Noto Sans"/>
              </a:rPr>
              <a:t>テスト230問を3モデルすべてで照合し、選択文字の正誤を各試行ごとに集計した。学習件数の45問差は確認できるが、増減の経緯は推測していない。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採点・配布版の補足</a:t>
            </a:r>
          </a:p>
        </p:txBody>
      </p:sp>
      <p:sp>
        <p:nvSpPr>
          <p:cNvPr id="5" name="sources"/>
          <p:cNvSpPr txBox="1"/>
          <p:nvPr/>
        </p:nvSpPr>
        <p:spPr>
          <a:xfrm>
            <a:off x="502920" y="4700016"/>
            <a:ext cx="8183879" cy="530352"/>
          </a:xfrm>
          <a:prstGeom prst="rect">
            <a:avLst/>
          </a:prstGeom>
          <a:noFill/>
        </p:spPr>
        <p:txBody>
          <a:bodyPr wrap="square" lIns="0" rIns="0" tIns="0" bIns="0">
            <a:noAutofit/>
          </a:bodyPr>
          <a:lstStyle/>
          <a:p>
            <a:pPr algn="l">
              <a:lnSpc>
                <a:spcPts val="940"/>
              </a:lnSpc>
              <a:spcBef>
                <a:spcPts val="0"/>
              </a:spcBef>
              <a:spcAft>
                <a:spcPts val="140"/>
              </a:spcAft>
              <a:buNone/>
              <a:defRPr sz="810" b="0">
                <a:solidFill>
                  <a:srgbClr val="303437"/>
                </a:solidFill>
                <a:latin typeface="Noto Sans"/>
              </a:defRPr>
            </a:pPr>
            <a:r>
              <a:rPr sz="810" b="0" lang="ja-JP" altLang="en-US">
                <a:solidFill>
                  <a:srgbClr val="626669"/>
                </a:solidFill>
                <a:latin typeface="Noto Sans"/>
                <a:ea typeface="Noto Sans CJK JP"/>
                <a:cs typeface="Noto Sans"/>
              </a:rPr>
              <a:t>[1] Zhong et al. AR-LSAT, 公式データ・実装。2026-10-18取得。</a:t>
            </a:r>
            <a:r>
              <a:rPr sz="810" b="0" lang="ja-JP" altLang="en-US">
                <a:solidFill>
                  <a:srgbClr val="626669"/>
                </a:solidFill>
                <a:latin typeface="Noto Sans"/>
                <a:ea typeface="Noto Sans CJK JP"/>
                <a:cs typeface="Noto Sans"/>
              </a:rPr>
              <a:t>  </a:t>
            </a:r>
            <a:r>
              <a:rPr sz="810" b="0" lang="ja-JP" altLang="en-US">
                <a:solidFill>
                  <a:srgbClr val="626669"/>
                </a:solidFill>
                <a:latin typeface="Noto Sans"/>
                <a:ea typeface="Noto Sans CJK JP"/>
                <a:cs typeface="Noto Sans"/>
                <a:hlinkClick r:id="rId2"/>
              </a:rPr>
              <a:t>https://github.com/zhongwanjun/AR-LSAT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585216"/>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AR-LSAT: Investigating Analytical Reasoning of Text"/>
          <p:cNvSpPr txBox="1"/>
          <p:nvPr/>
        </p:nvSpPr>
        <p:spPr>
          <a:xfrm>
            <a:off x="548640" y="1463040"/>
            <a:ext cx="8046720" cy="1360297"/>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AR-LSAT: Investigating Analytical Reasoning of Text</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Wanjun Zhong et al. · 2021 · arXiv:2104.06598v2</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試験由来の分析的推論データを整備し、学習型の回答モデルと明示的な論理処理を比較する。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https://arxiv.org/abs/2104.06598</a:t>
            </a:r>
          </a:p>
        </p:txBody>
      </p:sp>
      <p:sp>
        <p:nvSpPr>
          <p:cNvPr id="5" name="文献 2: AR-LSAT"/>
          <p:cNvSpPr txBox="1"/>
          <p:nvPr/>
        </p:nvSpPr>
        <p:spPr>
          <a:xfrm>
            <a:off x="548640" y="3054985"/>
            <a:ext cx="8046720" cy="1360297"/>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AR-LSAT</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Wanjun Zhong et al. · 公式リポジトリ · 2026-10-18取得</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分割データ、Transformer型の実験、Analytical Reasoning Machineの実装を公開する。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https://github.com/zhongwanjun/AR-LSAT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Holistic Evaluation of Language Models"/>
          <p:cNvSpPr txBox="1"/>
          <p:nvPr/>
        </p:nvSpPr>
        <p:spPr>
          <a:xfrm>
            <a:off x="548640" y="1463040"/>
            <a:ext cx="8046720" cy="1360297"/>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Holistic Evaluation of Language Models</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Percy Liang et al. · 2023 · Transactions on Machine Learning Research</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多様な課題と指標を共通の手順で扱うHELMを設計し、LSATも評価対象に含めた。</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https://arxiv.org/abs/2211.09110</a:t>
            </a:r>
          </a:p>
        </p:txBody>
      </p:sp>
      <p:sp>
        <p:nvSpPr>
          <p:cNvPr id="5" name="文献 2: HELM Classic — LSAT"/>
          <p:cNvSpPr txBox="1"/>
          <p:nvPr/>
        </p:nvSpPr>
        <p:spPr>
          <a:xfrm>
            <a:off x="548640" y="3054985"/>
            <a:ext cx="8046720" cy="1106932"/>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HELM Classic — LSAT</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Stanford CRFM · v0.4.0（2023-11-17）· 2026-10-18参照</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固定版モデルの成績、提示条件、予測記録をまとめる。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https://crfm.stanford.edu/helm/classic/v0.4.0/#/groups/lsat_qa</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研究と参考文献</a:t>
            </a:r>
          </a:p>
        </p:txBody>
      </p:sp>
      <p:sp>
        <p:nvSpPr>
          <p:cNvPr id="4" name="文献 1: Types of LSAT Questions"/>
          <p:cNvSpPr txBox="1"/>
          <p:nvPr/>
        </p:nvSpPr>
        <p:spPr>
          <a:xfrm>
            <a:off x="548640" y="1463040"/>
            <a:ext cx="8046720" cy="1360297"/>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Types of LSAT Questions</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Law School Admission Council · 2026-10-18参照</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現在の試験で扱うLogical ReasoningとReading Comprehensionの設問を説明する。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2"/>
              </a:rPr>
              <a:t>https://www.lsac.org/lsat/about/types-lsat-questions</a:t>
            </a:r>
          </a:p>
        </p:txBody>
      </p:sp>
      <p:sp>
        <p:nvSpPr>
          <p:cNvPr id="5" name="文献 2: LSATScenario"/>
          <p:cNvSpPr txBox="1"/>
          <p:nvPr/>
        </p:nvSpPr>
        <p:spPr>
          <a:xfrm>
            <a:off x="548640" y="3054985"/>
            <a:ext cx="8046720" cy="1106932"/>
          </a:xfrm>
          <a:prstGeom prst="rect">
            <a:avLst/>
          </a:prstGeom>
          <a:noFill/>
        </p:spPr>
        <p:txBody>
          <a:bodyPr wrap="square" lIns="0" rIns="0" tIns="0" bIns="0">
            <a:noAutofit/>
          </a:bodyPr>
          <a:lstStyle/>
          <a:p>
            <a:pPr algn="l">
              <a:lnSpc>
                <a:spcPct val="114000"/>
              </a:lnSpc>
              <a:spcBef>
                <a:spcPts val="0"/>
              </a:spcBef>
              <a:spcAft>
                <a:spcPts val="400"/>
              </a:spcAft>
              <a:buNone/>
              <a:defRPr sz="1850" b="0">
                <a:solidFill>
                  <a:srgbClr val="303437"/>
                </a:solidFill>
                <a:latin typeface="Noto Sans"/>
              </a:defRPr>
            </a:pPr>
            <a:r>
              <a:rPr sz="1850" b="1" lang="ja-JP" altLang="en-US">
                <a:solidFill>
                  <a:srgbClr val="303437"/>
                </a:solidFill>
                <a:latin typeface="Noto Sans"/>
                <a:ea typeface="Noto Sans CJK JP"/>
                <a:cs typeface="Noto Sans"/>
              </a:rPr>
              <a:t>LSATScenario</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Stanford CRFM · HELM v0.3.0 · Python実装</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元JSONの条件文・設問・5選択肢・正解をHELMの問題表現へ変換する。</a:t>
            </a:r>
          </a:p>
          <a:p>
            <a:pPr algn="l">
              <a:lnSpc>
                <a:spcPct val="114000"/>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hlinkClick r:id="rId3"/>
              </a:rPr>
              <a:t>https://github.com/stanford-crfm/helm/blob/v0.3.0/src/helm/benchmark/scenarios/lsat_qa_scenario.py</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2026-10-18T07:33:15Z</dcterms:modified>
  <dc:title>lsat</dc:title>
  <dc:creator>sasakiy84</dc:creator>
  <dcterms:created xsi:type="dcterms:W3CDTF">2026-10-18T07:33:15Z</dcterms:created>
  <dc:language>ja-JP</dc:language>
</cp:coreProperties>
</file>