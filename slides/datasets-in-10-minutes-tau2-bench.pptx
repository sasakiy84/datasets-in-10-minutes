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課題数</c:v>
                </c:pt>
              </c:strCache>
            </c:strRef>
          </c:tx>
          <c:spPr>
            <a:solidFill>
              <a:srgbClr val="2C9100"/>
            </a:solidFill>
            <a:ln>
              <a:noFill/>
            </a:ln>
          </c:spPr>
          <c:cat>
            <c:strRef>
              <c:f>Sheet1!$A$2:$A$4</c:f>
              <c:strCache>
                <c:ptCount val="3"/>
                <c:pt idx="0">
                  <c:v>圏外・接続の不具合</c:v>
                </c:pt>
                <c:pt idx="1">
                  <c:v>データ通信の不具合</c:v>
                </c:pt>
                <c:pt idx="2">
                  <c:v>MMSの不具合</c:v>
                </c:pt>
              </c:strCache>
            </c:strRef>
          </c:cat>
          <c:val>
            <c:numRef>
              <c:f>Sheet1!$B$2:$B$4</c:f>
              <c:numCache>
                <c:formatCode>General</c:formatCode>
                <c:ptCount val="3"/>
                <c:pt idx="0">
                  <c:v>29</c:v>
                </c:pt>
                <c:pt idx="1">
                  <c:v>36</c:v>
                </c:pt>
                <c:pt idx="2">
                  <c:v>49</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l"/>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b"/>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bar"/>
        <c:grouping val="clustered"/>
        <c:ser>
          <c:idx val="0"/>
          <c:order val="0"/>
          <c:tx>
            <c:strRef>
              <c:f>Sheet1!$B$1</c:f>
              <c:strCache>
                <c:ptCount val="1"/>
                <c:pt idx="0">
                  <c:v>課題数</c:v>
                </c:pt>
              </c:strCache>
            </c:strRef>
          </c:tx>
          <c:spPr>
            <a:solidFill>
              <a:srgbClr val="2C9100"/>
            </a:solidFill>
            <a:ln>
              <a:noFill/>
            </a:ln>
          </c:spPr>
          <c:cat>
            <c:strRef>
              <c:f>Sheet1!$A$2:$A$5</c:f>
              <c:strCache>
                <c:ptCount val="4"/>
                <c:pt idx="0">
                  <c:v>8〜9個</c:v>
                </c:pt>
                <c:pt idx="1">
                  <c:v>6〜7個</c:v>
                </c:pt>
                <c:pt idx="2">
                  <c:v>4〜5個</c:v>
                </c:pt>
                <c:pt idx="3">
                  <c:v>2〜3個</c:v>
                </c:pt>
              </c:strCache>
            </c:strRef>
          </c:cat>
          <c:val>
            <c:numRef>
              <c:f>Sheet1!$B$2:$B$5</c:f>
              <c:numCache>
                <c:formatCode>General</c:formatCode>
                <c:ptCount val="4"/>
                <c:pt idx="0">
                  <c:v>10</c:v>
                </c:pt>
                <c:pt idx="1">
                  <c:v>19</c:v>
                </c:pt>
                <c:pt idx="2">
                  <c:v>34</c:v>
                </c:pt>
                <c:pt idx="3">
                  <c:v>51</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l"/>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b"/>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huggingface.co/papers/2506.07982"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6.0798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6.07982"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6.07982"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data/tau2/domains/retail/tasks.jso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data/tau2/domains/retail/tasks.js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data/tau2/domains/telecom/tasks.jso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data/tau2/domains/telecom/tasks.js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data/tau2/domains/airline/tasks.jso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data/tau2/domains/airline/tasks.json"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ierra-research/tau2-bench/blob/v0.2.0/src/tau2/evaluator/evaluator.py"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ierra-research/tau2-bench/blob/v0.2.0/src/tau2/metrics/agent_metrics.py"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src/tau2/metrics/agent_metrics.py"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6.07982"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deepmind.google/models/gemini/pro/"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6.07982"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6.07982"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6.07982"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6.07982"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tree/v0.2.0/data/tau2/domain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github.com/sierra-research/tau2-bench/tree/v0.2.0/data/tau2/domain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tree/v0.2.0/data/tau2/domain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 Id="rId3" Type="http://schemas.openxmlformats.org/officeDocument/2006/relationships/hyperlink" Target="https://github.com/sierra-research/tau2-bench/tree/v0.2.0/data/tau2/domains"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6.07982"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3.04370"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1.0.1/data/tau2/domains/banking_knowledge/tasks.json"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tree/v1.0.1/data/tau2/domains/banking_knowledg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tree/main/web/leaderboard/public/submissions"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603.13686" TargetMode="External"/><Relationship Id="rId3" Type="http://schemas.openxmlformats.org/officeDocument/2006/relationships/hyperlink" Target="https://github.com/sierra-research/tau2-bench/tree/main/web/leaderboard/public/submissions/grok-voice-3-0_xai_2026-10-14"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ierra-research/tau2-bench/blob/v1.0.1/RELEASE_NOTES.md"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6.07982"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data/tau2/domains/retail/tasks.json"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data/tau2/domains/retail/tasks.json"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data/tau2/domains/retail/tasks.json"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data/tau2/domains/airline/tasks.json"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data/tau2/domains/airline/tasks.json"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data/tau2/domains/telecom/tasks.json"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data/tau2/domains/telecom/tasks.json"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data/tau2/domains/telecom/tasks.json"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data/tau2/domains/telecom/tasks.json"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1.0.1/data/tau2/domains/banking_knowledge/tasks.json"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tree/v0.2.0/data/tau2/domains"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tree/v0.2.0/data/tau2/domains"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tree/v0.2.0/src/tau2/domains"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ierra-research/tau2-bench/blob/v0.2.0/src/tau2/evaluator/evaluator.py"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0.2.0/src/tau2/metrics/agent_metrics.py"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tree/v1.0.1/data/tau2/domains/banking_knowledge"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506.07982"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506.07982"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06.12045"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3.04370"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603.13686"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 TargetMode="External"/><Relationship Id="rId3" Type="http://schemas.openxmlformats.org/officeDocument/2006/relationships/hyperlink" Target="https://deepmind.google/models/gemini/pro/"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sierra-research/tau2-bench/blob/v1.0.1/RELEASE_NOTES.md" TargetMode="External"/><Relationship Id="rId3" Type="http://schemas.openxmlformats.org/officeDocument/2006/relationships/hyperlink" Target="https://github.com/sierra-research/tau2-bench/tree/main/web/leaderboard/public/submission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57200" y="1866729"/>
            <a:ext cx="8229600" cy="914400"/>
          </a:xfrm>
        </p:spPr>
        <p:txBody>
          <a:bodyPr wrap="square" lIns="0" rIns="0" tIns="0" bIns="0">
            <a:noAutofit/>
          </a:bodyPr>
          <a:lstStyle/>
          <a:p>
            <a:pPr algn="ctr">
              <a:lnSpc>
                <a:spcPct val="110000"/>
              </a:lnSpc>
              <a:buNone/>
              <a:defRPr sz="5200" b="0">
                <a:solidFill>
                  <a:srgbClr val="303437"/>
                </a:solidFill>
                <a:latin typeface="Noto Sans"/>
              </a:defRPr>
            </a:pPr>
            <a:r>
              <a:rPr sz="5200" b="1" lang="ja-JP" altLang="en-US">
                <a:solidFill>
                  <a:srgbClr val="303437"/>
                </a:solidFill>
                <a:latin typeface="Noto Sans"/>
                <a:ea typeface="Noto Sans CJK JP"/>
                <a:cs typeface="Noto Sans"/>
              </a:rPr>
              <a:t>τ²-bench</a:t>
            </a:r>
          </a:p>
        </p:txBody>
      </p:sp>
      <p:sp>
        <p:nvSpPr>
          <p:cNvPr id="3" name="Subtitle 2"/>
          <p:cNvSpPr>
            <a:spLocks noGrp="1"/>
          </p:cNvSpPr>
          <p:nvPr>
            <p:ph type="subTitle" idx="1"/>
          </p:nvPr>
        </p:nvSpPr>
        <p:spPr>
          <a:xfrm>
            <a:off x="457200" y="2918289"/>
            <a:ext cx="8229600" cy="914400"/>
          </a:xfrm>
        </p:spPr>
        <p:txBody>
          <a:bodyPr wrap="square" lIns="0" rIns="0" tIns="0" bIns="0">
            <a:noAutofit/>
          </a:bodyPr>
          <a:lstStyle/>
          <a:p>
            <a:pPr algn="ctr">
              <a:lnSpc>
                <a:spcPct val="110000"/>
              </a:lnSpc>
              <a:buNone/>
              <a:defRPr sz="2300" b="0">
                <a:solidFill>
                  <a:srgbClr val="303437"/>
                </a:solidFill>
                <a:latin typeface="Noto Sans"/>
              </a:defRPr>
            </a:pPr>
            <a:r>
              <a:rPr sz="2300" b="0" lang="ja-JP" altLang="en-US">
                <a:solidFill>
                  <a:srgbClr val="303437"/>
                </a:solidFill>
                <a:latin typeface="Noto Sans"/>
                <a:ea typeface="Noto Sans CJK JP"/>
                <a:cs typeface="Noto Sans"/>
              </a:rPr>
              <a:t>顧客と協力して問題を解く会話エージェント評価
τ³-benchへの拡張も含めて</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138160" cy="22860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論文の紹介ページ</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τ²-benchの論文紹介ページ</a:t>
            </a:r>
          </a:p>
        </p:txBody>
      </p:sp>
      <p:pic>
        <p:nvPicPr>
          <p:cNvPr id="4" name="Picture 3" descr="hf-paper.png"/>
          <p:cNvPicPr>
            <a:picLocks noChangeAspect="1"/>
          </p:cNvPicPr>
          <p:nvPr/>
        </p:nvPicPr>
        <p:blipFill>
          <a:blip r:embed="rId2"/>
          <a:stretch>
            <a:fillRect/>
          </a:stretch>
        </p:blipFill>
        <p:spPr>
          <a:xfrm>
            <a:off x="2274570" y="1481328"/>
            <a:ext cx="4594859" cy="3063240"/>
          </a:xfrm>
          <a:prstGeom prst="rect">
            <a:avLst/>
          </a:prstGeom>
        </p:spPr>
      </p:pic>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Barres et al. (2025). τ²-Bench: Evaluating Conversational Agents in a Dual-Control Environment. Hugging Face Papers掲載ページ。</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https://huggingface.co/papers/2506.07982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777240" y="1226434"/>
            <a:ext cx="7772400" cy="2846324"/>
          </a:xfrm>
        </p:spPr>
        <p:txBody>
          <a:bodyPr lIns="0" rIns="0" tIns="0" bIns="0" wrap="square">
            <a:noAutofit/>
          </a:bodyPr>
          <a:lstStyle/>
          <a:p>
            <a:pPr marL="457200" indent="-457200">
              <a:lnSpc>
                <a:spcPct val="128000"/>
              </a:lnSpc>
              <a:spcAft>
                <a:spcPts val="1700"/>
              </a:spcAft>
              <a:buSzPct val="100000"/>
              <a:buFont typeface="Noto Sans CJK JP"/>
              <a:buAutoNum type="arabicPeriod" startAt="1"/>
              <a:defRPr sz="3100" b="1">
                <a:solidFill>
                  <a:srgbClr val="303437"/>
                </a:solidFill>
                <a:latin typeface="Noto Sans"/>
              </a:defRPr>
            </a:pPr>
            <a:r>
              <a:rPr sz="3100" b="1" lang="ja-JP" altLang="en-US">
                <a:solidFill>
                  <a:srgbClr val="303437"/>
                </a:solidFill>
                <a:latin typeface="Noto Sans"/>
                <a:ea typeface="Noto Sans CJK JP"/>
                <a:cs typeface="Noto Sans"/>
              </a:rPr>
              <a:t>顧客と協力する課題と実例</a:t>
            </a:r>
          </a:p>
          <a:p>
            <a:pPr marL="457200" indent="-457200">
              <a:lnSpc>
                <a:spcPct val="128000"/>
              </a:lnSpc>
              <a:spcAft>
                <a:spcPts val="1700"/>
              </a:spcAft>
              <a:buSzPct val="100000"/>
              <a:buFont typeface="Noto Sans CJK JP"/>
              <a:buAutoNum type="arabicPeriod" startAt="2"/>
              <a:defRPr sz="3100" b="1">
                <a:solidFill>
                  <a:srgbClr val="303437"/>
                </a:solidFill>
                <a:latin typeface="Noto Sans"/>
              </a:defRPr>
            </a:pPr>
            <a:r>
              <a:rPr sz="3100" b="1" lang="ja-JP" altLang="en-US">
                <a:solidFill>
                  <a:srgbClr val="303437"/>
                </a:solidFill>
                <a:latin typeface="Noto Sans"/>
                <a:ea typeface="Noto Sans CJK JP"/>
                <a:cs typeface="Noto Sans"/>
              </a:rPr>
              <a:t>完了の判定とモデルの成績</a:t>
            </a:r>
          </a:p>
          <a:p>
            <a:pPr marL="457200" indent="-457200">
              <a:lnSpc>
                <a:spcPct val="128000"/>
              </a:lnSpc>
              <a:spcAft>
                <a:spcPts val="1700"/>
              </a:spcAft>
              <a:buSzPct val="100000"/>
              <a:buFont typeface="Noto Sans CJK JP"/>
              <a:buAutoNum type="arabicPeriod" startAt="3"/>
              <a:defRPr sz="3100" b="1">
                <a:solidFill>
                  <a:srgbClr val="303437"/>
                </a:solidFill>
                <a:latin typeface="Noto Sans"/>
              </a:defRPr>
            </a:pPr>
            <a:r>
              <a:rPr sz="3100" b="1" lang="ja-JP" altLang="en-US">
                <a:solidFill>
                  <a:srgbClr val="303437"/>
                </a:solidFill>
                <a:latin typeface="Noto Sans"/>
                <a:ea typeface="Noto Sans CJK JP"/>
                <a:cs typeface="Noto Sans"/>
              </a:rPr>
              <a:t>課題の作成方法と構成</a:t>
            </a:r>
          </a:p>
          <a:p>
            <a:pPr marL="457200" indent="-457200">
              <a:lnSpc>
                <a:spcPct val="128000"/>
              </a:lnSpc>
              <a:spcAft>
                <a:spcPts val="1700"/>
              </a:spcAft>
              <a:buSzPct val="100000"/>
              <a:buFont typeface="Noto Sans CJK JP"/>
              <a:buAutoNum type="arabicPeriod" startAt="4"/>
              <a:defRPr sz="3100" b="1">
                <a:solidFill>
                  <a:srgbClr val="303437"/>
                </a:solidFill>
                <a:latin typeface="Noto Sans"/>
              </a:defRPr>
            </a:pPr>
            <a:r>
              <a:rPr sz="3100" b="1" lang="ja-JP" altLang="en-US">
                <a:solidFill>
                  <a:srgbClr val="303437"/>
                </a:solidFill>
                <a:latin typeface="Noto Sans"/>
                <a:ea typeface="Noto Sans CJK JP"/>
                <a:cs typeface="Noto Sans"/>
              </a:rPr>
              <a:t>τ³-benchへの発展と利用</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顧客と協力する課題と実例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顧客と協力する課題と実例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τ²-benchは顧客対応の完了を評価する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τ（タウ）は、Tool・Agent・Userのやり取りを評価するベンチマークの系列名である。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担当者役のAIは、顧客との会話、業務ルール、ツールを使い、小売・航空・通信の課題を解く。</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τ²-benchでは、通信障害の解決などで顧客自身も端末を操作する。担当者は、相手へ必要な操作を伝え、結果を確かめる。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顧客と協力する課題と実例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Barres et al. (2025). τ²-Bench: Evaluating Conversational Agents in a Dual-Control Environment. arXiv:2506.07982.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https://arxiv.org/abs/2506.07982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顧客と担当者が、それぞれの環境を操作する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顧客と協力する課題と実例</a:t>
            </a:r>
          </a:p>
        </p:txBody>
      </p:sp>
      <p:sp>
        <p:nvSpPr>
          <p:cNvPr id="4" name="Rounded Rectangle 3"/>
          <p:cNvSpPr/>
          <p:nvPr/>
        </p:nvSpPr>
        <p:spPr>
          <a:xfrm>
            <a:off x="594360" y="1508760"/>
            <a:ext cx="3383280" cy="594360"/>
          </a:xfrm>
          <a:prstGeom prst="round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04088" y="1618488"/>
            <a:ext cx="3163824" cy="411480"/>
          </a:xfrm>
          <a:prstGeom prst="rect">
            <a:avLst/>
          </a:prstGeom>
          <a:noFill/>
        </p:spPr>
        <p:txBody>
          <a:bodyPr wrap="square" lIns="0" rIns="0" tIns="0" bIns="0">
            <a:noAutofit/>
          </a:bodyPr>
          <a:lstStyle/>
          <a:p>
            <a:pPr algn="ctr">
              <a:lnSpc>
                <a:spcPct val="117000"/>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顧客役の言語モデル</a:t>
            </a:r>
          </a:p>
        </p:txBody>
      </p:sp>
      <p:sp>
        <p:nvSpPr>
          <p:cNvPr id="6" name="Rounded Rectangle 5"/>
          <p:cNvSpPr/>
          <p:nvPr/>
        </p:nvSpPr>
        <p:spPr>
          <a:xfrm>
            <a:off x="5166360" y="1508760"/>
            <a:ext cx="3383280" cy="594360"/>
          </a:xfrm>
          <a:prstGeom prst="round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76088" y="1618488"/>
            <a:ext cx="3163824" cy="411480"/>
          </a:xfrm>
          <a:prstGeom prst="rect">
            <a:avLst/>
          </a:prstGeom>
          <a:noFill/>
        </p:spPr>
        <p:txBody>
          <a:bodyPr wrap="square" lIns="0" rIns="0" tIns="0" bIns="0">
            <a:noAutofit/>
          </a:bodyPr>
          <a:lstStyle/>
          <a:p>
            <a:pPr algn="ctr">
              <a:lnSpc>
                <a:spcPct val="117000"/>
              </a:lnSpc>
              <a:spcBef>
                <a:spcPts val="0"/>
              </a:spcBef>
              <a:spcAft>
                <a:spcPts val="0"/>
              </a:spcAft>
              <a:buNone/>
              <a:defRPr sz="2100" b="0">
                <a:solidFill>
                  <a:srgbClr val="303437"/>
                </a:solidFill>
                <a:latin typeface="Noto Sans"/>
              </a:defRPr>
            </a:pPr>
            <a:r>
              <a:rPr sz="2100" b="0" lang="ja-JP" altLang="en-US">
                <a:solidFill>
                  <a:srgbClr val="303437"/>
                </a:solidFill>
                <a:latin typeface="Noto Sans"/>
                <a:ea typeface="Noto Sans CJK JP"/>
                <a:cs typeface="Noto Sans"/>
              </a:rPr>
              <a:t>担当者の言語モデル</a:t>
            </a:r>
          </a:p>
        </p:txBody>
      </p:sp>
      <p:sp>
        <p:nvSpPr>
          <p:cNvPr id="8" name="TextBox 7"/>
          <p:cNvSpPr txBox="1"/>
          <p:nvPr/>
        </p:nvSpPr>
        <p:spPr>
          <a:xfrm>
            <a:off x="3995928" y="1627632"/>
            <a:ext cx="1143000" cy="274320"/>
          </a:xfrm>
          <a:prstGeom prst="rect">
            <a:avLst/>
          </a:prstGeom>
          <a:noFill/>
        </p:spPr>
        <p:txBody>
          <a:bodyPr wrap="square" lIns="0" rIns="0" tIns="0" bIns="0">
            <a:noAutofit/>
          </a:bodyPr>
          <a:lstStyle/>
          <a:p>
            <a:pPr algn="ctr">
              <a:lnSpc>
                <a:spcPct val="117000"/>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 会話 →</a:t>
            </a:r>
          </a:p>
        </p:txBody>
      </p:sp>
      <p:sp>
        <p:nvSpPr>
          <p:cNvPr id="9" name="Rounded Rectangle 8"/>
          <p:cNvSpPr/>
          <p:nvPr/>
        </p:nvSpPr>
        <p:spPr>
          <a:xfrm>
            <a:off x="594360" y="2542032"/>
            <a:ext cx="3383280" cy="1234440"/>
          </a:xfrm>
          <a:prstGeom prst="round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04088" y="2651760"/>
            <a:ext cx="3163824" cy="1051560"/>
          </a:xfrm>
          <a:prstGeom prst="rect">
            <a:avLst/>
          </a:prstGeom>
          <a:noFill/>
        </p:spPr>
        <p:txBody>
          <a:bodyPr wrap="square" lIns="0" rIns="0" tIns="0" bIns="0">
            <a:noAutofit/>
          </a:bodyPr>
          <a:lstStyle/>
          <a:p>
            <a:pPr algn="ctr">
              <a:lnSpc>
                <a:spcPct val="117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顧客の端末</a:t>
            </a:r>
          </a:p>
          <a:p>
            <a:pPr algn="ctr">
              <a:lnSpc>
                <a:spcPct val="117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通信・ローミングの設定</a:t>
            </a:r>
          </a:p>
        </p:txBody>
      </p:sp>
      <p:sp>
        <p:nvSpPr>
          <p:cNvPr id="11" name="Rounded Rectangle 10"/>
          <p:cNvSpPr/>
          <p:nvPr/>
        </p:nvSpPr>
        <p:spPr>
          <a:xfrm>
            <a:off x="5166360" y="2542032"/>
            <a:ext cx="3383280" cy="1234440"/>
          </a:xfrm>
          <a:prstGeom prst="round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276088" y="2651760"/>
            <a:ext cx="3163824" cy="1051560"/>
          </a:xfrm>
          <a:prstGeom prst="rect">
            <a:avLst/>
          </a:prstGeom>
          <a:noFill/>
        </p:spPr>
        <p:txBody>
          <a:bodyPr wrap="square" lIns="0" rIns="0" tIns="0" bIns="0">
            <a:noAutofit/>
          </a:bodyPr>
          <a:lstStyle/>
          <a:p>
            <a:pPr algn="ctr">
              <a:lnSpc>
                <a:spcPct val="117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企業の顧客管理</a:t>
            </a:r>
          </a:p>
          <a:p>
            <a:pPr algn="ctr">
              <a:lnSpc>
                <a:spcPct val="117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契約・利用量・追加データ</a:t>
            </a:r>
          </a:p>
        </p:txBody>
      </p:sp>
      <p:sp>
        <p:nvSpPr>
          <p:cNvPr id="13" name="TextBox 12"/>
          <p:cNvSpPr txBox="1"/>
          <p:nvPr/>
        </p:nvSpPr>
        <p:spPr>
          <a:xfrm>
            <a:off x="1920240" y="2157984"/>
            <a:ext cx="731520" cy="320040"/>
          </a:xfrm>
          <a:prstGeom prst="rect">
            <a:avLst/>
          </a:prstGeom>
          <a:noFill/>
        </p:spPr>
        <p:txBody>
          <a:bodyPr wrap="square" lIns="0" rIns="0" tIns="0" bIns="0">
            <a:noAutofit/>
          </a:bodyPr>
          <a:lstStyle/>
          <a:p>
            <a:pPr algn="ctr">
              <a:lnSpc>
                <a:spcPct val="117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t>
            </a:r>
          </a:p>
        </p:txBody>
      </p:sp>
      <p:sp>
        <p:nvSpPr>
          <p:cNvPr id="14" name="TextBox 13"/>
          <p:cNvSpPr txBox="1"/>
          <p:nvPr/>
        </p:nvSpPr>
        <p:spPr>
          <a:xfrm>
            <a:off x="6492240" y="2157984"/>
            <a:ext cx="731520" cy="320040"/>
          </a:xfrm>
          <a:prstGeom prst="rect">
            <a:avLst/>
          </a:prstGeom>
          <a:noFill/>
        </p:spPr>
        <p:txBody>
          <a:bodyPr wrap="square" lIns="0" rIns="0" tIns="0" bIns="0">
            <a:noAutofit/>
          </a:bodyPr>
          <a:lstStyle/>
          <a:p>
            <a:pPr algn="ctr">
              <a:lnSpc>
                <a:spcPct val="117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t>
            </a:r>
          </a:p>
        </p:txBody>
      </p:sp>
      <p:sp>
        <p:nvSpPr>
          <p:cNvPr id="15" name="TextBox 14"/>
          <p:cNvSpPr txBox="1"/>
          <p:nvPr/>
        </p:nvSpPr>
        <p:spPr>
          <a:xfrm>
            <a:off x="594360" y="4133087"/>
            <a:ext cx="7955279" cy="457200"/>
          </a:xfrm>
          <a:prstGeom prst="rect">
            <a:avLst/>
          </a:prstGeom>
          <a:noFill/>
        </p:spPr>
        <p:txBody>
          <a:bodyPr wrap="square" lIns="0" rIns="0" tIns="0" bIns="0">
            <a:noAutofit/>
          </a:bodyPr>
          <a:lstStyle/>
          <a:p>
            <a:pPr algn="l">
              <a:lnSpc>
                <a:spcPct val="117000"/>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端末の設定と企業側の契約情報が、通信の状態を決める。</a:t>
            </a:r>
          </a:p>
        </p:txBody>
      </p:sp>
      <p:sp>
        <p:nvSpPr>
          <p:cNvPr id="16" name="TextBox 1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Barres et al. (2025). τ²-Bench: Evaluating Conversational Agents in a Dual-Control Environment. arXiv:2506.07982.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https://arxiv.org/abs/2506.07982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課題に顧客の目標・初期状態・完了条件が付く</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担当者役には業務ルールと操作ツールを渡す。別の言語モデルが顧客役となり、用意された目標・知識・振る舞いに従う。</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企業のデータベースと顧客の端末状態を設定し、会話とツール呼出しを進める。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本編の最初の3例はτ²-benchの公開課題。後半では、τ³-benchに加わった文書検索付きの銀行課題も扱う。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顧客と協力する課題と実例</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Barres et al. (2025). τ²-Bench: Evaluating Conversational Agents in a Dual-Control Environment. arXiv:2506.07982.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https://arxiv.org/abs/2506.07982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実例1：条件に合う商品へ交換する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顧客と協力する課題と実例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顧客役に渡す設定（英語・抜粋）</a:t>
            </a:r>
          </a:p>
        </p:txBody>
      </p:sp>
      <p:sp>
        <p:nvSpPr>
          <p:cNvPr id="5" name="Rectangle 4"/>
          <p:cNvSpPr/>
          <p:nvPr/>
        </p:nvSpPr>
        <p:spPr>
          <a:xfrm>
            <a:off x="548640" y="1682496"/>
            <a:ext cx="8046720" cy="169795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received your order #W2378156 and wish to exchange the mechanical keyboard for a similar one but with clicky switches and the smart thermostat for one compatible with Google Home instead of Apple HomeKit. If there is no keyboard that is clicky, RGB backlight, full size, you'd go for no backlight.</a:t>
            </a:r>
          </a:p>
        </p:txBody>
      </p:sp>
      <p:sp>
        <p:nvSpPr>
          <p:cNvPr id="6" name="TextBox 5"/>
          <p:cNvSpPr txBox="1"/>
          <p:nvPr/>
        </p:nvSpPr>
        <p:spPr>
          <a:xfrm>
            <a:off x="594360" y="3590759"/>
            <a:ext cx="7955279" cy="962952"/>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課題の内容：キーボードとサーモスタットを交換する。キーの方式、照明、サイズ、対応するスマートホームの条件を満たす商品を探す。</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τ²-bench / retail / v0.2.0. ID: 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https://github.com/sierra-research/tau2-bench/blob/v0.2.0/data/tau2/domains/retail/tasks.json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実例1では、希望条件を確認して2商品を交換</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顧客と協力する課題と実例</a:t>
            </a:r>
          </a:p>
        </p:txBody>
      </p:sp>
      <p:graphicFrame>
        <p:nvGraphicFramePr>
          <p:cNvPr id="4" name="Table 3"/>
          <p:cNvGraphicFramePr>
            <a:graphicFrameLocks noGrp="1"/>
          </p:cNvGraphicFramePr>
          <p:nvPr/>
        </p:nvGraphicFramePr>
        <p:xfrm>
          <a:off x="548640" y="1508760"/>
          <a:ext cx="8046720" cy="2990088"/>
        </p:xfrm>
        <a:graphic>
          <a:graphicData uri="http://schemas.openxmlformats.org/drawingml/2006/table">
            <a:tbl>
              <a:tblPr firstRow="0" bandRow="0"/>
              <a:tblGrid>
                <a:gridCol w="2103120"/>
                <a:gridCol w="5943600"/>
              </a:tblGrid>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課題と参照解法の内容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9436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顧客の特定</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氏名と郵便番号を使い、注文を確認する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73152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キーボード</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clicky方式・フルサイズ。RGBがなければ照明なし</a:t>
                      </a:r>
                    </a:p>
                  </a:txBody>
                  <a:tcPr marL="63500" marR="63500" marT="38100" marB="38100" anchor="ctr">
                    <a:lnL w="7620">
                      <a:noFill/>
                    </a:lnL>
                    <a:lnR w="7620">
                      <a:noFill/>
                    </a:lnR>
                    <a:lnT w="7620">
                      <a:noFill/>
                    </a:lnT>
                    <a:lnB w="7620">
                      <a:noFill/>
                    </a:lnB>
                    <a:solidFill>
                      <a:srgbClr val="FFFEF8"/>
                    </a:solidFill>
                  </a:tcPr>
                </a:tc>
              </a:tr>
              <a:tr h="59436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サーモスタット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Apple HomeKit対応からGoogle Home対応へ</a:t>
                      </a:r>
                    </a:p>
                  </a:txBody>
                  <a:tcPr marL="63500" marR="63500" marT="38100" marB="38100" anchor="ctr">
                    <a:lnL w="7620">
                      <a:noFill/>
                    </a:lnL>
                    <a:lnR w="7620">
                      <a:noFill/>
                    </a:lnR>
                    <a:lnT w="7620">
                      <a:noFill/>
                    </a:lnT>
                    <a:lnB w="7620">
                      <a:noFill/>
                    </a:lnB>
                    <a:solidFill>
                      <a:srgbClr val="FFFEF8"/>
                    </a:solidFill>
                  </a:tcPr>
                </a:tc>
              </a:tr>
              <a:tr h="59436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完了状態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注文内の2商品を、指定された交換先へ変更</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τ²-bench / retail / v0.2.0. ID: 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https://github.com/sierra-research/tau2-bench/blob/v0.2.0/data/tau2/domains/retail/tasks.json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実例2：スマートフォンの通信を復旧する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顧客と協力する課題と実例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顧客役に渡す設定（英語・抜粋）</a:t>
            </a:r>
          </a:p>
        </p:txBody>
      </p:sp>
      <p:sp>
        <p:nvSpPr>
          <p:cNvPr id="5" name="Rectangle 4"/>
          <p:cNvSpPr/>
          <p:nvPr/>
        </p:nvSpPr>
        <p:spPr>
          <a:xfrm>
            <a:off x="548640" y="1682496"/>
            <a:ext cx="8046720" cy="140426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mobile data is not working properly. It either stops working or is very slow.</a:t>
            </a:r>
          </a:p>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are willing to refuel 2.0 GB of data if necessary, but you do not want to change your mobile data plan.</a:t>
            </a:r>
          </a:p>
        </p:txBody>
      </p:sp>
      <p:sp>
        <p:nvSpPr>
          <p:cNvPr id="6" name="TextBox 5"/>
          <p:cNvSpPr txBox="1"/>
          <p:nvPr/>
        </p:nvSpPr>
        <p:spPr>
          <a:xfrm>
            <a:off x="594360" y="3297072"/>
            <a:ext cx="7955279" cy="1256639"/>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課題の内容：端末のデータ通信がOFFで、会社側のデータ利用量も上限を超えている。顧客の設定変更と、担当者による追加データの処理を組み合わせる。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τ²-bench / telecom / v0.2.0. ID: [mobile_data_issue]data_mode_off|data_usage_exceeded.</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https://github.com/sierra-research/tau2-bench/blob/v0.2.0/data/tau2/domains/telecom/tasks.json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実例2は、顧客と担当者の両方が操作する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顧客と協力する課題と実例</a:t>
            </a:r>
          </a:p>
        </p:txBody>
      </p:sp>
      <p:graphicFrame>
        <p:nvGraphicFramePr>
          <p:cNvPr id="4" name="Table 3"/>
          <p:cNvGraphicFramePr>
            <a:graphicFrameLocks noGrp="1"/>
          </p:cNvGraphicFramePr>
          <p:nvPr/>
        </p:nvGraphicFramePr>
        <p:xfrm>
          <a:off x="548640" y="1508760"/>
          <a:ext cx="8046720" cy="3108960"/>
        </p:xfrm>
        <a:graphic>
          <a:graphicData uri="http://schemas.openxmlformats.org/drawingml/2006/table">
            <a:tbl>
              <a:tblPr firstRow="0" bandRow="0"/>
              <a:tblGrid>
                <a:gridCol w="2560320"/>
                <a:gridCol w="5486400"/>
              </a:tblGrid>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主体・判定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公開課題にある操作・完了条件</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5836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顧客の端末</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toggle_dataでデータ通信をONにする</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5836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担当者の顧客管理</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refuel_dataで2.0 GBを追加する</a:t>
                      </a:r>
                    </a:p>
                  </a:txBody>
                  <a:tcPr marL="63500" marR="63500" marT="38100" marB="38100" anchor="ctr">
                    <a:lnL w="7620">
                      <a:noFill/>
                    </a:lnL>
                    <a:lnR w="7620">
                      <a:noFill/>
                    </a:lnR>
                    <a:lnT w="7620">
                      <a:noFill/>
                    </a:lnT>
                    <a:lnB w="7620">
                      <a:noFill/>
                    </a:lnB>
                    <a:solidFill>
                      <a:srgbClr val="FFFEF8"/>
                    </a:solidFill>
                  </a:tcPr>
                </a:tc>
              </a:tr>
              <a:tr h="65836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通信状態の検査</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データ通信が有効である</a:t>
                      </a:r>
                    </a:p>
                  </a:txBody>
                  <a:tcPr marL="63500" marR="63500" marT="38100" marB="38100" anchor="ctr">
                    <a:lnL w="7620">
                      <a:noFill/>
                    </a:lnL>
                    <a:lnR w="7620">
                      <a:noFill/>
                    </a:lnR>
                    <a:lnT w="7620">
                      <a:noFill/>
                    </a:lnT>
                    <a:lnB w="7620">
                      <a:noFill/>
                    </a:lnB>
                    <a:solidFill>
                      <a:srgbClr val="FFFEF8"/>
                    </a:solidFill>
                  </a:tcPr>
                </a:tc>
              </a:tr>
              <a:tr h="65836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速度・購入量の検査</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速度200 Mbps以上・excellent、追加2.0 GB</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τ²-bench / telecom / v0.2.0. ID: [mobile_data_issue]data_mode_off|data_usage_exceeded.</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https://github.com/sierra-research/tau2-bench/blob/v0.2.0/data/tau2/domains/telecom/tasks.json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実例3：航空券の取消と追加質問に対応する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顧客と協力する課題と実例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顧客役に渡す設定（英語・抜粋）</a:t>
            </a:r>
          </a:p>
        </p:txBody>
      </p:sp>
      <p:sp>
        <p:nvSpPr>
          <p:cNvPr id="5" name="Rectangle 4"/>
          <p:cNvSpPr/>
          <p:nvPr/>
        </p:nvSpPr>
        <p:spPr>
          <a:xfrm>
            <a:off x="548640" y="1682496"/>
            <a:ext cx="8046720" cy="140426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want to cancel your upcoming flights within reservation IDs XEHM4B and 59XX6W.</a:t>
            </a:r>
          </a:p>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If the agent says either of the two reservations is basic economy, ask to upgrade to economy first and then cancel the reservation.</a:t>
            </a:r>
          </a:p>
        </p:txBody>
      </p:sp>
      <p:sp>
        <p:nvSpPr>
          <p:cNvPr id="6" name="TextBox 5"/>
          <p:cNvSpPr txBox="1"/>
          <p:nvPr/>
        </p:nvSpPr>
        <p:spPr>
          <a:xfrm>
            <a:off x="594360" y="3297072"/>
            <a:ext cx="7955279" cy="1256639"/>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課題の内容：2件の予約を取り消す。変更が必要な運賃を扱い、会話途中で加わる別の予約の総額確認にも対応する。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τ²-bench / airline / v0.2.0. ID: 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https://github.com/sierra-research/tau2-bench/blob/v0.2.0/data/tau2/domains/airline/tasks.json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実例3の完了状態と伝達する金額</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1. 顧客と協力する課題と実例</a:t>
            </a:r>
          </a:p>
        </p:txBody>
      </p:sp>
      <p:graphicFrame>
        <p:nvGraphicFramePr>
          <p:cNvPr id="4" name="Table 3"/>
          <p:cNvGraphicFramePr>
            <a:graphicFrameLocks noGrp="1"/>
          </p:cNvGraphicFramePr>
          <p:nvPr/>
        </p:nvGraphicFramePr>
        <p:xfrm>
          <a:off x="548640" y="1508760"/>
          <a:ext cx="8046720" cy="2962656"/>
        </p:xfrm>
        <a:graphic>
          <a:graphicData uri="http://schemas.openxmlformats.org/drawingml/2006/table">
            <a:tbl>
              <a:tblPr firstRow="0" bandRow="0"/>
              <a:tblGrid>
                <a:gridCol w="2560320"/>
                <a:gridCol w="548640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参照解法と採点情報</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21792">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予約XEHM4B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economyへ変更してから取り消す</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21792">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予約59XX6W</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予約を取り消す</a:t>
                      </a:r>
                    </a:p>
                  </a:txBody>
                  <a:tcPr marL="63500" marR="63500" marT="38100" marB="38100" anchor="ctr">
                    <a:lnL w="7620">
                      <a:noFill/>
                    </a:lnL>
                    <a:lnR w="7620">
                      <a:noFill/>
                    </a:lnR>
                    <a:lnT w="7620">
                      <a:noFill/>
                    </a:lnT>
                    <a:lnB w="7620">
                      <a:noFill/>
                    </a:lnB>
                    <a:solidFill>
                      <a:srgbClr val="FFFEF8"/>
                    </a:solidFill>
                  </a:tcPr>
                </a:tc>
              </a:tr>
              <a:tr h="621792">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追加の質問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他の今後の予約について総額を調べる</a:t>
                      </a:r>
                    </a:p>
                  </a:txBody>
                  <a:tcPr marL="63500" marR="63500" marT="38100" marB="38100" anchor="ctr">
                    <a:lnL w="7620">
                      <a:noFill/>
                    </a:lnL>
                    <a:lnR w="7620">
                      <a:noFill/>
                    </a:lnR>
                    <a:lnT w="7620">
                      <a:noFill/>
                    </a:lnT>
                    <a:lnB w="7620">
                      <a:noFill/>
                    </a:lnB>
                    <a:solidFill>
                      <a:srgbClr val="FFFEF8"/>
                    </a:solidFill>
                  </a:tcPr>
                </a:tc>
              </a:tr>
              <a:tr h="621792">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伝達する情報</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総額1,628ドルを顧客へ伝える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τ²-bench / airline / v0.2.0. ID: 7.</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https://github.com/sierra-research/tau2-bench/blob/v0.2.0/data/tau2/domains/airline/tasks.json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完了の判定とモデルの成績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完了の判定とモデルの成績</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処理後の状態と、伝えた情報で採点する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小売・航空では、参照解法から作ったデータベースの最終状態と、担当者が処理した後の状態を比較する。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通信では、端末が接続されたか、必要な速度を得たかなどの検査関数を使う。</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課題に応じて、必要な情報の伝達や、指定された操作の実施も採点要素に加える。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完了の判定とモデルの成績</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(2025). τ²-bench: evaluator.py. 報酬に用いる採点要素。</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https://github.com/sierra-research/tau2-bench/blob/v0.2.0/src/tau2/evaluator/evaluator.py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pass^kは、k回とも成功する信頼性を測る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pass^1は、1回の試行で課題を完了する割合。顧客役との会話を含めて、同じ課題を繰り返し実行する。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pass^4は、同じ課題を4回行ったときに、4回とも成功する割合を表す。</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複数の試行がある場合は、各課題でk回を選ぶ組合せのうち、すべて成功する組合せの割合を求め、課題全体で平均する。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完了の判定とモデルの成績</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(2025). τ²-bench: agent_metrics.py. pass^kの集計。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https://github.com/sierra-research/tau2-bench/blob/v0.2.0/src/tau2/metrics/agent_metrics.py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説明用の4試行から、成功率と安定性を読む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完了の判定とモデルの成績</a:t>
            </a:r>
          </a:p>
        </p:txBody>
      </p:sp>
      <p:graphicFrame>
        <p:nvGraphicFramePr>
          <p:cNvPr id="4" name="Table 3"/>
          <p:cNvGraphicFramePr>
            <a:graphicFrameLocks noGrp="1"/>
          </p:cNvGraphicFramePr>
          <p:nvPr/>
        </p:nvGraphicFramePr>
        <p:xfrm>
          <a:off x="548640" y="1508760"/>
          <a:ext cx="8046720" cy="2304286"/>
        </p:xfrm>
        <a:graphic>
          <a:graphicData uri="http://schemas.openxmlformats.org/drawingml/2006/table">
            <a:tbl>
              <a:tblPr firstRow="0" bandRow="0"/>
              <a:tblGrid>
                <a:gridCol w="1828800"/>
                <a:gridCol w="3200400"/>
                <a:gridCol w="1508760"/>
                <a:gridCol w="1508760"/>
              </a:tblGrid>
              <a:tr h="457339">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説明用の課題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4試行の結果</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pass^1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pass^4</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15649">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A</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成功・成功・成功・成功</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100%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15649">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B</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成功・成功・成功・失敗</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r>
              <a:tr h="615649">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C</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成功・失敗・成功・失敗</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0507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3課題の平均：pass^1は75%、pass^4は約33.3%。</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(2025). τ²-bench: agent_metrics.py. pass^kの集計。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https://github.com/sierra-research/tau2-bench/blob/v0.2.0/src/tau2/metrics/agent_metrics.py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Barresら（2025）の通信領域の成績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完了の判定とモデルの成績</a:t>
            </a:r>
          </a:p>
        </p:txBody>
      </p:sp>
      <p:graphicFrame>
        <p:nvGraphicFramePr>
          <p:cNvPr id="4" name="Table 3"/>
          <p:cNvGraphicFramePr>
            <a:graphicFrameLocks noGrp="1"/>
          </p:cNvGraphicFramePr>
          <p:nvPr/>
        </p:nvGraphicFramePr>
        <p:xfrm>
          <a:off x="548640" y="1508760"/>
          <a:ext cx="8046720" cy="2258568"/>
        </p:xfrm>
        <a:graphic>
          <a:graphicData uri="http://schemas.openxmlformats.org/drawingml/2006/table">
            <a:tbl>
              <a:tblPr firstRow="0" bandRow="0"/>
              <a:tblGrid>
                <a:gridCol w="5943600"/>
                <a:gridCol w="2103120"/>
              </a:tblGrid>
              <a:tr h="475488">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担当者役のモデル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pass^1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9436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GPT-4.1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約34%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436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o4-mini</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約42%</a:t>
                      </a:r>
                    </a:p>
                  </a:txBody>
                  <a:tcPr marL="63500" marR="63500" marT="38100" marB="38100" anchor="ctr">
                    <a:lnL w="7620">
                      <a:noFill/>
                    </a:lnL>
                    <a:lnR w="7620">
                      <a:noFill/>
                    </a:lnR>
                    <a:lnT w="7620">
                      <a:noFill/>
                    </a:lnT>
                    <a:lnB w="7620">
                      <a:noFill/>
                    </a:lnB>
                    <a:solidFill>
                      <a:srgbClr val="FFFEF8"/>
                    </a:solidFill>
                  </a:tcPr>
                </a:tc>
              </a:tr>
              <a:tr h="59436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Claude 3.7 Sonnet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約49%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5935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顧客役はGPT-4.1。担当者と顧客が操作する通常の設定。</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Barres et al. (2025). τ²-Bench: Evaluating Conversational Agents in a Dual-Control Environment. arXiv:2506.07982.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https://arxiv.org/abs/2506.07982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現行Geminiの公式比較にもτ²-benchを掲載</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完了の判定とモデルの成績</a:t>
            </a:r>
          </a:p>
        </p:txBody>
      </p:sp>
      <p:graphicFrame>
        <p:nvGraphicFramePr>
          <p:cNvPr id="4" name="Table 3"/>
          <p:cNvGraphicFramePr>
            <a:graphicFrameLocks noGrp="1"/>
          </p:cNvGraphicFramePr>
          <p:nvPr/>
        </p:nvGraphicFramePr>
        <p:xfrm>
          <a:off x="548640" y="1508760"/>
          <a:ext cx="8046720" cy="2258568"/>
        </p:xfrm>
        <a:graphic>
          <a:graphicData uri="http://schemas.openxmlformats.org/drawingml/2006/table">
            <a:tbl>
              <a:tblPr firstRow="0" bandRow="0"/>
              <a:tblGrid>
                <a:gridCol w="4389120"/>
                <a:gridCol w="1828800"/>
                <a:gridCol w="182880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モデル（Google公表表）</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小売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通信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9436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3.1 Pro</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90.8%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99.3%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436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Opus 4.6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91.9%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99.3%</a:t>
                      </a:r>
                    </a:p>
                  </a:txBody>
                  <a:tcPr marL="63500" marR="63500" marT="38100" marB="38100" anchor="ctr">
                    <a:lnL w="7620">
                      <a:noFill/>
                    </a:lnL>
                    <a:lnR w="7620">
                      <a:noFill/>
                    </a:lnR>
                    <a:lnT w="7620">
                      <a:noFill/>
                    </a:lnT>
                    <a:lnB w="7620">
                      <a:noFill/>
                    </a:lnB>
                    <a:solidFill>
                      <a:srgbClr val="FFFEF8"/>
                    </a:solidFill>
                  </a:tcPr>
                </a:tc>
              </a:tr>
              <a:tr h="59436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GPT-5.2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82.0%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98.7%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5935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推論設定：Gemini High、Opus Max、GPT-5.2 xhigh。</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Google DeepMind (2026). Gemini 3.1 Pro. Performance: τ2-bench. 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https://deepmind.google/models/gemini/pro/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通信課題では、操作を顧客へ伝える必要がある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Barresらは、担当者だけで顧客の端末も操作するNo-User設定と、顧客へ操作を依頼する通常設定を比較した。</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顧客を介した設定では、GPT-4.1のpass^1が18ポイント、o4-miniが25ポイント下がった。</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原因の推定に加え、操作を説明し、顧客が実施した結果を確かめる過程が成績に影響する。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2. 完了の判定とモデルの成績</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Barres et al. (2025). τ²-Bench: Evaluating Conversational Agents in a Dual-Control Environment. arXiv:2506.07982.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https://arxiv.org/abs/2506.07982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課題の作成方法と構成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課題の作成方法と構成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顧客が環境を変える場面を加えた</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τ-bench（2024）は、業務ルールに従う担当者と顧客役の対話を、小売・航空の環境で評価した。</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τ²-bench（2025）は、通信の技術サポートを加え、顧客にも端末の状態を変えるツールを持たせた。</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担当者が契約を変更し、顧客が端末を設定するように、二者の操作が同じ問題の解決へつながる。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課題の作成方法と構成</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Barres et al. (2025). τ²-Bench: Evaluating Conversational Agents in a Dual-Control Environment. arXiv:2506.07982.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https://arxiv.org/abs/2506.07982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企業と顧客の環境を作り、テストで確かめる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言語モデルで、業務要件、企業のデータベースと操作関数、テストを作り、人が修正してテストを通した。</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通信では、顧客の端末もデータベースとして表し、機内モードや通信設定を変える関数を実装した。</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初期状態、解くための操作、最終状態を調べる検査をそろえ、課題にした。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課題の作成方法と構成</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Barres et al. (2025). τ²-Bench: Evaluating Conversational Agents in a Dual-Control Environment. arXiv:2506.07982.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https://arxiv.org/abs/2506.07982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15種類の基本問題群から通信課題を合成する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例として、端末のデータ通信OFFと、契約データ量の使い切りを組み合わせる。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各基本問題には、状態を壊す初期化、直す操作、完了を調べる検査を対応させる。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15の基本問題群を組み合わせて2,285課題を作り、問題の種類と組合せ数を考慮して114課題を選んだ。</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課題の作成方法と構成</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Barres et al. (2025). τ²-Bench: Evaluating Conversational Agents in a Dual-Control Environment. arXiv:2506.07982.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https://arxiv.org/abs/2506.07982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固定した公開版の基本集合は278課題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課題の作成方法と構成</a:t>
            </a:r>
          </a:p>
        </p:txBody>
      </p:sp>
      <p:graphicFrame>
        <p:nvGraphicFramePr>
          <p:cNvPr id="4" name="Table 3"/>
          <p:cNvGraphicFramePr>
            <a:graphicFrameLocks noGrp="1"/>
          </p:cNvGraphicFramePr>
          <p:nvPr/>
        </p:nvGraphicFramePr>
        <p:xfrm>
          <a:off x="548640" y="1508760"/>
          <a:ext cx="8046720" cy="2340864"/>
        </p:xfrm>
        <a:graphic>
          <a:graphicData uri="http://schemas.openxmlformats.org/drawingml/2006/table">
            <a:tbl>
              <a:tblPr firstRow="0" bandRow="0"/>
              <a:tblGrid>
                <a:gridCol w="1463040"/>
                <a:gridCol w="1828800"/>
                <a:gridCol w="475488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領域</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公開課題数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主な処理</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21792">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小売</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114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返品、交換、注文の変更</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21792">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航空</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予約、取消、手荷物や金額の案内</a:t>
                      </a:r>
                    </a:p>
                  </a:txBody>
                  <a:tcPr marL="63500" marR="63500" marT="38100" marB="38100" anchor="ctr">
                    <a:lnL w="7620">
                      <a:noFill/>
                    </a:lnL>
                    <a:lnR w="7620">
                      <a:noFill/>
                    </a:lnR>
                    <a:lnT w="7620">
                      <a:noFill/>
                    </a:lnT>
                    <a:lnB w="7620">
                      <a:noFill/>
                    </a:lnB>
                    <a:solidFill>
                      <a:srgbClr val="FFFEF8"/>
                    </a:solidFill>
                  </a:tcPr>
                </a:tc>
              </a:tr>
              <a:tr h="621792">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通信</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114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圏外、データ通信、MMSの復旧</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(2025). τ²-bench. 公開版v0.2.0、278課題。2026-10-16集計。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https://github.com/sierra-research/tau2-bench/tree/v0.2.0/data/tau2/domains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通信114課題には、3種類の相談がある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課題の作成方法と構成</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公開版v0.2.0の通信課題を、課題IDの相談種別で集計。単位：件。</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(2025). τ²-bench. 公開版v0.2.0、278課題。2026-10-16集計。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https://github.com/sierra-research/tau2-bench/tree/v0.2.0/data/tau2/domains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通信課題には、顧客の人物設定も付く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課題の作成方法と構成</a:t>
            </a:r>
          </a:p>
        </p:txBody>
      </p:sp>
      <p:graphicFrame>
        <p:nvGraphicFramePr>
          <p:cNvPr id="4" name="Table 3"/>
          <p:cNvGraphicFramePr>
            <a:graphicFrameLocks noGrp="1"/>
          </p:cNvGraphicFramePr>
          <p:nvPr/>
        </p:nvGraphicFramePr>
        <p:xfrm>
          <a:off x="548640" y="1508760"/>
          <a:ext cx="8046720" cy="2377440"/>
        </p:xfrm>
        <a:graphic>
          <a:graphicData uri="http://schemas.openxmlformats.org/drawingml/2006/table">
            <a:tbl>
              <a:tblPr firstRow="0" bandRow="0"/>
              <a:tblGrid>
                <a:gridCol w="1554480"/>
                <a:gridCol w="4846320"/>
                <a:gridCol w="1645920"/>
              </a:tblGrid>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公開ラベル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設定の特徴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課題数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9436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None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追加の人物設定なし</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436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Easy</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技術的な知識がある顧客</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38</a:t>
                      </a:r>
                    </a:p>
                  </a:txBody>
                  <a:tcPr marL="63500" marR="63500" marT="38100" marB="38100" anchor="ctr">
                    <a:lnL w="7620">
                      <a:noFill/>
                    </a:lnL>
                    <a:lnR w="7620">
                      <a:noFill/>
                    </a:lnR>
                    <a:lnT w="7620">
                      <a:noFill/>
                    </a:lnT>
                    <a:lnB w="7620">
                      <a:noFill/>
                    </a:lnB>
                    <a:solidFill>
                      <a:srgbClr val="FFFEF8"/>
                    </a:solidFill>
                  </a:tcPr>
                </a:tc>
              </a:tr>
              <a:tr h="71323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Hard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技術に不慣れで、不安を抱く顧客</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36</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(2025). τ²-bench. 公開版v0.2.0、278課題。2026-10-16集計。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https://github.com/sierra-research/tau2-bench/tree/v0.2.0/data/tau2/domains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通信課題は複数の基本問題を組み合わせる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課題の作成方法と構成</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横軸は課題数。各区分は課題IDに含む基本問題の数。全114課題。</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(2025). τ²-bench. 公開版v0.2.0、278課題。2026-10-16集計。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https://github.com/sierra-research/tau2-bench/tree/v0.2.0/data/tau2/domains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顧客役は、ツールの結果から端末状態を答える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担当者が状態を尋ねると、顧客役は端末の確認ツールを呼び、その結果を返す。</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例えば、ステータスバーの表示やMMS送信の可否は、実装した端末状態と対応する。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ツールによる状態の確認と変更を、顧客との会話の中に組み込んでいる。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3. 課題の作成方法と構成</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Barres et al. (2025). τ²-Bench: Evaluating Conversational Agents in a Dual-Control Environment. arXiv:2506.07982.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https://arxiv.org/abs/2506.07982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τ³-benchへの発展と利用</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τ³-benchへの発展と利用</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τ³-benchは音声・知識検索・課題修正を追加</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τ³-benchへの発展と利用</a:t>
            </a:r>
          </a:p>
        </p:txBody>
      </p:sp>
      <p:graphicFrame>
        <p:nvGraphicFramePr>
          <p:cNvPr id="4" name="Table 3"/>
          <p:cNvGraphicFramePr>
            <a:graphicFrameLocks noGrp="1"/>
          </p:cNvGraphicFramePr>
          <p:nvPr/>
        </p:nvGraphicFramePr>
        <p:xfrm>
          <a:off x="548640" y="1508760"/>
          <a:ext cx="8046720" cy="2560320"/>
        </p:xfrm>
        <a:graphic>
          <a:graphicData uri="http://schemas.openxmlformats.org/drawingml/2006/table">
            <a:tbl>
              <a:tblPr firstRow="0" bandRow="0"/>
              <a:tblGrid>
                <a:gridCol w="2377440"/>
                <a:gridCol w="5669280"/>
              </a:tblGrid>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系列と年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加わった内容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5836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τ-bench / 2024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業務ルールとツールを使う顧客対応</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5836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τ²-bench / 2025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顧客も操作する通信の技術サポート</a:t>
                      </a:r>
                    </a:p>
                  </a:txBody>
                  <a:tcPr marL="63500" marR="63500" marT="38100" marB="38100" anchor="ctr">
                    <a:lnL w="7620">
                      <a:noFill/>
                    </a:lnL>
                    <a:lnR w="7620">
                      <a:noFill/>
                    </a:lnR>
                    <a:lnT w="7620">
                      <a:noFill/>
                    </a:lnT>
                    <a:lnB w="7620">
                      <a:noFill/>
                    </a:lnB>
                    <a:solidFill>
                      <a:srgbClr val="FFFEF8"/>
                    </a:solidFill>
                  </a:tcPr>
                </a:tc>
              </a:tr>
              <a:tr h="768096">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τ³-bench / 2026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全二重音声、銀行の知識検索、既存課題の修正</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(2026). τ-bench. 公式GitHub。2026-10-16参照。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τ³の銀行課題では、文書を調べてから操作する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τ-Knowledgeは、商品条件や手続きの文書を検索し、会話とツール操作を組み合わせる評価である。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公開版v1.0.1の銀行領域は97課題と698文書。カード、口座、手数料などを扱う。</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τ³-benchの公開実装には、この銀行領域と、音声対話の評価が含まれる。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τ³-benchへの発展と利用</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Shi et al. (2026). τ-Knowledge: Evaluating Conversational Agents over Unstructured Knowledge. arXiv:2603.04370.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https://arxiv.org/abs/2603.04370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τ³の実例：利用条件に合うカードを探す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τ³-benchへの発展と利用</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顧客役に渡す設定（英語・抜粋）</a:t>
            </a:r>
          </a:p>
        </p:txBody>
      </p:sp>
      <p:sp>
        <p:nvSpPr>
          <p:cNvPr id="5" name="Rectangle 4"/>
          <p:cNvSpPr/>
          <p:nvPr/>
        </p:nvSpPr>
        <p:spPr>
          <a:xfrm>
            <a:off x="548640" y="1682496"/>
            <a:ext cx="8046720" cy="19916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You're looking for a credit card to use for your everyday purchases. You want the card that gives you the highest cash back available in the company profile. You will not accept a credit card that has any annual fees unless it is the ONLY option available.</a:t>
            </a:r>
          </a:p>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receive a Rho-Bank+ subscription for free through your company. ONLY MENTION THIS if you are asked about this.</a:t>
            </a:r>
          </a:p>
        </p:txBody>
      </p:sp>
      <p:sp>
        <p:nvSpPr>
          <p:cNvPr id="6" name="TextBox 5"/>
          <p:cNvSpPr txBox="1"/>
          <p:nvPr/>
        </p:nvSpPr>
        <p:spPr>
          <a:xfrm>
            <a:off x="594360" y="3859047"/>
            <a:ext cx="7955279" cy="669264"/>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課題の内容：年会費なしで還元率の高いカードを探す。会社のRho-Bank+加入資格を確認し、商品条件と照合する。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τ³-bench / banking_knowledge / v1.0.1. ID: task_001.</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https://github.com/sierra-research/tau2-bench/blob/v1.0.1/data/tau2/domains/banking_knowledge/tasks.json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銀行の実例は、文書・顧客情報・申込をつなぐ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τ³-benchへの発展と利用</a:t>
            </a:r>
          </a:p>
        </p:txBody>
      </p:sp>
      <p:graphicFrame>
        <p:nvGraphicFramePr>
          <p:cNvPr id="4" name="Table 3"/>
          <p:cNvGraphicFramePr>
            <a:graphicFrameLocks noGrp="1"/>
          </p:cNvGraphicFramePr>
          <p:nvPr/>
        </p:nvGraphicFramePr>
        <p:xfrm>
          <a:off x="548640" y="1508760"/>
          <a:ext cx="8046720" cy="3017520"/>
        </p:xfrm>
        <a:graphic>
          <a:graphicData uri="http://schemas.openxmlformats.org/drawingml/2006/table">
            <a:tbl>
              <a:tblPr firstRow="0" bandRow="0"/>
              <a:tblGrid>
                <a:gridCol w="2286000"/>
                <a:gridCol w="5760720"/>
              </a:tblGrid>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確認するもの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公開課題の内容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4008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商品文書</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Gold Rewards Card：年会費0ドル、還元率2.5%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436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利用条件</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Rho-Bank+の加入が必要</a:t>
                      </a:r>
                    </a:p>
                  </a:txBody>
                  <a:tcPr marL="63500" marR="63500" marT="38100" marB="38100" anchor="ctr">
                    <a:lnL w="7620">
                      <a:noFill/>
                    </a:lnL>
                    <a:lnR w="7620">
                      <a:noFill/>
                    </a:lnR>
                    <a:lnT w="7620">
                      <a:noFill/>
                    </a:lnT>
                    <a:lnB w="7620">
                      <a:noFill/>
                    </a:lnB>
                    <a:solidFill>
                      <a:srgbClr val="FFFEF8"/>
                    </a:solidFill>
                  </a:tcPr>
                </a:tc>
              </a:tr>
              <a:tr h="71323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顧客への確認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会社が提供する無料の加入資格を持っている</a:t>
                      </a:r>
                    </a:p>
                  </a:txBody>
                  <a:tcPr marL="63500" marR="63500" marT="38100" marB="38100" anchor="ctr">
                    <a:lnL w="7620">
                      <a:noFill/>
                    </a:lnL>
                    <a:lnR w="7620">
                      <a:noFill/>
                    </a:lnR>
                    <a:lnT w="7620">
                      <a:noFill/>
                    </a:lnT>
                    <a:lnB w="7620">
                      <a:noFill/>
                    </a:lnB>
                    <a:solidFill>
                      <a:srgbClr val="FFFEF8"/>
                    </a:solidFill>
                  </a:tcPr>
                </a:tc>
              </a:tr>
              <a:tr h="59436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目標の状態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顧客がGold Rewards Cardを申し込む</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(2026). τ³-bench / v1.0.1. task_001とGold Rewards Cardの商品文書。</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https://github.com/sierra-research/tau2-bench/tree/v1.0.1/data/tau2/domains/banking_knowledge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τ³の銀行97課題の公開評価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τ³-benchへの発展と利用</a:t>
            </a:r>
          </a:p>
        </p:txBody>
      </p:sp>
      <p:graphicFrame>
        <p:nvGraphicFramePr>
          <p:cNvPr id="4" name="Table 3"/>
          <p:cNvGraphicFramePr>
            <a:graphicFrameLocks noGrp="1"/>
          </p:cNvGraphicFramePr>
          <p:nvPr/>
        </p:nvGraphicFramePr>
        <p:xfrm>
          <a:off x="548640" y="1508760"/>
          <a:ext cx="8046720" cy="2258568"/>
        </p:xfrm>
        <a:graphic>
          <a:graphicData uri="http://schemas.openxmlformats.org/drawingml/2006/table">
            <a:tbl>
              <a:tblPr firstRow="0" bandRow="0"/>
              <a:tblGrid>
                <a:gridCol w="4206240"/>
                <a:gridCol w="1920240"/>
                <a:gridCol w="192024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モデル／推論設定</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pass^1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pass^4</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9436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Claude Opus 5 / max</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48.71%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31.96%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9436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GPT-5.5 / xhigh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44.59%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29.90%</a:t>
                      </a:r>
                    </a:p>
                  </a:txBody>
                  <a:tcPr marL="63500" marR="63500" marT="38100" marB="38100" anchor="ctr">
                    <a:lnL w="7620">
                      <a:noFill/>
                    </a:lnL>
                    <a:lnR w="7620">
                      <a:noFill/>
                    </a:lnR>
                    <a:lnT w="7620">
                      <a:noFill/>
                    </a:lnT>
                    <a:lnB w="7620">
                      <a:noFill/>
                    </a:lnB>
                    <a:solidFill>
                      <a:srgbClr val="FFFEF8"/>
                    </a:solidFill>
                  </a:tcPr>
                </a:tc>
              </a:tr>
              <a:tr h="59436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Gemini 3.1 Pro / high</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26.03%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9.28%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95935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v1.0.1。AllTools＝語句・意味・シェル検索。顧客役GPT-5.2、4試行。</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(2026). τ-bench official leaderboard submissions. banking_knowledge / AllTools. 2026-10-16参照。</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https://github.com/sierra-research/tau2-bench/tree/main/web/leaderboard/public/submissions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τ³の音声評価では、話す・聞くが同時に進む</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τ-Voiceは、小売・航空・通信の課題を、同時に発話と聴取が進む全二重音声へ拡張する。割込みや相づちも扱う。</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2026-10-14公開のGrok Voice 3.0にも採用され、Sierraの通信領域の音声評価は82.46%だった。顧客役はGPT-5.5 xhigh、各課題1試行。</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τ³-benchへの発展と利用</a:t>
            </a:r>
          </a:p>
        </p:txBody>
      </p:sp>
      <p:sp>
        <p:nvSpPr>
          <p:cNvPr id="5" name="TextBox 4"/>
          <p:cNvSpPr txBox="1"/>
          <p:nvPr/>
        </p:nvSpPr>
        <p:spPr>
          <a:xfrm>
            <a:off x="502920" y="4517136"/>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Ray et al. (2026). τ-Voice: Benchmarking Full-Duplex Voice Agents on Real-World Domains. arXiv:2603.13686.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https://arxiv.org/abs/2603.13686</a:t>
            </a:r>
          </a:p>
        </p:txBody>
      </p:sp>
      <p:sp>
        <p:nvSpPr>
          <p:cNvPr id="6" name="TextBox 5"/>
          <p:cNvSpPr txBox="1"/>
          <p:nvPr/>
        </p:nvSpPr>
        <p:spPr>
          <a:xfrm>
            <a:off x="502920" y="4818888"/>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(2026-10-14). Grok Voice 3.0 submission. τ³-bench / full-duplex voice.</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3"/>
              </a:rPr>
              <a:t>https://github.com/sierra-research/tau2-bench/tree/main/web/leaderboard/public/submissions/grok-voice-3-0_xai_2026-10-14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v1.0.1では銀行領域の採点を修正した</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00"/>
              </a:lnSpc>
              <a:spcAft>
                <a:spcPts val="80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τ³-benchは、ソフトウェアではv1.0.1として配布される。ベンチマークの系列名と、実装の版番号はこの対応になる。</a:t>
            </a:r>
          </a:p>
          <a:p>
            <a:pPr marL="457200" indent="-355600">
              <a:lnSpc>
                <a:spcPts val="2700"/>
              </a:lnSpc>
              <a:spcAft>
                <a:spcPts val="80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v1.0.1では、正しい確認操作まで失敗にしていたデータベース比較や、ATM手数料の返金額などを修正した。</a:t>
            </a:r>
          </a:p>
          <a:p>
            <a:pPr marL="457200" indent="-355600">
              <a:lnSpc>
                <a:spcPts val="2700"/>
              </a:lnSpc>
              <a:spcAft>
                <a:spcPts val="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例えば銀行task_074のLight Blue口座は、無料引出しの条件に基づく返金額が8ドルから14.50ドルへ直された。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τ³-benchへの発展と利用</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(2026). τ-bench: Release Notes. v1.0.1、銀行領域の採点と課題の修正。</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https://github.com/sierra-research/tau2-bench/blob/v1.0.1/RELEASE_NOTES.md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τ²の公開版を固定して実行する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τ³-benchへの発展と利用</a:t>
            </a:r>
          </a:p>
        </p:txBody>
      </p:sp>
      <p:sp>
        <p:nvSpPr>
          <p:cNvPr id="4" name="Rectangle 3"/>
          <p:cNvSpPr/>
          <p:nvPr/>
        </p:nvSpPr>
        <p:spPr>
          <a:xfrm>
            <a:off x="548640" y="1508760"/>
            <a:ext cx="8046720" cy="182486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27000" bIns="127000"/>
          <a:lstStyle/>
          <a:p>
            <a:pPr algn="l">
              <a:lnSpc>
                <a:spcPct val="114000"/>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git clone https://github.com/sierra-research/tau2-bench</a:t>
            </a:r>
          </a:p>
          <a:p>
            <a:pPr algn="l">
              <a:lnSpc>
                <a:spcPct val="114000"/>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cd tau2-bench</a:t>
            </a:r>
          </a:p>
          <a:p>
            <a:pPr algn="l">
              <a:lnSpc>
                <a:spcPct val="114000"/>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git checkout v0.2.0</a:t>
            </a:r>
          </a:p>
          <a:p>
            <a:pPr algn="l">
              <a:lnSpc>
                <a:spcPct val="114000"/>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pip install -e .</a:t>
            </a:r>
          </a:p>
          <a:p>
            <a:pPr algn="l">
              <a:lnSpc>
                <a:spcPct val="114000"/>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
            </a:r>
          </a:p>
          <a:p>
            <a:pPr algn="l">
              <a:lnSpc>
                <a:spcPct val="114000"/>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tau2 run --domain telecom --agent-llm gpt-4.1 \</a:t>
            </a:r>
          </a:p>
          <a:p>
            <a:pPr algn="l">
              <a:lnSpc>
                <a:spcPct val="114000"/>
              </a:lnSpc>
              <a:spcBef>
                <a:spcPts val="0"/>
              </a:spcBef>
              <a:spcAft>
                <a:spcPts val="0"/>
              </a:spcAft>
              <a:buNone/>
              <a:defRPr sz="1550" b="0">
                <a:solidFill>
                  <a:srgbClr val="303437"/>
                </a:solidFill>
                <a:latin typeface="Noto Sans"/>
              </a:defRPr>
            </a:pPr>
            <a:r>
              <a:rPr sz="1550" b="0" lang="ja-JP" altLang="en-US">
                <a:solidFill>
                  <a:srgbClr val="303437"/>
                </a:solidFill>
                <a:latin typeface="Liberation Mono"/>
                <a:ea typeface="Noto Sans CJK JP"/>
                <a:cs typeface="Liberation Mono"/>
              </a:rPr>
              <a:t>  --user-llm gpt-4.1 --num-trials 4 --num-tasks 1</a:t>
            </a:r>
          </a:p>
        </p:txBody>
      </p:sp>
      <p:sp>
        <p:nvSpPr>
          <p:cNvPr id="5" name="TextBox 4"/>
          <p:cNvSpPr txBox="1"/>
          <p:nvPr/>
        </p:nvSpPr>
        <p:spPr>
          <a:xfrm>
            <a:off x="594360" y="3534791"/>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モデル提供元のAPIキーを設定して実行する。データとコードはMIT License。</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(2026). τ-bench. 公式GitHub。2026-10-16参照。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τ²-benchは顧客との共同作業を評価する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顧客の希望と業務ルールを踏まえ、会話とツール操作で注文・予約・端末の状態を変える。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通信では顧客にも操作してもらい、採点は処理後の状態や伝達情報で行う。pass^kは繰返しの成功も測る。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後続のτ³-benchでは、知識文書の検索と全二重音声へ評価の範囲が広がっている。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4. τ³-benchへの発展と利用</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Barres et al. (2025). τ²-Bench: Evaluating Conversational Agents in a Dual-Control Environment. arXiv:2506.07982.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https://arxiv.org/abs/2506.07982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59895"/>
            <a:ext cx="8046720" cy="822960"/>
          </a:xfrm>
        </p:spPr>
        <p:txBody>
          <a:bodyPr wrap="square" lIns="0" rIns="0" tIns="0" bIns="0" anchor="ctr">
            <a:noAutofit/>
          </a:bodyPr>
          <a:lstStyle/>
          <a:p>
            <a:pPr algn="ctr">
              <a:lnSpc>
                <a:spcPct val="110000"/>
              </a:lnSpc>
              <a:buNone/>
              <a:defRPr sz="4400" b="0">
                <a:solidFill>
                  <a:srgbClr val="303437"/>
                </a:solidFill>
                <a:latin typeface="Noto Sans"/>
              </a:defRPr>
            </a:pPr>
            <a:r>
              <a:rPr sz="44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777240" y="1668081"/>
            <a:ext cx="7772400" cy="2077720"/>
          </a:xfrm>
        </p:spPr>
        <p:txBody>
          <a:bodyPr lIns="0" rIns="0" tIns="0" bIns="0" wrap="square">
            <a:noAutofit/>
          </a:bodyPr>
          <a:lstStyle/>
          <a:p>
            <a:pPr marL="457200" indent="-457200">
              <a:lnSpc>
                <a:spcPct val="128000"/>
              </a:lnSpc>
              <a:spcAft>
                <a:spcPts val="17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追加の顧客対応課題</a:t>
            </a:r>
          </a:p>
          <a:p>
            <a:pPr marL="457200" indent="-457200">
              <a:lnSpc>
                <a:spcPct val="128000"/>
              </a:lnSpc>
              <a:spcAft>
                <a:spcPts val="17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指標・版・公開データ</a:t>
            </a:r>
          </a:p>
          <a:p>
            <a:pPr marL="457200" indent="-457200">
              <a:lnSpc>
                <a:spcPct val="128000"/>
              </a:lnSpc>
              <a:spcAft>
                <a:spcPts val="17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開発者と参考文献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目次</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追加の顧客対応課題</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追加の顧客対応課題</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追加例1：小売：商品数の照会と3商品の返品</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追加の顧客対応課題</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顧客役に渡す設定（英語・抜粋）</a:t>
            </a:r>
          </a:p>
        </p:txBody>
      </p:sp>
      <p:sp>
        <p:nvSpPr>
          <p:cNvPr id="5" name="Rectangle 4"/>
          <p:cNvSpPr/>
          <p:nvPr/>
        </p:nvSpPr>
        <p:spPr>
          <a:xfrm>
            <a:off x="548640" y="1682496"/>
            <a:ext cx="8046720" cy="111057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want to know how many tshirt options are available in the online store right now. You want to also return the cleaner, headphone, and smart watch.</a:t>
            </a:r>
          </a:p>
        </p:txBody>
      </p:sp>
      <p:sp>
        <p:nvSpPr>
          <p:cNvPr id="6" name="TextBox 5"/>
          <p:cNvSpPr txBox="1"/>
          <p:nvPr/>
        </p:nvSpPr>
        <p:spPr>
          <a:xfrm>
            <a:off x="594360" y="3003384"/>
            <a:ext cx="7955279" cy="1550327"/>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課題の内容：Tシャツの選択肢は10種類と伝え、クリーナー・ヘッドホン・スマートウォッチを返品する。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τ²-bench / retail / v0.2.0. ID: 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https://github.com/sierra-research/tau2-bench/blob/v0.2.0/data/tau2/domains/retail/tasks.json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追加例2：小売：注文済みのTシャツを変更</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追加の顧客対応課題</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顧客役に渡す設定（英語・抜粋）</a:t>
            </a:r>
          </a:p>
        </p:txBody>
      </p:sp>
      <p:sp>
        <p:nvSpPr>
          <p:cNvPr id="5" name="Rectangle 4"/>
          <p:cNvSpPr/>
          <p:nvPr/>
        </p:nvSpPr>
        <p:spPr>
          <a:xfrm>
            <a:off x="548640" y="1682496"/>
            <a:ext cx="8046720" cy="111057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want to know how many tshirt options are available in the online store right now. You want to modify all your pending small tshirt to purple, same size, same v-neck, and prefer polyester.</a:t>
            </a:r>
          </a:p>
        </p:txBody>
      </p:sp>
      <p:sp>
        <p:nvSpPr>
          <p:cNvPr id="6" name="TextBox 5"/>
          <p:cNvSpPr txBox="1"/>
          <p:nvPr/>
        </p:nvSpPr>
        <p:spPr>
          <a:xfrm>
            <a:off x="594360" y="3003384"/>
            <a:ext cx="7955279" cy="1550327"/>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課題の内容：未発送の小さいTシャツを紫色へ変更する。サイズとVネックを保ち、素材はポリエステルを優先する。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τ²-bench / retail / v0.2.0. ID: 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https://github.com/sierra-research/tau2-bench/blob/v0.2.0/data/tau2/domains/retail/tasks.json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追加例3：小売：確認後に交換対象が変わる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追加の顧客対応課題</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顧客役に渡す設定（英語・抜粋）</a:t>
            </a:r>
          </a:p>
        </p:txBody>
      </p:sp>
      <p:sp>
        <p:nvSpPr>
          <p:cNvPr id="5" name="Rectangle 4"/>
          <p:cNvSpPr/>
          <p:nvPr/>
        </p:nvSpPr>
        <p:spPr>
          <a:xfrm>
            <a:off x="548640" y="1682496"/>
            <a:ext cx="8046720" cy="140426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want to exchange the water bottle and the desk lamp. You want to exchange the water bottle to a bigger one, and the desk lamp to a less bright one (prefer battery &gt; USB &gt; AC). If the agent asks for confirmation, only exchange the desk lamp.</a:t>
            </a:r>
          </a:p>
        </p:txBody>
      </p:sp>
      <p:sp>
        <p:nvSpPr>
          <p:cNvPr id="6" name="TextBox 5"/>
          <p:cNvSpPr txBox="1"/>
          <p:nvPr/>
        </p:nvSpPr>
        <p:spPr>
          <a:xfrm>
            <a:off x="594360" y="3297072"/>
            <a:ext cx="7955279" cy="1256639"/>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課題の内容：水筒と照明の交換を希望するが、確認を求められた後は照明だけを交換する。照明の電源方式にも希望がある。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τ²-bench / retail / v0.2.0. ID: 6.</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https://github.com/sierra-research/tau2-bench/blob/v0.2.0/data/tau2/domains/retail/tasks.json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追加例4：航空：取消条件を満たさない予約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追加の顧客対応課題</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顧客役に渡す設定（英語・抜粋）</a:t>
            </a:r>
          </a:p>
        </p:txBody>
      </p:sp>
      <p:sp>
        <p:nvSpPr>
          <p:cNvPr id="5" name="Rectangle 4"/>
          <p:cNvSpPr/>
          <p:nvPr/>
        </p:nvSpPr>
        <p:spPr>
          <a:xfrm>
            <a:off x="548640" y="1682496"/>
            <a:ext cx="8046720" cy="111057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want to cancel reservation EHGLP3. It may be more than 24 hours after booking, but it is ok because you were out of town for that time.</a:t>
            </a:r>
          </a:p>
        </p:txBody>
      </p:sp>
      <p:sp>
        <p:nvSpPr>
          <p:cNvPr id="6" name="TextBox 5"/>
          <p:cNvSpPr txBox="1"/>
          <p:nvPr/>
        </p:nvSpPr>
        <p:spPr>
          <a:xfrm>
            <a:off x="594360" y="3003384"/>
            <a:ext cx="7955279" cy="1550327"/>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課題の内容：保険に入らなかった経緯を伝えて取消を求める。課題の目標は、ルールに基づいて取消を断り、予約を変更しないこと。</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τ²-bench / airline / v0.2.0. ID: 0.</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https://github.com/sierra-research/tau2-bench/blob/v0.2.0/data/tau2/domains/airline/tasks.json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追加例5：航空：預けられる手荷物の数を調べる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追加の顧客対応課題</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顧客役に渡す設定（英語・抜粋）</a:t>
            </a:r>
          </a:p>
        </p:txBody>
      </p:sp>
      <p:sp>
        <p:nvSpPr>
          <p:cNvPr id="5" name="Rectangle 4"/>
          <p:cNvSpPr/>
          <p:nvPr/>
        </p:nvSpPr>
        <p:spPr>
          <a:xfrm>
            <a:off x="548640" y="1682496"/>
            <a:ext cx="8046720" cy="169795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want to figure out the total number of suitcases the reservation allows you to take on your upcoming flight. You have a lot of things you need to bring with you on this trip. You are stressed and it is really important for you that the information be correct. You're pretty sure that you're a Gold member.</a:t>
            </a:r>
          </a:p>
        </p:txBody>
      </p:sp>
      <p:sp>
        <p:nvSpPr>
          <p:cNvPr id="6" name="TextBox 5"/>
          <p:cNvSpPr txBox="1"/>
          <p:nvPr/>
        </p:nvSpPr>
        <p:spPr>
          <a:xfrm>
            <a:off x="594360" y="3590759"/>
            <a:ext cx="7955279" cy="962952"/>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課題の内容：会員ランクを含む予約情報から、預けられる手荷物数を確認し、4個と案内する。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τ²-bench / airline / v0.2.0. ID: 3.</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https://github.com/sierra-research/tau2-bench/blob/v0.2.0/data/tau2/domains/airline/tasks.json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追加例6：通信：機内モードとSIMの不具合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追加の顧客対応課題</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顧客役に渡す設定（英語・抜粋）</a:t>
            </a:r>
          </a:p>
        </p:txBody>
      </p:sp>
      <p:sp>
        <p:nvSpPr>
          <p:cNvPr id="5" name="Rectangle 4"/>
          <p:cNvSpPr/>
          <p:nvPr/>
        </p:nvSpPr>
        <p:spPr>
          <a:xfrm>
            <a:off x="548640" y="1682496"/>
            <a:ext cx="8046720" cy="52320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Your phone has been showing 'No Service' for the past few hours.</a:t>
            </a:r>
          </a:p>
        </p:txBody>
      </p:sp>
      <p:sp>
        <p:nvSpPr>
          <p:cNvPr id="6" name="TextBox 5"/>
          <p:cNvSpPr txBox="1"/>
          <p:nvPr/>
        </p:nvSpPr>
        <p:spPr>
          <a:xfrm>
            <a:off x="594360" y="2416009"/>
            <a:ext cx="7955279" cy="2137702"/>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課題の内容：圏外の原因として、機内モードONとSIMの接続不良を設定する。機内モードを切り、SIMを入れ直して接続を確認する。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τ²-bench / telecom / v0.2.0. ID: [service_issue]airplane_mode_on|unseat_sim_card.</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https://github.com/sierra-research/tau2-bench/blob/v0.2.0/data/tau2/domains/telecom/tasks.json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追加例7：通信：海外のMMSを復旧する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追加の顧客対応課題</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顧客役に渡す設定（英語・抜粋）</a:t>
            </a:r>
          </a:p>
        </p:txBody>
      </p:sp>
      <p:sp>
        <p:nvSpPr>
          <p:cNvPr id="5" name="Rectangle 4"/>
          <p:cNvSpPr/>
          <p:nvPr/>
        </p:nvSpPr>
        <p:spPr>
          <a:xfrm>
            <a:off x="548640" y="1682496"/>
            <a:ext cx="8046720" cy="111057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are unable to send MMS messages using your messaging app for the past few hours. You want to fix it and successfully send an MMS message.</a:t>
            </a:r>
          </a:p>
        </p:txBody>
      </p:sp>
      <p:sp>
        <p:nvSpPr>
          <p:cNvPr id="6" name="TextBox 5"/>
          <p:cNvSpPr txBox="1"/>
          <p:nvPr/>
        </p:nvSpPr>
        <p:spPr>
          <a:xfrm>
            <a:off x="594360" y="3003384"/>
            <a:ext cx="7955279" cy="1550327"/>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課題の内容：端末のネットワーク選択と、企業側のローミング設定を直す。4G・5G優先とローミング有効化を組み合わせる。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τ²-bench / telecom / v0.2.0. ID: [mms_issue]bad_network_preference|user_abroad_roaming_disabled_on.</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https://github.com/sierra-research/tau2-bench/blob/v0.2.0/data/tau2/domains/telecom/tasks.json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追加例8：通信：MMSの権限と通信を直す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追加の顧客対応課題</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顧客役に渡す設定（英語・抜粋）</a:t>
            </a:r>
          </a:p>
        </p:txBody>
      </p:sp>
      <p:sp>
        <p:nvSpPr>
          <p:cNvPr id="5" name="Rectangle 4"/>
          <p:cNvSpPr/>
          <p:nvPr/>
        </p:nvSpPr>
        <p:spPr>
          <a:xfrm>
            <a:off x="548640" y="1682496"/>
            <a:ext cx="8046720" cy="111057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are unable to send MMS messages using your messaging app for the past few hours. You want to fix it and successfully send an MMS message.</a:t>
            </a:r>
          </a:p>
        </p:txBody>
      </p:sp>
      <p:sp>
        <p:nvSpPr>
          <p:cNvPr id="6" name="TextBox 5"/>
          <p:cNvSpPr txBox="1"/>
          <p:nvPr/>
        </p:nvSpPr>
        <p:spPr>
          <a:xfrm>
            <a:off x="594360" y="3003384"/>
            <a:ext cx="7955279" cy="1550327"/>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課題の内容：メッセージアプリのSMS権限がなく、データ通信もOFF。権限の許可と通信ONの後にMMS送信を確認する。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τ²-bench / telecom / v0.2.0. ID: [mms_issue]break_app_sms_permission|data_mode_off.</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https://github.com/sierra-research/tau2-bench/blob/v0.2.0/data/tau2/domains/telecom/tasks.json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追加例9：通信：技術に不慣れな顧客を案内する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追加の顧客対応課題</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顧客役に渡す設定（英語・抜粋）</a:t>
            </a:r>
          </a:p>
        </p:txBody>
      </p:sp>
      <p:sp>
        <p:nvSpPr>
          <p:cNvPr id="5" name="Rectangle 4"/>
          <p:cNvSpPr/>
          <p:nvPr/>
        </p:nvSpPr>
        <p:spPr>
          <a:xfrm>
            <a:off x="548640" y="1682496"/>
            <a:ext cx="8046720" cy="169795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Your phone has been showing 'No Service' for the past few hours.</a:t>
            </a:r>
          </a:p>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Your technical knowledge is quite limited. Step-by-step instructions often confuse you, and technical terms like "VPN" or "APN" might as well be a foreign language. You only share information when specifically asked.</a:t>
            </a:r>
          </a:p>
        </p:txBody>
      </p:sp>
      <p:sp>
        <p:nvSpPr>
          <p:cNvPr id="6" name="TextBox 5"/>
          <p:cNvSpPr txBox="1"/>
          <p:nvPr/>
        </p:nvSpPr>
        <p:spPr>
          <a:xfrm>
            <a:off x="594360" y="3590759"/>
            <a:ext cx="7955279" cy="962952"/>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課題の内容：技術への不安が強いHard設定の顧客。機内モードとAPN設定の問題を、操作の説明と確認を通じて直す。</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τ²-bench / telecom / v0.2.0. ID: [service_issue]airplane_mode_on|break_apn_settings.</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https://github.com/sierra-research/tau2-bench/blob/v0.2.0/data/tau2/domains/telecom/tasks.json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追加例10：τ³銀行：ATM手数料を返金する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1. 追加の顧客対応課題</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ct val="117000"/>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顧客役に渡す設定（英語・抜粋）</a:t>
            </a:r>
          </a:p>
        </p:txBody>
      </p:sp>
      <p:sp>
        <p:nvSpPr>
          <p:cNvPr id="5" name="Rectangle 4"/>
          <p:cNvSpPr/>
          <p:nvPr/>
        </p:nvSpPr>
        <p:spPr>
          <a:xfrm>
            <a:off x="548640" y="1682496"/>
            <a:ext cx="8046720" cy="140426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5410" bIns="101600">
            <a:noAutofit/>
          </a:bodyPr>
          <a:lstStyle/>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have four checking accounts with Rho-Bank - a Purple Account, a Light Blue Account, a Dark Green Account, and an Evergreen Account.</a:t>
            </a:r>
          </a:p>
          <a:p>
            <a:pPr algn="l">
              <a:lnSpc>
                <a:spcPts val="2312"/>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You were looking at your November transaction history and some of the ATM fees don't look right to you.</a:t>
            </a:r>
          </a:p>
        </p:txBody>
      </p:sp>
      <p:sp>
        <p:nvSpPr>
          <p:cNvPr id="6" name="TextBox 5"/>
          <p:cNvSpPr txBox="1"/>
          <p:nvPr/>
        </p:nvSpPr>
        <p:spPr>
          <a:xfrm>
            <a:off x="594360" y="3297072"/>
            <a:ext cx="7955279" cy="1256639"/>
          </a:xfrm>
          <a:prstGeom prst="rect">
            <a:avLst/>
          </a:prstGeom>
          <a:noFill/>
        </p:spPr>
        <p:txBody>
          <a:bodyPr wrap="square" lIns="0" rIns="0" tIns="0" bIns="0">
            <a:noAutofit/>
          </a:bodyPr>
          <a:lstStyle/>
          <a:p>
            <a:pPr algn="l">
              <a:lnSpc>
                <a:spcPct val="11800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課題の内容：4口座の条件と履歴を調べる。v1.0.1の参照解法では、27.00、14.50、4.75、3.70ドルの手数料を返金する。</a:t>
            </a:r>
          </a:p>
        </p:txBody>
      </p:sp>
      <p:sp>
        <p:nvSpPr>
          <p:cNvPr id="7" name="TextBox 6"/>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τ³-bench / banking_knowledge / v1.0.1. ID: task_074.</a:t>
            </a:r>
          </a:p>
          <a:p>
            <a:pPr>
              <a:lnSpc>
                <a:spcPct val="11200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https://github.com/sierra-research/tau2-bench/blob/v1.0.1/data/tau2/domains/banking_knowledge/tasks.json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指標・版・公開データ</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指標・版・公開データ</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1課題に組み合わせた不具合の数（2〜5個）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指標・版・公開データ</a:t>
            </a:r>
          </a:p>
        </p:txBody>
      </p:sp>
      <p:graphicFrame>
        <p:nvGraphicFramePr>
          <p:cNvPr id="4" name="Table 3"/>
          <p:cNvGraphicFramePr>
            <a:graphicFrameLocks noGrp="1"/>
          </p:cNvGraphicFramePr>
          <p:nvPr/>
        </p:nvGraphicFramePr>
        <p:xfrm>
          <a:off x="548640" y="1508760"/>
          <a:ext cx="8046720" cy="2304288"/>
        </p:xfrm>
        <a:graphic>
          <a:graphicData uri="http://schemas.openxmlformats.org/drawingml/2006/table">
            <a:tbl>
              <a:tblPr firstRow="0" bandRow="0"/>
              <a:tblGrid>
                <a:gridCol w="4754880"/>
                <a:gridCol w="329184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1課題に含む不具合の数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該当する課題の件数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2個</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25件</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26件</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21件</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5個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13件</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0507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例：通信OFF＋データ容量超過 → 不具合2個。</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不具合2個の課題は25件。対象は通信課題114件。</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(2025). τ²-bench. 公開版v0.2.0、278課題。2026-10-16集計。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https://github.com/sierra-research/tau2-bench/tree/v0.2.0/data/tau2/domains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1課題に組み合わせた不具合の数（6〜9個）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指標・版・公開データ</a:t>
            </a:r>
          </a:p>
        </p:txBody>
      </p:sp>
      <p:graphicFrame>
        <p:nvGraphicFramePr>
          <p:cNvPr id="4" name="Table 3"/>
          <p:cNvGraphicFramePr>
            <a:graphicFrameLocks noGrp="1"/>
          </p:cNvGraphicFramePr>
          <p:nvPr/>
        </p:nvGraphicFramePr>
        <p:xfrm>
          <a:off x="548640" y="1508760"/>
          <a:ext cx="8046720" cy="2304288"/>
        </p:xfrm>
        <a:graphic>
          <a:graphicData uri="http://schemas.openxmlformats.org/drawingml/2006/table">
            <a:tbl>
              <a:tblPr firstRow="0" bandRow="0"/>
              <a:tblGrid>
                <a:gridCol w="4754880"/>
                <a:gridCol w="3291840"/>
              </a:tblGrid>
              <a:tr h="475488">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1課題に含む不具合の数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該当する課題の件数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6個</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11件</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8件</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4件</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6件</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005072"/>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9個の不具合を組み合わせた課題は6件。</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54〜55ページの8行を合計すると、通信課題114件になる。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(2025). τ²-bench. 公開版v0.2.0、278課題。2026-10-16集計。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https://github.com/sierra-research/tau2-bench/tree/v0.2.0/data/tau2/domains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領域ごとに使えるツールの種類数</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指標・版・公開データ</a:t>
            </a:r>
          </a:p>
        </p:txBody>
      </p:sp>
      <p:graphicFrame>
        <p:nvGraphicFramePr>
          <p:cNvPr id="4" name="Table 3"/>
          <p:cNvGraphicFramePr>
            <a:graphicFrameLocks noGrp="1"/>
          </p:cNvGraphicFramePr>
          <p:nvPr/>
        </p:nvGraphicFramePr>
        <p:xfrm>
          <a:off x="548640" y="1508760"/>
          <a:ext cx="8046720" cy="2066544"/>
        </p:xfrm>
        <a:graphic>
          <a:graphicData uri="http://schemas.openxmlformats.org/drawingml/2006/table">
            <a:tbl>
              <a:tblPr firstRow="0" bandRow="0"/>
              <a:tblGrid>
                <a:gridCol w="1097280"/>
                <a:gridCol w="1737360"/>
                <a:gridCol w="1737360"/>
                <a:gridCol w="1737360"/>
                <a:gridCol w="1737360"/>
              </a:tblGrid>
              <a:tr h="47548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領域</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担当者の読取</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担当者の更新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顧客の読取</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顧客の更新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3035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小売</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なし</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なし</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3035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航空</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なし</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なし</a:t>
                      </a:r>
                    </a:p>
                  </a:txBody>
                  <a:tcPr marL="63500" marR="63500" marT="38100" marB="38100" anchor="ctr">
                    <a:lnL w="7620">
                      <a:noFill/>
                    </a:lnL>
                    <a:lnR w="7620">
                      <a:noFill/>
                    </a:lnR>
                    <a:lnT w="7620">
                      <a:noFill/>
                    </a:lnT>
                    <a:lnB w="7620">
                      <a:noFill/>
                    </a:lnB>
                    <a:solidFill>
                      <a:srgbClr val="FFFEF8"/>
                    </a:solidFill>
                  </a:tcPr>
                </a:tc>
              </a:tr>
              <a:tr h="53035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通信</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15</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767328"/>
            <a:ext cx="7955279" cy="685800"/>
          </a:xfrm>
          <a:prstGeom prst="rect">
            <a:avLst/>
          </a:prstGeom>
          <a:noFill/>
        </p:spPr>
        <p:txBody>
          <a:bodyPr wrap="square" lIns="0" rIns="0" tIns="0" bIns="0">
            <a:noAutofit/>
          </a:bodyPr>
          <a:lstStyle/>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通信の例：読取は契約情報や端末の状態を確認する。</a:t>
            </a:r>
          </a:p>
          <a:p>
            <a:pPr algn="l">
              <a:lnSpc>
                <a:spcPts val="2160"/>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更新は担当者がデータ容量を追加し、顧客が通信をONにする。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(2025). τ²-bench: domain tools. 公開版v0.2.0のREAD・WRITE指定を集計。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https://github.com/sierra-research/tau2-bench/tree/v0.2.0/src/tau2/domains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参照操作を再生して、目標の状態を作る</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小売・航空のactionsには、課題を解く参照操作列が入る。初期環境にその操作を適用して、目標のデータベース状態を作る。</a:t>
            </a:r>
          </a:p>
          <a:p>
            <a:pPr marL="457200" indent="-355600">
              <a:lnSpc>
                <a:spcPts val="2760"/>
              </a:lnSpc>
              <a:spcAft>
                <a:spcPts val="80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評価対象の担当者による処理結果を、この目標状態と比較する。</a:t>
            </a:r>
          </a:p>
          <a:p>
            <a:pPr marL="457200" indent="-355600">
              <a:lnSpc>
                <a:spcPts val="2760"/>
              </a:lnSpc>
              <a:spcAft>
                <a:spcPts val="0"/>
              </a:spcAft>
              <a:buSzPct val="57826"/>
              <a:buFont typeface="Noto Sans CJK JP"/>
              <a:buChar char="●"/>
              <a:defRPr sz="2300" b="0">
                <a:solidFill>
                  <a:srgbClr val="303437"/>
                </a:solidFill>
                <a:latin typeface="Noto Sans"/>
              </a:defRPr>
            </a:pPr>
            <a:r>
              <a:rPr sz="2300" b="0" lang="ja-JP" altLang="en-US">
                <a:solidFill>
                  <a:srgbClr val="303437"/>
                </a:solidFill>
                <a:latin typeface="Noto Sans"/>
                <a:ea typeface="Noto Sans CJK JP"/>
                <a:cs typeface="Noto Sans"/>
              </a:rPr>
              <a:t>通信のenv_assertionsには、端末の接続、速度、データ追加量などの検査関数を指定する。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指標・版・公開データ</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(2025). τ²-bench: evaluator.py. 報酬に用いる採点要素。</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https://github.com/sierra-research/tau2-bench/blob/v0.2.0/src/tau2/evaluator/evaluator.py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pass^kは成功する試行の組合せから求める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指標・版・公開データ</a:t>
            </a:r>
          </a:p>
        </p:txBody>
      </p:sp>
      <p:sp>
        <p:nvSpPr>
          <p:cNvPr id="4" name="Rectangle 3"/>
          <p:cNvSpPr/>
          <p:nvPr/>
        </p:nvSpPr>
        <p:spPr>
          <a:xfrm>
            <a:off x="548640" y="1508760"/>
            <a:ext cx="8046720" cy="164388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27000" bIns="127000"/>
          <a:lstStyle/>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from math import comb</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4試行中3回成功した課題</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pass_1 = comb(3, 1) / comb(4, 1)  # 0.75</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pass_2 = comb(3, 2) / comb(4, 2)  # 0.50</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pass_4 = comb(3, 4) / comb(4, 4)  # 0.00</a:t>
            </a:r>
          </a:p>
        </p:txBody>
      </p:sp>
      <p:sp>
        <p:nvSpPr>
          <p:cNvPr id="5" name="TextBox 4"/>
          <p:cNvSpPr txBox="1"/>
          <p:nvPr/>
        </p:nvSpPr>
        <p:spPr>
          <a:xfrm>
            <a:off x="594360" y="3353816"/>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各課題で計算し、全課題で平均する。公式pass_hat_kの計算式。</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(2025). τ²-bench: agent_metrics.py. pass^kの集計。</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https://github.com/sierra-research/tau2-bench/blob/v0.2.0/src/tau2/metrics/agent_metrics.py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系列名とソフトウェアの版の対応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指標・版・公開データ</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2011680"/>
                <a:gridCol w="6035040"/>
              </a:tblGrid>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本資料で使う版・資料</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2179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τ-bench</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2024年の小売・航空と会話評価の提案</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71323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τ²-bench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2025年の通信・共同操作。公開版v0.2.0</a:t>
                      </a:r>
                    </a:p>
                  </a:txBody>
                  <a:tcPr marL="63500" marR="63500" marT="38100" marB="38100" anchor="ctr">
                    <a:lnL w="7620">
                      <a:noFill/>
                    </a:lnL>
                    <a:lnR w="7620">
                      <a:noFill/>
                    </a:lnR>
                    <a:lnT w="7620">
                      <a:noFill/>
                    </a:lnT>
                    <a:lnB w="7620">
                      <a:noFill/>
                    </a:lnB>
                    <a:solidFill>
                      <a:srgbClr val="FFFEF8"/>
                    </a:solidFill>
                  </a:tcPr>
                </a:tc>
              </a:tr>
              <a:tr h="713232">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τ³-bench</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2026年の音声・知識検索。公開版v1.0.1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(2026). τ-bench. 公式GitHub。2026-10-16参照。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τ³の銀行は97課題と698文書を公開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指標・版・公開データ</a:t>
            </a:r>
          </a:p>
        </p:txBody>
      </p:sp>
      <p:graphicFrame>
        <p:nvGraphicFramePr>
          <p:cNvPr id="4" name="Table 3"/>
          <p:cNvGraphicFramePr>
            <a:graphicFrameLocks noGrp="1"/>
          </p:cNvGraphicFramePr>
          <p:nvPr/>
        </p:nvGraphicFramePr>
        <p:xfrm>
          <a:off x="548640" y="1508760"/>
          <a:ext cx="8046720" cy="2724912"/>
        </p:xfrm>
        <a:graphic>
          <a:graphicData uri="http://schemas.openxmlformats.org/drawingml/2006/table">
            <a:tbl>
              <a:tblPr firstRow="0" bandRow="0"/>
              <a:tblGrid>
                <a:gridCol w="3017520"/>
                <a:gridCol w="5029200"/>
              </a:tblGrid>
              <a:tr h="47548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公開物</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役割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74980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tasks.json / 97課題</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顧客設定・初期状態・参照操作・完了条件</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74980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documents / 698文書</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商品条件、業務ルール、操作の説明</a:t>
                      </a:r>
                    </a:p>
                  </a:txBody>
                  <a:tcPr marL="63500" marR="63500" marT="38100" marB="38100" anchor="ctr">
                    <a:lnL w="7620">
                      <a:noFill/>
                    </a:lnL>
                    <a:lnR w="7620">
                      <a:noFill/>
                    </a:lnR>
                    <a:lnT w="7620">
                      <a:noFill/>
                    </a:lnT>
                    <a:lnB w="7620">
                      <a:noFill/>
                    </a:lnB>
                    <a:solidFill>
                      <a:srgbClr val="FFFEF8"/>
                    </a:solidFill>
                  </a:tcPr>
                </a:tc>
              </a:tr>
              <a:tr h="749808">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db.jsonなどの環境</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口座・取引・申込結果などの状態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(2026). τ³-bench: banking_knowledge. 公開版v1.0.1、97課題。</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https://github.com/sierra-research/tau2-bench/tree/v1.0.1/data/tau2/domains/banking_knowledge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τ³はv1.0.1の公開実装から利用できる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2. 指標・版・公開データ</a:t>
            </a:r>
          </a:p>
        </p:txBody>
      </p:sp>
      <p:sp>
        <p:nvSpPr>
          <p:cNvPr id="4" name="Rectangle 3"/>
          <p:cNvSpPr/>
          <p:nvPr/>
        </p:nvSpPr>
        <p:spPr>
          <a:xfrm>
            <a:off x="548640" y="1508760"/>
            <a:ext cx="8046720" cy="164388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152400" rIns="152400" tIns="127000" bIns="127000"/>
          <a:lstStyle/>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git checkout v1.0.1</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uv sync --extra knowledge</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tau2 run --domain banking_knowledge \</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--agent-llm gpt-5.2 --user-llm gpt-5.2 \</a:t>
            </a:r>
          </a:p>
          <a:p>
            <a:pPr algn="l">
              <a:lnSpc>
                <a:spcPct val="114000"/>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--num-trials 4 --num-tasks 1</a:t>
            </a:r>
          </a:p>
        </p:txBody>
      </p:sp>
      <p:sp>
        <p:nvSpPr>
          <p:cNvPr id="5" name="TextBox 4"/>
          <p:cNvSpPr txBox="1"/>
          <p:nvPr/>
        </p:nvSpPr>
        <p:spPr>
          <a:xfrm>
            <a:off x="594360" y="3353816"/>
            <a:ext cx="7955279" cy="777240"/>
          </a:xfrm>
          <a:prstGeom prst="rect">
            <a:avLst/>
          </a:prstGeom>
          <a:noFill/>
        </p:spPr>
        <p:txBody>
          <a:bodyPr wrap="square" lIns="0" rIns="0" tIns="0" bIns="0">
            <a:noAutofit/>
          </a:bodyPr>
          <a:lstStyle/>
          <a:p>
            <a:pPr algn="l">
              <a:lnSpc>
                <a:spcPct val="117000"/>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銀行の検索方式や提供元のAPI設定は、公式のKnowledge文書で指定する。</a:t>
            </a:r>
          </a:p>
        </p:txBody>
      </p:sp>
      <p:sp>
        <p:nvSpPr>
          <p:cNvPr id="6" name="TextBox 5"/>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Sierra (2026). τ-bench. 公式GitHub。2026-10-16参照。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https://github.com/sierra-research/tau2-bench</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8106"/>
            <a:ext cx="8046720" cy="82296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開発者と参考文献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開発者と参考文献</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Sierraが共同操作の顧客対応環境を提案した</a:t>
            </a:r>
          </a:p>
        </p:txBody>
      </p:sp>
      <p:sp>
        <p:nvSpPr>
          <p:cNvPr id="3" name="Text Placeholder 2"/>
          <p:cNvSpPr>
            <a:spLocks noGrp="1"/>
          </p:cNvSpPr>
          <p:nvPr>
            <p:ph type="body" idx="1"/>
          </p:nvPr>
        </p:nvSpPr>
        <p:spPr>
          <a:xfrm>
            <a:off x="594360" y="1463040"/>
            <a:ext cx="7955279" cy="3090672"/>
          </a:xfrm>
        </p:spPr>
        <p:txBody>
          <a:bodyPr wrap="square" tIns="91440" bIns="91440">
            <a:noAutofit/>
          </a:bodyPr>
          <a:lstStyle/>
          <a:p>
            <a:pPr marL="457200" indent="-355600">
              <a:lnSpc>
                <a:spcPts val="2700"/>
              </a:lnSpc>
              <a:spcAft>
                <a:spcPts val="80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共同第一著者はVictor BarresとHonghua Dong。発表時の所属は、Sierra、およびSierra・University of Toronto・Vector Instituteである。</a:t>
            </a:r>
          </a:p>
          <a:p>
            <a:pPr marL="457200" indent="-355600">
              <a:lnSpc>
                <a:spcPts val="2700"/>
              </a:lnSpc>
              <a:spcAft>
                <a:spcPts val="80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最終著者のKarthik NarasimhanはSierra所属。先行するτ-benchと、後続の知識検索・音声評価にも携わる。</a:t>
            </a:r>
          </a:p>
          <a:p>
            <a:pPr marL="457200" indent="-355600">
              <a:lnSpc>
                <a:spcPts val="2700"/>
              </a:lnSpc>
              <a:spcAft>
                <a:spcPts val="0"/>
              </a:spcAft>
              <a:buSzPct val="59111"/>
              <a:buFont typeface="Noto Sans CJK JP"/>
              <a:buChar char="●"/>
              <a:defRPr sz="2250" b="0">
                <a:solidFill>
                  <a:srgbClr val="303437"/>
                </a:solidFill>
                <a:latin typeface="Noto Sans"/>
              </a:defRPr>
            </a:pPr>
            <a:r>
              <a:rPr sz="2250" b="0" lang="ja-JP" altLang="en-US">
                <a:solidFill>
                  <a:srgbClr val="303437"/>
                </a:solidFill>
                <a:latin typeface="Noto Sans"/>
                <a:ea typeface="Noto Sans CJK JP"/>
                <a:cs typeface="Noto Sans"/>
              </a:rPr>
              <a:t>τ²-benchは2025年6月公開。業務上の問題解決と顧客への操作説明を、制御できる環境で調べる研究である。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開発者と参考文献</a:t>
            </a:r>
          </a:p>
        </p:txBody>
      </p:sp>
      <p:sp>
        <p:nvSpPr>
          <p:cNvPr id="5" name="TextBox 4"/>
          <p:cNvSpPr txBox="1"/>
          <p:nvPr/>
        </p:nvSpPr>
        <p:spPr>
          <a:xfrm>
            <a:off x="502920" y="4690872"/>
            <a:ext cx="8183879" cy="393192"/>
          </a:xfrm>
          <a:prstGeom prst="rect">
            <a:avLst/>
          </a:prstGeom>
          <a:noFill/>
        </p:spPr>
        <p:txBody>
          <a:bodyPr wrap="square" lIns="0" rIns="0" tIns="0" bIns="0">
            <a:noAutofit/>
          </a:bodyPr>
          <a:lstStyle/>
          <a:p>
            <a:pPr algn="l">
              <a:lnSpc>
                <a:spcPct val="112000"/>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rPr>
              <a:t>Barres et al. (2025). τ²-Bench: Evaluating Conversational Agents in a Dual-Control Environment. arXiv:2506.07982.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https://arxiv.org/abs/2506.07982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開発者と参考文献</a:t>
            </a:r>
          </a:p>
        </p:txBody>
      </p:sp>
      <p:sp>
        <p:nvSpPr>
          <p:cNvPr id="4" name="文献 1: τ²-Bench: Evaluating Conversational Agents in a Dual-Control Environment"/>
          <p:cNvSpPr txBox="1"/>
          <p:nvPr/>
        </p:nvSpPr>
        <p:spPr>
          <a:xfrm>
            <a:off x="548640" y="1463040"/>
            <a:ext cx="8046720" cy="171500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τ²-Bench: Evaluating Conversational Agents in a Dual-Control Environment</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Victor Barres, Honghua Dong et al. / 2025 / arXiv:2506.07982</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顧客と担当者が共同で操作する環境、通信課題の合成、採点と初期評価を説明する。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https://arxiv.org/abs/2506.07982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開発者と参考文献</a:t>
            </a:r>
          </a:p>
        </p:txBody>
      </p:sp>
      <p:sp>
        <p:nvSpPr>
          <p:cNvPr id="4" name="文献 1: τ-bench: A Benchmark for Tool-Agent-User Interaction in Real-World Domains"/>
          <p:cNvSpPr txBox="1"/>
          <p:nvPr/>
        </p:nvSpPr>
        <p:spPr>
          <a:xfrm>
            <a:off x="548640" y="1463040"/>
            <a:ext cx="8046720" cy="171500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τ-bench: A Benchmark for Tool-Agent-User Interaction in Real-World Domains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Shunyu Yao, Noah Shinn et al. / 2024 / arXiv:2406.12045</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小売・航空の会話とツール操作を評価し、繰返しの信頼性を測るpass^kを導入した。</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https://arxiv.org/abs/2406.12045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開発者と参考文献</a:t>
            </a:r>
          </a:p>
        </p:txBody>
      </p:sp>
      <p:sp>
        <p:nvSpPr>
          <p:cNvPr id="4" name="文献 1: τ-Knowledge: Evaluating Conversational Agents over Unstructured Knowledge"/>
          <p:cNvSpPr txBox="1"/>
          <p:nvPr/>
        </p:nvSpPr>
        <p:spPr>
          <a:xfrm>
            <a:off x="548640" y="1463040"/>
            <a:ext cx="8046720" cy="171500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τ-Knowledge: Evaluating Conversational Agents over Unstructured Knowledge</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Quan Shi, Alexandra Zytek et al. / 2026 / arXiv:2603.04370</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文書検索、業務ルールの適用、銀行の状態変更を組み合わせる評価を説明する。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https://arxiv.org/abs/2603.04370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開発者と参考文献</a:t>
            </a:r>
          </a:p>
        </p:txBody>
      </p:sp>
      <p:sp>
        <p:nvSpPr>
          <p:cNvPr id="4" name="文献 1: τ-Voice: Benchmarking Full-Duplex Voice Agents on Real-World Domains"/>
          <p:cNvSpPr txBox="1"/>
          <p:nvPr/>
        </p:nvSpPr>
        <p:spPr>
          <a:xfrm>
            <a:off x="548640" y="1463040"/>
            <a:ext cx="8046720" cy="1715008"/>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τ-Voice: Benchmarking Full-Duplex Voice Agents on Real-World Domains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Soham Ray, Keshav Dhandhania, Victor Barres et al. / 2026 / arXiv:2603.13686</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実際の処理の完了と、割込みなどの音声対話の進め方を合わせて評価する。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https://arxiv.org/abs/2603.13686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開発者と参考文献</a:t>
            </a:r>
          </a:p>
        </p:txBody>
      </p:sp>
      <p:sp>
        <p:nvSpPr>
          <p:cNvPr id="4" name="文献 1: τ-bench: Official implementation"/>
          <p:cNvSpPr txBox="1"/>
          <p:nvPr/>
        </p:nvSpPr>
        <p:spPr>
          <a:xfrm>
            <a:off x="548640" y="1463040"/>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τ-bench: Official implementation</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Sierra / 2026参照 / GitHub</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公開課題、模擬環境、評価コード、各系列の利用方法を確認できる。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https://github.com/sierra-research/tau2-bench</a:t>
            </a:r>
          </a:p>
        </p:txBody>
      </p:sp>
      <p:sp>
        <p:nvSpPr>
          <p:cNvPr id="5" name="文献 2: Gemini 3.1 Pro"/>
          <p:cNvSpPr txBox="1"/>
          <p:nvPr/>
        </p:nvSpPr>
        <p:spPr>
          <a:xfrm>
            <a:off x="548640" y="3131693"/>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Gemini 3.1 Pro</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Google DeepMind / 2026 / Model performance</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τ²-benchの小売・通信を含む、プロプライエタリモデルの公式比較表。</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https://deepmind.google/models/gemini/pro/</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786384"/>
            <a:ext cx="8046720" cy="502920"/>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FFF"/>
                </a:solidFill>
                <a:latin typeface="Noto Sans"/>
                <a:ea typeface="Noto Sans CJK JP"/>
                <a:cs typeface="Noto Sans"/>
              </a:rPr>
              <a:t>Appendix: 3. 開発者と参考文献</a:t>
            </a:r>
          </a:p>
        </p:txBody>
      </p:sp>
      <p:sp>
        <p:nvSpPr>
          <p:cNvPr id="4" name="文献 1: τ-bench: Release Notes"/>
          <p:cNvSpPr txBox="1"/>
          <p:nvPr/>
        </p:nvSpPr>
        <p:spPr>
          <a:xfrm>
            <a:off x="548640" y="1463040"/>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τ-bench: Release Notes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Sierra / 2026 / v1.0.1</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銀行の状態比較と参照解法の修正内容を説明する。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https://github.com/sierra-research/tau2-bench/blob/v1.0.1/RELEASE_NOTES.md</a:t>
            </a:r>
          </a:p>
        </p:txBody>
      </p:sp>
      <p:sp>
        <p:nvSpPr>
          <p:cNvPr id="5" name="文献 2: τ-bench leaderboard submissions"/>
          <p:cNvSpPr txBox="1"/>
          <p:nvPr/>
        </p:nvSpPr>
        <p:spPr>
          <a:xfrm>
            <a:off x="548640" y="3131693"/>
            <a:ext cx="8046720" cy="1157605"/>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τ-bench leaderboard submissions</a:t>
            </a:r>
          </a:p>
          <a:p>
            <a:pPr algn="l">
              <a:lnSpc>
                <a:spcPct val="114000"/>
              </a:lnSpc>
              <a:spcBef>
                <a:spcPts val="0"/>
              </a:spcBef>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Sierra / 2026参照 / Public submissions</a:t>
            </a:r>
          </a:p>
          <a:p>
            <a:pPr algn="l">
              <a:lnSpc>
                <a:spcPct val="114000"/>
              </a:lnSpc>
              <a:spcBef>
                <a:spcPts val="0"/>
              </a:spcBef>
              <a:spcAft>
                <a:spcPts val="400"/>
              </a:spcAft>
              <a:buNone/>
              <a:defRPr sz="1850" b="0">
                <a:solidFill>
                  <a:srgbClr val="303437"/>
                </a:solidFill>
                <a:latin typeface="Noto Sans"/>
              </a:defRPr>
            </a:pPr>
            <a:r>
              <a:rPr sz="1850" b="0" lang="ja-JP" altLang="en-US">
                <a:solidFill>
                  <a:srgbClr val="303437"/>
                </a:solidFill>
                <a:latin typeface="Noto Sans"/>
                <a:ea typeface="Noto Sans CJK JP"/>
                <a:cs typeface="Noto Sans"/>
              </a:rPr>
              <a:t>銀行の検索付き評価、音声評価、顧客役と試行数などの条件を公開する。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https://github.com/sierra-research/tau2-bench/tree/main/web/leaderboard/public/submissions</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佐々木　悠太</cp:lastModifiedBy>
  <cp:revision>500</cp:revision>
  <dcterms:modified xsi:type="dcterms:W3CDTF">2026-10-13T12:49:59Z</dcterms:modified>
  <dc:title>τ²-bench — datasets in 10 minutes</dc:title>
  <dc:subject>顧客対応の会話・ツール操作・共同操作とτ³-benchへの発展</dc:subject>
  <dc:creator>sasakiy84</dc:creator>
  <cp:keywords>tau2-bench,tau3-bench,conversational agents,tool use,dataset</cp:keywords>
</cp:coreProperties>
</file>