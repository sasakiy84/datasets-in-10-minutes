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0–255</c:v>
                </c:pt>
                <c:pt idx="1">
                  <c:v>256–511</c:v>
                </c:pt>
                <c:pt idx="2">
                  <c:v>512–767</c:v>
                </c:pt>
                <c:pt idx="3">
                  <c:v>768–1023</c:v>
                </c:pt>
                <c:pt idx="4">
                  <c:v>1024以上</c:v>
                </c:pt>
              </c:strCache>
            </c:strRef>
          </c:cat>
          <c:val>
            <c:numRef>
              <c:f>Sheet1!$B$2:$B$6</c:f>
              <c:numCache>
                <c:formatCode>General</c:formatCode>
                <c:ptCount val="5"/>
                <c:pt idx="0">
                  <c:v>683</c:v>
                </c:pt>
                <c:pt idx="1">
                  <c:v>3561</c:v>
                </c:pt>
                <c:pt idx="2">
                  <c:v>3371</c:v>
                </c:pt>
                <c:pt idx="3">
                  <c:v>1997</c:v>
                </c:pt>
                <c:pt idx="4">
                  <c:v>1878</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abisee/cnn-dailyma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7-109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summarization_scenario.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ummarization_cnnd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K16-1028/" TargetMode="External"/><Relationship Id="rId3" Type="http://schemas.openxmlformats.org/officeDocument/2006/relationships/hyperlink" Target="https://aclanthology.org/P17-109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bisee/cnn-dailymai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 Id="rId3" Type="http://schemas.openxmlformats.org/officeDocument/2006/relationships/hyperlink" Target="https://aclanthology.org/P17-109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abisee/cnn_dailymai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ummarization_cnnd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 Id="rId3" Type="http://schemas.openxmlformats.org/officeDocument/2006/relationships/hyperlink" Target="https://github.com/abisee/cnn-dailymai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 Id="rId3" Type="http://schemas.openxmlformats.org/officeDocument/2006/relationships/hyperlink" Target="https://crfm.stanford.edu/helm/classic/v0.4.0/#/groups/summarization_cnnd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ummarization_cnnd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7-1099/" TargetMode="External"/><Relationship Id="rId3" Type="http://schemas.openxmlformats.org/officeDocument/2006/relationships/hyperlink" Target="https://aclanthology.org/K16-102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 Id="rId3" Type="http://schemas.openxmlformats.org/officeDocument/2006/relationships/hyperlink" Target="https://arxiv.org/abs/2211.0911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06.03340" TargetMode="External"/><Relationship Id="rId3" Type="http://schemas.openxmlformats.org/officeDocument/2006/relationships/hyperlink" Target="https://github.com/abisee/cnn-dailymai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CNN / DailyMail</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ニュース記事を複数文に要約する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非匿名版の公式リポジトリ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CNN / DailyMail</a:t>
            </a:r>
          </a:p>
        </p:txBody>
      </p:sp>
      <p:pic>
        <p:nvPicPr>
          <p:cNvPr id="4" name="Picture 3" descr="official-site.png"/>
          <p:cNvPicPr>
            <a:picLocks noChangeAspect="1"/>
          </p:cNvPicPr>
          <p:nvPr/>
        </p:nvPicPr>
        <p:blipFill>
          <a:blip r:embed="rId2"/>
          <a:stretch>
            <a:fillRect/>
          </a:stretch>
        </p:blipFill>
        <p:spPr>
          <a:xfrm>
            <a:off x="1882325" y="1481328"/>
            <a:ext cx="537934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Abigail See. CNN / Daily Mail non-anonymized dataset.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https://github.com/abisee/cnn-dailymail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記事と編集者の要約</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採点とモデルの到達水準</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構築とデータの全体像</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記事と編集者の要約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長い記事から、伝える内容を選ぶ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ニュース記事の本文を入力にし、記事に付いていた編集者のハイライトを参照要約にする。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参照要約は、別の作業者が実験用に書き直した文ではなく、ニュースの公開時に付いていた短い要点。</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人名や地名をそのまま残した、英語の非匿名版を扱う。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本文は抜粋、参照要約は全文を示す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本編の3例と追加10例は、固定した配布バージョン3.0.0のtestから選んだ。</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各例では記事冒頭1文を抜粋し、編集者の参照要約はすべて示す。要約には、抜粋以外の本文から選ばれた情報もある。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通常の要約課題は記事全文が入力。HELMで評価するときは、先頭512語までを使う。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実例1：司会者の復帰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TextBox 3"/>
          <p:cNvSpPr txBox="1"/>
          <p:nvPr/>
        </p:nvSpPr>
        <p:spPr>
          <a:xfrm>
            <a:off x="548640" y="1335024"/>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572768"/>
            <a:ext cx="3931920" cy="9328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(CNN)For the first time in eight years, a TV legend returned to doing what he does best.</a:t>
            </a:r>
          </a:p>
        </p:txBody>
      </p:sp>
      <p:sp>
        <p:nvSpPr>
          <p:cNvPr id="6" name="TextBox 5"/>
          <p:cNvSpPr txBox="1"/>
          <p:nvPr/>
        </p:nvSpPr>
        <p:spPr>
          <a:xfrm>
            <a:off x="548640" y="2633588"/>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48640" y="2898764"/>
            <a:ext cx="3931920" cy="1222248"/>
          </a:xfrm>
          <a:prstGeom prst="rect">
            <a:avLst/>
          </a:prstGeom>
          <a:noFill/>
        </p:spPr>
        <p:txBody>
          <a:bodyPr wrap="square" lIns="0" rIns="0" tIns="0" bIns="0">
            <a:noAutofit/>
          </a:bodyPr>
          <a:lstStyle/>
          <a:p>
            <a:pPr algn="l">
              <a:lnSpc>
                <a:spcPts val="2261"/>
              </a:lnSpc>
              <a:spcBef>
                <a:spcPts val="0"/>
              </a:spcBef>
              <a:spcAft>
                <a:spcPts val="0"/>
              </a:spcAft>
              <a:buNone/>
              <a:defRPr sz="1950" b="0">
                <a:solidFill>
                  <a:srgbClr val="303437"/>
                </a:solidFill>
                <a:latin typeface="Noto Sans"/>
              </a:defRPr>
            </a:pPr>
            <a:r>
              <a:rPr sz="1950" b="1" lang="ja-JP" altLang="en-US">
                <a:solidFill>
                  <a:srgbClr val="B13731"/>
                </a:solidFill>
                <a:latin typeface="Noto Sans"/>
                <a:ea typeface="Noto Sans CJK JP"/>
                <a:cs typeface="Noto Sans"/>
              </a:rPr>
              <a:t>Bob Barker returned to host "The Price Is Right" on Wednesday . Barker, 91, had retired as host in 2007 .</a:t>
            </a:r>
          </a:p>
        </p:txBody>
      </p:sp>
      <p:sp>
        <p:nvSpPr>
          <p:cNvPr id="8" name="TextBox 7"/>
          <p:cNvSpPr txBox="1"/>
          <p:nvPr/>
        </p:nvSpPr>
        <p:spPr>
          <a:xfrm>
            <a:off x="4663440" y="1335024"/>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9" name="quote-frame"/>
          <p:cNvSpPr/>
          <p:nvPr/>
        </p:nvSpPr>
        <p:spPr>
          <a:xfrm>
            <a:off x="4663440" y="1572768"/>
            <a:ext cx="3931920" cy="6826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(CNN)8年ぶりに、テレビ界のレジェンドが得意の仕事に戻ってきた。</a:t>
            </a:r>
          </a:p>
        </p:txBody>
      </p:sp>
      <p:sp>
        <p:nvSpPr>
          <p:cNvPr id="10" name="TextBox 9"/>
          <p:cNvSpPr txBox="1"/>
          <p:nvPr/>
        </p:nvSpPr>
        <p:spPr>
          <a:xfrm>
            <a:off x="4663440" y="2383418"/>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編集者の参照要約（全文）</a:t>
            </a:r>
          </a:p>
        </p:txBody>
      </p:sp>
      <p:sp>
        <p:nvSpPr>
          <p:cNvPr id="11" name="TextBox 10"/>
          <p:cNvSpPr txBox="1"/>
          <p:nvPr/>
        </p:nvSpPr>
        <p:spPr>
          <a:xfrm>
            <a:off x="4663440" y="2648594"/>
            <a:ext cx="3931920" cy="1222248"/>
          </a:xfrm>
          <a:prstGeom prst="rect">
            <a:avLst/>
          </a:prstGeom>
          <a:noFill/>
        </p:spPr>
        <p:txBody>
          <a:bodyPr wrap="square" lIns="0" rIns="0" tIns="0" bIns="0">
            <a:noAutofit/>
          </a:bodyPr>
          <a:lstStyle/>
          <a:p>
            <a:pPr algn="l">
              <a:lnSpc>
                <a:spcPts val="2261"/>
              </a:lnSpc>
              <a:spcBef>
                <a:spcPts val="0"/>
              </a:spcBef>
              <a:spcAft>
                <a:spcPts val="0"/>
              </a:spcAft>
              <a:buNone/>
              <a:defRPr sz="1950" b="0">
                <a:solidFill>
                  <a:srgbClr val="303437"/>
                </a:solidFill>
                <a:latin typeface="Noto Sans"/>
              </a:defRPr>
            </a:pPr>
            <a:r>
              <a:rPr sz="1950" b="1" lang="ja-JP" altLang="en-US">
                <a:solidFill>
                  <a:srgbClr val="B13731"/>
                </a:solidFill>
                <a:latin typeface="Noto Sans"/>
                <a:ea typeface="Noto Sans CJK JP"/>
                <a:cs typeface="Noto Sans"/>
              </a:rPr>
              <a:t>ボブ・バーカーが水曜日、「ザ・プライス・イズ・ライト」の司会に復帰した。 91歳のバーカーは2007年に司会を引退していた。</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9 / id 2bd8ada1de6a7b02f59430cc82045eb8d29cf033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要約は、冒頭文の言い換えだけではない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編集者の要約は、番組への復帰と、年齢・引退年を2文にまとめている。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記事冒頭には番組名も司会者名もない。参照要約は、後に続く本文から具体的な事実を拾っている。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入力記事は113語。HELMの512語制限内なので、この例の本文全体は切り詰められない。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実例2：起訴と逮捕の経緯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10489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London (CNN)A 19-year-old man was charged Wednesday with terror offenses after he was arrested as he returned to Britain from Turkey, London's Metropolitan Police said.</a:t>
            </a:r>
          </a:p>
        </p:txBody>
      </p:sp>
      <p:sp>
        <p:nvSpPr>
          <p:cNvPr id="6" name="TextBox 5"/>
          <p:cNvSpPr txBox="1"/>
          <p:nvPr/>
        </p:nvSpPr>
        <p:spPr>
          <a:xfrm>
            <a:off x="594360" y="2850297"/>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3133761"/>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London's Metropolitan Police say the man was arrested at Luton airport after landing on a flight from Istanbul . He's been charged with terror offenses allegedly committed since the start of November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 / id ee17dfb574feca82ccac5689595e47483bd23f12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実例2：起訴と逮捕の経緯（訳）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10932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ロンドン（CNN）ロンドン警視庁によると、トルコから英国へ戻った際に逮捕された19歳の男性が、水曜日にテロ関連の罪で起訴された。</a:t>
            </a:r>
          </a:p>
        </p:txBody>
      </p:sp>
      <p:sp>
        <p:nvSpPr>
          <p:cNvPr id="6" name="TextBox 5"/>
          <p:cNvSpPr txBox="1"/>
          <p:nvPr/>
        </p:nvSpPr>
        <p:spPr>
          <a:xfrm>
            <a:off x="594360" y="2894596"/>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3178060"/>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ロンドン警視庁によると、男性はイスタンブール発の便で到着後、ルートン空港で逮捕された。 11月初め以降に犯したとされるテロ関連の罪で起訴された。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 / id ee17dfb574feca82ccac5689595e47483bd23f12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実例3：ウイルスへの曝露と発症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9327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(CNN)Five Americans who were monitored for three weeks at an Omaha, Nebraska, hospital after being exposed to Ebola in West Africa have been released, a Nebraska Medicine spokesman said in an email Wednesday.</a:t>
            </a:r>
          </a:p>
        </p:txBody>
      </p:sp>
      <p:sp>
        <p:nvSpPr>
          <p:cNvPr id="6" name="TextBox 5"/>
          <p:cNvSpPr txBox="1"/>
          <p:nvPr/>
        </p:nvSpPr>
        <p:spPr>
          <a:xfrm>
            <a:off x="594360" y="2734096"/>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3017560"/>
            <a:ext cx="7955279" cy="154635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17 Americans were exposed to the Ebola virus while in Sierra Leone in March . Another person was diagnosed with the disease and taken to hospital in Maryland . National Institutes of Health says the patient is in fair condition after weeks of treatment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3 / id a38e72fed88684ec8d60dd5856282e999dc8c0ca</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実例3：ウイルスへの曝露と発症（訳）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13965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NN）ネブラスカ・メディシンの広報担当者が水曜日の電子メールで述べたところによると、西アフリカでエボラウイルスに曝露し、ネブラスカ州オマハの病院で3週間経過観察を受けていた米国人5人が、病院を出た。</a:t>
            </a:r>
          </a:p>
        </p:txBody>
      </p:sp>
      <p:sp>
        <p:nvSpPr>
          <p:cNvPr id="6" name="TextBox 5"/>
          <p:cNvSpPr txBox="1"/>
          <p:nvPr/>
        </p:nvSpPr>
        <p:spPr>
          <a:xfrm>
            <a:off x="594360" y="3197899"/>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3481363"/>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3月にシエラレオネで米国人17人がエボラウイルスに曝露した。 別の1人は発症し、メリーランド州の病院に搬送された。 米国立衛生研究所によると、その患者は数週間の治療後、容体が安定している。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3 / id a38e72fed88684ec8d60dd5856282e999dc8c0ca</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人数と出来事の対応を保つ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エボラの記事は、経過観察後に病院を出た5人から始まる。参照要約は、曝露した17人と、発症した別の1人に焦点を移す。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病原体への曝露、発症、退院を区別し、誰についての数値かを保つことが要約の内容を左右する。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採点とモデルの到達水準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ROUGEは、参照要約との重なりを測る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ROUGE-1は単語、ROUGE-2は連続する2語、ROUGE-Lは順序を保った最長共通部分列に基づく。</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生成文側の一致率と参照側の一致率からF1を求め、記事ごとに採点して平均する。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ROUGEは参照要約との語の重なりを測る。主語や数量の取り違えは、別に本文と照合する必要がある。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2017年：冒頭3文を選ぶ方式が強い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663440"/>
                <a:gridCol w="1124712"/>
                <a:gridCol w="1124712"/>
                <a:gridCol w="1133856"/>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Seq2seq + attention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31.33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11.81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28.83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Pointer-generator + coverage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39.53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17.28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Lead-3（冒頭3文）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非匿名版test、ROUGE F1×100。学習済みモデルは記事先頭400 tokenを使用。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コピーと反復の抑制を組み合わせる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Pointer-generatorは、語彙から生成する処理と、入力記事中の語をコピーする処理を混ぜる。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coverageは、これまで注意を向けた箇所を追跡し、同じ内容の繰り返しを抑える。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それでもLead-3が高得点を取る。記事の冒頭に重要情報が集まりやすい、ニュースの構成が反映される。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2020年：事前学習してから要約に適応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graphicFrame>
        <p:nvGraphicFramePr>
          <p:cNvPr id="4" name="Table 3"/>
          <p:cNvGraphicFramePr>
            <a:graphicFrameLocks noGrp="1"/>
          </p:cNvGraphicFramePr>
          <p:nvPr/>
        </p:nvGraphicFramePr>
        <p:xfrm>
          <a:off x="548640" y="1508760"/>
          <a:ext cx="8046720" cy="914400"/>
        </p:xfrm>
        <a:graphic>
          <a:graphicData uri="http://schemas.openxmlformats.org/drawingml/2006/table">
            <a:tbl>
              <a:tblPr firstRow="0" bandRow="0"/>
              <a:tblGrid>
                <a:gridCol w="4663440"/>
                <a:gridCol w="1124712"/>
                <a:gridCol w="1124712"/>
                <a:gridCol w="1133856"/>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BART（2020）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44.16</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21.28</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40.90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extBox 4"/>
          <p:cNvSpPr txBox="1"/>
          <p:nvPr/>
        </p:nvSpPr>
        <p:spPr>
          <a:xfrm>
            <a:off x="594360" y="26243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CNN/DailyMail test、ROUGE F1×100。ノイズを加えた文章を復元する事前学習後、要約データで微調整。</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Lewis et al. (2020). BART: Denoising Sequence-to-Sequence Pre-training for Natural Language Generation, Translation, and Comprehension. ACL.</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HELM：同じプロンプトで3系列を比較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663440"/>
                <a:gridCol w="1124712"/>
                <a:gridCol w="1124712"/>
                <a:gridCol w="1133856"/>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35.86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24.04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26.35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37.73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v0.4.0の標準CPU run、test 466記事、各3試行平均、ROUGE F1×100。2017・2020年の微調整モデルとは実行条件が異なる。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HELMは短い提示例で、3文の要約を求める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HELMでは記事を空白で区切り、先頭512語までを入力に使う。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学習集合の50〜150語の記事から、5組の入力・要約をプロンプト内に提示する。今回の3モデルは実際にも5例。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指示は「上の記事を3文に要約せよ」。temperature 0.3、最大出力128トークン、停止文字列は###。</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SummarizationScenario、公開実行条件と照合。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https://github.com/stanford-crfm/helm/blob/main/src/helm/benchmark/scenarios/summarization_scenario.py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実際の生成：ジョーカーの写真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5" name="quote-frame"/>
          <p:cNvSpPr/>
          <p:nvPr/>
        </p:nvSpPr>
        <p:spPr>
          <a:xfrm>
            <a:off x="548640" y="1636776"/>
            <a:ext cx="8046720" cy="73074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Leto will play the Clown Prince of Crime in 2016's "Suicide Squad" The first picture of Leto in character led to a series of spoof photos .</a:t>
            </a:r>
          </a:p>
        </p:txBody>
      </p:sp>
      <p:sp>
        <p:nvSpPr>
          <p:cNvPr id="6" name="TextBox 5"/>
          <p:cNvSpPr txBox="1"/>
          <p:nvPr/>
        </p:nvSpPr>
        <p:spPr>
          <a:xfrm>
            <a:off x="548640" y="2599436"/>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text-davinci-003の生成（全文）</a:t>
            </a:r>
          </a:p>
        </p:txBody>
      </p:sp>
      <p:sp>
        <p:nvSpPr>
          <p:cNvPr id="7" name="quote-frame"/>
          <p:cNvSpPr/>
          <p:nvPr/>
        </p:nvSpPr>
        <p:spPr>
          <a:xfrm>
            <a:off x="548640" y="2892044"/>
            <a:ext cx="8046720" cy="12743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Jared Leto's interpretation of the Joker is an internet sensation . Set for release August 5, 2016, "Suicide Squad" is based on the DC Comics series . Twitter users got their first look at Leto in character Friday night, and the memes started almost immediately.</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 train_trial_index=0 / id16576 / 入力114語。全文はAppendix。</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実際の生成：ジョーカーの写真（訳）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参照要約（全文）の日本語訳</a:t>
            </a:r>
          </a:p>
        </p:txBody>
      </p:sp>
      <p:sp>
        <p:nvSpPr>
          <p:cNvPr id="5" name="quote-frame"/>
          <p:cNvSpPr/>
          <p:nvPr/>
        </p:nvSpPr>
        <p:spPr>
          <a:xfrm>
            <a:off x="548640" y="1636776"/>
            <a:ext cx="8046720" cy="100176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レトは2016年の「スーサイド・スクワッド」でジョーカーを演じる。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初めて公開された役姿の写真から、さまざまなパロディー写真が作られた。</a:t>
            </a:r>
          </a:p>
        </p:txBody>
      </p:sp>
      <p:sp>
        <p:nvSpPr>
          <p:cNvPr id="6" name="TextBox 5"/>
          <p:cNvSpPr txBox="1"/>
          <p:nvPr/>
        </p:nvSpPr>
        <p:spPr>
          <a:xfrm>
            <a:off x="548640" y="2871470"/>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text-davinci-003の生成（全文）の日本語訳</a:t>
            </a:r>
          </a:p>
        </p:txBody>
      </p:sp>
      <p:sp>
        <p:nvSpPr>
          <p:cNvPr id="7" name="quote-frame"/>
          <p:cNvSpPr/>
          <p:nvPr/>
        </p:nvSpPr>
        <p:spPr>
          <a:xfrm>
            <a:off x="548640" y="3164078"/>
            <a:ext cx="8046720" cy="12733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ジャレッド・レトによるジョーカーの表現が、インターネットで話題になっている。2016年8月5日公開予定の「スーサイド・スクワッド」は、DCコミックスのシリーズに基づく。ツイッターの利用者は金曜夜にレトの役姿を初めて見て、ほぼすぐにミームを作り始め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 train_trial_index=0 / id16576 / 入力114語。全文はAppendix。</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要点の選択と、内容の正確さを見る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参照要約は「役柄」と「パロディー写真」を選ぶ。実際の生成は公開日や原作にも語数を使う。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この1例をHELMと同じ設定で再計算すると、ROUGE-1は36.62、ROUGE-2は8.70、ROUGE-Lは28.17（F1×100）。</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HELMはROUGEのほか、本文からのコピー量や圧縮率なども測る。ここではCPU実行のROUGEを比較した。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構築とデータの全体像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読解用ニュースから、要約課題へ広がる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2015年、CNNとDaily Mailのニュース記事・ハイライトを使い、穴埋め式の読解問題が作られた。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2016年には、記事からハイライト全体を生成する要約課題に利用された。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2017年の非匿名版では、@entity5などに置き換えず、実際の人名や組織名を残して要約する。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Nallapati et al. (2016). Abstractive Text Summarization using Sequence-to-sequence RNNs and Beyond. CoNLL.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https://aclanthology.org/K16-1028/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https://aclanthology.org/P17-1099/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記事とハイライトを機械的に対応させる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公開ニュースの本文と、編集者が付けたハイライトを集める。新たな要約の執筆作業は行わない。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複数のハイライトを連結し、1本の参照要約として使う。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公式の前処理コードは文末記号を補い、記事本文とハイライトを分離する。空の本文を持つ例への対処も公開されている。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Abigail See. CNN / Daily Mail non-anonymized dataset.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https://github.com/abisee/cnn-dailymail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約29万記事で学び、別の記事で評価する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743200"/>
                <a:gridCol w="2651760"/>
                <a:gridCol w="26517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2017年の報告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配布3.0.0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287,226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287,113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13,368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13,368</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11,490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11,490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1件は記事と参照要約の組。2017年の報告と現在の配布物でtrain件数が異なる。公式コードは本文欠落例を除外する。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1180"/>
              </a:lnSpc>
              <a:spcBef>
                <a:spcPts val="0"/>
              </a:spcBef>
              <a:spcAft>
                <a:spcPts val="2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https://aclanthology.org/P17-1099/</a:t>
            </a:r>
          </a:p>
          <a:p>
            <a:pPr>
              <a:lnSpc>
                <a:spcPts val="1180"/>
              </a:lnSpc>
              <a:spcAft>
                <a:spcPts val="200"/>
              </a:spcAft>
              <a:buNone/>
              <a:defRPr sz="810" b="0">
                <a:solidFill>
                  <a:srgbClr val="303437"/>
                </a:solidFill>
                <a:latin typeface="Noto Sans"/>
              </a:defRPr>
            </a:pPr>
            <a:r>
              <a:rPr sz="810" b="0" lang="ja-JP" altLang="en-US">
                <a:solidFill>
                  <a:srgbClr val="626669"/>
                </a:solidFill>
                <a:latin typeface="Noto Sans"/>
                <a:ea typeface="Noto Sans CJK JP"/>
                <a:cs typeface="Noto Sans"/>
              </a:rPr>
              <a:t>[2]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記事は512語を超えるものが多い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3.0.0 test全11,490記事。空白区切り語数を独自集計。縦軸は記事数。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https://huggingface.co/datasets/abisee/cnn_dailymail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HELMでは長い記事の後半を省く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testの平均は記事683.5語、参照要約55.0語。記事の中央値は613語。</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記事が512語を超えるのは7,232件、全11,490件の62.9%。HELMの入力制限では、その後半は参照できない。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参照要約は切り詰めないので、記事後半にしかない情報が参照側に残る場合がある。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微調整の標準課題から、汎用モデルの比較へ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Pointer-generatorやBARTでは、多数の記事・要約の組でモデルを学習・微調整した。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HELMでは、同じプロンプトに少数の提示例を入れ、汎用言語モデルを比較した。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2026-10-18時点で、固定バージョンの公開配布とHELMのscenario実装を取得できる。ここで示したHELMの得点は2023年の固定版。</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配布バージョンを固定して読み込む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Rectangle 3"/>
          <p:cNvSpPr/>
          <p:nvPr/>
        </p:nvSpPr>
        <p:spPr>
          <a:xfrm>
            <a:off x="548640" y="1508760"/>
            <a:ext cx="8046720" cy="23971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from datasets import load_dataset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data = load_dataset(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'abisee/cnn_dailymail', '3.0.0',</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revision='96df5e686bee6baa90b8bee7c28b81fa3fa6223d',</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split='test',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print(data[9]['article'])</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print(data[9]['highlights'])</a:t>
            </a:r>
          </a:p>
        </p:txBody>
      </p:sp>
      <p:sp>
        <p:nvSpPr>
          <p:cNvPr id="5" name="TextBox 4"/>
          <p:cNvSpPr txBox="1"/>
          <p:nvPr/>
        </p:nvSpPr>
        <p:spPr>
          <a:xfrm>
            <a:off x="594360" y="4107052"/>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articleが本文、highlightsが参照要約、idが取得元URLのSHA-1。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配布条件と、ニュース本文の権利</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FaceのデータカードにはApache 2.0が表示され、非匿名版の前処理コードはMITライセンス。</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収録記事と編集者のハイライトの著作権は、CNN・Daily Mailと各著者に帰属する。コードのライセンスと元記事の権利を分けて扱う。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今回のtest Parquetは30,000,471 bytes（約30.0 MB、取得実測）。元記事URL、ID、固定revisionは検証記録に保存した。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Abigail See. CNN / Daily Mail non-anonymized dataset.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https://github.com/abisee/cnn-dailymail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要点を選び、事実の対応を保って短くする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CNN / DailyMailは、ニュース記事から複数文の要約を作るための、記事・編集者ハイライトの組。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冒頭3文を選ぶだけでもROUGEが高く、記事の構成が性能に影響する。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HELMの得点を読むときは、記事先頭512語、提示例5組、3文指示という条件を合わせる。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https://crfm.stanford.edu/helm/classic/v0.4.0/#/groups/summarization_cnndm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実行条件と実入力</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CNNとDaily Mailから10件を追加する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本編の3記事とは異なる10記事を選んだ。CNNの科学・社会・芸能記事と、Daily Mailの記事を含む。</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各ページの記事本文は、先頭の連続した1文だけを抜粋する。参照要約は全文で、訳もその範囲に対応する。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入力記事全文と原URL、抜粋の文字範囲はexamples.jsonに保存した。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実例4：勢力が変わる熱帯低気圧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10489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(CNN)Filipinos are being warned to be on guard for flash floods and landslides as tropical storm Maysak approached the Asian island nation Saturday.</a:t>
            </a:r>
          </a:p>
        </p:txBody>
      </p:sp>
      <p:sp>
        <p:nvSpPr>
          <p:cNvPr id="6" name="TextBox 5"/>
          <p:cNvSpPr txBox="1"/>
          <p:nvPr/>
        </p:nvSpPr>
        <p:spPr>
          <a:xfrm>
            <a:off x="594360" y="2850297"/>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3133761"/>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Once a super typhoon, Maysak is now a tropical storm with 70 mph winds . It could still cause flooding, landslides and other problems in the Philippines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8 / id 6222f33c2c79b80be437335eeb3f488509e92cf5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実例4：勢力が変わる熱帯低気圧（訳）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1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（CNN）熱帯低気圧メイサークが土曜日にフィリピンへ近づく中、国民に鉄砲水と土砂崩れへの警戒が呼びかけられている。</a:t>
            </a:r>
          </a:p>
        </p:txBody>
      </p:sp>
      <p:sp>
        <p:nvSpPr>
          <p:cNvPr id="6" name="TextBox 5"/>
          <p:cNvSpPr txBox="1"/>
          <p:nvPr/>
        </p:nvSpPr>
        <p:spPr>
          <a:xfrm>
            <a:off x="594360" y="2592908"/>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6372"/>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かつてスーパー台風だったメイサークは、現在は風速70マイル毎時の熱帯低気圧になっている。 それでもフィリピンに洪水や土砂崩れなどの被害をもたらすおそれがある。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8 / id 6222f33c2c79b80be437335eeb3f488509e92cf5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実例5：死因の暫定的な見解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6832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(CNN)Andrew Getty, one of the heirs to billions of oil money, appears to have died of natural causes, a Los Angeles Police Department spokesman said.</a:t>
            </a:r>
          </a:p>
        </p:txBody>
      </p:sp>
      <p:sp>
        <p:nvSpPr>
          <p:cNvPr id="6" name="TextBox 5"/>
          <p:cNvSpPr txBox="1"/>
          <p:nvPr/>
        </p:nvSpPr>
        <p:spPr>
          <a:xfrm>
            <a:off x="594360" y="2484617"/>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768081"/>
            <a:ext cx="7955279" cy="154635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Andrew Getty's death appears to be from natural causes, police say, citing coroner's early assessment . In a petition for a restraining order, Getty had written he had a serious medical condition. Police say this is not a criminal matter at this time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7 / id 0d3c8c276d079c4c225f034c69aa024cdab7869d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実例5：死因の暫定的な見解（訳）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10932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（CNN）ロサンゼルス市警の広報担当者によると、石油事業の巨額資産の相続人の1人、アンドリュー・ゲティは自然死したとみられる。</a:t>
            </a:r>
          </a:p>
        </p:txBody>
      </p:sp>
      <p:sp>
        <p:nvSpPr>
          <p:cNvPr id="6" name="TextBox 5"/>
          <p:cNvSpPr txBox="1"/>
          <p:nvPr/>
        </p:nvSpPr>
        <p:spPr>
          <a:xfrm>
            <a:off x="594360" y="2894596"/>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3178060"/>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警察は、検視当局の初期判断に基づき、アンドリュー・ゲティは自然死したとみられると述べた。 ゲティは接近禁止命令の申立書で、重い病気があると記していた。 警察によると、現時点では刑事事件として扱っていない。</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7 / id 0d3c8c276d079c4c225f034c69aa024cdab7869d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実例6：大型実験装置の再稼働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572768"/>
            <a:ext cx="3931920" cy="9328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(CNN)The world's biggest and most powerful physics experiment is taking place as you read this.</a:t>
            </a:r>
          </a:p>
        </p:txBody>
      </p:sp>
      <p:sp>
        <p:nvSpPr>
          <p:cNvPr id="6" name="TextBox 5"/>
          <p:cNvSpPr txBox="1"/>
          <p:nvPr/>
        </p:nvSpPr>
        <p:spPr>
          <a:xfrm>
            <a:off x="548640" y="2633588"/>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48640" y="2898764"/>
            <a:ext cx="3931920" cy="1222248"/>
          </a:xfrm>
          <a:prstGeom prst="rect">
            <a:avLst/>
          </a:prstGeom>
          <a:noFill/>
        </p:spPr>
        <p:txBody>
          <a:bodyPr wrap="square" lIns="0" rIns="0" tIns="0" bIns="0">
            <a:noAutofit/>
          </a:bodyPr>
          <a:lstStyle/>
          <a:p>
            <a:pPr algn="l">
              <a:lnSpc>
                <a:spcPts val="2261"/>
              </a:lnSpc>
              <a:spcBef>
                <a:spcPts val="0"/>
              </a:spcBef>
              <a:spcAft>
                <a:spcPts val="0"/>
              </a:spcAft>
              <a:buNone/>
              <a:defRPr sz="1950" b="0">
                <a:solidFill>
                  <a:srgbClr val="303437"/>
                </a:solidFill>
                <a:latin typeface="Noto Sans"/>
              </a:defRPr>
            </a:pPr>
            <a:r>
              <a:rPr sz="1950" b="1" lang="ja-JP" altLang="en-US">
                <a:solidFill>
                  <a:srgbClr val="B13731"/>
                </a:solidFill>
                <a:latin typeface="Noto Sans"/>
                <a:ea typeface="Noto Sans CJK JP"/>
                <a:cs typeface="Noto Sans"/>
              </a:rPr>
              <a:t>The Large Hadron Collider (LHC) begins again after a two-year shutdown . The restart was delayed in March .</a:t>
            </a:r>
          </a:p>
        </p:txBody>
      </p:sp>
      <p:sp>
        <p:nvSpPr>
          <p:cNvPr id="8" name="TextBox 7"/>
          <p:cNvSpPr txBox="1"/>
          <p:nvPr/>
        </p:nvSpPr>
        <p:spPr>
          <a:xfrm>
            <a:off x="4663440" y="1335024"/>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日本語訳：同じ範囲</a:t>
            </a:r>
          </a:p>
        </p:txBody>
      </p:sp>
      <p:sp>
        <p:nvSpPr>
          <p:cNvPr id="9" name="quote-frame"/>
          <p:cNvSpPr/>
          <p:nvPr/>
        </p:nvSpPr>
        <p:spPr>
          <a:xfrm>
            <a:off x="4663440" y="1572768"/>
            <a:ext cx="3931920" cy="9317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（CNN）あなたがこれを読んでいる今、世界最大で最も強力な物理実験が行われている。</a:t>
            </a:r>
          </a:p>
        </p:txBody>
      </p:sp>
      <p:sp>
        <p:nvSpPr>
          <p:cNvPr id="10" name="TextBox 9"/>
          <p:cNvSpPr txBox="1"/>
          <p:nvPr/>
        </p:nvSpPr>
        <p:spPr>
          <a:xfrm>
            <a:off x="4663440" y="2632540"/>
            <a:ext cx="39319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編集者の参照要約（全文）</a:t>
            </a:r>
          </a:p>
        </p:txBody>
      </p:sp>
      <p:sp>
        <p:nvSpPr>
          <p:cNvPr id="11" name="TextBox 10"/>
          <p:cNvSpPr txBox="1"/>
          <p:nvPr/>
        </p:nvSpPr>
        <p:spPr>
          <a:xfrm>
            <a:off x="4663440" y="2897716"/>
            <a:ext cx="3931920" cy="1222248"/>
          </a:xfrm>
          <a:prstGeom prst="rect">
            <a:avLst/>
          </a:prstGeom>
          <a:noFill/>
        </p:spPr>
        <p:txBody>
          <a:bodyPr wrap="square" lIns="0" rIns="0" tIns="0" bIns="0">
            <a:noAutofit/>
          </a:bodyPr>
          <a:lstStyle/>
          <a:p>
            <a:pPr algn="l">
              <a:lnSpc>
                <a:spcPts val="2261"/>
              </a:lnSpc>
              <a:spcBef>
                <a:spcPts val="0"/>
              </a:spcBef>
              <a:spcAft>
                <a:spcPts val="0"/>
              </a:spcAft>
              <a:buNone/>
              <a:defRPr sz="1950" b="0">
                <a:solidFill>
                  <a:srgbClr val="303437"/>
                </a:solidFill>
                <a:latin typeface="Noto Sans"/>
              </a:defRPr>
            </a:pPr>
            <a:r>
              <a:rPr sz="1950" b="1" lang="ja-JP" altLang="en-US">
                <a:solidFill>
                  <a:srgbClr val="B13731"/>
                </a:solidFill>
                <a:latin typeface="Noto Sans"/>
                <a:ea typeface="Noto Sans CJK JP"/>
                <a:cs typeface="Noto Sans"/>
              </a:rPr>
              <a:t>大型ハドロン衝突型加速器（LHC）が2年間の停止を経て再稼働した。 再稼働は3月に延期されていた。</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32 / id 934a2d9235022c9e8a6aeec5e7e941b127569b76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実例7：収監中の通信方法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7620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(CNN)Imprisoned soldier Chelsea Manning can now communicate with the world  -- in 140 characters or less.</a:t>
            </a:r>
          </a:p>
        </p:txBody>
      </p:sp>
      <p:sp>
        <p:nvSpPr>
          <p:cNvPr id="6" name="TextBox 5"/>
          <p:cNvSpPr txBox="1"/>
          <p:nvPr/>
        </p:nvSpPr>
        <p:spPr>
          <a:xfrm>
            <a:off x="594360" y="256338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846844"/>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Manning is serving a 35-year sentence for leaking thousands of classified documents . She says she will be using a voice phone to dictate her tweets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46 / id 9bea5cbe9a0184eec4086a08452066dead185173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実例7：収監中の通信方法（訳）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1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（CNN）収監中の兵士チェルシー・マニングは、今や140文字以内で世界とやり取りできる。</a:t>
            </a:r>
          </a:p>
        </p:txBody>
      </p:sp>
      <p:sp>
        <p:nvSpPr>
          <p:cNvPr id="6" name="TextBox 5"/>
          <p:cNvSpPr txBox="1"/>
          <p:nvPr/>
        </p:nvSpPr>
        <p:spPr>
          <a:xfrm>
            <a:off x="594360" y="2592908"/>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6372"/>
            <a:ext cx="7955279" cy="662431"/>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マニングは数千件の機密文書を漏洩した罪で、35年の刑に服している。 本人によると、電話でツイートを口述するという。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46 / id 9bea5cbe9a0184eec4086a08452066dead185173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実例8：監督の降板と制作費</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10489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(CNN)Film director David Lynch has confirmed he will no longer direct the revival of "Twin Peaks" -- a cult 1990s television show that was set to return in 2016.</a:t>
            </a:r>
          </a:p>
        </p:txBody>
      </p:sp>
      <p:sp>
        <p:nvSpPr>
          <p:cNvPr id="6" name="TextBox 5"/>
          <p:cNvSpPr txBox="1"/>
          <p:nvPr/>
        </p:nvSpPr>
        <p:spPr>
          <a:xfrm>
            <a:off x="594360" y="2850297"/>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3133761"/>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David Lynch says he won't be directing new episodes of Twin Peaks . Showtime "saddened" over decision, which involved a dispute over money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55 / id 78a670384c908a15617cab7f575fd50dc5999937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実例8：監督の降板と制作費（訳）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10932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（CNN）映画監督デイヴィッド・リンチは、2016年に復活予定だった1990年代のカルト的人気テレビ番組「ツイン・ピークス」の新作を、もはや監督しないと認めた。</a:t>
            </a:r>
          </a:p>
        </p:txBody>
      </p:sp>
      <p:sp>
        <p:nvSpPr>
          <p:cNvPr id="6" name="TextBox 5"/>
          <p:cNvSpPr txBox="1"/>
          <p:nvPr/>
        </p:nvSpPr>
        <p:spPr>
          <a:xfrm>
            <a:off x="594360" y="2894596"/>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3178060"/>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デイヴィッド・リンチは「ツイン・ピークス」の新作を監督しないと述べた。 制作費をめぐる対立を含むこの決定に、ショウタイムは「悲しんでいる」とした。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55 / id 78a670384c908a15617cab7f575fd50dc5999937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実例9：ミサイル発射の失敗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7620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Embarrassing footage has emerged of a missile launch going spectacularly wrong in Russia.</a:t>
            </a:r>
          </a:p>
        </p:txBody>
      </p:sp>
      <p:sp>
        <p:nvSpPr>
          <p:cNvPr id="6" name="TextBox 5"/>
          <p:cNvSpPr txBox="1"/>
          <p:nvPr/>
        </p:nvSpPr>
        <p:spPr>
          <a:xfrm>
            <a:off x="594360" y="256338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846844"/>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S300 barely takes off before plunging back to the ground . Minute-long clip shows people dashing for cover as rocket hits ground . Mishap comes shortly after footage of crash killing missile engineers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10003 / id 8fda1f861bbf799672e944649304d23aa5ce7cab</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実例9：ミサイル発射の失敗（訳）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1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ロシアでミサイルの発射が派手に失敗する、ばつの悪い映像が公開された。</a:t>
            </a:r>
          </a:p>
        </p:txBody>
      </p:sp>
      <p:sp>
        <p:nvSpPr>
          <p:cNvPr id="6" name="TextBox 5"/>
          <p:cNvSpPr txBox="1"/>
          <p:nvPr/>
        </p:nvSpPr>
        <p:spPr>
          <a:xfrm>
            <a:off x="594360" y="2592908"/>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6372"/>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S300はほとんど上昇できず、地面へ落下した。 1分間の映像には、ロケットが地面に衝突し、人々が物陰へ走る様子が映っている。 この失敗の少し前には、ミサイル技術者が亡くなる事故の映像もあった。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10003 / id 8fda1f861bbf799672e944649304d23aa5ce7cab</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実例10：講義中に調理する学生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9095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 boldfaced student at Mississippi State, who refused to go hungry during his college lecture, brought a George Foreman grill to class and proceeded to cook bacon for his sandwich - while sitting in the front row of his class.</a:t>
            </a:r>
          </a:p>
        </p:txBody>
      </p:sp>
      <p:sp>
        <p:nvSpPr>
          <p:cNvPr id="6" name="TextBox 5"/>
          <p:cNvSpPr txBox="1"/>
          <p:nvPr/>
        </p:nvSpPr>
        <p:spPr>
          <a:xfrm>
            <a:off x="594360" y="271096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994424"/>
            <a:ext cx="7955279" cy="1840991"/>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Roman Ehrhardt became an internet sensation after a snapshot of him cooking bacon while in the front row of a college lecture was shared online . The senior communications major at Mississippi State was secretly completing a project, in which he had to violate a societal norm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10006 / id 89653daee6d142ed8a50683fd4f83cd12d3a3749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実例10：講義中に調理する学生（訳）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100161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ミシシッピ州立大学の大胆な学生が、講義中に空腹を我慢することを拒み、ジョージ・フォアマン・グリルを教室へ持ち込んだ。そして、教室の最前列に座ったまま、サンドイッチ用のベーコンを焼き始めた。</a:t>
            </a:r>
          </a:p>
        </p:txBody>
      </p:sp>
      <p:sp>
        <p:nvSpPr>
          <p:cNvPr id="6" name="TextBox 5"/>
          <p:cNvSpPr txBox="1"/>
          <p:nvPr/>
        </p:nvSpPr>
        <p:spPr>
          <a:xfrm>
            <a:off x="594360" y="280298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3086445"/>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ローマン・エアハートは、大学の講義の最前列でベーコンを焼く写真がネットで共有され、話題になった。 ミシシッピ州立大学でコミュニケーションを専攻する4年生は、社会規範を破るという課題に、ひそかに取り組んでいた。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10006 / id 89653daee6d142ed8a50683fd4f83cd12d3a3749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実例11：父親の声で眠る赤ちゃん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7620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restless baby has been lulled to sleep by her father's impression of Darth Vader.</a:t>
            </a:r>
          </a:p>
        </p:txBody>
      </p:sp>
      <p:sp>
        <p:nvSpPr>
          <p:cNvPr id="6" name="TextBox 5"/>
          <p:cNvSpPr txBox="1"/>
          <p:nvPr/>
        </p:nvSpPr>
        <p:spPr>
          <a:xfrm>
            <a:off x="594360" y="256338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846844"/>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Madison Crotty, from San Diego in California, is seen screaming and crying . Video posted online by her father Buddy shows how he gets her to sleep . He copies the scuba tank breathing made famous by villain Darth Vader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10016 / id 2613da08d05fb20d4e4e73788942090a40552d95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実例11：父親の声で眠る赤ちゃん（訳）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1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落ち着かない赤ちゃんが、父親によるダース・ベイダーの物まねで眠りについた。</a:t>
            </a:r>
          </a:p>
        </p:txBody>
      </p:sp>
      <p:sp>
        <p:nvSpPr>
          <p:cNvPr id="6" name="TextBox 5"/>
          <p:cNvSpPr txBox="1"/>
          <p:nvPr/>
        </p:nvSpPr>
        <p:spPr>
          <a:xfrm>
            <a:off x="594360" y="2592908"/>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6372"/>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カリフォルニア州サンディエゴのマディソン・クロッティちゃんが、叫び声を上げて泣く様子が映っている。 父親のバディがネットに投稿した動画は、寝かしつけ方を示している。 父親は、悪役ダース・ベイダーで有名なスキューバタンクの呼吸音をまねる。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10016 / id 2613da08d05fb20d4e4e73788942090a40552d95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実例12：嵐の中で防水衣類を届ける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10489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Sydney mother has braved this week’s horror Sydney storm by hitting the streets and handing out waterproof clothing, blankets and sleeping bags to the homeless.</a:t>
            </a:r>
          </a:p>
        </p:txBody>
      </p:sp>
      <p:sp>
        <p:nvSpPr>
          <p:cNvPr id="6" name="TextBox 5"/>
          <p:cNvSpPr txBox="1"/>
          <p:nvPr/>
        </p:nvSpPr>
        <p:spPr>
          <a:xfrm>
            <a:off x="594360" y="2850297"/>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3133761"/>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Sacha Whitehead collected sleeping bags and clothing donations . She braved the storm by delivering the donations to homeless people . The 26-year-old mother is collecting more donations to hand out tonight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10019 / id f34eb9827a5e0d080a84a37e45b4ce4198215097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実例12：嵐の中で防水衣類を届ける（訳）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1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シドニーの母親が、今週の恐ろしい嵐にもひるまず街へ出て、防水衣類や毛布、寝袋をホームレスの人々に配った。</a:t>
            </a:r>
          </a:p>
        </p:txBody>
      </p:sp>
      <p:sp>
        <p:nvSpPr>
          <p:cNvPr id="6" name="TextBox 5"/>
          <p:cNvSpPr txBox="1"/>
          <p:nvPr/>
        </p:nvSpPr>
        <p:spPr>
          <a:xfrm>
            <a:off x="594360" y="2592908"/>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6372"/>
            <a:ext cx="7955279" cy="95707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サシャ・ホワイトヘッドは、寝袋や衣類の寄付を集めた。 嵐にもひるまず、集めた品をホームレスの人々に届けた。 26歳の母親は、今夜配るためにさらに寄付を集めている。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10019 / id f34eb9827a5e0d080a84a37e45b4ce4198215097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実例13：音楽サービスの順位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原文：記事冒頭1文の抜粋</a:t>
            </a:r>
          </a:p>
        </p:txBody>
      </p:sp>
      <p:sp>
        <p:nvSpPr>
          <p:cNvPr id="5" name="quote-frame"/>
          <p:cNvSpPr/>
          <p:nvPr/>
        </p:nvSpPr>
        <p:spPr>
          <a:xfrm>
            <a:off x="548640" y="1645920"/>
            <a:ext cx="8046720" cy="7620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Last month some of the biggest names in music joined Jay Z for the launch of his premium music streaming service Tidal.</a:t>
            </a:r>
          </a:p>
        </p:txBody>
      </p:sp>
      <p:sp>
        <p:nvSpPr>
          <p:cNvPr id="6" name="TextBox 5"/>
          <p:cNvSpPr txBox="1"/>
          <p:nvPr/>
        </p:nvSpPr>
        <p:spPr>
          <a:xfrm>
            <a:off x="594360" y="2563380"/>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a:t>
            </a:r>
          </a:p>
        </p:txBody>
      </p:sp>
      <p:sp>
        <p:nvSpPr>
          <p:cNvPr id="7" name="TextBox 6"/>
          <p:cNvSpPr txBox="1"/>
          <p:nvPr/>
        </p:nvSpPr>
        <p:spPr>
          <a:xfrm>
            <a:off x="594360" y="2846844"/>
            <a:ext cx="7955279" cy="154635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Jay Z  launched his $19.99-a-month Tidal app in New York on 30 March . Following the launch it jumped to fourth place on the iOS music app chart . At the time of writing it ranks at 51 on the music chart and 872 overall . Rivals Pandora and Spotify sit in first and third place respectively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10028 / id b96ef482f5e64cd9b0c31c04358c49db558952f5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実例13：音楽サービスの順位（訳）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日本語訳：記事冒頭1文の抜粋</a:t>
            </a:r>
          </a:p>
        </p:txBody>
      </p:sp>
      <p:sp>
        <p:nvSpPr>
          <p:cNvPr id="5" name="quote-frame"/>
          <p:cNvSpPr/>
          <p:nvPr/>
        </p:nvSpPr>
        <p:spPr>
          <a:xfrm>
            <a:off x="548640" y="1645920"/>
            <a:ext cx="8046720" cy="7928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先月、音楽界の大物たちがジェイ・Zに加わり、有料音楽配信サービスTidalの開始を祝った。</a:t>
            </a:r>
          </a:p>
        </p:txBody>
      </p:sp>
      <p:sp>
        <p:nvSpPr>
          <p:cNvPr id="6" name="TextBox 5"/>
          <p:cNvSpPr txBox="1"/>
          <p:nvPr/>
        </p:nvSpPr>
        <p:spPr>
          <a:xfrm>
            <a:off x="594360" y="2594179"/>
            <a:ext cx="7955279"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編集者の参照要約（全文）の日本語訳</a:t>
            </a:r>
          </a:p>
        </p:txBody>
      </p:sp>
      <p:sp>
        <p:nvSpPr>
          <p:cNvPr id="7" name="TextBox 6"/>
          <p:cNvSpPr txBox="1"/>
          <p:nvPr/>
        </p:nvSpPr>
        <p:spPr>
          <a:xfrm>
            <a:off x="594360" y="2877643"/>
            <a:ext cx="7955279" cy="1251712"/>
          </a:xfrm>
          <a:prstGeom prst="rect">
            <a:avLst/>
          </a:prstGeom>
          <a:noFill/>
        </p:spPr>
        <p:txBody>
          <a:bodyPr wrap="square" lIns="0" rIns="0" tIns="0" bIns="0">
            <a:noAutofit/>
          </a:bodyPr>
          <a:lstStyle/>
          <a:p>
            <a:pPr algn="l">
              <a:lnSpc>
                <a:spcPts val="232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ジェイ・Zは3月30日、ニューヨークで月額19.99ドルのTidalアプリを発表した。 発表後、iOSの音楽アプリランキングで4位に上がった。 記事執筆時には音楽部門51位、総合872位だった。 競合のPandoraとSpotifyは、それぞれ1位と3位だった。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 test row 10028 / id b96ef482f5e64cd9b0c31c04358c49db558952f5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実行条件と実入力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HELM標準CPU実行の条件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graphicFrame>
        <p:nvGraphicFramePr>
          <p:cNvPr id="4" name="Table 3"/>
          <p:cNvGraphicFramePr>
            <a:graphicFrameLocks noGrp="1"/>
          </p:cNvGraphicFramePr>
          <p:nvPr/>
        </p:nvGraphicFramePr>
        <p:xfrm>
          <a:off x="548640" y="1508760"/>
          <a:ext cx="8046720" cy="2249424"/>
        </p:xfrm>
        <a:graphic>
          <a:graphicData uri="http://schemas.openxmlformats.org/drawingml/2006/table">
            <a:tbl>
              <a:tblPr firstRow="0" bandRow="0"/>
              <a:tblGrid>
                <a:gridCol w="2468880"/>
                <a:gridCol w="5577840"/>
              </a:tblGrid>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実際の条件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valid 534記事 + test 466記事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提示例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trainから50〜150語の記事を5組</a:t>
                      </a:r>
                    </a:p>
                  </a:txBody>
                  <a:tcPr marL="63500" marR="63500" marT="38100" marB="38100" anchor="ctr">
                    <a:lnL w="7620">
                      <a:noFill/>
                    </a:lnL>
                    <a:lnR w="7620">
                      <a:noFill/>
                    </a:lnR>
                    <a:lnT w="7620">
                      <a:noFill/>
                    </a:lnT>
                    <a:lnB w="7620">
                      <a:noFill/>
                    </a:lnB>
                    <a:solidFill>
                      <a:srgbClr val="FFFEF8"/>
                    </a:solidFill>
                  </a:tcPr>
                </a:tc>
              </a:tr>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記事の上限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空白区切りで512語</a:t>
                      </a:r>
                    </a:p>
                  </a:txBody>
                  <a:tcPr marL="63500" marR="63500" marT="38100" marB="38100" anchor="ctr">
                    <a:lnL w="7620">
                      <a:noFill/>
                    </a:lnL>
                    <a:lnR w="7620">
                      <a:noFill/>
                    </a:lnR>
                    <a:lnT w="7620">
                      <a:noFill/>
                    </a:lnT>
                    <a:lnB w="7620">
                      <a:noFill/>
                    </a:lnB>
                    <a:solidFill>
                      <a:srgbClr val="FFFEF8"/>
                    </a:solidFill>
                  </a:tcPr>
                </a:tc>
              </a:tr>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生成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1候補 / temperature 0.3 / 最大128トークン</a:t>
                      </a:r>
                    </a:p>
                  </a:txBody>
                  <a:tcPr marL="63500" marR="63500" marT="38100" marB="38100" anchor="ctr">
                    <a:lnL w="7620">
                      <a:noFill/>
                    </a:lnL>
                    <a:lnR w="7620">
                      <a:noFill/>
                    </a:lnR>
                    <a:lnT w="7620">
                      <a:noFill/>
                    </a:lnT>
                    <a:lnB w="7620">
                      <a:noFill/>
                    </a:lnB>
                    <a:solidFill>
                      <a:srgbClr val="FFFEF8"/>
                    </a:solidFill>
                  </a:tcPr>
                </a:tc>
              </a:tr>
              <a:tr h="37490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試行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3試行、各1,000記事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run suite v0.3.0。実提示5例、prompt_truncated=0（3モデル共通）。</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開発集合の得点も公開されている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663440"/>
                <a:gridCol w="1124712"/>
                <a:gridCol w="1124712"/>
                <a:gridCol w="1133856"/>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23.99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39.70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26.66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Anthropic v4-s3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38.31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15.71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25.61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534記事、各3試行平均、ROUGE F1×100。本文のtest 466記事と分けて集計される。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実際に入力された記事の全文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114語の入力本文（512語未満なので切り詰めなし）</a:t>
            </a:r>
          </a:p>
        </p:txBody>
      </p:sp>
      <p:sp>
        <p:nvSpPr>
          <p:cNvPr id="5" name="quote-frame"/>
          <p:cNvSpPr/>
          <p:nvPr/>
        </p:nvSpPr>
        <p:spPr>
          <a:xfrm>
            <a:off x="548640" y="1645920"/>
            <a:ext cx="8046720" cy="29075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(CNN)Love it or hate it, Jared Leto's interpretation of the Joker is an internet sensation. The Oscar winner put on white makeup (and a lot of tattoos this time) to portray the Clown Prince of Crime in the upcoming movie "Suicide Squad." Set for release August 5, 2016, "Suicide Squad" is based on the DC Comics series and also stars Will Smith, Margot Robbie and Viola Davis. Twitter users got their first look at Leto in character Friday night, and the memes started almost immediately. From comparisons to "Home Alone" to an imagining of Ben Affleck tatted up, people on social media put their Photoshopping skills to work all weekend. Which is your favorite?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 id16576 / test / trial 0 / HF test row 586。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実際に入力された記事の全文（訳）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sp>
        <p:nvSpPr>
          <p:cNvPr id="4" name="TextBox 3"/>
          <p:cNvSpPr txBox="1"/>
          <p:nvPr/>
        </p:nvSpPr>
        <p:spPr>
          <a:xfrm>
            <a:off x="548640" y="1335024"/>
            <a:ext cx="8046720" cy="219456"/>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114語の入力本文の日本語訳</a:t>
            </a:r>
          </a:p>
        </p:txBody>
      </p:sp>
      <p:sp>
        <p:nvSpPr>
          <p:cNvPr id="5" name="quote-frame"/>
          <p:cNvSpPr/>
          <p:nvPr/>
        </p:nvSpPr>
        <p:spPr>
          <a:xfrm>
            <a:off x="548640" y="1645920"/>
            <a:ext cx="8046720" cy="29063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NN）好きでも嫌いでも、ジャレッド・レトによるジョーカーの表現がインターネットで話題になっている。アカデミー賞受賞者は、公開予定の映画「スーサイド・スクワッド」で犯罪界の道化王を演じるため、白いメイクを施した（今回は大量のタトゥーもある）。2016年8月5日公開予定の「スーサイド・スクワッド」はDCコミックスのシリーズが原作で、ウィル・スミス、マーゴット・ロビー、ヴィオラ・デイヴィスも出演する。金曜夜、ツイッターの利用者はレトの役姿を初めて見て、ほぼすぐにミームが作られ始めた。「ホーム・アローン」との比較から、タトゥーだらけのベン・アフレックの想像図まで、ソーシャルメディアの利用者は週末中、画像加工の腕を振るった。あなたはどれがお気に入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CNN/DailyMail、標準CPU実行。2023-11-17の固定版。 id16576 / test / trial 0 / HF test row 586。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https://crfm.stanford.edu/helm/classic/v0.4.0/#/groups/summarization_cnndm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記事IDと処理の違いを追跡する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配布idは取得元URLのSHA-1。HELMのid16576などはscenario内のIDで、配布idとは別の識別子。</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実際の生成例を、本文の空白整形後の完全一致により、配布test row 586へ対応付けた。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掲載した13例は固定したParquetの元レコードと照合し、記事全文・参照要約・抜粋範囲・SHA-256を保存した。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test全件の長さを空白で数えた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実行条件と実入力</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017520"/>
                <a:gridCol w="2514600"/>
                <a:gridCol w="25146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統計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記事の語数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683.51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55.01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348.39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22.52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55〜1,954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3.0.0 test 11,490件。2017年の全体報告値781 / 56 tokenとは、対象とトークン化が異なる。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abisee配布、固定revisionのtest。記事・要約の権利は各報道機関・著者に帰属。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要約の非匿名版を整備した研究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2017年の第一著者はAbigail See、最終著者はChristopher D. Manning。Peter J. LiuとともにPointer-generatorを提案した。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論文はACL 2017に掲載され、元の固有名を残したCNN / Daily Mailを使った。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正確な固有名の再現と、生成文の反復の削減を、モデルと評価例の両面から扱っている。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Get To The Point: Summarization with Pointer-Generator Networks</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Abigail See, Peter J. Liu, Christopher D. Manning · 2017 · ACL</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入力からのコピーと生成を混ぜ、coverageで反復を抑える要約方式を示す。</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https://aclanthology.org/P17-1099/</a:t>
            </a:r>
          </a:p>
        </p:txBody>
      </p:sp>
      <p:sp>
        <p:nvSpPr>
          <p:cNvPr id="8" name="TextBox 7"/>
          <p:cNvSpPr txBox="1"/>
          <p:nvPr/>
        </p:nvSpPr>
        <p:spPr>
          <a:xfrm>
            <a:off x="548640" y="2748026"/>
            <a:ext cx="8046720" cy="548640"/>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Abstractive Text Summarization using Sequence-to-sequence RNNs and Beyond</a:t>
            </a:r>
          </a:p>
        </p:txBody>
      </p:sp>
      <p:sp>
        <p:nvSpPr>
          <p:cNvPr id="9" name="TextBox 8"/>
          <p:cNvSpPr txBox="1"/>
          <p:nvPr/>
        </p:nvSpPr>
        <p:spPr>
          <a:xfrm>
            <a:off x="548640" y="3334766"/>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Ramesh Nallapati et al. · 2016 · CoNLL</a:t>
            </a:r>
          </a:p>
        </p:txBody>
      </p:sp>
      <p:sp>
        <p:nvSpPr>
          <p:cNvPr id="10" name="TextBox 9"/>
          <p:cNvSpPr txBox="1"/>
          <p:nvPr/>
        </p:nvSpPr>
        <p:spPr>
          <a:xfrm>
            <a:off x="548640" y="3586734"/>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複数文のニュース要約に、再帰型ニューラルネットワークとコピー機構を使う。</a:t>
            </a:r>
          </a:p>
        </p:txBody>
      </p:sp>
      <p:sp>
        <p:nvSpPr>
          <p:cNvPr id="11" name="TextBox 10"/>
          <p:cNvSpPr txBox="1"/>
          <p:nvPr/>
        </p:nvSpPr>
        <p:spPr>
          <a:xfrm>
            <a:off x="548640" y="3903853"/>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https://aclanthology.org/K16-1028/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548640"/>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BART: Denoising Sequence-to-Sequence Pre-training for Natural Language Generation, Translation, and Comprehension</a:t>
            </a:r>
          </a:p>
        </p:txBody>
      </p:sp>
      <p:sp>
        <p:nvSpPr>
          <p:cNvPr id="5" name="TextBox 4"/>
          <p:cNvSpPr txBox="1"/>
          <p:nvPr/>
        </p:nvSpPr>
        <p:spPr>
          <a:xfrm>
            <a:off x="548640" y="2013204"/>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Mike Lewis et al. · 2020 · ACL</a:t>
            </a:r>
          </a:p>
        </p:txBody>
      </p:sp>
      <p:sp>
        <p:nvSpPr>
          <p:cNvPr id="6" name="TextBox 5"/>
          <p:cNvSpPr txBox="1"/>
          <p:nvPr/>
        </p:nvSpPr>
        <p:spPr>
          <a:xfrm>
            <a:off x="548640" y="2265172"/>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文章の復元による事前学習を、CNN/DailyMailなどの生成課題へ適応する。</a:t>
            </a:r>
          </a:p>
        </p:txBody>
      </p:sp>
      <p:sp>
        <p:nvSpPr>
          <p:cNvPr id="7" name="TextBox 6"/>
          <p:cNvSpPr txBox="1"/>
          <p:nvPr/>
        </p:nvSpPr>
        <p:spPr>
          <a:xfrm>
            <a:off x="548640" y="2582291"/>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https://aclanthology.org/2020.acl-main.703/</a:t>
            </a:r>
          </a:p>
        </p:txBody>
      </p:sp>
      <p:sp>
        <p:nvSpPr>
          <p:cNvPr id="8" name="TextBox 7"/>
          <p:cNvSpPr txBox="1"/>
          <p:nvPr/>
        </p:nvSpPr>
        <p:spPr>
          <a:xfrm>
            <a:off x="548640" y="3008630"/>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Holistic Evaluation of Language Models</a:t>
            </a:r>
          </a:p>
        </p:txBody>
      </p:sp>
      <p:sp>
        <p:nvSpPr>
          <p:cNvPr id="9" name="TextBox 8"/>
          <p:cNvSpPr txBox="1"/>
          <p:nvPr/>
        </p:nvSpPr>
        <p:spPr>
          <a:xfrm>
            <a:off x="548640" y="3334766"/>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Percy Liang et al. · 2023 · TMLR</a:t>
            </a:r>
          </a:p>
        </p:txBody>
      </p:sp>
      <p:sp>
        <p:nvSpPr>
          <p:cNvPr id="10" name="TextBox 9"/>
          <p:cNvSpPr txBox="1"/>
          <p:nvPr/>
        </p:nvSpPr>
        <p:spPr>
          <a:xfrm>
            <a:off x="548640" y="3586734"/>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共通の適応方法と複数の指標を使って、多数の汎用言語モデルを比較する。</a:t>
            </a:r>
          </a:p>
        </p:txBody>
      </p:sp>
      <p:sp>
        <p:nvSpPr>
          <p:cNvPr id="11" name="TextBox 10"/>
          <p:cNvSpPr txBox="1"/>
          <p:nvPr/>
        </p:nvSpPr>
        <p:spPr>
          <a:xfrm>
            <a:off x="548640" y="3903853"/>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Teaching Machines to Read and Comprehend</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Karl Moritz Hermann et al. · 2015 · NeurIPS</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ニュース本文とハイライトから、固有表現を隠す大規模な読解問題を構築する。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https://arxiv.org/abs/1506.03340</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CNN / Daily Mail Dataset (non-anonymized)</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Abigail See · 公式リポジトリ</a:t>
            </a:r>
          </a:p>
        </p:txBody>
      </p:sp>
      <p:sp>
        <p:nvSpPr>
          <p:cNvPr id="10" name="TextBox 9"/>
          <p:cNvSpPr txBox="1"/>
          <p:nvPr/>
        </p:nvSpPr>
        <p:spPr>
          <a:xfrm>
            <a:off x="548640" y="3326129"/>
            <a:ext cx="8046720" cy="505206"/>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非匿名版の取得元URL一覧、本文・ハイライトの加工、データ形式への変換を公開する。</a:t>
            </a:r>
          </a:p>
        </p:txBody>
      </p:sp>
      <p:sp>
        <p:nvSpPr>
          <p:cNvPr id="11" name="TextBox 10"/>
          <p:cNvSpPr txBox="1"/>
          <p:nvPr/>
        </p:nvSpPr>
        <p:spPr>
          <a:xfrm>
            <a:off x="548640" y="3882135"/>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https://github.com/abisee/cnn-dailymail</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2026-10-18T06:48:32Z</dcterms:modified>
  <dc:title>cnn-dailymail</dc:title>
  <dc:creator>sasakiy84</dc:creator>
  <dcterms:created xsi:type="dcterms:W3CDTF">2026-10-18T06:48:32Z</dcterms:created>
  <dc:language>ja-JP</dc:language>
</cp:coreProperties>
</file>