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6" r:id="rId36"/>
    <p:sldId id="306" r:id="rId5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8" r:id="rId58"/>
    <p:sldId id="302" r:id="rId52"/>
    <p:sldId id="309" r:id="rId59"/>
    <p:sldId id="310" r:id="rId60"/>
    <p:sldId id="311" r:id="rId61"/>
    <p:sldId id="312" r:id="rId6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2" Type="http://schemas.openxmlformats.org/officeDocument/2006/relationships/slide" Target="slides/slide47.xml"/><Relationship Id="rId56" Type="http://schemas.openxmlformats.org/officeDocument/2006/relationships/slide" Target="slides/slide31.xml"/><Relationship Id="rId58" Type="http://schemas.openxmlformats.org/officeDocument/2006/relationships/slide" Target="slides/slide46.xml"/><Relationship Id="rId59" Type="http://schemas.openxmlformats.org/officeDocument/2006/relationships/slide" Target="slides/slide48.xml"/><Relationship Id="rId60" Type="http://schemas.openxmlformats.org/officeDocument/2006/relationships/slide" Target="slides/slide49.xml"/><Relationship Id="rId61" Type="http://schemas.openxmlformats.org/officeDocument/2006/relationships/slide" Target="slides/slide50.xml"/><Relationship Id="rId62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CLUEbenchmark/OCNLI" TargetMode="Externa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Relationship Id="rId3" Type="http://schemas.openxmlformats.org/officeDocument/2006/relationships/hyperlink" Target="https://github.com/CLUEbenchmark/OCNLI/blob/main/data/ocnli/dev.json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Relationship Id="rId3" Type="http://schemas.openxmlformats.org/officeDocument/2006/relationships/hyperlink" Target="https://aclanthology.org/D18-1269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OCNLI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Relationship Id="rId3" Type="http://schemas.openxmlformats.org/officeDocument/2006/relationships/hyperlink" Target="https://github.com/CLUEbenchmark/OCNLI/blob/main/ocnli/mnli_code/util/evaluate.py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CLUEbenchmark/OCNLI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ocnli/mnli_code/util/evaluate.py" TargetMode="External"/><Relationship Id="rId3" Type="http://schemas.openxmlformats.org/officeDocument/2006/relationships/hyperlink" Target="https://github.com/CLUEbenchmark/OCNLI/blob/main/data/ocnli/dev.json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/blob/main/data/ocnli/dev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LUEbenchmark/OCNLI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findings-emnlp.314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findings-emnlp.314/" TargetMode="External"/><Relationship Id="rId3" Type="http://schemas.openxmlformats.org/officeDocument/2006/relationships/hyperlink" Target="https://github.com/CLUEbenchmark/OCNLI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N18-1101/" TargetMode="External"/><Relationship Id="rId3" Type="http://schemas.openxmlformats.org/officeDocument/2006/relationships/hyperlink" Target="https://aclanthology.org/D18-1269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3.emnlp-demo.17/" TargetMode="External"/><Relationship Id="rId3" Type="http://schemas.openxmlformats.org/officeDocument/2006/relationships/hyperlink" Target="https://github.com/stanford-crfm/helm/blob/v0.4.0/src/helm/benchmark/scenarios/cleva_scenario.p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1091565"/>
          </a:xfrm>
        </p:spPr>
        <p:txBody>
          <a:bodyPr lIns="0" rIns="0" tIns="0" bIns="10160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Original Chinese Natural Language Inference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中国語の前提から、仮説が成り立つかを判断する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OCNLIを公開する公式リポジトリ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OCNLI</a:t>
            </a:r>
          </a:p>
        </p:txBody>
      </p:sp>
      <p:pic>
        <p:nvPicPr>
          <p:cNvPr id="6" name="Picture 5" descr="official-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1" y="1481328"/>
            <a:ext cx="7351776" cy="3063240"/>
          </a:xfrm>
          <a:prstGeom prst="rect">
            <a:avLst/>
          </a:prstGeom>
        </p:spPr>
      </p:pic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二つの文の関係を判定する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中国語での作成と検証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2020年の評価と残る手掛かり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入手方法とCLEVAでの利用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二つの文の関係を判定する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中国語で書かれた、前提と仮説のペア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OCNLIは、中国語の文章から選んだ前提に対し、中国語の母語話者が仮説を書いた自然言語推論データセット。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入力は前提と仮説のペア。前提を真としたときに仮説が成り立つかを、含意・矛盾・中立の3種類で答える。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2020年に公開。英語の推論問題を翻訳する方法ではなく、5文体の中国語素材と、人が中国語で書いた仮説を使う。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前提を真としたときの三つの関係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468880"/>
                <a:gridCol w="5577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ラベル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仮説との関係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entailment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前提から仮説が成り立つ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contradiction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前提と仮説が両立しない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neutral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前提だけでは仮説の真偽が決まらない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モデルは前提と仮説を読み、この3種類のいずれかを予測する。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実例1：値段の発言から販売を読み取る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篮子嘛,一块钱,一块钱啊.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这个篮子是可以卖的。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かごね、1元、1元だよ。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このかごは売ることができる。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067473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販売の場面を、発話から読み取る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値段を繰り返す発話を、かごを販売できる状況として解釈する。短い電話会話の断片から、発話の場面を読み取る例である。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仮説は前提と同じ語を写すだけではなく、値段を伝える発話の意味を表現している。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実例2：向かい合わせと背中合わせ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85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咖啡馆里面对面坐的年轻男女也是上一代的故事,她已是过来人了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男人和女人是背对背坐着的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429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喫茶店で向かい合って座る若い男女というのも、もう一世代前の話で、彼女はすでにそうした経験をしてきたのだ。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男性と女性は背中合わせに座っている。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10473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正解：矛盾（contradiction）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開発用の正解は、5人の多数決で決まる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座り方が食い違う。正解はcontradictionだが、5人の内訳は矛盾3・中立2で、全員一致ではない。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再注釈では、作成者のラベルに4人の独立した判断を加える。5人中3人以上が同じラベルを選ぶと、その多数決ラベルを正解とする。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所定の3ラベルで多数決が成立しない例には「-」を付け、通常の学習・評価では除く。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実例3：実際の開催日と、当初の予定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今天,这一受人关注的会议终于在波恩举行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这一会议原定于昨天举行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今日、注目を集めていたこの会議が、ついにボンで開催された。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この会議は当初、昨日開催される予定だった。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9226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正解：中立（neutral）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当初の予定日は、前提だけでは分からない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neutral（中立）は、前提だけでは仮説が成り立つとも、成り立たないとも決められない関係。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今日開催されたことから、昨日が当初の予定日だったとは決まらない。予定が昨日だった可能性も、別の日だった可能性も残る。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「ついに」という語があっても、当初の予定日が具体的に与えられたことにはならない。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二つの文の関係を判定する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中国語での作成と検証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英語から訳す代わりに、中国語で作る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SNLIとMNLIは、前提を示して人に仮説を書かせる英語の推論コーパス。OCNLIはMNLIの作成・再注釈の手順を中国語へ展開した。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XNLIは英語の推論問題を多言語へ翻訳した資源。一方、OCNLIは、中国語の素材から前提を集め、母語話者に仮説を書いてもらう。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翻訳調の表現や英語圏の文化的背景への偏りを避け、中国語を自然に使うときの推論を評価することを狙った。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Conneau et al. (2018). XNLI: Evaluating Cross-lingual Sentence Representations.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https://aclanthology.org/D18-1269/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書き言葉と話し言葉を、5文体から集める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6858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前提の素材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gov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中国政府の年次政府活動報告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news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LCMC（中国語コーパス）のニュース部分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現代小説2作品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対談番組「鏘鏘三人行」の書き起こし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phone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中国語Callhome電話会話の書き起こし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同じ前提から、複数の推論を引き出す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前提は8〜50文字の文から選ぶ。電話会話では、転記に使われた記号を取り除く。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Singleは、1前提につき各ラベルの仮説を1文ずつ作る。Multiは、各ラベルについて最大3文、合計最大9文を作る。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 Encourageは多様な推論や否定語を使わない矛盾を奨励する。Multi Constraintは、矛盾3文のうち否定語を含むものを1文までに制限する。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easy・medium・hardは、仮説を書く順序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easy・medium・hardは、同じ前提とラベルについて、作成者が仮説を書いた1番目・2番目・3番目を表す。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複数の仮説を書くことで、最初に思いつく単純な言い換え・否定以外の推論を引き出すことを狙った。すべての前提で3文目まで作れたわけではない。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どの条件でも、仮説が前提と70%を超えて重ならないよう指示した。文字の重なりだけで解ける問題を減らす意図がある。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母語話者が仮説を書き、別の人が確かめる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中国語または他言語を専攻する、中国語母語話者の大学生・大学院生145人が仮説を作成した。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各作成条件の一部を無作為に選び、4人が独立にラベルを付け直す。作成時のラベルを合わせて5票とし、3票以上の一致を採用する。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再注釈したMulti EncourageとMulti Constraintの計6,000組を、dev・testへ各3,000組ずつ割り当てた。残りとSingle・Multiを学習集合に使う。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50k版の学習用と開発用には、正解が付いている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2194560"/>
                <a:gridCol w="32918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分割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文ペア数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train.50k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50,486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50,437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2,950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非公開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計56,486組。学習用49組、開発用50組の「-」は評価から除く。テストは入力のみを公開し、正解は非公開。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前提が重なる50k版と、重ならない30k版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50k版では、学習用と開発用に同じ前提文が現れる。ただし、組み合わせる仮説は異なる。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前提が重ならない条件で評価するために、30k版の学習用データも提供されている。開発用・テスト用は50k版と共通である。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10k・3k版もあり、学習データを少なくしたときの成績を調べられる。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中国語での作成と検証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2020年の評価と残る手掛かり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予測ラベルが、正解と一致した割合で評価する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正答率（Accuracy）は、正解と予測のラベルが一致した文ペアの割合。「-」を除いて評価する。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公開されている開発用なら2,950組で評価できる。全てにneutralと答えるだけでも、1,103 ÷ 2,950 = 37.39%になる。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2020年のモデル成績は、学習用データで訓練・微調整し、非公開ラベルのテストで評価した値。5回の学習試行の平均と標準偏差を報告する。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Hu et al. (n.d.). OCNLI official baseline evaluation code.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https://github.com/CLUEbenchmark/OCNLI/blob/main/ocnli/mnli_code/util/evaluate.py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2020年：50k版で学習したモデルのテスト正答率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89209"/>
        </p:xfrm>
        <a:graphic>
          <a:graphicData uri="http://schemas.openxmlformats.org/drawingml/2006/table">
            <a:tbl>
              <a:tblPr firstRow="0" bandRow="0"/>
              <a:tblGrid>
                <a:gridCol w="5669280"/>
                <a:gridCol w="2377440"/>
              </a:tblGrid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方式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正答率（%）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常にneutral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38.1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CBOW：文字表現の平均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55.7 ± 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biLSTM：双方向の系列モデル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59.2 ± 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ESIM：文どうしの相互照合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59.8 ± 0.4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BERT-base（中国語）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72.2 ± 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69887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RoBERTa-large（中国語・全単語マスク）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78.2 ± 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人による評価は、テスト300組で正答率90.3%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収集・検証に参加していない中国語母語話者の学生5人が、20例で練習した後、テストから無作為に選んだ300組を判定した。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5人の多数決を正解ラベルと比較し、正答率90.3%を得た。多数決が成立しない2組には、テストで最も多いneutralを割り当てた。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2020年のRoBERTaは78.2%だった。人の成績は300組、モデルの成績は有効なテスト全体に対する値である。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仮説だけでも残る、注釈の手掛かり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246888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dev（%）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BERT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RoBERTa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529"/>
                        </a:lnSpc>
                        <a:buNone/>
                        <a:defRPr sz="22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2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前提を同じ無意味語へ置き換えて学習・評価するhypothesis-only条件。仮説に残った手掛かりだけで3ラベルを予測する。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複数仮説と制約だけで、手掛かりは消えない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仮説の「任何（どんな〜も）」「从来（これまで／かつて）」は矛盾、「至少（少なくとも）」は含意と結び付きやすかった。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Multi Constraintでは、矛盾と結び付く上位の語に否定語が現れず、代わりに「只有」「只」（〜だけ）が現れた。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語の手掛かりを抑える収集方法と、前提・仮説の関係を測る評価の両方が研究課題になる。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2020年の評価と残る手掛かり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入手方法とCLEVAでの利用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入手方法とCLEVAでの利用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CLEVAはOCNLIを、多肢選択の推論課題に採用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2023年のCLEVAは、OCNLIの文ペアを多肢選択形式にして、自然言語推論を正答率で評価する。</a:t>
            </a:r>
          </a:p>
          <a:p>
            <a:pPr marL="457200" indent="-355600">
              <a:lnSpc>
                <a:spcPts val="2499"/>
              </a:lnSpc>
              <a:spcAft>
                <a:spcPts val="7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公開論文には、本編の実例1と同じ「篮子嘛,一块钱…」と「这个篮子是可以卖的。」を使った設問が掲載されている。</a:t>
            </a:r>
          </a:p>
          <a:p>
            <a:pPr marL="457200" indent="-355600">
              <a:lnSpc>
                <a:spcPts val="2499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CLEVAで使われた全問題や抽出範囲は、公開説明からは確認できない。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入手方法とCLEVAでの利用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 (n.d.). CLEVACommonsenseReasoningScenario. HELM.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CLEVAの公開例：三つの選択肢へ変換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入手方法とCLEVAでの利用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388620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論文の原文・全選択肢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1945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735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8739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是否可以从“篮子嘛,一块钱,一块钱啊.”中推断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出“这个篮子是可以卖的。”？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总是可以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有时可以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不可以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1989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「かごね、1元、1元だよ。」から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「このかごは売ることができる。」と推論できるか。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常にできる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場合によってはできる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できない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770206"/>
            <a:ext cx="8046720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公開例の正解：A（总是可以／常にできる）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 et al. (2023). CLEVA: Chinese Language Models EVAluation Platform. EMNLP System Demonstrations.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現在の入手先と、引用文の利用条件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公式リポジトリは50k・30k・10k・3kの学習用データと、共通の開発用・正解非公開のテスト用データを公開する。CLUEの公開ZIPは50k版を収録する。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OCNLIはCC BY-NC 2.0を掲示する。帰属を示し、非商用の条件を守る。ニュースの前提はLCMCからELRAの許可を得て採用したと記される。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前提には政府報告、ニュース、小説、番組・電話会話が含まれる。引用には、データセットと原資料それぞれの出所も関わる。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入手方法とCLEVAでの利用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JSONから、前提・仮説・ラベルを読む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入手方法とCLEVAでの利用</a:t>
            </a:r>
          </a:p>
        </p:txBody>
      </p:sp>
      <p:sp>
        <p:nvSpPr>
          <p:cNvPr id="4" name="code-frame"/>
          <p:cNvSpPr/>
          <p:nvPr/>
        </p:nvSpPr>
        <p:spPr>
          <a:xfrm>
            <a:off x="548640" y="1508760"/>
            <a:ext cx="8046720" cy="1600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45296" bIns="127000"/>
          <a:lstStyle/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with open('dev.json', encoding='utf-8') as f: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pair = json.loads(next(f))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print(pair['sentence1'])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print(pair['sentence2'])</a:t>
            </a:r>
          </a:p>
          <a:p>
            <a:pPr algn="l">
              <a:lnSpc>
                <a:spcPts val="1904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print(pair['label'])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261361"/>
            <a:ext cx="7955279" cy="5461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89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1行が1組の文ペア。sentence1が前提、sentence2が仮説、labelが正解を表す。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中国語の文と、そこから分かることを結び付ける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OCNLIは、中国語の5文体から集めた前提と、人が書いた仮説の関係を、含意・矛盾・中立で判定する。</a:t>
            </a:r>
          </a:p>
          <a:p>
            <a:pPr marL="457200" indent="-355600">
              <a:lnSpc>
                <a:spcPts val="2379"/>
              </a:lnSpc>
              <a:spcAft>
                <a:spcPts val="7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複数の仮説を書かせ、否定語の使用に制約を設けることで、単純な言い換え以外の推論も引き出した。</a:t>
            </a:r>
          </a:p>
          <a:p>
            <a:pPr marL="457200" indent="-355600">
              <a:lnSpc>
                <a:spcPts val="2379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正解付きの学習用・開発用データを使って学習・評価できる。前提を共有する50k版と、前提が重ならない30k版が提供されている。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入手方法とCLEVAでの利用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686816"/>
          </a:xfrm>
        </p:spPr>
        <p:txBody>
          <a:bodyPr wrap="square" lIns="0" rIns="0" tIns="0" bIns="10160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文体と推論の追加例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学習データと参考文献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文体と推論の追加例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実例4：衣服の記述と「少なくとも」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身上裹一件工厂发的棉大衣,手插在袖筒里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身上至少一件衣服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工場から支給された綿入りの外套を身にまとい、両手を袖の中へ差し入れている。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少なくとも1着の服を身につけている。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9226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実例5：帰宅を待って外食へ行く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等他回来,我们就出去吃啊.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我们在等他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彼が帰ってきたら、私たちは外へ食べに行くんだよ。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私たちは彼を待っている。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35534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実例6：植林の量と、質を確保する義務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要狠抓造林质量不放松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种的树越多越好,至于成活率和质量并不需要考虑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植林の質の確保に、手を緩めず取り組まなければならない。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植える木は多ければ多いほどよく、活着率や質を考慮する必要はない。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9226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正解：矛盾（contradiction）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実例7：二つの謎の比較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85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他们的生活起居是一个谜,他们的生平遭际更是一个谜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他们的生平遭际比生活起居还难知道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429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彼らの日々の暮らしぶりは謎だが、これまでの人生で経験してきたことは、それ以上に謎だ。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彼らのこれまでの人生での経験は、日々の暮らしぶりよりも、いっそう分かりにくい。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10473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実例8：社会との接触と時代の変化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4732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我现在觉得,有些事你要是老不出去接触社会,山中方七日,世上已千年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要出去多接触社会,才能跟上时代。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52476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今は思うんだ。ずっと外へ出ず、社会と関わらずにいると、山の中ではたった7日でも、世間ではもう千年が過ぎている、ということがある。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社会ともっと関わらなければ、時代についていけない。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54500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実例9：番組への再登場と初出演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因为咱们请来了一个真正的专家,李玫瑾老师,每次观众都知道李老师一来,大的案件就发生了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李玫瑾老师第一次参加这个节目。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429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本当の専門家である李玫瑾先生をお招きしたからだ。視聴者はいつも、李先生が来ると大きな事件が起きたのだと分かる。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李玫瑾先生はこの番組に初めて出演する。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10473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正解：矛盾（contradiction）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実例10：畏れと、怖さの言い換え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心里有些生畏,又不知畏惧什么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有点感到害怕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185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心の中で少し畏れを感じるが、何を畏れているのかは分からない。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少し怖いと感じている。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634739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正解：含意（entailment）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実例11：政策の改善と、優先順位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5748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完善加工贸易政策体系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完善加工贸易政策体系是当下最重要的任务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2142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加工貿易の政策体系を改善する。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加工貿易の政策体系を改善することは、今、最も重要な任務である。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9226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正解：中立（neutral）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実例12：曜日の発言と持ち物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0916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91640"/>
            <a:ext cx="3886200" cy="12869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嗯,今天星期六我们这儿,嗯哼.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说话人有一本日历</a:t>
            </a:r>
          </a:p>
        </p:txBody>
      </p:sp>
      <p:sp>
        <p:nvSpPr>
          <p:cNvPr id="7" name="quote-frame"/>
          <p:cNvSpPr/>
          <p:nvPr/>
        </p:nvSpPr>
        <p:spPr>
          <a:xfrm>
            <a:off x="4709160" y="1691640"/>
            <a:ext cx="3886200" cy="185419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61806" bIns="127000">
            <a:noAutofit/>
          </a:bodyPr>
          <a:lstStyle/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うん、今日はこちらでは土曜日なんだ、うん。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261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話し手はカレンダーを1冊持っている。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3634739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正解：中立（neutral）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実例13：国有資産の管理と資産評価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文体と推論の追加例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原文（前提・仮説とも全文）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353312"/>
            <a:ext cx="388620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404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15440"/>
            <a:ext cx="3566160" cy="19896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要切实加强国有资产管理,做好清产核资工作,保证国有资产保值增值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清产核资工作做不好,国有资产增值保值也可以实现。</a:t>
            </a:r>
          </a:p>
        </p:txBody>
      </p:sp>
      <p:sp>
        <p:nvSpPr>
          <p:cNvPr id="7" name="quote-frame"/>
          <p:cNvSpPr/>
          <p:nvPr/>
        </p:nvSpPr>
        <p:spPr>
          <a:xfrm>
            <a:off x="4389120" y="1615440"/>
            <a:ext cx="4206240" cy="2523066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70273" bIns="127000">
            <a:noAutofit/>
          </a:bodyPr>
          <a:lstStyle/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前提：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国有資産の管理を確実に強化し、資産の調査・評価を適切に行い、国有資産の価値の維持と増大を保証しなければならない。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仮説：</a:t>
            </a:r>
          </a:p>
          <a:p>
            <a:pPr algn="l">
              <a:lnSpc>
                <a:spcPts val="2082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資産の調査・評価を適切に行わなくても、国有資産の価値の維持と増大は実現できる。</a:t>
            </a:r>
          </a:p>
        </p:txBody>
      </p:sp>
      <p:sp>
        <p:nvSpPr>
          <p:cNvPr id="8" name="answer"/>
          <p:cNvSpPr txBox="1"/>
          <p:nvPr/>
        </p:nvSpPr>
        <p:spPr>
          <a:xfrm>
            <a:off x="548640" y="4227406"/>
            <a:ext cx="8046720" cy="3840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57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正解：矛盾（contradiction）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public development data. CC BY-NC 2.0.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https://github.com/CLUEbenchmark/OCNLI/blob/main/data/ocnli/dev.json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学習データと参考文献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学習用は、50k・30k・10k・3kの4規模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8600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246888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文ペア数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正解付き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train.50k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50,486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50,437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train.30k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30,286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30,237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train.10k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9,985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train.3k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2,994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959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30k・10k・3kは50kの部分集合。開発用・テスト用は共通。ラベルが「-」の文ペアは学習・評価から除く。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(n.d.). OCNLI official repository.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言語・論理・評価を結び付けた共同研究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Hai Hu、Kyle Richardson、Liang Xu、Lu Li、Sandra Kübler、Lawrence S. Mossによる、Indiana University・Allen Institute for AI・CLUEの共同研究。</a:t>
            </a:r>
          </a:p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Findings of EMNLP 2020で発表された。翻訳へ依存せず、母語話者の推論と再注釈を中国語の基準として整備した。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教師ありモデルの成績だけでなく、仮説のみの語彙的な手掛かりや、翻訳学習データからの転移を分析した。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Hu et al. (2020). OCNLI: Original Chinese Natural Language Inference. Findings of EMNLP.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9888"/>
            <a:ext cx="8046720" cy="2807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OCNLI: Original Chinese Natural Language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08785"/>
            <a:ext cx="8046720" cy="3604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Hai Hu, Kyle Richardson, Liang Xu, Lu Li, Sandra Kübler, Lawrence S. Moss · 2020 · Findings of EMNLP, pp.3512–3526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20011"/>
            <a:ext cx="8046720" cy="49072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中国語の前提と仮説を収集し、多数決による検証、モデル成績、注釈の手掛かりを分析する。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539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https://aclanthology.org/2020.findings-emnlp.314/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0446"/>
            <a:ext cx="8046720" cy="2807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OCNLI — Original Chinese Natural Language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79343"/>
            <a:ext cx="8046720" cy="19392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CLUEbenchmark / Hu et al. (n.d.). 公式リポジトリ。参照2026-10-19。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24072"/>
            <a:ext cx="8046720" cy="49072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学習用4規模、共通dev・入力のみのtest、形式・baseline・CC BY-NC 2.0の条件を公開する。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5600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https://github.com/CLUEbenchmark/OCNLI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9888"/>
            <a:ext cx="8046720" cy="5341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 Broad-Coverage Challenge Corpus for Sentence Understanding through Inference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2150"/>
            <a:ext cx="8046720" cy="19392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Adina Williams, Nikita Nangia, Samuel R. Bowman · 2018 · NAACL-HLT, pp.1112–1122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06879"/>
            <a:ext cx="8046720" cy="259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複数文体の英語を前提に、仮説の作成と再注釈で構築したMultiNLIを報告する。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6759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https://aclanthology.org/N18-1101/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15666"/>
            <a:ext cx="8046720" cy="2807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XNLI: Evaluating Cross-lingual Sentence Representations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34563"/>
            <a:ext cx="8046720" cy="3604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Alexis Conneau, Ruty Rinott, Guillaume Lample, Adina Williams, Samuel R. Bowman, Holger Schwenk, Veselin Stoyanov · 2018 · EMNLP, pp.2475–2485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45789"/>
            <a:ext cx="8046720" cy="259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英語の推論問題を15言語へ展開し、言語をまたぐ文表現の評価に用いる。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55669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https://aclanthology.org/D18-1269/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学習データと参考文献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9888"/>
            <a:ext cx="8046720" cy="2807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CLEVA: Chinese Language Models EVAluation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08785"/>
            <a:ext cx="8046720" cy="36042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Yanyang Li, Jianqiao Zhao, Duo Zheng, Zi-Yuan Hu, Zhi Chen, Xiaohui Su, Yongfeng Huang, Shijia Huang, Dahua Lin, Michael R. Lyu, Liwei Wang · 2023 · EMNLP System Demonstrations, pp.186–217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20011"/>
            <a:ext cx="8046720" cy="49072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中国語モデルの31課題を統一評価し、OCNLI由来の自然言語推論を多肢選択として採用する。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61539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https://aclanthology.org/2023.emnlp-demo.17/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60446"/>
            <a:ext cx="8046720" cy="2807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99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 Scenarios — HELM v0.4.0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79343"/>
            <a:ext cx="8046720" cy="19392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Stanford CRFM (n.d.). HELM。参照2026-10-19。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24072"/>
            <a:ext cx="8046720" cy="49072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3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CLEVAのデータとテンプレートを読み、入力・選択肢・正解をHELMのInstanceへ変換する。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5600"/>
            <a:ext cx="8046720" cy="1794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  <a:buNone/>
              <a:defRPr sz="1050" b="0">
                <a:solidFill>
                  <a:srgbClr val="303437"/>
                </a:solidFill>
                <a:latin typeface="Noto Sans"/>
              </a:defRPr>
            </a:pPr>
            <a:r>
              <a:rPr sz="10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https://github.com/stanford-crfm/helm/blob/v0.4.0/src/helm/benchmark/scenarios/cleva_scenario.py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2026-10-18T09:29:18Z</dcterms:modified>
  <dc:title>ocnli</dc:title>
  <dc:creator>sasakiy84</dc:creator>
  <dcterms:created xsi:type="dcterms:W3CDTF">2026-10-18T09:29:18Z</dcterms:created>
  <dc:language>ja-JP</dc:language>
</cp:coreProperties>
</file>