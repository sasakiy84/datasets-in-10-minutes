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339" r:id="rId75"/>
    <p:sldId id="340" r:id="rId71"/>
    <p:sldId id="341" r:id="rId55"/>
    <p:sldId id="342" r:id="rId81"/>
    <p:sldId id="343" r:id="rId82"/>
    <p:sldId id="344" r:id="rId83"/>
    <p:sldId id="264" r:id="rId2"/>
    <p:sldId id="265" r:id="rId15"/>
    <p:sldId id="266" r:id="rId16"/>
    <p:sldId id="345" r:id="rId84"/>
    <p:sldId id="346" r:id="rId51"/>
    <p:sldId id="347" r:id="rId40"/>
    <p:sldId id="348" r:id="rId39"/>
    <p:sldId id="349" r:id="rId3"/>
    <p:sldId id="268" r:id="rId18"/>
    <p:sldId id="269" r:id="rId19"/>
    <p:sldId id="270" r:id="rId20"/>
    <p:sldId id="350" r:id="rId89"/>
    <p:sldId id="351" r:id="rId90"/>
    <p:sldId id="352" r:id="rId91"/>
    <p:sldId id="353" r:id="rId92"/>
    <p:sldId id="354" r:id="rId93"/>
    <p:sldId id="355" r:id="rId94"/>
    <p:sldId id="356" r:id="rId95"/>
    <p:sldId id="357" r:id="rId96"/>
    <p:sldId id="358" r:id="rId97"/>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91" r:id="rId41"/>
    <p:sldId id="292" r:id="rId42"/>
    <p:sldId id="293" r:id="rId43"/>
    <p:sldId id="294" r:id="rId44"/>
    <p:sldId id="295" r:id="rId45"/>
    <p:sldId id="296" r:id="rId46"/>
    <p:sldId id="359" r:id="rId98"/>
    <p:sldId id="360" r:id="rId99"/>
    <p:sldId id="361" r:id="rId100"/>
    <p:sldId id="298" r:id="rId48"/>
    <p:sldId id="299" r:id="rId49"/>
    <p:sldId id="362" r:id="rId101"/>
    <p:sldId id="363" r:id="rId102"/>
    <p:sldId id="364" r:id="rId103"/>
    <p:sldId id="365" r:id="rId104"/>
    <p:sldId id="302" r:id="rId52"/>
    <p:sldId id="303" r:id="rId53"/>
    <p:sldId id="366" r:id="rId105"/>
    <p:sldId id="367" r:id="rId106"/>
    <p:sldId id="368" r:id="rId107"/>
    <p:sldId id="369" r:id="rId108"/>
    <p:sldId id="370" r:id="rId109"/>
    <p:sldId id="306" r:id="rId56"/>
    <p:sldId id="307" r:id="rId57"/>
    <p:sldId id="371" r:id="rId110"/>
    <p:sldId id="372" r:id="rId111"/>
    <p:sldId id="373" r:id="rId112"/>
    <p:sldId id="374" r:id="rId113"/>
    <p:sldId id="375" r:id="rId114"/>
    <p:sldId id="376" r:id="rId115"/>
    <p:sldId id="377" r:id="rId116"/>
    <p:sldId id="378" r:id="rId117"/>
    <p:sldId id="309" r:id="rId59"/>
    <p:sldId id="310" r:id="rId60"/>
    <p:sldId id="379" r:id="rId118"/>
    <p:sldId id="380" r:id="rId119"/>
    <p:sldId id="381" r:id="rId120"/>
    <p:sldId id="382" r:id="rId121"/>
    <p:sldId id="383" r:id="rId122"/>
    <p:sldId id="384" r:id="rId123"/>
    <p:sldId id="385" r:id="rId124"/>
    <p:sldId id="386" r:id="rId125"/>
    <p:sldId id="312" r:id="rId62"/>
    <p:sldId id="313" r:id="rId63"/>
    <p:sldId id="387" r:id="rId126"/>
    <p:sldId id="388" r:id="rId127"/>
    <p:sldId id="389" r:id="rId128"/>
    <p:sldId id="390" r:id="rId129"/>
    <p:sldId id="391" r:id="rId130"/>
    <p:sldId id="315" r:id="rId65"/>
    <p:sldId id="316" r:id="rId66"/>
    <p:sldId id="392" r:id="rId131"/>
    <p:sldId id="393" r:id="rId132"/>
    <p:sldId id="394" r:id="rId133"/>
    <p:sldId id="395" r:id="rId134"/>
    <p:sldId id="396" r:id="rId135"/>
    <p:sldId id="318" r:id="rId68"/>
    <p:sldId id="319" r:id="rId69"/>
    <p:sldId id="397" r:id="rId136"/>
    <p:sldId id="398" r:id="rId137"/>
    <p:sldId id="399" r:id="rId138"/>
    <p:sldId id="400" r:id="rId139"/>
    <p:sldId id="322" r:id="rId72"/>
    <p:sldId id="323" r:id="rId73"/>
    <p:sldId id="401" r:id="rId140"/>
    <p:sldId id="402" r:id="rId141"/>
    <p:sldId id="403" r:id="rId142"/>
    <p:sldId id="404" r:id="rId143"/>
    <p:sldId id="405" r:id="rId144"/>
    <p:sldId id="406" r:id="rId145"/>
    <p:sldId id="407" r:id="rId146"/>
    <p:sldId id="408" r:id="rId147"/>
    <p:sldId id="409" r:id="rId148"/>
    <p:sldId id="326" r:id="rId76"/>
    <p:sldId id="327" r:id="rId77"/>
    <p:sldId id="410" r:id="rId149"/>
    <p:sldId id="411" r:id="rId150"/>
    <p:sldId id="412" r:id="rId151"/>
    <p:sldId id="413" r:id="rId152"/>
    <p:sldId id="414" r:id="rId153"/>
    <p:sldId id="415" r:id="rId154"/>
    <p:sldId id="416" r:id="rId155"/>
    <p:sldId id="329" r:id="rId79"/>
    <p:sldId id="330" r:id="rId80"/>
    <p:sldId id="335" r:id="rId85"/>
    <p:sldId id="336" r:id="rId86"/>
    <p:sldId id="337" r:id="rId87"/>
    <p:sldId id="338" r:id="rId8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20.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2" Type="http://schemas.openxmlformats.org/officeDocument/2006/relationships/slide" Target="slides/slide33.xml"/><Relationship Id="rId23" Type="http://schemas.openxmlformats.org/officeDocument/2006/relationships/slide" Target="slides/slide34.xml"/><Relationship Id="rId24" Type="http://schemas.openxmlformats.org/officeDocument/2006/relationships/slide" Target="slides/slide35.xml"/><Relationship Id="rId25" Type="http://schemas.openxmlformats.org/officeDocument/2006/relationships/slide" Target="slides/slide36.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39.xml"/><Relationship Id="rId29" Type="http://schemas.openxmlformats.org/officeDocument/2006/relationships/slide" Target="slides/slide40.xml"/><Relationship Id="rId30" Type="http://schemas.openxmlformats.org/officeDocument/2006/relationships/slide" Target="slides/slide41.xml"/><Relationship Id="rId31" Type="http://schemas.openxmlformats.org/officeDocument/2006/relationships/slide" Target="slides/slide42.xml"/><Relationship Id="rId32" Type="http://schemas.openxmlformats.org/officeDocument/2006/relationships/slide" Target="slides/slide43.xml"/><Relationship Id="rId33" Type="http://schemas.openxmlformats.org/officeDocument/2006/relationships/slide" Target="slides/slide44.xml"/><Relationship Id="rId34" Type="http://schemas.openxmlformats.org/officeDocument/2006/relationships/slide" Target="slides/slide45.xml"/><Relationship Id="rId35" Type="http://schemas.openxmlformats.org/officeDocument/2006/relationships/slide" Target="slides/slide46.xml"/><Relationship Id="rId36" Type="http://schemas.openxmlformats.org/officeDocument/2006/relationships/slide" Target="slides/slide47.xml"/><Relationship Id="rId37" Type="http://schemas.openxmlformats.org/officeDocument/2006/relationships/slide" Target="slides/slide48.xml"/><Relationship Id="rId38" Type="http://schemas.openxmlformats.org/officeDocument/2006/relationships/slide" Target="slides/slide49.xml"/><Relationship Id="rId39" Type="http://schemas.openxmlformats.org/officeDocument/2006/relationships/slide" Target="slides/slide19.xml"/><Relationship Id="rId40" Type="http://schemas.openxmlformats.org/officeDocument/2006/relationships/slide" Target="slides/slide18.xml"/><Relationship Id="rId41" Type="http://schemas.openxmlformats.org/officeDocument/2006/relationships/slide" Target="slides/slide50.xml"/><Relationship Id="rId42" Type="http://schemas.openxmlformats.org/officeDocument/2006/relationships/slide" Target="slides/slide51.xml"/><Relationship Id="rId43" Type="http://schemas.openxmlformats.org/officeDocument/2006/relationships/slide" Target="slides/slide52.xml"/><Relationship Id="rId44" Type="http://schemas.openxmlformats.org/officeDocument/2006/relationships/slide" Target="slides/slide53.xml"/><Relationship Id="rId45" Type="http://schemas.openxmlformats.org/officeDocument/2006/relationships/slide" Target="slides/slide54.xml"/><Relationship Id="rId46" Type="http://schemas.openxmlformats.org/officeDocument/2006/relationships/slide" Target="slides/slide55.xml"/><Relationship Id="rId48" Type="http://schemas.openxmlformats.org/officeDocument/2006/relationships/slide" Target="slides/slide59.xml"/><Relationship Id="rId49" Type="http://schemas.openxmlformats.org/officeDocument/2006/relationships/slide" Target="slides/slide60.xml"/><Relationship Id="rId51" Type="http://schemas.openxmlformats.org/officeDocument/2006/relationships/slide" Target="slides/slide17.xml"/><Relationship Id="rId52" Type="http://schemas.openxmlformats.org/officeDocument/2006/relationships/slide" Target="slides/slide65.xml"/><Relationship Id="rId53" Type="http://schemas.openxmlformats.org/officeDocument/2006/relationships/slide" Target="slides/slide66.xml"/><Relationship Id="rId55" Type="http://schemas.openxmlformats.org/officeDocument/2006/relationships/slide" Target="slides/slide9.xml"/><Relationship Id="rId56" Type="http://schemas.openxmlformats.org/officeDocument/2006/relationships/slide" Target="slides/slide72.xml"/><Relationship Id="rId57" Type="http://schemas.openxmlformats.org/officeDocument/2006/relationships/slide" Target="slides/slide73.xml"/><Relationship Id="rId59" Type="http://schemas.openxmlformats.org/officeDocument/2006/relationships/slide" Target="slides/slide82.xml"/><Relationship Id="rId60" Type="http://schemas.openxmlformats.org/officeDocument/2006/relationships/slide" Target="slides/slide83.xml"/><Relationship Id="rId62" Type="http://schemas.openxmlformats.org/officeDocument/2006/relationships/slide" Target="slides/slide92.xml"/><Relationship Id="rId63" Type="http://schemas.openxmlformats.org/officeDocument/2006/relationships/slide" Target="slides/slide93.xml"/><Relationship Id="rId65" Type="http://schemas.openxmlformats.org/officeDocument/2006/relationships/slide" Target="slides/slide99.xml"/><Relationship Id="rId66" Type="http://schemas.openxmlformats.org/officeDocument/2006/relationships/slide" Target="slides/slide100.xml"/><Relationship Id="rId68" Type="http://schemas.openxmlformats.org/officeDocument/2006/relationships/slide" Target="slides/slide106.xml"/><Relationship Id="rId69" Type="http://schemas.openxmlformats.org/officeDocument/2006/relationships/slide" Target="slides/slide107.xml"/><Relationship Id="rId71" Type="http://schemas.openxmlformats.org/officeDocument/2006/relationships/slide" Target="slides/slide8.xml"/><Relationship Id="rId72" Type="http://schemas.openxmlformats.org/officeDocument/2006/relationships/slide" Target="slides/slide112.xml"/><Relationship Id="rId73" Type="http://schemas.openxmlformats.org/officeDocument/2006/relationships/slide" Target="slides/slide113.xml"/><Relationship Id="rId75" Type="http://schemas.openxmlformats.org/officeDocument/2006/relationships/slide" Target="slides/slide7.xml"/><Relationship Id="rId76" Type="http://schemas.openxmlformats.org/officeDocument/2006/relationships/slide" Target="slides/slide123.xml"/><Relationship Id="rId77" Type="http://schemas.openxmlformats.org/officeDocument/2006/relationships/slide" Target="slides/slide124.xml"/><Relationship Id="rId79" Type="http://schemas.openxmlformats.org/officeDocument/2006/relationships/slide" Target="slides/slide132.xml"/><Relationship Id="rId80" Type="http://schemas.openxmlformats.org/officeDocument/2006/relationships/slide" Target="slides/slide133.xml"/><Relationship Id="rId81" Type="http://schemas.openxmlformats.org/officeDocument/2006/relationships/slide" Target="slides/slide10.xml"/><Relationship Id="rId82" Type="http://schemas.openxmlformats.org/officeDocument/2006/relationships/slide" Target="slides/slide11.xml"/><Relationship Id="rId83" Type="http://schemas.openxmlformats.org/officeDocument/2006/relationships/slide" Target="slides/slide12.xml"/><Relationship Id="rId84" Type="http://schemas.openxmlformats.org/officeDocument/2006/relationships/slide" Target="slides/slide16.xml"/><Relationship Id="rId85" Type="http://schemas.openxmlformats.org/officeDocument/2006/relationships/slide" Target="slides/slide134.xml"/><Relationship Id="rId86" Type="http://schemas.openxmlformats.org/officeDocument/2006/relationships/slide" Target="slides/slide135.xml"/><Relationship Id="rId87" Type="http://schemas.openxmlformats.org/officeDocument/2006/relationships/slide" Target="slides/slide136.xml"/><Relationship Id="rId88" Type="http://schemas.openxmlformats.org/officeDocument/2006/relationships/slide" Target="slides/slide137.xml"/><Relationship Id="rId89" Type="http://schemas.openxmlformats.org/officeDocument/2006/relationships/slide" Target="slides/slide24.xml"/><Relationship Id="rId90" Type="http://schemas.openxmlformats.org/officeDocument/2006/relationships/slide" Target="slides/slide25.xml"/><Relationship Id="rId91" Type="http://schemas.openxmlformats.org/officeDocument/2006/relationships/slide" Target="slides/slide26.xml"/><Relationship Id="rId92" Type="http://schemas.openxmlformats.org/officeDocument/2006/relationships/slide" Target="slides/slide27.xml"/><Relationship Id="rId93" Type="http://schemas.openxmlformats.org/officeDocument/2006/relationships/slide" Target="slides/slide28.xml"/><Relationship Id="rId94" Type="http://schemas.openxmlformats.org/officeDocument/2006/relationships/slide" Target="slides/slide29.xml"/><Relationship Id="rId95" Type="http://schemas.openxmlformats.org/officeDocument/2006/relationships/slide" Target="slides/slide30.xml"/><Relationship Id="rId96" Type="http://schemas.openxmlformats.org/officeDocument/2006/relationships/slide" Target="slides/slide31.xml"/><Relationship Id="rId97" Type="http://schemas.openxmlformats.org/officeDocument/2006/relationships/slide" Target="slides/slide32.xml"/><Relationship Id="rId98" Type="http://schemas.openxmlformats.org/officeDocument/2006/relationships/slide" Target="slides/slide56.xml"/><Relationship Id="rId99" Type="http://schemas.openxmlformats.org/officeDocument/2006/relationships/slide" Target="slides/slide57.xml"/><Relationship Id="rId100" Type="http://schemas.openxmlformats.org/officeDocument/2006/relationships/slide" Target="slides/slide58.xml"/><Relationship Id="rId101" Type="http://schemas.openxmlformats.org/officeDocument/2006/relationships/slide" Target="slides/slide61.xml"/><Relationship Id="rId102" Type="http://schemas.openxmlformats.org/officeDocument/2006/relationships/slide" Target="slides/slide62.xml"/><Relationship Id="rId103" Type="http://schemas.openxmlformats.org/officeDocument/2006/relationships/slide" Target="slides/slide63.xml"/><Relationship Id="rId104" Type="http://schemas.openxmlformats.org/officeDocument/2006/relationships/slide" Target="slides/slide64.xml"/><Relationship Id="rId105" Type="http://schemas.openxmlformats.org/officeDocument/2006/relationships/slide" Target="slides/slide67.xml"/><Relationship Id="rId106" Type="http://schemas.openxmlformats.org/officeDocument/2006/relationships/slide" Target="slides/slide68.xml"/><Relationship Id="rId107" Type="http://schemas.openxmlformats.org/officeDocument/2006/relationships/slide" Target="slides/slide69.xml"/><Relationship Id="rId108" Type="http://schemas.openxmlformats.org/officeDocument/2006/relationships/slide" Target="slides/slide70.xml"/><Relationship Id="rId109" Type="http://schemas.openxmlformats.org/officeDocument/2006/relationships/slide" Target="slides/slide71.xml"/><Relationship Id="rId110" Type="http://schemas.openxmlformats.org/officeDocument/2006/relationships/slide" Target="slides/slide74.xml"/><Relationship Id="rId111" Type="http://schemas.openxmlformats.org/officeDocument/2006/relationships/slide" Target="slides/slide75.xml"/><Relationship Id="rId112" Type="http://schemas.openxmlformats.org/officeDocument/2006/relationships/slide" Target="slides/slide76.xml"/><Relationship Id="rId113" Type="http://schemas.openxmlformats.org/officeDocument/2006/relationships/slide" Target="slides/slide77.xml"/><Relationship Id="rId114" Type="http://schemas.openxmlformats.org/officeDocument/2006/relationships/slide" Target="slides/slide78.xml"/><Relationship Id="rId115" Type="http://schemas.openxmlformats.org/officeDocument/2006/relationships/slide" Target="slides/slide79.xml"/><Relationship Id="rId116" Type="http://schemas.openxmlformats.org/officeDocument/2006/relationships/slide" Target="slides/slide80.xml"/><Relationship Id="rId117" Type="http://schemas.openxmlformats.org/officeDocument/2006/relationships/slide" Target="slides/slide81.xml"/><Relationship Id="rId118" Type="http://schemas.openxmlformats.org/officeDocument/2006/relationships/slide" Target="slides/slide84.xml"/><Relationship Id="rId119" Type="http://schemas.openxmlformats.org/officeDocument/2006/relationships/slide" Target="slides/slide85.xml"/><Relationship Id="rId120" Type="http://schemas.openxmlformats.org/officeDocument/2006/relationships/slide" Target="slides/slide86.xml"/><Relationship Id="rId121" Type="http://schemas.openxmlformats.org/officeDocument/2006/relationships/slide" Target="slides/slide87.xml"/><Relationship Id="rId122" Type="http://schemas.openxmlformats.org/officeDocument/2006/relationships/slide" Target="slides/slide88.xml"/><Relationship Id="rId123" Type="http://schemas.openxmlformats.org/officeDocument/2006/relationships/slide" Target="slides/slide89.xml"/><Relationship Id="rId124" Type="http://schemas.openxmlformats.org/officeDocument/2006/relationships/slide" Target="slides/slide90.xml"/><Relationship Id="rId125" Type="http://schemas.openxmlformats.org/officeDocument/2006/relationships/slide" Target="slides/slide91.xml"/><Relationship Id="rId126" Type="http://schemas.openxmlformats.org/officeDocument/2006/relationships/slide" Target="slides/slide94.xml"/><Relationship Id="rId127" Type="http://schemas.openxmlformats.org/officeDocument/2006/relationships/slide" Target="slides/slide95.xml"/><Relationship Id="rId128" Type="http://schemas.openxmlformats.org/officeDocument/2006/relationships/slide" Target="slides/slide96.xml"/><Relationship Id="rId129" Type="http://schemas.openxmlformats.org/officeDocument/2006/relationships/slide" Target="slides/slide97.xml"/><Relationship Id="rId130" Type="http://schemas.openxmlformats.org/officeDocument/2006/relationships/slide" Target="slides/slide98.xml"/><Relationship Id="rId131" Type="http://schemas.openxmlformats.org/officeDocument/2006/relationships/slide" Target="slides/slide101.xml"/><Relationship Id="rId132" Type="http://schemas.openxmlformats.org/officeDocument/2006/relationships/slide" Target="slides/slide102.xml"/><Relationship Id="rId133" Type="http://schemas.openxmlformats.org/officeDocument/2006/relationships/slide" Target="slides/slide103.xml"/><Relationship Id="rId134" Type="http://schemas.openxmlformats.org/officeDocument/2006/relationships/slide" Target="slides/slide104.xml"/><Relationship Id="rId135" Type="http://schemas.openxmlformats.org/officeDocument/2006/relationships/slide" Target="slides/slide105.xml"/><Relationship Id="rId136" Type="http://schemas.openxmlformats.org/officeDocument/2006/relationships/slide" Target="slides/slide108.xml"/><Relationship Id="rId137" Type="http://schemas.openxmlformats.org/officeDocument/2006/relationships/slide" Target="slides/slide109.xml"/><Relationship Id="rId138" Type="http://schemas.openxmlformats.org/officeDocument/2006/relationships/slide" Target="slides/slide110.xml"/><Relationship Id="rId139" Type="http://schemas.openxmlformats.org/officeDocument/2006/relationships/slide" Target="slides/slide111.xml"/><Relationship Id="rId140" Type="http://schemas.openxmlformats.org/officeDocument/2006/relationships/slide" Target="slides/slide114.xml"/><Relationship Id="rId141" Type="http://schemas.openxmlformats.org/officeDocument/2006/relationships/slide" Target="slides/slide115.xml"/><Relationship Id="rId142" Type="http://schemas.openxmlformats.org/officeDocument/2006/relationships/slide" Target="slides/slide116.xml"/><Relationship Id="rId143" Type="http://schemas.openxmlformats.org/officeDocument/2006/relationships/slide" Target="slides/slide117.xml"/><Relationship Id="rId144" Type="http://schemas.openxmlformats.org/officeDocument/2006/relationships/slide" Target="slides/slide118.xml"/><Relationship Id="rId145" Type="http://schemas.openxmlformats.org/officeDocument/2006/relationships/slide" Target="slides/slide119.xml"/><Relationship Id="rId146" Type="http://schemas.openxmlformats.org/officeDocument/2006/relationships/slide" Target="slides/slide120.xml"/><Relationship Id="rId147" Type="http://schemas.openxmlformats.org/officeDocument/2006/relationships/slide" Target="slides/slide121.xml"/><Relationship Id="rId148" Type="http://schemas.openxmlformats.org/officeDocument/2006/relationships/slide" Target="slides/slide122.xml"/><Relationship Id="rId149" Type="http://schemas.openxmlformats.org/officeDocument/2006/relationships/slide" Target="slides/slide125.xml"/><Relationship Id="rId150" Type="http://schemas.openxmlformats.org/officeDocument/2006/relationships/slide" Target="slides/slide126.xml"/><Relationship Id="rId151" Type="http://schemas.openxmlformats.org/officeDocument/2006/relationships/slide" Target="slides/slide127.xml"/><Relationship Id="rId152" Type="http://schemas.openxmlformats.org/officeDocument/2006/relationships/slide" Target="slides/slide128.xml"/><Relationship Id="rId153" Type="http://schemas.openxmlformats.org/officeDocument/2006/relationships/slide" Target="slides/slide129.xml"/><Relationship Id="rId154" Type="http://schemas.openxmlformats.org/officeDocument/2006/relationships/slide" Target="slides/slide130.xml"/><Relationship Id="rId155" Type="http://schemas.openxmlformats.org/officeDocument/2006/relationships/slide" Target="slides/slide1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法案数</c:v>
                </c:pt>
              </c:strCache>
            </c:strRef>
          </c:tx>
          <c:spPr>
            <a:solidFill>
              <a:srgbClr val="2C9100"/>
            </a:solidFill>
            <a:ln>
              <a:noFill/>
            </a:ln>
          </c:spPr>
          <c:cat>
            <c:strRef>
              <c:f>Sheet1!$A$2:$A$7</c:f>
              <c:strCache>
                <c:ptCount val="6"/>
                <c:pt idx="0">
                  <c:v>500語未満</c:v>
                </c:pt>
                <c:pt idx="1">
                  <c:v>500–999</c:v>
                </c:pt>
                <c:pt idx="2">
                  <c:v>1,000–1,499</c:v>
                </c:pt>
                <c:pt idx="3">
                  <c:v>1,500–1,999</c:v>
                </c:pt>
                <c:pt idx="4">
                  <c:v>2,000–2,999</c:v>
                </c:pt>
                <c:pt idx="5">
                  <c:v>3,000語以上</c:v>
                </c:pt>
              </c:strCache>
            </c:strRef>
          </c:cat>
          <c:val>
            <c:numRef>
              <c:f>Sheet1!$B$2:$B$7</c:f>
              <c:numCache>
                <c:formatCode>General</c:formatCode>
                <c:ptCount val="6"/>
                <c:pt idx="0">
                  <c:v>16.0</c:v>
                </c:pt>
                <c:pt idx="1">
                  <c:v>1232.0</c:v>
                </c:pt>
                <c:pt idx="2">
                  <c:v>1003.0</c:v>
                </c:pt>
                <c:pt idx="3">
                  <c:v>607.0</c:v>
                </c:pt>
                <c:pt idx="4">
                  <c:v>411.0</c:v>
                </c:pt>
                <c:pt idx="5">
                  <c:v>0.0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FiscalNote/BillSu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FiscalNote/billsu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FiscalNote/BillSum" TargetMode="External"/><Relationship Id="rId3" Type="http://schemas.openxmlformats.org/officeDocument/2006/relationships/hyperlink" Target="https://huggingface.co/datasets/FiscalNote/billsu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 Id="rId3" Type="http://schemas.openxmlformats.org/officeDocument/2006/relationships/hyperlink" Target="https://aclanthology.org/W04-1013/" TargetMode="Externa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iscalNote/BillSum" TargetMode="External"/><Relationship Id="rId3" Type="http://schemas.openxmlformats.org/officeDocument/2006/relationships/hyperlink" Target="https://huggingface.co/datasets/FiscalNote/billsu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BillSum</a:t>
            </a:r>
          </a:p>
        </p:txBody>
      </p:sp>
      <p:sp>
        <p:nvSpPr>
          <p:cNvPr id="3" name="Subtitle 2"/>
          <p:cNvSpPr>
            <a:spLocks noGrp="1"/>
          </p:cNvSpPr>
          <p:nvPr>
            <p:ph type="subTitle" idx="1"/>
          </p:nvPr>
        </p:nvSpPr>
        <p:spPr>
          <a:xfrm>
            <a:off x="548640" y="2647277"/>
            <a:ext cx="8046720" cy="109156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 Corpus for Automatic Summarization of US Legislation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米国の法案本文から、変更の要点をまとめる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BillSum</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BillSum公式リポジトリ。</a:t>
            </a:r>
            <a:r>
              <a:rPr sz="810" b="0" lang="ja-JP" altLang="en-US">
                <a:solidFill>
                  <a:srgbClr val="626669"/>
                </a:solidFill>
                <a:latin typeface="Noto Sans"/>
                <a:ea typeface="Noto Sans CJK JP"/>
                <a:cs typeface="Noto Sans"/>
                <a:hlinkClick r:id="rId3"/>
              </a:rPr>
              <a:t>https://github.com/FiscalNote/BillSum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法案をどう要約するか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収集と二つの評価集合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2019年の方法と成績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公開配布と利用条件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法案をどう要約するか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法案本文と、人が書いた要約を対応付ける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BillSumは、米連邦議会とカリフォルニア州の法案本文を、人が書いた要約と対応付けたデータセット。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入力は条文や改正指示を含む長い法案。出力は、主要な措置や変更点を伝える短い要約。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連邦議会の要約はCongressional Research Service（CRS）、Californiaの要約はLegislative Counselが作成した。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条文と要約を、条件まで読み比べる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本編3件と追加10件では、教育・融資・農業・保健など、13法案の措置を比べる。短い4法案は本文を全文で示し、ほかは主要な措置と条件を含む部分を抜粋する。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抜粋では条項のまとまりを保ち、間を省いた箇所を〔中略〕で示す。条文番号は元のまま読む。</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参照要約は法案全文について専門職が書いたもの。改正先の既存制度の背景を補うこともある。参照要約とその訳は全文で示す。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実例1：授業料給付の算定式（入力 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8" name="quote-frame"/>
          <p:cNvSpPr txBox="1"/>
          <p:nvPr/>
        </p:nvSpPr>
        <p:spPr>
          <a:xfrm>
            <a:off x="548640" y="1473200"/>
            <a:ext cx="8046720" cy="2977219"/>
          </a:xfrm>
          <a:prstGeom prst="rect">
            <a:avLst/>
          </a:prstGeom>
          <a:solidFill>
            <a:srgbClr val="EBEDEB"/>
          </a:solidFill>
          <a:ln>
            <a:noFill/>
          </a:ln>
        </p:spPr>
        <p:txBody>
          <a:bodyPr wrap="square" lIns="177800" rIns="177800" tIns="50800" bIns="88900">
            <a:spAutoFit/>
          </a:bodyPr>
          <a:lstStyle/>
          <a:p>
            <a:pPr>
              <a:lnSpc>
                <a:spcPts val="2016"/>
              </a:lnSpc>
              <a:spcBef>
                <a:spcPts val="0"/>
              </a:spcBef>
              <a:spcAft>
                <a:spcPts val="0"/>
              </a:spcAft>
              <a:buNone/>
            </a:pPr>
            <a:r>
              <a:rPr sz="1800" b="0">
                <a:solidFill>
                  <a:srgbClr val="303437"/>
                </a:solidFill>
                <a:latin typeface="Noto Sans"/>
                <a:ea typeface="Noto Sans CJK JP"/>
              </a:rPr>
              <a:t>SECTION 1. SHORT TITLE.</a:t>
            </a:r>
          </a:p>
          <a:p>
            <a:pPr>
              <a:lnSpc>
                <a:spcPts val="2016"/>
              </a:lnSpc>
              <a:spcBef>
                <a:spcPts val="0"/>
              </a:spcBef>
              <a:spcAft>
                <a:spcPts val="0"/>
              </a:spcAft>
              <a:buNone/>
            </a:pPr>
            <a:r>
              <a:rPr sz="1800" b="0">
                <a:solidFill>
                  <a:srgbClr val="303437"/>
                </a:solidFill>
                <a:latin typeface="Noto Sans"/>
                <a:ea typeface="Noto Sans CJK JP"/>
              </a:rPr>
              <a:t>This Act may be cited as the ``Veterans Education Equity Act of 2011''.</a:t>
            </a:r>
          </a:p>
          <a:p>
            <a:pPr>
              <a:lnSpc>
                <a:spcPts val="2016"/>
              </a:lnSpc>
              <a:spcBef>
                <a:spcPts val="0"/>
              </a:spcBef>
              <a:spcAft>
                <a:spcPts val="0"/>
              </a:spcAft>
              <a:buNone/>
            </a:pPr>
            <a:r>
              <a:rPr sz="1800" b="0">
                <a:solidFill>
                  <a:srgbClr val="303437"/>
                </a:solidFill>
                <a:latin typeface="Noto Sans"/>
                <a:ea typeface="Noto Sans CJK JP"/>
              </a:rPr>
              <a:t>SEC. 2. PROTECTING EQUITY FOR TUITION AND FEES FOR INDIVIDUALS ENTITLED TO ASSISTANCE UNDER THE POST-9/11 EDUCATIONAL ASSISTANCE PROGRAM WHO ARE PURSUING PROGRAMS OF EDUCATION AT INSTITUTIONS OF HIGHER LEARNING.</a:t>
            </a:r>
          </a:p>
          <a:p>
            <a:pPr>
              <a:lnSpc>
                <a:spcPts val="2016"/>
              </a:lnSpc>
              <a:spcBef>
                <a:spcPts val="0"/>
              </a:spcBef>
              <a:spcAft>
                <a:spcPts val="0"/>
              </a:spcAft>
              <a:buNone/>
            </a:pPr>
            <a:r>
              <a:rPr sz="1800" b="0">
                <a:solidFill>
                  <a:srgbClr val="303437"/>
                </a:solidFill>
                <a:latin typeface="Noto Sans"/>
                <a:ea typeface="Noto Sans CJK JP"/>
              </a:rPr>
              <a:t>(a) In General.--Clause (i) of subparagraph (A) of paragraph (1) of subsection (c) of section 3313 of title 38, United States Code, is amended to read as follows:</a:t>
            </a:r>
          </a:p>
          <a:p>
            <a:pPr>
              <a:lnSpc>
                <a:spcPts val="2016"/>
              </a:lnSpc>
              <a:spcBef>
                <a:spcPts val="0"/>
              </a:spcBef>
              <a:spcAft>
                <a:spcPts val="0"/>
              </a:spcAft>
              <a:buNone/>
            </a:pPr>
            <a:r>
              <a:rPr sz="1800" b="0">
                <a:solidFill>
                  <a:srgbClr val="303437"/>
                </a:solidFill>
                <a:latin typeface="Noto Sans"/>
                <a:ea typeface="Noto Sans CJK JP"/>
              </a:rPr>
              <a:t>``(i) In the case of a program of education pursued at a public institution of higher learning, the lesser 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実例1：授業料給付の算定式（入力 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8" name="quote-frame"/>
          <p:cNvSpPr txBox="1"/>
          <p:nvPr/>
        </p:nvSpPr>
        <p:spPr>
          <a:xfrm>
            <a:off x="548640" y="1473200"/>
            <a:ext cx="8046720" cy="2211155"/>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``(I) the actual net cost for tuition and fees assessed by the institution for the program of education after the application of--</a:t>
            </a:r>
          </a:p>
          <a:p>
            <a:pPr>
              <a:lnSpc>
                <a:spcPts val="2016"/>
              </a:lnSpc>
              <a:spcBef>
                <a:spcPts val="0"/>
              </a:spcBef>
              <a:spcAft>
                <a:spcPts val="0"/>
              </a:spcAft>
              <a:buNone/>
            </a:pPr>
            <a:r>
              <a:rPr sz="1800" b="0">
                <a:solidFill>
                  <a:srgbClr val="303437"/>
                </a:solidFill>
                <a:latin typeface="Noto Sans"/>
                <a:ea typeface="Noto Sans CJK JP"/>
              </a:rPr>
              <a:t>``(aa) any waiver of, or reduction in, tuition and fees; and</a:t>
            </a:r>
          </a:p>
          <a:p>
            <a:pPr>
              <a:lnSpc>
                <a:spcPts val="2016"/>
              </a:lnSpc>
              <a:spcBef>
                <a:spcPts val="0"/>
              </a:spcBef>
              <a:spcAft>
                <a:spcPts val="0"/>
              </a:spcAft>
              <a:buNone/>
            </a:pPr>
            <a:r>
              <a:rPr sz="1800" b="0">
                <a:solidFill>
                  <a:srgbClr val="303437"/>
                </a:solidFill>
                <a:latin typeface="Noto Sans"/>
                <a:ea typeface="Noto Sans CJK JP"/>
              </a:rPr>
              <a:t>``(bb) any scholarship, or other Federal, State, institutional, or employer- based aid or assistance (other than loans and any funds provided under section 401(b) of the Higher Education Act of 1965 (20 U.S.C. 1070a)) that is provided directly to the institution and specifically designated for the sole purpose of defraying tuition and fees; 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実例1：授業料給付の算定式（入力 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8" name="quote-frame"/>
          <p:cNvSpPr txBox="1"/>
          <p:nvPr/>
        </p:nvSpPr>
        <p:spPr>
          <a:xfrm>
            <a:off x="548640" y="1473200"/>
            <a:ext cx="8046720" cy="2467187"/>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``(II) the greater of--</a:t>
            </a:r>
          </a:p>
          <a:p>
            <a:pPr>
              <a:lnSpc>
                <a:spcPts val="2016"/>
              </a:lnSpc>
              <a:spcBef>
                <a:spcPts val="0"/>
              </a:spcBef>
              <a:spcAft>
                <a:spcPts val="0"/>
              </a:spcAft>
              <a:buNone/>
            </a:pPr>
            <a:r>
              <a:rPr sz="1800" b="0">
                <a:solidFill>
                  <a:srgbClr val="303437"/>
                </a:solidFill>
                <a:latin typeface="Noto Sans"/>
                <a:ea typeface="Noto Sans CJK JP"/>
              </a:rPr>
              <a:t>``(aa) the actual net cost for in-State tuition and fees assessed by the institution for the program of education after the application of--</a:t>
            </a:r>
          </a:p>
          <a:p>
            <a:pPr>
              <a:lnSpc>
                <a:spcPts val="2016"/>
              </a:lnSpc>
              <a:spcBef>
                <a:spcPts val="0"/>
              </a:spcBef>
              <a:spcAft>
                <a:spcPts val="0"/>
              </a:spcAft>
              <a:buNone/>
            </a:pPr>
            <a:r>
              <a:rPr sz="1800" b="0">
                <a:solidFill>
                  <a:srgbClr val="303437"/>
                </a:solidFill>
                <a:latin typeface="Noto Sans"/>
                <a:ea typeface="Noto Sans CJK JP"/>
              </a:rPr>
              <a:t>``(AA) any waiver of, or reduction in, tuition and fees; and</a:t>
            </a:r>
          </a:p>
          <a:p>
            <a:pPr>
              <a:lnSpc>
                <a:spcPts val="2016"/>
              </a:lnSpc>
              <a:spcBef>
                <a:spcPts val="0"/>
              </a:spcBef>
              <a:spcAft>
                <a:spcPts val="0"/>
              </a:spcAft>
              <a:buNone/>
            </a:pPr>
            <a:r>
              <a:rPr sz="1800" b="0">
                <a:solidFill>
                  <a:srgbClr val="303437"/>
                </a:solidFill>
                <a:latin typeface="Noto Sans"/>
                <a:ea typeface="Noto Sans CJK JP"/>
              </a:rPr>
              <a:t>``(BB) any scholarship, or other Federal, State, institutional, or employer-based aid or assistance (other than loans and any funds provided under section 401(b) of the Higher Education Act of 1965 (20 U.S.C. 1070a)) that is provided directly to the institution and specifically designated for the sole purpose of defraying tuition and fees; 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実例1：授業料給付の算定式（入力 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8" name="quote-frame"/>
          <p:cNvSpPr txBox="1"/>
          <p:nvPr/>
        </p:nvSpPr>
        <p:spPr>
          <a:xfrm>
            <a:off x="548640" y="1473200"/>
            <a:ext cx="8046720" cy="2467187"/>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``(bb) the amount equal to--</a:t>
            </a:r>
          </a:p>
          <a:p>
            <a:pPr>
              <a:lnSpc>
                <a:spcPts val="2016"/>
              </a:lnSpc>
              <a:spcBef>
                <a:spcPts val="0"/>
              </a:spcBef>
              <a:spcAft>
                <a:spcPts val="0"/>
              </a:spcAft>
              <a:buNone/>
            </a:pPr>
            <a:r>
              <a:rPr sz="1800" b="0">
                <a:solidFill>
                  <a:srgbClr val="303437"/>
                </a:solidFill>
                <a:latin typeface="Noto Sans"/>
                <a:ea typeface="Noto Sans CJK JP"/>
              </a:rPr>
              <a:t>``(AA) for the academic year beginning on August 1, 2011, $17,500; or</a:t>
            </a:r>
          </a:p>
          <a:p>
            <a:pPr>
              <a:lnSpc>
                <a:spcPts val="2016"/>
              </a:lnSpc>
              <a:spcBef>
                <a:spcPts val="0"/>
              </a:spcBef>
              <a:spcAft>
                <a:spcPts val="0"/>
              </a:spcAft>
              <a:buNone/>
            </a:pPr>
            <a:r>
              <a:rPr sz="1800" b="0">
                <a:solidFill>
                  <a:srgbClr val="303437"/>
                </a:solidFill>
                <a:latin typeface="Noto Sans"/>
                <a:ea typeface="Noto Sans CJK JP"/>
              </a:rPr>
              <a:t>``(BB) for any subsequent academic year, the amount in effect for the previous academic year under this subclause, as increased by the percentage increase equal to the most recent percentage increase determined under section 3015(h) of this title.''.</a:t>
            </a:r>
          </a:p>
          <a:p>
            <a:pPr>
              <a:lnSpc>
                <a:spcPts val="2016"/>
              </a:lnSpc>
              <a:spcBef>
                <a:spcPts val="0"/>
              </a:spcBef>
              <a:spcAft>
                <a:spcPts val="0"/>
              </a:spcAft>
              <a:buNone/>
            </a:pPr>
            <a:r>
              <a:rPr sz="1800" b="0">
                <a:solidFill>
                  <a:srgbClr val="303437"/>
                </a:solidFill>
                <a:latin typeface="Noto Sans"/>
                <a:ea typeface="Noto Sans CJK JP"/>
              </a:rPr>
              <a:t>(b) Effective Date.--The amendment made by subsection (a) shall apply with respect to the payment of educational assistance for an academic year beginning on or after the date of the enactment of this 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実例1：授業料給付の算定式（本文の訳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法案本文の全文の日本語訳</a:t>
            </a:r>
          </a:p>
        </p:txBody>
      </p:sp>
      <p:sp>
        <p:nvSpPr>
          <p:cNvPr id="8" name="quote-frame"/>
          <p:cNvSpPr txBox="1"/>
          <p:nvPr/>
        </p:nvSpPr>
        <p:spPr>
          <a:xfrm>
            <a:off x="548640" y="1473200"/>
            <a:ext cx="8046720" cy="280382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第1条　略称。この法律は「2011年退役軍人教育公平法」と称することができる。第2条　2001年9月11日以降の教育支援制度の対象で、高等教育機関に通う人の授業料・手数料の公平性を確保する。（a）合衆国法典第38編第3313条（c）（1）（A）（i）を次のように改める。（i）公立の高等教育機関の教育課程について、次のうち低い額とする。（I）その課程の授業料・手数料の実質負担額。免除・減額と、授業料・手数料の支払いだけを目的に教育機関へ直接支給される奨学金その他の連邦・州・教育機関・雇用主による援助を充当した後の額とする。ただし、ローンと1965年高等教育法第401条（b）の資金を除く。または、</a:t>
            </a:r>
          </a:p>
          <a:p>
            <a:pPr>
              <a:lnSpc>
                <a:spcPts val="1904"/>
              </a:lnSpc>
              <a:spcBef>
                <a:spcPts val="0"/>
              </a:spcBef>
              <a:spcAft>
                <a:spcPts val="0"/>
              </a:spcAft>
              <a:buNone/>
            </a:pPr>
            <a:r>
              <a:rPr sz="1700" b="0">
                <a:solidFill>
                  <a:srgbClr val="303437"/>
                </a:solidFill>
                <a:latin typeface="Noto Sans"/>
                <a:ea typeface="Noto Sans CJK JP"/>
              </a:rPr>
              <a:t>（II）次のうち高い額。（aa）州内居住者向け授業料・手数料の実質負担額。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実例1：授業料給付の算定式（本文の訳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法案本文の全文の日本語訳</a:t>
            </a:r>
          </a:p>
        </p:txBody>
      </p:sp>
      <p:sp>
        <p:nvSpPr>
          <p:cNvPr id="8" name="quote-frame"/>
          <p:cNvSpPr txBox="1"/>
          <p:nvPr/>
        </p:nvSpPr>
        <p:spPr>
          <a:xfrm>
            <a:off x="548640" y="1473200"/>
            <a:ext cx="8046720" cy="2078398"/>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免除・減額と、授業料・手数料の支払いだけを目的に教育機関へ直接支給される奨学金その他の連邦・州・教育機関・雇用主による援助を充当した後の額とする。ただし、ローンと1965年高等教育法第401条（b）の資金を除く。または、（bb）次に等しい額。（AA）2011年8月1日に始まる学年度は17,500ドル。（BB）それ以降の学年度は、前年の額を、この編の第3015条（h）で定める直近の増加率と等しい率で増額した額。（b）適用日。（a）の改正は、この法律の制定日以降に始まる学年度の教育支援金の支払いに適用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650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Veterans Education Equity Act of 2011 - Revises the formula for the payment by the Department of Veterans Affairs (VA) of tuition and fees for individuals entitled to educational assistance under the Post-9/11 Educational Assistance Program and pursuing programs of education at public institutions of higher learning to include, as an additional payment formula, the greater of: (1) the actual net costs for in-state tuition after applying the receipt of any tuition waivers, reductions, scholarships, or other assistance; or (2) $17,500 for the academic year beginning on August 1, 2011 (such amount to be increased each subsequent year by the average percentage increase in undergraduate tuition costs).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2011年退役軍人教育公平法。公立の高等教育機関に通う、2001年9月11日以降の退役軍人向け教育支援の対象者について、退役軍人省（VA）による授業料・手数料の支払額の算定式を改める。次のうち大きい額を用いる計算方法を追加する。（1）免除・減額・奨学金等を充当した後の、州内居住者向け授業料の実質負担額。（2）2011年8月1日に始まる学年度は17,500ドル、それ以降は学部授業料の平均増加率に応じて増額した額。</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算定式を、給付の仕組みとして説明する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本文は、（I）と（II）のうち低い額を使う。（II）の中では、州内授業料等の実質負担額と17,500ドル等のうち高い額を使う。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参照要約は、追加される（II）の算定方法を中心に、対象者・費用・基準額を説明する。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年次増額は第3015条（h）を参照する。要約は、参照先の増額基準の意味も補っている。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実例2：州外資格を使う教員認可（入力 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2202688"/>
          </a:xfrm>
          <a:prstGeom prst="rect">
            <a:avLst/>
          </a:prstGeom>
          <a:solidFill>
            <a:srgbClr val="EBEDEB"/>
          </a:solidFill>
          <a:ln>
            <a:noFill/>
          </a:ln>
        </p:spPr>
        <p:txBody>
          <a:bodyPr wrap="square" lIns="177800" rIns="177800" tIns="50800" bIns="88900">
            <a:spAutoFit/>
          </a:bodyPr>
          <a:lstStyle/>
          <a:p>
            <a:pPr>
              <a:lnSpc>
                <a:spcPts val="2016"/>
              </a:lnSpc>
              <a:spcBef>
                <a:spcPts val="0"/>
              </a:spcBef>
              <a:spcAft>
                <a:spcPts val="0"/>
              </a:spcAft>
              <a:buNone/>
            </a:pPr>
            <a:r>
              <a:rPr sz="1800" b="0">
                <a:solidFill>
                  <a:srgbClr val="303437"/>
                </a:solidFill>
                <a:latin typeface="Noto Sans"/>
                <a:ea typeface="Noto Sans CJK JP"/>
              </a:rPr>
              <a:t>44253.4.</a:t>
            </a:r>
          </a:p>
          <a:p>
            <a:pPr>
              <a:lnSpc>
                <a:spcPts val="2016"/>
              </a:lnSpc>
              <a:spcBef>
                <a:spcPts val="0"/>
              </a:spcBef>
              <a:spcAft>
                <a:spcPts val="0"/>
              </a:spcAft>
              <a:buNone/>
            </a:pPr>
            <a:r>
              <a:rPr sz="1800" b="0">
                <a:solidFill>
                  <a:srgbClr val="303437"/>
                </a:solidFill>
                <a:latin typeface="Noto Sans"/>
                <a:ea typeface="Noto Sans CJK JP"/>
              </a:rPr>
              <a:t>(a) The commission shall issue an authorization for a teacher to provide all of the following services to limited-English-proficient pupils:</a:t>
            </a:r>
          </a:p>
          <a:p>
            <a:pPr>
              <a:lnSpc>
                <a:spcPts val="2016"/>
              </a:lnSpc>
              <a:spcBef>
                <a:spcPts val="0"/>
              </a:spcBef>
              <a:spcAft>
                <a:spcPts val="0"/>
              </a:spcAft>
              <a:buNone/>
            </a:pPr>
            <a:r>
              <a:rPr sz="1800" b="0">
                <a:solidFill>
                  <a:srgbClr val="303437"/>
                </a:solidFill>
                <a:latin typeface="Noto Sans"/>
                <a:ea typeface="Noto Sans CJK JP"/>
              </a:rPr>
              <a:t>〔中略〕</a:t>
            </a:r>
          </a:p>
          <a:p>
            <a:pPr>
              <a:lnSpc>
                <a:spcPts val="2016"/>
              </a:lnSpc>
              <a:spcBef>
                <a:spcPts val="0"/>
              </a:spcBef>
              <a:spcAft>
                <a:spcPts val="0"/>
              </a:spcAft>
              <a:buNone/>
            </a:pPr>
            <a:r>
              <a:rPr sz="1800" b="0">
                <a:solidFill>
                  <a:srgbClr val="303437"/>
                </a:solidFill>
                <a:latin typeface="Noto Sans"/>
                <a:ea typeface="Noto Sans CJK JP"/>
              </a:rPr>
              <a:t>(b) The minimum requirements for the authorization, which may be completed at the same time as the initial preparation for the prerequisite credential or at a later date, shall include both of the following: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実例2：州外資格を使う教員認可（入力 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2926419"/>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(1) Possession of a valid California teaching credential, services credential, visiting faculty permit, children’s center instructional permit, or children’s center supervision permit which credential or permit authorizes the holder to provide instruction to pupils in preschool, kindergarten, any of grades 1 to 12, inclusive, or classes primarily organized for adults, except for the following:</a:t>
            </a:r>
          </a:p>
          <a:p>
            <a:pPr>
              <a:lnSpc>
                <a:spcPts val="2016"/>
              </a:lnSpc>
              <a:spcBef>
                <a:spcPts val="0"/>
              </a:spcBef>
              <a:spcAft>
                <a:spcPts val="0"/>
              </a:spcAft>
              <a:buNone/>
            </a:pPr>
            <a:r>
              <a:rPr sz="1800" b="0">
                <a:solidFill>
                  <a:srgbClr val="303437"/>
                </a:solidFill>
                <a:latin typeface="Noto Sans"/>
                <a:ea typeface="Noto Sans CJK JP"/>
              </a:rPr>
              <a:t>(A) Emergency credentials or permits.</a:t>
            </a:r>
          </a:p>
          <a:p>
            <a:pPr>
              <a:lnSpc>
                <a:spcPts val="2016"/>
              </a:lnSpc>
              <a:spcBef>
                <a:spcPts val="0"/>
              </a:spcBef>
              <a:spcAft>
                <a:spcPts val="0"/>
              </a:spcAft>
              <a:buNone/>
            </a:pPr>
            <a:r>
              <a:rPr sz="1800" b="0">
                <a:solidFill>
                  <a:srgbClr val="303437"/>
                </a:solidFill>
                <a:latin typeface="Noto Sans"/>
                <a:ea typeface="Noto Sans CJK JP"/>
              </a:rPr>
              <a:t>(B) Exchange credentials as specified in Section 44333.</a:t>
            </a:r>
          </a:p>
          <a:p>
            <a:pPr>
              <a:lnSpc>
                <a:spcPts val="2016"/>
              </a:lnSpc>
              <a:spcBef>
                <a:spcPts val="0"/>
              </a:spcBef>
              <a:spcAft>
                <a:spcPts val="0"/>
              </a:spcAft>
              <a:buNone/>
            </a:pPr>
            <a:r>
              <a:rPr sz="1800" b="0">
                <a:solidFill>
                  <a:srgbClr val="303437"/>
                </a:solidFill>
                <a:latin typeface="Noto Sans"/>
                <a:ea typeface="Noto Sans CJK JP"/>
              </a:rPr>
              <a:t>(C) District intern credentials as specified in Section 44325.</a:t>
            </a:r>
          </a:p>
          <a:p>
            <a:pPr>
              <a:lnSpc>
                <a:spcPts val="2016"/>
              </a:lnSpc>
              <a:spcBef>
                <a:spcPts val="0"/>
              </a:spcBef>
              <a:spcAft>
                <a:spcPts val="0"/>
              </a:spcAft>
              <a:buNone/>
            </a:pPr>
            <a:r>
              <a:rPr sz="1800" b="0">
                <a:solidFill>
                  <a:srgbClr val="303437"/>
                </a:solidFill>
                <a:latin typeface="Noto Sans"/>
                <a:ea typeface="Noto Sans CJK JP"/>
              </a:rPr>
              <a:t>(D) Sojourn certificated employee credentials as specified in Section 44856.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実例2：州外資格を使う教員認可（入力 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2465155"/>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(E) Teacher education internship credentials as specified in Article 3 (commencing with Section 44450) of Chapter 3.</a:t>
            </a:r>
          </a:p>
          <a:p>
            <a:pPr>
              <a:lnSpc>
                <a:spcPts val="2016"/>
              </a:lnSpc>
              <a:spcBef>
                <a:spcPts val="0"/>
              </a:spcBef>
              <a:spcAft>
                <a:spcPts val="0"/>
              </a:spcAft>
              <a:buNone/>
            </a:pPr>
            <a:r>
              <a:rPr sz="1800" b="0">
                <a:solidFill>
                  <a:srgbClr val="303437"/>
                </a:solidFill>
                <a:latin typeface="Noto Sans"/>
                <a:ea typeface="Noto Sans CJK JP"/>
              </a:rPr>
              <a:t>〔中略〕</a:t>
            </a:r>
          </a:p>
          <a:p>
            <a:pPr>
              <a:lnSpc>
                <a:spcPts val="2016"/>
              </a:lnSpc>
              <a:spcBef>
                <a:spcPts val="0"/>
              </a:spcBef>
              <a:spcAft>
                <a:spcPts val="0"/>
              </a:spcAft>
              <a:buNone/>
            </a:pPr>
            <a:r>
              <a:rPr sz="1800" b="0">
                <a:solidFill>
                  <a:srgbClr val="303437"/>
                </a:solidFill>
                <a:latin typeface="Noto Sans"/>
                <a:ea typeface="Noto Sans CJK JP"/>
              </a:rPr>
              <a:t>(f) A teacher who possesses a credential or permit described in paragraph (1) of subdivision (b) and who is able to present a valid out-of-state credential or certificate that authorizes content instruction delivered in a pupil’s primary language may qualify for the authorization issued pursuant to this section by submitting an application and a fee to the commission.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実例2：州外資格を使う教員認可（本文の訳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280382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44253.4.（a）委員会は、英語力の限られた生徒へ、次に掲げるすべての教育サービスを提供する教員の認可を発行しなければならない。</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b）認可の最低要件には次の両方を含む。前提となる資格の初期養成と同時にも、後からも満たすことができる。（1）就学前、幼稚園、第1〜12学年、または主に成人向けの授業で教えることを認める、有効なカリフォルニア州の教員資格、教育サービス資格、客員教員許可、児童センター指導許可または監督許可を持つこと。ただし、次を除く。（A）緊急資格・許可。（B）第44333条の交換教員資格。（C）第44325条の学区インターン資格。（D）第44856条の一時滞在認定職員資格。（E）第3章第3節の教員養成実習資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実例2：州外資格を使う教員認可（本文の訳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1352974"/>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f）（b）（1）の資格または許可を持ち、生徒の母語で教科を教えることを認める有効な州外の資格・証明書を提示できる教員は、委員会へ申請書を提出し、手数料を納めることで、この条に基づく認可を受ける資格を得ることができ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43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Existing law requires the Commission on Teacher Credentialing to issue authorizations for a teacher to provide specific services to limited-English-proficient pupils, if certain minimum requirements are met. This bill would provide that a teacher who possesses any of several specified California credentials or permits, and who is able to present a valid out-of-state credential or certificate that authorizes content instruction delivered in a pupil’s primary language, may qualify for that authorization by submitting an application and a fee to the commission.</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73766"/>
            <a:ext cx="8046720" cy="1913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では、最低要件を満たす場合、教員資格認定委員会が、英語力の限られた生徒に所定の教育サービスを提供する教員の認可を発行しなければならない。この法案は、所定のカリフォルニア州の資格・許可を持ち、生徒の母語で教科を教えることを認める有効な州外の資格・証明書を提示できる教員が、委員会に申請して手数料を納めることで、その認可を受けられるように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現行の制度と、新しい変更点を分ける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Californiaの参照要約は、現行法を説明してから、法案が変える点を述べることが多い。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教員認可の実例では、既存の最低要件を背景として説明し、州外資格を使える手続きを続けて述べる。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要約では既存制度を背景に置き、法案が変更する措置を中心に伝える。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実例3：借り手の死亡と学生ローン（入力 1/7）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1432560"/>
          </a:xfrm>
          <a:prstGeom prst="rect">
            <a:avLst/>
          </a:prstGeom>
          <a:solidFill>
            <a:srgbClr val="EBEDEB"/>
          </a:solidFill>
          <a:ln>
            <a:noFill/>
          </a:ln>
        </p:spPr>
        <p:txBody>
          <a:bodyPr wrap="square" lIns="177800" rIns="177800" tIns="50800" bIns="88900">
            <a:spAutoFit/>
          </a:bodyPr>
          <a:lstStyle/>
          <a:p>
            <a:pPr>
              <a:lnSpc>
                <a:spcPts val="2016"/>
              </a:lnSpc>
              <a:spcBef>
                <a:spcPts val="0"/>
              </a:spcBef>
              <a:spcAft>
                <a:spcPts val="0"/>
              </a:spcAft>
              <a:buNone/>
            </a:pPr>
            <a:r>
              <a:rPr sz="1800" b="0">
                <a:solidFill>
                  <a:srgbClr val="303437"/>
                </a:solidFill>
                <a:latin typeface="Noto Sans"/>
                <a:ea typeface="Noto Sans CJK JP"/>
              </a:rPr>
              <a:t>SECTION 1. SHORT TITLE.</a:t>
            </a:r>
          </a:p>
          <a:p>
            <a:pPr>
              <a:lnSpc>
                <a:spcPts val="2016"/>
              </a:lnSpc>
              <a:spcBef>
                <a:spcPts val="0"/>
              </a:spcBef>
              <a:spcAft>
                <a:spcPts val="0"/>
              </a:spcAft>
              <a:buNone/>
            </a:pPr>
            <a:r>
              <a:rPr sz="1800" b="0">
                <a:solidFill>
                  <a:srgbClr val="303437"/>
                </a:solidFill>
                <a:latin typeface="Noto Sans"/>
                <a:ea typeface="Noto Sans CJK JP"/>
              </a:rPr>
              <a:t>This Act may be cited as the ``Andrew Prior Act'' or ``Andrew's Law''.</a:t>
            </a:r>
          </a:p>
          <a:p>
            <a:pPr>
              <a:lnSpc>
                <a:spcPts val="2016"/>
              </a:lnSpc>
              <a:spcBef>
                <a:spcPts val="0"/>
              </a:spcBef>
              <a:spcAft>
                <a:spcPts val="0"/>
              </a:spcAft>
              <a:buNone/>
            </a:pPr>
            <a:r>
              <a:rPr sz="1800" b="0">
                <a:solidFill>
                  <a:srgbClr val="303437"/>
                </a:solidFill>
                <a:latin typeface="Noto Sans"/>
                <a:ea typeface="Noto Sans CJK JP"/>
              </a:rPr>
              <a:t>SEC. 2. DISCHARGE OF PRIVATE STUDENT LOANS.</a:t>
            </a:r>
          </a:p>
          <a:p>
            <a:pPr>
              <a:lnSpc>
                <a:spcPts val="2016"/>
              </a:lnSpc>
              <a:spcBef>
                <a:spcPts val="0"/>
              </a:spcBef>
              <a:spcAft>
                <a:spcPts val="0"/>
              </a:spcAft>
              <a:buNone/>
            </a:pPr>
            <a:r>
              <a:rPr sz="1800" b="0">
                <a:solidFill>
                  <a:srgbClr val="303437"/>
                </a:solidFill>
                <a:latin typeface="Noto Sans"/>
                <a:ea typeface="Noto Sans CJK JP"/>
              </a:rPr>
              <a:t>Section 128(e) of the Truth in Lending Act (15 U.S.C. 1638(e)) is amended by adding at the end the following: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実例3：借り手の死亡と学生ローン（入力 2/7）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465155"/>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``(12) Discharge of private educational loans in the event of the death of the borrower.--</a:t>
            </a:r>
          </a:p>
          <a:p>
            <a:pPr>
              <a:lnSpc>
                <a:spcPts val="2016"/>
              </a:lnSpc>
              <a:spcBef>
                <a:spcPts val="0"/>
              </a:spcBef>
              <a:spcAft>
                <a:spcPts val="0"/>
              </a:spcAft>
              <a:buNone/>
            </a:pPr>
            <a:r>
              <a:rPr sz="1800" b="0">
                <a:solidFill>
                  <a:srgbClr val="303437"/>
                </a:solidFill>
                <a:latin typeface="Noto Sans"/>
                <a:ea typeface="Noto Sans CJK JP"/>
              </a:rPr>
              <a:t>``(A) Definitions.--As used in this paragraph--</a:t>
            </a:r>
          </a:p>
          <a:p>
            <a:pPr>
              <a:lnSpc>
                <a:spcPts val="2016"/>
              </a:lnSpc>
              <a:spcBef>
                <a:spcPts val="0"/>
              </a:spcBef>
              <a:spcAft>
                <a:spcPts val="0"/>
              </a:spcAft>
              <a:buNone/>
            </a:pPr>
            <a:r>
              <a:rPr sz="1800" b="0">
                <a:solidFill>
                  <a:srgbClr val="303437"/>
                </a:solidFill>
                <a:latin typeface="Noto Sans"/>
                <a:ea typeface="Noto Sans CJK JP"/>
              </a:rPr>
              <a:t>``(i) the term `cosigner'--</a:t>
            </a:r>
          </a:p>
          <a:p>
            <a:pPr>
              <a:lnSpc>
                <a:spcPts val="2016"/>
              </a:lnSpc>
              <a:spcBef>
                <a:spcPts val="0"/>
              </a:spcBef>
              <a:spcAft>
                <a:spcPts val="0"/>
              </a:spcAft>
              <a:buNone/>
            </a:pPr>
            <a:r>
              <a:rPr sz="1800" b="0">
                <a:solidFill>
                  <a:srgbClr val="303437"/>
                </a:solidFill>
                <a:latin typeface="Noto Sans"/>
                <a:ea typeface="Noto Sans CJK JP"/>
              </a:rPr>
              <a:t>``(I) means any individual who is liable for the obligation of another without compensation, regardless of how designated in the contract or instrument relating to the obligation;</a:t>
            </a:r>
          </a:p>
          <a:p>
            <a:pPr>
              <a:lnSpc>
                <a:spcPts val="2016"/>
              </a:lnSpc>
              <a:spcBef>
                <a:spcPts val="0"/>
              </a:spcBef>
              <a:spcAft>
                <a:spcPts val="0"/>
              </a:spcAft>
              <a:buNone/>
            </a:pPr>
            <a:r>
              <a:rPr sz="1800" b="0">
                <a:solidFill>
                  <a:srgbClr val="303437"/>
                </a:solidFill>
                <a:latin typeface="Noto Sans"/>
                <a:ea typeface="Noto Sans CJK JP"/>
              </a:rPr>
              <a:t>``(II) includes any person whose signature is requested as a condition to grant credit or to forbear on collection; and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実例3：借り手の死亡と学生ローン（入力 3/7）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985686"/>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``(III) does not include a spouse of an individual referred to in subclause (I) whose signature is needed to perfect the security interest in the loan;</a:t>
            </a:r>
          </a:p>
          <a:p>
            <a:pPr>
              <a:lnSpc>
                <a:spcPts val="2016"/>
              </a:lnSpc>
              <a:spcBef>
                <a:spcPts val="0"/>
              </a:spcBef>
              <a:spcAft>
                <a:spcPts val="0"/>
              </a:spcAft>
              <a:buNone/>
            </a:pPr>
            <a:r>
              <a:rPr sz="1800" b="0">
                <a:solidFill>
                  <a:srgbClr val="303437"/>
                </a:solidFill>
                <a:latin typeface="Noto Sans"/>
                <a:ea typeface="Noto Sans CJK JP"/>
              </a:rPr>
              <a:t>``(ii) the term `private educational lender' has the same meaning as in section 140;</a:t>
            </a:r>
          </a:p>
          <a:p>
            <a:pPr>
              <a:lnSpc>
                <a:spcPts val="2016"/>
              </a:lnSpc>
              <a:spcBef>
                <a:spcPts val="0"/>
              </a:spcBef>
              <a:spcAft>
                <a:spcPts val="0"/>
              </a:spcAft>
              <a:buNone/>
            </a:pPr>
            <a:r>
              <a:rPr sz="1800" b="0">
                <a:solidFill>
                  <a:srgbClr val="303437"/>
                </a:solidFill>
                <a:latin typeface="Noto Sans"/>
                <a:ea typeface="Noto Sans CJK JP"/>
              </a:rPr>
              <a:t>``(iii) the term `private education loan' has the same meaning as in section 140; and</a:t>
            </a:r>
          </a:p>
          <a:p>
            <a:pPr>
              <a:lnSpc>
                <a:spcPts val="2016"/>
              </a:lnSpc>
              <a:spcBef>
                <a:spcPts val="0"/>
              </a:spcBef>
              <a:spcAft>
                <a:spcPts val="0"/>
              </a:spcAft>
              <a:buNone/>
            </a:pPr>
            <a:r>
              <a:rPr sz="1800" b="0">
                <a:solidFill>
                  <a:srgbClr val="303437"/>
                </a:solidFill>
                <a:latin typeface="Noto Sans"/>
                <a:ea typeface="Noto Sans CJK JP"/>
              </a:rPr>
              <a:t>``(iv) the term `totally and permanently disabled' means--</a:t>
            </a:r>
          </a:p>
          <a:p>
            <a:pPr>
              <a:lnSpc>
                <a:spcPts val="2016"/>
              </a:lnSpc>
              <a:spcBef>
                <a:spcPts val="0"/>
              </a:spcBef>
              <a:spcAft>
                <a:spcPts val="0"/>
              </a:spcAft>
              <a:buNone/>
            </a:pPr>
            <a:r>
              <a:rPr sz="1800" b="0">
                <a:solidFill>
                  <a:srgbClr val="303437"/>
                </a:solidFill>
                <a:latin typeface="Noto Sans"/>
                <a:ea typeface="Noto Sans CJK JP"/>
              </a:rPr>
              <a:t>``(I) with respect to a person other than a veteran, that the person is unable to engage in any substantial gainful activity because of a medically determinable physical or mental impairment that--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実例3：借り手の死亡と学生ローン（入力 4/7）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467187"/>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``(aa) can be expected to result in death;</a:t>
            </a:r>
          </a:p>
          <a:p>
            <a:pPr>
              <a:lnSpc>
                <a:spcPts val="2016"/>
              </a:lnSpc>
              <a:spcBef>
                <a:spcPts val="0"/>
              </a:spcBef>
              <a:spcAft>
                <a:spcPts val="0"/>
              </a:spcAft>
              <a:buNone/>
            </a:pPr>
            <a:r>
              <a:rPr sz="1800" b="0">
                <a:solidFill>
                  <a:srgbClr val="303437"/>
                </a:solidFill>
                <a:latin typeface="Noto Sans"/>
                <a:ea typeface="Noto Sans CJK JP"/>
              </a:rPr>
              <a:t>``(bb) has lasted for a continuous period of not less than 60 months; or</a:t>
            </a:r>
          </a:p>
          <a:p>
            <a:pPr>
              <a:lnSpc>
                <a:spcPts val="2016"/>
              </a:lnSpc>
              <a:spcBef>
                <a:spcPts val="0"/>
              </a:spcBef>
              <a:spcAft>
                <a:spcPts val="0"/>
              </a:spcAft>
              <a:buNone/>
            </a:pPr>
            <a:r>
              <a:rPr sz="1800" b="0">
                <a:solidFill>
                  <a:srgbClr val="303437"/>
                </a:solidFill>
                <a:latin typeface="Noto Sans"/>
                <a:ea typeface="Noto Sans CJK JP"/>
              </a:rPr>
              <a:t>``(cc) can be expected to last for a continuous period of not less than 60 months; and</a:t>
            </a:r>
          </a:p>
          <a:p>
            <a:pPr>
              <a:lnSpc>
                <a:spcPts val="2016"/>
              </a:lnSpc>
              <a:spcBef>
                <a:spcPts val="0"/>
              </a:spcBef>
              <a:spcAft>
                <a:spcPts val="0"/>
              </a:spcAft>
              <a:buNone/>
            </a:pPr>
            <a:r>
              <a:rPr sz="1800" b="0">
                <a:solidFill>
                  <a:srgbClr val="303437"/>
                </a:solidFill>
                <a:latin typeface="Noto Sans"/>
                <a:ea typeface="Noto Sans CJK JP"/>
              </a:rPr>
              <a:t>``(II) in the case of a veteran (as that term is defined in section 101 of title 38, United States Code), a determination from the Secretary of Veterans Affairs that--</a:t>
            </a:r>
          </a:p>
          <a:p>
            <a:pPr>
              <a:lnSpc>
                <a:spcPts val="2016"/>
              </a:lnSpc>
              <a:spcBef>
                <a:spcPts val="0"/>
              </a:spcBef>
              <a:spcAft>
                <a:spcPts val="0"/>
              </a:spcAft>
              <a:buNone/>
            </a:pPr>
            <a:r>
              <a:rPr sz="1800" b="0">
                <a:solidFill>
                  <a:srgbClr val="303437"/>
                </a:solidFill>
                <a:latin typeface="Noto Sans"/>
                <a:ea typeface="Noto Sans CJK JP"/>
              </a:rPr>
              <a:t>``(aa) such person has a service-connected disability or service-connected disabilities that are 100 percent disabling; 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実例3：借り手の死亡と学生ローン（入力 5/7）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1963590"/>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``(bb) such person is totally disabled, based on an Individual Unemployability determination by the Secretary of Veterans Affairs.</a:t>
            </a:r>
          </a:p>
          <a:p>
            <a:pPr>
              <a:lnSpc>
                <a:spcPts val="2016"/>
              </a:lnSpc>
              <a:spcBef>
                <a:spcPts val="0"/>
              </a:spcBef>
              <a:spcAft>
                <a:spcPts val="0"/>
              </a:spcAft>
              <a:buNone/>
            </a:pPr>
            <a:r>
              <a:rPr sz="1800" b="0">
                <a:solidFill>
                  <a:srgbClr val="303437"/>
                </a:solidFill>
                <a:latin typeface="Noto Sans"/>
                <a:ea typeface="Noto Sans CJK JP"/>
              </a:rPr>
              <a:t>``(B) Private educational loans discharged.--In the event of the death of a borrower of a private educational loan, or if the borrower of a private educational loan is totally and permanently disabled, neither the estate of the borrower nor any cosigner of such private educational loan shall be obligated to repay the outstanding principal or interest on the loan.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実例3：借り手の死亡と学生ローン（入力 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217590"/>
          </a:xfrm>
          <a:prstGeom prst="rect">
            <a:avLst/>
          </a:prstGeom>
          <a:solidFill>
            <a:srgbClr val="EBEDEB"/>
          </a:solidFill>
          <a:ln>
            <a:noFill/>
          </a:ln>
        </p:spPr>
        <p:txBody>
          <a:bodyPr wrap="square" lIns="177800" rIns="177800" tIns="59267" bIns="88900">
            <a:spAutoFit/>
          </a:bodyPr>
          <a:lstStyle/>
          <a:p>
            <a:pPr>
              <a:lnSpc>
                <a:spcPts val="2016"/>
              </a:lnSpc>
              <a:spcBef>
                <a:spcPts val="0"/>
              </a:spcBef>
              <a:spcAft>
                <a:spcPts val="0"/>
              </a:spcAft>
              <a:buNone/>
            </a:pPr>
            <a:r>
              <a:rPr sz="1800" b="0">
                <a:solidFill>
                  <a:srgbClr val="303437"/>
                </a:solidFill>
                <a:latin typeface="Noto Sans"/>
                <a:ea typeface="Noto Sans CJK JP"/>
              </a:rPr>
              <a:t>``(C) Limitations.--The Bureau--</a:t>
            </a:r>
          </a:p>
          <a:p>
            <a:pPr>
              <a:lnSpc>
                <a:spcPts val="2016"/>
              </a:lnSpc>
              <a:spcBef>
                <a:spcPts val="0"/>
              </a:spcBef>
              <a:spcAft>
                <a:spcPts val="0"/>
              </a:spcAft>
              <a:buNone/>
            </a:pPr>
            <a:r>
              <a:rPr sz="1800" b="0">
                <a:solidFill>
                  <a:srgbClr val="303437"/>
                </a:solidFill>
                <a:latin typeface="Noto Sans"/>
                <a:ea typeface="Noto Sans CJK JP"/>
              </a:rPr>
              <a:t>``(i) shall develop such safeguards as may be necessary and appropriate to prevent fraud and abuse in the discharge of liability under this subsection; and</a:t>
            </a:r>
          </a:p>
          <a:p>
            <a:pPr>
              <a:lnSpc>
                <a:spcPts val="2016"/>
              </a:lnSpc>
              <a:spcBef>
                <a:spcPts val="0"/>
              </a:spcBef>
              <a:spcAft>
                <a:spcPts val="0"/>
              </a:spcAft>
              <a:buNone/>
            </a:pPr>
            <a:r>
              <a:rPr sz="1800" b="0">
                <a:solidFill>
                  <a:srgbClr val="303437"/>
                </a:solidFill>
                <a:latin typeface="Noto Sans"/>
                <a:ea typeface="Noto Sans CJK JP"/>
              </a:rPr>
              <a:t>``(ii) notwithstanding any other provision of this subsection, may promulgate regulations to reinstate the obligation of loans discharged under this subsection in any case in which the Director determines necessary to protect the public interest.''.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実例3：借り手の死亡と学生ローン（入力 7/7）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1125728"/>
          </a:xfrm>
          <a:prstGeom prst="rect">
            <a:avLst/>
          </a:prstGeom>
          <a:solidFill>
            <a:srgbClr val="EBEDEB"/>
          </a:solidFill>
          <a:ln>
            <a:noFill/>
          </a:ln>
        </p:spPr>
        <p:txBody>
          <a:bodyPr wrap="square" lIns="177800" rIns="177800" tIns="50800" bIns="88900">
            <a:spAutoFit/>
          </a:bodyPr>
          <a:lstStyle/>
          <a:p>
            <a:pPr>
              <a:lnSpc>
                <a:spcPts val="2016"/>
              </a:lnSpc>
              <a:spcBef>
                <a:spcPts val="0"/>
              </a:spcBef>
              <a:spcAft>
                <a:spcPts val="0"/>
              </a:spcAft>
              <a:buNone/>
            </a:pPr>
            <a:r>
              <a:rPr sz="1800" b="0">
                <a:solidFill>
                  <a:srgbClr val="303437"/>
                </a:solidFill>
                <a:latin typeface="Noto Sans"/>
                <a:ea typeface="Noto Sans CJK JP"/>
              </a:rPr>
              <a:t>SEC. 3. REGULATIONS.</a:t>
            </a:r>
          </a:p>
          <a:p>
            <a:pPr>
              <a:lnSpc>
                <a:spcPts val="2016"/>
              </a:lnSpc>
              <a:spcBef>
                <a:spcPts val="0"/>
              </a:spcBef>
              <a:spcAft>
                <a:spcPts val="0"/>
              </a:spcAft>
              <a:buNone/>
            </a:pPr>
            <a:r>
              <a:rPr sz="1800" b="0">
                <a:solidFill>
                  <a:srgbClr val="303437"/>
                </a:solidFill>
                <a:latin typeface="Noto Sans"/>
                <a:ea typeface="Noto Sans CJK JP"/>
              </a:rPr>
              <a:t>The Director of the Bureau of Consumer Financial Protection may issue such regulations as may be necessary and appropriate to carry out this Act.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600" b="1" lang="ja-JP" altLang="en-US">
                <a:solidFill>
                  <a:srgbClr val="303437"/>
                </a:solidFill>
                <a:latin typeface="Noto Sans"/>
                <a:ea typeface="Noto Sans CJK JP"/>
                <a:cs typeface="Noto Sans"/>
              </a:rPr>
              <a:t>実例3：借り手の死亡と学生ローン（本文の訳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法案本文の全文の日本語訳</a:t>
            </a:r>
          </a:p>
        </p:txBody>
      </p:sp>
      <p:sp>
        <p:nvSpPr>
          <p:cNvPr id="11" name="quote-frame"/>
          <p:cNvSpPr txBox="1"/>
          <p:nvPr/>
        </p:nvSpPr>
        <p:spPr>
          <a:xfrm>
            <a:off x="548640" y="1473200"/>
            <a:ext cx="8046720" cy="3045630"/>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第1条　略称。この法律は「アンドリュー・プライア法」または「アンドリュー法」と称することができる。第2条　民間学生ローンの免除。Truth in Lending Act（貸付条件の開示を定める法律）第128条（e）の末尾に次を追加する。（12）借り手の死亡時の民間教育ローンの免除。（A）定義。（i）連帯保証人とは、契約や文書上の名称を問わず、報酬なしに他人の債務の責任を負う個人をいう。融資の実行や取立て猶予の条件として署名を求められる人を含む。ただし、ローンの担保権を完成させるために署名を求められるその人の配偶者を除く。（ii）民間教育貸付業者と（iii）民間教育ローンは第140条と同じ意味とする。（iv）完全かつ永続的な障害とは、（I）退役軍人以外は、医学的に確認できる身体または精神の障害により、相当な収入を伴う仕事に就けないこと。その障害は、死亡につながる見込みがあるか、連続60か月以上続いたか、その期間続く見込みがあるものでなければなら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600" b="1" lang="ja-JP" altLang="en-US">
                <a:solidFill>
                  <a:srgbClr val="303437"/>
                </a:solidFill>
                <a:latin typeface="Noto Sans"/>
                <a:ea typeface="Noto Sans CJK JP"/>
                <a:cs typeface="Noto Sans"/>
              </a:rPr>
              <a:t>実例3：借り手の死亡と学生ローン（本文の訳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法案本文の全文の日本語訳</a:t>
            </a:r>
          </a:p>
        </p:txBody>
      </p:sp>
      <p:sp>
        <p:nvSpPr>
          <p:cNvPr id="11" name="quote-frame"/>
          <p:cNvSpPr txBox="1"/>
          <p:nvPr/>
        </p:nvSpPr>
        <p:spPr>
          <a:xfrm>
            <a:off x="548640" y="1473200"/>
            <a:ext cx="8046720" cy="280382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（II）退役軍人は、第38編第101条の定義に従い、軍務に関連する障害が100%の障害程度に当たるか、個人の就労不能に基づく全面的な障害があると退役軍人長官が認定することをいう。</a:t>
            </a:r>
          </a:p>
          <a:p>
            <a:pPr>
              <a:lnSpc>
                <a:spcPts val="1904"/>
              </a:lnSpc>
              <a:spcBef>
                <a:spcPts val="0"/>
              </a:spcBef>
              <a:spcAft>
                <a:spcPts val="0"/>
              </a:spcAft>
              <a:buNone/>
            </a:pPr>
            <a:r>
              <a:rPr sz="1700" b="0">
                <a:solidFill>
                  <a:srgbClr val="303437"/>
                </a:solidFill>
                <a:latin typeface="Noto Sans"/>
                <a:ea typeface="Noto Sans CJK JP"/>
              </a:rPr>
              <a:t>（B）民間教育ローンの免除。借り手が死亡した場合、または完全かつ永続的な障害を負った場合、その借り手の遺産も連帯保証人も、未払いの元金・利息を返済する義務を負わない。（C）制限。局は、（i）この項による免除での詐欺・濫用を防ぐ必要かつ適切な措置を策定しなければならない。（ii）この項のほかの規定にかかわらず、公益を保護するため必要と局長が判断した場合、免除したローンの返済義務を復活させる規則を定めることができる。第3条　規則。消費者金融保護局長は、この法律の実施に必要かつ適切な規則を定めることができる。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Andrew Prior Act or Andrew's Law - Amends the Truth in Lending Act to discharge the repayment obligations of the estate of a borrower and any cosigner of a private educational loan if the borrower dies or is totally and permanently disabled. Requires the Director of the Consumer Financial Protection Bureau (CFPB) to develop necessary and appropriate safeguards to prevent fraud and abuse in the discharge of those obligations. Authorizes the Director to promulgate regulations to reinstate those obligations in any case in which the Director determines that doing so is necessary to protect the public interest.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アンドリュー・プライア法、またはアンドリュー法。Truth in Lending Actを改正し、民間教育ローンの借り手が死亡した場合、または完全かつ永続的な障害を負った場合に、借り手の遺産と連帯保証人の返済義務を免除する。消費者金融保護局（CFPB）局長に、免除での詐欺・濫用を防ぐ必要かつ適切な措置を策定するよう求める。公益を保護するため必要と局長が判断した場合に、返済義務を復活させる規則を定める権限も与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本則だけでなく、別の条項もまとめる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本文（B）は、借り手の死亡または完全かつ永続的な障害による返済免除を定める。（A）の定義が、その対象範囲を決める。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参照要約は、この免除に加え、（C）の詐欺・濫用防止の義務と、公益のために返済義務を復活させる権限までまとめる。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収集と二つの評価集合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連邦議会の法案で学習し、州議会の法案で試す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645920"/>
                <a:gridCol w="4754880"/>
                <a:gridCol w="16459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出所と期間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米連邦議会、1993–2018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18,949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米連邦議会、1993–2018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3,269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ca_test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California、2015–2016会期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1,237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USは第103〜115議会。Californiaの学習用集合は設けず、議会をまたぐ転移を調べる。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中程度の長さの法案を選ぶ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連邦議会の本文はGovinfoから収集し、Californiaは州議会サイトから取得した。最終の法案本文と利用可能な要約を対応付けた。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本文5,000〜20,000文字、要約2,000文字以下を中心に選ぶ。短い法案は変更が小さく、非常に長い法案は複数の大きな節を含むため除く。</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文字数で選別したのは、入れ子の箇条書きが多く、単語・文の区切りを一貫して測りにくいため。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似た法案が、分割をまたがないようにする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同じ法案が両院や別の会期に再提出されるため、本文と要約の類似度から近い重複を除いた。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本文・要約をそれぞれ単語頻度ベクトルにし、二つのコサイン類似度の平均が0.96を超えれば重複とみなす。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同じ題名が残る法案は、すべて学習用の集合に入れる。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法案本文は、参照要約より大幅に長い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474720"/>
                <a:gridCol w="2286000"/>
                <a:gridCol w="22860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本文の平均語数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要約の平均語数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US test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1,283.6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178.9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California ca_test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1,547.0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336.8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公開test・ca_testの全4,506法案を、空白区切りの語数で集計。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US test本文の長さには幅がある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US test 3,269法案の本文を、空白区切りの語数で示す。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2019年の方法と成績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重要な文を選ぶ、抽出型の出発点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2019年は、各文の重要度を予測して本文から選ぶ抽出型要約を評価した。ニュース向けの生成モデルをそのまま使うと、不自然な文が生じた。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DOCは、文の位置・見出しとの近さ・TF-IDFなどから文脈上の重要度を予測する。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SUMは、米議会の本文で追加事前学習したBERT-Large Uncasedを使い、要約に入りやすい文を分類する。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重要度と重複を見ながら、文を選ぶ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参照要約との語の重なりを使い、本文の各文に重要度の学習用ラベルを作る。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DOCとSUMの予測を組み合わせ、重要度を高く、既に選んだ文との類似度を低くするMMRで文を選ぶ。</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出力は最大2,000文字。配布される人手要約をもとに、文の選択を学ぶ。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語の重なりを、適合率と再現率で読む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ROUGEは、参照要約と生成要約が共有する語や語の並びを数える。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ROUGE-1は単語、ROUGE-2は連続2語、ROUGE-Lは最長共通部分列を使う。2019年の比較は適合率と再現率を合わせたF値。</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語句の一致に加え、金額・例外・義務の主体など、法律上の変更点を正しく伝えているかも重要になる。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2019年：米連邦議会の抽出型要約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3657600"/>
                <a:gridCol w="1463040"/>
                <a:gridCol w="1463040"/>
                <a:gridCol w="146304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TextRank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34.35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17.77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27.80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21.38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31.49</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33.65</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 + 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40.80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33.73</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Oracle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45.11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28.74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37.38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7306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ROUGE F値（%）。USで学習したモデルを評価。Oracleは参照要約を使って文を選ぶ参考値。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2019年：Californiaの抽出型要約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3657600"/>
                <a:gridCol w="1463040"/>
                <a:gridCol w="1463040"/>
                <a:gridCol w="146304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TextRank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35.81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29.97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38.35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19.76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20.79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33.20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 + 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39.65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21.14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34.05</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Oracle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48.61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32.83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41.94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7306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ROUGE F値（%）。USで学習したモデルを評価。Oracleは参照要約を使って文を選ぶ参考値。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州が変わると、要約の書き方も変わる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DOC＋SUMのROUGE-2は、USで23.83、Californiaで21.14。学習した議会の外でも、教師なしの手法より高い得点を得た。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Californiaでは現行法の説明を含む要約があり、変更内容を中心に書く連邦議会と文体が異なる。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公開配布と利用条件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公開配布は、生成モデルの入力にも使える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公式リポジトリは、本文・前処理済み本文・要約・題名・bill_idを含むJSON Lines形式を案内する。2019-12-03の更新後のデータを使うよう告知している。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Faceではtext・summary・titleの3列を配布し、USのtrain・testとCaliforniaのca_testを選べる。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データカードのライセンス表示はCC0-1.0。元の法案と要約は、米議会・CRSまたはCalifornia議会・Legislative Counselが作成した。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BillSum公式リポジトリ。</a:t>
            </a:r>
            <a:r>
              <a:rPr sz="810" b="0" lang="ja-JP" altLang="en-US">
                <a:solidFill>
                  <a:srgbClr val="626669"/>
                </a:solidFill>
                <a:latin typeface="Noto Sans"/>
                <a:ea typeface="Noto Sans CJK JP"/>
                <a:cs typeface="Noto Sans"/>
                <a:hlinkClick r:id="rId2"/>
              </a:rPr>
              <a:t>https://github.com/FiscalNote/BillSum</a:t>
            </a:r>
          </a:p>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FiscalNote. BillSumデータカード。</a:t>
            </a:r>
            <a:r>
              <a:rPr sz="81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公開Parquetから、法案本文と参照要約を読む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4" name="code-frame"/>
          <p:cNvSpPr/>
          <p:nvPr/>
        </p:nvSpPr>
        <p:spPr>
          <a:xfrm>
            <a:off x="548640" y="1481709"/>
            <a:ext cx="8046720" cy="115138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66844" bIns="127000"/>
          <a:lstStyle/>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import pandas as pd</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data = pd.read_parquet("ca_test.parquet")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print(data.iloc[0]["text"])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print(data.iloc[0]["summary"])</a:t>
            </a:r>
          </a:p>
        </p:txBody>
      </p:sp>
      <p:sp>
        <p:nvSpPr>
          <p:cNvPr id="5" name="TextBox 4"/>
          <p:cNvSpPr txBox="1"/>
          <p:nvPr/>
        </p:nvSpPr>
        <p:spPr>
          <a:xfrm>
            <a:off x="594360" y="2971800"/>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Faceから入手したca_testのParquetファイルを開き、最初の法案本文と参照要約を表示する。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法案の構造を読み、何が変わるかを伝える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BillSumは、法案本文と専門職が書いた要約を対応付け、法律文書の自動要約を研究するために作られた。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USの22,218件を学習・評価に分け、Californiaの1,237件で議会をまたぐ転移を調べる。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条文の書換え、階層構造、現行法と変更点の関係を保ちながら、主要な措置を短くまとめる。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追加の法案と参照要約</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追加の法案と参照要約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実例4：退役軍人向け融資の保証料（入力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2519680"/>
          </a:xfrm>
          <a:prstGeom prst="rect">
            <a:avLst/>
          </a:prstGeom>
          <a:solidFill>
            <a:srgbClr val="EBEDEB"/>
          </a:solidFill>
          <a:ln>
            <a:noFill/>
          </a:ln>
        </p:spPr>
        <p:txBody>
          <a:bodyPr wrap="square" lIns="177800" rIns="177800" tIns="50800" bIns="88900">
            <a:spAutoFit/>
          </a:bodyPr>
          <a:lstStyle/>
          <a:p>
            <a:pPr>
              <a:lnSpc>
                <a:spcPts val="1904"/>
              </a:lnSpc>
              <a:spcBef>
                <a:spcPts val="0"/>
              </a:spcBef>
              <a:spcAft>
                <a:spcPts val="0"/>
              </a:spcAft>
              <a:buNone/>
            </a:pPr>
            <a:r>
              <a:rPr sz="1700" b="0">
                <a:solidFill>
                  <a:srgbClr val="303437"/>
                </a:solidFill>
                <a:latin typeface="Noto Sans"/>
                <a:ea typeface="Noto Sans CJK JP"/>
              </a:rPr>
              <a:t>SECTION 1. PERMANENT LOAN GUARANTEE FEE WAIVERS FOR VETERANS.</a:t>
            </a:r>
          </a:p>
          <a:p>
            <a:pPr>
              <a:lnSpc>
                <a:spcPts val="1904"/>
              </a:lnSpc>
              <a:spcBef>
                <a:spcPts val="0"/>
              </a:spcBef>
              <a:spcAft>
                <a:spcPts val="0"/>
              </a:spcAft>
              <a:buNone/>
            </a:pPr>
            <a:r>
              <a:rPr sz="1700" b="0">
                <a:solidFill>
                  <a:srgbClr val="303437"/>
                </a:solidFill>
                <a:latin typeface="Noto Sans"/>
                <a:ea typeface="Noto Sans CJK JP"/>
              </a:rPr>
              <a:t>Section 7(a) of the Small Business Act (15 U.S.C. 636(a)) is amended--</a:t>
            </a:r>
          </a:p>
          <a:p>
            <a:pPr>
              <a:lnSpc>
                <a:spcPts val="1904"/>
              </a:lnSpc>
              <a:spcBef>
                <a:spcPts val="0"/>
              </a:spcBef>
              <a:spcAft>
                <a:spcPts val="0"/>
              </a:spcAft>
              <a:buNone/>
            </a:pPr>
            <a:r>
              <a:rPr sz="1700" b="0">
                <a:solidFill>
                  <a:srgbClr val="303437"/>
                </a:solidFill>
                <a:latin typeface="Noto Sans"/>
                <a:ea typeface="Noto Sans CJK JP"/>
              </a:rPr>
              <a:t>(1) in paragraph (14)(B)(ii), by adding at the end the following:</a:t>
            </a:r>
          </a:p>
          <a:p>
            <a:pPr>
              <a:lnSpc>
                <a:spcPts val="1904"/>
              </a:lnSpc>
              <a:spcBef>
                <a:spcPts val="0"/>
              </a:spcBef>
              <a:spcAft>
                <a:spcPts val="0"/>
              </a:spcAft>
              <a:buNone/>
            </a:pPr>
            <a:r>
              <a:rPr sz="1700" b="0">
                <a:solidFill>
                  <a:srgbClr val="303437"/>
                </a:solidFill>
                <a:latin typeface="Noto Sans"/>
                <a:ea typeface="Noto Sans CJK JP"/>
              </a:rPr>
              <a:t>``(III) Guarantee fee waiver for veterans.--</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``(bb) Guarantee fee waiver.--The Administrator may not collect a guarantee fee described in paragraph (18) in connection with a loan of not more than $150,000 made under this paragraph to a veteran or spouse of a veteran on or after October 1 of the first fiscal year beginning after the date of enactment of this subclause.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実例4：退役軍人向け融資の保証料（入力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1369907"/>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``(cc) Exception.--If the President's budget for the upcoming fiscal year, submitted to Congress pursuant to section 1105(a) of title 31, United States Code, includes a cost for the program established under this subsection that is above zero, the requirements of item (bb) shall not apply to loans made during such upcoming fiscal year.'';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600" b="1" lang="ja-JP" altLang="en-US">
                <a:solidFill>
                  <a:srgbClr val="303437"/>
                </a:solidFill>
                <a:latin typeface="Noto Sans"/>
                <a:ea typeface="Noto Sans CJK JP"/>
                <a:cs typeface="Noto Sans"/>
              </a:rPr>
              <a:t>実例4：退役軍人向け融資の保証料（本文の訳 1/1）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232867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第1条　退役軍人の融資保証料を恒久的に免除する。中小企業法第7条（a）を次のように改める。（1）第14項（B）（ii）の末尾に次を追加する。（III）退役軍人の保証料免除。</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bb）保証料免除。長官は、この項目の制定後の最初の会計年度の10月1日以降に、この項に基づき退役軍人またはその配偶者へ行う150,000ドル以下の融資について、第18項の保証料を徴収してはならない。（cc）例外。大統領が連邦議会に提出する翌会計年度の予算に、この項の制度についてゼロを超える費用が含まれる場合、（bb）はその翌年度に行う融資に適用しない。</a:t>
            </a:r>
          </a:p>
        </p:txBody>
      </p:sp>
      <p:sp>
        <p:nvSpPr>
          <p:cNvPr id="12" name="TextBox 11"/>
          <p:cNvSpPr txBox="1"/>
          <p:nvPr/>
        </p:nvSpPr>
        <p:spPr>
          <a:xfrm>
            <a:off x="594360" y="3979672"/>
            <a:ext cx="7955280" cy="533400"/>
          </a:xfrm>
          <a:prstGeom prst="rect">
            <a:avLst/>
          </a:prstGeom>
          <a:noFill/>
        </p:spPr>
        <p:txBody>
          <a:bodyPr wrap="none" lIns="0" tIns="0">
            <a:spAutoFit/>
          </a:bodyPr>
          <a:lstStyle/>
          <a:p>
            <a:r>
              <a:rPr sz="1650">
                <a:solidFill>
                  <a:srgbClr val="303437"/>
                </a:solidFill>
                <a:latin typeface="Noto Sans CJK JP"/>
              </a:rPr>
              <a:t>同じ条件の改正が、別の二つの項にも続く。要約は三つの融資制度名も補っている。</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43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This bill amends the Small Business Act to prohibit the Small Business Administration (SBA) from assessing a guarantee fee in connection with a loan of not more than $150,000 made to a veteran or spouse of a veteran beginning the first fiscal year after enactment of this bill under the SBA's Export Working Capital, International Trade, or Export Express programs. If the President's budget for the upcoming fiscal year includes a cost for such a program that is above zero, this prohibition shall not apply to loans made during such upcoming fiscal year.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の法案は中小企業法を改正し、制定後の最初の会計年度から、SBAの輸出運転資金・国際貿易・輸出エクスプレス制度により退役軍人またはその配偶者へ行う150,000ドル以下の融資について、中小企業庁（SBA）が保証料を課すことを禁止する。翌会計年度の大統領予算がその制度にゼロを超える費用を計上する場合、その年度の融資にはこの禁止を適用し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実例5：休耕地での採草と放牧（入力 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800096"/>
          </a:xfrm>
          <a:prstGeom prst="rect">
            <a:avLst/>
          </a:prstGeom>
          <a:solidFill>
            <a:srgbClr val="EBEDEB"/>
          </a:solidFill>
          <a:ln>
            <a:noFill/>
          </a:ln>
        </p:spPr>
        <p:txBody>
          <a:bodyPr wrap="square" lIns="177800" rIns="177800" tIns="50800" bIns="88900">
            <a:spAutoFit/>
          </a:bodyPr>
          <a:lstStyle/>
          <a:p>
            <a:pPr>
              <a:lnSpc>
                <a:spcPts val="1904"/>
              </a:lnSpc>
              <a:spcBef>
                <a:spcPts val="0"/>
              </a:spcBef>
              <a:spcAft>
                <a:spcPts val="0"/>
              </a:spcAft>
              <a:buNone/>
            </a:pPr>
            <a:r>
              <a:rPr sz="1700" b="0">
                <a:solidFill>
                  <a:srgbClr val="303437"/>
                </a:solidFill>
                <a:latin typeface="Noto Sans"/>
                <a:ea typeface="Noto Sans CJK JP"/>
              </a:rPr>
              <a:t>SECTION 1. HAYING AND GRAZING.</a:t>
            </a:r>
          </a:p>
          <a:p>
            <a:pPr>
              <a:lnSpc>
                <a:spcPts val="1904"/>
              </a:lnSpc>
              <a:spcBef>
                <a:spcPts val="0"/>
              </a:spcBef>
              <a:spcAft>
                <a:spcPts val="0"/>
              </a:spcAft>
              <a:buNone/>
            </a:pPr>
            <a:r>
              <a:rPr sz="1700" b="0">
                <a:solidFill>
                  <a:srgbClr val="303437"/>
                </a:solidFill>
                <a:latin typeface="Noto Sans"/>
                <a:ea typeface="Noto Sans CJK JP"/>
              </a:rPr>
              <a:t>(a) Wheat.--Subparagraph (C) of section 107B(e)(4) of the Agricultural Act of 1949 (7 U.S.C. 1445b-3a(e)(4)(C)) is amended to read as follows:</a:t>
            </a:r>
          </a:p>
          <a:p>
            <a:pPr>
              <a:lnSpc>
                <a:spcPts val="1904"/>
              </a:lnSpc>
              <a:spcBef>
                <a:spcPts val="0"/>
              </a:spcBef>
              <a:spcAft>
                <a:spcPts val="0"/>
              </a:spcAft>
              <a:buNone/>
            </a:pPr>
            <a:r>
              <a:rPr sz="1700" b="0">
                <a:solidFill>
                  <a:srgbClr val="303437"/>
                </a:solidFill>
                <a:latin typeface="Noto Sans"/>
                <a:ea typeface="Noto Sans CJK JP"/>
              </a:rPr>
              <a:t>``(C) Haying and grazing.--</a:t>
            </a:r>
          </a:p>
          <a:p>
            <a:pPr>
              <a:lnSpc>
                <a:spcPts val="1904"/>
              </a:lnSpc>
              <a:spcBef>
                <a:spcPts val="0"/>
              </a:spcBef>
              <a:spcAft>
                <a:spcPts val="0"/>
              </a:spcAft>
              <a:buNone/>
            </a:pPr>
            <a:r>
              <a:rPr sz="1700" b="0">
                <a:solidFill>
                  <a:srgbClr val="303437"/>
                </a:solidFill>
                <a:latin typeface="Noto Sans"/>
                <a:ea typeface="Noto Sans CJK JP"/>
              </a:rPr>
              <a:t>``(i) In general.--Haying and grazing of reduced acreage, acreage devoted to a conservation use under subsection (c)(1)(E), and acreage diverted from production under a land diversion program established under this section shall be permitted--</a:t>
            </a:r>
          </a:p>
          <a:p>
            <a:pPr>
              <a:lnSpc>
                <a:spcPts val="1904"/>
              </a:lnSpc>
              <a:spcBef>
                <a:spcPts val="0"/>
              </a:spcBef>
              <a:spcAft>
                <a:spcPts val="0"/>
              </a:spcAft>
              <a:buNone/>
            </a:pPr>
            <a:r>
              <a:rPr sz="1700" b="0">
                <a:solidFill>
                  <a:srgbClr val="303437"/>
                </a:solidFill>
                <a:latin typeface="Noto Sans"/>
                <a:ea typeface="Noto Sans CJK JP"/>
              </a:rPr>
              <a:t>``(I) except during any consecutive 5-month period that is established by the State committee established under section 8(b) of the Soil Conservation and Domestic Allotment Act (16 U.S.C. 590h(b)) for a State; or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実例5：休耕地での採草と放牧（入力 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578947"/>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 during the 5-month period referred to in subclause (I) by the Secretary for any producer who elects to pay a fee equal to--</a:t>
            </a:r>
          </a:p>
          <a:p>
            <a:pPr>
              <a:lnSpc>
                <a:spcPts val="1904"/>
              </a:lnSpc>
              <a:spcBef>
                <a:spcPts val="0"/>
              </a:spcBef>
              <a:spcAft>
                <a:spcPts val="0"/>
              </a:spcAft>
              <a:buNone/>
            </a:pPr>
            <a:r>
              <a:rPr sz="1700" b="0">
                <a:solidFill>
                  <a:srgbClr val="303437"/>
                </a:solidFill>
                <a:latin typeface="Noto Sans"/>
                <a:ea typeface="Noto Sans CJK JP"/>
              </a:rPr>
              <a:t>``(aa) in the case of grazing, the grazing fee in effect as established by the Bureau of Land Management; and</a:t>
            </a:r>
          </a:p>
          <a:p>
            <a:pPr>
              <a:lnSpc>
                <a:spcPts val="1904"/>
              </a:lnSpc>
              <a:spcBef>
                <a:spcPts val="0"/>
              </a:spcBef>
              <a:spcAft>
                <a:spcPts val="0"/>
              </a:spcAft>
              <a:buNone/>
            </a:pPr>
            <a:r>
              <a:rPr sz="1700" b="0">
                <a:solidFill>
                  <a:srgbClr val="303437"/>
                </a:solidFill>
                <a:latin typeface="Noto Sans"/>
                <a:ea typeface="Noto Sans CJK JP"/>
              </a:rPr>
              <a:t>``(bb) in the case of haying, a haying fee established by the Bureau of Land Management that is comparable to the grazing fee.</a:t>
            </a:r>
          </a:p>
          <a:p>
            <a:pPr>
              <a:lnSpc>
                <a:spcPts val="1904"/>
              </a:lnSpc>
              <a:spcBef>
                <a:spcPts val="0"/>
              </a:spcBef>
              <a:spcAft>
                <a:spcPts val="0"/>
              </a:spcAft>
              <a:buNone/>
            </a:pPr>
            <a:r>
              <a:rPr sz="1700" b="0">
                <a:solidFill>
                  <a:srgbClr val="303437"/>
                </a:solidFill>
                <a:latin typeface="Noto Sans"/>
                <a:ea typeface="Noto Sans CJK JP"/>
              </a:rPr>
              <a:t>``(ii) 5-month period.--The State committee for a State shall, in consultation with wildlife agencies of the State, establish the 5-month period referred to in clause (i) during the period beginning April 1, and ending October 31, of a year.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実例5：休耕地での採草と放牧（入力 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1349248"/>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``(iii) Alfalfa.--The Secretary may not exclude irrigated or irrigable acreage not planted to alfalfa when exercising the authority of the Secretary under this subparagraph.''.</a:t>
            </a:r>
          </a:p>
          <a:p>
            <a:pPr>
              <a:lnSpc>
                <a:spcPts val="1904"/>
              </a:lnSpc>
              <a:spcBef>
                <a:spcPts val="0"/>
              </a:spcBef>
              <a:spcAft>
                <a:spcPts val="0"/>
              </a:spcAft>
              <a:buNone/>
            </a:pPr>
            <a:r>
              <a:rPr sz="1700" b="0">
                <a:solidFill>
                  <a:srgbClr val="303437"/>
                </a:solidFill>
                <a:latin typeface="Noto Sans"/>
                <a:ea typeface="Noto Sans CJK JP"/>
              </a:rPr>
              <a:t>(b) Feed Grains.--Subparagraph (C) of section 105B(e)(4) of the Agricultural Act of 1949 (7 U.S.C. 1444f(e)(4)(C)) is amended to read as follows: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実例5：休耕地での採草と放牧（本文の訳 1/1）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8" name="quote-frame"/>
          <p:cNvSpPr txBox="1"/>
          <p:nvPr/>
        </p:nvSpPr>
        <p:spPr>
          <a:xfrm>
            <a:off x="548640" y="1473200"/>
            <a:ext cx="8046720" cy="2562014"/>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第1条　採草と放牧。（a）小麦。1949年農業法第107B条（e）（4）（C）を次のように改める。（C）作付削減地、保全利用地、生産転換計画で生産から外した土地では、採草と放牧を認める。（i）（I）州委員会が定める連続5か月間を除く。または、（II）その5か月間でも、土地管理局が定める放牧料、またはそれに見合う採草料を払う生産者について、長官が認める。（ii）州委員会は州の野生生物担当機関と協議し、4月1日から10月31日までの間に、その5か月間を定める。（iii）長官はこの権限を行使する際、アルファルファを植えていない灌漑地または灌漑可能地を除外してはならない。</a:t>
            </a:r>
          </a:p>
          <a:p>
            <a:pPr>
              <a:lnSpc>
                <a:spcPts val="1904"/>
              </a:lnSpc>
              <a:spcBef>
                <a:spcPts val="0"/>
              </a:spcBef>
              <a:spcAft>
                <a:spcPts val="0"/>
              </a:spcAft>
              <a:buNone/>
            </a:pPr>
            <a:r>
              <a:rPr sz="1700" b="0">
                <a:solidFill>
                  <a:srgbClr val="303437"/>
                </a:solidFill>
                <a:latin typeface="Noto Sans"/>
                <a:ea typeface="Noto Sans CJK JP"/>
              </a:rPr>
              <a:t>（b）飼料穀物。1949年農業法第105B条（e）（4）（C）を次のように改める。</a:t>
            </a:r>
          </a:p>
        </p:txBody>
      </p:sp>
      <p:sp>
        <p:nvSpPr>
          <p:cNvPr id="9" name="source-context-note"/>
          <p:cNvSpPr txBox="1"/>
          <p:nvPr/>
        </p:nvSpPr>
        <p:spPr>
          <a:xfrm>
            <a:off x="594360" y="4187614"/>
            <a:ext cx="7955280" cy="317500"/>
          </a:xfrm>
          <a:prstGeom prst="rect">
            <a:avLst/>
          </a:prstGeom>
          <a:noFill/>
        </p:spPr>
        <p:txBody>
          <a:bodyPr wrap="none" lIns="0" rIns="0" tIns="0" bIns="0">
            <a:spAutoFit/>
          </a:bodyPr>
          <a:lstStyle/>
          <a:p>
            <a:pPr>
              <a:lnSpc>
                <a:spcPts val="1848"/>
              </a:lnSpc>
            </a:pPr>
            <a:r>
              <a:rPr sz="1650">
                <a:solidFill>
                  <a:srgbClr val="303437"/>
                </a:solidFill>
                <a:latin typeface="Noto Sans CJK JP"/>
              </a:rPr>
              <a:t>飼料穀物にも同じ採草・放牧条件の規定が続く。</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363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Amends the Agricultural Act of 1949 to modify the authority for haying and grazing on wheat and feed grain reduced acreage, including a provision under which producers can elect to lease such acreage back for specified fees.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041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1949年農業法を改正し、小麦と飼料穀物の作付削減地で採草・放牧を認める権限を変更する。所定の料金を払えば生産者がその土地を借り戻せる規定も含む。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実例6：遺跡群とナバホ・ネイション（入力 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337139"/>
          </a:xfrm>
          <a:prstGeom prst="rect">
            <a:avLst/>
          </a:prstGeom>
          <a:solidFill>
            <a:srgbClr val="EBEDEB"/>
          </a:solidFill>
          <a:ln>
            <a:noFill/>
          </a:ln>
        </p:spPr>
        <p:txBody>
          <a:bodyPr wrap="square" lIns="177800" rIns="177800" tIns="50800" bIns="88900">
            <a:spAutoFit/>
          </a:bodyPr>
          <a:lstStyle/>
          <a:p>
            <a:pPr>
              <a:lnSpc>
                <a:spcPts val="1904"/>
              </a:lnSpc>
              <a:spcBef>
                <a:spcPts val="0"/>
              </a:spcBef>
              <a:spcAft>
                <a:spcPts val="0"/>
              </a:spcAft>
              <a:buNone/>
            </a:pPr>
            <a:r>
              <a:rPr sz="1700" b="0">
                <a:solidFill>
                  <a:srgbClr val="303437"/>
                </a:solidFill>
                <a:latin typeface="Noto Sans"/>
                <a:ea typeface="Noto Sans CJK JP"/>
              </a:rPr>
              <a:t>SECTION 1. SHORT TITLE.</a:t>
            </a:r>
          </a:p>
          <a:p>
            <a:pPr>
              <a:lnSpc>
                <a:spcPts val="1904"/>
              </a:lnSpc>
              <a:spcBef>
                <a:spcPts val="0"/>
              </a:spcBef>
              <a:spcAft>
                <a:spcPts val="0"/>
              </a:spcAft>
              <a:buNone/>
            </a:pPr>
            <a:r>
              <a:rPr sz="1700" b="0">
                <a:solidFill>
                  <a:srgbClr val="303437"/>
                </a:solidFill>
                <a:latin typeface="Noto Sans"/>
                <a:ea typeface="Noto Sans CJK JP"/>
              </a:rPr>
              <a:t>This Act may be cited as the ``Chacoan Outliers Protection Act of 1993''.</a:t>
            </a:r>
          </a:p>
          <a:p>
            <a:pPr>
              <a:lnSpc>
                <a:spcPts val="1904"/>
              </a:lnSpc>
              <a:spcBef>
                <a:spcPts val="0"/>
              </a:spcBef>
              <a:spcAft>
                <a:spcPts val="0"/>
              </a:spcAft>
              <a:buNone/>
            </a:pPr>
            <a:r>
              <a:rPr sz="1700" b="0">
                <a:solidFill>
                  <a:srgbClr val="303437"/>
                </a:solidFill>
                <a:latin typeface="Noto Sans"/>
                <a:ea typeface="Noto Sans CJK JP"/>
              </a:rPr>
              <a:t>SEC. 2. CONFORMING AMENDMENT.</a:t>
            </a:r>
          </a:p>
          <a:p>
            <a:pPr>
              <a:lnSpc>
                <a:spcPts val="1904"/>
              </a:lnSpc>
              <a:spcBef>
                <a:spcPts val="0"/>
              </a:spcBef>
              <a:spcAft>
                <a:spcPts val="0"/>
              </a:spcAft>
              <a:buNone/>
            </a:pPr>
            <a:r>
              <a:rPr sz="1700" b="0">
                <a:solidFill>
                  <a:srgbClr val="303437"/>
                </a:solidFill>
                <a:latin typeface="Noto Sans"/>
                <a:ea typeface="Noto Sans CJK JP"/>
              </a:rPr>
              <a:t>(a) Section 501 of Public Law 96-550 (16 U.S.C. 410ii) is amended in the title by striking ``Congressional findings'' and inserting in lieu thereof ``Congressional findings and purpose''.</a:t>
            </a:r>
          </a:p>
          <a:p>
            <a:pPr>
              <a:lnSpc>
                <a:spcPts val="1904"/>
              </a:lnSpc>
              <a:spcBef>
                <a:spcPts val="0"/>
              </a:spcBef>
              <a:spcAft>
                <a:spcPts val="0"/>
              </a:spcAft>
              <a:buNone/>
            </a:pPr>
            <a:r>
              <a:rPr sz="1700" b="0">
                <a:solidFill>
                  <a:srgbClr val="303437"/>
                </a:solidFill>
                <a:latin typeface="Noto Sans"/>
                <a:ea typeface="Noto Sans CJK JP"/>
              </a:rPr>
              <a:t>(b) Section 501(b) of Public Law 96-550 (16 U.S.C. 410ii(b)) is amended by striking ``San Juan Basin;'' and inserting in lieu thereof, ``San Juan Basin and surrounding areas;''.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実例6：遺跡群とナバホ・ネイション（入力 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595880"/>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``(b)(1) Thirty-nine outlying sites as generally depicted on a map entitled ``Chaco Culture Archeological Protection Sites'', numbered 310/80,033-B and dated September 1991, are hereby designated as `Chaco Culture Archeological Protection Sites'. The thirty-nine archeological protection sites totaling approximately 14,372 acres identified as follows:</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SEC. 4. ASSISTANCE TO THE NAVAJO NATION.</a:t>
            </a:r>
          </a:p>
          <a:p>
            <a:pPr>
              <a:lnSpc>
                <a:spcPts val="1904"/>
              </a:lnSpc>
              <a:spcBef>
                <a:spcPts val="0"/>
              </a:spcBef>
              <a:spcAft>
                <a:spcPts val="0"/>
              </a:spcAft>
              <a:buNone/>
            </a:pPr>
            <a:r>
              <a:rPr sz="1700" b="0">
                <a:solidFill>
                  <a:srgbClr val="303437"/>
                </a:solidFill>
                <a:latin typeface="Noto Sans"/>
                <a:ea typeface="Noto Sans CJK JP"/>
              </a:rPr>
              <a:t>Section 506 of Public Law 96-550 (16 U.S.C. 410ii-5) is amended by adding the following new subsection at the end thereof:</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実例6：遺跡群とナバホ・ネイション（入力 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100072"/>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``(f) The Secretary is authorized to assist the Navajo Nation in the protection and management of those Chaco Culture Archeological Protection Sites located on lands under the jurisdiction of the Navajo Nation through a grant, contract, or cooperative agreement entered into pursuant to the Indian Self-Determination and Education Act (Public Law 93-638), as amended, to assist the Navajo Nation in site planning, resource protection, interpretation, resource management actions, and such other purposes as may be identified in such grant, contract, or cooperative agreement.''.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00" b="1" lang="ja-JP" altLang="en-US">
                <a:solidFill>
                  <a:srgbClr val="303437"/>
                </a:solidFill>
                <a:latin typeface="Noto Sans"/>
                <a:ea typeface="Noto Sans CJK JP"/>
                <a:cs typeface="Noto Sans"/>
              </a:rPr>
              <a:t>実例6：遺跡群とナバホ・ネイション（本文の訳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8" name="quote-frame"/>
          <p:cNvSpPr txBox="1"/>
          <p:nvPr/>
        </p:nvSpPr>
        <p:spPr>
          <a:xfrm>
            <a:off x="548640" y="1473200"/>
            <a:ext cx="8046720" cy="3045630"/>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第1条　略称。この法律は「1993年チャコ周辺遺跡保護法」と称することができる。第2条　整合する改正。（a）公法96-550第501条の表題を「連邦議会の認定事項」から「連邦議会の認定事項と目的」へ改める。（b）同条（b）の「サンフアン盆地」を「サンフアン盆地と周辺地域」へ改める。</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（b）（1）1991年9月の「チャコ文化考古学保護地」と題する地図に概ね示す39の周辺遺跡を、チャコ文化考古学保護地に指定する。39保護地の合計面積は約14,372エーカーで、次のとおりである。</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第4条　ナバホ・ネイションへの支援。公法96-550第506条の末尾に次を追加する。（f）長官は、ナバホ・ネイションの管轄地にあるチャコ文化考古学保護地の保護・管理を支援できる。</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00" b="1" lang="ja-JP" altLang="en-US">
                <a:solidFill>
                  <a:srgbClr val="303437"/>
                </a:solidFill>
                <a:latin typeface="Noto Sans"/>
                <a:ea typeface="Noto Sans CJK JP"/>
                <a:cs typeface="Noto Sans"/>
              </a:rPr>
              <a:t>実例6：遺跡群とナバホ・ネイション（本文の訳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8" name="quote-frame"/>
          <p:cNvSpPr txBox="1"/>
          <p:nvPr/>
        </p:nvSpPr>
        <p:spPr>
          <a:xfrm>
            <a:off x="548640" y="1473200"/>
            <a:ext cx="8046720" cy="619083"/>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インディアン自決・教育法に基づく補助金・契約・協力協定を用い、遺跡計画、資源保護、解説、資源管理、その他協定等に掲げる目的を支援する。</a:t>
            </a:r>
          </a:p>
        </p:txBody>
      </p:sp>
      <p:sp>
        <p:nvSpPr>
          <p:cNvPr id="9" name="TextBox 8"/>
          <p:cNvSpPr txBox="1"/>
          <p:nvPr/>
        </p:nvSpPr>
        <p:spPr>
          <a:xfrm>
            <a:off x="594360" y="2287016"/>
            <a:ext cx="7955280" cy="507492"/>
          </a:xfrm>
          <a:prstGeom prst="rect">
            <a:avLst/>
          </a:prstGeom>
          <a:noFill/>
        </p:spPr>
        <p:txBody>
          <a:bodyPr wrap="none" lIns="0" tIns="0">
            <a:spAutoFit/>
          </a:bodyPr>
          <a:lstStyle/>
          <a:p>
            <a:r>
              <a:rPr sz="1650">
                <a:solidFill>
                  <a:srgbClr val="303437"/>
                </a:solidFill>
                <a:latin typeface="Noto Sans CJK JP"/>
              </a:rPr>
              <a:t>本文は改正後の39地区を示す。要約の「7地区追加」や境界・面積の変更は、改正前の指定との比較を含む。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Chacoan Outliers Protection Act of 1993 - Designates seven new outlying areas as Chaco Culture Archaeological Protection Sites associated with Chacoan Anasazi Indian culture in the San Juan Basin and surrounding areas of New Mexico and Colorado. Expands the boundaries and removes or reduces the acreage of certain existing Sites. Authorizes the Secretary of the Interior to assist the Navajo Nation in the protection and management of such Sites located on lands of the Navajos through a grant, contract, or cooperative agreement entered into pursuant to the Indian Self-Determination and Education Act.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224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1993年チャコ周辺遺跡保護法。ニューメキシコ州とコロラド州のサンフアン盆地と周辺にある、チャコのアナサジ先住民文化に関係する新たな周辺7地区をチャコ文化考古学保護地に指定する。既存の一部保護地では境界を拡張し、保護対象からの除外や面積の縮小も行う。ナバホの土地にある保護地を保護・管理するため、インディアン自決・教育法に基づく補助金・契約・協力協定を通じて内務長官がナバホ・ネイションを支援できるように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実例7：生活費に応じた人的控除（入力 1/6）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1841331"/>
          </a:xfrm>
          <a:prstGeom prst="rect">
            <a:avLst/>
          </a:prstGeom>
          <a:solidFill>
            <a:srgbClr val="EBEDEB"/>
          </a:solidFill>
          <a:ln>
            <a:noFill/>
          </a:ln>
        </p:spPr>
        <p:txBody>
          <a:bodyPr wrap="square" lIns="177800" rIns="177800" tIns="50800" bIns="88900">
            <a:spAutoFit/>
          </a:bodyPr>
          <a:lstStyle/>
          <a:p>
            <a:pPr>
              <a:lnSpc>
                <a:spcPts val="1904"/>
              </a:lnSpc>
              <a:spcBef>
                <a:spcPts val="0"/>
              </a:spcBef>
              <a:spcAft>
                <a:spcPts val="0"/>
              </a:spcAft>
              <a:buNone/>
            </a:pPr>
            <a:r>
              <a:rPr sz="1700" b="0">
                <a:solidFill>
                  <a:srgbClr val="303437"/>
                </a:solidFill>
                <a:latin typeface="Noto Sans"/>
                <a:ea typeface="Noto Sans CJK JP"/>
              </a:rPr>
              <a:t>SECTION 1. SHORT TITLE.</a:t>
            </a:r>
          </a:p>
          <a:p>
            <a:pPr>
              <a:lnSpc>
                <a:spcPts val="1904"/>
              </a:lnSpc>
              <a:spcBef>
                <a:spcPts val="0"/>
              </a:spcBef>
              <a:spcAft>
                <a:spcPts val="0"/>
              </a:spcAft>
              <a:buNone/>
            </a:pPr>
            <a:r>
              <a:rPr sz="1700" b="0">
                <a:solidFill>
                  <a:srgbClr val="303437"/>
                </a:solidFill>
                <a:latin typeface="Noto Sans"/>
                <a:ea typeface="Noto Sans CJK JP"/>
              </a:rPr>
              <a:t>This Act may be cited as the ``The Personal Exemption Fairness Act of 2010''.</a:t>
            </a:r>
          </a:p>
          <a:p>
            <a:pPr>
              <a:lnSpc>
                <a:spcPts val="1904"/>
              </a:lnSpc>
              <a:spcBef>
                <a:spcPts val="0"/>
              </a:spcBef>
              <a:spcAft>
                <a:spcPts val="0"/>
              </a:spcAft>
              <a:buNone/>
            </a:pPr>
            <a:r>
              <a:rPr sz="1700" b="0">
                <a:solidFill>
                  <a:srgbClr val="303437"/>
                </a:solidFill>
                <a:latin typeface="Noto Sans"/>
                <a:ea typeface="Noto Sans CJK JP"/>
              </a:rPr>
              <a:t>SEC. 2. REGIONAL COST-OF-LIVING ADJUSTMENTS IN PERSONAL EXEMPTIONS.</a:t>
            </a:r>
          </a:p>
          <a:p>
            <a:pPr>
              <a:lnSpc>
                <a:spcPts val="1904"/>
              </a:lnSpc>
              <a:spcBef>
                <a:spcPts val="0"/>
              </a:spcBef>
              <a:spcAft>
                <a:spcPts val="0"/>
              </a:spcAft>
              <a:buNone/>
            </a:pPr>
            <a:r>
              <a:rPr sz="1700" b="0">
                <a:solidFill>
                  <a:srgbClr val="303437"/>
                </a:solidFill>
                <a:latin typeface="Noto Sans"/>
                <a:ea typeface="Noto Sans CJK JP"/>
              </a:rPr>
              <a:t>(a) In General.--Subsection (d) of section 151 of the Internal Revenue Code of 1986 is amended by adding at the end the following new paragraph: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実例7：生活費に応じた人的控除（入力 2/6）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820755"/>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``(5) Area cost-of-living adjustment.--</a:t>
            </a:r>
          </a:p>
          <a:p>
            <a:pPr>
              <a:lnSpc>
                <a:spcPts val="1904"/>
              </a:lnSpc>
              <a:spcBef>
                <a:spcPts val="0"/>
              </a:spcBef>
              <a:spcAft>
                <a:spcPts val="0"/>
              </a:spcAft>
              <a:buNone/>
            </a:pPr>
            <a:r>
              <a:rPr sz="1700" b="0">
                <a:solidFill>
                  <a:srgbClr val="303437"/>
                </a:solidFill>
                <a:latin typeface="Noto Sans"/>
                <a:ea typeface="Noto Sans CJK JP"/>
              </a:rPr>
              <a:t>``(A) In general.--Each of the dollar amounts otherwise in effect under paragraphs (1) and (3)(C) for any taxable year beginning after 2010 shall be multiplied by the applicable multiplier for the taxable year which applies to the statistical area in which the taxpayer's primary place of abode during the taxable year is located.</a:t>
            </a:r>
          </a:p>
          <a:p>
            <a:pPr>
              <a:lnSpc>
                <a:spcPts val="1904"/>
              </a:lnSpc>
              <a:spcBef>
                <a:spcPts val="0"/>
              </a:spcBef>
              <a:spcAft>
                <a:spcPts val="0"/>
              </a:spcAft>
              <a:buNone/>
            </a:pPr>
            <a:r>
              <a:rPr sz="1700" b="0">
                <a:solidFill>
                  <a:srgbClr val="303437"/>
                </a:solidFill>
                <a:latin typeface="Noto Sans"/>
                <a:ea typeface="Noto Sans CJK JP"/>
              </a:rPr>
              <a:t>``(B) Applicable multipliers.--For purposes of this paragraph--</a:t>
            </a:r>
          </a:p>
          <a:p>
            <a:pPr>
              <a:lnSpc>
                <a:spcPts val="1904"/>
              </a:lnSpc>
              <a:spcBef>
                <a:spcPts val="0"/>
              </a:spcBef>
              <a:spcAft>
                <a:spcPts val="0"/>
              </a:spcAft>
              <a:buNone/>
            </a:pPr>
            <a:r>
              <a:rPr sz="1700" b="0">
                <a:solidFill>
                  <a:srgbClr val="303437"/>
                </a:solidFill>
                <a:latin typeface="Noto Sans"/>
                <a:ea typeface="Noto Sans CJK JP"/>
              </a:rPr>
              <a:t>``(i) In general.--Not later than December 15 of each calendar year, the Secretary shall prescribe an applicable multiplier for each statistical area of the United States which shall apply to taxable years beginning during the succeeding calendar year.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実例7：生活費に応じた人的控除（入力 3/6）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1616456"/>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 Determination of multipliers.--</a:t>
            </a:r>
          </a:p>
          <a:p>
            <a:pPr>
              <a:lnSpc>
                <a:spcPts val="1904"/>
              </a:lnSpc>
              <a:spcBef>
                <a:spcPts val="0"/>
              </a:spcBef>
              <a:spcAft>
                <a:spcPts val="0"/>
              </a:spcAft>
              <a:buNone/>
            </a:pPr>
            <a:r>
              <a:rPr sz="1700" b="0">
                <a:solidFill>
                  <a:srgbClr val="303437"/>
                </a:solidFill>
                <a:latin typeface="Noto Sans"/>
                <a:ea typeface="Noto Sans CJK JP"/>
              </a:rPr>
              <a:t>``(I) In the case of a statistical area where the cost-of-living differential for the calendar year does not exceed 125 percent, the applicable multiplier is 1.</a:t>
            </a:r>
          </a:p>
          <a:p>
            <a:pPr>
              <a:lnSpc>
                <a:spcPts val="1904"/>
              </a:lnSpc>
              <a:spcBef>
                <a:spcPts val="0"/>
              </a:spcBef>
              <a:spcAft>
                <a:spcPts val="0"/>
              </a:spcAft>
              <a:buNone/>
            </a:pPr>
            <a:r>
              <a:rPr sz="1700" b="0">
                <a:solidFill>
                  <a:srgbClr val="303437"/>
                </a:solidFill>
                <a:latin typeface="Noto Sans"/>
                <a:ea typeface="Noto Sans CJK JP"/>
              </a:rPr>
              <a:t>``(II) In the case of a statistical area not described in subclause (I), the applicable multiplier is the cost- of-living differential for the calendar year.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実例7：生活費に応じた人的控除（入力 4/6）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528147"/>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``(iii) Cost of living differential.--The cost-of-living differential for any statistical area for any calendar year is the percentage determined by dividing--</a:t>
            </a:r>
          </a:p>
          <a:p>
            <a:pPr>
              <a:lnSpc>
                <a:spcPts val="1904"/>
              </a:lnSpc>
              <a:spcBef>
                <a:spcPts val="0"/>
              </a:spcBef>
              <a:spcAft>
                <a:spcPts val="0"/>
              </a:spcAft>
              <a:buNone/>
            </a:pPr>
            <a:r>
              <a:rPr sz="1700" b="0">
                <a:solidFill>
                  <a:srgbClr val="303437"/>
                </a:solidFill>
                <a:latin typeface="Noto Sans"/>
                <a:ea typeface="Noto Sans CJK JP"/>
              </a:rPr>
              <a:t>``(I) the cost-of-living for such area for the preceding calendar year, by</a:t>
            </a:r>
          </a:p>
          <a:p>
            <a:pPr>
              <a:lnSpc>
                <a:spcPts val="1904"/>
              </a:lnSpc>
              <a:spcBef>
                <a:spcPts val="0"/>
              </a:spcBef>
              <a:spcAft>
                <a:spcPts val="0"/>
              </a:spcAft>
              <a:buNone/>
            </a:pPr>
            <a:r>
              <a:rPr sz="1700" b="0">
                <a:solidFill>
                  <a:srgbClr val="303437"/>
                </a:solidFill>
                <a:latin typeface="Noto Sans"/>
                <a:ea typeface="Noto Sans CJK JP"/>
              </a:rPr>
              <a:t>``(II) the average cost-of-living for the United States for the preceding calendar year.</a:t>
            </a:r>
          </a:p>
          <a:p>
            <a:pPr>
              <a:lnSpc>
                <a:spcPts val="1904"/>
              </a:lnSpc>
              <a:spcBef>
                <a:spcPts val="0"/>
              </a:spcBef>
              <a:spcAft>
                <a:spcPts val="0"/>
              </a:spcAft>
              <a:buNone/>
            </a:pPr>
            <a:r>
              <a:rPr sz="1700" b="0">
                <a:solidFill>
                  <a:srgbClr val="303437"/>
                </a:solidFill>
                <a:latin typeface="Noto Sans"/>
                <a:ea typeface="Noto Sans CJK JP"/>
              </a:rPr>
              <a:t>``(iv) Cost-of-living for area.--</a:t>
            </a:r>
          </a:p>
          <a:p>
            <a:pPr>
              <a:lnSpc>
                <a:spcPts val="1904"/>
              </a:lnSpc>
              <a:spcBef>
                <a:spcPts val="0"/>
              </a:spcBef>
              <a:spcAft>
                <a:spcPts val="0"/>
              </a:spcAft>
              <a:buNone/>
            </a:pPr>
            <a:r>
              <a:rPr sz="1700" b="0">
                <a:solidFill>
                  <a:srgbClr val="303437"/>
                </a:solidFill>
                <a:latin typeface="Noto Sans"/>
                <a:ea typeface="Noto Sans CJK JP"/>
              </a:rPr>
              <a:t>``(I) In general.--For each calendar year beginning after 2009, the Secretary of Labor shall determine and publish a cost-of-living index for each statistical area.</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実例7：生活費に応じた人的控除（入力 5/6）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795355"/>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 Methodology.--The cost-of- living index determined under subclause (I) for any statistical area for any calendar year shall be based on average market prices for the area for the 12- month period ending on August 31 of such calendar year. The market prices taken into account under the preceding sentence shall be selected and used under the same methodology as is used by the Secretary of Labor in developing the Consumer Price Index for All Urban Consumers.</a:t>
            </a:r>
          </a:p>
          <a:p>
            <a:pPr>
              <a:lnSpc>
                <a:spcPts val="1904"/>
              </a:lnSpc>
              <a:spcBef>
                <a:spcPts val="0"/>
              </a:spcBef>
              <a:spcAft>
                <a:spcPts val="0"/>
              </a:spcAft>
              <a:buNone/>
            </a:pPr>
            <a:r>
              <a:rPr sz="1700" b="0">
                <a:solidFill>
                  <a:srgbClr val="303437"/>
                </a:solidFill>
                <a:latin typeface="Noto Sans"/>
                <a:ea typeface="Noto Sans CJK JP"/>
              </a:rPr>
              <a:t>``(v) Statistical area.--For purposes of this subsection the term `statistical area' means--</a:t>
            </a:r>
          </a:p>
          <a:p>
            <a:pPr>
              <a:lnSpc>
                <a:spcPts val="1904"/>
              </a:lnSpc>
              <a:spcBef>
                <a:spcPts val="0"/>
              </a:spcBef>
              <a:spcAft>
                <a:spcPts val="0"/>
              </a:spcAft>
              <a:buNone/>
            </a:pPr>
            <a:r>
              <a:rPr sz="1700" b="0">
                <a:solidFill>
                  <a:srgbClr val="303437"/>
                </a:solidFill>
                <a:latin typeface="Noto Sans"/>
                <a:ea typeface="Noto Sans CJK JP"/>
              </a:rPr>
              <a:t>``(I) any metropolitan statistical area as defined by the Secretary of Commerce, and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実例7：生活費に応じた人的控除（入力 6/6）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345606"/>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 the portion of any State not within a metropolitan statistical area as so defined.''.</a:t>
            </a:r>
          </a:p>
          <a:p>
            <a:pPr>
              <a:lnSpc>
                <a:spcPts val="1904"/>
              </a:lnSpc>
              <a:spcBef>
                <a:spcPts val="0"/>
              </a:spcBef>
              <a:spcAft>
                <a:spcPts val="0"/>
              </a:spcAft>
              <a:buNone/>
            </a:pPr>
            <a:r>
              <a:rPr sz="1700" b="0">
                <a:solidFill>
                  <a:srgbClr val="303437"/>
                </a:solidFill>
                <a:latin typeface="Noto Sans"/>
                <a:ea typeface="Noto Sans CJK JP"/>
              </a:rPr>
              <a:t>(b) Effective Date.--</a:t>
            </a:r>
          </a:p>
          <a:p>
            <a:pPr>
              <a:lnSpc>
                <a:spcPts val="1904"/>
              </a:lnSpc>
              <a:spcBef>
                <a:spcPts val="0"/>
              </a:spcBef>
              <a:spcAft>
                <a:spcPts val="0"/>
              </a:spcAft>
              <a:buNone/>
            </a:pPr>
            <a:r>
              <a:rPr sz="1700" b="0">
                <a:solidFill>
                  <a:srgbClr val="303437"/>
                </a:solidFill>
                <a:latin typeface="Noto Sans"/>
                <a:ea typeface="Noto Sans CJK JP"/>
              </a:rPr>
              <a:t>(1) In general.--The amendments made by this section shall apply to taxable years beginning after December 31, 2010.</a:t>
            </a:r>
          </a:p>
          <a:p>
            <a:pPr>
              <a:lnSpc>
                <a:spcPts val="1904"/>
              </a:lnSpc>
              <a:spcBef>
                <a:spcPts val="0"/>
              </a:spcBef>
              <a:spcAft>
                <a:spcPts val="0"/>
              </a:spcAft>
              <a:buNone/>
            </a:pPr>
            <a:r>
              <a:rPr sz="1700" b="0">
                <a:solidFill>
                  <a:srgbClr val="303437"/>
                </a:solidFill>
                <a:latin typeface="Noto Sans"/>
                <a:ea typeface="Noto Sans CJK JP"/>
              </a:rPr>
              <a:t>(2) Transition rule.--Notwithstanding section 151(d)(5)(B) of the Internal Revenue Code (as added by this section), the date for prescribing applicable multipliers for taxable years beginning in calendar year 2011 shall be the date 1 year after the date of the enactment of this Act.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実例7：生活費に応じた人的控除（本文の訳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法案本文の全文の日本語訳</a:t>
            </a:r>
          </a:p>
        </p:txBody>
      </p:sp>
      <p:sp>
        <p:nvSpPr>
          <p:cNvPr id="11" name="quote-frame"/>
          <p:cNvSpPr txBox="1"/>
          <p:nvPr/>
        </p:nvSpPr>
        <p:spPr>
          <a:xfrm>
            <a:off x="548640" y="1473200"/>
            <a:ext cx="8046720" cy="280382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第1条　略称。この法律は「2010年人的控除公平法」と称することができる。第2条　人的控除の地域生活費調整。（a）1986年内国歳入法第151条（d）の末尾に次を追加する。（5）（A）2010年後に始まる各課税年度について、第1項と第3項（C）の金額に、納税者の主たる住居のある統計地域の、その年度の適用乗率を掛ける。（B）（i）長官は毎年12月15日までに、米国の各統計地域について、翌暦年に始まる課税年度に適用する乗率を定める。（ii）（I）その年の地域生活費の全国平均に対する比率が125%以下なら、適用乗率は1。（II）それ以外は、その地域生活費の全国平均に対する比率を適用乗率とする。</a:t>
            </a:r>
          </a:p>
          <a:p>
            <a:pPr>
              <a:lnSpc>
                <a:spcPts val="1904"/>
              </a:lnSpc>
              <a:spcBef>
                <a:spcPts val="0"/>
              </a:spcBef>
              <a:spcAft>
                <a:spcPts val="0"/>
              </a:spcAft>
              <a:buNone/>
            </a:pPr>
            <a:r>
              <a:rPr sz="1700" b="0">
                <a:solidFill>
                  <a:srgbClr val="303437"/>
                </a:solidFill>
                <a:latin typeface="Noto Sans"/>
                <a:ea typeface="Noto Sans CJK JP"/>
              </a:rPr>
              <a:t>（iii）地域生活費の全国平均に対する比率は、その地域の前年の生活費を、米国全体の前年の平均生活費で割った百分率とする。</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実例7：生活費に応じた人的控除（本文の訳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法案本文の全文の日本語訳</a:t>
            </a:r>
          </a:p>
        </p:txBody>
      </p:sp>
      <p:sp>
        <p:nvSpPr>
          <p:cNvPr id="11" name="quote-frame"/>
          <p:cNvSpPr txBox="1"/>
          <p:nvPr/>
        </p:nvSpPr>
        <p:spPr>
          <a:xfrm>
            <a:off x="548640" y="1473200"/>
            <a:ext cx="8046720" cy="2078398"/>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iv）（I）労働長官は、2009年後に始まる各暦年について、各統計地域の生活費指数を算定・公表する。（II）指数は、その年の8月31日までの12か月間の地域の平均市場価格に基づき、都市部全消費者物価指数と同じ方法で価格を選び用いる。（v）統計地域とは、商務長官が定義する大都市統計地域と、それに含まれない各州の部分をいう。（b）（1）改正は2010年12月31日後に始まる課税年度に適用する。（2）移行規定。2011年に始まる課税年度の適用乗率を定める日は、（B）にかかわらず、この法律の制定の1年後とする。</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Personal Exemption Fairness Act of 2010 - Amends the Internal Revenue Code to require annual metropolitan statistical area cost-of-living adjustments, beginning after 2010, to the personal tax exemption amount. Directs the Secretary of Labor to determine and publish a cost-of-living index for each metropolitan statistical area.</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13123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2010年人的控除公平法。内国歳入法を改正し、2011年以降の人的控除額について、大都市統計地域の生活費に応じた年次調整を求める。労働長官に、各大都市統計地域の生活費指数を算定・公表するよう指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実例8：学生数を単位時間から数える（入力 1/6）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337139"/>
          </a:xfrm>
          <a:prstGeom prst="rect">
            <a:avLst/>
          </a:prstGeom>
          <a:solidFill>
            <a:srgbClr val="EBEDEB"/>
          </a:solidFill>
          <a:ln>
            <a:noFill/>
          </a:ln>
        </p:spPr>
        <p:txBody>
          <a:bodyPr wrap="square" lIns="177800" rIns="177800" tIns="50800" bIns="88900">
            <a:spAutoFit/>
          </a:bodyPr>
          <a:lstStyle/>
          <a:p>
            <a:pPr>
              <a:lnSpc>
                <a:spcPts val="1904"/>
              </a:lnSpc>
              <a:spcBef>
                <a:spcPts val="0"/>
              </a:spcBef>
              <a:spcAft>
                <a:spcPts val="0"/>
              </a:spcAft>
              <a:buNone/>
            </a:pPr>
            <a:r>
              <a:rPr sz="1700" b="0">
                <a:solidFill>
                  <a:srgbClr val="303437"/>
                </a:solidFill>
                <a:latin typeface="Noto Sans"/>
                <a:ea typeface="Noto Sans CJK JP"/>
              </a:rPr>
              <a:t>SECTION 1. DEFINITION OF INDIAN STUDENT COUNT.</a:t>
            </a:r>
          </a:p>
          <a:p>
            <a:pPr>
              <a:lnSpc>
                <a:spcPts val="1904"/>
              </a:lnSpc>
              <a:spcBef>
                <a:spcPts val="0"/>
              </a:spcBef>
              <a:spcAft>
                <a:spcPts val="0"/>
              </a:spcAft>
              <a:buNone/>
            </a:pPr>
            <a:r>
              <a:rPr sz="1700" b="0">
                <a:solidFill>
                  <a:srgbClr val="303437"/>
                </a:solidFill>
                <a:latin typeface="Noto Sans"/>
                <a:ea typeface="Noto Sans CJK JP"/>
              </a:rPr>
              <a:t>Section 117(h) of the Carl D. Perkins Vocational and Technical Education Act of 1998 (20 U.S.C. 2327(h)) is amended by striking paragraph (2) and inserting the following:</a:t>
            </a:r>
          </a:p>
          <a:p>
            <a:pPr>
              <a:lnSpc>
                <a:spcPts val="1904"/>
              </a:lnSpc>
              <a:spcBef>
                <a:spcPts val="0"/>
              </a:spcBef>
              <a:spcAft>
                <a:spcPts val="0"/>
              </a:spcAft>
              <a:buNone/>
            </a:pPr>
            <a:r>
              <a:rPr sz="1700" b="0">
                <a:solidFill>
                  <a:srgbClr val="303437"/>
                </a:solidFill>
                <a:latin typeface="Noto Sans"/>
                <a:ea typeface="Noto Sans CJK JP"/>
              </a:rPr>
              <a:t>``(2) Indian student count.--</a:t>
            </a:r>
          </a:p>
          <a:p>
            <a:pPr>
              <a:lnSpc>
                <a:spcPts val="1904"/>
              </a:lnSpc>
              <a:spcBef>
                <a:spcPts val="0"/>
              </a:spcBef>
              <a:spcAft>
                <a:spcPts val="0"/>
              </a:spcAft>
              <a:buNone/>
            </a:pPr>
            <a:r>
              <a:rPr sz="1700" b="0">
                <a:solidFill>
                  <a:srgbClr val="303437"/>
                </a:solidFill>
                <a:latin typeface="Noto Sans"/>
                <a:ea typeface="Noto Sans CJK JP"/>
              </a:rPr>
              <a:t>``(A) In general.--The term `Indian student count' means a number equal to the total number of Indian students enrolled in each tribally-controlled postsecondary vocational and technical institution, as determined in accordance with subparagraph (B).</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実例8：学生数を単位時間から数える（入力 2/6）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1611715"/>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``(B) Determination.--</a:t>
            </a:r>
          </a:p>
          <a:p>
            <a:pPr>
              <a:lnSpc>
                <a:spcPts val="1904"/>
              </a:lnSpc>
              <a:spcBef>
                <a:spcPts val="0"/>
              </a:spcBef>
              <a:spcAft>
                <a:spcPts val="0"/>
              </a:spcAft>
              <a:buNone/>
            </a:pPr>
            <a:r>
              <a:rPr sz="1700" b="0">
                <a:solidFill>
                  <a:srgbClr val="303437"/>
                </a:solidFill>
                <a:latin typeface="Noto Sans"/>
                <a:ea typeface="Noto Sans CJK JP"/>
              </a:rPr>
              <a:t>``(i) Enrollment.--For each academic year, the Indian student count shall be determined on the basis of the enrollments of Indian students as in effect at the conclusion of--</a:t>
            </a:r>
          </a:p>
          <a:p>
            <a:pPr>
              <a:lnSpc>
                <a:spcPts val="1904"/>
              </a:lnSpc>
              <a:spcBef>
                <a:spcPts val="0"/>
              </a:spcBef>
              <a:spcAft>
                <a:spcPts val="0"/>
              </a:spcAft>
              <a:buNone/>
            </a:pPr>
            <a:r>
              <a:rPr sz="1700" b="0">
                <a:solidFill>
                  <a:srgbClr val="303437"/>
                </a:solidFill>
                <a:latin typeface="Noto Sans"/>
                <a:ea typeface="Noto Sans CJK JP"/>
              </a:rPr>
              <a:t>``(I) in the case of the fall term, the third week of the fall term; and</a:t>
            </a:r>
          </a:p>
          <a:p>
            <a:pPr>
              <a:lnSpc>
                <a:spcPts val="1904"/>
              </a:lnSpc>
              <a:spcBef>
                <a:spcPts val="0"/>
              </a:spcBef>
              <a:spcAft>
                <a:spcPts val="0"/>
              </a:spcAft>
              <a:buNone/>
            </a:pPr>
            <a:r>
              <a:rPr sz="1700" b="0">
                <a:solidFill>
                  <a:srgbClr val="303437"/>
                </a:solidFill>
                <a:latin typeface="Noto Sans"/>
                <a:ea typeface="Noto Sans CJK JP"/>
              </a:rPr>
              <a:t>``(II) in the case of the spring term, the third week of the spring term.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実例8：学生数を単位時間から数える（入力 3/6）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578947"/>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 Calculation.--For each academic year, the Indian student count for a tribally- controlled postsecondary vocational and technical institution shall be the quotient obtained by dividing--</a:t>
            </a:r>
          </a:p>
          <a:p>
            <a:pPr>
              <a:lnSpc>
                <a:spcPts val="1904"/>
              </a:lnSpc>
              <a:spcBef>
                <a:spcPts val="0"/>
              </a:spcBef>
              <a:spcAft>
                <a:spcPts val="0"/>
              </a:spcAft>
              <a:buNone/>
            </a:pPr>
            <a:r>
              <a:rPr sz="1700" b="0">
                <a:solidFill>
                  <a:srgbClr val="303437"/>
                </a:solidFill>
                <a:latin typeface="Noto Sans"/>
                <a:ea typeface="Noto Sans CJK JP"/>
              </a:rPr>
              <a:t>``(I) the sum of the credit-hours of all Indian students enrolled in the tribally-controlled postsecondary vocational and technical institution (as determined under clause (i)); by</a:t>
            </a:r>
          </a:p>
          <a:p>
            <a:pPr>
              <a:lnSpc>
                <a:spcPts val="1904"/>
              </a:lnSpc>
              <a:spcBef>
                <a:spcPts val="0"/>
              </a:spcBef>
              <a:spcAft>
                <a:spcPts val="0"/>
              </a:spcAft>
              <a:buNone/>
            </a:pPr>
            <a:r>
              <a:rPr sz="1700" b="0">
                <a:solidFill>
                  <a:srgbClr val="303437"/>
                </a:solidFill>
                <a:latin typeface="Noto Sans"/>
                <a:ea typeface="Noto Sans CJK JP"/>
              </a:rPr>
              <a:t>``(II) 12.</a:t>
            </a:r>
          </a:p>
          <a:p>
            <a:pPr>
              <a:lnSpc>
                <a:spcPts val="1904"/>
              </a:lnSpc>
              <a:spcBef>
                <a:spcPts val="0"/>
              </a:spcBef>
              <a:spcAft>
                <a:spcPts val="0"/>
              </a:spcAft>
              <a:buNone/>
            </a:pPr>
            <a:r>
              <a:rPr sz="1700" b="0">
                <a:solidFill>
                  <a:srgbClr val="303437"/>
                </a:solidFill>
                <a:latin typeface="Noto Sans"/>
                <a:ea typeface="Noto Sans CJK JP"/>
              </a:rPr>
              <a:t>``(iii) Summer term.--Any credit earned in a class offered during a summer term shall be counted in the determination of the Indian student count for the succeeding fall term.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実例8：学生数を単位時間から数える（入力 4/6）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100072"/>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``(iv) Students without secondary school degrees.--</a:t>
            </a:r>
          </a:p>
          <a:p>
            <a:pPr>
              <a:lnSpc>
                <a:spcPts val="1904"/>
              </a:lnSpc>
              <a:spcBef>
                <a:spcPts val="0"/>
              </a:spcBef>
              <a:spcAft>
                <a:spcPts val="0"/>
              </a:spcAft>
              <a:buNone/>
            </a:pPr>
            <a:r>
              <a:rPr sz="1700" b="0">
                <a:solidFill>
                  <a:srgbClr val="303437"/>
                </a:solidFill>
                <a:latin typeface="Noto Sans"/>
                <a:ea typeface="Noto Sans CJK JP"/>
              </a:rPr>
              <a:t>``(I) In general.--A credit earned at a tribally-controlled postsecondary vocational and technical institution by any Indian student that has not obtained a secondary school degree (or the recognized equivalent of such a degree) shall be counted toward the determination of the Indian student count if the institution at which the student is enrolled has established criteria for the admission of the student on the basis of the ability of the student to benefit from the education or training of the institution.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実例8：学生数を単位時間から数える（入力 5/6）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2049272"/>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 Presumption.--The institution shall be presumed to have established the criteria described in subclause (I) if the admission procedures for the institution include counseling or testing that measures the aptitude of a student to successfully complete a course in which the student is enrolled.</a:t>
            </a:r>
          </a:p>
          <a:p>
            <a:pPr>
              <a:lnSpc>
                <a:spcPts val="1904"/>
              </a:lnSpc>
              <a:spcBef>
                <a:spcPts val="0"/>
              </a:spcBef>
              <a:spcAft>
                <a:spcPts val="0"/>
              </a:spcAft>
              <a:buNone/>
            </a:pPr>
            <a:r>
              <a:rPr sz="1700" b="0">
                <a:solidFill>
                  <a:srgbClr val="303437"/>
                </a:solidFill>
                <a:latin typeface="Noto Sans"/>
                <a:ea typeface="Noto Sans CJK JP"/>
              </a:rPr>
              <a:t>``(III) Credits toward secondary school degree.--No credit earned by an Indian student for the purpose of obtaining a secondary school degree (or the recognized equivalent of such a degree) shall be counted toward the determination of the Indian student count under this clause.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00" b="1" lang="ja-JP" altLang="en-US">
                <a:solidFill>
                  <a:srgbClr val="303437"/>
                </a:solidFill>
                <a:latin typeface="Noto Sans"/>
                <a:ea typeface="Noto Sans CJK JP"/>
                <a:cs typeface="Noto Sans"/>
              </a:rPr>
              <a:t>実例8：学生数を単位時間から数える（入力 6/6）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a:t>
            </a:r>
          </a:p>
        </p:txBody>
      </p:sp>
      <p:sp>
        <p:nvSpPr>
          <p:cNvPr id="11" name="quote-frame"/>
          <p:cNvSpPr txBox="1"/>
          <p:nvPr/>
        </p:nvSpPr>
        <p:spPr>
          <a:xfrm>
            <a:off x="548640" y="1473200"/>
            <a:ext cx="8046720" cy="1611715"/>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``(v) Continuing education programs.--Any credit earned by an Indian student in a continuing education program of a tribally- controlled postsecondary vocational and technical institution shall be included in the determination of the sum of all credit hours of the student if the credit is converted to a credit-hour basis in accordance with the system of the institution for providing credit for participation in the program.''.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00" b="1" lang="ja-JP" altLang="en-US">
                <a:solidFill>
                  <a:srgbClr val="303437"/>
                </a:solidFill>
                <a:latin typeface="Noto Sans"/>
                <a:ea typeface="Noto Sans CJK JP"/>
                <a:cs typeface="Noto Sans"/>
              </a:rPr>
              <a:t>実例8：学生数を単位時間から数える（本文の訳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法案本文の全文の日本語訳</a:t>
            </a:r>
          </a:p>
        </p:txBody>
      </p:sp>
      <p:sp>
        <p:nvSpPr>
          <p:cNvPr id="11" name="quote-frame"/>
          <p:cNvSpPr txBox="1"/>
          <p:nvPr/>
        </p:nvSpPr>
        <p:spPr>
          <a:xfrm>
            <a:off x="548640" y="1473200"/>
            <a:ext cx="8046720" cy="3045630"/>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第1条　先住民学生数の定義。1998年カール・D・パーキンズ職業・技術教育法第117条（h）（合衆国法典第20編第2327条（h））の第2項を次に置き換える。（2）（A）先住民学生数とは、中等教育後の職業・技術教育を行う部族運営の各機関に在籍する先住民学生の総数に相当し、（B）により算定する数をいう。（B）（i）各学年度の在籍数は、秋学期と春学期それぞれの第3週が終わった時点で定める。</a:t>
            </a:r>
          </a:p>
          <a:p>
            <a:pPr>
              <a:lnSpc>
                <a:spcPts val="1904"/>
              </a:lnSpc>
              <a:spcBef>
                <a:spcPts val="0"/>
              </a:spcBef>
              <a:spcAft>
                <a:spcPts val="0"/>
              </a:spcAft>
              <a:buNone/>
            </a:pPr>
            <a:r>
              <a:rPr sz="1700" b="0">
                <a:solidFill>
                  <a:srgbClr val="303437"/>
                </a:solidFill>
                <a:latin typeface="Noto Sans"/>
                <a:ea typeface="Noto Sans CJK JP"/>
              </a:rPr>
              <a:t>（ii）各学年度の先住民学生数は、その機関に在籍する先住民学生全員の履修単位数の合計を12で割った値とする。（iii）夏学期の授業で取得した単位は、次の秋学期の学生数の算定に含める。</a:t>
            </a:r>
          </a:p>
          <a:p>
            <a:pPr>
              <a:lnSpc>
                <a:spcPts val="1904"/>
              </a:lnSpc>
              <a:spcBef>
                <a:spcPts val="0"/>
              </a:spcBef>
              <a:spcAft>
                <a:spcPts val="0"/>
              </a:spcAft>
              <a:buNone/>
            </a:pPr>
            <a:r>
              <a:rPr sz="1700" b="0">
                <a:solidFill>
                  <a:srgbClr val="303437"/>
                </a:solidFill>
                <a:latin typeface="Noto Sans"/>
                <a:ea typeface="Noto Sans CJK JP"/>
              </a:rPr>
              <a:t>（iv）中等学校卒業資格のない学生。（I）卒業資格または同等資格を得ていない学生の取得単位も、その機関が教育・訓練を受けて学習上の成果を得られる能力に基づく入学基準を設けていれば、学生数の算定に含める。</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00" b="1" lang="ja-JP" altLang="en-US">
                <a:solidFill>
                  <a:srgbClr val="303437"/>
                </a:solidFill>
                <a:latin typeface="Noto Sans"/>
                <a:ea typeface="Noto Sans CJK JP"/>
                <a:cs typeface="Noto Sans"/>
              </a:rPr>
              <a:t>実例8：学生数を単位時間から数える（本文の訳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法案本文の全文の日本語訳</a:t>
            </a:r>
          </a:p>
        </p:txBody>
      </p:sp>
      <p:sp>
        <p:nvSpPr>
          <p:cNvPr id="11" name="quote-frame"/>
          <p:cNvSpPr txBox="1"/>
          <p:nvPr/>
        </p:nvSpPr>
        <p:spPr>
          <a:xfrm>
            <a:off x="548640" y="1473200"/>
            <a:ext cx="8046720" cy="1352974"/>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II）入学手続に、履修課程を修了する適性を測るカウンセリングまたは試験が含まれれば、その基準があると推定する。（III）中等学校卒業資格または同等資格の取得を目的とした単位は、この規定による学生数に算入しない。（v）継続教育の単位は、その機関の参加単位の認定制度に従って履修単位数に換算されれば、学生の総履修単位数に含める。</a:t>
            </a:r>
          </a:p>
        </p:txBody>
      </p:sp>
      <p:sp>
        <p:nvSpPr>
          <p:cNvPr id="12" name="TextBox 11"/>
          <p:cNvSpPr txBox="1"/>
          <p:nvPr/>
        </p:nvSpPr>
        <p:spPr>
          <a:xfrm>
            <a:off x="594360" y="3012440"/>
            <a:ext cx="7955280" cy="507492"/>
          </a:xfrm>
          <a:prstGeom prst="rect">
            <a:avLst/>
          </a:prstGeom>
          <a:noFill/>
        </p:spPr>
        <p:txBody>
          <a:bodyPr wrap="none" lIns="0" tIns="0">
            <a:spAutoFit/>
          </a:bodyPr>
          <a:lstStyle/>
          <a:p>
            <a:r>
              <a:rPr sz="1650">
                <a:solidFill>
                  <a:srgbClr val="303437"/>
                </a:solidFill>
                <a:latin typeface="Noto Sans CJK JP"/>
              </a:rPr>
              <a:t>要約冒頭の補助金制度は、改正先の法律の背景を補っている。入力本文が改めるのは、学生数の定義である。</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63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Amends the Carl D. Perkins Vocational and Technical Education Act of 1998 with respect to grants to tribally controlled postsecondary vocational and technical institutions that are not receiving federal support under the Tribally Controlled College or University Assistance Act of 1978 or the Navajo Community College Act to provide basic support for the education and training of Indian students. Revises the definition of "Indian student count" (essential to the formula for the determination of grant amounts).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1913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1998年カール・D・パーキンズ職業・技術教育法を改正する。1978年部族運営大学支援法またはナバホ・コミュニティ・カレッジ法による連邦支援を受けていない、部族運営の中等教育後の職業・技術教育機関への補助金を対象とする。先住民学生の教育・訓練に対する基礎的支援に関し、補助額の算定に不可欠な「先住民学生数」の定義を改め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実例9：オンライン有権者登録（入力 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2337139"/>
          </a:xfrm>
          <a:prstGeom prst="rect">
            <a:avLst/>
          </a:prstGeom>
          <a:solidFill>
            <a:srgbClr val="EBEDEB"/>
          </a:solidFill>
          <a:ln>
            <a:noFill/>
          </a:ln>
        </p:spPr>
        <p:txBody>
          <a:bodyPr wrap="square" lIns="177800" rIns="177800" tIns="50800" bIns="88900">
            <a:spAutoFit/>
          </a:bodyPr>
          <a:lstStyle/>
          <a:p>
            <a:pPr>
              <a:lnSpc>
                <a:spcPts val="1904"/>
              </a:lnSpc>
              <a:spcBef>
                <a:spcPts val="0"/>
              </a:spcBef>
              <a:spcAft>
                <a:spcPts val="0"/>
              </a:spcAft>
              <a:buNone/>
            </a:pPr>
            <a:r>
              <a:rPr sz="1700" b="0">
                <a:solidFill>
                  <a:srgbClr val="303437"/>
                </a:solidFill>
                <a:latin typeface="Noto Sans"/>
                <a:ea typeface="Noto Sans CJK JP"/>
              </a:rPr>
              <a:t>2196.</a:t>
            </a:r>
          </a:p>
          <a:p>
            <a:pPr>
              <a:lnSpc>
                <a:spcPts val="1904"/>
              </a:lnSpc>
              <a:spcBef>
                <a:spcPts val="0"/>
              </a:spcBef>
              <a:spcAft>
                <a:spcPts val="0"/>
              </a:spcAft>
              <a:buNone/>
            </a:pPr>
            <a:r>
              <a:rPr sz="1700" b="0">
                <a:solidFill>
                  <a:srgbClr val="303437"/>
                </a:solidFill>
                <a:latin typeface="Noto Sans"/>
                <a:ea typeface="Noto Sans CJK JP"/>
              </a:rPr>
              <a:t>(a) (1) Notwithstanding any other provision of law, a person who is qualified to register to vote and who has a valid California driver’s license or state identification card may submit an affidavit of voter registration electronically on the Internet Web site of the Secretary of State.</a:t>
            </a:r>
          </a:p>
          <a:p>
            <a:pPr>
              <a:lnSpc>
                <a:spcPts val="1904"/>
              </a:lnSpc>
              <a:spcBef>
                <a:spcPts val="0"/>
              </a:spcBef>
              <a:spcAft>
                <a:spcPts val="0"/>
              </a:spcAft>
              <a:buNone/>
            </a:pPr>
            <a:r>
              <a:rPr sz="1700" b="0">
                <a:solidFill>
                  <a:srgbClr val="303437"/>
                </a:solidFill>
                <a:latin typeface="Noto Sans"/>
                <a:ea typeface="Noto Sans CJK JP"/>
              </a:rPr>
              <a:t>(2) An affidavit submitted pursuant to this section is effective upon receipt of the affidavit by the Secretary of State if the affidavit is received on or before the last day to register for an election to be held in the precinct of the person submitting the affidavit.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実例9：オンライン有権者登録（入力 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3079496"/>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(8) The Secretary of State shall employ use security measures to ensure the accuracy and integrity of voter registration affidavits submitted electronically pursuant to this section.</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(e) This chapter shall become operative upon the date that either of the following occurs:</a:t>
            </a:r>
          </a:p>
          <a:p>
            <a:pPr>
              <a:lnSpc>
                <a:spcPts val="1904"/>
              </a:lnSpc>
              <a:spcBef>
                <a:spcPts val="0"/>
              </a:spcBef>
              <a:spcAft>
                <a:spcPts val="0"/>
              </a:spcAft>
              <a:buNone/>
            </a:pPr>
            <a:r>
              <a:rPr sz="1700" b="0">
                <a:solidFill>
                  <a:srgbClr val="303437"/>
                </a:solidFill>
                <a:latin typeface="Noto Sans"/>
                <a:ea typeface="Noto Sans CJK JP"/>
              </a:rPr>
              <a:t>(1) The Secretary of State certifies that the state has a statewide voter registration database that complies with the requirements of the federal Help America Vote Act of 2002 (42 U.S.C. Sec. 15301 et seq.).</a:t>
            </a:r>
          </a:p>
          <a:p>
            <a:pPr>
              <a:lnSpc>
                <a:spcPts val="1904"/>
              </a:lnSpc>
              <a:spcBef>
                <a:spcPts val="0"/>
              </a:spcBef>
              <a:spcAft>
                <a:spcPts val="0"/>
              </a:spcAft>
              <a:buNone/>
            </a:pPr>
            <a:r>
              <a:rPr sz="1700" b="0">
                <a:solidFill>
                  <a:srgbClr val="303437"/>
                </a:solidFill>
                <a:latin typeface="Noto Sans"/>
                <a:ea typeface="Noto Sans CJK JP"/>
              </a:rPr>
              <a:t>(2) The Secretary of State executes a declaration stating that all of the following conditions have occurred: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実例9：オンライン有権者登録（入力 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3062563"/>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(A) The United States Election Assistance Commission has approved the use of the federal Help America Vote Act of 2002 (42 U.S.C. Sec. 15301) funding to provide online voter registration in advance of the deployment of the statewide voter registration database or other federal funding is available and approved for the same purpose.</a:t>
            </a:r>
          </a:p>
          <a:p>
            <a:pPr>
              <a:lnSpc>
                <a:spcPts val="1904"/>
              </a:lnSpc>
              <a:spcBef>
                <a:spcPts val="0"/>
              </a:spcBef>
              <a:spcAft>
                <a:spcPts val="0"/>
              </a:spcAft>
              <a:buNone/>
            </a:pPr>
            <a:r>
              <a:rPr sz="1700" b="0">
                <a:solidFill>
                  <a:srgbClr val="303437"/>
                </a:solidFill>
                <a:latin typeface="Noto Sans"/>
                <a:ea typeface="Noto Sans CJK JP"/>
              </a:rPr>
              <a:t>(B) The Department of Motor Vehicles and the Secretary of State have developed a process and the infrastructure necessary to implement paragraph (5) of subdivision (a).</a:t>
            </a:r>
          </a:p>
          <a:p>
            <a:pPr>
              <a:lnSpc>
                <a:spcPts val="1904"/>
              </a:lnSpc>
              <a:spcBef>
                <a:spcPts val="0"/>
              </a:spcBef>
              <a:spcAft>
                <a:spcPts val="0"/>
              </a:spcAft>
              <a:buNone/>
            </a:pPr>
            <a:r>
              <a:rPr sz="1700" b="0">
                <a:solidFill>
                  <a:srgbClr val="303437"/>
                </a:solidFill>
                <a:latin typeface="Noto Sans"/>
                <a:ea typeface="Noto Sans CJK JP"/>
              </a:rPr>
              <a:t>(C) All county election management systems have been modified to receive and store electronic voter registration information received from the Secretary of State in order to allow a person who is qualified to register to vote in California to register to vote under this section.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実例9：オンライン有権者登録（本文の訳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3045630"/>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2196.（a）（1）ほかの法律にかかわらず、有権者登録の資格があり、有効なカリフォルニア州の運転免許証または州の身分証明書を持つ人は、州務長官のウェブサイトで有権者登録申告書を電子提出できる。（2）その選挙区の選挙の登録期限日までに州務長官が受け取った申告書は、受領時に効力を生じる。</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（8）州務長官は、この条に基づいて電子提出された有権者登録申告書の正確性と完全性を確保するため、安全措置を用いなければならない。</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e）この章は、次のいずれかが起きた日に施行される。（1）州務長官が、連邦2002年投票支援法の要件に従う州全域の有権者登録データベースがあると認証する。（2）州務長官が、次の条件がすべて成立したと宣言する。</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実例9：オンライン有権者登録（本文の訳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1599523"/>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A）連邦選挙支援委員会が、州全域データベースの導入前にオンライン登録を提供するための投票支援法の資金使用を認めたか、同じ目的に使える他の連邦資金が利用可能で承認されている。（B）車両管理局と州務長官が、申請者の署名の電子コピーを得るために必要な仕組みと基盤を整備した。（C）州内の登録資格者がこの条に基づき登録できるよう、全郡の選挙管理システムが、州務長官から受ける電子登録情報を受信・保存できるよう改修された。</a:t>
            </a:r>
          </a:p>
        </p:txBody>
      </p:sp>
      <p:sp>
        <p:nvSpPr>
          <p:cNvPr id="12" name="TextBox 11"/>
          <p:cNvSpPr txBox="1"/>
          <p:nvPr/>
        </p:nvSpPr>
        <p:spPr>
          <a:xfrm>
            <a:off x="594360" y="3496055"/>
            <a:ext cx="7955280" cy="507492"/>
          </a:xfrm>
          <a:prstGeom prst="rect">
            <a:avLst/>
          </a:prstGeom>
          <a:noFill/>
        </p:spPr>
        <p:txBody>
          <a:bodyPr wrap="none" lIns="0" tIns="0">
            <a:spAutoFit/>
          </a:bodyPr>
          <a:lstStyle/>
          <a:p>
            <a:r>
              <a:rPr sz="1650">
                <a:solidFill>
                  <a:srgbClr val="303437"/>
                </a:solidFill>
                <a:latin typeface="Noto Sans CJK JP"/>
              </a:rPr>
              <a:t>原文の「employ use」は変更前後の語が続いて残る箇所。要約は、実質を変えない技術的修正と説明する。</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607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Under existing law, operative when the Secretary of State certifies that the state has a statewide voter registration database that complies with the requirements of the federal Help America Vote Act of 2002 or executes a declaration stating that certain conditions have occurred, a person who is qualified to register to vote and who has a valid California driver’s license or state identification card is authorized to submit an affidavit of voter registration electronically on the Internet Web site of the Secretary of State. This bill would make technical, nonsubstantive changes to those provisions.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州務長官が連邦2002年投票支援法の要件に合う州全域の有権者登録データベースを認証するか、所定の条件が成立したと宣言すると施行される。投票資格を持ち、有効なカリフォルニア州の運転免許証または州の身分証明書を持つ人は、州務長官のウェブサイトから電子的に有権者登録申告書を提出できる。この法案は、その規定に技術的な、実質を変えない修正を加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実例10：オフィス内の保育施設（入力 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2086864"/>
          </a:xfrm>
          <a:prstGeom prst="rect">
            <a:avLst/>
          </a:prstGeom>
          <a:solidFill>
            <a:srgbClr val="EBEDEB"/>
          </a:solidFill>
          <a:ln>
            <a:noFill/>
          </a:ln>
        </p:spPr>
        <p:txBody>
          <a:bodyPr wrap="square" lIns="177800" rIns="177800" tIns="50800" bIns="88900">
            <a:spAutoFit/>
          </a:bodyPr>
          <a:lstStyle/>
          <a:p>
            <a:pPr>
              <a:lnSpc>
                <a:spcPts val="1904"/>
              </a:lnSpc>
              <a:spcBef>
                <a:spcPts val="0"/>
              </a:spcBef>
              <a:spcAft>
                <a:spcPts val="0"/>
              </a:spcAft>
              <a:buNone/>
            </a:pPr>
            <a:r>
              <a:rPr sz="1700" b="0">
                <a:solidFill>
                  <a:srgbClr val="303437"/>
                </a:solidFill>
                <a:latin typeface="Noto Sans"/>
                <a:ea typeface="Noto Sans CJK JP"/>
              </a:rPr>
              <a:t>1516.</a:t>
            </a:r>
          </a:p>
          <a:p>
            <a:pPr>
              <a:lnSpc>
                <a:spcPts val="1904"/>
              </a:lnSpc>
              <a:spcBef>
                <a:spcPts val="0"/>
              </a:spcBef>
              <a:spcAft>
                <a:spcPts val="0"/>
              </a:spcAft>
              <a:buNone/>
            </a:pPr>
            <a:r>
              <a:rPr sz="1700" b="0">
                <a:solidFill>
                  <a:srgbClr val="303437"/>
                </a:solidFill>
                <a:latin typeface="Noto Sans"/>
                <a:ea typeface="Noto Sans CJK JP"/>
              </a:rPr>
              <a:t>(a)A crisis nursery, as defined in paragraph (17) of subdivision (a) of Section 1502, shall be licensed by the department to operate a crisis residential overnight program. Notwithstanding Section 1596.80, a crisis nursery may also provide crisis day services.</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(f)A crisis nursery license shall be issued for a specific capacity determined by the department.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実例10：オフィス内の保育施設（入力 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3062563"/>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(1)(A)The maximum licensed capacity for crisis day services shall be based on 35 square feet of indoor activity space per child. Bedrooms, bathrooms, halls, offices, isolation areas, food-preparation areas, and storage places shall not be included in the calculation of indoor activity space. Floor area under tables, desks, chairs, and other equipment intended for use as part of children’s activities shall be included in the calculation of indoor space. This subparagraph shall not apply to a crisis nursery that is located in an office building.</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SEC. 2.</a:t>
            </a:r>
          </a:p>
          <a:p>
            <a:pPr>
              <a:lnSpc>
                <a:spcPts val="1904"/>
              </a:lnSpc>
              <a:spcBef>
                <a:spcPts val="0"/>
              </a:spcBef>
              <a:spcAft>
                <a:spcPts val="0"/>
              </a:spcAft>
              <a:buNone/>
            </a:pPr>
            <a:r>
              <a:rPr sz="1700" b="0">
                <a:solidFill>
                  <a:srgbClr val="303437"/>
                </a:solidFill>
                <a:latin typeface="Noto Sans"/>
                <a:ea typeface="Noto Sans CJK JP"/>
              </a:rPr>
              <a:t>SECTION 1. Section 1596.810 is added to the Health and Safety Code, immediately following Section 1596.809, to read: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実例10：オフィス内の保育施設（入力 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882566"/>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1596.810. A child day care facility, other than a family day care home, shall not be required to meet the square footage requirements of indoor activity space for child care centers if the facility is located in an office building.</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実例10：オフィス内の保育施設（本文の訳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2324947"/>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1516.（a）第1502条（a）（17）に定義する緊急保育施設は、担当局から、緊急の宿泊保育事業を行う認可を受けなければならない。第1596.80条にかかわらず、緊急の日中保育も提供できる。</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f）緊急保育施設の認可は、担当局が定める特定の定員について発行する。（1）（A）緊急の日中保育の最大認可定員は、子ども1人当たり屋内活動スペース35平方フィートに基づく。寝室、浴室、廊下、事務室、隔離区域、調理区域、保管場所は計算に含めない。子どもの活動に使う机・椅子などの下の床面積は含める。この号は、オフィスビル内の緊急保育施設には適用しない。</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実例10：オフィス内の保育施設（本文の訳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1115908"/>
          </a:xfrm>
          <a:prstGeom prst="rect">
            <a:avLst/>
          </a:prstGeom>
          <a:solidFill>
            <a:srgbClr val="EBEDEB"/>
          </a:solidFill>
          <a:ln>
            <a:noFill/>
          </a:ln>
        </p:spPr>
        <p:txBody>
          <a:bodyPr wrap="square" lIns="177800" rIns="177800" tIns="80433" bIns="88900">
            <a:spAutoFit/>
          </a:bodyPr>
          <a:lstStyle/>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保健安全法典に第1596.810条を追加する。1596.810. 家庭内保育施設を除く児童日中保育施設がオフィスビル内にある場合、保育センターの屋内活動スペースの面積要件を満たす必要はない。</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565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Existing law, the California Child Day Care Facilities Act, provides for the licensure and regulation of child day care facilities, as defined, and crisis nurseries by the State Department of Social Services. Existing law requires that the maximum licensed capacity for those facilities be based on 35 square feet of indoor activity space per child. This bill would exempt those facilities from the 35 square footage requirement if the facility is located in an office building.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261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4191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のカリフォルニア州児童日中保育施設法は、州社会福祉局による児童日中保育施設と緊急保育施設の認可・規制を定める。現行法は、その最大認可定員を子ども1人当たり屋内活動スペース35平方フィートに基づいて定めるよう求める。この法案は、施設がオフィスビル内にある場合、その35平方フィートの要件を免除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実例11：退役軍人と地域精神保健（入力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1836590"/>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5600.3. To the extent resources are available, the primary goal of the use of funds deposited in the mental health account of the local health and welfare trust fund should be to serve the target populations identified in the following categories, which shall not be construed as establishing an order of priority:</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(b) (1) Adults and older adults who have a serious mental disorder.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実例11：退役軍人と地域精神保健（入力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820755"/>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(2) For the purposes of this part, “serious mental disorder” means a mental disorder that is severe in degree and persistent in duration, which that may cause behavioral functioning which that interferes substantially with the primary activities of daily living, and which that may result in an inability to maintain stable adjustment and independent functioning without treatment, support, and rehabilitation for a long or indefinite period of time.</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(C) Counties should consider contracting with community-based veterans’ services agencies, where when possible, to provide high-quality, veteran specific mental health services.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650" b="1" lang="ja-JP" altLang="en-US">
                <a:solidFill>
                  <a:srgbClr val="303437"/>
                </a:solidFill>
                <a:latin typeface="Noto Sans"/>
                <a:ea typeface="Noto Sans CJK JP"/>
                <a:cs typeface="Noto Sans"/>
              </a:rPr>
              <a:t>実例11：退役軍人と地域精神保健（本文の訳 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8" name="quote-frame"/>
          <p:cNvSpPr txBox="1"/>
          <p:nvPr/>
        </p:nvSpPr>
        <p:spPr>
          <a:xfrm>
            <a:off x="548640" y="1473200"/>
            <a:ext cx="8046720" cy="232867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5600.3. 利用できる資源の範囲で、地域保健福祉信託基金の精神保健勘定の資金は、以下に示す対象集団へのサービスを主な使途とすることが望ましい。この列挙は優先順位を定めるものではない。</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b）（1）重度の精神障害のある成人と高齢者。（2）ここでいう重度の精神障害とは、程度が重く長く続き、日常生活の主要な活動を著しく妨げる行動上の障害を起こし得るものをいう。長期または無期限に、治療・支援・リハビリテーションなしでは安定した適応や自立した生活を維持できなくなることがある。</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650" b="1" lang="ja-JP" altLang="en-US">
                <a:solidFill>
                  <a:srgbClr val="303437"/>
                </a:solidFill>
                <a:latin typeface="Noto Sans"/>
                <a:ea typeface="Noto Sans CJK JP"/>
                <a:cs typeface="Noto Sans"/>
              </a:rPr>
              <a:t>実例11：退役軍人と地域精神保健（本文の訳 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8" name="quote-frame"/>
          <p:cNvSpPr txBox="1"/>
          <p:nvPr/>
        </p:nvSpPr>
        <p:spPr>
          <a:xfrm>
            <a:off x="548640" y="1473200"/>
            <a:ext cx="8046720" cy="1111166"/>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（C）郡は、可能な場合、退役軍人に特化した質の高い精神保健サービスを提供するため、地域に根ざした退役軍人支援機関との契約を検討するべきである。</a:t>
            </a:r>
          </a:p>
        </p:txBody>
      </p:sp>
      <p:sp>
        <p:nvSpPr>
          <p:cNvPr id="9" name="TextBox 8"/>
          <p:cNvSpPr txBox="1"/>
          <p:nvPr/>
        </p:nvSpPr>
        <p:spPr>
          <a:xfrm>
            <a:off x="594360" y="2770632"/>
            <a:ext cx="7955280" cy="507492"/>
          </a:xfrm>
          <a:prstGeom prst="rect">
            <a:avLst/>
          </a:prstGeom>
          <a:noFill/>
        </p:spPr>
        <p:txBody>
          <a:bodyPr wrap="none" lIns="0" tIns="0">
            <a:spAutoFit/>
          </a:bodyPr>
          <a:lstStyle/>
          <a:p>
            <a:r>
              <a:rPr sz="1650">
                <a:solidFill>
                  <a:srgbClr val="303437"/>
                </a:solidFill>
                <a:latin typeface="Noto Sans CJK JP"/>
              </a:rPr>
              <a:t>原文の「which that」「where when」は変更前後の語が続く箇所。訳は意味を示し、要約は技術的修正と説明する。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Existing law contains provisions governing the operation and financing of community mental health services for the mentally disordered in every county through locally administered and locally controlled community mental health programs. This bill would make technical, nonsubstantive changes to the latter provisions.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337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現行法は、各郡で地域の運営・管理による地域精神保健プログラムを通じ、精神障害のある人へのサービスの運営と財源を定める。この法案は、これらの規定に技術的な、実質を変えない修正を加える。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実例12：後見の権限と代理人の継続（入力 1/6）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100072"/>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(b) Notwithstanding any other law, a conservator may authorize the placement of a conservatee in a secured perimeter residential care facility for the elderly operated pursuant to Section 1569.698 of the Health and Safety Code, and which has a care plan that meets the requirements of Section 87705 of Title 22 of the California Code of Regulations, upon a court’s finding, by clear and convincing evidence, of all of the following:</a:t>
            </a:r>
          </a:p>
          <a:p>
            <a:pPr>
              <a:lnSpc>
                <a:spcPts val="1904"/>
              </a:lnSpc>
              <a:spcBef>
                <a:spcPts val="0"/>
              </a:spcBef>
              <a:spcAft>
                <a:spcPts val="0"/>
              </a:spcAft>
              <a:buNone/>
            </a:pPr>
            <a:r>
              <a:rPr sz="1700" b="0">
                <a:solidFill>
                  <a:srgbClr val="303437"/>
                </a:solidFill>
                <a:latin typeface="Noto Sans"/>
                <a:ea typeface="Noto Sans CJK JP"/>
              </a:rPr>
              <a:t>(1) The conservatee has dementia, as defined in the last published edition of the “Diagnostic and Statistical Manual of Mental Disorders.”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実例12：後見の権限と代理人の継続（入力 2/6）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578947"/>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(2) The conservatee lacks the capacity to give informed consent to this placement and has at least one mental function deficit pursuant to subdivision (a) of Section 811, and this deficit significantly impairs the person’s ability to understand and appreciate the consequences of his or her actions pursuant to subdivision (b) of Section 811.</a:t>
            </a:r>
          </a:p>
          <a:p>
            <a:pPr>
              <a:lnSpc>
                <a:spcPts val="1904"/>
              </a:lnSpc>
              <a:spcBef>
                <a:spcPts val="0"/>
              </a:spcBef>
              <a:spcAft>
                <a:spcPts val="0"/>
              </a:spcAft>
              <a:buNone/>
            </a:pPr>
            <a:r>
              <a:rPr sz="1700" b="0">
                <a:solidFill>
                  <a:srgbClr val="303437"/>
                </a:solidFill>
                <a:latin typeface="Noto Sans"/>
                <a:ea typeface="Noto Sans CJK JP"/>
              </a:rPr>
              <a:t>(3) The conservatee needs or would benefit from a restricted and secure environment, as demonstrated by evidence presented by the physician or psychologist referred to in paragraph (3) of subdivision (f).</a:t>
            </a:r>
          </a:p>
          <a:p>
            <a:pPr>
              <a:lnSpc>
                <a:spcPts val="1904"/>
              </a:lnSpc>
              <a:spcBef>
                <a:spcPts val="0"/>
              </a:spcBef>
              <a:spcAft>
                <a:spcPts val="0"/>
              </a:spcAft>
              <a:buNone/>
            </a:pPr>
            <a:r>
              <a:rPr sz="1700" b="0">
                <a:solidFill>
                  <a:srgbClr val="303437"/>
                </a:solidFill>
                <a:latin typeface="Noto Sans"/>
                <a:ea typeface="Noto Sans CJK JP"/>
              </a:rPr>
              <a:t>(4) The court finds that the proposed placement in a locked facility is the least restrictive placement appropriate to the needs of the conservatee.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実例12：後見の権限と代理人の継続（入力 3/6）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3062563"/>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(c) Notwithstanding any other law, a conservator of a person may authorize the administration of medications appropriate for the care and treatment of dementia, upon a court’s finding, by clear and convincing evidence, of all of the following:</a:t>
            </a:r>
          </a:p>
          <a:p>
            <a:pPr>
              <a:lnSpc>
                <a:spcPts val="1904"/>
              </a:lnSpc>
              <a:spcBef>
                <a:spcPts val="0"/>
              </a:spcBef>
              <a:spcAft>
                <a:spcPts val="0"/>
              </a:spcAft>
              <a:buNone/>
            </a:pPr>
            <a:r>
              <a:rPr sz="1700" b="0">
                <a:solidFill>
                  <a:srgbClr val="303437"/>
                </a:solidFill>
                <a:latin typeface="Noto Sans"/>
                <a:ea typeface="Noto Sans CJK JP"/>
              </a:rPr>
              <a:t>(1) The conservatee has dementia, as defined in the last published edition of the “Diagnostic and Statistical Manual of Mental Disorders.”</a:t>
            </a:r>
          </a:p>
          <a:p>
            <a:pPr>
              <a:lnSpc>
                <a:spcPts val="1904"/>
              </a:lnSpc>
              <a:spcBef>
                <a:spcPts val="0"/>
              </a:spcBef>
              <a:spcAft>
                <a:spcPts val="0"/>
              </a:spcAft>
              <a:buNone/>
            </a:pPr>
            <a:r>
              <a:rPr sz="1700" b="0">
                <a:solidFill>
                  <a:srgbClr val="303437"/>
                </a:solidFill>
                <a:latin typeface="Noto Sans"/>
                <a:ea typeface="Noto Sans CJK JP"/>
              </a:rPr>
              <a:t>(2) The conservatee lacks the capacity to give informed consent to the administration of medications appropriate to the care of dementia, and has at least one mental function deficit pursuant to subdivision (a) of Section 811, and this deficit or deficits significantly impairs the person’s ability to understand and appreciate the consequences of his or her actions pursuant to subdivision (b) of Section 811.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実例12：後見の権限と代理人の継続（入力 4/6）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2044531"/>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(3) The conservatee needs or would benefit from appropriate medication as demonstrated by evidence presented by the physician or psychologist referred to in paragraph (3) of subdivision (f).</a:t>
            </a:r>
          </a:p>
          <a:p>
            <a:pPr>
              <a:lnSpc>
                <a:spcPts val="1904"/>
              </a:lnSpc>
              <a:spcBef>
                <a:spcPts val="0"/>
              </a:spcBef>
              <a:spcAft>
                <a:spcPts val="0"/>
              </a:spcAft>
              <a:buNone/>
            </a:pPr>
            <a:r>
              <a:rPr sz="1700" b="0">
                <a:solidFill>
                  <a:srgbClr val="303437"/>
                </a:solidFill>
                <a:latin typeface="Noto Sans"/>
                <a:ea typeface="Noto Sans CJK JP"/>
              </a:rPr>
              <a:t>(d) Pursuant to subdivision (b) of Section 2355, in the case of a person who is an adherent of a religion whose tenets and practices call for a reliance on prayer alone for healing, the treatment required by the conservator under subdivision (c) shall be by an accredited practitioner of that religion in lieu of the administration of medications.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実例12：後見の権限と代理人の継続（入力 5/6）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1853523"/>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(e) A conservatee who is to be placed in a facility pursuant to this section shall not be placed in a mental health rehabilitation center as described in Section 5675 of the Welfare and Institutions Code, or in an institution for mental disease as described in Section 5900 of the Welfare and Institutions Code.</a:t>
            </a:r>
          </a:p>
          <a:p>
            <a:pPr>
              <a:lnSpc>
                <a:spcPts val="1904"/>
              </a:lnSpc>
              <a:spcBef>
                <a:spcPts val="0"/>
              </a:spcBef>
              <a:spcAft>
                <a:spcPts val="0"/>
              </a:spcAft>
              <a:buNone/>
            </a:pPr>
            <a:r>
              <a:rPr sz="1700" b="0">
                <a:solidFill>
                  <a:srgbClr val="303437"/>
                </a:solidFill>
                <a:latin typeface="Noto Sans"/>
                <a:ea typeface="Noto Sans CJK JP"/>
              </a:rPr>
              <a:t>(f) A petition for authority to act under this section is governed by Section 2357, except: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実例12：後見の権限と代理人の継続（入力 6/6）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8" name="quote-frame"/>
          <p:cNvSpPr txBox="1"/>
          <p:nvPr/>
        </p:nvSpPr>
        <p:spPr>
          <a:xfrm>
            <a:off x="548640" y="1473200"/>
            <a:ext cx="8046720" cy="1560915"/>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(1) The conservatee shall be represented by an attorney pursuant to Chapter 4 (commencing with Section 1470) of Part 1. Upon granting or denying authority to a conservator under this section, the court shall discharge the attorney or order the continuation of the legal representation, consistent with the standard set forth in subdivision (a) of Section 1470.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50" b="1" lang="ja-JP" altLang="en-US">
                <a:solidFill>
                  <a:srgbClr val="303437"/>
                </a:solidFill>
                <a:latin typeface="Noto Sans"/>
                <a:ea typeface="Noto Sans CJK JP"/>
                <a:cs typeface="Noto Sans"/>
              </a:rPr>
              <a:t>実例12：後見の権限と代理人の継続（本文の訳 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8" name="quote-frame"/>
          <p:cNvSpPr txBox="1"/>
          <p:nvPr/>
        </p:nvSpPr>
        <p:spPr>
          <a:xfrm>
            <a:off x="548640" y="1473200"/>
            <a:ext cx="8046720" cy="280382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b）ほかの法律にかかわらず、裁判所が明白で説得力のある証拠により次のすべてを認定した場合、後見人は被後見人を、保健安全法典第1569.698条に従って運営され、州規則第22編第87705条に適合するケア計画を持つ、周囲を施錠した高齢者居住ケア施設へ入所させることを認められる。（1）被後見人に刊行済みの最新版の「精神疾患の診断・統計マニュアル」に定義される認知症がある。（2）入所への十分な説明に基づく同意を与える能力がなく、第811条（a）の精神機能の欠損が少なくとも一つあり、自分の行動の結果を理解・認識する能力を著しく損なっている。（3）（f）（3）の医師または心理職の証拠により、制限された安全な環境が必要か、有益である。（4）提案された施錠施設への入所が、その人の必要に適した最も制限の少ない方法である。</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50" b="1" lang="ja-JP" altLang="en-US">
                <a:solidFill>
                  <a:srgbClr val="303437"/>
                </a:solidFill>
                <a:latin typeface="Noto Sans"/>
                <a:ea typeface="Noto Sans CJK JP"/>
                <a:cs typeface="Noto Sans"/>
              </a:rPr>
              <a:t>実例12：後見の権限と代理人の継続（本文の訳 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8" name="quote-frame"/>
          <p:cNvSpPr txBox="1"/>
          <p:nvPr/>
        </p:nvSpPr>
        <p:spPr>
          <a:xfrm>
            <a:off x="548640" y="1473200"/>
            <a:ext cx="8046720" cy="3045630"/>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c）ほかの法律にかかわらず、裁判所が明白で説得力のある証拠により次のすべてを認定した場合、身上後見人は認知症のケア・治療に適した薬の投与を認めることができる。（1）被後見人に刊行済みの最新版の「精神疾患の診断・統計マニュアル」に定義される認知症がある。（2）投薬への十分な説明に基づく同意を与える能力がなく、第811条（a）の精神機能の欠損が少なくとも一つあり、自分の行動の結果を理解・認識する能力を著しく損なっている。（3）（f）（3）の医師または心理職の証拠により、適切な投薬が必要か、有益である。（d）祈りだけによる治癒を教義・実践とする宗教の信者については、第2355条（b）に従い、後見人が（c）で求める治療は、投薬に代えて、その宗教の認定された実践者によるものとしなければならない。（e）この条による入所先として、福祉施設法典第5675条の精神保健リハビリテーションセンターや、第5900条の精神疾患施設に入れてはならない。</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50" b="1" lang="ja-JP" altLang="en-US">
                <a:solidFill>
                  <a:srgbClr val="303437"/>
                </a:solidFill>
                <a:latin typeface="Noto Sans"/>
                <a:ea typeface="Noto Sans CJK JP"/>
                <a:cs typeface="Noto Sans"/>
              </a:rPr>
              <a:t>実例12：後見の権限と代理人の継続（本文の訳 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TextBox 6"/>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8" name="quote-frame"/>
          <p:cNvSpPr txBox="1"/>
          <p:nvPr/>
        </p:nvSpPr>
        <p:spPr>
          <a:xfrm>
            <a:off x="548640" y="1473200"/>
            <a:ext cx="8046720" cy="1352974"/>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f）この条に基づく権限の申立ては、次の例外を除き第2357条による。（1）被後見人には、第1部第4章に従って弁護士を付けなければならない。裁判所はこの条の権限を後見人に認めるか拒否する際、第1470条（a）の基準に従って弁護士の任務を終了させるか、代理を継続させる命令を出さなければならない。</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Existing law provides that, upon a court’s findings that a conservatee has dementia, as defined, and a functional impairment, a conservator may place the conservatee in a prescribed secured residential or nursing facility and authorize the administration of prescribed medications appropriate for the care and treatment of dementia. A petition for authority to act under these provisions requires, among other things, that the conservatee be represented by an attorney, as provided. This bill would require the court, upon granting or denying that authority to a conservator, to either discharge the attorney or order continuation of the representation, as specified.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裁判所が被後見人に所定の認知症と機能障害があると認定した場合、後見人が被後見人を所定の施錠された居住施設または看護施設へ入所させ、認知症のケア・治療に適した所定の薬の投与を認めることができると定める。この権限の申立てには、被後見人に弁護士を付けることなどが必要である。この法案は、裁判所がその権限を認めるか拒否する際、弁護士の任務を終えるか代理を継続させる命令を出すよう求め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実例13：警察ボディーカメラの保存（入力 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2578947"/>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(b) When establishing policies and procedures for the implementation and operation of a body-worn camera system, law enforcement agencies, departments, or entities shall consider the following best practices regarding the downloading and storage of body-worn camera data:</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(3) Establish specific measures to prevent data tampering, deleting, and copying, including prohibiting the unauthorized use, duplication, or distribution of body-worn camera data.</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(5) Specifically state the length of time that recorded data is to be stored.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実例13：警察ボディーカメラの保存（入力 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3011763"/>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(A) Unless subparagraph (B) or (C) applies, nonevidentiary data including video and audio recorded by a body-worn camera should be retained for a minimum of 60 days, after which it may be erased, destroyed, or recycled. An agency may keep data for more than 60 days to have it available in case of a citizen complaint and to preserve transparency.</a:t>
            </a:r>
          </a:p>
          <a:p>
            <a:pPr>
              <a:lnSpc>
                <a:spcPts val="1904"/>
              </a:lnSpc>
              <a:spcBef>
                <a:spcPts val="0"/>
              </a:spcBef>
              <a:spcAft>
                <a:spcPts val="0"/>
              </a:spcAft>
              <a:buNone/>
            </a:pPr>
            <a:r>
              <a:rPr sz="1700" b="0">
                <a:solidFill>
                  <a:srgbClr val="303437"/>
                </a:solidFill>
                <a:latin typeface="Noto Sans"/>
                <a:ea typeface="Noto Sans CJK JP"/>
              </a:rPr>
              <a:t>(B)  Evidentiary data including video and audio recorded by a body-worn camera under this section should be retained for a minimum of two years under any of the following circumstances:</a:t>
            </a:r>
          </a:p>
          <a:p>
            <a:pPr>
              <a:lnSpc>
                <a:spcPts val="1904"/>
              </a:lnSpc>
              <a:spcBef>
                <a:spcPts val="0"/>
              </a:spcBef>
              <a:spcAft>
                <a:spcPts val="0"/>
              </a:spcAft>
              <a:buNone/>
            </a:pPr>
            <a:r>
              <a:rPr sz="1700" b="0">
                <a:solidFill>
                  <a:srgbClr val="303437"/>
                </a:solidFill>
                <a:latin typeface="Noto Sans"/>
                <a:ea typeface="Noto Sans CJK JP"/>
              </a:rPr>
              <a:t>(i) The recording is of an incident involving the use of force by a peace officer or an officer-involved shooting.</a:t>
            </a:r>
          </a:p>
          <a:p>
            <a:pPr>
              <a:lnSpc>
                <a:spcPts val="1904"/>
              </a:lnSpc>
              <a:spcBef>
                <a:spcPts val="0"/>
              </a:spcBef>
              <a:spcAft>
                <a:spcPts val="0"/>
              </a:spcAft>
              <a:buNone/>
            </a:pPr>
            <a:r>
              <a:rPr sz="1700" b="0">
                <a:solidFill>
                  <a:srgbClr val="303437"/>
                </a:solidFill>
                <a:latin typeface="Noto Sans"/>
                <a:ea typeface="Noto Sans CJK JP"/>
              </a:rPr>
              <a:t>(ii) The recording is of an incident that leads to the detention or arrest of an individual.</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実例13：警察ボディーカメラの保存（入力 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2095331"/>
          </a:xfrm>
          <a:prstGeom prst="rect">
            <a:avLst/>
          </a:prstGeom>
          <a:solidFill>
            <a:srgbClr val="EBEDEB"/>
          </a:solidFill>
          <a:ln>
            <a:noFill/>
          </a:ln>
        </p:spPr>
        <p:txBody>
          <a:bodyPr wrap="square" lIns="177800" rIns="177800" tIns="59267" bIns="88900">
            <a:spAutoFit/>
          </a:bodyPr>
          <a:lstStyle/>
          <a:p>
            <a:pPr>
              <a:lnSpc>
                <a:spcPts val="1904"/>
              </a:lnSpc>
              <a:spcBef>
                <a:spcPts val="0"/>
              </a:spcBef>
              <a:spcAft>
                <a:spcPts val="0"/>
              </a:spcAft>
              <a:buNone/>
            </a:pPr>
            <a:r>
              <a:rPr sz="1700" b="0">
                <a:solidFill>
                  <a:srgbClr val="303437"/>
                </a:solidFill>
                <a:latin typeface="Noto Sans"/>
                <a:ea typeface="Noto Sans CJK JP"/>
              </a:rPr>
              <a:t>(iii) The recording is relevant to a formal or informal complaint against a law enforcement officer or a law enforcement agency.</a:t>
            </a:r>
          </a:p>
          <a:p>
            <a:pPr>
              <a:lnSpc>
                <a:spcPts val="1904"/>
              </a:lnSpc>
              <a:spcBef>
                <a:spcPts val="0"/>
              </a:spcBef>
              <a:spcAft>
                <a:spcPts val="0"/>
              </a:spcAft>
              <a:buNone/>
            </a:pPr>
            <a:r>
              <a:rPr sz="1700" b="0">
                <a:solidFill>
                  <a:srgbClr val="303437"/>
                </a:solidFill>
                <a:latin typeface="Noto Sans"/>
                <a:ea typeface="Noto Sans CJK JP"/>
              </a:rPr>
              <a:t>(C) If evidence that may be relevant to a criminal prosecution is obtained from a recording made by a body-worn camera under this section, the law enforcement agency should retain the recording for any time in addition to that specified in paragraphs (A) and (B), and in the same manner as is required by law for other evidence that may be relevant to a criminal prosecution.</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750" b="1" lang="ja-JP" altLang="en-US">
                <a:solidFill>
                  <a:srgbClr val="303437"/>
                </a:solidFill>
                <a:latin typeface="Noto Sans"/>
                <a:ea typeface="Noto Sans CJK JP"/>
                <a:cs typeface="Noto Sans"/>
              </a:rPr>
              <a:t>実例13：警察ボディーカメラの保存（入力 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法案本文の抜粋（省略箇所は〔中略〕）</a:t>
            </a:r>
          </a:p>
        </p:txBody>
      </p:sp>
      <p:sp>
        <p:nvSpPr>
          <p:cNvPr id="11" name="quote-frame"/>
          <p:cNvSpPr txBox="1"/>
          <p:nvPr/>
        </p:nvSpPr>
        <p:spPr>
          <a:xfrm>
            <a:off x="548640" y="1473200"/>
            <a:ext cx="8046720" cy="3079496"/>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(c) (1) For purposes of this section, “evidentiary data” refers to data of an incident or encounter that could prove useful for investigative purposes, including, but not limited to, a crime, an arrest or citation, a search, a use of force incident, or a confrontational encounter with a member of the public. The retention period for evidentiary data are subject to state evidentiary laws.</a:t>
            </a:r>
          </a:p>
          <a:p>
            <a:pPr>
              <a:lnSpc>
                <a:spcPts val="1904"/>
              </a:lnSpc>
              <a:spcBef>
                <a:spcPts val="0"/>
              </a:spcBef>
              <a:spcAft>
                <a:spcPts val="0"/>
              </a:spcAft>
              <a:buNone/>
            </a:pPr>
            <a:r>
              <a:rPr sz="1700" b="0">
                <a:solidFill>
                  <a:srgbClr val="303437"/>
                </a:solidFill>
                <a:latin typeface="Noto Sans"/>
                <a:ea typeface="Noto Sans CJK JP"/>
              </a:rPr>
              <a:t>(2) For purposes of this section, “nonevidentiary data” refers to data that does not necessarily have value to aid in an investigation or prosecution, such as data of an incident or encounter that does not lead to an arrest or citation, or data of general activities the officer might perform while on duty.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50" b="1" lang="ja-JP" altLang="en-US">
                <a:solidFill>
                  <a:srgbClr val="303437"/>
                </a:solidFill>
                <a:latin typeface="Noto Sans"/>
                <a:ea typeface="Noto Sans CJK JP"/>
                <a:cs typeface="Noto Sans"/>
              </a:rPr>
              <a:t>実例13：警察ボディーカメラの保存（本文の訳 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280382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（b）警察機関等は、ボディーカメラ制度の導入・運用の方針と手続きを定める際、データのダウンロードと保存について次の望ましい実務を検討しなければならない。</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（3）改ざん、削除、コピーを防ぐ具体的な措置を定める。カメラデータの無断使用・複製・配布の禁止を含む。</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5）データの保存期間を明記する。（A）（B）または（C）が適用される場合を除き、証拠性のない映像・音声は最低60日保存することが望ましく、その後は消去・廃棄・再利用できる。市民の苦情に備え、透明性を守るため、60日を超えて保持してもよい。</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50" b="1" lang="ja-JP" altLang="en-US">
                <a:solidFill>
                  <a:srgbClr val="303437"/>
                </a:solidFill>
                <a:latin typeface="Noto Sans"/>
                <a:ea typeface="Noto Sans CJK JP"/>
                <a:cs typeface="Noto Sans"/>
              </a:rPr>
              <a:t>実例13：警察ボディーカメラの保存（本文の訳 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869358"/>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（B）証拠性のある映像・音声は、警察官の実力行使や発砲、人の拘束・逮捕につながる事件、または警察官・機関への正式・非正式な苦情に関連する場合、最低2年保存することが望ましい。</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50" b="1" lang="ja-JP" altLang="en-US">
                <a:solidFill>
                  <a:srgbClr val="303437"/>
                </a:solidFill>
                <a:latin typeface="Noto Sans"/>
                <a:ea typeface="Noto Sans CJK JP"/>
                <a:cs typeface="Noto Sans"/>
              </a:rPr>
              <a:t>実例13：警察ボディーカメラの保存（本文の訳 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10" name="TextBox 9"/>
          <p:cNvSpPr txBox="1"/>
          <p:nvPr/>
        </p:nvSpPr>
        <p:spPr>
          <a:xfrm>
            <a:off x="548640" y="1257300"/>
            <a:ext cx="8046720" cy="203200"/>
          </a:xfrm>
          <a:prstGeom prst="rect">
            <a:avLst/>
          </a:prstGeom>
          <a:noFill/>
        </p:spPr>
        <p:txBody>
          <a:bodyPr wrap="none" lIns="0" tIns="0">
            <a:spAutoFit/>
          </a:bodyPr>
          <a:lstStyle/>
          <a:p>
            <a:r>
              <a:rPr sz="1100">
                <a:solidFill>
                  <a:srgbClr val="626669"/>
                </a:solidFill>
              </a:rPr>
              <a:t>法案本文の抜粋の日本語訳</a:t>
            </a:r>
          </a:p>
        </p:txBody>
      </p:sp>
      <p:sp>
        <p:nvSpPr>
          <p:cNvPr id="11" name="quote-frame"/>
          <p:cNvSpPr txBox="1"/>
          <p:nvPr/>
        </p:nvSpPr>
        <p:spPr>
          <a:xfrm>
            <a:off x="548640" y="1473200"/>
            <a:ext cx="8046720" cy="2328672"/>
          </a:xfrm>
          <a:prstGeom prst="rect">
            <a:avLst/>
          </a:prstGeom>
          <a:solidFill>
            <a:srgbClr val="EBEDEB"/>
          </a:solidFill>
          <a:ln>
            <a:noFill/>
          </a:ln>
        </p:spPr>
        <p:txBody>
          <a:bodyPr wrap="square" lIns="177800" rIns="177800" tIns="76200" bIns="88900">
            <a:spAutoFit/>
          </a:bodyPr>
          <a:lstStyle/>
          <a:p>
            <a:pPr>
              <a:lnSpc>
                <a:spcPts val="1904"/>
              </a:lnSpc>
              <a:spcBef>
                <a:spcPts val="0"/>
              </a:spcBef>
              <a:spcAft>
                <a:spcPts val="0"/>
              </a:spcAft>
              <a:buNone/>
            </a:pPr>
            <a:r>
              <a:rPr sz="1700" b="0">
                <a:solidFill>
                  <a:srgbClr val="303437"/>
                </a:solidFill>
                <a:latin typeface="Noto Sans"/>
                <a:ea typeface="Noto Sans CJK JP"/>
              </a:rPr>
              <a:t>（C）刑事訴追に関係し得る証拠が映像から得られた場合、ほかの同種の証拠について法が求めるのと同じ方法で、（A）（B）の期間を超えて保存するべきである。</a:t>
            </a:r>
          </a:p>
          <a:p>
            <a:pPr>
              <a:lnSpc>
                <a:spcPts val="1904"/>
              </a:lnSpc>
              <a:spcBef>
                <a:spcPts val="0"/>
              </a:spcBef>
              <a:spcAft>
                <a:spcPts val="0"/>
              </a:spcAft>
              <a:buNone/>
            </a:pPr>
            <a:r>
              <a:rPr sz="1700" b="0">
                <a:solidFill>
                  <a:srgbClr val="303437"/>
                </a:solidFill>
                <a:latin typeface="Noto Sans"/>
                <a:ea typeface="Noto Sans CJK JP"/>
              </a:rPr>
              <a:t>〔中略〕</a:t>
            </a:r>
          </a:p>
          <a:p>
            <a:pPr>
              <a:lnSpc>
                <a:spcPts val="1904"/>
              </a:lnSpc>
              <a:spcBef>
                <a:spcPts val="0"/>
              </a:spcBef>
              <a:spcAft>
                <a:spcPts val="0"/>
              </a:spcAft>
              <a:buNone/>
            </a:pPr>
            <a:r>
              <a:rPr sz="1700" b="0">
                <a:solidFill>
                  <a:srgbClr val="303437"/>
                </a:solidFill>
                <a:latin typeface="Noto Sans"/>
                <a:ea typeface="Noto Sans CJK JP"/>
              </a:rPr>
              <a:t>（c）（1）証拠性のあるデータとは、犯罪、逮捕・違反告知、捜索、実力行使、市民との対立的な接触など、捜査に役立ち得る出来事・接触のデータをいう。保存期間には州の証拠法が適用される。（2）証拠性のないデータとは、逮捕・違反告知に至らない出来事や、勤務中の一般的な活動など、捜査・訴追に必ずしも役立たないデータをいう。</a:t>
            </a:r>
          </a:p>
        </p:txBody>
      </p:sp>
      <p:sp>
        <p:nvSpPr>
          <p:cNvPr id="12" name="TextBox 11"/>
          <p:cNvSpPr txBox="1"/>
          <p:nvPr/>
        </p:nvSpPr>
        <p:spPr>
          <a:xfrm>
            <a:off x="594360" y="3979672"/>
            <a:ext cx="7955280" cy="507492"/>
          </a:xfrm>
          <a:prstGeom prst="rect">
            <a:avLst/>
          </a:prstGeom>
          <a:noFill/>
        </p:spPr>
        <p:txBody>
          <a:bodyPr wrap="none" lIns="0" tIns="0">
            <a:spAutoFit/>
          </a:bodyPr>
          <a:lstStyle/>
          <a:p>
            <a:r>
              <a:rPr sz="1650">
                <a:solidFill>
                  <a:srgbClr val="303437"/>
                </a:solidFill>
                <a:latin typeface="Noto Sans CJK JP"/>
              </a:rPr>
              <a:t>要約冒頭の録音禁止と警察官の例外は、関連する現行法の背景。配布入力には新設の保存規定が収録されている。</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Existing law makes it a crime to intentionally record a confidential communication without the consent of all parties to the communication. Existing law exempts specified peace officers from that provision if they are acting within the scope of their authority. This bill would require law enforcement agencies to consider specified best practices when establishing policies and procedures for downloading and storing data from body-worn cameras, including, among other things, prohibiting the unauthorized use, duplication, or distribution of the data, and establishing storage periods for evidentiary and nonevidentiary data, as defined.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会話の当事者全員の同意なく秘密の通信を意図的に録音することを犯罪とするが、権限の範囲で活動する所定の警察官等は例外とする。この法案は、警察機関がボディーカメラのデータをダウンロード・保存する方針や手続きを定める際、所定の望ましい実務を検討するよう求める。無断使用・複製・配布の禁止や、証拠性のあるデータと証拠性のないデータの保存期間の設定などを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法律文書の要約を、別の議会へ広げる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Anastassia KornilovaとVladimir EidelmanによるFiscalNote Researchの研究。2019年の第2回New Frontiers in Summarizationワークショップで発表された。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連邦議会の専門的な要約を学習資源にし、人による要約が十分にない州や地方の法案にも適用することを目指した。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抽出型モデルと公開コーパスを示し、技術的な条文と要約の文体の違いを研究課題として整理した。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BillSum: A Corpus for Automatic Summarization of US Legislation</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Anastassia Kornilova and Vladimir Eidelman · 2019 · New Frontiers in Summarization, pp.48–56</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米議会・Californiaの法案と要約、抽出型モデル、議会をまたぐ評価を報告する。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https://aclanthology.org/D19-5406/</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ROUGE: A Package for Automatic Evaluation of Summaries</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Chin-Yew Lin · 2004 · Text Summarization Branches Out</a:t>
            </a:r>
          </a:p>
        </p:txBody>
      </p:sp>
      <p:sp>
        <p:nvSpPr>
          <p:cNvPr id="10" name="TextBox 9"/>
          <p:cNvSpPr txBox="1"/>
          <p:nvPr/>
        </p:nvSpPr>
        <p:spPr>
          <a:xfrm>
            <a:off x="548640" y="3326129"/>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参照要約との語や語列の重なりに基づく自動要約評価を定義する。</a:t>
            </a:r>
          </a:p>
        </p:txBody>
      </p:sp>
      <p:sp>
        <p:nvSpPr>
          <p:cNvPr id="11" name="TextBox 10"/>
          <p:cNvSpPr txBox="1"/>
          <p:nvPr/>
        </p:nvSpPr>
        <p:spPr>
          <a:xfrm>
            <a:off x="548640" y="364324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https://aclanthology.org/W04-1013/</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BillSum</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FiscalNote · n.d. · 公式リポジトリ（2026-10-18参照）</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収集手順、JSON Lines配布、前処理と抽出型モデルの実装を公開する。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https://github.com/FiscalNote/BillSum</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FiscalNote/billsum</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BillSum contributors · n.d. · Hugging Face（2026-10-18参照）</a:t>
            </a:r>
          </a:p>
        </p:txBody>
      </p:sp>
      <p:sp>
        <p:nvSpPr>
          <p:cNvPr id="10" name="TextBox 9"/>
          <p:cNvSpPr txBox="1"/>
          <p:nvPr/>
        </p:nvSpPr>
        <p:spPr>
          <a:xfrm>
            <a:off x="548640" y="3326129"/>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US train・testとCalifornia ca_testを、本文・要約・題名の列で配布する。</a:t>
            </a:r>
          </a:p>
        </p:txBody>
      </p:sp>
      <p:sp>
        <p:nvSpPr>
          <p:cNvPr id="11" name="TextBox 10"/>
          <p:cNvSpPr txBox="1"/>
          <p:nvPr/>
        </p:nvSpPr>
        <p:spPr>
          <a:xfrm>
            <a:off x="548640" y="364324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2026-10-18T07:48:52Z</dcterms:modified>
  <dc:title>billsum</dc:title>
  <dc:creator>sasakiy84</dc:creator>
  <dcterms:created xsi:type="dcterms:W3CDTF">2026-10-18T07:48:52Z</dcterms:created>
  <dc:language>ja-JP</dc:language>
</cp:coreProperties>
</file>