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91" r:id="rId41"/>
    <p:sldId id="292" r:id="rId42"/>
    <p:sldId id="293" r:id="rId43"/>
    <p:sldId id="294" r:id="rId44"/>
    <p:sldId id="295" r:id="rId45"/>
    <p:sldId id="296" r:id="rId46"/>
    <p:sldId id="297" r:id="rId47"/>
    <p:sldId id="298" r:id="rId48"/>
    <p:sldId id="299" r:id="rId49"/>
    <p:sldId id="300" r:id="rId50"/>
    <p:sldId id="302" r:id="rId52"/>
    <p:sldId id="303" r:id="rId53"/>
    <p:sldId id="304" r:id="rId54"/>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2" r:id="rId72"/>
    <p:sldId id="323" r:id="rId73"/>
    <p:sldId id="324" r:id="rId74"/>
    <p:sldId id="326" r:id="rId76"/>
    <p:sldId id="327" r:id="rId77"/>
    <p:sldId id="328" r:id="rId78"/>
    <p:sldId id="329" r:id="rId79"/>
    <p:sldId id="330" r:id="rId80"/>
    <p:sldId id="335" r:id="rId85"/>
    <p:sldId id="336" r:id="rId86"/>
    <p:sldId id="337" r:id="rId87"/>
    <p:sldId id="338" r:id="rId8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 Id="rId65" Type="http://schemas.openxmlformats.org/officeDocument/2006/relationships/slide" Target="slides/slide56.xml"/><Relationship Id="rId66" Type="http://schemas.openxmlformats.org/officeDocument/2006/relationships/slide" Target="slides/slide57.xml"/><Relationship Id="rId67" Type="http://schemas.openxmlformats.org/officeDocument/2006/relationships/slide" Target="slides/slide58.xml"/><Relationship Id="rId68" Type="http://schemas.openxmlformats.org/officeDocument/2006/relationships/slide" Target="slides/slide59.xml"/><Relationship Id="rId69" Type="http://schemas.openxmlformats.org/officeDocument/2006/relationships/slide" Target="slides/slide60.xml"/><Relationship Id="rId70"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6" Type="http://schemas.openxmlformats.org/officeDocument/2006/relationships/slide" Target="slides/slide65.xml"/><Relationship Id="rId77" Type="http://schemas.openxmlformats.org/officeDocument/2006/relationships/slide" Target="slides/slide66.xml"/><Relationship Id="rId78" Type="http://schemas.openxmlformats.org/officeDocument/2006/relationships/slide" Target="slides/slide67.xml"/><Relationship Id="rId79" Type="http://schemas.openxmlformats.org/officeDocument/2006/relationships/slide" Target="slides/slide68.xml"/><Relationship Id="rId80" Type="http://schemas.openxmlformats.org/officeDocument/2006/relationships/slide" Target="slides/slide69.xml"/><Relationship Id="rId85" Type="http://schemas.openxmlformats.org/officeDocument/2006/relationships/slide" Target="slides/slide73.xml"/><Relationship Id="rId86" Type="http://schemas.openxmlformats.org/officeDocument/2006/relationships/slide" Target="slides/slide74.xml"/><Relationship Id="rId87" Type="http://schemas.openxmlformats.org/officeDocument/2006/relationships/slide" Target="slides/slide75.xml"/><Relationship Id="rId88" Type="http://schemas.openxmlformats.org/officeDocument/2006/relationships/slide" Target="slides/slide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法案数</c:v>
                </c:pt>
              </c:strCache>
            </c:strRef>
          </c:tx>
          <c:spPr>
            <a:solidFill>
              <a:srgbClr val="2C9100"/>
            </a:solidFill>
            <a:ln>
              <a:noFill/>
            </a:ln>
          </c:spPr>
          <c:cat>
            <c:strRef>
              <c:f>Sheet1!$A$2:$A$7</c:f>
              <c:strCache>
                <c:ptCount val="6"/>
                <c:pt idx="0">
                  <c:v>500語未満</c:v>
                </c:pt>
                <c:pt idx="1">
                  <c:v>500–999</c:v>
                </c:pt>
                <c:pt idx="2">
                  <c:v>1,000–1,499</c:v>
                </c:pt>
                <c:pt idx="3">
                  <c:v>1,500–1,999</c:v>
                </c:pt>
                <c:pt idx="4">
                  <c:v>2,000–2,999</c:v>
                </c:pt>
                <c:pt idx="5">
                  <c:v>3,000語以上</c:v>
                </c:pt>
              </c:strCache>
            </c:strRef>
          </c:cat>
          <c:val>
            <c:numRef>
              <c:f>Sheet1!$B$2:$B$7</c:f>
              <c:numCache>
                <c:formatCode>General</c:formatCode>
                <c:ptCount val="6"/>
                <c:pt idx="0">
                  <c:v>16.0</c:v>
                </c:pt>
                <c:pt idx="1">
                  <c:v>1232.0</c:v>
                </c:pt>
                <c:pt idx="2">
                  <c:v>1003.0</c:v>
                </c:pt>
                <c:pt idx="3">
                  <c:v>607.0</c:v>
                </c:pt>
                <c:pt idx="4">
                  <c:v>411.0</c:v>
                </c:pt>
                <c:pt idx="5">
                  <c:v>0.0</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FiscalNote/Bill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FiscalNote/billsu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FiscalNote/billsu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FiscalNote/BillSum" TargetMode="External"/><Relationship Id="rId3" Type="http://schemas.openxmlformats.org/officeDocument/2006/relationships/hyperlink" Target="https://huggingface.co/datasets/FiscalNote/billsu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FiscalNote/billsum"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9-5406/"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9-5406/" TargetMode="External"/><Relationship Id="rId3" Type="http://schemas.openxmlformats.org/officeDocument/2006/relationships/hyperlink" Target="https://aclanthology.org/W04-1013/"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iscalNote/BillSum" TargetMode="External"/><Relationship Id="rId3" Type="http://schemas.openxmlformats.org/officeDocument/2006/relationships/hyperlink" Target="https://huggingface.co/datasets/FiscalNote/billsu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BillSum</a:t>
            </a:r>
          </a:p>
        </p:txBody>
      </p:sp>
      <p:sp>
        <p:nvSpPr>
          <p:cNvPr id="3" name="Subtitle 2"/>
          <p:cNvSpPr>
            <a:spLocks noGrp="1"/>
          </p:cNvSpPr>
          <p:nvPr>
            <p:ph type="subTitle" idx="1"/>
          </p:nvPr>
        </p:nvSpPr>
        <p:spPr>
          <a:xfrm>
            <a:off x="548640" y="2647277"/>
            <a:ext cx="8046720" cy="98996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Corpus for Automatic Summarization of US Legislation</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米国の法案本文から、変更の要点をまとめる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BillSum</a:t>
            </a:r>
          </a:p>
        </p:txBody>
      </p:sp>
      <p:pic>
        <p:nvPicPr>
          <p:cNvPr id="4" name="Picture 3" descr="official-site.png"/>
          <p:cNvPicPr>
            <a:picLocks noChangeAspect="1"/>
          </p:cNvPicPr>
          <p:nvPr/>
        </p:nvPicPr>
        <p:blipFill>
          <a:blip r:embed="rId2"/>
          <a:stretch>
            <a:fillRect/>
          </a:stretch>
        </p:blipFill>
        <p:spPr>
          <a:xfrm>
            <a:off x="1977255" y="1481328"/>
            <a:ext cx="5189488"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3"/>
              </a:rPr>
              <a:t>https://github.com/FiscalNote/BillSum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法案をどう要約するか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収集と二つの評価集合</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2019年の方法と成績</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公開配布と利用条件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法案をどう要約するか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法案本文と、人が書いた要約を対応付ける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BillSumは、米連邦議会とCalifornia州の法案本文を、人が書いた要約と対応付けたデータセット。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入力は条文や改正指示を含む長い法案。出力は、主要な措置や変更点を伝える短い要約。</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連邦議会の要約はCongressional Research Service（CRS）、Californiaの要約はLegislative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実例は、法案の一部と全文に対する参照要約</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本編3件と追加10件では、連邦議会とCalifornia州の13法案を取り上げる。教育・融資・農業・保健など、異なる分野の措置を比べる。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法案本文からは、意味の通る連続した部分を抜粋する。各入力頁の語数は、抜粋元の法案全文の長さを表す。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参照要約は、法案全文をもとに専門職が書いたもの。原文と日本語訳を全文で示す。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実例1：授業料給付の算定式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362語 / 空白のみ整形</a:t>
            </a:r>
          </a:p>
        </p:txBody>
      </p:sp>
      <p:sp>
        <p:nvSpPr>
          <p:cNvPr id="5" name="quote-frame"/>
          <p:cNvSpPr/>
          <p:nvPr/>
        </p:nvSpPr>
        <p:spPr>
          <a:xfrm>
            <a:off x="548640" y="1783080"/>
            <a:ext cx="4480560" cy="2836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``(I) the actual net cost for tuition and fees assessed by the institution for the program of education after the application of-- ``(aa) any waiver of, or reduction in, tuition and fees; and ``(bb) any scholarship, or other Federal, State, institutional, or employer- based aid or assistance (other than loans and any funds provided under section 401(b) of the Higher Education Act of 1965 (20 U.S.C. 1070a)) that is provided directly to the institution and specifically designated for the sole purpose of defraying tuition and fees; or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99166"/>
            <a:ext cx="3383280" cy="25823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960"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I）その教育課程について教育機関が請求する授業料と手数料の実質負担額。次のものを充当した後の額とする。（aa）授業料・手数料の免除または減額。（bb）授業料・手数料の支払いだけを目的として教育機関へ直接支給される奨学金その他の連邦・州・教育機関・雇用主による援助。ただし、ローンと1965年高等教育法第401条（b）の資金を除く。または、</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50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Veterans Education Equity Act of 2011 - Revises the formula for the payment by the Department of Veterans Affairs (VA) of tuition and fees for individuals entitled to educational assistance under the Post-9/11 Educational Assistance Program and pursuing programs of education at public institutions of higher learning to include, as an additional payment formula, the greater of: (1) the actual net costs for in-state tuition after applying the receipt of any tuition waivers, reductions, scholarships, or other assistance; or (2) $17,500 for the academic year beginning on August 1, 2011 (such amount to be increased each subsequent year by the average percentage increase in undergraduate tuition costs).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2011年退役軍人教育公平法。公立の高等教育機関に通う、2001年9月11日以降の退役軍人向け教育支援の対象者について、退役軍人省（VA）による授業料・手数料の支払額の算定式を改める。次のうち大きい額を用いる計算方法を追加する。（1）免除・減額・奨学金等を充当した後の、州内居住者向け授業料の実質負担額。（2）2011年8月1日に始まる学年度は17,500ドル、それ以降は学部授業料の平均増加率に応じて増額した額。</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算定式を、給付の仕組みとして説明する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入力全文には二段階の比較がある。参照要約は、追加される計算方法を中心に説明する。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法案の階層的な番号や数式的な比較を、対象者・費用・基準額という形でまとめる。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主要な制度変更と、その変更が適用される条件を保つことが、要約の課題になる。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実例2：州外資格を使う教員認可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778語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 A teacher who possesses a credential or permit described in paragraph (1) of subdivision (b) and who is able to present a valid out-of-state credential or certificate that authorizes content instruction delivered in a pupil’s primary language may qualify for the authorization issued pursuant to this section by submitting an application and a fee to the commission.</a:t>
            </a:r>
          </a:p>
        </p:txBody>
      </p:sp>
      <p:sp>
        <p:nvSpPr>
          <p:cNvPr id="8" name="quote-frame"/>
          <p:cNvSpPr/>
          <p:nvPr/>
        </p:nvSpPr>
        <p:spPr>
          <a:xfrm>
            <a:off x="5486400" y="1799166"/>
            <a:ext cx="3108960" cy="2675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249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f）（b）（1）に記載する資格または許可を持ち、生徒の母語で教科を教えることを認める有効な州外の資格・証明書を提示できる教員は、委員会へ申請書を提出し、手数料を納めることにより、この条に基づく認可を受ける資格を得ることができ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Existing law requires the Commission on Teacher Credentialing to issue authorizations for a teacher to provide specific services to limited-English-proficient pupils, if certain minimum requirements are met. This bill would provide that a teacher who possesses any of several specified California credentials or permits, and who is able to present a valid out-of-state credential or certificate that authorizes content instruction delivered in a pupil’s primary language, may qualify for that authorization by submitting an application and a fee to the commission.</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73766"/>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では、最低要件を満たす場合、教員資格認定委員会が、英語力の限られた生徒に所定の教育サービスを提供する教員の認可を発行しなければならない。この法案は、所定のCalifornia州の資格・許可を持ち、生徒の母語で教科を教えることを認める有効な州外の資格・証明書を提示できる教員が、委員会に申請して手数料を納めることで、その認可を受けられ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現行の制度と、新しい変更点を分ける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Californiaの参照要約は、現行法を説明してから、法案が変える点を述べることが多い。</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教員認可の実例では、既存の最低要件を背景として説明し、州外資格を使える手続きを続けて述べる。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要約では既存制度を背景に置き、法案が変更する措置を中心に伝える。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実例3：借り手の死亡と学生ローン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463語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 Private educational loans discharged.--In the event of the death of a borrower of a private educational loan, or if the borrower of a private educational loan is totally and permanently disabled, neither the estate of the borrower nor any cosigner of such private educational loan shall be obligated to repay the outstanding principal or interest on the loan.</a:t>
            </a:r>
          </a:p>
        </p:txBody>
      </p:sp>
      <p:sp>
        <p:nvSpPr>
          <p:cNvPr id="8" name="quote-frame"/>
          <p:cNvSpPr/>
          <p:nvPr/>
        </p:nvSpPr>
        <p:spPr>
          <a:xfrm>
            <a:off x="5486400" y="1783080"/>
            <a:ext cx="3108960" cy="2201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民間教育ローンの免除。借り手が死亡した場合、または完全かつ永続的な障害を負った場合、その借り手の遺産も、その民間教育ローンの連帯保証人も、未払いの元金・利息を返済する義務を負わ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Andrew Prior Act or Andrew's Law - Amends the Truth in Lending Act to discharge the repayment obligations of the estate of a borrower and any cosigner of a private educational loan if the borrower dies or is totally and permanently disabled. Requires the Director of the Consumer Financial Protection Bureau (CFPB) to develop necessary and appropriate safeguards to prevent fraud and abuse in the discharge of those obligations. Authorizes the Director to promulgate regulations to reinstate those obligations in any case in which the Director determines that doing so is necessary to protect the public interest.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アンドリュー・プライア法、またはアンドリュー法。貸付真実法を改正し、民間教育ローンの借り手が死亡した場合、または完全かつ永続的な障害を負った場合に、借り手の遺産と連帯保証人の返済義務を免除する。消費者金融保護局（CFPB）局長に、免除での詐欺・濫用を防ぐ必要かつ適切な措置を策定するよう求める。公益を保護するため必要と局長が判断した場合に、返済義務を復活させる規則を定める権限も与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本則だけでなく、別の条項もまとめる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抜粋は免除の本則。参照要約は、別の条項にある濫用防止と義務復活の権限も含める。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主要な措置に加え、その適用を制限する条件や、実施に必要な行政の権限までまとめる。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法案をどう要約するか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収集と二つの評価集合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連邦議会の法案で学習し、州議会の法案で試す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645920"/>
                <a:gridCol w="4754880"/>
                <a:gridCol w="16459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出所と期間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法案数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18,949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米連邦議会、1993–2018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3,269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California、2015–2016会期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USは第103〜115議会。Californiaの学習用集合は設けず、議会をまたぐ転移を調べる。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中程度の長さの法案を選ぶ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連邦議会の本文はGovinfoから収集し、Californiaは州議会サイトから取得した。最終の法案本文と利用可能な要約を対応付けた。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本文5,000〜20,000文字、要約2,000文字以下を中心に選ぶ。短い法案は変更が小さく、非常に長い法案は複数の大きな節を含むため除く。</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文字数で選別したのは、入れ子の箇条書きが多く、単語・文の区切りを一貫して測りにくいため。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似た法案が、分割をまたがないようにする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同じ法案が両院や別の会期に再提出されるため、本文と要約の類似度から近い重複を除いた。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本文・要約をそれぞれ単語頻度ベクトルにし、二つのコサイン類似度の平均が0.96を超えれば重複とみなす。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同じ題名が残る法案は、すべて学習用の集合に入れる。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法案本文は、参照要約より大幅に長い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474720"/>
                <a:gridCol w="2286000"/>
                <a:gridCol w="2286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評価集合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本文の平均語数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要約の平均語数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US test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1,283.6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178.9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California ca_test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1,547.0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336.8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815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公開test・ca_testの全4,506法案を、空白区切りの語数で集計。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US test本文の長さには幅がある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収集と二つの評価集合</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US test 3,269法案の本文を、空白区切りの語数で示す。</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2019年の方法と成績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重要な文を選ぶ、抽出型の出発点</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2019年は、各文の重要度を予測して本文から選ぶ抽出型要約を評価した。ニュース向けの生成モデルをそのまま使うと、不自然な文が生じた。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DOCは、文の位置・見出しとの近さ・TF-IDFなどから文脈上の重要度を予測する。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SUMは、米議会の本文で追加事前学習したBERT-Large Uncasedを使い、要約に入りやすい文を分類する。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重要度と重複を見ながら、文を選ぶ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参照要約との語の重なりを使い、本文の各文に重要度の学習用ラベルを作る。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DOCとSUMの予測を組み合わせ、重要度を高く、既に選んだ文との類似度を低くするMMRで文を選ぶ。</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出力は最大2,000文字。配布される人手要約をもとに、文の選択を学ぶ。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語の重なりを、適合率と再現率で読む</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ROUGEは、参照要約と生成要約が共有する語や語の並びを数える。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ROUGE-1は単語、ROUGE-2は連続2語、ROUGE-Lは最長共通部分列を使う。2019年の比較は適合率と再現率を合わせたF値。</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語句の一致に加え、金額・例外・義務の主体など、法律上の変更点を正しく伝えているかも重要になる。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2019年：米連邦議会の抽出型要約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34.35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27.80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21.38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31.49</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40.69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33.65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40.80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23.83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33.73</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45.11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28.74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37.38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2019年：Californiaの抽出型要約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graphicFrame>
        <p:nvGraphicFramePr>
          <p:cNvPr id="4" name="Table 3"/>
          <p:cNvGraphicFramePr>
            <a:graphicFrameLocks noGrp="1"/>
          </p:cNvGraphicFramePr>
          <p:nvPr/>
        </p:nvGraphicFramePr>
        <p:xfrm>
          <a:off x="548640" y="1508760"/>
          <a:ext cx="8046720" cy="2263140"/>
        </p:xfrm>
        <a:graphic>
          <a:graphicData uri="http://schemas.openxmlformats.org/drawingml/2006/table">
            <a:tbl>
              <a:tblPr firstRow="0" bandRow="0"/>
              <a:tblGrid>
                <a:gridCol w="3657600"/>
                <a:gridCol w="1463040"/>
                <a:gridCol w="1463040"/>
                <a:gridCol w="1463040"/>
              </a:tblGrid>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方法</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TextRank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35.81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29.97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19.76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38.90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20.79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33.20</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DOC + SUM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39.65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21.14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34.05</a:t>
                      </a:r>
                    </a:p>
                  </a:txBody>
                  <a:tcPr marL="63500" marR="63500" marT="38100" marB="38100" anchor="ctr">
                    <a:lnL w="7620">
                      <a:noFill/>
                    </a:lnL>
                    <a:lnR w="7620">
                      <a:noFill/>
                    </a:lnR>
                    <a:lnT w="7620">
                      <a:noFill/>
                    </a:lnT>
                    <a:lnB w="7620">
                      <a:noFill/>
                    </a:lnB>
                    <a:solidFill>
                      <a:srgbClr val="FFFEF8"/>
                    </a:solidFill>
                  </a:tcPr>
                </a:tc>
              </a:tr>
              <a:tr h="37719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Oracle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48.61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32.83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41.94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7306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ROUGE F値（%）。USで学習したモデルを評価。Oracleは参照要約を使って文を選ぶ参考値。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州が変わると、要約の書き方も変わる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DOC＋SUMのROUGE-2は、USで23.83、Californiaで21.14。学習した議会の外でも、教師なしの手法より高い得点を得た。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Californiaでは現行法の説明を含む要約があり、変更内容を中心に書く連邦議会と文体が異なる。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2019年の方法と成績</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公開配布と利用条件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公開配布は、生成モデルの入力にも使える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公式リポジトリは、本文・前処理済み本文・要約・題名・bill_idを含むJSON Lines形式を案内する。2019-12-03の更新後のデータを使うよう告知している。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Hugging Faceではtext・summary・titleの3列を配布し、USのtrain・testとCaliforniaのca_testを選べる。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データカードのライセンス表示はCC0-1.0。元の法案と要約は、米議会・CRSまたはCalifornia議会・Legislative Counselが作成した。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BillSum公式リポジトリ。</a:t>
            </a:r>
            <a:r>
              <a:rPr sz="810" b="0" lang="ja-JP" altLang="en-US">
                <a:solidFill>
                  <a:srgbClr val="626669"/>
                </a:solidFill>
                <a:latin typeface="Noto Sans"/>
                <a:ea typeface="Noto Sans CJK JP"/>
                <a:cs typeface="Noto Sans"/>
                <a:hlinkClick r:id="rId2"/>
              </a:rPr>
              <a:t>https://github.com/FiscalNote/BillSum</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FiscalNote. BillSumデータカード。</a:t>
            </a:r>
            <a:r>
              <a:rPr sz="81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公開Parquetから、法案本文と参照要約を読む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4" name="code-frame"/>
          <p:cNvSpPr/>
          <p:nvPr/>
        </p:nvSpPr>
        <p:spPr>
          <a:xfrm>
            <a:off x="548640" y="1481709"/>
            <a:ext cx="8046720" cy="115138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6844" bIns="127000"/>
          <a:lstStyle/>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pandas as pd</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data = pd.read_parquet("ca_test.parquet")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print(data.iloc[0]["text"])</a:t>
            </a:r>
          </a:p>
          <a:p>
            <a:pPr algn="l">
              <a:lnSpc>
                <a:spcPts val="1875"/>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print(data.iloc[0]["summary"])</a:t>
            </a:r>
          </a:p>
        </p:txBody>
      </p:sp>
      <p:sp>
        <p:nvSpPr>
          <p:cNvPr id="5" name="TextBox 4"/>
          <p:cNvSpPr txBox="1"/>
          <p:nvPr/>
        </p:nvSpPr>
        <p:spPr>
          <a:xfrm>
            <a:off x="594360" y="2971800"/>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Faceから入手したca_testのParquetファイルを開き、最初の法案本文と参照要約を表示する。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法案の構造を読み、何が変わるかを伝える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BillSumは、法案本文と専門職が書いた要約を対応付け、法律文書の自動要約を研究するために作られた。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USの22,218件を学習・評価に分け、Californiaの1,237件で議会をまたぐ転移を調べる。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条文の書換え、階層構造、現行法と変更点の関係を保ちながら、主要な措置を短くまとめる。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追加の法案と参照要約</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追加の法案と参照要約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実例4：退役軍人向け融資の保証料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465語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``(bb) Guarantee fee waiver.--The Administrator may not collect a guarantee fee described in paragraph (18) in connection with a loan of not more than $150,000 made under this paragraph to a veteran or spouse of a veteran on or after October 1 of the first fiscal year beginning after the date of enactment of this subclause.</a:t>
            </a:r>
          </a:p>
        </p:txBody>
      </p:sp>
      <p:sp>
        <p:nvSpPr>
          <p:cNvPr id="8" name="quote-frame"/>
          <p:cNvSpPr/>
          <p:nvPr/>
        </p:nvSpPr>
        <p:spPr>
          <a:xfrm>
            <a:off x="5486400" y="1783080"/>
            <a:ext cx="3108960" cy="2455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0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bb）保証料の免除。この項目の制定後、最初に始まる会計年度の10月1日以降に、この段落に基づき退役軍人またはその配偶者に行われる150,000ドル以下の融資について、長官は第（18）段落の保証料を徴収してはなら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431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bill amends the Small Business Act to prohibit the Small Business Administration (SBA) from assessing a guarantee fee in connection with a loan of not more than $150,000 made to a veteran or spouse of a veteran beginning the first fiscal year after enactment of this bill under the SBA's Export Working Capital, International Trade, or Export Express programs. If the President's budget for the upcoming fiscal year includes a cost for such a program that is above zero, this prohibition shall not apply to loans made during such upcoming fiscal year.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法案は中小企業法を改正し、制定後の最初の会計年度から、SBAの輸出運転資金・国際貿易・輸出エクスプレス制度により退役軍人またはその配偶者へ行う150,000ドル以下の融資について、中小企業庁（SBA）が保証料を課すことを禁止する。翌会計年度の大統領予算がその制度にゼロを超える費用を計上する場合、その年度の融資にはこの禁止を適用しない。</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実例5：休耕地での採草と放牧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450語 / 空白のみ整形</a:t>
            </a:r>
          </a:p>
        </p:txBody>
      </p:sp>
      <p:sp>
        <p:nvSpPr>
          <p:cNvPr id="5" name="quote-frame"/>
          <p:cNvSpPr/>
          <p:nvPr/>
        </p:nvSpPr>
        <p:spPr>
          <a:xfrm>
            <a:off x="548640" y="1783080"/>
            <a:ext cx="448056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``(ii) 5-month period.--The State committee for a State shall, in consultation with wildlife agencies of the State, establish the 5-month period referred to in clause (i) during the period beginning April 1, and ending October 31, of a year. ``(iii) Alfalfa.--The Secretary may not exclude irrigated or irrigable acreage not planted to alfalfa when exercising the authority of the Secretary under this subparagraph.''.</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2158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ii）5か月の期間。州委員会は、州の野生生物担当機関と協議し、各年の4月1日から10月31日までの間に、（i）にいう5か月の期間を設定する。（iii）アルファルファ。長官は、この号の権限を行使する際、アルファルファが植えられていない灌漑済みまたは灌漑可能な土地を除外しては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363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Amends the Agricultural Act of 1949 to modify the authority for haying and grazing on wheat and feed grain reduced acreage, including a provision under which producers can elect to lease such acreage back for specified fees.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041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1949年農業法を改正し、小麦と飼料穀物の作付削減地で採草・放牧を認める権限を変更する。所定の料金を払えば生産者がその土地を借り戻せる規定も含む。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実例6：遺跡群とナバホ・ネイション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452語 / 空白のみ整形</a:t>
            </a:r>
          </a:p>
        </p:txBody>
      </p:sp>
      <p:sp>
        <p:nvSpPr>
          <p:cNvPr id="5" name="quote-frame"/>
          <p:cNvSpPr/>
          <p:nvPr/>
        </p:nvSpPr>
        <p:spPr>
          <a:xfrm>
            <a:off x="548640" y="1783080"/>
            <a:ext cx="5029200" cy="2836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1900" b="0">
                <a:solidFill>
                  <a:srgbClr val="303437"/>
                </a:solidFill>
                <a:latin typeface="Noto Sans"/>
              </a:defRPr>
            </a:pPr>
            <a:r>
              <a:rPr sz="1500" b="0" lang="ja-JP" altLang="en-US">
                <a:solidFill>
                  <a:srgbClr val="303437"/>
                </a:solidFill>
                <a:latin typeface="Noto Sans"/>
                <a:ea typeface="Noto Sans CJK JP"/>
                <a:cs typeface="Noto Sans"/>
              </a:rPr>
              <a:t>``(f) The Secretary is authorized to assist the Navajo Nation in the protection and management of those Chaco Culture Archeological Protection Sites located on lands under the jurisdiction of the Navajo Nation through a grant, contract, or cooperative agreement entered into pursuant to the Indian Self-Determination and Education Act (Public Law 93-638), as amended, to assist the Navajo Nation in site planning, resource protection, interpretation, resource management actions, and such other purposes as may be identified in such grant, contract, or cooperative agreement.''.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760720" y="1783080"/>
            <a:ext cx="2834640" cy="23875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1900" b="0">
                <a:solidFill>
                  <a:srgbClr val="303437"/>
                </a:solidFill>
                <a:latin typeface="Noto Sans"/>
              </a:defRPr>
            </a:pPr>
            <a:r>
              <a:rPr sz="1500">
                <a:latin typeface="Noto Sans CJK JP"/>
              </a:rPr>
              <a:t>（f）長官は、ナバホ・ネイションの管轄地にあるチャコ文化考古学保護地の保護・管理を支援できる。支援は、改正されたインディアン自決・教育法に基づく補助金・契約・協力協定によるものとし、遺跡計画、資源保護、解説、資源管理その他それらに定める目的のために行う。</a:t>
            </a:r>
          </a:p>
        </p:txBody>
      </p:sp>
      <p:sp>
        <p:nvSpPr>
          <p:cNvPr id="8" name="TextBox 7"/>
          <p:cNvSpPr txBox="1"/>
          <p:nvPr/>
        </p:nvSpPr>
        <p:spPr>
          <a:xfrm>
            <a:off x="548640" y="1572768"/>
            <a:ext cx="502920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760720" y="1572768"/>
            <a:ext cx="283464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21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Chacoan Outliers Protection Act of 1993 - Designates seven new outlying areas as Chaco Culture Archaeological Protection Sites associated with Chacoan Anasazi Indian culture in the San Juan Basin and surrounding areas of New Mexico and Colorado. Expands the boundaries and removes or reduces the acreage of certain existing Sites. Authorizes the Secretary of the Interior to assist the Navajo Nation in the protection and management of such Sites located on lands of the Navajos through a grant, contract, or cooperative agreement entered into pursuant to the Indian Self-Determination and Education Act.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2243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1993年チャコ周辺遺跡保護法。New Mexico州とColorado州のサンフアン盆地と周辺にある、チャコのアナサジ先住民文化に関係する新たな周辺7地区をチャコ文化考古学保護地に指定する。既存の一部保護地では境界を拡張し、保護対象からの除外や面積の縮小も行う。ナバホの土地にある保護地を保護・管理するため、インディアン自決・教育法に基づく補助金・契約・協力協定を通じて内務長官がナバホ・ネイションを支援できるように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実例7：生活費に応じた人的控除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464語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336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In the case of a statistical area where the cost-of-living differential for the calendar year does not exceed 125 percent, the applicable multiplier is 1. ``(II) In the case of a statistical area not described in subclause (I), the applicable multiplier is the cost- of-living differential for the calendar year.</a:t>
            </a:r>
          </a:p>
        </p:txBody>
      </p:sp>
      <p:sp>
        <p:nvSpPr>
          <p:cNvPr id="8" name="quote-frame"/>
          <p:cNvSpPr/>
          <p:nvPr/>
        </p:nvSpPr>
        <p:spPr>
          <a:xfrm>
            <a:off x="5486400" y="1790699"/>
            <a:ext cx="3108960" cy="22860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961"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（I）ある統計地域で、その年の生活費比率が125％を超えない場合、適用倍率は1とする。（II）（I）に当たらない統計地域では、適用倍率はその年の生活費比率とする。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Personal Exemption Fairness Act of 2010 - Amends the Internal Revenue Code to require annual metropolitan statistical area cost-of-living adjustments, beginning after 2010, to the personal tax exemption amount. Directs the Secretary of Labor to determine and publish a cost-of-living index for each metropolitan statistical area.</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3123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2010年人的控除公平法。内国歳入法を改正し、2011年以降の人的控除額について、大都市統計地域の生活費に応じた年次調整を求める。労働長官に、各大都市統計地域の生活費指数を算定・公表するよう指示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実例8：履修単位数から学生数を算定する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453語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``(ii) Calculation.--For each academic year, the Indian student count for a tribally- controlled postsecondary vocational and technical institution shall be the quotient obtained by dividing-- ``(I) the sum of the credit-hours of all Indian students enrolled in the tribally-controlled postsecondary vocational and technical institution (as determined under clause (i)); by ``(II) 12.</a:t>
            </a:r>
          </a:p>
        </p:txBody>
      </p:sp>
      <p:sp>
        <p:nvSpPr>
          <p:cNvPr id="8" name="quote-frame"/>
          <p:cNvSpPr/>
          <p:nvPr/>
        </p:nvSpPr>
        <p:spPr>
          <a:xfrm>
            <a:off x="5486400" y="1799166"/>
            <a:ext cx="3108960" cy="21759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0960"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i）計算。各学年度の、部族が運営する中等教育後の職業・技術教育機関における先住民学生数は、（i）により確定した在籍先住民学生全員の履修単位数（クレジットアワー）の合計を12で割った値と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637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Amends the Carl D. Perkins Vocational and Technical Education Act of 1998 with respect to grants to tribally controlled postsecondary vocational and technical institutions that are not receiving federal support under the Tribally Controlled College or University Assistance Act of 1978 or the Navajo Community College Act to provide basic support for the education and training of Indian students. Revises the definition of "Indian student count" (essential to the formula for the determination of grant amounts).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19134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1998年カール・D・パーキンズ職業・技術教育法を改正する。1978年部族運営大学支援法またはナバホ・コミュニティ・カレッジ法による連邦支援を受けていない、部族運営の中等教育後の職業・技術教育機関への補助金を対象とする。先住民学生の教育・訓練に対する基礎的支援に関し、補助額の算定に不可欠な「先住民学生数」の定義を改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実例9：オンライン有権者登録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851語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015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 The affiant shall affirmatively attest to the truth of the information provided in the affidavit. (4) For voter registration purposes, the applicant shall affirmatively assent to the use of his or her signature from his or her driver’s license or state identification card.</a:t>
            </a:r>
          </a:p>
        </p:txBody>
      </p:sp>
      <p:sp>
        <p:nvSpPr>
          <p:cNvPr id="8" name="quote-frame"/>
          <p:cNvSpPr/>
          <p:nvPr/>
        </p:nvSpPr>
        <p:spPr>
          <a:xfrm>
            <a:off x="5486400" y="1783080"/>
            <a:ext cx="3108960" cy="2590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申告者は、申告書に記載した情報が真実であると明示的に宣誓しなければならない。（4）有権者登録のため、申請者は、運転免許証または州の身分証明書にある署名の利用に明示的に同意しなければなら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60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Under existing law, operative when the Secretary of State certifies that the state has a statewide voter registration database that complies with the requirements of the federal Help America Vote Act of 2002 or executes a declaration stating that certain conditions have occurred, a person who is qualified to register to vote and who has a valid California driver’s license or state identification card is authorized to submit an affidavit of voter registration electronically on the Internet Web site of the Secretary of State. This bill would make technical, nonsubstantive changes to those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州務長官が連邦2002年投票支援法の要件に合う州全域の有権者登録データベースを認証するか、所定の条件が成立したと宣言すると施行される。投票資格を持ち、有効なCalifornia州の運転免許証または州の身分証明書を持つ人は、州務長官のウェブサイトから電子的に有権者登録申告書を提出できる。この法案は、そ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実例10：オフィス内の保育施設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912語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17949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1596.810. A child day care facility, other than a family day care home, shall not be required to meet the square footage requirements of indoor activity space for child care centers if the facility is located in an office building.</a:t>
            </a:r>
          </a:p>
        </p:txBody>
      </p:sp>
      <p:sp>
        <p:nvSpPr>
          <p:cNvPr id="8" name="quote-frame"/>
          <p:cNvSpPr/>
          <p:nvPr/>
        </p:nvSpPr>
        <p:spPr>
          <a:xfrm>
            <a:off x="5486400" y="1783080"/>
            <a:ext cx="3108960" cy="1778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8580"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1596.810。家庭内保育所以外の児童日中保育施設は、オフィスビル内にある場合、保育センターの屋内活動スペースの面積要件を満たす必要はない。</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565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11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the California Child Day Care Facilities Act, provides for the licensure and regulation of child day care facilities, as defined, and crisis nurseries by the State Department of Social Services. Existing law requires that the maximum licensed capacity for those facilities be based on 35 square feet of indoor activity space per child. This bill would exempt those facilities from the 35 square footage requirement if the facility is located in an office building.</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634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のCalifornia州児童日中保育施設法は、州社会福祉局による児童日中保育施設と緊急保育施設の認可・規制を定める。現行法は、その最大認可定員を子ども1人当たり屋内活動スペース35平方フィートに基づいて定めるよう求める。この法案は、施設がオフィスビル内にある場合、その35平方フィートの要件を免除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実例11：退役軍人と地域精神保健</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901語 / 空白のみ整形</a:t>
            </a:r>
          </a:p>
        </p:txBody>
      </p:sp>
      <p:sp>
        <p:nvSpPr>
          <p:cNvPr id="5" name="quote-frame"/>
          <p:cNvSpPr/>
          <p:nvPr/>
        </p:nvSpPr>
        <p:spPr>
          <a:xfrm>
            <a:off x="548640" y="1783080"/>
            <a:ext cx="4480560" cy="2167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(A) No eligible veteran shall be denied county mental health services based solely on his or her status as a veteran. (B) Counties shall refer a veteran to the county veterans service officer, if any, to determine the veteran’s eligibility for, and the availability of, mental health services provided by the United States Department of Veterans Affairs or other federal health care provider.</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215899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A）資格のある退役軍人は、退役軍人であるという理由だけで郡の精神保健サービスを拒否されてはならない。（B）郡は、退役軍人担当職員がいる場合、その職員へ退役軍人を紹介し、米国退役軍人省など連邦の保健医療機関が提供する精神保健サービスの受給資格と利用可能性を調べなければ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1972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Existing law contains provisions governing the operation and financing of community mental health services for the mentally disordered in every county through locally administered and locally controlled community mental health programs. This bill would make technical, nonsubstantive changes to the latter provisions.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337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081"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現行法は、各郡で地域の運営・管理による地域精神保健プログラムを通じ、精神障害のある人へのサービスの運営と財源を定める。この法案は、これらの規定に技術的な、実質を変えない修正を加える。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実例12：後見人の権限と弁護士の代理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1,080語 / 空白のみ整形</a:t>
            </a:r>
          </a:p>
        </p:txBody>
      </p:sp>
      <p:sp>
        <p:nvSpPr>
          <p:cNvPr id="5" name="quote-frame"/>
          <p:cNvSpPr/>
          <p:nvPr/>
        </p:nvSpPr>
        <p:spPr>
          <a:xfrm>
            <a:off x="548640" y="1783080"/>
            <a:ext cx="4480560" cy="1930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60113" bIns="101600">
            <a:noAutofit/>
          </a:bodyPr>
          <a:lstStyle/>
          <a:p>
            <a:pPr algn="l">
              <a:lnSpc>
                <a:spcPts val="1755"/>
              </a:lnSpc>
              <a:spcBef>
                <a:spcPts val="0"/>
              </a:spcBef>
              <a:spcAft>
                <a:spcPts val="0"/>
              </a:spcAft>
              <a:buNone/>
              <a:defRPr sz="2000" b="0">
                <a:solidFill>
                  <a:srgbClr val="303437"/>
                </a:solidFill>
                <a:latin typeface="Noto Sans"/>
              </a:defRPr>
            </a:pPr>
            <a:r>
              <a:rPr sz="1500" b="0" lang="ja-JP" altLang="en-US">
                <a:solidFill>
                  <a:srgbClr val="303437"/>
                </a:solidFill>
                <a:latin typeface="Noto Sans"/>
                <a:ea typeface="Noto Sans CJK JP"/>
                <a:cs typeface="Noto Sans"/>
              </a:rPr>
              <a:t>(1) The conservatee shall be represented by an attorney pursuant to Chapter 4 (commencing with Section 1470) of Part 1. Upon granting or denying authority to a conservator under this section, the court shall discharge the attorney or order the continuation of the legal representation, consistent with the standard set forth in subdivision (a) of Section 1470.</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
        <p:nvSpPr>
          <p:cNvPr id="7" name="quote-frame"/>
          <p:cNvSpPr/>
          <p:nvPr/>
        </p:nvSpPr>
        <p:spPr>
          <a:xfrm>
            <a:off x="5212080" y="1783080"/>
            <a:ext cx="3383280" cy="1938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18872" rIns="118872" tIns="77046" bIns="101600">
            <a:noAutofit/>
          </a:bodyPr>
          <a:lstStyle/>
          <a:p>
            <a:pPr algn="l">
              <a:lnSpc>
                <a:spcPts val="1755"/>
              </a:lnSpc>
              <a:spcBef>
                <a:spcPts val="0"/>
              </a:spcBef>
              <a:spcAft>
                <a:spcPts val="0"/>
              </a:spcAft>
              <a:buNone/>
              <a:defRPr sz="2000" b="0">
                <a:solidFill>
                  <a:srgbClr val="303437"/>
                </a:solidFill>
                <a:latin typeface="Noto Sans"/>
              </a:defRPr>
            </a:pPr>
            <a:r>
              <a:rPr sz="1500">
                <a:latin typeface="Noto Sans CJK JP"/>
              </a:rPr>
              <a:t>（1）被後見人には、第1部第4章（第1470条以降）に従って弁護士を付けなければならない。裁判所は、この条に基づく後見人の権限を認めるか拒否する際、第1470条（a）の基準に沿って、弁護士の任務を終えるか、法的代理を継続させる命令を出さなければならない。</a:t>
            </a:r>
          </a:p>
        </p:txBody>
      </p:sp>
      <p:sp>
        <p:nvSpPr>
          <p:cNvPr id="8" name="TextBox 7"/>
          <p:cNvSpPr txBox="1"/>
          <p:nvPr/>
        </p:nvSpPr>
        <p:spPr>
          <a:xfrm>
            <a:off x="548640" y="1572768"/>
            <a:ext cx="4480560" cy="182880"/>
          </a:xfrm>
          <a:prstGeom prst="rect">
            <a:avLst/>
          </a:prstGeom>
          <a:noFill/>
        </p:spPr>
        <p:txBody>
          <a:bodyPr wrap="none" tIns="0" bIns="0">
            <a:spAutoFit/>
          </a:bodyPr>
          <a:lstStyle/>
          <a:p>
            <a:r>
              <a:rPr sz="1100">
                <a:latin typeface="Noto Sans CJK JP"/>
              </a:rPr>
              <a:t>原文</a:t>
            </a:r>
          </a:p>
        </p:txBody>
      </p:sp>
      <p:sp>
        <p:nvSpPr>
          <p:cNvPr id="9" name="TextBox 8"/>
          <p:cNvSpPr txBox="1"/>
          <p:nvPr/>
        </p:nvSpPr>
        <p:spPr>
          <a:xfrm>
            <a:off x="5212080" y="1572768"/>
            <a:ext cx="3383280" cy="182880"/>
          </a:xfrm>
          <a:prstGeom prst="rect">
            <a:avLst/>
          </a:prstGeom>
          <a:noFill/>
        </p:spPr>
        <p:txBody>
          <a:bodyPr wrap="none" tIns="0" bIns="0">
            <a:spAutoFit/>
          </a:bodyPr>
          <a:lstStyle/>
          <a:p>
            <a:r>
              <a:rPr sz="1100">
                <a:latin typeface="Noto Sans CJK JP"/>
              </a:rPr>
              <a:t>日本語訳</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provides that, upon a court’s findings that a conservatee has dementia, as defined, and a functional impairment, a conservator may place the conservatee in a prescribed secured residential or nursing facility and authorize the administration of prescribed medications appropriate for the care and treatment of dementia. A petition for authority to act under these provisions requires, among other things, that the conservatee be represented by an attorney, as provided. This bill would require the court, upon granting or denying that authority to a conservator, to either discharge the attorney or order continuation of the representation, as specified.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65299"/>
            <a:ext cx="8046720" cy="221826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8430"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裁判所が被後見人に所定の認知症と機能障害があると認定した場合、後見人が被後見人を所定の施錠された居住施設または看護施設へ入所させ、認知症のケア・治療に適した所定の薬の投与を認めることができると定める。この権限の申立てには、被後見人に弁護士を付けることなどが必要である。この法案は、裁判所がその権限を認めるか拒否する際、弁護士の任務を終えるか代理を継続させる命令を出すよう求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実例13：警察ボディーカメラの保存</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25880"/>
            <a:ext cx="8046720" cy="210312"/>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入力の連続抜粋 / 全文 902語 / 空白のみ整形</a:t>
            </a:r>
          </a:p>
        </p:txBody>
      </p:sp>
      <p:sp>
        <p:nvSpPr>
          <p:cNvPr id="5" name="TextBox 4"/>
          <p:cNvSpPr txBox="1"/>
          <p:nvPr/>
        </p:nvSpPr>
        <p:spPr>
          <a:xfrm>
            <a:off x="548640" y="1609344"/>
            <a:ext cx="475488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原文</a:t>
            </a:r>
          </a:p>
        </p:txBody>
      </p:sp>
      <p:sp>
        <p:nvSpPr>
          <p:cNvPr id="6" name="TextBox 5"/>
          <p:cNvSpPr txBox="1"/>
          <p:nvPr/>
        </p:nvSpPr>
        <p:spPr>
          <a:xfrm>
            <a:off x="5486400" y="1609344"/>
            <a:ext cx="3108960" cy="201168"/>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a:t>
            </a:r>
          </a:p>
        </p:txBody>
      </p:sp>
      <p:sp>
        <p:nvSpPr>
          <p:cNvPr id="7" name="quote-frame"/>
          <p:cNvSpPr/>
          <p:nvPr/>
        </p:nvSpPr>
        <p:spPr>
          <a:xfrm>
            <a:off x="548640" y="1783080"/>
            <a:ext cx="475488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16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(3) Establish specific measures to prevent data tampering, deleting, and copying, including prohibiting the unauthorized use, duplication, or distribution of body-worn camera data. (4) Categorize and tag body-worn camera video at the time the data is downloaded and classified according to the type of event or incident captured in the data.</a:t>
            </a:r>
          </a:p>
        </p:txBody>
      </p:sp>
      <p:sp>
        <p:nvSpPr>
          <p:cNvPr id="8" name="quote-frame"/>
          <p:cNvSpPr/>
          <p:nvPr/>
        </p:nvSpPr>
        <p:spPr>
          <a:xfrm>
            <a:off x="5486400" y="1783080"/>
            <a:ext cx="310896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7046"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3）データの改ざん・削除・複製を防ぐ具体策を定める。ボディーカメラのデータの無断使用・複製・配布を禁止することも含む。（4）データをダウンロードする際に動画を分類してタグを付け、撮影された出来事や事案の種類に応じて区分する。</a:t>
            </a:r>
          </a:p>
        </p:txBody>
      </p:sp>
      <p:sp>
        <p:nvSpPr>
          <p:cNvPr id="9"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a:t>
            </a:r>
          </a:p>
        </p:txBody>
      </p:sp>
      <p:sp>
        <p:nvSpPr>
          <p:cNvPr id="5" name="quote-frame"/>
          <p:cNvSpPr/>
          <p:nvPr/>
        </p:nvSpPr>
        <p:spPr>
          <a:xfrm>
            <a:off x="548640" y="1755648"/>
            <a:ext cx="8046720" cy="2472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9614" bIns="127000">
            <a:noAutofit/>
          </a:bodyPr>
          <a:lstStyle/>
          <a:p>
            <a:pPr algn="l">
              <a:lnSpc>
                <a:spcPts val="2023"/>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Existing law makes it a crime to intentionally record a confidential communication without the consent of all parties to the communication. Existing law exempts specified peace officers from that provision if they are acting within the scope of their authority. This bill would require law enforcement agencies to consider specified best practices when establishing policies and procedures for downloading and storing data from body-worn cameras, including, among other things, prohibiting the unauthorized use, duplication, or distribution of the data, and establishing storage periods for evidentiary and nonevidentiary data, as defined.</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実例13：参照要約の訳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追加の法案と参照要約</a:t>
            </a:r>
          </a:p>
        </p:txBody>
      </p:sp>
      <p:sp>
        <p:nvSpPr>
          <p:cNvPr id="4" name="TextBox 3"/>
          <p:cNvSpPr txBox="1"/>
          <p:nvPr/>
        </p:nvSpPr>
        <p:spPr>
          <a:xfrm>
            <a:off x="548640" y="1307592"/>
            <a:ext cx="8046720" cy="32918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参照要約（全文）の日本語訳</a:t>
            </a:r>
          </a:p>
        </p:txBody>
      </p:sp>
      <p:sp>
        <p:nvSpPr>
          <p:cNvPr id="5" name="quote-frame"/>
          <p:cNvSpPr/>
          <p:nvPr/>
        </p:nvSpPr>
        <p:spPr>
          <a:xfrm>
            <a:off x="548640" y="1755648"/>
            <a:ext cx="8046720" cy="1947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6548" bIns="127000">
            <a:noAutofit/>
          </a:bodyPr>
          <a:lstStyle/>
          <a:p>
            <a:pPr algn="l">
              <a:lnSpc>
                <a:spcPts val="2379"/>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現行法は、会話の当事者全員の同意なく秘密の通信を意図的に録音することを犯罪とするが、権限の範囲で活動する所定の警察官等は例外とする。この法案は、警察機関がボディーカメラのデータをダウンロード・保存する方針や手続きを定める際、所定の望ましい実務を検討するよう求める。無断使用・複製・配布の禁止や、証拠性のあるデータと証拠性のないデータの保存期間の設定などを含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FiscalNote. BillSum — Public Dataset.  </a:t>
            </a:r>
            <a:r>
              <a:rPr sz="810" b="0" lang="ja-JP" altLang="en-US">
                <a:solidFill>
                  <a:srgbClr val="626669"/>
                </a:solidFill>
                <a:latin typeface="Noto Sans"/>
                <a:ea typeface="Noto Sans CJK JP"/>
                <a:cs typeface="Noto Sans"/>
                <a:hlinkClick r:id="rId2"/>
              </a:rPr>
              <a:t>https://huggingface.co/datasets/FiscalNote/billsum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法律文書の要約を、別の議会へ広げる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Anastassia KornilovaとVladimir EidelmanによるFiscalNote Researchの研究。2019年の第2回New Frontiers in Summarizationワークショップで発表された。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連邦議会の専門的な要約を学習資源にし、人による要約が十分にない州や地方の法案にも適用することを目指した。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抽出型モデルと公開コーパスを示し、技術的な条文と要約の文体の違いを研究課題として整理した。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Kornilova and Eidelman (2019). BillSum: A Corpus for Automatic Summarization of US Legislation. New Frontiers in Summarization.</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https://aclanthology.org/D19-5406/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 A Corpus for Automatic Summarization of US Legislation</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Anastassia Kornilova and Vladimir Eidelman · 2019 · New Frontiers in Summarization, pp.48–56</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米議会・Californiaの法案と要約、抽出型モデル、議会をまたぐ評価を報告する。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https://aclanthology.org/D19-5406/</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ROUGE: A Package for Automatic Evaluation of Summaries</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Chin-Yew Lin · 2004 · Text Summarization Branches Out</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参照要約との語や語列の重なりに基づく自動要約評価を定義する。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https://aclanthology.org/W04-1013/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研究と参考文献</a:t>
            </a:r>
          </a:p>
        </p:txBody>
      </p:sp>
      <p:sp>
        <p:nvSpPr>
          <p:cNvPr id="4" name="TextBox 3"/>
          <p:cNvSpPr txBox="1"/>
          <p:nvPr/>
        </p:nvSpPr>
        <p:spPr>
          <a:xfrm>
            <a:off x="548640" y="1426464"/>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BillSum</a:t>
            </a:r>
          </a:p>
        </p:txBody>
      </p:sp>
      <p:sp>
        <p:nvSpPr>
          <p:cNvPr id="5" name="TextBox 4"/>
          <p:cNvSpPr txBox="1"/>
          <p:nvPr/>
        </p:nvSpPr>
        <p:spPr>
          <a:xfrm>
            <a:off x="548640" y="1752600"/>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FiscalNote · n.d. · 公式リポジトリ（2026-10-18参照）</a:t>
            </a:r>
          </a:p>
        </p:txBody>
      </p:sp>
      <p:sp>
        <p:nvSpPr>
          <p:cNvPr id="6" name="TextBox 5"/>
          <p:cNvSpPr txBox="1"/>
          <p:nvPr/>
        </p:nvSpPr>
        <p:spPr>
          <a:xfrm>
            <a:off x="548640" y="2004567"/>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収集手順、JSON Lines配布、前処理と抽出型モデルの実装を公開する。</a:t>
            </a:r>
          </a:p>
        </p:txBody>
      </p:sp>
      <p:sp>
        <p:nvSpPr>
          <p:cNvPr id="7" name="TextBox 6"/>
          <p:cNvSpPr txBox="1"/>
          <p:nvPr/>
        </p:nvSpPr>
        <p:spPr>
          <a:xfrm>
            <a:off x="548640" y="2321687"/>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https://github.com/FiscalNote/BillSum</a:t>
            </a:r>
          </a:p>
        </p:txBody>
      </p:sp>
      <p:sp>
        <p:nvSpPr>
          <p:cNvPr id="8" name="TextBox 7"/>
          <p:cNvSpPr txBox="1"/>
          <p:nvPr/>
        </p:nvSpPr>
        <p:spPr>
          <a:xfrm>
            <a:off x="548640" y="2748026"/>
            <a:ext cx="8046720" cy="288035"/>
          </a:xfrm>
          <a:prstGeom prst="rect">
            <a:avLst/>
          </a:prstGeom>
          <a:noFill/>
        </p:spPr>
        <p:txBody>
          <a:bodyPr wrap="square" lIns="0" rIns="0" tIns="0" bIns="0">
            <a:noAutofit/>
          </a:bodyPr>
          <a:lstStyle/>
          <a:p>
            <a:pPr algn="l">
              <a:lnSpc>
                <a:spcPts val="2052"/>
              </a:lnSpc>
              <a:spcBef>
                <a:spcPts val="0"/>
              </a:spcBef>
              <a:spcAft>
                <a:spcPts val="0"/>
              </a:spcAft>
              <a:buNone/>
              <a:defRPr sz="1800" b="0">
                <a:solidFill>
                  <a:srgbClr val="303437"/>
                </a:solidFill>
                <a:latin typeface="Noto Sans"/>
              </a:defRPr>
            </a:pPr>
            <a:r>
              <a:rPr sz="1800" b="1" lang="ja-JP" altLang="en-US">
                <a:solidFill>
                  <a:srgbClr val="303437"/>
                </a:solidFill>
                <a:latin typeface="Noto Sans"/>
                <a:ea typeface="Noto Sans CJK JP"/>
                <a:cs typeface="Noto Sans"/>
              </a:rPr>
              <a:t>FiscalNote/billsum</a:t>
            </a:r>
          </a:p>
        </p:txBody>
      </p:sp>
      <p:sp>
        <p:nvSpPr>
          <p:cNvPr id="9" name="TextBox 8"/>
          <p:cNvSpPr txBox="1"/>
          <p:nvPr/>
        </p:nvSpPr>
        <p:spPr>
          <a:xfrm>
            <a:off x="548640" y="3074161"/>
            <a:ext cx="8046720" cy="201168"/>
          </a:xfrm>
          <a:prstGeom prst="rect">
            <a:avLst/>
          </a:prstGeom>
          <a:noFill/>
        </p:spPr>
        <p:txBody>
          <a:bodyPr wrap="square" lIns="0" rIns="0" tIns="0" bIns="0">
            <a:noAutofit/>
          </a:bodyPr>
          <a:lstStyle/>
          <a:p>
            <a:pPr algn="l">
              <a:lnSpc>
                <a:spcPts val="1368"/>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BillSum contributors · n.d. · Hugging Face（2026-10-18参照）</a:t>
            </a:r>
          </a:p>
        </p:txBody>
      </p:sp>
      <p:sp>
        <p:nvSpPr>
          <p:cNvPr id="10" name="TextBox 9"/>
          <p:cNvSpPr txBox="1"/>
          <p:nvPr/>
        </p:nvSpPr>
        <p:spPr>
          <a:xfrm>
            <a:off x="548640" y="3326129"/>
            <a:ext cx="8046720" cy="266319"/>
          </a:xfrm>
          <a:prstGeom prst="rect">
            <a:avLst/>
          </a:prstGeom>
          <a:noFill/>
        </p:spPr>
        <p:txBody>
          <a:bodyPr wrap="square" lIns="0" rIns="0" tIns="0" bIns="0">
            <a:noAutofit/>
          </a:bodyPr>
          <a:lstStyle/>
          <a:p>
            <a:pPr algn="l">
              <a:lnSpc>
                <a:spcPts val="188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US train・testとCalifornia ca_testを、本文・要約・題名の列で配布する。</a:t>
            </a:r>
          </a:p>
        </p:txBody>
      </p:sp>
      <p:sp>
        <p:nvSpPr>
          <p:cNvPr id="11" name="TextBox 10"/>
          <p:cNvSpPr txBox="1"/>
          <p:nvPr/>
        </p:nvSpPr>
        <p:spPr>
          <a:xfrm>
            <a:off x="548640" y="3643249"/>
            <a:ext cx="8046720" cy="179450"/>
          </a:xfrm>
          <a:prstGeom prst="rect">
            <a:avLst/>
          </a:prstGeom>
          <a:noFill/>
        </p:spPr>
        <p:txBody>
          <a:bodyPr wrap="square" lIns="0" rIns="0" tIns="0" bIns="0">
            <a:noAutofit/>
          </a:bodyPr>
          <a:lstStyle/>
          <a:p>
            <a:pPr algn="l">
              <a:lnSpc>
                <a:spcPts val="1197"/>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https://huggingface.co/datasets/FiscalNote/billsum</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2026-10-18T07:48:52Z</dcterms:modified>
  <dc:title>billsum</dc:title>
  <dc:creator>sasakiy84</dc:creator>
  <dcterms:created xsi:type="dcterms:W3CDTF">2026-10-18T07:48:52Z</dcterms:created>
  <dc:language>ja-JP</dc:language>
</cp:coreProperties>
</file>