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8" r:id="rId28"/>
    <p:sldId id="279" r:id="rId29"/>
    <p:sldId id="280" r:id="rId30"/>
    <p:sldId id="281" r:id="rId31"/>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3" r:id="rId53"/>
    <p:sldId id="304" r:id="rId54"/>
    <p:sldId id="305" r:id="rId55"/>
    <p:sldId id="306" r:id="rId56"/>
    <p:sldId id="307" r:id="rId57"/>
    <p:sldId id="308" r:id="rId58"/>
    <p:sldId id="309" r:id="rId59"/>
    <p:sldId id="310" r:id="rId60"/>
    <p:sldId id="311" r:id="rId61"/>
    <p:sldId id="313" r:id="rId6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3" Type="http://schemas.openxmlformats.org/officeDocument/2006/relationships/slide" Target="slides/slide5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col"/>
        <c:grouping val="clustered"/>
        <c:ser>
          <c:idx val="0"/>
          <c:order val="0"/>
          <c:tx>
            <c:strRef>
              <c:f>Sheet1!$B$1</c:f>
              <c:strCache>
                <c:ptCount val="1"/>
                <c:pt idx="0">
                  <c:v>AR</c:v>
                </c:pt>
              </c:strCache>
            </c:strRef>
          </c:tx>
          <c:cat>
            <c:strRef>
              <c:f>Sheet1!$A$2:$A$5</c:f>
              <c:strCache>
                <c:ptCount val="4"/>
                <c:pt idx="0">
                  <c:v>Test</c:v>
                </c:pt>
                <c:pt idx="1">
                  <c:v>Ran</c:v>
                </c:pt>
                <c:pt idx="2">
                  <c:v>Sim</c:v>
                </c:pt>
                <c:pt idx="3">
                  <c:v>Out</c:v>
                </c:pt>
              </c:strCache>
            </c:strRef>
          </c:cat>
          <c:val>
            <c:numRef>
              <c:f>Sheet1!$B$2:$B$5</c:f>
              <c:numCache>
                <c:formatCode>General</c:formatCode>
                <c:ptCount val="4"/>
                <c:pt idx="0">
                  <c:v>72.4</c:v>
                </c:pt>
                <c:pt idx="1">
                  <c:v>82.0</c:v>
                </c:pt>
                <c:pt idx="2">
                  <c:v>66.2</c:v>
                </c:pt>
                <c:pt idx="3">
                  <c:v>62.9</c:v>
                </c:pt>
              </c:numCache>
            </c:numRef>
          </c:val>
        </c:ser>
        <c:ser>
          <c:idx val="1"/>
          <c:order val="1"/>
          <c:tx>
            <c:strRef>
              <c:f>Sheet1!$C$1</c:f>
              <c:strCache>
                <c:ptCount val="1"/>
                <c:pt idx="0">
                  <c:v>人間（各200文章）</c:v>
                </c:pt>
              </c:strCache>
            </c:strRef>
          </c:tx>
          <c:cat>
            <c:strRef>
              <c:f>Sheet1!$A$2:$A$5</c:f>
              <c:strCache>
                <c:ptCount val="4"/>
                <c:pt idx="0">
                  <c:v>Test</c:v>
                </c:pt>
                <c:pt idx="1">
                  <c:v>Ran</c:v>
                </c:pt>
                <c:pt idx="2">
                  <c:v>Sim</c:v>
                </c:pt>
                <c:pt idx="3">
                  <c:v>Out</c:v>
                </c:pt>
              </c:strCache>
            </c:strRef>
          </c:cat>
          <c:val>
            <c:numRef>
              <c:f>Sheet1!$C$2:$C$5</c:f>
              <c:numCache>
                <c:formatCode>General</c:formatCode>
                <c:ptCount val="4"/>
                <c:pt idx="0">
                  <c:v>87.1</c:v>
                </c:pt>
                <c:pt idx="1">
                  <c:v>97.6</c:v>
                </c:pt>
                <c:pt idx="2">
                  <c:v>82.2</c:v>
                </c:pt>
                <c:pt idx="3">
                  <c:v>86.2</c:v>
                </c:pt>
              </c:numCache>
            </c:numRef>
          </c:val>
        </c:ser>
        <c:dLbls>
          <c:txPr>
            <a:bodyPr/>
            <a:lstStyle/>
            <a:p>
              <a:pPr>
                <a:defRPr sz="1100"/>
              </a:pPr>
            </a:p>
          </c:txPr>
          <c:dLblPos val="outEnd"/>
          <c:showLegendKey val="0"/>
          <c:showVal val="1"/>
          <c:showCatName val="0"/>
          <c:showSerName val="0"/>
          <c:showPercent val="0"/>
          <c:showBubbleSize val="0"/>
          <c:showLeaderLines val="1"/>
        </c:dLbls>
        <c:axId val="2226939960"/>
        <c:axId val="2180972856"/>
      </c:barChart>
      <c:catAx>
        <c:axId val="2226939960"/>
        <c:scaling>
          <c:orientation val="minMax"/>
        </c:scaling>
        <c:delete val="0"/>
        <c:axPos val="b"/>
        <c:majorTickMark val="out"/>
        <c:minorTickMark val="none"/>
        <c:tickLblPos val="nextTo"/>
        <c:txPr>
          <a:bodyPr/>
          <a:lstStyle/>
          <a:p>
            <a:pPr>
              <a:defRPr sz="1200"/>
            </a:pPr>
          </a:p>
        </c:txPr>
        <c:crossAx val="2180972856"/>
        <c:crosses val="autoZero"/>
        <c:auto val="1"/>
        <c:lblAlgn val="ctr"/>
        <c:lblOffset val="100"/>
        <c:noMultiLvlLbl val="0"/>
      </c:catAx>
      <c:valAx>
        <c:axId val="2180972856"/>
        <c:scaling>
          <c:max val="100.0"/>
          <c:min val="0.0"/>
        </c:scaling>
        <c:delete val="0"/>
        <c:axPos val="l"/>
        <c:majorGridlines/>
        <c:majorTickMark val="out"/>
        <c:minorTickMark val="none"/>
        <c:tickLblPos val="nextTo"/>
        <c:txPr>
          <a:bodyPr/>
          <a:lstStyle/>
          <a:p>
            <a:pPr>
              <a:defRPr sz="1100"/>
            </a:pPr>
          </a:p>
        </c:txPr>
        <c:crossAx val="2226939960"/>
        <c:crosses val="autoZero"/>
        <c:majorUnit val="20.0"/>
      </c:valAx>
    </c:plotArea>
    <c:legend>
      <c:legendPos val="b"/>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chujiezheng/ChID-Datase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P19-1075/"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coai/chid/tree/47ad8022d369233bea2f4a8112268f9a9a039a43/original" TargetMode="External"/><Relationship Id="rId3" Type="http://schemas.openxmlformats.org/officeDocument/2006/relationships/hyperlink" Target="https://huggingface.co/datasets/thu-coai/chid/tree/main/origina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CLUEbenchmark/FewCLUE/tree/62a02c6f31cf32814cfe522f78ef088228840f8d/datasets/chid" TargetMode="External"/><Relationship Id="rId3" Type="http://schemas.openxmlformats.org/officeDocument/2006/relationships/hyperlink" Target="https://github.com/CLUEbenchmark/FewCLUE/tree/main/datasets/chid"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CLUEbenchmark/FewCLUE/tree/62a02c6f31cf32814cfe522f78ef088228840f8d/datasets/chid" TargetMode="External"/><Relationship Id="rId3" Type="http://schemas.openxmlformats.org/officeDocument/2006/relationships/hyperlink" Target="https://github.com/CLUEbenchmark/FewCLUE/tree/main/datasets/chi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P19-1075/"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P19-1075/"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P19-1075/"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P19-1075/"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P19-1075/"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P19-1075/" TargetMode="External"/><Relationship Id="rId3" Type="http://schemas.openxmlformats.org/officeDocument/2006/relationships/hyperlink" Target="https://huggingface.co/datasets/thu-coai/chid/tree/47ad8022d369233bea2f4a8112268f9a9a039a43/original" TargetMode="External"/><Relationship Id="rId4" Type="http://schemas.openxmlformats.org/officeDocument/2006/relationships/hyperlink" Target="https://huggingface.co/datasets/thu-coai/chid/tree/main/origina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P19-1075/"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P19-1075/"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aclanthology.org/P19-1075/"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P19-1075/"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P19-1075/"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chujiezheng/ChID-Dataset/blob/0836ebf72cbe7d2da832021b02ff08f627de885d/Competition/README.md" TargetMode="External"/><Relationship Id="rId3" Type="http://schemas.openxmlformats.org/officeDocument/2006/relationships/hyperlink" Target="https://aclanthology.org/2023.emnlp-demo.17/" TargetMode="External"/><Relationship Id="rId4" Type="http://schemas.openxmlformats.org/officeDocument/2006/relationships/hyperlink" Target="https://github.com/chujiezheng/ChID-Dataset/blob/master/Competition/README.md"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cluebenchmark/tasks/chid_public.zip"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07.07498" TargetMode="External"/><Relationship Id="rId3" Type="http://schemas.openxmlformats.org/officeDocument/2006/relationships/hyperlink" Target="https://github.com/CLUEbenchmark/FewCLUE/tree/62a02c6f31cf32814cfe522f78ef088228840f8d/datasets/chid" TargetMode="External"/><Relationship Id="rId4" Type="http://schemas.openxmlformats.org/officeDocument/2006/relationships/hyperlink" Target="https://github.com/CLUEbenchmark/FewCLUE/tree/main/datasets/chid"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chujiezheng/ChID-Dataset" TargetMode="External"/><Relationship Id="rId3" Type="http://schemas.openxmlformats.org/officeDocument/2006/relationships/hyperlink" Target="https://github.com/chujiezheng/ChID-Dataset/blob/0836ebf72cbe7d2da832021b02ff08f627de885d/LICENSE" TargetMode="External"/><Relationship Id="rId4" Type="http://schemas.openxmlformats.org/officeDocument/2006/relationships/hyperlink" Target="https://github.com/chujiezheng/ChID-Dataset/blob/master/LICENSE"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P19-1075/" TargetMode="External"/><Relationship Id="rId3" Type="http://schemas.openxmlformats.org/officeDocument/2006/relationships/hyperlink" Target="https://aclanthology.org/2023.emnlp-demo.17/"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coai/chid/tree/47ad8022d369233bea2f4a8112268f9a9a039a43/original" TargetMode="External"/><Relationship Id="rId3" Type="http://schemas.openxmlformats.org/officeDocument/2006/relationships/hyperlink" Target="https://huggingface.co/datasets/thu-coai/chid/tree/main/origina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coai/chid/tree/47ad8022d369233bea2f4a8112268f9a9a039a43/original" TargetMode="External"/><Relationship Id="rId3" Type="http://schemas.openxmlformats.org/officeDocument/2006/relationships/hyperlink" Target="https://huggingface.co/datasets/thu-coai/chid/tree/main/origina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coai/chid/tree/47ad8022d369233bea2f4a8112268f9a9a039a43/original" TargetMode="External"/><Relationship Id="rId3" Type="http://schemas.openxmlformats.org/officeDocument/2006/relationships/hyperlink" Target="https://huggingface.co/datasets/thu-coai/chid/tree/main/origina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coai/chid/tree/47ad8022d369233bea2f4a8112268f9a9a039a43/original" TargetMode="External"/><Relationship Id="rId3" Type="http://schemas.openxmlformats.org/officeDocument/2006/relationships/hyperlink" Target="https://huggingface.co/datasets/thu-coai/chid/tree/main/origina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coai/chid/tree/47ad8022d369233bea2f4a8112268f9a9a039a43/original" TargetMode="External"/><Relationship Id="rId3" Type="http://schemas.openxmlformats.org/officeDocument/2006/relationships/hyperlink" Target="https://huggingface.co/datasets/thu-coai/chid/tree/main/origina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coai/chid/tree/47ad8022d369233bea2f4a8112268f9a9a039a43/original" TargetMode="External"/><Relationship Id="rId3" Type="http://schemas.openxmlformats.org/officeDocument/2006/relationships/hyperlink" Target="https://huggingface.co/datasets/thu-coai/chid/tree/main/origina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coai/chid/tree/47ad8022d369233bea2f4a8112268f9a9a039a43/original" TargetMode="External"/><Relationship Id="rId3" Type="http://schemas.openxmlformats.org/officeDocument/2006/relationships/hyperlink" Target="https://huggingface.co/datasets/thu-coai/chid/tree/main/origina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coai/chid/tree/47ad8022d369233bea2f4a8112268f9a9a039a43/original" TargetMode="External"/><Relationship Id="rId3" Type="http://schemas.openxmlformats.org/officeDocument/2006/relationships/hyperlink" Target="https://huggingface.co/datasets/thu-coai/chid/tree/main/origina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coai/chid/tree/47ad8022d369233bea2f4a8112268f9a9a039a43/original" TargetMode="External"/><Relationship Id="rId3" Type="http://schemas.openxmlformats.org/officeDocument/2006/relationships/hyperlink" Target="https://huggingface.co/datasets/thu-coai/chid/tree/main/origina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coai/chid/tree/47ad8022d369233bea2f4a8112268f9a9a039a43/original" TargetMode="External"/><Relationship Id="rId3" Type="http://schemas.openxmlformats.org/officeDocument/2006/relationships/hyperlink" Target="https://huggingface.co/datasets/thu-coai/chid/tree/main/origina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coai/chid/tree/47ad8022d369233bea2f4a8112268f9a9a039a43/original" TargetMode="External"/><Relationship Id="rId3" Type="http://schemas.openxmlformats.org/officeDocument/2006/relationships/hyperlink" Target="https://huggingface.co/datasets/thu-coai/chid/tree/main/origina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coai/chid/tree/47ad8022d369233bea2f4a8112268f9a9a039a43/original" TargetMode="External"/><Relationship Id="rId3" Type="http://schemas.openxmlformats.org/officeDocument/2006/relationships/hyperlink" Target="https://huggingface.co/datasets/thu-coai/chid/tree/main/origina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thu-coai/chid/tree/47ad8022d369233bea2f4a8112268f9a9a039a43/original" TargetMode="External"/><Relationship Id="rId3" Type="http://schemas.openxmlformats.org/officeDocument/2006/relationships/hyperlink" Target="https://huggingface.co/datasets/thu-coai/chid/tree/main/original"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P19-1075/"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coai/chid/tree/47ad8022d369233bea2f4a8112268f9a9a039a43/original" TargetMode="External"/><Relationship Id="rId3" Type="http://schemas.openxmlformats.org/officeDocument/2006/relationships/hyperlink" Target="https://huggingface.co/datasets/thu-coai/chid/tree/main/original"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coai/chid/tree/47ad8022d369233bea2f4a8112268f9a9a039a43/original" TargetMode="External"/><Relationship Id="rId3" Type="http://schemas.openxmlformats.org/officeDocument/2006/relationships/hyperlink" Target="https://storage.googleapis.com/cluebenchmark/tasks/chid_public.zip" TargetMode="External"/><Relationship Id="rId4" Type="http://schemas.openxmlformats.org/officeDocument/2006/relationships/hyperlink" Target="https://huggingface.co/datasets/thu-coai/chid/tree/main/original"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P19-1075/" TargetMode="External"/><Relationship Id="rId3" Type="http://schemas.openxmlformats.org/officeDocument/2006/relationships/hyperlink" Target="https://github.com/chujiezheng/ChID-Dataset"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coai/chid/tree/main/original" TargetMode="External"/><Relationship Id="rId3" Type="http://schemas.openxmlformats.org/officeDocument/2006/relationships/hyperlink" Target="https://github.com/chujiezheng/ChID-Dataset/blob/master/Competition/README.md"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0.coling-main.419/" TargetMode="External"/><Relationship Id="rId3" Type="http://schemas.openxmlformats.org/officeDocument/2006/relationships/hyperlink" Target="https://storage.googleapis.com/cluebenchmark/tasks/chid_public.zip"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07.07498" TargetMode="External"/><Relationship Id="rId3" Type="http://schemas.openxmlformats.org/officeDocument/2006/relationships/hyperlink" Target="https://github.com/CLUEbenchmark/FewCLUE/tree/main/datasets/chid"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4.0/src/helm/benchmark/presentation/run_specs_cleva_v1.conf" TargetMode="External"/><Relationship Id="rId3" Type="http://schemas.openxmlformats.org/officeDocument/2006/relationships/hyperlink" Target="https://github.com/chujiezheng/ChID-Dataset/blob/master/LICENS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637627"/>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ChID</a:t>
            </a:r>
          </a:p>
        </p:txBody>
      </p:sp>
      <p:sp>
        <p:nvSpPr>
          <p:cNvPr id="3" name="Subtitle 2"/>
          <p:cNvSpPr>
            <a:spLocks noGrp="1"/>
          </p:cNvSpPr>
          <p:nvPr>
            <p:ph type="subTitle" idx="1"/>
          </p:nvPr>
        </p:nvSpPr>
        <p:spPr>
          <a:xfrm>
            <a:off x="548640" y="2647277"/>
            <a:ext cx="8046720" cy="989965"/>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Chinese IDiom Dataset for Cloze Test</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文脈と類義語の違いから、中国語の成語を選ぶ</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公式公開元：原論文版とコンテスト版の案内</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ChID</a:t>
            </a:r>
          </a:p>
        </p:txBody>
      </p:sp>
      <p:pic>
        <p:nvPicPr>
          <p:cNvPr id="4" name="Picture 3" descr="official-site.png"/>
          <p:cNvPicPr>
            <a:picLocks noChangeAspect="1"/>
          </p:cNvPicPr>
          <p:nvPr/>
        </p:nvPicPr>
        <p:blipFill>
          <a:blip r:embed="rId2"/>
          <a:stretch>
            <a:fillRect/>
          </a:stretch>
        </p:blipFill>
        <p:spPr>
          <a:xfrm>
            <a:off x="2250386" y="1481328"/>
            <a:ext cx="4643226"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ChID-Dataset.  </a:t>
            </a:r>
            <a:r>
              <a:rPr sz="810" b="0" lang="ja-JP" altLang="en-US">
                <a:solidFill>
                  <a:srgbClr val="626669"/>
                </a:solidFill>
                <a:latin typeface="Noto Sans"/>
                <a:ea typeface="Noto Sans CJK JP"/>
                <a:cs typeface="Noto Sans"/>
                <a:hlinkClick r:id="rId3"/>
              </a:rPr>
              <a:t>https://github.com/chujiezheng/ChID-Dataset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文章に合う成語を、候補から選ぶ</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成語の語彙・文章・候補の作り方</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空欄ごとの正解率と候補の難しさ</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配布形式の違いと入手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文章に合う成語を、候補から選ぶ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文章に合う成語を、候補から選ぶ</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文章の空欄に、もっとも合う成語を入れる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ChIDは、中国語の成語を選ぶ穴埋め読解データ。成語は、短い形に意味が凝縮された慣用表現で、このデータでは四字の成語を対象とする。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文章内の成語を空欄記号に置き換え、もとの成語を選ぶ。原論文版では、各空欄に七つの候補が付く。</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文章に合う成語を、候補から選ぶ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A Large-scale Chinese IDiom Dataset for Cloze Test. ACL, pp.778–787.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https://aclanthology.org/P19-1075/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実例1：足場の材料に求める条件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文章に合う成語を、候補から選ぶ</a:t>
            </a:r>
          </a:p>
        </p:txBody>
      </p:sp>
      <p:sp>
        <p:nvSpPr>
          <p:cNvPr id="4" name="quote-frame"/>
          <p:cNvSpPr/>
          <p:nvPr/>
        </p:nvSpPr>
        <p:spPr>
          <a:xfrm>
            <a:off x="548640" y="1234440"/>
            <a:ext cx="8046720" cy="111251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中国語：在印度和亚洲其他国家，竹子因#idiom#、易于切割和运输常被用于搭建脚手架。</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日本語：インドやアジアのほかの国々では、竹は____で、切ったり運んだりしやすいため、足場を組むのによく使われる。</a:t>
            </a:r>
          </a:p>
        </p:txBody>
      </p:sp>
      <p:sp>
        <p:nvSpPr>
          <p:cNvPr id="5" name="quote-frame"/>
          <p:cNvSpPr/>
          <p:nvPr/>
        </p:nvSpPr>
        <p:spPr>
          <a:xfrm>
            <a:off x="548640" y="2504948"/>
            <a:ext cx="3931920" cy="111150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供不应求：需要に供給が追いつかない</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物美价廉：品質が良く、価格が安い</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货真价实：本物で、値段に見合う</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独树一帜：独自の特色を持つ</a:t>
            </a:r>
          </a:p>
        </p:txBody>
      </p:sp>
      <p:sp>
        <p:nvSpPr>
          <p:cNvPr id="6" name="quote-frame"/>
          <p:cNvSpPr/>
          <p:nvPr/>
        </p:nvSpPr>
        <p:spPr>
          <a:xfrm>
            <a:off x="4663440" y="2504948"/>
            <a:ext cx="3931920" cy="89137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E. 两小无猜：幼い男女が無邪気に親しむ</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F. 监主自盗：管理する物を自ら盗む</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G. 自由自在：自由で気まま</a:t>
            </a:r>
          </a:p>
        </p:txBody>
      </p:sp>
      <p:sp>
        <p:nvSpPr>
          <p:cNvPr id="7" name="TextBox 6"/>
          <p:cNvSpPr txBox="1"/>
          <p:nvPr/>
        </p:nvSpPr>
        <p:spPr>
          <a:xfrm>
            <a:off x="594360" y="4389120"/>
            <a:ext cx="7955279" cy="347472"/>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正解：B　物美价廉</a:t>
            </a:r>
          </a:p>
        </p:txBody>
      </p:sp>
      <p:sp>
        <p:nvSpPr>
          <p:cNvPr id="8" name="sources"/>
          <p:cNvSpPr txBox="1"/>
          <p:nvPr/>
        </p:nvSpPr>
        <p:spPr>
          <a:xfrm>
            <a:off x="502920" y="4855464"/>
            <a:ext cx="8183879" cy="283464"/>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 Original Data Distribution.  </a:t>
            </a:r>
            <a:r>
              <a:rPr sz="810" b="0" lang="ja-JP" altLang="en-US">
                <a:solidFill>
                  <a:srgbClr val="626669"/>
                </a:solidFill>
                <a:latin typeface="Noto Sans"/>
                <a:ea typeface="Noto Sans CJK JP"/>
                <a:cs typeface="Noto Sans"/>
                <a:hlinkClick r:id="rId3"/>
              </a:rPr>
              <a:t>https://huggingface.co/datasets/thu-coai/chid/tree/main/original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実例2：才能を得るまでの経験を述べる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文章に合う成語を、候補から選ぶ</a:t>
            </a:r>
          </a:p>
        </p:txBody>
      </p:sp>
      <p:sp>
        <p:nvSpPr>
          <p:cNvPr id="4" name="quote-frame"/>
          <p:cNvSpPr/>
          <p:nvPr/>
        </p:nvSpPr>
        <p:spPr>
          <a:xfrm>
            <a:off x="548640" y="1234440"/>
            <a:ext cx="8046720" cy="156971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中国語：不过,要想变得#idiom#,要想自己能够成就一番事业的话,不是说来就来的,或者说任何一个出色的人,他们都得经历过不少的磨难,以及在经受住了一些挫折之后,才能真正成才成人,才能成为一个实力超群的人物,让自己的人生过得越来越顺当...</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日本語：しかし、____になり、自分で何かを成し遂げようと思っても、すぐにできるものではない。優れた人は誰でも、多くの苦難を経験し、挫折に耐えた後で初めて本当に成長し、実力の抜きんでた人物となり、人生がますます順調に進むようになる…</a:t>
            </a:r>
          </a:p>
        </p:txBody>
      </p:sp>
      <p:sp>
        <p:nvSpPr>
          <p:cNvPr id="5" name="quote-frame"/>
          <p:cNvSpPr/>
          <p:nvPr/>
        </p:nvSpPr>
        <p:spPr>
          <a:xfrm>
            <a:off x="548640" y="2958338"/>
            <a:ext cx="3931920" cy="111912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足智多谋：知恵と策略に富む</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低眉顺眼：目を伏せて従順にする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问长问短：あれこれ細かく尋ねる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嘘寒问暖：暮らしや体調を気遣う</a:t>
            </a:r>
          </a:p>
        </p:txBody>
      </p:sp>
      <p:sp>
        <p:nvSpPr>
          <p:cNvPr id="6" name="quote-frame"/>
          <p:cNvSpPr/>
          <p:nvPr/>
        </p:nvSpPr>
        <p:spPr>
          <a:xfrm>
            <a:off x="4663440" y="2958338"/>
            <a:ext cx="3931920" cy="111912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E. 语无伦次：話の筋が通らない</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F. 绣花枕头：見かけだけ立派で中身がない</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G. 牵肠挂肚：気がかりで心が離れない</a:t>
            </a:r>
          </a:p>
        </p:txBody>
      </p:sp>
      <p:sp>
        <p:nvSpPr>
          <p:cNvPr id="7" name="TextBox 6"/>
          <p:cNvSpPr txBox="1"/>
          <p:nvPr/>
        </p:nvSpPr>
        <p:spPr>
          <a:xfrm>
            <a:off x="594360" y="4389120"/>
            <a:ext cx="7955279" cy="347472"/>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正解：A　足智多谋</a:t>
            </a:r>
          </a:p>
        </p:txBody>
      </p:sp>
      <p:sp>
        <p:nvSpPr>
          <p:cNvPr id="8" name="sources"/>
          <p:cNvSpPr txBox="1"/>
          <p:nvPr/>
        </p:nvSpPr>
        <p:spPr>
          <a:xfrm>
            <a:off x="502920" y="4855464"/>
            <a:ext cx="8183879" cy="283464"/>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 team (2021). FewCLUE — ChID.  </a:t>
            </a:r>
            <a:r>
              <a:rPr sz="810" b="0" lang="ja-JP" altLang="en-US">
                <a:solidFill>
                  <a:srgbClr val="626669"/>
                </a:solidFill>
                <a:latin typeface="Noto Sans"/>
                <a:ea typeface="Noto Sans CJK JP"/>
                <a:cs typeface="Noto Sans"/>
                <a:hlinkClick r:id="rId3"/>
              </a:rPr>
              <a:t>https://github.com/CLUEbenchmark/FewCLUE/tree/main/datasets/chid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実例3：映画の台詞が三姉妹の定評になる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文章に合う成語を、候補から選ぶ</a:t>
            </a:r>
          </a:p>
        </p:txBody>
      </p:sp>
      <p:sp>
        <p:nvSpPr>
          <p:cNvPr id="4" name="quote-frame"/>
          <p:cNvSpPr/>
          <p:nvPr/>
        </p:nvSpPr>
        <p:spPr>
          <a:xfrm>
            <a:off x="548640" y="1234440"/>
            <a:ext cx="8046720" cy="178985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中国語：1997年上映的电影《宋家王朝》中,影星杨紫琼,张曼玉,邬君梅,分别扮演宋霭龄,宋庆龄,宋美龄,其片头语“遥远的旧中国有三姐妹,一个爱钱,一个爱国,一个爱权”不胫而走,却也#idiom#,成为对宋氏三姐妹的总体评价。图中是《宋家王朝》的...</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日本語：1997年公開の映画『宋家王朝』では、楊紫瓊、張曼玉、鄔君梅が、それぞれ宋靄齢、宋慶齢、宋美齢を演じた。冒頭の「遠い昔の中国に三人の姉妹がいた。一人は金を、一人は国を、一人は権力を愛した」という言葉は広く伝わり、一方で____、宋家の三姉妹への総括的な評価となった。写真は『宋家王朝』の…</a:t>
            </a:r>
          </a:p>
        </p:txBody>
      </p:sp>
      <p:sp>
        <p:nvSpPr>
          <p:cNvPr id="5" name="quote-frame"/>
          <p:cNvSpPr/>
          <p:nvPr/>
        </p:nvSpPr>
        <p:spPr>
          <a:xfrm>
            <a:off x="548640" y="3185033"/>
            <a:ext cx="3931920" cy="111446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异想天开：突飛な空想をする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时移世易：時が移り世の中が変わる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半生半熟：生煮えで、まだ未熟</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言之凿凿：確信に満ちた言い方をする</a:t>
            </a:r>
          </a:p>
        </p:txBody>
      </p:sp>
      <p:sp>
        <p:nvSpPr>
          <p:cNvPr id="6" name="quote-frame"/>
          <p:cNvSpPr/>
          <p:nvPr/>
        </p:nvSpPr>
        <p:spPr>
          <a:xfrm>
            <a:off x="4663440" y="3185033"/>
            <a:ext cx="3931920" cy="88586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E. 大有可为：大いに力を発揮できる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F. 喧宾夺主：脇役が主役をしのぐ</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G. 焕然一新：すっかり新しくなる</a:t>
            </a:r>
          </a:p>
        </p:txBody>
      </p:sp>
      <p:sp>
        <p:nvSpPr>
          <p:cNvPr id="7" name="TextBox 6"/>
          <p:cNvSpPr txBox="1"/>
          <p:nvPr/>
        </p:nvSpPr>
        <p:spPr>
          <a:xfrm>
            <a:off x="594360" y="4389120"/>
            <a:ext cx="7955279" cy="347472"/>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正解：D　言之凿凿</a:t>
            </a:r>
          </a:p>
        </p:txBody>
      </p:sp>
      <p:sp>
        <p:nvSpPr>
          <p:cNvPr id="8" name="sources"/>
          <p:cNvSpPr txBox="1"/>
          <p:nvPr/>
        </p:nvSpPr>
        <p:spPr>
          <a:xfrm>
            <a:off x="502920" y="4855464"/>
            <a:ext cx="8183879" cy="283464"/>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 team (2021). FewCLUE — ChID.  </a:t>
            </a:r>
            <a:r>
              <a:rPr sz="810" b="0" lang="ja-JP" altLang="en-US">
                <a:solidFill>
                  <a:srgbClr val="626669"/>
                </a:solidFill>
                <a:latin typeface="Noto Sans"/>
                <a:ea typeface="Noto Sans CJK JP"/>
                <a:cs typeface="Noto Sans"/>
                <a:hlinkClick r:id="rId3"/>
              </a:rPr>
              <a:t>https://github.com/CLUEbenchmark/FewCLUE/tree/main/datasets/chid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文字だけでなく、成語全体の使い方を読む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成語には、構成する文字から意味をそのまま足し合わせられない表現がある。「绣花枕头」は、見かけが立派でも中身がないという比喩。「足智多谋」は知恵や策略に富むことを表す。</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近い意味を持つ成語でも、話す様子、話の内容、態度など、使う対象が異なる。文章の前後と候補の細かな違いを照合する。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文章に合う成語を、候補から選ぶ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A Large-scale Chinese IDiom Dataset for Cloze Test. ACL, pp.778–787.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https://aclanthology.org/P19-1075/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成語の語彙・文章・候補の作り方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成語の語彙・文章・候補の作り方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成語を整え、文章を集め、候補を付ける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成語の語彙・文章・候補の作り方</a:t>
            </a:r>
          </a:p>
        </p:txBody>
      </p:sp>
      <p:sp>
        <p:nvSpPr>
          <p:cNvPr id="1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A Large-scale Chinese IDiom Dataset for Cloze Test. ACL, pp.778–787.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https://aclanthology.org/P19-1075/</a:t>
            </a:r>
          </a:p>
        </p:txBody>
      </p:sp>
      <p:sp>
        <p:nvSpPr>
          <p:cNvPr id="17" name="TextBox 16"/>
          <p:cNvSpPr txBox="1"/>
          <p:nvPr/>
        </p:nvSpPr>
        <p:spPr>
          <a:xfrm>
            <a:off x="640080" y="1508760"/>
            <a:ext cx="7863840" cy="2926080"/>
          </a:xfrm>
          <a:prstGeom prst="rect">
            <a:avLst/>
          </a:prstGeom>
          <a:noFill/>
        </p:spPr>
        <p:txBody>
          <a:bodyPr wrap="square">
            <a:spAutoFit/>
          </a:bodyPr>
          <a:lstStyle/>
          <a:p>
            <a:pPr>
              <a:lnSpc>
                <a:spcPct val="119000"/>
              </a:lnSpc>
              <a:spcAft>
                <a:spcPts val="1400"/>
              </a:spcAft>
              <a:defRPr sz="2100">
                <a:latin typeface="Noto Sans CJK JP"/>
              </a:defRPr>
            </a:pPr>
            <a:r>
              <a:t>表記を整え、学習に十分な出現頻度のある四字成語3,848種類を選ぶ。</a:t>
            </a:r>
          </a:p>
          <a:p>
            <a:pPr>
              <a:lnSpc>
                <a:spcPct val="119000"/>
              </a:lnSpc>
              <a:spcAft>
                <a:spcPts val="1400"/>
              </a:spcAft>
              <a:defRPr sz="2100">
                <a:latin typeface="Noto Sans CJK JP"/>
              </a:defRPr>
            </a:pPr>
            <a:r>
              <a:t>ニュース・小説・エッセイから文章を集め、長さや成語の頻度を調整して空欄を作る。</a:t>
            </a:r>
          </a:p>
          <a:p>
            <a:pPr>
              <a:lnSpc>
                <a:spcPct val="119000"/>
              </a:lnSpc>
              <a:spcAft>
                <a:spcPts val="1400"/>
              </a:spcAft>
              <a:defRPr sz="2100">
                <a:latin typeface="Noto Sans CJK JP"/>
              </a:defRPr>
            </a:pPr>
            <a:r>
              <a:t>正解に、意味の似た成語三つと無作為の成語三つを加え、七択問題にする。候補選びには人手による意味関係の調査も用いた。</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表記をそろえ、学習できる頻度の成語を残す</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成語辞典の23,000件超から四字の表現を残し、事前学習済みの単語ベクトルを持たない語を除いた。同じ意味で一字や語順だけが違う表記は、辞典の参照関係を使ってそろえる。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コーパスで20回未満しか現れない語も除き、候補に使う3,848種類の成語を選んだ。</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成語の語彙・文章・候補の作り方</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A Large-scale Chinese IDiom Dataset for Cloze Test. ACL, pp.778–787.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https://aclanthology.org/P19-1075/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段落を基本単位にし、十分な文脈を残す</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ニュースはTHUCNews、小説とエッセイはインターネット上の文章から集めた。二重引用符内の成語は、そのままでは推測しにくい名前などを含むため、空欄化の対象から外した。</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100文字未満の段落は次の段落と結合し、600文字を超える文章は除く方針を用いた。頻出成語だけを含む文章の一部も除き、頻度の偏りを抑えた。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成語の語彙・文章・候補の作り方</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A Large-scale Chinese IDiom Dataset for Cloze Test. ACL, pp.778–787.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https://aclanthology.org/P19-1075/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七候補は、正解一つ・似た三語・無作為の三語</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成語の語彙・文章・候補の作り方</a:t>
            </a:r>
          </a:p>
        </p:txBody>
      </p:sp>
      <p:sp>
        <p:nvSpPr>
          <p:cNvPr id="4" name="code-frame"/>
          <p:cNvSpPr/>
          <p:nvPr/>
        </p:nvSpPr>
        <p:spPr>
          <a:xfrm>
            <a:off x="548640" y="1508760"/>
            <a:ext cx="8046720" cy="129201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1. 正解とのベクトル類似度が0.7より高い語を除く</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2. 残った上位10語から、三語を無作為に選ぶ</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3. 上位10語以外から、さらに三語を無作為に選ぶ</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4. 正解一語と合わせ、候補の順番を入れ替える</a:t>
            </a:r>
          </a:p>
        </p:txBody>
      </p:sp>
      <p:sp>
        <p:nvSpPr>
          <p:cNvPr id="5" name="TextBox 4"/>
          <p:cNvSpPr txBox="1"/>
          <p:nvPr/>
        </p:nvSpPr>
        <p:spPr>
          <a:xfrm>
            <a:off x="594360" y="3043428"/>
            <a:ext cx="7955279" cy="77724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同義語そのものを避けつつ、似ているが使い分けの必要な語を含めるための設計。類似度は成語ベクトルのコサイン類似度。</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A Large-scale Chinese IDiom Dataset for Cloze Test. ACL, pp.778–787.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https://aclanthology.org/P19-1075/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原論文版は580,807文章、728,713空欄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成語の語彙・文章・候補の作り方</a:t>
            </a:r>
          </a:p>
        </p:txBody>
      </p:sp>
      <p:graphicFrame>
        <p:nvGraphicFramePr>
          <p:cNvPr id="4" name="Table 3"/>
          <p:cNvGraphicFramePr>
            <a:graphicFrameLocks noGrp="1"/>
          </p:cNvGraphicFramePr>
          <p:nvPr/>
        </p:nvGraphicFramePr>
        <p:xfrm>
          <a:off x="548640" y="1508760"/>
          <a:ext cx="8046720" cy="1958975"/>
        </p:xfrm>
        <a:graphic>
          <a:graphicData uri="http://schemas.openxmlformats.org/drawingml/2006/table">
            <a:tbl>
              <a:tblPr firstRow="0" bandRow="0"/>
              <a:tblGrid>
                <a:gridCol w="2194560"/>
                <a:gridCol w="2011680"/>
                <a:gridCol w="2011680"/>
                <a:gridCol w="182880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集合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文章数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空欄数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正解</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520,711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648,920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あり</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Dev</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20,000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24,822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あり</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20,000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24,948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あり</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Out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20,096</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30,023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あり</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95751"/>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RanとSimは、Testと同じ文章で候補だけを変えた評価集合。Ranは無作為の候補、Simは似た候補が中心。</a:t>
            </a:r>
          </a:p>
        </p:txBody>
      </p:sp>
      <p:sp>
        <p:nvSpPr>
          <p:cNvPr id="6"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A Large-scale Chinese IDiom Dataset for Cloze Test. ACL, pp.778–787.  </a:t>
            </a:r>
            <a:r>
              <a:rPr sz="810" b="0" lang="ja-JP" altLang="en-US">
                <a:solidFill>
                  <a:srgbClr val="626669"/>
                </a:solidFill>
                <a:latin typeface="Noto Sans"/>
                <a:ea typeface="Noto Sans CJK JP"/>
                <a:cs typeface="Noto Sans"/>
                <a:hlinkClick r:id="rId2"/>
              </a:rPr>
              <a:t>https://aclanthology.org/P19-1075/</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Zheng, Huang &amp; Sun (2019). ChID — Original Data Distribution.  </a:t>
            </a:r>
            <a:r>
              <a:rPr sz="810" b="0" lang="ja-JP" altLang="en-US">
                <a:solidFill>
                  <a:srgbClr val="626669"/>
                </a:solidFill>
                <a:latin typeface="Noto Sans"/>
                <a:ea typeface="Noto Sans CJK JP"/>
                <a:cs typeface="Noto Sans"/>
                <a:hlinkClick r:id="rId4"/>
              </a:rPr>
              <a:t>https://huggingface.co/datasets/thu-coai/chid/tree/main/original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エッセイで、領域外への一般化を調べる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成語の語彙・文章・候補の作り方</a:t>
            </a:r>
          </a:p>
        </p:txBody>
      </p:sp>
      <p:graphicFrame>
        <p:nvGraphicFramePr>
          <p:cNvPr id="4" name="Table 3"/>
          <p:cNvGraphicFramePr>
            <a:graphicFrameLocks noGrp="1"/>
          </p:cNvGraphicFramePr>
          <p:nvPr/>
        </p:nvGraphicFramePr>
        <p:xfrm>
          <a:off x="548640" y="1508760"/>
          <a:ext cx="8046720" cy="1152144"/>
        </p:xfrm>
        <a:graphic>
          <a:graphicData uri="http://schemas.openxmlformats.org/drawingml/2006/table">
            <a:tbl>
              <a:tblPr firstRow="0" bandRow="0"/>
              <a:tblGrid>
                <a:gridCol w="2651760"/>
                <a:gridCol w="2103120"/>
                <a:gridCol w="1280160"/>
                <a:gridCol w="2011680"/>
              </a:tblGrid>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範囲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文章の領域</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平均語数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一文章の空欄数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領域内 Train/Dev/Test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ニュース・小説</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99</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1.25 / 1.24 / 1.25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領域外 Out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エッセイ</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127</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1.49</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2788920"/>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語数は、Jiebaによる分かち書きで数えた値。Outの文章は、領域内の文章より長く、空欄も多い。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A Large-scale Chinese IDiom Dataset for Cloze Test. ACL, pp.778–787.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https://aclanthology.org/P19-1075/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空欄ごとの正解率と候補の難しさ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空欄ごとの正解率と候補の難しさ</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評価は、各空欄で正しい候補を選べた割合</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空欄ごとに一つの候補を予測し、正解した空欄数を、評価した空欄数で割る。複数の空欄がある文章も、一つずつ採点する。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原論文版は各空欄が七択。各候補を等確率に選ぶ場合の期待正解率は約14.29%。モデルは文章の文脈を使い、もとの成語を選ぶ。</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空欄ごとの正解率と候補の難しさ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A Large-scale Chinese IDiom Dataset for Cloze Test. ACL, pp.778–787.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https://aclanthology.org/P19-1075/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候補が似ているほど、人もモデルも選びにくい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空欄ごとの正解率と候補の難しさ</a:t>
            </a:r>
          </a:p>
        </p:txBody>
      </p:sp>
      <p:graphicFrame>
        <p:nvGraphicFramePr>
          <p:cNvPr id="4" name="Chart 3"/>
          <p:cNvGraphicFramePr>
            <a:graphicFrameLocks noGrp="1"/>
          </p:cNvGraphicFramePr>
          <p:nvPr/>
        </p:nvGraphicFramePr>
        <p:xfrm>
          <a:off x="640080" y="1417320"/>
          <a:ext cx="786384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78224"/>
            <a:ext cx="7955279" cy="502920"/>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Accuracy (%)。Ranは無作為の候補、Simは似た候補が中心。ARは各集合全空欄、人間は各200文章を3人が解いた平均。</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A Large-scale Chinese IDiom Dataset for Cloze Test. ACL, pp.778–787.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https://aclanthology.org/P19-1075/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文脈へ注意を向けるARは、Testで72.4%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空欄ごとの正解率と候補の難しさ</a:t>
            </a:r>
          </a:p>
        </p:txBody>
      </p:sp>
      <p:graphicFrame>
        <p:nvGraphicFramePr>
          <p:cNvPr id="4" name="Table 3"/>
          <p:cNvGraphicFramePr>
            <a:graphicFrameLocks noGrp="1"/>
          </p:cNvGraphicFramePr>
          <p:nvPr/>
        </p:nvGraphicFramePr>
        <p:xfrm>
          <a:off x="548640" y="1508760"/>
          <a:ext cx="8046720" cy="1567180"/>
        </p:xfrm>
        <a:graphic>
          <a:graphicData uri="http://schemas.openxmlformats.org/drawingml/2006/table">
            <a:tbl>
              <a:tblPr firstRow="0" bandRow="0"/>
              <a:tblGrid>
                <a:gridCol w="4937760"/>
                <a:gridCol w="1554480"/>
                <a:gridCol w="155448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2019年の評価対象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Out</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双方向LSTM言語モデル（LM）</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71.5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61.5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Attentive Reader（AR）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72.4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62.9</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Stanford Attentive Reader（SAR）</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71.5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61.7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20395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Accuracy (%)。LMは空欄位置の表現から候補を選び、AR/SARは周囲の文脈へ注意を向けて候補を比較する。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A Large-scale Chinese IDiom Dataset for Cloze Test. ACL, pp.778–787.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https://aclanthology.org/P19-1075/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ARは、成語全体のベクトルで最も高い精度</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空欄ごとの正解率と候補の難しさ</a:t>
            </a:r>
          </a:p>
        </p:txBody>
      </p:sp>
      <p:graphicFrame>
        <p:nvGraphicFramePr>
          <p:cNvPr id="4" name="Table 3"/>
          <p:cNvGraphicFramePr>
            <a:graphicFrameLocks noGrp="1"/>
          </p:cNvGraphicFramePr>
          <p:nvPr/>
        </p:nvGraphicFramePr>
        <p:xfrm>
          <a:off x="548640" y="1508760"/>
          <a:ext cx="8046720" cy="1567180"/>
        </p:xfrm>
        <a:graphic>
          <a:graphicData uri="http://schemas.openxmlformats.org/drawingml/2006/table">
            <a:tbl>
              <a:tblPr firstRow="0" bandRow="0"/>
              <a:tblGrid>
                <a:gridCol w="5303520"/>
                <a:gridCol w="274320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成語の表現（2019年）</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Test Accuracy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成語を一語として表す</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72.4</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四文字のベクトルを平均する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63.8</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四文字のベクトルをMLPで合成する</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66.5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20395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同じARで表現方法を比較。MLPは文字の表現から成語の表現を学ぶ多層パーセプトロン。</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A Large-scale Chinese IDiom Dataset for Cloze Test. ACL, pp.778–787.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https://aclanthology.org/P19-1075/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配布形式の違いと入手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配布形式の違いと入手</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同じChIDでも、候補を共有する単位が違う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配布形式の違いと入手</a:t>
            </a:r>
          </a:p>
        </p:txBody>
      </p:sp>
      <p:graphicFrame>
        <p:nvGraphicFramePr>
          <p:cNvPr id="4" name="Table 3"/>
          <p:cNvGraphicFramePr>
            <a:graphicFrameLocks noGrp="1"/>
          </p:cNvGraphicFramePr>
          <p:nvPr/>
        </p:nvGraphicFramePr>
        <p:xfrm>
          <a:off x="548640" y="1508760"/>
          <a:ext cx="8046720" cy="1920240"/>
        </p:xfrm>
        <a:graphic>
          <a:graphicData uri="http://schemas.openxmlformats.org/drawingml/2006/table">
            <a:tbl>
              <a:tblPr firstRow="0" bandRow="0"/>
              <a:tblGrid>
                <a:gridCol w="2743200"/>
                <a:gridCol w="5303520"/>
              </a:tblGrid>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配布・利用</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入力と候補</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ACL 2019 原論文版</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一つの文章、空欄ごとに七候補</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コンテスト / CLUE版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複数文章の組が、十候補を共有</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FewCLUE版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一つの空欄と七候補、少数例学習</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6"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ChID-Adapt.  </a:t>
            </a:r>
            <a:r>
              <a:rPr sz="810" b="0" lang="ja-JP" altLang="en-US">
                <a:solidFill>
                  <a:srgbClr val="626669"/>
                </a:solidFill>
                <a:latin typeface="Noto Sans"/>
                <a:ea typeface="Noto Sans CJK JP"/>
                <a:cs typeface="Noto Sans"/>
                <a:hlinkClick r:id="rId4"/>
              </a:rPr>
              <a:t>https://github.com/chujiezheng/ChID-Dataset/blob/master/Competition/README.md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CLUE版では、複数の文章が十候補を共有する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配布形式の違いと入手</a:t>
            </a:r>
          </a:p>
        </p:txBody>
      </p:sp>
      <p:graphicFrame>
        <p:nvGraphicFramePr>
          <p:cNvPr id="4" name="Table 3"/>
          <p:cNvGraphicFramePr>
            <a:graphicFrameLocks noGrp="1"/>
          </p:cNvGraphicFramePr>
          <p:nvPr/>
        </p:nvGraphicFramePr>
        <p:xfrm>
          <a:off x="548640" y="1508760"/>
          <a:ext cx="8046720" cy="1920240"/>
        </p:xfrm>
        <a:graphic>
          <a:graphicData uri="http://schemas.openxmlformats.org/drawingml/2006/table">
            <a:tbl>
              <a:tblPr firstRow="0" bandRow="0"/>
              <a:tblGrid>
                <a:gridCol w="1828800"/>
                <a:gridCol w="2011680"/>
                <a:gridCol w="2103120"/>
                <a:gridCol w="2103120"/>
              </a:tblGrid>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分割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問題群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文章</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空欄</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84,709</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461,242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577,157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dev</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3,218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18,644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23,011</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test 1.0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3,231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18,725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23,209</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test 1.1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3,447</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34,470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34,470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5701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学習・開発の正解は別のJSONに入っている。公開ZIPには、test 1.0とtest 1.1の正解は含まれない。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 team. ChID公式公開ZIP、原配布READMEのCLUE 1.0 / 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https://storage.googleapis.com/cluebenchmark/tasks/chid_public.zip</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FewCLUEは、正解位置ごとに六問ずつ選ぶ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配布形式の違いと入手</a:t>
            </a:r>
          </a:p>
        </p:txBody>
      </p:sp>
      <p:graphicFrame>
        <p:nvGraphicFramePr>
          <p:cNvPr id="4" name="Table 3"/>
          <p:cNvGraphicFramePr>
            <a:graphicFrameLocks noGrp="1"/>
          </p:cNvGraphicFramePr>
          <p:nvPr/>
        </p:nvGraphicFramePr>
        <p:xfrm>
          <a:off x="548640" y="1508760"/>
          <a:ext cx="8046720" cy="1920240"/>
        </p:xfrm>
        <a:graphic>
          <a:graphicData uri="http://schemas.openxmlformats.org/drawingml/2006/table">
            <a:tbl>
              <a:tblPr firstRow="0" bandRow="0"/>
              <a:tblGrid>
                <a:gridCol w="4023360"/>
                <a:gridCol w="1737360"/>
                <a:gridCol w="2286000"/>
              </a:tblGrid>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ファイル群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問題数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正解</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train_0〜4 / dev_0〜4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各42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0〜6、各位置6問</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train_few_all / dev_few_all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各202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あり</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test_public</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2,002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各位置286問</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test / unlabeled</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2,000 / 7,585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なし</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5701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学習・開発の集約版は、五つの小集合を合わせ、重複を除いた各202問。一つの空欄と七候補を持つ。</a:t>
            </a:r>
          </a:p>
        </p:txBody>
      </p:sp>
      <p:sp>
        <p:nvSpPr>
          <p:cNvPr id="6"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Xu et al. (2021). FewCLUE: A Chinese Few-shot Learning Evaluation Benchmark. arXiv:2107.07498v2.  </a:t>
            </a:r>
            <a:r>
              <a:rPr sz="810" b="0" lang="ja-JP" altLang="en-US">
                <a:solidFill>
                  <a:srgbClr val="626669"/>
                </a:solidFill>
                <a:latin typeface="Noto Sans"/>
                <a:ea typeface="Noto Sans CJK JP"/>
                <a:cs typeface="Noto Sans"/>
                <a:hlinkClick r:id="rId2"/>
              </a:rPr>
              <a:t>https://arxiv.org/abs/2107.07498</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CLUE team (2021). FewCLUE — ChID.  </a:t>
            </a:r>
            <a:r>
              <a:rPr sz="810" b="0" lang="ja-JP" altLang="en-US">
                <a:solidFill>
                  <a:srgbClr val="626669"/>
                </a:solidFill>
                <a:latin typeface="Noto Sans"/>
                <a:ea typeface="Noto Sans CJK JP"/>
                <a:cs typeface="Noto Sans"/>
                <a:hlinkClick r:id="rId4"/>
              </a:rPr>
              <a:t>https://github.com/CLUEbenchmark/FewCLUE/tree/main/datasets/chid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公式配布を入手し、ChID論文を引用して利用する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作者の公式GitHubは、原論文版とコンテスト版の配布を案内し、利用時にChID論文の引用を求める。リポジトリのライセンスはApache License 2.0。</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素材にはニュースや文学作品が含まれる。元文章の権利や引用条件は、作品・配布元の情報を確認する。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配布形式の違いと入手</a:t>
            </a:r>
          </a:p>
        </p:txBody>
      </p:sp>
      <p:sp>
        <p:nvSpPr>
          <p:cNvPr id="5"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ChID-Dataset.  </a:t>
            </a:r>
            <a:r>
              <a:rPr sz="810" b="0" lang="ja-JP" altLang="en-US">
                <a:solidFill>
                  <a:srgbClr val="626669"/>
                </a:solidFill>
                <a:latin typeface="Noto Sans"/>
                <a:ea typeface="Noto Sans CJK JP"/>
                <a:cs typeface="Noto Sans"/>
                <a:hlinkClick r:id="rId2"/>
              </a:rPr>
              <a:t>https://github.com/chujiezheng/ChID-Dataset</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rPr>
              <a:t>[2] ChID-Dataset. Apache License 2.0.  </a:t>
            </a:r>
            <a:r>
              <a:rPr sz="810" b="0" lang="ja-JP" altLang="en-US">
                <a:solidFill>
                  <a:srgbClr val="626669"/>
                </a:solidFill>
                <a:latin typeface="Noto Sans"/>
                <a:ea typeface="Noto Sans CJK JP"/>
                <a:cs typeface="Noto Sans"/>
                <a:hlinkClick r:id="rId4"/>
              </a:rPr>
              <a:t>https://github.com/chujiezheng/ChID-Dataset/blob/master/LICENSE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まとめ：文脈に合う成語を選ぶ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ChID原論文版は580,807文章・728,713空欄で、正解に似た候補を含む七択を作る。成語全体の意味と、類義語の使い分けを測る読解課題。</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2019年のARの正解率はTestで72.4%、似た候補が中心のSimで66.2%。十候補を共有するCLUE版や、少数例学習のFewCLUE版も公開されている。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配布形式の違いと入手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A Large-scale Chinese IDiom Dataset for Cloze Test. ACL, pp.778–787. </a:t>
            </a:r>
            <a:r>
              <a:rPr sz="810" b="0" lang="ja-JP" altLang="en-US">
                <a:solidFill>
                  <a:srgbClr val="626669"/>
                </a:solidFill>
                <a:latin typeface="Noto Sans"/>
                <a:ea typeface="Noto Sans CJK JP"/>
                <a:cs typeface="Noto Sans"/>
                <a:hlinkClick r:id="rId2"/>
              </a:rPr>
              <a:t>https://aclanthology.org/P19-1075/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追加10問の原文と日本語訳</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入力の読み方と候補選び</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実例4：欠場者の多いチームの見通し</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追加10問の原文と日本語訳</a:t>
            </a:r>
          </a:p>
        </p:txBody>
      </p:sp>
      <p:sp>
        <p:nvSpPr>
          <p:cNvPr id="4" name="quote-frame"/>
          <p:cNvSpPr/>
          <p:nvPr/>
        </p:nvSpPr>
        <p:spPr>
          <a:xfrm>
            <a:off x="548640" y="1234440"/>
            <a:ext cx="8046720" cy="134958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中国語：不过从目前双方的态势来看，掘金队全队士气高涨。而火箭队则是伤病不断，刚要凑齐主要阵容，主控阿尔斯通又要缺阵。今晚的比赛对火箭队来说是#idiom#。</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日本語：現在の両チームを見ると、ナゲッツは全員の士気が高い。一方、ロケッツではけがや体調不良が相次ぎ、主力がそろいかけたところで、司令塔のアルストンがまた欠場する。今夜の試合はロケッツにとって____だ。</a:t>
            </a:r>
          </a:p>
        </p:txBody>
      </p:sp>
      <p:sp>
        <p:nvSpPr>
          <p:cNvPr id="5" name="quote-frame"/>
          <p:cNvSpPr/>
          <p:nvPr/>
        </p:nvSpPr>
        <p:spPr>
          <a:xfrm>
            <a:off x="548640" y="2731643"/>
            <a:ext cx="3931920" cy="134391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一鳞一爪：全体のごく一部</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凶多吉少：悪い成り行きの可能性が高い</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强弩之末：勢いが尽きかけている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德才兼备：人格と才能を兼ね備える</a:t>
            </a:r>
          </a:p>
        </p:txBody>
      </p:sp>
      <p:sp>
        <p:nvSpPr>
          <p:cNvPr id="6" name="quote-frame"/>
          <p:cNvSpPr/>
          <p:nvPr/>
        </p:nvSpPr>
        <p:spPr>
          <a:xfrm>
            <a:off x="4663440" y="2731643"/>
            <a:ext cx="3931920" cy="88671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E. 十有八九：十中八九</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F. 来者不善：やって来た者に敵意がある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G. 聪明才智：聡明で才能がある</a:t>
            </a:r>
          </a:p>
        </p:txBody>
      </p:sp>
      <p:sp>
        <p:nvSpPr>
          <p:cNvPr id="7" name="TextBox 6"/>
          <p:cNvSpPr txBox="1"/>
          <p:nvPr/>
        </p:nvSpPr>
        <p:spPr>
          <a:xfrm>
            <a:off x="594360" y="4389120"/>
            <a:ext cx="7955279" cy="347472"/>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正解：B　凶多吉少</a:t>
            </a:r>
          </a:p>
        </p:txBody>
      </p:sp>
      <p:sp>
        <p:nvSpPr>
          <p:cNvPr id="8" name="sources"/>
          <p:cNvSpPr txBox="1"/>
          <p:nvPr/>
        </p:nvSpPr>
        <p:spPr>
          <a:xfrm>
            <a:off x="502920" y="4855464"/>
            <a:ext cx="8183879" cy="283464"/>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 Original Data Distribution.  </a:t>
            </a:r>
            <a:r>
              <a:rPr sz="810" b="0" lang="ja-JP" altLang="en-US">
                <a:solidFill>
                  <a:srgbClr val="626669"/>
                </a:solidFill>
                <a:latin typeface="Noto Sans"/>
                <a:ea typeface="Noto Sans CJK JP"/>
                <a:cs typeface="Noto Sans"/>
                <a:hlinkClick r:id="rId3"/>
              </a:rPr>
              <a:t>https://huggingface.co/datasets/thu-coai/chid/tree/main/original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実例5：費用増で揺らぐ収益の見通し</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追加10問の原文と日本語訳</a:t>
            </a:r>
          </a:p>
        </p:txBody>
      </p:sp>
      <p:sp>
        <p:nvSpPr>
          <p:cNvPr id="4" name="quote-frame"/>
          <p:cNvSpPr/>
          <p:nvPr/>
        </p:nvSpPr>
        <p:spPr>
          <a:xfrm>
            <a:off x="548640" y="1234440"/>
            <a:ext cx="8046720" cy="112098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中国語：阿尔托贝罗指出，目前唯一值得担心的是商品成本问题。他指出，如果商品成本大幅增加，那么该公司的盈利前景就可能变得#idiom#。</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日本語：アルトベッロは、今唯一心配すべきなのは商品コストだと指摘した。商品コストが大幅に増えれば、その会社の収益の見通しは____になるかもしれないという。</a:t>
            </a:r>
          </a:p>
        </p:txBody>
      </p:sp>
      <p:sp>
        <p:nvSpPr>
          <p:cNvPr id="5" name="quote-frame"/>
          <p:cNvSpPr/>
          <p:nvPr/>
        </p:nvSpPr>
        <p:spPr>
          <a:xfrm>
            <a:off x="548640" y="2504948"/>
            <a:ext cx="3931920" cy="111150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名噪一时：一時名声をとどろかせる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铁面无私：公正で私情を挟まない</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危在旦夕：危険が目前に迫る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名存实亡：名前だけで実体がない</a:t>
            </a:r>
          </a:p>
        </p:txBody>
      </p:sp>
      <p:sp>
        <p:nvSpPr>
          <p:cNvPr id="6" name="quote-frame"/>
          <p:cNvSpPr/>
          <p:nvPr/>
        </p:nvSpPr>
        <p:spPr>
          <a:xfrm>
            <a:off x="4663440" y="2504948"/>
            <a:ext cx="3931920" cy="89137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E. 岌岌可危：不安定で、非常に危うい</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F. 腹背受敌：前後から敵を受ける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G. 人才济济：有能な人が大勢集まる</a:t>
            </a:r>
          </a:p>
        </p:txBody>
      </p:sp>
      <p:sp>
        <p:nvSpPr>
          <p:cNvPr id="7" name="TextBox 6"/>
          <p:cNvSpPr txBox="1"/>
          <p:nvPr/>
        </p:nvSpPr>
        <p:spPr>
          <a:xfrm>
            <a:off x="594360" y="4389120"/>
            <a:ext cx="7955279" cy="347472"/>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正解：E　岌岌可危</a:t>
            </a:r>
          </a:p>
        </p:txBody>
      </p:sp>
      <p:sp>
        <p:nvSpPr>
          <p:cNvPr id="8" name="sources"/>
          <p:cNvSpPr txBox="1"/>
          <p:nvPr/>
        </p:nvSpPr>
        <p:spPr>
          <a:xfrm>
            <a:off x="502920" y="4855464"/>
            <a:ext cx="8183879" cy="283464"/>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 Original Data Distribution.  </a:t>
            </a:r>
            <a:r>
              <a:rPr sz="810" b="0" lang="ja-JP" altLang="en-US">
                <a:solidFill>
                  <a:srgbClr val="626669"/>
                </a:solidFill>
                <a:latin typeface="Noto Sans"/>
                <a:ea typeface="Noto Sans CJK JP"/>
                <a:cs typeface="Noto Sans"/>
                <a:hlinkClick r:id="rId3"/>
              </a:rPr>
              <a:t>https://huggingface.co/datasets/thu-coai/chid/tree/main/original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実例6：犬の小物に描かれる場面</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追加10問の原文と日本語訳</a:t>
            </a:r>
          </a:p>
        </p:txBody>
      </p:sp>
      <p:sp>
        <p:nvSpPr>
          <p:cNvPr id="4" name="quote-frame"/>
          <p:cNvSpPr/>
          <p:nvPr/>
        </p:nvSpPr>
        <p:spPr>
          <a:xfrm>
            <a:off x="548640" y="1234440"/>
            <a:ext cx="8046720" cy="111252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中国語：红色皮革设计制作的小狗摆件，既为餐桌勾勒出#idiom#的生活场面，又不缺少实用功能，将餐具随手插入预留的皮袋中，既可爱又实用。</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日本語：赤い革で作った犬の置物は、食卓に____生活の場面を描き出すだけでなく、実用性も備える。用意された革の袋に食器を差し込めばよく、かわいらしく実用的だ。</a:t>
            </a:r>
          </a:p>
        </p:txBody>
      </p:sp>
      <p:sp>
        <p:nvSpPr>
          <p:cNvPr id="5" name="quote-frame"/>
          <p:cNvSpPr/>
          <p:nvPr/>
        </p:nvSpPr>
        <p:spPr>
          <a:xfrm>
            <a:off x="548640" y="2731643"/>
            <a:ext cx="3931920" cy="111531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大兴土木：大規模な建設を行う</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活龙活现：生き生きと本物そっくり</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触景生情：景色に触れて感情が湧く</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千姿百态：姿や形がさまざま</a:t>
            </a:r>
          </a:p>
        </p:txBody>
      </p:sp>
      <p:sp>
        <p:nvSpPr>
          <p:cNvPr id="6" name="quote-frame"/>
          <p:cNvSpPr/>
          <p:nvPr/>
        </p:nvSpPr>
        <p:spPr>
          <a:xfrm>
            <a:off x="4663440" y="2731643"/>
            <a:ext cx="3931920" cy="88671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E. 气象万千：壮大で変化に富む</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F. 器宇轩昂：風采が堂々としている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G. 巧夺天工：人の技とは思えぬ巧みさ</a:t>
            </a:r>
          </a:p>
        </p:txBody>
      </p:sp>
      <p:sp>
        <p:nvSpPr>
          <p:cNvPr id="7" name="TextBox 6"/>
          <p:cNvSpPr txBox="1"/>
          <p:nvPr/>
        </p:nvSpPr>
        <p:spPr>
          <a:xfrm>
            <a:off x="594360" y="4389120"/>
            <a:ext cx="7955279" cy="347472"/>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正解：B　活龙活现</a:t>
            </a:r>
          </a:p>
        </p:txBody>
      </p:sp>
      <p:sp>
        <p:nvSpPr>
          <p:cNvPr id="8" name="sources"/>
          <p:cNvSpPr txBox="1"/>
          <p:nvPr/>
        </p:nvSpPr>
        <p:spPr>
          <a:xfrm>
            <a:off x="502920" y="4855464"/>
            <a:ext cx="8183879" cy="283464"/>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 Original Data Distribution.  </a:t>
            </a:r>
            <a:r>
              <a:rPr sz="810" b="0" lang="ja-JP" altLang="en-US">
                <a:solidFill>
                  <a:srgbClr val="626669"/>
                </a:solidFill>
                <a:latin typeface="Noto Sans"/>
                <a:ea typeface="Noto Sans CJK JP"/>
                <a:cs typeface="Noto Sans"/>
                <a:hlinkClick r:id="rId3"/>
              </a:rPr>
              <a:t>https://huggingface.co/datasets/thu-coai/chid/tree/main/original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実例7：会話で相手の話を聞く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追加10問の原文と日本語訳</a:t>
            </a:r>
          </a:p>
        </p:txBody>
      </p:sp>
      <p:sp>
        <p:nvSpPr>
          <p:cNvPr id="4" name="quote-frame"/>
          <p:cNvSpPr/>
          <p:nvPr/>
        </p:nvSpPr>
        <p:spPr>
          <a:xfrm>
            <a:off x="548640" y="1234440"/>
            <a:ext cx="8046720" cy="156971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中国語：哈:那么,先生,我一定会#idiom#的。请你把帽子戴好,它是用在头顶上的。奥:谢谢,殿下,今天很热。哈:不,相信我,今天很冷,在吹著北风呢。奥:是蛮冷的,殿下,真的是。</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日本語：ハ：では、先生、私は必ず____。帽子をおかぶりください。頭にかぶるためのものです。 オ：ありがとうございます、殿下。今日は暑いですね。 ハ：いや、信じてください。今日は寒い。北風が吹いています。 オ：本当に寒いですね、殿下。まったくです。</a:t>
            </a:r>
          </a:p>
        </p:txBody>
      </p:sp>
      <p:sp>
        <p:nvSpPr>
          <p:cNvPr id="5" name="quote-frame"/>
          <p:cNvSpPr/>
          <p:nvPr/>
        </p:nvSpPr>
        <p:spPr>
          <a:xfrm>
            <a:off x="548640" y="2958338"/>
            <a:ext cx="3931920" cy="111912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别无二致：まったく違いがない</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成竹在胸：あらかじめ計画ができている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大彻大悟：すっかり悟る</a:t>
            </a:r>
          </a:p>
        </p:txBody>
      </p:sp>
      <p:sp>
        <p:nvSpPr>
          <p:cNvPr id="6" name="quote-frame"/>
          <p:cNvSpPr/>
          <p:nvPr/>
        </p:nvSpPr>
        <p:spPr>
          <a:xfrm>
            <a:off x="4663440" y="2958338"/>
            <a:ext cx="3931920" cy="134772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一触即发：少し触れればすぐに事が起きる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E. 泰然自若：落ち着き払っている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F. 不亢不卑：卑屈にも尊大にもならない</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G. 洗耳恭听：謹んで相手の話を聞く</a:t>
            </a:r>
          </a:p>
        </p:txBody>
      </p:sp>
      <p:sp>
        <p:nvSpPr>
          <p:cNvPr id="7" name="TextBox 6"/>
          <p:cNvSpPr txBox="1"/>
          <p:nvPr/>
        </p:nvSpPr>
        <p:spPr>
          <a:xfrm>
            <a:off x="594360" y="4389120"/>
            <a:ext cx="7955279" cy="347472"/>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正解：G　洗耳恭听</a:t>
            </a:r>
          </a:p>
        </p:txBody>
      </p:sp>
      <p:sp>
        <p:nvSpPr>
          <p:cNvPr id="8" name="sources"/>
          <p:cNvSpPr txBox="1"/>
          <p:nvPr/>
        </p:nvSpPr>
        <p:spPr>
          <a:xfrm>
            <a:off x="502920" y="4855464"/>
            <a:ext cx="8183879" cy="283464"/>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 Original Data Distribution.  </a:t>
            </a:r>
            <a:r>
              <a:rPr sz="810" b="0" lang="ja-JP" altLang="en-US">
                <a:solidFill>
                  <a:srgbClr val="626669"/>
                </a:solidFill>
                <a:latin typeface="Noto Sans"/>
                <a:ea typeface="Noto Sans CJK JP"/>
                <a:cs typeface="Noto Sans"/>
                <a:hlinkClick r:id="rId3"/>
              </a:rPr>
              <a:t>https://huggingface.co/datasets/thu-coai/chid/tree/main/original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実例8：新人の育成で人材不足に対応する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追加10問の原文と日本語訳</a:t>
            </a:r>
          </a:p>
        </p:txBody>
      </p:sp>
      <p:sp>
        <p:nvSpPr>
          <p:cNvPr id="4" name="quote-frame"/>
          <p:cNvSpPr/>
          <p:nvPr/>
        </p:nvSpPr>
        <p:spPr>
          <a:xfrm>
            <a:off x="548640" y="1234440"/>
            <a:ext cx="8046720" cy="134958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中国語：分析人士表示，虽然基金新手经验普遍不足需要磨练，但在优秀基金经理普遍短缺的情况下，以老带新，加快新人培养步伐或许是缓解基金业人才荒的#idiom#。</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日本語：分析関係者によると、ファンドの新人は概して経験が足りず、鍛える必要がある。しかし、優れた運用責任者が全般に不足する中、経験者が新人を指導して育成を速めることは、業界の人材不足を和らげる____かもしれない。</a:t>
            </a:r>
          </a:p>
        </p:txBody>
      </p:sp>
      <p:sp>
        <p:nvSpPr>
          <p:cNvPr id="5" name="quote-frame"/>
          <p:cNvSpPr/>
          <p:nvPr/>
        </p:nvSpPr>
        <p:spPr>
          <a:xfrm>
            <a:off x="548640" y="2731643"/>
            <a:ext cx="3931920" cy="134391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不二法门：ほかに代えがたい最善の方法</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一表人物：堂々とした立派な人物</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舍本逐末：本末を取り違える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出奇制胜：意表を突いて勝つ</a:t>
            </a:r>
          </a:p>
        </p:txBody>
      </p:sp>
      <p:sp>
        <p:nvSpPr>
          <p:cNvPr id="6" name="quote-frame"/>
          <p:cNvSpPr/>
          <p:nvPr/>
        </p:nvSpPr>
        <p:spPr>
          <a:xfrm>
            <a:off x="4663440" y="2731643"/>
            <a:ext cx="3931920" cy="88671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E. 颠扑不破：覆しようのない正しさ</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F. 多才多艺：多方面の才能がある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G. 井井有条：秩序立って整っている</a:t>
            </a:r>
          </a:p>
        </p:txBody>
      </p:sp>
      <p:sp>
        <p:nvSpPr>
          <p:cNvPr id="7" name="TextBox 6"/>
          <p:cNvSpPr txBox="1"/>
          <p:nvPr/>
        </p:nvSpPr>
        <p:spPr>
          <a:xfrm>
            <a:off x="594360" y="4389120"/>
            <a:ext cx="7955279" cy="347472"/>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正解：A　不二法门</a:t>
            </a:r>
          </a:p>
        </p:txBody>
      </p:sp>
      <p:sp>
        <p:nvSpPr>
          <p:cNvPr id="8" name="sources"/>
          <p:cNvSpPr txBox="1"/>
          <p:nvPr/>
        </p:nvSpPr>
        <p:spPr>
          <a:xfrm>
            <a:off x="502920" y="4855464"/>
            <a:ext cx="8183879" cy="283464"/>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 Original Data Distribution.  </a:t>
            </a:r>
            <a:r>
              <a:rPr sz="810" b="0" lang="ja-JP" altLang="en-US">
                <a:solidFill>
                  <a:srgbClr val="626669"/>
                </a:solidFill>
                <a:latin typeface="Noto Sans"/>
                <a:ea typeface="Noto Sans CJK JP"/>
                <a:cs typeface="Noto Sans"/>
                <a:hlinkClick r:id="rId3"/>
              </a:rPr>
              <a:t>https://huggingface.co/datasets/thu-coai/chid/tree/main/original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実例9：無線通信の問題を一度で解決する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追加10問の原文と日本語訳</a:t>
            </a:r>
          </a:p>
        </p:txBody>
      </p:sp>
      <p:sp>
        <p:nvSpPr>
          <p:cNvPr id="4" name="quote-frame"/>
          <p:cNvSpPr/>
          <p:nvPr/>
        </p:nvSpPr>
        <p:spPr>
          <a:xfrm>
            <a:off x="548640" y="1234440"/>
            <a:ext cx="8046720" cy="156971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中国語：点评：在民用领域完全可以考虑放宽对Wi-Fi的限制，这样不但可以充分利用现有的固网优势，而且还#idiom#地解决了无线互联网的带宽问题，上网本从此也能够真正“生机无限”!</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日本語：論評：民間分野ではWi-Fiへの制限を緩めることを十分検討できる。既存の固定網の強みを十分活用できるだけでなく、無線インターネットの帯域の問題も____解決でき、ネットブックもそこから本当に「活力にあふれる」ようになる！</a:t>
            </a:r>
          </a:p>
        </p:txBody>
      </p:sp>
      <p:sp>
        <p:nvSpPr>
          <p:cNvPr id="5" name="quote-frame"/>
          <p:cNvSpPr/>
          <p:nvPr/>
        </p:nvSpPr>
        <p:spPr>
          <a:xfrm>
            <a:off x="548640" y="2958338"/>
            <a:ext cx="3931920" cy="111912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高枕无忧：安心して暮らす</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花言巧语：巧みな言葉でごまかす</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挖空心思：知恵を絞り尽くす</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立竿见影：すぐに効果が現れる</a:t>
            </a:r>
          </a:p>
        </p:txBody>
      </p:sp>
      <p:sp>
        <p:nvSpPr>
          <p:cNvPr id="6" name="quote-frame"/>
          <p:cNvSpPr/>
          <p:nvPr/>
        </p:nvSpPr>
        <p:spPr>
          <a:xfrm>
            <a:off x="4663440" y="2958338"/>
            <a:ext cx="3931920" cy="133079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E. 一劳永逸：一度の苦労で、後はずっと楽になる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F. 斩草除根：根を断って災いを除く</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G. 莫衷一是：意見が分かれて結論が出ない</a:t>
            </a:r>
          </a:p>
        </p:txBody>
      </p:sp>
      <p:sp>
        <p:nvSpPr>
          <p:cNvPr id="7" name="TextBox 6"/>
          <p:cNvSpPr txBox="1"/>
          <p:nvPr/>
        </p:nvSpPr>
        <p:spPr>
          <a:xfrm>
            <a:off x="594360" y="4389120"/>
            <a:ext cx="7955279" cy="347472"/>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正解：E　一劳永逸</a:t>
            </a:r>
          </a:p>
        </p:txBody>
      </p:sp>
      <p:sp>
        <p:nvSpPr>
          <p:cNvPr id="8" name="sources"/>
          <p:cNvSpPr txBox="1"/>
          <p:nvPr/>
        </p:nvSpPr>
        <p:spPr>
          <a:xfrm>
            <a:off x="502920" y="4855464"/>
            <a:ext cx="8183879" cy="283464"/>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 Original Data Distribution.  </a:t>
            </a:r>
            <a:r>
              <a:rPr sz="810" b="0" lang="ja-JP" altLang="en-US">
                <a:solidFill>
                  <a:srgbClr val="626669"/>
                </a:solidFill>
                <a:latin typeface="Noto Sans"/>
                <a:ea typeface="Noto Sans CJK JP"/>
                <a:cs typeface="Noto Sans"/>
                <a:hlinkClick r:id="rId3"/>
              </a:rPr>
              <a:t>https://huggingface.co/datasets/thu-coai/chid/tree/main/original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実例10：通信統合への見方（中国語）</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追加10問の原文と日本語訳</a:t>
            </a:r>
          </a:p>
        </p:txBody>
      </p:sp>
      <p:sp>
        <p:nvSpPr>
          <p:cNvPr id="4" name="quote-frame"/>
          <p:cNvSpPr/>
          <p:nvPr/>
        </p:nvSpPr>
        <p:spPr>
          <a:xfrm>
            <a:off x="548640" y="1234440"/>
            <a:ext cx="8046720" cy="65532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中国語原文：李可表示，“三网融合”费时费钱，大运营商更希望#idiom#，而中小运营商却在担心自己的命运。“无所作为也就#idiom#了。”</a:t>
            </a:r>
          </a:p>
        </p:txBody>
      </p:sp>
      <p:sp>
        <p:nvSpPr>
          <p:cNvPr id="5" name="quote-frame"/>
          <p:cNvSpPr/>
          <p:nvPr/>
        </p:nvSpPr>
        <p:spPr>
          <a:xfrm>
            <a:off x="548640" y="2051558"/>
            <a:ext cx="3931920" cy="202675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空欄1（登場順）：</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为非作歹</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循序渐进</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目瞪口呆</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揠苗助长</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E. 步步为营</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F. 千钧一发</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G. 一朝一夕</a:t>
            </a:r>
          </a:p>
        </p:txBody>
      </p:sp>
      <p:sp>
        <p:nvSpPr>
          <p:cNvPr id="6" name="quote-frame"/>
          <p:cNvSpPr/>
          <p:nvPr/>
        </p:nvSpPr>
        <p:spPr>
          <a:xfrm>
            <a:off x="4663440" y="2051558"/>
            <a:ext cx="3931920" cy="202675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空欄2（登場順）：</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不足为奇</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麻木不仁</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顺理成章</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喜闻乐见</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E. 当务之急</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F. 比比皆是</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G. 自然而然</a:t>
            </a:r>
          </a:p>
        </p:txBody>
      </p:sp>
      <p:sp>
        <p:nvSpPr>
          <p:cNvPr id="7" name="TextBox 6"/>
          <p:cNvSpPr txBox="1"/>
          <p:nvPr/>
        </p:nvSpPr>
        <p:spPr>
          <a:xfrm>
            <a:off x="594360" y="4389120"/>
            <a:ext cx="7955279" cy="347472"/>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正解：空欄1 B 循序渐进 ／ 空欄2 A 不足为奇</a:t>
            </a:r>
          </a:p>
        </p:txBody>
      </p:sp>
      <p:sp>
        <p:nvSpPr>
          <p:cNvPr id="8" name="sources"/>
          <p:cNvSpPr txBox="1"/>
          <p:nvPr/>
        </p:nvSpPr>
        <p:spPr>
          <a:xfrm>
            <a:off x="502920" y="4855464"/>
            <a:ext cx="8183879" cy="283464"/>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 Original Data Distribution.  </a:t>
            </a:r>
            <a:r>
              <a:rPr sz="810" b="0" lang="ja-JP" altLang="en-US">
                <a:solidFill>
                  <a:srgbClr val="626669"/>
                </a:solidFill>
                <a:latin typeface="Noto Sans"/>
                <a:ea typeface="Noto Sans CJK JP"/>
                <a:cs typeface="Noto Sans"/>
                <a:hlinkClick r:id="rId3"/>
              </a:rPr>
              <a:t>https://huggingface.co/datasets/thu-coai/chid/tree/main/original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実例10：通信統合への見方（日本語訳）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追加10問の原文と日本語訳</a:t>
            </a:r>
          </a:p>
        </p:txBody>
      </p:sp>
      <p:sp>
        <p:nvSpPr>
          <p:cNvPr id="4" name="quote-frame"/>
          <p:cNvSpPr/>
          <p:nvPr/>
        </p:nvSpPr>
        <p:spPr>
          <a:xfrm>
            <a:off x="548640" y="1234440"/>
            <a:ext cx="8046720" cy="89238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日本語訳：李可は、「三網融合」は時間も費用もかかり、大手事業者は____ことを望む一方、中小事業者は自分たちの行く末を心配していると述べた。「何もしないのも、____ということだ。」</a:t>
            </a:r>
          </a:p>
        </p:txBody>
      </p:sp>
      <p:sp>
        <p:nvSpPr>
          <p:cNvPr id="5" name="quote-frame"/>
          <p:cNvSpPr/>
          <p:nvPr/>
        </p:nvSpPr>
        <p:spPr>
          <a:xfrm>
            <a:off x="548640" y="2278253"/>
            <a:ext cx="3931920" cy="202209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空欄1（登場順）：</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悪事を働く</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順序を追って少しずつ進む</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驚いて言葉を失う</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成長を急いでかえって害する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E. 慎重に足場を固めながら進む</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F. きわめて危険な瀬戸際</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G. ごく短い時間</a:t>
            </a:r>
          </a:p>
        </p:txBody>
      </p:sp>
      <p:sp>
        <p:nvSpPr>
          <p:cNvPr id="6" name="quote-frame"/>
          <p:cNvSpPr/>
          <p:nvPr/>
        </p:nvSpPr>
        <p:spPr>
          <a:xfrm>
            <a:off x="4663440" y="2278253"/>
            <a:ext cx="3931920" cy="202209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空欄2（登場順）：</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不思議ではない</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感覚が麻痺して無関心</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道理に従い自然に成り行く</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見聞きして喜ぶ</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E. 今すぐ取り組むべきこと</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F. どこにでも見られる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G. 自然にそうなる</a:t>
            </a:r>
          </a:p>
        </p:txBody>
      </p:sp>
      <p:sp>
        <p:nvSpPr>
          <p:cNvPr id="7" name="TextBox 6"/>
          <p:cNvSpPr txBox="1"/>
          <p:nvPr/>
        </p:nvSpPr>
        <p:spPr>
          <a:xfrm>
            <a:off x="594360" y="4389120"/>
            <a:ext cx="7955279" cy="347472"/>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正解：空欄1 B ／ 空欄2 A</a:t>
            </a:r>
          </a:p>
        </p:txBody>
      </p:sp>
      <p:sp>
        <p:nvSpPr>
          <p:cNvPr id="8" name="sources"/>
          <p:cNvSpPr txBox="1"/>
          <p:nvPr/>
        </p:nvSpPr>
        <p:spPr>
          <a:xfrm>
            <a:off x="502920" y="4855464"/>
            <a:ext cx="8183879" cy="283464"/>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 Original Data Distribution.  </a:t>
            </a:r>
            <a:r>
              <a:rPr sz="810" b="0" lang="ja-JP" altLang="en-US">
                <a:solidFill>
                  <a:srgbClr val="626669"/>
                </a:solidFill>
                <a:latin typeface="Noto Sans"/>
                <a:ea typeface="Noto Sans CJK JP"/>
                <a:cs typeface="Noto Sans"/>
                <a:hlinkClick r:id="rId3"/>
              </a:rPr>
              <a:t>https://huggingface.co/datasets/thu-coai/chid/tree/main/original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実例11：清らかな景色を踏むのが惜しい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追加10問の原文と日本語訳</a:t>
            </a:r>
          </a:p>
        </p:txBody>
      </p:sp>
      <p:sp>
        <p:nvSpPr>
          <p:cNvPr id="4" name="quote-frame"/>
          <p:cNvSpPr/>
          <p:nvPr/>
        </p:nvSpPr>
        <p:spPr>
          <a:xfrm>
            <a:off x="548640" y="1234440"/>
            <a:ext cx="8046720" cy="89238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中国語：下地一阵寒噤，#idiom#的世界，真舍不得踩下脚去。</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日本語：地面に降りると、ひとしきり身震いした。____世界に、足を踏み下ろすのが実に惜しくなる。</a:t>
            </a:r>
          </a:p>
        </p:txBody>
      </p:sp>
      <p:sp>
        <p:nvSpPr>
          <p:cNvPr id="5" name="quote-frame"/>
          <p:cNvSpPr/>
          <p:nvPr/>
        </p:nvSpPr>
        <p:spPr>
          <a:xfrm>
            <a:off x="548640" y="2278253"/>
            <a:ext cx="3931920" cy="110769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国色天香：国一番の美しさ</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心安理得：心にやましいところがない</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倾国倾城：国を傾けるほどの美貌</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冰清玉洁：氷や玉のように清らか</a:t>
            </a:r>
          </a:p>
        </p:txBody>
      </p:sp>
      <p:sp>
        <p:nvSpPr>
          <p:cNvPr id="6" name="quote-frame"/>
          <p:cNvSpPr/>
          <p:nvPr/>
        </p:nvSpPr>
        <p:spPr>
          <a:xfrm>
            <a:off x="4663440" y="2278253"/>
            <a:ext cx="3931920" cy="88756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E. 对牛弹琴：話が通じない相手に説く</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F. 闭月羞花：花が隠れるほどの美しさ</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G. 大千世界：この広大な世界</a:t>
            </a:r>
          </a:p>
        </p:txBody>
      </p:sp>
      <p:sp>
        <p:nvSpPr>
          <p:cNvPr id="7" name="TextBox 6"/>
          <p:cNvSpPr txBox="1"/>
          <p:nvPr/>
        </p:nvSpPr>
        <p:spPr>
          <a:xfrm>
            <a:off x="594360" y="4389120"/>
            <a:ext cx="7955279" cy="347472"/>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正解：D　冰清玉洁</a:t>
            </a:r>
          </a:p>
        </p:txBody>
      </p:sp>
      <p:sp>
        <p:nvSpPr>
          <p:cNvPr id="8" name="sources"/>
          <p:cNvSpPr txBox="1"/>
          <p:nvPr/>
        </p:nvSpPr>
        <p:spPr>
          <a:xfrm>
            <a:off x="502920" y="4855464"/>
            <a:ext cx="8183879" cy="283464"/>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 Original Data Distribution.  </a:t>
            </a:r>
            <a:r>
              <a:rPr sz="810" b="0" lang="ja-JP" altLang="en-US">
                <a:solidFill>
                  <a:srgbClr val="626669"/>
                </a:solidFill>
                <a:latin typeface="Noto Sans"/>
                <a:ea typeface="Noto Sans CJK JP"/>
                <a:cs typeface="Noto Sans"/>
                <a:hlinkClick r:id="rId3"/>
              </a:rPr>
              <a:t>https://huggingface.co/datasets/thu-coai/chid/tree/main/original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実例12：文学の才能があると信じる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追加10問の原文と日本語訳</a:t>
            </a:r>
          </a:p>
        </p:txBody>
      </p:sp>
      <p:sp>
        <p:nvSpPr>
          <p:cNvPr id="4" name="quote-frame"/>
          <p:cNvSpPr/>
          <p:nvPr/>
        </p:nvSpPr>
        <p:spPr>
          <a:xfrm>
            <a:off x="548640" y="1234440"/>
            <a:ext cx="8046720" cy="178985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中国語：当然，如果硬要我用一句话#idiom#地回答这个问题，那就是：我相信我自己有文学才能，我应该做这件事。但是这句话正如一个嫌疑犯说自己没杀人一样不可信。所以信不信由你罢。</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日本語：もしどうしても一言で____この問いに答えろと言うなら、私は自分に文学の才能があり、これに取り組むべきだと信じている、ということだ。ただ、その言葉は、容疑者が自分は人を殺していないと言うのと同じように信じがたい。信じるかどうかは、あなた次第だ。</a:t>
            </a:r>
          </a:p>
        </p:txBody>
      </p:sp>
      <p:sp>
        <p:nvSpPr>
          <p:cNvPr id="5" name="quote-frame"/>
          <p:cNvSpPr/>
          <p:nvPr/>
        </p:nvSpPr>
        <p:spPr>
          <a:xfrm>
            <a:off x="548640" y="3185033"/>
            <a:ext cx="3931920" cy="111446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瞒天过海：人を欺く巧妙な手段</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言简意赅：簡潔で、要点を尽くす</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直截了当：遠回しにせず率直に言う</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斩钉截铁：きっぱり断言する</a:t>
            </a:r>
          </a:p>
        </p:txBody>
      </p:sp>
      <p:sp>
        <p:nvSpPr>
          <p:cNvPr id="6" name="quote-frame"/>
          <p:cNvSpPr/>
          <p:nvPr/>
        </p:nvSpPr>
        <p:spPr>
          <a:xfrm>
            <a:off x="4663440" y="3185033"/>
            <a:ext cx="3931920" cy="111446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E. 一丘之貉：同じ穴のむじな</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F. 快人快语：思ったことをすぐ率直に言う</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G. 推波助澜：勢いを増すようあおる</a:t>
            </a:r>
          </a:p>
        </p:txBody>
      </p:sp>
      <p:sp>
        <p:nvSpPr>
          <p:cNvPr id="7" name="TextBox 6"/>
          <p:cNvSpPr txBox="1"/>
          <p:nvPr/>
        </p:nvSpPr>
        <p:spPr>
          <a:xfrm>
            <a:off x="594360" y="4389120"/>
            <a:ext cx="7955279" cy="347472"/>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正解：C　直截了当</a:t>
            </a:r>
          </a:p>
        </p:txBody>
      </p:sp>
      <p:sp>
        <p:nvSpPr>
          <p:cNvPr id="8" name="sources"/>
          <p:cNvSpPr txBox="1"/>
          <p:nvPr/>
        </p:nvSpPr>
        <p:spPr>
          <a:xfrm>
            <a:off x="502920" y="4855464"/>
            <a:ext cx="8183879" cy="283464"/>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 Original Data Distribution.  </a:t>
            </a:r>
            <a:r>
              <a:rPr sz="810" b="0" lang="ja-JP" altLang="en-US">
                <a:solidFill>
                  <a:srgbClr val="626669"/>
                </a:solidFill>
                <a:latin typeface="Noto Sans"/>
                <a:ea typeface="Noto Sans CJK JP"/>
                <a:cs typeface="Noto Sans"/>
                <a:hlinkClick r:id="rId3"/>
              </a:rPr>
              <a:t>https://huggingface.co/datasets/thu-coai/chid/tree/main/original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実例13：恩師を忘れず、霊を慰める（中国語）</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追加10問の原文と日本語訳</a:t>
            </a:r>
          </a:p>
        </p:txBody>
      </p:sp>
      <p:sp>
        <p:nvSpPr>
          <p:cNvPr id="4" name="quote-frame"/>
          <p:cNvSpPr/>
          <p:nvPr/>
        </p:nvSpPr>
        <p:spPr>
          <a:xfrm>
            <a:off x="548640" y="1234440"/>
            <a:ext cx="8046720" cy="89238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中国語原文：西克教授早在20世纪50年代去世。季羡林对恩师的情意#idiom#。在完成了《弥勒会见记剧本》的工作后，他写道：“我心里感到了很大的安慰，我可以告慰恩师#idiom#了。”</a:t>
            </a:r>
          </a:p>
        </p:txBody>
      </p:sp>
      <p:sp>
        <p:nvSpPr>
          <p:cNvPr id="5" name="quote-frame"/>
          <p:cNvSpPr/>
          <p:nvPr/>
        </p:nvSpPr>
        <p:spPr>
          <a:xfrm>
            <a:off x="548640" y="2278253"/>
            <a:ext cx="3931920" cy="202209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空欄1（登場順）：</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丰功伟绩</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日落西山</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永志不忘</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刻骨铭心</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E. 兴师动众</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F. 死而后已</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G. 浩浩荡荡</a:t>
            </a:r>
          </a:p>
        </p:txBody>
      </p:sp>
      <p:sp>
        <p:nvSpPr>
          <p:cNvPr id="6" name="quote-frame"/>
          <p:cNvSpPr/>
          <p:nvPr/>
        </p:nvSpPr>
        <p:spPr>
          <a:xfrm>
            <a:off x="4663440" y="2278253"/>
            <a:ext cx="3931920" cy="202209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空欄2（登場順）：</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罪孽深重</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恩重如山</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面目全非</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家喻户晓</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E. 死得其所</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F. 在天之灵</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G. 鸡犬不宁</a:t>
            </a:r>
          </a:p>
        </p:txBody>
      </p:sp>
      <p:sp>
        <p:nvSpPr>
          <p:cNvPr id="7" name="TextBox 6"/>
          <p:cNvSpPr txBox="1"/>
          <p:nvPr/>
        </p:nvSpPr>
        <p:spPr>
          <a:xfrm>
            <a:off x="594360" y="4389120"/>
            <a:ext cx="7955279" cy="347472"/>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正解：空欄1 C 永志不忘 ／ 空欄2 F 在天之灵</a:t>
            </a:r>
          </a:p>
        </p:txBody>
      </p:sp>
      <p:sp>
        <p:nvSpPr>
          <p:cNvPr id="8" name="sources"/>
          <p:cNvSpPr txBox="1"/>
          <p:nvPr/>
        </p:nvSpPr>
        <p:spPr>
          <a:xfrm>
            <a:off x="502920" y="4855464"/>
            <a:ext cx="8183879" cy="283464"/>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 Original Data Distribution.  </a:t>
            </a:r>
            <a:r>
              <a:rPr sz="810" b="0" lang="ja-JP" altLang="en-US">
                <a:solidFill>
                  <a:srgbClr val="626669"/>
                </a:solidFill>
                <a:latin typeface="Noto Sans"/>
                <a:ea typeface="Noto Sans CJK JP"/>
                <a:cs typeface="Noto Sans"/>
                <a:hlinkClick r:id="rId3"/>
              </a:rPr>
              <a:t>https://huggingface.co/datasets/thu-coai/chid/tree/main/original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実例13：恩師を忘れず、霊を慰める（日本語訳）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追加10問の原文と日本語訳</a:t>
            </a:r>
          </a:p>
        </p:txBody>
      </p:sp>
      <p:sp>
        <p:nvSpPr>
          <p:cNvPr id="4" name="quote-frame"/>
          <p:cNvSpPr/>
          <p:nvPr/>
        </p:nvSpPr>
        <p:spPr>
          <a:xfrm>
            <a:off x="548640" y="1234440"/>
            <a:ext cx="8046720" cy="89238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日本語訳：西克教授は1950年代にすでに亡くなっていた。季羨林は恩師への思いを____。『弥勒会見記劇本』の仕事を終えた後、彼は「心に大きな慰めを得た。恩師の____を慰められる」と書いた。</a:t>
            </a:r>
          </a:p>
        </p:txBody>
      </p:sp>
      <p:sp>
        <p:nvSpPr>
          <p:cNvPr id="5" name="quote-frame"/>
          <p:cNvSpPr/>
          <p:nvPr/>
        </p:nvSpPr>
        <p:spPr>
          <a:xfrm>
            <a:off x="548640" y="2278253"/>
            <a:ext cx="3931920" cy="202209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空欄1（登場順）：</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大きな功績</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日が西に沈むように、衰えが進む</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心に深く刻み、忘れない</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骨身に刻むほど忘れがたい</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E. 大勢を動員し大がかりに行う</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F. 死ぬまで力を尽くす</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G. 勢いが大きく盛ん</a:t>
            </a:r>
          </a:p>
        </p:txBody>
      </p:sp>
      <p:sp>
        <p:nvSpPr>
          <p:cNvPr id="6" name="quote-frame"/>
          <p:cNvSpPr/>
          <p:nvPr/>
        </p:nvSpPr>
        <p:spPr>
          <a:xfrm>
            <a:off x="4663440" y="2278253"/>
            <a:ext cx="3931920" cy="202209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空欄2（登場順）：</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罪がきわめて重い</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大きな恩を受ける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元の姿が分からないほど変わる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どの家にも広く知れ渡る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E. 価値のある死を遂げる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F. 天にある故人の霊</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G. ひどく騒がしく落ち着かない</a:t>
            </a:r>
          </a:p>
        </p:txBody>
      </p:sp>
      <p:sp>
        <p:nvSpPr>
          <p:cNvPr id="7" name="TextBox 6"/>
          <p:cNvSpPr txBox="1"/>
          <p:nvPr/>
        </p:nvSpPr>
        <p:spPr>
          <a:xfrm>
            <a:off x="594360" y="4389120"/>
            <a:ext cx="7955279" cy="347472"/>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正解：空欄1 C ／ 空欄2 F</a:t>
            </a:r>
          </a:p>
        </p:txBody>
      </p:sp>
      <p:sp>
        <p:nvSpPr>
          <p:cNvPr id="8" name="sources"/>
          <p:cNvSpPr txBox="1"/>
          <p:nvPr/>
        </p:nvSpPr>
        <p:spPr>
          <a:xfrm>
            <a:off x="502920" y="4855464"/>
            <a:ext cx="8183879" cy="283464"/>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 Original Data Distribution.  </a:t>
            </a:r>
            <a:r>
              <a:rPr sz="810" b="0" lang="ja-JP" altLang="en-US">
                <a:solidFill>
                  <a:srgbClr val="626669"/>
                </a:solidFill>
                <a:latin typeface="Noto Sans"/>
                <a:ea typeface="Noto Sans CJK JP"/>
                <a:cs typeface="Noto Sans"/>
                <a:hlinkClick r:id="rId3"/>
              </a:rPr>
              <a:t>https://huggingface.co/datasets/thu-coai/chid/tree/main/original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入力の読み方と候補選び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入力の読み方と候補選び</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一部の文章は重複し、文脈が欠ける例もある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学習とTestには、同じ文章が110種類含まれる。学習とOutにも1,829種類が共通する。候補の組は異なる場合がある。</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開発集合には、文章が空欄記号だけになっている問題が1問ある。候補は付いているが、選ぶ手掛かりとなる文脈が欠けている。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入力の読み方と候補選び</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 Original Data Distribution.  </a:t>
            </a:r>
            <a:r>
              <a:rPr sz="810" b="0" lang="ja-JP" altLang="en-US">
                <a:solidFill>
                  <a:srgbClr val="626669"/>
                </a:solidFill>
                <a:latin typeface="Noto Sans"/>
                <a:ea typeface="Noto Sans CJK JP"/>
                <a:cs typeface="Noto Sans"/>
                <a:hlinkClick r:id="rId3"/>
              </a:rPr>
              <a:t>https://huggingface.co/datasets/thu-coai/chid/tree/main/original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ベクトルの近さと、意味の一致を人手で調べた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候補選びの前に、ベクトル類似度0.5〜0.9を八つの区間に分け、各区間200対、計1,600対を五人が評価した。同義、類義、無関係または反対の三種類で判断する。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類似度が高すぎる語には同じ意味のものが多く含まれる。正解に近い候補を入れながら同義語そのものを避けるため、0.7を超える語を除いてから候補を選ぶ。</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入力の読み方と候補選び</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A Large-scale Chinese IDiom Dataset for Cloze Test. ACL, pp.778–787.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https://aclanthology.org/P19-1075/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JSONLから文章・候補・正解の成語を読み出す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入力の読み方と候補選び</a:t>
            </a:r>
          </a:p>
        </p:txBody>
      </p:sp>
      <p:sp>
        <p:nvSpPr>
          <p:cNvPr id="4" name="code-frame"/>
          <p:cNvSpPr/>
          <p:nvPr/>
        </p:nvSpPr>
        <p:spPr>
          <a:xfrm>
            <a:off x="548640" y="1508760"/>
            <a:ext cx="8046720" cy="209397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67310" bIns="127000"/>
          <a:lstStyle/>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import json</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with open("dev_data.txt", encoding="utf-8") as f:</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example = json.loads(next(f))</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print(example["content"])</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for choices, gold in zip(example["candidates"],</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example["groundTruth"]):</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print("候補:", choices, "正解:", gold)</a:t>
            </a:r>
          </a:p>
        </p:txBody>
      </p:sp>
      <p:sp>
        <p:nvSpPr>
          <p:cNvPr id="5" name="TextBox 4"/>
          <p:cNvSpPr txBox="1"/>
          <p:nvPr/>
        </p:nvSpPr>
        <p:spPr>
          <a:xfrm>
            <a:off x="594360" y="3886200"/>
            <a:ext cx="7955279" cy="64008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原論文版は1行に1文章のJSONを収める。candidatesとgroundTruthは、文章中の空欄の順に並ぶ。</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 Original Data Distribution.  </a:t>
            </a:r>
            <a:r>
              <a:rPr sz="810" b="0" lang="ja-JP" altLang="en-US">
                <a:solidFill>
                  <a:srgbClr val="626669"/>
                </a:solidFill>
                <a:latin typeface="Noto Sans"/>
                <a:ea typeface="Noto Sans CJK JP"/>
                <a:cs typeface="Noto Sans"/>
                <a:hlinkClick r:id="rId3"/>
              </a:rPr>
              <a:t>https://huggingface.co/datasets/thu-coai/chid/tree/main/original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正解欄の形式も、配布ごとに異なる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入力の読み方と候補選び</a:t>
            </a:r>
          </a:p>
        </p:txBody>
      </p:sp>
      <p:graphicFrame>
        <p:nvGraphicFramePr>
          <p:cNvPr id="4" name="Table 3"/>
          <p:cNvGraphicFramePr>
            <a:graphicFrameLocks noGrp="1"/>
          </p:cNvGraphicFramePr>
          <p:nvPr/>
        </p:nvGraphicFramePr>
        <p:xfrm>
          <a:off x="548640" y="1508760"/>
          <a:ext cx="8046720" cy="2019046"/>
        </p:xfrm>
        <a:graphic>
          <a:graphicData uri="http://schemas.openxmlformats.org/drawingml/2006/table">
            <a:tbl>
              <a:tblPr firstRow="0" bandRow="0"/>
              <a:tblGrid>
                <a:gridCol w="1920240"/>
                <a:gridCol w="2743200"/>
                <a:gridCol w="3383280"/>
              </a:tblGrid>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配布</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入力・候補</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正解の形式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25475">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原論文版</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content / 空欄別candidates</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groundTruth：成語の配列</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25475">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CLUE版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contentの配列 / 共有candidates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別JSON：空欄ID → 0〜9</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FewCLUE版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content / 七candidates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answer：0〜6</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55822"/>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候補の番号は0から始まる。原版は正解の成語そのものを、CLUEとFewCLUEは候補の番号を保存する。</a:t>
            </a:r>
          </a:p>
        </p:txBody>
      </p:sp>
      <p:sp>
        <p:nvSpPr>
          <p:cNvPr id="6"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Zheng, Huang &amp; Sun (2019). ChID — Original Data Distribution.  </a:t>
            </a:r>
            <a:r>
              <a:rPr sz="810" b="0" lang="ja-JP" altLang="en-US">
                <a:solidFill>
                  <a:srgbClr val="626669"/>
                </a:solidFill>
                <a:latin typeface="Noto Sans"/>
                <a:ea typeface="Noto Sans CJK JP"/>
                <a:cs typeface="Noto Sans"/>
                <a:hlinkClick r:id="rId4"/>
              </a:rPr>
              <a:t>https://huggingface.co/datasets/thu-coai/chid/tree/main/original</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rPr>
              <a:t>[2] CLUE team. ChID公式公開ZIP、原配布READMEのCLUE 1.0 / 1.1。  </a:t>
            </a:r>
            <a:r>
              <a:rPr sz="810" b="0" lang="ja-JP" altLang="en-US">
                <a:solidFill>
                  <a:srgbClr val="626669"/>
                </a:solidFill>
                <a:latin typeface="Noto Sans"/>
                <a:ea typeface="Noto Sans CJK JP"/>
                <a:cs typeface="Noto Sans"/>
                <a:hlinkClick r:id="rId3"/>
              </a:rPr>
              <a:t>https://storage.googleapis.com/cluebenchmark/tasks/chid_public.zip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ChID: A Large-scale Chinese IDiom Dataset for Cloze Test"/>
          <p:cNvSpPr txBox="1"/>
          <p:nvPr/>
        </p:nvSpPr>
        <p:spPr>
          <a:xfrm>
            <a:off x="548640" y="1463040"/>
            <a:ext cx="8046720" cy="1574419"/>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ChID: A Large-scale Chinese IDiom Dataset for Cloze Test</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Chujie Zheng, Minlie Huang, Aixin Sun · 2019 · ACL, pp.778–787</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中国語の成語の穴埋め読解データを構築し、候補の似方、成語の表現、領域の違いによる性能変化を調べる。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https://aclanthology.org/P19-1075/</a:t>
            </a:r>
          </a:p>
        </p:txBody>
      </p:sp>
      <p:sp>
        <p:nvSpPr>
          <p:cNvPr id="5" name="文献 2: ChID-Dataset"/>
          <p:cNvSpPr txBox="1"/>
          <p:nvPr/>
        </p:nvSpPr>
        <p:spPr>
          <a:xfrm>
            <a:off x="548640" y="3040507"/>
            <a:ext cx="8046720" cy="1526794"/>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ChID-Dataset</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Chujie Zheng, Minlie Huang, Aixin Sun (n.d.). 公式リポジトリ。参照2026-10-19。</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原論文版とコンテスト版の形式、配布へのリンク、ベースライン実装、更新履歴と引用方法を公開する。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https://github.com/chujiezheng/ChID-Dataset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ChID — Original Data Distribution"/>
          <p:cNvSpPr txBox="1"/>
          <p:nvPr/>
        </p:nvSpPr>
        <p:spPr>
          <a:xfrm>
            <a:off x="548640" y="1463040"/>
            <a:ext cx="8046720" cy="1574419"/>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ChID — Original Data Distribution</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thu-coai (n.d.). 作者が案内する配布。参照2026-10-19。</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学習・開発・Test・Outと、同じTestの候補を変えたRan/Simを、正解付きの行形式で公開する。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https://huggingface.co/datasets/thu-coai/chid/tree/main/original</a:t>
            </a:r>
          </a:p>
        </p:txBody>
      </p:sp>
      <p:sp>
        <p:nvSpPr>
          <p:cNvPr id="5" name="文献 2: ChID-Adapt — Competition Data"/>
          <p:cNvSpPr txBox="1"/>
          <p:nvPr/>
        </p:nvSpPr>
        <p:spPr>
          <a:xfrm>
            <a:off x="548640" y="3040507"/>
            <a:ext cx="8046720" cy="1497838"/>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ChID-Adapt — Competition Data</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Chujie Zheng et al. · 2019年コンテスト向け公式説明</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複数文章が十候補を共有し、文脈間の比較を利用して空欄を埋める形式。データとRNN/BERTベースラインを案内する。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https://github.com/chujiezheng/ChID-Dataset/blob/master/Competition/README.md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CLUE: A Chinese Language Understanding Evaluation Benchmark"/>
          <p:cNvSpPr txBox="1"/>
          <p:nvPr/>
        </p:nvSpPr>
        <p:spPr>
          <a:xfrm>
            <a:off x="548640" y="1463040"/>
            <a:ext cx="8046720" cy="1574419"/>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CLUE: A Chinese Language Understanding Evaluation Benchmark</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Liang Xu et al. · 2020 · COLING, pp.4762–4772</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中国語の共通評価基盤。ChIDを含む課題でモデルを微調整し、テスト性能と人間評価を報告する。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https://aclanthology.org/2020.coling-main.419/</a:t>
            </a:r>
          </a:p>
        </p:txBody>
      </p:sp>
      <p:sp>
        <p:nvSpPr>
          <p:cNvPr id="5" name="文献 2: ChID — CLUE Public Release"/>
          <p:cNvSpPr txBox="1"/>
          <p:nvPr/>
        </p:nvSpPr>
        <p:spPr>
          <a:xfrm>
            <a:off x="548640" y="3040507"/>
            <a:ext cx="8046720" cy="1574419"/>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ChID — CLUE Public Release</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CLUE team (n.d.). 公開ZIP、test 1.0 / 1.1。参照2026-10-19。</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学習・開発と新旧テスト、空欄IDの正解対応を配布し、CLUE 1.1へのテスト切替えを説明する。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https://storage.googleapis.com/cluebenchmark/tasks/chid_public.zip</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FewCLUE: A Chinese Few-shot Learning Evaluation Benchmark"/>
          <p:cNvSpPr txBox="1"/>
          <p:nvPr/>
        </p:nvSpPr>
        <p:spPr>
          <a:xfrm>
            <a:off x="548640" y="1463040"/>
            <a:ext cx="8046720" cy="1574419"/>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FewCLUE: A Chinese Few-shot Learning Evaluation Benchmark</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Liang Xu et al. · 2021 · arXiv:2107.07498v2</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九つの中国語課題による少数例学習評価。ChIDには正解位置ごとに六問、合計42問の学習・開発組を用意する。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https://arxiv.org/abs/2107.07498</a:t>
            </a:r>
          </a:p>
        </p:txBody>
      </p:sp>
      <p:sp>
        <p:nvSpPr>
          <p:cNvPr id="5" name="文献 2: FewCLUE — ChID Data"/>
          <p:cNvSpPr txBox="1"/>
          <p:nvPr/>
        </p:nvSpPr>
        <p:spPr>
          <a:xfrm>
            <a:off x="548640" y="3040507"/>
            <a:ext cx="8046720" cy="1574419"/>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FewCLUE — ChID Data</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CLUE team (n.d.). 公式配布。参照2026-10-19。</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一空欄・七候補の15ファイルを公開する。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https://github.com/CLUEbenchmark/FewCLUE/tree/main/datasets/chid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5" name="文献 2: Apache License, Version 2.0"/>
          <p:cNvSpPr txBox="1"/>
          <p:nvPr/>
        </p:nvSpPr>
        <p:spPr>
          <a:xfrm>
            <a:off x="548640" y="1508760"/>
            <a:ext cx="8046720" cy="1345819"/>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Apache License, Version 2.0</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ChID-Dataset (n.d.). LICENSE。参照2026-10-19。</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リポジトリの利用許諾条件を示す。</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https://github.com/chujiezheng/ChID-Dataset/blob/master/LICENSE</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2026-10-18T10:58:43Z</dcterms:modified>
  <dc:title>chid</dc:title>
  <dc:creator>sasakiy84</dc:creator>
  <dcterms:created xsi:type="dcterms:W3CDTF">2026-10-18T10:58:43Z</dcterms:created>
  <dc:language>ja-JP</dc:language>
</cp:coreProperties>
</file>