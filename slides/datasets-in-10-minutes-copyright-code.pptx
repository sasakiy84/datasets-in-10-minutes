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8" r:id="rId8"/>
    <p:sldId id="259" r:id="rId9"/>
    <p:sldId id="260" r:id="rId10"/>
    <p:sldId id="261" r:id="rId5"/>
    <p:sldId id="262" r:id="rId4"/>
    <p:sldId id="263" r:id="rId3"/>
    <p:sldId id="264" r:id="rId2"/>
    <p:sldId id="265" r:id="rId15"/>
    <p:sldId id="266" r:id="rId16"/>
    <p:sldId id="267" r:id="rId17"/>
    <p:sldId id="268" r:id="rId18"/>
    <p:sldId id="269" r:id="rId19"/>
    <p:sldId id="273" r:id="rId23"/>
    <p:sldId id="274" r:id="rId24"/>
    <p:sldId id="275" r:id="rId25"/>
    <p:sldId id="279" r:id="rId29"/>
    <p:sldId id="280" r:id="rId30"/>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301" r:id="rId51"/>
    <p:sldId id="306" r:id="rId56"/>
    <p:sldId id="307" r:id="rId57"/>
    <p:sldId id="308" r:id="rId58"/>
    <p:sldId id="309" r:id="rId59"/>
    <p:sldId id="310" r:id="rId60"/>
    <p:sldId id="311" r:id="rId61"/>
    <p:sldId id="312" r:id="rId6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9" Type="http://schemas.openxmlformats.org/officeDocument/2006/relationships/slide" Target="slides/slide24.xml"/><Relationship Id="rId30" Type="http://schemas.openxmlformats.org/officeDocument/2006/relationships/slide" Target="slides/slide25.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51" Type="http://schemas.openxmlformats.org/officeDocument/2006/relationships/slide" Target="slides/slide46.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net/ethernet/realtek/r8169_main.c#L353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copyright_scenario.p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block/zram/zram_drv.c#L98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orvalds/linux/blob/v6.0/drivers/block/zram/zram_drv.c#L98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net/ipv4/tcp_input.c#L95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copyright_cod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copyright_metrics.p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copyright_scenario.p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copyright_metrics.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copyright_metrics.p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orvalds/linux/blob/v6.0/Documentation/process/license-rules.rs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orvalds/linux/tree/v6.0" TargetMode="External"/><Relationship Id="rId3" Type="http://schemas.openxmlformats.org/officeDocument/2006/relationships/hyperlink" Target="https://datasets-in-10-minutes.sasakiy84.net/assets/copyright-code-sources-and-notices.zip"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copyright_code" TargetMode="External"/><Relationship Id="rId3" Type="http://schemas.openxmlformats.org/officeDocument/2006/relationships/hyperlink" Target="https://arxiv.org/abs/2211.091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net/usb/r8152.c#L8341"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sound/pci/rme9652/hdsp.c#L1003"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kernel/sched/cpufreq_schedutil.c#L91"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net/can/gw.c#L304"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net/ipv6/route.c#L4947"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mtd/nand/raw/nand_legacy.c#L102"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usb/typec/altmodes/displayport.c#L13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net/ipv6/addrconf.c#L2375"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kernel/ptrace.c#L26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rivers/usb/typec/tcpm/tcpm.c#L133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blob/v6.0/Documentation/process/license-rules.rst"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copyright_code" TargetMode="External"/><Relationship Id="rId3" Type="http://schemas.openxmlformats.org/officeDocument/2006/relationships/hyperlink" Target="https://github.com/torvalds/linux/tree/v6.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arxiv.org/abs/2012.07805"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copyright_scenario.py" TargetMode="External"/><Relationship Id="rId3" Type="http://schemas.openxmlformats.org/officeDocument/2006/relationships/hyperlink" Target="https://github.com/stanford-crfm/helm/blob/v0.3.0/src/helm/benchmark/metrics/copyright_metrics.p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orvalds/linux/tree/v6.0" TargetMode="External"/><Relationship Id="rId3" Type="http://schemas.openxmlformats.org/officeDocument/2006/relationships/hyperlink" Target="https://github.com/torvalds/linux/blob/v6.0/Documentation/process/license-rules.rst"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nu.org/licenses/old-licenses/gpl-2.0.html" TargetMode="External"/><Relationship Id="rId3" Type="http://schemas.openxmlformats.org/officeDocument/2006/relationships/hyperlink" Target="https://github.com/torvalds/linux/blob/v6.0/COPYI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コードの再現</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Linuxソースの冒頭から、既存の続きをどこまで再現するか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コードの続きをどこまで再現するか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収集元と入力・参照の構成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続きの一致を測る</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コードの入手と権利</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コードの続きをどこまで再現するか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コードの冒頭を与え、元の続きとの一致を測る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Linuxソースコードの冒頭をモデルへ与え、生成された続きが既存コードとどの程度一致するかを調べる課題。Liangらが2022年に公開した。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参照は、公開ソースに実在するコードである。識別子、定数、コメントを含め、元の文字列がどこまで出力に現れるかを見る。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コードを読む能力や新しい実装の有用性とは別に、既存の文字列を再現する性質を調べられる。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実例1：有線LANの省電力設定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rtl_hw_start_8106(struct rtl8169_private *tp)</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参照内の第2〜6行（連続抜粋）</a:t>
            </a:r>
          </a:p>
        </p:txBody>
      </p:sp>
      <p:sp>
        <p:nvSpPr>
          <p:cNvPr id="8" name="code-frame"/>
          <p:cNvSpPr/>
          <p:nvPr/>
        </p:nvSpPr>
        <p:spPr>
          <a:xfrm>
            <a:off x="548640" y="2375072"/>
            <a:ext cx="8046720" cy="1219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rtl_hw_aspm_clkreq_enable(tp, false);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Force LAN exit from ASPM if Rx/Tx are not idle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RTL_W32(tp, FuncEvent, RTL_R32(tp, FuncEvent) | 0x002800);</a:t>
            </a:r>
          </a:p>
        </p:txBody>
      </p:sp>
      <p:sp>
        <p:nvSpPr>
          <p:cNvPr id="9" name="TextBox 8"/>
          <p:cNvSpPr txBox="1"/>
          <p:nvPr/>
        </p:nvSpPr>
        <p:spPr>
          <a:xfrm>
            <a:off x="594360" y="3731432"/>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ASPMのクロック要求をいったん無効にし、送受信がアイドルでない場合にLANがASPMから抜けるようにする。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drivers/net/ethernet/realtek/r8169_main.c / GPL-2.0-only</a:t>
            </a:r>
          </a:p>
          <a:p>
            <a:pPr>
              <a:lnSpc>
                <a:spcPts val="1200"/>
              </a:lnSpc>
              <a:spcBef>
                <a:spcPts val="0"/>
              </a:spcBef>
              <a:spcAft>
                <a:spcPts val="0"/>
              </a:spcAft>
            </a:pPr>
            <a:r>
              <a:rPr sz="830">
                <a:latin typeface="Noto Sans CJK JP"/>
                <a:hlinkClick r:id="rId2"/>
              </a:rPr>
              <a:t>https://github.com/torvalds/linux/blob/v6.0/drivers/net/ethernet/realtek/r8169_main.c#L3539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1行の宣言から、元の処理を再現する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実例1の入力はrtl_hw_start_8106の宣言1行。変数tpの型は分かるが、関数の本体は提示されない。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参照には、この宣言から始まるコードが入る。実例で示した5行は、その続きの連続した抜粋である。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生成された続きは、入力の宣言を除いた元コードと比べる。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5"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コード再現課題の実装。</a:t>
            </a:r>
          </a:p>
          <a:p>
            <a:pPr>
              <a:lnSpc>
                <a:spcPts val="1200"/>
              </a:lnSpc>
              <a:spcBef>
                <a:spcPts val="0"/>
              </a:spcBef>
              <a:spcAft>
                <a:spcPts val="0"/>
              </a:spcAft>
            </a:pPr>
            <a:r>
              <a:rPr sz="830">
                <a:latin typeface="Noto Sans CJK JP"/>
                <a:hlinkClick r:id="rId2"/>
              </a:rPr>
              <a:t>https://github.com/stanford-crfm/helm/blob/v0.4.0/src/helm/benchmark/scenarios/copyright_scenario.py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実例2：圧縮RAMのアクセス記録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zram_accessed(struct zram *zram, u32 index)</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参照内の第2〜7行（連続抜粋）</a:t>
            </a:r>
          </a:p>
        </p:txBody>
      </p:sp>
      <p:sp>
        <p:nvSpPr>
          <p:cNvPr id="8" name="code-frame"/>
          <p:cNvSpPr/>
          <p:nvPr/>
        </p:nvSpPr>
        <p:spPr>
          <a:xfrm>
            <a:off x="548640" y="2375072"/>
            <a:ext cx="8046720"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zram_clear_flag(zram, index, ZRAM_IDLE);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zram_debugfs_register(struct zram *zram)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zram_debugfs_unregister(struct zram *zram)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#endif</a:t>
            </a:r>
          </a:p>
        </p:txBody>
      </p:sp>
      <p:sp>
        <p:nvSpPr>
          <p:cNvPr id="9" name="TextBox 8"/>
          <p:cNvSpPr txBox="1"/>
          <p:nvPr/>
        </p:nvSpPr>
        <p:spPr>
          <a:xfrm>
            <a:off x="594360" y="3909232"/>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ZRAM_IDLEを消す。続くdebugfs登録・解除の空実装も参照に含まれ、最初の関数を越えている。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drivers/block/zram/zram_drv.c / dual: BSD-3-Clause / GPL-2.0 (file header)</a:t>
            </a:r>
          </a:p>
          <a:p>
            <a:pPr>
              <a:lnSpc>
                <a:spcPts val="1200"/>
              </a:lnSpc>
              <a:spcBef>
                <a:spcPts val="0"/>
              </a:spcBef>
              <a:spcAft>
                <a:spcPts val="0"/>
              </a:spcAft>
            </a:pPr>
            <a:r>
              <a:rPr sz="830">
                <a:latin typeface="Noto Sans CJK JP"/>
                <a:hlinkClick r:id="rId2"/>
              </a:rPr>
              <a:t>https://github.com/torvalds/linux/blob/v6.0/drivers/block/zram/zram_drv.c#L986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参照は、最初の関数を越えることもある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実例2の参照は、zram_accessedの短い定義に続き、debugfsの空実装、条件コンパイルの終端、次の関数まで含む。</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比較の対象は参照に収められたコード全体であり、最初の関数の本体より長い場合もある。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このファイルはBSD/GPLの選択的な二重ライセンスで公開されている。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5"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Linux v6.0: zram_drv.c.</a:t>
            </a:r>
          </a:p>
          <a:p>
            <a:pPr>
              <a:lnSpc>
                <a:spcPts val="1200"/>
              </a:lnSpc>
              <a:spcBef>
                <a:spcPts val="0"/>
              </a:spcBef>
              <a:spcAft>
                <a:spcPts val="0"/>
              </a:spcAft>
            </a:pPr>
            <a:r>
              <a:rPr sz="830">
                <a:latin typeface="Noto Sans CJK JP"/>
                <a:hlinkClick r:id="rId2"/>
              </a:rPr>
              <a:t>https://github.com/torvalds/linux/blob/v6.0/drivers/block/zram/zram_drv.c#L986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実例3：TCPの再送タイマー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tcp_set_rto(struct sock *sk)</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参照内の第22〜26行（連続抜粋）</a:t>
            </a:r>
          </a:p>
        </p:txBody>
      </p:sp>
      <p:sp>
        <p:nvSpPr>
          <p:cNvPr id="8" name="code-frame"/>
          <p:cNvSpPr/>
          <p:nvPr/>
        </p:nvSpPr>
        <p:spPr>
          <a:xfrm>
            <a:off x="548640" y="2375072"/>
            <a:ext cx="8046720" cy="1219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NOTE: clamping at TCP_RTO_MIN is not required, current algo</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guarantees that rto is higher.</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tcp_bound_rto(sk);</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p:txBody>
      </p:sp>
      <p:sp>
        <p:nvSpPr>
          <p:cNvPr id="9" name="TextBox 8"/>
          <p:cNvSpPr txBox="1"/>
          <p:nvPr/>
        </p:nvSpPr>
        <p:spPr>
          <a:xfrm>
            <a:off x="594360" y="3731432"/>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TCP_RTO_MINによる下限制限は不要という注記の後、tcp_bound_rtoを呼ぶ。</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net/ipv4/tcp_input.c / GPL-2.0</a:t>
            </a:r>
          </a:p>
          <a:p>
            <a:pPr>
              <a:lnSpc>
                <a:spcPts val="1200"/>
              </a:lnSpc>
              <a:spcBef>
                <a:spcPts val="0"/>
              </a:spcBef>
              <a:spcAft>
                <a:spcPts val="0"/>
              </a:spcAft>
            </a:pPr>
            <a:r>
              <a:rPr sz="830">
                <a:latin typeface="Noto Sans CJK JP"/>
                <a:hlinkClick r:id="rId2"/>
              </a:rPr>
              <a:t>https://github.com/torvalds/linux/blob/v6.0/net/ipv4/tcp_input.c#L954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公開済みの生成にも、同じコメントが現れる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code-davinci-002 / 1行の入力 / 公開出力の冒頭5行</a:t>
            </a:r>
          </a:p>
        </p:txBody>
      </p:sp>
      <p:sp>
        <p:nvSpPr>
          <p:cNvPr id="5" name="code-frame"/>
          <p:cNvSpPr/>
          <p:nvPr/>
        </p:nvSpPr>
        <p:spPr>
          <a:xfrm>
            <a:off x="548640" y="1645920"/>
            <a:ext cx="8046720" cy="1219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58419"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const struct tcp_sock *tp = tcp_sk(sk);</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Old crap is replaced with new one. 8)</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More seriously:</a:t>
            </a:r>
          </a:p>
        </p:txBody>
      </p:sp>
      <p:sp>
        <p:nvSpPr>
          <p:cNvPr id="6" name="TextBox 5"/>
          <p:cNvSpPr txBox="1"/>
          <p:nvPr/>
        </p:nvSpPr>
        <p:spPr>
          <a:xfrm>
            <a:off x="594360" y="3139440"/>
            <a:ext cx="7955279" cy="658368"/>
          </a:xfrm>
          <a:prstGeom prst="rect">
            <a:avLst/>
          </a:prstGeom>
          <a:noFill/>
        </p:spPr>
        <p:txBody>
          <a:bodyPr wrap="square" lIns="0" rIns="0" tIns="0" bIns="0">
            <a:noAutofit/>
          </a:bodyPr>
          <a:lstStyle/>
          <a:p>
            <a:pPr algn="l">
              <a:lnSpc>
                <a:spcPts val="2088"/>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参照と同じ変数宣言やコメントから始まる、既に公開されたモデル出力。元コードの文字列が、そのまま続きに現れる例である。</a:t>
            </a:r>
          </a:p>
        </p:txBody>
      </p:sp>
      <p:sp>
        <p:nvSpPr>
          <p:cNvPr id="7"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Copyright (code), 2023. 公開出力。</a:t>
            </a:r>
          </a:p>
          <a:p>
            <a:pPr>
              <a:lnSpc>
                <a:spcPts val="1200"/>
              </a:lnSpc>
              <a:spcBef>
                <a:spcPts val="0"/>
              </a:spcBef>
              <a:spcAft>
                <a:spcPts val="0"/>
              </a:spcAft>
            </a:pPr>
            <a:r>
              <a:rPr sz="830">
                <a:latin typeface="Noto Sans CJK JP"/>
                <a:hlinkClick r:id="rId2"/>
              </a:rPr>
              <a:t>https://crfm.stanford.edu/helm/classic/v0.4.0/#/groups/copyright_code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冒頭を入力にし、残りを生成して比べる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コードの続きをどこまで再現するか</a:t>
            </a:r>
          </a:p>
        </p:txBody>
      </p:sp>
      <p:sp>
        <p:nvSpPr>
          <p:cNvPr id="4" name="Rounded Rectangle 3"/>
          <p:cNvSpPr/>
          <p:nvPr/>
        </p:nvSpPr>
        <p:spPr>
          <a:xfrm>
            <a:off x="594360" y="1645920"/>
            <a:ext cx="2468880" cy="109728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31520" y="1810512"/>
            <a:ext cx="2194560" cy="292608"/>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入力 prefix</a:t>
            </a:r>
          </a:p>
        </p:txBody>
      </p:sp>
      <p:sp>
        <p:nvSpPr>
          <p:cNvPr id="6" name="TextBox 5"/>
          <p:cNvSpPr txBox="1"/>
          <p:nvPr/>
        </p:nvSpPr>
        <p:spPr>
          <a:xfrm>
            <a:off x="731520" y="2212848"/>
            <a:ext cx="2194560" cy="320040"/>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先頭の指定行数</a:t>
            </a:r>
          </a:p>
        </p:txBody>
      </p:sp>
      <p:sp>
        <p:nvSpPr>
          <p:cNvPr id="7" name="TextBox 6"/>
          <p:cNvSpPr txBox="1"/>
          <p:nvPr/>
        </p:nvSpPr>
        <p:spPr>
          <a:xfrm>
            <a:off x="3090672" y="2011680"/>
            <a:ext cx="237744" cy="27432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1" lang="ja-JP" altLang="en-US">
                <a:solidFill>
                  <a:srgbClr val="303437"/>
                </a:solidFill>
                <a:latin typeface="Noto Sans"/>
                <a:ea typeface="Noto Sans CJK JP"/>
                <a:cs typeface="Noto Sans"/>
              </a:rPr>
              <a:t>→</a:t>
            </a:r>
          </a:p>
        </p:txBody>
      </p:sp>
      <p:sp>
        <p:nvSpPr>
          <p:cNvPr id="8" name="Rounded Rectangle 7"/>
          <p:cNvSpPr/>
          <p:nvPr/>
        </p:nvSpPr>
        <p:spPr>
          <a:xfrm>
            <a:off x="3337560" y="1645920"/>
            <a:ext cx="2468880" cy="109728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474720" y="1810512"/>
            <a:ext cx="2194560" cy="292608"/>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生成 completion</a:t>
            </a:r>
          </a:p>
        </p:txBody>
      </p:sp>
      <p:sp>
        <p:nvSpPr>
          <p:cNvPr id="10" name="TextBox 9"/>
          <p:cNvSpPr txBox="1"/>
          <p:nvPr/>
        </p:nvSpPr>
        <p:spPr>
          <a:xfrm>
            <a:off x="3474720" y="2212848"/>
            <a:ext cx="2194560" cy="320040"/>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モデルが返した続き</a:t>
            </a:r>
          </a:p>
        </p:txBody>
      </p:sp>
      <p:sp>
        <p:nvSpPr>
          <p:cNvPr id="11" name="TextBox 10"/>
          <p:cNvSpPr txBox="1"/>
          <p:nvPr/>
        </p:nvSpPr>
        <p:spPr>
          <a:xfrm>
            <a:off x="5833872" y="2011680"/>
            <a:ext cx="237744" cy="27432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1" lang="ja-JP" altLang="en-US">
                <a:solidFill>
                  <a:srgbClr val="303437"/>
                </a:solidFill>
                <a:latin typeface="Noto Sans"/>
                <a:ea typeface="Noto Sans CJK JP"/>
                <a:cs typeface="Noto Sans"/>
              </a:rPr>
              <a:t>→</a:t>
            </a:r>
          </a:p>
        </p:txBody>
      </p:sp>
      <p:sp>
        <p:nvSpPr>
          <p:cNvPr id="12" name="Rounded Rectangle 11"/>
          <p:cNvSpPr/>
          <p:nvPr/>
        </p:nvSpPr>
        <p:spPr>
          <a:xfrm>
            <a:off x="6080760" y="1645920"/>
            <a:ext cx="2468880" cy="109728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217920" y="1810512"/>
            <a:ext cx="2194560" cy="292608"/>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比較する参照</a:t>
            </a:r>
          </a:p>
        </p:txBody>
      </p:sp>
      <p:sp>
        <p:nvSpPr>
          <p:cNvPr id="14" name="TextBox 13"/>
          <p:cNvSpPr txBox="1"/>
          <p:nvPr/>
        </p:nvSpPr>
        <p:spPr>
          <a:xfrm>
            <a:off x="6217920" y="2212848"/>
            <a:ext cx="2194560" cy="320040"/>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prefixを除いた残り</a:t>
            </a:r>
          </a:p>
        </p:txBody>
      </p:sp>
      <p:sp>
        <p:nvSpPr>
          <p:cNvPr id="15" name="TextBox 14"/>
          <p:cNvSpPr txBox="1"/>
          <p:nvPr/>
        </p:nvSpPr>
        <p:spPr>
          <a:xfrm>
            <a:off x="594360" y="3136392"/>
            <a:ext cx="7955279" cy="1051560"/>
          </a:xfrm>
          <a:prstGeom prst="rect">
            <a:avLst/>
          </a:prstGeom>
          <a:noFill/>
        </p:spPr>
        <p:txBody>
          <a:bodyPr wrap="square" lIns="0" rIns="0" tIns="0" bIns="0">
            <a:noAutofit/>
          </a:bodyPr>
          <a:lstStyle/>
          <a:p>
            <a:pPr algn="l">
              <a:lnSpc>
                <a:spcPts val="24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参照は、入力を含む元のコード。比較では入力を除き、生成の文字数を上限に参照を使う。識別子やコメントを含むトークン列の一致を測る。</a:t>
            </a:r>
          </a:p>
        </p:txBody>
      </p:sp>
      <p:sp>
        <p:nvSpPr>
          <p:cNvPr id="16"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コード再現課題の実装。</a:t>
            </a:r>
          </a:p>
          <a:p>
            <a:pPr>
              <a:lnSpc>
                <a:spcPts val="1200"/>
              </a:lnSpc>
              <a:spcBef>
                <a:spcPts val="0"/>
              </a:spcBef>
              <a:spcAft>
                <a:spcPts val="0"/>
              </a:spcAft>
            </a:pPr>
            <a:r>
              <a:rPr sz="830">
                <a:latin typeface="Noto Sans CJK JP"/>
                <a:hlinkClick r:id="rId2"/>
              </a:rPr>
              <a:t>https://github.com/stanford-crfm/helm/blob/v0.3.0/src/helm/benchmark/metrics/copyright_metrics.py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収集元と入力・参照の構成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収集元と入力・参照の構成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Linuxソースを、再現の対象にする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Linuxカーネルのソースからコードを取り出し、先頭の指定行数を入力、元のコードを参照にする。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入力には、先頭1行、5行、10行を使う設定が用意される。本資料の13例は1行入力であり、宣言から続く処理を比べる。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元の採取時のLinuxの版は明らかでない。ここで示す13例の参照はLinux v6.0にも存在する。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収集元と入力・参照の構成</a:t>
            </a:r>
          </a:p>
        </p:txBody>
      </p:sp>
      <p:sp>
        <p:nvSpPr>
          <p:cNvPr id="5"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コード再現課題の実装。</a:t>
            </a:r>
          </a:p>
          <a:p>
            <a:pPr>
              <a:lnSpc>
                <a:spcPts val="1200"/>
              </a:lnSpc>
              <a:spcBef>
                <a:spcPts val="0"/>
              </a:spcBef>
              <a:spcAft>
                <a:spcPts val="0"/>
              </a:spcAft>
            </a:pPr>
            <a:r>
              <a:rPr sz="830">
                <a:latin typeface="Noto Sans CJK JP"/>
                <a:hlinkClick r:id="rId2"/>
              </a:rPr>
              <a:t>https://github.com/stanford-crfm/helm/blob/v0.4.0/src/helm/benchmark/scenarios/copyright_scenario.py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続きの一致を測る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続きの一致を測る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先頭からの一致と、編集の少なさを測る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続きの一致を測る</a:t>
            </a:r>
          </a:p>
        </p:txBody>
      </p:sp>
      <p:graphicFrame>
        <p:nvGraphicFramePr>
          <p:cNvPr id="4" name="Table 3"/>
          <p:cNvGraphicFramePr>
            <a:graphicFrameLocks noGrp="1"/>
          </p:cNvGraphicFramePr>
          <p:nvPr/>
        </p:nvGraphicFramePr>
        <p:xfrm>
          <a:off x="548640" y="1381760"/>
          <a:ext cx="8046720" cy="1450340"/>
        </p:xfrm>
        <a:graphic>
          <a:graphicData uri="http://schemas.openxmlformats.org/drawingml/2006/table">
            <a:tbl>
              <a:tblPr firstRow="0" bandRow="0"/>
              <a:tblGrid>
                <a:gridCol w="2423160"/>
                <a:gridCol w="3931920"/>
                <a:gridCol w="1691640"/>
              </a:tblGrid>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計算する量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方向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最長共通prefix長</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先頭から一致するトークン数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大きいほど一致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編集距離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挿入・削除・置換の最少回数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小さいほど一致</a:t>
                      </a:r>
                    </a:p>
                  </a:txBody>
                  <a:tcPr marL="63500" marR="63500" marT="38100" marB="38100" anchor="ctr">
                    <a:lnL w="7620">
                      <a:noFill/>
                    </a:lnL>
                    <a:lnR w="7620">
                      <a:noFill/>
                    </a:lnR>
                    <a:lnT w="7620">
                      <a:noFill/>
                    </a:lnT>
                    <a:lnB w="7620">
                      <a:noFill/>
                    </a:lnB>
                    <a:solidFill>
                      <a:srgbClr val="FFFEF8"/>
                    </a:solidFill>
                  </a:tcPr>
                </a:tc>
              </a:tr>
              <a:tr h="3625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編集類似度</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1 − 距離 / 長い方の長さ</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大きいほど一致</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50539"/>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3指標とも入力のTreebankトークン数で割った値を使う。入力の長さも指標に関わる。</a:t>
            </a:r>
          </a:p>
        </p:txBody>
      </p:sp>
      <p:sp>
        <p:nvSpPr>
          <p:cNvPr id="6"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コード再現課題の実装。</a:t>
            </a:r>
          </a:p>
          <a:p>
            <a:pPr>
              <a:lnSpc>
                <a:spcPts val="1200"/>
              </a:lnSpc>
              <a:spcBef>
                <a:spcPts val="0"/>
              </a:spcBef>
              <a:spcAft>
                <a:spcPts val="0"/>
              </a:spcAft>
            </a:pPr>
            <a:r>
              <a:rPr sz="830">
                <a:latin typeface="Noto Sans CJK JP"/>
                <a:hlinkClick r:id="rId2"/>
              </a:rPr>
              <a:t>https://github.com/stanford-crfm/helm/blob/v0.3.0/src/helm/benchmark/metrics/copyright_metrics.py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先頭の一致と、途中の違いを捉える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最長共通prefix長は、先頭から途切れずに一致するトークン数。先頭が異なると、その後に似た処理があっても値は伸びない。</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編集距離は、挿入・削除・置換で生成を参照へ近づけるための最少回数。編集類似度は、長さを考慮して近さを表す。</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実装は生成の長さに合わせて参照を切り詰め、Treebankのトークン列で計算する。入力長で割るため、入力の長さもそろえて比べる。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続きの一致を測る</a:t>
            </a:r>
          </a:p>
        </p:txBody>
      </p:sp>
      <p:sp>
        <p:nvSpPr>
          <p:cNvPr id="5"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Stanford CRFM. コード再現課題の実装。</a:t>
            </a:r>
          </a:p>
          <a:p>
            <a:pPr>
              <a:lnSpc>
                <a:spcPts val="1200"/>
              </a:lnSpc>
              <a:spcBef>
                <a:spcPts val="0"/>
              </a:spcBef>
              <a:spcAft>
                <a:spcPts val="0"/>
              </a:spcAft>
            </a:pPr>
            <a:r>
              <a:rPr sz="830">
                <a:latin typeface="Noto Sans CJK JP"/>
                <a:hlinkClick r:id="rId2"/>
              </a:rPr>
              <a:t>https://github.com/stanford-crfm/helm/blob/v0.3.0/src/helm/benchmark/metrics/copyright_metrics.py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一つの続きで、再現の一面を観測する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2022年の研究は、費用を抑えるために入力ごとに一つの続きを生成して比較した。入力や生成方法によって、元コードと一致する範囲は変わる。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Linuxを素材とするこの課題は、公開コードの文字列が出力に現れるかを調べる。ほかのプロジェクトや素材へ広げるには、別の参照も必要になる。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一致は学習データの記憶を調べる手掛かりになる。学習への収録や、個々の利用の法的評価には追加の情報が必要である。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続きの一致を測る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コードの入手と権利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コードの入手と権利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GPLの条件は、ソースの各ファイルで確認する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Linux全体のCOPYINGにはGPL version 2とシステムコール例外が記され、個別ファイルには追加・異なるライセンス表記がある。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この13例にはGPL-2.0-only、GPL-2.0-or-later、旧表記のGPL-2.0やGPL-2.0+、BSDとの選択的な二重ライセンスが含まれる。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コピー、改変、配布には、各ファイルのライセンスに応じて権利表示やソース提供などの条件が関わる。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コードの入手と権利</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Linux contributors. Linux kernel licensing rules, v6.0.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https://github.com/torvalds/linux/blob/v6.0/Documentation/process/license-rules.rst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元ファイルと権利表示を、一緒に参照する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実例は、入力1行の全文と、参照中の3〜7行の連続した抜粋を示す。日本語の説明は、そのコードが行う処理を伝える。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各例の出典リンクから、Linux v6.0の元ファイルを読める。前後の処理やコメント、ファイル先頭の権利表示も確認できる。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同梱ZIPには13元ファイル、著作権・免責表示、GPL v2本文を収めた。コードの利用には、これらの条件が適用される。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コードの入手と権利</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Linux contributors. Linux v6.0 source tree.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https://github.com/torvalds/linux/tree/v6.0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同梱ZIP：13元ファイル・著作権/免責表示・GPL v2本文。</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https://datasets-in-10-minutes.sasakiy84.net/assets/copyright-code-sources-and-notices.zip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文字列の再現を、コードの出所とともに読む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Linuxコードの冒頭から続きを生成させ、元の識別子、処理、コメントがどこまで現れるかを調べる。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先頭からの一致、編集距離、編集類似度が、生成と参照の近さを異なる角度から表す。</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参照の範囲とコードの版を確認し、利用時にはファイルごとのライセンス条件を保つ。</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コードの入手と権利</a:t>
            </a:r>
          </a:p>
        </p:txBody>
      </p:sp>
      <p:sp>
        <p:nvSpPr>
          <p:cNvPr id="5"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Liang et al. (2023). Holistic Evaluation of Language Models. TMLR.</a:t>
            </a:r>
          </a:p>
          <a:p>
            <a:pPr>
              <a:lnSpc>
                <a:spcPts val="1200"/>
              </a:lnSpc>
              <a:spcBef>
                <a:spcPts val="0"/>
              </a:spcBef>
              <a:spcAft>
                <a:spcPts val="0"/>
              </a:spcAft>
            </a:pPr>
            <a:r>
              <a:rPr sz="830">
                <a:latin typeface="Noto Sans CJK JP"/>
                <a:hlinkClick r:id="rId3"/>
              </a:rPr>
              <a:t>https://arxiv.org/abs/2211.09110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コードの利用条件と読み込み方</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追加の公開実例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実例4：USB LANの自動休止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bool delay_autosuspend(struct r8152 *tp)</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参照内の第10〜15行（連続抜粋）</a:t>
            </a:r>
          </a:p>
        </p:txBody>
      </p:sp>
      <p:sp>
        <p:nvSpPr>
          <p:cNvPr id="8" name="code-frame"/>
          <p:cNvSpPr/>
          <p:nvPr/>
        </p:nvSpPr>
        <p:spPr>
          <a:xfrm>
            <a:off x="548640" y="2375072"/>
            <a:ext cx="8046720" cy="1608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(work_busy(&amp;tp-&gt;schedule.work) || sw_linking != hw_linking)</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true;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If the linking down is occurred by nway, the device may miss the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linking change event. And it wouldn't wake when linking on.</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t>
            </a:r>
          </a:p>
        </p:txBody>
      </p:sp>
      <p:sp>
        <p:nvSpPr>
          <p:cNvPr id="9" name="TextBox 8"/>
          <p:cNvSpPr txBox="1"/>
          <p:nvPr/>
        </p:nvSpPr>
        <p:spPr>
          <a:xfrm>
            <a:off x="594360" y="41208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処理が待機中・実行中の場合や、ソフトウェアとハードウェアのリンク状態が異なる場合は、自動休止を遅らせる。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drivers/net/usb/r8152.c / GPL-2.0-only</a:t>
            </a:r>
          </a:p>
          <a:p>
            <a:pPr>
              <a:lnSpc>
                <a:spcPts val="1200"/>
              </a:lnSpc>
              <a:spcBef>
                <a:spcPts val="0"/>
              </a:spcBef>
              <a:spcAft>
                <a:spcPts val="0"/>
              </a:spcAft>
            </a:pPr>
            <a:r>
              <a:rPr sz="830">
                <a:latin typeface="Noto Sans CJK JP"/>
                <a:hlinkClick r:id="rId2"/>
              </a:rPr>
              <a:t>https://github.com/torvalds/linux/blob/v6.0/drivers/net/usb/r8152.c#L8341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実例5：音声のサンプリング周波数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int hdsp_external_sample_rate(struct hdsp *hdsp)</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参照内の第14〜19行（連続抜粋）</a:t>
            </a:r>
          </a:p>
        </p:txBody>
      </p:sp>
      <p:sp>
        <p:nvSpPr>
          <p:cNvPr id="8" name="code-frame"/>
          <p:cNvSpPr/>
          <p:nvPr/>
        </p:nvSpPr>
        <p:spPr>
          <a:xfrm>
            <a:off x="548640" y="2375072"/>
            <a:ext cx="8046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switch (rate_bits)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case HDSP_systemFrequency32:   return 32000;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case HDSP_systemFrequency44_1: return 44100;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case HDSP_systemFrequency48:   return 48000;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case HDSP_systemFrequency64:   return 64000;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case HDSP_systemFrequency88_2: return 88200;</a:t>
            </a:r>
          </a:p>
        </p:txBody>
      </p:sp>
      <p:sp>
        <p:nvSpPr>
          <p:cNvPr id="9" name="TextBox 8"/>
          <p:cNvSpPr txBox="1"/>
          <p:nvPr/>
        </p:nvSpPr>
        <p:spPr>
          <a:xfrm>
            <a:off x="594360" y="39430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レジスタの周波数ビットを、32,000〜88,200 Hzの整数値へ対応させる。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sound/pci/rme9652/hdsp.c / GPL-2.0-or-later</a:t>
            </a:r>
          </a:p>
          <a:p>
            <a:pPr>
              <a:lnSpc>
                <a:spcPts val="1200"/>
              </a:lnSpc>
              <a:spcBef>
                <a:spcPts val="0"/>
              </a:spcBef>
              <a:spcAft>
                <a:spcPts val="0"/>
              </a:spcAft>
            </a:pPr>
            <a:r>
              <a:rPr sz="830">
                <a:latin typeface="Noto Sans CJK JP"/>
                <a:hlinkClick r:id="rId2"/>
              </a:rPr>
              <a:t>https://github.com/torvalds/linux/blob/v6.0/sound/pci/rme9652/hdsp.c#L1003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実例6：CPU周波数の更新判定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584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bool sugov_should_update_freq(struct sugov_policy *sg_policy, u64 time)</a:t>
            </a:r>
          </a:p>
        </p:txBody>
      </p:sp>
      <p:sp>
        <p:nvSpPr>
          <p:cNvPr id="6" name="TextBox 5"/>
          <p:cNvSpPr txBox="1"/>
          <p:nvPr/>
        </p:nvSpPr>
        <p:spPr>
          <a:xfrm>
            <a:off x="548640" y="2175257"/>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230121"/>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参照内の第29〜32行（連続抜粋）</a:t>
            </a:r>
          </a:p>
        </p:txBody>
      </p:sp>
      <p:sp>
        <p:nvSpPr>
          <p:cNvPr id="8" name="code-frame"/>
          <p:cNvSpPr/>
          <p:nvPr/>
        </p:nvSpPr>
        <p:spPr>
          <a:xfrm>
            <a:off x="548640" y="2586737"/>
            <a:ext cx="8046720" cy="1007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delta_ns = time - sg_policy-&gt;last_freq_update_time;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delta_ns &gt;= sg_policy-&gt;freq_update_delay_ns;</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p:txBody>
      </p:sp>
      <p:sp>
        <p:nvSpPr>
          <p:cNvPr id="9" name="TextBox 8"/>
          <p:cNvSpPr txBox="1"/>
          <p:nvPr/>
        </p:nvSpPr>
        <p:spPr>
          <a:xfrm>
            <a:off x="594360" y="3731430"/>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前回更新からの経過時間を求め、設定された待ち時間以上かどうかを返す。</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kernel/sched/cpufreq_schedutil.c / GPL-2.0</a:t>
            </a:r>
          </a:p>
          <a:p>
            <a:pPr>
              <a:lnSpc>
                <a:spcPts val="1200"/>
              </a:lnSpc>
              <a:spcBef>
                <a:spcPts val="0"/>
              </a:spcBef>
              <a:spcAft>
                <a:spcPts val="0"/>
              </a:spcAft>
            </a:pPr>
            <a:r>
              <a:rPr sz="830">
                <a:latin typeface="Noto Sans CJK JP"/>
                <a:hlinkClick r:id="rId2"/>
              </a:rPr>
              <a:t>https://github.com/torvalds/linux/blob/v6.0/kernel/sched/cpufreq_schedutil.c#L91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実例7：CANのチェックサム範囲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584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int cgw_chk_csum_parms(s8 fr, s8 to, s8 re, struct rtcanmsg *r)</a:t>
            </a:r>
          </a:p>
        </p:txBody>
      </p:sp>
      <p:sp>
        <p:nvSpPr>
          <p:cNvPr id="6" name="TextBox 5"/>
          <p:cNvSpPr txBox="1"/>
          <p:nvPr/>
        </p:nvSpPr>
        <p:spPr>
          <a:xfrm>
            <a:off x="548640" y="2175257"/>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230121"/>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参照内の第16〜22行（連続抜粋）</a:t>
            </a:r>
          </a:p>
        </p:txBody>
      </p:sp>
      <p:sp>
        <p:nvSpPr>
          <p:cNvPr id="8" name="code-frame"/>
          <p:cNvSpPr/>
          <p:nvPr/>
        </p:nvSpPr>
        <p:spPr>
          <a:xfrm>
            <a:off x="548640" y="2586737"/>
            <a:ext cx="8046720" cy="164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(fr &gt;= -dlen &amp;&amp; fr &lt; dlen &amp;&amp;</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to &gt;= -dlen &amp;&amp; to &lt; dlen &amp;&amp;</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 &gt;= -dlen &amp;&amp; re &lt; dlen)</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else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-EINVAL;</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a:t>
            </a:r>
          </a:p>
        </p:txBody>
      </p:sp>
      <p:sp>
        <p:nvSpPr>
          <p:cNvPr id="9" name="TextBox 8"/>
          <p:cNvSpPr txBox="1"/>
          <p:nvPr/>
        </p:nvSpPr>
        <p:spPr>
          <a:xfrm>
            <a:off x="594360" y="4366430"/>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fr・to・reがデータ長に対して有効な範囲なら0、範囲外なら-EINVALを返す。</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net/can/gw.c / (GPL-2.0 OR BSD-3-Clause)</a:t>
            </a:r>
          </a:p>
          <a:p>
            <a:pPr>
              <a:lnSpc>
                <a:spcPts val="1200"/>
              </a:lnSpc>
              <a:spcBef>
                <a:spcPts val="0"/>
              </a:spcBef>
              <a:spcAft>
                <a:spcPts val="0"/>
              </a:spcAft>
            </a:pPr>
            <a:r>
              <a:rPr sz="830">
                <a:latin typeface="Noto Sans CJK JP"/>
                <a:hlinkClick r:id="rId2"/>
              </a:rPr>
              <a:t>https://github.com/torvalds/linux/blob/v6.0/net/can/gw.c#L304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実例8：IPv6のMTU更新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int rt6_mtu_change_route(struct fib6_info *f6i, void *p_arg)</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参照内の第12〜17行（連続抜粋）</a:t>
            </a:r>
          </a:p>
        </p:txBody>
      </p:sp>
      <p:sp>
        <p:nvSpPr>
          <p:cNvPr id="8" name="code-frame"/>
          <p:cNvSpPr/>
          <p:nvPr/>
        </p:nvSpPr>
        <p:spPr>
          <a:xfrm>
            <a:off x="548640" y="2375072"/>
            <a:ext cx="8046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idev = __in6_dev_get(arg-&gt;dev);</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(!idev)</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(fib6_metric_locked(f6i, RTAX_MTU))</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0;</a:t>
            </a:r>
          </a:p>
        </p:txBody>
      </p:sp>
      <p:sp>
        <p:nvSpPr>
          <p:cNvPr id="9" name="TextBox 8"/>
          <p:cNvSpPr txBox="1"/>
          <p:nvPr/>
        </p:nvSpPr>
        <p:spPr>
          <a:xfrm>
            <a:off x="594360" y="39430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デバイスのIPv6情報がなければ終了し、MTUの値が固定されている経路も変更しない。</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net/ipv6/route.c / GPL-2.0-or-later</a:t>
            </a:r>
          </a:p>
          <a:p>
            <a:pPr>
              <a:lnSpc>
                <a:spcPts val="1200"/>
              </a:lnSpc>
              <a:spcBef>
                <a:spcPts val="0"/>
              </a:spcBef>
              <a:spcAft>
                <a:spcPts val="0"/>
              </a:spcAft>
            </a:pPr>
            <a:r>
              <a:rPr sz="830">
                <a:latin typeface="Noto Sans CJK JP"/>
                <a:hlinkClick r:id="rId2"/>
              </a:rPr>
              <a:t>https://github.com/torvalds/linux/blob/v6.0/net/ipv6/route.c#L4947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実例9：16ビットNANDへの書込み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nand_write_byte16(struct nand_chip *chip, uint8_t byte)</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参照内の第17〜22行（連続抜粋）</a:t>
            </a:r>
          </a:p>
        </p:txBody>
      </p:sp>
      <p:sp>
        <p:nvSpPr>
          <p:cNvPr id="8" name="code-frame"/>
          <p:cNvSpPr/>
          <p:nvPr/>
        </p:nvSpPr>
        <p:spPr>
          <a:xfrm>
            <a:off x="548640" y="2375072"/>
            <a:ext cx="8046720" cy="1346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 four parameters are specified to be written to I/O[7:0], but this is</a:t>
            </a:r>
          </a:p>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 neither an address nor a command transfer. Let's assume a 0 on the</a:t>
            </a:r>
          </a:p>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 upper I/O lines is OK.</a:t>
            </a:r>
          </a:p>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a:t>
            </a:r>
          </a:p>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chip-&gt;legacy.write_buf(chip, (uint8_t *)&amp;word, 2);</a:t>
            </a:r>
          </a:p>
          <a:p>
            <a:pPr algn="l">
              <a:lnSpc>
                <a:spcPts val="1552"/>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a:t>
            </a:r>
          </a:p>
        </p:txBody>
      </p:sp>
      <p:sp>
        <p:nvSpPr>
          <p:cNvPr id="9" name="TextBox 8"/>
          <p:cNvSpPr txBox="1"/>
          <p:nvPr/>
        </p:nvSpPr>
        <p:spPr>
          <a:xfrm>
            <a:off x="594360" y="3858432"/>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上位I/O線を0にするという判断をコメントに残し、2バイトの値を書き込む。</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drivers/mtd/nand/raw/nand_legacy.c / GPL-2.0</a:t>
            </a:r>
          </a:p>
          <a:p>
            <a:pPr>
              <a:lnSpc>
                <a:spcPts val="1200"/>
              </a:lnSpc>
              <a:spcBef>
                <a:spcPts val="0"/>
              </a:spcBef>
              <a:spcAft>
                <a:spcPts val="0"/>
              </a:spcAft>
            </a:pPr>
            <a:r>
              <a:rPr sz="830">
                <a:latin typeface="Noto Sans CJK JP"/>
                <a:hlinkClick r:id="rId2"/>
              </a:rPr>
              <a:t>https://github.com/torvalds/linux/blob/v6.0/drivers/mtd/nand/raw/nand_legacy.c#L102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実例10：DisplayPortの状態更新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int dp_altmode_status_update(struct dp_altmode *dp)</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参照内の第8〜13行（連続抜粋）</a:t>
            </a:r>
          </a:p>
        </p:txBody>
      </p:sp>
      <p:sp>
        <p:nvSpPr>
          <p:cNvPr id="8" name="code-frame"/>
          <p:cNvSpPr/>
          <p:nvPr/>
        </p:nvSpPr>
        <p:spPr>
          <a:xfrm>
            <a:off x="548640" y="2375072"/>
            <a:ext cx="8046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(configured &amp;&amp; (dp-&gt;data.status &amp; DP_STATUS_SWITCH_TO_USB))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dp-&gt;data.conf = 0;</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dp-&gt;state = DP_STATE_CONFIGURE;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else if (dp-&gt;data.status &amp; DP_STATUS_EXIT_DP_MODE)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dp-&gt;state = DP_STATE_EXIT;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else if (!(con &amp; DP_CONF_CURRENTLY(dp-&gt;data.conf))) {</a:t>
            </a:r>
          </a:p>
        </p:txBody>
      </p:sp>
      <p:sp>
        <p:nvSpPr>
          <p:cNvPr id="9" name="TextBox 8"/>
          <p:cNvSpPr txBox="1"/>
          <p:nvPr/>
        </p:nvSpPr>
        <p:spPr>
          <a:xfrm>
            <a:off x="594360" y="39430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構成済みでUSBへ切り替える要求が来れば設定を消去し、構成状態に移る。終了要求なら終了状態に移る。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drivers/usb/typec/altmodes/displayport.c / GPL-2.0</a:t>
            </a:r>
          </a:p>
          <a:p>
            <a:pPr>
              <a:lnSpc>
                <a:spcPts val="1200"/>
              </a:lnSpc>
              <a:spcBef>
                <a:spcPts val="0"/>
              </a:spcBef>
              <a:spcAft>
                <a:spcPts val="0"/>
              </a:spcAft>
            </a:pPr>
            <a:r>
              <a:rPr sz="830">
                <a:latin typeface="Noto Sans CJK JP"/>
                <a:hlinkClick r:id="rId2"/>
              </a:rPr>
              <a:t>https://github.com/torvalds/linux/blob/v6.0/drivers/usb/typec/altmodes/displayport.c#L136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実例11：IPv6のランダム識別子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void ipv6_gen_rnd_iid(struct in6_addr *addr)</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参照内の第13〜15行（連続抜粋）</a:t>
            </a:r>
          </a:p>
        </p:txBody>
      </p:sp>
      <p:sp>
        <p:nvSpPr>
          <p:cNvPr id="8" name="code-frame"/>
          <p:cNvSpPr/>
          <p:nvPr/>
        </p:nvSpPr>
        <p:spPr>
          <a:xfrm>
            <a:off x="548640" y="2375072"/>
            <a:ext cx="8046720" cy="795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Subnet-router anycast: 0000:0000:0000:0000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(!(addr-&gt;s6_addr32[2] | addr-&gt;s6_addr32[3]))</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goto regen;</a:t>
            </a:r>
          </a:p>
        </p:txBody>
      </p:sp>
      <p:sp>
        <p:nvSpPr>
          <p:cNvPr id="9" name="TextBox 8"/>
          <p:cNvSpPr txBox="1"/>
          <p:nvPr/>
        </p:nvSpPr>
        <p:spPr>
          <a:xfrm>
            <a:off x="594360" y="33080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生成値がサブネットルーターのエニーキャスト用の全0識別子なら、再生成する。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net/ipv6/addrconf.c / GPL-2.0-or-later</a:t>
            </a:r>
          </a:p>
          <a:p>
            <a:pPr>
              <a:lnSpc>
                <a:spcPts val="1200"/>
              </a:lnSpc>
              <a:spcBef>
                <a:spcPts val="0"/>
              </a:spcBef>
              <a:spcAft>
                <a:spcPts val="0"/>
              </a:spcAft>
            </a:pPr>
            <a:r>
              <a:rPr sz="830">
                <a:latin typeface="Noto Sans CJK JP"/>
                <a:hlinkClick r:id="rId2"/>
              </a:rPr>
              <a:t>https://github.com/torvalds/linux/blob/v6.0/net/ipv6/addrconf.c#L2375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実例12：ptraceの接続確認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584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int ptrace_check_attach(struct task_struct *child, bool ignore_state)</a:t>
            </a:r>
          </a:p>
        </p:txBody>
      </p:sp>
      <p:sp>
        <p:nvSpPr>
          <p:cNvPr id="6" name="TextBox 5"/>
          <p:cNvSpPr txBox="1"/>
          <p:nvPr/>
        </p:nvSpPr>
        <p:spPr>
          <a:xfrm>
            <a:off x="548640" y="2175257"/>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230121"/>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参照内の第12〜17行（連続抜粋）</a:t>
            </a:r>
          </a:p>
        </p:txBody>
      </p:sp>
      <p:sp>
        <p:nvSpPr>
          <p:cNvPr id="8" name="code-frame"/>
          <p:cNvSpPr/>
          <p:nvPr/>
        </p:nvSpPr>
        <p:spPr>
          <a:xfrm>
            <a:off x="548640" y="2586737"/>
            <a:ext cx="8046720" cy="1396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read_lock(&amp;tasklist_lock);</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(child-&gt;ptrace &amp;&amp; child-&gt;parent == current)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child-&gt;sighand can't be NULL, release_task()</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does ptrace_unlink() before __exit_signal().</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a:t>
            </a:r>
          </a:p>
        </p:txBody>
      </p:sp>
      <p:sp>
        <p:nvSpPr>
          <p:cNvPr id="9" name="TextBox 8"/>
          <p:cNvSpPr txBox="1"/>
          <p:nvPr/>
        </p:nvSpPr>
        <p:spPr>
          <a:xfrm>
            <a:off x="594360" y="4120896"/>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タスクリストに読み取りロックをかけ、対象が現在のプロセスに追跡されているか確認する。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kernel/ptrace.c / GPL-2.0-only</a:t>
            </a:r>
          </a:p>
          <a:p>
            <a:pPr>
              <a:lnSpc>
                <a:spcPts val="1200"/>
              </a:lnSpc>
              <a:spcBef>
                <a:spcPts val="0"/>
              </a:spcBef>
              <a:spcAft>
                <a:spcPts val="0"/>
              </a:spcAft>
            </a:pPr>
            <a:r>
              <a:rPr sz="830">
                <a:latin typeface="Noto Sans CJK JP"/>
                <a:hlinkClick r:id="rId2"/>
              </a:rPr>
              <a:t>https://github.com/torvalds/linux/blob/v6.0/kernel/ptrace.c#L260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実例13：USB PDの中断可否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実際の入力：関数の先頭1行（全文）</a:t>
            </a:r>
          </a:p>
        </p:txBody>
      </p:sp>
      <p:sp>
        <p:nvSpPr>
          <p:cNvPr id="5" name="code-frame"/>
          <p:cNvSpPr/>
          <p:nvPr/>
        </p:nvSpPr>
        <p:spPr>
          <a:xfrm>
            <a:off x="548640" y="1508760"/>
            <a:ext cx="8046720" cy="372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5193"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static bool tcpm_ams_interruptible(struct tcpm_port *port)</a:t>
            </a:r>
          </a:p>
        </p:txBody>
      </p:sp>
      <p:sp>
        <p:nvSpPr>
          <p:cNvPr id="6" name="TextBox 5"/>
          <p:cNvSpPr txBox="1"/>
          <p:nvPr/>
        </p:nvSpPr>
        <p:spPr>
          <a:xfrm>
            <a:off x="548640" y="1963592"/>
            <a:ext cx="8046720" cy="320040"/>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参照の連続抜粋</a:t>
            </a:r>
          </a:p>
        </p:txBody>
      </p:sp>
      <p:sp>
        <p:nvSpPr>
          <p:cNvPr id="7" name="TextBox 6"/>
          <p:cNvSpPr txBox="1"/>
          <p:nvPr/>
        </p:nvSpPr>
        <p:spPr>
          <a:xfrm>
            <a:off x="4800600" y="2018456"/>
            <a:ext cx="374903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参照内の第20〜25行（連続抜粋）</a:t>
            </a:r>
          </a:p>
        </p:txBody>
      </p:sp>
      <p:sp>
        <p:nvSpPr>
          <p:cNvPr id="8" name="code-frame"/>
          <p:cNvSpPr/>
          <p:nvPr/>
        </p:nvSpPr>
        <p:spPr>
          <a:xfrm>
            <a:off x="548640" y="2375072"/>
            <a:ext cx="8046720" cy="1430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64891" bIns="127000">
            <a:noAutofit/>
          </a:bodyPr>
          <a:lstStyle/>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break;</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 Non-Interruptible AMS */</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default:</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if (port-&gt;in_ams)</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return false;</a:t>
            </a:r>
          </a:p>
          <a:p>
            <a:pPr algn="l">
              <a:lnSpc>
                <a:spcPts val="1667"/>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break;</a:t>
            </a:r>
          </a:p>
        </p:txBody>
      </p:sp>
      <p:sp>
        <p:nvSpPr>
          <p:cNvPr id="9" name="TextBox 8"/>
          <p:cNvSpPr txBox="1"/>
          <p:nvPr/>
        </p:nvSpPr>
        <p:spPr>
          <a:xfrm>
            <a:off x="594360" y="3943098"/>
            <a:ext cx="7955279" cy="521207"/>
          </a:xfrm>
          <a:prstGeom prst="rect">
            <a:avLst/>
          </a:prstGeom>
          <a:noFill/>
        </p:spPr>
        <p:txBody>
          <a:bodyPr wrap="square" lIns="0" rIns="0" tIns="0" bIns="0">
            <a:noAutofit/>
          </a:bodyPr>
          <a:lstStyle/>
          <a:p>
            <a:pPr algn="l">
              <a:lnSpc>
                <a:spcPts val="1855"/>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default分岐では、AMS処理中ならfalseを返して中断不可とする。</a:t>
            </a:r>
          </a:p>
        </p:txBody>
      </p:sp>
      <p:sp>
        <p:nvSpPr>
          <p:cNvPr id="10"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v6.0 / drivers/usb/typec/tcpm/tcpm.c / GPL-2.0+</a:t>
            </a:r>
          </a:p>
          <a:p>
            <a:pPr>
              <a:lnSpc>
                <a:spcPts val="1200"/>
              </a:lnSpc>
              <a:spcBef>
                <a:spcPts val="0"/>
              </a:spcBef>
              <a:spcAft>
                <a:spcPts val="0"/>
              </a:spcAft>
            </a:pPr>
            <a:r>
              <a:rPr sz="830">
                <a:latin typeface="Noto Sans CJK JP"/>
                <a:hlinkClick r:id="rId2"/>
              </a:rPr>
              <a:t>https://github.com/torvalds/linux/blob/v6.0/drivers/usb/typec/tcpm/tcpm.c#L1331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コードの利用条件と読み込み方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コードの利用条件と読み込み方</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ファイルごとに権利表記が異なる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コードの利用条件と読み込み方</a:t>
            </a:r>
          </a:p>
        </p:txBody>
      </p:sp>
      <p:graphicFrame>
        <p:nvGraphicFramePr>
          <p:cNvPr id="4" name="Table 3"/>
          <p:cNvGraphicFramePr>
            <a:graphicFrameLocks noGrp="1"/>
          </p:cNvGraphicFramePr>
          <p:nvPr/>
        </p:nvGraphicFramePr>
        <p:xfrm>
          <a:off x="548640" y="1381760"/>
          <a:ext cx="8046720" cy="2486974"/>
        </p:xfrm>
        <a:graphic>
          <a:graphicData uri="http://schemas.openxmlformats.org/drawingml/2006/table">
            <a:tbl>
              <a:tblPr firstRow="0" bandRow="0"/>
              <a:tblGrid>
                <a:gridCol w="2423160"/>
                <a:gridCol w="56235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ファイルの表記</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 / 4 / 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GPL-2.0-only</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 / 8 / 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GPL-2.0-or-later</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 / 6 / 9 / 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GPL-2.0（旧SPDX表記）</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GPL-2.0+（旧SPDX表記）</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(GPL-2.0 OR BSD-3-Clause)</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BSD/GPLの選択制（ヘッダーの説明）</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87177"/>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ファイルごとにライセンスが付く。選択的な二重ライセンスでは、選んだライセンスの条件に従う。</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Linux contributors. Linux kernel licensing rules, v6.0.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https://github.com/torvalds/linux/blob/v6.0/Documentation/process/license-rules.rst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元ファイルを開き、関数の冒頭を読む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コードの利用条件と読み込み方</a:t>
            </a:r>
          </a:p>
        </p:txBody>
      </p:sp>
      <p:sp>
        <p:nvSpPr>
          <p:cNvPr id="4" name="code-frame"/>
          <p:cNvSpPr/>
          <p:nvPr/>
        </p:nvSpPr>
        <p:spPr>
          <a:xfrm>
            <a:off x="548640" y="1554480"/>
            <a:ext cx="8046720" cy="1752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52400" rIns="152400" tIns="85513" bIns="127000">
            <a:noAutofit/>
          </a:bodyPr>
          <a:lstStyle/>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from zipfile import ZipFile</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with ZipFile("copyright-code-sources-and-notices.zip") as z:</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path = "linux/drivers/net/ethernet/realtek/r8169_main.c"</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lines = z.read(path).decode().splitlines()</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start = next(i for i, s in enumerate(lines)</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if s.startswith("static void rtl_hw_start_8106("))</a:t>
            </a:r>
          </a:p>
          <a:p>
            <a:pPr algn="l">
              <a:lnSpc>
                <a:spcPts val="172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print("\n".join(lines[start:start + 6]))</a:t>
            </a:r>
          </a:p>
        </p:txBody>
      </p:sp>
      <p:sp>
        <p:nvSpPr>
          <p:cNvPr id="5" name="TextBox 4"/>
          <p:cNvSpPr txBox="1"/>
          <p:nvPr/>
        </p:nvSpPr>
        <p:spPr>
          <a:xfrm>
            <a:off x="594360" y="3683000"/>
            <a:ext cx="7955279" cy="82550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同梱ZIPを保存して実行する。実例1の宣言と、その後の5行を元ファイルから読み出す。</a:t>
            </a:r>
          </a:p>
        </p:txBody>
      </p:sp>
      <p:sp>
        <p:nvSpPr>
          <p:cNvPr id="6" name="sources"/>
          <p:cNvSpPr txBox="1"/>
          <p:nvPr/>
        </p:nvSpPr>
        <p:spPr>
          <a:xfrm>
            <a:off x="502920" y="4699000"/>
            <a:ext cx="8183879" cy="419100"/>
          </a:xfrm>
          <a:prstGeom prst="rect">
            <a:avLst/>
          </a:prstGeom>
          <a:noFill/>
        </p:spPr>
        <p:txBody>
          <a:bodyPr wrap="square" lIns="0" rIns="0" tIns="0" bIns="0">
            <a:noAutofit/>
          </a:bodyPr>
          <a:lstStyle/>
          <a:p>
            <a:pPr algn="l">
              <a:lnSpc>
                <a:spcPts val="1200"/>
              </a:lnSpc>
              <a:spcBef>
                <a:spcPts val="0"/>
              </a:spcBef>
              <a:spcAft>
                <a:spcPts val="0"/>
              </a:spcAft>
              <a:buNone/>
              <a:defRPr sz="810" b="0">
                <a:solidFill>
                  <a:srgbClr val="303437"/>
                </a:solidFill>
                <a:latin typeface="Noto Sans"/>
              </a:defRPr>
            </a:pPr>
            <a:r>
              <a:rPr sz="830">
                <a:latin typeface="Noto Sans CJK JP"/>
              </a:rPr>
              <a:t>[1] Linux contributors. Linux v6.0 source tree.</a:t>
            </a:r>
          </a:p>
          <a:p>
            <a:pPr>
              <a:lnSpc>
                <a:spcPts val="1200"/>
              </a:lnSpc>
              <a:spcBef>
                <a:spcPts val="0"/>
              </a:spcBef>
              <a:spcAft>
                <a:spcPts val="0"/>
              </a:spcAft>
            </a:pPr>
            <a:r>
              <a:rPr sz="830">
                <a:latin typeface="Noto Sans CJK JP"/>
                <a:hlinkClick r:id="rId3"/>
              </a:rPr>
              <a:t>https://github.com/torvalds/linux/tree/v6.0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既存文字列の再現を、評価する課題にする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Liangらは2022年、Linuxコードと書籍を素材に、言語モデルが既存の文字列をどこまで再現するかを調べる課題を公開した。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コード系列では、冒頭を入力にし、既存ソースを参照として一致の程度を測る。公開コードを読むことと、モデル出力に現れる文字列の出所を考えることをつなぐ。</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背景にはCarliniらの学習データ抽出の研究がある。既存資料の記憶や露出を検証するための研究資源である。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Holistic Evaluation of Language Models</a:t>
            </a:r>
          </a:p>
        </p:txBody>
      </p:sp>
      <p:sp>
        <p:nvSpPr>
          <p:cNvPr id="5" name="TextBox 4"/>
          <p:cNvSpPr txBox="1"/>
          <p:nvPr/>
        </p:nvSpPr>
        <p:spPr>
          <a:xfrm>
            <a:off x="548640" y="1938528"/>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Percy Liang et al. · 2023 · Transactions on Machine Learning Research</a:t>
            </a:r>
          </a:p>
        </p:txBody>
      </p:sp>
      <p:sp>
        <p:nvSpPr>
          <p:cNvPr id="6" name="TextBox 5"/>
          <p:cNvSpPr txBox="1"/>
          <p:nvPr/>
        </p:nvSpPr>
        <p:spPr>
          <a:xfrm>
            <a:off x="548640" y="223113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既存文章とLinuxコードの続きを再現する課題を構成し、出力と参照の一致を調べる。</a:t>
            </a:r>
          </a:p>
        </p:txBody>
      </p:sp>
      <p:sp>
        <p:nvSpPr>
          <p:cNvPr id="7" name="TextBox 6"/>
          <p:cNvSpPr txBox="1"/>
          <p:nvPr/>
        </p:nvSpPr>
        <p:spPr>
          <a:xfrm>
            <a:off x="548640" y="2743200"/>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2"/>
              </a:rPr>
              <a:t>https://arxiv.org/abs/2211.09110</a:t>
            </a:r>
          </a:p>
        </p:txBody>
      </p:sp>
      <p:sp>
        <p:nvSpPr>
          <p:cNvPr id="8" name="TextBox 7"/>
          <p:cNvSpPr txBox="1"/>
          <p:nvPr/>
        </p:nvSpPr>
        <p:spPr>
          <a:xfrm>
            <a:off x="548640" y="3063239"/>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Extracting Training Data from Large Language Models</a:t>
            </a:r>
          </a:p>
        </p:txBody>
      </p:sp>
      <p:sp>
        <p:nvSpPr>
          <p:cNvPr id="9" name="TextBox 8"/>
          <p:cNvSpPr txBox="1"/>
          <p:nvPr/>
        </p:nvSpPr>
        <p:spPr>
          <a:xfrm>
            <a:off x="548640" y="3675887"/>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Nicholas Carlini et al. · 2021 · 30th USENIX Security Symposium</a:t>
            </a:r>
          </a:p>
        </p:txBody>
      </p:sp>
      <p:sp>
        <p:nvSpPr>
          <p:cNvPr id="10" name="TextBox 9"/>
          <p:cNvSpPr txBox="1"/>
          <p:nvPr/>
        </p:nvSpPr>
        <p:spPr>
          <a:xfrm>
            <a:off x="548640" y="396849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言語モデルから学習データの文字列を抽出し、記憶とデータ露出を検証する。</a:t>
            </a:r>
          </a:p>
        </p:txBody>
      </p:sp>
      <p:sp>
        <p:nvSpPr>
          <p:cNvPr id="11" name="TextBox 10"/>
          <p:cNvSpPr txBox="1"/>
          <p:nvPr/>
        </p:nvSpPr>
        <p:spPr>
          <a:xfrm>
            <a:off x="548640" y="4480559"/>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3"/>
              </a:rPr>
              <a:t>https://arxiv.org/abs/2012.07805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CopyrightScenario</a:t>
            </a:r>
          </a:p>
        </p:txBody>
      </p:sp>
      <p:sp>
        <p:nvSpPr>
          <p:cNvPr id="5" name="TextBox 4"/>
          <p:cNvSpPr txBox="1"/>
          <p:nvPr/>
        </p:nvSpPr>
        <p:spPr>
          <a:xfrm>
            <a:off x="548640" y="1938528"/>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n.d. · 公式実装（2026-10-19参照）</a:t>
            </a:r>
          </a:p>
        </p:txBody>
      </p:sp>
      <p:sp>
        <p:nvSpPr>
          <p:cNvPr id="6" name="TextBox 5"/>
          <p:cNvSpPr txBox="1"/>
          <p:nvPr/>
        </p:nvSpPr>
        <p:spPr>
          <a:xfrm>
            <a:off x="548640" y="223113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入力の行数別の配布先と、入力・参照の読み込み方を示す。</a:t>
            </a:r>
          </a:p>
        </p:txBody>
      </p:sp>
      <p:sp>
        <p:nvSpPr>
          <p:cNvPr id="7" name="TextBox 6"/>
          <p:cNvSpPr txBox="1"/>
          <p:nvPr/>
        </p:nvSpPr>
        <p:spPr>
          <a:xfrm>
            <a:off x="548640" y="2743200"/>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2"/>
              </a:rPr>
              <a:t>https://github.com/stanford-crfm/helm/blob/v0.4.0/src/helm/benchmark/scenarios/copyright_scenario.py</a:t>
            </a:r>
          </a:p>
        </p:txBody>
      </p:sp>
      <p:sp>
        <p:nvSpPr>
          <p:cNvPr id="8" name="TextBox 7"/>
          <p:cNvSpPr txBox="1"/>
          <p:nvPr/>
        </p:nvSpPr>
        <p:spPr>
          <a:xfrm>
            <a:off x="548640" y="3063239"/>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BasicCopyrightMetric</a:t>
            </a:r>
          </a:p>
        </p:txBody>
      </p:sp>
      <p:sp>
        <p:nvSpPr>
          <p:cNvPr id="9" name="TextBox 8"/>
          <p:cNvSpPr txBox="1"/>
          <p:nvPr/>
        </p:nvSpPr>
        <p:spPr>
          <a:xfrm>
            <a:off x="548640" y="3675887"/>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n.d. · 指標の実装（2026-10-19参照）</a:t>
            </a:r>
          </a:p>
        </p:txBody>
      </p:sp>
      <p:sp>
        <p:nvSpPr>
          <p:cNvPr id="10" name="TextBox 9"/>
          <p:cNvSpPr txBox="1"/>
          <p:nvPr/>
        </p:nvSpPr>
        <p:spPr>
          <a:xfrm>
            <a:off x="548640" y="396849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参照から入力を除き、文字数で切り詰めた後に3種類の一致度を計算する。</a:t>
            </a:r>
          </a:p>
        </p:txBody>
      </p:sp>
      <p:sp>
        <p:nvSpPr>
          <p:cNvPr id="11" name="TextBox 10"/>
          <p:cNvSpPr txBox="1"/>
          <p:nvPr/>
        </p:nvSpPr>
        <p:spPr>
          <a:xfrm>
            <a:off x="548640" y="4480559"/>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3"/>
              </a:rPr>
              <a:t>https://github.com/stanford-crfm/helm/blob/v0.3.0/src/helm/benchmark/metrics/copyright_metrics.py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Linux kernel source tree, version 6.0</a:t>
            </a:r>
          </a:p>
        </p:txBody>
      </p:sp>
      <p:sp>
        <p:nvSpPr>
          <p:cNvPr id="5" name="TextBox 4"/>
          <p:cNvSpPr txBox="1"/>
          <p:nvPr/>
        </p:nvSpPr>
        <p:spPr>
          <a:xfrm>
            <a:off x="548640" y="1938528"/>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Linus Torvalds and Linux contributors · 2022 · Linux kernel</a:t>
            </a:r>
          </a:p>
        </p:txBody>
      </p:sp>
      <p:sp>
        <p:nvSpPr>
          <p:cNvPr id="6" name="TextBox 5"/>
          <p:cNvSpPr txBox="1"/>
          <p:nvPr/>
        </p:nvSpPr>
        <p:spPr>
          <a:xfrm>
            <a:off x="548640" y="223113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実例の参照と同じコード、およびファイルごとの著作権・ライセンス表記を含む。</a:t>
            </a:r>
          </a:p>
        </p:txBody>
      </p:sp>
      <p:sp>
        <p:nvSpPr>
          <p:cNvPr id="7" name="TextBox 6"/>
          <p:cNvSpPr txBox="1"/>
          <p:nvPr/>
        </p:nvSpPr>
        <p:spPr>
          <a:xfrm>
            <a:off x="548640" y="2743200"/>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2"/>
              </a:rPr>
              <a:t>https://github.com/torvalds/linux/tree/v6.0</a:t>
            </a:r>
          </a:p>
        </p:txBody>
      </p:sp>
      <p:sp>
        <p:nvSpPr>
          <p:cNvPr id="8" name="TextBox 7"/>
          <p:cNvSpPr txBox="1"/>
          <p:nvPr/>
        </p:nvSpPr>
        <p:spPr>
          <a:xfrm>
            <a:off x="548640" y="3063239"/>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Linux kernel licensing rules</a:t>
            </a:r>
          </a:p>
        </p:txBody>
      </p:sp>
      <p:sp>
        <p:nvSpPr>
          <p:cNvPr id="9" name="TextBox 8"/>
          <p:cNvSpPr txBox="1"/>
          <p:nvPr/>
        </p:nvSpPr>
        <p:spPr>
          <a:xfrm>
            <a:off x="548640" y="3675887"/>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Linux contributors · n.d. · Linux v6.0 documentation（2026-10-19参照）</a:t>
            </a:r>
          </a:p>
        </p:txBody>
      </p:sp>
      <p:sp>
        <p:nvSpPr>
          <p:cNvPr id="10" name="TextBox 9"/>
          <p:cNvSpPr txBox="1"/>
          <p:nvPr/>
        </p:nvSpPr>
        <p:spPr>
          <a:xfrm>
            <a:off x="548640" y="396849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GPL v2、システムコール例外、ファイルごとのSPDX表記と利用条件を説明する。</a:t>
            </a:r>
          </a:p>
        </p:txBody>
      </p:sp>
      <p:sp>
        <p:nvSpPr>
          <p:cNvPr id="11" name="TextBox 10"/>
          <p:cNvSpPr txBox="1"/>
          <p:nvPr/>
        </p:nvSpPr>
        <p:spPr>
          <a:xfrm>
            <a:off x="548640" y="4480559"/>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3"/>
              </a:rPr>
              <a:t>https://github.com/torvalds/linux/blob/v6.0/Documentation/process/license-rules.rst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325880"/>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GNU General Public License, version 2</a:t>
            </a:r>
          </a:p>
        </p:txBody>
      </p:sp>
      <p:sp>
        <p:nvSpPr>
          <p:cNvPr id="5" name="TextBox 4"/>
          <p:cNvSpPr txBox="1"/>
          <p:nvPr/>
        </p:nvSpPr>
        <p:spPr>
          <a:xfrm>
            <a:off x="548640" y="1938528"/>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Free Software Foundation · 1991 · GNU Project</a:t>
            </a:r>
          </a:p>
        </p:txBody>
      </p:sp>
      <p:sp>
        <p:nvSpPr>
          <p:cNvPr id="6" name="TextBox 5"/>
          <p:cNvSpPr txBox="1"/>
          <p:nvPr/>
        </p:nvSpPr>
        <p:spPr>
          <a:xfrm>
            <a:off x="548640" y="223113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ソースの複製、改変、配布、オブジェクトコードの配布などに伴う条件を定める。</a:t>
            </a:r>
          </a:p>
        </p:txBody>
      </p:sp>
      <p:sp>
        <p:nvSpPr>
          <p:cNvPr id="7" name="TextBox 6"/>
          <p:cNvSpPr txBox="1"/>
          <p:nvPr/>
        </p:nvSpPr>
        <p:spPr>
          <a:xfrm>
            <a:off x="548640" y="2743200"/>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2"/>
              </a:rPr>
              <a:t>https://www.gnu.org/licenses/old-licenses/gpl-2.0.html</a:t>
            </a:r>
          </a:p>
        </p:txBody>
      </p:sp>
      <p:sp>
        <p:nvSpPr>
          <p:cNvPr id="8" name="TextBox 7"/>
          <p:cNvSpPr txBox="1"/>
          <p:nvPr/>
        </p:nvSpPr>
        <p:spPr>
          <a:xfrm>
            <a:off x="548640" y="3063239"/>
            <a:ext cx="8046720" cy="576072"/>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Linux COPYING</a:t>
            </a:r>
          </a:p>
        </p:txBody>
      </p:sp>
      <p:sp>
        <p:nvSpPr>
          <p:cNvPr id="9" name="TextBox 8"/>
          <p:cNvSpPr txBox="1"/>
          <p:nvPr/>
        </p:nvSpPr>
        <p:spPr>
          <a:xfrm>
            <a:off x="548640" y="3675887"/>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Linux contributors · n.d. · Linux v6.0（2026-10-19参照）</a:t>
            </a:r>
          </a:p>
        </p:txBody>
      </p:sp>
      <p:sp>
        <p:nvSpPr>
          <p:cNvPr id="10" name="TextBox 9"/>
          <p:cNvSpPr txBox="1"/>
          <p:nvPr/>
        </p:nvSpPr>
        <p:spPr>
          <a:xfrm>
            <a:off x="548640" y="3968496"/>
            <a:ext cx="8046720" cy="475488"/>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Linuxのライセンス、個別ファイルのSPDX表記とシステムコール例外を案内する。</a:t>
            </a:r>
          </a:p>
        </p:txBody>
      </p:sp>
      <p:sp>
        <p:nvSpPr>
          <p:cNvPr id="11" name="TextBox 10"/>
          <p:cNvSpPr txBox="1"/>
          <p:nvPr/>
        </p:nvSpPr>
        <p:spPr>
          <a:xfrm>
            <a:off x="548640" y="4480559"/>
            <a:ext cx="8046720" cy="228600"/>
          </a:xfrm>
          <a:prstGeom prst="rect">
            <a:avLst/>
          </a:prstGeom>
          <a:noFill/>
        </p:spPr>
        <p:txBody>
          <a:bodyPr wrap="square" lIns="0" rIns="0" tIns="0" bIns="0">
            <a:noAutofit/>
          </a:bodyPr>
          <a:lstStyle/>
          <a:p>
            <a:pPr algn="l">
              <a:lnSpc>
                <a:spcPts val="1322"/>
              </a:lnSpc>
              <a:spcBef>
                <a:spcPts val="0"/>
              </a:spcBef>
              <a:spcAft>
                <a:spcPts val="0"/>
              </a:spcAft>
              <a:buNone/>
              <a:defRPr sz="1130" b="0">
                <a:solidFill>
                  <a:srgbClr val="303437"/>
                </a:solidFill>
                <a:latin typeface="Noto Sans"/>
              </a:defRPr>
            </a:pPr>
            <a:r>
              <a:rPr sz="1130" b="0" lang="ja-JP" altLang="en-US">
                <a:solidFill>
                  <a:srgbClr val="2166AC"/>
                </a:solidFill>
                <a:latin typeface="Noto Sans"/>
                <a:ea typeface="Noto Sans CJK JP"/>
                <a:cs typeface="Noto Sans"/>
                <a:hlinkClick r:id="rId3"/>
              </a:rPr>
              <a:t>https://github.com/torvalds/linux/blob/v6.0/COPYING</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2026-10-18T08:32:16Z</dcterms:modified>
  <dc:title>copyright-code</dc:title>
  <dc:creator>sasakiy84</dc:creator>
  <dcterms:created xsi:type="dcterms:W3CDTF">2026-10-18T08:32:16Z</dcterms:created>
  <dc:language>ja-JP</dc:language>
</cp:coreProperties>
</file>