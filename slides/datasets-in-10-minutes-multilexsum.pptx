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multilexsum.github.io/"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doi.org/10.52202/068431-0956"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i.org/10.52202/068431-0956"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doi.org/10.52202/068431-0956" TargetMode="External"/><Relationship Id="rId3" Type="http://schemas.openxmlformats.org/officeDocument/2006/relationships/hyperlink" Target="https://huggingface.co/datasets/allenai/multi_lexsu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multi_lexsu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allenai/multi_lexsu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multi_lexsu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multi_lexsu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multi_lexsu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multi_lexsu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allenai/multi_lexsu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doi.org/10.52202/068431-0956"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i.org/10.52202/068431-0956"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doi.org/10.52202/068431-0956"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multi_lexsum"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multi_lexsum"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doi.org/10.52202/068431-0956"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doi.org/10.52202/068431-0956"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i.org/10.52202/068431-0956"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i.org/10.52202/068431-0956"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doi.org/10.52202/068431-0956"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doi.org/10.52202/068431-0956"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4.0/src/helm/benchmark/scenarios/legal_summarization_scenario.py"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allenai/multi_lexsum" TargetMode="External"/><Relationship Id="rId3" Type="http://schemas.openxmlformats.org/officeDocument/2006/relationships/hyperlink" Target="https://github.com/multilexsum/dataset"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allenai/multi_lexsum"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doi.org/10.52202/068431-0956"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multi_lexsum"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multi_lexsum"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multi_lexsum"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multi_lexsum"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multi_lexsum"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multi_lexsum"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multi_lexsum"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multi_lexsum"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multi_lexsum"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multi_lexsum"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multi_lexsum"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multi_lexsum"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multi_lexsum"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multi_lexsum"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multi_lexsum"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multi_lexsum"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multi_lexsum"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multi_lexsum"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multi_lexsum"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multi_lexsum"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multi_lexsum"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allenai/multi_lexsum"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i.org/10.52202/068431-0956" TargetMode="External"/><Relationship Id="rId3" Type="http://schemas.openxmlformats.org/officeDocument/2006/relationships/hyperlink" Target="https://huggingface.co/datasets/allenai/multi_lexsum"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doi.org/10.52202/068431-0956" TargetMode="External"/><Relationship Id="rId3" Type="http://schemas.openxmlformats.org/officeDocument/2006/relationships/hyperlink" Target="https://huggingface.co/datasets/allenai/multi_lexsum"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allenai/multi_lexsum"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4.0/src/helm/benchmark/scenarios/legal_summarization_scenario.py"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allenai/multi_lexsum"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llenai/multi_lexsum"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doi.org/10.52202/068431-0956" TargetMode="External"/><Relationship Id="rId3" Type="http://schemas.openxmlformats.org/officeDocument/2006/relationships/hyperlink" Target="https://multilexsum.github.io/"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i.org/10.52202/068431-0956" TargetMode="External"/><Relationship Id="rId3" Type="http://schemas.openxmlformats.org/officeDocument/2006/relationships/hyperlink" Target="https://multilexsum.github.io/datasheet"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multilexsum/dataset" TargetMode="External"/><Relationship Id="rId3" Type="http://schemas.openxmlformats.org/officeDocument/2006/relationships/hyperlink" Target="https://huggingface.co/datasets/allenai/multi_lexsum"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blob/v0.4.0/src/helm/benchmark/scenarios/legal_summarization_scenario.py" TargetMode="External"/><Relationship Id="rId3" Type="http://schemas.openxmlformats.org/officeDocument/2006/relationships/hyperlink" Target="https://arxiv.org/abs/2211.09110"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463002"/>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Multi-LexSum</a:t>
            </a:r>
          </a:p>
        </p:txBody>
      </p:sp>
      <p:sp>
        <p:nvSpPr>
          <p:cNvPr id="3" name="Subtitle 2"/>
          <p:cNvSpPr>
            <a:spLocks noGrp="1"/>
          </p:cNvSpPr>
          <p:nvPr>
            <p:ph type="subTitle" idx="1"/>
          </p:nvPr>
        </p:nvSpPr>
        <p:spPr>
          <a:xfrm>
            <a:off x="548640" y="2472652"/>
            <a:ext cx="8046720" cy="1339215"/>
          </a:xfrm>
        </p:spPr>
        <p:txBody>
          <a:bodyPr lIns="0" rIns="0" tIns="0" bIns="0">
            <a:noAutofit/>
          </a:bodyPr>
          <a:lstStyle/>
          <a:p>
            <a:pPr algn="ctr">
              <a:lnSpc>
                <a:spcPct val="125000"/>
              </a:lnSpc>
              <a:spcAft>
                <a:spcPts val="1200"/>
              </a:spcAft>
              <a:buNone/>
              <a:defRPr sz="2200" b="0">
                <a:solidFill>
                  <a:srgbClr val="303437"/>
                </a:solidFill>
                <a:latin typeface="Noto Sans"/>
              </a:defRPr>
            </a:pPr>
            <a:r>
              <a:rPr sz="2200" b="0" lang="ja-JP" altLang="en-US">
                <a:solidFill>
                  <a:srgbClr val="303437"/>
                </a:solidFill>
                <a:latin typeface="Noto Sans"/>
                <a:ea typeface="Noto Sans CJK JP"/>
                <a:cs typeface="Noto Sans"/>
              </a:rPr>
              <a:t>Real-world Summaries of Civil Rights Lawsuits
at Multiple Granularities</a:t>
            </a:r>
          </a:p>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民事の人権訴訟を、三つの詳しさで要約する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公式サイト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Multi-LexSum</a:t>
            </a:r>
          </a:p>
        </p:txBody>
      </p:sp>
      <p:pic>
        <p:nvPicPr>
          <p:cNvPr id="4" name="Picture 3" descr="official-site.png"/>
          <p:cNvPicPr>
            <a:picLocks noChangeAspect="1"/>
          </p:cNvPicPr>
          <p:nvPr/>
        </p:nvPicPr>
        <p:blipFill>
          <a:blip r:embed="rId2"/>
          <a:stretch>
            <a:fillRect/>
          </a:stretch>
        </p:blipFill>
        <p:spPr>
          <a:xfrm>
            <a:off x="548640" y="2136139"/>
            <a:ext cx="8046720" cy="1397000"/>
          </a:xfrm>
          <a:prstGeom prst="rect">
            <a:avLst/>
          </a:prstGeom>
        </p:spPr>
      </p:pic>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Multi-LexSum. 公式サイト。2026-10-18確認。</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https://multilexsum.github.io/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実例から見る要約の粒度</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事件・文書・要約の作成方法</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採点と2022年の到達水準</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HELMの設定と現在の配布</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実例から見る要約の粒度</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実例から見る要約の粒度</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同じ事件を、長文・1段落・1文で捉える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米国の連邦裁判所で扱われた民事の人権訴訟を集めた、英語の要約データセット。訴状や判決など複数の文書と、専門家が書いた事件の要約を対応させる。</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Longは経過と結果を説明する複数段落、Shortは要点をまとめる1段落、Tinyは事件を紹介する短い文。長さごとに、残す情報が変わる。</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2022年に公開。4,539事件に計9,280件の要約があり、すべての事件に三つの要約がそろうわけではない。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実例から見る要約の粒度</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(2022). Multi-LexSum: Real-world Summaries of Civil Rights Lawsuits at Multiple Granularities. NeurIPS.</a:t>
            </a:r>
          </a:p>
          <a:p>
            <a:pPr>
              <a:lnSpc>
                <a:spcPts val="940"/>
              </a:lnSpc>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https://doi.org/10.52202/068431-0956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原文書からの要約と、要約の圧縮を分ける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実例から見る要約の粒度</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2011680"/>
                <a:gridCol w="2468880"/>
                <a:gridCol w="3566160"/>
              </a:tblGrid>
              <a:tr h="420624">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入力</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出力</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課題</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文書群 D</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L / S / 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複数文書の情報を統合</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Long L</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Short S / Tiny 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詳しい事件説明を圧縮</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Short S</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Tiny 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紹介に残す情報を選択</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92424"/>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基本はD→L/S/TとL→S/T、S→Tの6課題。Dは1事件に属する文書の集合。</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(2022). Multi-LexSum: Real-world Summaries of Civil Rights Lawsuits at Multiple Granularities. NeurIPS.</a:t>
            </a:r>
          </a:p>
          <a:p>
            <a:pPr>
              <a:lnSpc>
                <a:spcPts val="940"/>
              </a:lnSpc>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https://doi.org/10.52202/068431-0956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実例は、短要約から極短要約への13組</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本編3件と追加10件は、v20220616のtestファイルにある異なる13事件から選んだ。Shortを入力、Tinyを参照要約とする。入力と参照文はいずれも全文を示す。</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参照要約は専門家が書いた一つの表現で、唯一の正解文ではない。TinyにはSNSへの投稿を意識した文や、事件のある時点を切り取った文も含まれる。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HELMの実装はLong→Shortを使う。まず短い実例で圧縮の意味を見てから、この設定の違いを扱う。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実例から見る要約の粒度</a:t>
            </a:r>
          </a:p>
        </p:txBody>
      </p:sp>
      <p:sp>
        <p:nvSpPr>
          <p:cNvPr id="5" name="sources"/>
          <p:cNvSpPr txBox="1"/>
          <p:nvPr/>
        </p:nvSpPr>
        <p:spPr>
          <a:xfrm>
            <a:off x="502920" y="451713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(2022). Multi-LexSum: Real-world Summaries of Civil Rights Lawsuits at Multiple Granularities. NeurIPS.</a:t>
            </a:r>
          </a:p>
          <a:p>
            <a:pPr>
              <a:lnSpc>
                <a:spcPts val="940"/>
              </a:lnSpc>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https://doi.org/10.52202/068431-0956</a:t>
            </a:r>
          </a:p>
          <a:p>
            <a:pPr>
              <a:lnSpc>
                <a:spcPts val="940"/>
              </a:lnSpc>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[2] Shen et al. Multi-LexSum v20220616, 公開testレコード。</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https://huggingface.co/datasets/allenai/multi_lexsum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実例1：押収後の審理をめぐる訴訟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実例から見る要約の粒度</a:t>
            </a:r>
          </a:p>
        </p:txBody>
      </p:sp>
      <p:sp>
        <p:nvSpPr>
          <p:cNvPr id="4" name="TextBox 3"/>
          <p:cNvSpPr txBox="1"/>
          <p:nvPr/>
        </p:nvSpPr>
        <p:spPr>
          <a:xfrm>
            <a:off x="548640" y="1316736"/>
            <a:ext cx="448056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入力：Short全文</a:t>
            </a:r>
          </a:p>
        </p:txBody>
      </p:sp>
      <p:sp>
        <p:nvSpPr>
          <p:cNvPr id="5" name="quote-frame"/>
          <p:cNvSpPr/>
          <p:nvPr/>
        </p:nvSpPr>
        <p:spPr>
          <a:xfrm>
            <a:off x="548640" y="1618488"/>
            <a:ext cx="4480560" cy="128765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1766"/>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In 2012, U.S. District Court of D.C. found that the policy of seizing and retaining private vehicles pending civil forfeiture proceedings without providing a post-deprivation hearing was unconstitutional.</a:t>
            </a:r>
          </a:p>
        </p:txBody>
      </p:sp>
      <p:sp>
        <p:nvSpPr>
          <p:cNvPr id="6" name="TextBox 5"/>
          <p:cNvSpPr txBox="1"/>
          <p:nvPr/>
        </p:nvSpPr>
        <p:spPr>
          <a:xfrm>
            <a:off x="548640" y="2997583"/>
            <a:ext cx="448056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参照要約：Tiny</a:t>
            </a:r>
          </a:p>
        </p:txBody>
      </p:sp>
      <p:sp>
        <p:nvSpPr>
          <p:cNvPr id="7" name="TextBox 6"/>
          <p:cNvSpPr txBox="1"/>
          <p:nvPr/>
        </p:nvSpPr>
        <p:spPr>
          <a:xfrm>
            <a:off x="548640" y="3189607"/>
            <a:ext cx="4480560" cy="1283716"/>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D.C. resident challenges policy of private vehicle seizure without providing prompt post-deprivation hearing (D.D.C.)</a:t>
            </a:r>
          </a:p>
        </p:txBody>
      </p:sp>
      <p:sp>
        <p:nvSpPr>
          <p:cNvPr id="8" name="TextBox 7"/>
          <p:cNvSpPr txBox="1"/>
          <p:nvPr/>
        </p:nvSpPr>
        <p:spPr>
          <a:xfrm>
            <a:off x="5212080" y="1316736"/>
            <a:ext cx="3383279"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入力：Short全文（訳）</a:t>
            </a:r>
          </a:p>
        </p:txBody>
      </p:sp>
      <p:sp>
        <p:nvSpPr>
          <p:cNvPr id="9" name="quote-frame"/>
          <p:cNvSpPr/>
          <p:nvPr/>
        </p:nvSpPr>
        <p:spPr>
          <a:xfrm>
            <a:off x="5212080" y="1618488"/>
            <a:ext cx="3383279" cy="126973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0433" bIns="127000">
            <a:noAutofit/>
          </a:bodyPr>
          <a:lstStyle/>
          <a:p>
            <a:pPr algn="l">
              <a:lnSpc>
                <a:spcPts val="1766"/>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2012年、コロンビア特別区の連邦地裁は、民事没収手続が終わるまで私有車を押収・留置しながら、剥奪後の審理を設けない方針を違憲と判断した。</a:t>
            </a:r>
          </a:p>
        </p:txBody>
      </p:sp>
      <p:sp>
        <p:nvSpPr>
          <p:cNvPr id="10" name="TextBox 9"/>
          <p:cNvSpPr txBox="1"/>
          <p:nvPr/>
        </p:nvSpPr>
        <p:spPr>
          <a:xfrm>
            <a:off x="5212080" y="2979664"/>
            <a:ext cx="3383279"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参照要約：Tiny（訳）</a:t>
            </a:r>
          </a:p>
        </p:txBody>
      </p:sp>
      <p:sp>
        <p:nvSpPr>
          <p:cNvPr id="11" name="TextBox 10"/>
          <p:cNvSpPr txBox="1"/>
          <p:nvPr/>
        </p:nvSpPr>
        <p:spPr>
          <a:xfrm>
            <a:off x="5212080" y="3171688"/>
            <a:ext cx="3383279" cy="1283716"/>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D.C.住民が、速やかな事後審理を設けずに私有車を押収する方針を争う（D.C.連邦地裁）。</a:t>
            </a:r>
          </a:p>
        </p:txBody>
      </p:sp>
      <p:sp>
        <p:nvSpPr>
          <p:cNvPr id="12"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Multi-LexSum v20220616, 公開testレコード。 CJ-DC-0002 / test / Short→Tiny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https://huggingface.co/datasets/allenai/multi_lexsum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結果まで残すか、争点の紹介に絞るか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実例1のShortは、車の押収後に審理を設けない方針を裁判所が違憲としたことまで説明する。Tinyは、住民がその方針を争う事件であることを紹介する。</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要約の短さだけでなく、誰が何を争い、どの結果を残すかを見る。参照文と語句が重なるだけで、必要な結末が伝わるとは限らない。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実例から見る要約の粒度</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Multi-LexSum v20220616, 公開testレコード。</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https://huggingface.co/datasets/allenai/multi_lexsum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実例2：年齢差別訴訟の和解</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実例から見る要約の粒度</a:t>
            </a:r>
          </a:p>
        </p:txBody>
      </p:sp>
      <p:sp>
        <p:nvSpPr>
          <p:cNvPr id="4" name="TextBox 3"/>
          <p:cNvSpPr txBox="1"/>
          <p:nvPr/>
        </p:nvSpPr>
        <p:spPr>
          <a:xfrm>
            <a:off x="548640" y="1316736"/>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入力：Short全文</a:t>
            </a:r>
          </a:p>
        </p:txBody>
      </p:sp>
      <p:sp>
        <p:nvSpPr>
          <p:cNvPr id="5" name="quote-frame"/>
          <p:cNvSpPr/>
          <p:nvPr/>
        </p:nvSpPr>
        <p:spPr>
          <a:xfrm>
            <a:off x="548640" y="1618488"/>
            <a:ext cx="8046720" cy="125382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5034" bIns="127000">
            <a:noAutofit/>
          </a:bodyPr>
          <a:lstStyle/>
          <a:p>
            <a:pPr algn="l">
              <a:lnSpc>
                <a:spcPts val="2165"/>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Plaintiffs sued Sprint, alleging ADEA violations pursuant to 29 U.S.C. § 621, the ADA, and 42 U.S.C. §12203. Class comprised just under 1,700 members. Eventually, parties reached $57 million settlement agreement.</a:t>
            </a:r>
          </a:p>
        </p:txBody>
      </p:sp>
      <p:sp>
        <p:nvSpPr>
          <p:cNvPr id="6" name="TextBox 5"/>
          <p:cNvSpPr txBox="1"/>
          <p:nvPr/>
        </p:nvSpPr>
        <p:spPr>
          <a:xfrm>
            <a:off x="548640" y="2963753"/>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参照要約：Tiny</a:t>
            </a:r>
          </a:p>
        </p:txBody>
      </p:sp>
      <p:sp>
        <p:nvSpPr>
          <p:cNvPr id="7" name="TextBox 6"/>
          <p:cNvSpPr txBox="1"/>
          <p:nvPr/>
        </p:nvSpPr>
        <p:spPr>
          <a:xfrm>
            <a:off x="548640" y="3155777"/>
            <a:ext cx="8046720" cy="686308"/>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Plaintiffs sue Sprint for age discrimination; 1,697-member class wins $57 million settlement (D. Kan.) </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Multi-LexSum v20220616, 公開testレコード。 EE-KS-0025 / test / Short→Tiny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https://huggingface.co/datasets/allenai/multi_lexsum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実例2：年齢差別訴訟の和解（訳）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実例から見る要約の粒度</a:t>
            </a:r>
          </a:p>
        </p:txBody>
      </p:sp>
      <p:sp>
        <p:nvSpPr>
          <p:cNvPr id="4" name="TextBox 3"/>
          <p:cNvSpPr txBox="1"/>
          <p:nvPr/>
        </p:nvSpPr>
        <p:spPr>
          <a:xfrm>
            <a:off x="548640" y="1316736"/>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入力：Short全文（訳）</a:t>
            </a:r>
          </a:p>
        </p:txBody>
      </p:sp>
      <p:sp>
        <p:nvSpPr>
          <p:cNvPr id="5" name="quote-frame"/>
          <p:cNvSpPr/>
          <p:nvPr/>
        </p:nvSpPr>
        <p:spPr>
          <a:xfrm>
            <a:off x="548640" y="1618488"/>
            <a:ext cx="8046720" cy="129412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966" bIns="127000">
            <a:noAutofit/>
          </a:bodyPr>
          <a:lstStyle/>
          <a:p>
            <a:pPr algn="l">
              <a:lnSpc>
                <a:spcPts val="22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原告らはSprintを訴え、米国法典第29編621条に基づく年齢差別禁止法、障害を持つアメリカ人法、および第42編12203条への違反を主張した。集団は1,700人弱。最終的に5,700万ドルの和解に達した。</a:t>
            </a:r>
          </a:p>
        </p:txBody>
      </p:sp>
      <p:sp>
        <p:nvSpPr>
          <p:cNvPr id="6" name="TextBox 5"/>
          <p:cNvSpPr txBox="1"/>
          <p:nvPr/>
        </p:nvSpPr>
        <p:spPr>
          <a:xfrm>
            <a:off x="548640" y="3004057"/>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参照要約：Tiny（訳）</a:t>
            </a:r>
          </a:p>
        </p:txBody>
      </p:sp>
      <p:sp>
        <p:nvSpPr>
          <p:cNvPr id="7" name="TextBox 6"/>
          <p:cNvSpPr txBox="1"/>
          <p:nvPr/>
        </p:nvSpPr>
        <p:spPr>
          <a:xfrm>
            <a:off x="548640" y="3196081"/>
            <a:ext cx="8046720" cy="686308"/>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原告らが年齢差別でSprintを訴え、1,697人の集団が5,700万ドルの和解を得る（カンザス連邦地裁）。</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Multi-LexSum v20220616, 公開testレコード。 EE-KS-0025 / test / Short→Tiny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https://huggingface.co/datasets/allenai/multi_lexsum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実例3：乗船券拒否をめぐる集団訴訟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実例から見る要約の粒度</a:t>
            </a:r>
          </a:p>
        </p:txBody>
      </p:sp>
      <p:sp>
        <p:nvSpPr>
          <p:cNvPr id="4" name="TextBox 3"/>
          <p:cNvSpPr txBox="1"/>
          <p:nvPr/>
        </p:nvSpPr>
        <p:spPr>
          <a:xfrm>
            <a:off x="548640" y="1316736"/>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入力：Short全文</a:t>
            </a:r>
          </a:p>
        </p:txBody>
      </p:sp>
      <p:sp>
        <p:nvSpPr>
          <p:cNvPr id="5" name="quote-frame"/>
          <p:cNvSpPr/>
          <p:nvPr/>
        </p:nvSpPr>
        <p:spPr>
          <a:xfrm>
            <a:off x="548640" y="1618488"/>
            <a:ext cx="8046720" cy="125382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5034" bIns="127000">
            <a:noAutofit/>
          </a:bodyPr>
          <a:lstStyle/>
          <a:p>
            <a:pPr algn="l">
              <a:lnSpc>
                <a:spcPts val="2165"/>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A class action lawsuit was filed in federal court against Carnival Corporation after two Cuban-born Americans were denied a ticket to Cuba. Plaintiffs voluntarily dismissed the case after Carnival changed its discriminatory policy.</a:t>
            </a:r>
          </a:p>
        </p:txBody>
      </p:sp>
      <p:sp>
        <p:nvSpPr>
          <p:cNvPr id="6" name="TextBox 5"/>
          <p:cNvSpPr txBox="1"/>
          <p:nvPr/>
        </p:nvSpPr>
        <p:spPr>
          <a:xfrm>
            <a:off x="548640" y="2963753"/>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参照要約：Tiny</a:t>
            </a:r>
          </a:p>
        </p:txBody>
      </p:sp>
      <p:sp>
        <p:nvSpPr>
          <p:cNvPr id="7" name="TextBox 6"/>
          <p:cNvSpPr txBox="1"/>
          <p:nvPr/>
        </p:nvSpPr>
        <p:spPr>
          <a:xfrm>
            <a:off x="548640" y="3155777"/>
            <a:ext cx="8046720" cy="686308"/>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A class action lawsuit was filed against a company after Cuban-born Americans were denied a ticket to Cuba.</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Multi-LexSum v20220616, 公開testレコード。 PA-FL-0001 / test / Short→Tiny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https://huggingface.co/datasets/allenai/multi_lexsum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実例3：乗船券拒否をめぐる集団訴訟（訳）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実例から見る要約の粒度</a:t>
            </a:r>
          </a:p>
        </p:txBody>
      </p:sp>
      <p:sp>
        <p:nvSpPr>
          <p:cNvPr id="4" name="TextBox 3"/>
          <p:cNvSpPr txBox="1"/>
          <p:nvPr/>
        </p:nvSpPr>
        <p:spPr>
          <a:xfrm>
            <a:off x="548640" y="1316736"/>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入力：Short全文（訳）</a:t>
            </a:r>
          </a:p>
        </p:txBody>
      </p:sp>
      <p:sp>
        <p:nvSpPr>
          <p:cNvPr id="5" name="quote-frame"/>
          <p:cNvSpPr/>
          <p:nvPr/>
        </p:nvSpPr>
        <p:spPr>
          <a:xfrm>
            <a:off x="548640" y="1618488"/>
            <a:ext cx="8046720" cy="129412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966" bIns="127000">
            <a:noAutofit/>
          </a:bodyPr>
          <a:lstStyle/>
          <a:p>
            <a:pPr algn="l">
              <a:lnSpc>
                <a:spcPts val="22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キューバ生まれの米国人2人がキューバ行きの乗船券を拒否されたため、Carnival社を相手に連邦裁判所へ集団訴訟が提起された。同社が差別的な方針を変更した後、原告らは自発的に訴えを取り下げた。</a:t>
            </a:r>
          </a:p>
        </p:txBody>
      </p:sp>
      <p:sp>
        <p:nvSpPr>
          <p:cNvPr id="6" name="TextBox 5"/>
          <p:cNvSpPr txBox="1"/>
          <p:nvPr/>
        </p:nvSpPr>
        <p:spPr>
          <a:xfrm>
            <a:off x="548640" y="3004057"/>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参照要約：Tiny（訳）</a:t>
            </a:r>
          </a:p>
        </p:txBody>
      </p:sp>
      <p:sp>
        <p:nvSpPr>
          <p:cNvPr id="7" name="TextBox 6"/>
          <p:cNvSpPr txBox="1"/>
          <p:nvPr/>
        </p:nvSpPr>
        <p:spPr>
          <a:xfrm>
            <a:off x="548640" y="3196081"/>
            <a:ext cx="8046720" cy="686308"/>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キューバ生まれの米国人がキューバ行きの乗船券を拒否された後、その会社を相手に集団訴訟が提起された。</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Multi-LexSum v20220616, 公開testレコード。 PA-FL-0001 / test / Short→Tiny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https://huggingface.co/datasets/allenai/multi_lexsum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参照文には、入力より細かな情報もある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実例2のShortは集団を「1,700人弱」と書くが、Tinyは1,697人と特定する。Tinyは、Shortの語句を機械的に縮めた文ではない。</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実例3のShortには方針変更と取下げまであるが、Tinyは乗船券の拒否と訴訟提起に絞る。参照文との一致と、事件の最新状況を正しく伝えることは分けて読む。</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実例から見る要約の粒度</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Multi-LexSum v20220616, 公開testレコード。</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https://huggingface.co/datasets/allenai/multi_lexsum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事件・文書・要約の作成方法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事件・文書・要約の作成方法</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法律の専門家が、事件を読み、書き、更新する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Civil Rights Litigation Clearinghouseは、訴訟の文書と情報を公開するプロジェクト。法律家と訓練を受けた法学生が、訴訟記録や主要文書を読んで事件の経過を整理する。</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新しい事件の要約には通常1〜4時間を要する。複雑な事件では、経験ある弁護士でも10時間以上かかることがある。</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事件が進むと要約も更新される。データは、この継続的な実務で書かれた要約から作られた。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事件・文書・要約の作成方法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(2022). Multi-LexSum: Real-world Summaries of Civil Rights Lawsuits at Multiple Granularities. NeurIPS.</a:t>
            </a:r>
          </a:p>
          <a:p>
            <a:pPr>
              <a:lnSpc>
                <a:spcPts val="940"/>
              </a:lnSpc>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https://doi.org/10.52202/068431-0956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一つの事件に、異なる役割の文書がある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事件・文書・要約の作成方法</a:t>
            </a:r>
          </a:p>
        </p:txBody>
      </p:sp>
      <p:graphicFrame>
        <p:nvGraphicFramePr>
          <p:cNvPr id="4" name="Table 3"/>
          <p:cNvGraphicFramePr>
            <a:graphicFrameLocks noGrp="1"/>
          </p:cNvGraphicFramePr>
          <p:nvPr/>
        </p:nvGraphicFramePr>
        <p:xfrm>
          <a:off x="548640" y="1508760"/>
          <a:ext cx="8046720" cy="2523744"/>
        </p:xfrm>
        <a:graphic>
          <a:graphicData uri="http://schemas.openxmlformats.org/drawingml/2006/table">
            <a:tbl>
              <a:tblPr firstRow="0" bandRow="0"/>
              <a:tblGrid>
                <a:gridCol w="2743200"/>
                <a:gridCol w="5303520"/>
              </a:tblGrid>
              <a:tr h="420624">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文書</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主な役割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Docket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提出文書と出来事を時系列で記録</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Complaint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当事者と訴えの根拠を示す訴状</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Motion / Brief</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申立てや主張を示す書面</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Opinion / Order</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裁判官の判断・命令</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Settlement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当事者間の和解内容</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(2022). Multi-LexSum: Real-world Summaries of Civil Rights Lawsuits at Multiple Granularities. NeurIPS.</a:t>
            </a:r>
          </a:p>
          <a:p>
            <a:pPr>
              <a:lnSpc>
                <a:spcPts val="940"/>
              </a:lnSpc>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https://doi.org/10.52202/068431-0956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主要文書の選択と、別の専門家の査読を挟む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担当者は多数の裁判文書から、主要な出来事を説明する文書を選ぶ。Longを先に書き、文書や長い要約を参照してShortとTinyを作る。</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事実のチェックリストには、原告・被告、裁判所、提訴日、法的根拠、求める救済、和解や命令、その後の動きなどがある。</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経験と追加訓練のある別の法律家・法学生が、事実の正しさと読みやすさを確認し、必要に応じて編集する。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事件・文書・要約の作成方法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(2022). Multi-LexSum: Real-world Summaries of Civil Rights Lawsuits at Multiple Granularities. NeurIPS.</a:t>
            </a:r>
          </a:p>
          <a:p>
            <a:pPr>
              <a:lnSpc>
                <a:spcPts val="940"/>
              </a:lnSpc>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https://doi.org/10.52202/068431-0956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事件数・文書数・要約数を区別する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事件・文書・要約の作成方法</a:t>
            </a:r>
          </a:p>
        </p:txBody>
      </p:sp>
      <p:graphicFrame>
        <p:nvGraphicFramePr>
          <p:cNvPr id="4" name="Table 3"/>
          <p:cNvGraphicFramePr>
            <a:graphicFrameLocks noGrp="1"/>
          </p:cNvGraphicFramePr>
          <p:nvPr/>
        </p:nvGraphicFramePr>
        <p:xfrm>
          <a:off x="548640" y="1508760"/>
          <a:ext cx="8046720" cy="2523744"/>
        </p:xfrm>
        <a:graphic>
          <a:graphicData uri="http://schemas.openxmlformats.org/drawingml/2006/table">
            <a:tbl>
              <a:tblPr firstRow="0" bandRow="0"/>
              <a:tblGrid>
                <a:gridCol w="4663440"/>
                <a:gridCol w="3383280"/>
              </a:tblGrid>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対象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v20220616の件数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事件</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4,539</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原文書のID</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40,119</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Long</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4,539</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Short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3,138</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Tiny</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1,603</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233672"/>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v20220616全分割の実集計。要約は計9,280件。</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Multi-LexSum v20220616, 公開testレコード。</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https://huggingface.co/datasets/allenai/multi_lexsum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同じ事件をまたがない単位で分割する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事件・文書・要約の作成方法</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2743200"/>
                <a:gridCol w="1737360"/>
                <a:gridCol w="1737360"/>
                <a:gridCol w="182880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分割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事件</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Short</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Tiny</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train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3,177</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2,210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1,130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validation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454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312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161</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test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908</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616</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312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事件の70% / 10% / 20%。Longは各分割の全事件にある。validationは配布のdev.json。</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Multi-LexSum v20220616, 公開testレコード。</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https://huggingface.co/datasets/allenai/multi_lexsum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長い入力と、集められた事件の偏りがある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原文書群は1事件あたり平均約75,500語。Longの平均は約650語、Shortは約130語、Tinyは約25語である。これらは公表されたspaCyによる集計値。</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長い訴訟の中から、当事者・主張・決定・結果をつなげる必要がある。単に各文書の冒頭を抜き出すだけでは、後の和解や命令を落としやすい。</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オンラインで訴訟記録を入手できる連邦事件が対象。原告が勝つ事件が集まりやすく、あらゆる裁判の分布を表すわけではない。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事件・文書・要約の作成方法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(2022). Multi-LexSum: Real-world Summaries of Civil Rights Lawsuits at Multiple Granularities. NeurIPS.</a:t>
            </a:r>
          </a:p>
          <a:p>
            <a:pPr>
              <a:lnSpc>
                <a:spcPts val="940"/>
              </a:lnSpc>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https://doi.org/10.52202/068431-0956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採点と2022年の到達水準</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採点と2022年の到達水準</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表現の重なりと、事件説明の有用性を測る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ROUGE-1は単語、ROUGE-2は連続する2語、ROUGE-Lは順序を保つ共通部分を比べる。公表結果は、生成文と参照文のF1をテスト全件で平均した値。</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BERTScoreは文脈を反映した語の表現を対応させ、意味的な重なりを測る。評価にはDeBERTaを使い、こちらもF1を報告した。</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語句や意味の重なりだけでは、提訴日・裁判所・結末の誤りや、作業に役立つかまでは分からない。人による評価を併せて見る。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採点と2022年の到達水準</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(2022). Multi-LexSum: Real-world Summaries of Civil Rights Lawsuits at Multiple Granularities. NeurIPS.</a:t>
            </a:r>
          </a:p>
          <a:p>
            <a:pPr>
              <a:lnSpc>
                <a:spcPts val="940"/>
              </a:lnSpc>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https://doi.org/10.52202/068431-0956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原文書群からの生成は、粒度で難しさが変わる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採点と2022年の到達水準</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3931920"/>
                <a:gridCol w="1371600"/>
                <a:gridCol w="1371600"/>
                <a:gridCol w="1371600"/>
              </a:tblGrid>
              <a:tr h="420624">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モデル（発表年）</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D→L</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D→S</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D→T</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BART (2020)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23.78</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19.98</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8.19</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LED-16,384 (2020)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25.17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22.08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9.84</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PRIMERA (2022)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27.32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21.04</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9.26</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92424"/>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2022年のROUGE-2 F1（×100）。各課題で利用できる参照要約を持つtest事件を採点。</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(2022). Multi-LexSum: Real-world Summaries of Civil Rights Lawsuits at Multiple Granularities. NeurIPS.</a:t>
            </a:r>
          </a:p>
          <a:p>
            <a:pPr>
              <a:lnSpc>
                <a:spcPts val="940"/>
              </a:lnSpc>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https://doi.org/10.52202/068431-0956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要約を入力にすると、情報選択の負担が減る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採点と2022年の到達水準</a:t>
            </a:r>
          </a:p>
        </p:txBody>
      </p:sp>
      <p:graphicFrame>
        <p:nvGraphicFramePr>
          <p:cNvPr id="4" name="Table 3"/>
          <p:cNvGraphicFramePr>
            <a:graphicFrameLocks noGrp="1"/>
          </p:cNvGraphicFramePr>
          <p:nvPr/>
        </p:nvGraphicFramePr>
        <p:xfrm>
          <a:off x="548640" y="1508760"/>
          <a:ext cx="8046720" cy="1261872"/>
        </p:xfrm>
        <a:graphic>
          <a:graphicData uri="http://schemas.openxmlformats.org/drawingml/2006/table">
            <a:tbl>
              <a:tblPr firstRow="0" bandRow="0"/>
              <a:tblGrid>
                <a:gridCol w="3931920"/>
                <a:gridCol w="1371600"/>
                <a:gridCol w="1371600"/>
                <a:gridCol w="1371600"/>
              </a:tblGrid>
              <a:tr h="420624">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モデル（発表年）</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L→S</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L→T</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S→T</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PEGASUS (2020)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35.62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14.44</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16.15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BART (2020)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37.02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13.05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15.20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2971800"/>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同じ2022年評価のROUGE-2 F1（×100）。人が書いた要約を入力とする。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(2022). Multi-LexSum: Real-world Summaries of Civil Rights Lawsuits at Multiple Granularities. NeurIPS.</a:t>
            </a:r>
          </a:p>
          <a:p>
            <a:pPr>
              <a:lnSpc>
                <a:spcPts val="940"/>
              </a:lnSpc>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https://doi.org/10.52202/068431-0956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文脈長・学習・生成条件を結果と対応させる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BARTとPEGASUSの入力上限は1,024トークン。LEDは4,096と16,384、PRIMERAは4,096トークンを扱い、長い文書群の一部を入力にする。</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各課題へ追加学習し、本文の基本条件は6エポック・学習率5×10⁻⁵。長文モデルの細かな設定は別途調整された。生成時はビーム数5で、4-gram以上の反復を抑える。</a:t>
            </a:r>
          </a:p>
          <a:p>
            <a:pPr marL="457200" indent="-355600">
              <a:lnSpc>
                <a:spcPts val="2320"/>
              </a:lnSpc>
              <a:spcAft>
                <a:spcPts val="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原文書からの生成と、人が書いた要約の圧縮は入力条件が違う。同じ列の得点として混ぜず、用途に対応させて比較する。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採点と2022年の到達水準</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(2022). Multi-LexSum: Real-world Summaries of Civil Rights Lawsuits at Multiple Granularities. NeurIPS.</a:t>
            </a:r>
          </a:p>
          <a:p>
            <a:pPr>
              <a:lnSpc>
                <a:spcPts val="940"/>
              </a:lnSpc>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https://doi.org/10.52202/068431-0956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自動得点が高くても、専門家の修正は多い</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人手評価は、新しい40事件のD→Longが対象。2人の訓練済み執筆者が、関連箇所を選び、BARTが段落ごとに生成した文を編集した。作業は合計180時間。</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0＝使用不能、1＝半分超の修正が必要、2＝半分未満の修正が必要、3＝修正不要、という尺度で、平均は0.43だった。</a:t>
            </a:r>
          </a:p>
          <a:p>
            <a:pPr marL="457200" indent="-355600">
              <a:lnSpc>
                <a:spcPts val="2320"/>
              </a:lnSpc>
              <a:spcAft>
                <a:spcPts val="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生成文と編集後の文のROUGE-2は30.0だったが、1段落あたり平均87トークンの編集があり、元の段落長の76%に相当した。誤った重要事項と情報の欠落が問題だった。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採点と2022年の到達水準</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(2022). Multi-LexSum: Real-world Summaries of Civil Rights Lawsuits at Multiple Granularities. NeurIPS.</a:t>
            </a:r>
          </a:p>
          <a:p>
            <a:pPr>
              <a:lnSpc>
                <a:spcPts val="940"/>
              </a:lnSpc>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https://doi.org/10.52202/068431-0956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HELMの設定と現在の配布</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HELMの設定と現在の配布</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HELMは、LongをShortへ要約する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HELM v0.4.0は、MultiLexSumを共通のLegalSummarizationScenarioで受け付ける。v20220616を読み、入力をsummary/long、参照をsummary/shortにする。</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Shortが空の事件は除く。改行を空白に変えて空白区切りで整形し、doc_max_lengthを指定すれば入力をその語数で切る。学習用の長さ範囲による抽出も設定できる。</a:t>
            </a:r>
          </a:p>
          <a:p>
            <a:pPr marL="457200" indent="-355600">
              <a:lnSpc>
                <a:spcPts val="2320"/>
              </a:lnSpc>
              <a:spcAft>
                <a:spcPts val="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Classic v0.4.0の公開run_specsには、この課題の実行が0件だった。ここで示したモデル値はMulti-LexSumの2022年の実験結果である。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HELMの設定と現在の配布</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LegalSummarizationScenario, HELM v0.4.0.</a:t>
            </a:r>
          </a:p>
          <a:p>
            <a:pPr>
              <a:lnSpc>
                <a:spcPts val="940"/>
              </a:lnSpc>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https://github.com/stanford-crfm/helm/blob/v0.4.0/src/helm/benchmark/scenarios/legal_summarization_scenario.py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2023年版は、事件と原文書のメタデータを加えた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v20220616が初期公開版。v20230518は、事件名・提訴日・事件URLなどの事件情報と、文書種別・題名・OCRかどうか・文書URLなどを追加したv1.1である。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公式サイトからHugging Faceへ進み、版を指定して取得できる。公式GitHubはローダーと、粒度別に追加学習したBART・LED・PRIMERAなどのモデルを案内している。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2026年10月18日に公式配布と実装を確認した。実例と集計はv20220616、現在の配布の説明はv1.1までを対象とする。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HELMの設定と現在の配布</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Multi-LexSum. 公式データカード・v1.1配布。</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https://huggingface.co/datasets/allenai/multi_lexsum</a:t>
            </a:r>
          </a:p>
          <a:p>
            <a:pPr>
              <a:lnSpc>
                <a:spcPts val="940"/>
              </a:lnSpc>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[2] Multi-LexSum. 公式配布・ローダー。</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https://github.com/multilexsum/dataset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要約・データベース・コードで利用条件が異なる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データセットの配布はODC-By。事件要約とメタデータにはCC BY-NC 4.0が適用され、原文書はパブリックドメインと案内されている。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商用利用者向けの別ライセンスはClearinghouseへ連絡する方式で、要約の再掲載に条件がある。データカードのODC-Byだけで要約本文の条件を代替しない。</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ダウンロードと読み込みのコードはApache-2.0。利用する本文・メタデータ・コードを区別して、対応する条件と帰属を確認する。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HELMの設定と現在の配布</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Multi-LexSum. 公式データカード・v1.1配布。</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https://huggingface.co/datasets/allenai/multi_lexsum</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詳しさを変えたとき、何を残すかを評価する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Multi-LexSumは、専門家の読解・執筆・査読を経た、民事の人権訴訟の要約を三つの粒度で提供する。複数文書の統合と、要約の圧縮を扱える。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4,539事件と9,280要約は異なる単位である。欠ける粒度、長い原文書、事件の偏りを踏まえ、入力と参照の組を選ぶ。</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参照との重なりに加え、当事者・経過・結末の正しさと、人の作業に役立つかを評価する。HELMのLong→Shortも、この全体の一つの設定である。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HELMの設定と現在の配布</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(2022). Multi-LexSum: Real-world Summaries of Civil Rights Lawsuits at Multiple Granularities. NeurIPS.</a:t>
            </a:r>
          </a:p>
          <a:p>
            <a:pPr>
              <a:lnSpc>
                <a:spcPts val="940"/>
              </a:lnSpc>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https://doi.org/10.52202/068431-0956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8483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追加の実例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評価・分割・配布の詳細</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研究と参考文献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追加の実例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実例4：抗議参加者と警察活動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16736"/>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入力：Short全文</a:t>
            </a:r>
          </a:p>
        </p:txBody>
      </p:sp>
      <p:sp>
        <p:nvSpPr>
          <p:cNvPr id="5" name="quote-frame"/>
          <p:cNvSpPr/>
          <p:nvPr/>
        </p:nvSpPr>
        <p:spPr>
          <a:xfrm>
            <a:off x="548640" y="1618488"/>
            <a:ext cx="8046720" cy="117389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5034" bIns="127000">
            <a:noAutofit/>
          </a:bodyPr>
          <a:lstStyle/>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Six named plaintiffs filed a class-action lawsuit against the city of Pittsburgh and various elected officials and police officials alleging that actions taken against non-violent protestors constituted violations of their First and Fourth Amendment rights. </a:t>
            </a:r>
          </a:p>
        </p:txBody>
      </p:sp>
      <p:sp>
        <p:nvSpPr>
          <p:cNvPr id="6" name="TextBox 5"/>
          <p:cNvSpPr txBox="1"/>
          <p:nvPr/>
        </p:nvSpPr>
        <p:spPr>
          <a:xfrm>
            <a:off x="548640" y="2883825"/>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参照要約：Tiny</a:t>
            </a:r>
          </a:p>
        </p:txBody>
      </p:sp>
      <p:sp>
        <p:nvSpPr>
          <p:cNvPr id="7" name="TextBox 6"/>
          <p:cNvSpPr txBox="1"/>
          <p:nvPr/>
        </p:nvSpPr>
        <p:spPr>
          <a:xfrm>
            <a:off x="548640" y="3075849"/>
            <a:ext cx="8046720" cy="1283716"/>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Added to the Clearinghouse: Lawsuit filed by @AbolitionistLC in 2020 alleging that the Pittsburgh police violated non-violent protestors First and Fourth Amendment rights.</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Multi-LexSum v20220616, 公開testレコード。 PN-PA-0023 / test / Short→Tiny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https://huggingface.co/datasets/allenai/multi_lexsum</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実例4：抗議参加者と警察活動（訳）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16736"/>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入力：Short全文（訳）</a:t>
            </a:r>
          </a:p>
        </p:txBody>
      </p:sp>
      <p:sp>
        <p:nvSpPr>
          <p:cNvPr id="5" name="quote-frame"/>
          <p:cNvSpPr/>
          <p:nvPr/>
        </p:nvSpPr>
        <p:spPr>
          <a:xfrm>
            <a:off x="548640" y="1618488"/>
            <a:ext cx="8046720" cy="101443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966" bIns="127000">
            <a:noAutofit/>
          </a:bodyPr>
          <a:lstStyle/>
          <a:p>
            <a:pPr algn="l">
              <a:lnSpc>
                <a:spcPts val="22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6人の原告がピッツバーグ市、複数の公職者・警察幹部を相手に集団訴訟を提起した。非暴力の抗議参加者への行為が、憲法修正第1条・第4条の権利を侵害したと主張した。</a:t>
            </a:r>
          </a:p>
        </p:txBody>
      </p:sp>
      <p:sp>
        <p:nvSpPr>
          <p:cNvPr id="6" name="TextBox 5"/>
          <p:cNvSpPr txBox="1"/>
          <p:nvPr/>
        </p:nvSpPr>
        <p:spPr>
          <a:xfrm>
            <a:off x="548640" y="2724361"/>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参照要約：Tiny（訳）</a:t>
            </a:r>
          </a:p>
        </p:txBody>
      </p:sp>
      <p:sp>
        <p:nvSpPr>
          <p:cNvPr id="7" name="TextBox 6"/>
          <p:cNvSpPr txBox="1"/>
          <p:nvPr/>
        </p:nvSpPr>
        <p:spPr>
          <a:xfrm>
            <a:off x="548640" y="2916385"/>
            <a:ext cx="8046720" cy="985012"/>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Clearinghouseに追加：@AbolitionistLCが2020年に提起し、ピッツバーグ警察による非暴力の抗議参加者の修正第1条・第4条の権利侵害を訴えた事件。</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Multi-LexSum v20220616, 公開testレコード。 PN-PA-0023 / test / Short→Tiny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https://huggingface.co/datasets/allenai/multi_lexsum</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実例5：国境での民兵協力記録</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16736"/>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入力：Short全文</a:t>
            </a:r>
          </a:p>
        </p:txBody>
      </p:sp>
      <p:sp>
        <p:nvSpPr>
          <p:cNvPr id="5" name="quote-frame"/>
          <p:cNvSpPr/>
          <p:nvPr/>
        </p:nvSpPr>
        <p:spPr>
          <a:xfrm>
            <a:off x="548640" y="1618488"/>
            <a:ext cx="8046720" cy="117389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5034" bIns="127000">
            <a:noAutofit/>
          </a:bodyPr>
          <a:lstStyle/>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On Oct. 24, 2017, the Protect Democracy Project sued DHS and CBP in D.D.C. under FOIA. Plaintiff sought disclosure of agency records on the extent to which defendants cooperate with armed private militia groups along the U.S.-Mexico border. This case is ongoing.</a:t>
            </a:r>
          </a:p>
        </p:txBody>
      </p:sp>
      <p:sp>
        <p:nvSpPr>
          <p:cNvPr id="6" name="TextBox 5"/>
          <p:cNvSpPr txBox="1"/>
          <p:nvPr/>
        </p:nvSpPr>
        <p:spPr>
          <a:xfrm>
            <a:off x="548640" y="2883825"/>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参照要約：Tiny</a:t>
            </a:r>
          </a:p>
        </p:txBody>
      </p:sp>
      <p:sp>
        <p:nvSpPr>
          <p:cNvPr id="7" name="TextBox 6"/>
          <p:cNvSpPr txBox="1"/>
          <p:nvPr/>
        </p:nvSpPr>
        <p:spPr>
          <a:xfrm>
            <a:off x="548640" y="3075849"/>
            <a:ext cx="8046720" cy="1283716"/>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This is a case brought by the Protect Democracy Project, seeking disclosure of records on the extent to which defendants cooperate with armed private militia groups along the U.S.-Mexico border</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Multi-LexSum v20220616, 公開testレコード。 IM-DC-0035 / test / Short→Tiny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https://huggingface.co/datasets/allenai/multi_lexsum</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実例5：国境での民兵協力記録（訳）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16736"/>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入力：Short全文（訳）</a:t>
            </a:r>
          </a:p>
        </p:txBody>
      </p:sp>
      <p:sp>
        <p:nvSpPr>
          <p:cNvPr id="5" name="quote-frame"/>
          <p:cNvSpPr/>
          <p:nvPr/>
        </p:nvSpPr>
        <p:spPr>
          <a:xfrm>
            <a:off x="548640" y="1618488"/>
            <a:ext cx="8046720" cy="130259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966" bIns="127000">
            <a:noAutofit/>
          </a:bodyPr>
          <a:lstStyle/>
          <a:p>
            <a:pPr algn="l">
              <a:lnSpc>
                <a:spcPts val="22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2017年10月24日、Protect Democracy Projectは、情報自由法に基づき国土安全保障省と税関・国境警備局をD.C.連邦地裁へ訴えた。米墨国境で武装した民兵組織と両機関がどの程度協力しているかを示す記録の公開を求めた。事件は係属中。</a:t>
            </a:r>
          </a:p>
        </p:txBody>
      </p:sp>
      <p:sp>
        <p:nvSpPr>
          <p:cNvPr id="6" name="TextBox 5"/>
          <p:cNvSpPr txBox="1"/>
          <p:nvPr/>
        </p:nvSpPr>
        <p:spPr>
          <a:xfrm>
            <a:off x="548640" y="3012523"/>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参照要約：Tiny（訳）</a:t>
            </a:r>
          </a:p>
        </p:txBody>
      </p:sp>
      <p:sp>
        <p:nvSpPr>
          <p:cNvPr id="7" name="TextBox 6"/>
          <p:cNvSpPr txBox="1"/>
          <p:nvPr/>
        </p:nvSpPr>
        <p:spPr>
          <a:xfrm>
            <a:off x="548640" y="3204547"/>
            <a:ext cx="8046720" cy="686308"/>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Protect Democracy Projectが、米墨国境の武装民兵組織と被告機関の協力の程度を示す記録の公開を求めた事件。</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Multi-LexSum v20220616, 公開testレコード。 IM-DC-0035 / test / Short→Tiny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https://huggingface.co/datasets/allenai/multi_lexsum</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実例6：抗議活動と過剰な実力行使</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16736"/>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入力：Short全文</a:t>
            </a:r>
          </a:p>
        </p:txBody>
      </p:sp>
      <p:sp>
        <p:nvSpPr>
          <p:cNvPr id="5" name="quote-frame"/>
          <p:cNvSpPr/>
          <p:nvPr/>
        </p:nvSpPr>
        <p:spPr>
          <a:xfrm>
            <a:off x="548640" y="1618488"/>
            <a:ext cx="8046720" cy="103801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1709"/>
              </a:lnSpc>
              <a:spcBef>
                <a:spcPts val="0"/>
              </a:spcBef>
              <a:spcAft>
                <a:spcPts val="0"/>
              </a:spcAft>
              <a:buNone/>
              <a:defRPr sz="1250" b="0">
                <a:solidFill>
                  <a:srgbClr val="303437"/>
                </a:solidFill>
                <a:latin typeface="Noto Sans"/>
              </a:defRPr>
            </a:pPr>
            <a:r>
              <a:rPr sz="1500" b="0" lang="ja-JP" altLang="en-US">
                <a:solidFill>
                  <a:srgbClr val="303437"/>
                </a:solidFill>
                <a:latin typeface="Noto Sans"/>
                <a:ea typeface="Noto Sans CJK JP"/>
                <a:cs typeface="Noto Sans"/>
              </a:rPr>
              <a:t>Individual plaintiffs sued the city of Columbus, Ohio and multiple police officers after protesting the murder of George Floyd. The plaintiffs alleged that the defendants violated their First and Fourth Amendment rights by using excessive force to infringe upon their freedom to assemble. </a:t>
            </a:r>
          </a:p>
        </p:txBody>
      </p:sp>
      <p:sp>
        <p:nvSpPr>
          <p:cNvPr id="6" name="TextBox 5"/>
          <p:cNvSpPr txBox="1"/>
          <p:nvPr/>
        </p:nvSpPr>
        <p:spPr>
          <a:xfrm>
            <a:off x="548640" y="2747944"/>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参照要約：Tiny</a:t>
            </a:r>
          </a:p>
        </p:txBody>
      </p:sp>
      <p:sp>
        <p:nvSpPr>
          <p:cNvPr id="7" name="TextBox 6"/>
          <p:cNvSpPr txBox="1"/>
          <p:nvPr/>
        </p:nvSpPr>
        <p:spPr>
          <a:xfrm>
            <a:off x="548640" y="2939968"/>
            <a:ext cx="8046720" cy="1582420"/>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In E.D. Ohio case, plaintiffs secure preliminary injunction to prevent police from using excessive force against non-violent protestors. In granting the injunction, Judge Marbley recounted how "formal policing took its earliest form in slave patrols."</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Multi-LexSum v20220616, 公開testレコード。 PN-OH-0010 / test / Short→Tiny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https://huggingface.co/datasets/allenai/multi_lexsum</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実例6：抗議活動と過剰な実力行使（訳）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16736"/>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入力：Short全文（訳）</a:t>
            </a:r>
          </a:p>
        </p:txBody>
      </p:sp>
      <p:sp>
        <p:nvSpPr>
          <p:cNvPr id="5" name="quote-frame"/>
          <p:cNvSpPr/>
          <p:nvPr/>
        </p:nvSpPr>
        <p:spPr>
          <a:xfrm>
            <a:off x="548640" y="1618488"/>
            <a:ext cx="8046720" cy="101443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966" bIns="127000">
            <a:noAutofit/>
          </a:bodyPr>
          <a:lstStyle/>
          <a:p>
            <a:pPr algn="l">
              <a:lnSpc>
                <a:spcPts val="22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ジョージ・フロイドの殺害に抗議した原告らが、オハイオ州コロンバス市と複数の警察官を訴えた。集会の自由を侵害する過剰な実力行使が、修正第1条・第4条の権利に違反したと主張した。</a:t>
            </a:r>
          </a:p>
        </p:txBody>
      </p:sp>
      <p:sp>
        <p:nvSpPr>
          <p:cNvPr id="6" name="TextBox 5"/>
          <p:cNvSpPr txBox="1"/>
          <p:nvPr/>
        </p:nvSpPr>
        <p:spPr>
          <a:xfrm>
            <a:off x="548640" y="2724361"/>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参照要約：Tiny（訳）</a:t>
            </a:r>
          </a:p>
        </p:txBody>
      </p:sp>
      <p:sp>
        <p:nvSpPr>
          <p:cNvPr id="7" name="TextBox 6"/>
          <p:cNvSpPr txBox="1"/>
          <p:nvPr/>
        </p:nvSpPr>
        <p:spPr>
          <a:xfrm>
            <a:off x="548640" y="2916385"/>
            <a:ext cx="8046720" cy="985012"/>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E.D. Ohioの事件で、非暴力の抗議参加者への過剰な実力行使を禁じる仮差止めを原告らが得た。Marbley判事は命令に際し「制度としての警察活動は、奴隷巡察隊という形で最初に現れた」と述べた。</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Multi-LexSum v20220616, 公開testレコード。 PN-OH-0010 / test / Short→Tiny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https://huggingface.co/datasets/allenai/multi_lexsum</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実例7：差別申立て後の報復的解雇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16736"/>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入力：Short全文</a:t>
            </a:r>
          </a:p>
        </p:txBody>
      </p:sp>
      <p:sp>
        <p:nvSpPr>
          <p:cNvPr id="5" name="quote-frame"/>
          <p:cNvSpPr/>
          <p:nvPr/>
        </p:nvSpPr>
        <p:spPr>
          <a:xfrm>
            <a:off x="548640" y="1618488"/>
            <a:ext cx="8046720" cy="144685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5034"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In December 2013, the EEOC brought this suit against Bright Petroleum for scrutinizing, disciplining and discharging against its female employee who filed a charge of sex discrimination with the EEOC. The EEOC and Bright Petroleum entered a three-year consent decree on December 12, 2014. </a:t>
            </a:r>
          </a:p>
        </p:txBody>
      </p:sp>
      <p:sp>
        <p:nvSpPr>
          <p:cNvPr id="6" name="TextBox 5"/>
          <p:cNvSpPr txBox="1"/>
          <p:nvPr/>
        </p:nvSpPr>
        <p:spPr>
          <a:xfrm>
            <a:off x="548640" y="3156788"/>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参照要約：Tiny</a:t>
            </a:r>
          </a:p>
        </p:txBody>
      </p:sp>
      <p:sp>
        <p:nvSpPr>
          <p:cNvPr id="7" name="TextBox 6"/>
          <p:cNvSpPr txBox="1"/>
          <p:nvPr/>
        </p:nvSpPr>
        <p:spPr>
          <a:xfrm>
            <a:off x="548640" y="3348812"/>
            <a:ext cx="8046720" cy="985012"/>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EEOC brought claim of retaliatory discharge against Bright Petroleum in December 2013. Parties reached a consent decree in 2014 (S.D. Ind.)</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Multi-LexSum v20220616, 公開testレコード。 EE-IN-0131 / test / Short→Tiny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https://huggingface.co/datasets/allenai/multi_lexsum</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実例7：差別申立て後の報復的解雇（訳）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16736"/>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入力：Short全文（訳）</a:t>
            </a:r>
          </a:p>
        </p:txBody>
      </p:sp>
      <p:sp>
        <p:nvSpPr>
          <p:cNvPr id="5" name="quote-frame"/>
          <p:cNvSpPr/>
          <p:nvPr/>
        </p:nvSpPr>
        <p:spPr>
          <a:xfrm>
            <a:off x="548640" y="1618488"/>
            <a:ext cx="8046720" cy="129412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966" bIns="127000">
            <a:noAutofit/>
          </a:bodyPr>
          <a:lstStyle/>
          <a:p>
            <a:pPr algn="l">
              <a:lnSpc>
                <a:spcPts val="22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2013年12月、雇用機会均等委員会は、性差別を同委員会へ申し立てた女性従業員を監視・懲戒・解雇したとしてBright Petroleumを訴えた。2014年12月12日に、両者の間で3年間の同意判決が成立した。</a:t>
            </a:r>
          </a:p>
        </p:txBody>
      </p:sp>
      <p:sp>
        <p:nvSpPr>
          <p:cNvPr id="6" name="TextBox 5"/>
          <p:cNvSpPr txBox="1"/>
          <p:nvPr/>
        </p:nvSpPr>
        <p:spPr>
          <a:xfrm>
            <a:off x="548640" y="3004057"/>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参照要約：Tiny（訳）</a:t>
            </a:r>
          </a:p>
        </p:txBody>
      </p:sp>
      <p:sp>
        <p:nvSpPr>
          <p:cNvPr id="7" name="TextBox 6"/>
          <p:cNvSpPr txBox="1"/>
          <p:nvPr/>
        </p:nvSpPr>
        <p:spPr>
          <a:xfrm>
            <a:off x="548640" y="3196081"/>
            <a:ext cx="8046720" cy="985012"/>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雇用機会均等委員会が2013年12月にBright Petroleumを報復的解雇で訴え、2014年に同意判決へ到達した（インディアナ南部地区）。</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Multi-LexSum v20220616, 公開testレコード。 EE-IN-0131 / test / Short→Tiny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https://huggingface.co/datasets/allenai/multi_lexsum</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実例8：大統領令の実施記録</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16736"/>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入力：Short全文</a:t>
            </a:r>
          </a:p>
        </p:txBody>
      </p:sp>
      <p:sp>
        <p:nvSpPr>
          <p:cNvPr id="5" name="quote-frame"/>
          <p:cNvSpPr/>
          <p:nvPr/>
        </p:nvSpPr>
        <p:spPr>
          <a:xfrm>
            <a:off x="548640" y="1618488"/>
            <a:ext cx="8046720" cy="103375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1709"/>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On Mar. 3, 2017, plaintiffs The James Madison Project and the news website The Daily Beast's executive editor sued various federal agencies under FOIA, seeking disclosure of agency records related to the implementation of President Trump's Jan. 27, 2017 Executive Order. Production is ongoing as of June 6.</a:t>
            </a:r>
          </a:p>
        </p:txBody>
      </p:sp>
      <p:sp>
        <p:nvSpPr>
          <p:cNvPr id="6" name="TextBox 5"/>
          <p:cNvSpPr txBox="1"/>
          <p:nvPr/>
        </p:nvSpPr>
        <p:spPr>
          <a:xfrm>
            <a:off x="548640" y="2743688"/>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参照要約：Tiny</a:t>
            </a:r>
          </a:p>
        </p:txBody>
      </p:sp>
      <p:sp>
        <p:nvSpPr>
          <p:cNvPr id="7" name="TextBox 6"/>
          <p:cNvSpPr txBox="1"/>
          <p:nvPr/>
        </p:nvSpPr>
        <p:spPr>
          <a:xfrm>
            <a:off x="548640" y="2935712"/>
            <a:ext cx="8046720" cy="1283716"/>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In this case, the James Madison Project and the news website The Daily Beast sought disclosure of agency records related to the implementation of President Trump's Jan. 27, 2017 Executive Order</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Multi-LexSum v20220616, 公開testレコード。 NS-DC-0106 / test / Short→Tiny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https://huggingface.co/datasets/allenai/multi_lexsum</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実例8：大統領令の実施記録（訳）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16736"/>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入力：Short全文（訳）</a:t>
            </a:r>
          </a:p>
        </p:txBody>
      </p:sp>
      <p:sp>
        <p:nvSpPr>
          <p:cNvPr id="5" name="quote-frame"/>
          <p:cNvSpPr/>
          <p:nvPr/>
        </p:nvSpPr>
        <p:spPr>
          <a:xfrm>
            <a:off x="548640" y="1618488"/>
            <a:ext cx="8046720" cy="12953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966" bIns="127000">
            <a:noAutofit/>
          </a:bodyPr>
          <a:lstStyle/>
          <a:p>
            <a:pPr algn="l">
              <a:lnSpc>
                <a:spcPts val="22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2017年3月3日、James Madison ProjectとニュースサイトDaily Beastの編集責任者が、情報自由法に基づき複数の連邦機関を訴えた。トランプ大統領の同年1月27日の大統領令の実施に関する記録の公開を求めた。6月6日時点で資料の提出は継続中。</a:t>
            </a:r>
          </a:p>
        </p:txBody>
      </p:sp>
      <p:sp>
        <p:nvSpPr>
          <p:cNvPr id="6" name="TextBox 5"/>
          <p:cNvSpPr txBox="1"/>
          <p:nvPr/>
        </p:nvSpPr>
        <p:spPr>
          <a:xfrm>
            <a:off x="548640" y="3005328"/>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参照要約：Tiny（訳）</a:t>
            </a:r>
          </a:p>
        </p:txBody>
      </p:sp>
      <p:sp>
        <p:nvSpPr>
          <p:cNvPr id="7" name="TextBox 6"/>
          <p:cNvSpPr txBox="1"/>
          <p:nvPr/>
        </p:nvSpPr>
        <p:spPr>
          <a:xfrm>
            <a:off x="548640" y="3197352"/>
            <a:ext cx="8046720" cy="985012"/>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James Madison ProjectとDaily Beastが、トランプ大統領の2017年1月27日の大統領令の実施に関する記録の公開を求めた事件。</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Multi-LexSum v20220616, 公開testレコード。 NS-DC-0106 / test / Short→Tiny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https://huggingface.co/datasets/allenai/multi_lexsum</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実例9：空港での入国禁止の実施</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16736"/>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入力：Short全文</a:t>
            </a:r>
          </a:p>
        </p:txBody>
      </p:sp>
      <p:sp>
        <p:nvSpPr>
          <p:cNvPr id="5" name="quote-frame"/>
          <p:cNvSpPr/>
          <p:nvPr/>
        </p:nvSpPr>
        <p:spPr>
          <a:xfrm>
            <a:off x="548640" y="1618488"/>
            <a:ext cx="8046720" cy="103375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1709"/>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On Apr. 12, 2017, the ACLUs of Virginia, Maryland, Pennsylvania, and Delaware sued DHS under FOIA, for information on the implementation of the travel ban Executive Orders at regional airports. Defendants were unable to consolidate all nationwide ACLU cases in multidistrict litigation, and this case is proceeding here.</a:t>
            </a:r>
          </a:p>
        </p:txBody>
      </p:sp>
      <p:sp>
        <p:nvSpPr>
          <p:cNvPr id="6" name="TextBox 5"/>
          <p:cNvSpPr txBox="1"/>
          <p:nvPr/>
        </p:nvSpPr>
        <p:spPr>
          <a:xfrm>
            <a:off x="548640" y="2743688"/>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参照要約：Tiny</a:t>
            </a:r>
          </a:p>
        </p:txBody>
      </p:sp>
      <p:sp>
        <p:nvSpPr>
          <p:cNvPr id="7" name="TextBox 6"/>
          <p:cNvSpPr txBox="1"/>
          <p:nvPr/>
        </p:nvSpPr>
        <p:spPr>
          <a:xfrm>
            <a:off x="548640" y="2935712"/>
            <a:ext cx="8046720" cy="1283716"/>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Final updates on @ACLUVA, @ACLU_MD, @aclupa, and @ACLUDeleware lawsuit against @DHSgov demanding document production re the Muslim Ban. Plaintiffs brought the suit under FOIA in 2017.</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Multi-LexSum v20220616, 公開testレコード。 NS-VA-0007 / test / Short→Tiny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https://huggingface.co/datasets/allenai/multi_lexsum</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実例9：空港での入国禁止の実施（訳）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16736"/>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入力：Short全文（訳）</a:t>
            </a:r>
          </a:p>
        </p:txBody>
      </p:sp>
      <p:sp>
        <p:nvSpPr>
          <p:cNvPr id="5" name="quote-frame"/>
          <p:cNvSpPr/>
          <p:nvPr/>
        </p:nvSpPr>
        <p:spPr>
          <a:xfrm>
            <a:off x="548640" y="1618488"/>
            <a:ext cx="8046720" cy="115585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967" bIns="127000">
            <a:noAutofit/>
          </a:bodyPr>
          <a:lstStyle/>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2017年4月12日、バージニア・メリーランド・ペンシルベニア・デラウェアのACLUが情報自由法に基づき国土安全保障省を訴えた。地域の空港での入国禁止大統領令の実施に関する情報を求めた。全米のACLU事件を広域係属訴訟へ統合する被告の試みは成功せず、この事件は当地で進行中。</a:t>
            </a:r>
          </a:p>
        </p:txBody>
      </p:sp>
      <p:sp>
        <p:nvSpPr>
          <p:cNvPr id="6" name="TextBox 5"/>
          <p:cNvSpPr txBox="1"/>
          <p:nvPr/>
        </p:nvSpPr>
        <p:spPr>
          <a:xfrm>
            <a:off x="548640" y="2865781"/>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参照要約：Tiny（訳）</a:t>
            </a:r>
          </a:p>
        </p:txBody>
      </p:sp>
      <p:sp>
        <p:nvSpPr>
          <p:cNvPr id="7" name="TextBox 6"/>
          <p:cNvSpPr txBox="1"/>
          <p:nvPr/>
        </p:nvSpPr>
        <p:spPr>
          <a:xfrm>
            <a:off x="548640" y="3057805"/>
            <a:ext cx="8046720" cy="1283716"/>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@ACLUVA、@ACLU_MD、@aclupa、@ACLUDelewareがイスラム教徒の入国禁止に関する資料の提出を@DHSgovへ求めた訴訟の最終更新。原告らは2017年に情報自由法に基づき提訴した。</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Multi-LexSum v20220616, 公開testレコード。 NS-VA-0007 / test / Short→Tiny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https://huggingface.co/datasets/allenai/multi_lexsum</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実例10：保釈金と資力に基づく勾留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16736"/>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入力：Short全文</a:t>
            </a:r>
          </a:p>
        </p:txBody>
      </p:sp>
      <p:sp>
        <p:nvSpPr>
          <p:cNvPr id="5" name="quote-frame"/>
          <p:cNvSpPr/>
          <p:nvPr/>
        </p:nvSpPr>
        <p:spPr>
          <a:xfrm>
            <a:off x="548640" y="1618488"/>
            <a:ext cx="8046720" cy="125546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1709"/>
              </a:lnSpc>
              <a:spcBef>
                <a:spcPts val="0"/>
              </a:spcBef>
              <a:spcAft>
                <a:spcPts val="0"/>
              </a:spcAft>
              <a:buNone/>
              <a:defRPr sz="1400" b="0">
                <a:solidFill>
                  <a:srgbClr val="303437"/>
                </a:solidFill>
                <a:latin typeface="Noto Sans"/>
              </a:defRPr>
            </a:pPr>
            <a:r>
              <a:rPr sz="1500" b="0" lang="ja-JP" altLang="en-US">
                <a:solidFill>
                  <a:srgbClr val="303437"/>
                </a:solidFill>
                <a:latin typeface="Noto Sans"/>
                <a:ea typeface="Noto Sans CJK JP"/>
                <a:cs typeface="Noto Sans"/>
              </a:rPr>
              <a:t>Civil Rights Corps sued Tulsa County and various judicial officers, alleging that the court system operated a wealth-based detention system by detaining arrestees without inquiring into their ability to pay bail. While the plaintiffs motion for preliminary injunction was denied, the plaintiffs motion for class certification is still pending.</a:t>
            </a:r>
          </a:p>
        </p:txBody>
      </p:sp>
      <p:sp>
        <p:nvSpPr>
          <p:cNvPr id="6" name="TextBox 5"/>
          <p:cNvSpPr txBox="1"/>
          <p:nvPr/>
        </p:nvSpPr>
        <p:spPr>
          <a:xfrm>
            <a:off x="548640" y="2965392"/>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参照要約：Tiny</a:t>
            </a:r>
          </a:p>
        </p:txBody>
      </p:sp>
      <p:sp>
        <p:nvSpPr>
          <p:cNvPr id="7" name="TextBox 6"/>
          <p:cNvSpPr txBox="1"/>
          <p:nvPr/>
        </p:nvSpPr>
        <p:spPr>
          <a:xfrm>
            <a:off x="548640" y="3157416"/>
            <a:ext cx="8046720" cy="1283716"/>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Just added to the Clearinghouse: One of @CivRightsCorps cases focusing on criminalization of poverty. This case involves an alleged wealth-based detention scheme in Tulsa County, Oklahoma.</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Multi-LexSum v20220616, 公開testレコード。 CJ-OK-0006 / test / Short→Tiny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https://huggingface.co/datasets/allenai/multi_lexsum</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実例10：保釈金と資力に基づく勾留（訳）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16736"/>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入力：Short全文（訳）</a:t>
            </a:r>
          </a:p>
        </p:txBody>
      </p:sp>
      <p:sp>
        <p:nvSpPr>
          <p:cNvPr id="5" name="quote-frame"/>
          <p:cNvSpPr/>
          <p:nvPr/>
        </p:nvSpPr>
        <p:spPr>
          <a:xfrm>
            <a:off x="548640" y="1618488"/>
            <a:ext cx="8046720" cy="130259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966" bIns="127000">
            <a:noAutofit/>
          </a:bodyPr>
          <a:lstStyle/>
          <a:p>
            <a:pPr algn="l">
              <a:lnSpc>
                <a:spcPts val="22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Civil Rights Corpsは、保釈金を支払えるか確認せずに被逮捕者を拘束する、資力に基づく勾留制度があるとして、タルサ郡と複数の司法関係者を訴えた。仮差止めの申立ては却下されたが、集団認証の申立ては係属中。</a:t>
            </a:r>
          </a:p>
        </p:txBody>
      </p:sp>
      <p:sp>
        <p:nvSpPr>
          <p:cNvPr id="6" name="TextBox 5"/>
          <p:cNvSpPr txBox="1"/>
          <p:nvPr/>
        </p:nvSpPr>
        <p:spPr>
          <a:xfrm>
            <a:off x="548640" y="3012523"/>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参照要約：Tiny（訳）</a:t>
            </a:r>
          </a:p>
        </p:txBody>
      </p:sp>
      <p:sp>
        <p:nvSpPr>
          <p:cNvPr id="7" name="TextBox 6"/>
          <p:cNvSpPr txBox="1"/>
          <p:nvPr/>
        </p:nvSpPr>
        <p:spPr>
          <a:xfrm>
            <a:off x="548640" y="3204547"/>
            <a:ext cx="8046720" cy="985012"/>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Clearinghouseに追加：貧困の犯罪化を扱う@CivRightsCorpsの事件の一つ。オクラホマ州タルサ郡の資力に基づく勾留制度が争われている。</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Multi-LexSum v20220616, 公開testレコード。 CJ-OK-0006 / test / Short→Tiny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https://huggingface.co/datasets/allenai/multi_lexsum</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実例11：大学による逆情報公開訴訟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16736"/>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入力：Short全文</a:t>
            </a:r>
          </a:p>
        </p:txBody>
      </p:sp>
      <p:sp>
        <p:nvSpPr>
          <p:cNvPr id="5" name="quote-frame"/>
          <p:cNvSpPr/>
          <p:nvPr/>
        </p:nvSpPr>
        <p:spPr>
          <a:xfrm>
            <a:off x="548640" y="1618488"/>
            <a:ext cx="8046720" cy="153696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5034" bIns="127000">
            <a:noAutofit/>
          </a:bodyPr>
          <a:lstStyle/>
          <a:p>
            <a:pPr algn="l">
              <a:lnSpc>
                <a:spcPts val="2165"/>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Princeton sued U.S. Department of Education and OCR in a "reverse FOIA" to stop them from releasing documents related to an OCR compliance review to Students for Fair Admissions, Inc., which had submitted a FOIA request and filed a lawsuit against the DOE to compel disclosure. Parties voluntarily dismissed case.</a:t>
            </a:r>
          </a:p>
        </p:txBody>
      </p:sp>
      <p:sp>
        <p:nvSpPr>
          <p:cNvPr id="6" name="TextBox 5"/>
          <p:cNvSpPr txBox="1"/>
          <p:nvPr/>
        </p:nvSpPr>
        <p:spPr>
          <a:xfrm>
            <a:off x="548640" y="3246894"/>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参照要約：Tiny</a:t>
            </a:r>
          </a:p>
        </p:txBody>
      </p:sp>
      <p:sp>
        <p:nvSpPr>
          <p:cNvPr id="7" name="TextBox 6"/>
          <p:cNvSpPr txBox="1"/>
          <p:nvPr/>
        </p:nvSpPr>
        <p:spPr>
          <a:xfrm>
            <a:off x="548640" y="3438918"/>
            <a:ext cx="8046720" cy="686308"/>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Princeton sues DOE in reverse FOIA action to stop disclosure. (D.D.C.) </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Multi-LexSum v20220616, 公開testレコード。 ED-DC-0007 / test / Short→Tiny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https://huggingface.co/datasets/allenai/multi_lexsum</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実例11：大学による逆情報公開訴訟（訳）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16736"/>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入力：Short全文（訳）</a:t>
            </a:r>
          </a:p>
        </p:txBody>
      </p:sp>
      <p:sp>
        <p:nvSpPr>
          <p:cNvPr id="5" name="quote-frame"/>
          <p:cNvSpPr/>
          <p:nvPr/>
        </p:nvSpPr>
        <p:spPr>
          <a:xfrm>
            <a:off x="548640" y="1618488"/>
            <a:ext cx="8046720" cy="130259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966" bIns="127000">
            <a:noAutofit/>
          </a:bodyPr>
          <a:lstStyle/>
          <a:p>
            <a:pPr algn="l">
              <a:lnSpc>
                <a:spcPts val="22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Princetonは、教育省の公民権局による審査資料をStudents for Fair Admissionsへ公開させないため、教育省と同局を「逆情報自由法」訴訟で訴えた。同団体は情報公開を請求し、公開を求めて教育省を訴えていた。当事者は自発的に訴えを取り下げた。</a:t>
            </a:r>
          </a:p>
        </p:txBody>
      </p:sp>
      <p:sp>
        <p:nvSpPr>
          <p:cNvPr id="6" name="TextBox 5"/>
          <p:cNvSpPr txBox="1"/>
          <p:nvPr/>
        </p:nvSpPr>
        <p:spPr>
          <a:xfrm>
            <a:off x="548640" y="3012523"/>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参照要約：Tiny（訳）</a:t>
            </a:r>
          </a:p>
        </p:txBody>
      </p:sp>
      <p:sp>
        <p:nvSpPr>
          <p:cNvPr id="7" name="TextBox 6"/>
          <p:cNvSpPr txBox="1"/>
          <p:nvPr/>
        </p:nvSpPr>
        <p:spPr>
          <a:xfrm>
            <a:off x="548640" y="3204547"/>
            <a:ext cx="8046720" cy="686308"/>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Princetonが、資料公開を止めるため逆情報自由法訴訟で教育省を訴える（D.C.連邦地裁）。</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Multi-LexSum v20220616, 公開testレコード。 ED-DC-0007 / test / Short→Tiny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https://huggingface.co/datasets/allenai/multi_lexsum</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実例12：移民被収容者の釈放請求</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16736"/>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入力：Short全文</a:t>
            </a:r>
          </a:p>
        </p:txBody>
      </p:sp>
      <p:sp>
        <p:nvSpPr>
          <p:cNvPr id="5" name="quote-frame"/>
          <p:cNvSpPr/>
          <p:nvPr/>
        </p:nvSpPr>
        <p:spPr>
          <a:xfrm>
            <a:off x="548640" y="1618488"/>
            <a:ext cx="8046720" cy="136119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188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This is a habeas action seeking the release of immigration detainees housed in ICE facilities in Maryland. The court initially denied the detainees' TRO, but eventually granted two preliminary injunctions that ordered the release of several detainees from their respective detention centers. The court also granted the petitioners' motion for class certification.</a:t>
            </a:r>
          </a:p>
        </p:txBody>
      </p:sp>
      <p:sp>
        <p:nvSpPr>
          <p:cNvPr id="6" name="TextBox 5"/>
          <p:cNvSpPr txBox="1"/>
          <p:nvPr/>
        </p:nvSpPr>
        <p:spPr>
          <a:xfrm>
            <a:off x="548640" y="3071124"/>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参照要約：Tiny</a:t>
            </a:r>
          </a:p>
        </p:txBody>
      </p:sp>
      <p:sp>
        <p:nvSpPr>
          <p:cNvPr id="7" name="TextBox 6"/>
          <p:cNvSpPr txBox="1"/>
          <p:nvPr/>
        </p:nvSpPr>
        <p:spPr>
          <a:xfrm>
            <a:off x="548640" y="3263148"/>
            <a:ext cx="8046720" cy="985012"/>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Documents now posted for Maryland litigation brought on behalf of ICE detainees seeking release from detention due to COVID-19</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Multi-LexSum v20220616, 公開testレコード。 IM-MD-0016 / test / Short→Tiny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https://huggingface.co/datasets/allenai/multi_lexsum</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実例12：移民被収容者の釈放請求（訳）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16736"/>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入力：Short全文（訳）</a:t>
            </a:r>
          </a:p>
        </p:txBody>
      </p:sp>
      <p:sp>
        <p:nvSpPr>
          <p:cNvPr id="5" name="quote-frame"/>
          <p:cNvSpPr/>
          <p:nvPr/>
        </p:nvSpPr>
        <p:spPr>
          <a:xfrm>
            <a:off x="548640" y="1618488"/>
            <a:ext cx="8046720" cy="130259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966" bIns="127000">
            <a:noAutofit/>
          </a:bodyPr>
          <a:lstStyle/>
          <a:p>
            <a:pPr algn="l">
              <a:lnSpc>
                <a:spcPts val="22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メリーランド州の移民・税関捜査局施設の被収容者が、釈放を求めた人身保護手続である。裁判所は当初、一時的差止命令の申立てを却下したが、後に2件の仮差止命令で複数人の釈放を命じた。集団認証の申立ても認めた。</a:t>
            </a:r>
          </a:p>
        </p:txBody>
      </p:sp>
      <p:sp>
        <p:nvSpPr>
          <p:cNvPr id="6" name="TextBox 5"/>
          <p:cNvSpPr txBox="1"/>
          <p:nvPr/>
        </p:nvSpPr>
        <p:spPr>
          <a:xfrm>
            <a:off x="548640" y="3012523"/>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参照要約：Tiny（訳）</a:t>
            </a:r>
          </a:p>
        </p:txBody>
      </p:sp>
      <p:sp>
        <p:nvSpPr>
          <p:cNvPr id="7" name="TextBox 6"/>
          <p:cNvSpPr txBox="1"/>
          <p:nvPr/>
        </p:nvSpPr>
        <p:spPr>
          <a:xfrm>
            <a:off x="548640" y="3204547"/>
            <a:ext cx="8046720" cy="985012"/>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COVID-19を理由に拘束からの解放を求める移民・税関捜査局の被収容者のために提起された、メリーランド州の訴訟資料を掲載。</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Multi-LexSum v20220616, 公開testレコード。 IM-MD-0016 / test / Short→Tiny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https://huggingface.co/datasets/allenai/multi_lexsum</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実例13：サンノゼ市の警察活動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16736"/>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入力：Short全文</a:t>
            </a:r>
          </a:p>
        </p:txBody>
      </p:sp>
      <p:sp>
        <p:nvSpPr>
          <p:cNvPr id="5" name="quote-frame"/>
          <p:cNvSpPr/>
          <p:nvPr/>
        </p:nvSpPr>
        <p:spPr>
          <a:xfrm>
            <a:off x="548640" y="1618488"/>
            <a:ext cx="8046720" cy="147225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5034"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NAACP and individual people sued the city of San Jose and political officials for policing tactics that allegedly deprived them of their First, Fourth, and Fourteenth Amendment rights. The plaintiffs, protesting systemic racism in policing, alleged that the police used excessive force in a racially motivated manner to end the protests.</a:t>
            </a:r>
          </a:p>
        </p:txBody>
      </p:sp>
      <p:sp>
        <p:nvSpPr>
          <p:cNvPr id="6" name="TextBox 5"/>
          <p:cNvSpPr txBox="1"/>
          <p:nvPr/>
        </p:nvSpPr>
        <p:spPr>
          <a:xfrm>
            <a:off x="548640" y="3182188"/>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参照要約：Tiny</a:t>
            </a:r>
          </a:p>
        </p:txBody>
      </p:sp>
      <p:sp>
        <p:nvSpPr>
          <p:cNvPr id="7" name="TextBox 6"/>
          <p:cNvSpPr txBox="1"/>
          <p:nvPr/>
        </p:nvSpPr>
        <p:spPr>
          <a:xfrm>
            <a:off x="548640" y="3374212"/>
            <a:ext cx="8046720" cy="985012"/>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Just added to the Clearinghouse - @NAACP sued the city of San Jose for allegedly unconstitutional police practices being used against peaceful protestors.</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Multi-LexSum v20220616, 公開testレコード。 PN-CA-0053 / test / Short→Tiny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https://huggingface.co/datasets/allenai/multi_lexsum</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実例13：サンノゼ市の警察活動（訳）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16736"/>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入力：Short全文（訳）</a:t>
            </a:r>
          </a:p>
        </p:txBody>
      </p:sp>
      <p:sp>
        <p:nvSpPr>
          <p:cNvPr id="5" name="quote-frame"/>
          <p:cNvSpPr/>
          <p:nvPr/>
        </p:nvSpPr>
        <p:spPr>
          <a:xfrm>
            <a:off x="548640" y="1618488"/>
            <a:ext cx="8046720" cy="130296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966" bIns="127000">
            <a:noAutofit/>
          </a:bodyPr>
          <a:lstStyle/>
          <a:p>
            <a:pPr algn="l">
              <a:lnSpc>
                <a:spcPts val="22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NAACPと個人の原告らは、修正第1条・第4条・第14条の権利を侵害する警察活動があったとして、サンノゼ市と公職者を訴えた。警察の構造的人種差別に抗議していた原告らは、抗議を終わらせるために人種差別的な動機で過剰な実力が用いられたと主張した。</a:t>
            </a:r>
          </a:p>
        </p:txBody>
      </p:sp>
      <p:sp>
        <p:nvSpPr>
          <p:cNvPr id="6" name="TextBox 5"/>
          <p:cNvSpPr txBox="1"/>
          <p:nvPr/>
        </p:nvSpPr>
        <p:spPr>
          <a:xfrm>
            <a:off x="548640" y="3012893"/>
            <a:ext cx="8046720" cy="228600"/>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参照要約：Tiny（訳）</a:t>
            </a:r>
          </a:p>
        </p:txBody>
      </p:sp>
      <p:sp>
        <p:nvSpPr>
          <p:cNvPr id="7" name="TextBox 6"/>
          <p:cNvSpPr txBox="1"/>
          <p:nvPr/>
        </p:nvSpPr>
        <p:spPr>
          <a:xfrm>
            <a:off x="548640" y="3204917"/>
            <a:ext cx="8046720" cy="686308"/>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Clearinghouseに追加：平和的な抗議参加者に対する違憲とされる警察活動をめぐり、@NAACPがサンノゼ市を訴えた。</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Multi-LexSum v20220616, 公開testレコード。 PN-CA-0053 / test / Short→Tiny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https://huggingface.co/datasets/allenai/multi_lexsum</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評価・分割・配布の詳細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評価・分割・配布の詳細</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欠ける粒度により、評価できる集合が変わる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評価・分割・配布の詳細</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2743200"/>
                <a:gridCol w="1737360"/>
                <a:gridCol w="1737360"/>
                <a:gridCol w="182880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課題の参照</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train</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validation</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test</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Long</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3,177</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454</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908</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Short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2,210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312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616</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Tiny</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1,130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161</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312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参照欄の非空数。S→Tは両欄がある組を使い、train 1,129 / validation 161 / test 312。</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Multi-LexSum v20220616, 公開testレコード。</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https://huggingface.co/datasets/allenai/multi_lexsum</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分割はファイルで決まり、古い欄とは一致しない</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公式ローダーはtrain.json、dev.json、test.jsonを、それぞれtrain、validation、testとして読み込む。本資料もこの対応で実例を選定した。</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v20220616のレコード内にはsubset欄も残るが、配布ファイルと一致しない。たとえばtest.jsonの908事件には、subsetがtrainの643件、devの153件、testの112件が含まれる。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subset欄から再分割せず、実際に使った版・配布ファイル・事件IDを記録する。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評価・分割・配布の詳細</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Multi-LexSum v20220616, 公開testレコード。</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https://huggingface.co/datasets/allenai/multi_lexsum</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語数は、数え方と対象を添えて読む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評価・分割・配布の詳細</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2011680"/>
                <a:gridCol w="3017520"/>
                <a:gridCol w="301752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要約</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公表spaCy語数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配布の空白区切り</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Long</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646.5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545.72</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Short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130.2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112.97</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Tiny</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24.7</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21.18</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いずれも該当要約を持つ事件の平均。右列はv20220616全分割の実集計で、モデルのトークン数ではない。</a:t>
            </a:r>
          </a:p>
        </p:txBody>
      </p:sp>
      <p:sp>
        <p:nvSpPr>
          <p:cNvPr id="6" name="sources"/>
          <p:cNvSpPr txBox="1"/>
          <p:nvPr/>
        </p:nvSpPr>
        <p:spPr>
          <a:xfrm>
            <a:off x="502920" y="451713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(2022). Multi-LexSum: Real-world Summaries of Civil Rights Lawsuits at Multiple Granularities. NeurIPS.</a:t>
            </a:r>
          </a:p>
          <a:p>
            <a:pPr>
              <a:lnSpc>
                <a:spcPts val="940"/>
              </a:lnSpc>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https://doi.org/10.52202/068431-0956</a:t>
            </a:r>
          </a:p>
          <a:p>
            <a:pPr>
              <a:lnSpc>
                <a:spcPts val="940"/>
              </a:lnSpc>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[2] Shen et al. Multi-LexSum v20220616, 公開testレコード。</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https://huggingface.co/datasets/allenai/multi_lexsum</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全体件数は、固定配布と表の単位を照合する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固定した配布ファイルの事件数は3,177＋454＋908＝4,539で、公開論文の分割表とも一致する。要約は4,539＋3,138＋1,603＝9,280。</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比較統計の表にはD→LongのSamplesが4,534と記載される箇所がある。本資料の構成・分割表は、実際に取得した4,539レコードの集計を使う。</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40,119文書は配布概要にある原文書IDを数えた値。原文書の全文を今回すべて取得して数え直した値ではない。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評価・分割・配布の詳細</a:t>
            </a:r>
          </a:p>
        </p:txBody>
      </p:sp>
      <p:sp>
        <p:nvSpPr>
          <p:cNvPr id="5" name="sources"/>
          <p:cNvSpPr txBox="1"/>
          <p:nvPr/>
        </p:nvSpPr>
        <p:spPr>
          <a:xfrm>
            <a:off x="502920" y="451713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(2022). Multi-LexSum: Real-world Summaries of Civil Rights Lawsuits at Multiple Granularities. NeurIPS.</a:t>
            </a:r>
          </a:p>
          <a:p>
            <a:pPr>
              <a:lnSpc>
                <a:spcPts val="940"/>
              </a:lnSpc>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https://doi.org/10.52202/068431-0956</a:t>
            </a:r>
          </a:p>
          <a:p>
            <a:pPr>
              <a:lnSpc>
                <a:spcPts val="940"/>
              </a:lnSpc>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[2] Shen et al. Multi-LexSum v20220616, 公開testレコード。</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https://huggingface.co/datasets/allenai/multi_lexsum</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参照要約の時点と、入力にない情報を見分ける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追加例には「Clearinghouseに追加」「資料を掲載」など投稿の文脈を持つTinyがある。自然な事件要約への言い換えを、日本語訳に黙って混ぜない。</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実例6のTinyは仮差止めの成立や判事の発言まで含むが、Shortにはない。短い入力だけから、その情報を復元できるとは限らない。</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事件の更新時点、入力に含まれる事実、参照文に含まれる事実を確認する。参照の不足や追加情報を、モデルの単純な誤りと取り違えない。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評価・分割・配布の詳細</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Multi-LexSum v20220616, 公開testレコード。</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https://huggingface.co/datasets/allenai/multi_lexsum</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HELMの説明用例と、実際のキー指定を分ける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v0.4.0のクラス説明にはShort→Tinyの例があるが、_load_datasetの実装はLong→Shortを指定する。Tinyを使う可能性はコメントにあるだけである。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実際の入力整形は空白区切り。doc_max_lengthの単位は文字数でもモデルのトークン数でもなく、空白で区切った語数である。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公開runが0件なので、提示数や試行平均のモデル得点は設定したことにしていない。2022年の追加学習実験とも区別する。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評価・分割・配布の詳細</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LegalSummarizationScenario, HELM v0.4.0.</a:t>
            </a:r>
          </a:p>
          <a:p>
            <a:pPr>
              <a:lnSpc>
                <a:spcPts val="940"/>
              </a:lnSpc>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https://github.com/stanford-crfm/helm/blob/v0.4.0/src/helm/benchmark/scenarios/legal_summarization_scenario.py</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取得容量は、概要ファイルと原文書を分ける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v20220616のtrain・dev・test概要ファイルは合計22,265,708 bytes（約22.3 MB）。要約全文、事件ID、関連文書IDなどを含む。</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原文書のsources.jsonは配布メタデータ上で2,219,115,572 bytes（約2.22 GB）。今回はこの本体を取得せず、13実例の入力であるShortと参照Tinyを概要ファイルから得た。</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固定Hugging Face改訂、各ファイルの取得URL・bytes・SHA-256と、選んだ元レコードを保存した。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評価・分割・配布の詳細</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Multi-LexSum. 公式データカード・v1.1配布。</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https://huggingface.co/datasets/allenai/multi_lexsum</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版を指定して、要約の組を取り出す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評価・分割・配布の詳細</a:t>
            </a:r>
          </a:p>
        </p:txBody>
      </p:sp>
      <p:sp>
        <p:nvSpPr>
          <p:cNvPr id="4" name="code-frame"/>
          <p:cNvSpPr/>
          <p:nvPr/>
        </p:nvSpPr>
        <p:spPr>
          <a:xfrm>
            <a:off x="548640" y="1618488"/>
            <a:ext cx="8046720" cy="206755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import json, urllib.request</a:t>
            </a:r>
          </a:p>
          <a:p>
            <a:pPr>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base = "https://huggingface.co/datasets/allenai/multi_lexsum"</a:t>
            </a:r>
          </a:p>
          <a:p>
            <a:pPr>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rev = "055f5fa5300a5fdefb5b691c4d6c1e58f485b379"</a:t>
            </a:r>
          </a:p>
          <a:p>
            <a:pPr>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path = f"/resolve/{rev}/releases/v20220616/test.json"</a:t>
            </a:r>
          </a:p>
          <a:p>
            <a:pPr>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with urllib.request.urlopen(base + path) as response:</a:t>
            </a:r>
          </a:p>
          <a:p>
            <a:pPr>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case = json.loads(response.readline())</a:t>
            </a:r>
          </a:p>
          <a:p>
            <a:pPr>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source = case["summary/short"]</a:t>
            </a:r>
          </a:p>
          <a:p>
            <a:pPr>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target = case["summary/tiny"]</a:t>
            </a:r>
          </a:p>
        </p:txBody>
      </p:sp>
      <p:sp>
        <p:nvSpPr>
          <p:cNvPr id="5" name="TextBox 4"/>
          <p:cNvSpPr txBox="1"/>
          <p:nvPr/>
        </p:nvSpPr>
        <p:spPr>
          <a:xfrm>
            <a:off x="594360" y="3850639"/>
            <a:ext cx="7955279" cy="457200"/>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Tinyが空の事件もある。利用前に参照欄の有無を確認する。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Multi-LexSum. 公式データカード・v1.1配布。</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https://huggingface.co/datasets/allenai/multi_lexsum</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研究と参考文献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法律実務の執筆と、要約モデルの研究を結ぶ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Zejiang Shen、Kyle LoらがAllen Institute for AIと、ミシガン大学のCivil Rights Litigation Clearinghouseなどの協力で構築した。法学者Margo Schlangerと、最終著者Doug Downeyも参加した。</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数百人の法学生らが事件要約の執筆に関わる。論文はNeurIPS 2022のDatasets and Benchmarks Trackに採択された。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5" name="sources"/>
          <p:cNvSpPr txBox="1"/>
          <p:nvPr/>
        </p:nvSpPr>
        <p:spPr>
          <a:xfrm>
            <a:off x="502920" y="4517136"/>
            <a:ext cx="8183879" cy="530352"/>
          </a:xfrm>
          <a:prstGeom prst="rect">
            <a:avLst/>
          </a:prstGeom>
          <a:noFill/>
        </p:spPr>
        <p:txBody>
          <a:bodyPr wrap="square" lIns="0" rIns="0" tIns="0" bIns="0">
            <a:noAutofit/>
          </a:bodyPr>
          <a:lstStyle/>
          <a:p>
            <a:pPr algn="l">
              <a:lnSpc>
                <a:spcPts val="940"/>
              </a:lnSpc>
              <a:spcBef>
                <a:spcPts val="0"/>
              </a:spcBef>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[1] Shen et al. (2022). Multi-LexSum: Real-world Summaries of Civil Rights Lawsuits at Multiple Granularities. NeurIPS.</a:t>
            </a:r>
          </a:p>
          <a:p>
            <a:pPr>
              <a:lnSpc>
                <a:spcPts val="940"/>
              </a:lnSpc>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https://doi.org/10.52202/068431-0956</a:t>
            </a:r>
          </a:p>
          <a:p>
            <a:pPr>
              <a:lnSpc>
                <a:spcPts val="940"/>
              </a:lnSpc>
              <a:spcAft>
                <a:spcPts val="350"/>
              </a:spcAft>
              <a:buNone/>
              <a:defRPr sz="810" b="0">
                <a:solidFill>
                  <a:srgbClr val="303437"/>
                </a:solidFill>
                <a:latin typeface="Noto Sans"/>
              </a:defRPr>
            </a:pPr>
            <a:r>
              <a:rPr sz="810" b="0" lang="ja-JP" altLang="en-US">
                <a:solidFill>
                  <a:srgbClr val="626669"/>
                </a:solidFill>
                <a:latin typeface="Noto Sans"/>
                <a:ea typeface="Noto Sans CJK JP"/>
                <a:cs typeface="Noto Sans"/>
              </a:rPr>
              <a:t>[2] Multi-LexSum. 公式サイト。2026-10-18確認。</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https://multilexsum.github.io/</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TextBox 3"/>
          <p:cNvSpPr txBox="1"/>
          <p:nvPr/>
        </p:nvSpPr>
        <p:spPr>
          <a:xfrm>
            <a:off x="548640" y="1444752"/>
            <a:ext cx="8046720" cy="640080"/>
          </a:xfrm>
          <a:prstGeom prst="rect">
            <a:avLst/>
          </a:prstGeom>
          <a:noFill/>
        </p:spPr>
        <p:txBody>
          <a:bodyPr wrap="square" lIns="0" rIns="0" tIns="0" bIns="0">
            <a:noAutofit/>
          </a:bodyPr>
          <a:lstStyle/>
          <a:p>
            <a:pPr algn="l">
              <a:lnSpc>
                <a:spcPts val="2072"/>
              </a:lnSpc>
              <a:spcBef>
                <a:spcPts val="0"/>
              </a:spcBef>
              <a:spcAft>
                <a:spcPts val="0"/>
              </a:spcAft>
              <a:buNone/>
              <a:defRPr sz="1850" b="0">
                <a:solidFill>
                  <a:srgbClr val="303437"/>
                </a:solidFill>
                <a:latin typeface="Noto Sans"/>
              </a:defRPr>
            </a:pPr>
            <a:r>
              <a:rPr sz="1850" b="1" lang="ja-JP" altLang="en-US">
                <a:solidFill>
                  <a:srgbClr val="303437"/>
                </a:solidFill>
                <a:latin typeface="Noto Sans"/>
                <a:ea typeface="Noto Sans CJK JP"/>
                <a:cs typeface="Noto Sans"/>
              </a:rPr>
              <a:t>Multi-LexSum: Real-world Summaries of Civil Rights Lawsuits at Multiple Granularities</a:t>
            </a:r>
          </a:p>
        </p:txBody>
      </p:sp>
      <p:sp>
        <p:nvSpPr>
          <p:cNvPr id="5" name="TextBox 4"/>
          <p:cNvSpPr txBox="1"/>
          <p:nvPr/>
        </p:nvSpPr>
        <p:spPr>
          <a:xfrm>
            <a:off x="548640" y="2112264"/>
            <a:ext cx="8046720" cy="256032"/>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Shen et al.・2022・NeurIPS 35</a:t>
            </a:r>
          </a:p>
        </p:txBody>
      </p:sp>
      <p:sp>
        <p:nvSpPr>
          <p:cNvPr id="6" name="TextBox 5"/>
          <p:cNvSpPr txBox="1"/>
          <p:nvPr/>
        </p:nvSpPr>
        <p:spPr>
          <a:xfrm>
            <a:off x="548640" y="2377440"/>
            <a:ext cx="8046720" cy="438912"/>
          </a:xfrm>
          <a:prstGeom prst="rect">
            <a:avLst/>
          </a:prstGeom>
          <a:noFill/>
        </p:spPr>
        <p:txBody>
          <a:bodyPr wrap="square" lIns="0" rIns="0" tIns="0" bIns="0">
            <a:noAutofit/>
          </a:bodyPr>
          <a:lstStyle/>
          <a:p>
            <a:pPr algn="l">
              <a:lnSpc>
                <a:spcPts val="1913"/>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三粒度の専門家要約を構築し、複数文書・要約圧縮の実験と人手評価を報告する。</a:t>
            </a:r>
          </a:p>
        </p:txBody>
      </p:sp>
      <p:sp>
        <p:nvSpPr>
          <p:cNvPr id="7" name="TextBox 6"/>
          <p:cNvSpPr txBox="1"/>
          <p:nvPr/>
        </p:nvSpPr>
        <p:spPr>
          <a:xfrm>
            <a:off x="548640" y="2834640"/>
            <a:ext cx="8046720" cy="347472"/>
          </a:xfrm>
          <a:prstGeom prst="rect">
            <a:avLst/>
          </a:prstGeom>
          <a:noFill/>
        </p:spPr>
        <p:txBody>
          <a:bodyPr wrap="square" lIns="0" rIns="0" tIns="0" bIns="0">
            <a:noAutofit/>
          </a:bodyPr>
          <a:lstStyle/>
          <a:p>
            <a:pPr algn="l">
              <a:lnSpc>
                <a:spcPts val="1088"/>
              </a:lnSpc>
              <a:spcBef>
                <a:spcPts val="0"/>
              </a:spcBef>
              <a:spcAft>
                <a:spcPts val="0"/>
              </a:spcAft>
              <a:buNone/>
              <a:defRPr sz="930" b="0">
                <a:solidFill>
                  <a:srgbClr val="303437"/>
                </a:solidFill>
                <a:latin typeface="Noto Sans"/>
              </a:defRPr>
            </a:pPr>
            <a:r>
              <a:rPr sz="930" b="0" lang="ja-JP" altLang="en-US">
                <a:solidFill>
                  <a:srgbClr val="2166AC"/>
                </a:solidFill>
                <a:latin typeface="Noto Sans"/>
                <a:ea typeface="Noto Sans CJK JP"/>
                <a:cs typeface="Noto Sans"/>
                <a:hlinkClick r:id="rId2"/>
              </a:rPr>
              <a:t>https://doi.org/10.52202/068431-0956</a:t>
            </a:r>
          </a:p>
        </p:txBody>
      </p:sp>
      <p:sp>
        <p:nvSpPr>
          <p:cNvPr id="8" name="TextBox 7"/>
          <p:cNvSpPr txBox="1"/>
          <p:nvPr/>
        </p:nvSpPr>
        <p:spPr>
          <a:xfrm>
            <a:off x="548640" y="3017520"/>
            <a:ext cx="8046720" cy="640080"/>
          </a:xfrm>
          <a:prstGeom prst="rect">
            <a:avLst/>
          </a:prstGeom>
          <a:noFill/>
        </p:spPr>
        <p:txBody>
          <a:bodyPr wrap="square" lIns="0" rIns="0" tIns="0" bIns="0">
            <a:noAutofit/>
          </a:bodyPr>
          <a:lstStyle/>
          <a:p>
            <a:pPr algn="l">
              <a:lnSpc>
                <a:spcPts val="2072"/>
              </a:lnSpc>
              <a:spcBef>
                <a:spcPts val="0"/>
              </a:spcBef>
              <a:spcAft>
                <a:spcPts val="0"/>
              </a:spcAft>
              <a:buNone/>
              <a:defRPr sz="1850" b="0">
                <a:solidFill>
                  <a:srgbClr val="303437"/>
                </a:solidFill>
                <a:latin typeface="Noto Sans"/>
              </a:defRPr>
            </a:pPr>
            <a:r>
              <a:rPr sz="1850" b="1" lang="ja-JP" altLang="en-US">
                <a:solidFill>
                  <a:srgbClr val="303437"/>
                </a:solidFill>
                <a:latin typeface="Noto Sans"/>
                <a:ea typeface="Noto Sans CJK JP"/>
                <a:cs typeface="Noto Sans"/>
              </a:rPr>
              <a:t>Multi-LexSum Dataset Sheet</a:t>
            </a:r>
          </a:p>
        </p:txBody>
      </p:sp>
      <p:sp>
        <p:nvSpPr>
          <p:cNvPr id="9" name="TextBox 8"/>
          <p:cNvSpPr txBox="1"/>
          <p:nvPr/>
        </p:nvSpPr>
        <p:spPr>
          <a:xfrm>
            <a:off x="548640" y="3685031"/>
            <a:ext cx="8046720" cy="256032"/>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Multi-LexSum team・2022・公式データシート</a:t>
            </a:r>
          </a:p>
        </p:txBody>
      </p:sp>
      <p:sp>
        <p:nvSpPr>
          <p:cNvPr id="10" name="TextBox 9"/>
          <p:cNvSpPr txBox="1"/>
          <p:nvPr/>
        </p:nvSpPr>
        <p:spPr>
          <a:xfrm>
            <a:off x="548640" y="3950208"/>
            <a:ext cx="8046720" cy="438912"/>
          </a:xfrm>
          <a:prstGeom prst="rect">
            <a:avLst/>
          </a:prstGeom>
          <a:noFill/>
        </p:spPr>
        <p:txBody>
          <a:bodyPr wrap="square" lIns="0" rIns="0" tIns="0" bIns="0">
            <a:noAutofit/>
          </a:bodyPr>
          <a:lstStyle/>
          <a:p>
            <a:pPr algn="l">
              <a:lnSpc>
                <a:spcPts val="1913"/>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構成、収集過程、利用目的、偏りと配布条件を記述する。</a:t>
            </a:r>
          </a:p>
        </p:txBody>
      </p:sp>
      <p:sp>
        <p:nvSpPr>
          <p:cNvPr id="11" name="TextBox 10"/>
          <p:cNvSpPr txBox="1"/>
          <p:nvPr/>
        </p:nvSpPr>
        <p:spPr>
          <a:xfrm>
            <a:off x="548640" y="4407408"/>
            <a:ext cx="8046720" cy="347472"/>
          </a:xfrm>
          <a:prstGeom prst="rect">
            <a:avLst/>
          </a:prstGeom>
          <a:noFill/>
        </p:spPr>
        <p:txBody>
          <a:bodyPr wrap="square" lIns="0" rIns="0" tIns="0" bIns="0">
            <a:noAutofit/>
          </a:bodyPr>
          <a:lstStyle/>
          <a:p>
            <a:pPr algn="l">
              <a:lnSpc>
                <a:spcPts val="1088"/>
              </a:lnSpc>
              <a:spcBef>
                <a:spcPts val="0"/>
              </a:spcBef>
              <a:spcAft>
                <a:spcPts val="0"/>
              </a:spcAft>
              <a:buNone/>
              <a:defRPr sz="930" b="0">
                <a:solidFill>
                  <a:srgbClr val="303437"/>
                </a:solidFill>
                <a:latin typeface="Noto Sans"/>
              </a:defRPr>
            </a:pPr>
            <a:r>
              <a:rPr sz="930" b="0" lang="ja-JP" altLang="en-US">
                <a:solidFill>
                  <a:srgbClr val="2166AC"/>
                </a:solidFill>
                <a:latin typeface="Noto Sans"/>
                <a:ea typeface="Noto Sans CJK JP"/>
                <a:cs typeface="Noto Sans"/>
                <a:hlinkClick r:id="rId3"/>
              </a:rPr>
              <a:t>https://multilexsum.github.io/datasheet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TextBox 3"/>
          <p:cNvSpPr txBox="1"/>
          <p:nvPr/>
        </p:nvSpPr>
        <p:spPr>
          <a:xfrm>
            <a:off x="548640" y="1444752"/>
            <a:ext cx="8046720" cy="640080"/>
          </a:xfrm>
          <a:prstGeom prst="rect">
            <a:avLst/>
          </a:prstGeom>
          <a:noFill/>
        </p:spPr>
        <p:txBody>
          <a:bodyPr wrap="square" lIns="0" rIns="0" tIns="0" bIns="0">
            <a:noAutofit/>
          </a:bodyPr>
          <a:lstStyle/>
          <a:p>
            <a:pPr algn="l">
              <a:lnSpc>
                <a:spcPts val="2072"/>
              </a:lnSpc>
              <a:spcBef>
                <a:spcPts val="0"/>
              </a:spcBef>
              <a:spcAft>
                <a:spcPts val="0"/>
              </a:spcAft>
              <a:buNone/>
              <a:defRPr sz="1850" b="0">
                <a:solidFill>
                  <a:srgbClr val="303437"/>
                </a:solidFill>
                <a:latin typeface="Noto Sans"/>
              </a:defRPr>
            </a:pPr>
            <a:r>
              <a:rPr sz="1850" b="1" lang="ja-JP" altLang="en-US">
                <a:solidFill>
                  <a:srgbClr val="303437"/>
                </a:solidFill>
                <a:latin typeface="Noto Sans"/>
                <a:ea typeface="Noto Sans CJK JP"/>
                <a:cs typeface="Noto Sans"/>
              </a:rPr>
              <a:t>Multi-LexSum dataset and loader</a:t>
            </a:r>
          </a:p>
        </p:txBody>
      </p:sp>
      <p:sp>
        <p:nvSpPr>
          <p:cNvPr id="5" name="TextBox 4"/>
          <p:cNvSpPr txBox="1"/>
          <p:nvPr/>
        </p:nvSpPr>
        <p:spPr>
          <a:xfrm>
            <a:off x="548640" y="2112264"/>
            <a:ext cx="8046720" cy="256032"/>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Multi-LexSum team・公式GitHub</a:t>
            </a:r>
          </a:p>
        </p:txBody>
      </p:sp>
      <p:sp>
        <p:nvSpPr>
          <p:cNvPr id="6" name="TextBox 5"/>
          <p:cNvSpPr txBox="1"/>
          <p:nvPr/>
        </p:nvSpPr>
        <p:spPr>
          <a:xfrm>
            <a:off x="548640" y="2377440"/>
            <a:ext cx="8046720" cy="438912"/>
          </a:xfrm>
          <a:prstGeom prst="rect">
            <a:avLst/>
          </a:prstGeom>
          <a:noFill/>
        </p:spPr>
        <p:txBody>
          <a:bodyPr wrap="square" lIns="0" rIns="0" tIns="0" bIns="0">
            <a:noAutofit/>
          </a:bodyPr>
          <a:lstStyle/>
          <a:p>
            <a:pPr algn="l">
              <a:lnSpc>
                <a:spcPts val="1913"/>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配布の読み込み方法と、粒度別の追加学習済みモデルを案内する。</a:t>
            </a:r>
          </a:p>
        </p:txBody>
      </p:sp>
      <p:sp>
        <p:nvSpPr>
          <p:cNvPr id="7" name="TextBox 6"/>
          <p:cNvSpPr txBox="1"/>
          <p:nvPr/>
        </p:nvSpPr>
        <p:spPr>
          <a:xfrm>
            <a:off x="548640" y="2834640"/>
            <a:ext cx="8046720" cy="347472"/>
          </a:xfrm>
          <a:prstGeom prst="rect">
            <a:avLst/>
          </a:prstGeom>
          <a:noFill/>
        </p:spPr>
        <p:txBody>
          <a:bodyPr wrap="square" lIns="0" rIns="0" tIns="0" bIns="0">
            <a:noAutofit/>
          </a:bodyPr>
          <a:lstStyle/>
          <a:p>
            <a:pPr algn="l">
              <a:lnSpc>
                <a:spcPts val="1088"/>
              </a:lnSpc>
              <a:spcBef>
                <a:spcPts val="0"/>
              </a:spcBef>
              <a:spcAft>
                <a:spcPts val="0"/>
              </a:spcAft>
              <a:buNone/>
              <a:defRPr sz="930" b="0">
                <a:solidFill>
                  <a:srgbClr val="303437"/>
                </a:solidFill>
                <a:latin typeface="Noto Sans"/>
              </a:defRPr>
            </a:pPr>
            <a:r>
              <a:rPr sz="930" b="0" lang="ja-JP" altLang="en-US">
                <a:solidFill>
                  <a:srgbClr val="2166AC"/>
                </a:solidFill>
                <a:latin typeface="Noto Sans"/>
                <a:ea typeface="Noto Sans CJK JP"/>
                <a:cs typeface="Noto Sans"/>
                <a:hlinkClick r:id="rId2"/>
              </a:rPr>
              <a:t>https://github.com/multilexsum/dataset</a:t>
            </a:r>
          </a:p>
        </p:txBody>
      </p:sp>
      <p:sp>
        <p:nvSpPr>
          <p:cNvPr id="8" name="TextBox 7"/>
          <p:cNvSpPr txBox="1"/>
          <p:nvPr/>
        </p:nvSpPr>
        <p:spPr>
          <a:xfrm>
            <a:off x="548640" y="3017520"/>
            <a:ext cx="8046720" cy="640080"/>
          </a:xfrm>
          <a:prstGeom prst="rect">
            <a:avLst/>
          </a:prstGeom>
          <a:noFill/>
        </p:spPr>
        <p:txBody>
          <a:bodyPr wrap="square" lIns="0" rIns="0" tIns="0" bIns="0">
            <a:noAutofit/>
          </a:bodyPr>
          <a:lstStyle/>
          <a:p>
            <a:pPr algn="l">
              <a:lnSpc>
                <a:spcPts val="2072"/>
              </a:lnSpc>
              <a:spcBef>
                <a:spcPts val="0"/>
              </a:spcBef>
              <a:spcAft>
                <a:spcPts val="0"/>
              </a:spcAft>
              <a:buNone/>
              <a:defRPr sz="1850" b="0">
                <a:solidFill>
                  <a:srgbClr val="303437"/>
                </a:solidFill>
                <a:latin typeface="Noto Sans"/>
              </a:defRPr>
            </a:pPr>
            <a:r>
              <a:rPr sz="1850" b="1" lang="ja-JP" altLang="en-US">
                <a:solidFill>
                  <a:srgbClr val="303437"/>
                </a:solidFill>
                <a:latin typeface="Noto Sans"/>
                <a:ea typeface="Noto Sans CJK JP"/>
                <a:cs typeface="Noto Sans"/>
              </a:rPr>
              <a:t>allenai/multi_lexsum</a:t>
            </a:r>
          </a:p>
        </p:txBody>
      </p:sp>
      <p:sp>
        <p:nvSpPr>
          <p:cNvPr id="9" name="TextBox 8"/>
          <p:cNvSpPr txBox="1"/>
          <p:nvPr/>
        </p:nvSpPr>
        <p:spPr>
          <a:xfrm>
            <a:off x="548640" y="3685031"/>
            <a:ext cx="8046720" cy="256032"/>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Multi-LexSum team・v1.0 / v1.1・Hugging Face</a:t>
            </a:r>
          </a:p>
        </p:txBody>
      </p:sp>
      <p:sp>
        <p:nvSpPr>
          <p:cNvPr id="10" name="TextBox 9"/>
          <p:cNvSpPr txBox="1"/>
          <p:nvPr/>
        </p:nvSpPr>
        <p:spPr>
          <a:xfrm>
            <a:off x="548640" y="3950208"/>
            <a:ext cx="8046720" cy="438912"/>
          </a:xfrm>
          <a:prstGeom prst="rect">
            <a:avLst/>
          </a:prstGeom>
          <a:noFill/>
        </p:spPr>
        <p:txBody>
          <a:bodyPr wrap="square" lIns="0" rIns="0" tIns="0" bIns="0">
            <a:noAutofit/>
          </a:bodyPr>
          <a:lstStyle/>
          <a:p>
            <a:pPr algn="l">
              <a:lnSpc>
                <a:spcPts val="1913"/>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要約と文書を配布し、版ごとのメタデータと利用条件を示す。</a:t>
            </a:r>
          </a:p>
        </p:txBody>
      </p:sp>
      <p:sp>
        <p:nvSpPr>
          <p:cNvPr id="11" name="TextBox 10"/>
          <p:cNvSpPr txBox="1"/>
          <p:nvPr/>
        </p:nvSpPr>
        <p:spPr>
          <a:xfrm>
            <a:off x="548640" y="4407408"/>
            <a:ext cx="8046720" cy="347472"/>
          </a:xfrm>
          <a:prstGeom prst="rect">
            <a:avLst/>
          </a:prstGeom>
          <a:noFill/>
        </p:spPr>
        <p:txBody>
          <a:bodyPr wrap="square" lIns="0" rIns="0" tIns="0" bIns="0">
            <a:noAutofit/>
          </a:bodyPr>
          <a:lstStyle/>
          <a:p>
            <a:pPr algn="l">
              <a:lnSpc>
                <a:spcPts val="1088"/>
              </a:lnSpc>
              <a:spcBef>
                <a:spcPts val="0"/>
              </a:spcBef>
              <a:spcAft>
                <a:spcPts val="0"/>
              </a:spcAft>
              <a:buNone/>
              <a:defRPr sz="930" b="0">
                <a:solidFill>
                  <a:srgbClr val="303437"/>
                </a:solidFill>
                <a:latin typeface="Noto Sans"/>
              </a:defRPr>
            </a:pPr>
            <a:r>
              <a:rPr sz="930" b="0" lang="ja-JP" altLang="en-US">
                <a:solidFill>
                  <a:srgbClr val="2166AC"/>
                </a:solidFill>
                <a:latin typeface="Noto Sans"/>
                <a:ea typeface="Noto Sans CJK JP"/>
                <a:cs typeface="Noto Sans"/>
                <a:hlinkClick r:id="rId3"/>
              </a:rPr>
              <a:t>https://huggingface.co/datasets/allenai/multi_lexsum</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TextBox 3"/>
          <p:cNvSpPr txBox="1"/>
          <p:nvPr/>
        </p:nvSpPr>
        <p:spPr>
          <a:xfrm>
            <a:off x="548640" y="1444752"/>
            <a:ext cx="8046720" cy="640080"/>
          </a:xfrm>
          <a:prstGeom prst="rect">
            <a:avLst/>
          </a:prstGeom>
          <a:noFill/>
        </p:spPr>
        <p:txBody>
          <a:bodyPr wrap="square" lIns="0" rIns="0" tIns="0" bIns="0">
            <a:noAutofit/>
          </a:bodyPr>
          <a:lstStyle/>
          <a:p>
            <a:pPr algn="l">
              <a:lnSpc>
                <a:spcPts val="2072"/>
              </a:lnSpc>
              <a:spcBef>
                <a:spcPts val="0"/>
              </a:spcBef>
              <a:spcAft>
                <a:spcPts val="0"/>
              </a:spcAft>
              <a:buNone/>
              <a:defRPr sz="1850" b="0">
                <a:solidFill>
                  <a:srgbClr val="303437"/>
                </a:solidFill>
                <a:latin typeface="Noto Sans"/>
              </a:defRPr>
            </a:pPr>
            <a:r>
              <a:rPr sz="1850" b="1" lang="ja-JP" altLang="en-US">
                <a:solidFill>
                  <a:srgbClr val="303437"/>
                </a:solidFill>
                <a:latin typeface="Noto Sans"/>
                <a:ea typeface="Noto Sans CJK JP"/>
                <a:cs typeface="Noto Sans"/>
              </a:rPr>
              <a:t>HELM LegalSummarizationScenario</a:t>
            </a:r>
          </a:p>
        </p:txBody>
      </p:sp>
      <p:sp>
        <p:nvSpPr>
          <p:cNvPr id="5" name="TextBox 4"/>
          <p:cNvSpPr txBox="1"/>
          <p:nvPr/>
        </p:nvSpPr>
        <p:spPr>
          <a:xfrm>
            <a:off x="548640" y="2112264"/>
            <a:ext cx="8046720" cy="256032"/>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Stanford CRFM・v0.4.0・公式実装</a:t>
            </a:r>
          </a:p>
        </p:txBody>
      </p:sp>
      <p:sp>
        <p:nvSpPr>
          <p:cNvPr id="6" name="TextBox 5"/>
          <p:cNvSpPr txBox="1"/>
          <p:nvPr/>
        </p:nvSpPr>
        <p:spPr>
          <a:xfrm>
            <a:off x="548640" y="2377440"/>
            <a:ext cx="8046720" cy="438912"/>
          </a:xfrm>
          <a:prstGeom prst="rect">
            <a:avLst/>
          </a:prstGeom>
          <a:noFill/>
        </p:spPr>
        <p:txBody>
          <a:bodyPr wrap="square" lIns="0" rIns="0" tIns="0" bIns="0">
            <a:noAutofit/>
          </a:bodyPr>
          <a:lstStyle/>
          <a:p>
            <a:pPr algn="l">
              <a:lnSpc>
                <a:spcPts val="1913"/>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MultiLexSumのLong→Short読み込みと、空白整形・長さ条件を実装する。</a:t>
            </a:r>
          </a:p>
        </p:txBody>
      </p:sp>
      <p:sp>
        <p:nvSpPr>
          <p:cNvPr id="7" name="TextBox 6"/>
          <p:cNvSpPr txBox="1"/>
          <p:nvPr/>
        </p:nvSpPr>
        <p:spPr>
          <a:xfrm>
            <a:off x="548640" y="2834640"/>
            <a:ext cx="8046720" cy="347472"/>
          </a:xfrm>
          <a:prstGeom prst="rect">
            <a:avLst/>
          </a:prstGeom>
          <a:noFill/>
        </p:spPr>
        <p:txBody>
          <a:bodyPr wrap="square" lIns="0" rIns="0" tIns="0" bIns="0">
            <a:noAutofit/>
          </a:bodyPr>
          <a:lstStyle/>
          <a:p>
            <a:pPr algn="l">
              <a:lnSpc>
                <a:spcPts val="1088"/>
              </a:lnSpc>
              <a:spcBef>
                <a:spcPts val="0"/>
              </a:spcBef>
              <a:spcAft>
                <a:spcPts val="0"/>
              </a:spcAft>
              <a:buNone/>
              <a:defRPr sz="930" b="0">
                <a:solidFill>
                  <a:srgbClr val="303437"/>
                </a:solidFill>
                <a:latin typeface="Noto Sans"/>
              </a:defRPr>
            </a:pPr>
            <a:r>
              <a:rPr sz="930" b="0" lang="ja-JP" altLang="en-US">
                <a:solidFill>
                  <a:srgbClr val="2166AC"/>
                </a:solidFill>
                <a:latin typeface="Noto Sans"/>
                <a:ea typeface="Noto Sans CJK JP"/>
                <a:cs typeface="Noto Sans"/>
                <a:hlinkClick r:id="rId2"/>
              </a:rPr>
              <a:t>https://github.com/stanford-crfm/helm/blob/v0.4.0/src/helm/benchmark/scenarios/legal_summarization_scenario.py</a:t>
            </a:r>
          </a:p>
        </p:txBody>
      </p:sp>
      <p:sp>
        <p:nvSpPr>
          <p:cNvPr id="8" name="TextBox 7"/>
          <p:cNvSpPr txBox="1"/>
          <p:nvPr/>
        </p:nvSpPr>
        <p:spPr>
          <a:xfrm>
            <a:off x="548640" y="3017520"/>
            <a:ext cx="8046720" cy="640080"/>
          </a:xfrm>
          <a:prstGeom prst="rect">
            <a:avLst/>
          </a:prstGeom>
          <a:noFill/>
        </p:spPr>
        <p:txBody>
          <a:bodyPr wrap="square" lIns="0" rIns="0" tIns="0" bIns="0">
            <a:noAutofit/>
          </a:bodyPr>
          <a:lstStyle/>
          <a:p>
            <a:pPr algn="l">
              <a:lnSpc>
                <a:spcPts val="2072"/>
              </a:lnSpc>
              <a:spcBef>
                <a:spcPts val="0"/>
              </a:spcBef>
              <a:spcAft>
                <a:spcPts val="0"/>
              </a:spcAft>
              <a:buNone/>
              <a:defRPr sz="1850" b="0">
                <a:solidFill>
                  <a:srgbClr val="303437"/>
                </a:solidFill>
                <a:latin typeface="Noto Sans"/>
              </a:defRPr>
            </a:pPr>
            <a:r>
              <a:rPr sz="1850" b="1" lang="ja-JP" altLang="en-US">
                <a:solidFill>
                  <a:srgbClr val="303437"/>
                </a:solidFill>
                <a:latin typeface="Noto Sans"/>
                <a:ea typeface="Noto Sans CJK JP"/>
                <a:cs typeface="Noto Sans"/>
              </a:rPr>
              <a:t>Holistic Evaluation of Language Models</a:t>
            </a:r>
          </a:p>
        </p:txBody>
      </p:sp>
      <p:sp>
        <p:nvSpPr>
          <p:cNvPr id="9" name="TextBox 8"/>
          <p:cNvSpPr txBox="1"/>
          <p:nvPr/>
        </p:nvSpPr>
        <p:spPr>
          <a:xfrm>
            <a:off x="548640" y="3685031"/>
            <a:ext cx="8046720" cy="256032"/>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Liang et al.・2023・TMLR</a:t>
            </a:r>
          </a:p>
        </p:txBody>
      </p:sp>
      <p:sp>
        <p:nvSpPr>
          <p:cNvPr id="10" name="TextBox 9"/>
          <p:cNvSpPr txBox="1"/>
          <p:nvPr/>
        </p:nvSpPr>
        <p:spPr>
          <a:xfrm>
            <a:off x="548640" y="3950208"/>
            <a:ext cx="8046720" cy="438912"/>
          </a:xfrm>
          <a:prstGeom prst="rect">
            <a:avLst/>
          </a:prstGeom>
          <a:noFill/>
        </p:spPr>
        <p:txBody>
          <a:bodyPr wrap="square" lIns="0" rIns="0" tIns="0" bIns="0">
            <a:noAutofit/>
          </a:bodyPr>
          <a:lstStyle/>
          <a:p>
            <a:pPr algn="l">
              <a:lnSpc>
                <a:spcPts val="1913"/>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課題・指標・モデルを共通の条件で比較する評価基盤を提案する。</a:t>
            </a:r>
          </a:p>
        </p:txBody>
      </p:sp>
      <p:sp>
        <p:nvSpPr>
          <p:cNvPr id="11" name="TextBox 10"/>
          <p:cNvSpPr txBox="1"/>
          <p:nvPr/>
        </p:nvSpPr>
        <p:spPr>
          <a:xfrm>
            <a:off x="548640" y="4407408"/>
            <a:ext cx="8046720" cy="347472"/>
          </a:xfrm>
          <a:prstGeom prst="rect">
            <a:avLst/>
          </a:prstGeom>
          <a:noFill/>
        </p:spPr>
        <p:txBody>
          <a:bodyPr wrap="square" lIns="0" rIns="0" tIns="0" bIns="0">
            <a:noAutofit/>
          </a:bodyPr>
          <a:lstStyle/>
          <a:p>
            <a:pPr algn="l">
              <a:lnSpc>
                <a:spcPts val="1088"/>
              </a:lnSpc>
              <a:spcBef>
                <a:spcPts val="0"/>
              </a:spcBef>
              <a:spcAft>
                <a:spcPts val="0"/>
              </a:spcAft>
              <a:buNone/>
              <a:defRPr sz="930" b="0">
                <a:solidFill>
                  <a:srgbClr val="303437"/>
                </a:solidFill>
                <a:latin typeface="Noto Sans"/>
              </a:defRPr>
            </a:pPr>
            <a:r>
              <a:rPr sz="930" b="0" lang="ja-JP" altLang="en-US">
                <a:solidFill>
                  <a:srgbClr val="2166AC"/>
                </a:solidFill>
                <a:latin typeface="Noto Sans"/>
                <a:ea typeface="Noto Sans CJK JP"/>
                <a:cs typeface="Noto Sans"/>
                <a:hlinkClick r:id="rId3"/>
              </a:rPr>
              <a:t>https://arxiv.org/abs/2211.09110</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2026-10-18T07:49:58Z</dcterms:modified>
  <dc:title>multilexsum</dc:title>
  <dc:creator>sasakiy84</dc:creator>
  <dcterms:created xsi:type="dcterms:W3CDTF">2026-10-18T07:49:58Z</dcterms:created>
  <dc:language>ja-JP</dc:language>
</cp:coreProperties>
</file>