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80" r:id="rId30"/>
    <p:sldId id="274" r:id="rId24"/>
    <p:sldId id="275" r:id="rId25"/>
    <p:sldId id="276" r:id="rId26"/>
    <p:sldId id="277" r:id="rId27"/>
    <p:sldId id="278" r:id="rId28"/>
    <p:sldId id="279" r:id="rId29"/>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301" r:id="rId51"/>
    <p:sldId id="302" r:id="rId52"/>
    <p:sldId id="303" r:id="rId53"/>
    <p:sldId id="304" r:id="rId5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16.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microsoft.github.io/msmarco/"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611.09268" TargetMode="External"/><Relationship Id="rId3" Type="http://schemas.openxmlformats.org/officeDocument/2006/relationships/hyperlink" Target="https://github.com/stanford-crfm/helm/tree/v0.3.0/src/helm/benchmar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3.07820" TargetMode="External"/><Relationship Id="rId3" Type="http://schemas.openxmlformats.org/officeDocument/2006/relationships/hyperlink" Target="https://github.com/stanford-crfm/helm/tree/v0.3.0/src/helm/benchmar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icrosoft/MSMARCO-Passage-Ranking" TargetMode="External"/><Relationship Id="rId3" Type="http://schemas.openxmlformats.org/officeDocument/2006/relationships/hyperlink" Target="https://github.com/stanford-crfm/helm/tree/v0.3.0/src/helm/benchmar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tree/v0.3.0/src/helm/benchmark" TargetMode="External"/><Relationship Id="rId3" Type="http://schemas.openxmlformats.org/officeDocument/2006/relationships/hyperlink" Target="https://arxiv.org/abs/2003.0782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03.0671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1611.09268" TargetMode="External"/><Relationship Id="rId3" Type="http://schemas.openxmlformats.org/officeDocument/2006/relationships/hyperlink" Target="https://github.com/microsoft/MSMARCO-Passage-Ranki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microsoft/MSMARCO-Passage-Ranking" TargetMode="External"/><Relationship Id="rId3" Type="http://schemas.openxmlformats.org/officeDocument/2006/relationships/hyperlink" Target="https://arxiv.org/abs/2003.0782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microsoft.github.io/msmarco/" TargetMode="External"/><Relationship Id="rId3" Type="http://schemas.openxmlformats.org/officeDocument/2006/relationships/hyperlink" Target="https://github.com/microsoft/MSMARCO-Passage-Rankin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icrosoft/MSMARCO-Passage-Ranking" TargetMode="External"/><Relationship Id="rId3" Type="http://schemas.openxmlformats.org/officeDocument/2006/relationships/hyperlink" Target="https://arxiv.org/abs/2003.0782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3.06713" TargetMode="External"/><Relationship Id="rId3" Type="http://schemas.openxmlformats.org/officeDocument/2006/relationships/hyperlink" Target="https://github.com/huggingface/sentence-transformers/tree/master/examples/cross_encoder/training/ms_marco"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icrosoft/MSMARCO-Passage-Rank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microsoft.github.io/msmarco/"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microsoft/MSMARCO-Passage-Ranking" TargetMode="External"/><Relationship Id="rId3" Type="http://schemas.openxmlformats.org/officeDocument/2006/relationships/hyperlink" Target="https://crfm.stanford.edu/helm/classic/v0.4.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1611.09268" TargetMode="External"/><Relationship Id="rId3" Type="http://schemas.openxmlformats.org/officeDocument/2006/relationships/hyperlink" Target="https://arxiv.org/abs/2003.07820"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03.06713" TargetMode="External"/><Relationship Id="rId3" Type="http://schemas.openxmlformats.org/officeDocument/2006/relationships/hyperlink" Target="https://arxiv.org/abs/2211.09110" TargetMode="External"/><Relationship Id="rId4" Type="http://schemas.openxmlformats.org/officeDocument/2006/relationships/hyperlink" Target="https://github.com/microsoft/MSMARCO-Passage-Rankin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microsoft/MSMARCO-Passage-Ranking" TargetMode="External"/><Relationship Id="rId3" Type="http://schemas.openxmlformats.org/officeDocument/2006/relationships/hyperlink" Target="https://github.com/huggingface/sentence-transformers/tree/master/examples/cross_encoder/training/ms_marc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MS MARCO</a:t>
            </a:r>
          </a:p>
        </p:txBody>
      </p:sp>
      <p:sp>
        <p:nvSpPr>
          <p:cNvPr id="3" name="Subtitle 2"/>
          <p:cNvSpPr>
            <a:spLocks noGrp="1"/>
          </p:cNvSpPr>
          <p:nvPr>
            <p:ph type="subTitle" idx="1"/>
          </p:nvPr>
        </p:nvSpPr>
        <p:spPr>
          <a:xfrm>
            <a:off x="548640" y="2647277"/>
            <a:ext cx="8046720" cy="1091565"/>
          </a:xfrm>
        </p:spPr>
        <p:txBody>
          <a:bodyPr lIns="0" rIns="0" tIns="0" bIns="1016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Microsoft MAchine Reading COmprehension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検索質問に答える文章を上位に並べる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MS MARCO</a:t>
            </a:r>
          </a:p>
        </p:txBody>
      </p:sp>
      <p:pic>
        <p:nvPicPr>
          <p:cNvPr id="4" name="Picture 3" descr="official-site.png"/>
          <p:cNvPicPr>
            <a:picLocks noChangeAspect="1"/>
          </p:cNvPicPr>
          <p:nvPr/>
        </p:nvPicPr>
        <p:blipFill>
          <a:blip r:embed="rId2"/>
          <a:stretch>
            <a:fillRect/>
          </a:stretch>
        </p:blipFill>
        <p:spPr>
          <a:xfrm>
            <a:off x="1977255" y="1481328"/>
            <a:ext cx="518948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https://microsoft.github.io/msmarco/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検索質問と関連する文章</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検索結果の順位を評価する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データの成立と構成</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検索研究での利用と入手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検索質問と関連する文章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検索質問に答える文章を上位に並べる</a:t>
            </a:r>
          </a:p>
        </p:txBody>
      </p:sp>
      <p:sp>
        <p:nvSpPr>
          <p:cNvPr id="3" name="Text Placeholder 2"/>
          <p:cNvSpPr>
            <a:spLocks noGrp="1"/>
          </p:cNvSpPr>
          <p:nvPr>
            <p:ph type="body" idx="1"/>
          </p:nvPr>
        </p:nvSpPr>
        <p:spPr>
          <a:xfrm>
            <a:off x="594360" y="1285240"/>
            <a:ext cx="7955279" cy="3197352"/>
          </a:xfrm>
        </p:spPr>
        <p:txBody>
          <a:bodyPr wrap="square" tIns="91440" bIns="243840">
            <a:noAutofit/>
          </a:bodyPr>
          <a:lstStyle/>
          <a:p>
            <a:pPr marL="457200" indent="-355600">
              <a:lnSpc>
                <a:spcPts val="2499"/>
              </a:lnSpc>
              <a:spcAft>
                <a:spcPts val="700"/>
              </a:spcAft>
              <a:buSzPct val="57826"/>
              <a:buFont typeface="Noto Sans CJK JP"/>
              <a:buChar char="●"/>
              <a:defRPr sz="2300" b="0">
                <a:solidFill>
                  <a:srgbClr val="303437"/>
                </a:solidFill>
                <a:latin typeface="Noto Sans"/>
              </a:defRPr>
            </a:pPr>
            <a:r>
              <a:rPr sz="2100" b="0" lang="ja-JP" altLang="en-US">
                <a:solidFill>
                  <a:srgbClr val="303437"/>
                </a:solidFill>
                <a:latin typeface="Noto Sans"/>
                <a:ea typeface="Noto Sans CJK JP"/>
                <a:cs typeface="Noto Sans"/>
              </a:rPr>
              <a:t>Bingで実際に使われた質問と、Webから集めた文章を対応させたデータセット群。2016年に読解・質問応答用として登場した。</a:t>
            </a:r>
          </a:p>
          <a:p>
            <a:pPr marL="457200" indent="-355600">
              <a:lnSpc>
                <a:spcPts val="2499"/>
              </a:lnSpc>
              <a:spcAft>
                <a:spcPts val="700"/>
              </a:spcAft>
              <a:buSzPct val="57826"/>
              <a:buFont typeface="Noto Sans CJK JP"/>
              <a:buChar char="●"/>
              <a:defRPr sz="2300" b="0">
                <a:solidFill>
                  <a:srgbClr val="303437"/>
                </a:solidFill>
                <a:latin typeface="Noto Sans"/>
              </a:defRPr>
            </a:pPr>
            <a:r>
              <a:rPr sz="2100" b="0" lang="ja-JP" altLang="en-US">
                <a:solidFill>
                  <a:srgbClr val="303437"/>
                </a:solidFill>
                <a:latin typeface="Noto Sans"/>
                <a:ea typeface="Noto Sans CJK JP"/>
                <a:cs typeface="Noto Sans"/>
              </a:rPr>
              <a:t>文章検索（passage ranking）では、約884万件の文章から、質問に関連する文章を上位に並べる。ここでは、通常の文章検索とTREC 2019の評価集合を扱う。</a:t>
            </a:r>
          </a:p>
          <a:p>
            <a:pPr marL="457200" indent="-355600">
              <a:lnSpc>
                <a:spcPts val="2499"/>
              </a:lnSpc>
              <a:spcAft>
                <a:spcPts val="0"/>
              </a:spcAft>
              <a:buSzPct val="57826"/>
              <a:buFont typeface="Noto Sans CJK JP"/>
              <a:buChar char="●"/>
              <a:defRPr sz="2300" b="0">
                <a:solidFill>
                  <a:srgbClr val="303437"/>
                </a:solidFill>
                <a:latin typeface="Noto Sans"/>
              </a:defRPr>
            </a:pPr>
            <a:r>
              <a:rPr sz="2100" b="0" lang="ja-JP" altLang="en-US">
                <a:solidFill>
                  <a:srgbClr val="303437"/>
                </a:solidFill>
                <a:latin typeface="Noto Sans"/>
                <a:ea typeface="Noto Sans CJK JP"/>
                <a:cs typeface="Noto Sans"/>
              </a:rPr>
              <a:t>Microsoftの研究チームが、実際の検索利用に根ざした機械読解の研究用に構築した。検索モデルの学習・評価にも広く使われる。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Bajaj et al. (2016). MS MARCO: A Human Generated MAchine Reading COmprehension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https://arxiv.org/abs/1611.09268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実例1：メガネグマの体重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2429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how much does a spectacled bear weigh</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Male spectacled bears are much larger than female spectacled bears, giving local farmers the impression that they live with more than one species of bear. Male bears weigh from 120 to 340 pounds 54 to 154 kg); females weigh 60 to 180 pounds (27 to 82 kg). At birth, cubs weigh from 10 to 11 ounces (284 to 312 grams).</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446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質問：メガネグマの体重はどのくらいか。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文章：オスのメガネグマはメスよりはるかに大きく、地元の農家には複数種のクマがいるように思われる。オスの体重は120〜340ポンド（54〜154 kg）、メスは60〜180ポンド（27〜82 kg）。生まれたときの子グマの体重は10〜11オンス（284〜312 g）である。</a:t>
            </a:r>
          </a:p>
        </p:txBody>
      </p:sp>
      <p:sp>
        <p:nvSpPr>
          <p:cNvPr id="8" name="TextBox 7"/>
          <p:cNvSpPr txBox="1"/>
          <p:nvPr/>
        </p:nvSpPr>
        <p:spPr>
          <a:xfrm>
            <a:off x="594360" y="40958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答えを含んでも、未判定の文章がある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メガネグマの質問では、オス・メス・子グマの体重を説明した文章に、関連するというラベルが付いている。</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候補には別のメガネグマの説明もあり、体重が書かれているが、関連ラベルは付いていない。</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通常の文章検索では、回答作成に使った一部の文章から関連ラベルを得ている。全候補の関連性を判定した集合ではない。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実例2：価格を尋ねる検索質問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4" name="TextBox 3"/>
          <p:cNvSpPr txBox="1"/>
          <p:nvPr/>
        </p:nvSpPr>
        <p:spPr>
          <a:xfrm>
            <a:off x="548640" y="1344168"/>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4876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Query: what is wholesale price dungeness crab</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Passage: Dungeness Crab Prices 2014/2015 Season. DezzerSF | Nov 17, 2014. New May Wah on Clement was selling dungeness for $4.99/lb last Saturday night. I bought two for a total of 4.6lbs. 1 was lively, the other not so much. I've had sweeter, but not sure where the crabs were from, didn't ask.</a:t>
            </a:r>
          </a:p>
        </p:txBody>
      </p:sp>
      <p:sp>
        <p:nvSpPr>
          <p:cNvPr id="6" name="TextBox 5"/>
          <p:cNvSpPr txBox="1"/>
          <p:nvPr/>
        </p:nvSpPr>
        <p:spPr>
          <a:xfrm>
            <a:off x="594360" y="35963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実例2：価格を尋ねる検索質問（日本語訳）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4" name="TextBox 3"/>
          <p:cNvSpPr txBox="1"/>
          <p:nvPr/>
        </p:nvSpPr>
        <p:spPr>
          <a:xfrm>
            <a:off x="548640" y="1344168"/>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日本語訳（質問・文章の全文）</a:t>
            </a:r>
          </a:p>
        </p:txBody>
      </p:sp>
      <p:sp>
        <p:nvSpPr>
          <p:cNvPr id="5" name="quote-frame"/>
          <p:cNvSpPr/>
          <p:nvPr/>
        </p:nvSpPr>
        <p:spPr>
          <a:xfrm>
            <a:off x="548640" y="1691640"/>
            <a:ext cx="8046720" cy="2252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039"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質問：ダンジネスクラブの卸売価格はいくらか。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文章：2014／2015年シーズンのダンジネスクラブ価格。DezzerSF、2014年11月17日。クレメント通りのNew May Wahでは、先週土曜の夜に1ポンド4.99ドルで販売していた。2匹を買い、合計4.6ポンドだった。1匹は元気で、もう1匹はそうでもなかった。もっと甘いものを食べたことはあるが、産地は聞かなかったので分からない。</a:t>
            </a:r>
          </a:p>
        </p:txBody>
      </p:sp>
      <p:sp>
        <p:nvSpPr>
          <p:cNvPr id="6" name="TextBox 5"/>
          <p:cNvSpPr txBox="1"/>
          <p:nvPr/>
        </p:nvSpPr>
        <p:spPr>
          <a:xfrm>
            <a:off x="594360" y="4019973"/>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検索質問と注釈にはずれも残る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卸売価格を尋ねる質問に対し、関連ラベルの文章は店頭で買った価格の体験談になっている。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文章には2014年の価格と場所が含まれる。元の質問は短く、時点や場所を明示していない。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利用者が書いた検索質問と、人が付けた関連ラベルの組を、そのまま評価材料にする。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実例3：法律名の定義と段階的な関連度</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9303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lps laws definition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LPS Act. LPS Act. a California law named for sponsors of the legislation (Lanterman, Petris, and Short) that provides for the protection and treatment of persons judged to be gravely disabled and thus unable to provide food, clothing, or shelter for themselves.</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735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質問：LPS法の定義。</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文章：LPS法。LPS法。法案の提案者Lanterman、Petris、Shortにちなむカリフォルニア州法。重度の障害があると判断され、そのために食料、衣服、住居を自力で確保できない人々の保護と治療を定める。</a:t>
            </a:r>
          </a:p>
        </p:txBody>
      </p:sp>
      <p:sp>
        <p:nvSpPr>
          <p:cNvPr id="8" name="TextBox 7"/>
          <p:cNvSpPr txBox="1"/>
          <p:nvPr/>
        </p:nvSpPr>
        <p:spPr>
          <a:xfrm>
            <a:off x="594360" y="3579367"/>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正解：関連度3（完全に関連）</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TRECでは関連の強さを4段階で付ける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TREC 2019 Deep Learning Trackは、同じ文章コレクションに対して、評価担当者が多くの候補を判定した。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関連度0は非関連、1は質問に関連するが答えを含まない、2は高度に関連、3は完全に関連。</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検索質問と関連する文章</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Craswell et al. (2020). Overview of the TREC 2019 Deep Learning Track.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https://arxiv.org/abs/2003.07820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検索結果の順位を評価する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検索結果の順位を評価する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最初の関連文章が何位かを測る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RR@10は、最初の関連文章がr位なら1/r、10位までにない場合は0。</a:t>
            </a:r>
          </a:p>
          <a:p>
            <a:pPr marL="457200" indent="-355600">
              <a:lnSpc>
                <a:spcPts val="2736"/>
              </a:lnSpc>
              <a:spcAft>
                <a:spcPts val="7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例として、最初の関連文章が1位なら1、2位なら0.5、10位なら0.1になる。</a:t>
            </a:r>
          </a:p>
          <a:p>
            <a:pPr marL="457200" indent="-355600">
              <a:lnSpc>
                <a:spcPts val="2736"/>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質問ごとの値を平均したMRR@10が、文章検索の代表的な指標となる。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検索結果の順位を評価する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https://github.com/microsoft/MSMARCO-Passage-Ranking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上位10件の関連度と順位をまとめて測る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NDCG@10は、上位10件の関連度を順位に応じて割り引いて足し、理想的な順位の値で正規化する。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TRECでは、非関連の0から完全に関連する3までの段階的な値を使う。強く関連する文章を上位に置くほど高得点になる。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最初の関連文章だけを見るRRと異なり、上位に複数の関連文章を並べたかも反映される。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検索結果の順位を評価する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Craswell et al. (2020). Overview of the TREC 2019 Deep Learning Track.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https://arxiv.org/abs/2003.07820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教師あり再ランキングの代表的な成績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検索結果の順位を評価する</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5760720"/>
                <a:gridCol w="228600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手法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dev MRR@10</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BM25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0.184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BM25 + BERT-large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0.372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BM25 + T5-base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0.363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BM25 + T5-large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0.383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2020年報告。BM25の候補を、MS MARCOで学習したモデルが再ランキング。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Nogueira, Jiang &amp; Lin (2020). Document Ranking with a Pretrained Sequence-to-Sequence Model.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https://arxiv.org/abs/2003.06713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データの成立と構成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データの成立と構成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Bingの検索質問から人が回答を書く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匿名化した実際のBing検索ログから、質問として使える英語の検索語を集めた。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検索結果から得た文章を人が読み、回答を書く。人が回答を書く際に選んだ文章を、関連する文章として使った。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その後、重複する文章を除いて約884万件のコレクションを作り、BM25で各質問の候補を取得した。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データの成立と構成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Bajaj et al. (2016). MS MARCO: A Human Generated MAchine Reading COmprehension Dataset.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https://arxiv.org/abs/1611.09268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https://github.com/microsoft/MSMARCO-Passage-Ranking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文章検索用コレクションと質問の規模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データの成立と構成</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4114800"/>
                <a:gridCol w="2011680"/>
                <a:gridCol w="19202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配布物</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単位</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文章コレクション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8,841,823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文章</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全質問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1,010,916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trainの質問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808,731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公開 dev.small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6,980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TREC 2019判定対象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質問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https://github.com/microsoft/MSMARCO-Passage-Ranking</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Craswell et al. (2020). Overview of the TREC 2019 Deep Learning Track.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https://arxiv.org/abs/2003.07820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同じ名称の下に複数の課題がある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質問応答では、提示された文章から自然言語の答えを作る。well-formed answerでは、文として整った回答も扱う。</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passage rankingは短い文章を、document rankingはWeb文書を検索する。文書版は本文の単位やコレクションが異なる。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ここで紹介するのは、v1のpassage rankingの文章と関連判定である。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データの成立と構成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https://microsoft.github.io/msmarco/</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https://github.com/microsoft/MSMARCO-Passage-Ranking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通常の文章検索は疎な判定、TRECは段階的な判定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通常の文章検索は、質問応答の回答作成で使った文章から関連ラベルを得る。候補の全文章を網羅的に判定したわけではない。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TRECは、参加システムの出力を集めたプールなどに対し、評価担当者が関連度0〜3を付ける。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公開dev.smallでは6,980質問を扱い、TREC 2019では43質問へ段階的な関連度を付けた。質問数や判定の密度に合わせて、指標と評価集合を選ぶ。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データの成立と構成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https://github.com/microsoft/MSMARCO-Passage-Ranking</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Craswell et al. (2020). Overview of the TREC 2019 Deep Learning Track.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https://arxiv.org/abs/2003.07820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検索研究での利用と入手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検索研究での利用と入手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質問と文章をまとめて読むモデルの学習に使う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BERTを使うcross-encoderは、質問と文章をまとめて読み、関連度を予測する。T5を使う方式は、関連／非関連を表す文字列を生成する。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学習時には、質問と正例・負例の文章を組にし、関連する文章をより高く採点するよう、モデルの重みを調整する。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Sentence Transformersでは、MS MARCOの質問と正例・負例を使ったcross-encoderの学習例を公開している。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検索研究での利用と入手</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Nogueira, Jiang &amp; Lin (2020). Document Ranking with a Pretrained Sequence-to-Sequence Model.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https://arxiv.org/abs/2003.06713</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Sentence Transformers. MS MARCO cross-encoder training example (accessed 2026-10-18).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https://github.com/huggingface/sentence-transformers/tree/master/examples/cross_encoder/training/ms_marco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必要なファイルを課題に合わせて選ぶ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文章本文にはcollection、質問にはqueries、関連度の正解にはqrels、既存候補の再ランキングにはtop1000を使う。</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公式配布表では、collection.tar.gzは約2.9 GB、queries.tar.gzは約42 MB。圧縮配布物の掲載値である。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公式の評価用集合では正解ラベルを公開していない。公開devで検証し、公式評価には所定の形式で順位を提出する。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検索研究での利用と入手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https://github.com/microsoft/MSMARCO-Passage-Ranking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非商用の研究目的で配布される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公式の条件は、人工知能と関連分野の進展を目的とする非商用研究での利用を対象としている。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文章にはWeb由来の内容が含まれ、配布は元文書の知的財産権の許諾を追加するものではない。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検索研究での利用と入手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https://microsoft.github.io/msmarco/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実際の検索質問で、文章の探し方を評価する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MS MARCOは、実際の検索質問とWebの文章を結び付け、質問応答から大規模な文章検索へ発展した。</a:t>
            </a:r>
          </a:p>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通常の文章検索は多数の質問と疎な関連判定、TREC 2019は少数の質問と段階的な判定を提供する。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検索モデルの学習や、既存の候補を並べ替える再ランキングに使える。公開devで検証し、公式評価には質問ごとの順位を提出する。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検索研究での利用と入手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Microsoft. MS MARCO Passage Ranking.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https://github.com/microsoft/MSMARCO-Passage-Ranking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実例4：燃料の利点を説明する文章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2429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what are the benefits of fossil fuels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Benefits of fossil fuels. Fossil fuels are basically the remains of animals and plants and these are good energy resources. The three main fossil fuels are natural gas, oil, and coal. Fossil fuels are low in cost and are very important resources for our economy. Fossil fuels are used to generate electricity used as fuels for transportation. Because of their low costs, they are available to one and all.</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質問：化石燃料にはどのような利点があるか。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化石燃料の利点。化石燃料は基本的に動植物の遺骸であり、よいエネルギー資源である。主な3種類は天然ガス、石油、石炭。化石燃料は低コストで、経済にとって非常に重要な資源である。発電や輸送用の燃料として使われる。低コストなので、誰もが利用できる。</a:t>
            </a:r>
          </a:p>
        </p:txBody>
      </p:sp>
      <p:sp>
        <p:nvSpPr>
          <p:cNvPr id="8" name="TextBox 7"/>
          <p:cNvSpPr txBox="1"/>
          <p:nvPr/>
        </p:nvSpPr>
        <p:spPr>
          <a:xfrm>
            <a:off x="594360" y="40789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実例5：相関と回帰の違い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2387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can a correlational study use regression analysis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It is important to recognize that regression analysis is fundamentally different from. ascertaining the correlations among different variables. Correlation determines the. strength of the relationship between variables, while regression attempts to describe that. relationship between these variables in more detail.</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64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質問：相関研究で回帰分析を使えるか。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文章：回帰分析は、複数の変数の相関を確かめることとは根本的に異なると理解する必要がある。相関は変数間の関係の強さを示す。一方、回帰はその変数間の関係を、より詳しく記述しようとする。</a:t>
            </a:r>
          </a:p>
        </p:txBody>
      </p:sp>
      <p:sp>
        <p:nvSpPr>
          <p:cNvPr id="8" name="TextBox 7"/>
          <p:cNvSpPr txBox="1"/>
          <p:nvPr/>
        </p:nvSpPr>
        <p:spPr>
          <a:xfrm>
            <a:off x="594360" y="4036567"/>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実例6：利息の質問と費用の説明</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9303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is home improvement interest deductible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If you use your home purely as your personal residence, you cannot deduct the cost of home improvements. These costs are nondeductible personal expenses. However, this doesn't mean that home improvements do not have a tax benefit.</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質問：住宅改修の利息は控除できるか。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文章：自宅を純粋に個人の住居として使う場合、住宅改修費用は控除できない。これらは控除できない個人的な支出である。ただし、住宅改修に税務上の利点がないという意味ではない。</a:t>
            </a:r>
          </a:p>
        </p:txBody>
      </p:sp>
      <p:sp>
        <p:nvSpPr>
          <p:cNvPr id="8" name="TextBox 7"/>
          <p:cNvSpPr txBox="1"/>
          <p:nvPr/>
        </p:nvSpPr>
        <p:spPr>
          <a:xfrm>
            <a:off x="594360" y="3604768"/>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実例7：不満を表すharumphの意味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524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harumph define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Harumph is defined as  an expression of dissatisfaction, disdain or unhappiness. When someone tells you do to something you don't want to do, this is an example of a situation where you might say harumph.</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540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質問：harumphを定義せよ。</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文章：harumphは、不満、軽蔑、または不機嫌な気持ちの表現と定義される。例えば、やりたくないことをするよう誰かに言われたときに、harumphと言うことがある。</a:t>
            </a:r>
          </a:p>
        </p:txBody>
      </p:sp>
      <p:sp>
        <p:nvSpPr>
          <p:cNvPr id="8" name="TextBox 7"/>
          <p:cNvSpPr txBox="1"/>
          <p:nvPr/>
        </p:nvSpPr>
        <p:spPr>
          <a:xfrm>
            <a:off x="594360" y="31899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実例8：カバが息を止めていられる時間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how long can a hippo hold its breath underwater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Quick Answer. When submerged underwater, hippos can hold their breath for 5 minutes or even longer if needed. Hippos have nostrils located on the top of their heads, which allows them to breathe even if the rest of their body is under water. Continue Reading.</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735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質問：カバは水中でどのくらい息を止めていられるか。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文章：簡潔な答え。カバは水に潜ると、5分間、必要ならそれ以上も息を止められる。鼻孔は頭の上にあるので、体のほかの部分が水中にあっても呼吸できる。続きを読む。</a:t>
            </a:r>
          </a:p>
        </p:txBody>
      </p:sp>
      <p:sp>
        <p:nvSpPr>
          <p:cNvPr id="8" name="TextBox 7"/>
          <p:cNvSpPr txBox="1"/>
          <p:nvPr/>
        </p:nvSpPr>
        <p:spPr>
          <a:xfrm>
            <a:off x="594360" y="36217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実例9：天文学者の定義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744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define astronomers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The definition of an astronomer is a scientist who studies matter and objects in outer space. Someone who observes the stars and makes notes about their movements is an example of an astronomer. an expert in astronomy. noun.</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515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質問：天文学者を定義せよ。</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文章：天文学者とは、宇宙空間の物質や天体を研究する科学者である。星を観測し、その動きを記録する人は天文学者の一例である。天文学の専門家。名詞。</a:t>
            </a:r>
          </a:p>
        </p:txBody>
      </p:sp>
      <p:sp>
        <p:nvSpPr>
          <p:cNvPr id="8" name="TextBox 7"/>
          <p:cNvSpPr txBox="1"/>
          <p:nvPr/>
        </p:nvSpPr>
        <p:spPr>
          <a:xfrm>
            <a:off x="594360" y="33931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実例10：ルーターの役割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60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34668"/>
            <a:ext cx="4480560" cy="2158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what is a router meaning</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Router (computing) A router is a networking device that forwards data packets between computer networks. Routers perform the traffic directing functions on the Internet. A data packet is typically forwarded from one router to another router through the networks that constitute the internetwork until it reaches its destination node.</a:t>
            </a:r>
          </a:p>
        </p:txBody>
      </p:sp>
      <p:sp>
        <p:nvSpPr>
          <p:cNvPr id="6" name="TextBox 5"/>
          <p:cNvSpPr txBox="1"/>
          <p:nvPr/>
        </p:nvSpPr>
        <p:spPr>
          <a:xfrm>
            <a:off x="5212080" y="13060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34668"/>
            <a:ext cx="3383280" cy="2633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質問：ルーターとは何か。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ルーター（コンピューティング）。ルーターは、コンピューターネットワーク間でデータパケットを転送するネットワーク機器である。インターネット上で通信の流れを制御する。通常、データパケットは、相互接続されたネットワークを通り、あるルーターから次のルーターへ転送されて、宛先のノードに届く。</a:t>
            </a:r>
          </a:p>
        </p:txBody>
      </p:sp>
      <p:sp>
        <p:nvSpPr>
          <p:cNvPr id="8" name="TextBox 7"/>
          <p:cNvSpPr txBox="1"/>
          <p:nvPr/>
        </p:nvSpPr>
        <p:spPr>
          <a:xfrm>
            <a:off x="594360" y="42440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実例11：水深を測る単位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744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when would you use a fathom measurement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A fathom is a unit of length in the imperial and the U.S. customary systems equal to 6 feet (1.8288 m), used especially for measuring the depth of water. There are two yards (6 feet) in an imperial fathom.</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64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質問：どのようなときにファゾムを使うか。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文章：ファゾムは、ヤード・ポンド法と米国慣用単位系の長さの単位で、6フィート（1.8288 m）に等しい。特に水深の測定に使われる。1ファゾムは2ヤード（6フィート）である。</a:t>
            </a:r>
          </a:p>
        </p:txBody>
      </p:sp>
      <p:sp>
        <p:nvSpPr>
          <p:cNvPr id="8" name="TextBox 7"/>
          <p:cNvSpPr txBox="1"/>
          <p:nvPr/>
        </p:nvSpPr>
        <p:spPr>
          <a:xfrm>
            <a:off x="594360" y="36132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実例12：地名の位置関係</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295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where is south easton ma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South Easton is in Bristol, Massachusetts in the New England region of the USA. It is located about 23 miles south of MA's capital city of Boston.</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735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質問：マサチューセッツ州サウスイーストンはどこか。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文章：サウスイーストンは、米国ニューイングランド地方のマサチューセッツ州ブリストルにある。州都ボストンから南へ約23マイルに位置する。</a:t>
            </a:r>
          </a:p>
        </p:txBody>
      </p:sp>
      <p:sp>
        <p:nvSpPr>
          <p:cNvPr id="8" name="TextBox 7"/>
          <p:cNvSpPr txBox="1"/>
          <p:nvPr/>
        </p:nvSpPr>
        <p:spPr>
          <a:xfrm>
            <a:off x="594360" y="33846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実例13：火成岩ができる過程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英語原文（質問・文章の全文）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Query: what processes are needed to form igneous rock</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Passage: In essence, igneous rocks are formed through the cooling and solidification of magma (or lava). As hot, molten rock rises to the surface, it undergoes changes in temperature and pressure that cause it to cool, solidify, and crystallize.</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質問：火成岩ができるにはどのような過程が必要か。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文章：基本的に火成岩は、マグマ（または溶岩）が冷却して固まることでできる。高温の溶融した岩石が地表へ上昇すると、温度と圧力の変化によって冷え、固まり、結晶化する。</a:t>
            </a:r>
          </a:p>
        </p:txBody>
      </p:sp>
      <p:sp>
        <p:nvSpPr>
          <p:cNvPr id="8" name="TextBox 7"/>
          <p:cNvSpPr txBox="1"/>
          <p:nvPr/>
        </p:nvSpPr>
        <p:spPr>
          <a:xfrm>
            <a:off x="594360" y="36217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正解：関連する（1）</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MS MARCO: public input records.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MS MARCO: A Human Generated MAchine Reading COmprehension Dataset"/>
          <p:cNvSpPr txBox="1"/>
          <p:nvPr/>
        </p:nvSpPr>
        <p:spPr>
          <a:xfrm>
            <a:off x="548640" y="1463040"/>
            <a:ext cx="8046720" cy="1868593"/>
          </a:xfrm>
          <a:prstGeom prst="rect">
            <a:avLst/>
          </a:prstGeom>
          <a:noFill/>
        </p:spPr>
        <p:txBody>
          <a:bodyPr wrap="square" lIns="0" rIns="0" tIns="0" bIns="253153">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MS MARCO: A Human Generated MAchine Reading COmprehension Dataset</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Payal Bajaj et al. (2016). arXiv:1611.09268.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実際の検索質問、検索結果の文章、人が書いた回答からなる読解データセットを報告する。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https://arxiv.org/abs/1611.09268</a:t>
            </a:r>
          </a:p>
        </p:txBody>
      </p:sp>
      <p:sp>
        <p:nvSpPr>
          <p:cNvPr id="5" name="文献 2: Overview of the TREC 2019 Deep Learning Track"/>
          <p:cNvSpPr txBox="1"/>
          <p:nvPr/>
        </p:nvSpPr>
        <p:spPr>
          <a:xfrm>
            <a:off x="548640" y="3360928"/>
            <a:ext cx="8046720" cy="1460838"/>
          </a:xfrm>
          <a:prstGeom prst="rect">
            <a:avLst/>
          </a:prstGeom>
          <a:noFill/>
        </p:spPr>
        <p:txBody>
          <a:bodyPr wrap="square" lIns="0" rIns="0" tIns="0" bIns="185631">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Overview of the TREC 2019 Deep Learning Track</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Nick Craswell, Bhaskar Mitra, Emine Yilmaz, Daniel Campos, Ellen M. Voorhees (2020). TREC 2019 Proceedings.</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文章・文書検索の共通評価、関連度判定、参加システムの結果をまとめる。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https://arxiv.org/abs/2003.07820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4" name="文献 1: Document Ranking with a Pretrained Sequence-to-Sequence Model"/>
          <p:cNvSpPr txBox="1"/>
          <p:nvPr/>
        </p:nvSpPr>
        <p:spPr>
          <a:xfrm>
            <a:off x="548640" y="1463040"/>
            <a:ext cx="8046720" cy="1538393"/>
          </a:xfrm>
          <a:prstGeom prst="rect">
            <a:avLst/>
          </a:prstGeom>
          <a:noFill/>
        </p:spPr>
        <p:txBody>
          <a:bodyPr wrap="square" lIns="0" rIns="0" tIns="0" bIns="198035">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Document Ranking with a Pretrained Sequence-to-Sequence Model</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Rodrigo Nogueira, Zhiying Jiang, Jimmy Lin (2020). Findings of EMNLP 2020.</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T5で関連性を表す文字列を生成し、BM25の候補を再ランキングする方法を示す。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https://arxiv.org/abs/2003.06713</a:t>
            </a:r>
          </a:p>
        </p:txBody>
      </p:sp>
      <p:sp>
        <p:nvSpPr>
          <p:cNvPr id="5" name="文献 1: MS MARCO Passage Ranking"/>
          <p:cNvSpPr txBox="1"/>
          <p:nvPr/>
        </p:nvSpPr>
        <p:spPr>
          <a:xfrm>
            <a:off x="548640" y="3085846"/>
            <a:ext cx="8046720" cy="1538393"/>
          </a:xfrm>
          <a:prstGeom prst="rect">
            <a:avLst/>
          </a:prstGeom>
          <a:noFill/>
        </p:spPr>
        <p:txBody>
          <a:bodyPr wrap="square" lIns="0" rIns="0" tIns="0" bIns="198035">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MS MARCO Passage Ranking</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Microsoft (n.d.). Official dataset documentation (accessed 2026-10-18).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v1文章コレクション、質問、関連度判定、候補集合と公式の評価形式を説明する。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4"/>
              </a:rPr>
              <a:t>https://github.com/microsoft/MSMARCO-Passage-Ranking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参考文献</a:t>
            </a:r>
          </a:p>
        </p:txBody>
      </p:sp>
      <p:sp>
        <p:nvSpPr>
          <p:cNvPr id="5" name="文献 2: MS MARCO Cross-Encoder Training"/>
          <p:cNvSpPr txBox="1"/>
          <p:nvPr/>
        </p:nvSpPr>
        <p:spPr>
          <a:xfrm>
            <a:off x="548640" y="1463040"/>
            <a:ext cx="8046720" cy="1236387"/>
          </a:xfrm>
          <a:prstGeom prst="rect">
            <a:avLst/>
          </a:prstGeom>
          <a:noFill/>
        </p:spPr>
        <p:txBody>
          <a:bodyPr wrap="square" lIns="0" rIns="0" tIns="0" bIns="142155">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MS MARCO Cross-Encoder Training</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Sentence Transformers (n.d.). Documentation (accessed 2026-10-18).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MS MARCOの質問と正例・負例を用いたcross-encoderの学習手順を示す。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https://github.com/huggingface/sentence-transformers/tree/master/examples/cross_encoder/training/ms_marco</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2026-10-19T08:05:05Z</dcterms:modified>
  <dc:title>msmarco</dc:title>
  <dc:creator>sasakiy84</dc:creator>
  <dcterms:created xsi:type="dcterms:W3CDTF">2026-10-19T08:05:05Z</dcterms:created>
  <dc:language>ja-JP</dc:language>
</cp:coreProperties>
</file>