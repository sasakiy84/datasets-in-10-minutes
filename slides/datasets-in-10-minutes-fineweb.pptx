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4" r:id="rId34"/>
    <p:sldId id="285" r:id="rId35"/>
    <p:sldId id="286" r:id="rId36"/>
    <p:sldId id="287" r:id="rId37"/>
    <p:sldId id="282" r:id="rId32"/>
    <p:sldId id="283" r:id="rId33"/>
    <p:sldId id="334" r:id="rId84"/>
    <p:sldId id="288" r:id="rId38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35" r:id="rId85"/>
    <p:sldId id="336" r:id="rId86"/>
    <p:sldId id="337" r:id="rId87"/>
    <p:sldId id="338" r:id="rId88"/>
    <p:sldId id="339" r:id="rId89"/>
    <p:sldId id="340" r:id="rId90"/>
    <p:sldId id="341" r:id="rId91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  <p:sldId id="333" r:id="rId8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Relationship Id="rId72" Type="http://schemas.openxmlformats.org/officeDocument/2006/relationships/slide" Target="slides/slide67.xml"/><Relationship Id="rId73" Type="http://schemas.openxmlformats.org/officeDocument/2006/relationships/slide" Target="slides/slide75.xml"/><Relationship Id="rId74" Type="http://schemas.openxmlformats.org/officeDocument/2006/relationships/slide" Target="slides/slide76.xml"/><Relationship Id="rId75" Type="http://schemas.openxmlformats.org/officeDocument/2006/relationships/slide" Target="slides/slide77.xml"/><Relationship Id="rId76" Type="http://schemas.openxmlformats.org/officeDocument/2006/relationships/slide" Target="slides/slide78.xml"/><Relationship Id="rId77" Type="http://schemas.openxmlformats.org/officeDocument/2006/relationships/slide" Target="slides/slide79.xml"/><Relationship Id="rId78" Type="http://schemas.openxmlformats.org/officeDocument/2006/relationships/slide" Target="slides/slide80.xml"/><Relationship Id="rId79" Type="http://schemas.openxmlformats.org/officeDocument/2006/relationships/slide" Target="slides/slide81.xml"/><Relationship Id="rId80" Type="http://schemas.openxmlformats.org/officeDocument/2006/relationships/slide" Target="slides/slide82.xml"/><Relationship Id="rId81" Type="http://schemas.openxmlformats.org/officeDocument/2006/relationships/slide" Target="slides/slide83.xml"/><Relationship Id="rId82" Type="http://schemas.openxmlformats.org/officeDocument/2006/relationships/slide" Target="slides/slide84.xml"/><Relationship Id="rId83" Type="http://schemas.openxmlformats.org/officeDocument/2006/relationships/slide" Target="slides/slide85.xml"/><Relationship Id="rId84" Type="http://schemas.openxmlformats.org/officeDocument/2006/relationships/slide" Target="slides/slide33.xml"/><Relationship Id="rId85" Type="http://schemas.openxmlformats.org/officeDocument/2006/relationships/slide" Target="slides/slide68.xml"/><Relationship Id="rId86" Type="http://schemas.openxmlformats.org/officeDocument/2006/relationships/slide" Target="slides/slide69.xml"/><Relationship Id="rId87" Type="http://schemas.openxmlformats.org/officeDocument/2006/relationships/slide" Target="slides/slide70.xml"/><Relationship Id="rId88" Type="http://schemas.openxmlformats.org/officeDocument/2006/relationships/slide" Target="slides/slide71.xml"/><Relationship Id="rId89" Type="http://schemas.openxmlformats.org/officeDocument/2006/relationships/slide" Target="slides/slide72.xml"/><Relationship Id="rId90" Type="http://schemas.openxmlformats.org/officeDocument/2006/relationships/slide" Target="slides/slide73.xml"/><Relationship Id="rId91" Type="http://schemas.openxmlformats.org/officeDocument/2006/relationships/slide" Target="slides/slide7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spaces/HuggingFaceFW/blogpost-fineweb-v1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money.cnn.com/2012/08/03/news/economy/michigan-unemployment/index.htm?section=money_topstories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au.lifestyle.yahoo.com/better-homes-gardens/recipes/r/-/14032186/shakshuka-with-chorizo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golivewire.com/forums/profile.cgi?p=539041910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/viewer/sample-10BT/train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huggingface/datatrove/blob/main/examples/fineweb.py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hyperlink" Target="https://huggingface.co/datasets/HuggingFaceFW/fineweb/blob/main/eval_results.csv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/blob/main/lighteval_tasks.py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hyperlink" Target="https://arxiv.org/abs/2406.17557v2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910.10683" TargetMode="External"/><Relationship Id="rId3" Type="http://schemas.openxmlformats.org/officeDocument/2006/relationships/hyperlink" Target="https://arxiv.org/abs/2306.01116" TargetMode="External"/><Relationship Id="rId4" Type="http://schemas.openxmlformats.org/officeDocument/2006/relationships/hyperlink" Target="https://arxiv.org/abs/2406.17557" TargetMode="External"/><Relationship Id="rId5" Type="http://schemas.openxmlformats.org/officeDocument/2006/relationships/hyperlink" Target="https://github.com/huggingface/fineweb-2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910.10683" TargetMode="External"/><Relationship Id="rId3" Type="http://schemas.openxmlformats.org/officeDocument/2006/relationships/hyperlink" Target="https://arxiv.org/abs/2306.01116" TargetMode="External"/><Relationship Id="rId4" Type="http://schemas.openxmlformats.org/officeDocument/2006/relationships/hyperlink" Target="https://github.com/huggingface/fineweb-2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blog/smollm" TargetMode="External"/><Relationship Id="rId3" Type="http://schemas.openxmlformats.org/officeDocument/2006/relationships/hyperlink" Target="https://huggingface.co/blog/smollm3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blog/smollm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blog/smollm3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s://huggingface.co/datasets/HuggingFaceFW/fineweb-edu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huggingface.co/datasets/HuggingFaceFW/fineweb/viewer/sample-10BT/train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/viewer/sample-10BT/train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hyperlink" Target="https://huggingface.co/datasets/HuggingFaceFW/fineweb/viewer/sample-10BT/train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yankeecandle.com/detail/wine-collection/1262116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wordstream.com/larry-kim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daytimeroyaltyonline.com/single/?p=8906650&amp;t=8780053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news.cancerconnect.com/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sharingsolution.com/2009/05/23/free-the-cans-working-together-to-reduce-waste/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augustana.edu/x22236.xml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fdin.org.uk/2012/01/kraft-launches-new-philadelphia-with-cadbury/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healthspace.com/Clients/VDH/Fairfax/Fairfax_Website.nsf/Food-InspectionDetails?OpenView&amp;RestrictToCategory=AF99497F42E1C5CA852579CF006E7C6D&amp;Count=1000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www.jillpricestudios.ca/artist/website/size/big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aota.org/Consumers/Ethics/Fraud.aspx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blog.timbunce.org/2009/01/28/can-you-reproduce-this-nytprof-failure/?like=1&amp;_wpnonce=9501e873bf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://store.doverpublications.com/0486236838.html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huggingface/datatrove/blob/main/examples/fineweb.py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datasets/HuggingFaceFW/fineweb-edu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HuggingFaceFW/fineweb/blob/main/eval_results.csv" TargetMode="External"/><Relationship Id="rId3" Type="http://schemas.openxmlformats.org/officeDocument/2006/relationships/hyperlink" Target="https://arxiv.org/abs/2406.17557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v2" TargetMode="Externa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s://huggingface.co/datasets/HuggingFaceFW/fineweb/tree/main/sample/10BT" TargetMode="Externa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-edu" TargetMode="External"/><Relationship Id="rId3" Type="http://schemas.openxmlformats.org/officeDocument/2006/relationships/hyperlink" Target="https://github.com/huggingface/fineweb-2" TargetMode="Externa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github.com/huggingface/datatrove" TargetMode="Externa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910.10683" TargetMode="External"/><Relationship Id="rId3" Type="http://schemas.openxmlformats.org/officeDocument/2006/relationships/hyperlink" Target="https://arxiv.org/abs/2306.01116" TargetMode="Externa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6.17557" TargetMode="External"/><Relationship Id="rId3" Type="http://schemas.openxmlformats.org/officeDocument/2006/relationships/hyperlink" Target="https://huggingface.co/spaces/HuggingFaceFW/blogpost-fineweb-v1" TargetMode="Externa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HuggingFaceFW/fineweb" TargetMode="External"/><Relationship Id="rId3" Type="http://schemas.openxmlformats.org/officeDocument/2006/relationships/hyperlink" Target="https://huggingface.co/datasets/HuggingFaceFW/fineweb-edu" TargetMode="Externa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blog/smollm" TargetMode="External"/><Relationship Id="rId3" Type="http://schemas.openxmlformats.org/officeDocument/2006/relationships/hyperlink" Target="https://huggingface.co/blog/smollm3" TargetMode="Externa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06.20920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1810" y="1463040"/>
            <a:ext cx="8520379" cy="1097280"/>
          </a:xfrm>
        </p:spPr>
        <p:txBody>
          <a:bodyPr wrap="square" lIns="0" rIns="0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54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1810" y="2743200"/>
            <a:ext cx="8520379" cy="548640"/>
          </a:xfrm>
        </p:spPr>
        <p:txBody>
          <a:bodyPr wrap="square" lIns="0" rIns="0" tIns="0" bIns="0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6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大規模言語モデルの事前学習用Webデータ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/>
        <p:txBody>
          <a:bodyPr wrap="square" lIns="0" rIns="0" tIns="0" bIns="0"/>
          <a:lstStyle/>
          <a:p>
            <a:pPr algn="r">
              <a:lnSpc>
                <a:spcPct val="112000"/>
              </a:lnSpc>
              <a:spcAft>
                <a:spcPts val="0"/>
              </a:spcAft>
              <a:buNone/>
            </a:pPr>
            <a:r>
              <a:rPr sz="2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ext cx="8138160" cy="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FineWebの公式サイト</a:t>
            </a:r>
          </a:p>
        </p:txBody>
      </p:sp>
      <p:pic>
        <p:nvPicPr>
          <p:cNvPr id="4" name="Picture 3" descr="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1748" y="1316736"/>
            <a:ext cx="5700503" cy="32461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https://huggingface.co/spaces/HuggingFaceFW/blogpost-fineweb-v1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51560" y="1358062"/>
            <a:ext cx="7315200" cy="3566160"/>
          </a:xfrm>
        </p:spPr>
        <p:txBody>
          <a:bodyPr lIns="0" rIns="0" tIns="0" bIns="0"/>
          <a:lstStyle/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1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FineWebの目的と収録文書</a:t>
            </a:r>
          </a:p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2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Web文書の収集・選別とデータ規模</a:t>
            </a:r>
          </a:p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3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データ品質の評価と話題分布</a:t>
            </a:r>
          </a:p>
          <a:p>
            <a:pPr lvl="0" marL="558800" indent="-457200">
              <a:spcAft>
                <a:spcPts val="2000"/>
              </a:spcAft>
              <a:buSzPct val="100000"/>
              <a:buFont typeface="Noto Sans CJK JP"/>
              <a:buAutoNum type="arabicPeriod" startAt="4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Webコーパスの利用動向と入手方法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28321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事前学習データの公開を目的とするFineWeb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FineWebは、事前学習用の英語Webデータと処理コードを公開するために開発された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当時、Llama 3などは重みを公開しても、学習データや収集・選別方法を十分に公開していなかった。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そこで、先行するRefinedWebの処理を再現・改良し、データ・比較用モデル・評価結果を公開した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言語モデルの開発工程とFineWebの役割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/>
                <a:gridCol w="557784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使うデータと目的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事前学習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大量の文章から言語・知識・表現を学ぶ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指示への調整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質問や依頼に沿う応答の例で調整する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能力の評価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別の問題を解かせ、学習後の能力を測る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FineWebは事前学習に使う文章コーパスである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Web文書を用いた次トークン予測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文章を細かなトークンへ区切り、前の部分から次のトークンの確率を学ぶ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実データの「Michigan unemployment claims workers …」も、先頭から順に予測の対象になる。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配布データのtoken_countはGPT-2で算出されている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 / Data Fields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実例1：雇用を報じるニュース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Michigan unemployment claims workers are losing their jobs.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NEW YORK (CNNMoney) -- Many jobless claims workers in the state of Michigan will soon be filing for unemployment themselves.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出来事や数量を述べる記事を学習する。同じ文書の後半には、関連記事や金利表も残っている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16 / &lt;urn:uuid:67af6fe6-95e8-403c-821b-a7c16c3999bc&gt; / 647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http://money.cnn.com/2012/08/03/news/economy/michigan-unemployment/index.htm?section=money_topstories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実例2：調理の手順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 can also make one large shakshuka to share. Just spoon the sauce into a large ovenproof ceramic dish. Crack eggs into the dish, spaced evenly apart, then cook following the same recipe.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調理の手順を含む文書で、冒頭にはナビゲーションも残っている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27 / &lt;urn:uuid:b967344e-3121-475b-9764-e76dd82eefbb&gt; / 247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http://au.lifestyle.yahoo.com/better-homes-gardens/recipes/r/-/14032186/shakshuka-with-chorizo/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実例3：登録案内も残る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 must be a registered member to view this page.|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you are already a member, sign in now.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 register for your own account, sign up now.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7 / &lt;urn:uuid:528ab539-c6ba-441e-8389-65704e6c3be1&gt; / 110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http://www.golivewire.com/forums/profile.cgi?p=539041910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Web記事の公開日とクロール日時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FineWebの目的と収録文書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840480"/>
                <a:gridCol w="420624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ニュースの実例に付く情報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収録クロール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CC-MAIN-2013-20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クロール日時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2013-05-21T10:29:46Z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文書全体の長さ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647 GPT-2トークン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URL中の記事日付は2012-08-03。収集日は公開日と異なり、抽出文には記事以外の表や関連記事も含まれる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sample-10BT, row 16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30572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FineWebのデータ作成工程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60320"/>
                <a:gridCol w="54864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処理の段階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主な内容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Web文書の収集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Common CrawlのHTMLを使用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本文の抽出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本文抽出器Trafilaturaでテキスト化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言語・品質の選別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英語のスコアと反復・書式などで選別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文書の重複除去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クロール内で似た文書をまとめる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個人情報処理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メールと公開IPアドレスを置換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Face, FineWebデータ作成コード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https://github.com/huggingface/datatrove/blob/main/examples/fineweb.py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元のHTMLから本文を抽出する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Common Crawlは、元のHTMLを含むWARCと、抽出済みテキストのWETを公開している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構築時にはWETにメニューや定型文が多く残ることを確認し、WARCからTrafilaturaという本文抽出器で取り出した。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英語の判定後に品質規則を適用する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まず有害サイトなどのURLを除外し、言語識別器fastTextの英語スコアが0.65未満の文書を除く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その上で、反復の多さや書式など、別の品質規則を重ねて適用する。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Data processing steps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反復・書式に基づく文書の選別規則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同じ語句・行の繰り返し、短い行の多さ、句末記号の少なさなどを調べる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既存のGopher・C4の規則を調整し、さらにFineWeb固有の規則を追加した。各規則の効果を学習実験で比べた。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§3.3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MinHashによる類似文書の重複除去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完全一致だけでは、見出しや一部の語が違う転載・再収録を取り除けない。文書の類似を近似判定するMinHashを使う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連続する5単語の並びを文書ごとに取り出し、その重なりを小さなハッシュの集合で比較する。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類似文書をまとめ、各グループから1件を残す。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クロール単位の重複除去を採用した理由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同じページが複数の年に収録されるため、全期間をまとめた重複除去も試した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その結果、古いクロールに広告や不整形な文章が多く残った。頻繁に再収録される文章を消すと、分布も変わる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そこでFineWebは、クロールごとに独立して除去する方式を採用した。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メールアドレスと公開IPの匿名化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公開時には、正規表現で見つけたメールアドレスと公開IPアドレスを、用意した文字列へ置換した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電話番号は誤検出が多いため置換対象にしていない。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Personal and Sensitive Information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FineWebの公開区分とトークン数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371600"/>
                <a:gridCol w="274320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区分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2024年のFineWeb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約15兆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現行カードのFineWeb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約18.5兆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2024年のFineWeb-Edu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—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約1.3兆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GPT-2で算定。論文の収集範囲は2013〜2024-04、現行設定は2025-06まで。Eduは同じ96クロールから選別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配布カード v1.4.0 / 2026-10-16確認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データ量・学習量・モデル規模の単位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493776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表記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何を数えているか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15Tトークン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配布データの規模。Tは1兆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350Bトークン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比較実験で学習に使う量。Bは10億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1.71Bパラメータ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モデルの学習可能な数値の個数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FineWeb-Eduの対象と選別基準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FineWebの文章をLlama 3 70B Instructで採点し、その注釈を学習した軽量な回帰モデルで全体を選別する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0〜5の教育的価値スコアを使い、閾値3で約1.3兆トークンを残す。元の文章を選ぶ方式である。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教育的な価値を採点するモデルの学習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46万文書をLLMで採点し、教育的な有用性の注釈を得る。選別では小中学校程度の知識を重視した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41万文書で回帰モデルを学習し、残る5万文書で検証する。LLMの採点傾向を軽量なモデルで近似する。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全体への予測値を0〜5の整数へ丸め、3以上の文書を残す。これがFineWeb-Eduとなる。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Web由来の本文とLLMが生成した注釈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FineWeb-Eduの本文は、元のWeb文書から選んだ文章である。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LLMが生成するのは教育的な価値の注釈であり、その注釈に似た判定をする回帰モデルを学習する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Web文書の収集・選別とデータ規模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28321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事前学習後の能力によるデータ品質の評価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データを差し替えて同程度のモデルを事前学習し、外部の常識・知識・推論ベンチマークで比較する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処理の比較は主に約1.8Bパラメータ・約28Bトークンで行い、大規模な比較には350Bトークンを使う。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選択式問題の正解率と集約得点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32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97680"/>
                <a:gridCol w="1280160"/>
                <a:gridCol w="1280160"/>
                <a:gridCol w="1188720"/>
              </a:tblGrid>
              <a:tr h="7802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説明用の設問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選択結果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水が凍る温度は？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0°C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0°C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地球の衛星は？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月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火星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60578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 = 正解数 ÷ 設問数。この2問なら50%。公開時の評価では選択肢全文の尤度や長さ正規化を用い、複数課題を集計する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公開時に採用した知識・推論の評価課題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62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384048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主に測るもの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684276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HellaSwag / PIQA / SIQA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出来事の続きと、物理・社会に関する常識</a:t>
                      </a:r>
                    </a:p>
                  </a:txBody>
                  <a:tcPr marL="82296" marR="82296" marT="0" marB="73152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CommonSenseQA / WinoGrande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常識的な知識・文脈に応じた照応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 / OpenBookQA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科学の知識と推論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MMLU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多分野の知識問題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00728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0-shot評価。大きな課題は最大1,000例に制限する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公開Webコーパスを用いたモデルの比較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pic>
        <p:nvPicPr>
          <p:cNvPr id="4" name="Picture 3" descr="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732" y="1325880"/>
            <a:ext cx="7598535" cy="2697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133087"/>
            <a:ext cx="804672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公開CSVの167,000 step時点。約1.8Bモデル、350Bトークンを基準とする比較。小規模データは全量を使用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eval_results.csv / 初期公開の比較系列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https://huggingface.co/datasets/HuggingFaceFW/fineweb/blob/main/eval_results.csv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FineWeb-EduによるMMLU・ARCの改善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7282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2011680"/>
                <a:gridCol w="237744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評価指標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MMLUの正解率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約33%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約37%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ARCの正解率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約46%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約57%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401568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論文バージョン2の1.71Bモデル・350Bトークンでの比較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公開時の比較実験に用いたモデル構成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4720"/>
                <a:gridCol w="45720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構成項目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設定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Llama型 / 1.71Bパラメータ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文脈長 / トークナイザー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2,048トークン / GPT-2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比較する条件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実験内で学習量とステップ数を統一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データの選び方と初期値を変えた2モデルを学習し、得点を平均して偶然の影響を抑えた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§3.1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選択肢の尤度に基づく回答の決定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評価では、問題文に対して各選択肢の全文がどれだけ続きやすいかを、モデルの尤度で比べる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短い選択肢が有利になる影響を抑えるため、課題に応じた長さの正規化も用いる。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正解率は、その方法で選んだ回答が正解と一致した割合である。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FineWebの公開評価実装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https://huggingface.co/datasets/HuggingFaceFW/fineweb/blob/main/lighteval_tasks.py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FineWeb-Eduで増減する話題の構成比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pic>
        <p:nvPicPr>
          <p:cNvPr id="4" name="Picture 3" descr="topic-shif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33500"/>
            <a:ext cx="82296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076700"/>
            <a:ext cx="8046720" cy="55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差はFineWeb-Edu − FineWeb。各5万文書の標本に基づく。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話題分析の39分類から、増加側・減少側の上位3分類ずつを例示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37100"/>
            <a:ext cx="804672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4769" y="4737100"/>
            <a:ext cx="247059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話題の比較は各5万文書の自動分類に基づく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32004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FineWebとFineWeb-Eduから各5万文書を抽出し、文の意味を数値化するモデルで文書を表現した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似た文書を自動でまとめ、密度の高い100クラスタを抽出し、Llama 3.1 70Bで話題名を付けた。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Penedoら（2024）の図18は、構成比の差の絶対値が0.5ポイント以上の39分類を示す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データ品質の評価と話題分布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§4.1–4.2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30572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公開Webコーパスの登場年と開発目的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97280"/>
                <a:gridCol w="2560320"/>
                <a:gridCol w="43891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資源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開発目的・位置付け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C4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初期の大規模な英語Webコーパス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2023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RefinedWeb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本文抽出・重複除去の先行研究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 / 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処理の比較実験と全文データを公開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1,000超の言語へ処理を適用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06824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Colin Raffel et al. (2020). Exploring the Limits of Transfer Learning with a Unified Text-to-Text Transformer. JMLR.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https://arxiv.org/abs/1910.10683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462272"/>
            <a:ext cx="804672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Guilherme Penedo et al. (2023). The RefinedWeb Dataset for Falcon LLM: Outperforming Curated Corpora with Web Data, and Web Data Only. arXiv.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617720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https://arxiv.org/abs/2306.01116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https://arxiv.org/abs/2406.17557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[4] Hugging Face (2025), FineWeb 2 — README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5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C4・RefinedWeb・FineWeb2の開発方針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C4（2020）は、言語モデルT5の学習用にCommon Crawlから構築した英語Webコーパスである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RefinedWeb（2023）は、選別・重複除去したWeb文書で学習し、書籍等を混ぜたデータとの性能差を検証した [2]。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6500"/>
              <a:buFont typeface="Noto Sans CJK JP"/>
              <a:buChar char="●"/>
              <a:defRPr sz="2000" lang="ja-JP">
                <a:latin typeface="Noto Sans"/>
                <a:ea typeface="Noto Sans CJK JP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FineWeb2（2025）は、言語ごとに選別条件を調整し、多言語コーパスへ拡張した [3]。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462272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Colin Raffel et al. (2020). Exploring the Limits of Transfer Learning with a Unified Text-to-Text Transformer. JMLR.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https://arxiv.org/abs/1910.10683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17720"/>
            <a:ext cx="8046720" cy="155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Guilherme Penedo et al. (2023). The RefinedWeb Dataset for Falcon LLM: Outperforming Curated Corpora with Web Data, and Web Data Only. arXiv.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https://arxiv.org/abs/2306.01116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FineWeb2 — README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FineWeb系列を利用した公開モデル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SmolLM（2024）は、重複除去したFineWeb-Eduの220Bトークンを、合成教材・Pythonコードと混合した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SmolLM3（2025）の公式記事には、FineWeb-Eduでの構成比較と、FineWeb2を含む事前学習の記録がある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SmolLM公式記事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SmolLM3公式記事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https://huggingface.co/blog/smollm3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SmolLM（2024）の事前学習コーパス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77840"/>
                <a:gridCol w="246888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使用したデータ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重複除去したFineWeb-Edu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220B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合成教材・物語のCosmopedia v2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教育的なPythonコード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Bは10億トークンを表す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Loubna Ben Allal et al. (2024), SmolLM - blazingly fast and remarkably powerful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SmolLM3（2025）の事前学習の混合比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/>
                <a:gridCol w="1554480"/>
                <a:gridCol w="1554480"/>
                <a:gridCol w="1554480"/>
              </a:tblGrid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学習の段階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コード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第1段階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85%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第2段階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75%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76072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第3段階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13%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Web部分にFineWeb-Edu・DCLM・FineWeb2等を使用。各値はその段階の学習データ全体に対する割合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 (2025), SmolLM3: smol, multilingual, long-context reasoner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クロール別・トークン量別の配布設定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747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4720"/>
                <a:gridCol w="45720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配布設定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default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公開されている全クロール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CC-MAIN-2024-10など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指定したクロール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748284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sample-10BTなど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トークン量別の小規模サンプル</a:t>
                      </a:r>
                    </a:p>
                  </a:txBody>
                  <a:tcPr marL="82296" marR="82296" marT="0" marB="73152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889247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10BT・100BT・350BTは含まれる文書が重なる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Smaller sample versions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FineWebのストリーミング読込方法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9563"/>
            <a:ext cx="8046720" cy="226129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627632"/>
            <a:ext cx="7735824" cy="18044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datasets import load_dataset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fw = load_dataset(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"HuggingFaceFW/fineweb", name="sample-10BT",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split="train", streaming=True,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)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row = next(iter(fw))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5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print(row["text"])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24054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10BTは約100億GPT-2トークンの設定。ストリーミングで順次読み込める [1]。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FineWeb公式利用例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データセットの利用条件と原文の権利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データセットはODC-By 1.0で公開され、Common Crawlの利用規約にも従う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データベースのライセンスと、各Web文書の著作権・利用条件は分けて確認する。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/ Licensing Information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FineWebの目的・規模と教育的価値による選別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英語Webの本文を選別・重複除去し、次トークン予測のための大規模な事前学習データとして公開した。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データと処理の比較実験も公開。初版は15兆、現行カードは約18.5兆トークンを示す。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FineWeb-Eduは教育的価値で文書を選別し、知識・推論の得点と話題の構成比を変える。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Webコーパスの利用動向と入手方法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07043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51560" y="1172896"/>
            <a:ext cx="7315200" cy="3566160"/>
          </a:xfrm>
        </p:spPr>
        <p:txBody>
          <a:bodyPr lIns="0" rIns="0" tIns="0" bIns="0"/>
          <a:lstStyle/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配布文書の構造と長さの集計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収録されたWeb文書の追加例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文書選別・話題分布と評価実験の詳細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4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配布データの仕様と開発体制</a:t>
            </a:r>
          </a:p>
          <a:p>
            <a:pPr lvl="0" marL="558800" indent="-457200">
              <a:spcAft>
                <a:spcPts val="1200"/>
              </a:spcAft>
              <a:buSzPct val="100000"/>
              <a:buFont typeface="Noto Sans CJK JP"/>
              <a:buAutoNum type="arabicPeriod" startAt="5"/>
              <a:defRPr sz="3000" lang="ja-JP">
                <a:latin typeface="Noto Sans"/>
                <a:ea typeface="Noto Sans CJK JP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読後の研究に関連する文献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文書と出所のフィールド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53035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抽出・整形されたWeb文書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id / dump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Common Crawlの文書ID / クロール名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url / date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元ページのURL / クロール日時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file_path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元WARCファイルへのパス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自動生成されたメタデータ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53035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language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配布対象は英語（en）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language_score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fastTextによる言語予測スコア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token_count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GPT-2 tokenizerによるトークン数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FineWeb-Eduには教育的価値のscore / int_scoreも付与される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FineWeb-Edu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https://huggingface.co/datasets/HuggingFaceFW/fineweb-edu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662867"/>
            <a:ext cx="8046720" cy="731520"/>
          </a:xfrm>
        </p:spPr>
        <p:txBody>
          <a:bodyPr wrap="square" lIns="0" rIns="0" tIns="0" bIns="0" anchor="ctr"/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37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100文書の部分集合の分析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14427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sample-10BTの先頭100文書を対象とする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125907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収録クロールはCC-MAIN-2013-20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537387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文書の長さと、収録された文章の例を確認する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dataset viewer / sample-10BT, rows 0–99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先頭100文書のトークン数の記述統計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37760"/>
                <a:gridCol w="310896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GPT-2トークン数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 / 中央値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649.02 / 471.5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母標準偏差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974.63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第1 / 第3四分位点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210.5 / 736.0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 / 最大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73 / 8,990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先頭100件の配布値を集計。分位点は線形補間。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viewer / 2026-10-16取得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先頭100文書のトークン数の分布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pic>
        <p:nvPicPr>
          <p:cNvPr id="4" name="Picture 3" descr="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578" y="1371600"/>
            <a:ext cx="7940842" cy="30175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sample-10BT先頭100件 / 配布token_countを集計（全100件を表示）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https://huggingface.co/datasets/HuggingFaceFW/fineweb/viewer/sample-10BT/train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最短の例：装飾品へのレビュー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Great decorating addition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 have a grape/Italian theme in my kitchen. I purchased 5 of these. I decided to use them to put around my pull knobs on my overhead cabinets.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この100件では最短の73トークン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13 / &lt;urn:uuid:424e4cce-c33a-49b4-b148-37c8a973ba5c&gt; / 73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http://www.yankeecandle.com/detail/wine-collection/1262116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最長の例：人物紹介と多数の投稿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1. 配布文書の構造と長さの集計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82162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Larry Kim, Founder and Chief Technology Officer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Larry Kim founded WordStream in 2007.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70621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この100件で最長の8,990トークン。人物紹介の後に、別々の投稿の見出し・概要が多数続く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38 / &lt;urn:uuid:07f0d7eb-c5f6-4de5-b87d-ffedbc8204de&gt; / 8,990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http://www.wordstream.com/larry-kim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追加例1：テレビドラマの掲示板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7428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|Viewing Single Post From: Spoilers for the Week of February 11th|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|Lil||Feb 1 2013, 09:58 AM|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Don't care about Chloe/Taniel/Jen-Jen. Don't care about Sami, really, but hoping that we get some good "SAMANTHA GENE!!" Marlena Death-Stares out of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91866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抜粋には感情的な発言や固有名が含まれる。会話的なWeb文も事前学習の対象になる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0 / &lt;urn:uuid:39147604-bfbe-4ed5-b19c-54105f8ae8a7&gt; / 142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http://daytimeroyaltyonline.com/single/?p=8906650&amp;t=8780053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追加例2：医療ニュースの一覧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novel two-step immunotherapy approach has shown clinically beneficial responses in patients with advanced ovarian cancer. Following Lifestyle Recommendations Reduces Risk of Cancer Death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複数の見出し・記事概要が連続している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 / &lt;urn:uuid:07b8e00d-b445-4736-a593-cd1c147dce21&gt; / 576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http://news.cancerconnect.com/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追加例3：共有とごみ削減のブログ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Free the Cans! Working Together to Reduce Waste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 a blog about how people share, it’s worth the occasional reference to the bizarre ways that people DON’T SHARE.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社会的な話題を扱う意見文。筆者の評価や問いかけを含む文章も混ざる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3 / &lt;urn:uuid:c970d9a2-a5ce-4050-9ea3-58d7bbd609a8&gt; / 575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http://sharingsolution.com/2009/05/23/free-the-cans-working-together-to-reduce-waste/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追加例4：大学のスポーツニュース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7428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September 28, 2010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2010 Season - Bowman pulls down CCIW honor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|Matt Bowman was named CCIW "Runner of the Week" after his fourth place finish at the Brissman-Lundeen Invitational in Rock Island, Illinois on September 24.|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91866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大学の選手表彰について、日付・人名・大会名を伴って報じる文章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5 / &lt;urn:uuid:a42b6d10-fba9-4678-af39-5b242fdfe790&gt; / 626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http://www.augustana.edu/x22236.xml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追加例5：食品業界の新商品記事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82162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Kraft Foods has taken the Cadbury chocolate brand in a new direction, by combining it with cheese for the first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70621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チョコレートとチーズを組み合わせた商品について、ブランド名や発売に関する説明が載る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6 / &lt;urn:uuid:8ba5fa5a-1f92-4f5a-95e3-85dbb7befbfe&gt; / 337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http://www.fdin.org.uk/2012/01/kraft-launches-new-philadelphia-with-cadbury/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追加例6：飲食店の衛生検査記録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|Facility Type:||Full Service Restaurant|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|Inspection date:||March 27, 2012|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|Number of critical violations:||3|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|Number of non-critical violations:||3|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表を抽出した縦棒や、違反件数・検査日が残る。自然な段落文以外の構造もある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8 / &lt;urn:uuid:4ad1d60f-e986-44b4-8b58-e833a6dddba8&gt; / 786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http://www.healthspace.com/Clients/VDH/Fairfax/Fairfax_Website.nsf/Food-InspectionDetails?OpenView&amp;R…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追加例7：アトリエのイベント案内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News of the Week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Barrie Spring Studio Tour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April 27th &amp; 28th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10:00 til 4:00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日時・場所・販売の案内を含む。局地的・時限的な情報もWebデータの一部になる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9 / &lt;urn:uuid:7bc4fe2c-c860-45d0-91f4-7cb5d3800e66&gt; / 415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http://www.jillpricestudios.ca/artist/website/size/big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追加例8：医療費不正への注意喚起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7428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Tips for Preventing Medicare Fraud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Department of Health and Human Services (HHS) Office of the Inspector General (OIG) has created a new web site to provide tips for preventing Medicare fraud and medical identity theft. See HHS news release.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91866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行政の公開情報を紹介する短文。リンク先への案内が主な内容になる文書もある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19 / &lt;urn:uuid:957006ac-2ad8-43d0-8919-52d5a4373d10&gt; / 91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http://aota.org/Consumers/Ethics/Fraud.aspx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追加例9：Perlのプロファイラの不具合調査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435785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I’ve a new release of NYTProf ready to upload but I’m stuck.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CPAN Testers service is reporting a failure on a number of systems but I can’t reproduce it locally or work out the cause.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Can you reproduce the failure with Devel::NYTProf 2.07_94?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4780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プログラムのバージョン、再現条件、調査への協力依頼を含む技術的な文章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21 / &lt;urn:uuid:095340b9-8a67-45ac-afb3-250bec8e3efd&gt; / 351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http://blog.timbunce.org/2009/01/28/can-you-reproduce-this-nytprof-failure/?like=1&amp;_wpnonce=9501e873bf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追加例10：楽譜の販売ページ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2. 収録されたWeb文書の追加例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配布テキストからの抜粋（英語）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71194"/>
            <a:ext cx="8046720" cy="112871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856231"/>
            <a:ext cx="76992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800" b="0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Reprinted from the renowned Bach-Gesellschaft edition, this work features the complete Sonatas and Partitas for Unaccompanied Violin and the six Sonatas for Violin and Clavier.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77707"/>
            <a:ext cx="8046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楽譜の紹介と購入に関する文章 [1]。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7316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row 22 / &lt;urn:uuid:3cad8aa8-a0c4-4556-81a3-03253c1cb027&gt; / 568 GPT-2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sample-10BT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90288"/>
            <a:ext cx="80467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元ページ 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http://store.doverpublications.com/0486236838.html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WARCとWETの形式と本文抽出方法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WARCはHTMLやリクエストのメタデータを保持する。WETは抽出済みテキストである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57826"/>
              <a:buFont typeface="Noto Sans CJK JP"/>
              <a:buChar char="●"/>
              <a:defRPr sz="2300" lang="ja-JP">
                <a:latin typeface="Noto Sans"/>
                <a:ea typeface="Noto Sans CJK JP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構築時にはWETにメニューなどが多く残ることを確認し、WARCからTrafilaturaで本文を抽出した。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§3.2–3.3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MinHashの設定と近似の意味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文書を英単語の5-gramに分解し、112個のハッシュを14組×8個にまとめる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どれかの組で8個が一致した文書を結び、推移的なクラスタを作る。各クラスタから1件を残す。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約75%以上似た文書を狙う確率的な方式である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Hugging Face, FineWebの公開処理コード — MinhashDedupSignature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https://github.com/huggingface/datatrove/blob/main/examples/fineweb.py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教育スコアの学習用注釈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48463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論文第2版の設定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値・方法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LLMによる採点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460,000文書、0〜5点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 / 検証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410,000 / 50,000文書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回帰モデル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Snowflake-arctic-embed-m + 線形層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閾値3でのF1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82%（LLM注釈を正解とする）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論文では460k件、初期カードでは500k件の注釈と表記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FineWeb-Edu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https://huggingface.co/datasets/HuggingFaceFW/fineweb-edu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初期公開CSVと論文バージョン2の評価条件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公開CSVは7データセットの学習曲線を含む初期の比較系列。最終167,000 stepのagg_scoreを図に使用した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FineWeb-EduのMMLU・ARC比較には、論文バージョン2本文の丸め値を使用した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eval_results.csv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https://huggingface.co/datasets/HuggingFaceFW/fineweb/blob/main/eval_results.csv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Guilherme Penedo et al. (2024). The FineWeb Datasets: Decanting the Web for the Finest Text Data at Scale. NeurIPS. §4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FineWeb-Edu側で多い話題（1/3）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話題（掲載ラベルの和訳）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教育・学習・指導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+3.2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歴史・文化・政治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+2.2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健康・医学・生物学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エネルギー・環境・気候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水・環境・保全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歴史・王族・哲学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339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FineWeb-Edu側で多い話題（2/3）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話題（掲載ラベルの和訳）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野生生物・動物・自然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宇宙・天文学・科学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歴史・宗教・文化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+1.0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魚・環境・保全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+0.9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歴史・戦争・軍事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+0.9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天気・気候・科学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339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FineWeb-Edu側で多い話題（3/3）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話題（掲載ラベルの和訳）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植物・園芸・自然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健康・栄養・食生活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+0.7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文化・インド・精神性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+0.6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健康・医学・疾患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数学・数式・教育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数学・教育・指導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+0.5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339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FineWeb側で多い話題（1/4）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話題（掲載ラベルの和訳）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ビジネス・金融・法律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-3.2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娯楽・映画・演劇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場所・旅行・不動産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食・夏・レシピ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スポーツ・チーム・試合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音楽・娯楽・芸術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-2.1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339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FineWeb側で多い話題（2/4）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話題（掲載ラベルの和訳）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個人生活・家族・余暇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-1.4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ファッション・衣服・アクセサリー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-1.3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犯罪・法律・警察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ゲーム・技術・ゲーム作品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-1.2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技術・ガジェット・革新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-1.1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スポーツ・フットボール・サッカー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-1.0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339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FineWeb側で多い話題（3/4）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30226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話題（掲載ラベルの和訳）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自動車・自動車産業・産業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-1.0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文学・戦争・ファンタジー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手芸・個人生活・日記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家具・建築・デザイン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宝飾品・アクセサリー・買い物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-0.8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318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政治・紛争・国際情勢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-0.7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339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FineWeb。絶対差0.5ポイント以上の39分類から6分類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FineWeb側で多い話題（4/4）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59"/>
          </a:xfrm>
        </p:spPr>
        <p:txBody>
          <a:bodyPr wrap="square" lIns="0" rIns="0" tIns="0" bIns="0" anchor="ctr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8046720" cy="2032000"/>
        </p:xfrm>
        <a:graphic>
          <a:graphicData uri="http://schemas.openxmlformats.org/drawingml/2006/table">
            <a:tbl>
              <a:tblPr firstRow="1" bandRow="1"/>
              <a:tblGrid>
                <a:gridCol w="5887720"/>
                <a:gridCol w="2159000"/>
              </a:tblGrid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話題（掲載ラベルの和訳）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差（ポイント）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野球・スポーツ・ニュース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-0.6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技術・サポート・マーケティング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-0.6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8000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デート・人間関係・場所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-0.5</a:t>
                      </a:r>
                    </a:p>
                  </a:txBody>
                  <a:tcPr marL="63500" marR="63500" marT="25400" marB="25400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95800"/>
            <a:ext cx="8046720" cy="165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各5万文書。差＝FineWeb-Edu − FineWeb。絶対差0.5ポイント以上の39分類から3分類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686300"/>
            <a:ext cx="804672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Penedo et al. (2024). The FineWeb Datasets: Decanting the Web for the Finest Text Data at Scale. NeurIPS. §4.1, Fig. 18.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3995" y="4686300"/>
            <a:ext cx="2221364" cy="177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https://arxiv.org/abs/2406.17557v2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FineWeb-Eduの話題分布と適合する分野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話題分析では、FineWebとEduから各50,000件を埋め込み、100個の密なクラスタを比較した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Eduは教育・歴史などの比重が高く、商業・娯楽・旅行などの比重が低い。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次トークンの予測しにくさを表すperplexityでも得意分野が異なり、一般WebではFineWeb側が有利な分野もある。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3. 文書選別・話題分布と評価実験の詳細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§4.1–4.2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FineWebの公開版と主な更新内容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493776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バージョン / 公開日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主な変更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v1.0.0 / 2024-04-21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初期公開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v1.1.0 / 2024-05-31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11クロールの重複除去を修正・4月分を追加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v1.3.0 / 2025-01-31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未処理文書を修正、特定ドメインを削除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v1.4.0 / 2025-07-11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8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2025年1〜6月の6クロールを追加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現行カードの変更履歴から抜粋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/ Changelog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配布されているファイルサイズの概要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484632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公表・取得メタデータの容量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現行FineWeb全体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カード掲載値 約50.45 TB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sample-10BT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 Parquetファイル / 約30.64 GB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実際に分析した対象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viewerから取得した100文書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75304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sample-10BT：30,639,384,917 bytes（10進GB）。カード掲載値は27.6 GB [1, 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sample/10BT ファイル一覧 / 2026-10-16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https://huggingface.co/datasets/HuggingFaceFW/fineweb/tree/main/sample/10BT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配布設定とリビジョンを指定した読込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51724"/>
            <a:ext cx="8046720" cy="199588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627632"/>
            <a:ext cx="7735824" cy="1568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datasets import load_dataset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/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fw = load_dataset(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"HuggingFaceFW/fineweb",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name="sample-10BT", split="train", streaming=True,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    revision="9bb295ddab0e05d785b879661af7260fed5140fc",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)</a:t>
            </a:r>
          </a:p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300" b="0" lang="en-US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row = next(iter(fw))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50810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 data card / APIで確認したmainのリビジョン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FineWeb系列の対象言語と選別基準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4720"/>
                <a:gridCol w="4572000"/>
              </a:tblGrid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資源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対象と位置付け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5240">
                      <a:solidFill>
                        <a:srgbClr val="626669"/>
                      </a:solidFill>
                    </a:lnT>
                    <a:lnB w="762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英語Webの幅広い事前学習用文書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7620">
                      <a:solidFill>
                        <a:srgbClr val="626669"/>
                      </a:solidFill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FineWeb-Edu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教育的価値で選んだ英語文書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FineWeb-Edu-score-2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閾値2で残す量を増やした派生版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016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FineWeb2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 lIns="0" rIns="0" tIns="0" bIns="0"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0"/>
                        </a:spcAft>
                        <a:buNone/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多言語向けに言語判定・規則を調整</a:t>
                      </a:r>
                    </a:p>
                  </a:txBody>
                  <a:tcPr marL="82296" marR="82296" marT="36576" marB="36576" anchor="ctr">
                    <a:lnL w="10160">
                      <a:noFill/>
                    </a:lnL>
                    <a:lnR w="10160">
                      <a:noFill/>
                    </a:lnR>
                    <a:lnT w="10160">
                      <a:noFill/>
                    </a:lnT>
                    <a:lnB w="15240">
                      <a:solidFill>
                        <a:srgbClr val="626669"/>
                      </a:solidFill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050791"/>
            <a:ext cx="8046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FineWeb2は言語ごとに全体を重複除去する [2]。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FineWeb-Edu公式カード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https://huggingface.co/datasets/HuggingFaceFW/fineweb-edu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FineWeb2公式リポジトリ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https://github.com/huggingface/fineweb-2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FineWebの開発者と関連する活動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508760"/>
            <a:ext cx="8046720" cy="2971800"/>
          </a:xfrm>
        </p:spPr>
        <p:txBody>
          <a:bodyPr wrap="square" lIns="0" rIns="0" tIns="0" bIns="0"/>
          <a:lstStyle/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Guilherme Penedoが第一著者、Thomas Wolfが最終著者。発表時の所属はHugging Face [1]。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両者は大規模テキスト処理ライブラリdatatroveの公開引用にも共著者として記載されている [2]。</a:t>
            </a:r>
          </a:p>
          <a:p>
            <a:pPr lvl="0" marL="457200" indent="-355600">
              <a:lnSpc>
                <a:spcPct val="115000"/>
              </a:lnSpc>
              <a:spcAft>
                <a:spcPts val="1500"/>
              </a:spcAft>
              <a:buSzPct val="60455"/>
              <a:buFont typeface="Noto Sans CJK JP"/>
              <a:buChar char="●"/>
              <a:defRPr sz="2200" lang="ja-JP">
                <a:latin typeface="Noto Sans"/>
                <a:ea typeface="Noto Sans CJK JP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Hynek Kydlíček、Loubna Ben Allal、Anton Lozhkov、Margaret Mitchell、Colin Raffel、Leandro von Werraとの共同研究。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4. 配布データの仕様と開発体制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73168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Guilherme Penedo et al. (2024). The FineWeb Datasets: Decanting the Web for the Finest Text Data at Scale. NeurIPS.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28616"/>
            <a:ext cx="8046720" cy="1554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datatrove README / Citation  </a:t>
            </a:r>
            <a:r>
              <a:rPr sz="8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https://github.com/huggingface/datatrove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7574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Exploring the Limits of Transfer Learning with a Unified Text-to-Text Transformer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43812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Colin Raffel et al. / 2020 / Journal of Machine Learning Research 21(140), 1–67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2996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英語WebコーパスC4と、テキスト変換に統一した学習・評価を提案する。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50160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https://arxiv.org/abs/1910.10683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703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5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RefinedWeb Dataset for Falcon LLM: Outperforming Curated Corpora with Web Data, and Web Data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21429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Guilherme Penedo et al. / 2023 / arXiv:2306.01116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50614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Falconの事前学習用コーパスを報告し、Webデータの選別と重複除去の効果を検証する。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777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https://arxiv.org/abs/2306.01116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7574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FineWeb Datasets: Decanting the Web for the Finest Text Data at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43812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Guilherme Penedo et al. / 2024 / NeurIPS, Datasets and Benchmarks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2996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抽出・重複除去・品質選別の比較実験を報告する。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43582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https://arxiv.org/abs/2406.17557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FineWeb: decanting the web for the finest text data at scale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681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Hugging Face / 2024-05-31 / 公式技術記事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2600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処理の選択と失敗した手法を、学習曲線や具体例とともに記録する。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9658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https://huggingface.co/spaces/HuggingFaceFW/blogpost-fineweb-v1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509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HuggingFaceFW / Hugging Face Datasets / 2026-10-16参照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9428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公式データカード。配布設定・更新履歴・容量・フィールド・利用条件を記載する。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71446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https://huggingface.co/datasets/HuggingFaceFW/fineweb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FineWeb-Edu: the Finest Collection of Educational Content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681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Anton Lozhkov et al. / 2024 / Hugging 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2600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教育的価値による選別、分類器の学習、閾値別の派生版を説明する。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9658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https://huggingface.co/datasets/HuggingFaceFW/fineweb-edu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 - blazingly fast and remarkably powerful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509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Loubna Ben Allal, Anton Lozhkov, Elie Bakouch / 2024 / Hugging Face Blog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9428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FineWeb-Eduを合成教材やコードと混ぜた、小規模言語モデルの開発記録。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6486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https://huggingface.co/blog/smollm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3240"/>
            <a:ext cx="8046720" cy="378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10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SmolLM3: smol, multilingual, long-context reasoner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96818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Hugging Face / 2025 / Hugging Face Blog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26002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公開データの混合、構成比較、多言語・長文脈対応を含むモデル開発を説明する。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96588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https://huggingface.co/blog/smollm3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/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5. 読後の研究に関連する文献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31520"/>
            <a:ext cx="8046720" cy="703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950" b="1" 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FineWeb2: One Pipeline to Scale Them All -- Adapting Pre-Training Data Processing to Every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9710"/>
            <a:ext cx="804672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Guilherme Penedo et al. / 2025 / arXiv:2506.20920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18894"/>
            <a:ext cx="8046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FineWebの処理を多言語に広げ、言語別の選別・重複除去を検証する。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89480"/>
            <a:ext cx="80467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buNone/>
            </a:pPr>
            <a:r>
              <a:rPr sz="1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000" b="0" 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https://arxiv.org/abs/2506.20920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FineWeb — Datasets in 10 Minutes</dc:title>
  <dc:subject>FineWeb dataset introduction in Japanese</dc:subject>
  <dc:creator>sasakiy84</dc:creator>
  <cp:keywords>FineWeb, FineWeb-Edu, dataset, pretraining, Japanese</cp:keywords>
</cp:coreProperties>
</file>