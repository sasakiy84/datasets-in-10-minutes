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2" r:id="rId1"/>
  </p:sldMasterIdLst>
  <p:sldIdLst>
    <p:sldId id="256" r:id="rId6"/>
    <p:sldId id="257" r:id="rId7"/>
    <p:sldId id="258" r:id="rId8"/>
    <p:sldId id="259" r:id="rId9"/>
    <p:sldId id="260" r:id="rId10"/>
    <p:sldId id="261" r:id="rId5"/>
    <p:sldId id="262" r:id="rId4"/>
    <p:sldId id="263" r:id="rId3"/>
    <p:sldId id="264" r:id="rId2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590">
          <p15:clr>
            <a:srgbClr val="747775"/>
          </p15:clr>
        </p15:guide>
        <p15:guide id="2" pos="1271">
          <p15:clr>
            <a:srgbClr val="747775"/>
          </p15:clr>
        </p15:guide>
        <p15:guide id="3" orient="horz" pos="1584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77B4"/>
    <a:srgbClr val="7A81FF"/>
    <a:srgbClr val="0096FF"/>
    <a:srgbClr val="011893"/>
    <a:srgbClr val="B13731"/>
    <a:srgbClr val="EF8600"/>
    <a:srgbClr val="FFCD8C"/>
    <a:srgbClr val="0036FF"/>
    <a:srgbClr val="00D989"/>
    <a:srgbClr val="01D8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D8A3C8B-3693-4FF3-BE57-18EF887A9C23}">
  <a:tblStyle styleId="{FD8A3C8B-3693-4FF3-BE57-18EF887A9C23}" styleName="Table_0">
    <a:wholeTbl>
      <a:tcTxStyle>
        <a:font>
          <a:latin typeface="Noto Sans"/>
          <a:ea typeface="Noto Sans CJK JP"/>
          <a:cs typeface="Noto Sans"/>
        </a:font>
        <a:srgbClr val="000000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5240" cap="flat">
              <a:solidFill>
                <a:srgbClr val="626669"/>
              </a:solidFill>
              <a:prstDash val="solid"/>
            </a:ln>
          </a:top>
          <a:bottom>
            <a:ln w="15240" cap="flat">
              <a:solidFill>
                <a:srgbClr val="626669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>
          <a:bottom>
            <a:ln w="15240" cap="flat">
              <a:solidFill>
                <a:srgbClr val="626669"/>
              </a:solidFill>
              <a:prstDash val="solid"/>
            </a:ln>
          </a:bottom>
        </a:tcBdr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>
          <a:top>
            <a:ln w="15240" cap="flat">
              <a:solidFill>
                <a:srgbClr val="626669"/>
              </a:solidFill>
              <a:prstDash val="solid"/>
            </a:ln>
          </a:top>
          <a:bottom>
            <a:ln w="7620" cap="flat">
              <a:solidFill>
                <a:srgbClr val="626669"/>
              </a:solidFill>
              <a:prstDash val="solid"/>
            </a:ln>
          </a:bottom>
        </a:tcBdr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82"/>
    <p:restoredTop sz="87828"/>
  </p:normalViewPr>
  <p:slideViewPr>
    <p:cSldViewPr snapToGrid="0">
      <p:cViewPr varScale="1">
        <p:scale>
          <a:sx n="169" d="100"/>
          <a:sy n="169" d="100"/>
        </p:scale>
        <p:origin x="520" y="192"/>
      </p:cViewPr>
      <p:guideLst>
        <p:guide orient="horz" pos="590"/>
        <p:guide pos="1271"/>
        <p:guide orient="horz" pos="158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9.xml"/><Relationship Id="rId3" Type="http://schemas.openxmlformats.org/officeDocument/2006/relationships/slide" Target="slides/slide8.xml"/><Relationship Id="rId4" Type="http://schemas.openxmlformats.org/officeDocument/2006/relationships/slide" Target="slides/slide7.xml"/><Relationship Id="rId5" Type="http://schemas.openxmlformats.org/officeDocument/2006/relationships/slide" Target="slides/slide6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12471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52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3657600"/>
            <a:ext cx="8520600" cy="3657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9pPr>
          </a:lstStyle>
          <a:p>
            <a:pPr>
              <a:defRPr sz="2200" lang="ja-JP">
                <a:latin typeface="Noto Sans"/>
                <a:ea typeface="Noto Sans CJK JP"/>
                <a:cs typeface="Noto Sans"/>
              </a:defRPr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" name="Google Shape;22;p5">
            <a:extLst>
              <a:ext uri="{FF2B5EF4-FFF2-40B4-BE49-F238E27FC236}">
                <a16:creationId xmlns:a16="http://schemas.microsoft.com/office/drawing/2014/main" id="{97A17C7E-5073-6B99-C91A-19299DA839DE}"/>
              </a:ext>
            </a:extLst>
          </p:cNvPr>
          <p:cNvSpPr/>
          <p:nvPr userDrawn="1"/>
        </p:nvSpPr>
        <p:spPr>
          <a:xfrm>
            <a:off x="8607898" y="-10450"/>
            <a:ext cx="548701" cy="479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2BE9CD3C-2632-D40F-DBD2-47ACED4F9A3C}"/>
              </a:ext>
            </a:extLst>
          </p:cNvPr>
          <p:cNvSpPr txBox="1"/>
          <p:nvPr userDrawn="1"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pPr algn="ctr"/>
              <a:t>‹#›</a:t>
            </a:fld>
            <a:endParaRPr lang="ja-JP" sz="1800" b="1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110" name="Author affiliation"/>
          <p:cNvSpPr txBox="1">
            <a:spLocks noGrp="1"/>
          </p:cNvSpPr>
          <p:nvPr>
            <p:ph type="body" idx="10"/>
          </p:nvPr>
        </p:nvSpPr>
        <p:spPr>
          <a:xfrm>
            <a:off x="5486400" y="4224528"/>
            <a:ext cx="3108960" cy="22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t>所属　［所属］</a:t>
            </a:r>
          </a:p>
        </p:txBody>
      </p:sp>
      <p:sp>
        <p:nvSpPr>
          <p:cNvPr id="111" name="Author name"/>
          <p:cNvSpPr txBox="1">
            <a:spLocks noGrp="1"/>
          </p:cNvSpPr>
          <p:nvPr>
            <p:ph type="body" idx="11"/>
          </p:nvPr>
        </p:nvSpPr>
        <p:spPr>
          <a:xfrm>
            <a:off x="5486400" y="4416552"/>
            <a:ext cx="3108960" cy="40233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氏名　［氏名］</a:t>
            </a:r>
          </a:p>
        </p:txBody>
      </p:sp>
      <p:sp>
        <p:nvSpPr>
          <p:cNvPr id="112" name="Creation date"/>
          <p:cNvSpPr txBox="1">
            <a:spLocks noGrp="1"/>
          </p:cNvSpPr>
          <p:nvPr>
            <p:ph type="body" idx="12"/>
          </p:nvPr>
        </p:nvSpPr>
        <p:spPr>
          <a:xfrm>
            <a:off x="457200" y="274320"/>
            <a:ext cx="3657600" cy="22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t>作成日　YYYY-MM-DD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カスタム レイアウト 1">
  <p:cSld name="CUSTOM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5" name="Google Shape;75;p11"/>
          <p:cNvSpPr txBox="1"/>
          <p:nvPr/>
        </p:nvSpPr>
        <p:spPr>
          <a:xfrm>
            <a:off x="76100" y="0"/>
            <a:ext cx="8059500" cy="480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lang="ja-JP" altLang="en-US">
                <a:latin typeface="Noto Sans"/>
                <a:ea typeface="Noto Sans CJK JP"/>
                <a:cs typeface="Noto Sans"/>
              </a:defRPr>
            </a:pPr>
            <a:r>
              <a:rPr lang="ja-JP" altLang="en-US" b="1" dirty="0" sz="1400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T</a:t>
            </a:r>
            <a:r>
              <a:rPr lang="ja-JP" b="1" dirty="0" sz="1400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able of </a:t>
            </a:r>
            <a:r>
              <a:rPr lang="ja-JP" altLang="en-US" b="1" dirty="0" sz="1400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C</a:t>
            </a:r>
            <a:r>
              <a:rPr lang="ja-JP" b="1" dirty="0" sz="1400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ontents</a:t>
            </a:r>
            <a:endParaRPr b="1" dirty="0" lang="ja-JP" sz="1400" altLang="en-US">
              <a:solidFill>
                <a:schemeClr val="lt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76" name="Google Shape;76;p11"/>
          <p:cNvSpPr txBox="1"/>
          <p:nvPr/>
        </p:nvSpPr>
        <p:spPr>
          <a:xfrm>
            <a:off x="1236712" y="842226"/>
            <a:ext cx="5764979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1.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Background &amp; Purpose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79" name="Google Shape;79;p11"/>
          <p:cNvSpPr txBox="1"/>
          <p:nvPr/>
        </p:nvSpPr>
        <p:spPr>
          <a:xfrm>
            <a:off x="1236712" y="1664913"/>
            <a:ext cx="5412281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2.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Methodology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2" name="Google Shape;82;p11"/>
          <p:cNvSpPr txBox="1"/>
          <p:nvPr/>
        </p:nvSpPr>
        <p:spPr>
          <a:xfrm>
            <a:off x="1236712" y="2487598"/>
            <a:ext cx="6688590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3.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Classification Framework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5" name="Google Shape;85;p11"/>
          <p:cNvSpPr txBox="1"/>
          <p:nvPr userDrawn="1"/>
        </p:nvSpPr>
        <p:spPr>
          <a:xfrm>
            <a:off x="1236712" y="3310287"/>
            <a:ext cx="5020396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4.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Results &amp; Analysis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7" name="Google Shape;87;p11"/>
          <p:cNvSpPr txBox="1"/>
          <p:nvPr/>
        </p:nvSpPr>
        <p:spPr>
          <a:xfrm>
            <a:off x="1929203" y="3891800"/>
            <a:ext cx="5996100" cy="4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 dirty="0" lang="ja-JP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8" name="Google Shape;88;p11"/>
          <p:cNvSpPr txBox="1"/>
          <p:nvPr/>
        </p:nvSpPr>
        <p:spPr>
          <a:xfrm>
            <a:off x="1236712" y="4132975"/>
            <a:ext cx="6196053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5.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Conclusions and future work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rmal">
  <p:cSld name="ONE_COLUMN_TEXT_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468600" y="748150"/>
            <a:ext cx="8394600" cy="616200"/>
          </a:xfrm>
          <a:prstGeom prst="rect">
            <a:avLst/>
          </a:prstGeom>
        </p:spPr>
        <p:txBody>
          <a:bodyPr spcFirstLastPara="1" wrap="non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0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589650" y="1474850"/>
            <a:ext cx="7964700" cy="34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6" name="Google Shape;26;p5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0481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 dirty="0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のみ">
  <p:cSld name="ONE_COLUMN_TEXT_1_4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468600" y="649825"/>
            <a:ext cx="8206800" cy="616200"/>
          </a:xfrm>
          <a:prstGeom prst="rect">
            <a:avLst/>
          </a:prstGeom>
        </p:spPr>
        <p:txBody>
          <a:bodyPr spcFirstLastPara="1" wrap="non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0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1" name="Google Shape;31;p6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1153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ansition" type="secHead">
  <p:cSld name="ONE_COLUMN_TEXT_1_4_1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5" name="Google Shape;35;p7"/>
          <p:cNvSpPr txBox="1">
            <a:spLocks noGrp="1"/>
          </p:cNvSpPr>
          <p:nvPr>
            <p:ph type="title"/>
          </p:nvPr>
        </p:nvSpPr>
        <p:spPr>
          <a:xfrm>
            <a:off x="548640" y="2414016"/>
            <a:ext cx="8046720" cy="822960"/>
          </a:xfrm>
          <a:prstGeom prst="rect">
            <a:avLst/>
          </a:prstGeom>
        </p:spPr>
        <p:txBody>
          <a:bodyPr spcFirstLastPara="1" wrap="none" lIns="0" tIns="0" rIns="0" bIns="0" anchor="ctr" anchorCtr="0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600" b="1" lang="ja-JP" altLang="en-US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 algn="ctr">
              <a:lnSpc>
                <a:spcPct val="110000"/>
              </a:lnSpc>
              <a:defRPr sz="3600" b="1" lang="ja-JP" altLang="en-US">
                <a:latin typeface="Noto Sans"/>
                <a:ea typeface="Noto Sans CJK JP"/>
                <a:cs typeface="Noto Sans"/>
              </a:defRPr>
            </a:pPr>
            <a:endParaRPr lang="ja-JP" sz="36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36" name="Google Shape;36;p7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1153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本文のみ">
  <p:cSld name="ONE_COLUMN_TEXT_1_3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0" name="Google Shape;40;p8"/>
          <p:cNvSpPr txBox="1">
            <a:spLocks noGrp="1"/>
          </p:cNvSpPr>
          <p:nvPr>
            <p:ph type="body" idx="1"/>
          </p:nvPr>
        </p:nvSpPr>
        <p:spPr>
          <a:xfrm>
            <a:off x="589650" y="1185250"/>
            <a:ext cx="7964700" cy="32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76100" y="0"/>
            <a:ext cx="80595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ヘッダーのみ">
  <p:cSld name="ONE_COLUMN_TEXT_1_1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76100" y="0"/>
            <a:ext cx="81489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_AND_EXPLAN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nd"/>
          <p:cNvSpPr txBox="1"/>
          <p:nvPr userDrawn="1"/>
        </p:nvSpPr>
        <p:spPr>
          <a:xfrm>
            <a:off x="0" y="0"/>
            <a:ext cx="91440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square" anchor="ctr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4" name="Chart Placeholder"/>
          <p:cNvSpPr txBox="1">
            <a:spLocks noGrp="1"/>
          </p:cNvSpPr>
          <p:nvPr>
            <p:ph idx="1"/>
          </p:nvPr>
        </p:nvSpPr>
        <p:spPr>
          <a:xfrm>
            <a:off x="456520" y="1250000"/>
            <a:ext cx="5715000" cy="30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wrap="square"/>
          <a:lstStyle/>
          <a:p>
            <a:r>
              <a:rPr lang="ja-JP" sz="1800" b="0">
                <a:solidFill>
                  <a:schemeClr val="dk2"/>
                </a:solidFill>
                <a:latin typeface="Noto Sans"/>
                <a:ea typeface="Noto Sans CJK JP"/>
                <a:cs typeface="Noto Sans"/>
              </a:rPr>
              <a:t>Insert chart</a:t>
            </a: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5" name="Explanation Placeholder"/>
          <p:cNvSpPr txBox="1">
            <a:spLocks noGrp="1"/>
          </p:cNvSpPr>
          <p:nvPr>
            <p:ph type="body" idx="2"/>
          </p:nvPr>
        </p:nvSpPr>
        <p:spPr>
          <a:xfrm>
            <a:off x="6295292" y="1550000"/>
            <a:ext cx="2500000" cy="24000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91425" bIns="91425"/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6" name="Supporting Text Placeholder"/>
          <p:cNvSpPr txBox="1">
            <a:spLocks noGrp="1"/>
          </p:cNvSpPr>
          <p:nvPr>
            <p:ph type="body" idx="3"/>
          </p:nvPr>
        </p:nvSpPr>
        <p:spPr>
          <a:xfrm>
            <a:off x="500000" y="4650000"/>
            <a:ext cx="8144000" cy="2600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91425" bIns="91425"/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  <p:sp>
        <p:nvSpPr>
          <p:cNvPr id="9" name="タイトル 8">
            <a:extLst>
              <a:ext uri="{FF2B5EF4-FFF2-40B4-BE49-F238E27FC236}">
                <a16:creationId xmlns:a16="http://schemas.microsoft.com/office/drawing/2014/main" id="{25C0E310-B322-8587-531C-0E2F5BB13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ページ番号のみ 1">
  <p:cSld name="ONE_COLUMN_TEXT_1_2_1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3"/>
          <p:cNvSpPr txBox="1">
            <a:spLocks noGrp="1"/>
          </p:cNvSpPr>
          <p:nvPr>
            <p:ph type="title"/>
          </p:nvPr>
        </p:nvSpPr>
        <p:spPr>
          <a:xfrm>
            <a:off x="5796650" y="4091225"/>
            <a:ext cx="3347400" cy="10524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126000" tIns="126000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dirty="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dk2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203200" lvl="0" indent="-152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73889"/>
              <a:buFont typeface="Noto Sans CJK JP"/>
              <a:buChar char="●"/>
              <a:defRPr sz="18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1pPr>
            <a:lvl2pPr marL="482600" lvl="1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2pPr>
            <a:lvl3pPr marL="762000" lvl="2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3pPr>
            <a:lvl4pPr marL="1041400" lvl="3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4pPr>
            <a:lvl5pPr marL="1320800" lvl="4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5pPr>
            <a:lvl6pPr marL="1600200" lvl="5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6pPr>
            <a:lvl7pPr marL="1879600" lvl="6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7pPr>
            <a:lvl8pPr marL="2159000" lvl="7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8pPr>
            <a:lvl9pPr marL="2438400" lvl="8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bIns="0" anchor="ctr" anchorCtr="0">
            <a:normAutofit/>
          </a:bodyPr>
          <a:lstStyle>
            <a:lvl1pPr lvl="0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1pPr>
            <a:lvl2pPr lvl="1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2pPr>
            <a:lvl3pPr lvl="2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3pPr>
            <a:lvl4pPr lvl="3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4pPr>
            <a:lvl5pPr lvl="4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5pPr>
            <a:lvl6pPr lvl="5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6pPr>
            <a:lvl7pPr lvl="6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7pPr>
            <a:lvl8pPr lvl="7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8pPr>
            <a:lvl9pPr lvl="8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>
                <a:latin typeface="Noto Sans"/>
                <a:ea typeface="Noto Sans CJK JP"/>
                <a:cs typeface="Noto Sans"/>
              </a:rPr>
              <a:t>‹#›</a:t>
            </a:fld>
            <a:endParaRPr lang="ja-JP">
              <a:latin typeface="Noto Sans"/>
              <a:ea typeface="Noto Sans CJK JP"/>
              <a:cs typeface="Noto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7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8" r:id="rId8"/>
    <p:sldLayoutId id="2147483659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9pPr>
    </p:titleStyle>
    <p:bodyStyle>
      <a:lvl1pPr marL="457200" lvl="0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●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1pPr>
      <a:lvl2pPr marL="914400" lvl="1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2pPr>
      <a:lvl3pPr marL="1371600" lvl="2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3pPr>
      <a:lvl4pPr marL="1828800" lvl="3" indent="-368300">
        <a:spcBef>
          <a:spcPts val="0"/>
        </a:spcBef>
        <a:spcAft>
          <a:spcPts val="0"/>
        </a:spcAft>
        <a:buClr>
          <a:srgbClr val="303437"/>
        </a:buClr>
        <a:buSzPct val="60455"/>
        <a:buFont typeface="Noto Sans CJK JP"/>
        <a:buChar char="●"/>
        <a:defRPr sz="2200" lang="ja-JP">
          <a:solidFill>
            <a:srgbClr val="303437"/>
          </a:solidFill>
          <a:latin typeface="Noto Sans"/>
          <a:ea typeface="Noto Sans CJK JP"/>
          <a:cs typeface="Noto Sans"/>
        </a:defRPr>
      </a:lvl4pPr>
      <a:lvl5pPr marL="2286000" lvl="4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5pPr>
      <a:lvl6pPr marL="2743200" lvl="5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6pPr>
      <a:lvl7pPr marL="3200400" lvl="6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●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7pPr>
      <a:lvl8pPr marL="3657600" lvl="7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8pPr>
      <a:lvl9pPr marL="4114800" lvl="8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huggingface.co/datasets/SWE-bench/SWE-bench_Multilingual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hyperlink" Target="https://huggingface.co/datasets/SWE-bench/SWE-bench_Multilingual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huggingface.co/datasets/SWE-bench/SWE-bench_Multilingual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SWE-bench/SWE-bench_Multilingual/viewer/default/test?row=94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SWE-bench/SWE-bench_Multilingual/viewer/default/test?row=139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SWE-bench/SWE-bench_Multilingual/viewer/default/test?row=139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SWE-bench/SWE-bench_Multilingual/viewer/default/test?row=200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SWE-bench/SWE-bench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SWE-bench/experiments/tree/main/evaluation/multilingual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www.anthropic.com/claude-fable-and-mythos-5-1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SWE-bench/SWE-bench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huggingface.co/datasets/SWE-bench/SWE-bench_Multilingual" TargetMode="Externa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310.06770" TargetMode="External"/><Relationship Id="rId3" Type="http://schemas.openxmlformats.org/officeDocument/2006/relationships/hyperlink" Target="https://huggingface.co/datasets/SWE-bench/SWE-bench_Multilingual" TargetMode="Externa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SWE-bench/SWE-bench_Multilingual" TargetMode="Externa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SWE-bench/SWE-bench_Multilingual" TargetMode="Externa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www.anthropic.com/claude-fable-and-mythos-5-1" TargetMode="External"/><Relationship Id="rId3" Type="http://schemas.openxmlformats.org/officeDocument/2006/relationships/hyperlink" Target="https://github.com/SWE-bench/experiments/tree/main/evaluation/multilingual" TargetMode="Externa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SWE-bench/SWE-bench_Multilingual" TargetMode="Externa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huggingface.co/datasets/SWE-bench/SWE-bench_Multilingual" TargetMode="External"/><Relationship Id="rId3" Type="http://schemas.openxmlformats.org/officeDocument/2006/relationships/hyperlink" Target="https://github.com/SWE-bench/SWE-bench" TargetMode="Externa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huggingface.co/datasets/SWE-bench/SWE-bench_Multilingual" TargetMode="Externa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SWE-bench/SWE-bench_Multilingual/viewer/default/test?row=35" TargetMode="Externa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SWE-bench/SWE-bench_Multilingual/viewer/default/test?row=286" TargetMode="Externa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SWE-bench/SWE-bench_Multilingual/viewer/default/test?row=114" TargetMode="Externa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SWE-bench/SWE-bench_Multilingual/viewer/default/test?row=219" TargetMode="Externa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SWE-bench/SWE-bench_Multilingual/viewer/default/test?row=48" TargetMode="Externa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SWE-bench/SWE-bench_Multilingual/viewer/default/test?row=48" TargetMode="Externa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SWE-bench/SWE-bench_Multilingual/viewer/default/test?row=134" TargetMode="Externa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SWE-bench/SWE-bench_Multilingual/viewer/default/test?row=134" TargetMode="Externa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SWE-bench/SWE-bench_Multilingual/viewer/default/test?row=100" TargetMode="Externa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SWE-bench/SWE-bench_Multilingual/viewer/default/test?row=100" TargetMode="Externa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SWE-bench/SWE-bench_Multilingual/viewer/default/test?row=258" TargetMode="Externa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SWE-bench/SWE-bench_Multilingual/viewer/default/test?row=258" TargetMode="Externa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SWE-bench/SWE-bench_Multilingual/viewer/default/test?row=258" TargetMode="Externa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SWE-bench/SWE-bench_Multilingual/viewer/default/test?row=241" TargetMode="Externa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SWE-bench/SWE-bench_Multilingual/viewer/default/test?row=241" TargetMode="Externa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SWE-bench/SWE-bench_Multilingual/viewer/default/test?row=241" TargetMode="Externa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SWE-bench/SWE-bench_Multilingual/viewer/default/test?row=299" TargetMode="Externa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SWE-bench/SWE-bench_Multilingual/viewer/default/test?row=299" TargetMode="Externa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SWE-bench/SWE-bench_Multilingual/viewer/default/test?row=299" TargetMode="Externa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huggingface.co/datasets/SWE-bench/SWE-bench_Multilingual" TargetMode="Externa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SWE-bench/SWE-bench_Multilingual" TargetMode="External"/><Relationship Id="rId3" Type="http://schemas.openxmlformats.org/officeDocument/2006/relationships/hyperlink" Target="https://arxiv.org/abs/2310.06770" TargetMode="Externa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SWE-bench/SWE-bench" TargetMode="External"/><Relationship Id="rId3" Type="http://schemas.openxmlformats.org/officeDocument/2006/relationships/hyperlink" Target="https://github.com/SWE-bench/experiments/tree/main/evaluation/multilingual" TargetMode="Externa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www.anthropic.com/claude-fable-and-mythos-5-1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640" y="1459827"/>
            <a:ext cx="8046720" cy="1912620"/>
          </a:xfrm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6750"/>
              </a:lnSpc>
              <a:buNone/>
              <a:defRPr sz="5400" b="0">
                <a:solidFill>
                  <a:srgbClr val="303437"/>
                </a:solidFill>
                <a:latin typeface="Noto Sans"/>
              </a:defRPr>
            </a:pPr>
            <a:r>
              <a:rPr sz="54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SWE-bench</a:t>
            </a:r>
          </a:p>
          <a:p>
            <a:pPr algn="ctr">
              <a:lnSpc>
                <a:spcPts val="6750"/>
              </a:lnSpc>
              <a:buNone/>
              <a:defRPr sz="5400" b="0">
                <a:solidFill>
                  <a:srgbClr val="303437"/>
                </a:solidFill>
                <a:latin typeface="Noto Sans"/>
              </a:defRPr>
            </a:pPr>
            <a:r>
              <a:rPr sz="54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Multilingual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" y="3326727"/>
            <a:ext cx="8046720" cy="488315"/>
          </a:xfrm>
        </p:spPr>
        <p:txBody>
          <a:bodyPr lIns="0" rIns="0" tIns="0" bIns="0">
            <a:no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  <a:buNone/>
              <a:defRPr sz="2500" b="0">
                <a:solidFill>
                  <a:srgbClr val="303437"/>
                </a:solidFill>
                <a:latin typeface="Noto Sans"/>
              </a:defRPr>
            </a:pPr>
            <a:r>
              <a:rPr sz="2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9言語の実リポジトリでIssue修正を評価する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/>
          </p:nvPr>
        </p:nvSpPr>
        <p:spPr>
          <a:xfrm>
            <a:off x="5486400" y="4416552"/>
            <a:ext cx="3108960" cy="402336"/>
          </a:xfrm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0000"/>
              </a:lnSpc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sasakiy84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2"/>
          </p:nvPr>
        </p:nvSpPr>
        <p:spPr>
          <a:xfrm>
            <a:off x="457200" y="274320"/>
            <a:ext cx="8229600" cy="2743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datasets in 10 minutes (2026-10-22)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" y="1663901"/>
            <a:ext cx="7863840" cy="2362199"/>
          </a:xfrm>
        </p:spPr>
        <p:txBody>
          <a:bodyPr lIns="0" rIns="0" tIns="0" bIns="0">
            <a:noAutofit/>
          </a:bodyPr>
          <a:lstStyle/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1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実リポジトリを直す課題</a:t>
            </a:r>
          </a:p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2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テストによる採点と到達水準</a:t>
            </a:r>
          </a:p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3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構築方法と9言語の構成</a:t>
            </a:r>
          </a:p>
          <a:p>
            <a:pPr marL="457200" indent="-457200">
              <a:lnSpc>
                <a:spcPts val="3660"/>
              </a:lnSpc>
              <a:spcAft>
                <a:spcPts val="0"/>
              </a:spcAft>
              <a:buSzPct val="100000"/>
              <a:buFont typeface="Noto Sans CJK JP"/>
              <a:buAutoNum type="arabicPeriod" startAt="4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現在の利用と入手方法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目次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640080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1. 実リポジトリを直す課題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実リポジトリを直す課題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9言語のコードにまたがるIssue修正を測る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Multilingualが指すのは、Java・Rust・Goなど9つのプログラミング言語。Issueの文章は主に英語である。</a:t>
            </a:r>
          </a:p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300件の実際のIssue–Pull Requestの組を、41リポジトリから集めた。修正前のコードとIssueを渡し、問題を解消する変更を求める。</a:t>
            </a:r>
          </a:p>
          <a:p>
            <a:pPr marL="457200" indent="-355600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Pythonを対象としたSWE-benchと同じ課題形式を、異なる実装言語へ広げている。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実リポジトリを直す課題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20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SWE-bench, SWE-bench Multilingual Dataset Card（2026-10-22参照）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https://huggingface.co/datasets/SWE-bench/SWE-bench_Multilingual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SWE-bench Multilingualの公式配布ページ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実リポジトリを直す課題</a:t>
            </a:r>
          </a:p>
        </p:txBody>
      </p:sp>
      <p:pic>
        <p:nvPicPr>
          <p:cNvPr id="4" name="Picture 3" descr="official-s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7255" y="1481328"/>
            <a:ext cx="5189488" cy="3063240"/>
          </a:xfrm>
          <a:prstGeom prst="rect">
            <a:avLst/>
          </a:prstGeom>
        </p:spPr>
      </p:pic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20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SWE-bench, SWE-bench Multilingual Dataset Card（2026-10-22参照）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https://huggingface.co/datasets/SWE-bench/SWE-bench_Multilingual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入力はIssueと修正前のリポジトリ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Issueには不具合、再現手順、期待する動作などが書かれている。エージェントはコードを調べ、修正したパッチを提出する。</a:t>
            </a:r>
          </a:p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正誤はパッチの文字列一致ではなく、修正後のリポジトリでテストを実行して判定する。</a:t>
            </a:r>
          </a:p>
          <a:p>
            <a:pPr marL="457200" indent="-355600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ここでは、実際のIssue本文と日本語での説明を示す。リポジトリ全体も入力に含まれる。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実リポジトリを直す課題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20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SWE-bench, SWE-bench Multilingual Dataset Card（2026-10-22参照）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https://huggingface.co/datasets/SWE-bench/SWE-bench_Multilingual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例1 負の整数の桁区切り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実リポジトリを直す課題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16736"/>
            <a:ext cx="8046720" cy="23774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62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Issue本文（全文・Markdown装飾を整形）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545336"/>
            <a:ext cx="8046720" cy="1492249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01600" bIns="127000">
            <a:noAutofit/>
          </a:bodyPr>
          <a:lstStyle/>
          <a:p>
            <a:pPr algn="l">
              <a:lnSpc>
                <a:spcPts val="207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`group_digits`does not work with negative integers</a:t>
            </a:r>
          </a:p>
          <a:p>
            <a:pPr algn="l">
              <a:lnSpc>
                <a:spcPts val="207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`group_digits` does not work with negative integers.</a:t>
            </a:r>
          </a:p>
          <a:p>
            <a:pPr algn="l">
              <a:lnSpc>
                <a:spcPts val="207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I would expect `fmt::group_digits(-12345)` to produce `-12,345` and not `18,446,744,073,709,539,271`</a:t>
            </a:r>
          </a:p>
          <a:p>
            <a:pPr algn="l">
              <a:lnSpc>
                <a:spcPts val="207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Here is the code to reproduce: https://godbolt.org/z/vjzrM48bb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074161"/>
            <a:ext cx="7955279" cy="79171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29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日本語：group_digitsは負の整数で動作しない。fmt::group_digits(-12345)には、18,446,744,073,709,539,271ではなく、-12,345を出力してほしい。再現コードは原文のGodboltリンクにある。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902456"/>
            <a:ext cx="7955279" cy="4160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95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期待動作：-12345 → -12,345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355084"/>
            <a:ext cx="7955279" cy="27609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29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符号と絶対値を分け、符号付きの接頭辞を保持して整数を整形する。</a:t>
            </a:r>
          </a:p>
        </p:txBody>
      </p:sp>
      <p:sp>
        <p:nvSpPr>
          <p:cNvPr id="9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20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SWE-bench Multilingual / fmtlib__fmt-3901 / C++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https://huggingface.co/datasets/SWE-bench/SWE-bench_Multilingual/viewer/default/test?row=94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例2 予約語を変数名に使う：原文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実リポジトリを直す課題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16736"/>
            <a:ext cx="804672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62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Issue本文（全文・Markdown装飾を整形）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64208"/>
            <a:ext cx="8046720" cy="2609532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01600" bIns="127000">
            <a:noAutofit/>
          </a:bodyPr>
          <a:lstStyle/>
          <a:p>
            <a:pPr algn="l">
              <a:lnSpc>
                <a:spcPts val="2127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The keyword `label` can't be used as a binding name :(</a:t>
            </a:r>
          </a:p>
          <a:p>
            <a:pPr algn="l">
              <a:lnSpc>
                <a:spcPts val="2127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jq -n '. as $label | $label'</a:t>
            </a:r>
          </a:p>
          <a:p>
            <a:pPr algn="l">
              <a:lnSpc>
                <a:spcPts val="2127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jq: error: syntax error, unexpected label, expecting IDENT (Unix shell quoting issues?) at &lt;top-level&gt;, line 1:</a:t>
            </a:r>
          </a:p>
          <a:p>
            <a:pPr algn="l">
              <a:lnSpc>
                <a:spcPts val="2127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. as $label | $label</a:t>
            </a:r>
          </a:p>
          <a:p>
            <a:pPr algn="l">
              <a:lnSpc>
                <a:spcPts val="2127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jq: 1 compile error</a:t>
            </a:r>
          </a:p>
          <a:p>
            <a:pPr algn="l">
              <a:lnSpc>
                <a:spcPts val="2127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We should make sure all keywords can be used as `$keyword` bindings.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20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SWE-bench Multilingual / jqlang__jq-2681 / C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https://huggingface.co/datasets/SWE-bench/SWE-bench_Multilingual/viewer/default/test?row=139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例2 予約語を変数名に使う：日本語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実リポジトリを直す課題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804672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21"/>
              </a:lnSpc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rgbClr val="303437"/>
                </a:solidFill>
                <a:latin typeface="Noto Sans"/>
              </a:defRPr>
            </a:pPr>
            <a:r>
              <a:rPr sz="13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日本語での説明（本資料）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64208"/>
            <a:ext cx="8046720" cy="1160780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01600" bIns="127000">
            <a:noAutofit/>
          </a:bodyPr>
          <a:lstStyle/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予約語labelを変数名として使えない。jq -n の式 . as $label | $label が、labelを予期しないトークンとする構文エラーになる。すべての予約語を$keywordという変数名に使えるようにしたい。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989580"/>
            <a:ext cx="7955279" cy="4160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95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期待動作：$labelを変数として受理する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515360"/>
            <a:ext cx="7955279" cy="6035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字句解析器が、$の付いた変数名を予約語そのものと区別する。</a:t>
            </a:r>
          </a:p>
        </p:txBody>
      </p:sp>
      <p:sp>
        <p:nvSpPr>
          <p:cNvPr id="8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20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SWE-bench Multilingual / jqlang__jq-2681 / C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https://huggingface.co/datasets/SWE-bench/SWE-bench_Multilingual/viewer/default/test?row=139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例3 エラーの補足情報を渡す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実リポジトリを直す課題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16736"/>
            <a:ext cx="8046720" cy="23774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62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Issue本文（全文・Markdown装飾を整形）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545336"/>
            <a:ext cx="8046720" cy="966470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01600" bIns="127000">
            <a:noAutofit/>
          </a:bodyPr>
          <a:lstStyle/>
          <a:p>
            <a:pPr algn="l">
              <a:lnSpc>
                <a:spcPts val="207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support errorInfo in useErrorBoundary</a:t>
            </a:r>
          </a:p>
          <a:p>
            <a:pPr algn="l">
              <a:lnSpc>
                <a:spcPts val="207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`component.componentDidCatch` gets `errorInfo` as 2nd parameter, but `useErrorBoundary` doesn't. Can we get that there, too?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548382"/>
            <a:ext cx="7955279" cy="79171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29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日本語：useErrorBoundaryでもerrorInfoを使えるようにしてほしい。component.componentDidCatchは第2引数としてerrorInfoを受け取るが、useErrorBoundaryは受け取らない。こちらでも取得できないか。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376676"/>
            <a:ext cx="7955279" cy="4160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95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期待動作：コールバックの第2引数にerrorInfoを渡す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829304"/>
            <a:ext cx="7955279" cy="27609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29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コールバック呼び出しとTypeScriptの型定義を対応させる。</a:t>
            </a:r>
          </a:p>
        </p:txBody>
      </p:sp>
      <p:sp>
        <p:nvSpPr>
          <p:cNvPr id="9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20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SWE-bench Multilingual / preactjs__preact-3689 / JavaScript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https://huggingface.co/datasets/SWE-bench/SWE-bench_Multilingual/viewer/default/test?row=200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640080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2. テストによる採点と到達水準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テストによる採点と到達水準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新しい不具合を直し、既存の動作も保つ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FAIL_TO_PASSは、修正前に失敗し、参照パッチ適用後に成功するテスト群。今回のIssueを解消できたかを確かめる。</a:t>
            </a:r>
          </a:p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PASS_TO_PASSは、修正前後で成功するテスト群。変更によって既存の動作を壊していないかを確かめる。</a:t>
            </a:r>
          </a:p>
          <a:p>
            <a:pPr marL="457200" indent="-355600">
              <a:lnSpc>
                <a:spcPts val="2499"/>
              </a:lnSpc>
              <a:spcAft>
                <a:spcPts val="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両方の要件を満たした問題を解決済みと数え、全問題に対する割合をresolved（解決率）として報告する。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テストによる採点と到達水準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20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SWE-bench, 公式評価ハーネス（2026-10-22参照）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https://github.com/SWE-bench/SWE-bench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2026年2月の公開評価：同じエージェントで比較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テストによる採点と到達水準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684020"/>
        </p:xfrm>
        <a:graphic>
          <a:graphicData uri="http://schemas.openxmlformats.org/drawingml/2006/table">
            <a:tbl>
              <a:tblPr firstRow="0" bandRow="0"/>
              <a:tblGrid>
                <a:gridCol w="6217920"/>
                <a:gridCol w="1828800"/>
              </a:tblGrid>
              <a:tr h="42100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モデル（公開年）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解決率 (%)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2100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Claude Opus 4.6（2026）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72.0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100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GPT-5.2 high（2025）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66.7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100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DeepSeek V3.2（2025）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59.0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320795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提出日2026-02-13。mini-SWE-agent 2.0.0a0、各問題1試行。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20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SWE-bench, Multilingual公開評価記録（提出日2026-02-13）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https://github.com/SWE-bench/experiments/tree/main/evaluation/multilingual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Fable 5.1の報告では約9割を解決した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テストによる採点と到達水準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742440"/>
        </p:xfrm>
        <a:graphic>
          <a:graphicData uri="http://schemas.openxmlformats.org/drawingml/2006/table">
            <a:tbl>
              <a:tblPr firstRow="0" bandRow="0"/>
              <a:tblGrid>
                <a:gridCol w="6217920"/>
                <a:gridCol w="1828800"/>
              </a:tblGrid>
              <a:tr h="43561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モデル（2026年の報告）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解決率 (%)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3561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Claude Fable 5.1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89.1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3561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Claude Fable 5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86.6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3561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Claude Opus 5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89.5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379216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300問・各5試行の平均。前頁の評価とはエージェントなどの条件が異なる。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20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Anthropic (2026), Claude Fable 5.1 &amp; Mythos 5.1 System Card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https://www.anthropic.com/claude-fable-and-mythos-5-1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得点にはモデルと実行環境の両方が関わる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エージェントは、ファイル検索、コード編集、テスト実行などを繰り返す。モデルが同じでも、この手順や使える時間によって結果は変わる。</a:t>
            </a:r>
          </a:p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公開ハーネスは問題ごとのコンテナーとテストを用意する。パッチを評価できるため、どこで失敗したかを調べやすい。</a:t>
            </a:r>
          </a:p>
          <a:p>
            <a:pPr marL="457200" indent="-355600">
              <a:lnSpc>
                <a:spcPts val="2499"/>
              </a:lnSpc>
              <a:spcAft>
                <a:spcPts val="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参照パッチと同一の変更だけを求める評価ではなく、テストが確認する動作を満たすことが中心になる。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テストによる採点と到達水準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20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SWE-bench, 公式評価ハーネス（2026-10-22参照）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https://github.com/SWE-bench/SWE-bench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640080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3. 構築方法と9言語の構成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構築方法と9言語の構成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Issueと解決したPull Requestを組にする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Multilingualは、実リポジトリのIssueと、それを解決するPull Requestから作った300組を公開する。テスト適用後の動作を参照として使う。</a:t>
            </a:r>
          </a:p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各レコードはIssue本文、修正前のコードの基点、参照パッチ、テストパッチ、テスト一覧、環境情報を含む。</a:t>
            </a:r>
          </a:p>
          <a:p>
            <a:pPr marL="457200" indent="-355600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対象のPull Requestは2017〜2025年にわたり、Web・データ処理・開発支援などの実装を含む。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構築方法と9言語の構成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20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SWE-bench, SWE-bench Multilingual Dataset Card（2026-10-22参照）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https://huggingface.co/datasets/SWE-bench/SWE-bench_Multilingual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SWE-benchから、対象の実装言語を広げた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2024年のSWE-benchは、12のPythonリポジトリから集めた2,294問を扱った。Issueを解決し、テストを通す課題形式を導入した。</a:t>
            </a:r>
          </a:p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Multilingualは同じ課題形式を9言語へ広げた300問で、Python版を自然言語へ翻訳した集合ではない。</a:t>
            </a:r>
          </a:p>
          <a:p>
            <a:pPr marL="457200" indent="-355600">
              <a:lnSpc>
                <a:spcPts val="2499"/>
              </a:lnSpc>
              <a:spcAft>
                <a:spcPts val="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VerifiedやProなどの別集合とは、問題の収集範囲や構成が異なる。データセット名を指定して結果を対応させる。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構築方法と9言語の構成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20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Jimenez et al. (2024), SWE-bench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https://arxiv.org/abs/2310.06770</a:t>
            </a:r>
          </a:p>
          <a:p>
            <a:pPr>
              <a:lnSpc>
                <a:spcPts val="1100"/>
              </a:lnSpc>
              <a:spcAft>
                <a:spcPts val="20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SWE-bench, SWE-bench Multilingual Dataset Card（2026-10-22参照）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https://huggingface.co/datasets/SWE-bench/SWE-bench_Multilingual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9言語の内訳：RubyからGoまで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構築方法と9言語の構成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438400"/>
        </p:xfrm>
        <a:graphic>
          <a:graphicData uri="http://schemas.openxmlformats.org/drawingml/2006/table">
            <a:tbl>
              <a:tblPr firstRow="0" bandRow="0"/>
              <a:tblGrid>
                <a:gridCol w="4389120"/>
                <a:gridCol w="1828800"/>
                <a:gridCol w="1828800"/>
              </a:tblGrid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言語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問題数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リポジトリ数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Ruby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44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6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Rust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43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7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PHP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43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Java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43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6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Go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20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SWE-bench, SWE-bench Multilingual Dataset Card（2026-10-22参照）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https://huggingface.co/datasets/SWE-bench/SWE-bench_Multilingual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9言語の内訳：CからC++まで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構築方法と9言語の構成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105025"/>
        </p:xfrm>
        <a:graphic>
          <a:graphicData uri="http://schemas.openxmlformats.org/drawingml/2006/table">
            <a:tbl>
              <a:tblPr firstRow="0" bandRow="0"/>
              <a:tblGrid>
                <a:gridCol w="4389120"/>
                <a:gridCol w="1828800"/>
                <a:gridCol w="1828800"/>
              </a:tblGrid>
              <a:tr h="42100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言語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問題数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リポジトリ数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2100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C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100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JavaScript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26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100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TypeScript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17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100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C++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741800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全体で300問、41リポジトリ。言語ごとの問題数は均等ではない。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20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SWE-bench, SWE-bench Multilingual Dataset Card（2026-10-22参照）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https://huggingface.co/datasets/SWE-bench/SWE-bench_Multilingual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640080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4. 現在の利用と入手方法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現在の利用と入手方法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現在のモデル評価と、修正過程の分析に使える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2026年のClaude Fable 5.1のシステムカードが、SWE-bench Multilingualの300問での解決率を報告している。</a:t>
            </a:r>
          </a:p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公式の公開評価記録には、異なるモデルをmini-SWE-agentで動かした結果がある。各問題の成否から、苦手な修正を調べられる。</a:t>
            </a:r>
          </a:p>
          <a:p>
            <a:pPr marL="457200" indent="-355600">
              <a:lnSpc>
                <a:spcPts val="2499"/>
              </a:lnSpc>
              <a:spcAft>
                <a:spcPts val="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Issue、参照パッチ、テストが公開されているため、修正の内容と採点結果を対応させて分析できる。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現在の利用と入手方法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20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Anthropic (2026), Claude Fable 5.1 &amp; Mythos 5.1 System Card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https://www.anthropic.com/claude-fable-and-mythos-5-1</a:t>
            </a:r>
          </a:p>
          <a:p>
            <a:pPr>
              <a:lnSpc>
                <a:spcPts val="1100"/>
              </a:lnSpc>
              <a:spcAft>
                <a:spcPts val="20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SWE-bench, Multilingual公開評価記録（提出日2026-02-13）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https://github.com/SWE-bench/experiments/tree/main/evaluation/multilingual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公式配布からIssueとテスト名を読む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現在の利用と入手方法</a:t>
            </a:r>
          </a:p>
        </p:txBody>
      </p:sp>
      <p:sp>
        <p:nvSpPr>
          <p:cNvPr id="4" name="code-frame"/>
          <p:cNvSpPr/>
          <p:nvPr/>
        </p:nvSpPr>
        <p:spPr>
          <a:xfrm>
            <a:off x="548640" y="1508760"/>
            <a:ext cx="8046720" cy="2143125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lIns="152400" rIns="152400" tIns="92710" bIns="127000"/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from datasets import load_dataset</a:t>
            </a:r>
          </a:p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/>
            </a:r>
          </a:p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ds = load_dataset(</a:t>
            </a:r>
          </a:p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  "SWE-bench/SWE-bench_Multilingual", split="test")</a:t>
            </a:r>
          </a:p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r = ds[0]</a:t>
            </a:r>
          </a:p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print(r["problem_statement"])</a:t>
            </a:r>
          </a:p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print(r["FAIL_TO_PASS"])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853053"/>
            <a:ext cx="7955279" cy="7772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22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test分割の300問を読み込む。実際の採点には公式ハーネスとコンテナー環境を使う。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20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SWE-bench, SWE-bench Multilingual Dataset Card（2026-10-22参照）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https://huggingface.co/datasets/SWE-bench/SWE-bench_Multilingual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データは公開、元リポジトリの権利も確認する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公式Hugging Face配布はMITと表示され、申請なしで取得できる。Parquetは約1.88 MBで、テスト集合300問が一つのファイルに入る。</a:t>
            </a:r>
          </a:p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評価ハーネスもMIT。データの取得と、リポジトリを構築してテストを走らせる作業は別に行う。</a:t>
            </a:r>
          </a:p>
          <a:p>
            <a:pPr marL="457200" indent="-355600">
              <a:lnSpc>
                <a:spcPts val="2499"/>
              </a:lnSpc>
              <a:spcAft>
                <a:spcPts val="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Issueやコードの元となるリポジトリには、それぞれの著作権・利用条件がある。コードを再配布する場合は、その条件に従う。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現在の利用と入手方法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20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SWE-bench, SWE-bench Multilingual Dataset Card（2026-10-22参照）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https://huggingface.co/datasets/SWE-bench/SWE-bench_Multilingual</a:t>
            </a:r>
          </a:p>
          <a:p>
            <a:pPr>
              <a:lnSpc>
                <a:spcPts val="1100"/>
              </a:lnSpc>
              <a:spcAft>
                <a:spcPts val="20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SWE-bench, 公式評価ハーネス（2026-10-22参照）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https://github.com/SWE-bench/SWE-bench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実装言語を越えて、修正を完了できるか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SWE-bench Multilingualは、9言語・41リポジトリの300件で、実際のIssueをコード変更によって解決する力を測る。</a:t>
            </a:r>
          </a:p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入力を読み、該当コードを探し、変更を加え、テストで確認するところまでが課題になる。</a:t>
            </a:r>
          </a:p>
          <a:p>
            <a:pPr marL="457200" indent="-355600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解決率とともに参照パッチやテストを読むことで、得意な修正と、まだ失敗する修正を具体的に捉えられる。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現在の利用と入手方法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20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SWE-bench, SWE-bench Multilingual Dataset Card（2026-10-22参照）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https://huggingface.co/datasets/SWE-bench/SWE-bench_Multilingual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484835"/>
            <a:ext cx="8046720" cy="640080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Appendix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" y="1972511"/>
            <a:ext cx="7863840" cy="1744980"/>
          </a:xfrm>
        </p:spPr>
        <p:txBody>
          <a:bodyPr lIns="0" rIns="0" tIns="0" bIns="0">
            <a:noAutofit/>
          </a:bodyPr>
          <a:lstStyle/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1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異なるリポジトリの追加例</a:t>
            </a:r>
          </a:p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2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評価条件と課題の読み方</a:t>
            </a:r>
          </a:p>
          <a:p>
            <a:pPr marL="457200" indent="-457200">
              <a:lnSpc>
                <a:spcPts val="3660"/>
              </a:lnSpc>
              <a:spcAft>
                <a:spcPts val="0"/>
              </a:spcAft>
              <a:buSzPct val="100000"/>
              <a:buFont typeface="Noto Sans CJK JP"/>
              <a:buAutoNum type="arabicPeriod" startAt="3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目次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例4 時計インターフェースに対応する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異なるリポジトリの追加例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16736"/>
            <a:ext cx="8046720" cy="23774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62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Issue本文（全文・Markdown装飾を整形）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545336"/>
            <a:ext cx="8046720" cy="966470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01600" bIns="127000">
            <a:noAutofit/>
          </a:bodyPr>
          <a:lstStyle/>
          <a:p>
            <a:pPr algn="l">
              <a:lnSpc>
                <a:spcPts val="207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⭐ Implement `Psr\Clock\ClockInterface`</a:t>
            </a:r>
          </a:p>
          <a:p>
            <a:pPr algn="l">
              <a:lnSpc>
                <a:spcPts val="207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Allow to use `Carbon\FactoryImmutable` where `Psr\Clock\ClockInterface` is expected.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548382"/>
            <a:ext cx="7955279" cy="5339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29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日本語：Psr\Clock\ClockInterfaceを実装する。このインターフェースが求められる場所でCarbon\FactoryImmutableを使えるようにしてほしい。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118866"/>
            <a:ext cx="7955279" cy="4160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95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期待動作：ClockInterfaceとして利用できる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571494"/>
            <a:ext cx="7955279" cy="5339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29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参照パッチは依存関係と実装を追加する。日時を扱うライブラリの相互運用性を直す課題である。</a:t>
            </a:r>
          </a:p>
        </p:txBody>
      </p:sp>
      <p:sp>
        <p:nvSpPr>
          <p:cNvPr id="9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20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SWE-bench Multilingual / briannesbitt__carbon-2813 / PHP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https://huggingface.co/datasets/SWE-bench/SWE-bench_Multilingual/viewer/default/test?row=35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例5 指定シグナルを無視する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異なるリポジトリの追加例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16736"/>
            <a:ext cx="8046720" cy="23774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62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Issue本文（全文・Markdown装飾を整形）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545336"/>
            <a:ext cx="8046720" cy="1229360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01600" bIns="127000">
            <a:noAutofit/>
          </a:bodyPr>
          <a:lstStyle/>
          <a:p>
            <a:pPr algn="l">
              <a:lnSpc>
                <a:spcPts val="207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`env`: implement `--ignore-signal`</a:t>
            </a:r>
          </a:p>
          <a:p>
            <a:pPr algn="l">
              <a:lnSpc>
                <a:spcPts val="207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     --ignore-signal[=SIG]</a:t>
            </a:r>
          </a:p>
          <a:p>
            <a:pPr algn="l">
              <a:lnSpc>
                <a:spcPts val="207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            set handling of SIG signal(s) to do nothing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811272"/>
            <a:ext cx="7955279" cy="5339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29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日本語：envに--ignore-signalを実装する。--ignore-signal[=SIG]は、指定したSIGシグナルを受け取っても何もしないように設定する。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381756"/>
            <a:ext cx="7955279" cy="4160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95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期待動作：--ignore-signalに対応する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834384"/>
            <a:ext cx="7955279" cy="27609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29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正常な指定、無効な指定、特殊なシグナルなどをテストで確認する。</a:t>
            </a:r>
          </a:p>
        </p:txBody>
      </p:sp>
      <p:sp>
        <p:nvSpPr>
          <p:cNvPr id="9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20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SWE-bench Multilingual / uutils__coreutils-6377 / Rust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https://huggingface.co/datasets/SWE-bench/SWE-bench_Multilingual/viewer/default/test?row=286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例6 文書末尾で走査を止める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異なるリポジトリの追加例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16736"/>
            <a:ext cx="8046720" cy="23774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62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Issue本文（全文・Markdown装飾を整形）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545336"/>
            <a:ext cx="8046720" cy="1229360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01600" bIns="127000">
            <a:noAutofit/>
          </a:bodyPr>
          <a:lstStyle/>
          <a:p>
            <a:pPr algn="l">
              <a:lnSpc>
                <a:spcPts val="207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JsonReader.hasNext() returns true at END_DOCUMENT</a:t>
            </a:r>
          </a:p>
          <a:p>
            <a:pPr algn="l">
              <a:lnSpc>
                <a:spcPts val="207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JsonReader.hasNext() will return true if we are at the end of the document </a:t>
            </a:r>
          </a:p>
          <a:p>
            <a:pPr algn="l">
              <a:lnSpc>
                <a:spcPts val="207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(reader.peek() == JsonToken.END_DOCUMENT)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811272"/>
            <a:ext cx="7955279" cy="5339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29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日本語：JsonReader.hasNext()は、文書の末尾でもtrueを返してしまう。reader.peek()がJsonToken.END_DOCUMENTである場合の不具合である。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381756"/>
            <a:ext cx="7955279" cy="4160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95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期待動作：文書末尾ではfalseを返す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834384"/>
            <a:ext cx="7955279" cy="27609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29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ストリーム用とツリー用の二つのReaderで、終了条件をそろえる。</a:t>
            </a:r>
          </a:p>
        </p:txBody>
      </p:sp>
      <p:sp>
        <p:nvSpPr>
          <p:cNvPr id="9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20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SWE-bench Multilingual / google__gson-2061 / Java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https://huggingface.co/datasets/SWE-bench/SWE-bench_Multilingual/viewer/default/test?row=114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例7 生成メソッドへ説明を引き継ぐ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異なるリポジトリの追加例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16736"/>
            <a:ext cx="8046720" cy="23774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62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Issue本文（全文・Markdown装飾を整形）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545336"/>
            <a:ext cx="8046720" cy="1229360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01600" bIns="127000">
            <a:noAutofit/>
          </a:bodyPr>
          <a:lstStyle/>
          <a:p>
            <a:pPr algn="l">
              <a:lnSpc>
                <a:spcPts val="207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[BUG] @SuperBuilder does not generate Javadoc.</a:t>
            </a:r>
          </a:p>
          <a:p>
            <a:pPr algn="l">
              <a:lnSpc>
                <a:spcPts val="207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When is use `@SuperBuilder` on the class the javadoc is no generated, with `@Builder` the javadoc is correctly generated.</a:t>
            </a:r>
          </a:p>
          <a:p>
            <a:pPr algn="l">
              <a:lnSpc>
                <a:spcPts val="207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Lombok version: 1.18.20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811272"/>
            <a:ext cx="7955279" cy="79171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29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日本語：@SuperBuilderがJavadocを生成しない。クラスに@SuperBuilderを使うとJavadocが生成されず、@Builderでは正しく生成される。報告されたLombokのバージョンは1.18.20である。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639566"/>
            <a:ext cx="7955279" cy="4160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95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期待動作：生成するJavadocを引き継ぐ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092194"/>
            <a:ext cx="7955279" cy="27609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29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継承関係のあるビルダーでも説明を保持するよう、コード生成を修正する。</a:t>
            </a:r>
          </a:p>
        </p:txBody>
      </p:sp>
      <p:sp>
        <p:nvSpPr>
          <p:cNvPr id="9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20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SWE-bench Multilingual / projectlombok__lombok-3486 / Java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https://huggingface.co/datasets/SWE-bench/SWE-bench_Multilingual/viewer/default/test?row=219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例8 テンプレートの区切りを認識する：原文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異なるリポジトリの追加例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16736"/>
            <a:ext cx="804672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62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Issue本文（全文・Markdown装飾を整形）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64208"/>
            <a:ext cx="8046720" cy="2600198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01600" bIns="127000">
            <a:noAutofit/>
          </a:bodyPr>
          <a:lstStyle/>
          <a:p>
            <a:pPr algn="l">
              <a:lnSpc>
                <a:spcPts val="1734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caddy template cannot use &lt;&lt; &gt;&gt;?</a:t>
            </a:r>
          </a:p>
          <a:p>
            <a:pPr algn="l">
              <a:lnSpc>
                <a:spcPts val="1734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Caddyfile</a:t>
            </a:r>
          </a:p>
          <a:p>
            <a:pPr algn="l">
              <a:lnSpc>
                <a:spcPts val="1734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localhost {</a:t>
            </a:r>
          </a:p>
          <a:p>
            <a:pPr algn="l">
              <a:lnSpc>
                <a:spcPts val="1734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templates {</a:t>
            </a:r>
          </a:p>
          <a:p>
            <a:pPr algn="l">
              <a:lnSpc>
                <a:spcPts val="1734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  between &lt;&lt;  &gt;&gt;</a:t>
            </a:r>
          </a:p>
          <a:p>
            <a:pPr algn="l">
              <a:lnSpc>
                <a:spcPts val="1734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}</a:t>
            </a:r>
          </a:p>
          <a:p>
            <a:pPr algn="l">
              <a:lnSpc>
                <a:spcPts val="1734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}</a:t>
            </a:r>
          </a:p>
          <a:p>
            <a:pPr algn="l">
              <a:lnSpc>
                <a:spcPts val="1734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error:</a:t>
            </a:r>
          </a:p>
          <a:p>
            <a:pPr algn="l">
              <a:lnSpc>
                <a:spcPts val="1734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Error: adapting config using caddyfile: heredoc marker on line #3 must contain only alpha-numeric characters, dashes and underscores; got '  &gt;&gt;'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20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SWE-bench Multilingual / caddyserver__caddy-5761 / Go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https://huggingface.co/datasets/SWE-bench/SWE-bench_Multilingual/viewer/default/test?row=48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例8 テンプレートの区切りを認識する：日本語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異なるリポジトリの追加例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804672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21"/>
              </a:lnSpc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rgbClr val="303437"/>
                </a:solidFill>
                <a:latin typeface="Noto Sans"/>
              </a:defRPr>
            </a:pPr>
            <a:r>
              <a:rPr sz="13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日本語での説明（本資料）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64208"/>
            <a:ext cx="8046720" cy="1463039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01600" bIns="127000">
            <a:noAutofit/>
          </a:bodyPr>
          <a:lstStyle/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Caddyのテンプレートで&lt;&lt;と&gt;&gt;を使えない。原文のCaddyfileではlocalhostのtemplatesにbetween &lt;&lt; &gt;&gt;を指定しているが、ヒアドキュメントの開始記号と解釈され、区切り名の文字が不正だというエラーになる。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291840"/>
            <a:ext cx="7955279" cy="4160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95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期待動作：&lt;&lt;と&gt;&gt;を通常の区切りに使える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817620"/>
            <a:ext cx="7955279" cy="6035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字句解析で空白や引用の状態を考慮し、ヒアドキュメントと通常のトークンを区別する。</a:t>
            </a:r>
          </a:p>
        </p:txBody>
      </p:sp>
      <p:sp>
        <p:nvSpPr>
          <p:cNvPr id="8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20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SWE-bench Multilingual / caddyserver__caddy-5761 / Go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https://huggingface.co/datasets/SWE-bench/SWE-bench_Multilingual/viewer/default/test?row=48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例9 空のパッケージを機種非依存にする：原文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異なるリポジトリの追加例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16736"/>
            <a:ext cx="804672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62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Issue本文（全文・Markdown装飾を整形）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64208"/>
            <a:ext cx="8046720" cy="2339340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01600" bIns="127000">
            <a:noAutofit/>
          </a:bodyPr>
          <a:lstStyle/>
          <a:p>
            <a:pPr algn="l">
              <a:lnSpc>
                <a:spcPts val="2127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'empty' package type could set the architecture to "all" by default</a:t>
            </a:r>
          </a:p>
          <a:p>
            <a:pPr algn="l">
              <a:lnSpc>
                <a:spcPts val="2127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Since empty packages have no files, there's not much to really be "architecture specific" by default.</a:t>
            </a:r>
          </a:p>
          <a:p>
            <a:pPr algn="l">
              <a:lnSpc>
                <a:spcPts val="2127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I don't know what negative impact this change might have.</a:t>
            </a:r>
          </a:p>
          <a:p>
            <a:pPr algn="l">
              <a:lnSpc>
                <a:spcPts val="2127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Currently, empty packages default to _native_ which is whatever the host machine is:</a:t>
            </a:r>
          </a:p>
          <a:p>
            <a:pPr algn="l">
              <a:lnSpc>
                <a:spcPts val="2127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% fpm -s empty -t rpm -n example</a:t>
            </a:r>
          </a:p>
          <a:p>
            <a:pPr algn="l">
              <a:lnSpc>
                <a:spcPts val="2127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Created package {:path=&gt;"example-1.0-1.x86_64.rpm"}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20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SWE-bench Multilingual / jordansissel__fpm-1850 / Ruby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https://huggingface.co/datasets/SWE-bench/SWE-bench_Multilingual/viewer/default/test?row=134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例9 空のパッケージを機種非依存にする：日本語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異なるリポジトリの追加例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804672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21"/>
              </a:lnSpc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rgbClr val="303437"/>
                </a:solidFill>
                <a:latin typeface="Noto Sans"/>
              </a:defRPr>
            </a:pPr>
            <a:r>
              <a:rPr sz="13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日本語での説明（本資料）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64208"/>
            <a:ext cx="8046720" cy="1463039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01600" bIns="127000">
            <a:noAutofit/>
          </a:bodyPr>
          <a:lstStyle/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empty型パッケージのアーキテクチャーを、既定でallにしてはどうか。ファイルを含まないので、通常は特定の機種に依存しない。この変更の悪影響は分からない。現在の既定はホスト機に応じたnativeで、原文のコマンドではx86_64のRPMが生成され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291840"/>
            <a:ext cx="7955279" cy="4160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95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期待動作：empty型の既定をallにする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817620"/>
            <a:ext cx="7955279" cy="6035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参照パッチはEmptyクラスの初期化時にarchitectureをallへ設定する。</a:t>
            </a:r>
          </a:p>
        </p:txBody>
      </p:sp>
      <p:sp>
        <p:nvSpPr>
          <p:cNvPr id="8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20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SWE-bench Multilingual / jordansissel__fpm-1850 / Ruby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https://huggingface.co/datasets/SWE-bench/SWE-bench_Multilingual/viewer/default/test?row=134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例10 情報応答をエラー色にしない：原文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異なるリポジトリの追加例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16736"/>
            <a:ext cx="804672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62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Issue本文（全文・Markdown装飾を整形）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64208"/>
            <a:ext cx="8046720" cy="2660649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01600" bIns="127000">
            <a:noAutofit/>
          </a:bodyPr>
          <a:lstStyle/>
          <a:p>
            <a:pPr algn="l">
              <a:lnSpc>
                <a:spcPts val="1954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Logging colour for &lt; 200 should be white?</a:t>
            </a:r>
          </a:p>
          <a:p>
            <a:pPr algn="l">
              <a:lnSpc>
                <a:spcPts val="1954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Description</a:t>
            </a:r>
          </a:p>
          <a:p>
            <a:pPr algn="l">
              <a:lnSpc>
                <a:spcPts val="1954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When the logger logs a response with a status code &lt; 200 it is coloured red:</a:t>
            </a:r>
          </a:p>
          <a:p>
            <a:pPr algn="l">
              <a:lnSpc>
                <a:spcPts val="1954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https://github.com/gin-gonic/gin/blob/c2ba8f19ec19914b73290c53a32de479cd463555/logger.go#L81-L95</a:t>
            </a:r>
          </a:p>
          <a:p>
            <a:pPr algn="l">
              <a:lnSpc>
                <a:spcPts val="1954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Http status codes under 200 are informative rather than errors. Would it be better for &lt; 200 to be white?</a:t>
            </a:r>
          </a:p>
          <a:p>
            <a:pPr algn="l">
              <a:lnSpc>
                <a:spcPts val="1954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I notice this with web socket switching: https://developer.mozilla.org/en-US/docs/Web/HTTP/Status/101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20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SWE-bench Multilingual / gin-gonic__gin-3741 / Go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https://huggingface.co/datasets/SWE-bench/SWE-bench_Multilingual/viewer/default/test?row=100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例10 情報応答をエラー色にしない：日本語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異なるリポジトリの追加例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804672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21"/>
              </a:lnSpc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rgbClr val="303437"/>
                </a:solidFill>
                <a:latin typeface="Noto Sans"/>
              </a:defRPr>
            </a:pPr>
            <a:r>
              <a:rPr sz="13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日本語での説明（本資料）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64208"/>
            <a:ext cx="8046720" cy="1765300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01600" bIns="127000">
            <a:noAutofit/>
          </a:bodyPr>
          <a:lstStyle/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200未満のHTTPステータスをログへ記録すると赤く表示される。これらはエラーではなく情報を伝える応答なので、白にしてはどうか。WebSocketのプロトコル切り替えである101を使うときに気付いた。原文には該当コードとHTTP 101の説明へのリンクがある。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594100"/>
            <a:ext cx="7955279" cy="4160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95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期待動作：100〜199のログを白くする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119880"/>
            <a:ext cx="7955279" cy="6035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参照パッチはStatusContinue以上かつStatusOK未満の場合を追加する。</a:t>
            </a:r>
          </a:p>
        </p:txBody>
      </p:sp>
      <p:sp>
        <p:nvSpPr>
          <p:cNvPr id="8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20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SWE-bench Multilingual / gin-gonic__gin-3741 / Go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https://huggingface.co/datasets/SWE-bench/SWE-bench_Multilingual/viewer/default/test?row=100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例11 自動修正で演算の順序を保つ：原文 1/2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異なるリポジトリの追加例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16736"/>
            <a:ext cx="804672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62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Issue本文（全文・Markdown装飾を整形）・1/2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64208"/>
            <a:ext cx="8046720" cy="2609532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01600" bIns="127000">
            <a:noAutofit/>
          </a:bodyPr>
          <a:lstStyle/>
          <a:p>
            <a:pPr algn="l">
              <a:lnSpc>
                <a:spcPts val="2127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`Style/SoleNestedConditional` does not maintain precedence on auto-correct</a:t>
            </a:r>
          </a:p>
          <a:p>
            <a:pPr algn="l">
              <a:lnSpc>
                <a:spcPts val="2127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I think the auto-correct for `Style/SoleNestedConditional` should wrap merged conditionals in parentheses when necessary to maintain the original behaviour.</a:t>
            </a:r>
          </a:p>
          <a:p>
            <a:pPr algn="l">
              <a:lnSpc>
                <a:spcPts val="2127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Original:</a:t>
            </a:r>
          </a:p>
          <a:p>
            <a:pPr algn="l">
              <a:lnSpc>
                <a:spcPts val="2127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if result </a:t>
            </a:r>
          </a:p>
          <a:p>
            <a:pPr algn="l">
              <a:lnSpc>
                <a:spcPts val="2127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result = false unless t === value.public_send(a)</a:t>
            </a:r>
          </a:p>
          <a:p>
            <a:pPr algn="l">
              <a:lnSpc>
                <a:spcPts val="2127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end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20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SWE-bench Multilingual / rubocop__rubocop-13668 / Ruby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https://huggingface.co/datasets/SWE-bench/SWE-bench_Multilingual/viewer/default/test?row=258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例11 自動修正で演算の順序を保つ：原文 2/2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異なるリポジトリの追加例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16736"/>
            <a:ext cx="804672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62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Issue本文（全文・Markdown装飾を整形）・2/2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64208"/>
            <a:ext cx="8046720" cy="2339340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01600" bIns="127000">
            <a:noAutofit/>
          </a:bodyPr>
          <a:lstStyle/>
          <a:p>
            <a:pPr algn="l">
              <a:lnSpc>
                <a:spcPts val="2127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Expected:</a:t>
            </a:r>
          </a:p>
          <a:p>
            <a:pPr algn="l">
              <a:lnSpc>
                <a:spcPts val="2127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if result &amp;&amp; !(t === value.public_send(a))</a:t>
            </a:r>
          </a:p>
          <a:p>
            <a:pPr algn="l">
              <a:lnSpc>
                <a:spcPts val="2127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result = false</a:t>
            </a:r>
          </a:p>
          <a:p>
            <a:pPr algn="l">
              <a:lnSpc>
                <a:spcPts val="2127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end</a:t>
            </a:r>
          </a:p>
          <a:p>
            <a:pPr algn="l">
              <a:lnSpc>
                <a:spcPts val="2127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Actual:</a:t>
            </a:r>
          </a:p>
          <a:p>
            <a:pPr algn="l">
              <a:lnSpc>
                <a:spcPts val="2127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if result &amp;&amp; !t === (value.public_send(a))</a:t>
            </a:r>
          </a:p>
          <a:p>
            <a:pPr algn="l">
              <a:lnSpc>
                <a:spcPts val="2127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result = false</a:t>
            </a:r>
          </a:p>
          <a:p>
            <a:pPr algn="l">
              <a:lnSpc>
                <a:spcPts val="2127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end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20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SWE-bench Multilingual / rubocop__rubocop-13668 / Ruby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https://huggingface.co/datasets/SWE-bench/SWE-bench_Multilingual/viewer/default/test?row=258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例11 自動修正で演算の順序を保つ：日本語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異なるリポジトリの追加例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804672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21"/>
              </a:lnSpc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rgbClr val="303437"/>
                </a:solidFill>
                <a:latin typeface="Noto Sans"/>
              </a:defRPr>
            </a:pPr>
            <a:r>
              <a:rPr sz="13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日本語での説明（本資料）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64208"/>
            <a:ext cx="8046720" cy="1765300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01600" bIns="127000">
            <a:noAutofit/>
          </a:bodyPr>
          <a:lstStyle/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Style/SoleNestedConditionalの自動修正では、元の動作を保つため、必要なら結合した条件を括弧で囲むべきだ。原文の例ではunless t === value.public_send(a)を否定するとき、!(t === value.public_send(a))が期待されるが、実際には!t === (value.public_send(a))になる。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594100"/>
            <a:ext cx="7955279" cy="4160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95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期待動作：!(t === value.public_send(a))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119880"/>
            <a:ext cx="7955279" cy="6035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否定する範囲を括弧で保持し、自動修正の前後で条件式の意味を変えない。</a:t>
            </a:r>
          </a:p>
        </p:txBody>
      </p:sp>
      <p:sp>
        <p:nvSpPr>
          <p:cNvPr id="8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20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SWE-bench Multilingual / rubocop__rubocop-13668 / Ruby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https://huggingface.co/datasets/SWE-bench/SWE-bench_Multilingual/viewer/default/test?row=258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例12 文字列の範囲外指定を直す：原文 1/2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異なるリポジトリの追加例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16736"/>
            <a:ext cx="804672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62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Issue本文（環境情報の詳細を省略）・1/2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64208"/>
            <a:ext cx="8046720" cy="1528762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01600" bIns="127000">
            <a:noAutofit/>
          </a:bodyPr>
          <a:lstStyle/>
          <a:p>
            <a:pPr algn="l">
              <a:lnSpc>
                <a:spcPts val="2127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[BUG] SUBSTR returns wrong result with start 0 and end less than start</a:t>
            </a:r>
          </a:p>
          <a:p>
            <a:pPr algn="l">
              <a:lnSpc>
                <a:spcPts val="2127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Describe the bug</a:t>
            </a:r>
          </a:p>
          <a:p>
            <a:pPr algn="l">
              <a:lnSpc>
                <a:spcPts val="2127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`SUBSTR` returns an empty string when end is less than start. However, if start is 0, the first character is returned.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20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SWE-bench Multilingual / redis__redis-12272 / C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https://huggingface.co/datasets/SWE-bench/SWE-bench_Multilingual/viewer/default/test?row=241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例12 文字列の範囲外指定を直す：原文 2/2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異なるリポジトリの追加例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16736"/>
            <a:ext cx="804672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62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Issue本文（環境情報の詳細を省略）・2/2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64208"/>
            <a:ext cx="8046720" cy="2609532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01600" bIns="127000">
            <a:noAutofit/>
          </a:bodyPr>
          <a:lstStyle/>
          <a:p>
            <a:pPr algn="l">
              <a:lnSpc>
                <a:spcPts val="2127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To reproduce</a:t>
            </a:r>
          </a:p>
          <a:p>
            <a:pPr algn="l">
              <a:lnSpc>
                <a:spcPts val="2127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&gt; set test cat</a:t>
            </a:r>
          </a:p>
          <a:p>
            <a:pPr algn="l">
              <a:lnSpc>
                <a:spcPts val="2127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OK</a:t>
            </a:r>
          </a:p>
          <a:p>
            <a:pPr algn="l">
              <a:lnSpc>
                <a:spcPts val="2127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&gt; substr test 1 -500</a:t>
            </a:r>
          </a:p>
          <a:p>
            <a:pPr algn="l">
              <a:lnSpc>
                <a:spcPts val="2127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""</a:t>
            </a:r>
          </a:p>
          <a:p>
            <a:pPr algn="l">
              <a:lnSpc>
                <a:spcPts val="2127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&gt; substr test 0 -500</a:t>
            </a:r>
          </a:p>
          <a:p>
            <a:pPr algn="l">
              <a:lnSpc>
                <a:spcPts val="2127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"c"</a:t>
            </a:r>
          </a:p>
          <a:p>
            <a:pPr algn="l">
              <a:lnSpc>
                <a:spcPts val="2127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Expected behavior</a:t>
            </a:r>
          </a:p>
          <a:p>
            <a:pPr algn="l">
              <a:lnSpc>
                <a:spcPts val="2127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If end &lt; start, `SUBSTR` should return an empty string.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20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SWE-bench Multilingual / redis__redis-12272 / C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https://huggingface.co/datasets/SWE-bench/SWE-bench_Multilingual/viewer/default/test?row=241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例12 文字列の範囲外指定を直す：日本語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異なるリポジトリの追加例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804672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21"/>
              </a:lnSpc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rgbClr val="303437"/>
                </a:solidFill>
                <a:latin typeface="Noto Sans"/>
              </a:defRPr>
            </a:pPr>
            <a:r>
              <a:rPr sz="13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日本語での説明（本資料）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64208"/>
            <a:ext cx="8046720" cy="1463039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01600" bIns="127000">
            <a:noAutofit/>
          </a:bodyPr>
          <a:lstStyle/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SUBSTRは終点が始点より前なら空文字列を返すが、始点が0だと先頭文字を返してしまう。testにcatを保存した例ではsubstr test 1 -500は空文字列、substr test 0 -500はcとなる。どちらも空文字列を返してほしい。報告環境はRedis 7.0.8である。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291840"/>
            <a:ext cx="7955279" cy="4160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95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期待動作：substr test 0 -500 → ""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817620"/>
            <a:ext cx="7955279" cy="6035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負の添字を変換した後、範囲外や逆順の指定を判定する。</a:t>
            </a:r>
          </a:p>
        </p:txBody>
      </p:sp>
      <p:sp>
        <p:nvSpPr>
          <p:cNvPr id="8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20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SWE-bench Multilingual / redis__redis-12272 / C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https://huggingface.co/datasets/SWE-bench/SWE-bench_Multilingual/viewer/default/test?row=241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例13 補間を無効にした領域を守る：原文 1/2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異なるリポジトリの追加例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16736"/>
            <a:ext cx="804672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62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Issue本文（無回答の環境欄・追加欄を省略）・1/2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572768"/>
            <a:ext cx="8046720" cy="2998216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01600" bIns="127000">
            <a:noAutofit/>
          </a:bodyPr>
          <a:lstStyle/>
          <a:p>
            <a:pPr algn="l">
              <a:lnSpc>
                <a:spcPts val="1734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v-pre not ignoring {{ inside textarea</a:t>
            </a:r>
          </a:p>
          <a:p>
            <a:pPr algn="l">
              <a:lnSpc>
                <a:spcPts val="1734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Vue version</a:t>
            </a:r>
          </a:p>
          <a:p>
            <a:pPr algn="l">
              <a:lnSpc>
                <a:spcPts val="1734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3.5.4</a:t>
            </a:r>
          </a:p>
          <a:p>
            <a:pPr algn="l">
              <a:lnSpc>
                <a:spcPts val="1734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Link to minimal reproduction</a:t>
            </a:r>
          </a:p>
          <a:p>
            <a:pPr algn="l">
              <a:lnSpc>
                <a:spcPts val="1734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https://jsfiddle.net/h4ds29me/</a:t>
            </a:r>
          </a:p>
          <a:p>
            <a:pPr algn="l">
              <a:lnSpc>
                <a:spcPts val="1734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Steps to reproduce</a:t>
            </a:r>
          </a:p>
          <a:p>
            <a:pPr algn="l">
              <a:lnSpc>
                <a:spcPts val="1734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When you include vue via CDN (https://unpkg.com/vue@3/dist/vue.global.prod.js) and wrap a textarea in v-pre, the {{ aren't ignored and it escapes everything after that (assuming there is no closing }}). </a:t>
            </a:r>
          </a:p>
          <a:p>
            <a:pPr algn="l">
              <a:lnSpc>
                <a:spcPts val="1734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See this jsfiddle for an example: </a:t>
            </a:r>
          </a:p>
          <a:p>
            <a:pPr algn="l">
              <a:lnSpc>
                <a:spcPts val="1734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https://jsfiddle.net/h4ds29me/ </a:t>
            </a:r>
          </a:p>
          <a:p>
            <a:pPr algn="l">
              <a:lnSpc>
                <a:spcPts val="1734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{{ is ignored outside the textarea fine.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20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SWE-bench Multilingual / vuejs__core-11915 / TypeScript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https://huggingface.co/datasets/SWE-bench/SWE-bench_Multilingual/viewer/default/test?row=299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例13 補間を無効にした領域を守る：原文 2/2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異なるリポジトリの追加例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16736"/>
            <a:ext cx="804672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62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Issue本文（無回答の環境欄・追加欄を省略）・2/2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64208"/>
            <a:ext cx="8046720" cy="1258570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01600" bIns="127000">
            <a:noAutofit/>
          </a:bodyPr>
          <a:lstStyle/>
          <a:p>
            <a:pPr algn="l">
              <a:lnSpc>
                <a:spcPts val="2127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What is expected?</a:t>
            </a:r>
          </a:p>
          <a:p>
            <a:pPr algn="l">
              <a:lnSpc>
                <a:spcPts val="2127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The {{ is ignored inside the v-pre textarea</a:t>
            </a:r>
          </a:p>
          <a:p>
            <a:pPr algn="l">
              <a:lnSpc>
                <a:spcPts val="2127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What is actually happening?</a:t>
            </a:r>
          </a:p>
          <a:p>
            <a:pPr algn="l">
              <a:lnSpc>
                <a:spcPts val="2127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The {{ is not ignored inside the v-pre textarea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20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SWE-bench Multilingual / vuejs__core-11915 / TypeScript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https://huggingface.co/datasets/SWE-bench/SWE-bench_Multilingual/viewer/default/test?row=299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例13 補間を無効にした領域を守る：日本語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異なるリポジトリの追加例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804672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21"/>
              </a:lnSpc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rgbClr val="303437"/>
                </a:solidFill>
                <a:latin typeface="Noto Sans"/>
              </a:defRPr>
            </a:pPr>
            <a:r>
              <a:rPr sz="13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日本語での説明（本資料）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64208"/>
            <a:ext cx="8046720" cy="1463039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01600" bIns="127000">
            <a:noAutofit/>
          </a:bodyPr>
          <a:lstStyle/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Vue 3.5.4をCDNから読み込み、textareaをv-preで囲んでも、閉じる}}のない{{が無視されず、それ以降がエスケープされてしまう。textareaの外では{{は正しく無視される。v-pre内のtextareaでも{{を無視してほしい。再現例のURLは原文にあ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291840"/>
            <a:ext cx="7955279" cy="4160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95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期待動作：v-pre内では{{を補間とみなさない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817620"/>
            <a:ext cx="7955279" cy="6035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参照パッチは補間開始の判定に!this.inVPreを加える。</a:t>
            </a:r>
          </a:p>
        </p:txBody>
      </p:sp>
      <p:sp>
        <p:nvSpPr>
          <p:cNvPr id="8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20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SWE-bench Multilingual / vuejs__core-11915 / TypeScript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https://huggingface.co/datasets/SWE-bench/SWE-bench_Multilingual/viewer/default/test?row=299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参照パッチは、テストで確認する動作の手掛かり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Issueは利用者が困ったことや欲しい機能を述べる。参照パッチは、実際にマージされた解決方法を示す。</a:t>
            </a:r>
          </a:p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たとえばGsonの文書末尾の不具合では、ストリームとツリーの両方で終了判定を修正している。見えている症状より変更範囲が広い例である。</a:t>
            </a:r>
          </a:p>
          <a:p>
            <a:pPr marL="457200" indent="-355600">
              <a:lnSpc>
                <a:spcPts val="2499"/>
              </a:lnSpc>
              <a:spcAft>
                <a:spcPts val="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テストの名前、テストパッチ、実際のコード変更を併せて読むと、解決済みの判定がどの動作を確認しているか分かる。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評価条件と課題の読み方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20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SWE-bench, SWE-bench Multilingual Dataset Card（2026-10-22参照）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https://huggingface.co/datasets/SWE-bench/SWE-bench_Multilingual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3. 参考文献</a:t>
            </a:r>
          </a:p>
        </p:txBody>
      </p:sp>
      <p:sp>
        <p:nvSpPr>
          <p:cNvPr id="4" name="reference-1-title"/>
          <p:cNvSpPr txBox="1"/>
          <p:nvPr/>
        </p:nvSpPr>
        <p:spPr>
          <a:xfrm>
            <a:off x="548640" y="1463040"/>
            <a:ext cx="804672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SWE-bench Multilingual</a:t>
            </a:r>
          </a:p>
        </p:txBody>
      </p:sp>
      <p:sp>
        <p:nvSpPr>
          <p:cNvPr id="5" name="reference-1-meta"/>
          <p:cNvSpPr txBox="1"/>
          <p:nvPr/>
        </p:nvSpPr>
        <p:spPr>
          <a:xfrm>
            <a:off x="548640" y="1894840"/>
            <a:ext cx="8046720" cy="238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SWE-bench / n.d. / Hugging Face / 2026-10-22参照</a:t>
            </a:r>
          </a:p>
        </p:txBody>
      </p:sp>
      <p:sp>
        <p:nvSpPr>
          <p:cNvPr id="6" name="reference-1-description"/>
          <p:cNvSpPr txBox="1"/>
          <p:nvPr/>
        </p:nvSpPr>
        <p:spPr>
          <a:xfrm>
            <a:off x="548640" y="2183765"/>
            <a:ext cx="8046720" cy="3333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300件のIssue、参照パッチ、テスト情報を公開する公式配布。</a:t>
            </a:r>
          </a:p>
        </p:txBody>
      </p:sp>
      <p:sp>
        <p:nvSpPr>
          <p:cNvPr id="7" name="reference-1-url"/>
          <p:cNvSpPr txBox="1"/>
          <p:nvPr/>
        </p:nvSpPr>
        <p:spPr>
          <a:xfrm>
            <a:off x="548640" y="2567940"/>
            <a:ext cx="8046720" cy="2000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303437"/>
                </a:solidFill>
                <a:latin typeface="Noto Sans"/>
              </a:defRPr>
            </a:pPr>
            <a:r>
              <a:rPr sz="10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https://huggingface.co/datasets/SWE-bench/SWE-bench_Multilingual</a:t>
            </a:r>
          </a:p>
        </p:txBody>
      </p:sp>
      <p:sp>
        <p:nvSpPr>
          <p:cNvPr id="8" name="reference-2-title"/>
          <p:cNvSpPr txBox="1"/>
          <p:nvPr/>
        </p:nvSpPr>
        <p:spPr>
          <a:xfrm>
            <a:off x="548640" y="3123565"/>
            <a:ext cx="8046720" cy="698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SWE-bench: Can Language Models Resolve Real-World GitHub Issues?</a:t>
            </a:r>
          </a:p>
        </p:txBody>
      </p:sp>
      <p:sp>
        <p:nvSpPr>
          <p:cNvPr id="9" name="reference-2-meta"/>
          <p:cNvSpPr txBox="1"/>
          <p:nvPr/>
        </p:nvSpPr>
        <p:spPr>
          <a:xfrm>
            <a:off x="548640" y="3872865"/>
            <a:ext cx="8046720" cy="238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Carlos E. Jimenez et al. / ICLR 2024 / arXiv:2310.06770</a:t>
            </a:r>
          </a:p>
        </p:txBody>
      </p:sp>
      <p:sp>
        <p:nvSpPr>
          <p:cNvPr id="10" name="reference-2-description"/>
          <p:cNvSpPr txBox="1"/>
          <p:nvPr/>
        </p:nvSpPr>
        <p:spPr>
          <a:xfrm>
            <a:off x="548640" y="4161790"/>
            <a:ext cx="8046720" cy="6127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実際のIssueとリポジトリを入力にした、実行によるソフトウェア修正評価を提案。</a:t>
            </a:r>
          </a:p>
        </p:txBody>
      </p:sp>
      <p:sp>
        <p:nvSpPr>
          <p:cNvPr id="11" name="reference-2-url"/>
          <p:cNvSpPr txBox="1"/>
          <p:nvPr/>
        </p:nvSpPr>
        <p:spPr>
          <a:xfrm>
            <a:off x="548640" y="4825365"/>
            <a:ext cx="8046720" cy="2000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303437"/>
                </a:solidFill>
                <a:latin typeface="Noto Sans"/>
              </a:defRPr>
            </a:pPr>
            <a:r>
              <a:rPr sz="10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https://arxiv.org/abs/2310.06770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3. 参考文献</a:t>
            </a:r>
          </a:p>
        </p:txBody>
      </p:sp>
      <p:sp>
        <p:nvSpPr>
          <p:cNvPr id="4" name="reference-1-title"/>
          <p:cNvSpPr txBox="1"/>
          <p:nvPr/>
        </p:nvSpPr>
        <p:spPr>
          <a:xfrm>
            <a:off x="548640" y="1463040"/>
            <a:ext cx="804672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SWE-bench</a:t>
            </a:r>
          </a:p>
        </p:txBody>
      </p:sp>
      <p:sp>
        <p:nvSpPr>
          <p:cNvPr id="5" name="reference-1-meta"/>
          <p:cNvSpPr txBox="1"/>
          <p:nvPr/>
        </p:nvSpPr>
        <p:spPr>
          <a:xfrm>
            <a:off x="548640" y="1894840"/>
            <a:ext cx="8046720" cy="238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SWE-bench / n.d. / GitHub / 2026-10-22参照</a:t>
            </a:r>
          </a:p>
        </p:txBody>
      </p:sp>
      <p:sp>
        <p:nvSpPr>
          <p:cNvPr id="6" name="reference-1-description"/>
          <p:cNvSpPr txBox="1"/>
          <p:nvPr/>
        </p:nvSpPr>
        <p:spPr>
          <a:xfrm>
            <a:off x="548640" y="2183765"/>
            <a:ext cx="8046720" cy="3333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公開の評価ハーネス。コンテナーの準備とテストによるパッチの採点を実装。</a:t>
            </a:r>
          </a:p>
        </p:txBody>
      </p:sp>
      <p:sp>
        <p:nvSpPr>
          <p:cNvPr id="7" name="reference-1-url"/>
          <p:cNvSpPr txBox="1"/>
          <p:nvPr/>
        </p:nvSpPr>
        <p:spPr>
          <a:xfrm>
            <a:off x="548640" y="2567940"/>
            <a:ext cx="8046720" cy="2000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303437"/>
                </a:solidFill>
                <a:latin typeface="Noto Sans"/>
              </a:defRPr>
            </a:pPr>
            <a:r>
              <a:rPr sz="10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https://github.com/SWE-bench/SWE-bench</a:t>
            </a:r>
          </a:p>
        </p:txBody>
      </p:sp>
      <p:sp>
        <p:nvSpPr>
          <p:cNvPr id="8" name="reference-2-title"/>
          <p:cNvSpPr txBox="1"/>
          <p:nvPr/>
        </p:nvSpPr>
        <p:spPr>
          <a:xfrm>
            <a:off x="548640" y="3123565"/>
            <a:ext cx="804672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SWE-bench Experiments: Multilingual</a:t>
            </a:r>
          </a:p>
        </p:txBody>
      </p:sp>
      <p:sp>
        <p:nvSpPr>
          <p:cNvPr id="9" name="reference-2-meta"/>
          <p:cNvSpPr txBox="1"/>
          <p:nvPr/>
        </p:nvSpPr>
        <p:spPr>
          <a:xfrm>
            <a:off x="548640" y="3555365"/>
            <a:ext cx="8046720" cy="238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SWE-bench / 2026 / GitHub / 2026-10-22参照</a:t>
            </a:r>
          </a:p>
        </p:txBody>
      </p:sp>
      <p:sp>
        <p:nvSpPr>
          <p:cNvPr id="10" name="reference-2-description"/>
          <p:cNvSpPr txBox="1"/>
          <p:nvPr/>
        </p:nvSpPr>
        <p:spPr>
          <a:xfrm>
            <a:off x="548640" y="3844290"/>
            <a:ext cx="8046720" cy="3333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提出ごとのモデル、エージェント設定、解決率と問題ごとの成否を公開。</a:t>
            </a:r>
          </a:p>
        </p:txBody>
      </p:sp>
      <p:sp>
        <p:nvSpPr>
          <p:cNvPr id="11" name="reference-2-url"/>
          <p:cNvSpPr txBox="1"/>
          <p:nvPr/>
        </p:nvSpPr>
        <p:spPr>
          <a:xfrm>
            <a:off x="548640" y="4228464"/>
            <a:ext cx="8046720" cy="2000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303437"/>
                </a:solidFill>
                <a:latin typeface="Noto Sans"/>
              </a:defRPr>
            </a:pPr>
            <a:r>
              <a:rPr sz="10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https://github.com/SWE-bench/experiments/tree/main/evaluation/multilingual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3. 参考文献</a:t>
            </a:r>
          </a:p>
        </p:txBody>
      </p:sp>
      <p:sp>
        <p:nvSpPr>
          <p:cNvPr id="4" name="reference-1-title"/>
          <p:cNvSpPr txBox="1"/>
          <p:nvPr/>
        </p:nvSpPr>
        <p:spPr>
          <a:xfrm>
            <a:off x="548640" y="1463040"/>
            <a:ext cx="804672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Claude Fable 5.1 &amp; Mythos 5.1 System Card</a:t>
            </a:r>
          </a:p>
        </p:txBody>
      </p:sp>
      <p:sp>
        <p:nvSpPr>
          <p:cNvPr id="5" name="reference-1-meta"/>
          <p:cNvSpPr txBox="1"/>
          <p:nvPr/>
        </p:nvSpPr>
        <p:spPr>
          <a:xfrm>
            <a:off x="548640" y="1894840"/>
            <a:ext cx="8046720" cy="238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Anthropic / 2026</a:t>
            </a:r>
          </a:p>
        </p:txBody>
      </p:sp>
      <p:sp>
        <p:nvSpPr>
          <p:cNvPr id="6" name="reference-1-description"/>
          <p:cNvSpPr txBox="1"/>
          <p:nvPr/>
        </p:nvSpPr>
        <p:spPr>
          <a:xfrm>
            <a:off x="548640" y="2183765"/>
            <a:ext cx="8046720" cy="3333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300問を使った5試行平均の解決率を、他のコード修正課題とともに報告。</a:t>
            </a:r>
          </a:p>
        </p:txBody>
      </p:sp>
      <p:sp>
        <p:nvSpPr>
          <p:cNvPr id="7" name="reference-1-url"/>
          <p:cNvSpPr txBox="1"/>
          <p:nvPr/>
        </p:nvSpPr>
        <p:spPr>
          <a:xfrm>
            <a:off x="548640" y="2567940"/>
            <a:ext cx="8046720" cy="2000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303437"/>
                </a:solidFill>
                <a:latin typeface="Noto Sans"/>
              </a:defRPr>
            </a:pPr>
            <a:r>
              <a:rPr sz="10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https://www.anthropic.com/claude-fable-and-mythos-5-1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IARTEM Research Palette">
      <a:dk1>
        <a:srgbClr val="303437"/>
      </a:dk1>
      <a:lt1>
        <a:srgbClr val="FFFEF8"/>
      </a:lt1>
      <a:dk2>
        <a:srgbClr val="626669"/>
      </a:dk2>
      <a:lt2>
        <a:srgbClr val="EBEDEB"/>
      </a:lt2>
      <a:accent1>
        <a:srgbClr val="B13731"/>
      </a:accent1>
      <a:accent2>
        <a:srgbClr val="2C9100"/>
      </a:accent2>
      <a:accent3>
        <a:srgbClr val="2166AC"/>
      </a:accent3>
      <a:accent4>
        <a:srgbClr val="B84A00"/>
      </a:accent4>
      <a:accent5>
        <a:srgbClr val="007C91"/>
      </a:accent5>
      <a:accent6>
        <a:srgbClr val="763DA0"/>
      </a:accent6>
      <a:hlink>
        <a:srgbClr val="3F6F8F"/>
      </a:hlink>
      <a:folHlink>
        <a:srgbClr val="7A5C8E"/>
      </a:folHlink>
    </a:clrScheme>
    <a:fontScheme name="Office">
      <a:majorFont>
        <a:latin typeface="Noto Sans"/>
        <a:ea typeface="Noto Sans CJK JP"/>
        <a:cs typeface="Noto Sans"/>
        <a:font script="Jpan" typeface="Noto Sans CJK JP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"/>
        <a:ea typeface="Noto Sans CJK JP"/>
        <a:cs typeface="Noto Sans"/>
        <a:font script="Jpan" typeface="Noto Sans CJK JP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EA7E97F-3A5A-9342-98CB-7411DADE8916}">
  <we:reference id="wa200010215" version="2.0.0.0" store="ja-JP" storeType="OMEX"/>
  <we:alternateReferences>
    <we:reference id="WA200010215" version="2.0.0.0" store="WA200010215" storeType="OMEX"/>
  </we:alternateReferences>
  <we:properties>
    <we:property name="bps.codex_control.document_id" value="&quot;f3f6bd8f-7a20-4dbe-a71e-f9942711a911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13685</TotalTime>
  <Words>14</Words>
  <Application>Microsoft Macintosh PowerPoint</Application>
  <PresentationFormat>画面に合わせる (16:9)</PresentationFormat>
  <Paragraphs>3</Paragraphs>
  <Slides>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0" baseType="lpstr">
      <vt:lpstr>Arial</vt:lpstr>
      <vt:lpstr>Simple Light</vt:lpstr>
      <vt:lpstr>Developing and Applying a Systematic Classification Framework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Bottom-right caption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sasakiy84</cp:lastModifiedBy>
  <cp:revision>500</cp:revision>
  <dcterms:modified xsi:type="dcterms:W3CDTF">2026-10-21T17:53:59Z</dcterms:modified>
  <dc:title>swe-bench-multilingual</dc:title>
  <dc:creator>sasakiy84</dc:creator>
  <dcterms:created xsi:type="dcterms:W3CDTF">2026-10-21T17:53:59Z</dcterms:created>
  <dc:language>ja-JP</dc:language>
</cp:coreProperties>
</file>