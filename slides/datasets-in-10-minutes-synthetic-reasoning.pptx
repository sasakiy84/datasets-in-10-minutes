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5" r:id="rId25"/>
    <p:sldId id="277" r:id="rId27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303" r:id="rId53"/>
    <p:sldId id="304" r:id="rId54"/>
    <p:sldId id="305" r:id="rId55"/>
    <p:sldId id="309" r:id="rId59"/>
    <p:sldId id="310" r:id="rId6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5" Type="http://schemas.openxmlformats.org/officeDocument/2006/relationships/slide" Target="slides/slide20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9" Type="http://schemas.openxmlformats.org/officeDocument/2006/relationships/slide" Target="slides/slide54.xml"/><Relationship Id="rId60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github.com/stanford-crfm/helm/tree/v0.4.0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scenario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synthetic_reasoning_scenario.py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scenario.py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synthetic_reasoning_scenario.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synthetic_reasoning_scenario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scenario.py" TargetMode="External"/><Relationship Id="rId4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metrics/basic_metrics.py" TargetMode="External"/><Relationship Id="rId3" Type="http://schemas.openxmlformats.org/officeDocument/2006/relationships/hyperlink" Target="https://github.com/stanford-crfm/helm/blob/v0.4.0/src/helm/benchmark/scenarios/synthetic_reasoning_scenario.py" TargetMode="External"/><Relationship Id="rId4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storage.googleapis.com/crfm-helm-public/classic/benchmark_output/runs/v0.3.0/synthetic_reasoning%3Amode%3Dinduction%2Cmodel%3Dmeta_llama-2-70b/stats.json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storage.googleapis.com/crfm-helm-public/classic/benchmark_output/runs/v0.3.0/synthetic_reasoning_natural%3Adifficulty%3Dhard%2Cmodel%3Dmeta_llama-2-70b/stats.json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synthetic_reasoning_scenario.py" TargetMode="External"/><Relationship Id="rId3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proceedings.mlr.press/v139/wu21c.html" TargetMode="External"/><Relationship Id="rId3" Type="http://schemas.openxmlformats.org/officeDocument/2006/relationships/hyperlink" Target="https://arxiv.org/abs/2002.0586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scenario.py" TargetMode="External"/><Relationship Id="rId4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211.09110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scenario.py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scenario.p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scenario.py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scenario.py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scenario.py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scenario.py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synthetic_reasoning_natural_scenario.py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tree/v0.4.0" TargetMode="External"/><Relationship Id="rId3" Type="http://schemas.openxmlformats.org/officeDocument/2006/relationships/hyperlink" Target="https://github.com/stanford-crfm/helm/blob/v0.4.0/src/helm/benchmark/scenarios/synthetic_reasoning_scenario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proceedings.mlr.press/v139/wu21c.html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002.05867" TargetMode="External"/><Relationship Id="rId3" Type="http://schemas.openxmlformats.org/officeDocument/2006/relationships/hyperlink" Target="https://github.com/stanford-crfm/helm/tree/v0.4.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1004570"/>
          </a:xfrm>
        </p:spPr>
        <p:txBody>
          <a:bodyPr wrap="square" lIns="0" rIns="0" tIns="0" bIns="10160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Synthetic Reasoning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1091565"/>
          </a:xfrm>
        </p:spPr>
        <p:txBody>
          <a:bodyPr lIns="0" rIns="0" tIns="0" bIns="10160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Abstract Symbols / Natural Language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合成した規則と事実で、推論の基本操作を評価する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3977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記号列と自然言語の実例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生成方法と問題の構成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答えの形式と問題の特徴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先行研究と公開生成器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記号列と自然言語の実例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記号列と自然言語の実例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規則を見つけ、適用し、元の規則を推定する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CRFM研究チームが2022年に設計した、推論の基本操作を調べる合成課題。抽象版は記号列の照合・変数置換・規則の帰納を扱う。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自然言語版は、条件文の規則と一つの事実から新しい属性を導く。easyとhardがあり、hardは上位カテゴリや語の言い換えも使う。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二つの版は別の生成器で作る。それぞれの形式で、規則を読み取って適用できるかを調べる。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記号列と自然言語の実例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(2023). Holistic Evaluation of Language Models. TMLR.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Synthetic Reasoning — 公開生成器。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https://github.com/stanford-crfm/helm/tree/v0.4.0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実例1：変数置換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記号列と自然言語の実例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792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Rules: * Y - * X Z | Substitutions: X by " shark " , Y by " stork " , Z by " stork 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66823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正解：* stork - * shark stork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7195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日本語訳（記号・置換文字列は原文のまま）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446271"/>
            <a:ext cx="7955279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規則：* Y - * X Z</a:t>
            </a:r>
          </a:p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置換：Xを" shark "、Yを" stork "、Zを" stork "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https://github.com/stanford-crfm/helm/blob/v0.4.0/src/helm/benchmark/scenarios/synthetic_reasoning_scenario.py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記号は計算せず、指定どおりに置き換える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実例1ではXがshark、YとZがstorkに対応する。規則列にある変数をすべて置換し、順番と記号を保って出力する。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+、-、*、=は、文字列を組み立てるための記号として使う。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一つの変数に1語だけでなく2語の文字列を割り当てる例もある。変数の反復位置と、置換する文字列の範囲を対応させる。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記号列と自然言語の実例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https://github.com/stanford-crfm/helm/blob/v0.4.0/src/helm/benchmark/scenarios/synthetic_reasoning_scenario.py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実例2：規則の照合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記号列と自然言語の実例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7420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Rules: = Z + - X | - + = X Z | Z - X + = | + - = Z X | Result: = watermelon lion + - zebra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6023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正解：= Z + -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7195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日本語訳（記号・置換文字列は原文のまま）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446271"/>
            <a:ext cx="7955279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候補となる規則：= Z + - X | - + = X Z | Z - X + = | + - = Z X</a:t>
            </a:r>
          </a:p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置換後の文字列：= watermelon lion + - zebra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https://github.com/stanford-crfm/helm/blob/v0.4.0/src/helm/benchmark/scenarios/synthetic_reasoning_scenario.py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4候補から、置換後の列に合う規則を選ぶ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実例2は、4つの規則候補と、置換後の文字列を入力にする。正解として番号ではなく、合致する規則列そのものを出力する。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帰納課題では、候補や置換辞書を示さず、同じ規則から生成した2つの結果だけを見せる。出力はRule:に続く元の規則列である。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この3課題は同じ形式の記号列を使うが、与えられる情報が異なる。置換では辞書が既知、照合では規則候補が既知、帰納では規則を推定する。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記号列と自然言語の実例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https://github.com/stanford-crfm/helm/blob/v0.4.0/src/helm/benchmark/scenarios/synthetic_reasoning_scenario.py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実例3：自然言語・hard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記号列と自然言語の実例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45920"/>
            <a:ext cx="4206240" cy="236026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3500" bIns="12700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Dan is young, then Dan is sad.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Dan is scary, then Dan is hot.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person is purple or small, then person is beautiful.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Dan is clean, then Dan is green.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Dan is bad, then Dan is soft.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Fact: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Dan is tiny and cool.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following can be determined about Dan: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4070194"/>
            <a:ext cx="4151376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正解：Dan is beautiful.</a:t>
            </a:r>
          </a:p>
        </p:txBody>
      </p:sp>
      <p:sp>
        <p:nvSpPr>
          <p:cNvPr id="7" name="quote-frame"/>
          <p:cNvSpPr/>
          <p:nvPr/>
        </p:nvSpPr>
        <p:spPr>
          <a:xfrm>
            <a:off x="4937760" y="1645920"/>
            <a:ext cx="3657600" cy="213743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3500" bIns="12700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Danが若ければ、Danは悲しい。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Danが恐ろしければ、Danは熱い。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人が紫色であるか、または小さいなら、その人は美しい。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Danが清潔なら、Danは緑色。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Danが悪ければ、Danは柔らかい。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事実：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Danはとても小さく、涼しい。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Danについて何が導けるか。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5192" y="3847360"/>
            <a:ext cx="3602736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Danは美しい。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18888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SRNScenario — 自然言語の合成課題。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hardでは、言い換えと上位カテゴリを対応させる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実例3では、事実のtinyを規則のsmallへ、Danを人の規則へ対応させる。purpleまたはsmallという条件のsmallが満たされるため、beautifulを導ける。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coolは生成器の語彙表ではcoldの具体的な表現だが、この例の5規則からcoldに基づく新しい属性は導けない。答えにはbeautifulだけを含める。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規則の帰結は、ほかの規則の条件へ再利用されないように作られる。自然言語版は、規則を何段も連鎖させる課題ではなく、1段の適用を評価する。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記号列と自然言語の実例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SRNScenario — 自然言語の合成課題。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生成方法と問題の構成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生成方法と問題の構成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抽象版は短い列と置換辞書から生成する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生成方法と問題の構成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要素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生成条件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X / Y / Zから、重複を許して2〜3個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 / - / * / =から、重複を許して2〜3個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置換語彙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動物12語と果物10語の計22語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置換文字列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各変数に1〜2語を割り当てる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変数と記号をシャッフルして4〜6要素の規則列を作る。同じ変数は同じ文字列に置換される。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https://github.com/stanford-crfm/helm/blob/v0.4.0/src/helm/benchmark/scenarios/synthetic_reasoning_scenario.py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自然言語版は5規則と2属性の事実を作る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人・動物・植物の3カテゴリから対象を選ぶ。25の一般属性を使い、1属性の条件か、and/orで結んだ2属性の条件から、別の1属性を導く規則を5つ作る。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事実には2つの属性を与える。満たされる規則の帰結を集め、対象がそれらを持つという文を正解にする。新たな帰結がなければNothing.となる。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easyは規則と事実で同じ対象・属性の語を使う。hardでは対象をpersonなどのカテゴリで表す規則や、tiny / smallなどの語彙対応を使う。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生成方法と問題の構成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SRNScenario — 自然言語の合成課題。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既定では、設定ごとに11,000問を作る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生成方法と問題の構成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4191000"/>
                <a:gridCol w="38557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置換・照合・帰納と、自然言語easy/hardをそれぞれ生成する。問題数と乱数の種は指定できる。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 Reasoning — 公開生成器。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https://github.com/stanford-crfm/helm/tree/v0.4.0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機械的な正解を、生成条件と一緒に保存できる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抽象版は、規則列への置換処理から正解を作る。自然言語版は、事実が各規則の条件を満たすか調べ、その帰結をまとめて正解文を作る。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短い語彙表と文型を使い、規則や事実を機械的に組み合わせて多数の問題を作れる。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同じ乱数seedで生成器を初期化すると、同じ入力と正解を再生成できる。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生成方法と問題の構成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https://github.com/stanford-crfm/helm/blob/v0.4.0/src/helm/benchmark/scenarios/synthetic_reasoning_scenario.py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SRNScenario — 自然言語の合成課題。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答えの形式と問題の特徴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答えの形式と問題の特徴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課題ごとに、求める出力の形が変わる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置換では、記号を保った置換後の文字列を答える。照合では候補の規則列そのもの、帰納ではRule:に続く規則列を出力する。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自然言語版は、事実から新たに導ける属性をまとめる。複数ならandで結び、新たな帰結がなければNothing.と答える。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答えの形式と問題の特徴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https://github.com/stanford-crfm/helm/blob/v0.4.0/src/helm/benchmark/scenarios/synthetic_reasoning_scenario.py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SRNScenario — 自然言語の合成課題。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抽象版：記号を含む文字列の一致率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答えの形式と問題の特徴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524000"/>
                <a:gridCol w="1524000"/>
                <a:gridCol w="1524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置換 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照合 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帰納 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 (2022)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32.30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11.07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OPT-175B (2022)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1.94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25.37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 2 70B (2023)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35.53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2023年公開の成績。各課題のtest 515問で、記号を含む文字列の一致を採点する。text-davinci-003・OPTは3試行、Llama 2は1試行。3モデルとも、置換より帰納で低い。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406900"/>
            <a:ext cx="8183879" cy="723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公開成績（2023年11月公開版）。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https://storage.googleapis.com/crfm-helm-public/classic/benchmark_output/runs/v0.3.0/synthetic_reasoning%3Amode%3Dinduction%2Cmodel%3Dmeta_llama-2-70b/stats.json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自然言語版：導いた属性集合のF1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答えの形式と問題の特徴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2286000"/>
                <a:gridCol w="2286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easy 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hard 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 (2022)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82.58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OPT-175B (2022)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36.05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13.53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 2 70B (2023)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49.97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2023年公開の成績。各難度のtest 515問で、属性の過不足を測るF1を、各問で求め平均する。text-davinci-003・OPTは3試行、Llama 2は1試行。hardでは全モデルで低下する。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406900"/>
            <a:ext cx="8183879" cy="7239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公開成績（2023年11月公開版）。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https://storage.googleapis.com/crfm-helm-public/classic/benchmark_output/runs/v0.3.0/synthetic_reasoning_natural%3Adifficulty%3Dhard%2Cmodel%3Dmeta_llama-2-70b/stats.json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候補の重複や、変数名も問題の特徴になる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帰納問題の参照正解は、生成器が付けた変数名を使う。同じ置換関係でも、変数名を入れ替えると表記が変わる。</a:t>
            </a:r>
          </a:p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照合候補には、同じ規則列が重なることや、正解だけが長くなることがある。こうした生成方法から、推論以外の手掛かりが生まれる。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自然言語版は、定めた語彙対応と1段の条件適用を扱う。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答えの形式と問題の特徴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https://github.com/stanford-crfm/helm/blob/v0.4.0/src/helm/benchmark/scenarios/synthetic_reasoning_scenario.py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SRNScenario — 自然言語の合成課題。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先行研究と公開生成器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先行研究と公開生成器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記号操作と、自然言語の規則推論を合成する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LIME（2021）は、合成した演繹・帰納・仮説推論の課題で事前学習し、数学的推論に役立つ帰納バイアスを学ばせる研究。基本操作を合成する発想が、抽象版の出発点となった。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Clarkら（2020）は、自然言語で書いた規則と事実から結論を導く研究を行った。自然言語版は、その考え方を短い語彙と文型で実装した。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先行研究と公開生成器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Wu et al. (2021). LIME: Learning Inductive Bias for Primitives of Mathematical Reasoning. ICML.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https://proceedings.mlr.press/v139/wu21c.html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Clark, Tafjord &amp; Richardson (2020). Transformers as Soft Reasoners over Language. IJCAI.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https://arxiv.org/abs/2002.05867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公開生成器で、課題や難度を選ぶ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抽象版はSyntheticReasoningScenarioで、置換・照合・帰納のモードを選ぶ。自然言語版はSRNScenarioで、easyまたはhardを選べる。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どちらも短い語彙表とテンプレートから、問題文と正解を生成する。コードはApache-2.0で公開されている。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乱数seedを変えると、同じ形式で異なる規則や事実を持つ問題を作れる。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先行研究と公開生成器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https://github.com/stanford-crfm/helm/blob/v0.4.0/src/helm/benchmark/scenarios/synthetic_reasoning_scenario.py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CRFM. SRNScenario — 自然言語の合成課題。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短い規則と事実で、推論の基本操作を試す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Synthetic Reasoningは、短い記号列の照合・置換・帰納と、自然言語の1段の規則適用を扱う。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抽象版は規則や置換後の文字列、自然言語版は新たに導ける属性を答える。与えられる情報が変わると、必要な操作も変わる。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語彙と文型が定められているため、形式や難度をそろえ、多数の問題で基本操作を調べられる。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先行研究と公開生成器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(2023). Holistic Evaluation of Language Models. TMLR.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8681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4838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追加の生成例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語彙と生成の補足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実例4：変数置換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追加の生成例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792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Rules: X Z X = - - | Substitutions: X by " grape apple " , Z by " penguin 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66823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正解：grape apple penguin grape apple = -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7195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日本語訳（記号・置換文字列は原文のまま）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446271"/>
            <a:ext cx="7955279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規則：X Z X = - -</a:t>
            </a:r>
          </a:p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置換：Xを" grape apple "、Zを" penguin "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https://github.com/stanford-crfm/helm/blob/v0.4.0/src/helm/benchmark/scenarios/synthetic_reasoning_scenario.py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実例5：変数置換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追加の生成例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792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Rules: X = Y X * | Substitutions: X by " peach " , Y by " cobra eagle 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66823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正解：peach = cobra eagle peach 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7195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日本語訳（記号・置換文字列は原文のまま）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446271"/>
            <a:ext cx="7955279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規則：X = Y X *</a:t>
            </a:r>
          </a:p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置換：Xを" peach "、Yを" cobra eagle "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https://github.com/stanford-crfm/helm/blob/v0.4.0/src/helm/benchmark/scenarios/synthetic_reasoning_scenario.py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実例6：規則の照合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追加の生成例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7420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Rules: + = X Y | Y X = + | + Y X = Y | Y X = + | Result: + horse cobra horse = horse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6023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正解：+ Y X =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7195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日本語訳（記号・置換文字列は原文のまま）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446271"/>
            <a:ext cx="7955279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候補となる規則：+ = X Y | Y X = + | + Y X = Y | Y X = +</a:t>
            </a:r>
          </a:p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置換後の文字列：+ horse cobra horse = horse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https://github.com/stanford-crfm/helm/blob/v0.4.0/src/helm/benchmark/scenarios/synthetic_reasoning_scenario.py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実例7：規則の照合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追加の生成例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792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Rules: = Z Y = | Z = = Y | = Z Y = | = Y = Z Y | Result: = seal pear = lion seal pear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66823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正解：= Y = Z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7195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日本語訳（記号・置換文字列は原文のまま）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446271"/>
            <a:ext cx="7955279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候補となる規則：= Z Y = | Z = = Y | = Z Y = | = Y = Z Y</a:t>
            </a:r>
          </a:p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置換後の文字列：= seal pear = lion seal pear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https://github.com/stanford-crfm/helm/blob/v0.4.0/src/helm/benchmark/scenarios/synthetic_reasoning_scenario.py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実例8：規則の帰納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追加の生成例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7420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 results: * stork - * shark stork | * horse - * buffalo penguin horse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6023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正解：Rule: * Y - * X 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7195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日本語訳（記号・置換文字列は原文のまま）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446271"/>
            <a:ext cx="7955279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同じ規則から得た2つの文字列：* stork - * shark stork | * horse - * buffalo penguin horse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https://github.com/stanford-crfm/helm/blob/v0.4.0/src/helm/benchmark/scenarios/synthetic_reasoning_scenario.py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実例9：規則の帰納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追加の生成例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792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Two results: grape apple penguin grape apple = - - | pear shark eagle pear shark = -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66823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正解：Rule: X Z X = - 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7195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日本語訳（記号・置換文字列は原文のまま）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446271"/>
            <a:ext cx="7955279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同じ規則から得た2つの文字列：grape apple penguin grape apple = - - | pear shark eagle pear shark = - -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https://github.com/stanford-crfm/helm/blob/v0.4.0/src/helm/benchmark/scenarios/synthetic_reasoning_scenario.py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実例10：自然言語・easy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追加の生成例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229981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dandelion is small, then the dandelion is good.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dandelion is strong, then the dandelion is hot.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dandelion is big and soft, then the dandelion is boring.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dandelion is red and scary, then the dandelion is old.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dandelion is clean or young, then the dandelion is purple.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Fact: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dandelion is purple and boring.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following can be determined about the dandelion: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73750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正解：Nothing.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SRNScenario — 自然言語の合成課題。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実例10：自然言語・easy（訳）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追加の生成例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問題（全文）の日本語訳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23116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タンポポが小さければ、そのタンポポはよい。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タンポポが強ければ、そのタンポポは熱い。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タンポポが大きく、かつ柔らかいなら、そのタンポポは退屈なものだ。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タンポポが赤く、かつ恐ろしいなら、そのタンポポは古い。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タンポポが清潔であるか、または若いなら、そのタンポポは紫色。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事実：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そのタンポポは紫色で、退屈なものだ。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そのタンポポについて何が導けるか。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85630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正解：新たに導ける属性はない。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SRNScenario — 自然言語の合成課題。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実例11：自然言語・easy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追加の生成例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45920"/>
            <a:ext cx="4206240" cy="25831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3500" bIns="12700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rose is hot, then the rose is blue.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rose is scary or small, then the rose is happy.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rose is smart, then the rose is red.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rose is slow or green, then the rose is old.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rose is bad, then the rose is cold.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Fact: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rose is beautiful and hot.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following can be determined about the rose: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4293041"/>
            <a:ext cx="4151376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正解：The rose is blue.</a:t>
            </a:r>
          </a:p>
        </p:txBody>
      </p:sp>
      <p:sp>
        <p:nvSpPr>
          <p:cNvPr id="7" name="quote-frame"/>
          <p:cNvSpPr/>
          <p:nvPr/>
        </p:nvSpPr>
        <p:spPr>
          <a:xfrm>
            <a:off x="4937760" y="1645920"/>
            <a:ext cx="3657600" cy="235931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3500" bIns="12700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バラが熱ければ、そのバラは青い。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バラが恐ろしいか、または小さいなら、そのバラは幸せ。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バラが賢ければ、そのバラは赤い。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バラが遅いか、または緑色なら、そのバラは古い。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バラが悪ければ、そのバラは冷たい。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事実：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そのバラは美しく、熱い。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そのバラについて何が導けるか。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5192" y="4069242"/>
            <a:ext cx="3602736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バラは青い。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18888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SRNScenario — 自然言語の合成課題。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実例12：自然言語・hard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追加の生成例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45920"/>
            <a:ext cx="4206240" cy="241106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3500" bIns="12700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poppy is green and hot, then the poppy is cold.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poppy is blue, then the poppy is sad.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plant is red, then the plant is bad.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poppy is strong, then the poppy is old.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plant is small, then the plant is beautiful.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Fact: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poppy is glad and sluggish.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following can be determined about the poppy: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4120994"/>
            <a:ext cx="4151376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正解：Nothing.</a:t>
            </a:r>
          </a:p>
        </p:txBody>
      </p:sp>
      <p:sp>
        <p:nvSpPr>
          <p:cNvPr id="7" name="quote-frame"/>
          <p:cNvSpPr/>
          <p:nvPr/>
        </p:nvSpPr>
        <p:spPr>
          <a:xfrm>
            <a:off x="4937760" y="1645920"/>
            <a:ext cx="3657600" cy="235931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63500" bIns="127000">
            <a:noAutofit/>
          </a:bodyPr>
          <a:lstStyle/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ケシが緑色で、かつ熱いなら、そのケシは冷たい。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ケシが青ければ、そのケシは悲しい。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植物が赤ければ、その植物は悪い。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ケシが強ければ、そのケシは古い。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植物が小さければ、その植物は美しい。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事実：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そのケシはうれしく、のろい。</a:t>
            </a:r>
          </a:p>
          <a:p>
            <a:pPr algn="l">
              <a:lnSpc>
                <a:spcPts val="175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そのケシについて何が導けるか。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65192" y="4069242"/>
            <a:ext cx="3602736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新たに導ける属性はない。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18888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SRNScenario — 自然言語の合成課題。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実例13：自然言語・hard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追加の生成例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229981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plant is green or slow, then the plant is small.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poppy is purple, then the poppy is boring.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poppy is big, then the poppy is scary.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poppy is strong and happy, then the poppy is soft.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a plant is old, then the plant is red.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Fact: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poppy is sad and antique.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following can be determined about the poppy: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73750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正解：The poppy is red.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SRNScenario — 自然言語の合成課題。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実例13：自然言語・hard（訳）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追加の生成例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問題（全文）の日本語訳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23116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3500" bIns="127000">
            <a:noAutofit/>
          </a:bodyPr>
          <a:lstStyle/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植物が緑色であるか、または遅いなら、その植物は小さい。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ケシが紫色なら、そのケシは退屈なものだ。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ケシが大きければ、そのケシは恐ろしい。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ケシが強く、かつ幸せなら、そのケシは柔らかい。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植物が古ければ、その植物は赤い。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事実：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そのケシは悲しく、古い。</a:t>
            </a:r>
          </a:p>
          <a:p>
            <a:pPr algn="l">
              <a:lnSpc>
                <a:spcPts val="2142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そのケシについて何が導けるか。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85630"/>
            <a:ext cx="7955279" cy="429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15"/>
              </a:lnSpc>
              <a:spcBef>
                <a:spcPts val="0"/>
              </a:spcBef>
              <a:spcAft>
                <a:spcPts val="0"/>
              </a:spcAft>
              <a:buNone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正解：ケシは赤い。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SRNScenario — 自然言語の合成課題。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語彙と生成の補足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語彙と生成の補足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新しい属性を導けない問題も含まれる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語彙と生成の補足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2011680"/>
                <a:gridCol w="201168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全生成例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Nothing.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比率 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easy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1,899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17.26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1,910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17.36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既定設定で作った各11,000問を集計。規則を適用しても新しい属性が得られなければ、答えはNothing.となる。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SRNScenario — 自然言語の合成課題。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hardは、具体語と一般語を対応させる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一般属性25種に、big→huge / giant、small→tiny / little、old→ancient / antiqueなどの語を対応させる。hardの事実には、こうした具体語を使う。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規則と正解には一般語を使う。入力の言い換えを一般属性へ対応させることが、hardの推論に含まれる。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語彙と生成の補足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SRNScenario — 自然言語の合成課題。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https://github.com/stanford-crfm/helm/blob/v0.4.0/src/helm/benchmark/scenarios/synthetic_reasoning_natural_scenario.py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問題を生成し、入力と正解を取り出す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語彙と生成の補足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618488"/>
            <a:ext cx="8046720" cy="218846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101600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helm.benchmark.scenarios import (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synthetic_reasoning_scenario as sym,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task = sym.SyntheticReasoningScenario(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"variable_substitution", random_seed=42)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example = task.get_instances("")[6000]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print(example.input.text)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print(example.references[0].output.text)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71543"/>
            <a:ext cx="7955279" cy="558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公開実装を入れたPythonで実行する。変数置換問題を生成し、先頭のtest例の入力と正解を表示する。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SyntheticReasoningScenario — 記号列の合成課題。</a:t>
            </a:r>
          </a:p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https://github.com/stanford-crfm/helm/blob/v0.4.0/src/helm/benchmark/scenarios/synthetic_reasoning_scenario.py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関連研究と参考文献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Liang et al. (2023). Holistic Evaluation of Language Models. TMLR.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12264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記号列の操作と、自然言語での1段の規則適用を評価する合成課題を提示する。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881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1752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Wu et al. (2021). LIME: Learning Inductive Bias for Primitives of Mathematical Reasoning. ICML.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66744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演繹・帰納・仮説推論の基本操作を合成データで事前学習し、数学的推論への効果を検証した。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27329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https://proceedings.mlr.press/v139/wu21c.html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関連研究と参考文献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Clark, Tafjord &amp; Richardson (2020). Transformers as Soft Reasoners over Language. IJCAI.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12264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自然言語で記した規則と事実をTransformerへ与え、推論を言語の処理として扱う枠組みと実験を示した。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1881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https://arxiv.org/abs/2002.05867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17520"/>
            <a:ext cx="7955279" cy="6035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CRFM (n.d.). Synthetic Reasoning 公開生成器。参照2026-10-19。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66744"/>
            <a:ext cx="7955279" cy="5212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抽象版の3課題と自然言語easy/hardを生成する。短い語彙と規則から、問題文と正解を作る。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273296"/>
            <a:ext cx="7955279" cy="237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2166AC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https://github.com/stanford-crfm/helm/tree/v0.4.0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2026-10-18T07:30:24Z</dcterms:modified>
  <dc:title>synthetic-reasoning</dc:title>
  <dc:creator>sasakiy84</dc:creator>
  <dcterms:created xsi:type="dcterms:W3CDTF">2026-10-18T07:30:24Z</dcterms:created>
  <dc:language>ja-JP</dc:language>
</cp:coreProperties>
</file>