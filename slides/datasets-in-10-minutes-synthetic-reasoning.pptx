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stanford-crfm/helm/tree/v0.4.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github.com/stanford-crfm/helm/tree/v0.4.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scenario.p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scenario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natural_scenario.p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synthetic_reasoning_scenario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natural_scenario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tree/v0.4.0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metrics/basic_metrics.p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metrics/basic_metrics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scenario.py" TargetMode="External"/><Relationship Id="rId3" Type="http://schemas.openxmlformats.org/officeDocument/2006/relationships/hyperlink" Target="https://github.com/stanford-crfm/helm/blob/v0.4.0/src/helm/benchmark/scenarios/synthetic_reasoning_natural_scenario.py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oceedings.mlr.press/v139/wu21c.html" TargetMode="External"/><Relationship Id="rId3" Type="http://schemas.openxmlformats.org/officeDocument/2006/relationships/hyperlink" Target="https://arxiv.org/abs/2002.05867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tree/v0.4.0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metrics/basic_metrics.py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metrics/basic_metrics.py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synthetic_reasoning_scenario.py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synthetic_reasoning_natural_scenario.py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synthetic_reasoning_natural_scenario.py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tree/v0.4.0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tree/v0.4.0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proceedings.mlr.press/v139/wu21c.html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proceedings.mlr.press/v139/wu21c.html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2.05867" TargetMode="External"/><Relationship Id="rId3" Type="http://schemas.openxmlformats.org/officeDocument/2006/relationships/hyperlink" Target="https://github.com/stanford-crfm/helm/tree/v0.4.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Synthetic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Abstract Symbols / Natural Language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合成した規則と事実で、推論の基本操作を評価する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公式リポジトリ（v0.4.0）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rcRect b="11127"/>
          <a:stretch>
            <a:fillRect/>
          </a:stretch>
        </p:blipFill>
        <p:spPr>
          <a:xfrm>
            <a:off x="640080" y="1371600"/>
            <a:ext cx="7863840" cy="315468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Holistic Evaluation of Language Models.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記号列と自然言語の実例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生成器と固定seedの設計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研究上の位置付けと再現方法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規則を見つけ、適用し、元の規則を推定する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HELMが作った小さな合成課題で、記号列の照合、変数の置換、規則の帰納を評価する。外部の事実知識をほとんど使わずに解けるよう設計された。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自然言語版は、条件文の規則と1つの事実から、新たに導ける属性を答える。easyとhardを用意し、hardでは上位カテゴリや語の言い換えも扱う。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抽象版と自然言語版は別の生成器である。同じ問題を英語へ直訳した組ではなく、推論の基本操作を異なる形式で試す。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実例1：変数置換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0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92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* Y - * X Z | Substitutions: X by " shark " , Y by " stork " , Z by " stork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68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正解：* stork - * shark stork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規則：* Y - * X Z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置換：Xを" shark "、Yを" stork "、Zを" stork "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変数置換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記号は計算せず、指定どおりに置き換える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実例1ではXがshark、YとZがstorkに対応する。規則列にある変数をすべて置換し、順番と記号を保って出力する。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+、-、*、=はこの課題では文字列を作る記号である。計算式として正しいかを判定したり、数値を計算したりする課題ではない。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一つの変数に1語だけでなく2語の文字列を割り当てる例もある。変数の反復位置と、置換する文字列の範囲を対応させる。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SyntheticReasoningScenario,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https://github.com/stanford-crfm/helm/blob/v0.4.0/src/helm/benchmark/scenarios/synthetic_reasoning_scenario.py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実例2：規則の照合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0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420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= Z + - X | - + = X Z | Z - X + = | + - = Z X | Result: = watermelon lion + - zebra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60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正解：= Z + -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候補となる規則：= Z + - X | - + = X Z | Z - X + = | + - = Z X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置換後の文字列：= watermelon lion + - zebra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規則の照合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4候補から、置換後の列に合う規則を選ぶ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実例2は、4つの規則候補と、置換後の文字列を入力にする。正解として番号ではなく、合致する規則列そのものを出力する。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帰納課題では、候補や置換辞書を示さず、同じ規則から生成した2つの結果だけを見せる。出力はRule:に続く元の規則列である。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この3課題は同じ形式の記号列を使うが、与えられる情報が異なる。置換では辞書が既知、照合では規則候補が既知、帰納では規則を推定する。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SyntheticReasoningScenario,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https://github.com/stanford-crfm/helm/blob/v0.4.0/src/helm/benchmark/scenarios/synthetic_reasoning_scenario.py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実例3：自然言語・hard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0 / 問題全文・日本語訳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4206240" cy="236026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Dan is young, then Dan is sad.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Dan is scary, then Dan is hot.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person is purple or small, then person is beautiful.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Dan is clean, then Dan is green.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Dan is bad, then Dan is soft.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Fact: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 is tiny and cool.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following can be determined about Dan: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070194"/>
            <a:ext cx="415137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正解：Dan is beautiful.</a:t>
            </a:r>
          </a:p>
        </p:txBody>
      </p:sp>
      <p:sp>
        <p:nvSpPr>
          <p:cNvPr id="7" name="quote-frame"/>
          <p:cNvSpPr/>
          <p:nvPr/>
        </p:nvSpPr>
        <p:spPr>
          <a:xfrm>
            <a:off x="4937760" y="1645920"/>
            <a:ext cx="3657600" cy="213743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Danが若ければ、Danは悲しい。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Danが恐ろしければ、Danは熱い。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人が紫色であるか、または小さいなら、その人は美しい。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Danが清潔なら、Danは緑色。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Danが悪ければ、Danは柔らかい。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事実：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Danはとても小さく、涼しい。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Danについて何が導けるか。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3847360"/>
            <a:ext cx="360273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Danは美しい。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188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自然言語・hard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hardでは、言い換えと上位カテゴリを対応させる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実例3では、事実のtinyを規則のsmallへ、Danを人の規則へ対応させる。purpleまたはsmallという条件のsmallが満たされるため、beautifulを導ける。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coolは生成器の語彙表ではcoldの具体的な表現だが、この例の5規則からcoldに基づく新しい属性は導けない。答えにはbeautifulだけを含める。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規則の帰結は、ほかの規則の条件へ再利用されないように作られる。自然言語版は、規則を何段も連鎖させる課題ではなく、1段の適用を評価する。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記号列と自然言語の実例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SRNScenario,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https://github.com/stanford-crfm/helm/blob/v0.4.0/src/helm/benchmark/scenarios/synthetic_reasoning_natural_scenario.py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抽象版は短い列と置換辞書から生成する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 / Y / Zから、重複を許して2〜3個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 / - / * / =から、重複を許して2〜3個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置換語彙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動物12語と果物10語の計22語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置換文字列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各変数に1〜2語を割り当てる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変数と記号をシャッフルして4〜6要素の規則列を作る。同じ変数は同じ文字列に置換される。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SyntheticReasoningScenario,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https://github.com/stanford-crfm/helm/blob/v0.4.0/src/helm/benchmark/scenarios/synthetic_reasoning_scenario.py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自然言語版は5規則と2属性の事実を作る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人・動物・植物の3カテゴリから対象を選ぶ。25の一般属性を使い、1属性の条件か、and/orで結んだ2属性の条件から、別の1属性を導く規則を5つ作る。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事実には2つの属性を与える。満たされる規則の帰結を集め、対象がそれらを持つという文を正解にする。新たな帰結がなければNothing.となる。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easyは規則と事実で同じ対象・属性の語を使う。hardでは対象をpersonなどのカテゴリで表す規則や、tiny / smallなどの語彙対応を使う。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SRNScenario,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https://github.com/stanford-crfm/helm/blob/v0.4.0/src/helm/benchmark/scenarios/synthetic_reasoning_natural_scenario.py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各設定を固定seedで11,000例ずつ生成する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4114800"/>
                <a:gridCol w="2103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生成順のindex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0〜999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1,000〜5,999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6,000〜10,999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既定seedは42。抽象3課題と自然言語2難度を別々に生成する。同じseedでも設定が異なれば、同じ問題の対にはならない。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機械的な正解を、生成条件と一緒に保存できる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抽象版は、規則列への置換処理から正解を作る。自然言語版は、事実が各規則の条件を満たすかを調べ、その帰結の集合から正解文を作る。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人が問題文と正解を一件ずつ書く方式ではない。乱数seed、生成器のバージョン、モード、生成順のindexを固定すれば、同じ入力と参照正解を再生成できる。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本資料の13例は、v0.4.0の公式生成器をseed42で実行したtestの問題全文と参照正解である。HELMのモデル入力には、問題に指示と提示例が加わる。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生成器と固定seedの設計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抽象版の主指標は、正規化後の文字列一致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Classic v0.4.0の抽象版の主指標はquasi_exact_match。小文字化し、句読点・英語の冠詞・余分な空白を除いてから、参照正解と一致するかを0/1で採点する。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この句読点除去では+、-、*、=も消える。したがって、主指標の正解率は記号まで正しく再現した割合とは異なる。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記号を保った厳密一致exact_matchも公開されている。次の2表では、同じモデル・同じtestについて、正規化後の一致と厳密一致を分けて示す。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BasicMetric, HELM v0.4.0.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https://github.com/stanford-crfm/helm/blob/v0.4.0/src/helm/benchmark/metrics/basic_metrics.py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抽象版：正規化後の一致率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524000"/>
                <a:gridCol w="1524000"/>
                <a:gridCol w="1524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置換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照合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帰納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42.39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 2 70B (2023)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515例。text-davinci-003・OPTは3試行平均、Llama 2は1試行。Classic v0.4.0、元run suite v0.3.0。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抽象版：記号を含めた厳密一致率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524000"/>
                <a:gridCol w="1524000"/>
                <a:gridCol w="1524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置換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照合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帰納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32.30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1.94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 2 70B (2023)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35.53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同じtest 515例。exact_matchは前後の空白だけを除く。OPTの置換は正規化後25.24%に対し、厳密一致では1.94%。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自然言語版は、導いた属性の集合を採点する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自然言語版の主指標は属性集合のF1。出力のisより後をandで分け、ピリオドを除いて集合にする。予測と正解で重なる属性数からF1を求める。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正解が{red, happy}、予測が{red}なら、集合F1は2/3、積集合を和集合で割るIoUは1/2。集合が完全一致する割合も別に集計される。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主語は属性集合へ含まれない。Nothing.は空集合として扱い、正解・予測がともに空なら1点。HELMの説明にはIoUも登場するが、v0.4.0の主指標はF1である。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BasicMetric, HELM v0.4.0.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https://github.com/stanford-crfm/helm/blob/v0.4.0/src/helm/benchmark/metrics/basic_metrics.py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自然言語版：属性集合F1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easy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hard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 2 70B (2023)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44.40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515例の例ごとのF1を平均し、100倍して表示。text-davinci-003・OPTは3試行、Llama 2は1試行。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提示例と出力条件も、形式に合わせて変わる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651760"/>
                <a:gridCol w="26517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抽象版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自然言語版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提示例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50トークン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20トークン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候補数 / 温度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1候補 / 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1候補 / 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停止条件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改行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改行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各試行は最大1,000例：valid 485 + test 515。比較した15実行は、実提示数5/3、prompt_truncated=0。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規則の適用と、採点・生成の癖を分けて読む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置換は高得点でも、規則の帰納では低い一致率が残る。帰納の参照正解は生成器が選んだ変数名で、名前を入れ替えた同値な規則を同一視しない。</a:t>
            </a:r>
          </a:p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照合の妨害候補は、重複を除いた変数集合から作られる。正解列で変数が反復すると正解だけが長くなり、長さから候補を絞れる例が生まれる。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自然言語版が測るのは、定義した語彙対応と1段の条件適用である。世界の事実を判断する課題や、長い証明の構築とは対象が異なる。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SyntheticReasoningScenario,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https://github.com/stanford-crfm/helm/blob/v0.4.0/src/helm/benchmark/scenarios/synthetic_reasoning_scenario.py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SRNScenario,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https://github.com/stanford-crfm/helm/blob/v0.4.0/src/helm/benchmark/scenarios/synthetic_reasoning_natural_scenario.py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研究上の位置付けと再現方法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研究上の位置付けと再現方法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LIMEと自然言語の規則推論を、HELMへ取り込む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LIME（2021）は、合成した演繹・帰納・仮説推論の課題で事前学習し、数学的推論に役立つ帰納バイアスを学ばせる研究である。HELMの抽象課題は、この基本操作の考え方に着想を得た。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Clarkら（2020）は、自然言語で書いた規則と事実から結論を導く研究を行った。HELMの自然言語版は、その考え方を簡単な語と文型で実装した。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本資料はHELMの生成器と評価結果を扱う。LIMEの事前学習データや、先行研究の規則推論課題の全体とは範囲が異なる。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研究上の位置付けと再現方法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 et al. (2021). LIME: Learning Inductive Bias for Primitives of Mathematical Reasoning. ICML.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https://proceedings.mlr.press/v139/wu21c.html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Clark, Tafjord &amp; Richardson (2020). Transformers as Soft Reasoners over Language. IJCAI.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https://arxiv.org/abs/2002.05867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バージョンとseedを固定し、課題別に再現する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公式配布元はStanford CRFMのHELMリポジトリ。抽象版はSyntheticReasoningScenario、自然言語版はSRNScenarioの実装を使う。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再現時にはタグv0.4.0、seed42、抽象版のmodeまたは自然言語版のdifficultyを指定する。生成順で分割が決まり、testの最初の例は全体index6000となる。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2026-10-18時点で公式実装とClassic v0.4.0の公開結果を取得した。コードはApache-2.0。短い語彙表とテンプレートから生成する。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研究上の位置付けと再現方法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何を推論し、何を一致と呼ぶかを対応させる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Synthetic Reasoningは、短い記号列の照合・置換・帰納と、自然言語の1段の規則適用を、再生成可能な課題として用意する。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抽象版は文字列一致、自然言語版は属性集合の比較で採点する。正規化の有無、変数名、出力の主語をどう扱うかが、得点の意味を変える。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生成器のバージョンとseedだけでなく、提示例数、出力上限、評価集合、試行数と指標を合わせることで、モデルの得意・不得意を具体的に比較できる。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研究上の位置付けと再現方法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追加の生成例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採点と生成の詳細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制作・関連研究と参考文献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実例4：変数置換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1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92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X Z X = - - | Substitutions: X by " grape apple " , Z by " penguin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68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正解：grape apple penguin grape apple = -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規則：X Z X = - -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置換：Xを" grape apple "、Zを" penguin "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変数置換 / index 6001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実例5：変数置換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2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92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X = Y X * | Substitutions: X by " peach " , Y by " cobra eagle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68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正解：peach = cobra eagle peach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規則：X = Y X *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置換：Xを" peach "、Yを" cobra eagle "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変数置換 / index 6002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実例6：規則の照合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1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420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+ = X Y | Y X = + | + Y X = Y | Y X = + | Result: + horse cobra horse = horse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60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正解：+ Y X =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候補となる規則：+ = X Y | Y X = + | + Y X = Y | Y X = +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置換後の文字列：+ horse cobra horse = horse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規則の照合 / index 6001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実例7：規則の照合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2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92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Rules: = Z Y = | Z = = Y | = Z Y = | = Y = Z Y | Result: = seal pear = lion seal pear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68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正解：= Y = Z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候補となる規則：= Z Y = | Z = = Y | = Z Y = | = Y = Z Y</a:t>
            </a:r>
          </a:p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置換後の文字列：= seal pear = lion seal pear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規則の照合 / index 6002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実例8：規則の帰納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0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420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Two results: * stork - * shark stork | * horse - * buffalo penguin horse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60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正解：Rule: * Y - * X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同じ規則から得た2つの文字列：* stork - * shark stork | * horse - * buffalo penguin horse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規則の帰納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実例9：規則の帰納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1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79288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Two results: grape apple penguin grape apple = - - | pear shark eagle pear shark = -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6823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正解：Rule: X Z X = -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7195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日本語訳（記号・置換文字列は原文のまま）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46271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同じ規則から得た2つの文字列：grape apple penguin grape apple = - - | pear shark eagle pear shark = - -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規則の帰納 / index 6001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実例10：自然言語・easy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0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29981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dandelion is small, then the dandelion is good.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dandelion is strong, then the dandelion is hot.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dandelion is big and soft, then the dandelion is boring.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dandelion is red and scary, then the dandelion is old.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dandelion is clean or young, then the dandelion is purple.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Fact: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dandelion is purple and boring.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following can be determined about the dandelion: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73750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正解：Nothing.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自然言語・easy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実例10：自然言語・easy（訳）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問題全文の日本語訳 / 同じseed・index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3116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タンポポが小さければ、そのタンポポはよい。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タンポポが強ければ、そのタンポポは熱い。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タンポポが大きく、かつ柔らかいなら、そのタンポポは退屈。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タンポポが赤く、かつ恐ろしいなら、そのタンポポは古い。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タンポポが清潔であるか、または若いなら、そのタンポポは紫色。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事実：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そのタンポポは紫色で、退屈。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そのタンポポについて何が導けるか。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85630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正解：新たに導ける属性はない。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自然言語・easy / index 6000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実例11：自然言語・easy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1 / 問題全文・日本語訳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4206240" cy="258311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rose is hot, then the rose is blue.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rose is scary or small, then the rose is happy.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rose is smart, then the rose is red.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rose is slow or green, then the rose is old.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rose is bad, then the rose is cold.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Fact: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rose is beautiful and hot.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following can be determined about the rose: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293041"/>
            <a:ext cx="415137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正解：The rose is blue.</a:t>
            </a:r>
          </a:p>
        </p:txBody>
      </p:sp>
      <p:sp>
        <p:nvSpPr>
          <p:cNvPr id="7" name="quote-frame"/>
          <p:cNvSpPr/>
          <p:nvPr/>
        </p:nvSpPr>
        <p:spPr>
          <a:xfrm>
            <a:off x="4937760" y="1645920"/>
            <a:ext cx="3657600" cy="235931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バラが熱ければ、そのバラは青い。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バラが恐ろしいか、または小さいなら、そのバラは幸せ。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バラが賢ければ、そのバラは赤い。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バラが遅いか、または緑色なら、そのバラは古い。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バラが悪ければ、そのバラは冷たい。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事実：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そのバラは美しく、熱い。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そのバラについて何が導けるか。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4069242"/>
            <a:ext cx="360273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バラは青い。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188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自然言語・easy / index 6001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実例12：自然言語・hard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1 / 問題全文・日本語訳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4206240" cy="241106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green and hot, then the poppy is cold.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blue, then the poppy is sad.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plant is red, then the plant is bad.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strong, then the poppy is old.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plant is small, then the plant is beautiful.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Fact: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poppy is glad and sluggish.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following can be determined about the poppy: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20994"/>
            <a:ext cx="415137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正解：Nothing.</a:t>
            </a:r>
          </a:p>
        </p:txBody>
      </p:sp>
      <p:sp>
        <p:nvSpPr>
          <p:cNvPr id="7" name="quote-frame"/>
          <p:cNvSpPr/>
          <p:nvPr/>
        </p:nvSpPr>
        <p:spPr>
          <a:xfrm>
            <a:off x="4937760" y="1645920"/>
            <a:ext cx="3657600" cy="235931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63500" bIns="127000">
            <a:no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ケシが緑色で、かつ熱いなら、そのケシは冷たい。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ケシが青ければ、そのケシは悲しい。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植物が赤ければ、その植物は悪い。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ケシが強ければ、そのケシは古い。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植物が小さければ、その植物は美しい。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事実：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そのケシはうれしく、のろい。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そのケシについて何が導けるか。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4069242"/>
            <a:ext cx="360273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新たに導ける属性はない。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188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自然言語・hard / index 6001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実例13：自然言語・hard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公式生成器 / seed 42 / test index 2 / 問題全文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29981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plant is green or slow, then the plant is small.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purple, then the poppy is boring.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big, then the poppy is scary.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poppy is strong and happy, then the poppy is soft.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plant is old, then the plant is red.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Fact: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poppy is sad and antique.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following can be determined about the poppy: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73750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正解：The poppy is red.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自然言語・hard / index 6002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実例13：自然言語・hard（訳）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追加の生成例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問題全文の日本語訳 / 同じseed・index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18488"/>
            <a:ext cx="8046720" cy="23116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植物が緑色であるか、または遅いなら、その植物は小さい。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ケシが紫色なら、そのケシは退屈。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ケシが大きければ、そのケシは恐ろしい。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ケシが強く、かつ幸せなら、そのケシは柔らかい。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植物が古ければ、その植物は赤い。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事実：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そのケシは悲しく、古い。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そのケシについて何が導けるか。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85630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正解：ケシは赤い。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 自然言語・hard / index 6002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採点と生成の詳細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正規化すると、異なる記号列も一致する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採点方法の説明例：実例1の正解を使い、比較用の予測を置く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73352"/>
            <a:ext cx="8046720" cy="74194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参照正解：* stork - * shark stork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比較する予測：+ stork = + shark stork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正規化後はいずれも stork shark stork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2098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quasi_exact_match = 1 / exact_match = 0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BasicMetric, HELM v0.4.0.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https://github.com/stanford-crfm/helm/blob/v0.4.0/src/helm/benchmark/metrics/basic_metrics.py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属性集合では、主語を比較しない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採点方法の説明例：実例3の正解を使い、比較用の予測を置く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73352"/>
            <a:ext cx="8046720" cy="74194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参照正解：Dan is beautiful.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比較する予測：Alice is beautiful.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両方から属性集合 {beautiful} を取り出す。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3013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属性集合F1 = 1 / 文字列の厳密一致 = 0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BasicMetric, HELM v0.4.0.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https://github.com/stanford-crfm/helm/blob/v0.4.0/src/helm/benchmark/metrics/basic_metrics.py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自然言語版：属性集合IoU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easy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hard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61.87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35.21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 2 70B (2023)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43.79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515例。F1と同じ予測を使う。text-davinci-003・OPTは3試行平均、Llama 2は1試行。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照合候補の構造をtest全件で数える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4846320"/>
                <a:gridCol w="32004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seed42 / test 5,000例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候補の文字列に重複がある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973例（19.46%）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正解だけが最長の候補になる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2,826例（56.52%）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v0.4.0公式生成器の出力を独自集計。長さは空白で区切った要素数。正解と同じ候補文字列は1種類として扱う。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SyntheticReasoningScenario,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https://github.com/stanford-crfm/helm/blob/v0.4.0/src/helm/benchmark/scenarios/synthetic_reasoning_scenario.py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Nothing.の比率は生成結果から数える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2011680"/>
                <a:gridCol w="201168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全生成例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Nothing.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比率 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easy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1,899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17.26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17.36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seed42、train/valid/testの合計。帰結が空のときに再抽選する処理を含むため、空の答えの割合は出力を数えて求めた。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SRNScenario,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https://github.com/stanford-crfm/helm/blob/v0.4.0/src/helm/benchmark/scenarios/synthetic_reasoning_natural_scenario.py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自然言語版は、語彙表で具体語を対応させる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一般属性25種の下に、big→huge / giant、small→tiny / little、old→ancient / antiqueなどの語を登録する。hardの事実は、この具体語で表現される。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規則で使う属性は一般語である。正解の属性も一般語で出力され、採点時に同義語を別途まとめる処理はない。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mediumは公式実装の説明に登場するが、Classic v0.4.0の公開run仕様はeasyとhardを使う。本資料もこの2設定を対象とする。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SRNScenario,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https://github.com/stanford-crfm/helm/blob/v0.4.0/src/helm/benchmark/scenarios/synthetic_reasoning_natural_scenario.py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公式クラスを固定seedで初期化する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618488"/>
            <a:ext cx="8046720" cy="218846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helm.benchmark.scenarios import (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synthetic_reasoning_scenario as sym,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synthetic_reasoning_natural_scenario as nl,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 = sym.SyntheticReasoningScenario(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mode="variable_substitution", random_seed=42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example = a.get_instances("unused")[6000]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71543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v0.4.0を使う。index6000は、生成順で最初のtest例。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生成器の初期化と乱数系列を固定する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抽象版はNumPyのRandomStateをインスタンスの初期化時に作る。同じオブジェクトでget_instancesを繰り返すと乱数の位置が進むため、再生成には同じseedで新たに初期化する。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自然言語版はget_instancesの開始時にPython random.seedを設定する。呼出しごとに同じseedから生成を始める。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本資料は各モード・難度を新規に初期化した。入力・正解・モード・seed・indexと、未改変の公式ソースのSHA-256を原記録に保存した。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v0.4.0 公式生成器。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HELMの範囲と公開実行を対応させる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Classic v0.4.0の公開run仕様は、抽象3課題と自然言語2難度に各69実行、合計345実行を含む。比較表には3系列のモデルから計15実行を選んだ。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元run suiteはすべてv0.3.0。15実行の評価対象は各試行valid485 + test515で、本文の表はtest515だけを使う。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Llama 2 70Bは各1試行、text-davinci-003とOPT-175Bは各3試行。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採点と生成の詳細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HELMの制作と、先行研究の役割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HELMはStanford CRFMのPercy Liangらによる評価基盤で、2022年に公開され、2023年にTMLRへ掲載された。Synthetic Reasoningの生成器と結果も、その基盤の一部として公開された。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HELMの貢献者一覧には、Eric ZelikmanとQian Huangが合成推論シナリオを実装したことが記されている。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LIMEの第一著者Yuhuai Wuらは合成課題での事前学習を研究し、Clark、Tafjord、Richardsonは自然言語による規則推論を研究した。これらはHELMの課題設計の出発点となった。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制作・関連研究と参考文献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Wu et al. (2021). LIME: Learning Inductive Bias for Primitives of Mathematical Reasoning. ICML.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https://proceedings.mlr.press/v139/wu21c.html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制作・関連研究と参考文献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Liang et al. (2023). Holistic Evaluation of Language Models. TMLR.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12264"/>
            <a:ext cx="7955279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複数のシナリオと指標を用いて汎用言語モデルを評価する。抽象・自然言語の合成推論課題も、この評価枠組みに含まれる。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4261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Wu et al. (2021). LIME: Learning Inductive Bias for Primitives of Mathematical Reasoning. ICML.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66744"/>
            <a:ext cx="7955279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演繹・帰納・仮説推論の基本操作を合成データで事前学習し、数学的推論への効果を検証した。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3"/>
              </a:rPr>
              <a:t>https://proceedings.mlr.press/v139/wu21c.html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制作・関連研究と参考文献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Clark, Tafjord &amp; Richardson (2020). Transformers as Soft Reasoners over Language. IJCAI.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12264"/>
            <a:ext cx="7955279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自然言語で記した規則と事実をTransformerへ与え、推論を言語の処理として扱う枠組みと実験を示した。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4261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https://arxiv.org/abs/2002.05867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Stanford CRFM. HELM v0.4.0 公式生成器。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66744"/>
            <a:ext cx="7955279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抽象版と自然言語版の生成器、課題の設定、採点実装を含む固定タグの公式コード。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https://github.com/stanford-crfm/helm/tree/v0.4.0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2026-10-18T07:30:24Z</dcterms:modified>
  <dc:title>synthetic-reasoning</dc:title>
  <dc:creator>sasakiy84</dc:creator>
  <dcterms:created xsi:type="dcterms:W3CDTF">2026-10-18T07:30:24Z</dcterms:created>
  <dc:language>ja-JP</dc:language>
</cp:coreProperties>
</file>