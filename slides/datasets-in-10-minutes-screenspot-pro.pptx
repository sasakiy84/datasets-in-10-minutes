
<file path=[Content_Types].xml><?xml version="1.0" encoding="utf-8"?>
<Types xmlns="http://schemas.openxmlformats.org/package/2006/content-types">
  <Default Extension="jpg" ContentType="image/jpeg"/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  <Override PartName="/ppt/webextensions/taskpanes.xml" ContentType="application/vnd.ms-office.webextensiontaskpanes+xml"/>
  <Override PartName="/ppt/webextensions/webextension1.xml" ContentType="application/vnd.ms-office.webextension+xml"/>
</Types>
</file>

<file path=_rels/.rels><?xml version='1.0' encoding='UTF-8' standalone='yes'?>
<Relationships xmlns="http://schemas.openxmlformats.org/package/2006/relationships"><Relationship Id="rId1" Type="http://schemas.microsoft.com/office/2011/relationships/webextensiontaskpanes" Target="ppt/webextensions/taskpanes.xml"/><Relationship Id="rId2" Type="http://schemas.openxmlformats.org/officeDocument/2006/relationships/officeDocument" Target="ppt/presentation.xml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embedTrueTypeFonts="1" saveSubsetFonts="1" autoCompressPictures="0">
  <p:sldMasterIdLst>
    <p:sldMasterId id="2147483662" r:id="rId1"/>
  </p:sldMasterIdLst>
  <p:sldIdLst>
    <p:sldId id="256" r:id="rId6"/>
    <p:sldId id="257" r:id="rId7"/>
    <p:sldId id="258" r:id="rId8"/>
    <p:sldId id="259" r:id="rId9"/>
    <p:sldId id="260" r:id="rId10"/>
    <p:sldId id="261" r:id="rId5"/>
    <p:sldId id="262" r:id="rId4"/>
    <p:sldId id="263" r:id="rId3"/>
    <p:sldId id="264" r:id="rId2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  <p:sldId id="295" r:id="rId45"/>
    <p:sldId id="296" r:id="rId46"/>
    <p:sldId id="297" r:id="rId47"/>
    <p:sldId id="298" r:id="rId48"/>
    <p:sldId id="299" r:id="rId49"/>
    <p:sldId id="300" r:id="rId50"/>
    <p:sldId id="301" r:id="rId51"/>
    <p:sldId id="302" r:id="rId52"/>
    <p:sldId id="303" r:id="rId53"/>
    <p:sldId id="304" r:id="rId54"/>
    <p:sldId id="305" r:id="rId55"/>
    <p:sldId id="306" r:id="rId56"/>
    <p:sldId id="307" r:id="rId57"/>
    <p:sldId id="308" r:id="rId58"/>
    <p:sldId id="309" r:id="rId59"/>
    <p:sldId id="310" r:id="rId60"/>
    <p:sldId id="311" r:id="rId61"/>
    <p:sldId id="312" r:id="rId62"/>
    <p:sldId id="313" r:id="rId63"/>
    <p:sldId id="314" r:id="rId64"/>
    <p:sldId id="315" r:id="rId65"/>
    <p:sldId id="316" r:id="rId66"/>
    <p:sldId id="317" r:id="rId67"/>
    <p:sldId id="318" r:id="rId68"/>
    <p:sldId id="319" r:id="rId69"/>
    <p:sldId id="320" r:id="rId70"/>
  </p:sldIdLst>
  <p:sldSz cx="9144000" cy="5143500" type="screen16x9"/>
  <p:notesSz cx="6858000" cy="9144000"/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Noto Sans CJK JP"/>
      <a:defRPr sz="1400" b="0" i="0" u="none" strike="noStrike" cap="none" lang="ja-JP">
        <a:solidFill>
          <a:srgbClr val="000000"/>
        </a:solidFill>
        <a:latin typeface="Noto Sans"/>
        <a:ea typeface="Noto Sans CJK JP"/>
        <a:cs typeface="Noto Sans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Noto Sans CJK JP"/>
      <a:defRPr sz="1400" b="0" i="0" u="none" strike="noStrike" cap="none" lang="ja-JP">
        <a:solidFill>
          <a:srgbClr val="000000"/>
        </a:solidFill>
        <a:latin typeface="Noto Sans"/>
        <a:ea typeface="Noto Sans CJK JP"/>
        <a:cs typeface="Noto Sans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Noto Sans CJK JP"/>
      <a:defRPr sz="1400" b="0" i="0" u="none" strike="noStrike" cap="none" lang="ja-JP">
        <a:solidFill>
          <a:srgbClr val="000000"/>
        </a:solidFill>
        <a:latin typeface="Noto Sans"/>
        <a:ea typeface="Noto Sans CJK JP"/>
        <a:cs typeface="Noto Sans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Noto Sans CJK JP"/>
      <a:defRPr sz="1400" b="0" i="0" u="none" strike="noStrike" cap="none" lang="ja-JP">
        <a:solidFill>
          <a:srgbClr val="000000"/>
        </a:solidFill>
        <a:latin typeface="Noto Sans"/>
        <a:ea typeface="Noto Sans CJK JP"/>
        <a:cs typeface="Noto Sans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Noto Sans CJK JP"/>
      <a:defRPr sz="1400" b="0" i="0" u="none" strike="noStrike" cap="none" lang="ja-JP">
        <a:solidFill>
          <a:srgbClr val="000000"/>
        </a:solidFill>
        <a:latin typeface="Noto Sans"/>
        <a:ea typeface="Noto Sans CJK JP"/>
        <a:cs typeface="Noto Sans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Noto Sans CJK JP"/>
      <a:defRPr sz="1400" b="0" i="0" u="none" strike="noStrike" cap="none" lang="ja-JP">
        <a:solidFill>
          <a:srgbClr val="000000"/>
        </a:solidFill>
        <a:latin typeface="Noto Sans"/>
        <a:ea typeface="Noto Sans CJK JP"/>
        <a:cs typeface="Noto Sans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Noto Sans CJK JP"/>
      <a:defRPr sz="1400" b="0" i="0" u="none" strike="noStrike" cap="none" lang="ja-JP">
        <a:solidFill>
          <a:srgbClr val="000000"/>
        </a:solidFill>
        <a:latin typeface="Noto Sans"/>
        <a:ea typeface="Noto Sans CJK JP"/>
        <a:cs typeface="Noto Sans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Noto Sans CJK JP"/>
      <a:defRPr sz="1400" b="0" i="0" u="none" strike="noStrike" cap="none" lang="ja-JP">
        <a:solidFill>
          <a:srgbClr val="000000"/>
        </a:solidFill>
        <a:latin typeface="Noto Sans"/>
        <a:ea typeface="Noto Sans CJK JP"/>
        <a:cs typeface="Noto Sans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Noto Sans CJK JP"/>
      <a:defRPr sz="1400" b="0" i="0" u="none" strike="noStrike" cap="none" lang="ja-JP">
        <a:solidFill>
          <a:srgbClr val="000000"/>
        </a:solidFill>
        <a:latin typeface="Noto Sans"/>
        <a:ea typeface="Noto Sans CJK JP"/>
        <a:cs typeface="Noto Sans"/>
        <a:sym typeface="Arial"/>
      </a:defRPr>
    </a:lvl9pPr>
  </p:defaultTextStyle>
  <p:extLst>
    <p:ext uri="{EFAFB233-063F-42B5-8137-9DF3F51BA10A}">
      <p15:sldGuideLst xmlns:p15="http://schemas.microsoft.com/office/powerpoint/2012/main">
        <p15:guide id="1" orient="horz" pos="590">
          <p15:clr>
            <a:srgbClr val="747775"/>
          </p15:clr>
        </p15:guide>
        <p15:guide id="2" pos="1271">
          <p15:clr>
            <a:srgbClr val="747775"/>
          </p15:clr>
        </p15:guide>
        <p15:guide id="3" orient="horz" pos="1584">
          <p15:clr>
            <a:srgbClr val="747775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 useTimings="0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1E77B4"/>
    <a:srgbClr val="7A81FF"/>
    <a:srgbClr val="0096FF"/>
    <a:srgbClr val="011893"/>
    <a:srgbClr val="B13731"/>
    <a:srgbClr val="EF8600"/>
    <a:srgbClr val="FFCD8C"/>
    <a:srgbClr val="0036FF"/>
    <a:srgbClr val="00D989"/>
    <a:srgbClr val="01D8A1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FD8A3C8B-3693-4FF3-BE57-18EF887A9C23}">
  <a:tblStyle styleId="{FD8A3C8B-3693-4FF3-BE57-18EF887A9C23}" styleName="Table_0">
    <a:wholeTbl>
      <a:tcTxStyle>
        <a:font>
          <a:latin typeface="Noto Sans"/>
          <a:ea typeface="Noto Sans CJK JP"/>
          <a:cs typeface="Noto Sans"/>
        </a:font>
        <a:srgbClr val="000000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5240" cap="flat">
              <a:solidFill>
                <a:srgbClr val="626669"/>
              </a:solidFill>
              <a:prstDash val="solid"/>
            </a:ln>
          </a:top>
          <a:bottom>
            <a:ln w="15240" cap="flat">
              <a:solidFill>
                <a:srgbClr val="626669"/>
              </a:solidFill>
              <a:prstDash val="solid"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</a:tcStyle>
    </a:wholeTbl>
    <a:band1H>
      <a:tcTxStyle/>
      <a:tcStyle>
        <a:tcBdr/>
      </a:tcStyle>
    </a:band1H>
    <a:band2H>
      <a:tcTxStyle/>
      <a:tcStyle>
        <a:tcBdr/>
      </a:tcStyle>
    </a:band2H>
    <a:band1V>
      <a:tcTxStyle/>
      <a:tcStyle>
        <a:tcBdr/>
      </a:tcStyle>
    </a:band1V>
    <a:band2V>
      <a:tcTxStyle/>
      <a:tcStyle>
        <a:tcBdr/>
      </a:tcStyle>
    </a:band2V>
    <a:lastCol>
      <a:tcTxStyle/>
      <a:tcStyle>
        <a:tcBdr/>
      </a:tcStyle>
    </a:lastCol>
    <a:firstCol>
      <a:tcTxStyle/>
      <a:tcStyle>
        <a:tcBdr/>
      </a:tcStyle>
    </a:firstCol>
    <a:lastRow>
      <a:tcTxStyle/>
      <a:tcStyle>
        <a:tcBdr>
          <a:bottom>
            <a:ln w="15240" cap="flat">
              <a:solidFill>
                <a:srgbClr val="626669"/>
              </a:solidFill>
              <a:prstDash val="solid"/>
            </a:ln>
          </a:bottom>
        </a:tcBdr>
      </a:tcStyle>
    </a:lastRow>
    <a:seCell>
      <a:tcTxStyle/>
      <a:tcStyle>
        <a:tcBdr/>
      </a:tcStyle>
    </a:seCell>
    <a:swCell>
      <a:tcTxStyle/>
      <a:tcStyle>
        <a:tcBdr/>
      </a:tcStyle>
    </a:swCell>
    <a:firstRow>
      <a:tcTxStyle/>
      <a:tcStyle>
        <a:tcBdr>
          <a:top>
            <a:ln w="15240" cap="flat">
              <a:solidFill>
                <a:srgbClr val="626669"/>
              </a:solidFill>
              <a:prstDash val="solid"/>
            </a:ln>
          </a:top>
          <a:bottom>
            <a:ln w="7620" cap="flat">
              <a:solidFill>
                <a:srgbClr val="626669"/>
              </a:solidFill>
              <a:prstDash val="solid"/>
            </a:ln>
          </a:bottom>
        </a:tcBdr>
      </a:tcStyle>
    </a:firstRow>
    <a:neCell>
      <a:tcTxStyle/>
      <a:tcStyle>
        <a:tcBdr/>
      </a:tcStyle>
    </a:neCell>
    <a:nwCell>
      <a:tcTxStyle/>
      <a:tcStyle>
        <a:tcBdr/>
      </a:tcStyle>
    </a:nwCel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1082"/>
    <p:restoredTop sz="87828"/>
  </p:normalViewPr>
  <p:slideViewPr>
    <p:cSldViewPr snapToGrid="0">
      <p:cViewPr varScale="1">
        <p:scale>
          <a:sx n="169" d="100"/>
          <a:sy n="169" d="100"/>
        </p:scale>
        <p:origin x="520" y="192"/>
      </p:cViewPr>
      <p:guideLst>
        <p:guide orient="horz" pos="590"/>
        <p:guide pos="1271"/>
        <p:guide orient="horz" pos="1584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9.xml"/><Relationship Id="rId3" Type="http://schemas.openxmlformats.org/officeDocument/2006/relationships/slide" Target="slides/slide8.xml"/><Relationship Id="rId4" Type="http://schemas.openxmlformats.org/officeDocument/2006/relationships/slide" Target="slides/slide7.xml"/><Relationship Id="rId5" Type="http://schemas.openxmlformats.org/officeDocument/2006/relationships/slide" Target="slides/slide6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9" Type="http://schemas.openxmlformats.org/officeDocument/2006/relationships/slide" Target="slides/slide4.xml"/><Relationship Id="rId10" Type="http://schemas.openxmlformats.org/officeDocument/2006/relationships/slide" Target="slides/slide5.xml"/><Relationship Id="rId11" Type="http://schemas.openxmlformats.org/officeDocument/2006/relationships/presProps" Target="presProps.xml"/><Relationship Id="rId12" Type="http://schemas.openxmlformats.org/officeDocument/2006/relationships/viewProps" Target="viewProps.xml"/><Relationship Id="rId13" Type="http://schemas.openxmlformats.org/officeDocument/2006/relationships/theme" Target="theme/theme1.xml"/><Relationship Id="rId14" Type="http://schemas.openxmlformats.org/officeDocument/2006/relationships/tableStyles" Target="tableStyles.xml"/><Relationship Id="rId15" Type="http://schemas.openxmlformats.org/officeDocument/2006/relationships/slide" Target="slides/slide10.xml"/><Relationship Id="rId16" Type="http://schemas.openxmlformats.org/officeDocument/2006/relationships/slide" Target="slides/slide11.xml"/><Relationship Id="rId17" Type="http://schemas.openxmlformats.org/officeDocument/2006/relationships/slide" Target="slides/slide12.xml"/><Relationship Id="rId18" Type="http://schemas.openxmlformats.org/officeDocument/2006/relationships/slide" Target="slides/slide13.xml"/><Relationship Id="rId19" Type="http://schemas.openxmlformats.org/officeDocument/2006/relationships/slide" Target="slides/slide14.xml"/><Relationship Id="rId20" Type="http://schemas.openxmlformats.org/officeDocument/2006/relationships/slide" Target="slides/slide15.xml"/><Relationship Id="rId21" Type="http://schemas.openxmlformats.org/officeDocument/2006/relationships/slide" Target="slides/slide16.xml"/><Relationship Id="rId22" Type="http://schemas.openxmlformats.org/officeDocument/2006/relationships/slide" Target="slides/slide17.xml"/><Relationship Id="rId23" Type="http://schemas.openxmlformats.org/officeDocument/2006/relationships/slide" Target="slides/slide18.xml"/><Relationship Id="rId24" Type="http://schemas.openxmlformats.org/officeDocument/2006/relationships/slide" Target="slides/slide19.xml"/><Relationship Id="rId25" Type="http://schemas.openxmlformats.org/officeDocument/2006/relationships/slide" Target="slides/slide20.xml"/><Relationship Id="rId26" Type="http://schemas.openxmlformats.org/officeDocument/2006/relationships/slide" Target="slides/slide21.xml"/><Relationship Id="rId27" Type="http://schemas.openxmlformats.org/officeDocument/2006/relationships/slide" Target="slides/slide22.xml"/><Relationship Id="rId28" Type="http://schemas.openxmlformats.org/officeDocument/2006/relationships/slide" Target="slides/slide23.xml"/><Relationship Id="rId29" Type="http://schemas.openxmlformats.org/officeDocument/2006/relationships/slide" Target="slides/slide24.xml"/><Relationship Id="rId30" Type="http://schemas.openxmlformats.org/officeDocument/2006/relationships/slide" Target="slides/slide25.xml"/><Relationship Id="rId31" Type="http://schemas.openxmlformats.org/officeDocument/2006/relationships/slide" Target="slides/slide26.xml"/><Relationship Id="rId32" Type="http://schemas.openxmlformats.org/officeDocument/2006/relationships/slide" Target="slides/slide27.xml"/><Relationship Id="rId33" Type="http://schemas.openxmlformats.org/officeDocument/2006/relationships/slide" Target="slides/slide28.xml"/><Relationship Id="rId34" Type="http://schemas.openxmlformats.org/officeDocument/2006/relationships/slide" Target="slides/slide29.xml"/><Relationship Id="rId35" Type="http://schemas.openxmlformats.org/officeDocument/2006/relationships/slide" Target="slides/slide30.xml"/><Relationship Id="rId36" Type="http://schemas.openxmlformats.org/officeDocument/2006/relationships/slide" Target="slides/slide31.xml"/><Relationship Id="rId37" Type="http://schemas.openxmlformats.org/officeDocument/2006/relationships/slide" Target="slides/slide32.xml"/><Relationship Id="rId38" Type="http://schemas.openxmlformats.org/officeDocument/2006/relationships/slide" Target="slides/slide33.xml"/><Relationship Id="rId39" Type="http://schemas.openxmlformats.org/officeDocument/2006/relationships/slide" Target="slides/slide34.xml"/><Relationship Id="rId40" Type="http://schemas.openxmlformats.org/officeDocument/2006/relationships/slide" Target="slides/slide35.xml"/><Relationship Id="rId41" Type="http://schemas.openxmlformats.org/officeDocument/2006/relationships/slide" Target="slides/slide36.xml"/><Relationship Id="rId42" Type="http://schemas.openxmlformats.org/officeDocument/2006/relationships/slide" Target="slides/slide37.xml"/><Relationship Id="rId43" Type="http://schemas.openxmlformats.org/officeDocument/2006/relationships/slide" Target="slides/slide38.xml"/><Relationship Id="rId44" Type="http://schemas.openxmlformats.org/officeDocument/2006/relationships/slide" Target="slides/slide39.xml"/><Relationship Id="rId45" Type="http://schemas.openxmlformats.org/officeDocument/2006/relationships/slide" Target="slides/slide40.xml"/><Relationship Id="rId46" Type="http://schemas.openxmlformats.org/officeDocument/2006/relationships/slide" Target="slides/slide41.xml"/><Relationship Id="rId47" Type="http://schemas.openxmlformats.org/officeDocument/2006/relationships/slide" Target="slides/slide42.xml"/><Relationship Id="rId48" Type="http://schemas.openxmlformats.org/officeDocument/2006/relationships/slide" Target="slides/slide43.xml"/><Relationship Id="rId49" Type="http://schemas.openxmlformats.org/officeDocument/2006/relationships/slide" Target="slides/slide44.xml"/><Relationship Id="rId50" Type="http://schemas.openxmlformats.org/officeDocument/2006/relationships/slide" Target="slides/slide45.xml"/><Relationship Id="rId51" Type="http://schemas.openxmlformats.org/officeDocument/2006/relationships/slide" Target="slides/slide46.xml"/><Relationship Id="rId52" Type="http://schemas.openxmlformats.org/officeDocument/2006/relationships/slide" Target="slides/slide47.xml"/><Relationship Id="rId53" Type="http://schemas.openxmlformats.org/officeDocument/2006/relationships/slide" Target="slides/slide48.xml"/><Relationship Id="rId54" Type="http://schemas.openxmlformats.org/officeDocument/2006/relationships/slide" Target="slides/slide49.xml"/><Relationship Id="rId55" Type="http://schemas.openxmlformats.org/officeDocument/2006/relationships/slide" Target="slides/slide50.xml"/><Relationship Id="rId56" Type="http://schemas.openxmlformats.org/officeDocument/2006/relationships/slide" Target="slides/slide51.xml"/><Relationship Id="rId57" Type="http://schemas.openxmlformats.org/officeDocument/2006/relationships/slide" Target="slides/slide52.xml"/><Relationship Id="rId58" Type="http://schemas.openxmlformats.org/officeDocument/2006/relationships/slide" Target="slides/slide53.xml"/><Relationship Id="rId59" Type="http://schemas.openxmlformats.org/officeDocument/2006/relationships/slide" Target="slides/slide54.xml"/><Relationship Id="rId60" Type="http://schemas.openxmlformats.org/officeDocument/2006/relationships/slide" Target="slides/slide55.xml"/><Relationship Id="rId61" Type="http://schemas.openxmlformats.org/officeDocument/2006/relationships/slide" Target="slides/slide56.xml"/><Relationship Id="rId62" Type="http://schemas.openxmlformats.org/officeDocument/2006/relationships/slide" Target="slides/slide57.xml"/><Relationship Id="rId63" Type="http://schemas.openxmlformats.org/officeDocument/2006/relationships/slide" Target="slides/slide58.xml"/><Relationship Id="rId64" Type="http://schemas.openxmlformats.org/officeDocument/2006/relationships/slide" Target="slides/slide59.xml"/><Relationship Id="rId65" Type="http://schemas.openxmlformats.org/officeDocument/2006/relationships/slide" Target="slides/slide60.xml"/><Relationship Id="rId66" Type="http://schemas.openxmlformats.org/officeDocument/2006/relationships/slide" Target="slides/slide61.xml"/><Relationship Id="rId67" Type="http://schemas.openxmlformats.org/officeDocument/2006/relationships/slide" Target="slides/slide62.xml"/><Relationship Id="rId68" Type="http://schemas.openxmlformats.org/officeDocument/2006/relationships/slide" Target="slides/slide63.xml"/><Relationship Id="rId69" Type="http://schemas.openxmlformats.org/officeDocument/2006/relationships/slide" Target="slides/slide64.xml"/><Relationship Id="rId70" Type="http://schemas.openxmlformats.org/officeDocument/2006/relationships/slide" Target="slides/slide65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style val="10"/>
  <c:chart>
    <c:autoTitleDeleted val="1"/>
    <c:plotArea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課題数</c:v>
                </c:pt>
              </c:strCache>
            </c:strRef>
          </c:tx>
          <c:spPr>
            <a:solidFill>
              <a:srgbClr val="2C9100"/>
            </a:solidFill>
            <a:ln>
              <a:noFill/>
            </a:ln>
          </c:spPr>
          <c:cat>
            <c:strRef>
              <c:f>Sheet1!$A$2:$A$7</c:f>
              <c:strCache>
                <c:ptCount val="6"/>
                <c:pt idx="0">
                  <c:v>OS共通</c:v>
                </c:pt>
                <c:pt idx="1">
                  <c:v>オフィス</c:v>
                </c:pt>
                <c:pt idx="2">
                  <c:v>科学・分析</c:v>
                </c:pt>
                <c:pt idx="3">
                  <c:v>CAD・工学</c:v>
                </c:pt>
                <c:pt idx="4">
                  <c:v>開発</c:v>
                </c:pt>
                <c:pt idx="5">
                  <c:v>制作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196</c:v>
                </c:pt>
                <c:pt idx="1">
                  <c:v>230</c:v>
                </c:pt>
                <c:pt idx="2">
                  <c:v>254</c:v>
                </c:pt>
                <c:pt idx="3">
                  <c:v>261</c:v>
                </c:pt>
                <c:pt idx="4">
                  <c:v>299</c:v>
                </c:pt>
                <c:pt idx="5">
                  <c:v>341</c:v>
                </c:pt>
              </c:numCache>
            </c:numRef>
          </c:val>
        </c:ser>
        <c:dLbls>
          <c:txPr>
            <a:bodyPr/>
            <a:lstStyle/>
            <a:p>
              <a:pPr>
                <a:defRPr sz="1500">
                  <a:latin typeface="Noto Sans CJK JP"/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60"/>
        <c:axId val="2226939960"/>
        <c:axId val="2180972856"/>
      </c:barChart>
      <c:catAx>
        <c:axId val="2226939960"/>
        <c:scaling>
          <c:orientation val="minMax"/>
        </c:scaling>
        <c:delete val="0"/>
        <c:axPos val="l"/>
        <c:majorTickMark val="none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1300">
                <a:latin typeface="Noto Sans CJK JP"/>
              </a:defRPr>
            </a:pPr>
          </a:p>
        </c:txPr>
        <c:crossAx val="2180972856"/>
        <c:crosses val="autoZero"/>
        <c:auto val="1"/>
        <c:lblAlgn val="ctr"/>
        <c:lblOffset val="100"/>
        <c:tickLblSkip val="1"/>
        <c:noMultiLvlLbl val="0"/>
      </c:catAx>
      <c:valAx>
        <c:axId val="2180972856"/>
        <c:scaling>
          <c:min val="0.0"/>
        </c:scaling>
        <c:delete val="0"/>
        <c:axPos val="b"/>
        <c:majorGridlines>
          <c:spPr>
            <a:ln>
              <a:solidFill>
                <a:srgbClr val="DADDD7"/>
              </a:solidFill>
            </a:ln>
          </c:spPr>
        </c:majorGridlines>
        <c:majorTickMark val="none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1300">
                <a:latin typeface="Noto Sans CJK JP"/>
              </a:defRPr>
            </a:pPr>
          </a:p>
        </c:txPr>
        <c:crossAx val="2226939960"/>
        <c:crosses val="autoZero"/>
      </c:valAx>
      <c:spPr>
        <a:solidFill>
          <a:srgbClr val="FFFEF8"/>
        </a:solidFill>
        <a:ln>
          <a:noFill/>
        </a:ln>
      </c:spPr>
    </c:plotArea>
    <c:dispBlanksAs val="gap"/>
  </c:chart>
  <c:spPr>
    <a:solidFill>
      <a:srgbClr val="FFFEF8"/>
    </a:solidFill>
    <a:ln>
      <a:noFill/>
    </a:ln>
  </c:spPr>
  <c:txPr>
    <a:bodyPr/>
    <a:lstStyle/>
    <a:p>
      <a:pPr>
        <a:defRPr sz="1400">
          <a:latin typeface="Noto Sans CJK JP"/>
        </a:defRPr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style val="10"/>
  <c:chart>
    <c:autoTitleDeleted val="1"/>
    <c:plotArea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課題数</c:v>
                </c:pt>
              </c:strCache>
            </c:strRef>
          </c:tx>
          <c:spPr>
            <a:solidFill>
              <a:srgbClr val="2C9100"/>
            </a:solidFill>
            <a:ln>
              <a:noFill/>
            </a:ln>
          </c:spPr>
          <c:cat>
            <c:strRef>
              <c:f>Sheet1!$A$2:$A$7</c:f>
              <c:strCache>
                <c:ptCount val="6"/>
                <c:pt idx="0">
                  <c:v>その他9種類</c:v>
                </c:pt>
                <c:pt idx="1">
                  <c:v>2160 × 1440</c:v>
                </c:pt>
                <c:pt idx="2">
                  <c:v>3456 × 2234</c:v>
                </c:pt>
                <c:pt idx="3">
                  <c:v>3840 × 1080</c:v>
                </c:pt>
                <c:pt idx="4">
                  <c:v>3840 × 2160</c:v>
                </c:pt>
                <c:pt idx="5">
                  <c:v>2560 × 1440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356</c:v>
                </c:pt>
                <c:pt idx="1">
                  <c:v>99</c:v>
                </c:pt>
                <c:pt idx="2">
                  <c:v>161</c:v>
                </c:pt>
                <c:pt idx="3">
                  <c:v>181</c:v>
                </c:pt>
                <c:pt idx="4">
                  <c:v>270</c:v>
                </c:pt>
                <c:pt idx="5">
                  <c:v>514</c:v>
                </c:pt>
              </c:numCache>
            </c:numRef>
          </c:val>
        </c:ser>
        <c:dLbls>
          <c:txPr>
            <a:bodyPr/>
            <a:lstStyle/>
            <a:p>
              <a:pPr>
                <a:defRPr sz="1500">
                  <a:latin typeface="Noto Sans CJK JP"/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60"/>
        <c:axId val="2226939960"/>
        <c:axId val="2180972856"/>
      </c:barChart>
      <c:catAx>
        <c:axId val="2226939960"/>
        <c:scaling>
          <c:orientation val="minMax"/>
        </c:scaling>
        <c:delete val="0"/>
        <c:axPos val="l"/>
        <c:majorTickMark val="none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1300">
                <a:latin typeface="Noto Sans CJK JP"/>
              </a:defRPr>
            </a:pPr>
          </a:p>
        </c:txPr>
        <c:crossAx val="2180972856"/>
        <c:crosses val="autoZero"/>
        <c:auto val="1"/>
        <c:lblAlgn val="ctr"/>
        <c:lblOffset val="100"/>
        <c:tickLblSkip val="1"/>
        <c:noMultiLvlLbl val="0"/>
      </c:catAx>
      <c:valAx>
        <c:axId val="2180972856"/>
        <c:scaling>
          <c:min val="0.0"/>
        </c:scaling>
        <c:delete val="0"/>
        <c:axPos val="b"/>
        <c:majorGridlines>
          <c:spPr>
            <a:ln>
              <a:solidFill>
                <a:srgbClr val="DADDD7"/>
              </a:solidFill>
            </a:ln>
          </c:spPr>
        </c:majorGridlines>
        <c:majorTickMark val="none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1300">
                <a:latin typeface="Noto Sans CJK JP"/>
              </a:defRPr>
            </a:pPr>
          </a:p>
        </c:txPr>
        <c:crossAx val="2226939960"/>
        <c:crosses val="autoZero"/>
      </c:valAx>
      <c:spPr>
        <a:solidFill>
          <a:srgbClr val="FFFEF8"/>
        </a:solidFill>
        <a:ln>
          <a:noFill/>
        </a:ln>
      </c:spPr>
    </c:plotArea>
    <c:dispBlanksAs val="gap"/>
  </c:chart>
  <c:spPr>
    <a:solidFill>
      <a:srgbClr val="FFFEF8"/>
    </a:solidFill>
    <a:ln>
      <a:noFill/>
    </a:ln>
  </c:spPr>
  <c:txPr>
    <a:bodyPr/>
    <a:lstStyle/>
    <a:p>
      <a:pPr>
        <a:defRPr sz="1400">
          <a:latin typeface="Noto Sans CJK JP"/>
        </a:defRPr>
      </a:pPr>
      <a:endParaRPr lang="en-US"/>
    </a:p>
  </c:txPr>
  <c:externalData r:id="rId1">
    <c:autoUpdate val="0"/>
  </c:externalData>
</c:chartSpace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" type="title">
  <p:cSld name="TITLE">
    <p:spTree>
      <p:nvGrpSpPr>
        <p:cNvPr id="1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>
            <a:spLocks noGrp="1"/>
          </p:cNvSpPr>
          <p:nvPr>
            <p:ph type="ctrTitle"/>
          </p:nvPr>
        </p:nvSpPr>
        <p:spPr>
          <a:xfrm>
            <a:off x="311708" y="1247175"/>
            <a:ext cx="8520600" cy="20526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None/>
              <a:defRPr sz="5200" b="1" lang="ja-JP">
                <a:solidFill>
                  <a:schemeClr val="dk1"/>
                </a:solidFill>
                <a:latin typeface="Noto Sans"/>
                <a:ea typeface="Noto Sans CJK JP"/>
                <a:cs typeface="Noto Sans"/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None/>
              <a:defRPr sz="5200" lang="ja-JP">
                <a:latin typeface="Noto Sans"/>
                <a:ea typeface="Noto Sans CJK JP"/>
                <a:cs typeface="Noto Sans"/>
              </a:defRPr>
            </a:lvl2pPr>
            <a:lvl3pPr lvl="2" algn="ctr">
              <a:spcBef>
                <a:spcPts val="0"/>
              </a:spcBef>
              <a:spcAft>
                <a:spcPts val="0"/>
              </a:spcAft>
              <a:buNone/>
              <a:defRPr sz="5200" lang="ja-JP">
                <a:latin typeface="Noto Sans"/>
                <a:ea typeface="Noto Sans CJK JP"/>
                <a:cs typeface="Noto Sans"/>
              </a:defRPr>
            </a:lvl3pPr>
            <a:lvl4pPr lvl="3" algn="ctr">
              <a:spcBef>
                <a:spcPts val="0"/>
              </a:spcBef>
              <a:spcAft>
                <a:spcPts val="0"/>
              </a:spcAft>
              <a:buNone/>
              <a:defRPr sz="5200" lang="ja-JP">
                <a:latin typeface="Noto Sans"/>
                <a:ea typeface="Noto Sans CJK JP"/>
                <a:cs typeface="Noto Sans"/>
              </a:defRPr>
            </a:lvl4pPr>
            <a:lvl5pPr lvl="4" algn="ctr">
              <a:spcBef>
                <a:spcPts val="0"/>
              </a:spcBef>
              <a:spcAft>
                <a:spcPts val="0"/>
              </a:spcAft>
              <a:buNone/>
              <a:defRPr sz="5200" lang="ja-JP">
                <a:latin typeface="Noto Sans"/>
                <a:ea typeface="Noto Sans CJK JP"/>
                <a:cs typeface="Noto Sans"/>
              </a:defRPr>
            </a:lvl5pPr>
            <a:lvl6pPr lvl="5" algn="ctr">
              <a:spcBef>
                <a:spcPts val="0"/>
              </a:spcBef>
              <a:spcAft>
                <a:spcPts val="0"/>
              </a:spcAft>
              <a:buNone/>
              <a:defRPr sz="5200" lang="ja-JP">
                <a:latin typeface="Noto Sans"/>
                <a:ea typeface="Noto Sans CJK JP"/>
                <a:cs typeface="Noto Sans"/>
              </a:defRPr>
            </a:lvl6pPr>
            <a:lvl7pPr lvl="6" algn="ctr">
              <a:spcBef>
                <a:spcPts val="0"/>
              </a:spcBef>
              <a:spcAft>
                <a:spcPts val="0"/>
              </a:spcAft>
              <a:buNone/>
              <a:defRPr sz="5200" lang="ja-JP">
                <a:latin typeface="Noto Sans"/>
                <a:ea typeface="Noto Sans CJK JP"/>
                <a:cs typeface="Noto Sans"/>
              </a:defRPr>
            </a:lvl7pPr>
            <a:lvl8pPr lvl="7" algn="ctr">
              <a:spcBef>
                <a:spcPts val="0"/>
              </a:spcBef>
              <a:spcAft>
                <a:spcPts val="0"/>
              </a:spcAft>
              <a:buNone/>
              <a:defRPr sz="5200" lang="ja-JP">
                <a:latin typeface="Noto Sans"/>
                <a:ea typeface="Noto Sans CJK JP"/>
                <a:cs typeface="Noto Sans"/>
              </a:defRPr>
            </a:lvl8pPr>
            <a:lvl9pPr lvl="8" algn="ctr">
              <a:spcBef>
                <a:spcPts val="0"/>
              </a:spcBef>
              <a:spcAft>
                <a:spcPts val="0"/>
              </a:spcAft>
              <a:buNone/>
              <a:defRPr sz="5200" lang="ja-JP">
                <a:latin typeface="Noto Sans"/>
                <a:ea typeface="Noto Sans CJK JP"/>
                <a:cs typeface="Noto Sans"/>
              </a:defRPr>
            </a:lvl9pPr>
          </a:lstStyle>
          <a:p>
            <a:endParaRPr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11" name="Google Shape;11;p2"/>
          <p:cNvSpPr txBox="1">
            <a:spLocks noGrp="1"/>
          </p:cNvSpPr>
          <p:nvPr>
            <p:ph type="subTitle" idx="1"/>
          </p:nvPr>
        </p:nvSpPr>
        <p:spPr>
          <a:xfrm>
            <a:off x="311700" y="3657600"/>
            <a:ext cx="8520600" cy="36576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None/>
              <a:defRPr sz="2800" lang="ja-JP">
                <a:solidFill>
                  <a:schemeClr val="dk1"/>
                </a:solidFill>
                <a:latin typeface="Noto Sans"/>
                <a:ea typeface="Noto Sans CJK JP"/>
                <a:cs typeface="Noto Sans"/>
              </a:defRPr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lang="ja-JP">
                <a:latin typeface="Noto Sans"/>
                <a:ea typeface="Noto Sans CJK JP"/>
                <a:cs typeface="Noto Sans"/>
              </a:defRPr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lang="ja-JP">
                <a:latin typeface="Noto Sans"/>
                <a:ea typeface="Noto Sans CJK JP"/>
                <a:cs typeface="Noto Sans"/>
              </a:defRPr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lang="ja-JP">
                <a:latin typeface="Noto Sans"/>
                <a:ea typeface="Noto Sans CJK JP"/>
                <a:cs typeface="Noto Sans"/>
              </a:defRPr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lang="ja-JP">
                <a:latin typeface="Noto Sans"/>
                <a:ea typeface="Noto Sans CJK JP"/>
                <a:cs typeface="Noto Sans"/>
              </a:defRPr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lang="ja-JP">
                <a:latin typeface="Noto Sans"/>
                <a:ea typeface="Noto Sans CJK JP"/>
                <a:cs typeface="Noto Sans"/>
              </a:defRPr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lang="ja-JP">
                <a:latin typeface="Noto Sans"/>
                <a:ea typeface="Noto Sans CJK JP"/>
                <a:cs typeface="Noto Sans"/>
              </a:defRPr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lang="ja-JP">
                <a:latin typeface="Noto Sans"/>
                <a:ea typeface="Noto Sans CJK JP"/>
                <a:cs typeface="Noto Sans"/>
              </a:defRPr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lang="ja-JP">
                <a:latin typeface="Noto Sans"/>
                <a:ea typeface="Noto Sans CJK JP"/>
                <a:cs typeface="Noto Sans"/>
              </a:defRPr>
            </a:lvl9pPr>
          </a:lstStyle>
          <a:p>
            <a:pPr>
              <a:defRPr sz="2200" lang="ja-JP">
                <a:latin typeface="Noto Sans"/>
                <a:ea typeface="Noto Sans CJK JP"/>
                <a:cs typeface="Noto Sans"/>
              </a:defRPr>
            </a:pPr>
            <a:endParaRPr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2" name="Google Shape;22;p5">
            <a:extLst>
              <a:ext uri="{FF2B5EF4-FFF2-40B4-BE49-F238E27FC236}">
                <a16:creationId xmlns:a16="http://schemas.microsoft.com/office/drawing/2014/main" id="{97A17C7E-5073-6B99-C91A-19299DA839DE}"/>
              </a:ext>
            </a:extLst>
          </p:cNvPr>
          <p:cNvSpPr/>
          <p:nvPr userDrawn="1"/>
        </p:nvSpPr>
        <p:spPr>
          <a:xfrm>
            <a:off x="8607898" y="-10450"/>
            <a:ext cx="548701" cy="4797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7" name="Slide Number">
            <a:extLst>
              <a:ext uri="{FF2B5EF4-FFF2-40B4-BE49-F238E27FC236}">
                <a16:creationId xmlns:a16="http://schemas.microsoft.com/office/drawing/2014/main" id="{2BE9CD3C-2632-D40F-DBD2-47ACED4F9A3C}"/>
              </a:ext>
            </a:extLst>
          </p:cNvPr>
          <p:cNvSpPr txBox="1"/>
          <p:nvPr userDrawn="1"/>
        </p:nvSpPr>
        <p:spPr>
          <a:xfrm>
            <a:off x="8412480" y="7937"/>
            <a:ext cx="640080" cy="480059"/>
          </a:xfrm>
          <a:prstGeom prst="rect">
            <a:avLst/>
          </a:prstGeom>
          <a:noFill/>
          <a:ln>
            <a:noFill/>
          </a:ln>
        </p:spPr>
        <p:txBody>
          <a:bodyPr anchor="ctr" lIns="0" tIns="0" bIns="0"/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fld id="{00000000-1234-1234-1234-000000000999}" type="slidenum">
              <a:rPr lang="ja-JP" sz="1800" b="1">
                <a:solidFill>
                  <a:schemeClr val="lt1"/>
                </a:solidFill>
                <a:latin typeface="Noto Sans"/>
                <a:ea typeface="Noto Sans CJK JP"/>
                <a:cs typeface="Noto Sans"/>
              </a:rPr>
              <a:pPr algn="ctr"/>
              <a:t>‹#›</a:t>
            </a:fld>
            <a:endParaRPr lang="ja-JP" sz="1800" b="1" dirty="0">
              <a:latin typeface="Noto Sans"/>
              <a:ea typeface="Noto Sans CJK JP"/>
              <a:cs typeface="Noto Sans"/>
            </a:endParaRPr>
          </a:p>
        </p:txBody>
      </p:sp>
      <p:sp>
        <p:nvSpPr>
          <p:cNvPr id="110" name="Author affiliation"/>
          <p:cNvSpPr txBox="1">
            <a:spLocks noGrp="1"/>
          </p:cNvSpPr>
          <p:nvPr>
            <p:ph type="body" idx="10"/>
          </p:nvPr>
        </p:nvSpPr>
        <p:spPr>
          <a:xfrm>
            <a:off x="5486400" y="4224528"/>
            <a:ext cx="3108960" cy="228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marL="457200" lvl="0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●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1pPr>
            <a:lvl2pPr marL="914400" lvl="1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2pPr>
            <a:lvl3pPr marL="1371600" lvl="2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3pPr>
            <a:lvl4pPr marL="1828800" lvl="3" indent="-3683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0455"/>
              <a:buFont typeface="Noto Sans CJK JP"/>
              <a:buChar char="●"/>
              <a:defRPr sz="22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4pPr>
            <a:lvl5pPr marL="2286000" lvl="4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5pPr>
            <a:lvl6pPr marL="2743200" lvl="5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6pPr>
            <a:lvl7pPr marL="3200400" lvl="6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●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7pPr>
            <a:lvl8pPr marL="3657600" lvl="7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8pPr>
            <a:lvl9pPr marL="4114800" lvl="8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9pPr>
          </a:lstStyle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14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defRPr>
            </a:pPr>
            <a:r>
              <a:t>所属　［所属］</a:t>
            </a:r>
          </a:p>
        </p:txBody>
      </p:sp>
      <p:sp>
        <p:nvSpPr>
          <p:cNvPr id="111" name="Author name"/>
          <p:cNvSpPr txBox="1">
            <a:spLocks noGrp="1"/>
          </p:cNvSpPr>
          <p:nvPr>
            <p:ph type="body" idx="11"/>
          </p:nvPr>
        </p:nvSpPr>
        <p:spPr>
          <a:xfrm>
            <a:off x="5486400" y="4416552"/>
            <a:ext cx="3108960" cy="402336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marL="457200" lvl="0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●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1pPr>
            <a:lvl2pPr marL="914400" lvl="1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2pPr>
            <a:lvl3pPr marL="1371600" lvl="2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3pPr>
            <a:lvl4pPr marL="1828800" lvl="3" indent="-3683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0455"/>
              <a:buFont typeface="Noto Sans CJK JP"/>
              <a:buChar char="●"/>
              <a:defRPr sz="22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4pPr>
            <a:lvl5pPr marL="2286000" lvl="4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5pPr>
            <a:lvl6pPr marL="2743200" lvl="5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6pPr>
            <a:lvl7pPr marL="3200400" lvl="6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●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7pPr>
            <a:lvl8pPr marL="3657600" lvl="7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8pPr>
            <a:lvl9pPr marL="4114800" lvl="8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9pPr>
          </a:lstStyle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20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defRPr>
            </a:pPr>
            <a:r>
              <a: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氏名　［氏名］</a:t>
            </a:r>
          </a:p>
        </p:txBody>
      </p:sp>
      <p:sp>
        <p:nvSpPr>
          <p:cNvPr id="112" name="Creation date"/>
          <p:cNvSpPr txBox="1">
            <a:spLocks noGrp="1"/>
          </p:cNvSpPr>
          <p:nvPr>
            <p:ph type="body" idx="12"/>
          </p:nvPr>
        </p:nvSpPr>
        <p:spPr>
          <a:xfrm>
            <a:off x="457200" y="274320"/>
            <a:ext cx="3657600" cy="228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marL="457200" lvl="0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●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1pPr>
            <a:lvl2pPr marL="914400" lvl="1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2pPr>
            <a:lvl3pPr marL="1371600" lvl="2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3pPr>
            <a:lvl4pPr marL="1828800" lvl="3" indent="-3683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0455"/>
              <a:buFont typeface="Noto Sans CJK JP"/>
              <a:buChar char="●"/>
              <a:defRPr sz="22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4pPr>
            <a:lvl5pPr marL="2286000" lvl="4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5pPr>
            <a:lvl6pPr marL="2743200" lvl="5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6pPr>
            <a:lvl7pPr marL="3200400" lvl="6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●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7pPr>
            <a:lvl8pPr marL="3657600" lvl="7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8pPr>
            <a:lvl9pPr marL="4114800" lvl="8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9pPr>
          </a:lstStyle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14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defRPr>
            </a:pPr>
            <a:r>
              <a:t>作成日　YYYY-MM-DD</a:t>
            </a:r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カスタム レイアウト 1">
  <p:cSld name="CUSTOM">
    <p:spTree>
      <p:nvGrpSpPr>
        <p:cNvPr id="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" name="Google Shape;73;p11"/>
          <p:cNvSpPr/>
          <p:nvPr/>
        </p:nvSpPr>
        <p:spPr>
          <a:xfrm>
            <a:off x="-12600" y="0"/>
            <a:ext cx="9169200" cy="480059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spcFirstLastPara="1" wrap="square" lIns="91425" tIns="0" rIns="91425" bIns="0" anchor="ctr" anchorCtr="0">
            <a:noAutofit/>
          </a:bodyPr>
          <a:lstStyle/>
          <a:p>
            <a:pPr marL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75" name="Google Shape;75;p11"/>
          <p:cNvSpPr txBox="1"/>
          <p:nvPr/>
        </p:nvSpPr>
        <p:spPr>
          <a:xfrm>
            <a:off x="76100" y="0"/>
            <a:ext cx="8059500" cy="48005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0" rIns="91425" bIns="0" anchor="ctr" anchorCtr="0">
            <a:norm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400" b="1" lang="ja-JP" altLang="en-US">
                <a:latin typeface="Noto Sans"/>
                <a:ea typeface="Noto Sans CJK JP"/>
                <a:cs typeface="Noto Sans"/>
              </a:defRPr>
            </a:pPr>
            <a:r>
              <a:rPr lang="ja-JP" altLang="en-US" b="1" dirty="0" sz="1400">
                <a:solidFill>
                  <a:schemeClr val="lt1"/>
                </a:solidFill>
                <a:latin typeface="Noto Sans"/>
                <a:ea typeface="Noto Sans CJK JP"/>
                <a:cs typeface="Noto Sans"/>
              </a:rPr>
              <a:t>T</a:t>
            </a:r>
            <a:r>
              <a:rPr lang="ja-JP" b="1" dirty="0" sz="1400" altLang="en-US">
                <a:solidFill>
                  <a:schemeClr val="lt1"/>
                </a:solidFill>
                <a:latin typeface="Noto Sans"/>
                <a:ea typeface="Noto Sans CJK JP"/>
                <a:cs typeface="Noto Sans"/>
              </a:rPr>
              <a:t>able of </a:t>
            </a:r>
            <a:r>
              <a:rPr lang="ja-JP" altLang="en-US" b="1" dirty="0" sz="1400">
                <a:solidFill>
                  <a:schemeClr val="lt1"/>
                </a:solidFill>
                <a:latin typeface="Noto Sans"/>
                <a:ea typeface="Noto Sans CJK JP"/>
                <a:cs typeface="Noto Sans"/>
              </a:rPr>
              <a:t>C</a:t>
            </a:r>
            <a:r>
              <a:rPr lang="ja-JP" b="1" dirty="0" sz="1400" altLang="en-US">
                <a:solidFill>
                  <a:schemeClr val="lt1"/>
                </a:solidFill>
                <a:latin typeface="Noto Sans"/>
                <a:ea typeface="Noto Sans CJK JP"/>
                <a:cs typeface="Noto Sans"/>
              </a:rPr>
              <a:t>ontents</a:t>
            </a:r>
            <a:endParaRPr b="1" dirty="0" lang="ja-JP" sz="1400" altLang="en-US">
              <a:solidFill>
                <a:schemeClr val="lt1"/>
              </a:solidFill>
              <a:latin typeface="Noto Sans"/>
              <a:ea typeface="Noto Sans CJK JP"/>
              <a:cs typeface="Noto Sans"/>
            </a:endParaRPr>
          </a:p>
        </p:txBody>
      </p:sp>
      <p:sp>
        <p:nvSpPr>
          <p:cNvPr id="76" name="Google Shape;76;p11"/>
          <p:cNvSpPr txBox="1"/>
          <p:nvPr/>
        </p:nvSpPr>
        <p:spPr>
          <a:xfrm>
            <a:off x="1236712" y="842226"/>
            <a:ext cx="5764979" cy="59397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Font typeface="Noto Sans CJK JP"/>
              <a:buNone/>
              <a:tabLst/>
              <a:defRPr lang="ja-JP">
                <a:latin typeface="Noto Sans"/>
                <a:ea typeface="Noto Sans CJK JP"/>
                <a:cs typeface="Noto Sans"/>
              </a:defRPr>
            </a:pPr>
            <a:r>
              <a:rPr lang="ja-JP" sz="2800" b="1" dirty="0">
                <a:solidFill>
                  <a:schemeClr val="accent2"/>
                </a:solidFill>
                <a:latin typeface="Noto Sans"/>
                <a:ea typeface="Noto Sans CJK JP"/>
                <a:cs typeface="Noto Sans"/>
              </a:rPr>
              <a:t>1.</a:t>
            </a:r>
            <a:r>
              <a:rPr lang="ja-JP" altLang="ja" sz="2800" b="1" dirty="0">
                <a:solidFill>
                  <a:schemeClr val="accent2"/>
                </a:solidFill>
                <a:latin typeface="Noto Sans"/>
                <a:ea typeface="Noto Sans CJK JP"/>
                <a:cs typeface="Noto Sans"/>
              </a:rPr>
              <a:t> </a:t>
            </a:r>
            <a:r>
              <a:rPr lang="ja-JP" altLang="ja" sz="2800" b="1" dirty="0">
                <a:solidFill>
                  <a:schemeClr val="dk1"/>
                </a:solidFill>
                <a:latin typeface="Noto Sans"/>
                <a:ea typeface="Noto Sans CJK JP"/>
                <a:cs typeface="Noto Sans"/>
              </a:rPr>
              <a:t>Background &amp; Purpose</a:t>
            </a:r>
            <a:endParaRPr lang="ja-JP" altLang="ja-JP" sz="2800" b="1" dirty="0">
              <a:solidFill>
                <a:schemeClr val="dk1"/>
              </a:solidFill>
              <a:latin typeface="Noto Sans"/>
              <a:ea typeface="Noto Sans CJK JP"/>
              <a:cs typeface="Noto Sans"/>
            </a:endParaRPr>
          </a:p>
        </p:txBody>
      </p:sp>
      <p:sp>
        <p:nvSpPr>
          <p:cNvPr id="79" name="Google Shape;79;p11"/>
          <p:cNvSpPr txBox="1"/>
          <p:nvPr/>
        </p:nvSpPr>
        <p:spPr>
          <a:xfrm>
            <a:off x="1236712" y="1664913"/>
            <a:ext cx="5412281" cy="59397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Font typeface="Noto Sans CJK JP"/>
              <a:buNone/>
              <a:tabLst/>
              <a:defRPr lang="ja-JP">
                <a:latin typeface="Noto Sans"/>
                <a:ea typeface="Noto Sans CJK JP"/>
                <a:cs typeface="Noto Sans"/>
              </a:defRPr>
            </a:pPr>
            <a:r>
              <a:rPr lang="ja-JP" sz="2800" b="1" dirty="0">
                <a:solidFill>
                  <a:schemeClr val="accent2"/>
                </a:solidFill>
                <a:latin typeface="Noto Sans"/>
                <a:ea typeface="Noto Sans CJK JP"/>
                <a:cs typeface="Noto Sans"/>
              </a:rPr>
              <a:t>2.</a:t>
            </a:r>
            <a:r>
              <a:rPr lang="ja-JP" altLang="ja" sz="2800" b="1" dirty="0">
                <a:solidFill>
                  <a:schemeClr val="accent2"/>
                </a:solidFill>
                <a:latin typeface="Noto Sans"/>
                <a:ea typeface="Noto Sans CJK JP"/>
                <a:cs typeface="Noto Sans"/>
              </a:rPr>
              <a:t> </a:t>
            </a:r>
            <a:r>
              <a:rPr lang="ja-JP" altLang="ja" sz="2800" b="1" dirty="0">
                <a:solidFill>
                  <a:schemeClr val="dk1"/>
                </a:solidFill>
                <a:latin typeface="Noto Sans"/>
                <a:ea typeface="Noto Sans CJK JP"/>
                <a:cs typeface="Noto Sans"/>
              </a:rPr>
              <a:t>Methodology</a:t>
            </a:r>
            <a:endParaRPr lang="ja-JP" altLang="ja-JP" sz="2800" b="1" dirty="0">
              <a:solidFill>
                <a:schemeClr val="dk1"/>
              </a:solidFill>
              <a:latin typeface="Noto Sans"/>
              <a:ea typeface="Noto Sans CJK JP"/>
              <a:cs typeface="Noto Sans"/>
            </a:endParaRPr>
          </a:p>
        </p:txBody>
      </p:sp>
      <p:sp>
        <p:nvSpPr>
          <p:cNvPr id="82" name="Google Shape;82;p11"/>
          <p:cNvSpPr txBox="1"/>
          <p:nvPr/>
        </p:nvSpPr>
        <p:spPr>
          <a:xfrm>
            <a:off x="1236712" y="2487598"/>
            <a:ext cx="6688590" cy="59397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Font typeface="Noto Sans CJK JP"/>
              <a:buNone/>
              <a:tabLst/>
              <a:defRPr lang="ja-JP">
                <a:latin typeface="Noto Sans"/>
                <a:ea typeface="Noto Sans CJK JP"/>
                <a:cs typeface="Noto Sans"/>
              </a:defRPr>
            </a:pPr>
            <a:r>
              <a:rPr lang="ja-JP" sz="2800" b="1" dirty="0">
                <a:solidFill>
                  <a:schemeClr val="accent2"/>
                </a:solidFill>
                <a:latin typeface="Noto Sans"/>
                <a:ea typeface="Noto Sans CJK JP"/>
                <a:cs typeface="Noto Sans"/>
              </a:rPr>
              <a:t>3.</a:t>
            </a:r>
            <a:r>
              <a:rPr lang="ja-JP" altLang="ja" sz="2800" b="1" dirty="0">
                <a:solidFill>
                  <a:schemeClr val="accent2"/>
                </a:solidFill>
                <a:latin typeface="Noto Sans"/>
                <a:ea typeface="Noto Sans CJK JP"/>
                <a:cs typeface="Noto Sans"/>
              </a:rPr>
              <a:t> </a:t>
            </a:r>
            <a:r>
              <a:rPr lang="ja-JP" altLang="ja" sz="2800" b="1" dirty="0">
                <a:solidFill>
                  <a:schemeClr val="dk1"/>
                </a:solidFill>
                <a:latin typeface="Noto Sans"/>
                <a:ea typeface="Noto Sans CJK JP"/>
                <a:cs typeface="Noto Sans"/>
              </a:rPr>
              <a:t>Classification Framework</a:t>
            </a:r>
            <a:endParaRPr lang="ja-JP" altLang="ja-JP" sz="2800" b="1" dirty="0">
              <a:solidFill>
                <a:schemeClr val="dk1"/>
              </a:solidFill>
              <a:latin typeface="Noto Sans"/>
              <a:ea typeface="Noto Sans CJK JP"/>
              <a:cs typeface="Noto Sans"/>
            </a:endParaRPr>
          </a:p>
        </p:txBody>
      </p:sp>
      <p:sp>
        <p:nvSpPr>
          <p:cNvPr id="85" name="Google Shape;85;p11"/>
          <p:cNvSpPr txBox="1"/>
          <p:nvPr userDrawn="1"/>
        </p:nvSpPr>
        <p:spPr>
          <a:xfrm>
            <a:off x="1236712" y="3310287"/>
            <a:ext cx="5020396" cy="59397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Font typeface="Noto Sans CJK JP"/>
              <a:buNone/>
              <a:tabLst/>
              <a:defRPr lang="ja-JP">
                <a:latin typeface="Noto Sans"/>
                <a:ea typeface="Noto Sans CJK JP"/>
                <a:cs typeface="Noto Sans"/>
              </a:defRPr>
            </a:pPr>
            <a:r>
              <a:rPr lang="ja-JP" sz="2800" b="1" dirty="0">
                <a:solidFill>
                  <a:schemeClr val="accent2"/>
                </a:solidFill>
                <a:latin typeface="Noto Sans"/>
                <a:ea typeface="Noto Sans CJK JP"/>
                <a:cs typeface="Noto Sans"/>
              </a:rPr>
              <a:t>4.</a:t>
            </a:r>
            <a:r>
              <a:rPr lang="ja-JP" altLang="ja" sz="2800" b="1" dirty="0">
                <a:solidFill>
                  <a:schemeClr val="accent2"/>
                </a:solidFill>
                <a:latin typeface="Noto Sans"/>
                <a:ea typeface="Noto Sans CJK JP"/>
                <a:cs typeface="Noto Sans"/>
              </a:rPr>
              <a:t> </a:t>
            </a:r>
            <a:r>
              <a:rPr lang="ja-JP" altLang="ja" sz="2800" b="1" dirty="0">
                <a:solidFill>
                  <a:schemeClr val="dk1"/>
                </a:solidFill>
                <a:latin typeface="Noto Sans"/>
                <a:ea typeface="Noto Sans CJK JP"/>
                <a:cs typeface="Noto Sans"/>
              </a:rPr>
              <a:t>Results &amp; Analysis</a:t>
            </a:r>
            <a:endParaRPr lang="ja-JP" altLang="ja-JP" sz="2800" b="1" dirty="0">
              <a:solidFill>
                <a:schemeClr val="dk1"/>
              </a:solidFill>
              <a:latin typeface="Noto Sans"/>
              <a:ea typeface="Noto Sans CJK JP"/>
              <a:cs typeface="Noto Sans"/>
            </a:endParaRPr>
          </a:p>
        </p:txBody>
      </p:sp>
      <p:sp>
        <p:nvSpPr>
          <p:cNvPr id="87" name="Google Shape;87;p11"/>
          <p:cNvSpPr txBox="1"/>
          <p:nvPr/>
        </p:nvSpPr>
        <p:spPr>
          <a:xfrm>
            <a:off x="1929203" y="3891800"/>
            <a:ext cx="5996100" cy="432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900" dirty="0" lang="ja-JP">
              <a:solidFill>
                <a:schemeClr val="dk1"/>
              </a:solidFill>
              <a:latin typeface="Noto Sans"/>
              <a:ea typeface="Noto Sans CJK JP"/>
              <a:cs typeface="Noto Sans"/>
            </a:endParaRPr>
          </a:p>
        </p:txBody>
      </p:sp>
      <p:sp>
        <p:nvSpPr>
          <p:cNvPr id="88" name="Google Shape;88;p11"/>
          <p:cNvSpPr txBox="1"/>
          <p:nvPr/>
        </p:nvSpPr>
        <p:spPr>
          <a:xfrm>
            <a:off x="1236712" y="4132975"/>
            <a:ext cx="6196053" cy="59397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Font typeface="Noto Sans CJK JP"/>
              <a:buNone/>
              <a:tabLst/>
              <a:defRPr lang="ja-JP">
                <a:latin typeface="Noto Sans"/>
                <a:ea typeface="Noto Sans CJK JP"/>
                <a:cs typeface="Noto Sans"/>
              </a:defRPr>
            </a:pPr>
            <a:r>
              <a:rPr lang="ja-JP" sz="2800" b="1" dirty="0">
                <a:solidFill>
                  <a:schemeClr val="accent2"/>
                </a:solidFill>
                <a:latin typeface="Noto Sans"/>
                <a:ea typeface="Noto Sans CJK JP"/>
                <a:cs typeface="Noto Sans"/>
              </a:rPr>
              <a:t>5.</a:t>
            </a:r>
            <a:r>
              <a:rPr lang="ja-JP" altLang="ja" sz="2800" b="1" dirty="0">
                <a:solidFill>
                  <a:schemeClr val="accent2"/>
                </a:solidFill>
                <a:latin typeface="Noto Sans"/>
                <a:ea typeface="Noto Sans CJK JP"/>
                <a:cs typeface="Noto Sans"/>
              </a:rPr>
              <a:t> </a:t>
            </a:r>
            <a:r>
              <a:rPr lang="ja-JP" altLang="ja" sz="2800" b="1" dirty="0">
                <a:solidFill>
                  <a:schemeClr val="dk1"/>
                </a:solidFill>
                <a:latin typeface="Noto Sans"/>
                <a:ea typeface="Noto Sans CJK JP"/>
                <a:cs typeface="Noto Sans"/>
              </a:rPr>
              <a:t>Conclusions and future work</a:t>
            </a:r>
            <a:endParaRPr lang="ja-JP" altLang="ja-JP" sz="2800" b="1" dirty="0">
              <a:solidFill>
                <a:schemeClr val="dk1"/>
              </a:solidFill>
              <a:latin typeface="Noto Sans"/>
              <a:ea typeface="Noto Sans CJK JP"/>
              <a:cs typeface="Noto Sans"/>
            </a:endParaRPr>
          </a:p>
        </p:txBody>
      </p:sp>
      <p:sp>
        <p:nvSpPr>
          <p:cNvPr id="999" name="Slide Number"/>
          <p:cNvSpPr txBox="1"/>
          <p:nvPr/>
        </p:nvSpPr>
        <p:spPr>
          <a:xfrm>
            <a:off x="8412480" y="7937"/>
            <a:ext cx="640080" cy="480059"/>
          </a:xfrm>
          <a:prstGeom prst="rect">
            <a:avLst/>
          </a:prstGeom>
          <a:noFill/>
          <a:ln>
            <a:noFill/>
          </a:ln>
        </p:spPr>
        <p:txBody>
          <a:bodyPr anchor="ctr" lIns="0" tIns="0" bIns="0"/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fld id="{00000000-1234-1234-1234-000000000999}" type="slidenum">
              <a:rPr lang="ja-JP" sz="1800" b="1">
                <a:solidFill>
                  <a:schemeClr val="lt1"/>
                </a:solidFill>
                <a:latin typeface="Noto Sans"/>
                <a:ea typeface="Noto Sans CJK JP"/>
                <a:cs typeface="Noto Sans"/>
              </a:rPr>
              <a:t>‹#›</a:t>
            </a:fld>
            <a:endParaRPr lang="ja-JP" sz="1800" b="1">
              <a:latin typeface="Noto Sans"/>
              <a:ea typeface="Noto Sans CJK JP"/>
              <a:cs typeface="Noto Sans"/>
            </a:endParaRPr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normal">
  <p:cSld name="ONE_COLUMN_TEXT_1">
    <p:spTree>
      <p:nvGrpSpPr>
        <p:cNvPr id="1" name="Shape 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Google Shape;22;p5"/>
          <p:cNvSpPr/>
          <p:nvPr/>
        </p:nvSpPr>
        <p:spPr>
          <a:xfrm>
            <a:off x="-12600" y="0"/>
            <a:ext cx="9169200" cy="480059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spcFirstLastPara="1" wrap="square" lIns="91425" tIns="0" rIns="91425" bIns="0" anchor="ctr" anchorCtr="0">
            <a:noAutofit/>
          </a:bodyPr>
          <a:lstStyle/>
          <a:p>
            <a:pPr marL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24" name="Google Shape;24;p5"/>
          <p:cNvSpPr txBox="1">
            <a:spLocks noGrp="1"/>
          </p:cNvSpPr>
          <p:nvPr>
            <p:ph type="title"/>
          </p:nvPr>
        </p:nvSpPr>
        <p:spPr>
          <a:xfrm>
            <a:off x="468600" y="748150"/>
            <a:ext cx="8394600" cy="616200"/>
          </a:xfrm>
          <a:prstGeom prst="rect">
            <a:avLst/>
          </a:prstGeom>
        </p:spPr>
        <p:txBody>
          <a:bodyPr spcFirstLastPara="1" wrap="non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None/>
              <a:defRPr sz="3000" b="1" lang="ja-JP">
                <a:solidFill>
                  <a:schemeClr val="dk1"/>
                </a:solidFill>
                <a:latin typeface="Noto Sans"/>
                <a:ea typeface="Noto Sans CJK JP"/>
                <a:cs typeface="Noto Sans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9pPr>
          </a:lstStyle>
          <a:p>
            <a:endParaRPr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25" name="Google Shape;25;p5"/>
          <p:cNvSpPr txBox="1">
            <a:spLocks noGrp="1"/>
          </p:cNvSpPr>
          <p:nvPr>
            <p:ph type="body" idx="1"/>
          </p:nvPr>
        </p:nvSpPr>
        <p:spPr>
          <a:xfrm>
            <a:off x="589650" y="1474850"/>
            <a:ext cx="7964700" cy="3458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●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1pPr>
            <a:lvl2pPr marL="914400" lvl="1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2pPr>
            <a:lvl3pPr marL="1371600" lvl="2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3pPr>
            <a:lvl4pPr marL="1828800" lvl="3" indent="-3683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0455"/>
              <a:buFont typeface="Noto Sans CJK JP"/>
              <a:buChar char="●"/>
              <a:defRPr sz="22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4pPr>
            <a:lvl5pPr marL="2286000" lvl="4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5pPr>
            <a:lvl6pPr marL="2743200" lvl="5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6pPr>
            <a:lvl7pPr marL="3200400" lvl="6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●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7pPr>
            <a:lvl8pPr marL="3657600" lvl="7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8pPr>
            <a:lvl9pPr marL="4114800" lvl="8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9pPr>
          </a:lstStyle>
          <a:p>
            <a:endParaRPr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26" name="Google Shape;26;p5"/>
          <p:cNvSpPr txBox="1">
            <a:spLocks noGrp="1"/>
          </p:cNvSpPr>
          <p:nvPr>
            <p:ph type="title" idx="2"/>
          </p:nvPr>
        </p:nvSpPr>
        <p:spPr>
          <a:xfrm>
            <a:off x="76100" y="0"/>
            <a:ext cx="8048100" cy="480059"/>
          </a:xfrm>
          <a:prstGeom prst="rect">
            <a:avLst/>
          </a:prstGeom>
          <a:ln>
            <a:noFill/>
          </a:ln>
        </p:spPr>
        <p:txBody>
          <a:bodyPr spcFirstLastPara="1" wrap="square" lIns="91425" tIns="0" rIns="91425" bIns="0" anchor="ctr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None/>
              <a:defRPr sz="1400" b="1" lang="ja-JP" altLang="en-US">
                <a:solidFill>
                  <a:schemeClr val="lt1"/>
                </a:solidFill>
                <a:latin typeface="Noto Sans"/>
                <a:ea typeface="Noto Sans CJK JP"/>
                <a:cs typeface="Noto Sans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9pPr>
          </a:lstStyle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1400" b="1" lang="ja-JP" altLang="en-US">
                <a:latin typeface="Noto Sans"/>
                <a:ea typeface="Noto Sans CJK JP"/>
                <a:cs typeface="Noto Sans"/>
              </a:defRPr>
            </a:pPr>
            <a:endParaRPr lang="ja-JP" sz="1400" b="1" altLang="en-US">
              <a:latin typeface="Noto Sans"/>
              <a:ea typeface="Noto Sans CJK JP"/>
              <a:cs typeface="Noto Sans"/>
            </a:endParaRPr>
          </a:p>
        </p:txBody>
      </p:sp>
      <p:sp>
        <p:nvSpPr>
          <p:cNvPr id="999" name="Slide Number"/>
          <p:cNvSpPr txBox="1"/>
          <p:nvPr/>
        </p:nvSpPr>
        <p:spPr>
          <a:xfrm>
            <a:off x="8412480" y="7937"/>
            <a:ext cx="640080" cy="480059"/>
          </a:xfrm>
          <a:prstGeom prst="rect">
            <a:avLst/>
          </a:prstGeom>
          <a:noFill/>
          <a:ln>
            <a:noFill/>
          </a:ln>
        </p:spPr>
        <p:txBody>
          <a:bodyPr anchor="ctr" lIns="0" tIns="0" bIns="0"/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fld id="{00000000-1234-1234-1234-000000000999}" type="slidenum">
              <a:rPr lang="ja-JP" sz="1800" b="1">
                <a:solidFill>
                  <a:schemeClr val="lt1"/>
                </a:solidFill>
                <a:latin typeface="Noto Sans"/>
                <a:ea typeface="Noto Sans CJK JP"/>
                <a:cs typeface="Noto Sans"/>
              </a:rPr>
              <a:t>‹#›</a:t>
            </a:fld>
            <a:endParaRPr lang="ja-JP" sz="1800" b="1" dirty="0">
              <a:latin typeface="Noto Sans"/>
              <a:ea typeface="Noto Sans CJK JP"/>
              <a:cs typeface="Noto Sans"/>
            </a:endParaRPr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タイトルのみ">
  <p:cSld name="ONE_COLUMN_TEXT_1_4">
    <p:spTree>
      <p:nvGrpSpPr>
        <p:cNvPr id="1" name="Shape 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Google Shape;28;p6"/>
          <p:cNvSpPr/>
          <p:nvPr/>
        </p:nvSpPr>
        <p:spPr>
          <a:xfrm>
            <a:off x="-12600" y="0"/>
            <a:ext cx="9169200" cy="480059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spcFirstLastPara="1" wrap="square" lIns="91425" tIns="0" rIns="91425" bIns="0" anchor="ctr" anchorCtr="0">
            <a:noAutofit/>
          </a:bodyPr>
          <a:lstStyle/>
          <a:p>
            <a:pPr marL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30" name="Google Shape;30;p6"/>
          <p:cNvSpPr txBox="1">
            <a:spLocks noGrp="1"/>
          </p:cNvSpPr>
          <p:nvPr>
            <p:ph type="title"/>
          </p:nvPr>
        </p:nvSpPr>
        <p:spPr>
          <a:xfrm>
            <a:off x="468600" y="649825"/>
            <a:ext cx="8206800" cy="616200"/>
          </a:xfrm>
          <a:prstGeom prst="rect">
            <a:avLst/>
          </a:prstGeom>
        </p:spPr>
        <p:txBody>
          <a:bodyPr spcFirstLastPara="1" wrap="none" lIns="91425" tIns="91425" rIns="91425" bIns="91425" anchor="t" anchorCtr="0">
            <a:norm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None/>
              <a:defRPr sz="3000" b="1" lang="ja-JP">
                <a:solidFill>
                  <a:schemeClr val="dk1"/>
                </a:solidFill>
                <a:latin typeface="Noto Sans"/>
                <a:ea typeface="Noto Sans CJK JP"/>
                <a:cs typeface="Noto Sans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9pPr>
          </a:lstStyle>
          <a:p>
            <a:endParaRPr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31" name="Google Shape;31;p6"/>
          <p:cNvSpPr txBox="1">
            <a:spLocks noGrp="1"/>
          </p:cNvSpPr>
          <p:nvPr>
            <p:ph type="title" idx="2"/>
          </p:nvPr>
        </p:nvSpPr>
        <p:spPr>
          <a:xfrm>
            <a:off x="76100" y="0"/>
            <a:ext cx="8115300" cy="480059"/>
          </a:xfrm>
          <a:prstGeom prst="rect">
            <a:avLst/>
          </a:prstGeom>
          <a:ln>
            <a:noFill/>
          </a:ln>
        </p:spPr>
        <p:txBody>
          <a:bodyPr spcFirstLastPara="1" wrap="square" lIns="91425" tIns="0" rIns="91425" bIns="0" anchor="ctr" anchorCtr="0">
            <a:norm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None/>
              <a:defRPr sz="1400" b="1" lang="ja-JP" altLang="en-US">
                <a:solidFill>
                  <a:schemeClr val="lt1"/>
                </a:solidFill>
                <a:latin typeface="Noto Sans"/>
                <a:ea typeface="Noto Sans CJK JP"/>
                <a:cs typeface="Noto Sans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9pPr>
          </a:lstStyle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1400" b="1" lang="ja-JP" altLang="en-US">
                <a:latin typeface="Noto Sans"/>
                <a:ea typeface="Noto Sans CJK JP"/>
                <a:cs typeface="Noto Sans"/>
              </a:defRPr>
            </a:pPr>
            <a:endParaRPr lang="ja-JP" sz="1400" b="1" altLang="en-US">
              <a:latin typeface="Noto Sans"/>
              <a:ea typeface="Noto Sans CJK JP"/>
              <a:cs typeface="Noto Sans"/>
            </a:endParaRPr>
          </a:p>
        </p:txBody>
      </p:sp>
      <p:sp>
        <p:nvSpPr>
          <p:cNvPr id="999" name="Slide Number"/>
          <p:cNvSpPr txBox="1"/>
          <p:nvPr/>
        </p:nvSpPr>
        <p:spPr>
          <a:xfrm>
            <a:off x="8412480" y="7937"/>
            <a:ext cx="640080" cy="480059"/>
          </a:xfrm>
          <a:prstGeom prst="rect">
            <a:avLst/>
          </a:prstGeom>
          <a:noFill/>
          <a:ln>
            <a:noFill/>
          </a:ln>
        </p:spPr>
        <p:txBody>
          <a:bodyPr anchor="ctr" lIns="0" tIns="0" bIns="0"/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fld id="{00000000-1234-1234-1234-000000000999}" type="slidenum">
              <a:rPr lang="ja-JP" sz="1800" b="1">
                <a:solidFill>
                  <a:schemeClr val="lt1"/>
                </a:solidFill>
                <a:latin typeface="Noto Sans"/>
                <a:ea typeface="Noto Sans CJK JP"/>
                <a:cs typeface="Noto Sans"/>
              </a:rPr>
              <a:t>‹#›</a:t>
            </a:fld>
            <a:endParaRPr lang="ja-JP" sz="1800" b="1">
              <a:latin typeface="Noto Sans"/>
              <a:ea typeface="Noto Sans CJK JP"/>
              <a:cs typeface="Noto Sans"/>
            </a:endParaRPr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ransition" type="secHead">
  <p:cSld name="ONE_COLUMN_TEXT_1_4_1">
    <p:spTree>
      <p:nvGrpSpPr>
        <p:cNvPr id="1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7"/>
          <p:cNvSpPr/>
          <p:nvPr/>
        </p:nvSpPr>
        <p:spPr>
          <a:xfrm>
            <a:off x="-12600" y="0"/>
            <a:ext cx="9169200" cy="480059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spcFirstLastPara="1" wrap="square" lIns="91425" tIns="0" rIns="91425" bIns="0" anchor="ctr" anchorCtr="0">
            <a:noAutofit/>
          </a:bodyPr>
          <a:lstStyle/>
          <a:p>
            <a:pPr marL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35" name="Google Shape;35;p7"/>
          <p:cNvSpPr txBox="1">
            <a:spLocks noGrp="1"/>
          </p:cNvSpPr>
          <p:nvPr>
            <p:ph type="title"/>
          </p:nvPr>
        </p:nvSpPr>
        <p:spPr>
          <a:xfrm>
            <a:off x="548640" y="2414016"/>
            <a:ext cx="8046720" cy="822960"/>
          </a:xfrm>
          <a:prstGeom prst="rect">
            <a:avLst/>
          </a:prstGeom>
        </p:spPr>
        <p:txBody>
          <a:bodyPr spcFirstLastPara="1" wrap="none" lIns="0" tIns="0" rIns="0" bIns="0" anchor="ctr" anchorCtr="0">
            <a:normAutofit/>
          </a:bodyPr>
          <a:lstStyle>
            <a:lvl1pPr lvl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None/>
              <a:defRPr sz="3600" b="1" lang="ja-JP" altLang="en-US">
                <a:solidFill>
                  <a:schemeClr val="dk1"/>
                </a:solidFill>
                <a:latin typeface="Noto Sans"/>
                <a:ea typeface="Noto Sans CJK JP"/>
                <a:cs typeface="Noto Sans"/>
              </a:defRPr>
            </a:lvl1pPr>
            <a:lvl2pPr lvl="1" rtl="0" algn="ctr">
              <a:spcBef>
                <a:spcPts val="0"/>
              </a:spcBef>
              <a:spcAft>
                <a:spcPts val="0"/>
              </a:spcAft>
              <a:buNone/>
              <a:defRPr lang="ja-JP" sz="3600" b="1" altLang="en-US">
                <a:latin typeface="Noto Sans"/>
                <a:ea typeface="Noto Sans CJK JP"/>
                <a:cs typeface="Noto Sans"/>
              </a:defRPr>
            </a:lvl2pPr>
            <a:lvl3pPr lvl="2" rtl="0" algn="ctr">
              <a:spcBef>
                <a:spcPts val="0"/>
              </a:spcBef>
              <a:spcAft>
                <a:spcPts val="0"/>
              </a:spcAft>
              <a:buNone/>
              <a:defRPr lang="ja-JP" sz="3600" b="1" altLang="en-US">
                <a:latin typeface="Noto Sans"/>
                <a:ea typeface="Noto Sans CJK JP"/>
                <a:cs typeface="Noto Sans"/>
              </a:defRPr>
            </a:lvl3pPr>
            <a:lvl4pPr lvl="3" rtl="0" algn="ctr">
              <a:spcBef>
                <a:spcPts val="0"/>
              </a:spcBef>
              <a:spcAft>
                <a:spcPts val="0"/>
              </a:spcAft>
              <a:buNone/>
              <a:defRPr lang="ja-JP" sz="3600" b="1" altLang="en-US">
                <a:latin typeface="Noto Sans"/>
                <a:ea typeface="Noto Sans CJK JP"/>
                <a:cs typeface="Noto Sans"/>
              </a:defRPr>
            </a:lvl4pPr>
            <a:lvl5pPr lvl="4" rtl="0" algn="ctr">
              <a:spcBef>
                <a:spcPts val="0"/>
              </a:spcBef>
              <a:spcAft>
                <a:spcPts val="0"/>
              </a:spcAft>
              <a:buNone/>
              <a:defRPr lang="ja-JP" sz="3600" b="1" altLang="en-US">
                <a:latin typeface="Noto Sans"/>
                <a:ea typeface="Noto Sans CJK JP"/>
                <a:cs typeface="Noto Sans"/>
              </a:defRPr>
            </a:lvl5pPr>
            <a:lvl6pPr lvl="5" rtl="0" algn="ctr">
              <a:spcBef>
                <a:spcPts val="0"/>
              </a:spcBef>
              <a:spcAft>
                <a:spcPts val="0"/>
              </a:spcAft>
              <a:buNone/>
              <a:defRPr lang="ja-JP" sz="3600" b="1" altLang="en-US">
                <a:latin typeface="Noto Sans"/>
                <a:ea typeface="Noto Sans CJK JP"/>
                <a:cs typeface="Noto Sans"/>
              </a:defRPr>
            </a:lvl6pPr>
            <a:lvl7pPr lvl="6" rtl="0" algn="ctr">
              <a:spcBef>
                <a:spcPts val="0"/>
              </a:spcBef>
              <a:spcAft>
                <a:spcPts val="0"/>
              </a:spcAft>
              <a:buNone/>
              <a:defRPr lang="ja-JP" sz="3600" b="1" altLang="en-US">
                <a:latin typeface="Noto Sans"/>
                <a:ea typeface="Noto Sans CJK JP"/>
                <a:cs typeface="Noto Sans"/>
              </a:defRPr>
            </a:lvl7pPr>
            <a:lvl8pPr lvl="7" rtl="0" algn="ctr">
              <a:spcBef>
                <a:spcPts val="0"/>
              </a:spcBef>
              <a:spcAft>
                <a:spcPts val="0"/>
              </a:spcAft>
              <a:buNone/>
              <a:defRPr lang="ja-JP" sz="3600" b="1" altLang="en-US">
                <a:latin typeface="Noto Sans"/>
                <a:ea typeface="Noto Sans CJK JP"/>
                <a:cs typeface="Noto Sans"/>
              </a:defRPr>
            </a:lvl8pPr>
            <a:lvl9pPr lvl="8" rtl="0" algn="ctr">
              <a:spcBef>
                <a:spcPts val="0"/>
              </a:spcBef>
              <a:spcAft>
                <a:spcPts val="0"/>
              </a:spcAft>
              <a:buNone/>
              <a:defRPr lang="ja-JP" sz="3600" b="1" altLang="en-US">
                <a:latin typeface="Noto Sans"/>
                <a:ea typeface="Noto Sans CJK JP"/>
                <a:cs typeface="Noto Sans"/>
              </a:defRPr>
            </a:lvl9pPr>
          </a:lstStyle>
          <a:p>
            <a:pPr algn="ctr">
              <a:lnSpc>
                <a:spcPct val="110000"/>
              </a:lnSpc>
              <a:defRPr sz="3600" b="1" lang="ja-JP" altLang="en-US">
                <a:latin typeface="Noto Sans"/>
                <a:ea typeface="Noto Sans CJK JP"/>
                <a:cs typeface="Noto Sans"/>
              </a:defRPr>
            </a:pPr>
            <a:endParaRPr lang="ja-JP" sz="3600" b="1" altLang="en-US">
              <a:latin typeface="Noto Sans"/>
              <a:ea typeface="Noto Sans CJK JP"/>
              <a:cs typeface="Noto Sans"/>
            </a:endParaRPr>
          </a:p>
        </p:txBody>
      </p:sp>
      <p:sp>
        <p:nvSpPr>
          <p:cNvPr id="36" name="Google Shape;36;p7"/>
          <p:cNvSpPr txBox="1">
            <a:spLocks noGrp="1"/>
          </p:cNvSpPr>
          <p:nvPr>
            <p:ph type="title" idx="2"/>
          </p:nvPr>
        </p:nvSpPr>
        <p:spPr>
          <a:xfrm>
            <a:off x="76100" y="0"/>
            <a:ext cx="8115300" cy="480059"/>
          </a:xfrm>
          <a:prstGeom prst="rect">
            <a:avLst/>
          </a:prstGeom>
          <a:ln>
            <a:noFill/>
          </a:ln>
        </p:spPr>
        <p:txBody>
          <a:bodyPr spcFirstLastPara="1" wrap="square" lIns="91425" tIns="0" rIns="91425" bIns="0" anchor="ctr" anchorCtr="0">
            <a:norm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None/>
              <a:defRPr sz="1400" b="1" lang="ja-JP" altLang="en-US">
                <a:solidFill>
                  <a:schemeClr val="lt1"/>
                </a:solidFill>
                <a:latin typeface="Noto Sans"/>
                <a:ea typeface="Noto Sans CJK JP"/>
                <a:cs typeface="Noto Sans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9pPr>
          </a:lstStyle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1400" b="1" lang="ja-JP" altLang="en-US">
                <a:latin typeface="Noto Sans"/>
                <a:ea typeface="Noto Sans CJK JP"/>
                <a:cs typeface="Noto Sans"/>
              </a:defRPr>
            </a:pPr>
            <a:endParaRPr dirty="0" lang="ja-JP" sz="1400" b="1" altLang="en-US">
              <a:latin typeface="Noto Sans"/>
              <a:ea typeface="Noto Sans CJK JP"/>
              <a:cs typeface="Noto Sans"/>
            </a:endParaRPr>
          </a:p>
        </p:txBody>
      </p:sp>
      <p:sp>
        <p:nvSpPr>
          <p:cNvPr id="999" name="Slide Number"/>
          <p:cNvSpPr txBox="1"/>
          <p:nvPr/>
        </p:nvSpPr>
        <p:spPr>
          <a:xfrm>
            <a:off x="8412480" y="7937"/>
            <a:ext cx="640080" cy="480059"/>
          </a:xfrm>
          <a:prstGeom prst="rect">
            <a:avLst/>
          </a:prstGeom>
          <a:noFill/>
          <a:ln>
            <a:noFill/>
          </a:ln>
        </p:spPr>
        <p:txBody>
          <a:bodyPr anchor="ctr" lIns="0" tIns="0" bIns="0"/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fld id="{00000000-1234-1234-1234-000000000999}" type="slidenum">
              <a:rPr lang="ja-JP" sz="1800" b="1">
                <a:solidFill>
                  <a:schemeClr val="lt1"/>
                </a:solidFill>
                <a:latin typeface="Noto Sans"/>
                <a:ea typeface="Noto Sans CJK JP"/>
                <a:cs typeface="Noto Sans"/>
              </a:rPr>
              <a:t>‹#›</a:t>
            </a:fld>
            <a:endParaRPr lang="ja-JP" sz="1800" b="1">
              <a:latin typeface="Noto Sans"/>
              <a:ea typeface="Noto Sans CJK JP"/>
              <a:cs typeface="Noto Sans"/>
            </a:endParaRPr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本文のみ">
  <p:cSld name="ONE_COLUMN_TEXT_1_3">
    <p:spTree>
      <p:nvGrpSpPr>
        <p:cNvPr id="1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8"/>
          <p:cNvSpPr/>
          <p:nvPr/>
        </p:nvSpPr>
        <p:spPr>
          <a:xfrm>
            <a:off x="-12600" y="0"/>
            <a:ext cx="9169200" cy="480059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spcFirstLastPara="1" wrap="square" lIns="91425" tIns="0" rIns="91425" bIns="0" anchor="ctr" anchorCtr="0">
            <a:noAutofit/>
          </a:bodyPr>
          <a:lstStyle/>
          <a:p>
            <a:pPr marL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40" name="Google Shape;40;p8"/>
          <p:cNvSpPr txBox="1">
            <a:spLocks noGrp="1"/>
          </p:cNvSpPr>
          <p:nvPr>
            <p:ph type="body" idx="1"/>
          </p:nvPr>
        </p:nvSpPr>
        <p:spPr>
          <a:xfrm>
            <a:off x="589650" y="1185250"/>
            <a:ext cx="7964700" cy="3272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●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1pPr>
            <a:lvl2pPr marL="914400" lvl="1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2pPr>
            <a:lvl3pPr marL="1371600" lvl="2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3pPr>
            <a:lvl4pPr marL="1828800" lvl="3" indent="-3683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0455"/>
              <a:buFont typeface="Noto Sans CJK JP"/>
              <a:buChar char="●"/>
              <a:defRPr sz="22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4pPr>
            <a:lvl5pPr marL="2286000" lvl="4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5pPr>
            <a:lvl6pPr marL="2743200" lvl="5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6pPr>
            <a:lvl7pPr marL="3200400" lvl="6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●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7pPr>
            <a:lvl8pPr marL="3657600" lvl="7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8pPr>
            <a:lvl9pPr marL="4114800" lvl="8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9pPr>
          </a:lstStyle>
          <a:p>
            <a:endParaRPr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41" name="Google Shape;41;p8"/>
          <p:cNvSpPr txBox="1">
            <a:spLocks noGrp="1"/>
          </p:cNvSpPr>
          <p:nvPr>
            <p:ph type="title"/>
          </p:nvPr>
        </p:nvSpPr>
        <p:spPr>
          <a:xfrm>
            <a:off x="76100" y="0"/>
            <a:ext cx="8059500" cy="480059"/>
          </a:xfrm>
          <a:prstGeom prst="rect">
            <a:avLst/>
          </a:prstGeom>
          <a:ln>
            <a:noFill/>
          </a:ln>
        </p:spPr>
        <p:txBody>
          <a:bodyPr spcFirstLastPara="1" wrap="square" lIns="91425" tIns="0" rIns="91425" bIns="0" anchor="ctr" anchorCtr="0">
            <a:norm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None/>
              <a:defRPr sz="1400" b="1" lang="ja-JP" altLang="en-US">
                <a:solidFill>
                  <a:schemeClr val="lt1"/>
                </a:solidFill>
                <a:latin typeface="Noto Sans"/>
                <a:ea typeface="Noto Sans CJK JP"/>
                <a:cs typeface="Noto Sans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9pPr>
          </a:lstStyle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1400" b="1" lang="ja-JP" altLang="en-US">
                <a:latin typeface="Noto Sans"/>
                <a:ea typeface="Noto Sans CJK JP"/>
                <a:cs typeface="Noto Sans"/>
              </a:defRPr>
            </a:pPr>
            <a:endParaRPr dirty="0" lang="ja-JP" sz="1400" b="1" altLang="en-US">
              <a:latin typeface="Noto Sans"/>
              <a:ea typeface="Noto Sans CJK JP"/>
              <a:cs typeface="Noto Sans"/>
            </a:endParaRPr>
          </a:p>
        </p:txBody>
      </p:sp>
      <p:sp>
        <p:nvSpPr>
          <p:cNvPr id="999" name="Slide Number"/>
          <p:cNvSpPr txBox="1"/>
          <p:nvPr/>
        </p:nvSpPr>
        <p:spPr>
          <a:xfrm>
            <a:off x="8412480" y="7937"/>
            <a:ext cx="640080" cy="480059"/>
          </a:xfrm>
          <a:prstGeom prst="rect">
            <a:avLst/>
          </a:prstGeom>
          <a:noFill/>
          <a:ln>
            <a:noFill/>
          </a:ln>
        </p:spPr>
        <p:txBody>
          <a:bodyPr anchor="ctr" lIns="0" tIns="0" bIns="0"/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fld id="{00000000-1234-1234-1234-000000000999}" type="slidenum">
              <a:rPr lang="ja-JP" sz="1800" b="1">
                <a:solidFill>
                  <a:schemeClr val="lt1"/>
                </a:solidFill>
                <a:latin typeface="Noto Sans"/>
                <a:ea typeface="Noto Sans CJK JP"/>
                <a:cs typeface="Noto Sans"/>
              </a:rPr>
              <a:t>‹#›</a:t>
            </a:fld>
            <a:endParaRPr lang="ja-JP" sz="1800" b="1">
              <a:latin typeface="Noto Sans"/>
              <a:ea typeface="Noto Sans CJK JP"/>
              <a:cs typeface="Noto Sans"/>
            </a:endParaRPr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ヘッダーのみ">
  <p:cSld name="ONE_COLUMN_TEXT_1_1">
    <p:spTree>
      <p:nvGrpSpPr>
        <p:cNvPr id="1" name="Shape 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" name="Google Shape;43;p9"/>
          <p:cNvSpPr/>
          <p:nvPr/>
        </p:nvSpPr>
        <p:spPr>
          <a:xfrm>
            <a:off x="-12600" y="0"/>
            <a:ext cx="9169200" cy="480059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spcFirstLastPara="1" wrap="square" lIns="91425" tIns="0" rIns="91425" bIns="0" anchor="ctr" anchorCtr="0">
            <a:noAutofit/>
          </a:bodyPr>
          <a:lstStyle/>
          <a:p>
            <a:pPr marL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45" name="Google Shape;45;p9"/>
          <p:cNvSpPr txBox="1">
            <a:spLocks noGrp="1"/>
          </p:cNvSpPr>
          <p:nvPr>
            <p:ph type="title"/>
          </p:nvPr>
        </p:nvSpPr>
        <p:spPr>
          <a:xfrm>
            <a:off x="76100" y="0"/>
            <a:ext cx="8148900" cy="480059"/>
          </a:xfrm>
          <a:prstGeom prst="rect">
            <a:avLst/>
          </a:prstGeom>
          <a:ln>
            <a:noFill/>
          </a:ln>
        </p:spPr>
        <p:txBody>
          <a:bodyPr spcFirstLastPara="1" wrap="square" lIns="91425" tIns="0" rIns="91425" bIns="0" anchor="ctr" anchorCtr="0">
            <a:norm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None/>
              <a:defRPr sz="1400" b="1" lang="ja-JP" altLang="en-US">
                <a:solidFill>
                  <a:schemeClr val="lt1"/>
                </a:solidFill>
                <a:latin typeface="Noto Sans"/>
                <a:ea typeface="Noto Sans CJK JP"/>
                <a:cs typeface="Noto Sans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9pPr>
          </a:lstStyle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1400" b="1" lang="ja-JP" altLang="en-US">
                <a:latin typeface="Noto Sans"/>
                <a:ea typeface="Noto Sans CJK JP"/>
                <a:cs typeface="Noto Sans"/>
              </a:defRPr>
            </a:pPr>
            <a:endParaRPr dirty="0" lang="ja-JP" sz="1400" b="1" altLang="en-US">
              <a:latin typeface="Noto Sans"/>
              <a:ea typeface="Noto Sans CJK JP"/>
              <a:cs typeface="Noto Sans"/>
            </a:endParaRPr>
          </a:p>
        </p:txBody>
      </p:sp>
      <p:sp>
        <p:nvSpPr>
          <p:cNvPr id="999" name="Slide Number"/>
          <p:cNvSpPr txBox="1"/>
          <p:nvPr/>
        </p:nvSpPr>
        <p:spPr>
          <a:xfrm>
            <a:off x="8412480" y="7937"/>
            <a:ext cx="640080" cy="480059"/>
          </a:xfrm>
          <a:prstGeom prst="rect">
            <a:avLst/>
          </a:prstGeom>
          <a:noFill/>
          <a:ln>
            <a:noFill/>
          </a:ln>
        </p:spPr>
        <p:txBody>
          <a:bodyPr anchor="ctr" lIns="0" tIns="0" bIns="0"/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fld id="{00000000-1234-1234-1234-000000000999}" type="slidenum">
              <a:rPr lang="ja-JP" sz="1800" b="1">
                <a:solidFill>
                  <a:schemeClr val="lt1"/>
                </a:solidFill>
                <a:latin typeface="Noto Sans"/>
                <a:ea typeface="Noto Sans CJK JP"/>
                <a:cs typeface="Noto Sans"/>
              </a:rPr>
              <a:t>‹#›</a:t>
            </a:fld>
            <a:endParaRPr lang="ja-JP" sz="1800" b="1">
              <a:latin typeface="Noto Sans"/>
              <a:ea typeface="Noto Sans CJK JP"/>
              <a:cs typeface="Noto Sans"/>
            </a:endParaRPr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HART_AND_EXPLANA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band"/>
          <p:cNvSpPr txBox="1"/>
          <p:nvPr userDrawn="1"/>
        </p:nvSpPr>
        <p:spPr>
          <a:xfrm>
            <a:off x="0" y="0"/>
            <a:ext cx="9144000" cy="480059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wrap="square" anchor="ctr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endParaRPr lang="ja-JP" dirty="0">
              <a:latin typeface="Noto Sans"/>
              <a:ea typeface="Noto Sans CJK JP"/>
              <a:cs typeface="Noto Sans"/>
            </a:endParaRPr>
          </a:p>
        </p:txBody>
      </p:sp>
      <p:sp>
        <p:nvSpPr>
          <p:cNvPr id="4" name="Chart Placeholder"/>
          <p:cNvSpPr txBox="1">
            <a:spLocks noGrp="1"/>
          </p:cNvSpPr>
          <p:nvPr>
            <p:ph idx="1"/>
          </p:nvPr>
        </p:nvSpPr>
        <p:spPr>
          <a:xfrm>
            <a:off x="456520" y="1250000"/>
            <a:ext cx="5715000" cy="30000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wrap="square"/>
          <a:lstStyle/>
          <a:p>
            <a:r>
              <a:rPr lang="ja-JP" sz="1800" b="0">
                <a:solidFill>
                  <a:schemeClr val="dk2"/>
                </a:solidFill>
                <a:latin typeface="Noto Sans"/>
                <a:ea typeface="Noto Sans CJK JP"/>
                <a:cs typeface="Noto Sans"/>
              </a:rPr>
              <a:t>Insert chart</a:t>
            </a:r>
            <a:endParaRPr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5" name="Explanation Placeholder"/>
          <p:cNvSpPr txBox="1">
            <a:spLocks noGrp="1"/>
          </p:cNvSpPr>
          <p:nvPr>
            <p:ph type="body" idx="2"/>
          </p:nvPr>
        </p:nvSpPr>
        <p:spPr>
          <a:xfrm>
            <a:off x="6295292" y="1550000"/>
            <a:ext cx="2500000" cy="2400000"/>
          </a:xfrm>
          <a:prstGeom prst="rect">
            <a:avLst/>
          </a:prstGeom>
          <a:noFill/>
          <a:ln>
            <a:noFill/>
          </a:ln>
        </p:spPr>
        <p:txBody>
          <a:bodyPr wrap="square" lIns="91425" rIns="91425" tIns="91425" bIns="91425"/>
          <a:lstStyle>
            <a:lvl1pPr marL="457200" lvl="0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●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1pPr>
            <a:lvl2pPr marL="914400" lvl="1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2pPr>
            <a:lvl3pPr marL="1371600" lvl="2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3pPr>
            <a:lvl4pPr marL="1828800" lvl="3" indent="-3683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0455"/>
              <a:buFont typeface="Noto Sans CJK JP"/>
              <a:buChar char="●"/>
              <a:defRPr sz="22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4pPr>
            <a:lvl5pPr marL="2286000" lvl="4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5pPr>
            <a:lvl6pPr marL="2743200" lvl="5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6pPr>
            <a:lvl7pPr marL="3200400" lvl="6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●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7pPr>
            <a:lvl8pPr marL="3657600" lvl="7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8pPr>
            <a:lvl9pPr marL="4114800" lvl="8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9pPr>
          </a:lstStyle>
          <a:p>
            <a:endParaRPr lang="ja-JP" dirty="0">
              <a:latin typeface="Noto Sans"/>
              <a:ea typeface="Noto Sans CJK JP"/>
              <a:cs typeface="Noto Sans"/>
            </a:endParaRPr>
          </a:p>
        </p:txBody>
      </p:sp>
      <p:sp>
        <p:nvSpPr>
          <p:cNvPr id="6" name="Supporting Text Placeholder"/>
          <p:cNvSpPr txBox="1">
            <a:spLocks noGrp="1"/>
          </p:cNvSpPr>
          <p:nvPr>
            <p:ph type="body" idx="3"/>
          </p:nvPr>
        </p:nvSpPr>
        <p:spPr>
          <a:xfrm>
            <a:off x="500000" y="4650000"/>
            <a:ext cx="8144000" cy="260000"/>
          </a:xfrm>
          <a:prstGeom prst="rect">
            <a:avLst/>
          </a:prstGeom>
          <a:noFill/>
          <a:ln>
            <a:noFill/>
          </a:ln>
        </p:spPr>
        <p:txBody>
          <a:bodyPr wrap="square" lIns="91425" rIns="91425" tIns="91425" bIns="91425"/>
          <a:lstStyle>
            <a:lvl1pPr marL="457200" lvl="0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●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1pPr>
            <a:lvl2pPr marL="914400" lvl="1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2pPr>
            <a:lvl3pPr marL="1371600" lvl="2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3pPr>
            <a:lvl4pPr marL="1828800" lvl="3" indent="-3683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0455"/>
              <a:buFont typeface="Noto Sans CJK JP"/>
              <a:buChar char="●"/>
              <a:defRPr sz="22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4pPr>
            <a:lvl5pPr marL="2286000" lvl="4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5pPr>
            <a:lvl6pPr marL="2743200" lvl="5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6pPr>
            <a:lvl7pPr marL="3200400" lvl="6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●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7pPr>
            <a:lvl8pPr marL="3657600" lvl="7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8pPr>
            <a:lvl9pPr marL="4114800" lvl="8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9pPr>
          </a:lstStyle>
          <a:p>
            <a:endParaRPr lang="ja-JP" dirty="0">
              <a:latin typeface="Noto Sans"/>
              <a:ea typeface="Noto Sans CJK JP"/>
              <a:cs typeface="Noto Sans"/>
            </a:endParaRPr>
          </a:p>
        </p:txBody>
      </p:sp>
      <p:sp>
        <p:nvSpPr>
          <p:cNvPr id="999" name="Slide Number"/>
          <p:cNvSpPr txBox="1"/>
          <p:nvPr/>
        </p:nvSpPr>
        <p:spPr>
          <a:xfrm>
            <a:off x="8412480" y="7937"/>
            <a:ext cx="640080" cy="480059"/>
          </a:xfrm>
          <a:prstGeom prst="rect">
            <a:avLst/>
          </a:prstGeom>
          <a:noFill/>
          <a:ln>
            <a:noFill/>
          </a:ln>
        </p:spPr>
        <p:txBody>
          <a:bodyPr anchor="ctr" lIns="0" tIns="0" bIns="0"/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fld id="{00000000-1234-1234-1234-000000000999}" type="slidenum">
              <a:rPr lang="ja-JP" sz="1800" b="1">
                <a:solidFill>
                  <a:schemeClr val="lt1"/>
                </a:solidFill>
                <a:latin typeface="Noto Sans"/>
                <a:ea typeface="Noto Sans CJK JP"/>
                <a:cs typeface="Noto Sans"/>
              </a:rPr>
              <a:t>‹#›</a:t>
            </a:fld>
            <a:endParaRPr lang="ja-JP" sz="1800" b="1">
              <a:latin typeface="Noto Sans"/>
              <a:ea typeface="Noto Sans CJK JP"/>
              <a:cs typeface="Noto Sans"/>
            </a:endParaRPr>
          </a:p>
        </p:txBody>
      </p:sp>
      <p:sp>
        <p:nvSpPr>
          <p:cNvPr id="9" name="タイトル 8">
            <a:extLst>
              <a:ext uri="{FF2B5EF4-FFF2-40B4-BE49-F238E27FC236}">
                <a16:creationId xmlns:a16="http://schemas.microsoft.com/office/drawing/2014/main" id="{25C0E310-B322-8587-531C-0E2F5BB13C5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kumimoji="1" lang="ja-JP" altLang="en-US">
              <a:latin typeface="Noto Sans"/>
              <a:ea typeface="Noto Sans CJK JP"/>
              <a:cs typeface="Noto Sans"/>
            </a:endParaRPr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ページ番号のみ 1">
  <p:cSld name="ONE_COLUMN_TEXT_1_2_1">
    <p:spTree>
      <p:nvGrpSpPr>
        <p:cNvPr id="1" name="Shape 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6" name="Google Shape;96;p13"/>
          <p:cNvSpPr txBox="1">
            <a:spLocks noGrp="1"/>
          </p:cNvSpPr>
          <p:nvPr>
            <p:ph type="title"/>
          </p:nvPr>
        </p:nvSpPr>
        <p:spPr>
          <a:xfrm>
            <a:off x="5796650" y="4091225"/>
            <a:ext cx="3347400" cy="1052400"/>
          </a:xfrm>
          <a:prstGeom prst="rect">
            <a:avLst/>
          </a:prstGeom>
          <a:solidFill>
            <a:schemeClr val="accent2"/>
          </a:solidFill>
        </p:spPr>
        <p:txBody>
          <a:bodyPr spcFirstLastPara="1" wrap="square" lIns="126000" tIns="126000" rIns="91425" bIns="91425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None/>
              <a:defRPr b="1" lang="ja-JP">
                <a:solidFill>
                  <a:schemeClr val="lt1"/>
                </a:solidFill>
                <a:latin typeface="Noto Sans"/>
                <a:ea typeface="Noto Sans CJK JP"/>
                <a:cs typeface="Noto Sans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None/>
              <a:defRPr sz="3200" b="1" lang="ja-JP">
                <a:solidFill>
                  <a:schemeClr val="lt1"/>
                </a:solidFill>
                <a:latin typeface="Noto Sans"/>
                <a:ea typeface="Noto Sans CJK JP"/>
                <a:cs typeface="Noto Sans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None/>
              <a:defRPr sz="3200" b="1" lang="ja-JP">
                <a:solidFill>
                  <a:schemeClr val="lt1"/>
                </a:solidFill>
                <a:latin typeface="Noto Sans"/>
                <a:ea typeface="Noto Sans CJK JP"/>
                <a:cs typeface="Noto Sans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None/>
              <a:defRPr sz="3200" b="1" lang="ja-JP">
                <a:solidFill>
                  <a:schemeClr val="lt1"/>
                </a:solidFill>
                <a:latin typeface="Noto Sans"/>
                <a:ea typeface="Noto Sans CJK JP"/>
                <a:cs typeface="Noto Sans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None/>
              <a:defRPr sz="3200" b="1" lang="ja-JP">
                <a:solidFill>
                  <a:schemeClr val="lt1"/>
                </a:solidFill>
                <a:latin typeface="Noto Sans"/>
                <a:ea typeface="Noto Sans CJK JP"/>
                <a:cs typeface="Noto Sans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None/>
              <a:defRPr sz="3200" b="1" lang="ja-JP">
                <a:solidFill>
                  <a:schemeClr val="lt1"/>
                </a:solidFill>
                <a:latin typeface="Noto Sans"/>
                <a:ea typeface="Noto Sans CJK JP"/>
                <a:cs typeface="Noto Sans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None/>
              <a:defRPr sz="3200" b="1" lang="ja-JP">
                <a:solidFill>
                  <a:schemeClr val="lt1"/>
                </a:solidFill>
                <a:latin typeface="Noto Sans"/>
                <a:ea typeface="Noto Sans CJK JP"/>
                <a:cs typeface="Noto Sans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None/>
              <a:defRPr sz="3200" b="1" lang="ja-JP">
                <a:solidFill>
                  <a:schemeClr val="lt1"/>
                </a:solidFill>
                <a:latin typeface="Noto Sans"/>
                <a:ea typeface="Noto Sans CJK JP"/>
                <a:cs typeface="Noto Sans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None/>
              <a:defRPr sz="3200" b="1" lang="ja-JP">
                <a:solidFill>
                  <a:schemeClr val="lt1"/>
                </a:solidFill>
                <a:latin typeface="Noto Sans"/>
                <a:ea typeface="Noto Sans CJK JP"/>
                <a:cs typeface="Noto Sans"/>
              </a:defRPr>
            </a:lvl9pPr>
          </a:lstStyle>
          <a:p>
            <a:endParaRPr dirty="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999" name="Slide Number"/>
          <p:cNvSpPr txBox="1"/>
          <p:nvPr/>
        </p:nvSpPr>
        <p:spPr>
          <a:xfrm>
            <a:off x="8412480" y="7937"/>
            <a:ext cx="640080" cy="480059"/>
          </a:xfrm>
          <a:prstGeom prst="rect">
            <a:avLst/>
          </a:prstGeom>
          <a:noFill/>
          <a:ln>
            <a:noFill/>
          </a:ln>
        </p:spPr>
        <p:txBody>
          <a:bodyPr anchor="ctr" lIns="0" tIns="0" bIns="0"/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fld id="{00000000-1234-1234-1234-000000000999}" type="slidenum">
              <a:rPr lang="ja-JP" sz="1800" b="1">
                <a:solidFill>
                  <a:schemeClr val="dk2"/>
                </a:solidFill>
                <a:latin typeface="Noto Sans"/>
                <a:ea typeface="Noto Sans CJK JP"/>
                <a:cs typeface="Noto Sans"/>
              </a:rPr>
              <a:t>‹#›</a:t>
            </a:fld>
            <a:endParaRPr lang="ja-JP" sz="1800" b="1">
              <a:latin typeface="Noto Sans"/>
              <a:ea typeface="Noto Sans CJK JP"/>
              <a:cs typeface="Noto Sans"/>
            </a:endParaRPr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simple-light-2">
    <p:bg>
      <p:bgPr>
        <a:solidFill>
          <a:schemeClr val="lt1"/>
        </a:soli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None/>
              <a:defRPr sz="2800" lang="ja-JP">
                <a:solidFill>
                  <a:schemeClr val="dk1"/>
                </a:solidFill>
                <a:latin typeface="Noto Sans"/>
                <a:ea typeface="Noto Sans CJK JP"/>
                <a:cs typeface="Noto Sans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None/>
              <a:defRPr sz="2800" lang="ja-JP">
                <a:solidFill>
                  <a:schemeClr val="dk1"/>
                </a:solidFill>
                <a:latin typeface="Noto Sans"/>
                <a:ea typeface="Noto Sans CJK JP"/>
                <a:cs typeface="Noto Sans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None/>
              <a:defRPr sz="2800" lang="ja-JP">
                <a:solidFill>
                  <a:schemeClr val="dk1"/>
                </a:solidFill>
                <a:latin typeface="Noto Sans"/>
                <a:ea typeface="Noto Sans CJK JP"/>
                <a:cs typeface="Noto Sans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None/>
              <a:defRPr sz="2800" lang="ja-JP">
                <a:solidFill>
                  <a:schemeClr val="dk1"/>
                </a:solidFill>
                <a:latin typeface="Noto Sans"/>
                <a:ea typeface="Noto Sans CJK JP"/>
                <a:cs typeface="Noto Sans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None/>
              <a:defRPr sz="2800" lang="ja-JP">
                <a:solidFill>
                  <a:schemeClr val="dk1"/>
                </a:solidFill>
                <a:latin typeface="Noto Sans"/>
                <a:ea typeface="Noto Sans CJK JP"/>
                <a:cs typeface="Noto Sans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None/>
              <a:defRPr sz="2800" lang="ja-JP">
                <a:solidFill>
                  <a:schemeClr val="dk1"/>
                </a:solidFill>
                <a:latin typeface="Noto Sans"/>
                <a:ea typeface="Noto Sans CJK JP"/>
                <a:cs typeface="Noto Sans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None/>
              <a:defRPr sz="2800" lang="ja-JP">
                <a:solidFill>
                  <a:schemeClr val="dk1"/>
                </a:solidFill>
                <a:latin typeface="Noto Sans"/>
                <a:ea typeface="Noto Sans CJK JP"/>
                <a:cs typeface="Noto Sans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None/>
              <a:defRPr sz="2800" lang="ja-JP">
                <a:solidFill>
                  <a:schemeClr val="dk1"/>
                </a:solidFill>
                <a:latin typeface="Noto Sans"/>
                <a:ea typeface="Noto Sans CJK JP"/>
                <a:cs typeface="Noto Sans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None/>
              <a:defRPr sz="2800" lang="ja-JP">
                <a:solidFill>
                  <a:schemeClr val="dk1"/>
                </a:solidFill>
                <a:latin typeface="Noto Sans"/>
                <a:ea typeface="Noto Sans CJK JP"/>
                <a:cs typeface="Noto Sans"/>
              </a:defRPr>
            </a:lvl9pPr>
          </a:lstStyle>
          <a:p>
            <a:endParaRPr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7" name="Google Shape;7;p1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marL="203200" lvl="0" indent="-152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ct val="73889"/>
              <a:buFont typeface="Noto Sans CJK JP"/>
              <a:buChar char="●"/>
              <a:defRPr sz="1800" lang="ja-JP">
                <a:solidFill>
                  <a:schemeClr val="dk2"/>
                </a:solidFill>
                <a:latin typeface="Noto Sans"/>
                <a:ea typeface="Noto Sans CJK JP"/>
                <a:cs typeface="Noto Sans"/>
              </a:defRPr>
            </a:lvl1pPr>
            <a:lvl2pPr marL="482600" lvl="1" indent="-1270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ct val="66500"/>
              <a:buFont typeface="Noto Sans CJK JP"/>
              <a:buChar char="○"/>
              <a:defRPr lang="ja-JP">
                <a:solidFill>
                  <a:schemeClr val="dk2"/>
                </a:solidFill>
                <a:latin typeface="Noto Sans"/>
                <a:ea typeface="Noto Sans CJK JP"/>
                <a:cs typeface="Noto Sans"/>
              </a:defRPr>
            </a:lvl2pPr>
            <a:lvl3pPr marL="762000" lvl="2" indent="-1270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ct val="66500"/>
              <a:buFont typeface="Noto Sans CJK JP"/>
              <a:buChar char="○"/>
              <a:defRPr lang="ja-JP">
                <a:solidFill>
                  <a:schemeClr val="dk2"/>
                </a:solidFill>
                <a:latin typeface="Noto Sans"/>
                <a:ea typeface="Noto Sans CJK JP"/>
                <a:cs typeface="Noto Sans"/>
              </a:defRPr>
            </a:lvl3pPr>
            <a:lvl4pPr marL="1041400" lvl="3" indent="-1270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ct val="66500"/>
              <a:buFont typeface="Noto Sans CJK JP"/>
              <a:buChar char="○"/>
              <a:defRPr lang="ja-JP">
                <a:solidFill>
                  <a:schemeClr val="dk2"/>
                </a:solidFill>
                <a:latin typeface="Noto Sans"/>
                <a:ea typeface="Noto Sans CJK JP"/>
                <a:cs typeface="Noto Sans"/>
              </a:defRPr>
            </a:lvl4pPr>
            <a:lvl5pPr marL="1320800" lvl="4" indent="-1270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ct val="66500"/>
              <a:buFont typeface="Noto Sans CJK JP"/>
              <a:buChar char="○"/>
              <a:defRPr lang="ja-JP">
                <a:solidFill>
                  <a:schemeClr val="dk2"/>
                </a:solidFill>
                <a:latin typeface="Noto Sans"/>
                <a:ea typeface="Noto Sans CJK JP"/>
                <a:cs typeface="Noto Sans"/>
              </a:defRPr>
            </a:lvl5pPr>
            <a:lvl6pPr marL="1600200" lvl="5" indent="-1270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ct val="66500"/>
              <a:buFont typeface="Noto Sans CJK JP"/>
              <a:buChar char="○"/>
              <a:defRPr lang="ja-JP">
                <a:solidFill>
                  <a:schemeClr val="dk2"/>
                </a:solidFill>
                <a:latin typeface="Noto Sans"/>
                <a:ea typeface="Noto Sans CJK JP"/>
                <a:cs typeface="Noto Sans"/>
              </a:defRPr>
            </a:lvl6pPr>
            <a:lvl7pPr marL="1879600" lvl="6" indent="-1270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ct val="66500"/>
              <a:buFont typeface="Noto Sans CJK JP"/>
              <a:buChar char="○"/>
              <a:defRPr lang="ja-JP">
                <a:solidFill>
                  <a:schemeClr val="dk2"/>
                </a:solidFill>
                <a:latin typeface="Noto Sans"/>
                <a:ea typeface="Noto Sans CJK JP"/>
                <a:cs typeface="Noto Sans"/>
              </a:defRPr>
            </a:lvl7pPr>
            <a:lvl8pPr marL="2159000" lvl="7" indent="-1270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ct val="66500"/>
              <a:buFont typeface="Noto Sans CJK JP"/>
              <a:buChar char="○"/>
              <a:defRPr lang="ja-JP">
                <a:solidFill>
                  <a:schemeClr val="dk2"/>
                </a:solidFill>
                <a:latin typeface="Noto Sans"/>
                <a:ea typeface="Noto Sans CJK JP"/>
                <a:cs typeface="Noto Sans"/>
              </a:defRPr>
            </a:lvl8pPr>
            <a:lvl9pPr marL="2438400" lvl="8" indent="-1270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ct val="66500"/>
              <a:buFont typeface="Noto Sans CJK JP"/>
              <a:buChar char="○"/>
              <a:defRPr lang="ja-JP">
                <a:solidFill>
                  <a:schemeClr val="dk2"/>
                </a:solidFill>
                <a:latin typeface="Noto Sans"/>
                <a:ea typeface="Noto Sans CJK JP"/>
                <a:cs typeface="Noto Sans"/>
              </a:defRPr>
            </a:lvl9pPr>
          </a:lstStyle>
          <a:p>
            <a:endParaRPr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8" name="Google Shape;8;p1"/>
          <p:cNvSpPr txBox="1">
            <a:spLocks noGrp="1"/>
          </p:cNvSpPr>
          <p:nvPr>
            <p:ph type="sldNum" idx="12"/>
          </p:nvPr>
        </p:nvSpPr>
        <p:spPr>
          <a:xfrm>
            <a:off x="8412480" y="7937"/>
            <a:ext cx="640080" cy="48005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bIns="0" anchor="ctr" anchorCtr="0">
            <a:normAutofit/>
          </a:bodyPr>
          <a:lstStyle>
            <a:lvl1pPr lvl="0" algn="r">
              <a:buNone/>
              <a:defRPr sz="1000" lang="ja-JP">
                <a:solidFill>
                  <a:schemeClr val="dk2"/>
                </a:solidFill>
                <a:latin typeface="Noto Sans"/>
                <a:ea typeface="Noto Sans CJK JP"/>
                <a:cs typeface="Noto Sans"/>
              </a:defRPr>
            </a:lvl1pPr>
            <a:lvl2pPr lvl="1" algn="r">
              <a:buNone/>
              <a:defRPr sz="1000" lang="ja-JP">
                <a:solidFill>
                  <a:schemeClr val="dk2"/>
                </a:solidFill>
                <a:latin typeface="Noto Sans"/>
                <a:ea typeface="Noto Sans CJK JP"/>
                <a:cs typeface="Noto Sans"/>
              </a:defRPr>
            </a:lvl2pPr>
            <a:lvl3pPr lvl="2" algn="r">
              <a:buNone/>
              <a:defRPr sz="1000" lang="ja-JP">
                <a:solidFill>
                  <a:schemeClr val="dk2"/>
                </a:solidFill>
                <a:latin typeface="Noto Sans"/>
                <a:ea typeface="Noto Sans CJK JP"/>
                <a:cs typeface="Noto Sans"/>
              </a:defRPr>
            </a:lvl3pPr>
            <a:lvl4pPr lvl="3" algn="r">
              <a:buNone/>
              <a:defRPr sz="1000" lang="ja-JP">
                <a:solidFill>
                  <a:schemeClr val="dk2"/>
                </a:solidFill>
                <a:latin typeface="Noto Sans"/>
                <a:ea typeface="Noto Sans CJK JP"/>
                <a:cs typeface="Noto Sans"/>
              </a:defRPr>
            </a:lvl4pPr>
            <a:lvl5pPr lvl="4" algn="r">
              <a:buNone/>
              <a:defRPr sz="1000" lang="ja-JP">
                <a:solidFill>
                  <a:schemeClr val="dk2"/>
                </a:solidFill>
                <a:latin typeface="Noto Sans"/>
                <a:ea typeface="Noto Sans CJK JP"/>
                <a:cs typeface="Noto Sans"/>
              </a:defRPr>
            </a:lvl5pPr>
            <a:lvl6pPr lvl="5" algn="r">
              <a:buNone/>
              <a:defRPr sz="1000" lang="ja-JP">
                <a:solidFill>
                  <a:schemeClr val="dk2"/>
                </a:solidFill>
                <a:latin typeface="Noto Sans"/>
                <a:ea typeface="Noto Sans CJK JP"/>
                <a:cs typeface="Noto Sans"/>
              </a:defRPr>
            </a:lvl6pPr>
            <a:lvl7pPr lvl="6" algn="r">
              <a:buNone/>
              <a:defRPr sz="1000" lang="ja-JP">
                <a:solidFill>
                  <a:schemeClr val="dk2"/>
                </a:solidFill>
                <a:latin typeface="Noto Sans"/>
                <a:ea typeface="Noto Sans CJK JP"/>
                <a:cs typeface="Noto Sans"/>
              </a:defRPr>
            </a:lvl7pPr>
            <a:lvl8pPr lvl="7" algn="r">
              <a:buNone/>
              <a:defRPr sz="1000" lang="ja-JP">
                <a:solidFill>
                  <a:schemeClr val="dk2"/>
                </a:solidFill>
                <a:latin typeface="Noto Sans"/>
                <a:ea typeface="Noto Sans CJK JP"/>
                <a:cs typeface="Noto Sans"/>
              </a:defRPr>
            </a:lvl8pPr>
            <a:lvl9pPr lvl="8" algn="r">
              <a:buNone/>
              <a:defRPr sz="1000" lang="ja-JP">
                <a:solidFill>
                  <a:schemeClr val="dk2"/>
                </a:solidFill>
                <a:latin typeface="Noto Sans"/>
                <a:ea typeface="Noto Sans CJK JP"/>
                <a:cs typeface="Noto Sans"/>
              </a:defRPr>
            </a:lvl9pPr>
          </a:lstStyle>
          <a:p>
            <a:pPr marL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ja-JP">
                <a:latin typeface="Noto Sans"/>
                <a:ea typeface="Noto Sans CJK JP"/>
                <a:cs typeface="Noto Sans"/>
              </a:rPr>
              <a:t>‹#›</a:t>
            </a:fld>
            <a:endParaRPr lang="ja-JP">
              <a:latin typeface="Noto Sans"/>
              <a:ea typeface="Noto Sans CJK JP"/>
              <a:cs typeface="Noto Sans"/>
            </a:endParaRPr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8" r:id="rId1"/>
    <p:sldLayoutId id="2147483657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8" r:id="rId8"/>
    <p:sldLayoutId id="2147483659" r:id="rId9"/>
  </p:sldLayoutIdLst>
  <p:hf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Noto Sans CJK JP"/>
        <a:defRPr sz="1400" b="0" i="0" u="none" strike="noStrike" cap="none" lang="ja-JP">
          <a:solidFill>
            <a:schemeClr val="dk1"/>
          </a:solidFill>
          <a:latin typeface="Noto Sans"/>
          <a:ea typeface="Noto Sans CJK JP"/>
          <a:cs typeface="Noto Sans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Noto Sans CJK JP"/>
        <a:defRPr sz="1400" b="0" i="0" u="none" strike="noStrike" cap="none" lang="ja-JP">
          <a:solidFill>
            <a:schemeClr val="dk1"/>
          </a:solidFill>
          <a:latin typeface="Noto Sans"/>
          <a:ea typeface="Noto Sans CJK JP"/>
          <a:cs typeface="Noto Sans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Noto Sans CJK JP"/>
        <a:defRPr sz="1400" b="0" i="0" u="none" strike="noStrike" cap="none" lang="ja-JP">
          <a:solidFill>
            <a:schemeClr val="dk1"/>
          </a:solidFill>
          <a:latin typeface="Noto Sans"/>
          <a:ea typeface="Noto Sans CJK JP"/>
          <a:cs typeface="Noto Sans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Noto Sans CJK JP"/>
        <a:defRPr sz="1400" b="0" i="0" u="none" strike="noStrike" cap="none" lang="ja-JP">
          <a:solidFill>
            <a:schemeClr val="dk1"/>
          </a:solidFill>
          <a:latin typeface="Noto Sans"/>
          <a:ea typeface="Noto Sans CJK JP"/>
          <a:cs typeface="Noto Sans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Noto Sans CJK JP"/>
        <a:defRPr sz="1400" b="0" i="0" u="none" strike="noStrike" cap="none" lang="ja-JP">
          <a:solidFill>
            <a:schemeClr val="dk1"/>
          </a:solidFill>
          <a:latin typeface="Noto Sans"/>
          <a:ea typeface="Noto Sans CJK JP"/>
          <a:cs typeface="Noto Sans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Noto Sans CJK JP"/>
        <a:defRPr sz="1400" b="0" i="0" u="none" strike="noStrike" cap="none" lang="ja-JP">
          <a:solidFill>
            <a:schemeClr val="dk1"/>
          </a:solidFill>
          <a:latin typeface="Noto Sans"/>
          <a:ea typeface="Noto Sans CJK JP"/>
          <a:cs typeface="Noto Sans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Noto Sans CJK JP"/>
        <a:defRPr sz="1400" b="0" i="0" u="none" strike="noStrike" cap="none" lang="ja-JP">
          <a:solidFill>
            <a:schemeClr val="dk1"/>
          </a:solidFill>
          <a:latin typeface="Noto Sans"/>
          <a:ea typeface="Noto Sans CJK JP"/>
          <a:cs typeface="Noto Sans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Noto Sans CJK JP"/>
        <a:defRPr sz="1400" b="0" i="0" u="none" strike="noStrike" cap="none" lang="ja-JP">
          <a:solidFill>
            <a:schemeClr val="dk1"/>
          </a:solidFill>
          <a:latin typeface="Noto Sans"/>
          <a:ea typeface="Noto Sans CJK JP"/>
          <a:cs typeface="Noto Sans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Noto Sans CJK JP"/>
        <a:defRPr sz="1400" b="0" i="0" u="none" strike="noStrike" cap="none" lang="ja-JP">
          <a:solidFill>
            <a:schemeClr val="dk1"/>
          </a:solidFill>
          <a:latin typeface="Noto Sans"/>
          <a:ea typeface="Noto Sans CJK JP"/>
          <a:cs typeface="Noto Sans"/>
          <a:sym typeface="Arial"/>
        </a:defRPr>
      </a:lvl9pPr>
    </p:titleStyle>
    <p:bodyStyle>
      <a:lvl1pPr marL="457200" lvl="0" indent="-355600">
        <a:spcBef>
          <a:spcPts val="0"/>
        </a:spcBef>
        <a:spcAft>
          <a:spcPts val="0"/>
        </a:spcAft>
        <a:buClr>
          <a:srgbClr val="303437"/>
        </a:buClr>
        <a:buSzPct val="66500"/>
        <a:buFont typeface="Noto Sans CJK JP"/>
        <a:buChar char="●"/>
        <a:defRPr sz="2000" lang="ja-JP">
          <a:solidFill>
            <a:srgbClr val="303437"/>
          </a:solidFill>
          <a:latin typeface="Noto Sans"/>
          <a:ea typeface="Noto Sans CJK JP"/>
          <a:cs typeface="Noto Sans"/>
        </a:defRPr>
      </a:lvl1pPr>
      <a:lvl2pPr marL="914400" lvl="1" indent="-355600">
        <a:spcBef>
          <a:spcPts val="0"/>
        </a:spcBef>
        <a:spcAft>
          <a:spcPts val="0"/>
        </a:spcAft>
        <a:buClr>
          <a:srgbClr val="303437"/>
        </a:buClr>
        <a:buSzPct val="66500"/>
        <a:buFont typeface="Noto Sans CJK JP"/>
        <a:buChar char="○"/>
        <a:defRPr sz="2000" lang="ja-JP">
          <a:solidFill>
            <a:srgbClr val="303437"/>
          </a:solidFill>
          <a:latin typeface="Noto Sans"/>
          <a:ea typeface="Noto Sans CJK JP"/>
          <a:cs typeface="Noto Sans"/>
        </a:defRPr>
      </a:lvl2pPr>
      <a:lvl3pPr marL="1371600" lvl="2" indent="-355600">
        <a:spcBef>
          <a:spcPts val="0"/>
        </a:spcBef>
        <a:spcAft>
          <a:spcPts val="0"/>
        </a:spcAft>
        <a:buClr>
          <a:srgbClr val="303437"/>
        </a:buClr>
        <a:buSzPct val="66500"/>
        <a:buFont typeface="Noto Sans CJK JP"/>
        <a:buChar char="○"/>
        <a:defRPr sz="2000" lang="ja-JP">
          <a:solidFill>
            <a:srgbClr val="303437"/>
          </a:solidFill>
          <a:latin typeface="Noto Sans"/>
          <a:ea typeface="Noto Sans CJK JP"/>
          <a:cs typeface="Noto Sans"/>
        </a:defRPr>
      </a:lvl3pPr>
      <a:lvl4pPr marL="1828800" lvl="3" indent="-368300">
        <a:spcBef>
          <a:spcPts val="0"/>
        </a:spcBef>
        <a:spcAft>
          <a:spcPts val="0"/>
        </a:spcAft>
        <a:buClr>
          <a:srgbClr val="303437"/>
        </a:buClr>
        <a:buSzPct val="60455"/>
        <a:buFont typeface="Noto Sans CJK JP"/>
        <a:buChar char="●"/>
        <a:defRPr sz="2200" lang="ja-JP">
          <a:solidFill>
            <a:srgbClr val="303437"/>
          </a:solidFill>
          <a:latin typeface="Noto Sans"/>
          <a:ea typeface="Noto Sans CJK JP"/>
          <a:cs typeface="Noto Sans"/>
        </a:defRPr>
      </a:lvl4pPr>
      <a:lvl5pPr marL="2286000" lvl="4" indent="-355600">
        <a:spcBef>
          <a:spcPts val="0"/>
        </a:spcBef>
        <a:spcAft>
          <a:spcPts val="0"/>
        </a:spcAft>
        <a:buClr>
          <a:srgbClr val="303437"/>
        </a:buClr>
        <a:buSzPct val="66500"/>
        <a:buFont typeface="Noto Sans CJK JP"/>
        <a:buChar char="○"/>
        <a:defRPr sz="2000" lang="ja-JP">
          <a:solidFill>
            <a:srgbClr val="303437"/>
          </a:solidFill>
          <a:latin typeface="Noto Sans"/>
          <a:ea typeface="Noto Sans CJK JP"/>
          <a:cs typeface="Noto Sans"/>
        </a:defRPr>
      </a:lvl5pPr>
      <a:lvl6pPr marL="2743200" lvl="5" indent="-355600">
        <a:spcBef>
          <a:spcPts val="0"/>
        </a:spcBef>
        <a:spcAft>
          <a:spcPts val="0"/>
        </a:spcAft>
        <a:buClr>
          <a:srgbClr val="303437"/>
        </a:buClr>
        <a:buSzPct val="66500"/>
        <a:buFont typeface="Noto Sans CJK JP"/>
        <a:buChar char="○"/>
        <a:defRPr sz="2000" lang="ja-JP">
          <a:solidFill>
            <a:srgbClr val="303437"/>
          </a:solidFill>
          <a:latin typeface="Noto Sans"/>
          <a:ea typeface="Noto Sans CJK JP"/>
          <a:cs typeface="Noto Sans"/>
        </a:defRPr>
      </a:lvl6pPr>
      <a:lvl7pPr marL="3200400" lvl="6" indent="-355600">
        <a:spcBef>
          <a:spcPts val="0"/>
        </a:spcBef>
        <a:spcAft>
          <a:spcPts val="0"/>
        </a:spcAft>
        <a:buClr>
          <a:srgbClr val="303437"/>
        </a:buClr>
        <a:buSzPct val="66500"/>
        <a:buFont typeface="Noto Sans CJK JP"/>
        <a:buChar char="●"/>
        <a:defRPr sz="2000" lang="ja-JP">
          <a:solidFill>
            <a:srgbClr val="303437"/>
          </a:solidFill>
          <a:latin typeface="Noto Sans"/>
          <a:ea typeface="Noto Sans CJK JP"/>
          <a:cs typeface="Noto Sans"/>
        </a:defRPr>
      </a:lvl7pPr>
      <a:lvl8pPr marL="3657600" lvl="7" indent="-355600">
        <a:spcBef>
          <a:spcPts val="0"/>
        </a:spcBef>
        <a:spcAft>
          <a:spcPts val="0"/>
        </a:spcAft>
        <a:buClr>
          <a:srgbClr val="303437"/>
        </a:buClr>
        <a:buSzPct val="66500"/>
        <a:buFont typeface="Noto Sans CJK JP"/>
        <a:buChar char="○"/>
        <a:defRPr sz="2000" lang="ja-JP">
          <a:solidFill>
            <a:srgbClr val="303437"/>
          </a:solidFill>
          <a:latin typeface="Noto Sans"/>
          <a:ea typeface="Noto Sans CJK JP"/>
          <a:cs typeface="Noto Sans"/>
        </a:defRPr>
      </a:lvl8pPr>
      <a:lvl9pPr marL="4114800" lvl="8" indent="-355600">
        <a:spcBef>
          <a:spcPts val="0"/>
        </a:spcBef>
        <a:spcAft>
          <a:spcPts val="0"/>
        </a:spcAft>
        <a:buClr>
          <a:srgbClr val="303437"/>
        </a:buClr>
        <a:buSzPct val="66500"/>
        <a:buFont typeface="Noto Sans CJK JP"/>
        <a:buChar char="○"/>
        <a:defRPr sz="2000" lang="ja-JP">
          <a:solidFill>
            <a:srgbClr val="303437"/>
          </a:solidFill>
          <a:latin typeface="Noto Sans"/>
          <a:ea typeface="Noto Sans CJK JP"/>
          <a:cs typeface="Noto Sans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Noto Sans CJK JP"/>
        <a:defRPr sz="1400" b="0" i="0" u="none" strike="noStrike" cap="none" lang="ja-JP">
          <a:solidFill>
            <a:schemeClr val="dk1"/>
          </a:solidFill>
          <a:latin typeface="Noto Sans"/>
          <a:ea typeface="Noto Sans CJK JP"/>
          <a:cs typeface="Noto Sans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Noto Sans CJK JP"/>
        <a:defRPr sz="1400" b="0" i="0" u="none" strike="noStrike" cap="none" lang="ja-JP">
          <a:solidFill>
            <a:schemeClr val="dk1"/>
          </a:solidFill>
          <a:latin typeface="Noto Sans"/>
          <a:ea typeface="Noto Sans CJK JP"/>
          <a:cs typeface="Noto Sans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Noto Sans CJK JP"/>
        <a:defRPr sz="1400" b="0" i="0" u="none" strike="noStrike" cap="none" lang="ja-JP">
          <a:solidFill>
            <a:schemeClr val="dk1"/>
          </a:solidFill>
          <a:latin typeface="Noto Sans"/>
          <a:ea typeface="Noto Sans CJK JP"/>
          <a:cs typeface="Noto Sans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Noto Sans CJK JP"/>
        <a:defRPr sz="1400" b="0" i="0" u="none" strike="noStrike" cap="none" lang="ja-JP">
          <a:solidFill>
            <a:schemeClr val="dk1"/>
          </a:solidFill>
          <a:latin typeface="Noto Sans"/>
          <a:ea typeface="Noto Sans CJK JP"/>
          <a:cs typeface="Noto Sans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Noto Sans CJK JP"/>
        <a:defRPr sz="1400" b="0" i="0" u="none" strike="noStrike" cap="none" lang="ja-JP">
          <a:solidFill>
            <a:schemeClr val="dk1"/>
          </a:solidFill>
          <a:latin typeface="Noto Sans"/>
          <a:ea typeface="Noto Sans CJK JP"/>
          <a:cs typeface="Noto Sans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Noto Sans CJK JP"/>
        <a:defRPr sz="1400" b="0" i="0" u="none" strike="noStrike" cap="none" lang="ja-JP">
          <a:solidFill>
            <a:schemeClr val="dk1"/>
          </a:solidFill>
          <a:latin typeface="Noto Sans"/>
          <a:ea typeface="Noto Sans CJK JP"/>
          <a:cs typeface="Noto Sans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Noto Sans CJK JP"/>
        <a:defRPr sz="1400" b="0" i="0" u="none" strike="noStrike" cap="none" lang="ja-JP">
          <a:solidFill>
            <a:schemeClr val="dk1"/>
          </a:solidFill>
          <a:latin typeface="Noto Sans"/>
          <a:ea typeface="Noto Sans CJK JP"/>
          <a:cs typeface="Noto Sans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Noto Sans CJK JP"/>
        <a:defRPr sz="1400" b="0" i="0" u="none" strike="noStrike" cap="none" lang="ja-JP">
          <a:solidFill>
            <a:schemeClr val="dk1"/>
          </a:solidFill>
          <a:latin typeface="Noto Sans"/>
          <a:ea typeface="Noto Sans CJK JP"/>
          <a:cs typeface="Noto Sans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Noto Sans CJK JP"/>
        <a:defRPr sz="1400" b="0" i="0" u="none" strike="noStrike" cap="none" lang="ja-JP">
          <a:solidFill>
            <a:schemeClr val="dk1"/>
          </a:solidFill>
          <a:latin typeface="Noto Sans"/>
          <a:ea typeface="Noto Sans CJK JP"/>
          <a:cs typeface="Noto Sans"/>
          <a:sym typeface="Arial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1.png"/><Relationship Id="rId3" Type="http://schemas.openxmlformats.org/officeDocument/2006/relationships/hyperlink" Target="https://huggingface.co/datasets/likaixin/ScreenSpot-Pro" TargetMode="External"/><Relationship Id="rId4" Type="http://schemas.openxmlformats.org/officeDocument/2006/relationships/image" Target="../media/image15.png"/><Relationship Id="rId5" Type="http://schemas.openxmlformats.org/officeDocument/2006/relationships/hyperlink" Target="https://gui-agent.github.io/grounding-leaderboard/" TargetMode="Externa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hyperlink" Target="https://likaixin2000.github.io/papers/ScreenSpot_Pro.pdf" TargetMode="Externa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hyperlink" Target="https://likaixin2000.github.io/papers/ScreenSpot_Pro.pdf" TargetMode="Externa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2.jpg"/><Relationship Id="rId3" Type="http://schemas.openxmlformats.org/officeDocument/2006/relationships/hyperlink" Target="https://huggingface.co/datasets/likaixin/ScreenSpot-Pro/tree/210e78d3844251110bff86c95835ebd37a6930fa" TargetMode="Externa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hyperlink" Target="https://huggingface.co/datasets/likaixin/ScreenSpot-Pro/tree/210e78d3844251110bff86c95835ebd37a6930fa" TargetMode="Externa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3.jpg"/><Relationship Id="rId3" Type="http://schemas.openxmlformats.org/officeDocument/2006/relationships/hyperlink" Target="https://huggingface.co/datasets/likaixin/ScreenSpot-Pro/tree/210e78d3844251110bff86c95835ebd37a6930fa" TargetMode="Externa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hyperlink" Target="https://huggingface.co/datasets/likaixin/ScreenSpot-Pro/tree/210e78d3844251110bff86c95835ebd37a6930fa" TargetMode="Externa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4.jpg"/><Relationship Id="rId3" Type="http://schemas.openxmlformats.org/officeDocument/2006/relationships/hyperlink" Target="https://huggingface.co/datasets/likaixin/ScreenSpot-Pro/tree/210e78d3844251110bff86c95835ebd37a6930fa" TargetMode="Externa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hyperlink" Target="https://likaixin2000.github.io/papers/ScreenSpot_Pro.pdf" TargetMode="Externa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hyperlink" Target="https://github.com/likaixin2000/ScreenSpot-Pro-GUI-Grounding/blob/main/eval_screenspot_pro.py" TargetMode="Externa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likaixin2000.github.io/papers/ScreenSpot_Pro.pdf" TargetMode="Externa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likaixin2000.github.io/papers/ScreenSpot_Pro.pdf" TargetMode="Externa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openai.com/index/gpt-6-astra/" TargetMode="Externa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hyperlink" Target="https://likaixin2000.github.io/papers/ScreenSpot_Pro.pdf" TargetMode="Externa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likaixin2000.github.io/papers/ScreenSpot_Pro.pdf" TargetMode="Externa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likaixin2000.github.io/papers/ScreenSpot_Pro.pdf" TargetMode="Externa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hyperlink" Target="https://likaixin2000.github.io/papers/ScreenSpot_Pro.pdf" TargetMode="Externa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hyperlink" Target="https://likaixin2000.github.io/papers/ScreenSpot_Pro.pdf" TargetMode="Externa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hyperlink" Target="https://likaixin2000.github.io/papers/ScreenSpot_Pro.pdf" TargetMode="Externa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chart" Target="../charts/chart1.xml"/><Relationship Id="rId3" Type="http://schemas.openxmlformats.org/officeDocument/2006/relationships/hyperlink" Target="https://huggingface.co/datasets/likaixin/ScreenSpot-Pro/tree/210e78d3844251110bff86c95835ebd37a6930fa" TargetMode="Externa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chart" Target="../charts/chart2.xml"/><Relationship Id="rId3" Type="http://schemas.openxmlformats.org/officeDocument/2006/relationships/hyperlink" Target="https://huggingface.co/datasets/likaixin/ScreenSpot-Pro/tree/210e78d3844251110bff86c95835ebd37a6930fa" TargetMode="Externa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hyperlink" Target="https://huggingface.co/datasets/likaixin/ScreenSpot-Pro/tree/210e78d3844251110bff86c95835ebd37a6930fa" TargetMode="Externa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huggingface.co/datasets/likaixin/ScreenSpot-Pro/tree/210e78d3844251110bff86c95835ebd37a6930fa" TargetMode="Externa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huggingface.co/datasets/likaixin/ScreenSpot-Pro/tree/210e78d3844251110bff86c95835ebd37a6930fa" TargetMode="Externa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likaixin2000.github.io/papers/ScreenSpot_Pro.pdf" TargetMode="Externa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hyperlink" Target="https://huggingface.co/datasets/likaixin/ScreenSpot-Pro/tree/210e78d3844251110bff86c95835ebd37a6930fa" TargetMode="Externa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huggingface.co/datasets/likaixin/ScreenSpot-Pro/tree/210e78d3844251110bff86c95835ebd37a6930fa" TargetMode="Externa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hyperlink" Target="https://github.com/likaixin2000/ScreenSpot-Pro-GUI-Grounding" TargetMode="Externa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hyperlink" Target="https://likaixin2000.github.io/papers/ScreenSpot_Pro.pdf" TargetMode="Externa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5.jpg"/><Relationship Id="rId3" Type="http://schemas.openxmlformats.org/officeDocument/2006/relationships/hyperlink" Target="https://huggingface.co/datasets/likaixin/ScreenSpot-Pro/tree/210e78d3844251110bff86c95835ebd37a6930fa" TargetMode="Externa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6.jpg"/><Relationship Id="rId3" Type="http://schemas.openxmlformats.org/officeDocument/2006/relationships/hyperlink" Target="https://huggingface.co/datasets/likaixin/ScreenSpot-Pro/tree/210e78d3844251110bff86c95835ebd37a6930fa" TargetMode="Externa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7.jpg"/><Relationship Id="rId3" Type="http://schemas.openxmlformats.org/officeDocument/2006/relationships/hyperlink" Target="https://huggingface.co/datasets/likaixin/ScreenSpot-Pro/tree/210e78d3844251110bff86c95835ebd37a6930fa" TargetMode="Externa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8.jpg"/><Relationship Id="rId3" Type="http://schemas.openxmlformats.org/officeDocument/2006/relationships/hyperlink" Target="https://huggingface.co/datasets/likaixin/ScreenSpot-Pro/tree/210e78d3844251110bff86c95835ebd37a6930fa" TargetMode="Externa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9.jpg"/><Relationship Id="rId3" Type="http://schemas.openxmlformats.org/officeDocument/2006/relationships/hyperlink" Target="https://huggingface.co/datasets/likaixin/ScreenSpot-Pro/tree/210e78d3844251110bff86c95835ebd37a6930fa" TargetMode="External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10.jpg"/><Relationship Id="rId3" Type="http://schemas.openxmlformats.org/officeDocument/2006/relationships/hyperlink" Target="https://huggingface.co/datasets/likaixin/ScreenSpot-Pro/tree/210e78d3844251110bff86c95835ebd37a6930fa" TargetMode="External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11.jpg"/><Relationship Id="rId3" Type="http://schemas.openxmlformats.org/officeDocument/2006/relationships/hyperlink" Target="https://huggingface.co/datasets/likaixin/ScreenSpot-Pro/tree/210e78d3844251110bff86c95835ebd37a6930fa" TargetMode="External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12.jpg"/><Relationship Id="rId3" Type="http://schemas.openxmlformats.org/officeDocument/2006/relationships/hyperlink" Target="https://huggingface.co/datasets/likaixin/ScreenSpot-Pro/tree/210e78d3844251110bff86c95835ebd37a6930fa" TargetMode="External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13.jpg"/><Relationship Id="rId3" Type="http://schemas.openxmlformats.org/officeDocument/2006/relationships/hyperlink" Target="https://huggingface.co/datasets/likaixin/ScreenSpot-Pro/tree/210e78d3844251110bff86c95835ebd37a6930fa" TargetMode="External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14.jpg"/><Relationship Id="rId3" Type="http://schemas.openxmlformats.org/officeDocument/2006/relationships/hyperlink" Target="https://huggingface.co/datasets/likaixin/ScreenSpot-Pro/tree/210e78d3844251110bff86c95835ebd37a6930fa" TargetMode="External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huggingface.co/datasets/likaixin/ScreenSpot-Pro/tree/210e78d3844251110bff86c95835ebd37a6930fa" TargetMode="External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huggingface.co/datasets/likaixin/ScreenSpot-Pro/tree/210e78d3844251110bff86c95835ebd37a6930fa" TargetMode="External"/></Relationships>
</file>

<file path=ppt/slides/_rels/slide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huggingface.co/datasets/likaixin/ScreenSpot-Pro/tree/210e78d3844251110bff86c95835ebd37a6930fa" TargetMode="External"/></Relationships>
</file>

<file path=ppt/slides/_rels/slide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huggingface.co/datasets/likaixin/ScreenSpot-Pro/tree/210e78d3844251110bff86c95835ebd37a6930fa" TargetMode="External"/></Relationships>
</file>

<file path=ppt/slides/_rels/slide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huggingface.co/datasets/likaixin/ScreenSpot-Pro/tree/210e78d3844251110bff86c95835ebd37a6930fa" TargetMode="External"/></Relationships>
</file>

<file path=ppt/slides/_rels/slide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huggingface.co/datasets/likaixin/ScreenSpot-Pro/tree/210e78d3844251110bff86c95835ebd37a6930fa" TargetMode="External"/></Relationships>
</file>

<file path=ppt/slides/_rels/slide5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github.com/likaixin2000/ScreenSpot-Pro-GUI-Grounding/blob/main/eval_screenspot_pro.py" TargetMode="External"/></Relationships>
</file>

<file path=ppt/slides/_rels/slide5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github.com/likaixin2000/ScreenSpot-Pro-GUI-Grounding/blob/main/eval_screenspot_pro.py" TargetMode="External"/></Relationships>
</file>

<file path=ppt/slides/_rels/slide5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hyperlink" Target="https://likaixin2000.github.io/papers/ScreenSpot_Pro.pdf" TargetMode="External"/></Relationships>
</file>

<file path=ppt/slides/_rels/slide5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6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hyperlink" Target="https://likaixin2000.github.io/papers/ScreenSpot_Pro.pdf" TargetMode="External"/></Relationships>
</file>

<file path=ppt/slides/_rels/slide6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likaixin2000.github.io/papers/ScreenSpot_Pro.pdf" TargetMode="External"/></Relationships>
</file>

<file path=ppt/slides/_rels/slide6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huggingface.co/datasets/likaixin/ScreenSpot-Pro" TargetMode="External"/><Relationship Id="rId3" Type="http://schemas.openxmlformats.org/officeDocument/2006/relationships/hyperlink" Target="https://github.com/likaixin2000/ScreenSpot-Pro-GUI-Grounding" TargetMode="External"/></Relationships>
</file>

<file path=ppt/slides/_rels/slide6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arxiv.org/abs/2401.10935" TargetMode="External"/></Relationships>
</file>

<file path=ppt/slides/_rels/slide6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arxiv.org/abs/2410.23218" TargetMode="External"/></Relationships>
</file>

<file path=ppt/slides/_rels/slide6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openai.com/index/gpt-6-astra/" TargetMode="Externa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434252" y="1866729"/>
            <a:ext cx="8229600" cy="914400"/>
          </a:xfrm>
        </p:spPr>
        <p:txBody>
          <a:bodyPr wrap="square" lIns="0" rIns="0" tIns="0" bIns="0">
            <a:noAutofit/>
          </a:bodyPr>
          <a:lstStyle/>
          <a:p>
            <a:pPr algn="ctr">
              <a:lnSpc>
                <a:spcPct val="110000"/>
              </a:lnSpc>
              <a:buNone/>
              <a:defRPr sz="5200" b="0">
                <a:solidFill>
                  <a:srgbClr val="303437"/>
                </a:solidFill>
                <a:latin typeface="Noto Sans"/>
              </a:defRPr>
            </a:pPr>
            <a:r>
              <a:rPr sz="52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ScreenSpot-Pro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457200" y="2918289"/>
            <a:ext cx="8229600" cy="914400"/>
          </a:xfrm>
        </p:spPr>
        <p:txBody>
          <a:bodyPr wrap="square" lIns="0" rIns="0" tIns="0" bIns="0">
            <a:noAutofit/>
          </a:bodyPr>
          <a:lstStyle/>
          <a:p>
            <a:pPr algn="ctr">
              <a:lnSpc>
                <a:spcPct val="110000"/>
              </a:lnSpc>
              <a:buNone/>
              <a:defRPr sz="2300" b="0">
                <a:solidFill>
                  <a:srgbClr val="303437"/>
                </a:solidFill>
                <a:latin typeface="Noto Sans"/>
              </a:defRPr>
            </a:pPr>
            <a:r>
              <a:rPr sz="23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専門ソフトの画面から操作対象を探す
高解像度GUIの位置推定データセット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1"/>
          </p:nvPr>
        </p:nvSpPr>
        <p:spPr>
          <a:xfrm>
            <a:off x="5486400" y="4416552"/>
            <a:ext cx="3108960" cy="402336"/>
          </a:xfrm>
        </p:spPr>
        <p:txBody>
          <a:bodyPr wrap="square" lIns="0" rIns="0" tIns="0" bIns="0">
            <a:noAutofit/>
          </a:bodyPr>
          <a:lstStyle/>
          <a:p>
            <a:pPr algn="r">
              <a:lnSpc>
                <a:spcPct val="110000"/>
              </a:lnSpc>
              <a:buNone/>
              <a:defRPr sz="2000" b="0">
                <a:solidFill>
                  <a:srgbClr val="303437"/>
                </a:solidFill>
                <a:latin typeface="Noto Sans"/>
              </a:defRPr>
            </a:pPr>
            <a:r>
              <a:rPr sz="20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sasakiy84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2"/>
          </p:nvPr>
        </p:nvSpPr>
        <p:spPr>
          <a:xfrm>
            <a:off x="457200" y="274320"/>
            <a:ext cx="8138160" cy="228600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datasets in 10 minutes (2026-10-16)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ScreenSpot-Proの公式サイト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ScreenSpot-Pro: 公式サイト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4690872"/>
            <a:ext cx="8183879" cy="3931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1000">
                <a:solidFill>
                  <a:srgbClr val="626669"/>
                </a:solidFill>
                <a:latin typeface="Noto Sans"/>
                <a:hlinkClick r:id="rId5"/>
              </a:rPr>
              <a:t>https://gui-agent.github.io/grounding-leaderboard/</a:t>
            </a:r>
          </a:p>
        </p:txBody>
      </p:sp>
      <p:pic>
        <p:nvPicPr>
          <p:cNvPr id="6" name="公式サイトの画面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274570" y="1481328"/>
            <a:ext cx="4594858" cy="3063239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/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77240" y="1226434"/>
            <a:ext cx="7772400" cy="2846324"/>
          </a:xfrm>
        </p:spPr>
        <p:txBody>
          <a:bodyPr lIns="0" rIns="0" tIns="0" bIns="0" wrap="square">
            <a:noAutofit/>
          </a:bodyPr>
          <a:lstStyle/>
          <a:p>
            <a:pPr marL="457200" indent="-457200">
              <a:lnSpc>
                <a:spcPct val="128000"/>
              </a:lnSpc>
              <a:spcAft>
                <a:spcPts val="1700"/>
              </a:spcAft>
              <a:buSzPct val="100000"/>
              <a:buFont typeface="Noto Sans CJK JP"/>
              <a:buAutoNum type="arabicPeriod" startAt="1"/>
              <a:defRPr sz="3100" b="1">
                <a:solidFill>
                  <a:srgbClr val="303437"/>
                </a:solidFill>
                <a:latin typeface="Noto Sans"/>
              </a:defRPr>
            </a:pPr>
            <a:r>
              <a:rPr sz="31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画面と指示から操作位置を探す</a:t>
            </a:r>
          </a:p>
          <a:p>
            <a:pPr marL="457200" indent="-457200">
              <a:lnSpc>
                <a:spcPct val="128000"/>
              </a:lnSpc>
              <a:spcAft>
                <a:spcPts val="1700"/>
              </a:spcAft>
              <a:buSzPct val="100000"/>
              <a:buFont typeface="Noto Sans CJK JP"/>
              <a:buAutoNum type="arabicPeriod" startAt="2"/>
              <a:defRPr sz="3100" b="1">
                <a:solidFill>
                  <a:srgbClr val="303437"/>
                </a:solidFill>
                <a:latin typeface="Noto Sans"/>
              </a:defRPr>
            </a:pPr>
            <a:r>
              <a:rPr sz="31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正解の判定とモデルの成績</a:t>
            </a:r>
          </a:p>
          <a:p>
            <a:pPr marL="457200" indent="-457200">
              <a:lnSpc>
                <a:spcPct val="128000"/>
              </a:lnSpc>
              <a:spcAft>
                <a:spcPts val="1700"/>
              </a:spcAft>
              <a:buSzPct val="100000"/>
              <a:buFont typeface="Noto Sans CJK JP"/>
              <a:buAutoNum type="arabicPeriod" startAt="3"/>
              <a:defRPr sz="3100" b="1">
                <a:solidFill>
                  <a:srgbClr val="303437"/>
                </a:solidFill>
                <a:latin typeface="Noto Sans"/>
              </a:defRPr>
            </a:pPr>
            <a:r>
              <a:rPr sz="31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作成方法とデータの全体像</a:t>
            </a:r>
          </a:p>
          <a:p>
            <a:pPr marL="457200" indent="-457200">
              <a:lnSpc>
                <a:spcPct val="128000"/>
              </a:lnSpc>
              <a:spcAft>
                <a:spcPts val="1700"/>
              </a:spcAft>
              <a:buSzPct val="100000"/>
              <a:buFont typeface="Noto Sans CJK JP"/>
              <a:buAutoNum type="arabicPeriod" startAt="4"/>
              <a:defRPr sz="3100" b="1">
                <a:solidFill>
                  <a:srgbClr val="303437"/>
                </a:solidFill>
                <a:latin typeface="Noto Sans"/>
              </a:defRPr>
            </a:pPr>
            <a:r>
              <a:rPr sz="31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系列の違いと利用方法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目次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2388106"/>
            <a:ext cx="8046720" cy="822960"/>
          </a:xfrm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10000"/>
              </a:lnSpc>
              <a:buNone/>
              <a:defRPr sz="3600" b="0">
                <a:solidFill>
                  <a:srgbClr val="303437"/>
                </a:solidFill>
                <a:latin typeface="Noto Sans"/>
              </a:defRPr>
            </a:pPr>
            <a:r>
              <a:rPr sz="36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1. 画面と指示から操作位置を探す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1. 画面と指示から操作位置を探す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ScreenSpot-Proは操作対象の位置を問う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94360" y="1463040"/>
            <a:ext cx="7955279" cy="3090672"/>
          </a:xfrm>
        </p:spPr>
        <p:txBody>
          <a:bodyPr wrap="square" tIns="91440" bIns="91440">
            <a:noAutofit/>
          </a:bodyPr>
          <a:lstStyle/>
          <a:p>
            <a:pPr marL="457200" indent="-355600">
              <a:lnSpc>
                <a:spcPts val="2760"/>
              </a:lnSpc>
              <a:spcAft>
                <a:spcPts val="800"/>
              </a:spcAft>
              <a:buSzPct val="57826"/>
              <a:buFont typeface="Noto Sans CJK JP"/>
              <a:buChar char="●"/>
              <a:defRPr sz="2300" b="0">
                <a:solidFill>
                  <a:srgbClr val="303437"/>
                </a:solidFill>
                <a:latin typeface="Noto Sans"/>
              </a:defRPr>
            </a:pPr>
            <a:r>
              <a:rPr sz="23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GUIは、画面上のボタンやメニューなどを使う操作環境である。GUI groundingは、言葉の指示を画面上の位置へ対応させる課題を指す。</a:t>
            </a:r>
          </a:p>
          <a:p>
            <a:pPr marL="457200" indent="-355600">
              <a:lnSpc>
                <a:spcPts val="2760"/>
              </a:lnSpc>
              <a:spcAft>
                <a:spcPts val="800"/>
              </a:spcAft>
              <a:buSzPct val="57826"/>
              <a:buFont typeface="Noto Sans CJK JP"/>
              <a:buChar char="●"/>
              <a:defRPr sz="2300" b="0">
                <a:solidFill>
                  <a:srgbClr val="303437"/>
                </a:solidFill>
                <a:latin typeface="Noto Sans"/>
              </a:defRPr>
            </a:pPr>
            <a:r>
              <a:rPr sz="23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入力は、画面全体のスクリーンショットと操作指示。モデルは、対象を指す座標を出力する。</a:t>
            </a:r>
          </a:p>
          <a:p>
            <a:pPr marL="457200" indent="-355600">
              <a:lnSpc>
                <a:spcPts val="2760"/>
              </a:lnSpc>
              <a:spcAft>
                <a:spcPts val="0"/>
              </a:spcAft>
              <a:buSzPct val="57826"/>
              <a:buFont typeface="Noto Sans CJK JP"/>
              <a:buChar char="●"/>
              <a:defRPr sz="2300" b="0">
                <a:solidFill>
                  <a:srgbClr val="303437"/>
                </a:solidFill>
                <a:latin typeface="Noto Sans"/>
              </a:defRPr>
            </a:pPr>
            <a:r>
              <a:rPr sz="23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ScreenSpot-Proは、専門ソフト23種類と3種類のOS環境から集めた1,581件の評価データである。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1. 画面と指示から操作位置を探す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4690872"/>
            <a:ext cx="8183879" cy="3931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Li et al. (2025). ScreenSpot-Pro: GUI Grounding for Professional High-Resolution Computer Use. Preprint.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 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https://likaixin2000.github.io/papers/ScreenSpot_Pro.pdf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正解は、操作できる領域を囲む四角形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94360" y="1463040"/>
            <a:ext cx="7955279" cy="3090672"/>
          </a:xfrm>
        </p:spPr>
        <p:txBody>
          <a:bodyPr wrap="square" tIns="91440" bIns="91440">
            <a:noAutofit/>
          </a:bodyPr>
          <a:lstStyle/>
          <a:p>
            <a:pPr marL="457200" indent="-355600">
              <a:lnSpc>
                <a:spcPts val="2760"/>
              </a:lnSpc>
              <a:spcAft>
                <a:spcPts val="800"/>
              </a:spcAft>
              <a:buSzPct val="57826"/>
              <a:buFont typeface="Noto Sans CJK JP"/>
              <a:buChar char="●"/>
              <a:defRPr sz="2300" b="0">
                <a:solidFill>
                  <a:srgbClr val="303437"/>
                </a:solidFill>
                <a:latin typeface="Noto Sans"/>
              </a:defRPr>
            </a:pPr>
            <a:r>
              <a:rPr sz="23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各画面には一つの指示と、その対象を囲む正解領域が付く。対象はボタン、メニュー項目、入力欄などである。</a:t>
            </a:r>
          </a:p>
          <a:p>
            <a:pPr marL="457200" indent="-355600">
              <a:lnSpc>
                <a:spcPts val="2760"/>
              </a:lnSpc>
              <a:spcAft>
                <a:spcPts val="0"/>
              </a:spcAft>
              <a:buSzPct val="57826"/>
              <a:buFont typeface="Noto Sans CJK JP"/>
              <a:buChar char="●"/>
              <a:defRPr sz="2300" b="0">
                <a:solidFill>
                  <a:srgbClr val="303437"/>
                </a:solidFill>
                <a:latin typeface="Noto Sans"/>
              </a:defRPr>
            </a:pPr>
            <a:r>
              <a:rPr sz="23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掲載例は、論文の例示画像と公開注釈を照合した13件。本編3件とAppendix10件で、正解位置を拡大して示す。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1. 画面と指示から操作位置を探す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4690872"/>
            <a:ext cx="8183879" cy="3931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Li et al. (2025). ScreenSpot-Pro: GUI Grounding for Professional High-Resolution Computer Use. Preprint.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 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https://likaixin2000.github.io/papers/ScreenSpot_Pro.pdf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実例1：VS Codeのファイル一覧を更新する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1. 画面と指示から操作位置を探す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307592"/>
            <a:ext cx="8046720" cy="329184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7000"/>
              </a:lnSpc>
              <a:spcBef>
                <a:spcPts val="0"/>
              </a:spcBef>
              <a:spcAft>
                <a:spcPts val="0"/>
              </a:spcAft>
              <a:buNone/>
              <a:defRPr sz="2000" b="0">
                <a:solidFill>
                  <a:srgbClr val="303437"/>
                </a:solidFill>
                <a:latin typeface="Noto Sans"/>
              </a:defRPr>
            </a:pPr>
            <a:r>
              <a:rPr sz="20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ファイルエクスプローラーを更新する。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746504"/>
            <a:ext cx="8046720" cy="4572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sz="1450" b="0">
                <a:solidFill>
                  <a:srgbClr val="303437"/>
                </a:solidFill>
                <a:latin typeface="Noto Sans"/>
              </a:defRPr>
            </a:pPr>
            <a:r>
              <a:rPr sz="14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指示の原文：Refresh the file explorer.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2249424"/>
            <a:ext cx="4754880" cy="20116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7000"/>
              </a:lnSpc>
              <a:spcBef>
                <a:spcPts val="0"/>
              </a:spcBef>
              <a:spcAft>
                <a:spcPts val="0"/>
              </a:spcAft>
              <a:buNone/>
              <a:defRPr sz="1100" b="0">
                <a:solidFill>
                  <a:srgbClr val="303437"/>
                </a:solidFill>
                <a:latin typeface="Noto Sans"/>
              </a:defRPr>
            </a:pPr>
            <a:r>
              <a:rPr sz="110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論文の例示画像（正解枠・拡大図を含む）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532120" y="2249424"/>
            <a:ext cx="3063240" cy="20116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7000"/>
              </a:lnSpc>
              <a:spcBef>
                <a:spcPts val="0"/>
              </a:spcBef>
              <a:spcAft>
                <a:spcPts val="0"/>
              </a:spcAft>
              <a:buNone/>
              <a:defRPr sz="1100" b="0">
                <a:solidFill>
                  <a:srgbClr val="303437"/>
                </a:solidFill>
                <a:latin typeface="Noto Sans"/>
              </a:defRPr>
            </a:pPr>
            <a:r>
              <a:rPr sz="110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正解位置の拡大（赤枠）</a:t>
            </a:r>
          </a:p>
        </p:txBody>
      </p:sp>
      <p:pic>
        <p:nvPicPr>
          <p:cNvPr id="8" name="Picture 7" descr="vscode_macos_0.jpe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20836" y="2523744"/>
            <a:ext cx="3010486" cy="1956816"/>
          </a:xfrm>
          <a:prstGeom prst="rect">
            <a:avLst/>
          </a:prstGeom>
        </p:spPr>
      </p:pic>
      <p:sp>
        <p:nvSpPr>
          <p:cNvPr id="9" name="Rectangle 8"/>
          <p:cNvSpPr/>
          <p:nvPr/>
        </p:nvSpPr>
        <p:spPr>
          <a:xfrm>
            <a:off x="1977071" y="2738946"/>
            <a:ext cx="35279" cy="42334"/>
          </a:xfrm>
          <a:prstGeom prst="rect">
            <a:avLst/>
          </a:prstGeom>
          <a:noFill/>
          <a:ln w="13970">
            <a:solidFill>
              <a:srgbClr val="B1373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" name="Picture 9" descr="vscode_macos_0.jpeg"/>
          <p:cNvPicPr>
            <a:picLocks noChangeAspect="1"/>
          </p:cNvPicPr>
          <p:nvPr/>
        </p:nvPicPr>
        <p:blipFill>
          <a:blip r:embed="rId2"/>
          <a:srcRect l="12812" t="5937" r="74688" b="81778"/>
          <a:stretch>
            <a:fillRect/>
          </a:stretch>
        </p:blipFill>
        <p:spPr>
          <a:xfrm>
            <a:off x="5532120" y="2523744"/>
            <a:ext cx="3063240" cy="1956816"/>
          </a:xfrm>
          <a:prstGeom prst="rect">
            <a:avLst/>
          </a:prstGeom>
        </p:spPr>
      </p:pic>
      <p:sp>
        <p:nvSpPr>
          <p:cNvPr id="11" name="Rectangle 10"/>
          <p:cNvSpPr/>
          <p:nvPr/>
        </p:nvSpPr>
        <p:spPr>
          <a:xfrm>
            <a:off x="6920150" y="3329844"/>
            <a:ext cx="287178" cy="344614"/>
          </a:xfrm>
          <a:prstGeom prst="rect">
            <a:avLst/>
          </a:prstGeom>
          <a:noFill/>
          <a:ln w="13970">
            <a:solidFill>
              <a:srgbClr val="B1373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02920" y="4690872"/>
            <a:ext cx="8183879" cy="3931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Li et al. (2025). ScreenSpot-Pro. 論文掲載画像・注釈ID: vscode_macos_0。MIT。</a:t>
            </a:r>
          </a:p>
          <a:p>
            <a:pPr>
              <a:lnSpc>
                <a:spcPct val="112000"/>
              </a:lnSpc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3"/>
              </a:rPr>
              <a:t>https://huggingface.co/datasets/likaixin/ScreenSpot-Pro/tree/210e78d3844251110bff86c95835ebd37a6930fa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実例1は、更新アイコンの位置を答える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94360" y="1463040"/>
            <a:ext cx="7955279" cy="3090672"/>
          </a:xfrm>
        </p:spPr>
        <p:txBody>
          <a:bodyPr wrap="square" tIns="91440" bIns="91440">
            <a:noAutofit/>
          </a:bodyPr>
          <a:lstStyle/>
          <a:p>
            <a:pPr marL="457200" indent="-355600">
              <a:lnSpc>
                <a:spcPts val="2760"/>
              </a:lnSpc>
              <a:spcAft>
                <a:spcPts val="800"/>
              </a:spcAft>
              <a:buSzPct val="57826"/>
              <a:buFont typeface="Noto Sans CJK JP"/>
              <a:buChar char="●"/>
              <a:defRPr sz="2300" b="0">
                <a:solidFill>
                  <a:srgbClr val="303437"/>
                </a:solidFill>
                <a:latin typeface="Noto Sans"/>
              </a:defRPr>
            </a:pPr>
            <a:r>
              <a:rPr sz="23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対象は、画面左側のファイル一覧にある更新アイコン。公開注釈では、文字のないiconに分類される。</a:t>
            </a:r>
          </a:p>
          <a:p>
            <a:pPr marL="457200" indent="-355600">
              <a:lnSpc>
                <a:spcPts val="2760"/>
              </a:lnSpc>
              <a:spcAft>
                <a:spcPts val="800"/>
              </a:spcAft>
              <a:buSzPct val="57826"/>
              <a:buFont typeface="Noto Sans CJK JP"/>
              <a:buChar char="●"/>
              <a:defRPr sz="2300" b="0">
                <a:solidFill>
                  <a:srgbClr val="303437"/>
                </a:solidFill>
                <a:latin typeface="Noto Sans"/>
              </a:defRPr>
            </a:pPr>
            <a:r>
              <a:rPr sz="23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画面は2,560 × 1,664 px。対象の正解領域は横30 × 縦36 pxと小さい。</a:t>
            </a:r>
          </a:p>
          <a:p>
            <a:pPr marL="457200" indent="-355600">
              <a:lnSpc>
                <a:spcPts val="2760"/>
              </a:lnSpc>
              <a:spcAft>
                <a:spcPts val="0"/>
              </a:spcAft>
              <a:buSzPct val="57826"/>
              <a:buFont typeface="Noto Sans CJK JP"/>
              <a:buChar char="●"/>
              <a:defRPr sz="2300" b="0">
                <a:solidFill>
                  <a:srgbClr val="303437"/>
                </a:solidFill>
                <a:latin typeface="Noto Sans"/>
              </a:defRPr>
            </a:pPr>
            <a:r>
              <a:rPr sz="23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正解の四角形は、左上（473, 183）、右下（503, 219）。その中の点を予測すれば正解になる。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1. 画面と指示から操作位置を探す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4690872"/>
            <a:ext cx="8183879" cy="3931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Li et al. (2025). ScreenSpot-Pro. 公開注釈1,581件、改訂210e78d。2026-10-16集計。</a:t>
            </a:r>
          </a:p>
          <a:p>
            <a:pPr>
              <a:lnSpc>
                <a:spcPct val="112000"/>
              </a:lnSpc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https://huggingface.co/datasets/likaixin/ScreenSpot-Pro/tree/210e78d3844251110bff86c95835ebd37a6930fa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実例2：Blenderの座標モードを変更する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1. 画面と指示から操作位置を探す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307592"/>
            <a:ext cx="8046720" cy="329184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7000"/>
              </a:lnSpc>
              <a:spcBef>
                <a:spcPts val="0"/>
              </a:spcBef>
              <a:spcAft>
                <a:spcPts val="0"/>
              </a:spcAft>
              <a:buNone/>
              <a:defRPr sz="2000" b="0">
                <a:solidFill>
                  <a:srgbClr val="303437"/>
                </a:solidFill>
                <a:latin typeface="Noto Sans"/>
              </a:defRPr>
            </a:pPr>
            <a:r>
              <a:rPr sz="20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オブジェクトの座標モードを変更する。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746504"/>
            <a:ext cx="8046720" cy="4572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sz="1450" b="0">
                <a:solidFill>
                  <a:srgbClr val="303437"/>
                </a:solidFill>
                <a:latin typeface="Noto Sans"/>
              </a:defRPr>
            </a:pPr>
            <a:r>
              <a:rPr sz="14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指示の原文：Change the coordinate mode of the object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2249424"/>
            <a:ext cx="4754880" cy="20116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7000"/>
              </a:lnSpc>
              <a:spcBef>
                <a:spcPts val="0"/>
              </a:spcBef>
              <a:spcAft>
                <a:spcPts val="0"/>
              </a:spcAft>
              <a:buNone/>
              <a:defRPr sz="1100" b="0">
                <a:solidFill>
                  <a:srgbClr val="303437"/>
                </a:solidFill>
                <a:latin typeface="Noto Sans"/>
              </a:defRPr>
            </a:pPr>
            <a:r>
              <a:rPr sz="110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論文の例示画像（正解枠・拡大図を含む）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532120" y="2249424"/>
            <a:ext cx="3063240" cy="20116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7000"/>
              </a:lnSpc>
              <a:spcBef>
                <a:spcPts val="0"/>
              </a:spcBef>
              <a:spcAft>
                <a:spcPts val="0"/>
              </a:spcAft>
              <a:buNone/>
              <a:defRPr sz="1100" b="0">
                <a:solidFill>
                  <a:srgbClr val="303437"/>
                </a:solidFill>
                <a:latin typeface="Noto Sans"/>
              </a:defRPr>
            </a:pPr>
            <a:r>
              <a:rPr sz="110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正解位置の拡大（赤枠）</a:t>
            </a:r>
          </a:p>
        </p:txBody>
      </p:sp>
      <p:pic>
        <p:nvPicPr>
          <p:cNvPr id="8" name="Picture 7" descr="blender_windows_61.jpe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86688" y="2523744"/>
            <a:ext cx="3478784" cy="1956816"/>
          </a:xfrm>
          <a:prstGeom prst="rect">
            <a:avLst/>
          </a:prstGeom>
        </p:spPr>
      </p:pic>
      <p:sp>
        <p:nvSpPr>
          <p:cNvPr id="9" name="Rectangle 8"/>
          <p:cNvSpPr/>
          <p:nvPr/>
        </p:nvSpPr>
        <p:spPr>
          <a:xfrm>
            <a:off x="2277884" y="2597124"/>
            <a:ext cx="107353" cy="23101"/>
          </a:xfrm>
          <a:prstGeom prst="rect">
            <a:avLst/>
          </a:prstGeom>
          <a:noFill/>
          <a:ln w="13970">
            <a:solidFill>
              <a:srgbClr val="B1373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" name="Picture 9" descr="blender_windows_61.jpeg"/>
          <p:cNvPicPr>
            <a:picLocks noChangeAspect="1"/>
          </p:cNvPicPr>
          <p:nvPr/>
        </p:nvPicPr>
        <p:blipFill>
          <a:blip r:embed="rId2"/>
          <a:srcRect l="26660" r="60840" b="85804"/>
          <a:stretch>
            <a:fillRect/>
          </a:stretch>
        </p:blipFill>
        <p:spPr>
          <a:xfrm>
            <a:off x="5532120" y="2523744"/>
            <a:ext cx="3063240" cy="1956816"/>
          </a:xfrm>
          <a:prstGeom prst="rect">
            <a:avLst/>
          </a:prstGeom>
        </p:spPr>
      </p:pic>
      <p:sp>
        <p:nvSpPr>
          <p:cNvPr id="11" name="Rectangle 10"/>
          <p:cNvSpPr/>
          <p:nvPr/>
        </p:nvSpPr>
        <p:spPr>
          <a:xfrm>
            <a:off x="6685621" y="3040665"/>
            <a:ext cx="756237" cy="162734"/>
          </a:xfrm>
          <a:prstGeom prst="rect">
            <a:avLst/>
          </a:prstGeom>
          <a:noFill/>
          <a:ln w="13970">
            <a:solidFill>
              <a:srgbClr val="B1373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02920" y="4690872"/>
            <a:ext cx="8183879" cy="3931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Li et al. (2025). ScreenSpot-Pro. 論文掲載画像・注釈ID: blender_windows_61。MIT。</a:t>
            </a:r>
          </a:p>
          <a:p>
            <a:pPr>
              <a:lnSpc>
                <a:spcPct val="112000"/>
              </a:lnSpc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3"/>
              </a:rPr>
              <a:t>https://huggingface.co/datasets/likaixin/ScreenSpot-Pro/tree/210e78d3844251110bff86c95835ebd37a6930fa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実例2は、3D画面上部の設定を探す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94360" y="1463040"/>
            <a:ext cx="7955279" cy="3090672"/>
          </a:xfrm>
        </p:spPr>
        <p:txBody>
          <a:bodyPr wrap="square" tIns="91440" bIns="91440">
            <a:noAutofit/>
          </a:bodyPr>
          <a:lstStyle/>
          <a:p>
            <a:pPr marL="457200" indent="-355600">
              <a:lnSpc>
                <a:spcPts val="2760"/>
              </a:lnSpc>
              <a:spcAft>
                <a:spcPts val="800"/>
              </a:spcAft>
              <a:buSzPct val="57826"/>
              <a:buFont typeface="Noto Sans CJK JP"/>
              <a:buChar char="●"/>
              <a:defRPr sz="2300" b="0">
                <a:solidFill>
                  <a:srgbClr val="303437"/>
                </a:solidFill>
                <a:latin typeface="Noto Sans"/>
              </a:defRPr>
            </a:pPr>
            <a:r>
              <a:rPr sz="23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Blenderは3Dモデルやアニメーションを作るソフトである。図形、道具、設定パネルが同じ画面に並ぶ。</a:t>
            </a:r>
          </a:p>
          <a:p>
            <a:pPr marL="457200" indent="-355600">
              <a:lnSpc>
                <a:spcPts val="2760"/>
              </a:lnSpc>
              <a:spcAft>
                <a:spcPts val="800"/>
              </a:spcAft>
              <a:buSzPct val="57826"/>
              <a:buFont typeface="Noto Sans CJK JP"/>
              <a:buChar char="●"/>
              <a:defRPr sz="2300" b="0">
                <a:solidFill>
                  <a:srgbClr val="303437"/>
                </a:solidFill>
                <a:latin typeface="Noto Sans"/>
              </a:defRPr>
            </a:pPr>
            <a:r>
              <a:rPr sz="23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指示は座標モードの変更。正解は画面上部の切替部分で、公開注釈ではiconに分類される。</a:t>
            </a:r>
          </a:p>
          <a:p>
            <a:pPr marL="457200" indent="-355600">
              <a:lnSpc>
                <a:spcPts val="2760"/>
              </a:lnSpc>
              <a:spcAft>
                <a:spcPts val="0"/>
              </a:spcAft>
              <a:buSzPct val="57826"/>
              <a:buFont typeface="Noto Sans CJK JP"/>
              <a:buChar char="●"/>
              <a:defRPr sz="2300" b="0">
                <a:solidFill>
                  <a:srgbClr val="303437"/>
                </a:solidFill>
                <a:latin typeface="Noto Sans"/>
              </a:defRPr>
            </a:pPr>
            <a:r>
              <a:rPr sz="23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正解領域は（803, 54）から（882, 71）。画面全体2,560 × 1,440 pxに対して、高さは17 pxである。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1. 画面と指示から操作位置を探す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4690872"/>
            <a:ext cx="8183879" cy="3931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Li et al. (2025). ScreenSpot-Pro. 公開注釈1,581件、改訂210e78d。2026-10-16集計。</a:t>
            </a:r>
          </a:p>
          <a:p>
            <a:pPr>
              <a:lnSpc>
                <a:spcPct val="112000"/>
              </a:lnSpc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https://huggingface.co/datasets/likaixin/ScreenSpot-Pro/tree/210e78d3844251110bff86c95835ebd37a6930fa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実例3：PowerPointのコメントを表示する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1. 画面と指示から操作位置を探す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307592"/>
            <a:ext cx="8046720" cy="329184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7000"/>
              </a:lnSpc>
              <a:spcBef>
                <a:spcPts val="0"/>
              </a:spcBef>
              <a:spcAft>
                <a:spcPts val="0"/>
              </a:spcAft>
              <a:buNone/>
              <a:defRPr sz="2000" b="0">
                <a:solidFill>
                  <a:srgbClr val="303437"/>
                </a:solidFill>
                <a:latin typeface="Noto Sans"/>
              </a:defRPr>
            </a:pPr>
            <a:r>
              <a:rPr sz="20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コメントを表示する。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746504"/>
            <a:ext cx="8046720" cy="4572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sz="1450" b="0">
                <a:solidFill>
                  <a:srgbClr val="303437"/>
                </a:solidFill>
                <a:latin typeface="Noto Sans"/>
              </a:defRPr>
            </a:pPr>
            <a:r>
              <a:rPr sz="14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指示の原文：Show comments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2249424"/>
            <a:ext cx="4754880" cy="20116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7000"/>
              </a:lnSpc>
              <a:spcBef>
                <a:spcPts val="0"/>
              </a:spcBef>
              <a:spcAft>
                <a:spcPts val="0"/>
              </a:spcAft>
              <a:buNone/>
              <a:defRPr sz="1100" b="0">
                <a:solidFill>
                  <a:srgbClr val="303437"/>
                </a:solidFill>
                <a:latin typeface="Noto Sans"/>
              </a:defRPr>
            </a:pPr>
            <a:r>
              <a:rPr sz="110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論文の例示画像（正解枠・拡大図を含む）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532120" y="2249424"/>
            <a:ext cx="3063240" cy="20116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7000"/>
              </a:lnSpc>
              <a:spcBef>
                <a:spcPts val="0"/>
              </a:spcBef>
              <a:spcAft>
                <a:spcPts val="0"/>
              </a:spcAft>
              <a:buNone/>
              <a:defRPr sz="1100" b="0">
                <a:solidFill>
                  <a:srgbClr val="303437"/>
                </a:solidFill>
                <a:latin typeface="Noto Sans"/>
              </a:defRPr>
            </a:pPr>
            <a:r>
              <a:rPr sz="110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正解位置の拡大（赤枠）</a:t>
            </a:r>
          </a:p>
        </p:txBody>
      </p:sp>
      <p:pic>
        <p:nvPicPr>
          <p:cNvPr id="8" name="Picture 7" descr="powerpoint_windows_67.jpe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60627" y="2523744"/>
            <a:ext cx="3130905" cy="1956816"/>
          </a:xfrm>
          <a:prstGeom prst="rect">
            <a:avLst/>
          </a:prstGeom>
        </p:spPr>
      </p:pic>
      <p:sp>
        <p:nvSpPr>
          <p:cNvPr id="9" name="Rectangle 8"/>
          <p:cNvSpPr/>
          <p:nvPr/>
        </p:nvSpPr>
        <p:spPr>
          <a:xfrm>
            <a:off x="2028118" y="2602016"/>
            <a:ext cx="72837" cy="69575"/>
          </a:xfrm>
          <a:prstGeom prst="rect">
            <a:avLst/>
          </a:prstGeom>
          <a:noFill/>
          <a:ln w="13970">
            <a:solidFill>
              <a:srgbClr val="B1373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" name="Picture 9" descr="powerpoint_windows_67.jpeg"/>
          <p:cNvPicPr>
            <a:picLocks noChangeAspect="1"/>
          </p:cNvPicPr>
          <p:nvPr/>
        </p:nvPicPr>
        <p:blipFill>
          <a:blip r:embed="rId2"/>
          <a:srcRect l="16927" t="100" r="71962" b="88544"/>
          <a:stretch>
            <a:fillRect/>
          </a:stretch>
        </p:blipFill>
        <p:spPr>
          <a:xfrm>
            <a:off x="5532120" y="2523744"/>
            <a:ext cx="3063240" cy="1956816"/>
          </a:xfrm>
          <a:prstGeom prst="rect">
            <a:avLst/>
          </a:prstGeom>
        </p:spPr>
      </p:pic>
      <p:sp>
        <p:nvSpPr>
          <p:cNvPr id="11" name="Rectangle 10"/>
          <p:cNvSpPr/>
          <p:nvPr/>
        </p:nvSpPr>
        <p:spPr>
          <a:xfrm>
            <a:off x="6743057" y="3195828"/>
            <a:ext cx="641365" cy="612648"/>
          </a:xfrm>
          <a:prstGeom prst="rect">
            <a:avLst/>
          </a:prstGeom>
          <a:noFill/>
          <a:ln w="13970">
            <a:solidFill>
              <a:srgbClr val="B1373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02920" y="4690872"/>
            <a:ext cx="8183879" cy="3931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Li et al. (2025). ScreenSpot-Pro. 論文掲載画像・注釈ID: powerpoint_windows_67。MIT。</a:t>
            </a:r>
          </a:p>
          <a:p>
            <a:pPr>
              <a:lnSpc>
                <a:spcPct val="112000"/>
              </a:lnSpc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3"/>
              </a:rPr>
              <a:t>https://huggingface.co/datasets/likaixin/ScreenSpot-Pro/tree/210e78d3844251110bff86c95835ebd37a6930fa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実例3は、文字の手掛かりがある対象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94360" y="1463040"/>
            <a:ext cx="7955279" cy="3090672"/>
          </a:xfrm>
        </p:spPr>
        <p:txBody>
          <a:bodyPr wrap="square" tIns="91440" bIns="91440">
            <a:noAutofit/>
          </a:bodyPr>
          <a:lstStyle/>
          <a:p>
            <a:pPr marL="457200" indent="-355600">
              <a:lnSpc>
                <a:spcPts val="2760"/>
              </a:lnSpc>
              <a:spcAft>
                <a:spcPts val="800"/>
              </a:spcAft>
              <a:buSzPct val="57826"/>
              <a:buFont typeface="Noto Sans CJK JP"/>
              <a:buChar char="●"/>
              <a:defRPr sz="2300" b="0">
                <a:solidFill>
                  <a:srgbClr val="303437"/>
                </a:solidFill>
                <a:latin typeface="Noto Sans"/>
              </a:defRPr>
            </a:pPr>
            <a:r>
              <a:rPr sz="23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対象は上部のリボンにあるコメントの表示ボタン。公開注釈ではtextに分類される。</a:t>
            </a:r>
          </a:p>
          <a:p>
            <a:pPr marL="457200" indent="-355600">
              <a:lnSpc>
                <a:spcPts val="2760"/>
              </a:lnSpc>
              <a:spcAft>
                <a:spcPts val="800"/>
              </a:spcAft>
              <a:buSzPct val="57826"/>
              <a:buFont typeface="Noto Sans CJK JP"/>
              <a:buChar char="●"/>
              <a:defRPr sz="2300" b="0">
                <a:solidFill>
                  <a:srgbClr val="303437"/>
                </a:solidFill>
                <a:latin typeface="Noto Sans"/>
              </a:defRPr>
            </a:pPr>
            <a:r>
              <a:rPr sz="23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ScreenSpot-Proでは、対象やその周囲に文字の手掛かりがあれば、アイコンを含んでもtextに分類する。</a:t>
            </a:r>
          </a:p>
          <a:p>
            <a:pPr marL="457200" indent="-355600">
              <a:lnSpc>
                <a:spcPts val="2760"/>
              </a:lnSpc>
              <a:spcAft>
                <a:spcPts val="0"/>
              </a:spcAft>
              <a:buSzPct val="57826"/>
              <a:buFont typeface="Noto Sans CJK JP"/>
              <a:buChar char="●"/>
              <a:defRPr sz="2300" b="0">
                <a:solidFill>
                  <a:srgbClr val="303437"/>
                </a:solidFill>
                <a:latin typeface="Noto Sans"/>
              </a:defRPr>
            </a:pPr>
            <a:r>
              <a:rPr sz="23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正解領域は（614, 72）から（681, 136）。入力は2,880 × 1,800 pxの画面である。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1. 画面と指示から操作位置を探す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4690872"/>
            <a:ext cx="8183879" cy="3931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Li et al. (2025). ScreenSpot-Pro: GUI Grounding for Professional High-Resolution Computer Use. Preprint.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 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https://likaixin2000.github.io/papers/ScreenSpot_Pro.pdf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2388106"/>
            <a:ext cx="8046720" cy="822960"/>
          </a:xfrm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10000"/>
              </a:lnSpc>
              <a:buNone/>
              <a:defRPr sz="3600" b="0">
                <a:solidFill>
                  <a:srgbClr val="303437"/>
                </a:solidFill>
                <a:latin typeface="Noto Sans"/>
              </a:defRPr>
            </a:pPr>
            <a:r>
              <a:rPr sz="36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2. 正解の判定とモデルの成績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2. 正解の判定とモデルの成績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予測点が正解領域に入れば成功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94360" y="1463040"/>
            <a:ext cx="7955279" cy="3090672"/>
          </a:xfrm>
        </p:spPr>
        <p:txBody>
          <a:bodyPr wrap="square" tIns="91440" bIns="91440">
            <a:noAutofit/>
          </a:bodyPr>
          <a:lstStyle/>
          <a:p>
            <a:pPr marL="457200" indent="-355600">
              <a:lnSpc>
                <a:spcPts val="2760"/>
              </a:lnSpc>
              <a:spcAft>
                <a:spcPts val="800"/>
              </a:spcAft>
              <a:buSzPct val="57826"/>
              <a:buFont typeface="Noto Sans CJK JP"/>
              <a:buChar char="●"/>
              <a:defRPr sz="2300" b="0">
                <a:solidFill>
                  <a:srgbClr val="303437"/>
                </a:solidFill>
                <a:latin typeface="Noto Sans"/>
              </a:defRPr>
            </a:pPr>
            <a:r>
              <a:rPr sz="23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公式評価は、モデルの予測点が正解の四角形の内側にあるかを判定する。境界上の点も正解になる。</a:t>
            </a:r>
          </a:p>
          <a:p>
            <a:pPr marL="457200" indent="-355600">
              <a:lnSpc>
                <a:spcPts val="2760"/>
              </a:lnSpc>
              <a:spcAft>
                <a:spcPts val="800"/>
              </a:spcAft>
              <a:buSzPct val="57826"/>
              <a:buFont typeface="Noto Sans CJK JP"/>
              <a:buChar char="●"/>
              <a:defRPr sz="2300" b="0">
                <a:solidFill>
                  <a:srgbClr val="303437"/>
                </a:solidFill>
                <a:latin typeface="Noto Sans"/>
              </a:defRPr>
            </a:pPr>
            <a:r>
              <a:rPr sz="23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四角形を出力するモデルでは、その中心点を予測点として扱う。</a:t>
            </a:r>
          </a:p>
          <a:p>
            <a:pPr marL="457200" indent="-355600">
              <a:lnSpc>
                <a:spcPts val="2760"/>
              </a:lnSpc>
              <a:spcAft>
                <a:spcPts val="0"/>
              </a:spcAft>
              <a:buSzPct val="57826"/>
              <a:buFont typeface="Noto Sans CJK JP"/>
              <a:buChar char="●"/>
              <a:defRPr sz="2300" b="0">
                <a:solidFill>
                  <a:srgbClr val="303437"/>
                </a:solidFill>
                <a:latin typeface="Noto Sans"/>
              </a:defRPr>
            </a:pPr>
            <a:r>
              <a:rPr sz="23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正解率は、成功した件数を評価件数で割った値。全体に加え、文字・アイコンやアプリ別にも集計する。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2. 正解の判定とモデルの成績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4690872"/>
            <a:ext cx="8183879" cy="3931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Li et al. (2025). ScreenSpot-Pro: eval_screenspot_pro.py. 点の正解判定と指標集計。</a:t>
            </a:r>
          </a:p>
          <a:p>
            <a:pPr>
              <a:lnSpc>
                <a:spcPct val="112000"/>
              </a:lnSpc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https://github.com/likaixin2000/ScreenSpot-Pro-GUI-Grounding/blob/main/eval_screenspot_pro.py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説明用の3試行では、2件成功で66.7%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2. 正解の判定とモデルの成績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48640" y="1508760"/>
          <a:ext cx="8046720" cy="2258568"/>
        </p:xfrm>
        <a:graphic>
          <a:graphicData uri="http://schemas.openxmlformats.org/drawingml/2006/table">
            <a:tbl>
              <a:tblPr firstRow="0" bandRow="0"/>
              <a:tblGrid>
                <a:gridCol w="2194560"/>
                <a:gridCol w="4023360"/>
                <a:gridCol w="1828800"/>
              </a:tblGrid>
              <a:tr h="475488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300"/>
                        </a:lnSpc>
                        <a:buNone/>
                        <a:defRPr sz="20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0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試行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300"/>
                        </a:lnSpc>
                        <a:buNone/>
                        <a:defRPr sz="20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0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予測点の位置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300"/>
                        </a:lnSpc>
                        <a:buNone/>
                        <a:defRPr sz="20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0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判定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</a:tr>
              <a:tr h="594360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300"/>
                        </a:lnSpc>
                        <a:buNone/>
                        <a:defRPr sz="20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0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VS Code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300"/>
                        </a:lnSpc>
                        <a:buNone/>
                        <a:defRPr sz="20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0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更新アイコンの領域内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300"/>
                        </a:lnSpc>
                        <a:buNone/>
                        <a:defRPr sz="20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0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成功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594360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300"/>
                        </a:lnSpc>
                        <a:buNone/>
                        <a:defRPr sz="20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0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Blender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300"/>
                        </a:lnSpc>
                        <a:buNone/>
                        <a:defRPr sz="20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0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隣の操作部分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300"/>
                        </a:lnSpc>
                        <a:buNone/>
                        <a:defRPr sz="20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0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失敗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594360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300"/>
                        </a:lnSpc>
                        <a:buNone/>
                        <a:defRPr sz="20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0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PowerPoint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300"/>
                        </a:lnSpc>
                        <a:buNone/>
                        <a:defRPr sz="20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0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コメントボタンの領域内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300"/>
                        </a:lnSpc>
                        <a:buNone/>
                        <a:defRPr sz="20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0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成功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94360" y="3959352"/>
            <a:ext cx="7955279" cy="6858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2160"/>
              </a:lnSpc>
              <a:spcBef>
                <a:spcPts val="0"/>
              </a:spcBef>
              <a:spcAft>
                <a:spcPts val="0"/>
              </a:spcAft>
              <a:buNone/>
              <a:defRPr sz="1800" b="0">
                <a:solidFill>
                  <a:srgbClr val="303437"/>
                </a:solidFill>
                <a:latin typeface="Noto Sans"/>
              </a:defRPr>
            </a:pPr>
            <a:r>
              <a:rPr sz="18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成功2件 ÷ 全3件 × 100 = 約66.7%。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4690872"/>
            <a:ext cx="8183879" cy="3931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Li et al. (2025). ScreenSpot-Pro: GUI Grounding for Professional High-Resolution Computer Use. Preprint.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 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https://likaixin2000.github.io/papers/ScreenSpot_Pro.pdf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Liら（2025）による初期モデルの評価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2. 正解の判定とモデルの成績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48640" y="1508760"/>
          <a:ext cx="8046720" cy="2258568"/>
        </p:xfrm>
        <a:graphic>
          <a:graphicData uri="http://schemas.openxmlformats.org/drawingml/2006/table">
            <a:tbl>
              <a:tblPr firstRow="0" bandRow="0"/>
              <a:tblGrid>
                <a:gridCol w="5852160"/>
                <a:gridCol w="2194560"/>
              </a:tblGrid>
              <a:tr h="475488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415"/>
                        </a:lnSpc>
                        <a:buNone/>
                        <a:defRPr sz="21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1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モデル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415"/>
                        </a:lnSpc>
                        <a:buNone/>
                        <a:defRPr sz="21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1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正解率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</a:tr>
              <a:tr h="594360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415"/>
                        </a:lnSpc>
                        <a:buNone/>
                        <a:defRPr sz="21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1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OS-Atlas-7B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415"/>
                        </a:lnSpc>
                        <a:buNone/>
                        <a:defRPr sz="21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1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18.9%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594360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415"/>
                        </a:lnSpc>
                        <a:buNone/>
                        <a:defRPr sz="21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1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UGround-7B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415"/>
                        </a:lnSpc>
                        <a:buNone/>
                        <a:defRPr sz="21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1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16.5%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594360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415"/>
                        </a:lnSpc>
                        <a:buNone/>
                        <a:defRPr sz="21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1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GPT-4o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415"/>
                        </a:lnSpc>
                        <a:buNone/>
                        <a:defRPr sz="21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1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0.8%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94360" y="3959352"/>
            <a:ext cx="7955279" cy="6858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2160"/>
              </a:lnSpc>
              <a:spcBef>
                <a:spcPts val="0"/>
              </a:spcBef>
              <a:spcAft>
                <a:spcPts val="0"/>
              </a:spcAft>
              <a:buNone/>
              <a:defRPr sz="1800" b="0">
                <a:solidFill>
                  <a:srgbClr val="303437"/>
                </a:solidFill>
                <a:latin typeface="Noto Sans"/>
              </a:defRPr>
            </a:pPr>
            <a:r>
              <a:rPr sz="18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英語の指示を使用。画面全体から直接、位置を予測。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4690872"/>
            <a:ext cx="8183879" cy="3931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Li et al. (2025). ScreenSpot-Pro: GUI Grounding for Professional High-Resolution Computer Use. Preprint.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 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https://likaixin2000.github.io/papers/ScreenSpot_Pro.pdf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2026年のモデル評価でも使われている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2. 正解の判定とモデルの成績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48640" y="1508760"/>
          <a:ext cx="8046720" cy="2258568"/>
        </p:xfrm>
        <a:graphic>
          <a:graphicData uri="http://schemas.openxmlformats.org/drawingml/2006/table">
            <a:tbl>
              <a:tblPr firstRow="0" bandRow="0"/>
              <a:tblGrid>
                <a:gridCol w="5852160"/>
                <a:gridCol w="2194560"/>
              </a:tblGrid>
              <a:tr h="475488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415"/>
                        </a:lnSpc>
                        <a:buNone/>
                        <a:defRPr sz="21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1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OpenAIの公表表のモデル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415"/>
                        </a:lnSpc>
                        <a:buNone/>
                        <a:defRPr sz="21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1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正解率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</a:tr>
              <a:tr h="594360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415"/>
                        </a:lnSpc>
                        <a:buNone/>
                        <a:defRPr sz="21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1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GPT-6 Astra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415"/>
                        </a:lnSpc>
                        <a:buNone/>
                        <a:defRPr sz="21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1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92.7%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594360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415"/>
                        </a:lnSpc>
                        <a:buNone/>
                        <a:defRPr sz="21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1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GPT-5.6 Sol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415"/>
                        </a:lnSpc>
                        <a:buNone/>
                        <a:defRPr sz="21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1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76.9%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594360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415"/>
                        </a:lnSpc>
                        <a:buNone/>
                        <a:defRPr sz="21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1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Fable 5欄（Mythos）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415"/>
                        </a:lnSpc>
                        <a:buNone/>
                        <a:defRPr sz="21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1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87.3%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94360" y="3959352"/>
            <a:ext cx="7955279" cy="6858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2160"/>
              </a:lnSpc>
              <a:spcBef>
                <a:spcPts val="0"/>
              </a:spcBef>
              <a:spcAft>
                <a:spcPts val="0"/>
              </a:spcAft>
              <a:buNone/>
              <a:defRPr sz="1800" b="0">
                <a:solidFill>
                  <a:srgbClr val="303437"/>
                </a:solidFill>
                <a:latin typeface="Noto Sans"/>
              </a:defRPr>
            </a:pPr>
            <a:r>
              <a:rPr sz="18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ツールなし。Claude欄はFableの安全策を減らしたMythos。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4690872"/>
            <a:ext cx="8183879" cy="3931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OpenAI (2026). GPT-6 Astra: A new generation of intelligence. ScreenSpot-Pro / no tools. 2026-10-16参照。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 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https://openai.com/index/gpt-6-astra/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ScreenSeekeRは画面を絞って探す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94360" y="1463040"/>
            <a:ext cx="7955279" cy="3090672"/>
          </a:xfrm>
        </p:spPr>
        <p:txBody>
          <a:bodyPr wrap="square" tIns="91440" bIns="91440">
            <a:noAutofit/>
          </a:bodyPr>
          <a:lstStyle/>
          <a:p>
            <a:pPr marL="457200" indent="-355600">
              <a:lnSpc>
                <a:spcPts val="2760"/>
              </a:lnSpc>
              <a:spcAft>
                <a:spcPts val="800"/>
              </a:spcAft>
              <a:buSzPct val="57826"/>
              <a:buFont typeface="Noto Sans CJK JP"/>
              <a:buChar char="●"/>
              <a:defRPr sz="2300" b="0">
                <a:solidFill>
                  <a:srgbClr val="303437"/>
                </a:solidFill>
                <a:latin typeface="Noto Sans"/>
              </a:defRPr>
            </a:pPr>
            <a:r>
              <a:rPr sz="23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ScreenSeekeRは、言語モデルが探す領域を計画し、位置推定モデルが対象を特定する方法である。</a:t>
            </a:r>
          </a:p>
          <a:p>
            <a:pPr marL="457200" indent="-355600">
              <a:lnSpc>
                <a:spcPts val="2760"/>
              </a:lnSpc>
              <a:spcAft>
                <a:spcPts val="800"/>
              </a:spcAft>
              <a:buSzPct val="57826"/>
              <a:buFont typeface="Noto Sans CJK JP"/>
              <a:buChar char="●"/>
              <a:defRPr sz="2300" b="0">
                <a:solidFill>
                  <a:srgbClr val="303437"/>
                </a:solidFill>
                <a:latin typeface="Noto Sans"/>
              </a:defRPr>
            </a:pPr>
            <a:r>
              <a:rPr sz="23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Liら（2025）は、計画役にGPT-4o、位置推定役にOS-Atlas-7Bを使った。</a:t>
            </a:r>
          </a:p>
          <a:p>
            <a:pPr marL="457200" indent="-355600">
              <a:lnSpc>
                <a:spcPts val="2760"/>
              </a:lnSpc>
              <a:spcAft>
                <a:spcPts val="0"/>
              </a:spcAft>
              <a:buSzPct val="57826"/>
              <a:buFont typeface="Noto Sans CJK JP"/>
              <a:buChar char="●"/>
              <a:defRPr sz="2300" b="0">
                <a:solidFill>
                  <a:srgbClr val="303437"/>
                </a:solidFill>
                <a:latin typeface="Noto Sans"/>
              </a:defRPr>
            </a:pPr>
            <a:r>
              <a:rPr sz="23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メニューやパネルの構造を手掛かりに候補領域を選び、画像を切り出して段階的に絞り込む。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2. 正解の判定とモデルの成績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4690872"/>
            <a:ext cx="8183879" cy="3931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Li et al. (2025). ScreenSpot-Pro: GUI Grounding for Professional High-Resolution Computer Use. Preprint.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 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https://likaixin2000.github.io/papers/ScreenSpot_Pro.pdf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探索を加えると初期モデルの成績が上がる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2. 正解の判定とモデルの成績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48640" y="1508760"/>
          <a:ext cx="8046720" cy="2532888"/>
        </p:xfrm>
        <a:graphic>
          <a:graphicData uri="http://schemas.openxmlformats.org/drawingml/2006/table">
            <a:tbl>
              <a:tblPr firstRow="0" bandRow="0"/>
              <a:tblGrid>
                <a:gridCol w="6035040"/>
                <a:gridCol w="2011680"/>
              </a:tblGrid>
              <a:tr h="475488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300"/>
                        </a:lnSpc>
                        <a:buNone/>
                        <a:defRPr sz="20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0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OS-Atlas-7Bを使う方法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300"/>
                        </a:lnSpc>
                        <a:buNone/>
                        <a:defRPr sz="20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0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正解率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</a:tr>
              <a:tr h="685800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300"/>
                        </a:lnSpc>
                        <a:buNone/>
                        <a:defRPr sz="20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0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画面全体から直接予測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300"/>
                        </a:lnSpc>
                        <a:buNone/>
                        <a:defRPr sz="20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0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18.9%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685800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300"/>
                        </a:lnSpc>
                        <a:buNone/>
                        <a:defRPr sz="20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0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初回予測の周辺で再推定：ReGround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300"/>
                        </a:lnSpc>
                        <a:buNone/>
                        <a:defRPr sz="20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0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40.2%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685800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300"/>
                        </a:lnSpc>
                        <a:buNone/>
                        <a:defRPr sz="20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0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GPT-4oが探索を計画：ScreenSeekeR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300"/>
                        </a:lnSpc>
                        <a:buNone/>
                        <a:defRPr sz="20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0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48.1%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02920" y="4690872"/>
            <a:ext cx="8183879" cy="3931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Li et al. (2025). ScreenSpot-Pro: GUI Grounding for Professional High-Resolution Computer Use. Preprint.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 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https://likaixin2000.github.io/papers/ScreenSpot_Pro.pdf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初期モデルではアイコンの成績が低い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2. 正解の判定とモデルの成績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48640" y="1508760"/>
          <a:ext cx="8046720" cy="1901952"/>
        </p:xfrm>
        <a:graphic>
          <a:graphicData uri="http://schemas.openxmlformats.org/drawingml/2006/table">
            <a:tbl>
              <a:tblPr firstRow="0" bandRow="0"/>
              <a:tblGrid>
                <a:gridCol w="4023360"/>
                <a:gridCol w="2011680"/>
                <a:gridCol w="2011680"/>
              </a:tblGrid>
              <a:tr h="51206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415"/>
                        </a:lnSpc>
                        <a:buNone/>
                        <a:defRPr sz="21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1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方法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415"/>
                        </a:lnSpc>
                        <a:buNone/>
                        <a:defRPr sz="21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1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text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415"/>
                        </a:lnSpc>
                        <a:buNone/>
                        <a:defRPr sz="21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1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icon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</a:tr>
              <a:tr h="69494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415"/>
                        </a:lnSpc>
                        <a:buNone/>
                        <a:defRPr sz="21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1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OS-Atlas-7B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415"/>
                        </a:lnSpc>
                        <a:buNone/>
                        <a:defRPr sz="21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1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28.1%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415"/>
                        </a:lnSpc>
                        <a:buNone/>
                        <a:defRPr sz="21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1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4.0%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69494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415"/>
                        </a:lnSpc>
                        <a:buNone/>
                        <a:defRPr sz="21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1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ScreenSeekeR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415"/>
                        </a:lnSpc>
                        <a:buNone/>
                        <a:defRPr sz="21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1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64.1%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415"/>
                        </a:lnSpc>
                        <a:buNone/>
                        <a:defRPr sz="21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1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22.4%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02920" y="4690872"/>
            <a:ext cx="8183879" cy="3931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Li et al. (2025). ScreenSpot-Pro: GUI Grounding for Professional High-Resolution Computer Use. Preprint.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 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https://likaixin2000.github.io/papers/ScreenSpot_Pro.pdf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2388106"/>
            <a:ext cx="8046720" cy="822960"/>
          </a:xfrm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10000"/>
              </a:lnSpc>
              <a:buNone/>
              <a:defRPr sz="3600" b="0">
                <a:solidFill>
                  <a:srgbClr val="303437"/>
                </a:solidFill>
                <a:latin typeface="Noto Sans"/>
              </a:defRPr>
            </a:pPr>
            <a:r>
              <a:rPr sz="36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3. 作成方法とデータの全体像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3. 作成方法とデータの全体像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専門ソフトの小さな操作対象を集めた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94360" y="1463040"/>
            <a:ext cx="7955279" cy="3090672"/>
          </a:xfrm>
        </p:spPr>
        <p:txBody>
          <a:bodyPr wrap="square" tIns="91440" bIns="91440">
            <a:noAutofit/>
          </a:bodyPr>
          <a:lstStyle/>
          <a:p>
            <a:pPr marL="457200" indent="-355600">
              <a:lnSpc>
                <a:spcPts val="2760"/>
              </a:lnSpc>
              <a:spcAft>
                <a:spcPts val="800"/>
              </a:spcAft>
              <a:buSzPct val="57826"/>
              <a:buFont typeface="Noto Sans CJK JP"/>
              <a:buChar char="●"/>
              <a:defRPr sz="2300" b="0">
                <a:solidFill>
                  <a:srgbClr val="303437"/>
                </a:solidFill>
                <a:latin typeface="Noto Sans"/>
              </a:defRPr>
            </a:pPr>
            <a:r>
              <a:rPr sz="23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従来のGUIデータは、一般的なWebやモバイル操作を主に扱っていた。</a:t>
            </a:r>
          </a:p>
          <a:p>
            <a:pPr marL="457200" indent="-355600">
              <a:lnSpc>
                <a:spcPts val="2760"/>
              </a:lnSpc>
              <a:spcAft>
                <a:spcPts val="800"/>
              </a:spcAft>
              <a:buSzPct val="57826"/>
              <a:buFont typeface="Noto Sans CJK JP"/>
              <a:buChar char="●"/>
              <a:defRPr sz="2300" b="0">
                <a:solidFill>
                  <a:srgbClr val="303437"/>
                </a:solidFill>
                <a:latin typeface="Noto Sans"/>
              </a:defRPr>
            </a:pPr>
            <a:r>
              <a:rPr sz="23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専門ソフトは、多くの道具と設定を高解像度の画面に並べる。画面全体に対して、個々の操作対象が小さくなる。</a:t>
            </a:r>
          </a:p>
          <a:p>
            <a:pPr marL="457200" indent="-355600">
              <a:lnSpc>
                <a:spcPts val="2760"/>
              </a:lnSpc>
              <a:spcAft>
                <a:spcPts val="0"/>
              </a:spcAft>
              <a:buSzPct val="57826"/>
              <a:buFont typeface="Noto Sans CJK JP"/>
              <a:buChar char="●"/>
              <a:defRPr sz="2300" b="0">
                <a:solidFill>
                  <a:srgbClr val="303437"/>
                </a:solidFill>
                <a:latin typeface="Noto Sans"/>
              </a:defRPr>
            </a:pPr>
            <a:r>
              <a:rPr sz="23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ScreenSpot-Proは、開発、制作、設計、科学計算、オフィス作業などの実際の画面を集めた。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3. 作成方法とデータの全体像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4690872"/>
            <a:ext cx="8183879" cy="3931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Li et al. (2025). ScreenSpot-Pro: GUI Grounding for Professional High-Resolution Computer Use. Preprint.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 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https://likaixin2000.github.io/papers/ScreenSpot_Pro.pdf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5年以上の利用経験を持つ専門家が記録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94360" y="1463040"/>
            <a:ext cx="7955279" cy="3090672"/>
          </a:xfrm>
        </p:spPr>
        <p:txBody>
          <a:bodyPr wrap="square" tIns="91440" bIns="91440">
            <a:noAutofit/>
          </a:bodyPr>
          <a:lstStyle/>
          <a:p>
            <a:pPr marL="457200" indent="-355600">
              <a:lnSpc>
                <a:spcPts val="2760"/>
              </a:lnSpc>
              <a:spcAft>
                <a:spcPts val="800"/>
              </a:spcAft>
              <a:buSzPct val="57826"/>
              <a:buFont typeface="Noto Sans CJK JP"/>
              <a:buChar char="●"/>
              <a:defRPr sz="2300" b="0">
                <a:solidFill>
                  <a:srgbClr val="303437"/>
                </a:solidFill>
                <a:latin typeface="Noto Sans"/>
              </a:defRPr>
            </a:pPr>
            <a:r>
              <a:rPr sz="23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対象ソフトを5年以上使う専門家が、普段の作業中に画面と操作指示を記録した。</a:t>
            </a:r>
          </a:p>
          <a:p>
            <a:pPr marL="457200" indent="-355600">
              <a:lnSpc>
                <a:spcPts val="2760"/>
              </a:lnSpc>
              <a:spcAft>
                <a:spcPts val="800"/>
              </a:spcAft>
              <a:buSzPct val="57826"/>
              <a:buFont typeface="Noto Sans CJK JP"/>
              <a:buChar char="●"/>
              <a:defRPr sz="2300" b="0">
                <a:solidFill>
                  <a:srgbClr val="303437"/>
                </a:solidFill>
                <a:latin typeface="Noto Sans"/>
              </a:defRPr>
            </a:pPr>
            <a:r>
              <a:rPr sz="23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ショートカットで画面を撮り、その場で対象の四角形と指示を入力する注釈ツールを用いた。</a:t>
            </a:r>
          </a:p>
          <a:p>
            <a:pPr marL="457200" indent="-355600">
              <a:lnSpc>
                <a:spcPts val="2760"/>
              </a:lnSpc>
              <a:spcAft>
                <a:spcPts val="0"/>
              </a:spcAft>
              <a:buSzPct val="57826"/>
              <a:buFont typeface="Noto Sans CJK JP"/>
              <a:buChar char="●"/>
              <a:defRPr sz="2300" b="0">
                <a:solidFill>
                  <a:srgbClr val="303437"/>
                </a:solidFill>
                <a:latin typeface="Noto Sans"/>
              </a:defRPr>
            </a:pPr>
            <a:r>
              <a:rPr sz="23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画面の拡大表示を無効にし、複数のディスプレーを使う場合は画面をまたいで収録した。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3. 作成方法とデータの全体像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4690872"/>
            <a:ext cx="8183879" cy="3931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Li et al. (2025). ScreenSpot-Pro: GUI Grounding for Professional High-Resolution Computer Use. Preprint.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 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https://likaixin2000.github.io/papers/ScreenSpot_Pro.pdf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少なくとも2人が、指示と領域を確認する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94360" y="1463040"/>
            <a:ext cx="7955279" cy="3090672"/>
          </a:xfrm>
        </p:spPr>
        <p:txBody>
          <a:bodyPr wrap="square" tIns="91440" bIns="91440">
            <a:noAutofit/>
          </a:bodyPr>
          <a:lstStyle/>
          <a:p>
            <a:pPr marL="457200" indent="-355600">
              <a:lnSpc>
                <a:spcPts val="2760"/>
              </a:lnSpc>
              <a:spcAft>
                <a:spcPts val="800"/>
              </a:spcAft>
              <a:buSzPct val="57826"/>
              <a:buFont typeface="Noto Sans CJK JP"/>
              <a:buChar char="●"/>
              <a:defRPr sz="2300" b="0">
                <a:solidFill>
                  <a:srgbClr val="303437"/>
                </a:solidFill>
                <a:latin typeface="Noto Sans"/>
              </a:defRPr>
            </a:pPr>
            <a:r>
              <a:rPr sz="23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各例を少なくとも2人が確認し、指示が画面内の一つの領域を指すようにした。</a:t>
            </a:r>
          </a:p>
          <a:p>
            <a:pPr marL="457200" indent="-355600">
              <a:lnSpc>
                <a:spcPts val="2760"/>
              </a:lnSpc>
              <a:spcAft>
                <a:spcPts val="800"/>
              </a:spcAft>
              <a:buSzPct val="57826"/>
              <a:buFont typeface="Noto Sans CJK JP"/>
              <a:buChar char="●"/>
              <a:defRPr sz="2300" b="0">
                <a:solidFill>
                  <a:srgbClr val="303437"/>
                </a:solidFill>
                <a:latin typeface="Noto Sans"/>
              </a:defRPr>
            </a:pPr>
            <a:r>
              <a:rPr sz="23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別のウィンドウやメニューを開かず、提示された画面から直接操作できる対象を選ぶ。</a:t>
            </a:r>
          </a:p>
          <a:p>
            <a:pPr marL="457200" indent="-355600">
              <a:lnSpc>
                <a:spcPts val="2760"/>
              </a:lnSpc>
              <a:spcAft>
                <a:spcPts val="0"/>
              </a:spcAft>
              <a:buSzPct val="57826"/>
              <a:buFont typeface="Noto Sans CJK JP"/>
              <a:buChar char="●"/>
              <a:defRPr sz="2300" b="0">
                <a:solidFill>
                  <a:srgbClr val="303437"/>
                </a:solidFill>
                <a:latin typeface="Noto Sans"/>
              </a:defRPr>
            </a:pPr>
            <a:r>
              <a:rPr sz="23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正解の四角形は操作できる部分を囲む。文字の手掛かりの有無に基づきtextとiconを分類する。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3. 作成方法とデータの全体像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4690872"/>
            <a:ext cx="8183879" cy="3931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Li et al. (2025). ScreenSpot-Pro: GUI Grounding for Professional High-Resolution Computer Use. Preprint.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 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https://likaixin2000.github.io/papers/ScreenSpot_Pro.pdf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制作・開発・設計など6分類を含む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3. 作成方法とデータの全体像</a:t>
            </a:r>
          </a:p>
        </p:txBody>
      </p:sp>
      <p:graphicFrame>
        <p:nvGraphicFramePr>
          <p:cNvPr id="4" name="Chart 3"/>
          <p:cNvGraphicFramePr>
            <a:graphicFrameLocks noGrp="1"/>
          </p:cNvGraphicFramePr>
          <p:nvPr/>
        </p:nvGraphicFramePr>
        <p:xfrm>
          <a:off x="548640" y="1481328"/>
          <a:ext cx="8046720" cy="246888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94360" y="4096512"/>
            <a:ext cx="7955279" cy="420624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2160"/>
              </a:lnSpc>
              <a:spcBef>
                <a:spcPts val="0"/>
              </a:spcBef>
              <a:spcAft>
                <a:spcPts val="0"/>
              </a:spcAft>
              <a:buNone/>
              <a:defRPr sz="1750" b="0">
                <a:solidFill>
                  <a:srgbClr val="303437"/>
                </a:solidFill>
                <a:latin typeface="Noto Sans"/>
              </a:defRPr>
            </a:pPr>
            <a:r>
              <a:rPr sz="17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公開改訂210e78dの全1,581件を分類別に集計。単位：件。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4690872"/>
            <a:ext cx="8183879" cy="3931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Li et al. (2025). ScreenSpot-Pro. 公開注釈1,581件、改訂210e78d。2026-10-16集計。</a:t>
            </a:r>
          </a:p>
          <a:p>
            <a:pPr>
              <a:lnSpc>
                <a:spcPct val="112000"/>
              </a:lnSpc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3"/>
              </a:rPr>
              <a:t>https://huggingface.co/datasets/likaixin/ScreenSpot-Pro/tree/210e78d3844251110bff86c95835ebd37a6930fa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2,560 × 1,440 pxの画面が514件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3. 作成方法とデータの全体像</a:t>
            </a:r>
          </a:p>
        </p:txBody>
      </p:sp>
      <p:graphicFrame>
        <p:nvGraphicFramePr>
          <p:cNvPr id="4" name="Chart 3"/>
          <p:cNvGraphicFramePr>
            <a:graphicFrameLocks noGrp="1"/>
          </p:cNvGraphicFramePr>
          <p:nvPr/>
        </p:nvGraphicFramePr>
        <p:xfrm>
          <a:off x="548640" y="1481328"/>
          <a:ext cx="8046720" cy="246888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94360" y="4096512"/>
            <a:ext cx="7955279" cy="420624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2160"/>
              </a:lnSpc>
              <a:spcBef>
                <a:spcPts val="0"/>
              </a:spcBef>
              <a:spcAft>
                <a:spcPts val="0"/>
              </a:spcAft>
              <a:buNone/>
              <a:defRPr sz="1750" b="0">
                <a:solidFill>
                  <a:srgbClr val="303437"/>
                </a:solidFill>
                <a:latin typeface="Noto Sans"/>
              </a:defRPr>
            </a:pPr>
            <a:r>
              <a:rPr sz="17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画面サイズ別の件数。その他を含め、全1,581件。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4690872"/>
            <a:ext cx="8183879" cy="3931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Li et al. (2025). ScreenSpot-Pro. 公開注釈1,581件、改訂210e78d。2026-10-16集計。</a:t>
            </a:r>
          </a:p>
          <a:p>
            <a:pPr>
              <a:lnSpc>
                <a:spcPct val="112000"/>
              </a:lnSpc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3"/>
              </a:rPr>
              <a:t>https://huggingface.co/datasets/likaixin/ScreenSpot-Pro/tree/210e78d3844251110bff86c95835ebd37a6930fa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対象の平均面積は、画面の約0.065%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94360" y="1463040"/>
            <a:ext cx="7955279" cy="3090672"/>
          </a:xfrm>
        </p:spPr>
        <p:txBody>
          <a:bodyPr wrap="square" tIns="91440" bIns="91440">
            <a:noAutofit/>
          </a:bodyPr>
          <a:lstStyle/>
          <a:p>
            <a:pPr marL="457200" indent="-355600">
              <a:lnSpc>
                <a:spcPts val="2760"/>
              </a:lnSpc>
              <a:spcAft>
                <a:spcPts val="800"/>
              </a:spcAft>
              <a:buSzPct val="57826"/>
              <a:buFont typeface="Noto Sans CJK JP"/>
              <a:buChar char="●"/>
              <a:defRPr sz="2300" b="0">
                <a:solidFill>
                  <a:srgbClr val="303437"/>
                </a:solidFill>
                <a:latin typeface="Noto Sans"/>
              </a:defRPr>
            </a:pPr>
            <a:r>
              <a:rPr sz="23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公開注釈の四角形の面積を画面面積で割ると、平均は約0.065%、中央値は約0.035%になる。</a:t>
            </a:r>
          </a:p>
          <a:p>
            <a:pPr marL="457200" indent="-355600">
              <a:lnSpc>
                <a:spcPts val="2760"/>
              </a:lnSpc>
              <a:spcAft>
                <a:spcPts val="0"/>
              </a:spcAft>
              <a:buSzPct val="57826"/>
              <a:buFont typeface="Noto Sans CJK JP"/>
              <a:buChar char="●"/>
              <a:defRPr sz="2300" b="0">
                <a:solidFill>
                  <a:srgbClr val="303437"/>
                </a:solidFill>
                <a:latin typeface="Noto Sans"/>
              </a:defRPr>
            </a:pPr>
            <a:r>
              <a:rPr sz="23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最初のVS Codeの例は30 × 36 px。画面2,560 × 1,664 pxの約0.025%を占める。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3. 作成方法とデータの全体像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4690872"/>
            <a:ext cx="8183879" cy="3931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Li et al. (2025). ScreenSpot-Pro. 公開注釈1,581件、改訂210e78d。2026-10-16集計。</a:t>
            </a:r>
          </a:p>
          <a:p>
            <a:pPr>
              <a:lnSpc>
                <a:spcPct val="112000"/>
              </a:lnSpc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https://huggingface.co/datasets/likaixin/ScreenSpot-Pro/tree/210e78d3844251110bff86c95835ebd37a6930fa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公開注釈ではtextが977件、iconが604件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3. 作成方法とデータの全体像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48640" y="1508760"/>
          <a:ext cx="8046720" cy="1965960"/>
        </p:xfrm>
        <a:graphic>
          <a:graphicData uri="http://schemas.openxmlformats.org/drawingml/2006/table">
            <a:tbl>
              <a:tblPr firstRow="0" bandRow="0"/>
              <a:tblGrid>
                <a:gridCol w="4389120"/>
                <a:gridCol w="1828800"/>
                <a:gridCol w="1828800"/>
              </a:tblGrid>
              <a:tr h="502920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300"/>
                        </a:lnSpc>
                        <a:buNone/>
                        <a:defRPr sz="20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0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対象の種類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300"/>
                        </a:lnSpc>
                        <a:buNone/>
                        <a:defRPr sz="20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0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件数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300"/>
                        </a:lnSpc>
                        <a:buNone/>
                        <a:defRPr sz="20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0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割合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</a:tr>
              <a:tr h="731520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300"/>
                        </a:lnSpc>
                        <a:buNone/>
                        <a:defRPr sz="20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0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文字の手掛かりあり：text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300"/>
                        </a:lnSpc>
                        <a:buNone/>
                        <a:defRPr sz="20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0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977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300"/>
                        </a:lnSpc>
                        <a:buNone/>
                        <a:defRPr sz="20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0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61.8%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731520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300"/>
                        </a:lnSpc>
                        <a:buNone/>
                        <a:defRPr sz="20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0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文字の手掛かりなし：icon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300"/>
                        </a:lnSpc>
                        <a:buNone/>
                        <a:defRPr sz="20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0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604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300"/>
                        </a:lnSpc>
                        <a:buNone/>
                        <a:defRPr sz="20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0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38.2%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02920" y="4690872"/>
            <a:ext cx="8183879" cy="3931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Li et al. (2025). ScreenSpot-Pro. 公開注釈1,581件、改訂210e78d。2026-10-16集計。</a:t>
            </a:r>
          </a:p>
          <a:p>
            <a:pPr>
              <a:lnSpc>
                <a:spcPct val="112000"/>
              </a:lnSpc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https://huggingface.co/datasets/likaixin/ScreenSpot-Pro/tree/210e78d3844251110bff86c95835ebd37a6930fa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Windows・macOS・Linuxの画面を含む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3. 作成方法とデータの全体像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48640" y="1508760"/>
          <a:ext cx="8046720" cy="2258568"/>
        </p:xfrm>
        <a:graphic>
          <a:graphicData uri="http://schemas.openxmlformats.org/drawingml/2006/table">
            <a:tbl>
              <a:tblPr firstRow="0" bandRow="0"/>
              <a:tblGrid>
                <a:gridCol w="5852160"/>
                <a:gridCol w="2194560"/>
              </a:tblGrid>
              <a:tr h="475488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415"/>
                        </a:lnSpc>
                        <a:buNone/>
                        <a:defRPr sz="21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1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公開注釈のOS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415"/>
                        </a:lnSpc>
                        <a:buNone/>
                        <a:defRPr sz="21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1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件数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</a:tr>
              <a:tr h="594360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415"/>
                        </a:lnSpc>
                        <a:buNone/>
                        <a:defRPr sz="21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1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Windows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415"/>
                        </a:lnSpc>
                        <a:buNone/>
                        <a:defRPr sz="21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1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927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594360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415"/>
                        </a:lnSpc>
                        <a:buNone/>
                        <a:defRPr sz="21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1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macOS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415"/>
                        </a:lnSpc>
                        <a:buNone/>
                        <a:defRPr sz="21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1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604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594360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415"/>
                        </a:lnSpc>
                        <a:buNone/>
                        <a:defRPr sz="21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1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Linux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415"/>
                        </a:lnSpc>
                        <a:buNone/>
                        <a:defRPr sz="21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1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50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02920" y="4690872"/>
            <a:ext cx="8183879" cy="3931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Li et al. (2025). ScreenSpot-Pro. 公開注釈1,581件、改訂210e78d。2026-10-16集計。</a:t>
            </a:r>
          </a:p>
          <a:p>
            <a:pPr>
              <a:lnSpc>
                <a:spcPct val="112000"/>
              </a:lnSpc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https://huggingface.co/datasets/likaixin/ScreenSpot-Pro/tree/210e78d3844251110bff86c95835ebd37a6930fa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2388106"/>
            <a:ext cx="8046720" cy="822960"/>
          </a:xfrm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10000"/>
              </a:lnSpc>
              <a:buNone/>
              <a:defRPr sz="3600" b="0">
                <a:solidFill>
                  <a:srgbClr val="303437"/>
                </a:solidFill>
                <a:latin typeface="Noto Sans"/>
              </a:defRPr>
            </a:pPr>
            <a:r>
              <a:rPr sz="36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4. 系列の違いと利用方法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4. 系列の違いと利用方法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ScreenSpot系列は画面と注釈の対象が違う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4. 系列の違いと利用方法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48640" y="1508760"/>
          <a:ext cx="8046720" cy="2660904"/>
        </p:xfrm>
        <a:graphic>
          <a:graphicData uri="http://schemas.openxmlformats.org/drawingml/2006/table">
            <a:tbl>
              <a:tblPr firstRow="0" bandRow="0"/>
              <a:tblGrid>
                <a:gridCol w="2468880"/>
                <a:gridCol w="5577840"/>
              </a:tblGrid>
              <a:tr h="475488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185"/>
                        </a:lnSpc>
                        <a:buNone/>
                        <a:defRPr sz="19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9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名称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185"/>
                        </a:lnSpc>
                        <a:buNone/>
                        <a:defRPr sz="19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9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役割・特徴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</a:tr>
              <a:tr h="758952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185"/>
                        </a:lnSpc>
                        <a:buNone/>
                        <a:defRPr sz="19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9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ScreenSpot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185"/>
                        </a:lnSpc>
                        <a:buNone/>
                        <a:defRPr sz="19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9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一般的なWeb・モバイル・PC画面で位置を評価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667512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185"/>
                        </a:lnSpc>
                        <a:buNone/>
                        <a:defRPr sz="19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9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ScreenSpot-v2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185"/>
                        </a:lnSpc>
                        <a:buNone/>
                        <a:defRPr sz="19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9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ScreenSpotの注釈誤りを修正した版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758952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185"/>
                        </a:lnSpc>
                        <a:buNone/>
                        <a:defRPr sz="19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9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ScreenSpot-Pro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185"/>
                        </a:lnSpc>
                        <a:buNone/>
                        <a:defRPr sz="19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9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専門ソフトとOSの高解像度画面、1,581件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02920" y="4690872"/>
            <a:ext cx="8183879" cy="3931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Li et al. (2025). ScreenSpot-Pro: GUI Grounding for Professional High-Resolution Computer Use. Preprint.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 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https://likaixin2000.github.io/papers/ScreenSpot_Pro.pdf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公開データは画面とJSON注釈に分かれる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94360" y="1463040"/>
            <a:ext cx="7955279" cy="3090672"/>
          </a:xfrm>
        </p:spPr>
        <p:txBody>
          <a:bodyPr wrap="square" tIns="91440" bIns="91440">
            <a:noAutofit/>
          </a:bodyPr>
          <a:lstStyle/>
          <a:p>
            <a:pPr marL="457200" indent="-355600">
              <a:lnSpc>
                <a:spcPts val="2760"/>
              </a:lnSpc>
              <a:spcAft>
                <a:spcPts val="800"/>
              </a:spcAft>
              <a:buSzPct val="57826"/>
              <a:buFont typeface="Noto Sans CJK JP"/>
              <a:buChar char="●"/>
              <a:defRPr sz="2300" b="0">
                <a:solidFill>
                  <a:srgbClr val="303437"/>
                </a:solidFill>
                <a:latin typeface="Noto Sans"/>
              </a:defRPr>
            </a:pPr>
            <a:r>
              <a:rPr sz="23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Hugging Faceのlikaixin/ScreenSpot-Proから、imagesとannotationsを取得する。正解領域も公開されている。</a:t>
            </a:r>
          </a:p>
          <a:p>
            <a:pPr marL="457200" indent="-355600">
              <a:lnSpc>
                <a:spcPts val="2760"/>
              </a:lnSpc>
              <a:spcAft>
                <a:spcPts val="800"/>
              </a:spcAft>
              <a:buSzPct val="57826"/>
              <a:buFont typeface="Noto Sans CJK JP"/>
              <a:buChar char="●"/>
              <a:defRPr sz="2300" b="0">
                <a:solidFill>
                  <a:srgbClr val="303437"/>
                </a:solidFill>
                <a:latin typeface="Noto Sans"/>
              </a:defRPr>
            </a:pPr>
            <a:r>
              <a:rPr sz="23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JSONはアプリごとに分かれ、画像ファイル名・指示・四角形・画面サイズ・対象の種類を保持する。</a:t>
            </a:r>
          </a:p>
          <a:p>
            <a:pPr marL="457200" indent="-355600">
              <a:lnSpc>
                <a:spcPts val="2760"/>
              </a:lnSpc>
              <a:spcAft>
                <a:spcPts val="0"/>
              </a:spcAft>
              <a:buSzPct val="57826"/>
              <a:buFont typeface="Noto Sans CJK JP"/>
              <a:buChar char="●"/>
              <a:defRPr sz="2300" b="0">
                <a:solidFill>
                  <a:srgbClr val="303437"/>
                </a:solidFill>
                <a:latin typeface="Noto Sans"/>
              </a:defRPr>
            </a:pPr>
            <a:r>
              <a:rPr sz="23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本資料の件数は2026-10-16に取得した公開改訂210e78dに基づく。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4. 系列の違いと利用方法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4690872"/>
            <a:ext cx="8183879" cy="3931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Li et al. (2025). ScreenSpot-Pro. 公開注釈1,581件、改訂210e78d。2026-10-16集計。</a:t>
            </a:r>
          </a:p>
          <a:p>
            <a:pPr>
              <a:lnSpc>
                <a:spcPct val="112000"/>
              </a:lnSpc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https://huggingface.co/datasets/likaixin/ScreenSpot-Pro/tree/210e78d3844251110bff86c95835ebd37a6930fa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公開データの改訂を指定して取得できる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4. 系列の違いと利用方法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508760"/>
            <a:ext cx="8046720" cy="1991359"/>
          </a:xfrm>
          <a:prstGeom prst="rect">
            <a:avLst/>
          </a:prstGeom>
          <a:solidFill>
            <a:srgbClr val="EBED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none" lIns="152400" rIns="152400" tIns="127000" bIns="127000"/>
          <a:lstStyle/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  <a:buNone/>
              <a:defRPr sz="1500" b="0">
                <a:solidFill>
                  <a:srgbClr val="303437"/>
                </a:solidFill>
                <a:latin typeface="Noto Sans"/>
              </a:defRPr>
            </a:pPr>
            <a:r>
              <a:rPr sz="1500" b="0" lang="ja-JP" altLang="en-US">
                <a:solidFill>
                  <a:srgbClr val="303437"/>
                </a:solidFill>
                <a:latin typeface="Liberation Mono"/>
                <a:ea typeface="Noto Sans CJK JP"/>
                <a:cs typeface="Liberation Mono"/>
              </a:rPr>
              <a:t>from huggingface_hub import snapshot_download</a:t>
            </a:r>
          </a:p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  <a:buNone/>
              <a:defRPr sz="1500" b="0">
                <a:solidFill>
                  <a:srgbClr val="303437"/>
                </a:solidFill>
                <a:latin typeface="Noto Sans"/>
              </a:defRPr>
            </a:pPr>
            <a:r>
              <a:rPr sz="1500" b="0" lang="ja-JP" altLang="en-US">
                <a:solidFill>
                  <a:srgbClr val="303437"/>
                </a:solidFill>
                <a:latin typeface="Liberation Mono"/>
                <a:ea typeface="Noto Sans CJK JP"/>
                <a:cs typeface="Liberation Mono"/>
              </a:rPr>
              <a:t/>
            </a:r>
          </a:p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  <a:buNone/>
              <a:defRPr sz="1500" b="0">
                <a:solidFill>
                  <a:srgbClr val="303437"/>
                </a:solidFill>
                <a:latin typeface="Noto Sans"/>
              </a:defRPr>
            </a:pPr>
            <a:r>
              <a:rPr sz="1500" b="0" lang="ja-JP" altLang="en-US">
                <a:solidFill>
                  <a:srgbClr val="303437"/>
                </a:solidFill>
                <a:latin typeface="Liberation Mono"/>
                <a:ea typeface="Noto Sans CJK JP"/>
                <a:cs typeface="Liberation Mono"/>
              </a:rPr>
              <a:t>snapshot_download(</a:t>
            </a:r>
          </a:p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  <a:buNone/>
              <a:defRPr sz="1500" b="0">
                <a:solidFill>
                  <a:srgbClr val="303437"/>
                </a:solidFill>
                <a:latin typeface="Noto Sans"/>
              </a:defRPr>
            </a:pPr>
            <a:r>
              <a:rPr sz="1500" b="0" lang="ja-JP" altLang="en-US">
                <a:solidFill>
                  <a:srgbClr val="303437"/>
                </a:solidFill>
                <a:latin typeface="Liberation Mono"/>
                <a:ea typeface="Noto Sans CJK JP"/>
                <a:cs typeface="Liberation Mono"/>
              </a:rPr>
              <a:t>    repo_id="likaixin/ScreenSpot-Pro",</a:t>
            </a:r>
          </a:p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  <a:buNone/>
              <a:defRPr sz="1500" b="0">
                <a:solidFill>
                  <a:srgbClr val="303437"/>
                </a:solidFill>
                <a:latin typeface="Noto Sans"/>
              </a:defRPr>
            </a:pPr>
            <a:r>
              <a:rPr sz="1500" b="0" lang="ja-JP" altLang="en-US">
                <a:solidFill>
                  <a:srgbClr val="303437"/>
                </a:solidFill>
                <a:latin typeface="Liberation Mono"/>
                <a:ea typeface="Noto Sans CJK JP"/>
                <a:cs typeface="Liberation Mono"/>
              </a:rPr>
              <a:t>    repo_type="dataset",</a:t>
            </a:r>
          </a:p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  <a:buNone/>
              <a:defRPr sz="1500" b="0">
                <a:solidFill>
                  <a:srgbClr val="303437"/>
                </a:solidFill>
                <a:latin typeface="Noto Sans"/>
              </a:defRPr>
            </a:pPr>
            <a:r>
              <a:rPr sz="1500" b="0" lang="ja-JP" altLang="en-US">
                <a:solidFill>
                  <a:srgbClr val="303437"/>
                </a:solidFill>
                <a:latin typeface="Liberation Mono"/>
                <a:ea typeface="Noto Sans CJK JP"/>
                <a:cs typeface="Liberation Mono"/>
              </a:rPr>
              <a:t>    revision="210e78d3844251110bff86c95835ebd37a6930fa",</a:t>
            </a:r>
          </a:p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  <a:buNone/>
              <a:defRPr sz="1500" b="0">
                <a:solidFill>
                  <a:srgbClr val="303437"/>
                </a:solidFill>
                <a:latin typeface="Noto Sans"/>
              </a:defRPr>
            </a:pPr>
            <a:r>
              <a:rPr sz="1500" b="0" lang="ja-JP" altLang="en-US">
                <a:solidFill>
                  <a:srgbClr val="303437"/>
                </a:solidFill>
                <a:latin typeface="Liberation Mono"/>
                <a:ea typeface="Noto Sans CJK JP"/>
                <a:cs typeface="Liberation Mono"/>
              </a:rPr>
              <a:t>    local_dir="screenspot-pro",</a:t>
            </a:r>
          </a:p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  <a:buNone/>
              <a:defRPr sz="1500" b="0">
                <a:solidFill>
                  <a:srgbClr val="303437"/>
                </a:solidFill>
                <a:latin typeface="Noto Sans"/>
              </a:defRPr>
            </a:pPr>
            <a:r>
              <a:rPr sz="1500" b="0" lang="ja-JP" altLang="en-US">
                <a:solidFill>
                  <a:srgbClr val="303437"/>
                </a:solidFill>
                <a:latin typeface="Liberation Mono"/>
                <a:ea typeface="Noto Sans CJK JP"/>
                <a:cs typeface="Liberation Mono"/>
              </a:rPr>
              <a:t>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3701287"/>
            <a:ext cx="7955279" cy="77724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7000"/>
              </a:lnSpc>
              <a:spcBef>
                <a:spcPts val="0"/>
              </a:spcBef>
              <a:spcAft>
                <a:spcPts val="0"/>
              </a:spcAft>
              <a:buNone/>
              <a:defRPr sz="1900" b="0">
                <a:solidFill>
                  <a:srgbClr val="303437"/>
                </a:solidFill>
                <a:latin typeface="Noto Sans"/>
              </a:defRPr>
            </a:pPr>
            <a:r>
              <a:rPr sz="19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imagesとannotationsを同じ改訂で取得する。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4690872"/>
            <a:ext cx="8183879" cy="3931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Li et al. (2025). ScreenSpot-Pro. 公開注釈1,581件、改訂210e78d。2026-10-16集計。</a:t>
            </a:r>
          </a:p>
          <a:p>
            <a:pPr>
              <a:lnSpc>
                <a:spcPct val="112000"/>
              </a:lnSpc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https://huggingface.co/datasets/likaixin/ScreenSpot-Pro/tree/210e78d3844251110bff86c95835ebd37a6930fa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正解領域と評価コードを公開している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94360" y="1463040"/>
            <a:ext cx="7955279" cy="3090672"/>
          </a:xfrm>
        </p:spPr>
        <p:txBody>
          <a:bodyPr wrap="square" tIns="91440" bIns="91440">
            <a:noAutofit/>
          </a:bodyPr>
          <a:lstStyle/>
          <a:p>
            <a:pPr marL="457200" indent="-355600">
              <a:lnSpc>
                <a:spcPts val="2760"/>
              </a:lnSpc>
              <a:spcAft>
                <a:spcPts val="800"/>
              </a:spcAft>
              <a:buSzPct val="57826"/>
              <a:buFont typeface="Noto Sans CJK JP"/>
              <a:buChar char="●"/>
              <a:defRPr sz="2300" b="0">
                <a:solidFill>
                  <a:srgbClr val="303437"/>
                </a:solidFill>
                <a:latin typeface="Noto Sans"/>
              </a:defRPr>
            </a:pPr>
            <a:r>
              <a:rPr sz="23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データカードのライセンス表示はMIT。公式評価コードもMIT Licenseで公開されている。</a:t>
            </a:r>
          </a:p>
          <a:p>
            <a:pPr marL="457200" indent="-355600">
              <a:lnSpc>
                <a:spcPts val="2760"/>
              </a:lnSpc>
              <a:spcAft>
                <a:spcPts val="0"/>
              </a:spcAft>
              <a:buSzPct val="57826"/>
              <a:buFont typeface="Noto Sans CJK JP"/>
              <a:buChar char="●"/>
              <a:defRPr sz="2300" b="0">
                <a:solidFill>
                  <a:srgbClr val="303437"/>
                </a:solidFill>
                <a:latin typeface="Noto Sans"/>
              </a:defRPr>
            </a:pPr>
            <a:r>
              <a:rPr sz="23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公式スクリプトは、画像と注釈の保存先、評価モデル、英語・中国語などの条件を受け取る。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4. 系列の違いと利用方法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4690872"/>
            <a:ext cx="8183879" cy="3931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Li et al. (2025). ScreenSpot-Pro: GUI Grounding for Professional High-Resolution Computer Use. 公式GitHub。2026-10-16参照。</a:t>
            </a:r>
          </a:p>
          <a:p>
            <a:pPr>
              <a:lnSpc>
                <a:spcPct val="112000"/>
              </a:lnSpc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https://github.com/likaixin2000/ScreenSpot-Pro-GUI-Grounding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ScreenSpot-Proは専門画面の位置推定を測る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94360" y="1463040"/>
            <a:ext cx="7955279" cy="3090672"/>
          </a:xfrm>
        </p:spPr>
        <p:txBody>
          <a:bodyPr wrap="square" tIns="91440" bIns="91440">
            <a:noAutofit/>
          </a:bodyPr>
          <a:lstStyle/>
          <a:p>
            <a:pPr marL="457200" indent="-355600">
              <a:lnSpc>
                <a:spcPts val="2760"/>
              </a:lnSpc>
              <a:spcAft>
                <a:spcPts val="800"/>
              </a:spcAft>
              <a:buSzPct val="57826"/>
              <a:buFont typeface="Noto Sans CJK JP"/>
              <a:buChar char="●"/>
              <a:defRPr sz="2300" b="0">
                <a:solidFill>
                  <a:srgbClr val="303437"/>
                </a:solidFill>
                <a:latin typeface="Noto Sans"/>
              </a:defRPr>
            </a:pPr>
            <a:r>
              <a:rPr sz="23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専門家の作業画面と指示を集め、1,581件の対象領域でGUIの位置推定を評価する。</a:t>
            </a:r>
          </a:p>
          <a:p>
            <a:pPr marL="457200" indent="-355600">
              <a:lnSpc>
                <a:spcPts val="2760"/>
              </a:lnSpc>
              <a:spcAft>
                <a:spcPts val="800"/>
              </a:spcAft>
              <a:buSzPct val="57826"/>
              <a:buFont typeface="Noto Sans CJK JP"/>
              <a:buChar char="●"/>
              <a:defRPr sz="2300" b="0">
                <a:solidFill>
                  <a:srgbClr val="303437"/>
                </a:solidFill>
                <a:latin typeface="Noto Sans"/>
              </a:defRPr>
            </a:pPr>
            <a:r>
              <a:rPr sz="23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対象が小さい高解像度画面、文字のないアイコン、専門ソフトの構成が主な特徴である。</a:t>
            </a:r>
          </a:p>
          <a:p>
            <a:pPr marL="457200" indent="-355600">
              <a:lnSpc>
                <a:spcPts val="2760"/>
              </a:lnSpc>
              <a:spcAft>
                <a:spcPts val="0"/>
              </a:spcAft>
              <a:buSzPct val="57826"/>
              <a:buFont typeface="Noto Sans CJK JP"/>
              <a:buChar char="●"/>
              <a:defRPr sz="2300" b="0">
                <a:solidFill>
                  <a:srgbClr val="303437"/>
                </a:solidFill>
                <a:latin typeface="Noto Sans"/>
              </a:defRPr>
            </a:pPr>
            <a:r>
              <a:rPr sz="23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画面を絞る探索方法の研究から、現在のプロプライエタリモデルの視覚評価へ利用が続いている。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4. 系列の違いと利用方法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4690872"/>
            <a:ext cx="8183879" cy="3931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Li et al. (2025). ScreenSpot-Pro: GUI Grounding for Professional High-Resolution Computer Use. Preprint.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 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https://likaixin2000.github.io/papers/ScreenSpot_Pro.pdf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2359895"/>
            <a:ext cx="8046720" cy="822960"/>
          </a:xfrm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10000"/>
              </a:lnSpc>
              <a:buNone/>
              <a:defRPr sz="4400" b="0">
                <a:solidFill>
                  <a:srgbClr val="303437"/>
                </a:solidFill>
                <a:latin typeface="Noto Sans"/>
              </a:defRPr>
            </a:pPr>
            <a:r>
              <a:rPr sz="44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Appendix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Appendix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/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77240" y="1668081"/>
            <a:ext cx="7772400" cy="2077720"/>
          </a:xfrm>
        </p:spPr>
        <p:txBody>
          <a:bodyPr lIns="0" rIns="0" tIns="0" bIns="0" wrap="square">
            <a:noAutofit/>
          </a:bodyPr>
          <a:lstStyle/>
          <a:p>
            <a:pPr marL="457200" indent="-457200">
              <a:lnSpc>
                <a:spcPct val="128000"/>
              </a:lnSpc>
              <a:spcAft>
                <a:spcPts val="1700"/>
              </a:spcAft>
              <a:buSzPct val="100000"/>
              <a:buFont typeface="Noto Sans CJK JP"/>
              <a:buAutoNum type="arabicPeriod" startAt="1"/>
              <a:defRPr sz="3000" b="1">
                <a:solidFill>
                  <a:srgbClr val="303437"/>
                </a:solidFill>
                <a:latin typeface="Noto Sans"/>
              </a:defRPr>
            </a:pPr>
            <a:r>
              <a:rPr sz="30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分野の異なる追加例</a:t>
            </a:r>
          </a:p>
          <a:p>
            <a:pPr marL="457200" indent="-457200">
              <a:lnSpc>
                <a:spcPct val="128000"/>
              </a:lnSpc>
              <a:spcAft>
                <a:spcPts val="1700"/>
              </a:spcAft>
              <a:buSzPct val="100000"/>
              <a:buFont typeface="Noto Sans CJK JP"/>
              <a:buAutoNum type="arabicPeriod" startAt="2"/>
              <a:defRPr sz="3000" b="1">
                <a:solidFill>
                  <a:srgbClr val="303437"/>
                </a:solidFill>
                <a:latin typeface="Noto Sans"/>
              </a:defRPr>
            </a:pPr>
            <a:r>
              <a:rPr sz="30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分布と座標の詳細</a:t>
            </a:r>
          </a:p>
          <a:p>
            <a:pPr marL="457200" indent="-457200">
              <a:lnSpc>
                <a:spcPct val="128000"/>
              </a:lnSpc>
              <a:spcAft>
                <a:spcPts val="1700"/>
              </a:spcAft>
              <a:buSzPct val="100000"/>
              <a:buFont typeface="Noto Sans CJK JP"/>
              <a:buAutoNum type="arabicPeriod" startAt="3"/>
              <a:defRPr sz="3000" b="1">
                <a:solidFill>
                  <a:srgbClr val="303437"/>
                </a:solidFill>
                <a:latin typeface="Noto Sans"/>
              </a:defRPr>
            </a:pPr>
            <a:r>
              <a:rPr sz="30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開発者と参考文献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Appendix: 目次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2388106"/>
            <a:ext cx="8046720" cy="822960"/>
          </a:xfrm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10000"/>
              </a:lnSpc>
              <a:buNone/>
              <a:defRPr sz="3600" b="0">
                <a:solidFill>
                  <a:srgbClr val="303437"/>
                </a:solidFill>
                <a:latin typeface="Noto Sans"/>
              </a:defRPr>
            </a:pPr>
            <a:r>
              <a:rPr sz="36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1. 分野の異なる追加例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Appendix: 1. 分野の異なる追加例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追加例1：DaVinci Resolveで映像効果を選ぶ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Appendix: 1. 分野の異なる追加例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307592"/>
            <a:ext cx="8046720" cy="329184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7000"/>
              </a:lnSpc>
              <a:spcBef>
                <a:spcPts val="0"/>
              </a:spcBef>
              <a:spcAft>
                <a:spcPts val="0"/>
              </a:spcAft>
              <a:buNone/>
              <a:defRPr sz="2000" b="0">
                <a:solidFill>
                  <a:srgbClr val="303437"/>
                </a:solidFill>
                <a:latin typeface="Noto Sans"/>
              </a:defRPr>
            </a:pPr>
            <a:r>
              <a:rPr sz="20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Blur Dissolveを選ぶ。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746504"/>
            <a:ext cx="8046720" cy="4572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sz="1450" b="0">
                <a:solidFill>
                  <a:srgbClr val="303437"/>
                </a:solidFill>
                <a:latin typeface="Noto Sans"/>
              </a:defRPr>
            </a:pPr>
            <a:r>
              <a:rPr sz="14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指示の原文：Blur Dissolve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2249424"/>
            <a:ext cx="4754880" cy="20116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7000"/>
              </a:lnSpc>
              <a:spcBef>
                <a:spcPts val="0"/>
              </a:spcBef>
              <a:spcAft>
                <a:spcPts val="0"/>
              </a:spcAft>
              <a:buNone/>
              <a:defRPr sz="1100" b="0">
                <a:solidFill>
                  <a:srgbClr val="303437"/>
                </a:solidFill>
                <a:latin typeface="Noto Sans"/>
              </a:defRPr>
            </a:pPr>
            <a:r>
              <a:rPr sz="110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論文の例示画像（正解枠・拡大図を含む）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532120" y="2249424"/>
            <a:ext cx="3063240" cy="20116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7000"/>
              </a:lnSpc>
              <a:spcBef>
                <a:spcPts val="0"/>
              </a:spcBef>
              <a:spcAft>
                <a:spcPts val="0"/>
              </a:spcAft>
              <a:buNone/>
              <a:defRPr sz="1100" b="0">
                <a:solidFill>
                  <a:srgbClr val="303437"/>
                </a:solidFill>
                <a:latin typeface="Noto Sans"/>
              </a:defRPr>
            </a:pPr>
            <a:r>
              <a:rPr sz="110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正解位置の拡大（赤枠）</a:t>
            </a:r>
          </a:p>
        </p:txBody>
      </p:sp>
      <p:pic>
        <p:nvPicPr>
          <p:cNvPr id="8" name="Picture 7" descr="davinci_macos_10.jpe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12481" y="2523744"/>
            <a:ext cx="3027196" cy="1956816"/>
          </a:xfrm>
          <a:prstGeom prst="rect">
            <a:avLst/>
          </a:prstGeom>
        </p:spPr>
      </p:pic>
      <p:sp>
        <p:nvSpPr>
          <p:cNvPr id="9" name="Rectangle 8"/>
          <p:cNvSpPr/>
          <p:nvPr/>
        </p:nvSpPr>
        <p:spPr>
          <a:xfrm>
            <a:off x="1815407" y="3700986"/>
            <a:ext cx="218105" cy="27153"/>
          </a:xfrm>
          <a:prstGeom prst="rect">
            <a:avLst/>
          </a:prstGeom>
          <a:noFill/>
          <a:ln w="13970">
            <a:solidFill>
              <a:srgbClr val="B1373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" name="Picture 9" descr="davinci_macos_10.jpeg"/>
          <p:cNvPicPr>
            <a:picLocks noChangeAspect="1"/>
          </p:cNvPicPr>
          <p:nvPr/>
        </p:nvPicPr>
        <p:blipFill>
          <a:blip r:embed="rId2"/>
          <a:srcRect l="5025" t="49107" r="71199" b="27397"/>
          <a:stretch>
            <a:fillRect/>
          </a:stretch>
        </p:blipFill>
        <p:spPr>
          <a:xfrm>
            <a:off x="5532120" y="2523744"/>
            <a:ext cx="3063240" cy="1956816"/>
          </a:xfrm>
          <a:prstGeom prst="rect">
            <a:avLst/>
          </a:prstGeom>
        </p:spPr>
      </p:pic>
      <p:sp>
        <p:nvSpPr>
          <p:cNvPr id="11" name="Rectangle 10"/>
          <p:cNvSpPr/>
          <p:nvPr/>
        </p:nvSpPr>
        <p:spPr>
          <a:xfrm>
            <a:off x="6599612" y="3444369"/>
            <a:ext cx="928254" cy="115565"/>
          </a:xfrm>
          <a:prstGeom prst="rect">
            <a:avLst/>
          </a:prstGeom>
          <a:noFill/>
          <a:ln w="13970">
            <a:solidFill>
              <a:srgbClr val="B1373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02920" y="4690872"/>
            <a:ext cx="8183879" cy="3931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Li et al. (2025). ScreenSpot-Pro. 論文掲載画像・注釈ID: davinci_macos_10。MIT。</a:t>
            </a:r>
          </a:p>
          <a:p>
            <a:pPr>
              <a:lnSpc>
                <a:spcPct val="112000"/>
              </a:lnSpc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3"/>
              </a:rPr>
              <a:t>https://huggingface.co/datasets/likaixin/ScreenSpot-Pro/tree/210e78d3844251110bff86c95835ebd37a6930fa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追加例2：FL Studioで和音の種類を選ぶ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Appendix: 1. 分野の異なる追加例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307592"/>
            <a:ext cx="8046720" cy="329184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7000"/>
              </a:lnSpc>
              <a:spcBef>
                <a:spcPts val="0"/>
              </a:spcBef>
              <a:spcAft>
                <a:spcPts val="0"/>
              </a:spcAft>
              <a:buNone/>
              <a:defRPr sz="2000" b="0">
                <a:solidFill>
                  <a:srgbClr val="303437"/>
                </a:solidFill>
                <a:latin typeface="Noto Sans"/>
              </a:defRPr>
            </a:pPr>
            <a:r>
              <a:rPr sz="20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1番の和音の種類を選ぶ。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746504"/>
            <a:ext cx="8046720" cy="4572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sz="1450" b="0">
                <a:solidFill>
                  <a:srgbClr val="303437"/>
                </a:solidFill>
                <a:latin typeface="Noto Sans"/>
              </a:defRPr>
            </a:pPr>
            <a:r>
              <a:rPr sz="14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指示の原文：choose chord type for 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2249424"/>
            <a:ext cx="4754880" cy="20116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7000"/>
              </a:lnSpc>
              <a:spcBef>
                <a:spcPts val="0"/>
              </a:spcBef>
              <a:spcAft>
                <a:spcPts val="0"/>
              </a:spcAft>
              <a:buNone/>
              <a:defRPr sz="1100" b="0">
                <a:solidFill>
                  <a:srgbClr val="303437"/>
                </a:solidFill>
                <a:latin typeface="Noto Sans"/>
              </a:defRPr>
            </a:pPr>
            <a:r>
              <a:rPr sz="110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論文の例示画像（正解枠・拡大図を含む）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532120" y="2249424"/>
            <a:ext cx="3063240" cy="20116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7000"/>
              </a:lnSpc>
              <a:spcBef>
                <a:spcPts val="0"/>
              </a:spcBef>
              <a:spcAft>
                <a:spcPts val="0"/>
              </a:spcAft>
              <a:buNone/>
              <a:defRPr sz="1100" b="0">
                <a:solidFill>
                  <a:srgbClr val="303437"/>
                </a:solidFill>
                <a:latin typeface="Noto Sans"/>
              </a:defRPr>
            </a:pPr>
            <a:r>
              <a:rPr sz="110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正解位置の拡大（赤枠）</a:t>
            </a:r>
          </a:p>
        </p:txBody>
      </p:sp>
      <p:pic>
        <p:nvPicPr>
          <p:cNvPr id="8" name="Picture 7" descr="fruitloops_windows_4.jpe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86688" y="2523744"/>
            <a:ext cx="3478784" cy="1956816"/>
          </a:xfrm>
          <a:prstGeom prst="rect">
            <a:avLst/>
          </a:prstGeom>
        </p:spPr>
      </p:pic>
      <p:sp>
        <p:nvSpPr>
          <p:cNvPr id="9" name="Rectangle 8"/>
          <p:cNvSpPr/>
          <p:nvPr/>
        </p:nvSpPr>
        <p:spPr>
          <a:xfrm>
            <a:off x="2345829" y="3409746"/>
            <a:ext cx="59791" cy="33972"/>
          </a:xfrm>
          <a:prstGeom prst="rect">
            <a:avLst/>
          </a:prstGeom>
          <a:noFill/>
          <a:ln w="13970">
            <a:solidFill>
              <a:srgbClr val="B1373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" name="Picture 9" descr="fruitloops_windows_4.jpeg"/>
          <p:cNvPicPr>
            <a:picLocks noChangeAspect="1"/>
          </p:cNvPicPr>
          <p:nvPr/>
        </p:nvPicPr>
        <p:blipFill>
          <a:blip r:embed="rId2"/>
          <a:srcRect l="27930" t="39048" r="59570" b="46756"/>
          <a:stretch>
            <a:fillRect/>
          </a:stretch>
        </p:blipFill>
        <p:spPr>
          <a:xfrm>
            <a:off x="5532120" y="2523744"/>
            <a:ext cx="3063240" cy="1956816"/>
          </a:xfrm>
          <a:prstGeom prst="rect">
            <a:avLst/>
          </a:prstGeom>
        </p:spPr>
      </p:pic>
      <p:sp>
        <p:nvSpPr>
          <p:cNvPr id="11" name="Rectangle 10"/>
          <p:cNvSpPr/>
          <p:nvPr/>
        </p:nvSpPr>
        <p:spPr>
          <a:xfrm>
            <a:off x="6853142" y="3382494"/>
            <a:ext cx="421195" cy="239315"/>
          </a:xfrm>
          <a:prstGeom prst="rect">
            <a:avLst/>
          </a:prstGeom>
          <a:noFill/>
          <a:ln w="13970">
            <a:solidFill>
              <a:srgbClr val="B1373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02920" y="4690872"/>
            <a:ext cx="8183879" cy="3931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Li et al. (2025). ScreenSpot-Pro. 論文掲載画像・注釈ID: fruitloops_windows_4。MIT。</a:t>
            </a:r>
          </a:p>
          <a:p>
            <a:pPr>
              <a:lnSpc>
                <a:spcPct val="112000"/>
              </a:lnSpc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3"/>
              </a:rPr>
              <a:t>https://huggingface.co/datasets/likaixin/ScreenSpot-Pro/tree/210e78d3844251110bff86c95835ebd37a6930fa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追加例3：Unreal EngineでPythonを実行する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Appendix: 1. 分野の異なる追加例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307592"/>
            <a:ext cx="8046720" cy="329184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7000"/>
              </a:lnSpc>
              <a:spcBef>
                <a:spcPts val="0"/>
              </a:spcBef>
              <a:spcAft>
                <a:spcPts val="0"/>
              </a:spcAft>
              <a:buNone/>
              <a:defRPr sz="2000" b="0">
                <a:solidFill>
                  <a:srgbClr val="303437"/>
                </a:solidFill>
                <a:latin typeface="Noto Sans"/>
              </a:defRPr>
            </a:pPr>
            <a:r>
              <a:rPr sz="20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Pythonスクリプトを実行する。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746504"/>
            <a:ext cx="8046720" cy="4572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sz="1450" b="0">
                <a:solidFill>
                  <a:srgbClr val="303437"/>
                </a:solidFill>
                <a:latin typeface="Noto Sans"/>
              </a:defRPr>
            </a:pPr>
            <a:r>
              <a:rPr sz="14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指示の原文：Execute Python scripts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2249424"/>
            <a:ext cx="4754880" cy="20116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7000"/>
              </a:lnSpc>
              <a:spcBef>
                <a:spcPts val="0"/>
              </a:spcBef>
              <a:spcAft>
                <a:spcPts val="0"/>
              </a:spcAft>
              <a:buNone/>
              <a:defRPr sz="1100" b="0">
                <a:solidFill>
                  <a:srgbClr val="303437"/>
                </a:solidFill>
                <a:latin typeface="Noto Sans"/>
              </a:defRPr>
            </a:pPr>
            <a:r>
              <a:rPr sz="110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論文の例示画像（正解枠・拡大図を含む）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532120" y="2249424"/>
            <a:ext cx="3063240" cy="20116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7000"/>
              </a:lnSpc>
              <a:spcBef>
                <a:spcPts val="0"/>
              </a:spcBef>
              <a:spcAft>
                <a:spcPts val="0"/>
              </a:spcAft>
              <a:buNone/>
              <a:defRPr sz="1100" b="0">
                <a:solidFill>
                  <a:srgbClr val="303437"/>
                </a:solidFill>
                <a:latin typeface="Noto Sans"/>
              </a:defRPr>
            </a:pPr>
            <a:r>
              <a:rPr sz="110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正解位置の拡大（赤枠）</a:t>
            </a:r>
          </a:p>
        </p:txBody>
      </p:sp>
      <p:pic>
        <p:nvPicPr>
          <p:cNvPr id="8" name="Picture 7" descr="unreal_engine_windows_21.jpe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86688" y="2523744"/>
            <a:ext cx="3478784" cy="1956816"/>
          </a:xfrm>
          <a:prstGeom prst="rect">
            <a:avLst/>
          </a:prstGeom>
        </p:spPr>
      </p:pic>
      <p:sp>
        <p:nvSpPr>
          <p:cNvPr id="9" name="Rectangle 8"/>
          <p:cNvSpPr/>
          <p:nvPr/>
        </p:nvSpPr>
        <p:spPr>
          <a:xfrm>
            <a:off x="1409547" y="4367318"/>
            <a:ext cx="118677" cy="17212"/>
          </a:xfrm>
          <a:prstGeom prst="rect">
            <a:avLst/>
          </a:prstGeom>
          <a:noFill/>
          <a:ln w="13970">
            <a:solidFill>
              <a:srgbClr val="B1373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" name="Picture 9" descr="unreal_engine_windows_21.jpeg"/>
          <p:cNvPicPr>
            <a:picLocks noChangeAspect="1"/>
          </p:cNvPicPr>
          <p:nvPr/>
        </p:nvPicPr>
        <p:blipFill>
          <a:blip r:embed="rId2"/>
          <a:srcRect l="2483" t="87215" r="86259"/>
          <a:stretch>
            <a:fillRect/>
          </a:stretch>
        </p:blipFill>
        <p:spPr>
          <a:xfrm>
            <a:off x="5532120" y="2523744"/>
            <a:ext cx="3063240" cy="1956816"/>
          </a:xfrm>
          <a:prstGeom prst="rect">
            <a:avLst/>
          </a:prstGeom>
        </p:spPr>
      </p:pic>
      <p:sp>
        <p:nvSpPr>
          <p:cNvPr id="11" name="Rectangle 10"/>
          <p:cNvSpPr/>
          <p:nvPr/>
        </p:nvSpPr>
        <p:spPr>
          <a:xfrm>
            <a:off x="6599612" y="3594820"/>
            <a:ext cx="928254" cy="134632"/>
          </a:xfrm>
          <a:prstGeom prst="rect">
            <a:avLst/>
          </a:prstGeom>
          <a:noFill/>
          <a:ln w="13970">
            <a:solidFill>
              <a:srgbClr val="B1373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02920" y="4690872"/>
            <a:ext cx="8183879" cy="3931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Li et al. (2025). ScreenSpot-Pro. 論文掲載画像・注釈ID: unreal_engine_windows_21。MIT。</a:t>
            </a:r>
          </a:p>
          <a:p>
            <a:pPr>
              <a:lnSpc>
                <a:spcPct val="112000"/>
              </a:lnSpc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3"/>
              </a:rPr>
              <a:t>https://huggingface.co/datasets/likaixin/ScreenSpot-Pro/tree/210e78d3844251110bff86c95835ebd37a6930fa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追加例4：Premiereで映像と音声を分離する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Appendix: 1. 分野の異なる追加例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307592"/>
            <a:ext cx="8046720" cy="329184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7000"/>
              </a:lnSpc>
              <a:spcBef>
                <a:spcPts val="0"/>
              </a:spcBef>
              <a:spcAft>
                <a:spcPts val="0"/>
              </a:spcAft>
              <a:buNone/>
              <a:defRPr sz="2000" b="0">
                <a:solidFill>
                  <a:srgbClr val="303437"/>
                </a:solidFill>
                <a:latin typeface="Noto Sans"/>
              </a:defRPr>
            </a:pPr>
            <a:r>
              <a:rPr sz="20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音声と映像のリンクを解除する。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746504"/>
            <a:ext cx="8046720" cy="4572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sz="1450" b="0">
                <a:solidFill>
                  <a:srgbClr val="303437"/>
                </a:solidFill>
                <a:latin typeface="Noto Sans"/>
              </a:defRPr>
            </a:pPr>
            <a:r>
              <a:rPr sz="14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指示の原文：unlink audio and video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2249424"/>
            <a:ext cx="4754880" cy="20116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7000"/>
              </a:lnSpc>
              <a:spcBef>
                <a:spcPts val="0"/>
              </a:spcBef>
              <a:spcAft>
                <a:spcPts val="0"/>
              </a:spcAft>
              <a:buNone/>
              <a:defRPr sz="1100" b="0">
                <a:solidFill>
                  <a:srgbClr val="303437"/>
                </a:solidFill>
                <a:latin typeface="Noto Sans"/>
              </a:defRPr>
            </a:pPr>
            <a:r>
              <a:rPr sz="110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論文の例示画像（正解枠・拡大図を含む）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532120" y="2249424"/>
            <a:ext cx="3063240" cy="20116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7000"/>
              </a:lnSpc>
              <a:spcBef>
                <a:spcPts val="0"/>
              </a:spcBef>
              <a:spcAft>
                <a:spcPts val="0"/>
              </a:spcAft>
              <a:buNone/>
              <a:defRPr sz="1100" b="0">
                <a:solidFill>
                  <a:srgbClr val="303437"/>
                </a:solidFill>
                <a:latin typeface="Noto Sans"/>
              </a:defRPr>
            </a:pPr>
            <a:r>
              <a:rPr sz="110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正解位置の拡大（赤枠）</a:t>
            </a:r>
          </a:p>
        </p:txBody>
      </p:sp>
      <p:pic>
        <p:nvPicPr>
          <p:cNvPr id="8" name="Picture 7" descr="premiere_windows_47.jpe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86688" y="2523744"/>
            <a:ext cx="3478784" cy="1956816"/>
          </a:xfrm>
          <a:prstGeom prst="rect">
            <a:avLst/>
          </a:prstGeom>
        </p:spPr>
      </p:pic>
      <p:sp>
        <p:nvSpPr>
          <p:cNvPr id="9" name="Rectangle 8"/>
          <p:cNvSpPr/>
          <p:nvPr/>
        </p:nvSpPr>
        <p:spPr>
          <a:xfrm>
            <a:off x="3223679" y="3328212"/>
            <a:ext cx="410387" cy="28536"/>
          </a:xfrm>
          <a:prstGeom prst="rect">
            <a:avLst/>
          </a:prstGeom>
          <a:noFill/>
          <a:ln w="13970">
            <a:solidFill>
              <a:srgbClr val="B1373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" name="Picture 9" descr="premiere_windows_47.jpeg"/>
          <p:cNvPicPr>
            <a:picLocks noChangeAspect="1"/>
          </p:cNvPicPr>
          <p:nvPr/>
        </p:nvPicPr>
        <p:blipFill>
          <a:blip r:embed="rId2"/>
          <a:srcRect l="44988" t="19735" r="16082" b="36054"/>
          <a:stretch>
            <a:fillRect/>
          </a:stretch>
        </p:blipFill>
        <p:spPr>
          <a:xfrm>
            <a:off x="5532120" y="2523744"/>
            <a:ext cx="3063240" cy="1956816"/>
          </a:xfrm>
          <a:prstGeom prst="rect">
            <a:avLst/>
          </a:prstGeom>
        </p:spPr>
      </p:pic>
      <p:sp>
        <p:nvSpPr>
          <p:cNvPr id="11" name="Rectangle 10"/>
          <p:cNvSpPr/>
          <p:nvPr/>
        </p:nvSpPr>
        <p:spPr>
          <a:xfrm>
            <a:off x="6599612" y="3469878"/>
            <a:ext cx="928254" cy="64547"/>
          </a:xfrm>
          <a:prstGeom prst="rect">
            <a:avLst/>
          </a:prstGeom>
          <a:noFill/>
          <a:ln w="13970">
            <a:solidFill>
              <a:srgbClr val="B1373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02920" y="4690872"/>
            <a:ext cx="8183879" cy="3931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Li et al. (2025). ScreenSpot-Pro. 論文掲載画像・注釈ID: premiere_windows_47。MIT。</a:t>
            </a:r>
          </a:p>
          <a:p>
            <a:pPr>
              <a:lnSpc>
                <a:spcPct val="112000"/>
              </a:lnSpc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3"/>
              </a:rPr>
              <a:t>https://huggingface.co/datasets/likaixin/ScreenSpot-Pro/tree/210e78d3844251110bff86c95835ebd37a6930fa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追加例5：VMwareでCDから再起動する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Appendix: 1. 分野の異なる追加例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307592"/>
            <a:ext cx="8046720" cy="329184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7000"/>
              </a:lnSpc>
              <a:spcBef>
                <a:spcPts val="0"/>
              </a:spcBef>
              <a:spcAft>
                <a:spcPts val="0"/>
              </a:spcAft>
              <a:buNone/>
              <a:defRPr sz="2000" b="0">
                <a:solidFill>
                  <a:srgbClr val="303437"/>
                </a:solidFill>
                <a:latin typeface="Noto Sans"/>
              </a:defRPr>
            </a:pPr>
            <a:r>
              <a:rPr sz="20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CDから再起動する。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746504"/>
            <a:ext cx="8046720" cy="4572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sz="1450" b="0">
                <a:solidFill>
                  <a:srgbClr val="303437"/>
                </a:solidFill>
                <a:latin typeface="Noto Sans"/>
              </a:defRPr>
            </a:pPr>
            <a:r>
              <a:rPr sz="14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指示の原文：restart from CD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2249424"/>
            <a:ext cx="4754880" cy="20116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7000"/>
              </a:lnSpc>
              <a:spcBef>
                <a:spcPts val="0"/>
              </a:spcBef>
              <a:spcAft>
                <a:spcPts val="0"/>
              </a:spcAft>
              <a:buNone/>
              <a:defRPr sz="1100" b="0">
                <a:solidFill>
                  <a:srgbClr val="303437"/>
                </a:solidFill>
                <a:latin typeface="Noto Sans"/>
              </a:defRPr>
            </a:pPr>
            <a:r>
              <a:rPr sz="110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論文の例示画像（正解枠・拡大図を含む）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532120" y="2249424"/>
            <a:ext cx="3063240" cy="20116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7000"/>
              </a:lnSpc>
              <a:spcBef>
                <a:spcPts val="0"/>
              </a:spcBef>
              <a:spcAft>
                <a:spcPts val="0"/>
              </a:spcAft>
              <a:buNone/>
              <a:defRPr sz="1100" b="0">
                <a:solidFill>
                  <a:srgbClr val="303437"/>
                </a:solidFill>
                <a:latin typeface="Noto Sans"/>
              </a:defRPr>
            </a:pPr>
            <a:r>
              <a:rPr sz="110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正解位置の拡大（赤枠）</a:t>
            </a:r>
          </a:p>
        </p:txBody>
      </p:sp>
      <p:pic>
        <p:nvPicPr>
          <p:cNvPr id="8" name="Picture 7" descr="vmware_macos_26.jpe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12481" y="2523744"/>
            <a:ext cx="3027196" cy="1956816"/>
          </a:xfrm>
          <a:prstGeom prst="rect">
            <a:avLst/>
          </a:prstGeom>
        </p:spPr>
      </p:pic>
      <p:sp>
        <p:nvSpPr>
          <p:cNvPr id="9" name="Rectangle 8"/>
          <p:cNvSpPr/>
          <p:nvPr/>
        </p:nvSpPr>
        <p:spPr>
          <a:xfrm>
            <a:off x="3185353" y="3132511"/>
            <a:ext cx="143651" cy="20146"/>
          </a:xfrm>
          <a:prstGeom prst="rect">
            <a:avLst/>
          </a:prstGeom>
          <a:noFill/>
          <a:ln w="13970">
            <a:solidFill>
              <a:srgbClr val="B1373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" name="Picture 9" descr="vmware_macos_26.jpeg"/>
          <p:cNvPicPr>
            <a:picLocks noChangeAspect="1"/>
          </p:cNvPicPr>
          <p:nvPr/>
        </p:nvPicPr>
        <p:blipFill>
          <a:blip r:embed="rId2"/>
          <a:srcRect l="53108" t="23887" r="31233" b="60637"/>
          <a:stretch>
            <a:fillRect/>
          </a:stretch>
        </p:blipFill>
        <p:spPr>
          <a:xfrm>
            <a:off x="5532120" y="2523744"/>
            <a:ext cx="3063240" cy="1956816"/>
          </a:xfrm>
          <a:prstGeom prst="rect">
            <a:avLst/>
          </a:prstGeom>
        </p:spPr>
      </p:pic>
      <p:sp>
        <p:nvSpPr>
          <p:cNvPr id="11" name="Rectangle 10"/>
          <p:cNvSpPr/>
          <p:nvPr/>
        </p:nvSpPr>
        <p:spPr>
          <a:xfrm>
            <a:off x="6599612" y="3437060"/>
            <a:ext cx="928254" cy="130182"/>
          </a:xfrm>
          <a:prstGeom prst="rect">
            <a:avLst/>
          </a:prstGeom>
          <a:noFill/>
          <a:ln w="13970">
            <a:solidFill>
              <a:srgbClr val="B1373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02920" y="4690872"/>
            <a:ext cx="8183879" cy="3931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Li et al. (2025). ScreenSpot-Pro. 論文掲載画像・注釈ID: vmware_macos_26。MIT。</a:t>
            </a:r>
          </a:p>
          <a:p>
            <a:pPr>
              <a:lnSpc>
                <a:spcPct val="112000"/>
              </a:lnSpc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3"/>
              </a:rPr>
              <a:t>https://huggingface.co/datasets/likaixin/ScreenSpot-Pro/tree/210e78d3844251110bff86c95835ebd37a6930fa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追加例6：macOSでモデルを変更する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Appendix: 1. 分野の異なる追加例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307592"/>
            <a:ext cx="8046720" cy="329184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7000"/>
              </a:lnSpc>
              <a:spcBef>
                <a:spcPts val="0"/>
              </a:spcBef>
              <a:spcAft>
                <a:spcPts val="0"/>
              </a:spcAft>
              <a:buNone/>
              <a:defRPr sz="2000" b="0">
                <a:solidFill>
                  <a:srgbClr val="303437"/>
                </a:solidFill>
                <a:latin typeface="Noto Sans"/>
              </a:defRPr>
            </a:pPr>
            <a:r>
              <a:rPr sz="20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モデルを変更する。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746504"/>
            <a:ext cx="8046720" cy="4572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sz="1450" b="0">
                <a:solidFill>
                  <a:srgbClr val="303437"/>
                </a:solidFill>
                <a:latin typeface="Noto Sans"/>
              </a:defRPr>
            </a:pPr>
            <a:r>
              <a:rPr sz="14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指示の原文：Change model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2249424"/>
            <a:ext cx="4754880" cy="20116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7000"/>
              </a:lnSpc>
              <a:spcBef>
                <a:spcPts val="0"/>
              </a:spcBef>
              <a:spcAft>
                <a:spcPts val="0"/>
              </a:spcAft>
              <a:buNone/>
              <a:defRPr sz="1100" b="0">
                <a:solidFill>
                  <a:srgbClr val="303437"/>
                </a:solidFill>
                <a:latin typeface="Noto Sans"/>
              </a:defRPr>
            </a:pPr>
            <a:r>
              <a:rPr sz="110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論文の例示画像（正解枠・拡大図を含む）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532120" y="2249424"/>
            <a:ext cx="3063240" cy="20116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7000"/>
              </a:lnSpc>
              <a:spcBef>
                <a:spcPts val="0"/>
              </a:spcBef>
              <a:spcAft>
                <a:spcPts val="0"/>
              </a:spcAft>
              <a:buNone/>
              <a:defRPr sz="1100" b="0">
                <a:solidFill>
                  <a:srgbClr val="303437"/>
                </a:solidFill>
                <a:latin typeface="Noto Sans"/>
              </a:defRPr>
            </a:pPr>
            <a:r>
              <a:rPr sz="110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正解位置の拡大（赤枠）</a:t>
            </a:r>
          </a:p>
        </p:txBody>
      </p:sp>
      <p:pic>
        <p:nvPicPr>
          <p:cNvPr id="8" name="Picture 7" descr="macos_common_macos_9.jpe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12481" y="2523744"/>
            <a:ext cx="3027196" cy="1956816"/>
          </a:xfrm>
          <a:prstGeom prst="rect">
            <a:avLst/>
          </a:prstGeom>
        </p:spPr>
      </p:pic>
      <p:sp>
        <p:nvSpPr>
          <p:cNvPr id="9" name="Rectangle 8"/>
          <p:cNvSpPr/>
          <p:nvPr/>
        </p:nvSpPr>
        <p:spPr>
          <a:xfrm>
            <a:off x="2383882" y="2708564"/>
            <a:ext cx="87592" cy="21898"/>
          </a:xfrm>
          <a:prstGeom prst="rect">
            <a:avLst/>
          </a:prstGeom>
          <a:noFill/>
          <a:ln w="13970">
            <a:solidFill>
              <a:srgbClr val="B1373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" name="Picture 9" descr="macos_common_macos_9.jpeg"/>
          <p:cNvPicPr>
            <a:picLocks noChangeAspect="1"/>
          </p:cNvPicPr>
          <p:nvPr/>
        </p:nvPicPr>
        <p:blipFill>
          <a:blip r:embed="rId2"/>
          <a:srcRect l="28762" t="5286" r="61690" b="85277"/>
          <a:stretch>
            <a:fillRect/>
          </a:stretch>
        </p:blipFill>
        <p:spPr>
          <a:xfrm>
            <a:off x="5532120" y="2523744"/>
            <a:ext cx="3063240" cy="1956816"/>
          </a:xfrm>
          <a:prstGeom prst="rect">
            <a:avLst/>
          </a:prstGeom>
        </p:spPr>
      </p:pic>
      <p:sp>
        <p:nvSpPr>
          <p:cNvPr id="11" name="Rectangle 10"/>
          <p:cNvSpPr/>
          <p:nvPr/>
        </p:nvSpPr>
        <p:spPr>
          <a:xfrm>
            <a:off x="6599612" y="3386120"/>
            <a:ext cx="928254" cy="232063"/>
          </a:xfrm>
          <a:prstGeom prst="rect">
            <a:avLst/>
          </a:prstGeom>
          <a:noFill/>
          <a:ln w="13970">
            <a:solidFill>
              <a:srgbClr val="B1373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02920" y="4690872"/>
            <a:ext cx="8183879" cy="3931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Li et al. (2025). ScreenSpot-Pro. 論文掲載画像・注釈ID: macos_common_macos_9。MIT。</a:t>
            </a:r>
          </a:p>
          <a:p>
            <a:pPr>
              <a:lnSpc>
                <a:spcPct val="112000"/>
              </a:lnSpc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3"/>
              </a:rPr>
              <a:t>https://huggingface.co/datasets/likaixin/ScreenSpot-Pro/tree/210e78d3844251110bff86c95835ebd37a6930fa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追加例7：Linuxでdebパッケージを選ぶ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Appendix: 1. 分野の異なる追加例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307592"/>
            <a:ext cx="8046720" cy="329184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7000"/>
              </a:lnSpc>
              <a:spcBef>
                <a:spcPts val="0"/>
              </a:spcBef>
              <a:spcAft>
                <a:spcPts val="0"/>
              </a:spcAft>
              <a:buNone/>
              <a:defRPr sz="2000" b="0">
                <a:solidFill>
                  <a:srgbClr val="303437"/>
                </a:solidFill>
                <a:latin typeface="Noto Sans"/>
              </a:defRPr>
            </a:pPr>
            <a:r>
              <a:rPr sz="20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端末のエラーに対応するdebパッケージを選ぶ。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746504"/>
            <a:ext cx="8046720" cy="4572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sz="1450" b="0">
                <a:solidFill>
                  <a:srgbClr val="303437"/>
                </a:solidFill>
                <a:latin typeface="Noto Sans"/>
              </a:defRPr>
            </a:pPr>
            <a:r>
              <a:rPr sz="14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指示の原文：select the correct deb package to download according to the error message in the terminal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2249424"/>
            <a:ext cx="4754880" cy="20116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7000"/>
              </a:lnSpc>
              <a:spcBef>
                <a:spcPts val="0"/>
              </a:spcBef>
              <a:spcAft>
                <a:spcPts val="0"/>
              </a:spcAft>
              <a:buNone/>
              <a:defRPr sz="1100" b="0">
                <a:solidFill>
                  <a:srgbClr val="303437"/>
                </a:solidFill>
                <a:latin typeface="Noto Sans"/>
              </a:defRPr>
            </a:pPr>
            <a:r>
              <a:rPr sz="110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論文の例示画像（正解枠・拡大図を含む）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532120" y="2249424"/>
            <a:ext cx="3063240" cy="20116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7000"/>
              </a:lnSpc>
              <a:spcBef>
                <a:spcPts val="0"/>
              </a:spcBef>
              <a:spcAft>
                <a:spcPts val="0"/>
              </a:spcAft>
              <a:buNone/>
              <a:defRPr sz="1100" b="0">
                <a:solidFill>
                  <a:srgbClr val="303437"/>
                </a:solidFill>
                <a:latin typeface="Noto Sans"/>
              </a:defRPr>
            </a:pPr>
            <a:r>
              <a:rPr sz="110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正解位置の拡大（赤枠）</a:t>
            </a:r>
          </a:p>
        </p:txBody>
      </p:sp>
      <p:pic>
        <p:nvPicPr>
          <p:cNvPr id="8" name="Picture 7" descr="linux_common_linux_29.jpe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60627" y="2523744"/>
            <a:ext cx="3130905" cy="1956816"/>
          </a:xfrm>
          <a:prstGeom prst="rect">
            <a:avLst/>
          </a:prstGeom>
        </p:spPr>
      </p:pic>
      <p:sp>
        <p:nvSpPr>
          <p:cNvPr id="9" name="Rectangle 8"/>
          <p:cNvSpPr/>
          <p:nvPr/>
        </p:nvSpPr>
        <p:spPr>
          <a:xfrm>
            <a:off x="2230323" y="3102635"/>
            <a:ext cx="37143" cy="14494"/>
          </a:xfrm>
          <a:prstGeom prst="rect">
            <a:avLst/>
          </a:prstGeom>
          <a:noFill/>
          <a:ln w="13970">
            <a:solidFill>
              <a:srgbClr val="B1373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" name="Picture 9" descr="linux_common_linux_29.jpeg"/>
          <p:cNvPicPr>
            <a:picLocks noChangeAspect="1"/>
          </p:cNvPicPr>
          <p:nvPr/>
        </p:nvPicPr>
        <p:blipFill>
          <a:blip r:embed="rId2"/>
          <a:srcRect l="23741" t="25222" r="66999" b="65314"/>
          <a:stretch>
            <a:fillRect/>
          </a:stretch>
        </p:blipFill>
        <p:spPr>
          <a:xfrm>
            <a:off x="5532120" y="2523744"/>
            <a:ext cx="3063240" cy="1956816"/>
          </a:xfrm>
          <a:prstGeom prst="rect">
            <a:avLst/>
          </a:prstGeom>
        </p:spPr>
      </p:pic>
      <p:sp>
        <p:nvSpPr>
          <p:cNvPr id="11" name="Rectangle 10"/>
          <p:cNvSpPr/>
          <p:nvPr/>
        </p:nvSpPr>
        <p:spPr>
          <a:xfrm>
            <a:off x="6867501" y="3425571"/>
            <a:ext cx="392477" cy="153162"/>
          </a:xfrm>
          <a:prstGeom prst="rect">
            <a:avLst/>
          </a:prstGeom>
          <a:noFill/>
          <a:ln w="13970">
            <a:solidFill>
              <a:srgbClr val="B1373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02920" y="4690872"/>
            <a:ext cx="8183879" cy="3931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Li et al. (2025). ScreenSpot-Pro. 論文掲載画像・注釈ID: linux_common_linux_29。MIT。</a:t>
            </a:r>
          </a:p>
          <a:p>
            <a:pPr>
              <a:lnSpc>
                <a:spcPct val="112000"/>
              </a:lnSpc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3"/>
              </a:rPr>
              <a:t>https://huggingface.co/datasets/likaixin/ScreenSpot-Pro/tree/210e78d3844251110bff86c95835ebd37a6930fa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追加例8：Originでマスクを無効にする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Appendix: 1. 分野の異なる追加例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307592"/>
            <a:ext cx="8046720" cy="329184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7000"/>
              </a:lnSpc>
              <a:spcBef>
                <a:spcPts val="0"/>
              </a:spcBef>
              <a:spcAft>
                <a:spcPts val="0"/>
              </a:spcAft>
              <a:buNone/>
              <a:defRPr sz="2000" b="0">
                <a:solidFill>
                  <a:srgbClr val="303437"/>
                </a:solidFill>
                <a:latin typeface="Noto Sans"/>
              </a:defRPr>
            </a:pPr>
            <a:r>
              <a:rPr sz="20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マスクを無効にする。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746504"/>
            <a:ext cx="8046720" cy="4572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sz="1450" b="0">
                <a:solidFill>
                  <a:srgbClr val="303437"/>
                </a:solidFill>
                <a:latin typeface="Noto Sans"/>
              </a:defRPr>
            </a:pPr>
            <a:r>
              <a:rPr sz="14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指示の原文：disable masking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2249424"/>
            <a:ext cx="4754880" cy="20116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7000"/>
              </a:lnSpc>
              <a:spcBef>
                <a:spcPts val="0"/>
              </a:spcBef>
              <a:spcAft>
                <a:spcPts val="0"/>
              </a:spcAft>
              <a:buNone/>
              <a:defRPr sz="1100" b="0">
                <a:solidFill>
                  <a:srgbClr val="303437"/>
                </a:solidFill>
                <a:latin typeface="Noto Sans"/>
              </a:defRPr>
            </a:pPr>
            <a:r>
              <a:rPr sz="110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論文の例示画像（正解枠・拡大図を含む）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532120" y="2249424"/>
            <a:ext cx="3063240" cy="20116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7000"/>
              </a:lnSpc>
              <a:spcBef>
                <a:spcPts val="0"/>
              </a:spcBef>
              <a:spcAft>
                <a:spcPts val="0"/>
              </a:spcAft>
              <a:buNone/>
              <a:defRPr sz="1100" b="0">
                <a:solidFill>
                  <a:srgbClr val="303437"/>
                </a:solidFill>
                <a:latin typeface="Noto Sans"/>
              </a:defRPr>
            </a:pPr>
            <a:r>
              <a:rPr sz="110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正解位置の拡大（赤枠）</a:t>
            </a:r>
          </a:p>
        </p:txBody>
      </p:sp>
      <p:pic>
        <p:nvPicPr>
          <p:cNvPr id="8" name="Picture 7" descr="origin_windows_46.jpe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86688" y="2523744"/>
            <a:ext cx="3478784" cy="1956816"/>
          </a:xfrm>
          <a:prstGeom prst="rect">
            <a:avLst/>
          </a:prstGeom>
        </p:spPr>
      </p:pic>
      <p:sp>
        <p:nvSpPr>
          <p:cNvPr id="9" name="Rectangle 8"/>
          <p:cNvSpPr/>
          <p:nvPr/>
        </p:nvSpPr>
        <p:spPr>
          <a:xfrm>
            <a:off x="2090809" y="4406273"/>
            <a:ext cx="20836" cy="17212"/>
          </a:xfrm>
          <a:prstGeom prst="rect">
            <a:avLst/>
          </a:prstGeom>
          <a:noFill/>
          <a:ln w="13970">
            <a:solidFill>
              <a:srgbClr val="B1373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" name="Picture 9" descr="origin_windows_46.jpeg"/>
          <p:cNvPicPr>
            <a:picLocks noChangeAspect="1"/>
          </p:cNvPicPr>
          <p:nvPr/>
        </p:nvPicPr>
        <p:blipFill>
          <a:blip r:embed="rId2"/>
          <a:srcRect l="22122" t="90536" r="69544"/>
          <a:stretch>
            <a:fillRect/>
          </a:stretch>
        </p:blipFill>
        <p:spPr>
          <a:xfrm>
            <a:off x="5532120" y="2523744"/>
            <a:ext cx="3063240" cy="1956816"/>
          </a:xfrm>
          <a:prstGeom prst="rect">
            <a:avLst/>
          </a:prstGeom>
        </p:spPr>
      </p:pic>
      <p:sp>
        <p:nvSpPr>
          <p:cNvPr id="11" name="Rectangle 10"/>
          <p:cNvSpPr/>
          <p:nvPr/>
        </p:nvSpPr>
        <p:spPr>
          <a:xfrm>
            <a:off x="6953654" y="3695604"/>
            <a:ext cx="220170" cy="181879"/>
          </a:xfrm>
          <a:prstGeom prst="rect">
            <a:avLst/>
          </a:prstGeom>
          <a:noFill/>
          <a:ln w="13970">
            <a:solidFill>
              <a:srgbClr val="B1373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02920" y="4690872"/>
            <a:ext cx="8183879" cy="3931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Li et al. (2025). ScreenSpot-Pro. 論文掲載画像・注釈ID: origin_windows_46。MIT。</a:t>
            </a:r>
          </a:p>
          <a:p>
            <a:pPr>
              <a:lnSpc>
                <a:spcPct val="112000"/>
              </a:lnSpc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3"/>
              </a:rPr>
              <a:t>https://huggingface.co/datasets/likaixin/ScreenSpot-Pro/tree/210e78d3844251110bff86c95835ebd37a6930fa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追加例9：Quartusで指定されたファイルを選ぶ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Appendix: 1. 分野の異なる追加例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307592"/>
            <a:ext cx="8046720" cy="329184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7000"/>
              </a:lnSpc>
              <a:spcBef>
                <a:spcPts val="0"/>
              </a:spcBef>
              <a:spcAft>
                <a:spcPts val="0"/>
              </a:spcAft>
              <a:buNone/>
              <a:defRPr sz="2000" b="0">
                <a:solidFill>
                  <a:srgbClr val="303437"/>
                </a:solidFill>
                <a:latin typeface="Noto Sans"/>
              </a:defRPr>
            </a:pPr>
            <a:r>
              <a:rPr sz="20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QuartusのウィンドウでSM1.smfを選ぶ。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746504"/>
            <a:ext cx="8046720" cy="4572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sz="1450" b="0">
                <a:solidFill>
                  <a:srgbClr val="303437"/>
                </a:solidFill>
                <a:latin typeface="Noto Sans"/>
              </a:defRPr>
            </a:pPr>
            <a:r>
              <a:rPr sz="14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指示の原文：select the SM1.smf file in Quartus window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2249424"/>
            <a:ext cx="4754880" cy="20116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7000"/>
              </a:lnSpc>
              <a:spcBef>
                <a:spcPts val="0"/>
              </a:spcBef>
              <a:spcAft>
                <a:spcPts val="0"/>
              </a:spcAft>
              <a:buNone/>
              <a:defRPr sz="1100" b="0">
                <a:solidFill>
                  <a:srgbClr val="303437"/>
                </a:solidFill>
                <a:latin typeface="Noto Sans"/>
              </a:defRPr>
            </a:pPr>
            <a:r>
              <a:rPr sz="110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論文の例示画像（正解枠・拡大図を含む）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532120" y="2249424"/>
            <a:ext cx="3063240" cy="20116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7000"/>
              </a:lnSpc>
              <a:spcBef>
                <a:spcPts val="0"/>
              </a:spcBef>
              <a:spcAft>
                <a:spcPts val="0"/>
              </a:spcAft>
              <a:buNone/>
              <a:defRPr sz="1100" b="0">
                <a:solidFill>
                  <a:srgbClr val="303437"/>
                </a:solidFill>
                <a:latin typeface="Noto Sans"/>
              </a:defRPr>
            </a:pPr>
            <a:r>
              <a:rPr sz="110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正解位置の拡大（赤枠）</a:t>
            </a:r>
          </a:p>
        </p:txBody>
      </p:sp>
      <p:pic>
        <p:nvPicPr>
          <p:cNvPr id="8" name="Picture 7" descr="quartus_windows_26.jpe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86688" y="2523744"/>
            <a:ext cx="3478784" cy="1956816"/>
          </a:xfrm>
          <a:prstGeom prst="rect">
            <a:avLst/>
          </a:prstGeom>
        </p:spPr>
      </p:pic>
      <p:sp>
        <p:nvSpPr>
          <p:cNvPr id="9" name="Rectangle 8"/>
          <p:cNvSpPr/>
          <p:nvPr/>
        </p:nvSpPr>
        <p:spPr>
          <a:xfrm>
            <a:off x="3447897" y="3012948"/>
            <a:ext cx="211988" cy="34425"/>
          </a:xfrm>
          <a:prstGeom prst="rect">
            <a:avLst/>
          </a:prstGeom>
          <a:noFill/>
          <a:ln w="13970">
            <a:solidFill>
              <a:srgbClr val="B1373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" name="Picture 9" descr="quartus_windows_26.jpeg"/>
          <p:cNvPicPr>
            <a:picLocks noChangeAspect="1"/>
          </p:cNvPicPr>
          <p:nvPr/>
        </p:nvPicPr>
        <p:blipFill>
          <a:blip r:embed="rId2"/>
          <a:srcRect l="57992" t="14461" r="21898" b="62702"/>
          <a:stretch>
            <a:fillRect/>
          </a:stretch>
        </p:blipFill>
        <p:spPr>
          <a:xfrm>
            <a:off x="5532120" y="2523744"/>
            <a:ext cx="3063240" cy="1956816"/>
          </a:xfrm>
          <a:prstGeom prst="rect">
            <a:avLst/>
          </a:prstGeom>
        </p:spPr>
      </p:pic>
      <p:sp>
        <p:nvSpPr>
          <p:cNvPr id="11" name="Rectangle 10"/>
          <p:cNvSpPr/>
          <p:nvPr/>
        </p:nvSpPr>
        <p:spPr>
          <a:xfrm>
            <a:off x="6599612" y="3426780"/>
            <a:ext cx="928254" cy="150742"/>
          </a:xfrm>
          <a:prstGeom prst="rect">
            <a:avLst/>
          </a:prstGeom>
          <a:noFill/>
          <a:ln w="13970">
            <a:solidFill>
              <a:srgbClr val="B1373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02920" y="4690872"/>
            <a:ext cx="8183879" cy="3931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Li et al. (2025). ScreenSpot-Pro. 論文掲載画像・注釈ID: quartus_windows_26。MIT。</a:t>
            </a:r>
          </a:p>
          <a:p>
            <a:pPr>
              <a:lnSpc>
                <a:spcPct val="112000"/>
              </a:lnSpc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3"/>
              </a:rPr>
              <a:t>https://huggingface.co/datasets/likaixin/ScreenSpot-Pro/tree/210e78d3844251110bff86c95835ebd37a6930fa</a:t>
            </a: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追加例10：FL Studioで新しいパターンを作る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Appendix: 1. 分野の異なる追加例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307592"/>
            <a:ext cx="8046720" cy="329184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7000"/>
              </a:lnSpc>
              <a:spcBef>
                <a:spcPts val="0"/>
              </a:spcBef>
              <a:spcAft>
                <a:spcPts val="0"/>
              </a:spcAft>
              <a:buNone/>
              <a:defRPr sz="2000" b="0">
                <a:solidFill>
                  <a:srgbClr val="303437"/>
                </a:solidFill>
                <a:latin typeface="Noto Sans"/>
              </a:defRPr>
            </a:pPr>
            <a:r>
              <a:rPr sz="20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新しいパターンを作成する。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746504"/>
            <a:ext cx="8046720" cy="4572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sz="1450" b="0">
                <a:solidFill>
                  <a:srgbClr val="303437"/>
                </a:solidFill>
                <a:latin typeface="Noto Sans"/>
              </a:defRPr>
            </a:pPr>
            <a:r>
              <a:rPr sz="14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指示の原文：create new pattern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2249424"/>
            <a:ext cx="4754880" cy="20116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7000"/>
              </a:lnSpc>
              <a:spcBef>
                <a:spcPts val="0"/>
              </a:spcBef>
              <a:spcAft>
                <a:spcPts val="0"/>
              </a:spcAft>
              <a:buNone/>
              <a:defRPr sz="1100" b="0">
                <a:solidFill>
                  <a:srgbClr val="303437"/>
                </a:solidFill>
                <a:latin typeface="Noto Sans"/>
              </a:defRPr>
            </a:pPr>
            <a:r>
              <a:rPr sz="110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論文の例示画像（正解枠・拡大図を含む）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532120" y="2249424"/>
            <a:ext cx="3063240" cy="20116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7000"/>
              </a:lnSpc>
              <a:spcBef>
                <a:spcPts val="0"/>
              </a:spcBef>
              <a:spcAft>
                <a:spcPts val="0"/>
              </a:spcAft>
              <a:buNone/>
              <a:defRPr sz="1100" b="0">
                <a:solidFill>
                  <a:srgbClr val="303437"/>
                </a:solidFill>
                <a:latin typeface="Noto Sans"/>
              </a:defRPr>
            </a:pPr>
            <a:r>
              <a:rPr sz="110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正解位置の拡大（赤枠）</a:t>
            </a:r>
          </a:p>
        </p:txBody>
      </p:sp>
      <p:pic>
        <p:nvPicPr>
          <p:cNvPr id="8" name="Picture 7" descr="fruitloops_windows_53.jpe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86688" y="2523744"/>
            <a:ext cx="3478784" cy="1956816"/>
          </a:xfrm>
          <a:prstGeom prst="rect">
            <a:avLst/>
          </a:prstGeom>
        </p:spPr>
      </p:pic>
      <p:sp>
        <p:nvSpPr>
          <p:cNvPr id="9" name="Rectangle 8"/>
          <p:cNvSpPr/>
          <p:nvPr/>
        </p:nvSpPr>
        <p:spPr>
          <a:xfrm>
            <a:off x="2061819" y="2534615"/>
            <a:ext cx="23101" cy="35331"/>
          </a:xfrm>
          <a:prstGeom prst="rect">
            <a:avLst/>
          </a:prstGeom>
          <a:noFill/>
          <a:ln w="13970">
            <a:solidFill>
              <a:srgbClr val="B1373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" name="Picture 9" descr="fruitloops_windows_53.jpeg"/>
          <p:cNvPicPr>
            <a:picLocks noChangeAspect="1"/>
          </p:cNvPicPr>
          <p:nvPr/>
        </p:nvPicPr>
        <p:blipFill>
          <a:blip r:embed="rId2"/>
          <a:srcRect l="19238" r="68262" b="85804"/>
          <a:stretch>
            <a:fillRect/>
          </a:stretch>
        </p:blipFill>
        <p:spPr>
          <a:xfrm>
            <a:off x="5532120" y="2523744"/>
            <a:ext cx="3063240" cy="1956816"/>
          </a:xfrm>
          <a:prstGeom prst="rect">
            <a:avLst/>
          </a:prstGeom>
        </p:spPr>
      </p:pic>
      <p:sp>
        <p:nvSpPr>
          <p:cNvPr id="11" name="Rectangle 10"/>
          <p:cNvSpPr/>
          <p:nvPr/>
        </p:nvSpPr>
        <p:spPr>
          <a:xfrm>
            <a:off x="6982372" y="2600325"/>
            <a:ext cx="162734" cy="248888"/>
          </a:xfrm>
          <a:prstGeom prst="rect">
            <a:avLst/>
          </a:prstGeom>
          <a:noFill/>
          <a:ln w="13970">
            <a:solidFill>
              <a:srgbClr val="B1373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02920" y="4690872"/>
            <a:ext cx="8183879" cy="3931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Li et al. (2025). ScreenSpot-Pro. 論文掲載画像・注釈ID: fruitloops_windows_53。MIT。</a:t>
            </a:r>
          </a:p>
          <a:p>
            <a:pPr>
              <a:lnSpc>
                <a:spcPct val="112000"/>
              </a:lnSpc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3"/>
              </a:rPr>
              <a:t>https://huggingface.co/datasets/likaixin/ScreenSpot-Pro/tree/210e78d3844251110bff86c95835ebd37a6930fa</a:t>
            </a:r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2388106"/>
            <a:ext cx="8046720" cy="822960"/>
          </a:xfrm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10000"/>
              </a:lnSpc>
              <a:buNone/>
              <a:defRPr sz="3600" b="0">
                <a:solidFill>
                  <a:srgbClr val="303437"/>
                </a:solidFill>
                <a:latin typeface="Noto Sans"/>
              </a:defRPr>
            </a:pPr>
            <a:r>
              <a:rPr sz="36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2. 分布と座標の詳細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Appendix: 2. 分布と座標の詳細</a:t>
            </a:r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26環境の件数（1〜7）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Appendix: 2. 分布と座標の詳細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48640" y="1508760"/>
          <a:ext cx="8046720" cy="3017520"/>
        </p:xfrm>
        <a:graphic>
          <a:graphicData uri="http://schemas.openxmlformats.org/drawingml/2006/table">
            <a:tbl>
              <a:tblPr firstRow="0" bandRow="0"/>
              <a:tblGrid>
                <a:gridCol w="5943600"/>
                <a:gridCol w="2103120"/>
              </a:tblGrid>
              <a:tr h="393192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1954"/>
                        </a:lnSpc>
                        <a:buNone/>
                        <a:defRPr sz="17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7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アプリ・OS環境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1954"/>
                        </a:lnSpc>
                        <a:buNone/>
                        <a:defRPr sz="17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7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件数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</a:tr>
              <a:tr h="37490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1954"/>
                        </a:lnSpc>
                        <a:buNone/>
                        <a:defRPr sz="17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7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Android Studio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1954"/>
                        </a:lnSpc>
                        <a:buNone/>
                        <a:defRPr sz="17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7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80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37490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1954"/>
                        </a:lnSpc>
                        <a:buNone/>
                        <a:defRPr sz="17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7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AutoCAD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1954"/>
                        </a:lnSpc>
                        <a:buNone/>
                        <a:defRPr sz="17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7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34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37490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1954"/>
                        </a:lnSpc>
                        <a:buNone/>
                        <a:defRPr sz="17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7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Blender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1954"/>
                        </a:lnSpc>
                        <a:buNone/>
                        <a:defRPr sz="17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7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71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37490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1954"/>
                        </a:lnSpc>
                        <a:buNone/>
                        <a:defRPr sz="17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7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DaVinci Resolve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1954"/>
                        </a:lnSpc>
                        <a:buNone/>
                        <a:defRPr sz="17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7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44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37490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1954"/>
                        </a:lnSpc>
                        <a:buNone/>
                        <a:defRPr sz="17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7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EViews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1954"/>
                        </a:lnSpc>
                        <a:buNone/>
                        <a:defRPr sz="17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7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50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37490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1954"/>
                        </a:lnSpc>
                        <a:buNone/>
                        <a:defRPr sz="17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7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Excel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1954"/>
                        </a:lnSpc>
                        <a:buNone/>
                        <a:defRPr sz="17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7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64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37490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1954"/>
                        </a:lnSpc>
                        <a:buNone/>
                        <a:defRPr sz="17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7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FL Studio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1954"/>
                        </a:lnSpc>
                        <a:buNone/>
                        <a:defRPr sz="17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7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57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02920" y="4690872"/>
            <a:ext cx="8183879" cy="3931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Li et al. (2025). ScreenSpot-Pro. 公開注釈1,581件、改訂210e78d。2026-10-16集計。</a:t>
            </a:r>
          </a:p>
          <a:p>
            <a:pPr>
              <a:lnSpc>
                <a:spcPct val="112000"/>
              </a:lnSpc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https://huggingface.co/datasets/likaixin/ScreenSpot-Pro/tree/210e78d3844251110bff86c95835ebd37a6930fa</a:t>
            </a:r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26環境の件数（8〜14）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Appendix: 2. 分布と座標の詳細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48640" y="1508760"/>
          <a:ext cx="8046720" cy="3017520"/>
        </p:xfrm>
        <a:graphic>
          <a:graphicData uri="http://schemas.openxmlformats.org/drawingml/2006/table">
            <a:tbl>
              <a:tblPr firstRow="0" bandRow="0"/>
              <a:tblGrid>
                <a:gridCol w="5943600"/>
                <a:gridCol w="2103120"/>
              </a:tblGrid>
              <a:tr h="393192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1954"/>
                        </a:lnSpc>
                        <a:buNone/>
                        <a:defRPr sz="17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7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アプリ・OS環境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1954"/>
                        </a:lnSpc>
                        <a:buNone/>
                        <a:defRPr sz="17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7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件数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</a:tr>
              <a:tr h="37490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1954"/>
                        </a:lnSpc>
                        <a:buNone/>
                        <a:defRPr sz="17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7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Illustrator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1954"/>
                        </a:lnSpc>
                        <a:buNone/>
                        <a:defRPr sz="17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7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31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37490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1954"/>
                        </a:lnSpc>
                        <a:buNone/>
                        <a:defRPr sz="17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7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Inventor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1954"/>
                        </a:lnSpc>
                        <a:buNone/>
                        <a:defRPr sz="17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7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70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37490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1954"/>
                        </a:lnSpc>
                        <a:buNone/>
                        <a:defRPr sz="17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7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Linux共通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1954"/>
                        </a:lnSpc>
                        <a:buNone/>
                        <a:defRPr sz="17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7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50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37490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1954"/>
                        </a:lnSpc>
                        <a:buNone/>
                        <a:defRPr sz="17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7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macOS共通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1954"/>
                        </a:lnSpc>
                        <a:buNone/>
                        <a:defRPr sz="17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7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65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37490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1954"/>
                        </a:lnSpc>
                        <a:buNone/>
                        <a:defRPr sz="17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7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MATLAB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1954"/>
                        </a:lnSpc>
                        <a:buNone/>
                        <a:defRPr sz="17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7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93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37490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1954"/>
                        </a:lnSpc>
                        <a:buNone/>
                        <a:defRPr sz="17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7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Origin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1954"/>
                        </a:lnSpc>
                        <a:buNone/>
                        <a:defRPr sz="17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7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62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37490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1954"/>
                        </a:lnSpc>
                        <a:buNone/>
                        <a:defRPr sz="17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7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Photoshop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1954"/>
                        </a:lnSpc>
                        <a:buNone/>
                        <a:defRPr sz="17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7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51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02920" y="4690872"/>
            <a:ext cx="8183879" cy="3931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Li et al. (2025). ScreenSpot-Pro. 公開注釈1,581件、改訂210e78d。2026-10-16集計。</a:t>
            </a:r>
          </a:p>
          <a:p>
            <a:pPr>
              <a:lnSpc>
                <a:spcPct val="112000"/>
              </a:lnSpc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https://huggingface.co/datasets/likaixin/ScreenSpot-Pro/tree/210e78d3844251110bff86c95835ebd37a6930fa</a:t>
            </a:r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26環境の件数（15〜21）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Appendix: 2. 分布と座標の詳細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48640" y="1508760"/>
          <a:ext cx="8046720" cy="3017520"/>
        </p:xfrm>
        <a:graphic>
          <a:graphicData uri="http://schemas.openxmlformats.org/drawingml/2006/table">
            <a:tbl>
              <a:tblPr firstRow="0" bandRow="0"/>
              <a:tblGrid>
                <a:gridCol w="5943600"/>
                <a:gridCol w="2103120"/>
              </a:tblGrid>
              <a:tr h="393192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1954"/>
                        </a:lnSpc>
                        <a:buNone/>
                        <a:defRPr sz="17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7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アプリ・OS環境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1954"/>
                        </a:lnSpc>
                        <a:buNone/>
                        <a:defRPr sz="17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7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件数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</a:tr>
              <a:tr h="37490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1954"/>
                        </a:lnSpc>
                        <a:buNone/>
                        <a:defRPr sz="17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7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PowerPoint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1954"/>
                        </a:lnSpc>
                        <a:buNone/>
                        <a:defRPr sz="17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7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82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37490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1954"/>
                        </a:lnSpc>
                        <a:buNone/>
                        <a:defRPr sz="17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7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Premiere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1954"/>
                        </a:lnSpc>
                        <a:buNone/>
                        <a:defRPr sz="17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7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52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37490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1954"/>
                        </a:lnSpc>
                        <a:buNone/>
                        <a:defRPr sz="17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7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PyCharm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1954"/>
                        </a:lnSpc>
                        <a:buNone/>
                        <a:defRPr sz="17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7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78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37490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1954"/>
                        </a:lnSpc>
                        <a:buNone/>
                        <a:defRPr sz="17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7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Quartus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1954"/>
                        </a:lnSpc>
                        <a:buNone/>
                        <a:defRPr sz="17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7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45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37490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1954"/>
                        </a:lnSpc>
                        <a:buNone/>
                        <a:defRPr sz="17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7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SolidWorks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1954"/>
                        </a:lnSpc>
                        <a:buNone/>
                        <a:defRPr sz="17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7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77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37490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1954"/>
                        </a:lnSpc>
                        <a:buNone/>
                        <a:defRPr sz="17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7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Stata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1954"/>
                        </a:lnSpc>
                        <a:buNone/>
                        <a:defRPr sz="17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7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49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37490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1954"/>
                        </a:lnSpc>
                        <a:buNone/>
                        <a:defRPr sz="17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7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Unreal Engine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1954"/>
                        </a:lnSpc>
                        <a:buNone/>
                        <a:defRPr sz="17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7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35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02920" y="4690872"/>
            <a:ext cx="8183879" cy="3931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Li et al. (2025). ScreenSpot-Pro. 公開注釈1,581件、改訂210e78d。2026-10-16集計。</a:t>
            </a:r>
          </a:p>
          <a:p>
            <a:pPr>
              <a:lnSpc>
                <a:spcPct val="112000"/>
              </a:lnSpc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https://huggingface.co/datasets/likaixin/ScreenSpot-Pro/tree/210e78d3844251110bff86c95835ebd37a6930fa</a:t>
            </a:r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26環境の件数（22〜26）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Appendix: 2. 分布と座標の詳細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48640" y="1508760"/>
          <a:ext cx="8046720" cy="2267712"/>
        </p:xfrm>
        <a:graphic>
          <a:graphicData uri="http://schemas.openxmlformats.org/drawingml/2006/table">
            <a:tbl>
              <a:tblPr firstRow="0" bandRow="0"/>
              <a:tblGrid>
                <a:gridCol w="5943600"/>
                <a:gridCol w="2103120"/>
              </a:tblGrid>
              <a:tr h="393192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1954"/>
                        </a:lnSpc>
                        <a:buNone/>
                        <a:defRPr sz="17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7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アプリ・OS環境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1954"/>
                        </a:lnSpc>
                        <a:buNone/>
                        <a:defRPr sz="17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7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件数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</a:tr>
              <a:tr h="37490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1954"/>
                        </a:lnSpc>
                        <a:buNone/>
                        <a:defRPr sz="17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7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Vivado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1954"/>
                        </a:lnSpc>
                        <a:buNone/>
                        <a:defRPr sz="17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7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80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37490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1954"/>
                        </a:lnSpc>
                        <a:buNone/>
                        <a:defRPr sz="17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7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VMware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1954"/>
                        </a:lnSpc>
                        <a:buNone/>
                        <a:defRPr sz="17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7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41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37490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1954"/>
                        </a:lnSpc>
                        <a:buNone/>
                        <a:defRPr sz="17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7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VS Code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1954"/>
                        </a:lnSpc>
                        <a:buNone/>
                        <a:defRPr sz="17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7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55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37490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1954"/>
                        </a:lnSpc>
                        <a:buNone/>
                        <a:defRPr sz="17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7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Windows共通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1954"/>
                        </a:lnSpc>
                        <a:buNone/>
                        <a:defRPr sz="17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7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81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37490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1954"/>
                        </a:lnSpc>
                        <a:buNone/>
                        <a:defRPr sz="17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7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Word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1954"/>
                        </a:lnSpc>
                        <a:buNone/>
                        <a:defRPr sz="17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7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84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02920" y="4690872"/>
            <a:ext cx="8183879" cy="3931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Li et al. (2025). ScreenSpot-Pro. 公開注釈1,581件、改訂210e78d。2026-10-16集計。</a:t>
            </a:r>
          </a:p>
          <a:p>
            <a:pPr>
              <a:lnSpc>
                <a:spcPct val="112000"/>
              </a:lnSpc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https://huggingface.co/datasets/likaixin/ScreenSpot-Pro/tree/210e78d3844251110bff86c95835ebd37a6930fa</a:t>
            </a:r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14種類の画面サイズ（1〜7）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Appendix: 2. 分布と座標の詳細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48640" y="1508760"/>
          <a:ext cx="8046720" cy="3017520"/>
        </p:xfrm>
        <a:graphic>
          <a:graphicData uri="http://schemas.openxmlformats.org/drawingml/2006/table">
            <a:tbl>
              <a:tblPr firstRow="0" bandRow="0"/>
              <a:tblGrid>
                <a:gridCol w="5760720"/>
                <a:gridCol w="2286000"/>
              </a:tblGrid>
              <a:tr h="393192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070"/>
                        </a:lnSpc>
                        <a:buNone/>
                        <a:defRPr sz="18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8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画面サイズ（px）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070"/>
                        </a:lnSpc>
                        <a:buNone/>
                        <a:defRPr sz="18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8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件数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</a:tr>
              <a:tr h="37490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070"/>
                        </a:lnSpc>
                        <a:buNone/>
                        <a:defRPr sz="18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8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3840 × 2160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070"/>
                        </a:lnSpc>
                        <a:buNone/>
                        <a:defRPr sz="18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8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270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37490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070"/>
                        </a:lnSpc>
                        <a:buNone/>
                        <a:defRPr sz="18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8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3840 × 1080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070"/>
                        </a:lnSpc>
                        <a:buNone/>
                        <a:defRPr sz="18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8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181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37490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070"/>
                        </a:lnSpc>
                        <a:buNone/>
                        <a:defRPr sz="18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8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2560 × 1440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070"/>
                        </a:lnSpc>
                        <a:buNone/>
                        <a:defRPr sz="18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8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514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37490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070"/>
                        </a:lnSpc>
                        <a:buNone/>
                        <a:defRPr sz="18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8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3456 × 2234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070"/>
                        </a:lnSpc>
                        <a:buNone/>
                        <a:defRPr sz="18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8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161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37490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070"/>
                        </a:lnSpc>
                        <a:buNone/>
                        <a:defRPr sz="18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8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2160 × 1440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070"/>
                        </a:lnSpc>
                        <a:buNone/>
                        <a:defRPr sz="18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8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99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37490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070"/>
                        </a:lnSpc>
                        <a:buNone/>
                        <a:defRPr sz="18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8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5120 × 1440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070"/>
                        </a:lnSpc>
                        <a:buNone/>
                        <a:defRPr sz="18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8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61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37490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070"/>
                        </a:lnSpc>
                        <a:buNone/>
                        <a:defRPr sz="18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8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3456 × 2160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070"/>
                        </a:lnSpc>
                        <a:buNone/>
                        <a:defRPr sz="18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8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50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02920" y="4690872"/>
            <a:ext cx="8183879" cy="3931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Li et al. (2025). ScreenSpot-Pro. 公開注釈1,581件、改訂210e78d。2026-10-16集計。</a:t>
            </a:r>
          </a:p>
          <a:p>
            <a:pPr>
              <a:lnSpc>
                <a:spcPct val="112000"/>
              </a:lnSpc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https://huggingface.co/datasets/likaixin/ScreenSpot-Pro/tree/210e78d3844251110bff86c95835ebd37a6930fa</a:t>
            </a:r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14種類の画面サイズ（8〜14）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Appendix: 2. 分布と座標の詳細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48640" y="1508760"/>
          <a:ext cx="8046720" cy="3017520"/>
        </p:xfrm>
        <a:graphic>
          <a:graphicData uri="http://schemas.openxmlformats.org/drawingml/2006/table">
            <a:tbl>
              <a:tblPr firstRow="0" bandRow="0"/>
              <a:tblGrid>
                <a:gridCol w="5760720"/>
                <a:gridCol w="2286000"/>
              </a:tblGrid>
              <a:tr h="393192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070"/>
                        </a:lnSpc>
                        <a:buNone/>
                        <a:defRPr sz="18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8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画面サイズ（px）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070"/>
                        </a:lnSpc>
                        <a:buNone/>
                        <a:defRPr sz="18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8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件数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</a:tr>
              <a:tr h="37490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070"/>
                        </a:lnSpc>
                        <a:buNone/>
                        <a:defRPr sz="18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8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2992 × 1870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070"/>
                        </a:lnSpc>
                        <a:buNone/>
                        <a:defRPr sz="18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8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8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37490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070"/>
                        </a:lnSpc>
                        <a:buNone/>
                        <a:defRPr sz="18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8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6016 × 3384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070"/>
                        </a:lnSpc>
                        <a:buNone/>
                        <a:defRPr sz="18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8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11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37490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070"/>
                        </a:lnSpc>
                        <a:buNone/>
                        <a:defRPr sz="18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8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2560 × 1600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070"/>
                        </a:lnSpc>
                        <a:buNone/>
                        <a:defRPr sz="18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8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7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37490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070"/>
                        </a:lnSpc>
                        <a:buNone/>
                        <a:defRPr sz="18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8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2880 × 1800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070"/>
                        </a:lnSpc>
                        <a:buNone/>
                        <a:defRPr sz="18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8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82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37490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070"/>
                        </a:lnSpc>
                        <a:buNone/>
                        <a:defRPr sz="18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8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5120 × 2880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070"/>
                        </a:lnSpc>
                        <a:buNone/>
                        <a:defRPr sz="18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8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70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37490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070"/>
                        </a:lnSpc>
                        <a:buNone/>
                        <a:defRPr sz="18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8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1920 × 1080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070"/>
                        </a:lnSpc>
                        <a:buNone/>
                        <a:defRPr sz="18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8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19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37490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070"/>
                        </a:lnSpc>
                        <a:buNone/>
                        <a:defRPr sz="18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8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2560 × 1664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070"/>
                        </a:lnSpc>
                        <a:buNone/>
                        <a:defRPr sz="18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8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48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02920" y="4690872"/>
            <a:ext cx="8183879" cy="3931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Li et al. (2025). ScreenSpot-Pro. 公開注釈1,581件、改訂210e78d。2026-10-16集計。</a:t>
            </a:r>
          </a:p>
          <a:p>
            <a:pPr>
              <a:lnSpc>
                <a:spcPct val="112000"/>
              </a:lnSpc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https://huggingface.co/datasets/likaixin/ScreenSpot-Pro/tree/210e78d3844251110bff86c95835ebd37a6930fa</a:t>
            </a:r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VS Codeの座標を0〜1へ正規化する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Appendix: 2. 分布と座標の詳細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48640" y="1508760"/>
          <a:ext cx="8046720" cy="2798064"/>
        </p:xfrm>
        <a:graphic>
          <a:graphicData uri="http://schemas.openxmlformats.org/drawingml/2006/table">
            <a:tbl>
              <a:tblPr firstRow="0" bandRow="0"/>
              <a:tblGrid>
                <a:gridCol w="2468880"/>
                <a:gridCol w="2011680"/>
                <a:gridCol w="3566160"/>
              </a:tblGrid>
              <a:tr h="457200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070"/>
                        </a:lnSpc>
                        <a:buNone/>
                        <a:defRPr sz="18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8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量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070"/>
                        </a:lnSpc>
                        <a:buNone/>
                        <a:defRPr sz="18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8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画像上の値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070"/>
                        </a:lnSpc>
                        <a:buNone/>
                        <a:defRPr sz="18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8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正規化した値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</a:tr>
              <a:tr h="585216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070"/>
                        </a:lnSpc>
                        <a:buNone/>
                        <a:defRPr sz="18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8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左端のx座標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070"/>
                        </a:lnSpc>
                        <a:buNone/>
                        <a:defRPr sz="18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8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473 px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070"/>
                        </a:lnSpc>
                        <a:buNone/>
                        <a:defRPr sz="18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8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473 ÷ 2560 → 約0.1848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585216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070"/>
                        </a:lnSpc>
                        <a:buNone/>
                        <a:defRPr sz="18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8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上端のy座標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070"/>
                        </a:lnSpc>
                        <a:buNone/>
                        <a:defRPr sz="18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8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183 px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070"/>
                        </a:lnSpc>
                        <a:buNone/>
                        <a:defRPr sz="18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8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183 ÷ 1664 → 約0.1100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585216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070"/>
                        </a:lnSpc>
                        <a:buNone/>
                        <a:defRPr sz="18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8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領域中心のx座標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070"/>
                        </a:lnSpc>
                        <a:buNone/>
                        <a:defRPr sz="18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8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488 px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070"/>
                        </a:lnSpc>
                        <a:buNone/>
                        <a:defRPr sz="18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8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488 ÷ 2560 → 約0.1906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585216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070"/>
                        </a:lnSpc>
                        <a:buNone/>
                        <a:defRPr sz="18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8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領域中心のy座標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070"/>
                        </a:lnSpc>
                        <a:buNone/>
                        <a:defRPr sz="18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8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201 px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070"/>
                        </a:lnSpc>
                        <a:buNone/>
                        <a:defRPr sz="18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8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201 ÷ 1664 → 約0.1208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02920" y="4690872"/>
            <a:ext cx="8183879" cy="3931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Li et al. (2025). ScreenSpot-Pro: eval_screenspot_pro.py. 点の正解判定と指標集計。</a:t>
            </a:r>
          </a:p>
          <a:p>
            <a:pPr>
              <a:lnSpc>
                <a:spcPct val="112000"/>
              </a:lnSpc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https://github.com/likaixin2000/ScreenSpot-Pro-GUI-Grounding/blob/main/eval_screenspot_pro.py</a:t>
            </a:r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正解判定は領域の境界を含む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Appendix: 2. 分布と座標の詳細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508760"/>
            <a:ext cx="8046720" cy="1730755"/>
          </a:xfrm>
          <a:prstGeom prst="rect">
            <a:avLst/>
          </a:prstGeom>
          <a:solidFill>
            <a:srgbClr val="EBED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none" lIns="152400" rIns="152400" tIns="127000" bIns="127000"/>
          <a:lstStyle/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  <a:buNone/>
              <a:defRPr sz="1700" b="0">
                <a:solidFill>
                  <a:srgbClr val="303437"/>
                </a:solidFill>
                <a:latin typeface="Noto Sans"/>
              </a:defRPr>
            </a:pPr>
            <a:r>
              <a:rPr sz="1700" b="0" lang="ja-JP" altLang="en-US">
                <a:solidFill>
                  <a:srgbClr val="303437"/>
                </a:solidFill>
                <a:latin typeface="Liberation Mono"/>
                <a:ea typeface="Noto Sans CJK JP"/>
                <a:cs typeface="Liberation Mono"/>
              </a:rPr>
              <a:t>x0, y0, x1, y1 = sample["bbox"]</a:t>
            </a:r>
          </a:p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  <a:buNone/>
              <a:defRPr sz="1700" b="0">
                <a:solidFill>
                  <a:srgbClr val="303437"/>
                </a:solidFill>
                <a:latin typeface="Noto Sans"/>
              </a:defRPr>
            </a:pPr>
            <a:r>
              <a:rPr sz="1700" b="0" lang="ja-JP" altLang="en-US">
                <a:solidFill>
                  <a:srgbClr val="303437"/>
                </a:solidFill>
                <a:latin typeface="Liberation Mono"/>
                <a:ea typeface="Noto Sans CJK JP"/>
                <a:cs typeface="Liberation Mono"/>
              </a:rPr>
              <a:t>w, h = sample["img_size"]</a:t>
            </a:r>
          </a:p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  <a:buNone/>
              <a:defRPr sz="1700" b="0">
                <a:solidFill>
                  <a:srgbClr val="303437"/>
                </a:solidFill>
                <a:latin typeface="Noto Sans"/>
              </a:defRPr>
            </a:pPr>
            <a:r>
              <a:rPr sz="1700" b="0" lang="ja-JP" altLang="en-US">
                <a:solidFill>
                  <a:srgbClr val="303437"/>
                </a:solidFill>
                <a:latin typeface="Liberation Mono"/>
                <a:ea typeface="Noto Sans CJK JP"/>
                <a:cs typeface="Liberation Mono"/>
              </a:rPr>
              <a:t>x, y = response["point"]</a:t>
            </a:r>
          </a:p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  <a:buNone/>
              <a:defRPr sz="1700" b="0">
                <a:solidFill>
                  <a:srgbClr val="303437"/>
                </a:solidFill>
                <a:latin typeface="Noto Sans"/>
              </a:defRPr>
            </a:pPr>
            <a:r>
              <a:rPr sz="1700" b="0" lang="ja-JP" altLang="en-US">
                <a:solidFill>
                  <a:srgbClr val="303437"/>
                </a:solidFill>
                <a:latin typeface="Liberation Mono"/>
                <a:ea typeface="Noto Sans CJK JP"/>
                <a:cs typeface="Liberation Mono"/>
              </a:rPr>
              <a:t/>
            </a:r>
          </a:p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  <a:buNone/>
              <a:defRPr sz="1700" b="0">
                <a:solidFill>
                  <a:srgbClr val="303437"/>
                </a:solidFill>
                <a:latin typeface="Noto Sans"/>
              </a:defRPr>
            </a:pPr>
            <a:r>
              <a:rPr sz="1700" b="0" lang="ja-JP" altLang="en-US">
                <a:solidFill>
                  <a:srgbClr val="303437"/>
                </a:solidFill>
                <a:latin typeface="Liberation Mono"/>
                <a:ea typeface="Noto Sans CJK JP"/>
                <a:cs typeface="Liberation Mono"/>
              </a:rPr>
              <a:t>correct = (x0 / w &lt;= x &lt;= x1 / w</a:t>
            </a:r>
          </a:p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  <a:buNone/>
              <a:defRPr sz="1700" b="0">
                <a:solidFill>
                  <a:srgbClr val="303437"/>
                </a:solidFill>
                <a:latin typeface="Noto Sans"/>
              </a:defRPr>
            </a:pPr>
            <a:r>
              <a:rPr sz="1700" b="0" lang="ja-JP" altLang="en-US">
                <a:solidFill>
                  <a:srgbClr val="303437"/>
                </a:solidFill>
                <a:latin typeface="Liberation Mono"/>
                <a:ea typeface="Noto Sans CJK JP"/>
                <a:cs typeface="Liberation Mono"/>
              </a:rPr>
              <a:t>           and y0 / h &lt;= y &lt;= y1 / h)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3440684"/>
            <a:ext cx="7955279" cy="77724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7000"/>
              </a:lnSpc>
              <a:spcBef>
                <a:spcPts val="0"/>
              </a:spcBef>
              <a:spcAft>
                <a:spcPts val="0"/>
              </a:spcAft>
              <a:buNone/>
              <a:defRPr sz="1900" b="0">
                <a:solidFill>
                  <a:srgbClr val="303437"/>
                </a:solidFill>
                <a:latin typeface="Noto Sans"/>
              </a:defRPr>
            </a:pPr>
            <a:r>
              <a:rPr sz="19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公式eval_sample_positive_gtの判定条件を、説明用に変数名を整理して抜粋。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4690872"/>
            <a:ext cx="8183879" cy="3931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Li et al. (2025). ScreenSpot-Pro: eval_screenspot_pro.py. 点の正解判定と指標集計。</a:t>
            </a:r>
          </a:p>
          <a:p>
            <a:pPr>
              <a:lnSpc>
                <a:spcPct val="112000"/>
              </a:lnSpc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https://github.com/likaixin2000/ScreenSpot-Pro-GUI-Grounding/blob/main/eval_screenspot_pro.py</a:t>
            </a:r>
          </a:p>
        </p:txBody>
      </p:sp>
    </p:spTree>
  </p:cSld>
  <p:clrMapOvr>
    <a:masterClrMapping/>
  </p:clrMapOvr>
</p:sld>
</file>

<file path=ppt/slides/slide5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中国語の指示も同じ画面へ対応する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94360" y="1463040"/>
            <a:ext cx="7955279" cy="3090672"/>
          </a:xfrm>
        </p:spPr>
        <p:txBody>
          <a:bodyPr wrap="square" tIns="91440" bIns="91440">
            <a:noAutofit/>
          </a:bodyPr>
          <a:lstStyle/>
          <a:p>
            <a:pPr marL="457200" indent="-355600">
              <a:lnSpc>
                <a:spcPts val="2760"/>
              </a:lnSpc>
              <a:spcAft>
                <a:spcPts val="800"/>
              </a:spcAft>
              <a:buSzPct val="57826"/>
              <a:buFont typeface="Noto Sans CJK JP"/>
              <a:buChar char="●"/>
              <a:defRPr sz="2300" b="0">
                <a:solidFill>
                  <a:srgbClr val="303437"/>
                </a:solidFill>
                <a:latin typeface="Noto Sans"/>
              </a:defRPr>
            </a:pPr>
            <a:r>
              <a:rPr sz="23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公開注釈にはinstructionとinstruction_cnがあり、同じ対象について英語・中国語の指示を持つ。</a:t>
            </a:r>
          </a:p>
          <a:p>
            <a:pPr marL="457200" indent="-355600">
              <a:lnSpc>
                <a:spcPts val="2760"/>
              </a:lnSpc>
              <a:spcAft>
                <a:spcPts val="800"/>
              </a:spcAft>
              <a:buSzPct val="57826"/>
              <a:buFont typeface="Noto Sans CJK JP"/>
              <a:buChar char="●"/>
              <a:defRPr sz="2300" b="0">
                <a:solidFill>
                  <a:srgbClr val="303437"/>
                </a:solidFill>
                <a:latin typeface="Noto Sans"/>
              </a:defRPr>
            </a:pPr>
            <a:r>
              <a:rPr sz="23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中国語はGPT-4による初期翻訳を、著者らが確認・修正して作成した。</a:t>
            </a:r>
          </a:p>
          <a:p>
            <a:pPr marL="457200" indent="-355600">
              <a:lnSpc>
                <a:spcPts val="2760"/>
              </a:lnSpc>
              <a:spcAft>
                <a:spcPts val="0"/>
              </a:spcAft>
              <a:buSzPct val="57826"/>
              <a:buFont typeface="Noto Sans CJK JP"/>
              <a:buChar char="●"/>
              <a:defRPr sz="2300" b="0">
                <a:solidFill>
                  <a:srgbClr val="303437"/>
                </a:solidFill>
                <a:latin typeface="Noto Sans"/>
              </a:defRPr>
            </a:pPr>
            <a:r>
              <a:rPr sz="23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初期のOS-Atlas-7Bでは、英語18.9%に対して中国語16.8%だった。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Appendix: 2. 分布と座標の詳細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4690872"/>
            <a:ext cx="8183879" cy="3931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Li et al. (2025). ScreenSpot-Pro: GUI Grounding for Professional High-Resolution Computer Use. Preprint.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 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https://likaixin2000.github.io/papers/ScreenSpot_Pro.pdf</a:t>
            </a:r>
          </a:p>
        </p:txBody>
      </p:sp>
    </p:spTree>
  </p:cSld>
  <p:clrMapOvr>
    <a:masterClrMapping/>
  </p:clrMapOvr>
</p:sld>
</file>

<file path=ppt/slides/slide5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2388106"/>
            <a:ext cx="8046720" cy="822960"/>
          </a:xfrm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10000"/>
              </a:lnSpc>
              <a:buNone/>
              <a:defRPr sz="3600" b="0">
                <a:solidFill>
                  <a:srgbClr val="303437"/>
                </a:solidFill>
                <a:latin typeface="Noto Sans"/>
              </a:defRPr>
            </a:pPr>
            <a:r>
              <a:rPr sz="36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3. 開発者と参考文献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Appendix: 3. 開発者と参考文献</a:t>
            </a:r>
          </a:p>
        </p:txBody>
      </p:sp>
    </p:spTree>
  </p:cSld>
  <p:clrMapOvr>
    <a:masterClrMapping/>
  </p:clrMapOvr>
</p:sld>
</file>

<file path=ppt/slides/slide6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GUIの位置推定と視覚探索を研究した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94360" y="1463040"/>
            <a:ext cx="7955279" cy="3090672"/>
          </a:xfrm>
        </p:spPr>
        <p:txBody>
          <a:bodyPr wrap="square" tIns="91440" bIns="91440">
            <a:noAutofit/>
          </a:bodyPr>
          <a:lstStyle/>
          <a:p>
            <a:pPr marL="457200" indent="-355600">
              <a:lnSpc>
                <a:spcPts val="2640"/>
              </a:lnSpc>
              <a:spcAft>
                <a:spcPts val="800"/>
              </a:spcAft>
              <a:buSzPct val="60455"/>
              <a:buFont typeface="Noto Sans CJK JP"/>
              <a:buChar char="●"/>
              <a:defRPr sz="2200" b="0">
                <a:solidFill>
                  <a:srgbClr val="303437"/>
                </a:solidFill>
                <a:latin typeface="Noto Sans"/>
              </a:defRPr>
            </a:pPr>
            <a:r>
              <a:rPr sz="22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第一著者のKaixin Liは、発表時にNational University of Singapore所属。GUIの位置推定と高解像度画面での視覚探索を扱った。</a:t>
            </a:r>
          </a:p>
          <a:p>
            <a:pPr marL="457200" indent="-355600">
              <a:lnSpc>
                <a:spcPts val="2640"/>
              </a:lnSpc>
              <a:spcAft>
                <a:spcPts val="800"/>
              </a:spcAft>
              <a:buSzPct val="60455"/>
              <a:buFont typeface="Noto Sans CJK JP"/>
              <a:buChar char="●"/>
              <a:defRPr sz="2200" b="0">
                <a:solidFill>
                  <a:srgbClr val="303437"/>
                </a:solidFill>
                <a:latin typeface="Noto Sans"/>
              </a:defRPr>
            </a:pPr>
            <a:r>
              <a:rPr sz="22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最終著者のTat-Seng Chuaも同大学所属。視覚と言語を結び付けるマルチモーダル研究に取り組む。</a:t>
            </a:r>
          </a:p>
          <a:p>
            <a:pPr marL="457200" indent="-355600">
              <a:lnSpc>
                <a:spcPts val="2640"/>
              </a:lnSpc>
              <a:spcAft>
                <a:spcPts val="0"/>
              </a:spcAft>
              <a:buSzPct val="60455"/>
              <a:buFont typeface="Noto Sans CJK JP"/>
              <a:buChar char="●"/>
              <a:defRPr sz="2200" b="0">
                <a:solidFill>
                  <a:srgbClr val="303437"/>
                </a:solidFill>
                <a:latin typeface="Noto Sans"/>
              </a:defRPr>
            </a:pPr>
            <a:r>
              <a:rPr sz="22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論文は2025年公開。公式GitHubはWorkshop on Reasoning and Planning for Large Language Modelsを引用先に指定している。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Appendix: 3. 開発者と参考文献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4690872"/>
            <a:ext cx="8183879" cy="3931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Li et al. (2025). ScreenSpot-Pro: GUI Grounding for Professional High-Resolution Computer Use. Preprint.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 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https://likaixin2000.github.io/papers/ScreenSpot_Pro.pdf</a:t>
            </a:r>
          </a:p>
        </p:txBody>
      </p:sp>
    </p:spTree>
  </p:cSld>
  <p:clrMapOvr>
    <a:masterClrMapping/>
  </p:clrMapOvr>
</p:sld>
</file>

<file path=ppt/slides/slide6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参考文献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Appendix: 3. 開発者と参考文献</a:t>
            </a:r>
          </a:p>
        </p:txBody>
      </p:sp>
      <p:sp>
        <p:nvSpPr>
          <p:cNvPr id="4" name="文献 1: ScreenSpot-Pro: GUI Grounding for Professional High-Resolution Computer Use"/>
          <p:cNvSpPr txBox="1"/>
          <p:nvPr/>
        </p:nvSpPr>
        <p:spPr>
          <a:xfrm>
            <a:off x="548640" y="1463040"/>
            <a:ext cx="8046720" cy="171500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400"/>
              </a:spcAft>
              <a:buNone/>
              <a:defRPr sz="2000" b="0">
                <a:solidFill>
                  <a:srgbClr val="303437"/>
                </a:solidFill>
                <a:latin typeface="Noto Sans"/>
              </a:defRPr>
            </a:pPr>
            <a:r>
              <a:rPr sz="20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ScreenSpot-Pro: GUI Grounding for Professional High-Resolution Computer Use</a:t>
            </a:r>
          </a:p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500"/>
              </a:spcAft>
              <a:buNone/>
              <a:defRPr sz="1350" b="0">
                <a:solidFill>
                  <a:srgbClr val="303437"/>
                </a:solidFill>
                <a:latin typeface="Noto Sans"/>
              </a:defRPr>
            </a:pPr>
            <a:r>
              <a:rPr sz="135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Kaixin Li, Ziyang Meng et al. / 2025 / Preprint</a:t>
            </a:r>
          </a:p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400"/>
              </a:spcAft>
              <a:buNone/>
              <a:defRPr sz="1850" b="0">
                <a:solidFill>
                  <a:srgbClr val="303437"/>
                </a:solidFill>
                <a:latin typeface="Noto Sans"/>
              </a:defRPr>
            </a:pPr>
            <a:r>
              <a:rPr sz="18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専門家による画面の収集、正解領域の注釈、初期評価とScreenSeekeRを説明する。</a:t>
            </a:r>
          </a:p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  <a:buNone/>
              <a:defRPr sz="1150" b="0">
                <a:solidFill>
                  <a:srgbClr val="303437"/>
                </a:solidFill>
                <a:latin typeface="Noto Sans"/>
              </a:defRPr>
            </a:pPr>
            <a:r>
              <a:rPr sz="115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https://likaixin2000.github.io/papers/ScreenSpot_Pro.pdf</a:t>
            </a:r>
          </a:p>
        </p:txBody>
      </p:sp>
    </p:spTree>
  </p:cSld>
  <p:clrMapOvr>
    <a:masterClrMapping/>
  </p:clrMapOvr>
</p:sld>
</file>

<file path=ppt/slides/slide6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参考文献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Appendix: 3. 開発者と参考文献</a:t>
            </a:r>
          </a:p>
        </p:txBody>
      </p:sp>
      <p:sp>
        <p:nvSpPr>
          <p:cNvPr id="4" name="文献 1: ScreenSpot-Pro"/>
          <p:cNvSpPr txBox="1"/>
          <p:nvPr/>
        </p:nvSpPr>
        <p:spPr>
          <a:xfrm>
            <a:off x="548640" y="1463040"/>
            <a:ext cx="8046720" cy="1157605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400"/>
              </a:spcAft>
              <a:buNone/>
              <a:defRPr sz="2000" b="0">
                <a:solidFill>
                  <a:srgbClr val="303437"/>
                </a:solidFill>
                <a:latin typeface="Noto Sans"/>
              </a:defRPr>
            </a:pPr>
            <a:r>
              <a:rPr sz="20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ScreenSpot-Pro</a:t>
            </a:r>
          </a:p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500"/>
              </a:spcAft>
              <a:buNone/>
              <a:defRPr sz="1350" b="0">
                <a:solidFill>
                  <a:srgbClr val="303437"/>
                </a:solidFill>
                <a:latin typeface="Noto Sans"/>
              </a:defRPr>
            </a:pPr>
            <a:r>
              <a:rPr sz="135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Li et al. / 2025 / Hugging Face dataset</a:t>
            </a:r>
          </a:p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400"/>
              </a:spcAft>
              <a:buNone/>
              <a:defRPr sz="1850" b="0">
                <a:solidFill>
                  <a:srgbClr val="303437"/>
                </a:solidFill>
                <a:latin typeface="Noto Sans"/>
              </a:defRPr>
            </a:pPr>
            <a:r>
              <a:rPr sz="18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26環境の画面と、指示・正解領域・対象の種類を含む公開データ。</a:t>
            </a:r>
          </a:p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  <a:buNone/>
              <a:defRPr sz="1150" b="0">
                <a:solidFill>
                  <a:srgbClr val="303437"/>
                </a:solidFill>
                <a:latin typeface="Noto Sans"/>
              </a:defRPr>
            </a:pPr>
            <a:r>
              <a:rPr sz="115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https://huggingface.co/datasets/likaixin/ScreenSpot-Pro</a:t>
            </a:r>
          </a:p>
        </p:txBody>
      </p:sp>
      <p:sp>
        <p:nvSpPr>
          <p:cNvPr id="5" name="文献 2: ScreenSpot-Pro-GUI-Grounding"/>
          <p:cNvSpPr txBox="1"/>
          <p:nvPr/>
        </p:nvSpPr>
        <p:spPr>
          <a:xfrm>
            <a:off x="548640" y="3131693"/>
            <a:ext cx="8046720" cy="1157605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400"/>
              </a:spcAft>
              <a:buNone/>
              <a:defRPr sz="2000" b="0">
                <a:solidFill>
                  <a:srgbClr val="303437"/>
                </a:solidFill>
                <a:latin typeface="Noto Sans"/>
              </a:defRPr>
            </a:pPr>
            <a:r>
              <a:rPr sz="20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ScreenSpot-Pro-GUI-Grounding</a:t>
            </a:r>
          </a:p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500"/>
              </a:spcAft>
              <a:buNone/>
              <a:defRPr sz="1350" b="0">
                <a:solidFill>
                  <a:srgbClr val="303437"/>
                </a:solidFill>
                <a:latin typeface="Noto Sans"/>
              </a:defRPr>
            </a:pPr>
            <a:r>
              <a:rPr sz="135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Li et al. / 2025 / GitHub</a:t>
            </a:r>
          </a:p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400"/>
              </a:spcAft>
              <a:buNone/>
              <a:defRPr sz="1850" b="0">
                <a:solidFill>
                  <a:srgbClr val="303437"/>
                </a:solidFill>
                <a:latin typeface="Noto Sans"/>
              </a:defRPr>
            </a:pPr>
            <a:r>
              <a:rPr sz="18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モデルの入出力、座標の正解判定と集計を確認できる公式評価実装。</a:t>
            </a:r>
          </a:p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  <a:buNone/>
              <a:defRPr sz="1150" b="0">
                <a:solidFill>
                  <a:srgbClr val="303437"/>
                </a:solidFill>
                <a:latin typeface="Noto Sans"/>
              </a:defRPr>
            </a:pPr>
            <a:r>
              <a:rPr sz="115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3"/>
              </a:rPr>
              <a:t>https://github.com/likaixin2000/ScreenSpot-Pro-GUI-Grounding</a:t>
            </a:r>
          </a:p>
        </p:txBody>
      </p:sp>
    </p:spTree>
  </p:cSld>
  <p:clrMapOvr>
    <a:masterClrMapping/>
  </p:clrMapOvr>
</p:sld>
</file>

<file path=ppt/slides/slide6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参考文献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Appendix: 3. 開発者と参考文献</a:t>
            </a:r>
          </a:p>
        </p:txBody>
      </p:sp>
      <p:sp>
        <p:nvSpPr>
          <p:cNvPr id="4" name="文献 1: SeeClick: Harnessing GUI Grounding for Advanced Visual GUI Agents"/>
          <p:cNvSpPr txBox="1"/>
          <p:nvPr/>
        </p:nvSpPr>
        <p:spPr>
          <a:xfrm>
            <a:off x="548640" y="1463040"/>
            <a:ext cx="8046720" cy="171500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400"/>
              </a:spcAft>
              <a:buNone/>
              <a:defRPr sz="2000" b="0">
                <a:solidFill>
                  <a:srgbClr val="303437"/>
                </a:solidFill>
                <a:latin typeface="Noto Sans"/>
              </a:defRPr>
            </a:pPr>
            <a:r>
              <a:rPr sz="20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SeeClick: Harnessing GUI Grounding for Advanced Visual GUI Agents</a:t>
            </a:r>
          </a:p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500"/>
              </a:spcAft>
              <a:buNone/>
              <a:defRPr sz="1350" b="0">
                <a:solidFill>
                  <a:srgbClr val="303437"/>
                </a:solidFill>
                <a:latin typeface="Noto Sans"/>
              </a:defRPr>
            </a:pPr>
            <a:r>
              <a:rPr sz="135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Cheng et al. / 2024 / ACL</a:t>
            </a:r>
          </a:p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400"/>
              </a:spcAft>
              <a:buNone/>
              <a:defRPr sz="1850" b="0">
                <a:solidFill>
                  <a:srgbClr val="303437"/>
                </a:solidFill>
                <a:latin typeface="Noto Sans"/>
              </a:defRPr>
            </a:pPr>
            <a:r>
              <a:rPr sz="18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指示から操作位置を求めるGUIモデルと、先行評価データScreenSpotを紹介する。</a:t>
            </a:r>
          </a:p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  <a:buNone/>
              <a:defRPr sz="1150" b="0">
                <a:solidFill>
                  <a:srgbClr val="303437"/>
                </a:solidFill>
                <a:latin typeface="Noto Sans"/>
              </a:defRPr>
            </a:pPr>
            <a:r>
              <a:rPr sz="115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https://arxiv.org/abs/2401.10935</a:t>
            </a:r>
          </a:p>
        </p:txBody>
      </p:sp>
    </p:spTree>
  </p:cSld>
  <p:clrMapOvr>
    <a:masterClrMapping/>
  </p:clrMapOvr>
</p:sld>
</file>

<file path=ppt/slides/slide6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参考文献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Appendix: 3. 開発者と参考文献</a:t>
            </a:r>
          </a:p>
        </p:txBody>
      </p:sp>
      <p:sp>
        <p:nvSpPr>
          <p:cNvPr id="4" name="文献 1: OS-Atlas: A Foundation Action Model for Generalist GUI Agents"/>
          <p:cNvSpPr txBox="1"/>
          <p:nvPr/>
        </p:nvSpPr>
        <p:spPr>
          <a:xfrm>
            <a:off x="548640" y="1463040"/>
            <a:ext cx="8046720" cy="142544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400"/>
              </a:spcAft>
              <a:buNone/>
              <a:defRPr sz="2000" b="0">
                <a:solidFill>
                  <a:srgbClr val="303437"/>
                </a:solidFill>
                <a:latin typeface="Noto Sans"/>
              </a:defRPr>
            </a:pPr>
            <a:r>
              <a:rPr sz="20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OS-Atlas: A Foundation Action Model for Generalist GUI Agents</a:t>
            </a:r>
          </a:p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500"/>
              </a:spcAft>
              <a:buNone/>
              <a:defRPr sz="1350" b="0">
                <a:solidFill>
                  <a:srgbClr val="303437"/>
                </a:solidFill>
                <a:latin typeface="Noto Sans"/>
              </a:defRPr>
            </a:pPr>
            <a:r>
              <a:rPr sz="135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Wu et al. / 2024 / arXiv:2410.23218</a:t>
            </a:r>
          </a:p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400"/>
              </a:spcAft>
              <a:buNone/>
              <a:defRPr sz="1850" b="0">
                <a:solidFill>
                  <a:srgbClr val="303437"/>
                </a:solidFill>
                <a:latin typeface="Noto Sans"/>
              </a:defRPr>
            </a:pPr>
            <a:r>
              <a:rPr sz="18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位置推定モデルOS-Atlasと、先行データの注釈を修正したScreenSpot-v2を説明する。</a:t>
            </a:r>
          </a:p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  <a:buNone/>
              <a:defRPr sz="1150" b="0">
                <a:solidFill>
                  <a:srgbClr val="303437"/>
                </a:solidFill>
                <a:latin typeface="Noto Sans"/>
              </a:defRPr>
            </a:pPr>
            <a:r>
              <a:rPr sz="115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https://arxiv.org/abs/2410.23218</a:t>
            </a:r>
          </a:p>
        </p:txBody>
      </p:sp>
    </p:spTree>
  </p:cSld>
  <p:clrMapOvr>
    <a:masterClrMapping/>
  </p:clrMapOvr>
</p:sld>
</file>

<file path=ppt/slides/slide6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参考文献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Appendix: 3. 開発者と参考文献</a:t>
            </a:r>
          </a:p>
        </p:txBody>
      </p:sp>
      <p:sp>
        <p:nvSpPr>
          <p:cNvPr id="4" name="文献 1: GPT-6 Astra: A new generation of intelligence"/>
          <p:cNvSpPr txBox="1"/>
          <p:nvPr/>
        </p:nvSpPr>
        <p:spPr>
          <a:xfrm>
            <a:off x="548640" y="1463040"/>
            <a:ext cx="8046720" cy="142544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400"/>
              </a:spcAft>
              <a:buNone/>
              <a:defRPr sz="2000" b="0">
                <a:solidFill>
                  <a:srgbClr val="303437"/>
                </a:solidFill>
                <a:latin typeface="Noto Sans"/>
              </a:defRPr>
            </a:pPr>
            <a:r>
              <a:rPr sz="20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GPT-6 Astra: A new generation of intelligence</a:t>
            </a:r>
          </a:p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500"/>
              </a:spcAft>
              <a:buNone/>
              <a:defRPr sz="1350" b="0">
                <a:solidFill>
                  <a:srgbClr val="303437"/>
                </a:solidFill>
                <a:latin typeface="Noto Sans"/>
              </a:defRPr>
            </a:pPr>
            <a:r>
              <a:rPr sz="135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OpenAI / 2026 / Model announcement</a:t>
            </a:r>
          </a:p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400"/>
              </a:spcAft>
              <a:buNone/>
              <a:defRPr sz="1850" b="0">
                <a:solidFill>
                  <a:srgbClr val="303437"/>
                </a:solidFill>
                <a:latin typeface="Noto Sans"/>
              </a:defRPr>
            </a:pPr>
            <a:r>
              <a:rPr sz="18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ScreenSpot-Proのツールなし評価と、現行モデルのコンピューター操作能力を報告する。</a:t>
            </a:r>
          </a:p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  <a:buNone/>
              <a:defRPr sz="1150" b="0">
                <a:solidFill>
                  <a:srgbClr val="303437"/>
                </a:solidFill>
                <a:latin typeface="Noto Sans"/>
              </a:defRPr>
            </a:pPr>
            <a:r>
              <a:rPr sz="115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https://openai.com/index/gpt-6-astra/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Simple Light">
  <a:themeElements>
    <a:clrScheme name="IARTEM Research Palette">
      <a:dk1>
        <a:srgbClr val="303437"/>
      </a:dk1>
      <a:lt1>
        <a:srgbClr val="FFFEF8"/>
      </a:lt1>
      <a:dk2>
        <a:srgbClr val="626669"/>
      </a:dk2>
      <a:lt2>
        <a:srgbClr val="EBEDEB"/>
      </a:lt2>
      <a:accent1>
        <a:srgbClr val="B13731"/>
      </a:accent1>
      <a:accent2>
        <a:srgbClr val="2C9100"/>
      </a:accent2>
      <a:accent3>
        <a:srgbClr val="2166AC"/>
      </a:accent3>
      <a:accent4>
        <a:srgbClr val="B84A00"/>
      </a:accent4>
      <a:accent5>
        <a:srgbClr val="007C91"/>
      </a:accent5>
      <a:accent6>
        <a:srgbClr val="763DA0"/>
      </a:accent6>
      <a:hlink>
        <a:srgbClr val="3F6F8F"/>
      </a:hlink>
      <a:folHlink>
        <a:srgbClr val="7A5C8E"/>
      </a:folHlink>
    </a:clrScheme>
    <a:fontScheme name="Office">
      <a:majorFont>
        <a:latin typeface="Noto Sans"/>
        <a:ea typeface="Noto Sans CJK JP"/>
        <a:cs typeface="Noto Sans"/>
        <a:font script="Jpan" typeface="Noto Sans CJK JP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Noto Sans"/>
        <a:ea typeface="Noto Sans CJK JP"/>
        <a:cs typeface="Noto Sans"/>
        <a:font script="Jpan" typeface="Noto Sans CJK JP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webextensions/_rels/taskpanes.xml.rels><?xml version='1.0' encoding='UTF-8' standalone='yes'?>
<Relationships xmlns="http://schemas.openxmlformats.org/package/2006/relationships"><Relationship Id="rId1" Type="http://schemas.microsoft.com/office/2011/relationships/webextension" Target="webextension1.xml"/></Relationships>
</file>

<file path=ppt/webextensions/taskpanes.xml><?xml version="1.0" encoding="utf-8"?>
<wetp:taskpanes xmlns:wetp="http://schemas.microsoft.com/office/webextensions/taskpanes/2010/11">
  <wetp:taskpane dockstate="right" visibility="0" width="350" row="0">
    <wetp:webextensionref xmlns:r="http://schemas.openxmlformats.org/officeDocument/2006/relationships" r:id="rId1"/>
  </wetp:taskpane>
</wetp:taskpanes>
</file>

<file path=ppt/webextensions/webextension1.xml><?xml version="1.0" encoding="utf-8"?>
<we:webextension xmlns:we="http://schemas.microsoft.com/office/webextensions/webextension/2010/11" id="{3EA7E97F-3A5A-9342-98CB-7411DADE8916}">
  <we:reference id="wa200010215" version="2.0.0.0" store="ja-JP" storeType="OMEX"/>
  <we:alternateReferences>
    <we:reference id="WA200010215" version="2.0.0.0" store="WA200010215" storeType="OMEX"/>
  </we:alternateReferences>
  <we:properties>
    <we:property name="bps.codex_control.document_id" value="&quot;f3f6bd8f-7a20-4dbe-a71e-f9942711a911&quot;"/>
  </we:properties>
  <we:bindings/>
  <we:snapshot xmlns:r="http://schemas.openxmlformats.org/officeDocument/2006/relationships"/>
</we:webextension>
</file>

<file path=docProps/app.xml><?xml version="1.0" encoding="utf-8"?>
<Properties xmlns="http://schemas.openxmlformats.org/officeDocument/2006/extended-properties" xmlns:vt="http://schemas.openxmlformats.org/officeDocument/2006/docPropsVTypes">
  <TotalTime>13685</TotalTime>
  <Words>14</Words>
  <Application>Microsoft Macintosh PowerPoint</Application>
  <PresentationFormat>画面に合わせる (16:9)</PresentationFormat>
  <Paragraphs>3</Paragraphs>
  <Slides>8</Slides>
  <Notes>0</Notes>
  <HiddenSlides>0</HiddenSlides>
  <MMClips>0</MMClips>
  <ScaleCrop>false</ScaleCrop>
  <HeadingPairs>
    <vt:vector size="6" baseType="variant">
      <vt:variant>
        <vt:lpstr>使用されているフォント</vt:lpstr>
      </vt:variant>
      <vt:variant>
        <vt:i4>1</vt:i4>
      </vt:variant>
      <vt:variant>
        <vt:lpstr>テーマ</vt:lpstr>
      </vt:variant>
      <vt:variant>
        <vt:i4>1</vt:i4>
      </vt:variant>
      <vt:variant>
        <vt:lpstr>スライド タイトル</vt:lpstr>
      </vt:variant>
      <vt:variant>
        <vt:i4>8</vt:i4>
      </vt:variant>
    </vt:vector>
  </HeadingPairs>
  <TitlesOfParts>
    <vt:vector size="10" baseType="lpstr">
      <vt:lpstr>Arial</vt:lpstr>
      <vt:lpstr>Simple Light</vt:lpstr>
      <vt:lpstr>Developing and Applying a Systematic Classification Framework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Bottom-right caption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cp:lastModifiedBy>佐々木　悠太</cp:lastModifiedBy>
  <cp:revision>500</cp:revision>
  <dcterms:modified xsi:type="dcterms:W3CDTF">2026-10-13T12:49:59Z</dcterms:modified>
  <dc:title>ScreenSpot-Pro — datasets in 10 minutes</dc:title>
  <dc:subject>専門ソフトの画面・操作指示・正解領域・作成方法とGUI位置推定の評価</dc:subject>
  <dc:creator>sasakiy84</dc:creator>
  <cp:keywords>ScreenSpot-Pro,GUI,grounding,dataset,computer use</cp:keywords>
</cp:coreProperties>
</file>