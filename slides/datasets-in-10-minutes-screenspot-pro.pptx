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20" r:id="rId70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Relationship Id="rId61" Type="http://schemas.openxmlformats.org/officeDocument/2006/relationships/slide" Target="slides/slide56.xml"/><Relationship Id="rId62" Type="http://schemas.openxmlformats.org/officeDocument/2006/relationships/slide" Target="slides/slide57.xml"/><Relationship Id="rId63" Type="http://schemas.openxmlformats.org/officeDocument/2006/relationships/slide" Target="slides/slide58.xml"/><Relationship Id="rId64" Type="http://schemas.openxmlformats.org/officeDocument/2006/relationships/slide" Target="slides/slide59.xml"/><Relationship Id="rId65" Type="http://schemas.openxmlformats.org/officeDocument/2006/relationships/slide" Target="slides/slide60.xml"/><Relationship Id="rId66" Type="http://schemas.openxmlformats.org/officeDocument/2006/relationships/slide" Target="slides/slide61.xml"/><Relationship Id="rId67" Type="http://schemas.openxmlformats.org/officeDocument/2006/relationships/slide" Target="slides/slide62.xml"/><Relationship Id="rId68" Type="http://schemas.openxmlformats.org/officeDocument/2006/relationships/slide" Target="slides/slide63.xml"/><Relationship Id="rId69" Type="http://schemas.openxmlformats.org/officeDocument/2006/relationships/slide" Target="slides/slide64.xml"/><Relationship Id="rId70" Type="http://schemas.openxmlformats.org/officeDocument/2006/relationships/slide" Target="slides/slide6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課題数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OS共通</c:v>
                </c:pt>
                <c:pt idx="1">
                  <c:v>オフィス</c:v>
                </c:pt>
                <c:pt idx="2">
                  <c:v>科学・分析</c:v>
                </c:pt>
                <c:pt idx="3">
                  <c:v>CAD・工学</c:v>
                </c:pt>
                <c:pt idx="4">
                  <c:v>開発</c:v>
                </c:pt>
                <c:pt idx="5">
                  <c:v>制作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196</c:v>
                </c:pt>
                <c:pt idx="1">
                  <c:v>230</c:v>
                </c:pt>
                <c:pt idx="2">
                  <c:v>254</c:v>
                </c:pt>
                <c:pt idx="3">
                  <c:v>261</c:v>
                </c:pt>
                <c:pt idx="4">
                  <c:v>299</c:v>
                </c:pt>
                <c:pt idx="5">
                  <c:v>341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b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課題数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その他9種類</c:v>
                </c:pt>
                <c:pt idx="1">
                  <c:v>2160 × 1440</c:v>
                </c:pt>
                <c:pt idx="2">
                  <c:v>3456 × 2234</c:v>
                </c:pt>
                <c:pt idx="3">
                  <c:v>3840 × 1080</c:v>
                </c:pt>
                <c:pt idx="4">
                  <c:v>3840 × 2160</c:v>
                </c:pt>
                <c:pt idx="5">
                  <c:v>2560 × 1440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356</c:v>
                </c:pt>
                <c:pt idx="1">
                  <c:v>99</c:v>
                </c:pt>
                <c:pt idx="2">
                  <c:v>161</c:v>
                </c:pt>
                <c:pt idx="3">
                  <c:v>181</c:v>
                </c:pt>
                <c:pt idx="4">
                  <c:v>270</c:v>
                </c:pt>
                <c:pt idx="5">
                  <c:v>514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b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huggingface.co/datasets/likaixin/ScreenSpot-Pro" TargetMode="External"/><Relationship Id="rId4" Type="http://schemas.openxmlformats.org/officeDocument/2006/relationships/image" Target="../media/image15.png"/><Relationship Id="rId5" Type="http://schemas.openxmlformats.org/officeDocument/2006/relationships/hyperlink" Target="https://gui-agent.github.io/grounding-leaderboard/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likaixin2000.github.io/papers/ScreenSpot_Pro.pdf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likaixin2000.github.io/papers/ScreenSpot_Pro.pdf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jpg"/><Relationship Id="rId3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Relationship Id="rId3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likaixin2000.github.io/papers/ScreenSpot_Pro.pdf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likaixin2000/ScreenSpot-Pro-GUI-Grounding/blob/main/eval_screenspot_pro.py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likaixin2000.github.io/papers/ScreenSpot_Pro.pdf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likaixin2000.github.io/papers/ScreenSpot_Pro.pdf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openai.com/index/gpt-6-astra/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likaixin2000.github.io/papers/ScreenSpot_Pro.pdf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likaixin2000.github.io/papers/ScreenSpot_Pro.pdf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likaixin2000.github.io/papers/ScreenSpot_Pro.pdf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likaixin2000.github.io/papers/ScreenSpot_Pro.pdf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likaixin2000.github.io/papers/ScreenSpot_Pro.pdf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likaixin2000.github.io/papers/ScreenSpot_Pro.pdf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likaixin2000.github.io/papers/ScreenSpot_Pro.pdf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likaixin2000/ScreenSpot-Pro-GUI-Grounding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likaixin2000.github.io/papers/ScreenSpot_Pro.pdf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jpg"/><Relationship Id="rId3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jpg"/><Relationship Id="rId3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jpg"/><Relationship Id="rId3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jpg"/><Relationship Id="rId3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jpg"/><Relationship Id="rId3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jpg"/><Relationship Id="rId3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jpg"/><Relationship Id="rId3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jpg"/><Relationship Id="rId3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jpg"/><Relationship Id="rId3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jpg"/><Relationship Id="rId3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likaixin2000/ScreenSpot-Pro-GUI-Grounding/blob/main/eval_screenspot_pro.py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likaixin2000/ScreenSpot-Pro-GUI-Grounding/blob/main/eval_screenspot_pro.py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likaixin2000.github.io/papers/ScreenSpot_Pro.pdf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likaixin2000.github.io/papers/ScreenSpot_Pro.pdf" TargetMode="Externa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likaixin2000.github.io/papers/ScreenSpot_Pro.pdf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likaixin/ScreenSpot-Pro" TargetMode="External"/><Relationship Id="rId3" Type="http://schemas.openxmlformats.org/officeDocument/2006/relationships/hyperlink" Target="https://github.com/likaixin2000/ScreenSpot-Pro-GUI-Grounding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1.10935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10.23218" TargetMode="Externa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openai.com/index/gpt-6-astra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34252" y="1866729"/>
            <a:ext cx="8229600" cy="91440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200" b="0">
                <a:solidFill>
                  <a:srgbClr val="303437"/>
                </a:solidFill>
                <a:latin typeface="Noto Sans"/>
              </a:defRPr>
            </a:pPr>
            <a:r>
              <a:rPr sz="5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ScreenSpot-Pro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0" y="2918289"/>
            <a:ext cx="8229600" cy="91440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専門ソフトの画面から操作対象を探す
高解像度GUIの位置推定データセット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138160" cy="22860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(2026-10-16)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ScreenSpot-Proの公式サイト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ScreenSpot-Pro: 公式サイト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1000">
                <a:solidFill>
                  <a:srgbClr val="626669"/>
                </a:solidFill>
                <a:latin typeface="Noto Sans"/>
                <a:hlinkClick r:id="rId5"/>
              </a:rPr>
              <a:t>https://gui-agent.github.io/grounding-leaderboard/</a:t>
            </a:r>
          </a:p>
        </p:txBody>
      </p:sp>
      <p:pic>
        <p:nvPicPr>
          <p:cNvPr id="6" name="公式サイトの画面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74570" y="1481328"/>
            <a:ext cx="4594858" cy="306323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226434"/>
            <a:ext cx="7772400" cy="2846324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画面と指示から操作位置を探す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正解の判定とモデルの成績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作成方法とデータの全体像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4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系列の違いと利用方法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画面と指示から操作位置を探す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画面と指示から操作位置を探す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ScreenSpot-Proは操作対象の位置を問う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GUIは、画面上のボタンやメニューなどを使う操作環境である。GUI groundingは、言葉の指示を画面上の位置へ対応させる課題を指す。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入力は、画面全体のスクリーンショットと操作指示。モデルは、対象を指す座標を出力する。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ScreenSpot-Proは、専門ソフト23種類と3種類のOS環境から集めた1,581件の評価データである。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画面と指示から操作位置を探す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ScreenSpot-Pro: GUI Grounding for Professional High-Resolution Computer Use. Preprint.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https://likaixin2000.github.io/papers/ScreenSpot_Pro.pdf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正解は、操作できる領域を囲む四角形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各画面には一つの指示と、その対象を囲む正解領域が付く。対象はボタン、メニュー項目、入力欄などである。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掲載例は、論文の例示画像と公開注釈を照合した13件。本編3件とAppendix10件で、正解位置を拡大して示す。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画面と指示から操作位置を探す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ScreenSpot-Pro: GUI Grounding for Professional High-Resolution Computer Use. Preprint.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https://likaixin2000.github.io/papers/ScreenSpot_Pro.pdf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実例1：VS Codeのファイル一覧を更新する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画面と指示から操作位置を探す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ファイルエクスプローラーを更新する。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46504"/>
            <a:ext cx="804672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指示の原文：Refresh the file explorer.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49424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論文の例示画像（正解枠・拡大図を含む）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249424"/>
            <a:ext cx="306324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正解位置の拡大（赤枠）</a:t>
            </a:r>
          </a:p>
        </p:txBody>
      </p:sp>
      <p:pic>
        <p:nvPicPr>
          <p:cNvPr id="8" name="Picture 7" descr="vscode_macos_0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0836" y="2523744"/>
            <a:ext cx="3010486" cy="195681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977071" y="2738946"/>
            <a:ext cx="35279" cy="42334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vscode_macos_0.jpeg"/>
          <p:cNvPicPr>
            <a:picLocks noChangeAspect="1"/>
          </p:cNvPicPr>
          <p:nvPr/>
        </p:nvPicPr>
        <p:blipFill>
          <a:blip r:embed="rId2"/>
          <a:srcRect l="12812" t="5937" r="74688" b="81778"/>
          <a:stretch>
            <a:fillRect/>
          </a:stretch>
        </p:blipFill>
        <p:spPr>
          <a:xfrm>
            <a:off x="5532120" y="2523744"/>
            <a:ext cx="3063240" cy="195681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920150" y="3329844"/>
            <a:ext cx="287178" cy="344614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論文掲載画像・注釈ID: vscode_macos_0。MIT。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実例1では、更新アイコンの位置を答える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対象は、画面左側のファイル一覧にある更新アイコン。公開注釈では、文字のないiconに分類される。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画面は2,560 × 1,664 px。対象の正解領域は横30 × 縦36 pxと小さい。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正解の四角形は、左上（473, 183）、右下（503, 219）。その中の点を予測すれば正解になる。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画面と指示から操作位置を探す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公開注釈1,581件、改訂210e78d。2026-10-16集計。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実例2：Blenderの座標モードを変更する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画面と指示から操作位置を探す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オブジェクトの座標モードを変更する。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46504"/>
            <a:ext cx="804672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指示の原文：Change the coordinate mode of the object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49424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論文の例示画像（正解枠・拡大図を含む）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249424"/>
            <a:ext cx="306324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正解位置の拡大（赤枠）</a:t>
            </a:r>
          </a:p>
        </p:txBody>
      </p:sp>
      <p:pic>
        <p:nvPicPr>
          <p:cNvPr id="8" name="Picture 7" descr="blender_windows_6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6688" y="2523744"/>
            <a:ext cx="3478784" cy="195681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277884" y="2597124"/>
            <a:ext cx="107353" cy="23101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lender_windows_61.jpeg"/>
          <p:cNvPicPr>
            <a:picLocks noChangeAspect="1"/>
          </p:cNvPicPr>
          <p:nvPr/>
        </p:nvPicPr>
        <p:blipFill>
          <a:blip r:embed="rId2"/>
          <a:srcRect l="26660" r="60840" b="85804"/>
          <a:stretch>
            <a:fillRect/>
          </a:stretch>
        </p:blipFill>
        <p:spPr>
          <a:xfrm>
            <a:off x="5532120" y="2523744"/>
            <a:ext cx="3063240" cy="195681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685621" y="3040665"/>
            <a:ext cx="756237" cy="162734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論文掲載画像・注釈ID: blender_windows_61。MIT。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実例2では、3D画面上部の設定を探す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Blenderは3Dモデルやアニメーションを作るソフトである。図形、道具、設定パネルが同じ画面に並ぶ。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指示は座標モードの変更。正解は画面上部の切替部分で、公開注釈ではiconに分類される。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正解領域は（803, 54）から（882, 71）。画面全体2,560 × 1,440 pxに対して、高さは17 pxである。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画面と指示から操作位置を探す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公開注釈1,581件、改訂210e78d。2026-10-16集計。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実例3：PowerPointのコメントを表示する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画面と指示から操作位置を探す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コメントを表示する。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46504"/>
            <a:ext cx="804672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指示の原文：Show comments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49424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論文の例示画像（正解枠・拡大図を含む）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249424"/>
            <a:ext cx="306324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正解位置の拡大（赤枠）</a:t>
            </a:r>
          </a:p>
        </p:txBody>
      </p:sp>
      <p:pic>
        <p:nvPicPr>
          <p:cNvPr id="8" name="Picture 7" descr="powerpoint_windows_67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0627" y="2523744"/>
            <a:ext cx="3130905" cy="195681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028118" y="2602016"/>
            <a:ext cx="72837" cy="69575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owerpoint_windows_67.jpeg"/>
          <p:cNvPicPr>
            <a:picLocks noChangeAspect="1"/>
          </p:cNvPicPr>
          <p:nvPr/>
        </p:nvPicPr>
        <p:blipFill>
          <a:blip r:embed="rId2"/>
          <a:srcRect l="16927" t="100" r="71962" b="88544"/>
          <a:stretch>
            <a:fillRect/>
          </a:stretch>
        </p:blipFill>
        <p:spPr>
          <a:xfrm>
            <a:off x="5532120" y="2523744"/>
            <a:ext cx="3063240" cy="195681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743057" y="3195828"/>
            <a:ext cx="641365" cy="612648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論文掲載画像・注釈ID: powerpoint_windows_67。MIT。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実例3は、文字の手掛かりがある対象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対象は上部のリボンにあるコメントの表示ボタン。公開注釈ではtextに分類される。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ScreenSpot-Proでは、対象やその周囲に文字の手掛かりがあれば、アイコンを含んでもtextに分類する。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正解領域は（614, 72）から（681, 136）。入力は2,880 × 1,800 pxの画面である。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画面と指示から操作位置を探す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ScreenSpot-Pro: GUI Grounding for Professional High-Resolution Computer Use. Preprint.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https://likaixin2000.github.io/papers/ScreenSpot_Pro.pdf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正解の判定とモデルの成績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正解の判定とモデルの成績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予測点が正解領域に入れば成功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公式評価は、モデルの予測点が正解の四角形の内側にあるかを判定する。境界上の点も正解になる。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四角形を出力するモデルでは、その中心点を予測点として扱う。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正解率は、成功した件数を評価件数で割った値。全体に加え、文字・アイコンやアプリ別にも集計する。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正解の判定とモデルの成績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ScreenSpot-Pro: eval_screenspot_pro.py. 点の正解判定と指標集計。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https://github.com/likaixin2000/ScreenSpot-Pro-GUI-Grounding/blob/main/eval_screenspot_pro.py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説明用の3試行では、2件成功で66.7%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正解の判定とモデルの成績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58568"/>
        </p:xfrm>
        <a:graphic>
          <a:graphicData uri="http://schemas.openxmlformats.org/drawingml/2006/table">
            <a:tbl>
              <a:tblPr firstRow="0" bandRow="0"/>
              <a:tblGrid>
                <a:gridCol w="2194560"/>
                <a:gridCol w="4023360"/>
                <a:gridCol w="18288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試行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予測点の位置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判定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VS Code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更新アイコンの領域内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成功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Blender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隣の操作部分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失敗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PowerPoint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コメントボタンの領域内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成功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5935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成功2件 ÷ 全3件 × 100 = 約66.7%。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ScreenSpot-Pro: GUI Grounding for Professional High-Resolution Computer Use. Preprint.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https://likaixin2000.github.io/papers/ScreenSpot_Pro.pdf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Liら（2025）による初期モデルの評価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正解の判定とモデルの成績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58568"/>
        </p:xfrm>
        <a:graphic>
          <a:graphicData uri="http://schemas.openxmlformats.org/drawingml/2006/table">
            <a:tbl>
              <a:tblPr firstRow="0" bandRow="0"/>
              <a:tblGrid>
                <a:gridCol w="5852160"/>
                <a:gridCol w="219456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OS-Atlas-7B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UGround-7B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16.5%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0.8%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5935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英語の指示を使用。画面全体から直接、位置を予測。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ScreenSpot-Pro: GUI Grounding for Professional High-Resolution Computer Use. Preprint.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https://likaixin2000.github.io/papers/ScreenSpot_Pro.pdf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2026年のモデル評価でも使われている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正解の判定とモデルの成績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58568"/>
        </p:xfrm>
        <a:graphic>
          <a:graphicData uri="http://schemas.openxmlformats.org/drawingml/2006/table">
            <a:tbl>
              <a:tblPr firstRow="0" bandRow="0"/>
              <a:tblGrid>
                <a:gridCol w="5852160"/>
                <a:gridCol w="219456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OpenAI公表のモデル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GPT-6 Astra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92.7%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GPT-5.6 Sol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76.9%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Mythos（Fable 5欄）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87.3%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5935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ツールなし。Claude欄はFableの安全策を減らしたMythos。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(2026). GPT-6 Astra: A new generation of intelligence. ScreenSpot-Pro / no tools. 2026-10-16参照。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https://openai.com/index/gpt-6-astra/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ScreenSeekeRは画面を絞って探す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ScreenSeekeRは、言語モデルが探す領域を計画し、位置推定モデルが対象を特定する方法である。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メニューやパネルの構造を手掛かりに候補領域を選び、画像を切り出して段階的に絞り込む。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Liら（2025）は、計画役にGPT-4o、位置推定役にOS-Atlas-7Bを使った。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正解の判定とモデルの成績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ScreenSpot-Pro: GUI Grounding for Professional High-Resolution Computer Use. Preprint.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https://likaixin2000.github.io/papers/ScreenSpot_Pro.pdf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探索を加えると初期モデルの成績が上がる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正解の判定とモデルの成績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32888"/>
        </p:xfrm>
        <a:graphic>
          <a:graphicData uri="http://schemas.openxmlformats.org/drawingml/2006/table">
            <a:tbl>
              <a:tblPr firstRow="0" bandRow="0"/>
              <a:tblGrid>
                <a:gridCol w="6035040"/>
                <a:gridCol w="201168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OS-Atlas-7Bを使う方法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6858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画面全体から直接予測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858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初回予測の周辺で再推定：ReGround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40.2%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858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GPT-4oが探索を計画：ScreenSeekeR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48.1%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ScreenSpot-Pro: GUI Grounding for Professional High-Resolution Computer Use. Preprint.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https://likaixin2000.github.io/papers/ScreenSpot_Pro.pdf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初期モデルではアイコンの成績が低い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正解の判定とモデルの成績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 firstRow="0" bandRow="0"/>
              <a:tblGrid>
                <a:gridCol w="4023360"/>
                <a:gridCol w="2011680"/>
                <a:gridCol w="2011680"/>
              </a:tblGrid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方法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text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icon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69494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OS-Atlas-7B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28.1%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9494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ScreenSeekeR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64.1%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22.4%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ScreenSpot-Pro: GUI Grounding for Professional High-Resolution Computer Use. Preprint.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https://likaixin2000.github.io/papers/ScreenSpot_Pro.pdf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作成方法とデータの全体像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作成方法とデータの全体像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専門ソフトの小さな操作対象を集めた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従来のGUIデータは、一般的なWebやモバイル操作を主に扱っていた。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専門ソフトは、多くのツールや設定を高解像度の画面に配置するため、画面全体に対して個々の操作対象が小さくなる。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ScreenSpot-Proは、開発、制作、設計、科学計算、オフィス作業などの実際の画面を集めた。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作成方法とデータの全体像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ScreenSpot-Pro: GUI Grounding for Professional High-Resolution Computer Use. Preprint.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https://likaixin2000.github.io/papers/ScreenSpot_Pro.pdf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5年以上の利用経験を持つ専門家が記録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対象ソフトを5年以上使う専門家が、普段の作業中に画面と操作指示を記録した。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ショートカットで画面を撮り、その場で対象の四角形と指示を入力する注釈ツールを用いた。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画面の拡大表示を無効にし、複数のディスプレーを使う場合は画面をまたいで収録した。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作成方法とデータの全体像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ScreenSpot-Pro: GUI Grounding for Professional High-Resolution Computer Use. Preprint.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https://likaixin2000.github.io/papers/ScreenSpot_Pro.pdf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少なくとも2人が、指示と領域を確認する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各例を少なくとも2人が確認し、指示が画面内の一つの領域を指すようにした。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別のウィンドウやメニューを開かず、提示された画面から直接操作できる対象を選ぶ。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正解の四角形は操作できる部分を囲む。文字の手掛かりの有無に基づきtextとiconに分類する。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作成方法とデータの全体像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ScreenSpot-Pro: GUI Grounding for Professional High-Resolution Computer Use. Preprint.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https://likaixin2000.github.io/papers/ScreenSpot_Pro.pdf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制作・開発・設計など6分類を含む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作成方法とデータの全体像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公開改訂210e78dの全1,581件を分類別に集計。単位：件。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公開注釈1,581件、改訂210e78d。2026-10-16集計。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2,560 × 1,440 pxの画面が514件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作成方法とデータの全体像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画面サイズ別の件数。その他を含め、全1,581件。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公開注釈1,581件、改訂210e78d。2026-10-16集計。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対象の平均面積は、画面の約0.065%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公開注釈の四角形の面積を画面面積で割ると、平均は約0.065%、中央値は約0.035%になる。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最初のVS Codeの例は30 × 36 px。画面2,560 × 1,664 pxの約0.025%を占める。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作成方法とデータの全体像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公開注釈1,581件、改訂210e78d。2026-10-16集計。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公開注釈ではtextが977件、iconが604件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作成方法とデータの全体像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65960"/>
        </p:xfrm>
        <a:graphic>
          <a:graphicData uri="http://schemas.openxmlformats.org/drawingml/2006/table">
            <a:tbl>
              <a:tblPr firstRow="0" bandRow="0"/>
              <a:tblGrid>
                <a:gridCol w="4389120"/>
                <a:gridCol w="1828800"/>
                <a:gridCol w="1828800"/>
              </a:tblGrid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対象の種類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割合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7315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文字の手掛かりあり：text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977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61.8%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7315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文字の手掛かりなし：icon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38.2%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公開注釈1,581件、改訂210e78d。2026-10-16集計。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Windows・macOS・Linuxの画面を含む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作成方法とデータの全体像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58568"/>
        </p:xfrm>
        <a:graphic>
          <a:graphicData uri="http://schemas.openxmlformats.org/drawingml/2006/table">
            <a:tbl>
              <a:tblPr firstRow="0" bandRow="0"/>
              <a:tblGrid>
                <a:gridCol w="5852160"/>
                <a:gridCol w="219456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公開注釈のOS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Windows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927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macOS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Linux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公開注釈1,581件、改訂210e78d。2026-10-16集計。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系列の違いと利用方法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系列の違いと利用方法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ScreenSpot系列は画面と注釈の対象が違う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系列の違いと利用方法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660904"/>
        </p:xfrm>
        <a:graphic>
          <a:graphicData uri="http://schemas.openxmlformats.org/drawingml/2006/table">
            <a:tbl>
              <a:tblPr firstRow="0" bandRow="0"/>
              <a:tblGrid>
                <a:gridCol w="2468880"/>
                <a:gridCol w="557784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名称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役割・特徴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75895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ScreenSpot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一般的なWeb・モバイル・PC画面で位置を評価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675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ScreenSpot-v2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ScreenSpotの注釈誤りを修正した版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75895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ScreenSpot-Pro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専門ソフトとOSの高解像度画面、1,581件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ScreenSpot-Pro: GUI Grounding for Professional High-Resolution Computer Use. Preprint.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https://likaixin2000.github.io/papers/ScreenSpot_Pro.pdf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公開データは画面とJSON注釈に分かれる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Hugging Faceのlikaixin/ScreenSpot-Proから、imagesとannotationsを取得する。正解領域も公開されている。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JSONはアプリごとに分かれ、画像ファイル名・指示・四角形・画面サイズ・対象の種類を保持する。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本資料の件数は2026-10-16に取得した公開改訂210e78dに基づく。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系列の違いと利用方法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公開注釈1,581件、改訂210e78d。2026-10-16集計。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公開データの改訂を指定して取得できる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系列の違いと利用方法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8046720" cy="199135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152400" rIns="152400" tIns="127000" bIns="127000"/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from huggingface_hub import snapshot_download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/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snapshot_download(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repo_id="likaixin/ScreenSpot-Pro",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repo_type="dataset",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revision="210e78d3844251110bff86c95835ebd37a6930fa",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local_dir="screenspot-pro",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701287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imagesとannotationsを同じ改訂で取得する。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公開注釈1,581件、改訂210e78d。2026-10-16集計。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正解領域と評価コードを公開している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データカードのライセンス表示はMIT。公式評価コードもMIT Licenseで公開されている。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公式スクリプトは、画像と注釈の保存先、評価モデル、英語・中国語などの条件を受け取る。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系列の違いと利用方法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ScreenSpot-Pro: GUI Grounding for Professional High-Resolution Computer Use. 公式GitHub。2026-10-16参照。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https://github.com/likaixin2000/ScreenSpot-Pro-GUI-Grounding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500" b="0">
                <a:solidFill>
                  <a:srgbClr val="303437"/>
                </a:solidFill>
                <a:latin typeface="Noto Sans"/>
              </a:defRPr>
            </a:pPr>
            <a:r>
              <a:rPr sz="25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ScreenSpot-Proは専門画面の位置推定を評価する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専門家の作業画面と指示を集め、1,581件の対象領域でGUIの位置推定を評価する。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対象が小さい高解像度画面、文字のないアイコン、専門ソフトの構成が主な特徴である。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画面を絞る探索方法の研究から、現在のプロプライエタリモデルの視覚評価へ利用が続いている。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系列の違いと利用方法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ScreenSpot-Pro: GUI Grounding for Professional High-Resolution Computer Use. Preprint.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https://likaixin2000.github.io/papers/ScreenSpot_Pro.pdf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59895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4400" b="0">
                <a:solidFill>
                  <a:srgbClr val="303437"/>
                </a:solidFill>
                <a:latin typeface="Noto Sans"/>
              </a:defRPr>
            </a:pPr>
            <a:r>
              <a:rPr sz="4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668081"/>
            <a:ext cx="7772400" cy="2077720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分野の異なる追加例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分布と座標の詳細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開発者と参考文献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分野の異なる追加例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追加例1：DaVinci Resolveで映像効果を選ぶ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Blur Dissolveを選ぶ。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46504"/>
            <a:ext cx="804672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指示の原文：Blur Dissolve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49424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論文の例示画像（正解枠・拡大図を含む）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249424"/>
            <a:ext cx="306324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正解位置の拡大（赤枠）</a:t>
            </a:r>
          </a:p>
        </p:txBody>
      </p:sp>
      <p:pic>
        <p:nvPicPr>
          <p:cNvPr id="8" name="Picture 7" descr="davinci_macos_10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2481" y="2523744"/>
            <a:ext cx="3027196" cy="195681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815407" y="3700986"/>
            <a:ext cx="218105" cy="27153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davinci_macos_10.jpeg"/>
          <p:cNvPicPr>
            <a:picLocks noChangeAspect="1"/>
          </p:cNvPicPr>
          <p:nvPr/>
        </p:nvPicPr>
        <p:blipFill>
          <a:blip r:embed="rId2"/>
          <a:srcRect l="5025" t="49107" r="71199" b="27397"/>
          <a:stretch>
            <a:fillRect/>
          </a:stretch>
        </p:blipFill>
        <p:spPr>
          <a:xfrm>
            <a:off x="5532120" y="2523744"/>
            <a:ext cx="3063240" cy="195681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99612" y="3444369"/>
            <a:ext cx="928254" cy="115565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論文掲載画像・注釈ID: davinci_macos_10。MIT。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追加例2：FL Studioで和音の種類を選ぶ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1番の和音の種類を選ぶ。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46504"/>
            <a:ext cx="804672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指示の原文：choose chord type for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49424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論文の例示画像（正解枠・拡大図を含む）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249424"/>
            <a:ext cx="306324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正解位置の拡大（赤枠）</a:t>
            </a:r>
          </a:p>
        </p:txBody>
      </p:sp>
      <p:pic>
        <p:nvPicPr>
          <p:cNvPr id="8" name="Picture 7" descr="fruitloops_windows_4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6688" y="2523744"/>
            <a:ext cx="3478784" cy="195681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345829" y="3409746"/>
            <a:ext cx="59791" cy="33972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ruitloops_windows_4.jpeg"/>
          <p:cNvPicPr>
            <a:picLocks noChangeAspect="1"/>
          </p:cNvPicPr>
          <p:nvPr/>
        </p:nvPicPr>
        <p:blipFill>
          <a:blip r:embed="rId2"/>
          <a:srcRect l="27930" t="39048" r="59570" b="46756"/>
          <a:stretch>
            <a:fillRect/>
          </a:stretch>
        </p:blipFill>
        <p:spPr>
          <a:xfrm>
            <a:off x="5532120" y="2523744"/>
            <a:ext cx="3063240" cy="195681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853142" y="3382494"/>
            <a:ext cx="421195" cy="239315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論文掲載画像・注釈ID: fruitloops_windows_4。MIT。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追加例3：Unreal EngineでPythonを実行する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Pythonスクリプトを実行する。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46504"/>
            <a:ext cx="804672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指示の原文：Execute Python scripts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49424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論文の例示画像（正解枠・拡大図を含む）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249424"/>
            <a:ext cx="306324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正解位置の拡大（赤枠）</a:t>
            </a:r>
          </a:p>
        </p:txBody>
      </p:sp>
      <p:pic>
        <p:nvPicPr>
          <p:cNvPr id="8" name="Picture 7" descr="unreal_engine_windows_2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6688" y="2523744"/>
            <a:ext cx="3478784" cy="195681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409547" y="4367318"/>
            <a:ext cx="118677" cy="17212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unreal_engine_windows_21.jpeg"/>
          <p:cNvPicPr>
            <a:picLocks noChangeAspect="1"/>
          </p:cNvPicPr>
          <p:nvPr/>
        </p:nvPicPr>
        <p:blipFill>
          <a:blip r:embed="rId2"/>
          <a:srcRect l="2483" t="87215" r="86259"/>
          <a:stretch>
            <a:fillRect/>
          </a:stretch>
        </p:blipFill>
        <p:spPr>
          <a:xfrm>
            <a:off x="5532120" y="2523744"/>
            <a:ext cx="3063240" cy="195681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99612" y="3594820"/>
            <a:ext cx="928254" cy="134632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論文掲載画像・注釈ID: unreal_engine_windows_21。MIT。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追加例4：Premiereで映像と音声を分離する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音声と映像のリンクを解除する。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46504"/>
            <a:ext cx="804672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指示の原文：unlink audio and video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49424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論文の例示画像（正解枠・拡大図を含む）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249424"/>
            <a:ext cx="306324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正解位置の拡大（赤枠）</a:t>
            </a:r>
          </a:p>
        </p:txBody>
      </p:sp>
      <p:pic>
        <p:nvPicPr>
          <p:cNvPr id="8" name="Picture 7" descr="premiere_windows_47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6688" y="2523744"/>
            <a:ext cx="3478784" cy="195681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223679" y="3328212"/>
            <a:ext cx="410387" cy="28536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remiere_windows_47.jpeg"/>
          <p:cNvPicPr>
            <a:picLocks noChangeAspect="1"/>
          </p:cNvPicPr>
          <p:nvPr/>
        </p:nvPicPr>
        <p:blipFill>
          <a:blip r:embed="rId2"/>
          <a:srcRect l="44988" t="19735" r="16082" b="36054"/>
          <a:stretch>
            <a:fillRect/>
          </a:stretch>
        </p:blipFill>
        <p:spPr>
          <a:xfrm>
            <a:off x="5532120" y="2523744"/>
            <a:ext cx="3063240" cy="195681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99612" y="3469878"/>
            <a:ext cx="928254" cy="64547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論文掲載画像・注釈ID: premiere_windows_47。MIT。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追加例5：VMwareでCDから再起動する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CDから再起動する。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46504"/>
            <a:ext cx="804672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指示の原文：restart from CD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49424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論文の例示画像（正解枠・拡大図を含む）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249424"/>
            <a:ext cx="306324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正解位置の拡大（赤枠）</a:t>
            </a:r>
          </a:p>
        </p:txBody>
      </p:sp>
      <p:pic>
        <p:nvPicPr>
          <p:cNvPr id="8" name="Picture 7" descr="vmware_macos_26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2481" y="2523744"/>
            <a:ext cx="3027196" cy="195681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185353" y="3132511"/>
            <a:ext cx="143651" cy="20146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vmware_macos_26.jpeg"/>
          <p:cNvPicPr>
            <a:picLocks noChangeAspect="1"/>
          </p:cNvPicPr>
          <p:nvPr/>
        </p:nvPicPr>
        <p:blipFill>
          <a:blip r:embed="rId2"/>
          <a:srcRect l="53108" t="23887" r="31233" b="60637"/>
          <a:stretch>
            <a:fillRect/>
          </a:stretch>
        </p:blipFill>
        <p:spPr>
          <a:xfrm>
            <a:off x="5532120" y="2523744"/>
            <a:ext cx="3063240" cy="195681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99612" y="3437060"/>
            <a:ext cx="928254" cy="130182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論文掲載画像・注釈ID: vmware_macos_26。MIT。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追加例6：macOSでモデルを変更する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モデルを変更する。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46504"/>
            <a:ext cx="804672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指示の原文：Change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49424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論文の例示画像（正解枠・拡大図を含む）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249424"/>
            <a:ext cx="306324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正解位置の拡大（赤枠）</a:t>
            </a:r>
          </a:p>
        </p:txBody>
      </p:sp>
      <p:pic>
        <p:nvPicPr>
          <p:cNvPr id="8" name="Picture 7" descr="macos_common_macos_9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2481" y="2523744"/>
            <a:ext cx="3027196" cy="195681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383882" y="2708564"/>
            <a:ext cx="87592" cy="21898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acos_common_macos_9.jpeg"/>
          <p:cNvPicPr>
            <a:picLocks noChangeAspect="1"/>
          </p:cNvPicPr>
          <p:nvPr/>
        </p:nvPicPr>
        <p:blipFill>
          <a:blip r:embed="rId2"/>
          <a:srcRect l="28762" t="5286" r="61690" b="85277"/>
          <a:stretch>
            <a:fillRect/>
          </a:stretch>
        </p:blipFill>
        <p:spPr>
          <a:xfrm>
            <a:off x="5532120" y="2523744"/>
            <a:ext cx="3063240" cy="195681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99612" y="3386120"/>
            <a:ext cx="928254" cy="232063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論文掲載画像・注釈ID: macos_common_macos_9。MIT。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追加例7：Linuxでdebパッケージを選ぶ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端末のエラーに対応するdebパッケージを選ぶ。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46504"/>
            <a:ext cx="804672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指示の原文：select the correct deb package to download according to the error message in the terminal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49424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論文の例示画像（正解枠・拡大図を含む）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249424"/>
            <a:ext cx="306324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正解位置の拡大（赤枠）</a:t>
            </a:r>
          </a:p>
        </p:txBody>
      </p:sp>
      <p:pic>
        <p:nvPicPr>
          <p:cNvPr id="8" name="Picture 7" descr="linux_common_linux_29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0627" y="2523744"/>
            <a:ext cx="3130905" cy="195681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230323" y="3102635"/>
            <a:ext cx="37143" cy="14494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inux_common_linux_29.jpeg"/>
          <p:cNvPicPr>
            <a:picLocks noChangeAspect="1"/>
          </p:cNvPicPr>
          <p:nvPr/>
        </p:nvPicPr>
        <p:blipFill>
          <a:blip r:embed="rId2"/>
          <a:srcRect l="23741" t="25222" r="66999" b="65314"/>
          <a:stretch>
            <a:fillRect/>
          </a:stretch>
        </p:blipFill>
        <p:spPr>
          <a:xfrm>
            <a:off x="5532120" y="2523744"/>
            <a:ext cx="3063240" cy="195681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867501" y="3425571"/>
            <a:ext cx="392477" cy="153162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論文掲載画像・注釈ID: linux_common_linux_29。MIT。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追加例8：Originでマスクを無効にする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マスクを無効にする。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46504"/>
            <a:ext cx="804672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指示の原文：disable masking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49424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論文の例示画像（正解枠・拡大図を含む）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249424"/>
            <a:ext cx="306324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正解位置の拡大（赤枠）</a:t>
            </a:r>
          </a:p>
        </p:txBody>
      </p:sp>
      <p:pic>
        <p:nvPicPr>
          <p:cNvPr id="8" name="Picture 7" descr="origin_windows_46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6688" y="2523744"/>
            <a:ext cx="3478784" cy="195681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090809" y="4406273"/>
            <a:ext cx="20836" cy="17212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origin_windows_46.jpeg"/>
          <p:cNvPicPr>
            <a:picLocks noChangeAspect="1"/>
          </p:cNvPicPr>
          <p:nvPr/>
        </p:nvPicPr>
        <p:blipFill>
          <a:blip r:embed="rId2"/>
          <a:srcRect l="22122" t="90536" r="69544"/>
          <a:stretch>
            <a:fillRect/>
          </a:stretch>
        </p:blipFill>
        <p:spPr>
          <a:xfrm>
            <a:off x="5532120" y="2523744"/>
            <a:ext cx="3063240" cy="195681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953654" y="3695604"/>
            <a:ext cx="220170" cy="181879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論文掲載画像・注釈ID: origin_windows_46。MIT。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追加例9：Quartusで指定されたファイルを選ぶ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QuartusのウィンドウでSM1.smfを選ぶ。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46504"/>
            <a:ext cx="804672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指示の原文：select the SM1.smf file in Quartus window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49424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論文の例示画像（正解枠・拡大図を含む）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249424"/>
            <a:ext cx="306324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正解位置の拡大（赤枠）</a:t>
            </a:r>
          </a:p>
        </p:txBody>
      </p:sp>
      <p:pic>
        <p:nvPicPr>
          <p:cNvPr id="8" name="Picture 7" descr="quartus_windows_26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6688" y="2523744"/>
            <a:ext cx="3478784" cy="195681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447897" y="3012948"/>
            <a:ext cx="211988" cy="34425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quartus_windows_26.jpeg"/>
          <p:cNvPicPr>
            <a:picLocks noChangeAspect="1"/>
          </p:cNvPicPr>
          <p:nvPr/>
        </p:nvPicPr>
        <p:blipFill>
          <a:blip r:embed="rId2"/>
          <a:srcRect l="57992" t="14461" r="21898" b="62702"/>
          <a:stretch>
            <a:fillRect/>
          </a:stretch>
        </p:blipFill>
        <p:spPr>
          <a:xfrm>
            <a:off x="5532120" y="2523744"/>
            <a:ext cx="3063240" cy="195681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99612" y="3426780"/>
            <a:ext cx="928254" cy="150742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論文掲載画像・注釈ID: quartus_windows_26。MIT。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追加例10：FL Studioで新しいパターンを作る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新しいパターンを作成する。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46504"/>
            <a:ext cx="804672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指示の原文：create new pattern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49424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論文の例示画像（正解枠・拡大図を含む）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249424"/>
            <a:ext cx="306324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正解位置の拡大（赤枠）</a:t>
            </a:r>
          </a:p>
        </p:txBody>
      </p:sp>
      <p:pic>
        <p:nvPicPr>
          <p:cNvPr id="8" name="Picture 7" descr="fruitloops_windows_53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6688" y="2523744"/>
            <a:ext cx="3478784" cy="195681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061819" y="2534615"/>
            <a:ext cx="23101" cy="35331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ruitloops_windows_53.jpeg"/>
          <p:cNvPicPr>
            <a:picLocks noChangeAspect="1"/>
          </p:cNvPicPr>
          <p:nvPr/>
        </p:nvPicPr>
        <p:blipFill>
          <a:blip r:embed="rId2"/>
          <a:srcRect l="19238" r="68262" b="85804"/>
          <a:stretch>
            <a:fillRect/>
          </a:stretch>
        </p:blipFill>
        <p:spPr>
          <a:xfrm>
            <a:off x="5532120" y="2523744"/>
            <a:ext cx="3063240" cy="195681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982372" y="2600325"/>
            <a:ext cx="162734" cy="248888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論文掲載画像・注釈ID: fruitloops_windows_53。MIT。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分布と座標の詳細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分布と座標の詳細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26環境の件数（1〜7）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分布と座標の詳細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3017520"/>
        </p:xfrm>
        <a:graphic>
          <a:graphicData uri="http://schemas.openxmlformats.org/drawingml/2006/table">
            <a:tbl>
              <a:tblPr firstRow="0" bandRow="0"/>
              <a:tblGrid>
                <a:gridCol w="5943600"/>
                <a:gridCol w="210312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アプリ・OS環境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Android Studio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AutoCAD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Blender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DaVinci Resolve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EViews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Excel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FL Studio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公開注釈1,581件、改訂210e78d。2026-10-16集計。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26環境の件数（8〜14）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分布と座標の詳細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3017520"/>
        </p:xfrm>
        <a:graphic>
          <a:graphicData uri="http://schemas.openxmlformats.org/drawingml/2006/table">
            <a:tbl>
              <a:tblPr firstRow="0" bandRow="0"/>
              <a:tblGrid>
                <a:gridCol w="5943600"/>
                <a:gridCol w="210312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アプリ・OS環境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Illustrator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Inventor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Linux共通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macOS共通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MATLAB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Origin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Photoshop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公開注釈1,581件、改訂210e78d。2026-10-16集計。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26環境の件数（15〜21）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分布と座標の詳細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3017520"/>
        </p:xfrm>
        <a:graphic>
          <a:graphicData uri="http://schemas.openxmlformats.org/drawingml/2006/table">
            <a:tbl>
              <a:tblPr firstRow="0" bandRow="0"/>
              <a:tblGrid>
                <a:gridCol w="5943600"/>
                <a:gridCol w="210312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アプリ・OS環境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PowerPoint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Premiere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PyCharm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Quartus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SolidWorks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Stata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Unreal Engine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公開注釈1,581件、改訂210e78d。2026-10-16集計。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26環境の件数（22〜26）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分布と座標の詳細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67712"/>
        </p:xfrm>
        <a:graphic>
          <a:graphicData uri="http://schemas.openxmlformats.org/drawingml/2006/table">
            <a:tbl>
              <a:tblPr firstRow="0" bandRow="0"/>
              <a:tblGrid>
                <a:gridCol w="5943600"/>
                <a:gridCol w="210312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アプリ・OS環境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Vivado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VMware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VS Code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Windows共通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Word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公開注釈1,581件、改訂210e78d。2026-10-16集計。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14種類の画面サイズ（1〜7）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分布と座標の詳細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3017520"/>
        </p:xfrm>
        <a:graphic>
          <a:graphicData uri="http://schemas.openxmlformats.org/drawingml/2006/table">
            <a:tbl>
              <a:tblPr firstRow="0" bandRow="0"/>
              <a:tblGrid>
                <a:gridCol w="5760720"/>
                <a:gridCol w="228600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画面サイズ（px）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2560 × 1440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514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3840 × 2160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270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3840 × 1080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3456 × 2234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2160 × 1440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5120 × 1440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3456 × 2160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公開注釈1,581件、改訂210e78d。2026-10-16集計。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14種類の画面サイズ（8〜14）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分布と座標の詳細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3017520"/>
        </p:xfrm>
        <a:graphic>
          <a:graphicData uri="http://schemas.openxmlformats.org/drawingml/2006/table">
            <a:tbl>
              <a:tblPr firstRow="0" bandRow="0"/>
              <a:tblGrid>
                <a:gridCol w="5760720"/>
                <a:gridCol w="228600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画面サイズ（px）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2992 × 1870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6016 × 3384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2560 × 1600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2880 × 1800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5120 × 2880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1920 × 1080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2560 × 1664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公開注釈1,581件、改訂210e78d。2026-10-16集計。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VS Codeの座標を0〜1へ正規化する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分布と座標の詳細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98064"/>
        </p:xfrm>
        <a:graphic>
          <a:graphicData uri="http://schemas.openxmlformats.org/drawingml/2006/table">
            <a:tbl>
              <a:tblPr firstRow="0" bandRow="0"/>
              <a:tblGrid>
                <a:gridCol w="2468880"/>
                <a:gridCol w="2011680"/>
                <a:gridCol w="356616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項目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画像上の値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正規化した値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左端のx座標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473 px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473 ÷ 2560 → 約0.1848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上端のy座標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183 px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183 ÷ 1664 → 約0.1100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領域中心のx座標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488 px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488 ÷ 2560 → 約0.1906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領域中心のy座標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201 px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201 ÷ 1664 → 約0.1208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ScreenSpot-Pro: eval_screenspot_pro.py. 点の正解判定と指標集計。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https://github.com/likaixin2000/ScreenSpot-Pro-GUI-Grounding/blob/main/eval_screenspot_pro.py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正解判定は領域の境界を含む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分布と座標の詳細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8046720" cy="173075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152400" rIns="152400" tIns="127000" bIns="127000"/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x0, y0, x1, y1 = sample["bbox"]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w, h = sample["img_size"]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x, y = response["point"]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/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correct = (x0 / w &lt;= x &lt;= x1 / w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       and y0 / h &lt;= y &lt;= y1 / 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440684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公式のeval_sample_positive_gtにおける判定条件を、説明用に変数名を整理して抜粋。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ScreenSpot-Pro: eval_screenspot_pro.py. 点の正解判定と指標集計。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https://github.com/likaixin2000/ScreenSpot-Pro-GUI-Grounding/blob/main/eval_screenspot_pro.py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中国語の指示も同じ画面に対応する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公開注釈にはinstructionとinstruction_cnがあり、同じ対象に対する英語・中国語の指示が含まれる。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中国語の指示は、GPT-4による初期翻訳を著者らが確認・修正したものである。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初期のOS-Atlas-7Bでは、英語18.9%に対して中国語16.8%だった。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分布と座標の詳細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ScreenSpot-Pro: GUI Grounding for Professional High-Resolution Computer Use. Preprint.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https://likaixin2000.github.io/papers/ScreenSpot_Pro.pdf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開発者と参考文献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開発者と参考文献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GUIの位置推定と視覚探索を研究した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第一著者のKaixin Liは、発表時にNational University of Singapore所属。GUIの位置推定と高解像度画面での視覚探索を扱った。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最終著者のTat-Seng Chuaも同大学所属。視覚と言語を結び付けるマルチモーダル研究に取り組む。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論文は2025年公開。公式GitHubはWorkshop on Reasoning and Planning for Large Language Modelsを引用先に指定している。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開発者と参考文献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ScreenSpot-Pro: GUI Grounding for Professional High-Resolution Computer Use. Preprint.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https://likaixin2000.github.io/papers/ScreenSpot_Pro.pdf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開発者と参考文献</a:t>
            </a:r>
          </a:p>
        </p:txBody>
      </p:sp>
      <p:sp>
        <p:nvSpPr>
          <p:cNvPr id="4" name="文献 1: ScreenSpot-Pro: GUI Grounding for Professional High-Resolution Computer Use"/>
          <p:cNvSpPr txBox="1"/>
          <p:nvPr/>
        </p:nvSpPr>
        <p:spPr>
          <a:xfrm>
            <a:off x="548640" y="1463040"/>
            <a:ext cx="8046720" cy="17150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ScreenSpot-Pro: GUI Grounding for Professional High-Resolution Computer Use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Kaixin Li, Ziyang Meng et al. / 2025 / Preprint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専門家による画面の収集、正解領域の注釈、初期評価、およびScreenSeekeRについて説明する。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https://likaixin2000.github.io/papers/ScreenSpot_Pro.pdf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開発者と参考文献</a:t>
            </a:r>
          </a:p>
        </p:txBody>
      </p:sp>
      <p:sp>
        <p:nvSpPr>
          <p:cNvPr id="4" name="文献 1: ScreenSpot-Pro"/>
          <p:cNvSpPr txBox="1"/>
          <p:nvPr/>
        </p:nvSpPr>
        <p:spPr>
          <a:xfrm>
            <a:off x="548640" y="1463040"/>
            <a:ext cx="8046720" cy="115760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ScreenSpot-Pro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/ 2025 / Hugging Face dataset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26環境の画面と、指示・正解領域・対象の種類を含む公開データ。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https://huggingface.co/datasets/likaixin/ScreenSpot-Pro</a:t>
            </a:r>
          </a:p>
        </p:txBody>
      </p:sp>
      <p:sp>
        <p:nvSpPr>
          <p:cNvPr id="5" name="文献 2: ScreenSpot-Pro-GUI-Grounding"/>
          <p:cNvSpPr txBox="1"/>
          <p:nvPr/>
        </p:nvSpPr>
        <p:spPr>
          <a:xfrm>
            <a:off x="548640" y="3131693"/>
            <a:ext cx="8046720" cy="115760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ScreenSpot-Pro-GUI-Grounding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/ 2025 / GitHub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モデルの入出力、座標の正解判定と集計を確認できる公式評価実装。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https://github.com/likaixin2000/ScreenSpot-Pro-GUI-Grounding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開発者と参考文献</a:t>
            </a:r>
          </a:p>
        </p:txBody>
      </p:sp>
      <p:sp>
        <p:nvSpPr>
          <p:cNvPr id="4" name="文献 1: SeeClick: Harnessing GUI Grounding for Advanced Visual GUI Agents"/>
          <p:cNvSpPr txBox="1"/>
          <p:nvPr/>
        </p:nvSpPr>
        <p:spPr>
          <a:xfrm>
            <a:off x="548640" y="1463040"/>
            <a:ext cx="8046720" cy="17150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SeeClick: Harnessing GUI Grounding for Advanced Visual GUI Agents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Cheng et al. / 2024 / ACL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指示から操作位置を求めるGUIモデルと、先行評価データScreenSpotを紹介する。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https://arxiv.org/abs/2401.10935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開発者と参考文献</a:t>
            </a:r>
          </a:p>
        </p:txBody>
      </p:sp>
      <p:sp>
        <p:nvSpPr>
          <p:cNvPr id="4" name="文献 1: OS-Atlas: A Foundation Action Model for Generalist GUI Agents"/>
          <p:cNvSpPr txBox="1"/>
          <p:nvPr/>
        </p:nvSpPr>
        <p:spPr>
          <a:xfrm>
            <a:off x="548640" y="1463040"/>
            <a:ext cx="8046720" cy="14254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OS-Atlas: A Foundation Action Model for Generalist GUI Agents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Wu et al. / 2024 / arXiv:2410.23218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位置推定モデルOS-Atlasと、先行データの注釈を修正したScreenSpot-v2を説明する。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https://arxiv.org/abs/2410.23218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開発者と参考文献</a:t>
            </a:r>
          </a:p>
        </p:txBody>
      </p:sp>
      <p:sp>
        <p:nvSpPr>
          <p:cNvPr id="4" name="文献 1: GPT-6 Astra: A new generation of intelligence"/>
          <p:cNvSpPr txBox="1"/>
          <p:nvPr/>
        </p:nvSpPr>
        <p:spPr>
          <a:xfrm>
            <a:off x="548640" y="1463040"/>
            <a:ext cx="8046720" cy="14254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GPT-6 Astra: A new generation of intelligence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/ 2026 / Model announcement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ScreenSpot-Proのツールなし評価と、現行モデルのコンピューター操作能力を報告する。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https://openai.com/index/gpt-6-astra/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  <dc:title>ScreenSpot-Pro — datasets in 10 minutes</dc:title>
  <dc:subject>専門ソフトの画面・操作指示・正解領域・作成方法とGUI位置推定の評価</dc:subject>
  <dc:creator>sasakiy84</dc:creator>
  <cp:keywords>ScreenSpot-Pro,GUI,grounding,dataset,computer use</cp:keywords>
</cp:coreProperties>
</file>