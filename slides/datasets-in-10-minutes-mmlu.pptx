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2" r:id="rId1"/>
  </p:sldMasterIdLst>
  <p:sldIdLst>
    <p:sldId id="256" r:id="rId6"/>
    <p:sldId id="257" r:id="rId7"/>
    <p:sldId id="258" r:id="rId8"/>
    <p:sldId id="259" r:id="rId9"/>
    <p:sldId id="260" r:id="rId10"/>
    <p:sldId id="261" r:id="rId5"/>
    <p:sldId id="262" r:id="rId4"/>
    <p:sldId id="263" r:id="rId3"/>
    <p:sldId id="264" r:id="rId2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Noto Sans CJK JP"/>
      <a:defRPr sz="1400" b="0" i="0" u="none" strike="noStrike" cap="none" lang="ja-JP">
        <a:solidFill>
          <a:srgbClr val="000000"/>
        </a:solidFill>
        <a:latin typeface="Noto Sans"/>
        <a:ea typeface="Noto Sans CJK JP"/>
        <a:cs typeface="Noto Sans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590">
          <p15:clr>
            <a:srgbClr val="747775"/>
          </p15:clr>
        </p15:guide>
        <p15:guide id="2" pos="1271">
          <p15:clr>
            <a:srgbClr val="747775"/>
          </p15:clr>
        </p15:guide>
        <p15:guide id="3" orient="horz" pos="1584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77B4"/>
    <a:srgbClr val="7A81FF"/>
    <a:srgbClr val="0096FF"/>
    <a:srgbClr val="011893"/>
    <a:srgbClr val="B13731"/>
    <a:srgbClr val="EF8600"/>
    <a:srgbClr val="FFCD8C"/>
    <a:srgbClr val="0036FF"/>
    <a:srgbClr val="00D989"/>
    <a:srgbClr val="01D8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FD8A3C8B-3693-4FF3-BE57-18EF887A9C23}">
  <a:tblStyle styleId="{FD8A3C8B-3693-4FF3-BE57-18EF887A9C23}" styleName="Table_0">
    <a:wholeTbl>
      <a:tcTxStyle>
        <a:font>
          <a:latin typeface="Noto Sans"/>
          <a:ea typeface="Noto Sans CJK JP"/>
          <a:cs typeface="Noto Sans"/>
        </a:font>
        <a:srgbClr val="000000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15240" cap="flat">
              <a:solidFill>
                <a:srgbClr val="626669"/>
              </a:solidFill>
              <a:prstDash val="solid"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>
          <a:bottom>
            <a:ln w="15240" cap="flat">
              <a:solidFill>
                <a:srgbClr val="626669"/>
              </a:solidFill>
              <a:prstDash val="solid"/>
            </a:ln>
          </a:bottom>
        </a:tcBdr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>
          <a:top>
            <a:ln w="15240" cap="flat">
              <a:solidFill>
                <a:srgbClr val="626669"/>
              </a:solidFill>
              <a:prstDash val="solid"/>
            </a:ln>
          </a:top>
          <a:bottom>
            <a:ln w="7620" cap="flat">
              <a:solidFill>
                <a:srgbClr val="626669"/>
              </a:solidFill>
              <a:prstDash val="solid"/>
            </a:ln>
          </a:bottom>
        </a:tcBdr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2"/>
    <p:restoredTop sz="87828"/>
  </p:normalViewPr>
  <p:slideViewPr>
    <p:cSldViewPr snapToGrid="0">
      <p:cViewPr varScale="1">
        <p:scale>
          <a:sx n="169" d="100"/>
          <a:sy n="169" d="100"/>
        </p:scale>
        <p:origin x="520" y="192"/>
      </p:cViewPr>
      <p:guideLst>
        <p:guide orient="horz" pos="590"/>
        <p:guide pos="1271"/>
        <p:guide orient="horz" pos="158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9.xml"/><Relationship Id="rId3" Type="http://schemas.openxmlformats.org/officeDocument/2006/relationships/slide" Target="slides/slide8.xml"/><Relationship Id="rId4" Type="http://schemas.openxmlformats.org/officeDocument/2006/relationships/slide" Target="slides/slide7.xml"/><Relationship Id="rId5" Type="http://schemas.openxmlformats.org/officeDocument/2006/relationships/slide" Target="slides/slide6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問題数</c:v>
                </c:pt>
              </c:strCache>
            </c:strRef>
          </c:tx>
          <c:spPr>
            <a:solidFill>
              <a:srgbClr val="2C9100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high school macroeconomics</c:v>
                </c:pt>
                <c:pt idx="1">
                  <c:v>high school psychology</c:v>
                </c:pt>
                <c:pt idx="2">
                  <c:v>professional psychology</c:v>
                </c:pt>
                <c:pt idx="3">
                  <c:v>miscellaneous</c:v>
                </c:pt>
                <c:pt idx="4">
                  <c:v>moral scenarios</c:v>
                </c:pt>
                <c:pt idx="5">
                  <c:v>professional law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390</c:v>
                </c:pt>
                <c:pt idx="1">
                  <c:v>545</c:v>
                </c:pt>
                <c:pt idx="2">
                  <c:v>612</c:v>
                </c:pt>
                <c:pt idx="3">
                  <c:v>783</c:v>
                </c:pt>
                <c:pt idx="4">
                  <c:v>895</c:v>
                </c:pt>
                <c:pt idx="5">
                  <c:v>1534</c:v>
                </c:pt>
              </c:numCache>
            </c:numRef>
          </c:val>
        </c:ser>
        <c:dLbls>
          <c:txPr>
            <a:bodyPr/>
            <a:lstStyle/>
            <a:p>
              <a:pPr>
                <a:defRPr sz="1500">
                  <a:latin typeface="Noto Sans CJK JP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2226939960"/>
        <c:axId val="2180972856"/>
      </c:barChart>
      <c:catAx>
        <c:axId val="2226939960"/>
        <c:scaling>
          <c:orientation val="minMax"/>
        </c:scaling>
        <c:delete val="0"/>
        <c:axPos val="l"/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latin typeface="Noto Sans CJK JP"/>
              </a:defRPr>
            </a:pPr>
          </a:p>
        </c:txPr>
        <c:crossAx val="2180972856"/>
        <c:crosses val="autoZero"/>
        <c:auto val="1"/>
        <c:lblAlgn val="ctr"/>
        <c:lblOffset val="100"/>
        <c:tickLblSkip val="1"/>
        <c:noMultiLvlLbl val="0"/>
      </c:catAx>
      <c:valAx>
        <c:axId val="2180972856"/>
        <c:scaling>
          <c:min val="0.0"/>
        </c:scaling>
        <c:delete val="0"/>
        <c:axPos val="b"/>
        <c:majorGridlines>
          <c:spPr>
            <a:ln>
              <a:solidFill>
                <a:srgbClr val="DADDD7"/>
              </a:solidFill>
            </a:ln>
          </c:spPr>
        </c:majorGridlines>
        <c:majorTickMark val="none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300">
                <a:latin typeface="Noto Sans CJK JP"/>
              </a:defRPr>
            </a:pPr>
          </a:p>
        </c:txPr>
        <c:crossAx val="2226939960"/>
        <c:crosses val="autoZero"/>
      </c:valAx>
      <c:spPr>
        <a:solidFill>
          <a:srgbClr val="FFFEF8"/>
        </a:solidFill>
        <a:ln>
          <a:noFill/>
        </a:ln>
      </c:spPr>
    </c:plotArea>
    <c:dispBlanksAs val="gap"/>
  </c:chart>
  <c:spPr>
    <a:solidFill>
      <a:srgbClr val="FFFEF8"/>
    </a:solidFill>
    <a:ln>
      <a:noFill/>
    </a:ln>
  </c:spPr>
  <c:txPr>
    <a:bodyPr/>
    <a:lstStyle/>
    <a:p>
      <a:pPr>
        <a:defRPr sz="1400">
          <a:latin typeface="Noto Sans CJK JP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12471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52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None/>
              <a:defRPr sz="5200"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3657600"/>
            <a:ext cx="8520600" cy="36576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lang="ja-JP">
                <a:latin typeface="Noto Sans"/>
                <a:ea typeface="Noto Sans CJK JP"/>
                <a:cs typeface="Noto Sans"/>
              </a:defRPr>
            </a:lvl9pPr>
          </a:lstStyle>
          <a:p>
            <a:pPr>
              <a:defRPr sz="2200" lang="ja-JP">
                <a:latin typeface="Noto Sans"/>
                <a:ea typeface="Noto Sans CJK JP"/>
                <a:cs typeface="Noto Sans"/>
              </a:defRPr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" name="Google Shape;22;p5">
            <a:extLst>
              <a:ext uri="{FF2B5EF4-FFF2-40B4-BE49-F238E27FC236}">
                <a16:creationId xmlns:a16="http://schemas.microsoft.com/office/drawing/2014/main" id="{97A17C7E-5073-6B99-C91A-19299DA839DE}"/>
              </a:ext>
            </a:extLst>
          </p:cNvPr>
          <p:cNvSpPr/>
          <p:nvPr userDrawn="1"/>
        </p:nvSpPr>
        <p:spPr>
          <a:xfrm>
            <a:off x="8607898" y="-10450"/>
            <a:ext cx="548701" cy="479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2BE9CD3C-2632-D40F-DBD2-47ACED4F9A3C}"/>
              </a:ext>
            </a:extLst>
          </p:cNvPr>
          <p:cNvSpPr txBox="1"/>
          <p:nvPr userDrawn="1"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pPr algn="ctr"/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110" name="Author affiliation"/>
          <p:cNvSpPr txBox="1">
            <a:spLocks noGrp="1"/>
          </p:cNvSpPr>
          <p:nvPr>
            <p:ph type="body" idx="10"/>
          </p:nvPr>
        </p:nvSpPr>
        <p:spPr>
          <a:xfrm>
            <a:off x="5486400" y="4224528"/>
            <a:ext cx="310896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所属　［所属］</a:t>
            </a:r>
          </a:p>
        </p:txBody>
      </p:sp>
      <p:sp>
        <p:nvSpPr>
          <p:cNvPr id="111" name="Author name"/>
          <p:cNvSpPr txBox="1"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氏名　［氏名］</a:t>
            </a:r>
          </a:p>
        </p:txBody>
      </p:sp>
      <p:sp>
        <p:nvSpPr>
          <p:cNvPr id="112" name="Creation date"/>
          <p:cNvSpPr txBox="1">
            <a:spLocks noGrp="1"/>
          </p:cNvSpPr>
          <p:nvPr>
            <p:ph type="body" idx="12"/>
          </p:nvPr>
        </p:nvSpPr>
        <p:spPr>
          <a:xfrm>
            <a:off x="457200" y="274320"/>
            <a:ext cx="3657600" cy="22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0" lang="ja-JP">
                <a:solidFill>
                  <a:srgbClr val="626669"/>
                </a:solidFill>
                <a:latin typeface="Noto Sans"/>
                <a:ea typeface="Noto Sans CJK JP"/>
                <a:cs typeface="Noto Sans"/>
              </a:defRPr>
            </a:pPr>
            <a:r>
              <a:t>作成日　YYYY-MM-DD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カスタム レイアウト 1">
  <p:cSld name="CUSTOM"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5" name="Google Shape;75;p11"/>
          <p:cNvSpPr txBox="1"/>
          <p:nvPr/>
        </p:nvSpPr>
        <p:spPr>
          <a:xfrm>
            <a:off x="76100" y="0"/>
            <a:ext cx="805950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 b="1" lang="ja-JP" altLang="en-US">
                <a:latin typeface="Noto Sans"/>
                <a:ea typeface="Noto Sans CJK JP"/>
                <a:cs typeface="Noto Sans"/>
              </a:defRPr>
            </a:pP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T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able of </a:t>
            </a:r>
            <a:r>
              <a:rPr lang="ja-JP" altLang="en-US" b="1" dirty="0" sz="1400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C</a:t>
            </a:r>
            <a:r>
              <a:rPr lang="ja-JP" b="1" dirty="0" sz="1400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ontents</a:t>
            </a:r>
            <a:endParaRPr b="1" dirty="0" lang="ja-JP" sz="1400" altLang="en-US">
              <a:solidFill>
                <a:schemeClr val="lt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6" name="Google Shape;76;p11"/>
          <p:cNvSpPr txBox="1"/>
          <p:nvPr/>
        </p:nvSpPr>
        <p:spPr>
          <a:xfrm>
            <a:off x="1236712" y="842226"/>
            <a:ext cx="5764979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1.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Background &amp; Purpose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79" name="Google Shape;79;p11"/>
          <p:cNvSpPr txBox="1"/>
          <p:nvPr/>
        </p:nvSpPr>
        <p:spPr>
          <a:xfrm>
            <a:off x="1236712" y="1664913"/>
            <a:ext cx="5412281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2.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Methodology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2" name="Google Shape;82;p11"/>
          <p:cNvSpPr txBox="1"/>
          <p:nvPr/>
        </p:nvSpPr>
        <p:spPr>
          <a:xfrm>
            <a:off x="1236712" y="2487598"/>
            <a:ext cx="6688590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3.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Classification Framework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5" name="Google Shape;85;p11"/>
          <p:cNvSpPr txBox="1"/>
          <p:nvPr userDrawn="1"/>
        </p:nvSpPr>
        <p:spPr>
          <a:xfrm>
            <a:off x="1236712" y="3310287"/>
            <a:ext cx="5020396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4.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Results &amp; Analysis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7" name="Google Shape;87;p11"/>
          <p:cNvSpPr txBox="1"/>
          <p:nvPr/>
        </p:nvSpPr>
        <p:spPr>
          <a:xfrm>
            <a:off x="1929203" y="3891800"/>
            <a:ext cx="59961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900" dirty="0" lang="ja-JP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88" name="Google Shape;88;p11"/>
          <p:cNvSpPr txBox="1"/>
          <p:nvPr/>
        </p:nvSpPr>
        <p:spPr>
          <a:xfrm>
            <a:off x="1236712" y="4132975"/>
            <a:ext cx="6196053" cy="5939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Noto Sans CJK JP"/>
              <a:buNone/>
              <a:tabLst/>
              <a:defRPr lang="ja-JP">
                <a:latin typeface="Noto Sans"/>
                <a:ea typeface="Noto Sans CJK JP"/>
                <a:cs typeface="Noto Sans"/>
              </a:defRPr>
            </a:pPr>
            <a:r>
              <a:rPr lang="ja-JP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5.</a:t>
            </a:r>
            <a:r>
              <a:rPr lang="ja-JP" altLang="ja" sz="2800" b="1" dirty="0">
                <a:solidFill>
                  <a:schemeClr val="accent2"/>
                </a:solidFill>
                <a:latin typeface="Noto Sans"/>
                <a:ea typeface="Noto Sans CJK JP"/>
                <a:cs typeface="Noto Sans"/>
              </a:rPr>
              <a:t> </a:t>
            </a:r>
            <a:r>
              <a:rPr lang="ja-JP" altLang="ja" sz="2800" b="1" dirty="0">
                <a:solidFill>
                  <a:schemeClr val="dk1"/>
                </a:solidFill>
                <a:latin typeface="Noto Sans"/>
                <a:ea typeface="Noto Sans CJK JP"/>
                <a:cs typeface="Noto Sans"/>
              </a:rPr>
              <a:t>Conclusions and future work</a:t>
            </a:r>
            <a:endParaRPr lang="ja-JP" altLang="ja-JP" sz="2800" b="1" dirty="0">
              <a:solidFill>
                <a:schemeClr val="dk1"/>
              </a:solidFill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ormal">
  <p:cSld name="ONE_COLUMN_TEXT_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468600" y="748150"/>
            <a:ext cx="83946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589650" y="1474850"/>
            <a:ext cx="7964700" cy="34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26" name="Google Shape;26;p5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0481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 dirty="0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タイトルのみ">
  <p:cSld name="ONE_COLUMN_TEXT_1_4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468600" y="649825"/>
            <a:ext cx="8206800" cy="616200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000" b="1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1" name="Google Shape;31;p6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ransition" type="secHead">
  <p:cSld name="ONE_COLUMN_TEXT_1_4_1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548640" y="2414016"/>
            <a:ext cx="8046720" cy="822960"/>
          </a:xfrm>
          <a:prstGeom prst="rect">
            <a:avLst/>
          </a:prstGeom>
        </p:spPr>
        <p:txBody>
          <a:bodyPr spcFirstLastPara="1" wrap="none" lIns="0" tIns="0" rIns="0" bIns="0" anchor="ctr" anchorCtr="0">
            <a:norm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3600" b="1" lang="ja-JP" altLang="en-US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None/>
              <a:defRPr lang="ja-JP" sz="36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 algn="ctr">
              <a:lnSpc>
                <a:spcPct val="110000"/>
              </a:lnSpc>
              <a:defRPr sz="3600" b="1" lang="ja-JP" altLang="en-US">
                <a:latin typeface="Noto Sans"/>
                <a:ea typeface="Noto Sans CJK JP"/>
                <a:cs typeface="Noto Sans"/>
              </a:defRPr>
            </a:pPr>
            <a:endParaRPr lang="ja-JP" sz="36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36" name="Google Shape;36;p7"/>
          <p:cNvSpPr txBox="1">
            <a:spLocks noGrp="1"/>
          </p:cNvSpPr>
          <p:nvPr>
            <p:ph type="title" idx="2"/>
          </p:nvPr>
        </p:nvSpPr>
        <p:spPr>
          <a:xfrm>
            <a:off x="76100" y="0"/>
            <a:ext cx="81153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本文のみ">
  <p:cSld name="ONE_COLUMN_TEXT_1_3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0" name="Google Shape;40;p8"/>
          <p:cNvSpPr txBox="1">
            <a:spLocks noGrp="1"/>
          </p:cNvSpPr>
          <p:nvPr>
            <p:ph type="body" idx="1"/>
          </p:nvPr>
        </p:nvSpPr>
        <p:spPr>
          <a:xfrm>
            <a:off x="589650" y="1185250"/>
            <a:ext cx="7964700" cy="3272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0595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ヘッダーのみ">
  <p:cSld name="ONE_COLUMN_TEXT_1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-12600" y="0"/>
            <a:ext cx="91692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0" rIns="91425" bIns="0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76100" y="0"/>
            <a:ext cx="8148900" cy="480059"/>
          </a:xfrm>
          <a:prstGeom prst="rect">
            <a:avLst/>
          </a:prstGeom>
          <a:ln>
            <a:noFill/>
          </a:ln>
        </p:spPr>
        <p:txBody>
          <a:bodyPr spcFirstLastPara="1" wrap="square" lIns="91425" tIns="0" rIns="91425" bIns="0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1400" b="1" lang="ja-JP" altLang="en-US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lang="ja-JP" sz="1400" b="1" altLang="en-US">
                <a:latin typeface="Noto Sans"/>
                <a:ea typeface="Noto Sans CJK JP"/>
                <a:cs typeface="Noto San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1400" b="1" lang="ja-JP" altLang="en-US">
                <a:latin typeface="Noto Sans"/>
                <a:ea typeface="Noto Sans CJK JP"/>
                <a:cs typeface="Noto Sans"/>
              </a:defRPr>
            </a:pPr>
            <a:endParaRPr dirty="0" lang="ja-JP" sz="1400" b="1" altLang="en-US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_AND_EXPLAN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band"/>
          <p:cNvSpPr txBox="1"/>
          <p:nvPr userDrawn="1"/>
        </p:nvSpPr>
        <p:spPr>
          <a:xfrm>
            <a:off x="0" y="0"/>
            <a:ext cx="9144000" cy="48005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wrap="square" anchor="ctr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4" name="Chart Placeholder"/>
          <p:cNvSpPr txBox="1">
            <a:spLocks noGrp="1"/>
          </p:cNvSpPr>
          <p:nvPr>
            <p:ph idx="1"/>
          </p:nvPr>
        </p:nvSpPr>
        <p:spPr>
          <a:xfrm>
            <a:off x="456520" y="1250000"/>
            <a:ext cx="5715000" cy="3000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wrap="square"/>
          <a:lstStyle/>
          <a:p>
            <a:r>
              <a:rPr lang="ja-JP" sz="1800" b="0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Insert chart</a:t>
            </a:r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5" name="Explanation Placeholder"/>
          <p:cNvSpPr txBox="1">
            <a:spLocks noGrp="1"/>
          </p:cNvSpPr>
          <p:nvPr>
            <p:ph type="body" idx="2"/>
          </p:nvPr>
        </p:nvSpPr>
        <p:spPr>
          <a:xfrm>
            <a:off x="6295292" y="1550000"/>
            <a:ext cx="2500000" cy="240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6" name="Supporting Text Placeholder"/>
          <p:cNvSpPr txBox="1">
            <a:spLocks noGrp="1"/>
          </p:cNvSpPr>
          <p:nvPr>
            <p:ph type="body" idx="3"/>
          </p:nvPr>
        </p:nvSpPr>
        <p:spPr>
          <a:xfrm>
            <a:off x="500000" y="4650000"/>
            <a:ext cx="8144000" cy="260000"/>
          </a:xfrm>
          <a:prstGeom prst="rect">
            <a:avLst/>
          </a:prstGeom>
          <a:noFill/>
          <a:ln>
            <a:noFill/>
          </a:ln>
        </p:spPr>
        <p:txBody>
          <a:bodyPr wrap="square" lIns="91425" rIns="91425" tIns="91425" bIns="91425"/>
          <a:lstStyle>
            <a:lvl1pPr marL="457200" lvl="0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1pPr>
            <a:lvl2pPr marL="914400" lvl="1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2pPr>
            <a:lvl3pPr marL="1371600" lvl="2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3pPr>
            <a:lvl4pPr marL="1828800" lvl="3" indent="-3683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0455"/>
              <a:buFont typeface="Noto Sans CJK JP"/>
              <a:buChar char="●"/>
              <a:defRPr sz="22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4pPr>
            <a:lvl5pPr marL="2286000" lvl="4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5pPr>
            <a:lvl6pPr marL="2743200" lvl="5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6pPr>
            <a:lvl7pPr marL="3200400" lvl="6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●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7pPr>
            <a:lvl8pPr marL="3657600" lvl="7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8pPr>
            <a:lvl9pPr marL="4114800" lvl="8" indent="-355600">
              <a:spcBef>
                <a:spcPts val="0"/>
              </a:spcBef>
              <a:spcAft>
                <a:spcPts val="0"/>
              </a:spcAft>
              <a:buClr>
                <a:srgbClr val="303437"/>
              </a:buClr>
              <a:buSzPct val="66500"/>
              <a:buFont typeface="Noto Sans CJK JP"/>
              <a:buChar char="○"/>
              <a:defRPr sz="2000" lang="ja-JP">
                <a:solidFill>
                  <a:srgbClr val="303437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 dirty="0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lt1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25C0E310-B322-8587-531C-0E2F5BB13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kumimoji="1" lang="ja-JP" altLang="en-US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ページ番号のみ 1">
  <p:cSld name="ONE_COLUMN_TEXT_1_2_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3"/>
          <p:cNvSpPr txBox="1">
            <a:spLocks noGrp="1"/>
          </p:cNvSpPr>
          <p:nvPr>
            <p:ph type="title"/>
          </p:nvPr>
        </p:nvSpPr>
        <p:spPr>
          <a:xfrm>
            <a:off x="5796650" y="4091225"/>
            <a:ext cx="3347400" cy="1052400"/>
          </a:xfrm>
          <a:prstGeom prst="rect">
            <a:avLst/>
          </a:prstGeom>
          <a:solidFill>
            <a:schemeClr val="accent2"/>
          </a:solidFill>
        </p:spPr>
        <p:txBody>
          <a:bodyPr spcFirstLastPara="1" wrap="square" lIns="126000" tIns="126000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None/>
              <a:defRPr sz="3200" b="1" lang="ja-JP">
                <a:solidFill>
                  <a:schemeClr val="lt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dirty="0"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999" name="Slide Number"/>
          <p:cNvSpPr txBox="1"/>
          <p:nvPr/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anchor="ctr" lIns="0" tIns="0" bIns="0"/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fld id="{00000000-1234-1234-1234-000000000999}" type="slidenum">
              <a:rPr lang="ja-JP" sz="1800" b="1">
                <a:solidFill>
                  <a:schemeClr val="dk2"/>
                </a:solidFill>
                <a:latin typeface="Noto Sans"/>
                <a:ea typeface="Noto Sans CJK JP"/>
                <a:cs typeface="Noto Sans"/>
              </a:rPr>
              <a:t>‹#›</a:t>
            </a:fld>
            <a:endParaRPr lang="ja-JP" sz="1800" b="1">
              <a:latin typeface="Noto Sans"/>
              <a:ea typeface="Noto Sans CJK JP"/>
              <a:cs typeface="Noto Sans"/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None/>
              <a:defRPr sz="2800" lang="ja-JP">
                <a:solidFill>
                  <a:schemeClr val="dk1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203200" lvl="0" indent="-152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73889"/>
              <a:buFont typeface="Noto Sans CJK JP"/>
              <a:buChar char="●"/>
              <a:defRPr sz="18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marL="482600" lvl="1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marL="762000" lvl="2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marL="1041400" lvl="3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marL="1320800" lvl="4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marL="1600200" lvl="5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marL="1879600" lvl="6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marL="2159000" lvl="7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marL="2438400" lvl="8" indent="-127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ct val="66500"/>
              <a:buFont typeface="Noto Sans CJK JP"/>
              <a:buChar char="○"/>
              <a:defRPr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endParaRPr lang="ja-JP">
              <a:latin typeface="Noto Sans"/>
              <a:ea typeface="Noto Sans CJK JP"/>
              <a:cs typeface="Noto Sans"/>
            </a:endParaRPr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12480" y="7937"/>
            <a:ext cx="640080" cy="4800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bIns="0" anchor="ctr" anchorCtr="0">
            <a:normAutofit/>
          </a:bodyPr>
          <a:lstStyle>
            <a:lvl1pPr lvl="0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1pPr>
            <a:lvl2pPr lvl="1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2pPr>
            <a:lvl3pPr lvl="2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3pPr>
            <a:lvl4pPr lvl="3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4pPr>
            <a:lvl5pPr lvl="4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5pPr>
            <a:lvl6pPr lvl="5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6pPr>
            <a:lvl7pPr lvl="6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7pPr>
            <a:lvl8pPr lvl="7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8pPr>
            <a:lvl9pPr lvl="8" algn="r">
              <a:buNone/>
              <a:defRPr sz="1000" lang="ja-JP">
                <a:solidFill>
                  <a:schemeClr val="dk2"/>
                </a:solidFill>
                <a:latin typeface="Noto Sans"/>
                <a:ea typeface="Noto Sans CJK JP"/>
                <a:cs typeface="Noto Sans"/>
              </a:defRPr>
            </a:lvl9pPr>
          </a:lstStyle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-JP">
                <a:latin typeface="Noto Sans"/>
                <a:ea typeface="Noto Sans CJK JP"/>
                <a:cs typeface="Noto Sans"/>
              </a:rPr>
              <a:t>‹#›</a:t>
            </a:fld>
            <a:endParaRPr lang="ja-JP">
              <a:latin typeface="Noto Sans"/>
              <a:ea typeface="Noto Sans CJK JP"/>
              <a:cs typeface="Noto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7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8" r:id="rId8"/>
    <p:sldLayoutId id="2147483659" r:id="rId9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titleStyle>
    <p:bodyStyle>
      <a:lvl1pPr marL="457200" lvl="0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1pPr>
      <a:lvl2pPr marL="914400" lvl="1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2pPr>
      <a:lvl3pPr marL="1371600" lvl="2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3pPr>
      <a:lvl4pPr marL="1828800" lvl="3" indent="-368300">
        <a:spcBef>
          <a:spcPts val="0"/>
        </a:spcBef>
        <a:spcAft>
          <a:spcPts val="0"/>
        </a:spcAft>
        <a:buClr>
          <a:srgbClr val="303437"/>
        </a:buClr>
        <a:buSzPct val="60455"/>
        <a:buFont typeface="Noto Sans CJK JP"/>
        <a:buChar char="●"/>
        <a:defRPr sz="2200" lang="ja-JP">
          <a:solidFill>
            <a:srgbClr val="303437"/>
          </a:solidFill>
          <a:latin typeface="Noto Sans"/>
          <a:ea typeface="Noto Sans CJK JP"/>
          <a:cs typeface="Noto Sans"/>
        </a:defRPr>
      </a:lvl4pPr>
      <a:lvl5pPr marL="2286000" lvl="4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5pPr>
      <a:lvl6pPr marL="2743200" lvl="5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6pPr>
      <a:lvl7pPr marL="3200400" lvl="6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●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7pPr>
      <a:lvl8pPr marL="3657600" lvl="7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8pPr>
      <a:lvl9pPr marL="4114800" lvl="8" indent="-355600">
        <a:spcBef>
          <a:spcPts val="0"/>
        </a:spcBef>
        <a:spcAft>
          <a:spcPts val="0"/>
        </a:spcAft>
        <a:buClr>
          <a:srgbClr val="303437"/>
        </a:buClr>
        <a:buSzPct val="66500"/>
        <a:buFont typeface="Noto Sans CJK JP"/>
        <a:buChar char="○"/>
        <a:defRPr sz="2000" lang="ja-JP">
          <a:solidFill>
            <a:srgbClr val="303437"/>
          </a:solidFill>
          <a:latin typeface="Noto Sans"/>
          <a:ea typeface="Noto Sans CJK JP"/>
          <a:cs typeface="Noto Sans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chemeClr val="dk1"/>
        </a:buClr>
        <a:buFont typeface="Noto Sans CJK JP"/>
        <a:defRPr sz="1400" b="0" i="0" u="none" strike="noStrike" cap="none" lang="ja-JP">
          <a:solidFill>
            <a:schemeClr val="dk1"/>
          </a:solidFill>
          <a:latin typeface="Noto Sans"/>
          <a:ea typeface="Noto Sans CJK JP"/>
          <a:cs typeface="Noto Sans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.png"/><Relationship Id="rId3" Type="http://schemas.openxmlformats.org/officeDocument/2006/relationships/hyperlink" Target="https://github.com/hendrycks/test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009.03300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cais/mmlu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cais/mmlu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cais/mmlu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cais/mmlu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009.03300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009.03300" TargetMode="Externa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009.03300" TargetMode="External"/><Relationship Id="rId3" Type="http://schemas.openxmlformats.org/officeDocument/2006/relationships/hyperlink" Target="https://huggingface.co/datasets/cais/mmlu" TargetMode="Externa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chart" Target="../charts/chart1.xml"/><Relationship Id="rId3" Type="http://schemas.openxmlformats.org/officeDocument/2006/relationships/hyperlink" Target="https://huggingface.co/datasets/cais/mmlu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009.03300" TargetMode="Externa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009.03300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storage.googleapis.com/crfm-helm-public/classic/benchmark_output/releases/v0.4.0/run_specs.json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crfm.stanford.edu/helm/classic/v0.4.0/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EleutherAI/lm-evaluation-harness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github.com/hendrycks/test" TargetMode="Externa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009.03300" TargetMode="Externa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cais/mmlu" TargetMode="Externa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huggingface.co/datasets/cais/mmlu" TargetMode="Externa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cais/mmlu" TargetMode="Externa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cais/mmlu" TargetMode="Externa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cais/mmlu" TargetMode="Externa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cais/mmlu" TargetMode="Externa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cais/mmlu" TargetMode="Externa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cais/mmlu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cais/mmlu" TargetMode="Externa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cais/mmlu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cais/mmlu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cais/mmlu" TargetMode="Externa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cais/mmlu" TargetMode="Externa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cais/mmlu" TargetMode="Externa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cais/mmlu" TargetMode="Externa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cais/mmlu" TargetMode="Externa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cais/mmlu" TargetMode="Externa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cais/mmlu" TargetMode="Externa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cais/mmlu" TargetMode="Externa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cais/mmlu" TargetMode="Externa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cais/mmlu" TargetMode="Externa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hyperlink" Target="https://arxiv.org/abs/2009.03300" TargetMode="Externa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009.03300" TargetMode="Externa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arxiv.org/abs/2211.09110" TargetMode="Externa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hyperlink" Target="https://huggingface.co/datasets/cais/mmlu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8640" y="1637627"/>
            <a:ext cx="8046720" cy="902970"/>
          </a:xfrm>
        </p:spPr>
        <p:txBody>
          <a:bodyPr wrap="square" lIns="0" rIns="0" tIns="0" bIns="0">
            <a:noAutofit/>
          </a:bodyPr>
          <a:lstStyle/>
          <a:p>
            <a:pPr algn="ctr">
              <a:lnSpc>
                <a:spcPct val="110000"/>
              </a:lnSpc>
              <a:buNone/>
              <a:defRPr sz="5400" b="0">
                <a:solidFill>
                  <a:srgbClr val="303437"/>
                </a:solidFill>
                <a:latin typeface="Noto Sans"/>
              </a:defRPr>
            </a:pPr>
            <a:r>
              <a:rPr sz="54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MMLU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48640" y="2647277"/>
            <a:ext cx="8046720" cy="989965"/>
          </a:xfrm>
        </p:spPr>
        <p:txBody>
          <a:bodyPr lIns="0" rIns="0" tIns="0" bIns="0">
            <a:noAutofit/>
          </a:bodyPr>
          <a:lstStyle/>
          <a:p>
            <a:pPr algn="ctr">
              <a:lnSpc>
                <a:spcPct val="125000"/>
              </a:lnSpc>
              <a:spcAft>
                <a:spcPts val="1200"/>
              </a:spcAft>
              <a:buNone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Massive Multitask Language Understanding</a:t>
            </a:r>
          </a:p>
          <a:p>
            <a:pPr algn="ctr">
              <a:lnSpc>
                <a:spcPct val="125000"/>
              </a:lnSpc>
              <a:spcAft>
                <a:spcPts val="0"/>
              </a:spcAft>
              <a:buNone/>
              <a:defRPr sz="2500" b="0">
                <a:solidFill>
                  <a:srgbClr val="303437"/>
                </a:solidFill>
                <a:latin typeface="Noto Sans"/>
              </a:defRPr>
            </a:pPr>
            <a:r>
              <a:rPr sz="25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57分野の知識と問題解決を測る四択問題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/>
          </p:nvPr>
        </p:nvSpPr>
        <p:spPr>
          <a:xfrm>
            <a:off x="5486400" y="4416552"/>
            <a:ext cx="3108960" cy="402336"/>
          </a:xfrm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10000"/>
              </a:lnSpc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sasakiy84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2"/>
          </p:nvPr>
        </p:nvSpPr>
        <p:spPr>
          <a:xfrm>
            <a:off x="457200" y="274320"/>
            <a:ext cx="8229600" cy="274320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1000" b="0">
                <a:solidFill>
                  <a:srgbClr val="303437"/>
                </a:solidFill>
                <a:latin typeface="Noto Sans"/>
              </a:defRPr>
            </a:pPr>
            <a:r>
              <a:rPr sz="10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datasets in 10 minutes (2026-10-18)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MMLUの公開ページ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課題と実際のデータ</a:t>
            </a:r>
          </a:p>
        </p:txBody>
      </p:sp>
      <p:pic>
        <p:nvPicPr>
          <p:cNvPr id="4" name="Picture 3" descr="official-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6467" y="1481328"/>
            <a:ext cx="4411065" cy="3063240"/>
          </a:xfrm>
          <a:prstGeom prst="rect">
            <a:avLst/>
          </a:prstGeom>
        </p:spPr>
      </p:pic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MMLU 公式公開ページ。2026-10-18参照。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https://github.com/hendrycks/test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663901"/>
            <a:ext cx="7863840" cy="2362199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課題と実際のデータ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作成方法とデータの構成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採点方法とモデルの成績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4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利用の変化と入手方法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目次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課題と実際のデータ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課題と実際のデータ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57科目を、同じ四択形式で評価する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初等数学から法律、医学、歴史まで、幅広い分野の問題を集めた英語の評価集合である。科目ごとの知識と問題解決を調べる。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既存のMMMLUは多言語化した別の配布物であり、ここでは元になる英語のMMLUを扱う。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課題と実際のデータ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Dan Hendrycks et al. (2021). Measuring Massive Multitask Language Understanding. ICLR 2021.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https://arxiv.org/abs/2009.03300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入力・出力と配布フィールド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課題と実際のデータ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682496"/>
        </p:xfrm>
        <a:graphic>
          <a:graphicData uri="http://schemas.openxmlformats.org/drawingml/2006/table">
            <a:tbl>
              <a:tblPr firstRow="0" bandRow="0"/>
              <a:tblGrid>
                <a:gridCol w="2834640"/>
                <a:gridCol w="5212080"/>
              </a:tblGrid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フィールド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意味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question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設問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choices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四つの選択肢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answer / subject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85"/>
                        </a:lnSpc>
                        <a:buNone/>
                        <a:defRPr sz="19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9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0〜3の正解位置と科目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cais/mmlu、改訂c30699e8。2026-10-18参照。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https://huggingface.co/datasets/cais/mmlu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実例1：抽象代数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課題と実際のデータ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271016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1" lang="ja-JP" altLang="en-US">
                <a:solidFill>
                  <a:srgbClr val="2C9100"/>
                </a:solidFill>
                <a:latin typeface="Noto Sans"/>
                <a:ea typeface="Noto Sans CJK JP"/>
                <a:cs typeface="Noto Sans"/>
              </a:rPr>
              <a:t>正解：C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関連する入力・回答／左：原文　右：日本語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55064"/>
            <a:ext cx="3858768" cy="193154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Question: The element (4, 2) of Z_12 x Z_8 has order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4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8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C. 12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D. 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90872" y="1673352"/>
            <a:ext cx="3858768" cy="17324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質問：Z_12 × Z_8の元(4, 2)の位数はいくつか。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A：選択肢：4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B：選択肢：8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C：選択肢：12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D：選択肢：6</a:t>
            </a:r>
          </a:p>
        </p:txBody>
      </p:sp>
      <p:sp>
        <p:nvSpPr>
          <p:cNvPr id="8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cais/mmlu、改訂c30699e8。2026-10-18参照。 abstract_algebra / test行98。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https://huggingface.co/datasets/cais/mmlu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実例2：情報セキュリティ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課題と実際のデータ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271016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1" lang="ja-JP" altLang="en-US">
                <a:solidFill>
                  <a:srgbClr val="2C9100"/>
                </a:solidFill>
                <a:latin typeface="Noto Sans"/>
                <a:ea typeface="Noto Sans CJK JP"/>
                <a:cs typeface="Noto Sans"/>
              </a:rPr>
              <a:t>正解：B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関連する入力・回答／左：原文　右：日本語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55064"/>
            <a:ext cx="3858768" cy="193154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Question: In MD-5 the length of the message digest is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160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128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C. 64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D. 54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90872" y="1673352"/>
            <a:ext cx="3858768" cy="17324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質問：MD-5のメッセージダイジェストの長さはいくつか。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A：選択肢：160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B：選択肢：128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C：選択肢：64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D：選択肢：54</a:t>
            </a:r>
          </a:p>
        </p:txBody>
      </p:sp>
      <p:sp>
        <p:nvSpPr>
          <p:cNvPr id="8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cais/mmlu、改訂c30699e8。2026-10-18参照。 computer_security / test行1487。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https://huggingface.co/datasets/cais/mmlu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実例3：天文学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1. 課題と実際のデータ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271016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1" lang="ja-JP" altLang="en-US">
                <a:solidFill>
                  <a:srgbClr val="2C9100"/>
                </a:solidFill>
                <a:latin typeface="Noto Sans"/>
                <a:ea typeface="Noto Sans CJK JP"/>
                <a:cs typeface="Noto Sans"/>
              </a:rPr>
              <a:t>正解：C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関連する入力・回答／左：原文　右：日本語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55064"/>
            <a:ext cx="3858768" cy="22111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Question: A Mars year is approximately how many Earth years long?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1/2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1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C. 2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D.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90872" y="1673352"/>
            <a:ext cx="3858768" cy="17324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質問：火星の1年は、地球の何年分におよそ相当するか。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A：選択肢：1/2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B：選択肢：1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C：選択肢：2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D：選択肢：4</a:t>
            </a:r>
          </a:p>
        </p:txBody>
      </p:sp>
      <p:sp>
        <p:nvSpPr>
          <p:cNvPr id="8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cais/mmlu、改訂c30699e8。2026-10-18参照。 astronomy / test行314。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https://huggingface.co/datasets/cais/mmlu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作成方法とデータの構成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作成方法とデータの構成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作成の背景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言語モデルの評価が、日常的な常識や特定の文章理解に集中していた。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学習中に幅広い情報を読んだモデルが、専門的な問いへ知識を適用できるかを測るため、57科目を集めた。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作成方法とデータの構成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Dan Hendrycks et al. (2021). Measuring Massive Multitask Language Understanding. ICLR 2021.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https://arxiv.org/abs/2009.03300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収集と品質の確認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公開の教育資料、オンライン問題、書籍などから、さまざまな水準の多肢選択問題を人手で収集した。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各科目で5問を少数例提示用に確保し、開発集合とテスト集合を分けた。特定科目の微調整だけを目標にした大規模学習集合ではない。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作成方法とデータの構成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Dan Hendrycks et al. (2021). Measuring Massive Multitask Language Understanding. ICLR 2021.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https://arxiv.org/abs/2009.03300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分割と件数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作成方法とデータの構成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682496"/>
        </p:xfrm>
        <a:graphic>
          <a:graphicData uri="http://schemas.openxmlformats.org/drawingml/2006/table">
            <a:tbl>
              <a:tblPr firstRow="0" bandRow="0"/>
              <a:tblGrid>
                <a:gridCol w="2560320"/>
                <a:gridCol w="1645920"/>
                <a:gridCol w="3840480"/>
              </a:tblGrid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集合・対象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件数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役割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dev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285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各科目5問の提示例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validation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1,531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設定選択用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test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14,042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57科目の最終評価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187952"/>
            <a:ext cx="8183879" cy="8778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666666"/>
                </a:solidFill>
                <a:latin typeface="Noto Sans"/>
                <a:ea typeface="Noto Sans CJK JP"/>
              </a:rPr>
              <a:t>[1] cais/mmlu、改訂c30699e8。2026-10-18参照。</a:t>
            </a:r>
          </a:p>
          <a:p>
            <a:pPr>
              <a:lnSpc>
                <a:spcPts val="1200"/>
              </a:lnSpc>
              <a:spcBef>
                <a:spcPts val="0"/>
              </a:spcBef>
              <a:spcAft>
                <a:spcPts val="0"/>
              </a:spcAft>
            </a:pPr>
            <a:r>
              <a:rPr sz="810">
                <a:solidFill>
                  <a:srgbClr val="666666"/>
                </a:solidFill>
                <a:latin typeface="Noto Sans"/>
                <a:ea typeface="Noto Sans CJK JP"/>
                <a:hlinkClick r:id="rId3"/>
              </a:rPr>
              <a:t>https://huggingface.co/datasets/cais/mmlu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問題数が多い6科目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2. 作成方法とデータの構成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48640" y="1481328"/>
          <a:ext cx="8046720" cy="2468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4096512"/>
            <a:ext cx="7955279" cy="42062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216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固定改訂のtest全14,042問、57科目から上位6。横軸は問題数。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MMLU、all/test全14,042件を集計。2026-10-18取得。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3"/>
              </a:rPr>
              <a:t>https://huggingface.co/datasets/cais/mmlu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採点方法とモデルの成績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採点方法とモデルの成績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何を1件として、どう採点するか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各問の候補A〜Dから一つを選び、正解なら1点とする。20問中15問正解なら、正解率は75%。</a:t>
            </a:r>
          </a:p>
          <a:p>
            <a:pPr marL="457200" indent="-355600">
              <a:lnSpc>
                <a:spcPts val="2558"/>
              </a:lnSpc>
              <a:spcAft>
                <a:spcPts val="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全問をまとめた平均と、科目ごとの正解率を同じ重みで平均する方法では、科目の重みが異なる。ここでは結果ごとの集約範囲を明記する。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採点方法とモデルの成績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Dan Hendrycks et al. (2021). Measuring Massive Multitask Language Understanding. ICLR 2021.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https://arxiv.org/abs/2009.03300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初期の代表的な評価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採点方法とモデルの成績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682496"/>
        </p:xfrm>
        <a:graphic>
          <a:graphicData uri="http://schemas.openxmlformats.org/drawingml/2006/table">
            <a:tbl>
              <a:tblPr firstRow="0" bandRow="0"/>
              <a:tblGrid>
                <a:gridCol w="5303520"/>
                <a:gridCol w="2743200"/>
              </a:tblGrid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2020年の報告／2021年発表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全体の正解率（%）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GPT-3 175B（few-shot）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43.9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UnifiedQA 11B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48.9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無作為選択の期待値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70"/>
                        </a:lnSpc>
                        <a:buNone/>
                        <a:defRPr sz="180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0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25.0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3392424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論文Table 1の重み付き平均。UnifiedQAは他のQA集合で学習したモデル。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Dan Hendrycks et al. (2021). Measuring Massive Multitask Language Understanding. ICLR 2021.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https://arxiv.org/abs/2009.03300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HELMでの評価条件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HELM Classicが実行したのは、抽象代数・大学化学・情報セキュリティ・計量経済学・米国外交の5科目。</a:t>
            </a:r>
          </a:p>
          <a:p>
            <a:pPr marL="457200" indent="-355600">
              <a:lnSpc>
                <a:spcPts val="2558"/>
              </a:lnSpc>
              <a:spcAft>
                <a:spcPts val="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表ではcomputer_securityのtest 100問を示す。最大5例提示、3試行、候補を並べて回答記号の尤度を比べるjoint方式。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採点方法とモデルの成績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Stanford CRFM. HELM Classic v0.4.0. 公開run_specs。2023-11-17のリリース。</a:t>
            </a:r>
          </a:p>
          <a:p>
            <a:pPr>
              <a:lnSpc>
                <a:spcPts val="940"/>
              </a:lnSpc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https://storage.googleapis.com/crfm-helm-public/classic/benchmark_output/releases/v0.4.0/run_specs.json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HELM Classic v0.4.0の結果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3. 採点方法とモデルの成績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261872"/>
        </p:xfrm>
        <a:graphic>
          <a:graphicData uri="http://schemas.openxmlformats.org/drawingml/2006/table">
            <a:tbl>
              <a:tblPr firstRow="0" bandRow="0"/>
              <a:tblGrid>
                <a:gridCol w="4206240"/>
                <a:gridCol w="1920240"/>
                <a:gridCol w="1920240"/>
              </a:tblGrid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モデル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正解率（%）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試行数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text-davinci-003（2022）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76.33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420624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Anthropic v4-s3（2022）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67.00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127"/>
                        </a:lnSpc>
                        <a:buNone/>
                        <a:defRPr sz="18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8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2971800"/>
            <a:ext cx="7955279" cy="6583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750" b="0">
                <a:solidFill>
                  <a:srgbClr val="303437"/>
                </a:solidFill>
                <a:latin typeface="Noto Sans"/>
              </a:defRPr>
            </a:pPr>
            <a:r>
              <a:rPr sz="17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computer_securityのtest 100問、最大5例提示。</a:t>
            </a:r>
          </a:p>
        </p:txBody>
      </p:sp>
      <p:sp>
        <p:nvSpPr>
          <p:cNvPr id="6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Liang et al. Holistic Evaluation of Language Models. TMLR 2023. Classic v0.4.0（2023-11-17）。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https://crfm.stanford.edu/helm/classic/v0.4.0/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利用の変化と入手方法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利用の変化と入手方法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専門知識を測る共通の指標になった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2020年の公開後、MMLUは大規模言語モデルの知識を測る代表的な評価に使われた。科目別の正解率から、得意分野と不得意分野を比べられる。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2026-10-18時点のEvaluation HarnessにはMMLUの評価定義があり、57科目と集約方法を指定して実行できる。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利用の変化と入手方法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EleutherAI. Language Model Evaluation Harness. 2026-10-18参照。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https://github.com/EleutherAI/lm-evaluation-harness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入手方法と利用条件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公式GitHubは問題データと科目一覧を案内している。ここではcais/mmluの固定改訂を取得した。</a:t>
            </a:r>
          </a:p>
          <a:p>
            <a:pPr marL="457200" indent="-355600">
              <a:lnSpc>
                <a:spcPts val="2558"/>
              </a:lnSpc>
              <a:spcAft>
                <a:spcPts val="70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データカードと元の問題資料の条件を確認して利用する。devは各科目5問で、テスト問題と同じ用途には使わない。</a:t>
            </a:r>
          </a:p>
          <a:p>
            <a:pPr marL="457200" indent="-355600">
              <a:lnSpc>
                <a:spcPts val="2558"/>
              </a:lnSpc>
              <a:spcAft>
                <a:spcPts val="0"/>
              </a:spcAft>
              <a:buSzPct val="61860"/>
              <a:buFont typeface="Noto Sans CJK JP"/>
              <a:buChar char="●"/>
              <a:defRPr sz="2150" b="0">
                <a:solidFill>
                  <a:srgbClr val="303437"/>
                </a:solidFill>
                <a:latin typeface="Noto Sans"/>
              </a:defRPr>
            </a:pPr>
            <a:r>
              <a:rPr sz="21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公式リポジトリのライセンスはMIT。収録問題の出典情報も公開されている。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利用の変化と入手方法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MMLU 公式公開ページ。2026-10-18参照。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https://github.com/hendrycks/test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MMLUの要点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英語の57科目、test 14,042問で、幅広い知識の適用を調べる。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モデルの値を読む際は、57科目全体か特定科目か、提示例の数と集約方法を確認する。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4. 利用の変化と入手方法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Dan Hendrycks et al. (2021). Measuring Massive Multitask Language Understanding. ICLR 2021.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https://arxiv.org/abs/2009.03300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454355"/>
            <a:ext cx="8046720" cy="64617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4000" b="0">
                <a:solidFill>
                  <a:srgbClr val="303437"/>
                </a:solidFill>
                <a:latin typeface="Noto Sans"/>
              </a:defRPr>
            </a:pPr>
            <a:r>
              <a:rPr sz="4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972511"/>
            <a:ext cx="7863840" cy="1744980"/>
          </a:xfrm>
        </p:spPr>
        <p:txBody>
          <a:bodyPr lIns="0" rIns="0" tIns="0" bIns="0">
            <a:noAutofit/>
          </a:bodyPr>
          <a:lstStyle/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1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題材の異なる追加例</a:t>
            </a:r>
          </a:p>
          <a:p>
            <a:pPr marL="457200" indent="-457200">
              <a:lnSpc>
                <a:spcPts val="3660"/>
              </a:lnSpc>
              <a:spcAft>
                <a:spcPts val="1200"/>
              </a:spcAft>
              <a:buSzPct val="100000"/>
              <a:buFont typeface="Noto Sans CJK JP"/>
              <a:buAutoNum type="arabicPeriod" startAt="2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集計と評価条件</a:t>
            </a:r>
          </a:p>
          <a:p>
            <a:pPr marL="457200" indent="-457200">
              <a:lnSpc>
                <a:spcPts val="3660"/>
              </a:lnSpc>
              <a:spcAft>
                <a:spcPts val="0"/>
              </a:spcAft>
              <a:buSzPct val="100000"/>
              <a:buFont typeface="Noto Sans CJK JP"/>
              <a:buAutoNum type="arabicPeriod" startAt="3"/>
              <a:defRPr sz="3000" b="1">
                <a:solidFill>
                  <a:srgbClr val="303437"/>
                </a:solidFill>
                <a:latin typeface="Noto Sans"/>
              </a:defRPr>
            </a:pPr>
            <a:r>
              <a:rPr sz="3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研究と参考文献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目次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題材の異なる追加例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追加例1：高校生物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271016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1" lang="ja-JP" altLang="en-US">
                <a:solidFill>
                  <a:srgbClr val="2C9100"/>
                </a:solidFill>
                <a:latin typeface="Noto Sans"/>
                <a:ea typeface="Noto Sans CJK JP"/>
                <a:cs typeface="Noto Sans"/>
              </a:rPr>
              <a:t>正解：D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関連する入力・回答／左：原文　右：日本語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55064"/>
            <a:ext cx="3858768" cy="22111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Question: Which of the following is an example of a detritivore?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Cactus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Algae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C. Bat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D. Fungus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90872" y="1673352"/>
            <a:ext cx="3858768" cy="17324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質問：次のうち、デトリタス食者の例はどれか。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A：選択肢：サボテン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B：選択肢：藻類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C：選択肢：コウモリ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D：選択肢：菌類</a:t>
            </a:r>
          </a:p>
        </p:txBody>
      </p:sp>
      <p:sp>
        <p:nvSpPr>
          <p:cNvPr id="8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cais/mmlu、改訂c30699e8。2026-10-18参照。 high_school_biology / test行2954。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https://huggingface.co/datasets/cais/mmlu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実例の補足：高校生物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499"/>
              </a:lnSpc>
              <a:spcAft>
                <a:spcPts val="0"/>
              </a:spcAft>
              <a:buSzPct val="63333"/>
              <a:buFont typeface="Noto Sans CJK JP"/>
              <a:buChar char="●"/>
              <a:defRPr sz="2100" b="0">
                <a:solidFill>
                  <a:srgbClr val="303437"/>
                </a:solidFill>
                <a:latin typeface="Noto Sans"/>
              </a:defRPr>
            </a:pPr>
            <a:r>
              <a:rPr sz="21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配布正解はD（Fungus）。菌類は通常「分解者」と呼び、デトリタスを摂食する動物と区別する。この設問では用語の範囲が広い。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cais/mmlu、改訂c30699e8。2026-10-18参照。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https://huggingface.co/datasets/cais/mmlu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追加例2：計量経済学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271016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1" lang="ja-JP" altLang="en-US">
                <a:solidFill>
                  <a:srgbClr val="2C9100"/>
                </a:solidFill>
                <a:latin typeface="Noto Sans"/>
                <a:ea typeface="Noto Sans CJK JP"/>
                <a:cs typeface="Noto Sans"/>
              </a:rPr>
              <a:t>正解：D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関連する入力・回答／左：原文　右：日本語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55064"/>
            <a:ext cx="3858768" cy="22111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Question: What are the dimensions of $\hat{u}^t \hat{u}?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T x k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T x 1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C. k x 1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D. 1 x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90872" y="1673352"/>
            <a:ext cx="3858768" cy="14528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質問：ûᵀûの次元はいくつか。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A：選択肢：T × k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B：選択肢：T × 1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C：選択肢：k × 1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D：選択肢：1 × 1</a:t>
            </a:r>
          </a:p>
        </p:txBody>
      </p:sp>
      <p:sp>
        <p:nvSpPr>
          <p:cNvPr id="8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cais/mmlu、改訂c30699e8。2026-10-18参照。 econometrics / test行1824。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https://huggingface.co/datasets/cais/mmlu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追加例3：形式論理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271016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1" lang="ja-JP" altLang="en-US">
                <a:solidFill>
                  <a:srgbClr val="2C9100"/>
                </a:solidFill>
                <a:latin typeface="Noto Sans"/>
                <a:ea typeface="Noto Sans CJK JP"/>
                <a:cs typeface="Noto Sans"/>
              </a:rPr>
              <a:t>正解：B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関連する入力・回答／左：原文　右：日本語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55064"/>
            <a:ext cx="3858768" cy="221113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Question: Select the best translation into predicate logic: Johnny came late.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jL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Lj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C. Cj ∨ Lj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D. Lx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90872" y="1673352"/>
            <a:ext cx="3858768" cy="201199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質問：「ジョニーは遅れて来た」を述語論理に訳したものとして最も適切なのはどれか。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A：選択肢：jL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B：選択肢：Lj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C：選択肢：Cj ∨ Lj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D：選択肢：Lx</a:t>
            </a:r>
          </a:p>
        </p:txBody>
      </p:sp>
      <p:sp>
        <p:nvSpPr>
          <p:cNvPr id="8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cais/mmlu、改訂c30699e8。2026-10-18参照。 formal_logic / test行2554。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https://huggingface.co/datasets/cais/mmlu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追加例4：世界の宗教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271016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1" lang="ja-JP" altLang="en-US">
                <a:solidFill>
                  <a:srgbClr val="2C9100"/>
                </a:solidFill>
                <a:latin typeface="Noto Sans"/>
                <a:ea typeface="Noto Sans CJK JP"/>
                <a:cs typeface="Noto Sans"/>
              </a:rPr>
              <a:t>正解：C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関連する入力・回答／左：原文　右：日本語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55064"/>
            <a:ext cx="3858768" cy="193154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Question:  How many books are in the New Testament?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30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29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C. 27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D. 47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90872" y="1673352"/>
            <a:ext cx="3858768" cy="17324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質問：新約聖書には何巻の書があるか。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A：選択肢：30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B：選択肢：29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C：選択肢：27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D：選択肢：47</a:t>
            </a:r>
          </a:p>
        </p:txBody>
      </p:sp>
      <p:sp>
        <p:nvSpPr>
          <p:cNvPr id="8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cais/mmlu、改訂c30699e8。2026-10-18参照。 world_religions / test行13941。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https://huggingface.co/datasets/cais/mmlu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追加例5：高校地理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271016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1" lang="ja-JP" altLang="en-US">
                <a:solidFill>
                  <a:srgbClr val="2C9100"/>
                </a:solidFill>
                <a:latin typeface="Noto Sans"/>
                <a:ea typeface="Noto Sans CJK JP"/>
                <a:cs typeface="Noto Sans"/>
              </a:rPr>
              <a:t>正解：B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関連する入力・回答／左：原文　右：日本語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55064"/>
            <a:ext cx="3858768" cy="193154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Question: The global lingua franca is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Chinese.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English.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C. French.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D. Arabic.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90872" y="1673352"/>
            <a:ext cx="3858768" cy="14528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質問：世界的な共通語はどれか。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A：選択肢：中国語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B：選択肢：英語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C：選択肢：フランス語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D：選択肢：アラビア語</a:t>
            </a:r>
          </a:p>
        </p:txBody>
      </p:sp>
      <p:sp>
        <p:nvSpPr>
          <p:cNvPr id="8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cais/mmlu、改訂c30699e8。2026-10-18参照。 high_school_geography / test行3638。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https://huggingface.co/datasets/cais/mmlu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追加例6：栄養学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271016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1" lang="ja-JP" altLang="en-US">
                <a:solidFill>
                  <a:srgbClr val="2C9100"/>
                </a:solidFill>
                <a:latin typeface="Noto Sans"/>
                <a:ea typeface="Noto Sans CJK JP"/>
                <a:cs typeface="Noto Sans"/>
              </a:rPr>
              <a:t>正解：D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関連する入力・回答／左：原文　右：日本語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55064"/>
            <a:ext cx="3858768" cy="193154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Question: What are histones?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/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Lipids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Carbohydrates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C. Nucleotides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D. Proteins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90872" y="1673352"/>
            <a:ext cx="3858768" cy="145281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質問：ヒストンとは何か。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A：選択肢：脂質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B：選択肢：炭水化物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C：選択肢：ヌクレオチド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D：選択肢：タンパク質</a:t>
            </a:r>
          </a:p>
        </p:txBody>
      </p:sp>
      <p:sp>
        <p:nvSpPr>
          <p:cNvPr id="8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cais/mmlu、改訂c30699e8。2026-10-18参照。 nutrition / test行9563。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https://huggingface.co/datasets/cais/mmlu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追加例7：経営管理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271016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1" lang="ja-JP" altLang="en-US">
                <a:solidFill>
                  <a:srgbClr val="2C9100"/>
                </a:solidFill>
                <a:latin typeface="Noto Sans"/>
                <a:ea typeface="Noto Sans CJK JP"/>
                <a:cs typeface="Noto Sans"/>
              </a:rPr>
              <a:t>正解：D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関連する入力・回答／左：原文　右：日本語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55064"/>
            <a:ext cx="3858768" cy="193154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Question: What is the optimal span of control?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2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5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C. 7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D. None of the above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90872" y="1673352"/>
            <a:ext cx="3858768" cy="201199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質問：最適な管理範囲、すなわち1人の管理者が直接管理する部下の人数はどれか。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A：選択肢：2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B：選択肢：5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C：選択肢：7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D：選択肢：上のいずれでもない</a:t>
            </a:r>
          </a:p>
        </p:txBody>
      </p:sp>
      <p:sp>
        <p:nvSpPr>
          <p:cNvPr id="8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cais/mmlu、改訂c30699e8。2026-10-18参照。 management / test行7006。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https://huggingface.co/datasets/cais/mmlu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追加例8：マーケティング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271016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1" lang="ja-JP" altLang="en-US">
                <a:solidFill>
                  <a:srgbClr val="2C9100"/>
                </a:solidFill>
                <a:latin typeface="Noto Sans"/>
                <a:ea typeface="Noto Sans CJK JP"/>
                <a:cs typeface="Noto Sans"/>
              </a:rPr>
              <a:t>正解：B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関連する入力・回答／左：原文　右：日本語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55064"/>
            <a:ext cx="3858768" cy="193154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Question:  McDonald's and KFC are good examples of: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Distributors.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Franchising.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C. Merchant.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D. Retailers.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90872" y="1673352"/>
            <a:ext cx="3858768" cy="17324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質問：マクドナルドとKFCは、何の好例か。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A：選択肢：流通業者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B：選択肢：フランチャイズ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C：選択肢：商人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D：選択肢：小売業者</a:t>
            </a:r>
          </a:p>
        </p:txBody>
      </p:sp>
      <p:sp>
        <p:nvSpPr>
          <p:cNvPr id="8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cais/mmlu、改訂c30699e8。2026-10-18参照。 marketing / test行7174。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https://huggingface.co/datasets/cais/mmlu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追加例9：解剖学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271016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1" lang="ja-JP" altLang="en-US">
                <a:solidFill>
                  <a:srgbClr val="2C9100"/>
                </a:solidFill>
                <a:latin typeface="Noto Sans"/>
                <a:ea typeface="Noto Sans CJK JP"/>
                <a:cs typeface="Noto Sans"/>
              </a:rPr>
              <a:t>正解：B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関連する入力・回答／左：原文　右：日本語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55064"/>
            <a:ext cx="3858768" cy="193154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Question: The anatomic location of the spinal canal is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caudal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dorsal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C. frontal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D. transverse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90872" y="1673352"/>
            <a:ext cx="3858768" cy="17324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質問：脊柱管は、解剖学的にどの側に位置するか。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A：選択肢：尾側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B：選択肢：背側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C：選択肢：前側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D：選択肢：横断方向</a:t>
            </a:r>
          </a:p>
        </p:txBody>
      </p:sp>
      <p:sp>
        <p:nvSpPr>
          <p:cNvPr id="8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cais/mmlu、改訂c30699e8。2026-10-18参照。 anatomy / test行153。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https://huggingface.co/datasets/cais/mmlu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追加例10：マクロ経済学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1. 題材の異なる追加例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271016"/>
            <a:ext cx="196596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50" b="0">
                <a:solidFill>
                  <a:srgbClr val="303437"/>
                </a:solidFill>
                <a:latin typeface="Noto Sans"/>
              </a:defRPr>
            </a:pPr>
            <a:r>
              <a:rPr sz="1250" b="1" lang="ja-JP" altLang="en-US">
                <a:solidFill>
                  <a:srgbClr val="2C9100"/>
                </a:solidFill>
                <a:latin typeface="Noto Sans"/>
                <a:ea typeface="Noto Sans CJK JP"/>
                <a:cs typeface="Noto Sans"/>
              </a:rPr>
              <a:t>正解：C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99032"/>
            <a:ext cx="8046720" cy="20116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7000"/>
              </a:lnSpc>
              <a:spcBef>
                <a:spcPts val="0"/>
              </a:spcBef>
              <a:spcAft>
                <a:spcPts val="0"/>
              </a:spcAft>
              <a:buNone/>
              <a:defRPr sz="1200" b="0">
                <a:solidFill>
                  <a:srgbClr val="303437"/>
                </a:solidFill>
                <a:latin typeface="Noto Sans"/>
              </a:defRPr>
            </a:pPr>
            <a:r>
              <a:rPr sz="120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関連する入力・回答／左：原文　右：日本語</a:t>
            </a:r>
          </a:p>
        </p:txBody>
      </p:sp>
      <p:sp>
        <p:nvSpPr>
          <p:cNvPr id="6" name="quote-frame"/>
          <p:cNvSpPr/>
          <p:nvPr/>
        </p:nvSpPr>
        <p:spPr>
          <a:xfrm>
            <a:off x="548640" y="1655064"/>
            <a:ext cx="3858768" cy="1931543"/>
          </a:xfrm>
          <a:prstGeom prst="rect">
            <a:avLst/>
          </a:prstGeom>
          <a:solidFill>
            <a:srgbClr val="EBED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77800" rIns="177800" tIns="101600" bIns="127000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Question: The government measures inflation using the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A. GNP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B. URL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C. CPI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D. FED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90872" y="1673352"/>
            <a:ext cx="3858768" cy="1732407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質問：政府は、何を使って物価上昇を測定するか。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A：選択肢：GNP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B：選択肢：URL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C：選択肢：CPI</a:t>
            </a:r>
          </a:p>
          <a:p>
            <a:pPr algn="l">
              <a:lnSpc>
                <a:spcPts val="2201"/>
              </a:lnSpc>
              <a:spcBef>
                <a:spcPts val="0"/>
              </a:spcBef>
              <a:spcAft>
                <a:spcPts val="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D：選択肢：FED</a:t>
            </a:r>
          </a:p>
        </p:txBody>
      </p:sp>
      <p:sp>
        <p:nvSpPr>
          <p:cNvPr id="8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cais/mmlu、改訂c30699e8。2026-10-18参照。 high_school_macroeconomics / test行3899。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https://huggingface.co/datasets/cais/mmlu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集計と評価条件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集計と評価条件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testの全57科目（1/10）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集計と評価条件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589209"/>
        </p:xfrm>
        <a:graphic>
          <a:graphicData uri="http://schemas.openxmlformats.org/drawingml/2006/table">
            <a:tbl>
              <a:tblPr firstRow="0" bandRow="0"/>
              <a:tblGrid>
                <a:gridCol w="6583680"/>
                <a:gridCol w="1463040"/>
              </a:tblGrid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科目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問題数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abstract algebra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anatomy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135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astronomy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152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business ethics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clinical knowledge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265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college biology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144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MMLU、all/test全14,042件を集計。2026-10-18取得。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https://huggingface.co/datasets/cais/mmlu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testの全57科目（2/10）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集計と評価条件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589209"/>
        </p:xfrm>
        <a:graphic>
          <a:graphicData uri="http://schemas.openxmlformats.org/drawingml/2006/table">
            <a:tbl>
              <a:tblPr firstRow="0" bandRow="0"/>
              <a:tblGrid>
                <a:gridCol w="6583680"/>
                <a:gridCol w="1463040"/>
              </a:tblGrid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科目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問題数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college chemistry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college computer science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college mathematics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college medicine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173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college physics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computer security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MMLU、all/test全14,042件を集計。2026-10-18取得。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https://huggingface.co/datasets/cais/mmlu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testの全57科目（3/10）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集計と評価条件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589209"/>
        </p:xfrm>
        <a:graphic>
          <a:graphicData uri="http://schemas.openxmlformats.org/drawingml/2006/table">
            <a:tbl>
              <a:tblPr firstRow="0" bandRow="0"/>
              <a:tblGrid>
                <a:gridCol w="6583680"/>
                <a:gridCol w="1463040"/>
              </a:tblGrid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科目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問題数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conceptual physics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235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econometrics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114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electrical engineering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145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elementary mathematics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378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formal logic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126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global facts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MMLU、all/test全14,042件を集計。2026-10-18取得。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https://huggingface.co/datasets/cais/mmlu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testの全57科目（4/10）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集計と評価条件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589209"/>
        </p:xfrm>
        <a:graphic>
          <a:graphicData uri="http://schemas.openxmlformats.org/drawingml/2006/table">
            <a:tbl>
              <a:tblPr firstRow="0" bandRow="0"/>
              <a:tblGrid>
                <a:gridCol w="6583680"/>
                <a:gridCol w="1463040"/>
              </a:tblGrid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科目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問題数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high school biology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310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high school chemistry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high school computer science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high school european history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165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high school geography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198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high school government and politics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193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MMLU、all/test全14,042件を集計。2026-10-18取得。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https://huggingface.co/datasets/cais/mmlu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testの全57科目（5/10）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集計と評価条件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589209"/>
        </p:xfrm>
        <a:graphic>
          <a:graphicData uri="http://schemas.openxmlformats.org/drawingml/2006/table">
            <a:tbl>
              <a:tblPr firstRow="0" bandRow="0"/>
              <a:tblGrid>
                <a:gridCol w="6583680"/>
                <a:gridCol w="1463040"/>
              </a:tblGrid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科目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問題数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high school macroeconomics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390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high school mathematics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270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high school microeconomics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238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high school physics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151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high school psychology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545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high school statistics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216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MMLU、all/test全14,042件を集計。2026-10-18取得。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https://huggingface.co/datasets/cais/mmlu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testの全57科目（6/10）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集計と評価条件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589209"/>
        </p:xfrm>
        <a:graphic>
          <a:graphicData uri="http://schemas.openxmlformats.org/drawingml/2006/table">
            <a:tbl>
              <a:tblPr firstRow="0" bandRow="0"/>
              <a:tblGrid>
                <a:gridCol w="6583680"/>
                <a:gridCol w="1463040"/>
              </a:tblGrid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科目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問題数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high school us history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high school world history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237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human aging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223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human sexuality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131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international law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121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jurisprudence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108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MMLU、all/test全14,042件を集計。2026-10-18取得。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https://huggingface.co/datasets/cais/mmlu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testの全57科目（7/10）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集計と評価条件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589209"/>
        </p:xfrm>
        <a:graphic>
          <a:graphicData uri="http://schemas.openxmlformats.org/drawingml/2006/table">
            <a:tbl>
              <a:tblPr firstRow="0" bandRow="0"/>
              <a:tblGrid>
                <a:gridCol w="6583680"/>
                <a:gridCol w="1463040"/>
              </a:tblGrid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科目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問題数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logical fallacies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163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machine learning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112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management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marketing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234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medical genetics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miscellaneous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783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MMLU、all/test全14,042件を集計。2026-10-18取得。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https://huggingface.co/datasets/cais/mmlu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testの全57科目（8/10）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集計と評価条件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589209"/>
        </p:xfrm>
        <a:graphic>
          <a:graphicData uri="http://schemas.openxmlformats.org/drawingml/2006/table">
            <a:tbl>
              <a:tblPr firstRow="0" bandRow="0"/>
              <a:tblGrid>
                <a:gridCol w="6583680"/>
                <a:gridCol w="1463040"/>
              </a:tblGrid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科目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問題数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moral disputes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346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moral scenarios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895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nutrition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306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philosophy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311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prehistory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324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professional accounting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282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MMLU、all/test全14,042件を集計。2026-10-18取得。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https://huggingface.co/datasets/cais/mmlu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testの全57科目（9/10）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集計と評価条件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2589209"/>
        </p:xfrm>
        <a:graphic>
          <a:graphicData uri="http://schemas.openxmlformats.org/drawingml/2006/table">
            <a:tbl>
              <a:tblPr firstRow="0" bandRow="0"/>
              <a:tblGrid>
                <a:gridCol w="6583680"/>
                <a:gridCol w="1463040"/>
              </a:tblGrid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科目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問題数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professional law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1534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professional medicine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272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professional psychology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612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public relations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110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security studies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245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sociology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201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MMLU、all/test全14,042件を集計。2026-10-18取得。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https://huggingface.co/datasets/cais/mmlu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testの全57科目（10/10）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2. 集計と評価条件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508760"/>
          <a:ext cx="8046720" cy="1479548"/>
        </p:xfrm>
        <a:graphic>
          <a:graphicData uri="http://schemas.openxmlformats.org/drawingml/2006/table">
            <a:tbl>
              <a:tblPr firstRow="0" bandRow="0"/>
              <a:tblGrid>
                <a:gridCol w="6583680"/>
                <a:gridCol w="1463040"/>
              </a:tblGrid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科目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問題数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15240">
                      <a:solidFill>
                        <a:srgbClr val="626669"/>
                      </a:solidFill>
                      <a:prstDash val="solid"/>
                    </a:lnT>
                    <a:lnB w="762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us foreign policy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100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solidFill>
                        <a:srgbClr val="626669"/>
                      </a:solidFill>
                      <a:prstDash val="solid"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virology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166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7620">
                      <a:noFill/>
                    </a:lnB>
                    <a:solidFill>
                      <a:srgbClr val="FFFEF8"/>
                    </a:solidFill>
                  </a:tcPr>
                </a:tc>
              </a:tr>
              <a:tr h="369887">
                <a:tc>
                  <a:txBody>
                    <a:bodyPr wrap="square">
                      <a:noAutofit/>
                    </a:bodyPr>
                    <a:lstStyle/>
                    <a:p>
                      <a:pPr algn="l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world religions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  <a:tc>
                  <a:txBody>
                    <a:bodyPr wrap="square">
                      <a:noAutofit/>
                    </a:bodyPr>
                    <a:lstStyle/>
                    <a:p>
                      <a:pPr algn="r">
                        <a:lnSpc>
                          <a:spcPts val="2012"/>
                        </a:lnSpc>
                        <a:buNone/>
                        <a:defRPr sz="1750" b="0">
                          <a:solidFill>
                            <a:srgbClr val="303437"/>
                          </a:solidFill>
                          <a:latin typeface="Noto Sans"/>
                        </a:defRPr>
                      </a:pPr>
                      <a:r>
                        <a:rPr sz="1750" b="0" lang="ja-JP" altLang="en-US">
                          <a:solidFill>
                            <a:srgbClr val="303437"/>
                          </a:solidFill>
                          <a:latin typeface="Noto Sans"/>
                          <a:ea typeface="Noto Sans CJK JP"/>
                          <a:cs typeface="Noto Sans"/>
                        </a:rPr>
                        <a:t>171</a:t>
                      </a:r>
                    </a:p>
                  </a:txBody>
                  <a:tcPr marL="63500" marR="63500" marT="38100" marB="38100" anchor="ctr">
                    <a:lnL w="7620">
                      <a:noFill/>
                    </a:lnL>
                    <a:lnR w="7620">
                      <a:noFill/>
                    </a:lnR>
                    <a:lnT w="7620">
                      <a:noFill/>
                    </a:lnT>
                    <a:lnB w="15240">
                      <a:solidFill>
                        <a:srgbClr val="626669"/>
                      </a:solidFill>
                      <a:prstDash val="solid"/>
                    </a:lnB>
                    <a:solidFill>
                      <a:srgbClr val="FFFEF8"/>
                    </a:solidFill>
                  </a:tcPr>
                </a:tc>
              </a:tr>
            </a:tbl>
          </a:graphicData>
        </a:graphic>
      </p:graphicFrame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MMLU、all/test全14,042件を集計。2026-10-18取得。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https://huggingface.co/datasets/cais/mmlu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2506875"/>
            <a:ext cx="8046720" cy="585216"/>
          </a:xfrm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10000"/>
              </a:lnSpc>
              <a:buNone/>
              <a:defRPr sz="3600" b="0">
                <a:solidFill>
                  <a:srgbClr val="303437"/>
                </a:solidFill>
                <a:latin typeface="Noto Sans"/>
              </a:defRPr>
            </a:pPr>
            <a:r>
              <a:rPr sz="36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研究と参考文献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研究者と発表の位置付け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94360" y="1463040"/>
            <a:ext cx="7955279" cy="3044952"/>
          </a:xfrm>
        </p:spPr>
        <p:txBody>
          <a:bodyPr wrap="square" tIns="91440" bIns="91440">
            <a:noAutofit/>
          </a:bodyPr>
          <a:lstStyle/>
          <a:p>
            <a:pPr marL="457200" indent="-355600">
              <a:lnSpc>
                <a:spcPts val="2618"/>
              </a:lnSpc>
              <a:spcAft>
                <a:spcPts val="70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第一著者Dan Hendrycks、最終著者Jacob Steinhardtを含む7名の研究。ICLR 2021で発表した。</a:t>
            </a:r>
          </a:p>
          <a:p>
            <a:pPr marL="457200" indent="-355600">
              <a:lnSpc>
                <a:spcPts val="2618"/>
              </a:lnSpc>
              <a:spcAft>
                <a:spcPts val="0"/>
              </a:spcAft>
              <a:buSzPct val="60455"/>
              <a:buFont typeface="Noto Sans CJK JP"/>
              <a:buChar char="●"/>
              <a:defRPr sz="2200" b="0">
                <a:solidFill>
                  <a:srgbClr val="303437"/>
                </a:solidFill>
                <a:latin typeface="Noto Sans"/>
              </a:defRPr>
            </a:pPr>
            <a:r>
              <a:rPr sz="220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公開問題を科目横断で整理し、言語モデルの知識評価を広げた。初期の公開は2020年。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5" name="sources"/>
          <p:cNvSpPr txBox="1"/>
          <p:nvPr/>
        </p:nvSpPr>
        <p:spPr>
          <a:xfrm>
            <a:off x="502920" y="4700016"/>
            <a:ext cx="8183879" cy="530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ts val="940"/>
              </a:lnSpc>
              <a:spcBef>
                <a:spcPts val="0"/>
              </a:spcBef>
              <a:spcAft>
                <a:spcPts val="140"/>
              </a:spcAft>
              <a:buNone/>
              <a:defRPr sz="810" b="0">
                <a:solidFill>
                  <a:srgbClr val="303437"/>
                </a:solidFill>
                <a:latin typeface="Noto Sans"/>
              </a:defRPr>
            </a:pP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[1] Dan Hendrycks et al. (2021). Measuring Massive Multitask Language Understanding. ICLR 2021.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  </a:t>
            </a:r>
            <a:r>
              <a:rPr sz="81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https://arxiv.org/abs/2009.03300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4" name="文献 1: Measuring Massive Multitask Language Understanding"/>
          <p:cNvSpPr txBox="1"/>
          <p:nvPr/>
        </p:nvSpPr>
        <p:spPr>
          <a:xfrm>
            <a:off x="548640" y="1463040"/>
            <a:ext cx="8046720" cy="3200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Measuring Massive Multitask Language Understanding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350" b="0">
                <a:solidFill>
                  <a:srgbClr val="303437"/>
                </a:solidFill>
                <a:latin typeface="Noto Sans"/>
              </a:defRPr>
            </a:pPr>
            <a:r>
              <a:rPr sz="13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Dan Hendrycks, Collin Burns, Steven Basart, Andy Zou, Mantas Mazeika, Dawn Song, Jacob Steinhardt / ICLR 2021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MMLUの目的、作成方法、評価をまとめた研究。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https://arxiv.org/abs/2009.03300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4" name="文献 1: Holistic Evaluation of Language Models"/>
          <p:cNvSpPr txBox="1"/>
          <p:nvPr/>
        </p:nvSpPr>
        <p:spPr>
          <a:xfrm>
            <a:off x="548640" y="1463040"/>
            <a:ext cx="8046720" cy="3200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Holistic Evaluation of Language Models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350" b="0">
                <a:solidFill>
                  <a:srgbClr val="303437"/>
                </a:solidFill>
                <a:latin typeface="Noto Sans"/>
              </a:defRPr>
            </a:pPr>
            <a:r>
              <a:rPr sz="13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Percy Liang et al. / TMLR 2023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複数のシナリオと指標で、言語モデルを比較するHELMの研究。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https://arxiv.org/abs/2211.09110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8172" y="650138"/>
            <a:ext cx="8206740" cy="616305"/>
          </a:xfrm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0000"/>
              </a:lnSpc>
              <a:buNone/>
              <a:defRPr sz="2800" b="0">
                <a:solidFill>
                  <a:srgbClr val="303437"/>
                </a:solidFill>
                <a:latin typeface="Noto Sans"/>
              </a:defRPr>
            </a:pPr>
            <a:r>
              <a:rPr sz="28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参考文献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2"/>
          </p:nvPr>
        </p:nvSpPr>
        <p:spPr>
          <a:xfrm>
            <a:off x="75895" y="0"/>
            <a:ext cx="8115300" cy="480060"/>
          </a:xfrm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0000"/>
              </a:lnSpc>
              <a:buNone/>
              <a:defRPr sz="1400" b="0">
                <a:solidFill>
                  <a:srgbClr val="303437"/>
                </a:solidFill>
                <a:latin typeface="Noto Sans"/>
              </a:defRPr>
            </a:pPr>
            <a:r>
              <a:rPr sz="1400" b="1" lang="ja-JP" altLang="en-US">
                <a:solidFill>
                  <a:srgbClr val="FFFEF8"/>
                </a:solidFill>
                <a:latin typeface="Noto Sans"/>
                <a:ea typeface="Noto Sans CJK JP"/>
                <a:cs typeface="Noto Sans"/>
              </a:rPr>
              <a:t>Appendix: 3. 研究と参考文献</a:t>
            </a:r>
          </a:p>
        </p:txBody>
      </p:sp>
      <p:sp>
        <p:nvSpPr>
          <p:cNvPr id="4" name="文献 1: MMLU：公開データ"/>
          <p:cNvSpPr txBox="1"/>
          <p:nvPr/>
        </p:nvSpPr>
        <p:spPr>
          <a:xfrm>
            <a:off x="548640" y="1463040"/>
            <a:ext cx="8046720" cy="32004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2000" b="0">
                <a:solidFill>
                  <a:srgbClr val="303437"/>
                </a:solidFill>
                <a:latin typeface="Noto Sans"/>
              </a:defRPr>
            </a:pPr>
            <a:r>
              <a:rPr sz="2000" b="1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MMLU：公開データ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500"/>
              </a:spcAft>
              <a:buNone/>
              <a:defRPr sz="1350" b="0">
                <a:solidFill>
                  <a:srgbClr val="303437"/>
                </a:solidFill>
                <a:latin typeface="Noto Sans"/>
              </a:defRPr>
            </a:pPr>
            <a:r>
              <a:rPr sz="13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</a:rPr>
              <a:t>cais/mmlu / 改訂c30699e8 / 2026-10-18参照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400"/>
              </a:spcAft>
              <a:buNone/>
              <a:defRPr sz="1850" b="0">
                <a:solidFill>
                  <a:srgbClr val="303437"/>
                </a:solidFill>
                <a:latin typeface="Noto Sans"/>
              </a:defRPr>
            </a:pPr>
            <a:r>
              <a:rPr sz="1850" b="0" lang="ja-JP" altLang="en-US">
                <a:solidFill>
                  <a:srgbClr val="303437"/>
                </a:solidFill>
                <a:latin typeface="Noto Sans"/>
                <a:ea typeface="Noto Sans CJK JP"/>
                <a:cs typeface="Noto Sans"/>
              </a:rPr>
              <a:t>原文・正解の13例と、対象集合の全件集計に用いた公開資源。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  <a:defRPr sz="1150" b="0">
                <a:solidFill>
                  <a:srgbClr val="303437"/>
                </a:solidFill>
                <a:latin typeface="Noto Sans"/>
              </a:defRPr>
            </a:pPr>
            <a:r>
              <a:rPr sz="1150" b="0" lang="ja-JP" altLang="en-US">
                <a:solidFill>
                  <a:srgbClr val="626669"/>
                </a:solidFill>
                <a:latin typeface="Noto Sans"/>
                <a:ea typeface="Noto Sans CJK JP"/>
                <a:cs typeface="Noto Sans"/>
                <a:hlinkClick r:id="rId2"/>
              </a:rPr>
              <a:t>https://huggingface.co/datasets/cais/mmlu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IARTEM Research Palette">
      <a:dk1>
        <a:srgbClr val="303437"/>
      </a:dk1>
      <a:lt1>
        <a:srgbClr val="FFFEF8"/>
      </a:lt1>
      <a:dk2>
        <a:srgbClr val="626669"/>
      </a:dk2>
      <a:lt2>
        <a:srgbClr val="EBEDEB"/>
      </a:lt2>
      <a:accent1>
        <a:srgbClr val="B13731"/>
      </a:accent1>
      <a:accent2>
        <a:srgbClr val="2C9100"/>
      </a:accent2>
      <a:accent3>
        <a:srgbClr val="2166AC"/>
      </a:accent3>
      <a:accent4>
        <a:srgbClr val="B84A00"/>
      </a:accent4>
      <a:accent5>
        <a:srgbClr val="007C91"/>
      </a:accent5>
      <a:accent6>
        <a:srgbClr val="763DA0"/>
      </a:accent6>
      <a:hlink>
        <a:srgbClr val="3F6F8F"/>
      </a:hlink>
      <a:folHlink>
        <a:srgbClr val="7A5C8E"/>
      </a:folHlink>
    </a:clrScheme>
    <a:fontScheme name="Office">
      <a:maj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oto Sans"/>
        <a:ea typeface="Noto Sans CJK JP"/>
        <a:cs typeface="Noto Sans"/>
        <a:font script="Jpan" typeface="Noto Sans CJK JP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3EA7E97F-3A5A-9342-98CB-7411DADE8916}">
  <we:reference id="wa200010215" version="2.0.0.0" store="ja-JP" storeType="OMEX"/>
  <we:alternateReferences>
    <we:reference id="WA200010215" version="2.0.0.0" store="WA200010215" storeType="OMEX"/>
  </we:alternateReferences>
  <we:properties>
    <we:property name="bps.codex_control.document_id" value="&quot;f3f6bd8f-7a20-4dbe-a71e-f9942711a911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13685</TotalTime>
  <Words>14</Words>
  <Application>Microsoft Macintosh PowerPoint</Application>
  <PresentationFormat>画面に合わせる (16:9)</PresentationFormat>
  <Paragraphs>3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0" baseType="lpstr">
      <vt:lpstr>Arial</vt:lpstr>
      <vt:lpstr>Simple Light</vt:lpstr>
      <vt:lpstr>Developing and Applying a Systematic Classification Framework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Bottom-right caption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sasakiy84</cp:lastModifiedBy>
  <cp:revision>500</cp:revision>
  <dcterms:modified xsi:type="dcterms:W3CDTF">2026-10-18T00:19:46Z</dcterms:modified>
  <dc:title>mmlu</dc:title>
  <dc:creator>sasakiy84</dc:creator>
  <dcterms:created xsi:type="dcterms:W3CDTF">2026-10-18T00:19:46Z</dcterms:created>
  <dc:language>ja-JP</dc:language>
</cp:coreProperties>
</file>