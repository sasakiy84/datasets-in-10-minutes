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rfm.stanford.edu/helm/classic/lates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oogle.com/uc?export=download&amp;id=1PVoyddrCHChMxYrLhsI-zu7Xzs5S8N7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oogle.com/uc?export=download&amp;id=1PVoyddrCHChMxYrLhsI-zu7Xzs5S8N77"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oogle.com/uc?export=download&amp;id=1PVoyddrCHChMxYrLhsI-zu7Xzs5S8N77"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legal_suppor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legal_support_scenario.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legal_suppor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legal_suppor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legal_suppor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legal_suppor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v1"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oogle.com/uc?export=download&amp;id=1PVoyddrCHChMxYrLhsI-zu7Xzs5S8N77"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cs.google.com/uc?export=download&amp;id=1PVoyddrCHChMxYrLhsI-zu7Xzs5S8N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legal_support_scenario.py"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legal_support"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legal_support"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oogle.com/uc?export=download&amp;id=1PVoyddrCHChMxYrLhsI-zu7Xzs5S8N77"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 Id="rId3" Type="http://schemas.openxmlformats.org/officeDocument/2006/relationships/hyperlink" Target="https://github.com/stanford-crfm/helm/blob/v0.3.0/src/helm/benchmark/scenarios/legal_support_scenario.py"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 TargetMode="External"/><Relationship Id="rId3" Type="http://schemas.openxmlformats.org/officeDocument/2006/relationships/hyperlink" Target="https://arxiv.org/abs/2211.09110v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LegalSupport</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判例の要約から、主張をより直接支える根拠を選ぶ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公式サイト：HELMのトップ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LegalSupport</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公式トップ画面。2026-10-18参照。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https://crfm.stanford.edu/helm/classic/latest/</a:t>
            </a:r>
          </a:p>
        </p:txBody>
      </p:sp>
      <p:sp>
        <p:nvSpPr>
          <p:cNvPr id="6" name="TextBox 5"/>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HELM全体のトップ画面。LegalSupportの得点は課題ごとに別に示す。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主張を支える二つの判例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判例の引用からデータを作る</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採点とHELMの実行条件</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研究での位置づけと入手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主張を支える二つの判例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どちらの判例が、主張をより強く支えるか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法律に関する主張と、二つの判例の結論を表す短い記述が入力になる。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A／Bのうち、主張への根拠として、より直接的で説得力がある方を選ぶ。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米国の実際の判決文にある引用から、主張と根拠の関係を取り出した。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専門用語は、判断する対象と結び付ける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最初の例は、陪審に法律上の判断方法を伝える「説示」を扱う。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無害な誤りの審査とは、誤りがあっても判決への影響はなかったと扱えるかを検討すること。</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以下の原文は、主張・二つの選択肢を省略せず示す。正解は配布データのラベルに従う。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実例1：違憲な説示の扱い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4" name="TextBox 3"/>
          <p:cNvSpPr txBox="1"/>
          <p:nvPr/>
        </p:nvSpPr>
        <p:spPr>
          <a:xfrm>
            <a:off x="548640" y="1307592"/>
            <a:ext cx="429768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原文：主張・選択肢の全文</a:t>
            </a:r>
          </a:p>
        </p:txBody>
      </p:sp>
      <p:sp>
        <p:nvSpPr>
          <p:cNvPr id="5" name="quote-frame"/>
          <p:cNvSpPr/>
          <p:nvPr/>
        </p:nvSpPr>
        <p:spPr>
          <a:xfrm>
            <a:off x="548640" y="1600200"/>
            <a:ext cx="4297680" cy="20326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In particular, the court has subjected jury instructions plagued by constitutional error to harmless-error analysis.</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erroneous burden of proof instruction not subject to harmless-error analysis</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taint of an unconstitutional burden-shifting jury instruction subject to harmless-error analysis</a:t>
            </a:r>
          </a:p>
        </p:txBody>
      </p:sp>
      <p:sp>
        <p:nvSpPr>
          <p:cNvPr id="6" name="TextBox 5"/>
          <p:cNvSpPr txBox="1"/>
          <p:nvPr/>
        </p:nvSpPr>
        <p:spPr>
          <a:xfrm>
            <a:off x="548640" y="3724242"/>
            <a:ext cx="429768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TextBox 6"/>
          <p:cNvSpPr txBox="1"/>
          <p:nvPr/>
        </p:nvSpPr>
        <p:spPr>
          <a:xfrm>
            <a:off x="5029200" y="1307592"/>
            <a:ext cx="3566159"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8" name="quote-frame"/>
          <p:cNvSpPr/>
          <p:nvPr/>
        </p:nvSpPr>
        <p:spPr>
          <a:xfrm>
            <a:off x="5029200" y="1600200"/>
            <a:ext cx="3566159" cy="23008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とりわけ裁判所は、憲法上の誤りを含む陪審への説示についても、無害な誤りの審査を行ってきた。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立証責任に関する誤った説示は、無害な誤りの審査の対象にならない。</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憲法に反して立証責任を転換する説示による問題も、無害な誤りの審査の対象になる。</a:t>
            </a:r>
          </a:p>
        </p:txBody>
      </p:sp>
      <p:sp>
        <p:nvSpPr>
          <p:cNvPr id="9" name="TextBox 8"/>
          <p:cNvSpPr txBox="1"/>
          <p:nvPr/>
        </p:nvSpPr>
        <p:spPr>
          <a:xfrm>
            <a:off x="5029200" y="3992472"/>
            <a:ext cx="356615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test行566（0始まり）／case_id 7825715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否定されている点を読み分ける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主張は、憲法上の誤りがある説示も、無害な誤りの審査対象になったと述べる。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Bは、その審査の対象になった判例。Aは対象にならないとした判例で、主張を直接支えない。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話題の単語が同じでも、肯定・否定と法的な条件を読む必要がある。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実例2：債務が発生する時点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4" name="TextBox 3"/>
          <p:cNvSpPr txBox="1"/>
          <p:nvPr/>
        </p:nvSpPr>
        <p:spPr>
          <a:xfrm>
            <a:off x="548640" y="1307592"/>
            <a:ext cx="4572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原文：主張・選択肢の全文</a:t>
            </a:r>
          </a:p>
        </p:txBody>
      </p:sp>
      <p:sp>
        <p:nvSpPr>
          <p:cNvPr id="5" name="quote-frame"/>
          <p:cNvSpPr/>
          <p:nvPr/>
        </p:nvSpPr>
        <p:spPr>
          <a:xfrm>
            <a:off x="548640" y="1600200"/>
            <a:ext cx="4572000" cy="23187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The question of when a debt arises under the bankruptcy code is governed by federal law.</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finding that determination of when a claim arises under the bankruptcy code should be governed by federal law</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applying federal law to determine when parties had obligations under indemnification agreement</a:t>
            </a:r>
          </a:p>
        </p:txBody>
      </p:sp>
      <p:sp>
        <p:nvSpPr>
          <p:cNvPr id="6" name="TextBox 5"/>
          <p:cNvSpPr txBox="1"/>
          <p:nvPr/>
        </p:nvSpPr>
        <p:spPr>
          <a:xfrm>
            <a:off x="548640" y="4010420"/>
            <a:ext cx="457200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A</a:t>
            </a:r>
          </a:p>
        </p:txBody>
      </p:sp>
      <p:sp>
        <p:nvSpPr>
          <p:cNvPr id="7" name="TextBox 6"/>
          <p:cNvSpPr txBox="1"/>
          <p:nvPr/>
        </p:nvSpPr>
        <p:spPr>
          <a:xfrm>
            <a:off x="5303520" y="1307592"/>
            <a:ext cx="3291839"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8" name="quote-frame"/>
          <p:cNvSpPr/>
          <p:nvPr/>
        </p:nvSpPr>
        <p:spPr>
          <a:xfrm>
            <a:off x="5303520" y="1600200"/>
            <a:ext cx="3291839" cy="23008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倒産法上、債務がいつ発生するかは、連邦法に従って判断される。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倒産法上、債権がいつ発生するかは連邦法に従って判断すべきだとした。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補償契約上の義務がいつ生じたかを判断するために、連邦法を適用した。</a:t>
            </a:r>
          </a:p>
        </p:txBody>
      </p:sp>
      <p:sp>
        <p:nvSpPr>
          <p:cNvPr id="9" name="TextBox 8"/>
          <p:cNvSpPr txBox="1"/>
          <p:nvPr/>
        </p:nvSpPr>
        <p:spPr>
          <a:xfrm>
            <a:off x="5303520" y="3992472"/>
            <a:ext cx="329183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test行499（0始まり）／case_id 1299594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両方が関係していても、強さは異なる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Aは倒産法上の債権の発生時点を、連邦法で判断すると述べる。主張に直接対応する。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Bも連邦法を使うが、補償契約上の義務を扱っている。単に同じ法律を使うこととは区別する。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「関連があるか」だけでなく、何をどこまで支えるかを比較する課題である。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実例3：表現の自由を支える判例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1776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First Amendment protects ideas and the freedom to express them.</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no First Amendment right to physical originals of audio tapes where reporters received transcripts of tapes and could communicate contents to public if desired</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the First Amendment "was fashioned to assure unfettered interchange of ideas"</a:t>
            </a:r>
          </a:p>
        </p:txBody>
      </p:sp>
      <p:sp>
        <p:nvSpPr>
          <p:cNvPr id="6" name="TextBox 5"/>
          <p:cNvSpPr txBox="1"/>
          <p:nvPr/>
        </p:nvSpPr>
        <p:spPr>
          <a:xfrm>
            <a:off x="594360" y="346854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test行240（0始まり）／case_id 5750974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実例3：表現の自由を支える判例（訳）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19150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合衆国憲法修正第1条は、思想と、それを表現する自由を保障する。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記者が録音テープの書き起こしを受け取り、望めば内容を公衆に伝えられる場合、修正第1条によるテープ原本への権利はない。</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修正第1条は「思想の自由な交換を保障するために作られた」とした。</a:t>
            </a:r>
          </a:p>
        </p:txBody>
      </p:sp>
      <p:sp>
        <p:nvSpPr>
          <p:cNvPr id="6" name="TextBox 5"/>
          <p:cNvSpPr txBox="1"/>
          <p:nvPr/>
        </p:nvSpPr>
        <p:spPr>
          <a:xfrm>
            <a:off x="594360" y="360667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test行240（0始まり）／case_id 5750974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法的結論から、主張への支え方を読む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Bは、修正第1条が思想の自由な交換を保障するためのものだと述べ、主張の内容に直接対応する。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Aは録音テープの原本への権利の限界を扱う。表現の自由と関連していても、主張との関係が異なる。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入力は短い判例記述であり、判決全文を調べて結論を出す課題ではない。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主張を支える二つの判例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判例の引用からデータを作る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1965年より後の米国の判決文を使う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州と連邦の裁判所が書いた、1965年より後の判決文を対象に構築した。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Caselaw Access Project（CAP）の資料から、主張に複数の判例が引用されている箇所を取り出す。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判例の結論を説明する括弧書きと、引用の導入句を手掛かりに、支持の強さを比較する。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引用の導入句が、ラベルの手掛かり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828800"/>
                <a:gridCol w="62179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導入句の例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本文との関係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see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主張を支える根拠として引用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see also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追加の支持根拠として引用</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cf.</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類似する点から支える根拠として引用</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構築時は導入句を使うが、評価入力にはその導入句を渡さない。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引用の慣行から、二択問題を作る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同じ主張に対し、異なる導入句を伴う二つの判例記述を選ぶ。候補が多ければ二つを無作為に選ぶ。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主張を本文、括弧書きを選択肢とし、導入句が示す支持の強さから正解を決める。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問題ごとに専門家が新たに正解を判定したものとは異なる。引用の仕方から得たラベルである。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公開されている三つの集合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graphicFrame>
        <p:nvGraphicFramePr>
          <p:cNvPr id="4" name="Table 3"/>
          <p:cNvGraphicFramePr>
            <a:graphicFrameLocks noGrp="1"/>
          </p:cNvGraphicFramePr>
          <p:nvPr/>
        </p:nvGraphicFramePr>
        <p:xfrm>
          <a:off x="548640" y="1508760"/>
          <a:ext cx="8046718" cy="1828800"/>
        </p:xfrm>
        <a:graphic>
          <a:graphicData uri="http://schemas.openxmlformats.org/drawingml/2006/table">
            <a:tbl>
              <a:tblPr firstRow="0" bandRow="0"/>
              <a:tblGrid>
                <a:gridCol w="1965960"/>
                <a:gridCol w="2331720"/>
                <a:gridCol w="1874519"/>
                <a:gridCol w="1874519"/>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レコード数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正解A</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13,862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6,839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7,023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1,569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3,047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1,535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公開JSONLを全件集計。分割件数はHELMの記載とも一致。</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同じ主張から複数の問題が作られる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194560"/>
                <a:gridCol w="2651760"/>
                <a:gridCol w="32004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レコード数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異なる主張の数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13,862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3,472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3,047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主張の数はcontext文字列の一意数。レコード数と独立した主張数は同じではない。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支持の強さを、引用の使い方から近似する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同じ内容でも、引用した著者がどの導入句を選ぶかでラベルが決まる。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二つの選択肢が似ていて、本文だけから強さを判断しにくい例も含まれる。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判例が現時点で有効か、法的結論が妥当かなど、法律判断全体を測るものではない。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判例の引用からデータを作る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採点とHELMの実行条件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HELMは三つの提示例からA／Bを出す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主張を最もよく支える記述はどちらか、という指示と、正解付きの3例を提示する。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対象の主張とA／Bの選択肢を並べ、回答記号を生成するmultiple choice joint形式を使う。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公開した三つのモデルの実行では、実提示数は3例で、入力の切り詰めは0%。</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正しい選択肢を選べた割合を測る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生成したA／Bを元の選択肢へ対応させ、正解の参照と一致したかで採点する。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部分点付きの文章要約や、法的な説明の質を採点する課題ではない。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二択だが、固定のAだけを出す基準と、選択肢を毎回無作為に選ぶ基準は区別する。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scenario. 固定版v0.3.0。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https://github.com/stanford-crfm/helm/blob/v0.3.0/src/helm/benchmark/scenarios/legal_support_scenario.py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公開実行はdevとtestにまたがる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103120"/>
                <a:gridCol w="2743200"/>
                <a:gridCol w="32004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元の集合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HELMの評価対象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511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3,047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3モデルとも同じ件数。公開入力1,000件を配布レコードへ全件照合。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HELM：testの正解率を比較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286000"/>
                <a:gridCol w="17373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53.17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62.17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58.49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元のtestから489問。3試行の値は平均、Llama 2は1試行。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devの正解率は別に報告される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029200"/>
                <a:gridCol w="30175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49.90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元のdevから511問。OPT・davinciは3試行平均、Llama 2は1試行。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この結果は、固定された条件での比較</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 Classic v0.4.0に掲載された、元run suite v0.3.0の公開記録を使う。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3例提示、出力長、試行数などの条件を含む結果であり、法的推論全般の能力順位ではない。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固定版の公開日は2023年11月17日。2026年の最新モデル全体を比較したものではない。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採点とHELMの実行条件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研究での位置づけと入手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研究での位置づけと入手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HELMの新規データとして公表された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2022年のHELM初回公開版に、LegalSupportの構築方法と評価が記載されている。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2023年のTMLR掲載版にも、引用に基づく比較的な法的推論課題として説明がある。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2026年に確認した公開コードでも配布先が維持されている。独立した公式サイトは確認できなかった。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研究での位置づけと入手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(2022), Holistic Evaluation of Language Models. 初回公開版。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https://arxiv.org/abs/2211.09110v1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判例を根拠として読む研究に使う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法的な主張と根拠の対応を、二つの候補から比較する評価に向く。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判決文の全文検索、法的文書の起案、理由の説明、最新法の調査などとは評価対象が異なる。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利用時は、どの情報を入力として渡し、何を正解としたかを明示する。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研究での位置づけと入手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配布ファイルと元の注釈を固定する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公式シナリオの配布先から、train／dev／testのJSONLを取得できる。ZIPは約3.0 MB。</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主張、二つの判例記述、引用の導入句・識別情報、case_id、正解ラベルを持つ。</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ここではファイルのSHA-256と行位置を保存し、13実例と公開評価入力を元データへ照合した。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研究での位置づけと入手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コードと判例本文の利用条件を分ける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HELMのコードはApache 2.0。これを元の判例本文や配布データ全体の許諾と同一視しない。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取得ZIPには独立したLICENSEがなかった。元資料の出所と、利用時点の配布条件を別に確認する。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資料の実例は、配布された短い主張と選択肢を引用し、日本語訳を加えた。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研究での位置づけと入手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公式リポジトリ。</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関連しているだけでなく、支え方を比べる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同じ法律や話題を扱っていても、主張への直接性は同じとは限らない。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引用の慣行から得たラベルという特徴を理解し、正解率の意味を読む。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同じ主張からの複数問題や、dev／testの範囲などをそろえて比較する。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研究での位置づけと入手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39115"/>
            <a:ext cx="8046720" cy="676656"/>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データと採点の補足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実例4：過失を判断する陪審の役割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429768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原文：主張・選択肢の全文</a:t>
            </a:r>
          </a:p>
        </p:txBody>
      </p:sp>
      <p:sp>
        <p:nvSpPr>
          <p:cNvPr id="5" name="quote-frame"/>
          <p:cNvSpPr/>
          <p:nvPr/>
        </p:nvSpPr>
        <p:spPr>
          <a:xfrm>
            <a:off x="548640" y="1600200"/>
            <a:ext cx="4297680" cy="19420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Under these circumstances, the jury was authorized to conclude that Love was not negligent.</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trial court did not err in denying Willis' motion for directed verdict</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 in rear-end collision cases, issues of liability are for the jury to decide</a:t>
            </a:r>
          </a:p>
        </p:txBody>
      </p:sp>
      <p:sp>
        <p:nvSpPr>
          <p:cNvPr id="6" name="TextBox 5"/>
          <p:cNvSpPr txBox="1"/>
          <p:nvPr/>
        </p:nvSpPr>
        <p:spPr>
          <a:xfrm>
            <a:off x="548640" y="3633701"/>
            <a:ext cx="429768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TextBox 6"/>
          <p:cNvSpPr txBox="1"/>
          <p:nvPr/>
        </p:nvSpPr>
        <p:spPr>
          <a:xfrm>
            <a:off x="5029200" y="1307592"/>
            <a:ext cx="3566159"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8" name="quote-frame"/>
          <p:cNvSpPr/>
          <p:nvPr/>
        </p:nvSpPr>
        <p:spPr>
          <a:xfrm>
            <a:off x="5029200" y="1600200"/>
            <a:ext cx="3566159" cy="21895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このような状況では、陪審がラヴには過失がなかったと判断することが認められた。</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第一審がウィリスの指示評決の申立てを退けたことに、誤りはなかった。</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 追突事故の責任の有無は、陪審が判断すべき問題である。</a:t>
            </a:r>
          </a:p>
        </p:txBody>
      </p:sp>
      <p:sp>
        <p:nvSpPr>
          <p:cNvPr id="9" name="TextBox 8"/>
          <p:cNvSpPr txBox="1"/>
          <p:nvPr/>
        </p:nvSpPr>
        <p:spPr>
          <a:xfrm>
            <a:off x="5029200" y="3881190"/>
            <a:ext cx="356615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test行83（0始まり）／case_id 903768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実例5：自己負罪拒否と審査方法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1776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We review de novo Washington's claim that the sentencing court improperly penalized him for invoking his constitutional right against self-incrimination.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reviewing de novo claim sentence was result of "judicial vindictiveness"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reviewing evidence de novo on claimed violation of Fifth Amendment</a:t>
            </a:r>
          </a:p>
        </p:txBody>
      </p:sp>
      <p:sp>
        <p:nvSpPr>
          <p:cNvPr id="6" name="TextBox 5"/>
          <p:cNvSpPr txBox="1"/>
          <p:nvPr/>
        </p:nvSpPr>
        <p:spPr>
          <a:xfrm>
            <a:off x="594360" y="346854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test行1583（0始まり）／case_id 7064248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実例5：自己負罪拒否と審査方法（訳）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19247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ワシントンは、自己負罪を拒否する憲法上の権利を行使したために、量刑裁判所から不当に不利益を与えられたと主張する。この主張はde novoで審査する。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量刑が「裁判所による報復」の結果だという主張を、de novoで審査した。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修正第5条違反の主張について、証拠をde novoで審査した。</a:t>
            </a:r>
          </a:p>
        </p:txBody>
      </p:sp>
      <p:sp>
        <p:nvSpPr>
          <p:cNvPr id="6" name="TextBox 5"/>
          <p:cNvSpPr txBox="1"/>
          <p:nvPr/>
        </p:nvSpPr>
        <p:spPr>
          <a:xfrm>
            <a:off x="594360" y="361641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test行1583（0始まり）／case_id 7064248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実例6：不十分な修理と損害の回復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429768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原文：主張・選択肢の全文</a:t>
            </a:r>
          </a:p>
        </p:txBody>
      </p:sp>
      <p:sp>
        <p:nvSpPr>
          <p:cNvPr id="5" name="quote-frame"/>
          <p:cNvSpPr/>
          <p:nvPr/>
        </p:nvSpPr>
        <p:spPr>
          <a:xfrm>
            <a:off x="548640" y="1600200"/>
            <a:ext cx="4297680" cy="20244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.Many of the cases address how to remedy inadequate or defective repairs.</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finding no repairs were made due to parties' disagreement over the correct measure of damages</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finding some repairs made but additional repairs could have restored vehicle to the same or as good condition</a:t>
            </a:r>
          </a:p>
        </p:txBody>
      </p:sp>
      <p:sp>
        <p:nvSpPr>
          <p:cNvPr id="6" name="TextBox 5"/>
          <p:cNvSpPr txBox="1"/>
          <p:nvPr/>
        </p:nvSpPr>
        <p:spPr>
          <a:xfrm>
            <a:off x="548640" y="3716131"/>
            <a:ext cx="429768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TextBox 6"/>
          <p:cNvSpPr txBox="1"/>
          <p:nvPr/>
        </p:nvSpPr>
        <p:spPr>
          <a:xfrm>
            <a:off x="5029200" y="1307592"/>
            <a:ext cx="3566159"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8" name="quote-frame"/>
          <p:cNvSpPr/>
          <p:nvPr/>
        </p:nvSpPr>
        <p:spPr>
          <a:xfrm>
            <a:off x="5029200" y="1600200"/>
            <a:ext cx="3566159" cy="216886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多くの事例では、不十分または不適切な修理をどのように是正するかが問題になる。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適切な損害賠償額について当事者の見解が一致せず、修理は行われなかったと認定した。</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一部の修理は済んでいたが、追加の修理で車両を元と同じか、同程度に良好な状態に戻せたと認定した。</a:t>
            </a:r>
          </a:p>
        </p:txBody>
      </p:sp>
      <p:sp>
        <p:nvSpPr>
          <p:cNvPr id="9" name="TextBox 8"/>
          <p:cNvSpPr txBox="1"/>
          <p:nvPr/>
        </p:nvSpPr>
        <p:spPr>
          <a:xfrm>
            <a:off x="5029200" y="3860505"/>
            <a:ext cx="356615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test行26（0始まり）／case_id 11152124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実例7：フェアユースと消費者の混同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原文：主張・選択肢の全文</a:t>
            </a:r>
          </a:p>
        </p:txBody>
      </p:sp>
      <p:sp>
        <p:nvSpPr>
          <p:cNvPr id="5" name="quote-frame"/>
          <p:cNvSpPr/>
          <p:nvPr/>
        </p:nvSpPr>
        <p:spPr>
          <a:xfrm>
            <a:off x="548640" y="1600200"/>
            <a:ext cx="3931920" cy="22584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But the Supreme Court rejected Paccar on the precise point for which Kassa cites it. See K.P.</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"The fair--use defense contemplates and tolerates 'some possibility of consumer confusion.'-"</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rejecting Paccar and holding that "fair use can - occur along with some degree of [consumer] confusion"</a:t>
            </a:r>
          </a:p>
        </p:txBody>
      </p:sp>
      <p:sp>
        <p:nvSpPr>
          <p:cNvPr id="6" name="TextBox 5"/>
          <p:cNvSpPr txBox="1"/>
          <p:nvPr/>
        </p:nvSpPr>
        <p:spPr>
          <a:xfrm>
            <a:off x="548640" y="3950130"/>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TextBox 6"/>
          <p:cNvSpPr txBox="1"/>
          <p:nvPr/>
        </p:nvSpPr>
        <p:spPr>
          <a:xfrm>
            <a:off x="4663440" y="1307592"/>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8" name="quote-frame"/>
          <p:cNvSpPr/>
          <p:nvPr/>
        </p:nvSpPr>
        <p:spPr>
          <a:xfrm>
            <a:off x="4663440" y="1600200"/>
            <a:ext cx="3931920" cy="216039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しかし最高裁は、カッサがパッカー判決を引用する根拠とした、まさにその点で同判決を否定した。K.P.判決参照。</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「フェアユースの抗弁は、消費者の混同が生じる可能性があることを想定し、それを許容する」とした。</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パッカー判決を否定し、一定の消費者の混同があってもフェアユースは成立しうるとした。</a:t>
            </a:r>
          </a:p>
        </p:txBody>
      </p:sp>
      <p:sp>
        <p:nvSpPr>
          <p:cNvPr id="9" name="TextBox 8"/>
          <p:cNvSpPr txBox="1"/>
          <p:nvPr/>
        </p:nvSpPr>
        <p:spPr>
          <a:xfrm>
            <a:off x="4663440" y="3852038"/>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test行851（0始まり）／case_id 4275032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実例8：よく似た二つの根拠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1776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We have sometimes allowed a defendant to preserve a district court error as long as one of his codefendants objected below.</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holding that objection to instructions by codefendant's counsel is sufficient to preserve any error</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ruling that objection to instructions by codefendant's counsel preserves any error</a:t>
            </a:r>
          </a:p>
        </p:txBody>
      </p:sp>
      <p:sp>
        <p:nvSpPr>
          <p:cNvPr id="6" name="TextBox 5"/>
          <p:cNvSpPr txBox="1"/>
          <p:nvPr/>
        </p:nvSpPr>
        <p:spPr>
          <a:xfrm>
            <a:off x="594360" y="346854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test行1012（0始まり）／case_id 199941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実例8：よく似た二つの根拠（訳）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19235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共同被告人の一人が第一審で異議を述べていれば、被告人自身も第一審の誤りを争う権利を維持できると認めたことがある。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共同被告人の弁護人による説示への異議で、誤りを争う権利の維持には十分だと判示した。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共同被告人の弁護人による説示への異議で、誤りを争う権利は維持されると判断した。</a:t>
            </a:r>
          </a:p>
        </p:txBody>
      </p:sp>
      <p:sp>
        <p:nvSpPr>
          <p:cNvPr id="6" name="TextBox 5"/>
          <p:cNvSpPr txBox="1"/>
          <p:nvPr/>
        </p:nvSpPr>
        <p:spPr>
          <a:xfrm>
            <a:off x="594360" y="361514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test行1012（0始まり）／case_id 199941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実例9：控訴で述べない主張の扱い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原文：主張・選択肢の全文</a:t>
            </a:r>
          </a:p>
        </p:txBody>
      </p:sp>
      <p:sp>
        <p:nvSpPr>
          <p:cNvPr id="5" name="quote-frame"/>
          <p:cNvSpPr/>
          <p:nvPr/>
        </p:nvSpPr>
        <p:spPr>
          <a:xfrm>
            <a:off x="548640" y="1600200"/>
            <a:ext cx="3931920" cy="23187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On appeal, San Martin has not made these arguments, and therefore has waived them.</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deeming an issue waived when its only mention in the party's brief was in the Statement of the Case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holding that a habeas petitioner abandons the claims he does not address on appeal</a:t>
            </a:r>
          </a:p>
        </p:txBody>
      </p:sp>
      <p:sp>
        <p:nvSpPr>
          <p:cNvPr id="6" name="TextBox 5"/>
          <p:cNvSpPr txBox="1"/>
          <p:nvPr/>
        </p:nvSpPr>
        <p:spPr>
          <a:xfrm>
            <a:off x="548640" y="4010420"/>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TextBox 6"/>
          <p:cNvSpPr txBox="1"/>
          <p:nvPr/>
        </p:nvSpPr>
        <p:spPr>
          <a:xfrm>
            <a:off x="4663440" y="1307592"/>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8" name="quote-frame"/>
          <p:cNvSpPr/>
          <p:nvPr/>
        </p:nvSpPr>
        <p:spPr>
          <a:xfrm>
            <a:off x="4663440" y="1600200"/>
            <a:ext cx="3931920" cy="23008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サン・マルティンは控訴でこれらの主張をしていないため、主張する権利を放棄したものとみなされる。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当事者の書面で事件の経過を記す部分にしか言及がない論点は、放棄されたものとみなした。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人身保護の申立人は、控訴で取り上げない主張を放棄したものと判示した。</a:t>
            </a:r>
          </a:p>
        </p:txBody>
      </p:sp>
      <p:sp>
        <p:nvSpPr>
          <p:cNvPr id="9" name="TextBox 8"/>
          <p:cNvSpPr txBox="1"/>
          <p:nvPr/>
        </p:nvSpPr>
        <p:spPr>
          <a:xfrm>
            <a:off x="4663440" y="3992472"/>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test行1240（0始まり）／case_id 4092151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実例10：差止め請求の遅れが与えた影響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1776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JPMorgan's delay in seeking injunctive relief has neither disadvantaged Plaintiffs nor altered the outcome of this proceeding.</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finding that the delay in seeking the injunction had not disadvantaged the other party's interests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finding that the delay in that instance did not alter the outcome of the proceedings</a:t>
            </a:r>
          </a:p>
        </p:txBody>
      </p:sp>
      <p:sp>
        <p:nvSpPr>
          <p:cNvPr id="6" name="TextBox 5"/>
          <p:cNvSpPr txBox="1"/>
          <p:nvPr/>
        </p:nvSpPr>
        <p:spPr>
          <a:xfrm>
            <a:off x="594360" y="346854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test行1623（0始まり）／case_id 4002194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実例10：差止め請求の遅れが与えた影響（訳）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19150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JPMorganが差止めを求めるまでに時間を要したことは、原告に不利益を与えず、この手続の結論も変えていない。</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差止めを求めるまでの遅れは、相手方の利益を損なっていなかったと認定した。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その事案での遅れは、手続の結論を変えていなかったと認定した。</a:t>
            </a:r>
          </a:p>
        </p:txBody>
      </p:sp>
      <p:sp>
        <p:nvSpPr>
          <p:cNvPr id="6" name="TextBox 5"/>
          <p:cNvSpPr txBox="1"/>
          <p:nvPr/>
        </p:nvSpPr>
        <p:spPr>
          <a:xfrm>
            <a:off x="594360" y="3606676"/>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test行1623（0始まり）／case_id 4002194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実例11：回復不能な損害の推認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1776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Indeed, irreparable harm may be presumed with the finding of a violation of the First Amendment.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"It is well established that the deprivation of constitutional rights 'unquestionably constitutes irreparable injury.'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"The loss of First Amendment freedoms, for even minimal periods of time, unquestionably constitutes irreparable injury"</a:t>
            </a:r>
          </a:p>
        </p:txBody>
      </p:sp>
      <p:sp>
        <p:nvSpPr>
          <p:cNvPr id="6" name="TextBox 5"/>
          <p:cNvSpPr txBox="1"/>
          <p:nvPr/>
        </p:nvSpPr>
        <p:spPr>
          <a:xfrm>
            <a:off x="594360" y="346854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B</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test行1916（0始まり）／case_id 12267824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実例11：回復不能な損害の推認（訳）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19235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実際、修正第1条違反が認められれば、回復不能な損害を推認することができる。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「憲法上の権利の剥奪が、疑いなく回復不能な損害になることは、十分確立している」とした。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「修正第1条が保障する自由の喪失は、ごく短期間でも、疑いなく回復不能な損害になる」とした。</a:t>
            </a:r>
          </a:p>
        </p:txBody>
      </p:sp>
      <p:sp>
        <p:nvSpPr>
          <p:cNvPr id="6" name="TextBox 5"/>
          <p:cNvSpPr txBox="1"/>
          <p:nvPr/>
        </p:nvSpPr>
        <p:spPr>
          <a:xfrm>
            <a:off x="594360" y="361514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test行1916（0始まり）／case_id 12267824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実例12：申立ての名称より中身を読む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1717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Washington's motion may be more properly construed as a Wis. Stat. SS 974.06 postconviction motion.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We liberally construe a pro se defendant's motion and are not bound by the defendant's labels.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SS 974.06 motions are properly used to bring issues of jurisdictional or constitutional dimension before the court</a:t>
            </a:r>
          </a:p>
        </p:txBody>
      </p:sp>
      <p:sp>
        <p:nvSpPr>
          <p:cNvPr id="6" name="TextBox 5"/>
          <p:cNvSpPr txBox="1"/>
          <p:nvPr/>
        </p:nvSpPr>
        <p:spPr>
          <a:xfrm>
            <a:off x="594360" y="340928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test行2311（0始まり）／case_id 4029386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実例12：申立ての名称より中身を読む（訳）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19235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5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ワシントンの申立ては、ウィスコンシン州法974.06条に基づく有罪判決後の救済申立てと解する方が適切かもしれない。</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本人が訴訟を行う被告人の申立ては柔軟に解釈し、本人が付けた名称には拘束されない。</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974.06条に基づく申立ては、管轄または憲法上の問題を裁判所に提起するために用いられる。</a:t>
            </a:r>
          </a:p>
        </p:txBody>
      </p:sp>
      <p:sp>
        <p:nvSpPr>
          <p:cNvPr id="6" name="TextBox 5"/>
          <p:cNvSpPr txBox="1"/>
          <p:nvPr/>
        </p:nvSpPr>
        <p:spPr>
          <a:xfrm>
            <a:off x="594360" y="361514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test行2311（0始まり）／case_id 4029386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実例13：法的文書の作成は法律業務か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原文：主張と二つの選択肢の全文</a:t>
            </a:r>
          </a:p>
        </p:txBody>
      </p:sp>
      <p:sp>
        <p:nvSpPr>
          <p:cNvPr id="5" name="quote-frame"/>
          <p:cNvSpPr/>
          <p:nvPr/>
        </p:nvSpPr>
        <p:spPr>
          <a:xfrm>
            <a:off x="548640" y="1600200"/>
            <a:ext cx="8046720" cy="2057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81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Additionally, Indiana courts have repeatedly held that drafting or preparing legal instruments- is generally considered practicing law. See State ex rel. Ind. State.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"Drafting and preparing testamentary and trust documents is clearly the practice of law."</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preparation of immigration documents and drafting contracts, pleadings, and a will, constituted unauthorized practice of law</a:t>
            </a:r>
          </a:p>
        </p:txBody>
      </p:sp>
      <p:sp>
        <p:nvSpPr>
          <p:cNvPr id="6" name="TextBox 5"/>
          <p:cNvSpPr txBox="1"/>
          <p:nvPr/>
        </p:nvSpPr>
        <p:spPr>
          <a:xfrm>
            <a:off x="594360" y="3749174"/>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Correct: 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test行1529（0始まり）／case_id 6783929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実例13：法的文書の作成は法律業務か（訳）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日本語訳：主張と二つの選択肢の全文</a:t>
            </a:r>
          </a:p>
        </p:txBody>
      </p:sp>
      <p:sp>
        <p:nvSpPr>
          <p:cNvPr id="5" name="quote-frame"/>
          <p:cNvSpPr/>
          <p:nvPr/>
        </p:nvSpPr>
        <p:spPr>
          <a:xfrm>
            <a:off x="548640" y="1600200"/>
            <a:ext cx="8046720" cy="22424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さらにインディアナ州の裁判所は、法的文書を起案・作成することは一般に法律業務とみなされると、繰り返し判示してきた。State ex rel. Ind. State判決参照。</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「遺言や信託に関する文書を起案・作成することは、明らかに法律業務である」とした。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移民関係書類の作成や、契約書・訴訟書面・遺言書の起案は、無資格の法律業務にあたるとした。</a:t>
            </a:r>
          </a:p>
        </p:txBody>
      </p:sp>
      <p:sp>
        <p:nvSpPr>
          <p:cNvPr id="6" name="TextBox 5"/>
          <p:cNvSpPr txBox="1"/>
          <p:nvPr/>
        </p:nvSpPr>
        <p:spPr>
          <a:xfrm>
            <a:off x="594360" y="3934121"/>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 test行1529（0始まり）／case_id 6783929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データと採点の補足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順序を除いて同じ入力となる行がある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194560"/>
                <a:gridCol w="2743200"/>
                <a:gridCol w="31089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全レコード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一意の入力組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13,862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5,983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1,245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3,047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主張と二つの選択肢の組で集計。A／Bを入れ替えた行は同じ組とする。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case_idの共通と入力の共通は異なる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291840"/>
                <a:gridCol w="2377440"/>
                <a:gridCol w="237744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集合の組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共通case_id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共通の入力組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 / dev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 / 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 / 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公開配布を照合。case_idの共通だけから、同じ評価入力の混入とは判断しない。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二つの選択肢が同じ行もある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公開trainに8行、testに1行、二つの判例記述が完全に同じ文字列の例があった。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HELMの変換は、選択肢の文字列が正解文字列と一致すれば正解の参照にする。その場合は両方が正解になる。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確認した公開評価入力1,000件には、両方が正解の例はなかった。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scenario. 固定版v0.3.0。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https://github.com/stanford-crfm/helm/blob/v0.3.0/src/helm/benchmark/scenarios/legal_support_scenario.py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OPTの方式比較は、提示例数も異なる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389120"/>
                <a:gridCol w="2194560"/>
                <a:gridCol w="146304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test正解率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提示例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選択肢を並べて記号を生成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53.17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候補を別々に採点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56.65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0例</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候補を別々に採点・確率を補正</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55.62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同じtest489問。生成式は3試行平均、別採点の2方式は各1試行。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モデル別の生成条件も確認する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291840"/>
                <a:gridCol w="1280160"/>
                <a:gridCol w="2286000"/>
                <a:gridCol w="118872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出力上限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5トークン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5トークン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1トークン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temperature 0。実提示3例、prompt_truncated=0。上限はadapter_specの設定。</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LegalSupport.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https://crfm.stanford.edu/helm/classic/v0.4.0/#/groups/legal_support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入力と出力の公開記録を再検証した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公開scenario_stateの1,000入力を、train／dev／test連結順のIDから元の行へ対応させた。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主張、選択肢の順序、正解のタグが全件一致。davinciの3,000出力も独立に採点し、公開値と一致した。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13実例は異なるcase_idと主張を持つ。短く対比が分かる例を意図的に選び、頻度を代表する標本とはしていない。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データと採点の補足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LegalSupport. 公開配布JSONL。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https://docs.google.com/uc?export=download&amp;id=1PVoyddrCHChMxYrLhsI-zu7Xzs5S8N77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Stanford CRFMによる法的推論の評価</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Neel Guhaが、HELMの推論評価の一部としてLegalSupportを設計・実装した。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HELMの第一著者はPercy Liang。多数の課題と指標で、言語モデルを共通に評価する研究である。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LegalSupportでは、判例の引用を比較するという、法的推論の一つの側面を扱う。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Liangほか（2023）／Transactions on Machine Learning Research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LegalSupportの構築、引用から得た支持の強さ、共通条件でのモデル評価を報告。</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
        <p:nvSpPr>
          <p:cNvPr id="5" name="文献 2: LegalSupportScenario"/>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LegalSupportScenario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CRFM／HELM v0.3.0、公開シナリオ実装</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配布データを主張と二つの参照回答へ変換し、正解タグを付ける処理を公開。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https://github.com/stanford-crfm/helm/blob/v0.3.0/src/helm/benchmark/scenarios/legal_support_scenario.py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ELM：公開コードと配布への入口"/>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HELM：公開コードと配布への入口</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CRFM／公式リポジトリ</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シナリオ、モデルの入出力形式、指標と公開評価の使い方をまとめる。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https://github.com/stanford-crfm/helm</a:t>
            </a:r>
          </a:p>
        </p:txBody>
      </p:sp>
      <p:sp>
        <p:nvSpPr>
          <p:cNvPr id="5" name="文献 2: Holistic Evaluation of Language Models：初回公開版"/>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Models：初回公開版</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Liangほか（2022）／arXiv:2211.09110v1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2022年の時点でLegalSupportの問題形式、作成方法と集合別件数を記載。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https://arxiv.org/abs/2211.09110v1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2026-10-18T07:34:57Z</dcterms:modified>
  <dc:title>legal-support</dc:title>
  <dc:creator>sasakiy84</dc:creator>
  <dcterms:created xsi:type="dcterms:W3CDTF">2026-10-18T07:34:57Z</dcterms:created>
  <dc:language>ja-JP</dc:language>
</cp:coreProperties>
</file>