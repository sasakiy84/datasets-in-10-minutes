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s.google.com/uc?export=download&amp;id=1PVoyddrCHChMxYrLhsI-zu7Xzs5S8N7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s.google.com/uc?export=download&amp;id=1PVoyddrCHChMxYrLhsI-zu7Xzs5S8N77"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ocs.google.com/uc?export=download&amp;id=1PVoyddrCHChMxYrLhsI-zu7Xzs5S8N77"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legal_support_scenario.py" TargetMode="External"/><Relationship Id="rId3" Type="http://schemas.openxmlformats.org/officeDocument/2006/relationships/hyperlink" Target="https://docs.google.com/uc?export=download&amp;id=1PVoyddrCHChMxYrLhsI-zu7Xzs5S8N77"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legal_support"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ocs.google.com/uc?export=download&amp;id=1PVoyddrCHChMxYrLhsI-zu7Xzs5S8N77"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legal_support_scenario.py" TargetMode="External"/><Relationship Id="rId3" Type="http://schemas.openxmlformats.org/officeDocument/2006/relationships/hyperlink" Target="https://docs.google.com/uc?export=download&amp;id=1PVoyddrCHChMxYrLhsI-zu7Xzs5S8N77"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github.com/stanford-crfm/helm/blob/v0.3.0/src/helm/benchmark/scenarios/legal_support_scenario.py"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 TargetMode="External"/><Relationship Id="rId3" Type="http://schemas.openxmlformats.org/officeDocument/2006/relationships/hyperlink" Target="https://arxiv.org/abs/2211.09110v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69048"/>
          </a:xfrm>
        </p:spPr>
        <p:txBody>
          <a:bodyPr wrap="square" lIns="0" rIns="0" tIns="0" bIns="66078">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LegalSupport</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判例の要約から、主張をより直接支える根拠を選ぶ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主張を支える二つの判例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判例の引用からデータを作る</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答えの選び方と評価</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データの利用と入手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主張を支える二つの判例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どちらの判例が、主張をより強く支えるか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法律に関する主張と、二つの判例の結論を表す短い記述が入力になる。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A／Bのうち、主張への根拠として、より直接的で説得力がある方を選ぶ。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Stanford CRFMの研究チームが、米国の実際の判決文にある引用から、主張と根拠の関係を取り出して構築した。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実例1：違憲な説示の扱い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In particular, the court has subjected jury instructions plagued by constitutional error to harmless-error analysis.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erroneous burden of proof instruction not subject to harmless-error analysis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taint of an unconstitutional burden-shifting jury instruction subject to harmless-error analysis</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192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とりわけ裁判所は、憲法上の誤りを含む陪審への説示についても、無害な誤りの審査を行ってきた。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立証責任に関する誤った説示は、無害な誤りの審査の対象にならない。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憲法に反して立証責任を転換する説示による問題も、無害な誤りの審査の対象になる。</a:t>
            </a:r>
          </a:p>
        </p:txBody>
      </p:sp>
      <p:sp>
        <p:nvSpPr>
          <p:cNvPr id="8" name="TextBox 7"/>
          <p:cNvSpPr txBox="1"/>
          <p:nvPr/>
        </p:nvSpPr>
        <p:spPr>
          <a:xfrm>
            <a:off x="594360" y="38418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説示に誤りがあっても、判決への影響を審査する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陪審に法律上の判断方法を伝える指示を「説示」という。無害な誤りの審査では、誤りがあっても判決への影響はなかったと扱えるかを検討する。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主張は、憲法上の誤りがある説示にも、この審査を行ったと述べる。Bは審査の対象になった判例であり、対象にならないとしたAより直接的な根拠になる。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実例2：債務が発生する時点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The question of when a debt arises under the bankruptcy code is governed by federal law.</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finding that determination of when a claim arises under the bankruptcy code should be governed by federal law</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applying federal law to determine when parties had obligations under indemnification agreement</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倒産法上、債務がいつ発生するかは、連邦法に従って判断される。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倒産法上、債権がいつ発生するかは連邦法に従って判断すべきだとした。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補償契約上の義務がいつ生じたかを判断するために、連邦法を適用した。</a:t>
            </a:r>
          </a:p>
        </p:txBody>
      </p:sp>
      <p:sp>
        <p:nvSpPr>
          <p:cNvPr id="8" name="TextBox 7"/>
          <p:cNvSpPr txBox="1"/>
          <p:nvPr/>
        </p:nvSpPr>
        <p:spPr>
          <a:xfrm>
            <a:off x="594360" y="36217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同じ連邦法でも、扱う問題が異なる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Aは、倒産法上の債権が発生する時点を連邦法で判断すると述べ、主張に直接対応する。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Bも連邦法を使うが、補償契約上の義務の発生時点を扱っている。どの法的な問題について述べるかが、主張とのつながりを左右する。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実例3：表現の自由を支える判例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The First Amendment protects ideas and the freedom to express them.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no First Amendment right to physical originals of audio tapes where reporters received transcripts of tapes and could communicate contents to public if desired</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the First Amendment "was fashioned to assure unfettered interchange of ideas"</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合衆国憲法修正第1条は、思想と、それを表現する自由を保障する。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記者が録音テープの書き起こしを受け取り、望めば内容を公衆に伝えられる場合、修正第1条によるテープ原本への権利はない。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修正第1条は「思想の自由な交換を保障するために作られた」とした。</a:t>
            </a:r>
          </a:p>
        </p:txBody>
      </p:sp>
      <p:sp>
        <p:nvSpPr>
          <p:cNvPr id="8" name="TextBox 7"/>
          <p:cNvSpPr txBox="1"/>
          <p:nvPr/>
        </p:nvSpPr>
        <p:spPr>
          <a:xfrm>
            <a:off x="594360" y="3833368"/>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法的結論から、主張への支え方を読む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Bは、修正第1条が思想の自由な交換を保障するためのものだと述べ、主張の内容に直接対応する。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Aは録音テープの原本への権利の限界を扱う。表現の自由と関連していても、主張との関係が異なる。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入力は短い判例記述であり、判決全文を調べて結論を出す課題ではない。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主張を支える二つの判例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判例の引用からデータを作る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判例の引用からデータを作る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1965年より後の米国の判決文を使う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州と連邦の裁判所が書いた、1965年より後の判決文を対象に構築した。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Caselaw Access Project（CAP）の資料から、主張に複数の判例が引用されている箇所を取り出す。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判例の結論を説明する括弧書きと、引用の導入句を手掛かりに、支持の強さを比較する。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判例の引用からデータを作る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引用の導入句が、ラベルの手掛かり</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判例の引用からデータを作る</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828800"/>
                <a:gridCol w="621792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導入句の例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本文との関係</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see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主張を支える根拠として引用</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see also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追加の支持根拠として引用</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cf.</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類似する点から支える根拠として引用</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構築時は導入句を使うが、評価入力にはその導入句を渡さない。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引用の慣行から、二択問題を作る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同じ主張に対し、異なる導入句を伴う二つの判例記述を選ぶ。候補が多ければ二つを無作為に選ぶ。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主張を本文、括弧書きを選択肢とし、導入句が示す支持の強さから正解を決める。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問題ごとに専門家が新たに正解を判定したものとは異なる。引用の仕方から得たラベルである。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判例の引用からデータを作る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学習・開発・テストの計20,034問を公開する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判例の引用からデータを作る</a:t>
            </a:r>
          </a:p>
        </p:txBody>
      </p:sp>
      <p:graphicFrame>
        <p:nvGraphicFramePr>
          <p:cNvPr id="4" name="Table 3"/>
          <p:cNvGraphicFramePr>
            <a:graphicFrameLocks noGrp="1"/>
          </p:cNvGraphicFramePr>
          <p:nvPr/>
        </p:nvGraphicFramePr>
        <p:xfrm>
          <a:off x="548640" y="1508760"/>
          <a:ext cx="8046718" cy="1828800"/>
        </p:xfrm>
        <a:graphic>
          <a:graphicData uri="http://schemas.openxmlformats.org/drawingml/2006/table">
            <a:tbl>
              <a:tblPr firstRow="0" bandRow="0"/>
              <a:tblGrid>
                <a:gridCol w="1965960"/>
                <a:gridCol w="2331720"/>
                <a:gridCol w="1874519"/>
                <a:gridCol w="1874519"/>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レコード数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正解A</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正解B</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13,862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6,839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7,023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1,569</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3,047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1,535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1,512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1問は、主張と二つの候補、正解の選択肢からなる。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同じ主張に、異なる二つの根拠を組み合わせる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判例の引用からデータを作る</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2194560"/>
                <a:gridCol w="2651760"/>
                <a:gridCol w="320040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レコード数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異なる主張の数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train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13,862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3,472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dev</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744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test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3,047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744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同じ主張の文章を1件として数える。候補の組み合わせを変えると、同じ主張から複数問ができる。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答えの選び方と評価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答えの選び方と評価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主張を支える方の記述を、A／Bで答える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主張と二つの判例記述を読み、より直接的に支える方の記号を答える。長い法的説明を生成する必要はない。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選んだ記号が正解と一致した割合を、正答率として集計できる。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引用の導入句から得た正解は、判例の書き手が示した支持の強さを表す。法律問題への判断力全体を測るものではない。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答えの選び方と評価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常にAと答えるだけなら、test全体で50.38%</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公開test全3,047問のうち、正解Aは1,535問。すべてAと答えるだけの基準は50.38%となる。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答えの選び方と評価</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https://docs.google.com/uc?export=download&amp;id=1PVoyddrCHChMxYrLhsI-zu7Xzs5S8N77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大規模言語モデルの参考成績は、正答率5〜6割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答えの選び方と評価</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5029200"/>
                <a:gridCol w="301752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正答率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OPT-175B (2022)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53.17</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text-davinci-003 (2022)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62.17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Llama 2 70B (2023)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58.49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2023年の公開評価。testから489問、正解付き3例を提示。OPT・davinciは3試行平均、Llama 2は1試行。</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(2023). HELM Classic: LegalSupport.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https://crfm.stanford.edu/helm/classic/v0.4.0/#/groups/legal_support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データの利用と入手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データの利用と入手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主張・二つの候補・正解をJSONLから読む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データの利用と入手</a:t>
            </a:r>
          </a:p>
        </p:txBody>
      </p:sp>
      <p:sp>
        <p:nvSpPr>
          <p:cNvPr id="4" name="TextBox 3"/>
          <p:cNvSpPr txBox="1"/>
          <p:nvPr/>
        </p:nvSpPr>
        <p:spPr>
          <a:xfrm>
            <a:off x="548640" y="1325880"/>
            <a:ext cx="8046720" cy="274320"/>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配布ZIPには、train・dev・testのJSONLファイルが入っている。</a:t>
            </a:r>
          </a:p>
        </p:txBody>
      </p:sp>
      <p:sp>
        <p:nvSpPr>
          <p:cNvPr id="5" name="code-frame"/>
          <p:cNvSpPr/>
          <p:nvPr/>
        </p:nvSpPr>
        <p:spPr>
          <a:xfrm>
            <a:off x="548640" y="1737360"/>
            <a:ext cx="8046720" cy="1947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4402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import json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with open('test.jsonl', encoding='utf-8') as f:</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    example = json.loads(next(f))</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print(example['context'])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print(example['citation_a']['parenthetical'])</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print(example['citation_b']['parenthetical'])</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Liberation Mono"/>
                <a:ea typeface="Noto Sans CJK JP"/>
                <a:cs typeface="Liberation Mono"/>
              </a:rPr>
              <a:t>print(example['label'])</a:t>
            </a:r>
          </a:p>
        </p:txBody>
      </p:sp>
      <p:sp>
        <p:nvSpPr>
          <p:cNvPr id="6" name="TextBox 5"/>
          <p:cNvSpPr txBox="1"/>
          <p:nvPr/>
        </p:nvSpPr>
        <p:spPr>
          <a:xfrm>
            <a:off x="594360" y="3735368"/>
            <a:ext cx="7955279" cy="548640"/>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contextが主張、parentheticalが判例の短い記述。labelは正解のa／bを表す。</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公開コードと、引用する判例の利用条件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データを読むための公開コードはApache 2.0で利用できる。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配布データには専用のライセンス表示がない。判例由来の主張や記述を再利用するときは、データの配布条件と元資料の出所を確かめる。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公式リポジトリ。</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主張と根拠のつながりを、判例の引用で評価する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LegalSupportは、米国の実際の判決文から取り出した主張と二つの判例記述を使い、より直接的な根拠を選ぶ課題である。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引用の導入句を手掛かりに正解を作るため、法律家が個々の問題に新しく正解を付けたデータとは性質が異なる。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主張と根拠の対応を学習・評価したり、二つの候補を比較する推論を調べたりするために使える。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データの利用と入手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(2023), Holistic Evaluation of Language Models. TMLR.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39115"/>
            <a:ext cx="8046720" cy="748585"/>
          </a:xfrm>
        </p:spPr>
        <p:txBody>
          <a:bodyPr wrap="square" lIns="0" rIns="0" tIns="0" bIns="71929"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同じ選択肢が現れる問題</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実例4：過失を判断する陪審の役割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744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Under these circumstances, the jury was authorized to conclude that Love was not negligent.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trial court did not err in denying Willis' motion for directed verdict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in rear-end collision cases, issues of liability are for the jury to decide</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1964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このような状況では、陪審がラヴには過失がなかったと判断することが認められた。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第一審がウィリスの指示評決の申立てを退けたことに、誤りはなかった。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追突事故の責任の有無は、陪審が判断すべき問題である。</a:t>
            </a:r>
          </a:p>
        </p:txBody>
      </p:sp>
      <p:sp>
        <p:nvSpPr>
          <p:cNvPr id="8" name="TextBox 7"/>
          <p:cNvSpPr txBox="1"/>
          <p:nvPr/>
        </p:nvSpPr>
        <p:spPr>
          <a:xfrm>
            <a:off x="594360" y="36132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実例5：自己負罪拒否と審査方法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303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We review de novo Washington's claim that the sentencing court improperly penalized him for invoking his constitutional right against self-incrimination.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reviewing de novo claim sentence was result of "judicial vindictiveness"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reviewing evidence de novo on claimed violation of Fifth Amendment</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ワシントンは、憲法上の自己負罪拒否権を行使したことで、量刑を決めた裁判所から不当に不利益を受けたと主張する。この主張は、原判断に拘束されず審査する。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量刑が「裁判所による報復」の結果だという主張を、独立に審査した。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修正第5条違反の主張について、証拠を独立に審査した。</a:t>
            </a:r>
          </a:p>
        </p:txBody>
      </p:sp>
      <p:sp>
        <p:nvSpPr>
          <p:cNvPr id="8" name="TextBox 7"/>
          <p:cNvSpPr txBox="1"/>
          <p:nvPr/>
        </p:nvSpPr>
        <p:spPr>
          <a:xfrm>
            <a:off x="594360" y="40704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実例6：不十分な修理と損害の回復</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.Many of the cases address how to remedy inadequate or defective repairs.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finding no repairs were made due to parties' disagreement over the correct measure of damages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finding some repairs made but additional repairs could have restored vehicle to the same or as good condition</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192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多くの事例では、不十分または不適切な修理をどのように是正するかが問題になる。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適切な損害賠償額について当事者の見解が一致せず、修理は行われなかったと認定した。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一部の修理は済んでいたが、追加の修理で車両を元と同じか、同程度に良好な状態に戻せたと認定した。</a:t>
            </a:r>
          </a:p>
        </p:txBody>
      </p:sp>
      <p:sp>
        <p:nvSpPr>
          <p:cNvPr id="8" name="TextBox 7"/>
          <p:cNvSpPr txBox="1"/>
          <p:nvPr/>
        </p:nvSpPr>
        <p:spPr>
          <a:xfrm>
            <a:off x="594360" y="38418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実例7：フェアユースと消費者の混同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55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But the Supreme Court rejected Paccar on the precise point for which Kassa cites it. See K.P.</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"The fair--use defense contemplates and tolerates 'some possibility of consumer confusion.'-"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rejecting Paccar and holding that "fair use can - occur along with some degree of [consumer] confusion"</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41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しかし最高裁は、カッサがパッカー判決を引用する根拠とした、まさにその点で同判決を否定した。K.P.判決参照。</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「フェアユースの抗弁は、消費者の混同が生じる可能性があることを想定し、それを許容する」とした。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パッカー判決を否定し、一定の消費者の混同があってもフェアユースは成立しうるとした。</a:t>
            </a:r>
          </a:p>
        </p:txBody>
      </p:sp>
      <p:sp>
        <p:nvSpPr>
          <p:cNvPr id="8" name="TextBox 7"/>
          <p:cNvSpPr txBox="1"/>
          <p:nvPr/>
        </p:nvSpPr>
        <p:spPr>
          <a:xfrm>
            <a:off x="594360" y="4061968"/>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実例8：よく似た二つの根拠</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We have sometimes allowed a defendant to preserve a district court error as long as one of his codefendants objected below.</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holding that objection to instructions by codefendant's counsel is sufficient to preserve any error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ruling that objection to instructions by codefendant's counsel preserves any error</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421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共同被告人の一人が第一審で異議を述べていれば、被告人自身も第一審の誤りを争う権利を維持できると認めたことがある。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共同被告人の弁護人による説示への異議で、誤りを争う権利の維持には十分だと判示した。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共同被告人の弁護人による説示への異議で、誤りを争う権利は維持されると判断した。</a:t>
            </a:r>
          </a:p>
        </p:txBody>
      </p:sp>
      <p:sp>
        <p:nvSpPr>
          <p:cNvPr id="8" name="TextBox 7"/>
          <p:cNvSpPr txBox="1"/>
          <p:nvPr/>
        </p:nvSpPr>
        <p:spPr>
          <a:xfrm>
            <a:off x="594360" y="40704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実例9：控訴で述べない主張の扱い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744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On appeal, San Martin has not made these arguments, and therefore has waived them.</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deeming an issue waived when its only mention in the party's brief was in the Statement of the Case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holding that a habeas petitioner abandons the claims he does not address on appeal</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184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サン・マルティンは控訴でこれらの主張をしていないため、主張する権利を放棄したものとみなされる。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当事者の書面で事件の経過を記す部分にしか言及がない論点は、放棄されたものとみなした。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人身保護の申立人は、控訴で取り上げない主張を放棄したものと判示した。</a:t>
            </a:r>
          </a:p>
        </p:txBody>
      </p:sp>
      <p:sp>
        <p:nvSpPr>
          <p:cNvPr id="8" name="TextBox 7"/>
          <p:cNvSpPr txBox="1"/>
          <p:nvPr/>
        </p:nvSpPr>
        <p:spPr>
          <a:xfrm>
            <a:off x="594360" y="3833368"/>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実例10：差止め請求の遅れが与えた影響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1972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JPMorgan's delay in seeking injunctive relief has neither disadvantaged Plaintiffs nor altered the outcome of this proceeding.</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finding that the delay in seeking the injunction had not disadvantaged the other party's interests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finding that the delay in that instance did not alter the outcome of the proceedings</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192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JPMorganが差止めを求めるまでに時間を要したことは、原告に不利益を与えず、この手続の結論も変えていない。</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差止めを求めるまでの遅れは、相手方の利益を損なっていなかったと認定した。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その事案での遅れは、手続の結論を変えていなかったと認定した。</a:t>
            </a:r>
          </a:p>
        </p:txBody>
      </p:sp>
      <p:sp>
        <p:nvSpPr>
          <p:cNvPr id="8" name="TextBox 7"/>
          <p:cNvSpPr txBox="1"/>
          <p:nvPr/>
        </p:nvSpPr>
        <p:spPr>
          <a:xfrm>
            <a:off x="594360" y="38418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実例11：回復不能な損害の推認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2201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Indeed, irreparable harm may be presumed with the finding of a violation of the First Amendment.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"It is well established that the deprivation of constitutional rights 'unquestionably constitutes irreparable injury.' "</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"The loss of First Amendment freedoms, for even minimal periods of time, unquestionably constitutes irreparable injury"</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192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実際、修正第1条違反が認められれば、回復不能な損害を推認することができる。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「憲法上の権利の剥奪が、疑いなく回復不能な損害になることは、十分確立している」とした。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「修正第1条が保障する自由の喪失は、ごく短期間でも、疑いなく回復不能な損害になる」とした。</a:t>
            </a:r>
          </a:p>
        </p:txBody>
      </p:sp>
      <p:sp>
        <p:nvSpPr>
          <p:cNvPr id="8" name="TextBox 7"/>
          <p:cNvSpPr txBox="1"/>
          <p:nvPr/>
        </p:nvSpPr>
        <p:spPr>
          <a:xfrm>
            <a:off x="594360" y="3850301"/>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実例12：申立ての名称より中身を読む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21589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Washington's motion may be more properly construed as a Wis. Stat. SS 974.06 postconviction motion.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We liberally construe a pro se defendant's motion and are not bound by the defendant's labels.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SS 974.06 motions are properly used to bring issues of jurisdictional or constitutional dimension before the court</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345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ワシントンの申立ては、ウィスコンシン州法974.06条に基づく有罪判決後の救済申立てと解する方が適切かもしれない。</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A. 弁護士を付けずに訴訟を行う被告人の申立ては柔軟に解釈し、本人が付けた名称には拘束されない。</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B. 974.06条に基づく申立ては、管轄または憲法上の問題を裁判所に提起するために用いられる。</a:t>
            </a:r>
          </a:p>
        </p:txBody>
      </p:sp>
      <p:sp>
        <p:nvSpPr>
          <p:cNvPr id="8" name="TextBox 7"/>
          <p:cNvSpPr txBox="1"/>
          <p:nvPr/>
        </p:nvSpPr>
        <p:spPr>
          <a:xfrm>
            <a:off x="594360" y="3994234"/>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実例13：法的文書の作成は法律業務か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44168"/>
            <a:ext cx="448056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英語原文（主張・選択肢の全文）</a:t>
            </a:r>
          </a:p>
        </p:txBody>
      </p:sp>
      <p:sp>
        <p:nvSpPr>
          <p:cNvPr id="5" name="quote-frame"/>
          <p:cNvSpPr/>
          <p:nvPr/>
        </p:nvSpPr>
        <p:spPr>
          <a:xfrm>
            <a:off x="548640" y="1572768"/>
            <a:ext cx="4480560" cy="2201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5723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Additionally, Indiana courts have repeatedly held that drafting or preparing legal instruments- is generally considered practicing law. See State ex rel. Ind. State.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A. "Drafting and preparing testamentary and trust documents is clearly the practice of law."</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B. preparation of immigration documents and drafting contracts, pleadings, and a will, constituted unauthorized practice of law</a:t>
            </a:r>
          </a:p>
        </p:txBody>
      </p:sp>
      <p:sp>
        <p:nvSpPr>
          <p:cNvPr id="6" name="TextBox 5"/>
          <p:cNvSpPr txBox="1"/>
          <p:nvPr/>
        </p:nvSpPr>
        <p:spPr>
          <a:xfrm>
            <a:off x="5212080" y="1344168"/>
            <a:ext cx="338328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日本語訳（全文）</a:t>
            </a:r>
          </a:p>
        </p:txBody>
      </p:sp>
      <p:sp>
        <p:nvSpPr>
          <p:cNvPr id="7" name="quote-frame"/>
          <p:cNvSpPr/>
          <p:nvPr/>
        </p:nvSpPr>
        <p:spPr>
          <a:xfrm>
            <a:off x="5212080" y="1572768"/>
            <a:ext cx="3383280" cy="2565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18872" rIns="118872" tIns="74168"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さらにインディアナ州の裁判所は、法的文書を起案・作成することは一般に法律業務とみなされると、繰り返し判示してきた。State ex rel. Ind. State判決参照。</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A. 「遺言や信託に関する文書を起案・作成することは、明らかに法律業務である」とした。</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B. 移民関係書類の作成や、契約書・訴訟書面・遺言書の起案は、無資格の法律業務にあたるとした。</a:t>
            </a:r>
          </a:p>
        </p:txBody>
      </p:sp>
      <p:sp>
        <p:nvSpPr>
          <p:cNvPr id="8" name="TextBox 7"/>
          <p:cNvSpPr txBox="1"/>
          <p:nvPr/>
        </p:nvSpPr>
        <p:spPr>
          <a:xfrm>
            <a:off x="594360" y="4214368"/>
            <a:ext cx="7955279" cy="393192"/>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a:t>
            </a:r>
          </a:p>
        </p:txBody>
      </p:sp>
      <p:sp>
        <p:nvSpPr>
          <p:cNvPr id="9"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https://docs.google.com/uc?export=download&amp;id=1PVoyddrCHChMxYrLhsI-zu7Xzs5S8N77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同じ選択肢が現れる問題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同じ選択肢が現れる問題</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AとBが同じ記述になる問題も含まれる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学習用に8問、テスト用に1問、二つの候補が完全に同じ記述になっている問題が含まれる。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同じ記述を選ぶことになるため、文字列だけではAとBの優劣を判定できない。選択肢の記号で採点するときは、このような問題の扱いを決めておく必要がある。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同じ選択肢が現れる問題</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(n.d.). LegalSupport public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https://docs.google.com/uc?export=download&amp;id=1PVoyddrCHChMxYrLhsI-zu7Xzs5S8N77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Holistic Evaluation of Language Models"/>
          <p:cNvSpPr txBox="1"/>
          <p:nvPr/>
        </p:nvSpPr>
        <p:spPr>
          <a:xfrm>
            <a:off x="548640" y="1463040"/>
            <a:ext cx="8046720" cy="1538393"/>
          </a:xfrm>
          <a:prstGeom prst="rect">
            <a:avLst/>
          </a:prstGeom>
          <a:noFill/>
        </p:spPr>
        <p:txBody>
          <a:bodyPr wrap="square" lIns="0" rIns="0" tIns="0" bIns="198035">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Percy Liangほか（2023）／Transactions on Machine Learning Research</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LegalSupportの構築、引用から得た支持の強さ、共通条件でのモデル評価を報告。</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
        <p:nvSpPr>
          <p:cNvPr id="5" name="文献 2: LegalSupportScenario"/>
          <p:cNvSpPr txBox="1"/>
          <p:nvPr/>
        </p:nvSpPr>
        <p:spPr>
          <a:xfrm>
            <a:off x="548640" y="3085846"/>
            <a:ext cx="8046720" cy="1236387"/>
          </a:xfrm>
          <a:prstGeom prst="rect">
            <a:avLst/>
          </a:prstGeom>
          <a:noFill/>
        </p:spPr>
        <p:txBody>
          <a:bodyPr wrap="square" lIns="0" rIns="0" tIns="0" bIns="142155">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LegalSupportScenario</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(n.d.). HELMの公開シナリオ実装。参照2026-10-18。</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配布データを主張と二つの参照回答へ変換し、正解タグを付ける処理を公開。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https://github.com/stanford-crfm/helm/blob/v0.3.0/src/helm/benchmark/scenarios/legal_support_scenario.py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LegalSupportの公開コードと配布への入口"/>
          <p:cNvSpPr txBox="1"/>
          <p:nvPr/>
        </p:nvSpPr>
        <p:spPr>
          <a:xfrm>
            <a:off x="548640" y="1463040"/>
            <a:ext cx="8046720" cy="1242059"/>
          </a:xfrm>
          <a:prstGeom prst="rect">
            <a:avLst/>
          </a:prstGeom>
          <a:noFill/>
        </p:spPr>
        <p:txBody>
          <a:bodyPr wrap="square" lIns="0" rIns="0" tIns="0" bIns="147827">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LegalSupportの公開コードと配布への入口</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(n.d.). 公式リポジトリ。参照2026-10-18。</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配布先と、主張・候補・正解を読み込むコードへの入口。</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https://github.com/stanford-crfm/helm</a:t>
            </a:r>
          </a:p>
        </p:txBody>
      </p:sp>
      <p:sp>
        <p:nvSpPr>
          <p:cNvPr id="5" name="文献 2: Holistic Evaluation of Language Models：初回公開版"/>
          <p:cNvSpPr txBox="1"/>
          <p:nvPr/>
        </p:nvSpPr>
        <p:spPr>
          <a:xfrm>
            <a:off x="548640" y="2839719"/>
            <a:ext cx="8046720" cy="1236981"/>
          </a:xfrm>
          <a:prstGeom prst="rect">
            <a:avLst/>
          </a:prstGeom>
          <a:noFill/>
        </p:spPr>
        <p:txBody>
          <a:bodyPr wrap="square" lIns="0" rIns="0" tIns="0" bIns="142749">
            <a:noAutofit/>
          </a:bodyPr>
          <a:lstStyle/>
          <a:p>
            <a:pPr algn="l">
              <a:lnSpc>
                <a:spcPct val="114000"/>
              </a:lnSpc>
              <a:spcBef>
                <a:spcPts val="0"/>
              </a:spcBef>
              <a:spcAft>
                <a:spcPts val="400"/>
              </a:spcAft>
              <a:buNone/>
              <a:defRPr sz="1900" b="0">
                <a:solidFill>
                  <a:srgbClr val="303437"/>
                </a:solidFill>
                <a:latin typeface="Noto Sans"/>
              </a:defRPr>
            </a:pPr>
            <a:r>
              <a:rPr sz="1900" b="1" lang="ja-JP" altLang="en-US">
                <a:solidFill>
                  <a:srgbClr val="303437"/>
                </a:solidFill>
                <a:latin typeface="Noto Sans"/>
                <a:ea typeface="Noto Sans CJK JP"/>
                <a:cs typeface="Noto Sans"/>
              </a:rPr>
              <a:t>Holistic Evaluation of Language Models：初回公開版</a:t>
            </a:r>
          </a:p>
          <a:p>
            <a:pPr algn="l">
              <a:lnSpc>
                <a:spcPct val="114000"/>
              </a:lnSpc>
              <a:spcBef>
                <a:spcPts val="0"/>
              </a:spcBef>
              <a:spcAft>
                <a:spcPts val="4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Percy Liangほか（2022）／arXiv:2211.09110v1</a:t>
            </a:r>
          </a:p>
          <a:p>
            <a:pPr algn="l">
              <a:lnSpc>
                <a:spcPct val="114000"/>
              </a:lnSpc>
              <a:spcBef>
                <a:spcPts val="0"/>
              </a:spcBef>
              <a:spcAft>
                <a:spcPts val="400"/>
              </a:spcAft>
              <a:buNone/>
              <a:defRPr sz="1700" b="0">
                <a:solidFill>
                  <a:srgbClr val="303437"/>
                </a:solidFill>
                <a:latin typeface="Noto Sans"/>
              </a:defRPr>
            </a:pPr>
            <a:r>
              <a:rPr sz="1700" b="0" lang="ja-JP" altLang="en-US">
                <a:solidFill>
                  <a:srgbClr val="303437"/>
                </a:solidFill>
                <a:latin typeface="Noto Sans"/>
                <a:ea typeface="Noto Sans CJK JP"/>
                <a:cs typeface="Noto Sans"/>
              </a:rPr>
              <a:t>2022年の時点でLegalSupportの問題形式、作成方法と集合別件数を記載。</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https://arxiv.org/abs/2211.09110v1</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2026-10-19T08:53:40Z</dcterms:modified>
  <dc:title>legal-support</dc:title>
  <dc:creator>sasakiy84</dc:creator>
  <dcterms:created xsi:type="dcterms:W3CDTF">2026-10-19T08:53:40Z</dcterms:created>
  <dc:language>ja-JP</dc:language>
</cp:coreProperties>
</file>