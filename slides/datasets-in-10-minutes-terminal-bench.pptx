
<file path=[Content_Types].xml><?xml version="1.0" encoding="utf-8"?>
<Types xmlns="http://schemas.openxmlformats.org/package/2006/content-types">
  <Default Extension="png" ContentType="image/png"/>
  <Default Extension="rels" ContentType="application/vnd.openxmlformats-package.relationships+xml"/>
  <Default Extension="xlsx" ContentType="application/vnd.openxmlformats-officedocument.spreadsheetml.sheet"/>
  <Default Extension="xml" ContentType="application/xml"/>
  <Override PartName="/docProps/app.xml" ContentType="application/vnd.openxmlformats-officedocument.extended-properties+xml"/>
  <Override PartName="/docProps/core.xml" ContentType="application/vnd.openxmlformats-package.core-properties+xml"/>
  <Override PartName="/ppt/charts/chart1.xml" ContentType="application/vnd.openxmlformats-officedocument.drawingml.chart+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Override PartName="/ppt/webextensions/taskpanes.xml" ContentType="application/vnd.ms-office.webextensiontaskpanes+xml"/>
  <Override PartName="/ppt/webextensions/webextension1.xml" ContentType="application/vnd.ms-office.webextension+xml"/>
</Types>
</file>

<file path=_rels/.rels><?xml version='1.0' encoding='UTF-8' standalone='yes'?>
<Relationships xmlns="http://schemas.openxmlformats.org/package/2006/relationships"><Relationship Id="rId1" Type="http://schemas.microsoft.com/office/2011/relationships/webextensiontaskpanes" Target="ppt/webextensions/taskpanes.xml"/><Relationship Id="rId2" Type="http://schemas.openxmlformats.org/officeDocument/2006/relationships/officeDocument" Target="ppt/presentation.xml"/><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trictFirstAndLastChars="0" embedTrueTypeFonts="1" saveSubsetFonts="1" autoCompressPictures="0">
  <p:sldMasterIdLst>
    <p:sldMasterId id="2147483662" r:id="rId1"/>
  </p:sldMasterIdLst>
  <p:sldIdLst>
    <p:sldId id="256" r:id="rId6"/>
    <p:sldId id="257" r:id="rId7"/>
    <p:sldId id="258" r:id="rId8"/>
    <p:sldId id="259" r:id="rId9"/>
    <p:sldId id="260" r:id="rId10"/>
    <p:sldId id="261" r:id="rId5"/>
    <p:sldId id="262" r:id="rId4"/>
    <p:sldId id="263" r:id="rId3"/>
    <p:sldId id="264" r:id="rId2"/>
    <p:sldId id="265" r:id="rId15"/>
    <p:sldId id="266" r:id="rId16"/>
    <p:sldId id="267" r:id="rId17"/>
    <p:sldId id="268" r:id="rId18"/>
    <p:sldId id="269" r:id="rId19"/>
    <p:sldId id="270" r:id="rId20"/>
    <p:sldId id="271" r:id="rId21"/>
    <p:sldId id="272" r:id="rId22"/>
    <p:sldId id="273" r:id="rId23"/>
    <p:sldId id="274" r:id="rId24"/>
    <p:sldId id="275" r:id="rId25"/>
    <p:sldId id="276" r:id="rId26"/>
    <p:sldId id="277" r:id="rId27"/>
    <p:sldId id="278" r:id="rId28"/>
    <p:sldId id="279" r:id="rId29"/>
    <p:sldId id="280" r:id="rId30"/>
    <p:sldId id="281" r:id="rId31"/>
    <p:sldId id="282" r:id="rId32"/>
    <p:sldId id="283" r:id="rId33"/>
    <p:sldId id="284" r:id="rId34"/>
    <p:sldId id="285" r:id="rId35"/>
    <p:sldId id="286" r:id="rId36"/>
    <p:sldId id="287" r:id="rId37"/>
    <p:sldId id="288" r:id="rId38"/>
    <p:sldId id="289" r:id="rId39"/>
    <p:sldId id="290" r:id="rId40"/>
    <p:sldId id="291" r:id="rId41"/>
    <p:sldId id="292" r:id="rId42"/>
    <p:sldId id="293" r:id="rId43"/>
    <p:sldId id="294" r:id="rId44"/>
    <p:sldId id="295" r:id="rId45"/>
    <p:sldId id="296" r:id="rId46"/>
    <p:sldId id="297" r:id="rId47"/>
    <p:sldId id="298" r:id="rId48"/>
    <p:sldId id="299" r:id="rId49"/>
    <p:sldId id="300" r:id="rId50"/>
    <p:sldId id="301" r:id="rId51"/>
    <p:sldId id="302" r:id="rId52"/>
    <p:sldId id="303" r:id="rId53"/>
    <p:sldId id="304" r:id="rId54"/>
    <p:sldId id="305" r:id="rId55"/>
    <p:sldId id="306" r:id="rId56"/>
    <p:sldId id="307" r:id="rId57"/>
    <p:sldId id="308" r:id="rId58"/>
    <p:sldId id="309" r:id="rId59"/>
    <p:sldId id="310" r:id="rId60"/>
    <p:sldId id="311" r:id="rId61"/>
    <p:sldId id="312" r:id="rId62"/>
    <p:sldId id="313" r:id="rId63"/>
    <p:sldId id="314" r:id="rId64"/>
    <p:sldId id="315" r:id="rId65"/>
    <p:sldId id="316" r:id="rId66"/>
    <p:sldId id="317" r:id="rId67"/>
    <p:sldId id="318" r:id="rId68"/>
    <p:sldId id="319" r:id="rId69"/>
    <p:sldId id="320" r:id="rId70"/>
    <p:sldId id="321" r:id="rId71"/>
    <p:sldId id="322" r:id="rId72"/>
    <p:sldId id="323" r:id="rId73"/>
    <p:sldId id="324" r:id="rId74"/>
    <p:sldId id="325" r:id="rId75"/>
    <p:sldId id="326" r:id="rId76"/>
  </p:sldIdLst>
  <p:sldSz cx="9144000" cy="5143500" type="screen16x9"/>
  <p:notesSz cx="6858000" cy="9144000"/>
  <p:defaultTex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Noto Sans CJK JP"/>
      <a:defRPr sz="1400" b="0" i="0" u="none" strike="noStrike" cap="none" lang="ja-JP">
        <a:solidFill>
          <a:srgbClr val="000000"/>
        </a:solidFill>
        <a:latin typeface="Noto Sans"/>
        <a:ea typeface="Noto Sans CJK JP"/>
        <a:cs typeface="Noto Sans"/>
        <a:sym typeface="Arial"/>
      </a:defRPr>
    </a:lvl1pPr>
    <a:lvl2pPr marR="0" lvl="1" algn="l" rtl="0">
      <a:lnSpc>
        <a:spcPct val="100000"/>
      </a:lnSpc>
      <a:spcBef>
        <a:spcPts val="0"/>
      </a:spcBef>
      <a:spcAft>
        <a:spcPts val="0"/>
      </a:spcAft>
      <a:buClr>
        <a:srgbClr val="000000"/>
      </a:buClr>
      <a:buFont typeface="Noto Sans CJK JP"/>
      <a:defRPr sz="1400" b="0" i="0" u="none" strike="noStrike" cap="none" lang="ja-JP">
        <a:solidFill>
          <a:srgbClr val="000000"/>
        </a:solidFill>
        <a:latin typeface="Noto Sans"/>
        <a:ea typeface="Noto Sans CJK JP"/>
        <a:cs typeface="Noto Sans"/>
        <a:sym typeface="Arial"/>
      </a:defRPr>
    </a:lvl2pPr>
    <a:lvl3pPr marR="0" lvl="2" algn="l" rtl="0">
      <a:lnSpc>
        <a:spcPct val="100000"/>
      </a:lnSpc>
      <a:spcBef>
        <a:spcPts val="0"/>
      </a:spcBef>
      <a:spcAft>
        <a:spcPts val="0"/>
      </a:spcAft>
      <a:buClr>
        <a:srgbClr val="000000"/>
      </a:buClr>
      <a:buFont typeface="Noto Sans CJK JP"/>
      <a:defRPr sz="1400" b="0" i="0" u="none" strike="noStrike" cap="none" lang="ja-JP">
        <a:solidFill>
          <a:srgbClr val="000000"/>
        </a:solidFill>
        <a:latin typeface="Noto Sans"/>
        <a:ea typeface="Noto Sans CJK JP"/>
        <a:cs typeface="Noto Sans"/>
        <a:sym typeface="Arial"/>
      </a:defRPr>
    </a:lvl3pPr>
    <a:lvl4pPr marR="0" lvl="3" algn="l" rtl="0">
      <a:lnSpc>
        <a:spcPct val="100000"/>
      </a:lnSpc>
      <a:spcBef>
        <a:spcPts val="0"/>
      </a:spcBef>
      <a:spcAft>
        <a:spcPts val="0"/>
      </a:spcAft>
      <a:buClr>
        <a:srgbClr val="000000"/>
      </a:buClr>
      <a:buFont typeface="Noto Sans CJK JP"/>
      <a:defRPr sz="1400" b="0" i="0" u="none" strike="noStrike" cap="none" lang="ja-JP">
        <a:solidFill>
          <a:srgbClr val="000000"/>
        </a:solidFill>
        <a:latin typeface="Noto Sans"/>
        <a:ea typeface="Noto Sans CJK JP"/>
        <a:cs typeface="Noto Sans"/>
        <a:sym typeface="Arial"/>
      </a:defRPr>
    </a:lvl4pPr>
    <a:lvl5pPr marR="0" lvl="4" algn="l" rtl="0">
      <a:lnSpc>
        <a:spcPct val="100000"/>
      </a:lnSpc>
      <a:spcBef>
        <a:spcPts val="0"/>
      </a:spcBef>
      <a:spcAft>
        <a:spcPts val="0"/>
      </a:spcAft>
      <a:buClr>
        <a:srgbClr val="000000"/>
      </a:buClr>
      <a:buFont typeface="Noto Sans CJK JP"/>
      <a:defRPr sz="1400" b="0" i="0" u="none" strike="noStrike" cap="none" lang="ja-JP">
        <a:solidFill>
          <a:srgbClr val="000000"/>
        </a:solidFill>
        <a:latin typeface="Noto Sans"/>
        <a:ea typeface="Noto Sans CJK JP"/>
        <a:cs typeface="Noto Sans"/>
        <a:sym typeface="Arial"/>
      </a:defRPr>
    </a:lvl5pPr>
    <a:lvl6pPr marR="0" lvl="5" algn="l" rtl="0">
      <a:lnSpc>
        <a:spcPct val="100000"/>
      </a:lnSpc>
      <a:spcBef>
        <a:spcPts val="0"/>
      </a:spcBef>
      <a:spcAft>
        <a:spcPts val="0"/>
      </a:spcAft>
      <a:buClr>
        <a:srgbClr val="000000"/>
      </a:buClr>
      <a:buFont typeface="Noto Sans CJK JP"/>
      <a:defRPr sz="1400" b="0" i="0" u="none" strike="noStrike" cap="none" lang="ja-JP">
        <a:solidFill>
          <a:srgbClr val="000000"/>
        </a:solidFill>
        <a:latin typeface="Noto Sans"/>
        <a:ea typeface="Noto Sans CJK JP"/>
        <a:cs typeface="Noto Sans"/>
        <a:sym typeface="Arial"/>
      </a:defRPr>
    </a:lvl6pPr>
    <a:lvl7pPr marR="0" lvl="6" algn="l" rtl="0">
      <a:lnSpc>
        <a:spcPct val="100000"/>
      </a:lnSpc>
      <a:spcBef>
        <a:spcPts val="0"/>
      </a:spcBef>
      <a:spcAft>
        <a:spcPts val="0"/>
      </a:spcAft>
      <a:buClr>
        <a:srgbClr val="000000"/>
      </a:buClr>
      <a:buFont typeface="Noto Sans CJK JP"/>
      <a:defRPr sz="1400" b="0" i="0" u="none" strike="noStrike" cap="none" lang="ja-JP">
        <a:solidFill>
          <a:srgbClr val="000000"/>
        </a:solidFill>
        <a:latin typeface="Noto Sans"/>
        <a:ea typeface="Noto Sans CJK JP"/>
        <a:cs typeface="Noto Sans"/>
        <a:sym typeface="Arial"/>
      </a:defRPr>
    </a:lvl7pPr>
    <a:lvl8pPr marR="0" lvl="7" algn="l" rtl="0">
      <a:lnSpc>
        <a:spcPct val="100000"/>
      </a:lnSpc>
      <a:spcBef>
        <a:spcPts val="0"/>
      </a:spcBef>
      <a:spcAft>
        <a:spcPts val="0"/>
      </a:spcAft>
      <a:buClr>
        <a:srgbClr val="000000"/>
      </a:buClr>
      <a:buFont typeface="Noto Sans CJK JP"/>
      <a:defRPr sz="1400" b="0" i="0" u="none" strike="noStrike" cap="none" lang="ja-JP">
        <a:solidFill>
          <a:srgbClr val="000000"/>
        </a:solidFill>
        <a:latin typeface="Noto Sans"/>
        <a:ea typeface="Noto Sans CJK JP"/>
        <a:cs typeface="Noto Sans"/>
        <a:sym typeface="Arial"/>
      </a:defRPr>
    </a:lvl8pPr>
    <a:lvl9pPr marR="0" lvl="8" algn="l" rtl="0">
      <a:lnSpc>
        <a:spcPct val="100000"/>
      </a:lnSpc>
      <a:spcBef>
        <a:spcPts val="0"/>
      </a:spcBef>
      <a:spcAft>
        <a:spcPts val="0"/>
      </a:spcAft>
      <a:buClr>
        <a:srgbClr val="000000"/>
      </a:buClr>
      <a:buFont typeface="Noto Sans CJK JP"/>
      <a:defRPr sz="1400" b="0" i="0" u="none" strike="noStrike" cap="none" lang="ja-JP">
        <a:solidFill>
          <a:srgbClr val="000000"/>
        </a:solidFill>
        <a:latin typeface="Noto Sans"/>
        <a:ea typeface="Noto Sans CJK JP"/>
        <a:cs typeface="Noto Sans"/>
        <a:sym typeface="Arial"/>
      </a:defRPr>
    </a:lvl9pPr>
  </p:defaultTextStyle>
  <p:extLst>
    <p:ext uri="{EFAFB233-063F-42B5-8137-9DF3F51BA10A}">
      <p15:sldGuideLst xmlns:p15="http://schemas.microsoft.com/office/powerpoint/2012/main">
        <p15:guide id="1" orient="horz" pos="590">
          <p15:clr>
            <a:srgbClr val="747775"/>
          </p15:clr>
        </p15:guide>
        <p15:guide id="2" pos="1271">
          <p15:clr>
            <a:srgbClr val="747775"/>
          </p15:clr>
        </p15:guide>
        <p15:guide id="3" orient="horz" pos="1584">
          <p15:clr>
            <a:srgbClr val="747775"/>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useTimings="0">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1E77B4"/>
    <a:srgbClr val="7A81FF"/>
    <a:srgbClr val="0096FF"/>
    <a:srgbClr val="011893"/>
    <a:srgbClr val="B13731"/>
    <a:srgbClr val="EF8600"/>
    <a:srgbClr val="FFCD8C"/>
    <a:srgbClr val="0036FF"/>
    <a:srgbClr val="00D989"/>
    <a:srgbClr val="01D8A1"/>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FD8A3C8B-3693-4FF3-BE57-18EF887A9C23}">
  <a:tblStyle styleId="{FD8A3C8B-3693-4FF3-BE57-18EF887A9C23}" styleName="Table_0">
    <a:wholeTbl>
      <a:tcTxStyle>
        <a:font>
          <a:latin typeface="Noto Sans"/>
          <a:ea typeface="Noto Sans CJK JP"/>
          <a:cs typeface="Noto Sans"/>
        </a:font>
        <a:srgbClr val="000000"/>
      </a:tcTxStyle>
      <a:tcStyle>
        <a:tcBdr>
          <a:left>
            <a:ln>
              <a:noFill/>
            </a:ln>
          </a:left>
          <a:right>
            <a:ln>
              <a:noFill/>
            </a:ln>
          </a:right>
          <a:top>
            <a:ln w="15240" cap="flat">
              <a:solidFill>
                <a:srgbClr val="626669"/>
              </a:solidFill>
              <a:prstDash val="solid"/>
            </a:ln>
          </a:top>
          <a:bottom>
            <a:ln w="15240" cap="flat">
              <a:solidFill>
                <a:srgbClr val="626669"/>
              </a:solidFill>
              <a:prstDash val="solid"/>
            </a:ln>
          </a:bottom>
          <a:insideH>
            <a:ln>
              <a:noFill/>
            </a:ln>
          </a:insideH>
          <a:insideV>
            <a:ln>
              <a:noFill/>
            </a:ln>
          </a:insideV>
        </a:tcBdr>
      </a:tcStyle>
    </a:wholeTbl>
    <a:band1H>
      <a:tcTxStyle/>
      <a:tcStyle>
        <a:tcBdr/>
      </a:tcStyle>
    </a:band1H>
    <a:band2H>
      <a:tcTxStyle/>
      <a:tcStyle>
        <a:tcBdr/>
      </a:tcStyle>
    </a:band2H>
    <a:band1V>
      <a:tcTxStyle/>
      <a:tcStyle>
        <a:tcBdr/>
      </a:tcStyle>
    </a:band1V>
    <a:band2V>
      <a:tcTxStyle/>
      <a:tcStyle>
        <a:tcBdr/>
      </a:tcStyle>
    </a:band2V>
    <a:lastCol>
      <a:tcTxStyle/>
      <a:tcStyle>
        <a:tcBdr/>
      </a:tcStyle>
    </a:lastCol>
    <a:firstCol>
      <a:tcTxStyle/>
      <a:tcStyle>
        <a:tcBdr/>
      </a:tcStyle>
    </a:firstCol>
    <a:lastRow>
      <a:tcTxStyle/>
      <a:tcStyle>
        <a:tcBdr>
          <a:bottom>
            <a:ln w="15240" cap="flat">
              <a:solidFill>
                <a:srgbClr val="626669"/>
              </a:solidFill>
              <a:prstDash val="solid"/>
            </a:ln>
          </a:bottom>
        </a:tcBdr>
      </a:tcStyle>
    </a:lastRow>
    <a:seCell>
      <a:tcTxStyle/>
      <a:tcStyle>
        <a:tcBdr/>
      </a:tcStyle>
    </a:seCell>
    <a:swCell>
      <a:tcTxStyle/>
      <a:tcStyle>
        <a:tcBdr/>
      </a:tcStyle>
    </a:swCell>
    <a:firstRow>
      <a:tcTxStyle/>
      <a:tcStyle>
        <a:tcBdr>
          <a:top>
            <a:ln w="15240" cap="flat">
              <a:solidFill>
                <a:srgbClr val="626669"/>
              </a:solidFill>
              <a:prstDash val="solid"/>
            </a:ln>
          </a:top>
          <a:bottom>
            <a:ln w="7620" cap="flat">
              <a:solidFill>
                <a:srgbClr val="626669"/>
              </a:solidFill>
              <a:prstDash val="solid"/>
            </a:ln>
          </a:bottom>
        </a:tcBdr>
      </a:tcStyle>
    </a:firstRow>
    <a:neCell>
      <a:tcTxStyle/>
      <a:tcStyle>
        <a:tcBdr/>
      </a:tcStyle>
    </a:neCell>
    <a:nwCell>
      <a:tcTxStyle/>
      <a:tcStyle>
        <a:tcBdr/>
      </a:tcStyle>
    </a:nwCell>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1082"/>
    <p:restoredTop sz="87828"/>
  </p:normalViewPr>
  <p:slideViewPr>
    <p:cSldViewPr snapToGrid="0">
      <p:cViewPr varScale="1">
        <p:scale>
          <a:sx n="169" d="100"/>
          <a:sy n="169" d="100"/>
        </p:scale>
        <p:origin x="520" y="192"/>
      </p:cViewPr>
      <p:guideLst>
        <p:guide orient="horz" pos="590"/>
        <p:guide pos="1271"/>
        <p:guide orient="horz" pos="1584"/>
      </p:guideLst>
    </p:cSldViewPr>
  </p:slideViewPr>
  <p:outlineViewPr>
    <p:cViewPr>
      <p:scale>
        <a:sx n="33" d="100"/>
        <a:sy n="33" d="100"/>
      </p:scale>
      <p:origin x="0" y="0"/>
    </p:cViewPr>
  </p:outlin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9.xml"/><Relationship Id="rId3" Type="http://schemas.openxmlformats.org/officeDocument/2006/relationships/slide" Target="slides/slide8.xml"/><Relationship Id="rId4" Type="http://schemas.openxmlformats.org/officeDocument/2006/relationships/slide" Target="slides/slide7.xml"/><Relationship Id="rId5" Type="http://schemas.openxmlformats.org/officeDocument/2006/relationships/slide" Target="slides/slide6.xml"/><Relationship Id="rId6" Type="http://schemas.openxmlformats.org/officeDocument/2006/relationships/slide" Target="slides/slide1.xml"/><Relationship Id="rId7" Type="http://schemas.openxmlformats.org/officeDocument/2006/relationships/slide" Target="slides/slide2.xml"/><Relationship Id="rId8" Type="http://schemas.openxmlformats.org/officeDocument/2006/relationships/slide" Target="slides/slide3.xml"/><Relationship Id="rId9" Type="http://schemas.openxmlformats.org/officeDocument/2006/relationships/slide" Target="slides/slide4.xml"/><Relationship Id="rId10" Type="http://schemas.openxmlformats.org/officeDocument/2006/relationships/slide" Target="slides/slide5.xml"/><Relationship Id="rId11" Type="http://schemas.openxmlformats.org/officeDocument/2006/relationships/presProps" Target="presProps.xml"/><Relationship Id="rId12" Type="http://schemas.openxmlformats.org/officeDocument/2006/relationships/viewProps" Target="viewProps.xml"/><Relationship Id="rId13" Type="http://schemas.openxmlformats.org/officeDocument/2006/relationships/theme" Target="theme/theme1.xml"/><Relationship Id="rId14" Type="http://schemas.openxmlformats.org/officeDocument/2006/relationships/tableStyles" Target="tableStyles.xml"/><Relationship Id="rId15" Type="http://schemas.openxmlformats.org/officeDocument/2006/relationships/slide" Target="slides/slide10.xml"/><Relationship Id="rId16" Type="http://schemas.openxmlformats.org/officeDocument/2006/relationships/slide" Target="slides/slide11.xml"/><Relationship Id="rId17" Type="http://schemas.openxmlformats.org/officeDocument/2006/relationships/slide" Target="slides/slide12.xml"/><Relationship Id="rId18" Type="http://schemas.openxmlformats.org/officeDocument/2006/relationships/slide" Target="slides/slide13.xml"/><Relationship Id="rId19" Type="http://schemas.openxmlformats.org/officeDocument/2006/relationships/slide" Target="slides/slide14.xml"/><Relationship Id="rId20" Type="http://schemas.openxmlformats.org/officeDocument/2006/relationships/slide" Target="slides/slide15.xml"/><Relationship Id="rId21" Type="http://schemas.openxmlformats.org/officeDocument/2006/relationships/slide" Target="slides/slide16.xml"/><Relationship Id="rId22" Type="http://schemas.openxmlformats.org/officeDocument/2006/relationships/slide" Target="slides/slide17.xml"/><Relationship Id="rId23" Type="http://schemas.openxmlformats.org/officeDocument/2006/relationships/slide" Target="slides/slide18.xml"/><Relationship Id="rId24" Type="http://schemas.openxmlformats.org/officeDocument/2006/relationships/slide" Target="slides/slide19.xml"/><Relationship Id="rId25" Type="http://schemas.openxmlformats.org/officeDocument/2006/relationships/slide" Target="slides/slide20.xml"/><Relationship Id="rId26" Type="http://schemas.openxmlformats.org/officeDocument/2006/relationships/slide" Target="slides/slide21.xml"/><Relationship Id="rId27" Type="http://schemas.openxmlformats.org/officeDocument/2006/relationships/slide" Target="slides/slide22.xml"/><Relationship Id="rId28" Type="http://schemas.openxmlformats.org/officeDocument/2006/relationships/slide" Target="slides/slide23.xml"/><Relationship Id="rId29" Type="http://schemas.openxmlformats.org/officeDocument/2006/relationships/slide" Target="slides/slide24.xml"/><Relationship Id="rId30" Type="http://schemas.openxmlformats.org/officeDocument/2006/relationships/slide" Target="slides/slide25.xml"/><Relationship Id="rId31" Type="http://schemas.openxmlformats.org/officeDocument/2006/relationships/slide" Target="slides/slide26.xml"/><Relationship Id="rId32" Type="http://schemas.openxmlformats.org/officeDocument/2006/relationships/slide" Target="slides/slide27.xml"/><Relationship Id="rId33" Type="http://schemas.openxmlformats.org/officeDocument/2006/relationships/slide" Target="slides/slide28.xml"/><Relationship Id="rId34" Type="http://schemas.openxmlformats.org/officeDocument/2006/relationships/slide" Target="slides/slide29.xml"/><Relationship Id="rId35" Type="http://schemas.openxmlformats.org/officeDocument/2006/relationships/slide" Target="slides/slide30.xml"/><Relationship Id="rId36" Type="http://schemas.openxmlformats.org/officeDocument/2006/relationships/slide" Target="slides/slide31.xml"/><Relationship Id="rId37" Type="http://schemas.openxmlformats.org/officeDocument/2006/relationships/slide" Target="slides/slide32.xml"/><Relationship Id="rId38" Type="http://schemas.openxmlformats.org/officeDocument/2006/relationships/slide" Target="slides/slide33.xml"/><Relationship Id="rId39" Type="http://schemas.openxmlformats.org/officeDocument/2006/relationships/slide" Target="slides/slide34.xml"/><Relationship Id="rId40" Type="http://schemas.openxmlformats.org/officeDocument/2006/relationships/slide" Target="slides/slide35.xml"/><Relationship Id="rId41" Type="http://schemas.openxmlformats.org/officeDocument/2006/relationships/slide" Target="slides/slide36.xml"/><Relationship Id="rId42" Type="http://schemas.openxmlformats.org/officeDocument/2006/relationships/slide" Target="slides/slide37.xml"/><Relationship Id="rId43" Type="http://schemas.openxmlformats.org/officeDocument/2006/relationships/slide" Target="slides/slide38.xml"/><Relationship Id="rId44" Type="http://schemas.openxmlformats.org/officeDocument/2006/relationships/slide" Target="slides/slide39.xml"/><Relationship Id="rId45" Type="http://schemas.openxmlformats.org/officeDocument/2006/relationships/slide" Target="slides/slide40.xml"/><Relationship Id="rId46" Type="http://schemas.openxmlformats.org/officeDocument/2006/relationships/slide" Target="slides/slide41.xml"/><Relationship Id="rId47" Type="http://schemas.openxmlformats.org/officeDocument/2006/relationships/slide" Target="slides/slide42.xml"/><Relationship Id="rId48" Type="http://schemas.openxmlformats.org/officeDocument/2006/relationships/slide" Target="slides/slide43.xml"/><Relationship Id="rId49" Type="http://schemas.openxmlformats.org/officeDocument/2006/relationships/slide" Target="slides/slide44.xml"/><Relationship Id="rId50" Type="http://schemas.openxmlformats.org/officeDocument/2006/relationships/slide" Target="slides/slide45.xml"/><Relationship Id="rId51" Type="http://schemas.openxmlformats.org/officeDocument/2006/relationships/slide" Target="slides/slide46.xml"/><Relationship Id="rId52" Type="http://schemas.openxmlformats.org/officeDocument/2006/relationships/slide" Target="slides/slide47.xml"/><Relationship Id="rId53" Type="http://schemas.openxmlformats.org/officeDocument/2006/relationships/slide" Target="slides/slide48.xml"/><Relationship Id="rId54" Type="http://schemas.openxmlformats.org/officeDocument/2006/relationships/slide" Target="slides/slide49.xml"/><Relationship Id="rId55" Type="http://schemas.openxmlformats.org/officeDocument/2006/relationships/slide" Target="slides/slide50.xml"/><Relationship Id="rId56" Type="http://schemas.openxmlformats.org/officeDocument/2006/relationships/slide" Target="slides/slide51.xml"/><Relationship Id="rId57" Type="http://schemas.openxmlformats.org/officeDocument/2006/relationships/slide" Target="slides/slide52.xml"/><Relationship Id="rId58" Type="http://schemas.openxmlformats.org/officeDocument/2006/relationships/slide" Target="slides/slide53.xml"/><Relationship Id="rId59" Type="http://schemas.openxmlformats.org/officeDocument/2006/relationships/slide" Target="slides/slide54.xml"/><Relationship Id="rId60" Type="http://schemas.openxmlformats.org/officeDocument/2006/relationships/slide" Target="slides/slide55.xml"/><Relationship Id="rId61" Type="http://schemas.openxmlformats.org/officeDocument/2006/relationships/slide" Target="slides/slide56.xml"/><Relationship Id="rId62" Type="http://schemas.openxmlformats.org/officeDocument/2006/relationships/slide" Target="slides/slide57.xml"/><Relationship Id="rId63" Type="http://schemas.openxmlformats.org/officeDocument/2006/relationships/slide" Target="slides/slide58.xml"/><Relationship Id="rId64" Type="http://schemas.openxmlformats.org/officeDocument/2006/relationships/slide" Target="slides/slide59.xml"/><Relationship Id="rId65" Type="http://schemas.openxmlformats.org/officeDocument/2006/relationships/slide" Target="slides/slide60.xml"/><Relationship Id="rId66" Type="http://schemas.openxmlformats.org/officeDocument/2006/relationships/slide" Target="slides/slide61.xml"/><Relationship Id="rId67" Type="http://schemas.openxmlformats.org/officeDocument/2006/relationships/slide" Target="slides/slide62.xml"/><Relationship Id="rId68" Type="http://schemas.openxmlformats.org/officeDocument/2006/relationships/slide" Target="slides/slide63.xml"/><Relationship Id="rId69" Type="http://schemas.openxmlformats.org/officeDocument/2006/relationships/slide" Target="slides/slide64.xml"/><Relationship Id="rId70" Type="http://schemas.openxmlformats.org/officeDocument/2006/relationships/slide" Target="slides/slide65.xml"/><Relationship Id="rId71" Type="http://schemas.openxmlformats.org/officeDocument/2006/relationships/slide" Target="slides/slide66.xml"/><Relationship Id="rId72" Type="http://schemas.openxmlformats.org/officeDocument/2006/relationships/slide" Target="slides/slide67.xml"/><Relationship Id="rId73" Type="http://schemas.openxmlformats.org/officeDocument/2006/relationships/slide" Target="slides/slide68.xml"/><Relationship Id="rId74" Type="http://schemas.openxmlformats.org/officeDocument/2006/relationships/slide" Target="slides/slide69.xml"/><Relationship Id="rId75" Type="http://schemas.openxmlformats.org/officeDocument/2006/relationships/slide" Target="slides/slide70.xml"/><Relationship Id="rId76" Type="http://schemas.openxmlformats.org/officeDocument/2006/relationships/slide" Target="slides/slide71.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Sheet1.xlsx"/></Relationships>
</file>

<file path=ppt/charts/chart1.xml><?xml version="1.0" encoding="utf-8"?>
<c:chartSpace xmlns:c="http://schemas.openxmlformats.org/drawingml/2006/chart" xmlns:a="http://schemas.openxmlformats.org/drawingml/2006/main" xmlns:r="http://schemas.openxmlformats.org/officeDocument/2006/relationships">
  <c:date1904 val="0"/>
  <c:style val="10"/>
  <c:chart>
    <c:autoTitleDeleted val="1"/>
    <c:plotArea>
      <c:barChart>
        <c:barDir val="bar"/>
        <c:grouping val="clustered"/>
        <c:ser>
          <c:idx val="0"/>
          <c:order val="0"/>
          <c:tx>
            <c:strRef>
              <c:f>Sheet1!$B$1</c:f>
              <c:strCache>
                <c:ptCount val="1"/>
                <c:pt idx="0">
                  <c:v>課題数</c:v>
                </c:pt>
              </c:strCache>
            </c:strRef>
          </c:tx>
          <c:spPr>
            <a:solidFill>
              <a:srgbClr val="2C9100"/>
            </a:solidFill>
            <a:ln>
              <a:noFill/>
            </a:ln>
          </c:spPr>
          <c:cat>
            <c:strRef>
              <c:f>Sheet1!$A$2:$A$7</c:f>
              <c:strCache>
                <c:ptCount val="6"/>
                <c:pt idx="0">
                  <c:v>その他</c:v>
                </c:pt>
                <c:pt idx="1">
                  <c:v>データサイエンス</c:v>
                </c:pt>
                <c:pt idx="2">
                  <c:v>セキュリティ</c:v>
                </c:pt>
                <c:pt idx="3">
                  <c:v>科学計算</c:v>
                </c:pt>
                <c:pt idx="4">
                  <c:v>システム管理</c:v>
                </c:pt>
                <c:pt idx="5">
                  <c:v>ソフトウェア開発</c:v>
                </c:pt>
              </c:strCache>
            </c:strRef>
          </c:cat>
          <c:val>
            <c:numRef>
              <c:f>Sheet1!$B$2:$B$7</c:f>
              <c:numCache>
                <c:formatCode>General</c:formatCode>
                <c:ptCount val="6"/>
                <c:pt idx="0">
                  <c:v>30</c:v>
                </c:pt>
                <c:pt idx="1">
                  <c:v>8</c:v>
                </c:pt>
                <c:pt idx="2">
                  <c:v>8</c:v>
                </c:pt>
                <c:pt idx="3">
                  <c:v>8</c:v>
                </c:pt>
                <c:pt idx="4">
                  <c:v>9</c:v>
                </c:pt>
                <c:pt idx="5">
                  <c:v>26</c:v>
                </c:pt>
              </c:numCache>
            </c:numRef>
          </c:val>
        </c:ser>
        <c:dLbls>
          <c:txPr>
            <a:bodyPr/>
            <a:lstStyle/>
            <a:p>
              <a:pPr>
                <a:defRPr sz="1500">
                  <a:latin typeface="Noto Sans CJK JP"/>
                </a:defRPr>
              </a:pPr>
            </a:p>
          </c:txPr>
          <c:dLblPos val="outEnd"/>
          <c:showLegendKey val="0"/>
          <c:showVal val="1"/>
          <c:showCatName val="0"/>
          <c:showSerName val="0"/>
          <c:showPercent val="0"/>
          <c:showBubbleSize val="0"/>
          <c:showLeaderLines val="1"/>
        </c:dLbls>
        <c:gapWidth val="60"/>
        <c:axId val="2226939960"/>
        <c:axId val="2180972856"/>
      </c:barChart>
      <c:catAx>
        <c:axId val="2226939960"/>
        <c:scaling>
          <c:orientation val="minMax"/>
        </c:scaling>
        <c:delete val="0"/>
        <c:axPos val="l"/>
        <c:majorTickMark val="none"/>
        <c:minorTickMark val="none"/>
        <c:tickLblPos val="nextTo"/>
        <c:spPr>
          <a:ln>
            <a:noFill/>
          </a:ln>
        </c:spPr>
        <c:txPr>
          <a:bodyPr/>
          <a:lstStyle/>
          <a:p>
            <a:pPr>
              <a:defRPr sz="1300">
                <a:latin typeface="Noto Sans CJK JP"/>
              </a:defRPr>
            </a:pPr>
          </a:p>
        </c:txPr>
        <c:crossAx val="2180972856"/>
        <c:crosses val="autoZero"/>
        <c:auto val="1"/>
        <c:lblAlgn val="ctr"/>
        <c:lblOffset val="100"/>
        <c:tickLblSkip val="1"/>
        <c:noMultiLvlLbl val="0"/>
      </c:catAx>
      <c:valAx>
        <c:axId val="2180972856"/>
        <c:scaling>
          <c:min val="0.0"/>
        </c:scaling>
        <c:delete val="0"/>
        <c:axPos val="b"/>
        <c:majorGridlines>
          <c:spPr>
            <a:ln>
              <a:solidFill>
                <a:srgbClr val="DADDD7"/>
              </a:solidFill>
            </a:ln>
          </c:spPr>
        </c:majorGridlines>
        <c:majorTickMark val="none"/>
        <c:minorTickMark val="none"/>
        <c:tickLblPos val="nextTo"/>
        <c:spPr>
          <a:ln>
            <a:noFill/>
          </a:ln>
        </c:spPr>
        <c:txPr>
          <a:bodyPr/>
          <a:lstStyle/>
          <a:p>
            <a:pPr>
              <a:defRPr sz="1300">
                <a:latin typeface="Noto Sans CJK JP"/>
              </a:defRPr>
            </a:pPr>
          </a:p>
        </c:txPr>
        <c:crossAx val="2226939960"/>
        <c:crosses val="autoZero"/>
      </c:valAx>
      <c:spPr>
        <a:solidFill>
          <a:srgbClr val="FFFEF8"/>
        </a:solidFill>
        <a:ln>
          <a:noFill/>
        </a:ln>
      </c:spPr>
    </c:plotArea>
    <c:dispBlanksAs val="gap"/>
  </c:chart>
  <c:spPr>
    <a:solidFill>
      <a:srgbClr val="FFFEF8"/>
    </a:solidFill>
    <a:ln>
      <a:noFill/>
    </a:ln>
  </c:spPr>
  <c:txPr>
    <a:bodyPr/>
    <a:lstStyle/>
    <a:p>
      <a:pPr>
        <a:defRPr sz="1400">
          <a:latin typeface="Noto Sans CJK JP"/>
        </a:defRPr>
      </a:pPr>
      <a:endParaRPr lang="en-US"/>
    </a:p>
  </c:txPr>
  <c:externalData r:id="rId1">
    <c:autoUpdate val="0"/>
  </c:externalData>
</c:chartSpace>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matchingName="Title slide" type="title">
  <p:cSld name="TITLE">
    <p:spTree>
      <p:nvGrpSpPr>
        <p:cNvPr id="1" name="Shape 9"/>
        <p:cNvGrpSpPr/>
        <p:nvPr/>
      </p:nvGrpSpPr>
      <p:grpSpPr>
        <a:xfrm>
          <a:off x="0" y="0"/>
          <a:ext cx="0" cy="0"/>
          <a:chOff x="0" y="0"/>
          <a:chExt cx="0" cy="0"/>
        </a:xfrm>
      </p:grpSpPr>
      <p:sp>
        <p:nvSpPr>
          <p:cNvPr id="10" name="Google Shape;10;p2"/>
          <p:cNvSpPr txBox="1">
            <a:spLocks noGrp="1"/>
          </p:cNvSpPr>
          <p:nvPr>
            <p:ph type="ctrTitle"/>
          </p:nvPr>
        </p:nvSpPr>
        <p:spPr>
          <a:xfrm>
            <a:off x="311708" y="1247175"/>
            <a:ext cx="8520600" cy="2052600"/>
          </a:xfrm>
          <a:prstGeom prst="rect">
            <a:avLst/>
          </a:prstGeom>
        </p:spPr>
        <p:txBody>
          <a:bodyPr spcFirstLastPara="1" wrap="square" lIns="91425" tIns="91425" rIns="91425" bIns="91425" anchor="b" anchorCtr="0">
            <a:normAutofit/>
          </a:bodyPr>
          <a:lstStyle>
            <a:lvl1pPr lvl="0" algn="ctr">
              <a:spcBef>
                <a:spcPts val="0"/>
              </a:spcBef>
              <a:spcAft>
                <a:spcPts val="0"/>
              </a:spcAft>
              <a:buClr>
                <a:schemeClr val="dk1"/>
              </a:buClr>
              <a:buNone/>
              <a:defRPr sz="5200" b="1" lang="ja-JP">
                <a:solidFill>
                  <a:schemeClr val="dk1"/>
                </a:solidFill>
                <a:latin typeface="Noto Sans"/>
                <a:ea typeface="Noto Sans CJK JP"/>
                <a:cs typeface="Noto Sans"/>
              </a:defRPr>
            </a:lvl1pPr>
            <a:lvl2pPr lvl="1" algn="ctr">
              <a:spcBef>
                <a:spcPts val="0"/>
              </a:spcBef>
              <a:spcAft>
                <a:spcPts val="0"/>
              </a:spcAft>
              <a:buNone/>
              <a:defRPr sz="5200" lang="ja-JP">
                <a:latin typeface="Noto Sans"/>
                <a:ea typeface="Noto Sans CJK JP"/>
                <a:cs typeface="Noto Sans"/>
              </a:defRPr>
            </a:lvl2pPr>
            <a:lvl3pPr lvl="2" algn="ctr">
              <a:spcBef>
                <a:spcPts val="0"/>
              </a:spcBef>
              <a:spcAft>
                <a:spcPts val="0"/>
              </a:spcAft>
              <a:buNone/>
              <a:defRPr sz="5200" lang="ja-JP">
                <a:latin typeface="Noto Sans"/>
                <a:ea typeface="Noto Sans CJK JP"/>
                <a:cs typeface="Noto Sans"/>
              </a:defRPr>
            </a:lvl3pPr>
            <a:lvl4pPr lvl="3" algn="ctr">
              <a:spcBef>
                <a:spcPts val="0"/>
              </a:spcBef>
              <a:spcAft>
                <a:spcPts val="0"/>
              </a:spcAft>
              <a:buNone/>
              <a:defRPr sz="5200" lang="ja-JP">
                <a:latin typeface="Noto Sans"/>
                <a:ea typeface="Noto Sans CJK JP"/>
                <a:cs typeface="Noto Sans"/>
              </a:defRPr>
            </a:lvl4pPr>
            <a:lvl5pPr lvl="4" algn="ctr">
              <a:spcBef>
                <a:spcPts val="0"/>
              </a:spcBef>
              <a:spcAft>
                <a:spcPts val="0"/>
              </a:spcAft>
              <a:buNone/>
              <a:defRPr sz="5200" lang="ja-JP">
                <a:latin typeface="Noto Sans"/>
                <a:ea typeface="Noto Sans CJK JP"/>
                <a:cs typeface="Noto Sans"/>
              </a:defRPr>
            </a:lvl5pPr>
            <a:lvl6pPr lvl="5" algn="ctr">
              <a:spcBef>
                <a:spcPts val="0"/>
              </a:spcBef>
              <a:spcAft>
                <a:spcPts val="0"/>
              </a:spcAft>
              <a:buNone/>
              <a:defRPr sz="5200" lang="ja-JP">
                <a:latin typeface="Noto Sans"/>
                <a:ea typeface="Noto Sans CJK JP"/>
                <a:cs typeface="Noto Sans"/>
              </a:defRPr>
            </a:lvl6pPr>
            <a:lvl7pPr lvl="6" algn="ctr">
              <a:spcBef>
                <a:spcPts val="0"/>
              </a:spcBef>
              <a:spcAft>
                <a:spcPts val="0"/>
              </a:spcAft>
              <a:buNone/>
              <a:defRPr sz="5200" lang="ja-JP">
                <a:latin typeface="Noto Sans"/>
                <a:ea typeface="Noto Sans CJK JP"/>
                <a:cs typeface="Noto Sans"/>
              </a:defRPr>
            </a:lvl7pPr>
            <a:lvl8pPr lvl="7" algn="ctr">
              <a:spcBef>
                <a:spcPts val="0"/>
              </a:spcBef>
              <a:spcAft>
                <a:spcPts val="0"/>
              </a:spcAft>
              <a:buNone/>
              <a:defRPr sz="5200" lang="ja-JP">
                <a:latin typeface="Noto Sans"/>
                <a:ea typeface="Noto Sans CJK JP"/>
                <a:cs typeface="Noto Sans"/>
              </a:defRPr>
            </a:lvl8pPr>
            <a:lvl9pPr lvl="8" algn="ctr">
              <a:spcBef>
                <a:spcPts val="0"/>
              </a:spcBef>
              <a:spcAft>
                <a:spcPts val="0"/>
              </a:spcAft>
              <a:buNone/>
              <a:defRPr sz="5200" lang="ja-JP">
                <a:latin typeface="Noto Sans"/>
                <a:ea typeface="Noto Sans CJK JP"/>
                <a:cs typeface="Noto Sans"/>
              </a:defRPr>
            </a:lvl9pPr>
          </a:lstStyle>
          <a:p>
            <a:endParaRPr lang="ja-JP">
              <a:latin typeface="Noto Sans"/>
              <a:ea typeface="Noto Sans CJK JP"/>
              <a:cs typeface="Noto Sans"/>
            </a:endParaRPr>
          </a:p>
        </p:txBody>
      </p:sp>
      <p:sp>
        <p:nvSpPr>
          <p:cNvPr id="11" name="Google Shape;11;p2"/>
          <p:cNvSpPr txBox="1">
            <a:spLocks noGrp="1"/>
          </p:cNvSpPr>
          <p:nvPr>
            <p:ph type="subTitle" idx="1"/>
          </p:nvPr>
        </p:nvSpPr>
        <p:spPr>
          <a:xfrm>
            <a:off x="311700" y="3657600"/>
            <a:ext cx="8520600" cy="365760"/>
          </a:xfrm>
          <a:prstGeom prst="rect">
            <a:avLst/>
          </a:prstGeom>
        </p:spPr>
        <p:txBody>
          <a:bodyPr spcFirstLastPara="1" wrap="square" lIns="91425" tIns="91425" rIns="91425" bIns="91425" anchor="t" anchorCtr="0">
            <a:normAutofit/>
          </a:bodyPr>
          <a:lstStyle>
            <a:lvl1pPr lvl="0" algn="ctr">
              <a:lnSpc>
                <a:spcPct val="100000"/>
              </a:lnSpc>
              <a:spcBef>
                <a:spcPts val="0"/>
              </a:spcBef>
              <a:spcAft>
                <a:spcPts val="0"/>
              </a:spcAft>
              <a:buClr>
                <a:schemeClr val="dk1"/>
              </a:buClr>
              <a:buNone/>
              <a:defRPr sz="2800" lang="ja-JP">
                <a:solidFill>
                  <a:schemeClr val="dk1"/>
                </a:solidFill>
                <a:latin typeface="Noto Sans"/>
                <a:ea typeface="Noto Sans CJK JP"/>
                <a:cs typeface="Noto Sans"/>
              </a:defRPr>
            </a:lvl1pPr>
            <a:lvl2pPr lvl="1" algn="ctr">
              <a:lnSpc>
                <a:spcPct val="100000"/>
              </a:lnSpc>
              <a:spcBef>
                <a:spcPts val="0"/>
              </a:spcBef>
              <a:spcAft>
                <a:spcPts val="0"/>
              </a:spcAft>
              <a:buNone/>
              <a:defRPr sz="2800" lang="ja-JP">
                <a:latin typeface="Noto Sans"/>
                <a:ea typeface="Noto Sans CJK JP"/>
                <a:cs typeface="Noto Sans"/>
              </a:defRPr>
            </a:lvl2pPr>
            <a:lvl3pPr lvl="2" algn="ctr">
              <a:lnSpc>
                <a:spcPct val="100000"/>
              </a:lnSpc>
              <a:spcBef>
                <a:spcPts val="0"/>
              </a:spcBef>
              <a:spcAft>
                <a:spcPts val="0"/>
              </a:spcAft>
              <a:buNone/>
              <a:defRPr sz="2800" lang="ja-JP">
                <a:latin typeface="Noto Sans"/>
                <a:ea typeface="Noto Sans CJK JP"/>
                <a:cs typeface="Noto Sans"/>
              </a:defRPr>
            </a:lvl3pPr>
            <a:lvl4pPr lvl="3" algn="ctr">
              <a:lnSpc>
                <a:spcPct val="100000"/>
              </a:lnSpc>
              <a:spcBef>
                <a:spcPts val="0"/>
              </a:spcBef>
              <a:spcAft>
                <a:spcPts val="0"/>
              </a:spcAft>
              <a:buNone/>
              <a:defRPr sz="2800" lang="ja-JP">
                <a:latin typeface="Noto Sans"/>
                <a:ea typeface="Noto Sans CJK JP"/>
                <a:cs typeface="Noto Sans"/>
              </a:defRPr>
            </a:lvl4pPr>
            <a:lvl5pPr lvl="4" algn="ctr">
              <a:lnSpc>
                <a:spcPct val="100000"/>
              </a:lnSpc>
              <a:spcBef>
                <a:spcPts val="0"/>
              </a:spcBef>
              <a:spcAft>
                <a:spcPts val="0"/>
              </a:spcAft>
              <a:buNone/>
              <a:defRPr sz="2800" lang="ja-JP">
                <a:latin typeface="Noto Sans"/>
                <a:ea typeface="Noto Sans CJK JP"/>
                <a:cs typeface="Noto Sans"/>
              </a:defRPr>
            </a:lvl5pPr>
            <a:lvl6pPr lvl="5" algn="ctr">
              <a:lnSpc>
                <a:spcPct val="100000"/>
              </a:lnSpc>
              <a:spcBef>
                <a:spcPts val="0"/>
              </a:spcBef>
              <a:spcAft>
                <a:spcPts val="0"/>
              </a:spcAft>
              <a:buNone/>
              <a:defRPr sz="2800" lang="ja-JP">
                <a:latin typeface="Noto Sans"/>
                <a:ea typeface="Noto Sans CJK JP"/>
                <a:cs typeface="Noto Sans"/>
              </a:defRPr>
            </a:lvl6pPr>
            <a:lvl7pPr lvl="6" algn="ctr">
              <a:lnSpc>
                <a:spcPct val="100000"/>
              </a:lnSpc>
              <a:spcBef>
                <a:spcPts val="0"/>
              </a:spcBef>
              <a:spcAft>
                <a:spcPts val="0"/>
              </a:spcAft>
              <a:buNone/>
              <a:defRPr sz="2800" lang="ja-JP">
                <a:latin typeface="Noto Sans"/>
                <a:ea typeface="Noto Sans CJK JP"/>
                <a:cs typeface="Noto Sans"/>
              </a:defRPr>
            </a:lvl7pPr>
            <a:lvl8pPr lvl="7" algn="ctr">
              <a:lnSpc>
                <a:spcPct val="100000"/>
              </a:lnSpc>
              <a:spcBef>
                <a:spcPts val="0"/>
              </a:spcBef>
              <a:spcAft>
                <a:spcPts val="0"/>
              </a:spcAft>
              <a:buNone/>
              <a:defRPr sz="2800" lang="ja-JP">
                <a:latin typeface="Noto Sans"/>
                <a:ea typeface="Noto Sans CJK JP"/>
                <a:cs typeface="Noto Sans"/>
              </a:defRPr>
            </a:lvl8pPr>
            <a:lvl9pPr lvl="8" algn="ctr">
              <a:lnSpc>
                <a:spcPct val="100000"/>
              </a:lnSpc>
              <a:spcBef>
                <a:spcPts val="0"/>
              </a:spcBef>
              <a:spcAft>
                <a:spcPts val="0"/>
              </a:spcAft>
              <a:buNone/>
              <a:defRPr sz="2800" lang="ja-JP">
                <a:latin typeface="Noto Sans"/>
                <a:ea typeface="Noto Sans CJK JP"/>
                <a:cs typeface="Noto Sans"/>
              </a:defRPr>
            </a:lvl9pPr>
          </a:lstStyle>
          <a:p>
            <a:pPr>
              <a:defRPr sz="2200" lang="ja-JP">
                <a:latin typeface="Noto Sans"/>
                <a:ea typeface="Noto Sans CJK JP"/>
                <a:cs typeface="Noto Sans"/>
              </a:defRPr>
            </a:pPr>
            <a:endParaRPr lang="ja-JP">
              <a:latin typeface="Noto Sans"/>
              <a:ea typeface="Noto Sans CJK JP"/>
              <a:cs typeface="Noto Sans"/>
            </a:endParaRPr>
          </a:p>
        </p:txBody>
      </p:sp>
      <p:sp>
        <p:nvSpPr>
          <p:cNvPr id="2" name="Google Shape;22;p5">
            <a:extLst>
              <a:ext uri="{FF2B5EF4-FFF2-40B4-BE49-F238E27FC236}">
                <a16:creationId xmlns:a16="http://schemas.microsoft.com/office/drawing/2014/main" id="{97A17C7E-5073-6B99-C91A-19299DA839DE}"/>
              </a:ext>
            </a:extLst>
          </p:cNvPr>
          <p:cNvSpPr/>
          <p:nvPr userDrawn="1"/>
        </p:nvSpPr>
        <p:spPr>
          <a:xfrm>
            <a:off x="8607898" y="-10450"/>
            <a:ext cx="548701" cy="479700"/>
          </a:xfrm>
          <a:prstGeom prst="rect">
            <a:avLst/>
          </a:prstGeom>
          <a:solidFill>
            <a:schemeClr val="accent2"/>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lang="ja-JP">
              <a:latin typeface="Noto Sans"/>
              <a:ea typeface="Noto Sans CJK JP"/>
              <a:cs typeface="Noto Sans"/>
            </a:endParaRPr>
          </a:p>
        </p:txBody>
      </p:sp>
      <p:sp>
        <p:nvSpPr>
          <p:cNvPr id="7" name="Slide Number">
            <a:extLst>
              <a:ext uri="{FF2B5EF4-FFF2-40B4-BE49-F238E27FC236}">
                <a16:creationId xmlns:a16="http://schemas.microsoft.com/office/drawing/2014/main" id="{2BE9CD3C-2632-D40F-DBD2-47ACED4F9A3C}"/>
              </a:ext>
            </a:extLst>
          </p:cNvPr>
          <p:cNvSpPr txBox="1"/>
          <p:nvPr userDrawn="1"/>
        </p:nvSpPr>
        <p:spPr>
          <a:xfrm>
            <a:off x="8412480" y="7937"/>
            <a:ext cx="640080" cy="480059"/>
          </a:xfrm>
          <a:prstGeom prst="rect">
            <a:avLst/>
          </a:prstGeom>
          <a:noFill/>
          <a:ln>
            <a:noFill/>
          </a:ln>
        </p:spPr>
        <p:txBody>
          <a:bodyPr anchor="ctr" lIns="0" tIns="0" bIns="0"/>
          <a:lstStyle/>
          <a:p>
            <a:pPr algn="r">
              <a:lnSpc>
                <a:spcPct val="100000"/>
              </a:lnSpc>
              <a:spcBef>
                <a:spcPts val="0"/>
              </a:spcBef>
              <a:spcAft>
                <a:spcPts val="0"/>
              </a:spcAft>
            </a:pPr>
            <a:fld id="{00000000-1234-1234-1234-000000000999}" type="slidenum">
              <a:rPr lang="ja-JP" sz="1800" b="1">
                <a:solidFill>
                  <a:schemeClr val="lt1"/>
                </a:solidFill>
                <a:latin typeface="Noto Sans"/>
                <a:ea typeface="Noto Sans CJK JP"/>
                <a:cs typeface="Noto Sans"/>
              </a:rPr>
              <a:pPr algn="ctr"/>
              <a:t>‹#›</a:t>
            </a:fld>
            <a:endParaRPr lang="ja-JP" sz="1800" b="1" dirty="0">
              <a:latin typeface="Noto Sans"/>
              <a:ea typeface="Noto Sans CJK JP"/>
              <a:cs typeface="Noto Sans"/>
            </a:endParaRPr>
          </a:p>
        </p:txBody>
      </p:sp>
      <p:sp>
        <p:nvSpPr>
          <p:cNvPr id="110" name="Author affiliation"/>
          <p:cNvSpPr txBox="1">
            <a:spLocks noGrp="1"/>
          </p:cNvSpPr>
          <p:nvPr>
            <p:ph type="body" idx="10"/>
          </p:nvPr>
        </p:nvSpPr>
        <p:spPr>
          <a:xfrm>
            <a:off x="5486400" y="4224528"/>
            <a:ext cx="3108960" cy="228600"/>
          </a:xfrm>
          <a:prstGeom prst="rect">
            <a:avLst/>
          </a:prstGeom>
        </p:spPr>
        <p:txBody>
          <a:bodyPr spcFirstLastPara="1" wrap="square" lIns="91425" tIns="91425" rIns="91425" bIns="91425" anchor="ctr" anchorCtr="0">
            <a:normAutofit/>
          </a:bodyPr>
          <a:lstStyle>
            <a:lvl1pPr marL="457200" lvl="0"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1pPr>
            <a:lvl2pPr marL="914400" lvl="1"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2pPr>
            <a:lvl3pPr marL="1371600" lvl="2"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3pPr>
            <a:lvl4pPr marL="1828800" lvl="3" indent="-368300">
              <a:spcBef>
                <a:spcPts val="0"/>
              </a:spcBef>
              <a:spcAft>
                <a:spcPts val="0"/>
              </a:spcAft>
              <a:buClr>
                <a:srgbClr val="303437"/>
              </a:buClr>
              <a:buSzPct val="60455"/>
              <a:buFont typeface="Noto Sans CJK JP"/>
              <a:buChar char="●"/>
              <a:defRPr sz="2200" lang="ja-JP">
                <a:solidFill>
                  <a:srgbClr val="303437"/>
                </a:solidFill>
                <a:latin typeface="Noto Sans"/>
                <a:ea typeface="Noto Sans CJK JP"/>
                <a:cs typeface="Noto Sans"/>
              </a:defRPr>
            </a:lvl4pPr>
            <a:lvl5pPr marL="2286000" lvl="4"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5pPr>
            <a:lvl6pPr marL="2743200" lvl="5"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6pPr>
            <a:lvl7pPr marL="3200400" lvl="6"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7pPr>
            <a:lvl8pPr marL="3657600" lvl="7"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8pPr>
            <a:lvl9pPr marL="4114800" lvl="8"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9pPr>
          </a:lstStyle>
          <a:p>
            <a:pPr algn="r">
              <a:lnSpc>
                <a:spcPct val="100000"/>
              </a:lnSpc>
              <a:spcBef>
                <a:spcPts val="0"/>
              </a:spcBef>
              <a:spcAft>
                <a:spcPts val="0"/>
              </a:spcAft>
              <a:defRPr sz="1400" b="0" lang="ja-JP">
                <a:solidFill>
                  <a:srgbClr val="626669"/>
                </a:solidFill>
                <a:latin typeface="Noto Sans"/>
                <a:ea typeface="Noto Sans CJK JP"/>
                <a:cs typeface="Noto Sans"/>
              </a:defRPr>
            </a:pPr>
            <a:r>
              <a:t>所属　［所属］</a:t>
            </a:r>
          </a:p>
        </p:txBody>
      </p:sp>
      <p:sp>
        <p:nvSpPr>
          <p:cNvPr id="111" name="Author name"/>
          <p:cNvSpPr txBox="1">
            <a:spLocks noGrp="1"/>
          </p:cNvSpPr>
          <p:nvPr>
            <p:ph type="body" idx="11"/>
          </p:nvPr>
        </p:nvSpPr>
        <p:spPr>
          <a:xfrm>
            <a:off x="5486400" y="4416552"/>
            <a:ext cx="3108960" cy="402336"/>
          </a:xfrm>
          <a:prstGeom prst="rect">
            <a:avLst/>
          </a:prstGeom>
        </p:spPr>
        <p:txBody>
          <a:bodyPr spcFirstLastPara="1" wrap="square" lIns="91425" tIns="91425" rIns="91425" bIns="91425" anchor="ctr" anchorCtr="0">
            <a:normAutofit/>
          </a:bodyPr>
          <a:lstStyle>
            <a:lvl1pPr marL="457200" lvl="0"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1pPr>
            <a:lvl2pPr marL="914400" lvl="1"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2pPr>
            <a:lvl3pPr marL="1371600" lvl="2"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3pPr>
            <a:lvl4pPr marL="1828800" lvl="3" indent="-368300">
              <a:spcBef>
                <a:spcPts val="0"/>
              </a:spcBef>
              <a:spcAft>
                <a:spcPts val="0"/>
              </a:spcAft>
              <a:buClr>
                <a:srgbClr val="303437"/>
              </a:buClr>
              <a:buSzPct val="60455"/>
              <a:buFont typeface="Noto Sans CJK JP"/>
              <a:buChar char="●"/>
              <a:defRPr sz="2200" lang="ja-JP">
                <a:solidFill>
                  <a:srgbClr val="303437"/>
                </a:solidFill>
                <a:latin typeface="Noto Sans"/>
                <a:ea typeface="Noto Sans CJK JP"/>
                <a:cs typeface="Noto Sans"/>
              </a:defRPr>
            </a:lvl4pPr>
            <a:lvl5pPr marL="2286000" lvl="4"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5pPr>
            <a:lvl6pPr marL="2743200" lvl="5"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6pPr>
            <a:lvl7pPr marL="3200400" lvl="6"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7pPr>
            <a:lvl8pPr marL="3657600" lvl="7"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8pPr>
            <a:lvl9pPr marL="4114800" lvl="8"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9pPr>
          </a:lstStyle>
          <a:p>
            <a:pPr algn="r">
              <a:lnSpc>
                <a:spcPct val="100000"/>
              </a:lnSpc>
              <a:spcBef>
                <a:spcPts val="0"/>
              </a:spcBef>
              <a:spcAft>
                <a:spcPts val="0"/>
              </a:spcAft>
              <a:defRPr sz="2000" b="0" lang="ja-JP">
                <a:solidFill>
                  <a:srgbClr val="626669"/>
                </a:solidFill>
                <a:latin typeface="Noto Sans"/>
                <a:ea typeface="Noto Sans CJK JP"/>
                <a:cs typeface="Noto Sans"/>
              </a:defRPr>
            </a:pPr>
            <a:r>
              <a:rPr sz="2000" lang="ja-JP">
                <a:solidFill>
                  <a:srgbClr val="303437"/>
                </a:solidFill>
                <a:latin typeface="Noto Sans"/>
                <a:ea typeface="Noto Sans CJK JP"/>
                <a:cs typeface="Noto Sans"/>
              </a:rPr>
              <a:t>氏名　［氏名］</a:t>
            </a:r>
          </a:p>
        </p:txBody>
      </p:sp>
      <p:sp>
        <p:nvSpPr>
          <p:cNvPr id="112" name="Creation date"/>
          <p:cNvSpPr txBox="1">
            <a:spLocks noGrp="1"/>
          </p:cNvSpPr>
          <p:nvPr>
            <p:ph type="body" idx="12"/>
          </p:nvPr>
        </p:nvSpPr>
        <p:spPr>
          <a:xfrm>
            <a:off x="457200" y="274320"/>
            <a:ext cx="3657600" cy="228600"/>
          </a:xfrm>
          <a:prstGeom prst="rect">
            <a:avLst/>
          </a:prstGeom>
        </p:spPr>
        <p:txBody>
          <a:bodyPr spcFirstLastPara="1" wrap="square" lIns="91425" tIns="91425" rIns="91425" bIns="91425" anchor="ctr" anchorCtr="0">
            <a:normAutofit/>
          </a:bodyPr>
          <a:lstStyle>
            <a:lvl1pPr marL="457200" lvl="0"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1pPr>
            <a:lvl2pPr marL="914400" lvl="1"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2pPr>
            <a:lvl3pPr marL="1371600" lvl="2"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3pPr>
            <a:lvl4pPr marL="1828800" lvl="3" indent="-368300">
              <a:spcBef>
                <a:spcPts val="0"/>
              </a:spcBef>
              <a:spcAft>
                <a:spcPts val="0"/>
              </a:spcAft>
              <a:buClr>
                <a:srgbClr val="303437"/>
              </a:buClr>
              <a:buSzPct val="60455"/>
              <a:buFont typeface="Noto Sans CJK JP"/>
              <a:buChar char="●"/>
              <a:defRPr sz="2200" lang="ja-JP">
                <a:solidFill>
                  <a:srgbClr val="303437"/>
                </a:solidFill>
                <a:latin typeface="Noto Sans"/>
                <a:ea typeface="Noto Sans CJK JP"/>
                <a:cs typeface="Noto Sans"/>
              </a:defRPr>
            </a:lvl4pPr>
            <a:lvl5pPr marL="2286000" lvl="4"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5pPr>
            <a:lvl6pPr marL="2743200" lvl="5"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6pPr>
            <a:lvl7pPr marL="3200400" lvl="6"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7pPr>
            <a:lvl8pPr marL="3657600" lvl="7"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8pPr>
            <a:lvl9pPr marL="4114800" lvl="8"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9pPr>
          </a:lstStyle>
          <a:p>
            <a:pPr algn="l">
              <a:lnSpc>
                <a:spcPct val="100000"/>
              </a:lnSpc>
              <a:spcBef>
                <a:spcPts val="0"/>
              </a:spcBef>
              <a:spcAft>
                <a:spcPts val="0"/>
              </a:spcAft>
              <a:defRPr sz="1400" b="0" lang="ja-JP">
                <a:solidFill>
                  <a:srgbClr val="626669"/>
                </a:solidFill>
                <a:latin typeface="Noto Sans"/>
                <a:ea typeface="Noto Sans CJK JP"/>
                <a:cs typeface="Noto Sans"/>
              </a:defRPr>
            </a:pPr>
            <a:r>
              <a:t>作成日　YYYY-MM-DD</a:t>
            </a: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matchingName="カスタム レイアウト 1">
  <p:cSld name="CUSTOM">
    <p:spTree>
      <p:nvGrpSpPr>
        <p:cNvPr id="1" name="Shape 71"/>
        <p:cNvGrpSpPr/>
        <p:nvPr/>
      </p:nvGrpSpPr>
      <p:grpSpPr>
        <a:xfrm>
          <a:off x="0" y="0"/>
          <a:ext cx="0" cy="0"/>
          <a:chOff x="0" y="0"/>
          <a:chExt cx="0" cy="0"/>
        </a:xfrm>
      </p:grpSpPr>
      <p:sp>
        <p:nvSpPr>
          <p:cNvPr id="73" name="Google Shape;73;p11"/>
          <p:cNvSpPr/>
          <p:nvPr/>
        </p:nvSpPr>
        <p:spPr>
          <a:xfrm>
            <a:off x="-12600" y="0"/>
            <a:ext cx="9169200" cy="480059"/>
          </a:xfrm>
          <a:prstGeom prst="rect">
            <a:avLst/>
          </a:prstGeom>
          <a:solidFill>
            <a:schemeClr val="accent2"/>
          </a:solidFill>
          <a:ln>
            <a:noFill/>
          </a:ln>
        </p:spPr>
        <p:txBody>
          <a:bodyPr spcFirstLastPara="1" wrap="square" lIns="91425" tIns="0" rIns="91425" bIns="0" anchor="ctr" anchorCtr="0">
            <a:noAutofit/>
          </a:bodyPr>
          <a:lstStyle/>
          <a:p>
            <a:pPr marL="0" lvl="0" indent="0" algn="ctr" rtl="0">
              <a:lnSpc>
                <a:spcPct val="100000"/>
              </a:lnSpc>
              <a:spcBef>
                <a:spcPts val="0"/>
              </a:spcBef>
              <a:spcAft>
                <a:spcPts val="0"/>
              </a:spcAft>
              <a:buNone/>
            </a:pPr>
            <a:endParaRPr lang="ja-JP">
              <a:latin typeface="Noto Sans"/>
              <a:ea typeface="Noto Sans CJK JP"/>
              <a:cs typeface="Noto Sans"/>
            </a:endParaRPr>
          </a:p>
        </p:txBody>
      </p:sp>
      <p:sp>
        <p:nvSpPr>
          <p:cNvPr id="75" name="Google Shape;75;p11"/>
          <p:cNvSpPr txBox="1"/>
          <p:nvPr/>
        </p:nvSpPr>
        <p:spPr>
          <a:xfrm>
            <a:off x="76100" y="0"/>
            <a:ext cx="8059500" cy="480059"/>
          </a:xfrm>
          <a:prstGeom prst="rect">
            <a:avLst/>
          </a:prstGeom>
          <a:noFill/>
          <a:ln>
            <a:noFill/>
          </a:ln>
        </p:spPr>
        <p:txBody>
          <a:bodyPr spcFirstLastPara="1" wrap="square" lIns="91425" tIns="0" rIns="91425" bIns="0" anchor="ctr" anchorCtr="0">
            <a:normAutofit/>
          </a:bodyPr>
          <a:lstStyle/>
          <a:p>
            <a:pPr marL="0" lvl="0" indent="0" algn="l" rtl="0">
              <a:lnSpc>
                <a:spcPct val="100000"/>
              </a:lnSpc>
              <a:spcBef>
                <a:spcPts val="0"/>
              </a:spcBef>
              <a:spcAft>
                <a:spcPts val="0"/>
              </a:spcAft>
              <a:buNone/>
              <a:defRPr sz="1400" b="1" lang="ja-JP" altLang="en-US">
                <a:latin typeface="Noto Sans"/>
                <a:ea typeface="Noto Sans CJK JP"/>
                <a:cs typeface="Noto Sans"/>
              </a:defRPr>
            </a:pPr>
            <a:r>
              <a:rPr lang="ja-JP" altLang="en-US" b="1" dirty="0" sz="1400">
                <a:solidFill>
                  <a:schemeClr val="lt1"/>
                </a:solidFill>
                <a:latin typeface="Noto Sans"/>
                <a:ea typeface="Noto Sans CJK JP"/>
                <a:cs typeface="Noto Sans"/>
              </a:rPr>
              <a:t>T</a:t>
            </a:r>
            <a:r>
              <a:rPr lang="ja-JP" b="1" dirty="0" sz="1400" altLang="en-US">
                <a:solidFill>
                  <a:schemeClr val="lt1"/>
                </a:solidFill>
                <a:latin typeface="Noto Sans"/>
                <a:ea typeface="Noto Sans CJK JP"/>
                <a:cs typeface="Noto Sans"/>
              </a:rPr>
              <a:t>able of </a:t>
            </a:r>
            <a:r>
              <a:rPr lang="ja-JP" altLang="en-US" b="1" dirty="0" sz="1400">
                <a:solidFill>
                  <a:schemeClr val="lt1"/>
                </a:solidFill>
                <a:latin typeface="Noto Sans"/>
                <a:ea typeface="Noto Sans CJK JP"/>
                <a:cs typeface="Noto Sans"/>
              </a:rPr>
              <a:t>C</a:t>
            </a:r>
            <a:r>
              <a:rPr lang="ja-JP" b="1" dirty="0" sz="1400" altLang="en-US">
                <a:solidFill>
                  <a:schemeClr val="lt1"/>
                </a:solidFill>
                <a:latin typeface="Noto Sans"/>
                <a:ea typeface="Noto Sans CJK JP"/>
                <a:cs typeface="Noto Sans"/>
              </a:rPr>
              <a:t>ontents</a:t>
            </a:r>
            <a:endParaRPr b="1" dirty="0" lang="ja-JP" sz="1400" altLang="en-US">
              <a:solidFill>
                <a:schemeClr val="lt1"/>
              </a:solidFill>
              <a:latin typeface="Noto Sans"/>
              <a:ea typeface="Noto Sans CJK JP"/>
              <a:cs typeface="Noto Sans"/>
            </a:endParaRPr>
          </a:p>
        </p:txBody>
      </p:sp>
      <p:sp>
        <p:nvSpPr>
          <p:cNvPr id="76" name="Google Shape;76;p11"/>
          <p:cNvSpPr txBox="1"/>
          <p:nvPr/>
        </p:nvSpPr>
        <p:spPr>
          <a:xfrm>
            <a:off x="1236712" y="842226"/>
            <a:ext cx="5764979" cy="593978"/>
          </a:xfrm>
          <a:prstGeom prst="rect">
            <a:avLst/>
          </a:prstGeom>
          <a:noFill/>
          <a:ln>
            <a:noFill/>
          </a:ln>
        </p:spPr>
        <p:txBody>
          <a:bodyPr spcFirstLastPara="1" wrap="square" lIns="91425" tIns="91425" rIns="91425" bIns="91425" anchor="ctr" anchorCtr="0">
            <a:spAutoFit/>
          </a:bodyPr>
          <a:lstStyle/>
          <a:p>
            <a:pPr marL="0" marR="0" lvl="0" indent="0" algn="l" defTabSz="914400" rtl="0" eaLnBrk="1" fontAlgn="auto" latinLnBrk="0" hangingPunct="1">
              <a:lnSpc>
                <a:spcPct val="95000"/>
              </a:lnSpc>
              <a:spcBef>
                <a:spcPts val="0"/>
              </a:spcBef>
              <a:spcAft>
                <a:spcPts val="0"/>
              </a:spcAft>
              <a:buClr>
                <a:schemeClr val="dk1"/>
              </a:buClr>
              <a:buFont typeface="Noto Sans CJK JP"/>
              <a:buNone/>
              <a:tabLst/>
              <a:defRPr lang="ja-JP">
                <a:latin typeface="Noto Sans"/>
                <a:ea typeface="Noto Sans CJK JP"/>
                <a:cs typeface="Noto Sans"/>
              </a:defRPr>
            </a:pPr>
            <a:r>
              <a:rPr lang="ja-JP" sz="2800" b="1" dirty="0">
                <a:solidFill>
                  <a:schemeClr val="accent2"/>
                </a:solidFill>
                <a:latin typeface="Noto Sans"/>
                <a:ea typeface="Noto Sans CJK JP"/>
                <a:cs typeface="Noto Sans"/>
              </a:rPr>
              <a:t>1.</a:t>
            </a:r>
            <a:r>
              <a:rPr lang="ja-JP" altLang="ja" sz="2800" b="1" dirty="0">
                <a:solidFill>
                  <a:schemeClr val="accent2"/>
                </a:solidFill>
                <a:latin typeface="Noto Sans"/>
                <a:ea typeface="Noto Sans CJK JP"/>
                <a:cs typeface="Noto Sans"/>
              </a:rPr>
              <a:t> </a:t>
            </a:r>
            <a:r>
              <a:rPr lang="ja-JP" altLang="ja" sz="2800" b="1" dirty="0">
                <a:solidFill>
                  <a:schemeClr val="dk1"/>
                </a:solidFill>
                <a:latin typeface="Noto Sans"/>
                <a:ea typeface="Noto Sans CJK JP"/>
                <a:cs typeface="Noto Sans"/>
              </a:rPr>
              <a:t>Background &amp; Purpose</a:t>
            </a:r>
            <a:endParaRPr lang="ja-JP" altLang="ja-JP" sz="2800" b="1" dirty="0">
              <a:solidFill>
                <a:schemeClr val="dk1"/>
              </a:solidFill>
              <a:latin typeface="Noto Sans"/>
              <a:ea typeface="Noto Sans CJK JP"/>
              <a:cs typeface="Noto Sans"/>
            </a:endParaRPr>
          </a:p>
        </p:txBody>
      </p:sp>
      <p:sp>
        <p:nvSpPr>
          <p:cNvPr id="79" name="Google Shape;79;p11"/>
          <p:cNvSpPr txBox="1"/>
          <p:nvPr/>
        </p:nvSpPr>
        <p:spPr>
          <a:xfrm>
            <a:off x="1236712" y="1664913"/>
            <a:ext cx="5412281" cy="593978"/>
          </a:xfrm>
          <a:prstGeom prst="rect">
            <a:avLst/>
          </a:prstGeom>
          <a:noFill/>
          <a:ln>
            <a:noFill/>
          </a:ln>
        </p:spPr>
        <p:txBody>
          <a:bodyPr spcFirstLastPara="1" wrap="square" lIns="91425" tIns="91425" rIns="91425" bIns="91425" anchor="ctr" anchorCtr="0">
            <a:spAutoFit/>
          </a:bodyPr>
          <a:lstStyle/>
          <a:p>
            <a:pPr marL="0" marR="0" lvl="0" indent="0" algn="l" defTabSz="914400" rtl="0" eaLnBrk="1" fontAlgn="auto" latinLnBrk="0" hangingPunct="1">
              <a:lnSpc>
                <a:spcPct val="95000"/>
              </a:lnSpc>
              <a:spcBef>
                <a:spcPts val="0"/>
              </a:spcBef>
              <a:spcAft>
                <a:spcPts val="0"/>
              </a:spcAft>
              <a:buClr>
                <a:schemeClr val="dk1"/>
              </a:buClr>
              <a:buFont typeface="Noto Sans CJK JP"/>
              <a:buNone/>
              <a:tabLst/>
              <a:defRPr lang="ja-JP">
                <a:latin typeface="Noto Sans"/>
                <a:ea typeface="Noto Sans CJK JP"/>
                <a:cs typeface="Noto Sans"/>
              </a:defRPr>
            </a:pPr>
            <a:r>
              <a:rPr lang="ja-JP" sz="2800" b="1" dirty="0">
                <a:solidFill>
                  <a:schemeClr val="accent2"/>
                </a:solidFill>
                <a:latin typeface="Noto Sans"/>
                <a:ea typeface="Noto Sans CJK JP"/>
                <a:cs typeface="Noto Sans"/>
              </a:rPr>
              <a:t>2.</a:t>
            </a:r>
            <a:r>
              <a:rPr lang="ja-JP" altLang="ja" sz="2800" b="1" dirty="0">
                <a:solidFill>
                  <a:schemeClr val="accent2"/>
                </a:solidFill>
                <a:latin typeface="Noto Sans"/>
                <a:ea typeface="Noto Sans CJK JP"/>
                <a:cs typeface="Noto Sans"/>
              </a:rPr>
              <a:t> </a:t>
            </a:r>
            <a:r>
              <a:rPr lang="ja-JP" altLang="ja" sz="2800" b="1" dirty="0">
                <a:solidFill>
                  <a:schemeClr val="dk1"/>
                </a:solidFill>
                <a:latin typeface="Noto Sans"/>
                <a:ea typeface="Noto Sans CJK JP"/>
                <a:cs typeface="Noto Sans"/>
              </a:rPr>
              <a:t>Methodology</a:t>
            </a:r>
            <a:endParaRPr lang="ja-JP" altLang="ja-JP" sz="2800" b="1" dirty="0">
              <a:solidFill>
                <a:schemeClr val="dk1"/>
              </a:solidFill>
              <a:latin typeface="Noto Sans"/>
              <a:ea typeface="Noto Sans CJK JP"/>
              <a:cs typeface="Noto Sans"/>
            </a:endParaRPr>
          </a:p>
        </p:txBody>
      </p:sp>
      <p:sp>
        <p:nvSpPr>
          <p:cNvPr id="82" name="Google Shape;82;p11"/>
          <p:cNvSpPr txBox="1"/>
          <p:nvPr/>
        </p:nvSpPr>
        <p:spPr>
          <a:xfrm>
            <a:off x="1236712" y="2487598"/>
            <a:ext cx="6688590" cy="593978"/>
          </a:xfrm>
          <a:prstGeom prst="rect">
            <a:avLst/>
          </a:prstGeom>
          <a:noFill/>
          <a:ln>
            <a:noFill/>
          </a:ln>
        </p:spPr>
        <p:txBody>
          <a:bodyPr spcFirstLastPara="1" wrap="square" lIns="91425" tIns="91425" rIns="91425" bIns="91425" anchor="ctr" anchorCtr="0">
            <a:spAutoFit/>
          </a:bodyPr>
          <a:lstStyle/>
          <a:p>
            <a:pPr marL="0" marR="0" lvl="0" indent="0" algn="l" defTabSz="914400" rtl="0" eaLnBrk="1" fontAlgn="auto" latinLnBrk="0" hangingPunct="1">
              <a:lnSpc>
                <a:spcPct val="95000"/>
              </a:lnSpc>
              <a:spcBef>
                <a:spcPts val="0"/>
              </a:spcBef>
              <a:spcAft>
                <a:spcPts val="0"/>
              </a:spcAft>
              <a:buClr>
                <a:schemeClr val="dk1"/>
              </a:buClr>
              <a:buFont typeface="Noto Sans CJK JP"/>
              <a:buNone/>
              <a:tabLst/>
              <a:defRPr lang="ja-JP">
                <a:latin typeface="Noto Sans"/>
                <a:ea typeface="Noto Sans CJK JP"/>
                <a:cs typeface="Noto Sans"/>
              </a:defRPr>
            </a:pPr>
            <a:r>
              <a:rPr lang="ja-JP" sz="2800" b="1" dirty="0">
                <a:solidFill>
                  <a:schemeClr val="accent2"/>
                </a:solidFill>
                <a:latin typeface="Noto Sans"/>
                <a:ea typeface="Noto Sans CJK JP"/>
                <a:cs typeface="Noto Sans"/>
              </a:rPr>
              <a:t>3.</a:t>
            </a:r>
            <a:r>
              <a:rPr lang="ja-JP" altLang="ja" sz="2800" b="1" dirty="0">
                <a:solidFill>
                  <a:schemeClr val="accent2"/>
                </a:solidFill>
                <a:latin typeface="Noto Sans"/>
                <a:ea typeface="Noto Sans CJK JP"/>
                <a:cs typeface="Noto Sans"/>
              </a:rPr>
              <a:t> </a:t>
            </a:r>
            <a:r>
              <a:rPr lang="ja-JP" altLang="ja" sz="2800" b="1" dirty="0">
                <a:solidFill>
                  <a:schemeClr val="dk1"/>
                </a:solidFill>
                <a:latin typeface="Noto Sans"/>
                <a:ea typeface="Noto Sans CJK JP"/>
                <a:cs typeface="Noto Sans"/>
              </a:rPr>
              <a:t>Classification Framework</a:t>
            </a:r>
            <a:endParaRPr lang="ja-JP" altLang="ja-JP" sz="2800" b="1" dirty="0">
              <a:solidFill>
                <a:schemeClr val="dk1"/>
              </a:solidFill>
              <a:latin typeface="Noto Sans"/>
              <a:ea typeface="Noto Sans CJK JP"/>
              <a:cs typeface="Noto Sans"/>
            </a:endParaRPr>
          </a:p>
        </p:txBody>
      </p:sp>
      <p:sp>
        <p:nvSpPr>
          <p:cNvPr id="85" name="Google Shape;85;p11"/>
          <p:cNvSpPr txBox="1"/>
          <p:nvPr userDrawn="1"/>
        </p:nvSpPr>
        <p:spPr>
          <a:xfrm>
            <a:off x="1236712" y="3310287"/>
            <a:ext cx="5020396" cy="593978"/>
          </a:xfrm>
          <a:prstGeom prst="rect">
            <a:avLst/>
          </a:prstGeom>
          <a:noFill/>
          <a:ln>
            <a:noFill/>
          </a:ln>
        </p:spPr>
        <p:txBody>
          <a:bodyPr spcFirstLastPara="1" wrap="square" lIns="91425" tIns="91425" rIns="91425" bIns="91425" anchor="ctr" anchorCtr="0">
            <a:spAutoFit/>
          </a:bodyPr>
          <a:lstStyle/>
          <a:p>
            <a:pPr marL="0" marR="0" lvl="0" indent="0" algn="l" defTabSz="914400" rtl="0" eaLnBrk="1" fontAlgn="auto" latinLnBrk="0" hangingPunct="1">
              <a:lnSpc>
                <a:spcPct val="95000"/>
              </a:lnSpc>
              <a:spcBef>
                <a:spcPts val="0"/>
              </a:spcBef>
              <a:spcAft>
                <a:spcPts val="0"/>
              </a:spcAft>
              <a:buClr>
                <a:schemeClr val="dk1"/>
              </a:buClr>
              <a:buFont typeface="Noto Sans CJK JP"/>
              <a:buNone/>
              <a:tabLst/>
              <a:defRPr lang="ja-JP">
                <a:latin typeface="Noto Sans"/>
                <a:ea typeface="Noto Sans CJK JP"/>
                <a:cs typeface="Noto Sans"/>
              </a:defRPr>
            </a:pPr>
            <a:r>
              <a:rPr lang="ja-JP" sz="2800" b="1" dirty="0">
                <a:solidFill>
                  <a:schemeClr val="accent2"/>
                </a:solidFill>
                <a:latin typeface="Noto Sans"/>
                <a:ea typeface="Noto Sans CJK JP"/>
                <a:cs typeface="Noto Sans"/>
              </a:rPr>
              <a:t>4.</a:t>
            </a:r>
            <a:r>
              <a:rPr lang="ja-JP" altLang="ja" sz="2800" b="1" dirty="0">
                <a:solidFill>
                  <a:schemeClr val="accent2"/>
                </a:solidFill>
                <a:latin typeface="Noto Sans"/>
                <a:ea typeface="Noto Sans CJK JP"/>
                <a:cs typeface="Noto Sans"/>
              </a:rPr>
              <a:t> </a:t>
            </a:r>
            <a:r>
              <a:rPr lang="ja-JP" altLang="ja" sz="2800" b="1" dirty="0">
                <a:solidFill>
                  <a:schemeClr val="dk1"/>
                </a:solidFill>
                <a:latin typeface="Noto Sans"/>
                <a:ea typeface="Noto Sans CJK JP"/>
                <a:cs typeface="Noto Sans"/>
              </a:rPr>
              <a:t>Results &amp; Analysis</a:t>
            </a:r>
            <a:endParaRPr lang="ja-JP" altLang="ja-JP" sz="2800" b="1" dirty="0">
              <a:solidFill>
                <a:schemeClr val="dk1"/>
              </a:solidFill>
              <a:latin typeface="Noto Sans"/>
              <a:ea typeface="Noto Sans CJK JP"/>
              <a:cs typeface="Noto Sans"/>
            </a:endParaRPr>
          </a:p>
        </p:txBody>
      </p:sp>
      <p:sp>
        <p:nvSpPr>
          <p:cNvPr id="87" name="Google Shape;87;p11"/>
          <p:cNvSpPr txBox="1"/>
          <p:nvPr/>
        </p:nvSpPr>
        <p:spPr>
          <a:xfrm>
            <a:off x="1929203" y="3891800"/>
            <a:ext cx="5996100" cy="432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1900" dirty="0" lang="ja-JP">
              <a:solidFill>
                <a:schemeClr val="dk1"/>
              </a:solidFill>
              <a:latin typeface="Noto Sans"/>
              <a:ea typeface="Noto Sans CJK JP"/>
              <a:cs typeface="Noto Sans"/>
            </a:endParaRPr>
          </a:p>
        </p:txBody>
      </p:sp>
      <p:sp>
        <p:nvSpPr>
          <p:cNvPr id="88" name="Google Shape;88;p11"/>
          <p:cNvSpPr txBox="1"/>
          <p:nvPr/>
        </p:nvSpPr>
        <p:spPr>
          <a:xfrm>
            <a:off x="1236712" y="4132975"/>
            <a:ext cx="6196053" cy="593978"/>
          </a:xfrm>
          <a:prstGeom prst="rect">
            <a:avLst/>
          </a:prstGeom>
          <a:noFill/>
          <a:ln>
            <a:noFill/>
          </a:ln>
        </p:spPr>
        <p:txBody>
          <a:bodyPr spcFirstLastPara="1" wrap="square" lIns="91425" tIns="91425" rIns="91425" bIns="91425" anchor="ctr" anchorCtr="0">
            <a:spAutoFit/>
          </a:bodyPr>
          <a:lstStyle/>
          <a:p>
            <a:pPr marL="0" marR="0" lvl="0" indent="0" algn="l" defTabSz="914400" rtl="0" eaLnBrk="1" fontAlgn="auto" latinLnBrk="0" hangingPunct="1">
              <a:lnSpc>
                <a:spcPct val="95000"/>
              </a:lnSpc>
              <a:spcBef>
                <a:spcPts val="0"/>
              </a:spcBef>
              <a:spcAft>
                <a:spcPts val="0"/>
              </a:spcAft>
              <a:buClr>
                <a:schemeClr val="dk1"/>
              </a:buClr>
              <a:buFont typeface="Noto Sans CJK JP"/>
              <a:buNone/>
              <a:tabLst/>
              <a:defRPr lang="ja-JP">
                <a:latin typeface="Noto Sans"/>
                <a:ea typeface="Noto Sans CJK JP"/>
                <a:cs typeface="Noto Sans"/>
              </a:defRPr>
            </a:pPr>
            <a:r>
              <a:rPr lang="ja-JP" sz="2800" b="1" dirty="0">
                <a:solidFill>
                  <a:schemeClr val="accent2"/>
                </a:solidFill>
                <a:latin typeface="Noto Sans"/>
                <a:ea typeface="Noto Sans CJK JP"/>
                <a:cs typeface="Noto Sans"/>
              </a:rPr>
              <a:t>5.</a:t>
            </a:r>
            <a:r>
              <a:rPr lang="ja-JP" altLang="ja" sz="2800" b="1" dirty="0">
                <a:solidFill>
                  <a:schemeClr val="accent2"/>
                </a:solidFill>
                <a:latin typeface="Noto Sans"/>
                <a:ea typeface="Noto Sans CJK JP"/>
                <a:cs typeface="Noto Sans"/>
              </a:rPr>
              <a:t> </a:t>
            </a:r>
            <a:r>
              <a:rPr lang="ja-JP" altLang="ja" sz="2800" b="1" dirty="0">
                <a:solidFill>
                  <a:schemeClr val="dk1"/>
                </a:solidFill>
                <a:latin typeface="Noto Sans"/>
                <a:ea typeface="Noto Sans CJK JP"/>
                <a:cs typeface="Noto Sans"/>
              </a:rPr>
              <a:t>Conclusions and future work</a:t>
            </a:r>
            <a:endParaRPr lang="ja-JP" altLang="ja-JP" sz="2800" b="1" dirty="0">
              <a:solidFill>
                <a:schemeClr val="dk1"/>
              </a:solidFill>
              <a:latin typeface="Noto Sans"/>
              <a:ea typeface="Noto Sans CJK JP"/>
              <a:cs typeface="Noto Sans"/>
            </a:endParaRPr>
          </a:p>
        </p:txBody>
      </p:sp>
      <p:sp>
        <p:nvSpPr>
          <p:cNvPr id="999" name="Slide Number"/>
          <p:cNvSpPr txBox="1"/>
          <p:nvPr/>
        </p:nvSpPr>
        <p:spPr>
          <a:xfrm>
            <a:off x="8412480" y="7937"/>
            <a:ext cx="640080" cy="480059"/>
          </a:xfrm>
          <a:prstGeom prst="rect">
            <a:avLst/>
          </a:prstGeom>
          <a:noFill/>
          <a:ln>
            <a:noFill/>
          </a:ln>
        </p:spPr>
        <p:txBody>
          <a:bodyPr anchor="ctr" lIns="0" tIns="0" bIns="0"/>
          <a:lstStyle/>
          <a:p>
            <a:pPr algn="r">
              <a:lnSpc>
                <a:spcPct val="100000"/>
              </a:lnSpc>
              <a:spcBef>
                <a:spcPts val="0"/>
              </a:spcBef>
              <a:spcAft>
                <a:spcPts val="0"/>
              </a:spcAft>
            </a:pPr>
            <a:fld id="{00000000-1234-1234-1234-000000000999}" type="slidenum">
              <a:rPr lang="ja-JP" sz="1800" b="1">
                <a:solidFill>
                  <a:schemeClr val="lt1"/>
                </a:solidFill>
                <a:latin typeface="Noto Sans"/>
                <a:ea typeface="Noto Sans CJK JP"/>
                <a:cs typeface="Noto Sans"/>
              </a:rPr>
              <a:t>‹#›</a:t>
            </a:fld>
            <a:endParaRPr lang="ja-JP" sz="1800" b="1">
              <a:latin typeface="Noto Sans"/>
              <a:ea typeface="Noto Sans CJK JP"/>
              <a:cs typeface="Noto Sans"/>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matchingName="normal">
  <p:cSld name="ONE_COLUMN_TEXT_1">
    <p:spTree>
      <p:nvGrpSpPr>
        <p:cNvPr id="1" name="Shape 21"/>
        <p:cNvGrpSpPr/>
        <p:nvPr/>
      </p:nvGrpSpPr>
      <p:grpSpPr>
        <a:xfrm>
          <a:off x="0" y="0"/>
          <a:ext cx="0" cy="0"/>
          <a:chOff x="0" y="0"/>
          <a:chExt cx="0" cy="0"/>
        </a:xfrm>
      </p:grpSpPr>
      <p:sp>
        <p:nvSpPr>
          <p:cNvPr id="22" name="Google Shape;22;p5"/>
          <p:cNvSpPr/>
          <p:nvPr/>
        </p:nvSpPr>
        <p:spPr>
          <a:xfrm>
            <a:off x="-12600" y="0"/>
            <a:ext cx="9169200" cy="480059"/>
          </a:xfrm>
          <a:prstGeom prst="rect">
            <a:avLst/>
          </a:prstGeom>
          <a:solidFill>
            <a:schemeClr val="accent2"/>
          </a:solidFill>
          <a:ln>
            <a:noFill/>
          </a:ln>
        </p:spPr>
        <p:txBody>
          <a:bodyPr spcFirstLastPara="1" wrap="square" lIns="91425" tIns="0" rIns="91425" bIns="0" anchor="ctr" anchorCtr="0">
            <a:noAutofit/>
          </a:bodyPr>
          <a:lstStyle/>
          <a:p>
            <a:pPr marL="0" lvl="0" indent="0" algn="ctr" rtl="0">
              <a:lnSpc>
                <a:spcPct val="100000"/>
              </a:lnSpc>
              <a:spcBef>
                <a:spcPts val="0"/>
              </a:spcBef>
              <a:spcAft>
                <a:spcPts val="0"/>
              </a:spcAft>
              <a:buNone/>
            </a:pPr>
            <a:endParaRPr lang="ja-JP">
              <a:latin typeface="Noto Sans"/>
              <a:ea typeface="Noto Sans CJK JP"/>
              <a:cs typeface="Noto Sans"/>
            </a:endParaRPr>
          </a:p>
        </p:txBody>
      </p:sp>
      <p:sp>
        <p:nvSpPr>
          <p:cNvPr id="24" name="Google Shape;24;p5"/>
          <p:cNvSpPr txBox="1">
            <a:spLocks noGrp="1"/>
          </p:cNvSpPr>
          <p:nvPr>
            <p:ph type="title"/>
          </p:nvPr>
        </p:nvSpPr>
        <p:spPr>
          <a:xfrm>
            <a:off x="468600" y="748150"/>
            <a:ext cx="8394600" cy="616200"/>
          </a:xfrm>
          <a:prstGeom prst="rect">
            <a:avLst/>
          </a:prstGeom>
        </p:spPr>
        <p:txBody>
          <a:bodyPr spcFirstLastPara="1" wrap="none" lIns="91425" tIns="91425" rIns="91425" bIns="91425" anchor="t" anchorCtr="0">
            <a:normAutofit/>
          </a:bodyPr>
          <a:lstStyle>
            <a:lvl1pPr lvl="0">
              <a:spcBef>
                <a:spcPts val="0"/>
              </a:spcBef>
              <a:spcAft>
                <a:spcPts val="0"/>
              </a:spcAft>
              <a:buClr>
                <a:schemeClr val="dk1"/>
              </a:buClr>
              <a:buNone/>
              <a:defRPr sz="3000" b="1" lang="ja-JP">
                <a:solidFill>
                  <a:schemeClr val="dk1"/>
                </a:solidFill>
                <a:latin typeface="Noto Sans"/>
                <a:ea typeface="Noto Sans CJK JP"/>
                <a:cs typeface="Noto Sans"/>
              </a:defRPr>
            </a:lvl1pPr>
            <a:lvl2pPr lvl="1">
              <a:spcBef>
                <a:spcPts val="0"/>
              </a:spcBef>
              <a:spcAft>
                <a:spcPts val="0"/>
              </a:spcAft>
              <a:buNone/>
              <a:defRPr lang="ja-JP">
                <a:latin typeface="Noto Sans"/>
                <a:ea typeface="Noto Sans CJK JP"/>
                <a:cs typeface="Noto Sans"/>
              </a:defRPr>
            </a:lvl2pPr>
            <a:lvl3pPr lvl="2">
              <a:spcBef>
                <a:spcPts val="0"/>
              </a:spcBef>
              <a:spcAft>
                <a:spcPts val="0"/>
              </a:spcAft>
              <a:buNone/>
              <a:defRPr lang="ja-JP">
                <a:latin typeface="Noto Sans"/>
                <a:ea typeface="Noto Sans CJK JP"/>
                <a:cs typeface="Noto Sans"/>
              </a:defRPr>
            </a:lvl3pPr>
            <a:lvl4pPr lvl="3">
              <a:spcBef>
                <a:spcPts val="0"/>
              </a:spcBef>
              <a:spcAft>
                <a:spcPts val="0"/>
              </a:spcAft>
              <a:buNone/>
              <a:defRPr lang="ja-JP">
                <a:latin typeface="Noto Sans"/>
                <a:ea typeface="Noto Sans CJK JP"/>
                <a:cs typeface="Noto Sans"/>
              </a:defRPr>
            </a:lvl4pPr>
            <a:lvl5pPr lvl="4">
              <a:spcBef>
                <a:spcPts val="0"/>
              </a:spcBef>
              <a:spcAft>
                <a:spcPts val="0"/>
              </a:spcAft>
              <a:buNone/>
              <a:defRPr lang="ja-JP">
                <a:latin typeface="Noto Sans"/>
                <a:ea typeface="Noto Sans CJK JP"/>
                <a:cs typeface="Noto Sans"/>
              </a:defRPr>
            </a:lvl5pPr>
            <a:lvl6pPr lvl="5">
              <a:spcBef>
                <a:spcPts val="0"/>
              </a:spcBef>
              <a:spcAft>
                <a:spcPts val="0"/>
              </a:spcAft>
              <a:buNone/>
              <a:defRPr lang="ja-JP">
                <a:latin typeface="Noto Sans"/>
                <a:ea typeface="Noto Sans CJK JP"/>
                <a:cs typeface="Noto Sans"/>
              </a:defRPr>
            </a:lvl6pPr>
            <a:lvl7pPr lvl="6">
              <a:spcBef>
                <a:spcPts val="0"/>
              </a:spcBef>
              <a:spcAft>
                <a:spcPts val="0"/>
              </a:spcAft>
              <a:buNone/>
              <a:defRPr lang="ja-JP">
                <a:latin typeface="Noto Sans"/>
                <a:ea typeface="Noto Sans CJK JP"/>
                <a:cs typeface="Noto Sans"/>
              </a:defRPr>
            </a:lvl7pPr>
            <a:lvl8pPr lvl="7">
              <a:spcBef>
                <a:spcPts val="0"/>
              </a:spcBef>
              <a:spcAft>
                <a:spcPts val="0"/>
              </a:spcAft>
              <a:buNone/>
              <a:defRPr lang="ja-JP">
                <a:latin typeface="Noto Sans"/>
                <a:ea typeface="Noto Sans CJK JP"/>
                <a:cs typeface="Noto Sans"/>
              </a:defRPr>
            </a:lvl8pPr>
            <a:lvl9pPr lvl="8">
              <a:spcBef>
                <a:spcPts val="0"/>
              </a:spcBef>
              <a:spcAft>
                <a:spcPts val="0"/>
              </a:spcAft>
              <a:buNone/>
              <a:defRPr lang="ja-JP">
                <a:latin typeface="Noto Sans"/>
                <a:ea typeface="Noto Sans CJK JP"/>
                <a:cs typeface="Noto Sans"/>
              </a:defRPr>
            </a:lvl9pPr>
          </a:lstStyle>
          <a:p>
            <a:endParaRPr lang="ja-JP">
              <a:latin typeface="Noto Sans"/>
              <a:ea typeface="Noto Sans CJK JP"/>
              <a:cs typeface="Noto Sans"/>
            </a:endParaRPr>
          </a:p>
        </p:txBody>
      </p:sp>
      <p:sp>
        <p:nvSpPr>
          <p:cNvPr id="25" name="Google Shape;25;p5"/>
          <p:cNvSpPr txBox="1">
            <a:spLocks noGrp="1"/>
          </p:cNvSpPr>
          <p:nvPr>
            <p:ph type="body" idx="1"/>
          </p:nvPr>
        </p:nvSpPr>
        <p:spPr>
          <a:xfrm>
            <a:off x="589650" y="1474850"/>
            <a:ext cx="7964700" cy="3458700"/>
          </a:xfrm>
          <a:prstGeom prst="rect">
            <a:avLst/>
          </a:prstGeom>
        </p:spPr>
        <p:txBody>
          <a:bodyPr spcFirstLastPara="1" wrap="square" lIns="91425" tIns="91425" rIns="91425" bIns="91425" anchor="t" anchorCtr="0">
            <a:normAutofit/>
          </a:bodyPr>
          <a:lstStyle>
            <a:lvl1pPr marL="457200" lvl="0"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1pPr>
            <a:lvl2pPr marL="914400" lvl="1"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2pPr>
            <a:lvl3pPr marL="1371600" lvl="2"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3pPr>
            <a:lvl4pPr marL="1828800" lvl="3" indent="-368300">
              <a:spcBef>
                <a:spcPts val="0"/>
              </a:spcBef>
              <a:spcAft>
                <a:spcPts val="0"/>
              </a:spcAft>
              <a:buClr>
                <a:srgbClr val="303437"/>
              </a:buClr>
              <a:buSzPct val="60455"/>
              <a:buFont typeface="Noto Sans CJK JP"/>
              <a:buChar char="●"/>
              <a:defRPr sz="2200" lang="ja-JP">
                <a:solidFill>
                  <a:srgbClr val="303437"/>
                </a:solidFill>
                <a:latin typeface="Noto Sans"/>
                <a:ea typeface="Noto Sans CJK JP"/>
                <a:cs typeface="Noto Sans"/>
              </a:defRPr>
            </a:lvl4pPr>
            <a:lvl5pPr marL="2286000" lvl="4"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5pPr>
            <a:lvl6pPr marL="2743200" lvl="5"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6pPr>
            <a:lvl7pPr marL="3200400" lvl="6"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7pPr>
            <a:lvl8pPr marL="3657600" lvl="7"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8pPr>
            <a:lvl9pPr marL="4114800" lvl="8"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9pPr>
          </a:lstStyle>
          <a:p>
            <a:endParaRPr lang="ja-JP">
              <a:latin typeface="Noto Sans"/>
              <a:ea typeface="Noto Sans CJK JP"/>
              <a:cs typeface="Noto Sans"/>
            </a:endParaRPr>
          </a:p>
        </p:txBody>
      </p:sp>
      <p:sp>
        <p:nvSpPr>
          <p:cNvPr id="26" name="Google Shape;26;p5"/>
          <p:cNvSpPr txBox="1">
            <a:spLocks noGrp="1"/>
          </p:cNvSpPr>
          <p:nvPr>
            <p:ph type="title" idx="2"/>
          </p:nvPr>
        </p:nvSpPr>
        <p:spPr>
          <a:xfrm>
            <a:off x="76100" y="0"/>
            <a:ext cx="8048100" cy="480059"/>
          </a:xfrm>
          <a:prstGeom prst="rect">
            <a:avLst/>
          </a:prstGeom>
          <a:ln>
            <a:noFill/>
          </a:ln>
        </p:spPr>
        <p:txBody>
          <a:bodyPr spcFirstLastPara="1" wrap="square" lIns="91425" tIns="0" rIns="91425" bIns="0" anchor="ctr" anchorCtr="0">
            <a:normAutofit/>
          </a:bodyPr>
          <a:lstStyle>
            <a:lvl1pPr lvl="0">
              <a:spcBef>
                <a:spcPts val="0"/>
              </a:spcBef>
              <a:spcAft>
                <a:spcPts val="0"/>
              </a:spcAft>
              <a:buClr>
                <a:schemeClr val="lt1"/>
              </a:buClr>
              <a:buNone/>
              <a:defRPr sz="1400" b="1" lang="ja-JP" altLang="en-US">
                <a:solidFill>
                  <a:schemeClr val="lt1"/>
                </a:solidFill>
                <a:latin typeface="Noto Sans"/>
                <a:ea typeface="Noto Sans CJK JP"/>
                <a:cs typeface="Noto Sans"/>
              </a:defRPr>
            </a:lvl1pPr>
            <a:lvl2pPr lvl="1">
              <a:spcBef>
                <a:spcPts val="0"/>
              </a:spcBef>
              <a:spcAft>
                <a:spcPts val="0"/>
              </a:spcAft>
              <a:buNone/>
              <a:defRPr lang="ja-JP" sz="1400" b="1" altLang="en-US">
                <a:latin typeface="Noto Sans"/>
                <a:ea typeface="Noto Sans CJK JP"/>
                <a:cs typeface="Noto Sans"/>
              </a:defRPr>
            </a:lvl2pPr>
            <a:lvl3pPr lvl="2">
              <a:spcBef>
                <a:spcPts val="0"/>
              </a:spcBef>
              <a:spcAft>
                <a:spcPts val="0"/>
              </a:spcAft>
              <a:buNone/>
              <a:defRPr lang="ja-JP" sz="1400" b="1" altLang="en-US">
                <a:latin typeface="Noto Sans"/>
                <a:ea typeface="Noto Sans CJK JP"/>
                <a:cs typeface="Noto Sans"/>
              </a:defRPr>
            </a:lvl3pPr>
            <a:lvl4pPr lvl="3">
              <a:spcBef>
                <a:spcPts val="0"/>
              </a:spcBef>
              <a:spcAft>
                <a:spcPts val="0"/>
              </a:spcAft>
              <a:buNone/>
              <a:defRPr lang="ja-JP" sz="1400" b="1" altLang="en-US">
                <a:latin typeface="Noto Sans"/>
                <a:ea typeface="Noto Sans CJK JP"/>
                <a:cs typeface="Noto Sans"/>
              </a:defRPr>
            </a:lvl4pPr>
            <a:lvl5pPr lvl="4">
              <a:spcBef>
                <a:spcPts val="0"/>
              </a:spcBef>
              <a:spcAft>
                <a:spcPts val="0"/>
              </a:spcAft>
              <a:buNone/>
              <a:defRPr lang="ja-JP" sz="1400" b="1" altLang="en-US">
                <a:latin typeface="Noto Sans"/>
                <a:ea typeface="Noto Sans CJK JP"/>
                <a:cs typeface="Noto Sans"/>
              </a:defRPr>
            </a:lvl5pPr>
            <a:lvl6pPr lvl="5">
              <a:spcBef>
                <a:spcPts val="0"/>
              </a:spcBef>
              <a:spcAft>
                <a:spcPts val="0"/>
              </a:spcAft>
              <a:buNone/>
              <a:defRPr lang="ja-JP" sz="1400" b="1" altLang="en-US">
                <a:latin typeface="Noto Sans"/>
                <a:ea typeface="Noto Sans CJK JP"/>
                <a:cs typeface="Noto Sans"/>
              </a:defRPr>
            </a:lvl6pPr>
            <a:lvl7pPr lvl="6">
              <a:spcBef>
                <a:spcPts val="0"/>
              </a:spcBef>
              <a:spcAft>
                <a:spcPts val="0"/>
              </a:spcAft>
              <a:buNone/>
              <a:defRPr lang="ja-JP" sz="1400" b="1" altLang="en-US">
                <a:latin typeface="Noto Sans"/>
                <a:ea typeface="Noto Sans CJK JP"/>
                <a:cs typeface="Noto Sans"/>
              </a:defRPr>
            </a:lvl7pPr>
            <a:lvl8pPr lvl="7">
              <a:spcBef>
                <a:spcPts val="0"/>
              </a:spcBef>
              <a:spcAft>
                <a:spcPts val="0"/>
              </a:spcAft>
              <a:buNone/>
              <a:defRPr lang="ja-JP" sz="1400" b="1" altLang="en-US">
                <a:latin typeface="Noto Sans"/>
                <a:ea typeface="Noto Sans CJK JP"/>
                <a:cs typeface="Noto Sans"/>
              </a:defRPr>
            </a:lvl8pPr>
            <a:lvl9pPr lvl="8">
              <a:spcBef>
                <a:spcPts val="0"/>
              </a:spcBef>
              <a:spcAft>
                <a:spcPts val="0"/>
              </a:spcAft>
              <a:buNone/>
              <a:defRPr lang="ja-JP" sz="1400" b="1" altLang="en-US">
                <a:latin typeface="Noto Sans"/>
                <a:ea typeface="Noto Sans CJK JP"/>
                <a:cs typeface="Noto Sans"/>
              </a:defRPr>
            </a:lvl9pPr>
          </a:lstStyle>
          <a:p>
            <a:pPr>
              <a:lnSpc>
                <a:spcPct val="100000"/>
              </a:lnSpc>
              <a:spcBef>
                <a:spcPts val="0"/>
              </a:spcBef>
              <a:spcAft>
                <a:spcPts val="0"/>
              </a:spcAft>
              <a:defRPr sz="1400" b="1" lang="ja-JP" altLang="en-US">
                <a:latin typeface="Noto Sans"/>
                <a:ea typeface="Noto Sans CJK JP"/>
                <a:cs typeface="Noto Sans"/>
              </a:defRPr>
            </a:pPr>
            <a:endParaRPr lang="ja-JP" sz="1400" b="1" altLang="en-US">
              <a:latin typeface="Noto Sans"/>
              <a:ea typeface="Noto Sans CJK JP"/>
              <a:cs typeface="Noto Sans"/>
            </a:endParaRPr>
          </a:p>
        </p:txBody>
      </p:sp>
      <p:sp>
        <p:nvSpPr>
          <p:cNvPr id="999" name="Slide Number"/>
          <p:cNvSpPr txBox="1"/>
          <p:nvPr/>
        </p:nvSpPr>
        <p:spPr>
          <a:xfrm>
            <a:off x="8412480" y="7937"/>
            <a:ext cx="640080" cy="480059"/>
          </a:xfrm>
          <a:prstGeom prst="rect">
            <a:avLst/>
          </a:prstGeom>
          <a:noFill/>
          <a:ln>
            <a:noFill/>
          </a:ln>
        </p:spPr>
        <p:txBody>
          <a:bodyPr anchor="ctr" lIns="0" tIns="0" bIns="0"/>
          <a:lstStyle/>
          <a:p>
            <a:pPr algn="r">
              <a:lnSpc>
                <a:spcPct val="100000"/>
              </a:lnSpc>
              <a:spcBef>
                <a:spcPts val="0"/>
              </a:spcBef>
              <a:spcAft>
                <a:spcPts val="0"/>
              </a:spcAft>
            </a:pPr>
            <a:fld id="{00000000-1234-1234-1234-000000000999}" type="slidenum">
              <a:rPr lang="ja-JP" sz="1800" b="1">
                <a:solidFill>
                  <a:schemeClr val="lt1"/>
                </a:solidFill>
                <a:latin typeface="Noto Sans"/>
                <a:ea typeface="Noto Sans CJK JP"/>
                <a:cs typeface="Noto Sans"/>
              </a:rPr>
              <a:t>‹#›</a:t>
            </a:fld>
            <a:endParaRPr lang="ja-JP" sz="1800" b="1" dirty="0">
              <a:latin typeface="Noto Sans"/>
              <a:ea typeface="Noto Sans CJK JP"/>
              <a:cs typeface="Noto Sans"/>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matchingName="タイトルのみ">
  <p:cSld name="ONE_COLUMN_TEXT_1_4">
    <p:spTree>
      <p:nvGrpSpPr>
        <p:cNvPr id="1" name="Shape 27"/>
        <p:cNvGrpSpPr/>
        <p:nvPr/>
      </p:nvGrpSpPr>
      <p:grpSpPr>
        <a:xfrm>
          <a:off x="0" y="0"/>
          <a:ext cx="0" cy="0"/>
          <a:chOff x="0" y="0"/>
          <a:chExt cx="0" cy="0"/>
        </a:xfrm>
      </p:grpSpPr>
      <p:sp>
        <p:nvSpPr>
          <p:cNvPr id="28" name="Google Shape;28;p6"/>
          <p:cNvSpPr/>
          <p:nvPr/>
        </p:nvSpPr>
        <p:spPr>
          <a:xfrm>
            <a:off x="-12600" y="0"/>
            <a:ext cx="9169200" cy="480059"/>
          </a:xfrm>
          <a:prstGeom prst="rect">
            <a:avLst/>
          </a:prstGeom>
          <a:solidFill>
            <a:schemeClr val="accent2"/>
          </a:solidFill>
          <a:ln>
            <a:noFill/>
          </a:ln>
        </p:spPr>
        <p:txBody>
          <a:bodyPr spcFirstLastPara="1" wrap="square" lIns="91425" tIns="0" rIns="91425" bIns="0" anchor="ctr" anchorCtr="0">
            <a:noAutofit/>
          </a:bodyPr>
          <a:lstStyle/>
          <a:p>
            <a:pPr marL="0" lvl="0" indent="0" algn="ctr" rtl="0">
              <a:lnSpc>
                <a:spcPct val="100000"/>
              </a:lnSpc>
              <a:spcBef>
                <a:spcPts val="0"/>
              </a:spcBef>
              <a:spcAft>
                <a:spcPts val="0"/>
              </a:spcAft>
              <a:buNone/>
            </a:pPr>
            <a:endParaRPr lang="ja-JP">
              <a:latin typeface="Noto Sans"/>
              <a:ea typeface="Noto Sans CJK JP"/>
              <a:cs typeface="Noto Sans"/>
            </a:endParaRPr>
          </a:p>
        </p:txBody>
      </p:sp>
      <p:sp>
        <p:nvSpPr>
          <p:cNvPr id="30" name="Google Shape;30;p6"/>
          <p:cNvSpPr txBox="1">
            <a:spLocks noGrp="1"/>
          </p:cNvSpPr>
          <p:nvPr>
            <p:ph type="title"/>
          </p:nvPr>
        </p:nvSpPr>
        <p:spPr>
          <a:xfrm>
            <a:off x="468600" y="649825"/>
            <a:ext cx="8206800" cy="616200"/>
          </a:xfrm>
          <a:prstGeom prst="rect">
            <a:avLst/>
          </a:prstGeom>
        </p:spPr>
        <p:txBody>
          <a:bodyPr spcFirstLastPara="1" wrap="none" lIns="91425" tIns="91425" rIns="91425" bIns="91425" anchor="t" anchorCtr="0">
            <a:normAutofit/>
          </a:bodyPr>
          <a:lstStyle>
            <a:lvl1pPr lvl="0" rtl="0">
              <a:spcBef>
                <a:spcPts val="0"/>
              </a:spcBef>
              <a:spcAft>
                <a:spcPts val="0"/>
              </a:spcAft>
              <a:buClr>
                <a:schemeClr val="dk1"/>
              </a:buClr>
              <a:buNone/>
              <a:defRPr sz="3000" b="1" lang="ja-JP">
                <a:solidFill>
                  <a:schemeClr val="dk1"/>
                </a:solidFill>
                <a:latin typeface="Noto Sans"/>
                <a:ea typeface="Noto Sans CJK JP"/>
                <a:cs typeface="Noto Sans"/>
              </a:defRPr>
            </a:lvl1pPr>
            <a:lvl2pPr lvl="1" rtl="0">
              <a:spcBef>
                <a:spcPts val="0"/>
              </a:spcBef>
              <a:spcAft>
                <a:spcPts val="0"/>
              </a:spcAft>
              <a:buNone/>
              <a:defRPr lang="ja-JP">
                <a:latin typeface="Noto Sans"/>
                <a:ea typeface="Noto Sans CJK JP"/>
                <a:cs typeface="Noto Sans"/>
              </a:defRPr>
            </a:lvl2pPr>
            <a:lvl3pPr lvl="2" rtl="0">
              <a:spcBef>
                <a:spcPts val="0"/>
              </a:spcBef>
              <a:spcAft>
                <a:spcPts val="0"/>
              </a:spcAft>
              <a:buNone/>
              <a:defRPr lang="ja-JP">
                <a:latin typeface="Noto Sans"/>
                <a:ea typeface="Noto Sans CJK JP"/>
                <a:cs typeface="Noto Sans"/>
              </a:defRPr>
            </a:lvl3pPr>
            <a:lvl4pPr lvl="3" rtl="0">
              <a:spcBef>
                <a:spcPts val="0"/>
              </a:spcBef>
              <a:spcAft>
                <a:spcPts val="0"/>
              </a:spcAft>
              <a:buNone/>
              <a:defRPr lang="ja-JP">
                <a:latin typeface="Noto Sans"/>
                <a:ea typeface="Noto Sans CJK JP"/>
                <a:cs typeface="Noto Sans"/>
              </a:defRPr>
            </a:lvl4pPr>
            <a:lvl5pPr lvl="4" rtl="0">
              <a:spcBef>
                <a:spcPts val="0"/>
              </a:spcBef>
              <a:spcAft>
                <a:spcPts val="0"/>
              </a:spcAft>
              <a:buNone/>
              <a:defRPr lang="ja-JP">
                <a:latin typeface="Noto Sans"/>
                <a:ea typeface="Noto Sans CJK JP"/>
                <a:cs typeface="Noto Sans"/>
              </a:defRPr>
            </a:lvl5pPr>
            <a:lvl6pPr lvl="5" rtl="0">
              <a:spcBef>
                <a:spcPts val="0"/>
              </a:spcBef>
              <a:spcAft>
                <a:spcPts val="0"/>
              </a:spcAft>
              <a:buNone/>
              <a:defRPr lang="ja-JP">
                <a:latin typeface="Noto Sans"/>
                <a:ea typeface="Noto Sans CJK JP"/>
                <a:cs typeface="Noto Sans"/>
              </a:defRPr>
            </a:lvl6pPr>
            <a:lvl7pPr lvl="6" rtl="0">
              <a:spcBef>
                <a:spcPts val="0"/>
              </a:spcBef>
              <a:spcAft>
                <a:spcPts val="0"/>
              </a:spcAft>
              <a:buNone/>
              <a:defRPr lang="ja-JP">
                <a:latin typeface="Noto Sans"/>
                <a:ea typeface="Noto Sans CJK JP"/>
                <a:cs typeface="Noto Sans"/>
              </a:defRPr>
            </a:lvl7pPr>
            <a:lvl8pPr lvl="7" rtl="0">
              <a:spcBef>
                <a:spcPts val="0"/>
              </a:spcBef>
              <a:spcAft>
                <a:spcPts val="0"/>
              </a:spcAft>
              <a:buNone/>
              <a:defRPr lang="ja-JP">
                <a:latin typeface="Noto Sans"/>
                <a:ea typeface="Noto Sans CJK JP"/>
                <a:cs typeface="Noto Sans"/>
              </a:defRPr>
            </a:lvl8pPr>
            <a:lvl9pPr lvl="8" rtl="0">
              <a:spcBef>
                <a:spcPts val="0"/>
              </a:spcBef>
              <a:spcAft>
                <a:spcPts val="0"/>
              </a:spcAft>
              <a:buNone/>
              <a:defRPr lang="ja-JP">
                <a:latin typeface="Noto Sans"/>
                <a:ea typeface="Noto Sans CJK JP"/>
                <a:cs typeface="Noto Sans"/>
              </a:defRPr>
            </a:lvl9pPr>
          </a:lstStyle>
          <a:p>
            <a:endParaRPr lang="ja-JP">
              <a:latin typeface="Noto Sans"/>
              <a:ea typeface="Noto Sans CJK JP"/>
              <a:cs typeface="Noto Sans"/>
            </a:endParaRPr>
          </a:p>
        </p:txBody>
      </p:sp>
      <p:sp>
        <p:nvSpPr>
          <p:cNvPr id="31" name="Google Shape;31;p6"/>
          <p:cNvSpPr txBox="1">
            <a:spLocks noGrp="1"/>
          </p:cNvSpPr>
          <p:nvPr>
            <p:ph type="title" idx="2"/>
          </p:nvPr>
        </p:nvSpPr>
        <p:spPr>
          <a:xfrm>
            <a:off x="76100" y="0"/>
            <a:ext cx="8115300" cy="480059"/>
          </a:xfrm>
          <a:prstGeom prst="rect">
            <a:avLst/>
          </a:prstGeom>
          <a:ln>
            <a:noFill/>
          </a:ln>
        </p:spPr>
        <p:txBody>
          <a:bodyPr spcFirstLastPara="1" wrap="square" lIns="91425" tIns="0" rIns="91425" bIns="0" anchor="ctr" anchorCtr="0">
            <a:normAutofit/>
          </a:bodyPr>
          <a:lstStyle>
            <a:lvl1pPr lvl="0" rtl="0">
              <a:spcBef>
                <a:spcPts val="0"/>
              </a:spcBef>
              <a:spcAft>
                <a:spcPts val="0"/>
              </a:spcAft>
              <a:buClr>
                <a:schemeClr val="lt1"/>
              </a:buClr>
              <a:buNone/>
              <a:defRPr sz="1400" b="1" lang="ja-JP" altLang="en-US">
                <a:solidFill>
                  <a:schemeClr val="lt1"/>
                </a:solidFill>
                <a:latin typeface="Noto Sans"/>
                <a:ea typeface="Noto Sans CJK JP"/>
                <a:cs typeface="Noto Sans"/>
              </a:defRPr>
            </a:lvl1pPr>
            <a:lvl2pPr lvl="1" rtl="0">
              <a:spcBef>
                <a:spcPts val="0"/>
              </a:spcBef>
              <a:spcAft>
                <a:spcPts val="0"/>
              </a:spcAft>
              <a:buNone/>
              <a:defRPr lang="ja-JP" sz="1400" b="1" altLang="en-US">
                <a:latin typeface="Noto Sans"/>
                <a:ea typeface="Noto Sans CJK JP"/>
                <a:cs typeface="Noto Sans"/>
              </a:defRPr>
            </a:lvl2pPr>
            <a:lvl3pPr lvl="2" rtl="0">
              <a:spcBef>
                <a:spcPts val="0"/>
              </a:spcBef>
              <a:spcAft>
                <a:spcPts val="0"/>
              </a:spcAft>
              <a:buNone/>
              <a:defRPr lang="ja-JP" sz="1400" b="1" altLang="en-US">
                <a:latin typeface="Noto Sans"/>
                <a:ea typeface="Noto Sans CJK JP"/>
                <a:cs typeface="Noto Sans"/>
              </a:defRPr>
            </a:lvl3pPr>
            <a:lvl4pPr lvl="3" rtl="0">
              <a:spcBef>
                <a:spcPts val="0"/>
              </a:spcBef>
              <a:spcAft>
                <a:spcPts val="0"/>
              </a:spcAft>
              <a:buNone/>
              <a:defRPr lang="ja-JP" sz="1400" b="1" altLang="en-US">
                <a:latin typeface="Noto Sans"/>
                <a:ea typeface="Noto Sans CJK JP"/>
                <a:cs typeface="Noto Sans"/>
              </a:defRPr>
            </a:lvl4pPr>
            <a:lvl5pPr lvl="4" rtl="0">
              <a:spcBef>
                <a:spcPts val="0"/>
              </a:spcBef>
              <a:spcAft>
                <a:spcPts val="0"/>
              </a:spcAft>
              <a:buNone/>
              <a:defRPr lang="ja-JP" sz="1400" b="1" altLang="en-US">
                <a:latin typeface="Noto Sans"/>
                <a:ea typeface="Noto Sans CJK JP"/>
                <a:cs typeface="Noto Sans"/>
              </a:defRPr>
            </a:lvl5pPr>
            <a:lvl6pPr lvl="5" rtl="0">
              <a:spcBef>
                <a:spcPts val="0"/>
              </a:spcBef>
              <a:spcAft>
                <a:spcPts val="0"/>
              </a:spcAft>
              <a:buNone/>
              <a:defRPr lang="ja-JP" sz="1400" b="1" altLang="en-US">
                <a:latin typeface="Noto Sans"/>
                <a:ea typeface="Noto Sans CJK JP"/>
                <a:cs typeface="Noto Sans"/>
              </a:defRPr>
            </a:lvl6pPr>
            <a:lvl7pPr lvl="6" rtl="0">
              <a:spcBef>
                <a:spcPts val="0"/>
              </a:spcBef>
              <a:spcAft>
                <a:spcPts val="0"/>
              </a:spcAft>
              <a:buNone/>
              <a:defRPr lang="ja-JP" sz="1400" b="1" altLang="en-US">
                <a:latin typeface="Noto Sans"/>
                <a:ea typeface="Noto Sans CJK JP"/>
                <a:cs typeface="Noto Sans"/>
              </a:defRPr>
            </a:lvl7pPr>
            <a:lvl8pPr lvl="7" rtl="0">
              <a:spcBef>
                <a:spcPts val="0"/>
              </a:spcBef>
              <a:spcAft>
                <a:spcPts val="0"/>
              </a:spcAft>
              <a:buNone/>
              <a:defRPr lang="ja-JP" sz="1400" b="1" altLang="en-US">
                <a:latin typeface="Noto Sans"/>
                <a:ea typeface="Noto Sans CJK JP"/>
                <a:cs typeface="Noto Sans"/>
              </a:defRPr>
            </a:lvl8pPr>
            <a:lvl9pPr lvl="8" rtl="0">
              <a:spcBef>
                <a:spcPts val="0"/>
              </a:spcBef>
              <a:spcAft>
                <a:spcPts val="0"/>
              </a:spcAft>
              <a:buNone/>
              <a:defRPr lang="ja-JP" sz="1400" b="1" altLang="en-US">
                <a:latin typeface="Noto Sans"/>
                <a:ea typeface="Noto Sans CJK JP"/>
                <a:cs typeface="Noto Sans"/>
              </a:defRPr>
            </a:lvl9pPr>
          </a:lstStyle>
          <a:p>
            <a:pPr>
              <a:lnSpc>
                <a:spcPct val="100000"/>
              </a:lnSpc>
              <a:spcBef>
                <a:spcPts val="0"/>
              </a:spcBef>
              <a:spcAft>
                <a:spcPts val="0"/>
              </a:spcAft>
              <a:defRPr sz="1400" b="1" lang="ja-JP" altLang="en-US">
                <a:latin typeface="Noto Sans"/>
                <a:ea typeface="Noto Sans CJK JP"/>
                <a:cs typeface="Noto Sans"/>
              </a:defRPr>
            </a:pPr>
            <a:endParaRPr lang="ja-JP" sz="1400" b="1" altLang="en-US">
              <a:latin typeface="Noto Sans"/>
              <a:ea typeface="Noto Sans CJK JP"/>
              <a:cs typeface="Noto Sans"/>
            </a:endParaRPr>
          </a:p>
        </p:txBody>
      </p:sp>
      <p:sp>
        <p:nvSpPr>
          <p:cNvPr id="999" name="Slide Number"/>
          <p:cNvSpPr txBox="1"/>
          <p:nvPr/>
        </p:nvSpPr>
        <p:spPr>
          <a:xfrm>
            <a:off x="8412480" y="7937"/>
            <a:ext cx="640080" cy="480059"/>
          </a:xfrm>
          <a:prstGeom prst="rect">
            <a:avLst/>
          </a:prstGeom>
          <a:noFill/>
          <a:ln>
            <a:noFill/>
          </a:ln>
        </p:spPr>
        <p:txBody>
          <a:bodyPr anchor="ctr" lIns="0" tIns="0" bIns="0"/>
          <a:lstStyle/>
          <a:p>
            <a:pPr algn="r">
              <a:lnSpc>
                <a:spcPct val="100000"/>
              </a:lnSpc>
              <a:spcBef>
                <a:spcPts val="0"/>
              </a:spcBef>
              <a:spcAft>
                <a:spcPts val="0"/>
              </a:spcAft>
            </a:pPr>
            <a:fld id="{00000000-1234-1234-1234-000000000999}" type="slidenum">
              <a:rPr lang="ja-JP" sz="1800" b="1">
                <a:solidFill>
                  <a:schemeClr val="lt1"/>
                </a:solidFill>
                <a:latin typeface="Noto Sans"/>
                <a:ea typeface="Noto Sans CJK JP"/>
                <a:cs typeface="Noto Sans"/>
              </a:rPr>
              <a:t>‹#›</a:t>
            </a:fld>
            <a:endParaRPr lang="ja-JP" sz="1800" b="1">
              <a:latin typeface="Noto Sans"/>
              <a:ea typeface="Noto Sans CJK JP"/>
              <a:cs typeface="Noto Sans"/>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matchingName="transition" type="secHead">
  <p:cSld name="ONE_COLUMN_TEXT_1_4_1">
    <p:spTree>
      <p:nvGrpSpPr>
        <p:cNvPr id="1" name="Shape 32"/>
        <p:cNvGrpSpPr/>
        <p:nvPr/>
      </p:nvGrpSpPr>
      <p:grpSpPr>
        <a:xfrm>
          <a:off x="0" y="0"/>
          <a:ext cx="0" cy="0"/>
          <a:chOff x="0" y="0"/>
          <a:chExt cx="0" cy="0"/>
        </a:xfrm>
      </p:grpSpPr>
      <p:sp>
        <p:nvSpPr>
          <p:cNvPr id="33" name="Google Shape;33;p7"/>
          <p:cNvSpPr/>
          <p:nvPr/>
        </p:nvSpPr>
        <p:spPr>
          <a:xfrm>
            <a:off x="-12600" y="0"/>
            <a:ext cx="9169200" cy="480059"/>
          </a:xfrm>
          <a:prstGeom prst="rect">
            <a:avLst/>
          </a:prstGeom>
          <a:solidFill>
            <a:schemeClr val="accent2"/>
          </a:solidFill>
          <a:ln>
            <a:noFill/>
          </a:ln>
        </p:spPr>
        <p:txBody>
          <a:bodyPr spcFirstLastPara="1" wrap="square" lIns="91425" tIns="0" rIns="91425" bIns="0" anchor="ctr" anchorCtr="0">
            <a:noAutofit/>
          </a:bodyPr>
          <a:lstStyle/>
          <a:p>
            <a:pPr marL="0" lvl="0" indent="0" algn="ctr" rtl="0">
              <a:lnSpc>
                <a:spcPct val="100000"/>
              </a:lnSpc>
              <a:spcBef>
                <a:spcPts val="0"/>
              </a:spcBef>
              <a:spcAft>
                <a:spcPts val="0"/>
              </a:spcAft>
              <a:buNone/>
            </a:pPr>
            <a:endParaRPr lang="ja-JP">
              <a:latin typeface="Noto Sans"/>
              <a:ea typeface="Noto Sans CJK JP"/>
              <a:cs typeface="Noto Sans"/>
            </a:endParaRPr>
          </a:p>
        </p:txBody>
      </p:sp>
      <p:sp>
        <p:nvSpPr>
          <p:cNvPr id="35" name="Google Shape;35;p7"/>
          <p:cNvSpPr txBox="1">
            <a:spLocks noGrp="1"/>
          </p:cNvSpPr>
          <p:nvPr>
            <p:ph type="title"/>
          </p:nvPr>
        </p:nvSpPr>
        <p:spPr>
          <a:xfrm>
            <a:off x="548640" y="2414016"/>
            <a:ext cx="8046720" cy="822960"/>
          </a:xfrm>
          <a:prstGeom prst="rect">
            <a:avLst/>
          </a:prstGeom>
        </p:spPr>
        <p:txBody>
          <a:bodyPr spcFirstLastPara="1" wrap="none" lIns="0" tIns="0" rIns="0" bIns="0" anchor="ctr" anchorCtr="0">
            <a:normAutofit/>
          </a:bodyPr>
          <a:lstStyle>
            <a:lvl1pPr lvl="0" rtl="0" algn="ctr">
              <a:spcBef>
                <a:spcPts val="0"/>
              </a:spcBef>
              <a:spcAft>
                <a:spcPts val="0"/>
              </a:spcAft>
              <a:buClr>
                <a:schemeClr val="dk1"/>
              </a:buClr>
              <a:buNone/>
              <a:defRPr sz="3600" b="1" lang="ja-JP" altLang="en-US">
                <a:solidFill>
                  <a:schemeClr val="dk1"/>
                </a:solidFill>
                <a:latin typeface="Noto Sans"/>
                <a:ea typeface="Noto Sans CJK JP"/>
                <a:cs typeface="Noto Sans"/>
              </a:defRPr>
            </a:lvl1pPr>
            <a:lvl2pPr lvl="1" rtl="0" algn="ctr">
              <a:spcBef>
                <a:spcPts val="0"/>
              </a:spcBef>
              <a:spcAft>
                <a:spcPts val="0"/>
              </a:spcAft>
              <a:buNone/>
              <a:defRPr lang="ja-JP" sz="3600" b="1" altLang="en-US">
                <a:latin typeface="Noto Sans"/>
                <a:ea typeface="Noto Sans CJK JP"/>
                <a:cs typeface="Noto Sans"/>
              </a:defRPr>
            </a:lvl2pPr>
            <a:lvl3pPr lvl="2" rtl="0" algn="ctr">
              <a:spcBef>
                <a:spcPts val="0"/>
              </a:spcBef>
              <a:spcAft>
                <a:spcPts val="0"/>
              </a:spcAft>
              <a:buNone/>
              <a:defRPr lang="ja-JP" sz="3600" b="1" altLang="en-US">
                <a:latin typeface="Noto Sans"/>
                <a:ea typeface="Noto Sans CJK JP"/>
                <a:cs typeface="Noto Sans"/>
              </a:defRPr>
            </a:lvl3pPr>
            <a:lvl4pPr lvl="3" rtl="0" algn="ctr">
              <a:spcBef>
                <a:spcPts val="0"/>
              </a:spcBef>
              <a:spcAft>
                <a:spcPts val="0"/>
              </a:spcAft>
              <a:buNone/>
              <a:defRPr lang="ja-JP" sz="3600" b="1" altLang="en-US">
                <a:latin typeface="Noto Sans"/>
                <a:ea typeface="Noto Sans CJK JP"/>
                <a:cs typeface="Noto Sans"/>
              </a:defRPr>
            </a:lvl4pPr>
            <a:lvl5pPr lvl="4" rtl="0" algn="ctr">
              <a:spcBef>
                <a:spcPts val="0"/>
              </a:spcBef>
              <a:spcAft>
                <a:spcPts val="0"/>
              </a:spcAft>
              <a:buNone/>
              <a:defRPr lang="ja-JP" sz="3600" b="1" altLang="en-US">
                <a:latin typeface="Noto Sans"/>
                <a:ea typeface="Noto Sans CJK JP"/>
                <a:cs typeface="Noto Sans"/>
              </a:defRPr>
            </a:lvl5pPr>
            <a:lvl6pPr lvl="5" rtl="0" algn="ctr">
              <a:spcBef>
                <a:spcPts val="0"/>
              </a:spcBef>
              <a:spcAft>
                <a:spcPts val="0"/>
              </a:spcAft>
              <a:buNone/>
              <a:defRPr lang="ja-JP" sz="3600" b="1" altLang="en-US">
                <a:latin typeface="Noto Sans"/>
                <a:ea typeface="Noto Sans CJK JP"/>
                <a:cs typeface="Noto Sans"/>
              </a:defRPr>
            </a:lvl6pPr>
            <a:lvl7pPr lvl="6" rtl="0" algn="ctr">
              <a:spcBef>
                <a:spcPts val="0"/>
              </a:spcBef>
              <a:spcAft>
                <a:spcPts val="0"/>
              </a:spcAft>
              <a:buNone/>
              <a:defRPr lang="ja-JP" sz="3600" b="1" altLang="en-US">
                <a:latin typeface="Noto Sans"/>
                <a:ea typeface="Noto Sans CJK JP"/>
                <a:cs typeface="Noto Sans"/>
              </a:defRPr>
            </a:lvl7pPr>
            <a:lvl8pPr lvl="7" rtl="0" algn="ctr">
              <a:spcBef>
                <a:spcPts val="0"/>
              </a:spcBef>
              <a:spcAft>
                <a:spcPts val="0"/>
              </a:spcAft>
              <a:buNone/>
              <a:defRPr lang="ja-JP" sz="3600" b="1" altLang="en-US">
                <a:latin typeface="Noto Sans"/>
                <a:ea typeface="Noto Sans CJK JP"/>
                <a:cs typeface="Noto Sans"/>
              </a:defRPr>
            </a:lvl8pPr>
            <a:lvl9pPr lvl="8" rtl="0" algn="ctr">
              <a:spcBef>
                <a:spcPts val="0"/>
              </a:spcBef>
              <a:spcAft>
                <a:spcPts val="0"/>
              </a:spcAft>
              <a:buNone/>
              <a:defRPr lang="ja-JP" sz="3600" b="1" altLang="en-US">
                <a:latin typeface="Noto Sans"/>
                <a:ea typeface="Noto Sans CJK JP"/>
                <a:cs typeface="Noto Sans"/>
              </a:defRPr>
            </a:lvl9pPr>
          </a:lstStyle>
          <a:p>
            <a:pPr algn="ctr">
              <a:lnSpc>
                <a:spcPct val="110000"/>
              </a:lnSpc>
              <a:defRPr sz="3600" b="1" lang="ja-JP" altLang="en-US">
                <a:latin typeface="Noto Sans"/>
                <a:ea typeface="Noto Sans CJK JP"/>
                <a:cs typeface="Noto Sans"/>
              </a:defRPr>
            </a:pPr>
            <a:endParaRPr lang="ja-JP" sz="3600" b="1" altLang="en-US">
              <a:latin typeface="Noto Sans"/>
              <a:ea typeface="Noto Sans CJK JP"/>
              <a:cs typeface="Noto Sans"/>
            </a:endParaRPr>
          </a:p>
        </p:txBody>
      </p:sp>
      <p:sp>
        <p:nvSpPr>
          <p:cNvPr id="36" name="Google Shape;36;p7"/>
          <p:cNvSpPr txBox="1">
            <a:spLocks noGrp="1"/>
          </p:cNvSpPr>
          <p:nvPr>
            <p:ph type="title" idx="2"/>
          </p:nvPr>
        </p:nvSpPr>
        <p:spPr>
          <a:xfrm>
            <a:off x="76100" y="0"/>
            <a:ext cx="8115300" cy="480059"/>
          </a:xfrm>
          <a:prstGeom prst="rect">
            <a:avLst/>
          </a:prstGeom>
          <a:ln>
            <a:noFill/>
          </a:ln>
        </p:spPr>
        <p:txBody>
          <a:bodyPr spcFirstLastPara="1" wrap="square" lIns="91425" tIns="0" rIns="91425" bIns="0" anchor="ctr" anchorCtr="0">
            <a:normAutofit/>
          </a:bodyPr>
          <a:lstStyle>
            <a:lvl1pPr lvl="0" rtl="0">
              <a:spcBef>
                <a:spcPts val="0"/>
              </a:spcBef>
              <a:spcAft>
                <a:spcPts val="0"/>
              </a:spcAft>
              <a:buClr>
                <a:schemeClr val="lt1"/>
              </a:buClr>
              <a:buNone/>
              <a:defRPr sz="1400" b="1" lang="ja-JP" altLang="en-US">
                <a:solidFill>
                  <a:schemeClr val="lt1"/>
                </a:solidFill>
                <a:latin typeface="Noto Sans"/>
                <a:ea typeface="Noto Sans CJK JP"/>
                <a:cs typeface="Noto Sans"/>
              </a:defRPr>
            </a:lvl1pPr>
            <a:lvl2pPr lvl="1" rtl="0">
              <a:spcBef>
                <a:spcPts val="0"/>
              </a:spcBef>
              <a:spcAft>
                <a:spcPts val="0"/>
              </a:spcAft>
              <a:buNone/>
              <a:defRPr lang="ja-JP" sz="1400" b="1" altLang="en-US">
                <a:latin typeface="Noto Sans"/>
                <a:ea typeface="Noto Sans CJK JP"/>
                <a:cs typeface="Noto Sans"/>
              </a:defRPr>
            </a:lvl2pPr>
            <a:lvl3pPr lvl="2" rtl="0">
              <a:spcBef>
                <a:spcPts val="0"/>
              </a:spcBef>
              <a:spcAft>
                <a:spcPts val="0"/>
              </a:spcAft>
              <a:buNone/>
              <a:defRPr lang="ja-JP" sz="1400" b="1" altLang="en-US">
                <a:latin typeface="Noto Sans"/>
                <a:ea typeface="Noto Sans CJK JP"/>
                <a:cs typeface="Noto Sans"/>
              </a:defRPr>
            </a:lvl3pPr>
            <a:lvl4pPr lvl="3" rtl="0">
              <a:spcBef>
                <a:spcPts val="0"/>
              </a:spcBef>
              <a:spcAft>
                <a:spcPts val="0"/>
              </a:spcAft>
              <a:buNone/>
              <a:defRPr lang="ja-JP" sz="1400" b="1" altLang="en-US">
                <a:latin typeface="Noto Sans"/>
                <a:ea typeface="Noto Sans CJK JP"/>
                <a:cs typeface="Noto Sans"/>
              </a:defRPr>
            </a:lvl4pPr>
            <a:lvl5pPr lvl="4" rtl="0">
              <a:spcBef>
                <a:spcPts val="0"/>
              </a:spcBef>
              <a:spcAft>
                <a:spcPts val="0"/>
              </a:spcAft>
              <a:buNone/>
              <a:defRPr lang="ja-JP" sz="1400" b="1" altLang="en-US">
                <a:latin typeface="Noto Sans"/>
                <a:ea typeface="Noto Sans CJK JP"/>
                <a:cs typeface="Noto Sans"/>
              </a:defRPr>
            </a:lvl5pPr>
            <a:lvl6pPr lvl="5" rtl="0">
              <a:spcBef>
                <a:spcPts val="0"/>
              </a:spcBef>
              <a:spcAft>
                <a:spcPts val="0"/>
              </a:spcAft>
              <a:buNone/>
              <a:defRPr lang="ja-JP" sz="1400" b="1" altLang="en-US">
                <a:latin typeface="Noto Sans"/>
                <a:ea typeface="Noto Sans CJK JP"/>
                <a:cs typeface="Noto Sans"/>
              </a:defRPr>
            </a:lvl6pPr>
            <a:lvl7pPr lvl="6" rtl="0">
              <a:spcBef>
                <a:spcPts val="0"/>
              </a:spcBef>
              <a:spcAft>
                <a:spcPts val="0"/>
              </a:spcAft>
              <a:buNone/>
              <a:defRPr lang="ja-JP" sz="1400" b="1" altLang="en-US">
                <a:latin typeface="Noto Sans"/>
                <a:ea typeface="Noto Sans CJK JP"/>
                <a:cs typeface="Noto Sans"/>
              </a:defRPr>
            </a:lvl7pPr>
            <a:lvl8pPr lvl="7" rtl="0">
              <a:spcBef>
                <a:spcPts val="0"/>
              </a:spcBef>
              <a:spcAft>
                <a:spcPts val="0"/>
              </a:spcAft>
              <a:buNone/>
              <a:defRPr lang="ja-JP" sz="1400" b="1" altLang="en-US">
                <a:latin typeface="Noto Sans"/>
                <a:ea typeface="Noto Sans CJK JP"/>
                <a:cs typeface="Noto Sans"/>
              </a:defRPr>
            </a:lvl8pPr>
            <a:lvl9pPr lvl="8" rtl="0">
              <a:spcBef>
                <a:spcPts val="0"/>
              </a:spcBef>
              <a:spcAft>
                <a:spcPts val="0"/>
              </a:spcAft>
              <a:buNone/>
              <a:defRPr lang="ja-JP" sz="1400" b="1" altLang="en-US">
                <a:latin typeface="Noto Sans"/>
                <a:ea typeface="Noto Sans CJK JP"/>
                <a:cs typeface="Noto Sans"/>
              </a:defRPr>
            </a:lvl9pPr>
          </a:lstStyle>
          <a:p>
            <a:pPr>
              <a:lnSpc>
                <a:spcPct val="100000"/>
              </a:lnSpc>
              <a:spcBef>
                <a:spcPts val="0"/>
              </a:spcBef>
              <a:spcAft>
                <a:spcPts val="0"/>
              </a:spcAft>
              <a:defRPr sz="1400" b="1" lang="ja-JP" altLang="en-US">
                <a:latin typeface="Noto Sans"/>
                <a:ea typeface="Noto Sans CJK JP"/>
                <a:cs typeface="Noto Sans"/>
              </a:defRPr>
            </a:pPr>
            <a:endParaRPr dirty="0" lang="ja-JP" sz="1400" b="1" altLang="en-US">
              <a:latin typeface="Noto Sans"/>
              <a:ea typeface="Noto Sans CJK JP"/>
              <a:cs typeface="Noto Sans"/>
            </a:endParaRPr>
          </a:p>
        </p:txBody>
      </p:sp>
      <p:sp>
        <p:nvSpPr>
          <p:cNvPr id="999" name="Slide Number"/>
          <p:cNvSpPr txBox="1"/>
          <p:nvPr/>
        </p:nvSpPr>
        <p:spPr>
          <a:xfrm>
            <a:off x="8412480" y="7937"/>
            <a:ext cx="640080" cy="480059"/>
          </a:xfrm>
          <a:prstGeom prst="rect">
            <a:avLst/>
          </a:prstGeom>
          <a:noFill/>
          <a:ln>
            <a:noFill/>
          </a:ln>
        </p:spPr>
        <p:txBody>
          <a:bodyPr anchor="ctr" lIns="0" tIns="0" bIns="0"/>
          <a:lstStyle/>
          <a:p>
            <a:pPr algn="r">
              <a:lnSpc>
                <a:spcPct val="100000"/>
              </a:lnSpc>
              <a:spcBef>
                <a:spcPts val="0"/>
              </a:spcBef>
              <a:spcAft>
                <a:spcPts val="0"/>
              </a:spcAft>
            </a:pPr>
            <a:fld id="{00000000-1234-1234-1234-000000000999}" type="slidenum">
              <a:rPr lang="ja-JP" sz="1800" b="1">
                <a:solidFill>
                  <a:schemeClr val="lt1"/>
                </a:solidFill>
                <a:latin typeface="Noto Sans"/>
                <a:ea typeface="Noto Sans CJK JP"/>
                <a:cs typeface="Noto Sans"/>
              </a:rPr>
              <a:t>‹#›</a:t>
            </a:fld>
            <a:endParaRPr lang="ja-JP" sz="1800" b="1">
              <a:latin typeface="Noto Sans"/>
              <a:ea typeface="Noto Sans CJK JP"/>
              <a:cs typeface="Noto Sans"/>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matchingName="本文のみ">
  <p:cSld name="ONE_COLUMN_TEXT_1_3">
    <p:spTree>
      <p:nvGrpSpPr>
        <p:cNvPr id="1" name="Shape 37"/>
        <p:cNvGrpSpPr/>
        <p:nvPr/>
      </p:nvGrpSpPr>
      <p:grpSpPr>
        <a:xfrm>
          <a:off x="0" y="0"/>
          <a:ext cx="0" cy="0"/>
          <a:chOff x="0" y="0"/>
          <a:chExt cx="0" cy="0"/>
        </a:xfrm>
      </p:grpSpPr>
      <p:sp>
        <p:nvSpPr>
          <p:cNvPr id="38" name="Google Shape;38;p8"/>
          <p:cNvSpPr/>
          <p:nvPr/>
        </p:nvSpPr>
        <p:spPr>
          <a:xfrm>
            <a:off x="-12600" y="0"/>
            <a:ext cx="9169200" cy="480059"/>
          </a:xfrm>
          <a:prstGeom prst="rect">
            <a:avLst/>
          </a:prstGeom>
          <a:solidFill>
            <a:schemeClr val="accent2"/>
          </a:solidFill>
          <a:ln>
            <a:noFill/>
          </a:ln>
        </p:spPr>
        <p:txBody>
          <a:bodyPr spcFirstLastPara="1" wrap="square" lIns="91425" tIns="0" rIns="91425" bIns="0" anchor="ctr" anchorCtr="0">
            <a:noAutofit/>
          </a:bodyPr>
          <a:lstStyle/>
          <a:p>
            <a:pPr marL="0" lvl="0" indent="0" algn="ctr" rtl="0">
              <a:lnSpc>
                <a:spcPct val="100000"/>
              </a:lnSpc>
              <a:spcBef>
                <a:spcPts val="0"/>
              </a:spcBef>
              <a:spcAft>
                <a:spcPts val="0"/>
              </a:spcAft>
              <a:buNone/>
            </a:pPr>
            <a:endParaRPr lang="ja-JP">
              <a:latin typeface="Noto Sans"/>
              <a:ea typeface="Noto Sans CJK JP"/>
              <a:cs typeface="Noto Sans"/>
            </a:endParaRPr>
          </a:p>
        </p:txBody>
      </p:sp>
      <p:sp>
        <p:nvSpPr>
          <p:cNvPr id="40" name="Google Shape;40;p8"/>
          <p:cNvSpPr txBox="1">
            <a:spLocks noGrp="1"/>
          </p:cNvSpPr>
          <p:nvPr>
            <p:ph type="body" idx="1"/>
          </p:nvPr>
        </p:nvSpPr>
        <p:spPr>
          <a:xfrm>
            <a:off x="589650" y="1185250"/>
            <a:ext cx="7964700" cy="3272100"/>
          </a:xfrm>
          <a:prstGeom prst="rect">
            <a:avLst/>
          </a:prstGeom>
        </p:spPr>
        <p:txBody>
          <a:bodyPr spcFirstLastPara="1" wrap="square" lIns="91425" tIns="91425" rIns="91425" bIns="91425" anchor="t" anchorCtr="0">
            <a:normAutofit/>
          </a:bodyPr>
          <a:lstStyle>
            <a:lvl1pPr marL="457200" lvl="0"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1pPr>
            <a:lvl2pPr marL="914400" lvl="1"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2pPr>
            <a:lvl3pPr marL="1371600" lvl="2"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3pPr>
            <a:lvl4pPr marL="1828800" lvl="3" indent="-368300">
              <a:spcBef>
                <a:spcPts val="0"/>
              </a:spcBef>
              <a:spcAft>
                <a:spcPts val="0"/>
              </a:spcAft>
              <a:buClr>
                <a:srgbClr val="303437"/>
              </a:buClr>
              <a:buSzPct val="60455"/>
              <a:buFont typeface="Noto Sans CJK JP"/>
              <a:buChar char="●"/>
              <a:defRPr sz="2200" lang="ja-JP">
                <a:solidFill>
                  <a:srgbClr val="303437"/>
                </a:solidFill>
                <a:latin typeface="Noto Sans"/>
                <a:ea typeface="Noto Sans CJK JP"/>
                <a:cs typeface="Noto Sans"/>
              </a:defRPr>
            </a:lvl4pPr>
            <a:lvl5pPr marL="2286000" lvl="4"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5pPr>
            <a:lvl6pPr marL="2743200" lvl="5"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6pPr>
            <a:lvl7pPr marL="3200400" lvl="6"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7pPr>
            <a:lvl8pPr marL="3657600" lvl="7"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8pPr>
            <a:lvl9pPr marL="4114800" lvl="8"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9pPr>
          </a:lstStyle>
          <a:p>
            <a:endParaRPr lang="ja-JP">
              <a:latin typeface="Noto Sans"/>
              <a:ea typeface="Noto Sans CJK JP"/>
              <a:cs typeface="Noto Sans"/>
            </a:endParaRPr>
          </a:p>
        </p:txBody>
      </p:sp>
      <p:sp>
        <p:nvSpPr>
          <p:cNvPr id="41" name="Google Shape;41;p8"/>
          <p:cNvSpPr txBox="1">
            <a:spLocks noGrp="1"/>
          </p:cNvSpPr>
          <p:nvPr>
            <p:ph type="title"/>
          </p:nvPr>
        </p:nvSpPr>
        <p:spPr>
          <a:xfrm>
            <a:off x="76100" y="0"/>
            <a:ext cx="8059500" cy="480059"/>
          </a:xfrm>
          <a:prstGeom prst="rect">
            <a:avLst/>
          </a:prstGeom>
          <a:ln>
            <a:noFill/>
          </a:ln>
        </p:spPr>
        <p:txBody>
          <a:bodyPr spcFirstLastPara="1" wrap="square" lIns="91425" tIns="0" rIns="91425" bIns="0" anchor="ctr" anchorCtr="0">
            <a:normAutofit/>
          </a:bodyPr>
          <a:lstStyle>
            <a:lvl1pPr lvl="0" rtl="0">
              <a:spcBef>
                <a:spcPts val="0"/>
              </a:spcBef>
              <a:spcAft>
                <a:spcPts val="0"/>
              </a:spcAft>
              <a:buClr>
                <a:schemeClr val="lt1"/>
              </a:buClr>
              <a:buNone/>
              <a:defRPr sz="1400" b="1" lang="ja-JP" altLang="en-US">
                <a:solidFill>
                  <a:schemeClr val="lt1"/>
                </a:solidFill>
                <a:latin typeface="Noto Sans"/>
                <a:ea typeface="Noto Sans CJK JP"/>
                <a:cs typeface="Noto Sans"/>
              </a:defRPr>
            </a:lvl1pPr>
            <a:lvl2pPr lvl="1" rtl="0">
              <a:spcBef>
                <a:spcPts val="0"/>
              </a:spcBef>
              <a:spcAft>
                <a:spcPts val="0"/>
              </a:spcAft>
              <a:buNone/>
              <a:defRPr lang="ja-JP" sz="1400" b="1" altLang="en-US">
                <a:latin typeface="Noto Sans"/>
                <a:ea typeface="Noto Sans CJK JP"/>
                <a:cs typeface="Noto Sans"/>
              </a:defRPr>
            </a:lvl2pPr>
            <a:lvl3pPr lvl="2" rtl="0">
              <a:spcBef>
                <a:spcPts val="0"/>
              </a:spcBef>
              <a:spcAft>
                <a:spcPts val="0"/>
              </a:spcAft>
              <a:buNone/>
              <a:defRPr lang="ja-JP" sz="1400" b="1" altLang="en-US">
                <a:latin typeface="Noto Sans"/>
                <a:ea typeface="Noto Sans CJK JP"/>
                <a:cs typeface="Noto Sans"/>
              </a:defRPr>
            </a:lvl3pPr>
            <a:lvl4pPr lvl="3" rtl="0">
              <a:spcBef>
                <a:spcPts val="0"/>
              </a:spcBef>
              <a:spcAft>
                <a:spcPts val="0"/>
              </a:spcAft>
              <a:buNone/>
              <a:defRPr lang="ja-JP" sz="1400" b="1" altLang="en-US">
                <a:latin typeface="Noto Sans"/>
                <a:ea typeface="Noto Sans CJK JP"/>
                <a:cs typeface="Noto Sans"/>
              </a:defRPr>
            </a:lvl4pPr>
            <a:lvl5pPr lvl="4" rtl="0">
              <a:spcBef>
                <a:spcPts val="0"/>
              </a:spcBef>
              <a:spcAft>
                <a:spcPts val="0"/>
              </a:spcAft>
              <a:buNone/>
              <a:defRPr lang="ja-JP" sz="1400" b="1" altLang="en-US">
                <a:latin typeface="Noto Sans"/>
                <a:ea typeface="Noto Sans CJK JP"/>
                <a:cs typeface="Noto Sans"/>
              </a:defRPr>
            </a:lvl5pPr>
            <a:lvl6pPr lvl="5" rtl="0">
              <a:spcBef>
                <a:spcPts val="0"/>
              </a:spcBef>
              <a:spcAft>
                <a:spcPts val="0"/>
              </a:spcAft>
              <a:buNone/>
              <a:defRPr lang="ja-JP" sz="1400" b="1" altLang="en-US">
                <a:latin typeface="Noto Sans"/>
                <a:ea typeface="Noto Sans CJK JP"/>
                <a:cs typeface="Noto Sans"/>
              </a:defRPr>
            </a:lvl6pPr>
            <a:lvl7pPr lvl="6" rtl="0">
              <a:spcBef>
                <a:spcPts val="0"/>
              </a:spcBef>
              <a:spcAft>
                <a:spcPts val="0"/>
              </a:spcAft>
              <a:buNone/>
              <a:defRPr lang="ja-JP" sz="1400" b="1" altLang="en-US">
                <a:latin typeface="Noto Sans"/>
                <a:ea typeface="Noto Sans CJK JP"/>
                <a:cs typeface="Noto Sans"/>
              </a:defRPr>
            </a:lvl7pPr>
            <a:lvl8pPr lvl="7" rtl="0">
              <a:spcBef>
                <a:spcPts val="0"/>
              </a:spcBef>
              <a:spcAft>
                <a:spcPts val="0"/>
              </a:spcAft>
              <a:buNone/>
              <a:defRPr lang="ja-JP" sz="1400" b="1" altLang="en-US">
                <a:latin typeface="Noto Sans"/>
                <a:ea typeface="Noto Sans CJK JP"/>
                <a:cs typeface="Noto Sans"/>
              </a:defRPr>
            </a:lvl8pPr>
            <a:lvl9pPr lvl="8" rtl="0">
              <a:spcBef>
                <a:spcPts val="0"/>
              </a:spcBef>
              <a:spcAft>
                <a:spcPts val="0"/>
              </a:spcAft>
              <a:buNone/>
              <a:defRPr lang="ja-JP" sz="1400" b="1" altLang="en-US">
                <a:latin typeface="Noto Sans"/>
                <a:ea typeface="Noto Sans CJK JP"/>
                <a:cs typeface="Noto Sans"/>
              </a:defRPr>
            </a:lvl9pPr>
          </a:lstStyle>
          <a:p>
            <a:pPr>
              <a:lnSpc>
                <a:spcPct val="100000"/>
              </a:lnSpc>
              <a:spcBef>
                <a:spcPts val="0"/>
              </a:spcBef>
              <a:spcAft>
                <a:spcPts val="0"/>
              </a:spcAft>
              <a:defRPr sz="1400" b="1" lang="ja-JP" altLang="en-US">
                <a:latin typeface="Noto Sans"/>
                <a:ea typeface="Noto Sans CJK JP"/>
                <a:cs typeface="Noto Sans"/>
              </a:defRPr>
            </a:pPr>
            <a:endParaRPr dirty="0" lang="ja-JP" sz="1400" b="1" altLang="en-US">
              <a:latin typeface="Noto Sans"/>
              <a:ea typeface="Noto Sans CJK JP"/>
              <a:cs typeface="Noto Sans"/>
            </a:endParaRPr>
          </a:p>
        </p:txBody>
      </p:sp>
      <p:sp>
        <p:nvSpPr>
          <p:cNvPr id="999" name="Slide Number"/>
          <p:cNvSpPr txBox="1"/>
          <p:nvPr/>
        </p:nvSpPr>
        <p:spPr>
          <a:xfrm>
            <a:off x="8412480" y="7937"/>
            <a:ext cx="640080" cy="480059"/>
          </a:xfrm>
          <a:prstGeom prst="rect">
            <a:avLst/>
          </a:prstGeom>
          <a:noFill/>
          <a:ln>
            <a:noFill/>
          </a:ln>
        </p:spPr>
        <p:txBody>
          <a:bodyPr anchor="ctr" lIns="0" tIns="0" bIns="0"/>
          <a:lstStyle/>
          <a:p>
            <a:pPr algn="r">
              <a:lnSpc>
                <a:spcPct val="100000"/>
              </a:lnSpc>
              <a:spcBef>
                <a:spcPts val="0"/>
              </a:spcBef>
              <a:spcAft>
                <a:spcPts val="0"/>
              </a:spcAft>
            </a:pPr>
            <a:fld id="{00000000-1234-1234-1234-000000000999}" type="slidenum">
              <a:rPr lang="ja-JP" sz="1800" b="1">
                <a:solidFill>
                  <a:schemeClr val="lt1"/>
                </a:solidFill>
                <a:latin typeface="Noto Sans"/>
                <a:ea typeface="Noto Sans CJK JP"/>
                <a:cs typeface="Noto Sans"/>
              </a:rPr>
              <a:t>‹#›</a:t>
            </a:fld>
            <a:endParaRPr lang="ja-JP" sz="1800" b="1">
              <a:latin typeface="Noto Sans"/>
              <a:ea typeface="Noto Sans CJK JP"/>
              <a:cs typeface="Noto Sans"/>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matchingName="ヘッダーのみ">
  <p:cSld name="ONE_COLUMN_TEXT_1_1">
    <p:spTree>
      <p:nvGrpSpPr>
        <p:cNvPr id="1" name="Shape 42"/>
        <p:cNvGrpSpPr/>
        <p:nvPr/>
      </p:nvGrpSpPr>
      <p:grpSpPr>
        <a:xfrm>
          <a:off x="0" y="0"/>
          <a:ext cx="0" cy="0"/>
          <a:chOff x="0" y="0"/>
          <a:chExt cx="0" cy="0"/>
        </a:xfrm>
      </p:grpSpPr>
      <p:sp>
        <p:nvSpPr>
          <p:cNvPr id="43" name="Google Shape;43;p9"/>
          <p:cNvSpPr/>
          <p:nvPr/>
        </p:nvSpPr>
        <p:spPr>
          <a:xfrm>
            <a:off x="-12600" y="0"/>
            <a:ext cx="9169200" cy="480059"/>
          </a:xfrm>
          <a:prstGeom prst="rect">
            <a:avLst/>
          </a:prstGeom>
          <a:solidFill>
            <a:schemeClr val="accent2"/>
          </a:solidFill>
          <a:ln>
            <a:noFill/>
          </a:ln>
        </p:spPr>
        <p:txBody>
          <a:bodyPr spcFirstLastPara="1" wrap="square" lIns="91425" tIns="0" rIns="91425" bIns="0" anchor="ctr" anchorCtr="0">
            <a:noAutofit/>
          </a:bodyPr>
          <a:lstStyle/>
          <a:p>
            <a:pPr marL="0" lvl="0" indent="0" algn="ctr" rtl="0">
              <a:lnSpc>
                <a:spcPct val="100000"/>
              </a:lnSpc>
              <a:spcBef>
                <a:spcPts val="0"/>
              </a:spcBef>
              <a:spcAft>
                <a:spcPts val="0"/>
              </a:spcAft>
              <a:buNone/>
            </a:pPr>
            <a:endParaRPr lang="ja-JP">
              <a:latin typeface="Noto Sans"/>
              <a:ea typeface="Noto Sans CJK JP"/>
              <a:cs typeface="Noto Sans"/>
            </a:endParaRPr>
          </a:p>
        </p:txBody>
      </p:sp>
      <p:sp>
        <p:nvSpPr>
          <p:cNvPr id="45" name="Google Shape;45;p9"/>
          <p:cNvSpPr txBox="1">
            <a:spLocks noGrp="1"/>
          </p:cNvSpPr>
          <p:nvPr>
            <p:ph type="title"/>
          </p:nvPr>
        </p:nvSpPr>
        <p:spPr>
          <a:xfrm>
            <a:off x="76100" y="0"/>
            <a:ext cx="8148900" cy="480059"/>
          </a:xfrm>
          <a:prstGeom prst="rect">
            <a:avLst/>
          </a:prstGeom>
          <a:ln>
            <a:noFill/>
          </a:ln>
        </p:spPr>
        <p:txBody>
          <a:bodyPr spcFirstLastPara="1" wrap="square" lIns="91425" tIns="0" rIns="91425" bIns="0" anchor="ctr" anchorCtr="0">
            <a:normAutofit/>
          </a:bodyPr>
          <a:lstStyle>
            <a:lvl1pPr lvl="0" rtl="0">
              <a:spcBef>
                <a:spcPts val="0"/>
              </a:spcBef>
              <a:spcAft>
                <a:spcPts val="0"/>
              </a:spcAft>
              <a:buClr>
                <a:schemeClr val="lt1"/>
              </a:buClr>
              <a:buNone/>
              <a:defRPr sz="1400" b="1" lang="ja-JP" altLang="en-US">
                <a:solidFill>
                  <a:schemeClr val="lt1"/>
                </a:solidFill>
                <a:latin typeface="Noto Sans"/>
                <a:ea typeface="Noto Sans CJK JP"/>
                <a:cs typeface="Noto Sans"/>
              </a:defRPr>
            </a:lvl1pPr>
            <a:lvl2pPr lvl="1" rtl="0">
              <a:spcBef>
                <a:spcPts val="0"/>
              </a:spcBef>
              <a:spcAft>
                <a:spcPts val="0"/>
              </a:spcAft>
              <a:buNone/>
              <a:defRPr lang="ja-JP" sz="1400" b="1" altLang="en-US">
                <a:latin typeface="Noto Sans"/>
                <a:ea typeface="Noto Sans CJK JP"/>
                <a:cs typeface="Noto Sans"/>
              </a:defRPr>
            </a:lvl2pPr>
            <a:lvl3pPr lvl="2" rtl="0">
              <a:spcBef>
                <a:spcPts val="0"/>
              </a:spcBef>
              <a:spcAft>
                <a:spcPts val="0"/>
              </a:spcAft>
              <a:buNone/>
              <a:defRPr lang="ja-JP" sz="1400" b="1" altLang="en-US">
                <a:latin typeface="Noto Sans"/>
                <a:ea typeface="Noto Sans CJK JP"/>
                <a:cs typeface="Noto Sans"/>
              </a:defRPr>
            </a:lvl3pPr>
            <a:lvl4pPr lvl="3" rtl="0">
              <a:spcBef>
                <a:spcPts val="0"/>
              </a:spcBef>
              <a:spcAft>
                <a:spcPts val="0"/>
              </a:spcAft>
              <a:buNone/>
              <a:defRPr lang="ja-JP" sz="1400" b="1" altLang="en-US">
                <a:latin typeface="Noto Sans"/>
                <a:ea typeface="Noto Sans CJK JP"/>
                <a:cs typeface="Noto Sans"/>
              </a:defRPr>
            </a:lvl4pPr>
            <a:lvl5pPr lvl="4" rtl="0">
              <a:spcBef>
                <a:spcPts val="0"/>
              </a:spcBef>
              <a:spcAft>
                <a:spcPts val="0"/>
              </a:spcAft>
              <a:buNone/>
              <a:defRPr lang="ja-JP" sz="1400" b="1" altLang="en-US">
                <a:latin typeface="Noto Sans"/>
                <a:ea typeface="Noto Sans CJK JP"/>
                <a:cs typeface="Noto Sans"/>
              </a:defRPr>
            </a:lvl5pPr>
            <a:lvl6pPr lvl="5" rtl="0">
              <a:spcBef>
                <a:spcPts val="0"/>
              </a:spcBef>
              <a:spcAft>
                <a:spcPts val="0"/>
              </a:spcAft>
              <a:buNone/>
              <a:defRPr lang="ja-JP" sz="1400" b="1" altLang="en-US">
                <a:latin typeface="Noto Sans"/>
                <a:ea typeface="Noto Sans CJK JP"/>
                <a:cs typeface="Noto Sans"/>
              </a:defRPr>
            </a:lvl6pPr>
            <a:lvl7pPr lvl="6" rtl="0">
              <a:spcBef>
                <a:spcPts val="0"/>
              </a:spcBef>
              <a:spcAft>
                <a:spcPts val="0"/>
              </a:spcAft>
              <a:buNone/>
              <a:defRPr lang="ja-JP" sz="1400" b="1" altLang="en-US">
                <a:latin typeface="Noto Sans"/>
                <a:ea typeface="Noto Sans CJK JP"/>
                <a:cs typeface="Noto Sans"/>
              </a:defRPr>
            </a:lvl7pPr>
            <a:lvl8pPr lvl="7" rtl="0">
              <a:spcBef>
                <a:spcPts val="0"/>
              </a:spcBef>
              <a:spcAft>
                <a:spcPts val="0"/>
              </a:spcAft>
              <a:buNone/>
              <a:defRPr lang="ja-JP" sz="1400" b="1" altLang="en-US">
                <a:latin typeface="Noto Sans"/>
                <a:ea typeface="Noto Sans CJK JP"/>
                <a:cs typeface="Noto Sans"/>
              </a:defRPr>
            </a:lvl8pPr>
            <a:lvl9pPr lvl="8" rtl="0">
              <a:spcBef>
                <a:spcPts val="0"/>
              </a:spcBef>
              <a:spcAft>
                <a:spcPts val="0"/>
              </a:spcAft>
              <a:buNone/>
              <a:defRPr lang="ja-JP" sz="1400" b="1" altLang="en-US">
                <a:latin typeface="Noto Sans"/>
                <a:ea typeface="Noto Sans CJK JP"/>
                <a:cs typeface="Noto Sans"/>
              </a:defRPr>
            </a:lvl9pPr>
          </a:lstStyle>
          <a:p>
            <a:pPr>
              <a:lnSpc>
                <a:spcPct val="100000"/>
              </a:lnSpc>
              <a:spcBef>
                <a:spcPts val="0"/>
              </a:spcBef>
              <a:spcAft>
                <a:spcPts val="0"/>
              </a:spcAft>
              <a:defRPr sz="1400" b="1" lang="ja-JP" altLang="en-US">
                <a:latin typeface="Noto Sans"/>
                <a:ea typeface="Noto Sans CJK JP"/>
                <a:cs typeface="Noto Sans"/>
              </a:defRPr>
            </a:pPr>
            <a:endParaRPr dirty="0" lang="ja-JP" sz="1400" b="1" altLang="en-US">
              <a:latin typeface="Noto Sans"/>
              <a:ea typeface="Noto Sans CJK JP"/>
              <a:cs typeface="Noto Sans"/>
            </a:endParaRPr>
          </a:p>
        </p:txBody>
      </p:sp>
      <p:sp>
        <p:nvSpPr>
          <p:cNvPr id="999" name="Slide Number"/>
          <p:cNvSpPr txBox="1"/>
          <p:nvPr/>
        </p:nvSpPr>
        <p:spPr>
          <a:xfrm>
            <a:off x="8412480" y="7937"/>
            <a:ext cx="640080" cy="480059"/>
          </a:xfrm>
          <a:prstGeom prst="rect">
            <a:avLst/>
          </a:prstGeom>
          <a:noFill/>
          <a:ln>
            <a:noFill/>
          </a:ln>
        </p:spPr>
        <p:txBody>
          <a:bodyPr anchor="ctr" lIns="0" tIns="0" bIns="0"/>
          <a:lstStyle/>
          <a:p>
            <a:pPr algn="r">
              <a:lnSpc>
                <a:spcPct val="100000"/>
              </a:lnSpc>
              <a:spcBef>
                <a:spcPts val="0"/>
              </a:spcBef>
              <a:spcAft>
                <a:spcPts val="0"/>
              </a:spcAft>
            </a:pPr>
            <a:fld id="{00000000-1234-1234-1234-000000000999}" type="slidenum">
              <a:rPr lang="ja-JP" sz="1800" b="1">
                <a:solidFill>
                  <a:schemeClr val="lt1"/>
                </a:solidFill>
                <a:latin typeface="Noto Sans"/>
                <a:ea typeface="Noto Sans CJK JP"/>
                <a:cs typeface="Noto Sans"/>
              </a:rPr>
              <a:t>‹#›</a:t>
            </a:fld>
            <a:endParaRPr lang="ja-JP" sz="1800" b="1">
              <a:latin typeface="Noto Sans"/>
              <a:ea typeface="Noto Sans CJK JP"/>
              <a:cs typeface="Noto Sans"/>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preserve="1" userDrawn="1">
  <p:cSld name="CHART_AND_EXPLANATION">
    <p:spTree>
      <p:nvGrpSpPr>
        <p:cNvPr id="1" name=""/>
        <p:cNvGrpSpPr/>
        <p:nvPr/>
      </p:nvGrpSpPr>
      <p:grpSpPr>
        <a:xfrm>
          <a:off x="0" y="0"/>
          <a:ext cx="0" cy="0"/>
          <a:chOff x="0" y="0"/>
          <a:chExt cx="0" cy="0"/>
        </a:xfrm>
      </p:grpSpPr>
      <p:sp>
        <p:nvSpPr>
          <p:cNvPr id="2" name="Header band"/>
          <p:cNvSpPr txBox="1"/>
          <p:nvPr userDrawn="1"/>
        </p:nvSpPr>
        <p:spPr>
          <a:xfrm>
            <a:off x="0" y="0"/>
            <a:ext cx="9144000" cy="480059"/>
          </a:xfrm>
          <a:prstGeom prst="rect">
            <a:avLst/>
          </a:prstGeom>
          <a:solidFill>
            <a:schemeClr val="accent2"/>
          </a:solidFill>
          <a:ln>
            <a:noFill/>
          </a:ln>
        </p:spPr>
        <p:txBody>
          <a:bodyPr wrap="square" anchor="ctr" tIns="0" bIns="0"/>
          <a:lstStyle/>
          <a:p>
            <a:pPr algn="l">
              <a:lnSpc>
                <a:spcPct val="100000"/>
              </a:lnSpc>
              <a:spcBef>
                <a:spcPts val="0"/>
              </a:spcBef>
              <a:spcAft>
                <a:spcPts val="0"/>
              </a:spcAft>
            </a:pPr>
            <a:endParaRPr lang="ja-JP" dirty="0">
              <a:latin typeface="Noto Sans"/>
              <a:ea typeface="Noto Sans CJK JP"/>
              <a:cs typeface="Noto Sans"/>
            </a:endParaRPr>
          </a:p>
        </p:txBody>
      </p:sp>
      <p:sp>
        <p:nvSpPr>
          <p:cNvPr id="4" name="Chart Placeholder"/>
          <p:cNvSpPr txBox="1">
            <a:spLocks noGrp="1"/>
          </p:cNvSpPr>
          <p:nvPr>
            <p:ph idx="1"/>
          </p:nvPr>
        </p:nvSpPr>
        <p:spPr>
          <a:xfrm>
            <a:off x="456520" y="1250000"/>
            <a:ext cx="5715000" cy="3000000"/>
          </a:xfrm>
          <a:prstGeom prst="rect">
            <a:avLst/>
          </a:prstGeom>
          <a:solidFill>
            <a:schemeClr val="lt2"/>
          </a:solidFill>
          <a:ln>
            <a:noFill/>
          </a:ln>
        </p:spPr>
        <p:txBody>
          <a:bodyPr wrap="square"/>
          <a:lstStyle/>
          <a:p>
            <a:r>
              <a:rPr lang="ja-JP" sz="1800" b="0">
                <a:solidFill>
                  <a:schemeClr val="dk2"/>
                </a:solidFill>
                <a:latin typeface="Noto Sans"/>
                <a:ea typeface="Noto Sans CJK JP"/>
                <a:cs typeface="Noto Sans"/>
              </a:rPr>
              <a:t>Insert chart</a:t>
            </a:r>
            <a:endParaRPr lang="ja-JP">
              <a:latin typeface="Noto Sans"/>
              <a:ea typeface="Noto Sans CJK JP"/>
              <a:cs typeface="Noto Sans"/>
            </a:endParaRPr>
          </a:p>
        </p:txBody>
      </p:sp>
      <p:sp>
        <p:nvSpPr>
          <p:cNvPr id="5" name="Explanation Placeholder"/>
          <p:cNvSpPr txBox="1">
            <a:spLocks noGrp="1"/>
          </p:cNvSpPr>
          <p:nvPr>
            <p:ph type="body" idx="2"/>
          </p:nvPr>
        </p:nvSpPr>
        <p:spPr>
          <a:xfrm>
            <a:off x="6295292" y="1550000"/>
            <a:ext cx="2500000" cy="2400000"/>
          </a:xfrm>
          <a:prstGeom prst="rect">
            <a:avLst/>
          </a:prstGeom>
          <a:noFill/>
          <a:ln>
            <a:noFill/>
          </a:ln>
        </p:spPr>
        <p:txBody>
          <a:bodyPr wrap="square" lIns="91425" rIns="91425" tIns="91425" bIns="91425"/>
          <a:lstStyle>
            <a:lvl1pPr marL="457200" lvl="0"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1pPr>
            <a:lvl2pPr marL="914400" lvl="1"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2pPr>
            <a:lvl3pPr marL="1371600" lvl="2"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3pPr>
            <a:lvl4pPr marL="1828800" lvl="3" indent="-368300">
              <a:spcBef>
                <a:spcPts val="0"/>
              </a:spcBef>
              <a:spcAft>
                <a:spcPts val="0"/>
              </a:spcAft>
              <a:buClr>
                <a:srgbClr val="303437"/>
              </a:buClr>
              <a:buSzPct val="60455"/>
              <a:buFont typeface="Noto Sans CJK JP"/>
              <a:buChar char="●"/>
              <a:defRPr sz="2200" lang="ja-JP">
                <a:solidFill>
                  <a:srgbClr val="303437"/>
                </a:solidFill>
                <a:latin typeface="Noto Sans"/>
                <a:ea typeface="Noto Sans CJK JP"/>
                <a:cs typeface="Noto Sans"/>
              </a:defRPr>
            </a:lvl4pPr>
            <a:lvl5pPr marL="2286000" lvl="4"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5pPr>
            <a:lvl6pPr marL="2743200" lvl="5"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6pPr>
            <a:lvl7pPr marL="3200400" lvl="6"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7pPr>
            <a:lvl8pPr marL="3657600" lvl="7"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8pPr>
            <a:lvl9pPr marL="4114800" lvl="8"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9pPr>
          </a:lstStyle>
          <a:p>
            <a:endParaRPr lang="ja-JP" dirty="0">
              <a:latin typeface="Noto Sans"/>
              <a:ea typeface="Noto Sans CJK JP"/>
              <a:cs typeface="Noto Sans"/>
            </a:endParaRPr>
          </a:p>
        </p:txBody>
      </p:sp>
      <p:sp>
        <p:nvSpPr>
          <p:cNvPr id="6" name="Supporting Text Placeholder"/>
          <p:cNvSpPr txBox="1">
            <a:spLocks noGrp="1"/>
          </p:cNvSpPr>
          <p:nvPr>
            <p:ph type="body" idx="3"/>
          </p:nvPr>
        </p:nvSpPr>
        <p:spPr>
          <a:xfrm>
            <a:off x="500000" y="4650000"/>
            <a:ext cx="8144000" cy="260000"/>
          </a:xfrm>
          <a:prstGeom prst="rect">
            <a:avLst/>
          </a:prstGeom>
          <a:noFill/>
          <a:ln>
            <a:noFill/>
          </a:ln>
        </p:spPr>
        <p:txBody>
          <a:bodyPr wrap="square" lIns="91425" rIns="91425" tIns="91425" bIns="91425"/>
          <a:lstStyle>
            <a:lvl1pPr marL="457200" lvl="0"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1pPr>
            <a:lvl2pPr marL="914400" lvl="1"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2pPr>
            <a:lvl3pPr marL="1371600" lvl="2"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3pPr>
            <a:lvl4pPr marL="1828800" lvl="3" indent="-368300">
              <a:spcBef>
                <a:spcPts val="0"/>
              </a:spcBef>
              <a:spcAft>
                <a:spcPts val="0"/>
              </a:spcAft>
              <a:buClr>
                <a:srgbClr val="303437"/>
              </a:buClr>
              <a:buSzPct val="60455"/>
              <a:buFont typeface="Noto Sans CJK JP"/>
              <a:buChar char="●"/>
              <a:defRPr sz="2200" lang="ja-JP">
                <a:solidFill>
                  <a:srgbClr val="303437"/>
                </a:solidFill>
                <a:latin typeface="Noto Sans"/>
                <a:ea typeface="Noto Sans CJK JP"/>
                <a:cs typeface="Noto Sans"/>
              </a:defRPr>
            </a:lvl4pPr>
            <a:lvl5pPr marL="2286000" lvl="4"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5pPr>
            <a:lvl6pPr marL="2743200" lvl="5"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6pPr>
            <a:lvl7pPr marL="3200400" lvl="6"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7pPr>
            <a:lvl8pPr marL="3657600" lvl="7"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8pPr>
            <a:lvl9pPr marL="4114800" lvl="8"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9pPr>
          </a:lstStyle>
          <a:p>
            <a:endParaRPr lang="ja-JP" dirty="0">
              <a:latin typeface="Noto Sans"/>
              <a:ea typeface="Noto Sans CJK JP"/>
              <a:cs typeface="Noto Sans"/>
            </a:endParaRPr>
          </a:p>
        </p:txBody>
      </p:sp>
      <p:sp>
        <p:nvSpPr>
          <p:cNvPr id="999" name="Slide Number"/>
          <p:cNvSpPr txBox="1"/>
          <p:nvPr/>
        </p:nvSpPr>
        <p:spPr>
          <a:xfrm>
            <a:off x="8412480" y="7937"/>
            <a:ext cx="640080" cy="480059"/>
          </a:xfrm>
          <a:prstGeom prst="rect">
            <a:avLst/>
          </a:prstGeom>
          <a:noFill/>
          <a:ln>
            <a:noFill/>
          </a:ln>
        </p:spPr>
        <p:txBody>
          <a:bodyPr anchor="ctr" lIns="0" tIns="0" bIns="0"/>
          <a:lstStyle/>
          <a:p>
            <a:pPr algn="r">
              <a:lnSpc>
                <a:spcPct val="100000"/>
              </a:lnSpc>
              <a:spcBef>
                <a:spcPts val="0"/>
              </a:spcBef>
              <a:spcAft>
                <a:spcPts val="0"/>
              </a:spcAft>
            </a:pPr>
            <a:fld id="{00000000-1234-1234-1234-000000000999}" type="slidenum">
              <a:rPr lang="ja-JP" sz="1800" b="1">
                <a:solidFill>
                  <a:schemeClr val="lt1"/>
                </a:solidFill>
                <a:latin typeface="Noto Sans"/>
                <a:ea typeface="Noto Sans CJK JP"/>
                <a:cs typeface="Noto Sans"/>
              </a:rPr>
              <a:t>‹#›</a:t>
            </a:fld>
            <a:endParaRPr lang="ja-JP" sz="1800" b="1">
              <a:latin typeface="Noto Sans"/>
              <a:ea typeface="Noto Sans CJK JP"/>
              <a:cs typeface="Noto Sans"/>
            </a:endParaRPr>
          </a:p>
        </p:txBody>
      </p:sp>
      <p:sp>
        <p:nvSpPr>
          <p:cNvPr id="9" name="タイトル 8">
            <a:extLst>
              <a:ext uri="{FF2B5EF4-FFF2-40B4-BE49-F238E27FC236}">
                <a16:creationId xmlns:a16="http://schemas.microsoft.com/office/drawing/2014/main" id="{25C0E310-B322-8587-531C-0E2F5BB13C5E}"/>
              </a:ext>
            </a:extLst>
          </p:cNvPr>
          <p:cNvSpPr>
            <a:spLocks noGrp="1"/>
          </p:cNvSpPr>
          <p:nvPr>
            <p:ph type="title"/>
          </p:nvPr>
        </p:nvSpPr>
        <p:spPr/>
        <p:txBody>
          <a:bodyPr/>
          <a:lstStyle/>
          <a:p>
            <a:endParaRPr kumimoji="1" lang="ja-JP" altLang="en-US">
              <a:latin typeface="Noto Sans"/>
              <a:ea typeface="Noto Sans CJK JP"/>
              <a:cs typeface="Noto Sans"/>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matchingName="ページ番号のみ 1">
  <p:cSld name="ONE_COLUMN_TEXT_1_2_1">
    <p:spTree>
      <p:nvGrpSpPr>
        <p:cNvPr id="1" name="Shape 93"/>
        <p:cNvGrpSpPr/>
        <p:nvPr/>
      </p:nvGrpSpPr>
      <p:grpSpPr>
        <a:xfrm>
          <a:off x="0" y="0"/>
          <a:ext cx="0" cy="0"/>
          <a:chOff x="0" y="0"/>
          <a:chExt cx="0" cy="0"/>
        </a:xfrm>
      </p:grpSpPr>
      <p:sp>
        <p:nvSpPr>
          <p:cNvPr id="96" name="Google Shape;96;p13"/>
          <p:cNvSpPr txBox="1">
            <a:spLocks noGrp="1"/>
          </p:cNvSpPr>
          <p:nvPr>
            <p:ph type="title"/>
          </p:nvPr>
        </p:nvSpPr>
        <p:spPr>
          <a:xfrm>
            <a:off x="5796650" y="4091225"/>
            <a:ext cx="3347400" cy="1052400"/>
          </a:xfrm>
          <a:prstGeom prst="rect">
            <a:avLst/>
          </a:prstGeom>
          <a:solidFill>
            <a:schemeClr val="accent2"/>
          </a:solidFill>
        </p:spPr>
        <p:txBody>
          <a:bodyPr spcFirstLastPara="1" wrap="square" lIns="126000" tIns="126000" rIns="91425" bIns="91425" anchor="ctr" anchorCtr="0">
            <a:normAutofit/>
          </a:bodyPr>
          <a:lstStyle>
            <a:lvl1pPr lvl="0" algn="ctr">
              <a:spcBef>
                <a:spcPts val="0"/>
              </a:spcBef>
              <a:spcAft>
                <a:spcPts val="0"/>
              </a:spcAft>
              <a:buClr>
                <a:schemeClr val="lt1"/>
              </a:buClr>
              <a:buNone/>
              <a:defRPr b="1" lang="ja-JP">
                <a:solidFill>
                  <a:schemeClr val="lt1"/>
                </a:solidFill>
                <a:latin typeface="Noto Sans"/>
                <a:ea typeface="Noto Sans CJK JP"/>
                <a:cs typeface="Noto Sans"/>
              </a:defRPr>
            </a:lvl1pPr>
            <a:lvl2pPr lvl="1">
              <a:spcBef>
                <a:spcPts val="0"/>
              </a:spcBef>
              <a:spcAft>
                <a:spcPts val="0"/>
              </a:spcAft>
              <a:buClr>
                <a:schemeClr val="lt1"/>
              </a:buClr>
              <a:buNone/>
              <a:defRPr sz="3200" b="1" lang="ja-JP">
                <a:solidFill>
                  <a:schemeClr val="lt1"/>
                </a:solidFill>
                <a:latin typeface="Noto Sans"/>
                <a:ea typeface="Noto Sans CJK JP"/>
                <a:cs typeface="Noto Sans"/>
              </a:defRPr>
            </a:lvl2pPr>
            <a:lvl3pPr lvl="2">
              <a:spcBef>
                <a:spcPts val="0"/>
              </a:spcBef>
              <a:spcAft>
                <a:spcPts val="0"/>
              </a:spcAft>
              <a:buClr>
                <a:schemeClr val="lt1"/>
              </a:buClr>
              <a:buNone/>
              <a:defRPr sz="3200" b="1" lang="ja-JP">
                <a:solidFill>
                  <a:schemeClr val="lt1"/>
                </a:solidFill>
                <a:latin typeface="Noto Sans"/>
                <a:ea typeface="Noto Sans CJK JP"/>
                <a:cs typeface="Noto Sans"/>
              </a:defRPr>
            </a:lvl3pPr>
            <a:lvl4pPr lvl="3">
              <a:spcBef>
                <a:spcPts val="0"/>
              </a:spcBef>
              <a:spcAft>
                <a:spcPts val="0"/>
              </a:spcAft>
              <a:buClr>
                <a:schemeClr val="lt1"/>
              </a:buClr>
              <a:buNone/>
              <a:defRPr sz="3200" b="1" lang="ja-JP">
                <a:solidFill>
                  <a:schemeClr val="lt1"/>
                </a:solidFill>
                <a:latin typeface="Noto Sans"/>
                <a:ea typeface="Noto Sans CJK JP"/>
                <a:cs typeface="Noto Sans"/>
              </a:defRPr>
            </a:lvl4pPr>
            <a:lvl5pPr lvl="4">
              <a:spcBef>
                <a:spcPts val="0"/>
              </a:spcBef>
              <a:spcAft>
                <a:spcPts val="0"/>
              </a:spcAft>
              <a:buClr>
                <a:schemeClr val="lt1"/>
              </a:buClr>
              <a:buNone/>
              <a:defRPr sz="3200" b="1" lang="ja-JP">
                <a:solidFill>
                  <a:schemeClr val="lt1"/>
                </a:solidFill>
                <a:latin typeface="Noto Sans"/>
                <a:ea typeface="Noto Sans CJK JP"/>
                <a:cs typeface="Noto Sans"/>
              </a:defRPr>
            </a:lvl5pPr>
            <a:lvl6pPr lvl="5">
              <a:spcBef>
                <a:spcPts val="0"/>
              </a:spcBef>
              <a:spcAft>
                <a:spcPts val="0"/>
              </a:spcAft>
              <a:buClr>
                <a:schemeClr val="lt1"/>
              </a:buClr>
              <a:buNone/>
              <a:defRPr sz="3200" b="1" lang="ja-JP">
                <a:solidFill>
                  <a:schemeClr val="lt1"/>
                </a:solidFill>
                <a:latin typeface="Noto Sans"/>
                <a:ea typeface="Noto Sans CJK JP"/>
                <a:cs typeface="Noto Sans"/>
              </a:defRPr>
            </a:lvl6pPr>
            <a:lvl7pPr lvl="6">
              <a:spcBef>
                <a:spcPts val="0"/>
              </a:spcBef>
              <a:spcAft>
                <a:spcPts val="0"/>
              </a:spcAft>
              <a:buClr>
                <a:schemeClr val="lt1"/>
              </a:buClr>
              <a:buNone/>
              <a:defRPr sz="3200" b="1" lang="ja-JP">
                <a:solidFill>
                  <a:schemeClr val="lt1"/>
                </a:solidFill>
                <a:latin typeface="Noto Sans"/>
                <a:ea typeface="Noto Sans CJK JP"/>
                <a:cs typeface="Noto Sans"/>
              </a:defRPr>
            </a:lvl7pPr>
            <a:lvl8pPr lvl="7">
              <a:spcBef>
                <a:spcPts val="0"/>
              </a:spcBef>
              <a:spcAft>
                <a:spcPts val="0"/>
              </a:spcAft>
              <a:buClr>
                <a:schemeClr val="lt1"/>
              </a:buClr>
              <a:buNone/>
              <a:defRPr sz="3200" b="1" lang="ja-JP">
                <a:solidFill>
                  <a:schemeClr val="lt1"/>
                </a:solidFill>
                <a:latin typeface="Noto Sans"/>
                <a:ea typeface="Noto Sans CJK JP"/>
                <a:cs typeface="Noto Sans"/>
              </a:defRPr>
            </a:lvl8pPr>
            <a:lvl9pPr lvl="8">
              <a:spcBef>
                <a:spcPts val="0"/>
              </a:spcBef>
              <a:spcAft>
                <a:spcPts val="0"/>
              </a:spcAft>
              <a:buClr>
                <a:schemeClr val="lt1"/>
              </a:buClr>
              <a:buNone/>
              <a:defRPr sz="3200" b="1" lang="ja-JP">
                <a:solidFill>
                  <a:schemeClr val="lt1"/>
                </a:solidFill>
                <a:latin typeface="Noto Sans"/>
                <a:ea typeface="Noto Sans CJK JP"/>
                <a:cs typeface="Noto Sans"/>
              </a:defRPr>
            </a:lvl9pPr>
          </a:lstStyle>
          <a:p>
            <a:endParaRPr dirty="0" lang="ja-JP">
              <a:latin typeface="Noto Sans"/>
              <a:ea typeface="Noto Sans CJK JP"/>
              <a:cs typeface="Noto Sans"/>
            </a:endParaRPr>
          </a:p>
        </p:txBody>
      </p:sp>
      <p:sp>
        <p:nvSpPr>
          <p:cNvPr id="999" name="Slide Number"/>
          <p:cNvSpPr txBox="1"/>
          <p:nvPr/>
        </p:nvSpPr>
        <p:spPr>
          <a:xfrm>
            <a:off x="8412480" y="7937"/>
            <a:ext cx="640080" cy="480059"/>
          </a:xfrm>
          <a:prstGeom prst="rect">
            <a:avLst/>
          </a:prstGeom>
          <a:noFill/>
          <a:ln>
            <a:noFill/>
          </a:ln>
        </p:spPr>
        <p:txBody>
          <a:bodyPr anchor="ctr" lIns="0" tIns="0" bIns="0"/>
          <a:lstStyle/>
          <a:p>
            <a:pPr algn="r">
              <a:lnSpc>
                <a:spcPct val="100000"/>
              </a:lnSpc>
              <a:spcBef>
                <a:spcPts val="0"/>
              </a:spcBef>
              <a:spcAft>
                <a:spcPts val="0"/>
              </a:spcAft>
            </a:pPr>
            <a:fld id="{00000000-1234-1234-1234-000000000999}" type="slidenum">
              <a:rPr lang="ja-JP" sz="1800" b="1">
                <a:solidFill>
                  <a:schemeClr val="dk2"/>
                </a:solidFill>
                <a:latin typeface="Noto Sans"/>
                <a:ea typeface="Noto Sans CJK JP"/>
                <a:cs typeface="Noto Sans"/>
              </a:rPr>
              <a:t>‹#›</a:t>
            </a:fld>
            <a:endParaRPr lang="ja-JP" sz="1800" b="1">
              <a:latin typeface="Noto Sans"/>
              <a:ea typeface="Noto Sans CJK JP"/>
              <a:cs typeface="Noto Sans"/>
            </a:endParaRPr>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name="simple-light-2">
    <p:bg>
      <p:bgPr>
        <a:solidFill>
          <a:schemeClr val="lt1"/>
        </a:solidFill>
        <a:effectLst/>
      </p:bgPr>
    </p:bg>
    <p:spTree>
      <p:nvGrpSpPr>
        <p:cNvPr id="1" name="Shape 5"/>
        <p:cNvGrpSpPr/>
        <p:nvPr/>
      </p:nvGrpSpPr>
      <p:grpSpPr>
        <a:xfrm>
          <a:off x="0" y="0"/>
          <a:ext cx="0" cy="0"/>
          <a:chOff x="0" y="0"/>
          <a:chExt cx="0" cy="0"/>
        </a:xfrm>
      </p:grpSpPr>
      <p:sp>
        <p:nvSpPr>
          <p:cNvPr id="6" name="Google Shape;6;p1"/>
          <p:cNvSpPr txBox="1">
            <a:spLocks noGrp="1"/>
          </p:cNvSpPr>
          <p:nvPr>
            <p:ph type="title"/>
          </p:nvPr>
        </p:nvSpPr>
        <p:spPr>
          <a:xfrm>
            <a:off x="311700" y="445025"/>
            <a:ext cx="8520600" cy="572700"/>
          </a:xfrm>
          <a:prstGeom prst="rect">
            <a:avLst/>
          </a:prstGeom>
          <a:noFill/>
          <a:ln>
            <a:noFill/>
          </a:ln>
        </p:spPr>
        <p:txBody>
          <a:bodyPr spcFirstLastPara="1" wrap="square" lIns="91425" tIns="91425" rIns="91425" bIns="91425" anchor="t" anchorCtr="0">
            <a:normAutofit/>
          </a:bodyPr>
          <a:lstStyle>
            <a:lvl1pPr lvl="0">
              <a:spcBef>
                <a:spcPts val="0"/>
              </a:spcBef>
              <a:spcAft>
                <a:spcPts val="0"/>
              </a:spcAft>
              <a:buClr>
                <a:schemeClr val="dk1"/>
              </a:buClr>
              <a:buNone/>
              <a:defRPr sz="2800" lang="ja-JP">
                <a:solidFill>
                  <a:schemeClr val="dk1"/>
                </a:solidFill>
                <a:latin typeface="Noto Sans"/>
                <a:ea typeface="Noto Sans CJK JP"/>
                <a:cs typeface="Noto Sans"/>
              </a:defRPr>
            </a:lvl1pPr>
            <a:lvl2pPr lvl="1">
              <a:spcBef>
                <a:spcPts val="0"/>
              </a:spcBef>
              <a:spcAft>
                <a:spcPts val="0"/>
              </a:spcAft>
              <a:buClr>
                <a:schemeClr val="dk1"/>
              </a:buClr>
              <a:buNone/>
              <a:defRPr sz="2800" lang="ja-JP">
                <a:solidFill>
                  <a:schemeClr val="dk1"/>
                </a:solidFill>
                <a:latin typeface="Noto Sans"/>
                <a:ea typeface="Noto Sans CJK JP"/>
                <a:cs typeface="Noto Sans"/>
              </a:defRPr>
            </a:lvl2pPr>
            <a:lvl3pPr lvl="2">
              <a:spcBef>
                <a:spcPts val="0"/>
              </a:spcBef>
              <a:spcAft>
                <a:spcPts val="0"/>
              </a:spcAft>
              <a:buClr>
                <a:schemeClr val="dk1"/>
              </a:buClr>
              <a:buNone/>
              <a:defRPr sz="2800" lang="ja-JP">
                <a:solidFill>
                  <a:schemeClr val="dk1"/>
                </a:solidFill>
                <a:latin typeface="Noto Sans"/>
                <a:ea typeface="Noto Sans CJK JP"/>
                <a:cs typeface="Noto Sans"/>
              </a:defRPr>
            </a:lvl3pPr>
            <a:lvl4pPr lvl="3">
              <a:spcBef>
                <a:spcPts val="0"/>
              </a:spcBef>
              <a:spcAft>
                <a:spcPts val="0"/>
              </a:spcAft>
              <a:buClr>
                <a:schemeClr val="dk1"/>
              </a:buClr>
              <a:buNone/>
              <a:defRPr sz="2800" lang="ja-JP">
                <a:solidFill>
                  <a:schemeClr val="dk1"/>
                </a:solidFill>
                <a:latin typeface="Noto Sans"/>
                <a:ea typeface="Noto Sans CJK JP"/>
                <a:cs typeface="Noto Sans"/>
              </a:defRPr>
            </a:lvl4pPr>
            <a:lvl5pPr lvl="4">
              <a:spcBef>
                <a:spcPts val="0"/>
              </a:spcBef>
              <a:spcAft>
                <a:spcPts val="0"/>
              </a:spcAft>
              <a:buClr>
                <a:schemeClr val="dk1"/>
              </a:buClr>
              <a:buNone/>
              <a:defRPr sz="2800" lang="ja-JP">
                <a:solidFill>
                  <a:schemeClr val="dk1"/>
                </a:solidFill>
                <a:latin typeface="Noto Sans"/>
                <a:ea typeface="Noto Sans CJK JP"/>
                <a:cs typeface="Noto Sans"/>
              </a:defRPr>
            </a:lvl5pPr>
            <a:lvl6pPr lvl="5">
              <a:spcBef>
                <a:spcPts val="0"/>
              </a:spcBef>
              <a:spcAft>
                <a:spcPts val="0"/>
              </a:spcAft>
              <a:buClr>
                <a:schemeClr val="dk1"/>
              </a:buClr>
              <a:buNone/>
              <a:defRPr sz="2800" lang="ja-JP">
                <a:solidFill>
                  <a:schemeClr val="dk1"/>
                </a:solidFill>
                <a:latin typeface="Noto Sans"/>
                <a:ea typeface="Noto Sans CJK JP"/>
                <a:cs typeface="Noto Sans"/>
              </a:defRPr>
            </a:lvl6pPr>
            <a:lvl7pPr lvl="6">
              <a:spcBef>
                <a:spcPts val="0"/>
              </a:spcBef>
              <a:spcAft>
                <a:spcPts val="0"/>
              </a:spcAft>
              <a:buClr>
                <a:schemeClr val="dk1"/>
              </a:buClr>
              <a:buNone/>
              <a:defRPr sz="2800" lang="ja-JP">
                <a:solidFill>
                  <a:schemeClr val="dk1"/>
                </a:solidFill>
                <a:latin typeface="Noto Sans"/>
                <a:ea typeface="Noto Sans CJK JP"/>
                <a:cs typeface="Noto Sans"/>
              </a:defRPr>
            </a:lvl7pPr>
            <a:lvl8pPr lvl="7">
              <a:spcBef>
                <a:spcPts val="0"/>
              </a:spcBef>
              <a:spcAft>
                <a:spcPts val="0"/>
              </a:spcAft>
              <a:buClr>
                <a:schemeClr val="dk1"/>
              </a:buClr>
              <a:buNone/>
              <a:defRPr sz="2800" lang="ja-JP">
                <a:solidFill>
                  <a:schemeClr val="dk1"/>
                </a:solidFill>
                <a:latin typeface="Noto Sans"/>
                <a:ea typeface="Noto Sans CJK JP"/>
                <a:cs typeface="Noto Sans"/>
              </a:defRPr>
            </a:lvl8pPr>
            <a:lvl9pPr lvl="8">
              <a:spcBef>
                <a:spcPts val="0"/>
              </a:spcBef>
              <a:spcAft>
                <a:spcPts val="0"/>
              </a:spcAft>
              <a:buClr>
                <a:schemeClr val="dk1"/>
              </a:buClr>
              <a:buNone/>
              <a:defRPr sz="2800" lang="ja-JP">
                <a:solidFill>
                  <a:schemeClr val="dk1"/>
                </a:solidFill>
                <a:latin typeface="Noto Sans"/>
                <a:ea typeface="Noto Sans CJK JP"/>
                <a:cs typeface="Noto Sans"/>
              </a:defRPr>
            </a:lvl9pPr>
          </a:lstStyle>
          <a:p>
            <a:endParaRPr lang="ja-JP">
              <a:latin typeface="Noto Sans"/>
              <a:ea typeface="Noto Sans CJK JP"/>
              <a:cs typeface="Noto Sans"/>
            </a:endParaRPr>
          </a:p>
        </p:txBody>
      </p:sp>
      <p:sp>
        <p:nvSpPr>
          <p:cNvPr id="7" name="Google Shape;7;p1"/>
          <p:cNvSpPr txBox="1">
            <a:spLocks noGrp="1"/>
          </p:cNvSpPr>
          <p:nvPr>
            <p:ph type="body" idx="1"/>
          </p:nvPr>
        </p:nvSpPr>
        <p:spPr>
          <a:xfrm>
            <a:off x="311700" y="1152475"/>
            <a:ext cx="8520600" cy="3416400"/>
          </a:xfrm>
          <a:prstGeom prst="rect">
            <a:avLst/>
          </a:prstGeom>
          <a:noFill/>
          <a:ln>
            <a:noFill/>
          </a:ln>
        </p:spPr>
        <p:txBody>
          <a:bodyPr spcFirstLastPara="1" wrap="square" lIns="91425" tIns="91425" rIns="91425" bIns="91425" anchor="t" anchorCtr="0">
            <a:normAutofit/>
          </a:bodyPr>
          <a:lstStyle>
            <a:lvl1pPr marL="203200" lvl="0" indent="-152400">
              <a:lnSpc>
                <a:spcPct val="115000"/>
              </a:lnSpc>
              <a:spcBef>
                <a:spcPts val="0"/>
              </a:spcBef>
              <a:spcAft>
                <a:spcPts val="0"/>
              </a:spcAft>
              <a:buClr>
                <a:schemeClr val="dk2"/>
              </a:buClr>
              <a:buSzPct val="73889"/>
              <a:buFont typeface="Noto Sans CJK JP"/>
              <a:buChar char="●"/>
              <a:defRPr sz="1800" lang="ja-JP">
                <a:solidFill>
                  <a:schemeClr val="dk2"/>
                </a:solidFill>
                <a:latin typeface="Noto Sans"/>
                <a:ea typeface="Noto Sans CJK JP"/>
                <a:cs typeface="Noto Sans"/>
              </a:defRPr>
            </a:lvl1pPr>
            <a:lvl2pPr marL="482600" lvl="1" indent="-127000">
              <a:lnSpc>
                <a:spcPct val="115000"/>
              </a:lnSpc>
              <a:spcBef>
                <a:spcPts val="0"/>
              </a:spcBef>
              <a:spcAft>
                <a:spcPts val="0"/>
              </a:spcAft>
              <a:buClr>
                <a:schemeClr val="dk2"/>
              </a:buClr>
              <a:buSzPct val="66500"/>
              <a:buFont typeface="Noto Sans CJK JP"/>
              <a:buChar char="○"/>
              <a:defRPr lang="ja-JP">
                <a:solidFill>
                  <a:schemeClr val="dk2"/>
                </a:solidFill>
                <a:latin typeface="Noto Sans"/>
                <a:ea typeface="Noto Sans CJK JP"/>
                <a:cs typeface="Noto Sans"/>
              </a:defRPr>
            </a:lvl2pPr>
            <a:lvl3pPr marL="762000" lvl="2" indent="-127000">
              <a:lnSpc>
                <a:spcPct val="115000"/>
              </a:lnSpc>
              <a:spcBef>
                <a:spcPts val="0"/>
              </a:spcBef>
              <a:spcAft>
                <a:spcPts val="0"/>
              </a:spcAft>
              <a:buClr>
                <a:schemeClr val="dk2"/>
              </a:buClr>
              <a:buSzPct val="66500"/>
              <a:buFont typeface="Noto Sans CJK JP"/>
              <a:buChar char="○"/>
              <a:defRPr lang="ja-JP">
                <a:solidFill>
                  <a:schemeClr val="dk2"/>
                </a:solidFill>
                <a:latin typeface="Noto Sans"/>
                <a:ea typeface="Noto Sans CJK JP"/>
                <a:cs typeface="Noto Sans"/>
              </a:defRPr>
            </a:lvl3pPr>
            <a:lvl4pPr marL="1041400" lvl="3" indent="-127000">
              <a:lnSpc>
                <a:spcPct val="115000"/>
              </a:lnSpc>
              <a:spcBef>
                <a:spcPts val="0"/>
              </a:spcBef>
              <a:spcAft>
                <a:spcPts val="0"/>
              </a:spcAft>
              <a:buClr>
                <a:schemeClr val="dk2"/>
              </a:buClr>
              <a:buSzPct val="66500"/>
              <a:buFont typeface="Noto Sans CJK JP"/>
              <a:buChar char="○"/>
              <a:defRPr lang="ja-JP">
                <a:solidFill>
                  <a:schemeClr val="dk2"/>
                </a:solidFill>
                <a:latin typeface="Noto Sans"/>
                <a:ea typeface="Noto Sans CJK JP"/>
                <a:cs typeface="Noto Sans"/>
              </a:defRPr>
            </a:lvl4pPr>
            <a:lvl5pPr marL="1320800" lvl="4" indent="-127000">
              <a:lnSpc>
                <a:spcPct val="115000"/>
              </a:lnSpc>
              <a:spcBef>
                <a:spcPts val="0"/>
              </a:spcBef>
              <a:spcAft>
                <a:spcPts val="0"/>
              </a:spcAft>
              <a:buClr>
                <a:schemeClr val="dk2"/>
              </a:buClr>
              <a:buSzPct val="66500"/>
              <a:buFont typeface="Noto Sans CJK JP"/>
              <a:buChar char="○"/>
              <a:defRPr lang="ja-JP">
                <a:solidFill>
                  <a:schemeClr val="dk2"/>
                </a:solidFill>
                <a:latin typeface="Noto Sans"/>
                <a:ea typeface="Noto Sans CJK JP"/>
                <a:cs typeface="Noto Sans"/>
              </a:defRPr>
            </a:lvl5pPr>
            <a:lvl6pPr marL="1600200" lvl="5" indent="-127000">
              <a:lnSpc>
                <a:spcPct val="115000"/>
              </a:lnSpc>
              <a:spcBef>
                <a:spcPts val="0"/>
              </a:spcBef>
              <a:spcAft>
                <a:spcPts val="0"/>
              </a:spcAft>
              <a:buClr>
                <a:schemeClr val="dk2"/>
              </a:buClr>
              <a:buSzPct val="66500"/>
              <a:buFont typeface="Noto Sans CJK JP"/>
              <a:buChar char="○"/>
              <a:defRPr lang="ja-JP">
                <a:solidFill>
                  <a:schemeClr val="dk2"/>
                </a:solidFill>
                <a:latin typeface="Noto Sans"/>
                <a:ea typeface="Noto Sans CJK JP"/>
                <a:cs typeface="Noto Sans"/>
              </a:defRPr>
            </a:lvl6pPr>
            <a:lvl7pPr marL="1879600" lvl="6" indent="-127000">
              <a:lnSpc>
                <a:spcPct val="115000"/>
              </a:lnSpc>
              <a:spcBef>
                <a:spcPts val="0"/>
              </a:spcBef>
              <a:spcAft>
                <a:spcPts val="0"/>
              </a:spcAft>
              <a:buClr>
                <a:schemeClr val="dk2"/>
              </a:buClr>
              <a:buSzPct val="66500"/>
              <a:buFont typeface="Noto Sans CJK JP"/>
              <a:buChar char="○"/>
              <a:defRPr lang="ja-JP">
                <a:solidFill>
                  <a:schemeClr val="dk2"/>
                </a:solidFill>
                <a:latin typeface="Noto Sans"/>
                <a:ea typeface="Noto Sans CJK JP"/>
                <a:cs typeface="Noto Sans"/>
              </a:defRPr>
            </a:lvl7pPr>
            <a:lvl8pPr marL="2159000" lvl="7" indent="-127000">
              <a:lnSpc>
                <a:spcPct val="115000"/>
              </a:lnSpc>
              <a:spcBef>
                <a:spcPts val="0"/>
              </a:spcBef>
              <a:spcAft>
                <a:spcPts val="0"/>
              </a:spcAft>
              <a:buClr>
                <a:schemeClr val="dk2"/>
              </a:buClr>
              <a:buSzPct val="66500"/>
              <a:buFont typeface="Noto Sans CJK JP"/>
              <a:buChar char="○"/>
              <a:defRPr lang="ja-JP">
                <a:solidFill>
                  <a:schemeClr val="dk2"/>
                </a:solidFill>
                <a:latin typeface="Noto Sans"/>
                <a:ea typeface="Noto Sans CJK JP"/>
                <a:cs typeface="Noto Sans"/>
              </a:defRPr>
            </a:lvl8pPr>
            <a:lvl9pPr marL="2438400" lvl="8" indent="-127000">
              <a:lnSpc>
                <a:spcPct val="115000"/>
              </a:lnSpc>
              <a:spcBef>
                <a:spcPts val="0"/>
              </a:spcBef>
              <a:spcAft>
                <a:spcPts val="0"/>
              </a:spcAft>
              <a:buClr>
                <a:schemeClr val="dk2"/>
              </a:buClr>
              <a:buSzPct val="66500"/>
              <a:buFont typeface="Noto Sans CJK JP"/>
              <a:buChar char="○"/>
              <a:defRPr lang="ja-JP">
                <a:solidFill>
                  <a:schemeClr val="dk2"/>
                </a:solidFill>
                <a:latin typeface="Noto Sans"/>
                <a:ea typeface="Noto Sans CJK JP"/>
                <a:cs typeface="Noto Sans"/>
              </a:defRPr>
            </a:lvl9pPr>
          </a:lstStyle>
          <a:p>
            <a:endParaRPr lang="ja-JP">
              <a:latin typeface="Noto Sans"/>
              <a:ea typeface="Noto Sans CJK JP"/>
              <a:cs typeface="Noto Sans"/>
            </a:endParaRPr>
          </a:p>
        </p:txBody>
      </p:sp>
      <p:sp>
        <p:nvSpPr>
          <p:cNvPr id="8" name="Google Shape;8;p1"/>
          <p:cNvSpPr txBox="1">
            <a:spLocks noGrp="1"/>
          </p:cNvSpPr>
          <p:nvPr>
            <p:ph type="sldNum" idx="12"/>
          </p:nvPr>
        </p:nvSpPr>
        <p:spPr>
          <a:xfrm>
            <a:off x="8412480" y="7937"/>
            <a:ext cx="640080" cy="480059"/>
          </a:xfrm>
          <a:prstGeom prst="rect">
            <a:avLst/>
          </a:prstGeom>
          <a:noFill/>
          <a:ln>
            <a:noFill/>
          </a:ln>
        </p:spPr>
        <p:txBody>
          <a:bodyPr spcFirstLastPara="1" wrap="square" lIns="0" tIns="0" bIns="0" anchor="ctr" anchorCtr="0">
            <a:normAutofit/>
          </a:bodyPr>
          <a:lstStyle>
            <a:lvl1pPr lvl="0" algn="r">
              <a:buNone/>
              <a:defRPr sz="1000" lang="ja-JP">
                <a:solidFill>
                  <a:schemeClr val="dk2"/>
                </a:solidFill>
                <a:latin typeface="Noto Sans"/>
                <a:ea typeface="Noto Sans CJK JP"/>
                <a:cs typeface="Noto Sans"/>
              </a:defRPr>
            </a:lvl1pPr>
            <a:lvl2pPr lvl="1" algn="r">
              <a:buNone/>
              <a:defRPr sz="1000" lang="ja-JP">
                <a:solidFill>
                  <a:schemeClr val="dk2"/>
                </a:solidFill>
                <a:latin typeface="Noto Sans"/>
                <a:ea typeface="Noto Sans CJK JP"/>
                <a:cs typeface="Noto Sans"/>
              </a:defRPr>
            </a:lvl2pPr>
            <a:lvl3pPr lvl="2" algn="r">
              <a:buNone/>
              <a:defRPr sz="1000" lang="ja-JP">
                <a:solidFill>
                  <a:schemeClr val="dk2"/>
                </a:solidFill>
                <a:latin typeface="Noto Sans"/>
                <a:ea typeface="Noto Sans CJK JP"/>
                <a:cs typeface="Noto Sans"/>
              </a:defRPr>
            </a:lvl3pPr>
            <a:lvl4pPr lvl="3" algn="r">
              <a:buNone/>
              <a:defRPr sz="1000" lang="ja-JP">
                <a:solidFill>
                  <a:schemeClr val="dk2"/>
                </a:solidFill>
                <a:latin typeface="Noto Sans"/>
                <a:ea typeface="Noto Sans CJK JP"/>
                <a:cs typeface="Noto Sans"/>
              </a:defRPr>
            </a:lvl4pPr>
            <a:lvl5pPr lvl="4" algn="r">
              <a:buNone/>
              <a:defRPr sz="1000" lang="ja-JP">
                <a:solidFill>
                  <a:schemeClr val="dk2"/>
                </a:solidFill>
                <a:latin typeface="Noto Sans"/>
                <a:ea typeface="Noto Sans CJK JP"/>
                <a:cs typeface="Noto Sans"/>
              </a:defRPr>
            </a:lvl5pPr>
            <a:lvl6pPr lvl="5" algn="r">
              <a:buNone/>
              <a:defRPr sz="1000" lang="ja-JP">
                <a:solidFill>
                  <a:schemeClr val="dk2"/>
                </a:solidFill>
                <a:latin typeface="Noto Sans"/>
                <a:ea typeface="Noto Sans CJK JP"/>
                <a:cs typeface="Noto Sans"/>
              </a:defRPr>
            </a:lvl6pPr>
            <a:lvl7pPr lvl="6" algn="r">
              <a:buNone/>
              <a:defRPr sz="1000" lang="ja-JP">
                <a:solidFill>
                  <a:schemeClr val="dk2"/>
                </a:solidFill>
                <a:latin typeface="Noto Sans"/>
                <a:ea typeface="Noto Sans CJK JP"/>
                <a:cs typeface="Noto Sans"/>
              </a:defRPr>
            </a:lvl7pPr>
            <a:lvl8pPr lvl="7" algn="r">
              <a:buNone/>
              <a:defRPr sz="1000" lang="ja-JP">
                <a:solidFill>
                  <a:schemeClr val="dk2"/>
                </a:solidFill>
                <a:latin typeface="Noto Sans"/>
                <a:ea typeface="Noto Sans CJK JP"/>
                <a:cs typeface="Noto Sans"/>
              </a:defRPr>
            </a:lvl8pPr>
            <a:lvl9pPr lvl="8" algn="r">
              <a:buNone/>
              <a:defRPr sz="1000" lang="ja-JP">
                <a:solidFill>
                  <a:schemeClr val="dk2"/>
                </a:solidFill>
                <a:latin typeface="Noto Sans"/>
                <a:ea typeface="Noto Sans CJK JP"/>
                <a:cs typeface="Noto Sans"/>
              </a:defRPr>
            </a:lvl9pPr>
          </a:lstStyle>
          <a:p>
            <a:pPr marL="0" lvl="0" indent="0" algn="r" rtl="0">
              <a:lnSpc>
                <a:spcPct val="100000"/>
              </a:lnSpc>
              <a:spcBef>
                <a:spcPts val="0"/>
              </a:spcBef>
              <a:spcAft>
                <a:spcPts val="0"/>
              </a:spcAft>
              <a:buNone/>
            </a:pPr>
            <a:fld id="{00000000-1234-1234-1234-123412341234}" type="slidenum">
              <a:rPr lang="ja-JP">
                <a:latin typeface="Noto Sans"/>
                <a:ea typeface="Noto Sans CJK JP"/>
                <a:cs typeface="Noto Sans"/>
              </a:rPr>
              <a:t>‹#›</a:t>
            </a:fld>
            <a:endParaRPr lang="ja-JP">
              <a:latin typeface="Noto Sans"/>
              <a:ea typeface="Noto Sans CJK JP"/>
              <a:cs typeface="Noto Sans"/>
            </a:endParaRPr>
          </a:p>
        </p:txBody>
      </p:sp>
    </p:spTree>
  </p:cSld>
  <p:clrMap bg1="lt1" tx1="dk1" bg2="dk2" tx2="lt2" accent1="accent1" accent2="accent2" accent3="accent3" accent4="accent4" accent5="accent5" accent6="accent6" hlink="hlink" folHlink="folHlink"/>
  <p:sldLayoutIdLst>
    <p:sldLayoutId id="2147483648" r:id="rId1"/>
    <p:sldLayoutId id="2147483657" r:id="rId2"/>
    <p:sldLayoutId id="2147483651" r:id="rId3"/>
    <p:sldLayoutId id="2147483652" r:id="rId4"/>
    <p:sldLayoutId id="2147483653" r:id="rId5"/>
    <p:sldLayoutId id="2147483654" r:id="rId6"/>
    <p:sldLayoutId id="2147483655" r:id="rId7"/>
    <p:sldLayoutId id="2147483658" r:id="rId8"/>
    <p:sldLayoutId id="2147483659" r:id="rId9"/>
  </p:sldLayoutIdLst>
  <p:hf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chemeClr val="dk1"/>
        </a:buClr>
        <a:buFont typeface="Noto Sans CJK JP"/>
        <a:defRPr sz="1400" b="0" i="0" u="none" strike="noStrike" cap="none" lang="ja-JP">
          <a:solidFill>
            <a:schemeClr val="dk1"/>
          </a:solidFill>
          <a:latin typeface="Noto Sans"/>
          <a:ea typeface="Noto Sans CJK JP"/>
          <a:cs typeface="Noto Sans"/>
          <a:sym typeface="Arial"/>
        </a:defRPr>
      </a:lvl1pPr>
      <a:lvl2pPr marR="0" lvl="1" algn="l" rtl="0">
        <a:lnSpc>
          <a:spcPct val="100000"/>
        </a:lnSpc>
        <a:spcBef>
          <a:spcPts val="0"/>
        </a:spcBef>
        <a:spcAft>
          <a:spcPts val="0"/>
        </a:spcAft>
        <a:buClr>
          <a:schemeClr val="dk1"/>
        </a:buClr>
        <a:buFont typeface="Noto Sans CJK JP"/>
        <a:defRPr sz="1400" b="0" i="0" u="none" strike="noStrike" cap="none" lang="ja-JP">
          <a:solidFill>
            <a:schemeClr val="dk1"/>
          </a:solidFill>
          <a:latin typeface="Noto Sans"/>
          <a:ea typeface="Noto Sans CJK JP"/>
          <a:cs typeface="Noto Sans"/>
          <a:sym typeface="Arial"/>
        </a:defRPr>
      </a:lvl2pPr>
      <a:lvl3pPr marR="0" lvl="2" algn="l" rtl="0">
        <a:lnSpc>
          <a:spcPct val="100000"/>
        </a:lnSpc>
        <a:spcBef>
          <a:spcPts val="0"/>
        </a:spcBef>
        <a:spcAft>
          <a:spcPts val="0"/>
        </a:spcAft>
        <a:buClr>
          <a:schemeClr val="dk1"/>
        </a:buClr>
        <a:buFont typeface="Noto Sans CJK JP"/>
        <a:defRPr sz="1400" b="0" i="0" u="none" strike="noStrike" cap="none" lang="ja-JP">
          <a:solidFill>
            <a:schemeClr val="dk1"/>
          </a:solidFill>
          <a:latin typeface="Noto Sans"/>
          <a:ea typeface="Noto Sans CJK JP"/>
          <a:cs typeface="Noto Sans"/>
          <a:sym typeface="Arial"/>
        </a:defRPr>
      </a:lvl3pPr>
      <a:lvl4pPr marR="0" lvl="3" algn="l" rtl="0">
        <a:lnSpc>
          <a:spcPct val="100000"/>
        </a:lnSpc>
        <a:spcBef>
          <a:spcPts val="0"/>
        </a:spcBef>
        <a:spcAft>
          <a:spcPts val="0"/>
        </a:spcAft>
        <a:buClr>
          <a:schemeClr val="dk1"/>
        </a:buClr>
        <a:buFont typeface="Noto Sans CJK JP"/>
        <a:defRPr sz="1400" b="0" i="0" u="none" strike="noStrike" cap="none" lang="ja-JP">
          <a:solidFill>
            <a:schemeClr val="dk1"/>
          </a:solidFill>
          <a:latin typeface="Noto Sans"/>
          <a:ea typeface="Noto Sans CJK JP"/>
          <a:cs typeface="Noto Sans"/>
          <a:sym typeface="Arial"/>
        </a:defRPr>
      </a:lvl4pPr>
      <a:lvl5pPr marR="0" lvl="4" algn="l" rtl="0">
        <a:lnSpc>
          <a:spcPct val="100000"/>
        </a:lnSpc>
        <a:spcBef>
          <a:spcPts val="0"/>
        </a:spcBef>
        <a:spcAft>
          <a:spcPts val="0"/>
        </a:spcAft>
        <a:buClr>
          <a:schemeClr val="dk1"/>
        </a:buClr>
        <a:buFont typeface="Noto Sans CJK JP"/>
        <a:defRPr sz="1400" b="0" i="0" u="none" strike="noStrike" cap="none" lang="ja-JP">
          <a:solidFill>
            <a:schemeClr val="dk1"/>
          </a:solidFill>
          <a:latin typeface="Noto Sans"/>
          <a:ea typeface="Noto Sans CJK JP"/>
          <a:cs typeface="Noto Sans"/>
          <a:sym typeface="Arial"/>
        </a:defRPr>
      </a:lvl5pPr>
      <a:lvl6pPr marR="0" lvl="5" algn="l" rtl="0">
        <a:lnSpc>
          <a:spcPct val="100000"/>
        </a:lnSpc>
        <a:spcBef>
          <a:spcPts val="0"/>
        </a:spcBef>
        <a:spcAft>
          <a:spcPts val="0"/>
        </a:spcAft>
        <a:buClr>
          <a:schemeClr val="dk1"/>
        </a:buClr>
        <a:buFont typeface="Noto Sans CJK JP"/>
        <a:defRPr sz="1400" b="0" i="0" u="none" strike="noStrike" cap="none" lang="ja-JP">
          <a:solidFill>
            <a:schemeClr val="dk1"/>
          </a:solidFill>
          <a:latin typeface="Noto Sans"/>
          <a:ea typeface="Noto Sans CJK JP"/>
          <a:cs typeface="Noto Sans"/>
          <a:sym typeface="Arial"/>
        </a:defRPr>
      </a:lvl6pPr>
      <a:lvl7pPr marR="0" lvl="6" algn="l" rtl="0">
        <a:lnSpc>
          <a:spcPct val="100000"/>
        </a:lnSpc>
        <a:spcBef>
          <a:spcPts val="0"/>
        </a:spcBef>
        <a:spcAft>
          <a:spcPts val="0"/>
        </a:spcAft>
        <a:buClr>
          <a:schemeClr val="dk1"/>
        </a:buClr>
        <a:buFont typeface="Noto Sans CJK JP"/>
        <a:defRPr sz="1400" b="0" i="0" u="none" strike="noStrike" cap="none" lang="ja-JP">
          <a:solidFill>
            <a:schemeClr val="dk1"/>
          </a:solidFill>
          <a:latin typeface="Noto Sans"/>
          <a:ea typeface="Noto Sans CJK JP"/>
          <a:cs typeface="Noto Sans"/>
          <a:sym typeface="Arial"/>
        </a:defRPr>
      </a:lvl7pPr>
      <a:lvl8pPr marR="0" lvl="7" algn="l" rtl="0">
        <a:lnSpc>
          <a:spcPct val="100000"/>
        </a:lnSpc>
        <a:spcBef>
          <a:spcPts val="0"/>
        </a:spcBef>
        <a:spcAft>
          <a:spcPts val="0"/>
        </a:spcAft>
        <a:buClr>
          <a:schemeClr val="dk1"/>
        </a:buClr>
        <a:buFont typeface="Noto Sans CJK JP"/>
        <a:defRPr sz="1400" b="0" i="0" u="none" strike="noStrike" cap="none" lang="ja-JP">
          <a:solidFill>
            <a:schemeClr val="dk1"/>
          </a:solidFill>
          <a:latin typeface="Noto Sans"/>
          <a:ea typeface="Noto Sans CJK JP"/>
          <a:cs typeface="Noto Sans"/>
          <a:sym typeface="Arial"/>
        </a:defRPr>
      </a:lvl8pPr>
      <a:lvl9pPr marR="0" lvl="8" algn="l" rtl="0">
        <a:lnSpc>
          <a:spcPct val="100000"/>
        </a:lnSpc>
        <a:spcBef>
          <a:spcPts val="0"/>
        </a:spcBef>
        <a:spcAft>
          <a:spcPts val="0"/>
        </a:spcAft>
        <a:buClr>
          <a:schemeClr val="dk1"/>
        </a:buClr>
        <a:buFont typeface="Noto Sans CJK JP"/>
        <a:defRPr sz="1400" b="0" i="0" u="none" strike="noStrike" cap="none" lang="ja-JP">
          <a:solidFill>
            <a:schemeClr val="dk1"/>
          </a:solidFill>
          <a:latin typeface="Noto Sans"/>
          <a:ea typeface="Noto Sans CJK JP"/>
          <a:cs typeface="Noto Sans"/>
          <a:sym typeface="Arial"/>
        </a:defRPr>
      </a:lvl9pPr>
    </p:titleStyle>
    <p:bodyStyle>
      <a:lvl1pPr marL="457200" lvl="0"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1pPr>
      <a:lvl2pPr marL="914400" lvl="1"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2pPr>
      <a:lvl3pPr marL="1371600" lvl="2"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3pPr>
      <a:lvl4pPr marL="1828800" lvl="3" indent="-368300">
        <a:spcBef>
          <a:spcPts val="0"/>
        </a:spcBef>
        <a:spcAft>
          <a:spcPts val="0"/>
        </a:spcAft>
        <a:buClr>
          <a:srgbClr val="303437"/>
        </a:buClr>
        <a:buSzPct val="60455"/>
        <a:buFont typeface="Noto Sans CJK JP"/>
        <a:buChar char="●"/>
        <a:defRPr sz="2200" lang="ja-JP">
          <a:solidFill>
            <a:srgbClr val="303437"/>
          </a:solidFill>
          <a:latin typeface="Noto Sans"/>
          <a:ea typeface="Noto Sans CJK JP"/>
          <a:cs typeface="Noto Sans"/>
        </a:defRPr>
      </a:lvl4pPr>
      <a:lvl5pPr marL="2286000" lvl="4"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5pPr>
      <a:lvl6pPr marL="2743200" lvl="5"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6pPr>
      <a:lvl7pPr marL="3200400" lvl="6"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7pPr>
      <a:lvl8pPr marL="3657600" lvl="7"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8pPr>
      <a:lvl9pPr marL="4114800" lvl="8"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chemeClr val="dk1"/>
        </a:buClr>
        <a:buFont typeface="Noto Sans CJK JP"/>
        <a:defRPr sz="1400" b="0" i="0" u="none" strike="noStrike" cap="none" lang="ja-JP">
          <a:solidFill>
            <a:schemeClr val="dk1"/>
          </a:solidFill>
          <a:latin typeface="Noto Sans"/>
          <a:ea typeface="Noto Sans CJK JP"/>
          <a:cs typeface="Noto Sans"/>
          <a:sym typeface="Arial"/>
        </a:defRPr>
      </a:lvl1pPr>
      <a:lvl2pPr marR="0" lvl="1" algn="l" rtl="0">
        <a:lnSpc>
          <a:spcPct val="100000"/>
        </a:lnSpc>
        <a:spcBef>
          <a:spcPts val="0"/>
        </a:spcBef>
        <a:spcAft>
          <a:spcPts val="0"/>
        </a:spcAft>
        <a:buClr>
          <a:schemeClr val="dk1"/>
        </a:buClr>
        <a:buFont typeface="Noto Sans CJK JP"/>
        <a:defRPr sz="1400" b="0" i="0" u="none" strike="noStrike" cap="none" lang="ja-JP">
          <a:solidFill>
            <a:schemeClr val="dk1"/>
          </a:solidFill>
          <a:latin typeface="Noto Sans"/>
          <a:ea typeface="Noto Sans CJK JP"/>
          <a:cs typeface="Noto Sans"/>
          <a:sym typeface="Arial"/>
        </a:defRPr>
      </a:lvl2pPr>
      <a:lvl3pPr marR="0" lvl="2" algn="l" rtl="0">
        <a:lnSpc>
          <a:spcPct val="100000"/>
        </a:lnSpc>
        <a:spcBef>
          <a:spcPts val="0"/>
        </a:spcBef>
        <a:spcAft>
          <a:spcPts val="0"/>
        </a:spcAft>
        <a:buClr>
          <a:schemeClr val="dk1"/>
        </a:buClr>
        <a:buFont typeface="Noto Sans CJK JP"/>
        <a:defRPr sz="1400" b="0" i="0" u="none" strike="noStrike" cap="none" lang="ja-JP">
          <a:solidFill>
            <a:schemeClr val="dk1"/>
          </a:solidFill>
          <a:latin typeface="Noto Sans"/>
          <a:ea typeface="Noto Sans CJK JP"/>
          <a:cs typeface="Noto Sans"/>
          <a:sym typeface="Arial"/>
        </a:defRPr>
      </a:lvl3pPr>
      <a:lvl4pPr marR="0" lvl="3" algn="l" rtl="0">
        <a:lnSpc>
          <a:spcPct val="100000"/>
        </a:lnSpc>
        <a:spcBef>
          <a:spcPts val="0"/>
        </a:spcBef>
        <a:spcAft>
          <a:spcPts val="0"/>
        </a:spcAft>
        <a:buClr>
          <a:schemeClr val="dk1"/>
        </a:buClr>
        <a:buFont typeface="Noto Sans CJK JP"/>
        <a:defRPr sz="1400" b="0" i="0" u="none" strike="noStrike" cap="none" lang="ja-JP">
          <a:solidFill>
            <a:schemeClr val="dk1"/>
          </a:solidFill>
          <a:latin typeface="Noto Sans"/>
          <a:ea typeface="Noto Sans CJK JP"/>
          <a:cs typeface="Noto Sans"/>
          <a:sym typeface="Arial"/>
        </a:defRPr>
      </a:lvl4pPr>
      <a:lvl5pPr marR="0" lvl="4" algn="l" rtl="0">
        <a:lnSpc>
          <a:spcPct val="100000"/>
        </a:lnSpc>
        <a:spcBef>
          <a:spcPts val="0"/>
        </a:spcBef>
        <a:spcAft>
          <a:spcPts val="0"/>
        </a:spcAft>
        <a:buClr>
          <a:schemeClr val="dk1"/>
        </a:buClr>
        <a:buFont typeface="Noto Sans CJK JP"/>
        <a:defRPr sz="1400" b="0" i="0" u="none" strike="noStrike" cap="none" lang="ja-JP">
          <a:solidFill>
            <a:schemeClr val="dk1"/>
          </a:solidFill>
          <a:latin typeface="Noto Sans"/>
          <a:ea typeface="Noto Sans CJK JP"/>
          <a:cs typeface="Noto Sans"/>
          <a:sym typeface="Arial"/>
        </a:defRPr>
      </a:lvl5pPr>
      <a:lvl6pPr marR="0" lvl="5" algn="l" rtl="0">
        <a:lnSpc>
          <a:spcPct val="100000"/>
        </a:lnSpc>
        <a:spcBef>
          <a:spcPts val="0"/>
        </a:spcBef>
        <a:spcAft>
          <a:spcPts val="0"/>
        </a:spcAft>
        <a:buClr>
          <a:schemeClr val="dk1"/>
        </a:buClr>
        <a:buFont typeface="Noto Sans CJK JP"/>
        <a:defRPr sz="1400" b="0" i="0" u="none" strike="noStrike" cap="none" lang="ja-JP">
          <a:solidFill>
            <a:schemeClr val="dk1"/>
          </a:solidFill>
          <a:latin typeface="Noto Sans"/>
          <a:ea typeface="Noto Sans CJK JP"/>
          <a:cs typeface="Noto Sans"/>
          <a:sym typeface="Arial"/>
        </a:defRPr>
      </a:lvl6pPr>
      <a:lvl7pPr marR="0" lvl="6" algn="l" rtl="0">
        <a:lnSpc>
          <a:spcPct val="100000"/>
        </a:lnSpc>
        <a:spcBef>
          <a:spcPts val="0"/>
        </a:spcBef>
        <a:spcAft>
          <a:spcPts val="0"/>
        </a:spcAft>
        <a:buClr>
          <a:schemeClr val="dk1"/>
        </a:buClr>
        <a:buFont typeface="Noto Sans CJK JP"/>
        <a:defRPr sz="1400" b="0" i="0" u="none" strike="noStrike" cap="none" lang="ja-JP">
          <a:solidFill>
            <a:schemeClr val="dk1"/>
          </a:solidFill>
          <a:latin typeface="Noto Sans"/>
          <a:ea typeface="Noto Sans CJK JP"/>
          <a:cs typeface="Noto Sans"/>
          <a:sym typeface="Arial"/>
        </a:defRPr>
      </a:lvl7pPr>
      <a:lvl8pPr marR="0" lvl="7" algn="l" rtl="0">
        <a:lnSpc>
          <a:spcPct val="100000"/>
        </a:lnSpc>
        <a:spcBef>
          <a:spcPts val="0"/>
        </a:spcBef>
        <a:spcAft>
          <a:spcPts val="0"/>
        </a:spcAft>
        <a:buClr>
          <a:schemeClr val="dk1"/>
        </a:buClr>
        <a:buFont typeface="Noto Sans CJK JP"/>
        <a:defRPr sz="1400" b="0" i="0" u="none" strike="noStrike" cap="none" lang="ja-JP">
          <a:solidFill>
            <a:schemeClr val="dk1"/>
          </a:solidFill>
          <a:latin typeface="Noto Sans"/>
          <a:ea typeface="Noto Sans CJK JP"/>
          <a:cs typeface="Noto Sans"/>
          <a:sym typeface="Arial"/>
        </a:defRPr>
      </a:lvl8pPr>
      <a:lvl9pPr marR="0" lvl="8" algn="l" rtl="0">
        <a:lnSpc>
          <a:spcPct val="100000"/>
        </a:lnSpc>
        <a:spcBef>
          <a:spcPts val="0"/>
        </a:spcBef>
        <a:spcAft>
          <a:spcPts val="0"/>
        </a:spcAft>
        <a:buClr>
          <a:schemeClr val="dk1"/>
        </a:buClr>
        <a:buFont typeface="Noto Sans CJK JP"/>
        <a:defRPr sz="1400" b="0" i="0" u="none" strike="noStrike" cap="none" lang="ja-JP">
          <a:solidFill>
            <a:schemeClr val="dk1"/>
          </a:solidFill>
          <a:latin typeface="Noto Sans"/>
          <a:ea typeface="Noto Sans CJK JP"/>
          <a:cs typeface="Noto Sans"/>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image" Target="../media/image1.png"/><Relationship Id="rId3" Type="http://schemas.openxmlformats.org/officeDocument/2006/relationships/hyperlink" Target="https://github.com/laude-institute/terminal-bench-2" TargetMode="Externa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hyperlink" Target="https://arxiv.org/abs/2601.11868" TargetMode="Externa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hyperlink" Target="https://arxiv.org/abs/2601.11868" TargetMode="Externa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arxiv.org/abs/2601.11868" TargetMode="Externa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github.com/laude-institute/terminal-bench-2/tree/69671fbaac6d67a7ef0dfec016cc38a64ef7a77c/cancel-async-tasks"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github.com/laude-institute/terminal-bench-2/tree/69671fbaac6d67a7ef0dfec016cc38a64ef7a77c/cancel-async-tasks" TargetMode="Externa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github.com/laude-institute/terminal-bench-2/tree/69671fbaac6d67a7ef0dfec016cc38a64ef7a77c/db-wal-recovery"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github.com/laude-institute/terminal-bench-2/tree/69671fbaac6d67a7ef0dfec016cc38a64ef7a77c/db-wal-recovery" TargetMode="Externa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github.com/laude-institute/terminal-bench-2/tree/69671fbaac6d67a7ef0dfec016cc38a64ef7a77c/cobol-modernization" TargetMode="Externa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github.com/laude-institute/terminal-bench-2/tree/69671fbaac6d67a7ef0dfec016cc38a64ef7a77c/cobol-modernization" TargetMode="Externa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hyperlink" Target="https://arxiv.org/abs/2601.11868" TargetMode="Externa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arxiv.org/abs/2601.11868" TargetMode="Externa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arxiv.org/abs/2601.11868" TargetMode="Externa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deepmind.google/models/gemini/pro/" TargetMode="Externa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arxiv.org/abs/2601.11868" TargetMode="Externa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hyperlink" Target="https://github.com/laude-institute/terminal-bench-2" TargetMode="External"/><Relationship Id="rId3" Type="http://schemas.openxmlformats.org/officeDocument/2006/relationships/hyperlink" Target="https://www.anthropic.com/news/claude-opus-5-5" TargetMode="Externa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hyperlink" Target="https://openai.com/index/gpt-6-astra/" TargetMode="External"/><Relationship Id="rId3" Type="http://schemas.openxmlformats.org/officeDocument/2006/relationships/hyperlink" Target="https://www.anthropic.com/news/claude-opus-5-5" TargetMode="Externa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www.anthropic.com/news/claude-opus-5-5" TargetMode="Externa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hyperlink" Target="https://arxiv.org/abs/2601.11868" TargetMode="Externa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hyperlink" Target="https://arxiv.org/abs/2601.11868" TargetMode="Externa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hyperlink" Target="https://arxiv.org/abs/2310.06770" TargetMode="External"/><Relationship Id="rId3" Type="http://schemas.openxmlformats.org/officeDocument/2006/relationships/hyperlink" Target="https://arxiv.org/abs/2307.13854" TargetMode="Externa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arxiv.org/abs/2601.11868" TargetMode="Externa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arxiv.org/abs/2601.11868" TargetMode="Externa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arxiv.org/abs/2601.11868" TargetMode="Externa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chart" Target="../charts/chart1.xml"/><Relationship Id="rId3" Type="http://schemas.openxmlformats.org/officeDocument/2006/relationships/hyperlink" Target="https://github.com/laude-institute/terminal-bench-2/tree/69671fbaac6d67a7ef0dfec016cc38a64ef7a77c" TargetMode="Externa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github.com/laude-institute/terminal-bench-2/tree/69671fbaac6d67a7ef0dfec016cc38a64ef7a77c" TargetMode="Externa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github.com/laude-institute/terminal-bench-2/tree/69671fbaac6d67a7ef0dfec016cc38a64ef7a77c" TargetMode="Externa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github.com/laude-institute/terminal-bench-2/tree/69671fbaac6d67a7ef0dfec016cc38a64ef7a77c" TargetMode="Externa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arxiv.org/abs/2601.11868" TargetMode="Externa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github.com/laude-institute/harbor" TargetMode="Externa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github.com/laude-institute/terminal-bench-2/tree/69671fbaac6d67a7ef0dfec016cc38a64ef7a77c" TargetMode="Externa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github.com/laude-institute/terminal-bench-2" TargetMode="Externa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github.com/laude-institute/harbor" TargetMode="Externa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hyperlink" Target="https://github.com/laude-institute/harbor" TargetMode="Externa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hyperlink" Target="https://arxiv.org/abs/2601.11868" TargetMode="Externa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github.com/laude-institute/terminal-bench-2/tree/69671fbaac6d67a7ef0dfec016cc38a64ef7a77c/query-optimize" TargetMode="Externa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github.com/laude-institute/terminal-bench-2/tree/69671fbaac6d67a7ef0dfec016cc38a64ef7a77c/build-cython-ext" TargetMode="Externa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github.com/laude-institute/terminal-bench-2/tree/69671fbaac6d67a7ef0dfec016cc38a64ef7a77c/configure-git-webserver" TargetMode="Externa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github.com/laude-institute/terminal-bench-2/tree/69671fbaac6d67a7ef0dfec016cc38a64ef7a77c/log-summary-date-ranges" TargetMode="Externa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github.com/laude-institute/terminal-bench-2/tree/69671fbaac6d67a7ef0dfec016cc38a64ef7a77c/multi-source-data-merger" TargetMode="Externa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github.com/laude-institute/terminal-bench-2/tree/69671fbaac6d67a7ef0dfec016cc38a64ef7a77c/overfull-hbox" TargetMode="Externa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github.com/laude-institute/terminal-bench-2/tree/69671fbaac6d67a7ef0dfec016cc38a64ef7a77c/raman-fitting" TargetMode="Externa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github.com/laude-institute/terminal-bench-2/tree/69671fbaac6d67a7ef0dfec016cc38a64ef7a77c/reshard-c4-data" TargetMode="Externa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github.com/laude-institute/terminal-bench-2/tree/69671fbaac6d67a7ef0dfec016cc38a64ef7a77c/prove-plus-comm" TargetMode="Externa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github.com/laude-institute/terminal-bench-2/tree/69671fbaac6d67a7ef0dfec016cc38a64ef7a77c/video-processing" TargetMode="Externa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github.com/laude-institute/terminal-bench-2/tree/69671fbaac6d67a7ef0dfec016cc38a64ef7a77c" TargetMode="Externa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github.com/laude-institute/terminal-bench-2/tree/69671fbaac6d67a7ef0dfec016cc38a64ef7a77c" TargetMode="Externa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github.com/laude-institute/terminal-bench-2/tree/69671fbaac6d67a7ef0dfec016cc38a64ef7a77c" TargetMode="Externa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github.com/laude-institute/terminal-bench-2/tree/69671fbaac6d67a7ef0dfec016cc38a64ef7a77c" TargetMode="Externa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github.com/laude-institute/harbor/blob/main/registry.json" TargetMode="Externa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github.com/laude-institute/terminal-bench-2/tree/69671fbaac6d67a7ef0dfec016cc38a64ef7a77c/db-wal-recovery" TargetMode="Externa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github.com/laude-institute/terminal-bench-2/tree/69671fbaac6d67a7ef0dfec016cc38a64ef7a77c" TargetMode="Externa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github.com/laude-institute/terminal-bench-2/blob/69671fbaac6d67a7ef0dfec016cc38a64ef7a77c/LICENSE" TargetMode="Externa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hyperlink" Target="https://arxiv.org/abs/2601.11868" TargetMode="Externa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arxiv.org/abs/2601.11868" TargetMode="Externa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github.com/laude-institute/terminal-bench-2" TargetMode="External"/><Relationship Id="rId3" Type="http://schemas.openxmlformats.org/officeDocument/2006/relationships/hyperlink" Target="https://github.com/laude-institute/harbor" TargetMode="Externa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arxiv.org/abs/2310.06770" TargetMode="Externa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arxiv.org/abs/2307.13854" TargetMode="Externa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deepmind.google/models/gemini/pro/" TargetMode="External"/><Relationship Id="rId3" Type="http://schemas.openxmlformats.org/officeDocument/2006/relationships/hyperlink" Target="https://www.anthropic.com/news/claude-opus-5-5" TargetMode="Externa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openai.com/index/gpt-6-astra/" TargetMode="Externa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ctrTitle"/>
          </p:nvPr>
        </p:nvSpPr>
        <p:spPr>
          <a:xfrm>
            <a:off x="457200" y="1866729"/>
            <a:ext cx="8229600" cy="914400"/>
          </a:xfrm>
        </p:spPr>
        <p:txBody>
          <a:bodyPr wrap="square" lIns="0" rIns="0" tIns="0" bIns="0">
            <a:noAutofit/>
          </a:bodyPr>
          <a:lstStyle/>
          <a:p>
            <a:pPr algn="ctr">
              <a:lnSpc>
                <a:spcPct val="110000"/>
              </a:lnSpc>
              <a:buNone/>
              <a:defRPr sz="5200" b="0">
                <a:solidFill>
                  <a:srgbClr val="303437"/>
                </a:solidFill>
                <a:latin typeface="Noto Sans"/>
              </a:defRPr>
            </a:pPr>
            <a:r>
              <a:rPr sz="5200" b="1" lang="ja-JP" altLang="en-US">
                <a:solidFill>
                  <a:srgbClr val="303437"/>
                </a:solidFill>
                <a:latin typeface="Noto Sans"/>
                <a:ea typeface="Noto Sans CJK JP"/>
                <a:cs typeface="Noto Sans"/>
              </a:rPr>
              <a:t>Terminal-Bench</a:t>
            </a:r>
          </a:p>
        </p:txBody>
      </p:sp>
      <p:sp>
        <p:nvSpPr>
          <p:cNvPr id="3" name="Subtitle 2"/>
          <p:cNvSpPr>
            <a:spLocks noGrp="1"/>
          </p:cNvSpPr>
          <p:nvPr>
            <p:ph type="subTitle" idx="1"/>
          </p:nvPr>
        </p:nvSpPr>
        <p:spPr>
          <a:xfrm>
            <a:off x="457200" y="2918289"/>
            <a:ext cx="8229600" cy="914400"/>
          </a:xfrm>
        </p:spPr>
        <p:txBody>
          <a:bodyPr wrap="square" lIns="0" rIns="0" tIns="0" bIns="0">
            <a:noAutofit/>
          </a:bodyPr>
          <a:lstStyle/>
          <a:p>
            <a:pPr algn="ctr">
              <a:lnSpc>
                <a:spcPct val="110000"/>
              </a:lnSpc>
              <a:buNone/>
              <a:defRPr sz="2300" b="0">
                <a:solidFill>
                  <a:srgbClr val="303437"/>
                </a:solidFill>
                <a:latin typeface="Noto Sans"/>
              </a:defRPr>
            </a:pPr>
            <a:r>
              <a:rPr sz="2300" b="0" lang="ja-JP" altLang="en-US">
                <a:solidFill>
                  <a:srgbClr val="303437"/>
                </a:solidFill>
                <a:latin typeface="Noto Sans"/>
                <a:ea typeface="Noto Sans CJK JP"/>
                <a:cs typeface="Noto Sans"/>
              </a:rPr>
              <a:t>端末での作業遂行を評価するデータセット
公開版2.0の課題・採点・モデル評価</a:t>
            </a:r>
          </a:p>
        </p:txBody>
      </p:sp>
      <p:sp>
        <p:nvSpPr>
          <p:cNvPr id="5" name="Text Placeholder 4"/>
          <p:cNvSpPr>
            <a:spLocks noGrp="1"/>
          </p:cNvSpPr>
          <p:nvPr>
            <p:ph type="body" idx="11"/>
          </p:nvPr>
        </p:nvSpPr>
        <p:spPr>
          <a:xfrm>
            <a:off x="5486400" y="4416552"/>
            <a:ext cx="3108960" cy="402336"/>
          </a:xfrm>
        </p:spPr>
        <p:txBody>
          <a:bodyPr wrap="square" lIns="0" rIns="0" tIns="0" bIns="0">
            <a:noAutofit/>
          </a:bodyPr>
          <a:lstStyle/>
          <a:p>
            <a:pPr algn="r">
              <a:lnSpc>
                <a:spcPct val="110000"/>
              </a:lnSpc>
              <a:buNone/>
              <a:defRPr sz="2000" b="0">
                <a:solidFill>
                  <a:srgbClr val="303437"/>
                </a:solidFill>
                <a:latin typeface="Noto Sans"/>
              </a:defRPr>
            </a:pPr>
            <a:r>
              <a:rPr sz="2000" b="0" lang="ja-JP" altLang="en-US">
                <a:solidFill>
                  <a:srgbClr val="303437"/>
                </a:solidFill>
                <a:latin typeface="Noto Sans"/>
                <a:ea typeface="Noto Sans CJK JP"/>
                <a:cs typeface="Noto Sans"/>
              </a:rPr>
              <a:t>sasakiy84</a:t>
            </a:r>
          </a:p>
        </p:txBody>
      </p:sp>
      <p:sp>
        <p:nvSpPr>
          <p:cNvPr id="6" name="Text Placeholder 5"/>
          <p:cNvSpPr>
            <a:spLocks noGrp="1"/>
          </p:cNvSpPr>
          <p:nvPr>
            <p:ph type="body" idx="12"/>
          </p:nvPr>
        </p:nvSpPr>
        <p:spPr>
          <a:xfrm>
            <a:off x="457200" y="274320"/>
            <a:ext cx="8138160" cy="228600"/>
          </a:xfrm>
        </p:spPr>
        <p:txBody>
          <a:bodyPr wrap="square" lIns="0" rIns="0" tIns="0" bIns="0">
            <a:noAutofit/>
          </a:bodyPr>
          <a:lstStyle/>
          <a:p>
            <a:pPr algn="l">
              <a:lnSpc>
                <a:spcPct val="110000"/>
              </a:lnSpc>
              <a:buNone/>
              <a:defRPr sz="1400" b="0">
                <a:solidFill>
                  <a:srgbClr val="303437"/>
                </a:solidFill>
                <a:latin typeface="Noto Sans"/>
              </a:defRPr>
            </a:pPr>
            <a:r>
              <a:rPr sz="1400" b="0" lang="ja-JP" altLang="en-US">
                <a:solidFill>
                  <a:srgbClr val="626669"/>
                </a:solidFill>
                <a:latin typeface="Noto Sans"/>
                <a:ea typeface="Noto Sans CJK JP"/>
                <a:cs typeface="Noto Sans"/>
              </a:rPr>
              <a:t>datasets in 10 minutes (2026-10-16)</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786384"/>
            <a:ext cx="8046720" cy="502920"/>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公式リポジトリ</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FFF"/>
                </a:solidFill>
                <a:latin typeface="Noto Sans"/>
                <a:ea typeface="Noto Sans CJK JP"/>
                <a:cs typeface="Noto Sans"/>
              </a:rPr>
              <a:t>Terminal-Benchの公式リポジトリ</a:t>
            </a:r>
          </a:p>
        </p:txBody>
      </p:sp>
      <p:pic>
        <p:nvPicPr>
          <p:cNvPr id="4" name="Picture 3" descr="official-repo.png"/>
          <p:cNvPicPr>
            <a:picLocks noChangeAspect="1"/>
          </p:cNvPicPr>
          <p:nvPr/>
        </p:nvPicPr>
        <p:blipFill>
          <a:blip r:embed="rId2"/>
          <a:stretch>
            <a:fillRect/>
          </a:stretch>
        </p:blipFill>
        <p:spPr>
          <a:xfrm>
            <a:off x="2257552" y="1481328"/>
            <a:ext cx="4628896" cy="3063240"/>
          </a:xfrm>
          <a:prstGeom prst="rect">
            <a:avLst/>
          </a:prstGeom>
        </p:spPr>
      </p:pic>
      <p:sp>
        <p:nvSpPr>
          <p:cNvPr id="5" name="TextBox 4"/>
          <p:cNvSpPr txBox="1"/>
          <p:nvPr/>
        </p:nvSpPr>
        <p:spPr>
          <a:xfrm>
            <a:off x="502920" y="4690872"/>
            <a:ext cx="8183879" cy="393192"/>
          </a:xfrm>
          <a:prstGeom prst="rect">
            <a:avLst/>
          </a:prstGeom>
          <a:noFill/>
        </p:spPr>
        <p:txBody>
          <a:bodyPr wrap="square" lIns="0" rIns="0" tIns="0" bIns="0">
            <a:noAutofit/>
          </a:bodyPr>
          <a:lstStyle/>
          <a:p>
            <a:pPr algn="l">
              <a:lnSpc>
                <a:spcPct val="112000"/>
              </a:lnSpc>
              <a:spcBef>
                <a:spcPts val="0"/>
              </a:spcBef>
              <a:spcAft>
                <a:spcPts val="0"/>
              </a:spcAft>
              <a:buNone/>
              <a:defRPr sz="810" b="0">
                <a:solidFill>
                  <a:srgbClr val="303437"/>
                </a:solidFill>
                <a:latin typeface="Noto Sans"/>
              </a:defRPr>
            </a:pPr>
            <a:r>
              <a:rPr sz="810" b="0" lang="ja-JP" altLang="en-US">
                <a:solidFill>
                  <a:srgbClr val="626669"/>
                </a:solidFill>
                <a:latin typeface="Noto Sans"/>
                <a:ea typeface="Noto Sans CJK JP"/>
                <a:cs typeface="Noto Sans"/>
              </a:rPr>
              <a:t/>
            </a:r>
            <a:r>
              <a:rPr sz="810" b="0" lang="ja-JP" altLang="en-US">
                <a:solidFill>
                  <a:srgbClr val="626669"/>
                </a:solidFill>
                <a:latin typeface="Noto Sans"/>
                <a:ea typeface="Noto Sans CJK JP"/>
                <a:cs typeface="Noto Sans"/>
              </a:rPr>
              <a:t>The Terminal-Bench Team (2025). Terminal-Bench 2.0. 公式GitHub。2026-10-16参照。</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3"/>
              </a:rPr>
              <a:t>https://github.com/laude-institute/terminal-bench-2</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786384"/>
            <a:ext cx="8046720" cy="502920"/>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
            </a:r>
          </a:p>
        </p:txBody>
      </p:sp>
      <p:sp>
        <p:nvSpPr>
          <p:cNvPr id="3" name="Text Placeholder 2"/>
          <p:cNvSpPr>
            <a:spLocks noGrp="1"/>
          </p:cNvSpPr>
          <p:nvPr>
            <p:ph type="body" idx="1"/>
          </p:nvPr>
        </p:nvSpPr>
        <p:spPr>
          <a:xfrm>
            <a:off x="777240" y="1226434"/>
            <a:ext cx="7772400" cy="2846324"/>
          </a:xfrm>
        </p:spPr>
        <p:txBody>
          <a:bodyPr lIns="0" rIns="0" tIns="0" bIns="0" wrap="square">
            <a:noAutofit/>
          </a:bodyPr>
          <a:lstStyle/>
          <a:p>
            <a:pPr marL="457200" indent="-457200">
              <a:lnSpc>
                <a:spcPct val="128000"/>
              </a:lnSpc>
              <a:spcAft>
                <a:spcPts val="1700"/>
              </a:spcAft>
              <a:buSzPct val="100000"/>
              <a:buFont typeface="Noto Sans CJK JP"/>
              <a:buAutoNum type="arabicPeriod" startAt="1"/>
              <a:defRPr sz="3100" b="1">
                <a:solidFill>
                  <a:srgbClr val="303437"/>
                </a:solidFill>
                <a:latin typeface="Noto Sans"/>
              </a:defRPr>
            </a:pPr>
            <a:r>
              <a:rPr sz="3100" b="1" lang="ja-JP" altLang="en-US">
                <a:solidFill>
                  <a:srgbClr val="303437"/>
                </a:solidFill>
                <a:latin typeface="Noto Sans"/>
                <a:ea typeface="Noto Sans CJK JP"/>
                <a:cs typeface="Noto Sans"/>
              </a:rPr>
              <a:t>端末で行う作業と実例</a:t>
            </a:r>
          </a:p>
          <a:p>
            <a:pPr marL="457200" indent="-457200">
              <a:lnSpc>
                <a:spcPct val="128000"/>
              </a:lnSpc>
              <a:spcAft>
                <a:spcPts val="1700"/>
              </a:spcAft>
              <a:buSzPct val="100000"/>
              <a:buFont typeface="Noto Sans CJK JP"/>
              <a:buAutoNum type="arabicPeriod" startAt="2"/>
              <a:defRPr sz="3100" b="1">
                <a:solidFill>
                  <a:srgbClr val="303437"/>
                </a:solidFill>
                <a:latin typeface="Noto Sans"/>
              </a:defRPr>
            </a:pPr>
            <a:r>
              <a:rPr sz="3100" b="1" lang="ja-JP" altLang="en-US">
                <a:solidFill>
                  <a:srgbClr val="303437"/>
                </a:solidFill>
                <a:latin typeface="Noto Sans"/>
                <a:ea typeface="Noto Sans CJK JP"/>
                <a:cs typeface="Noto Sans"/>
              </a:rPr>
              <a:t>採点方法とモデルの成績</a:t>
            </a:r>
          </a:p>
          <a:p>
            <a:pPr marL="457200" indent="-457200">
              <a:lnSpc>
                <a:spcPct val="128000"/>
              </a:lnSpc>
              <a:spcAft>
                <a:spcPts val="1700"/>
              </a:spcAft>
              <a:buSzPct val="100000"/>
              <a:buFont typeface="Noto Sans CJK JP"/>
              <a:buAutoNum type="arabicPeriod" startAt="3"/>
              <a:defRPr sz="3100" b="1">
                <a:solidFill>
                  <a:srgbClr val="303437"/>
                </a:solidFill>
                <a:latin typeface="Noto Sans"/>
              </a:defRPr>
            </a:pPr>
            <a:r>
              <a:rPr sz="3100" b="1" lang="ja-JP" altLang="en-US">
                <a:solidFill>
                  <a:srgbClr val="303437"/>
                </a:solidFill>
                <a:latin typeface="Noto Sans"/>
                <a:ea typeface="Noto Sans CJK JP"/>
                <a:cs typeface="Noto Sans"/>
              </a:rPr>
              <a:t>課題の作成方法と全体像</a:t>
            </a:r>
          </a:p>
          <a:p>
            <a:pPr marL="457200" indent="-457200">
              <a:lnSpc>
                <a:spcPct val="128000"/>
              </a:lnSpc>
              <a:spcAft>
                <a:spcPts val="1700"/>
              </a:spcAft>
              <a:buSzPct val="100000"/>
              <a:buFont typeface="Noto Sans CJK JP"/>
              <a:buAutoNum type="arabicPeriod" startAt="4"/>
              <a:defRPr sz="3100" b="1">
                <a:solidFill>
                  <a:srgbClr val="303437"/>
                </a:solidFill>
                <a:latin typeface="Noto Sans"/>
              </a:defRPr>
            </a:pPr>
            <a:r>
              <a:rPr sz="3100" b="1" lang="ja-JP" altLang="en-US">
                <a:solidFill>
                  <a:srgbClr val="303437"/>
                </a:solidFill>
                <a:latin typeface="Noto Sans"/>
                <a:ea typeface="Noto Sans CJK JP"/>
                <a:cs typeface="Noto Sans"/>
              </a:rPr>
              <a:t>利用の変遷と実行方法</a:t>
            </a:r>
          </a:p>
        </p:txBody>
      </p:sp>
      <p:sp>
        <p:nvSpPr>
          <p:cNvPr id="4" name="Title 3"/>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FFF"/>
                </a:solidFill>
                <a:latin typeface="Noto Sans"/>
                <a:ea typeface="Noto Sans CJK JP"/>
                <a:cs typeface="Noto Sans"/>
              </a:rPr>
              <a:t>目次</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2388106"/>
            <a:ext cx="8046720" cy="822960"/>
          </a:xfrm>
        </p:spPr>
        <p:txBody>
          <a:bodyPr wrap="square" lIns="0" rIns="0" tIns="0" bIns="0" anchor="ctr">
            <a:noAutofit/>
          </a:bodyPr>
          <a:lstStyle/>
          <a:p>
            <a:pPr algn="ctr">
              <a:lnSpc>
                <a:spcPct val="110000"/>
              </a:lnSpc>
              <a:buNone/>
              <a:defRPr sz="3600" b="0">
                <a:solidFill>
                  <a:srgbClr val="303437"/>
                </a:solidFill>
                <a:latin typeface="Noto Sans"/>
              </a:defRPr>
            </a:pPr>
            <a:r>
              <a:rPr sz="3600" b="1" lang="ja-JP" altLang="en-US">
                <a:solidFill>
                  <a:srgbClr val="303437"/>
                </a:solidFill>
                <a:latin typeface="Noto Sans"/>
                <a:ea typeface="Noto Sans CJK JP"/>
                <a:cs typeface="Noto Sans"/>
              </a:rPr>
              <a:t>1. 端末で行う作業と実例</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FFF"/>
                </a:solidFill>
                <a:latin typeface="Noto Sans"/>
                <a:ea typeface="Noto Sans CJK JP"/>
                <a:cs typeface="Noto Sans"/>
              </a:rPr>
              <a:t>1. 端末で行う作業と実例</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786384"/>
            <a:ext cx="8046720" cy="502920"/>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Terminal-Benchは端末での作業完了を測る</a:t>
            </a:r>
          </a:p>
        </p:txBody>
      </p:sp>
      <p:sp>
        <p:nvSpPr>
          <p:cNvPr id="3" name="Text Placeholder 2"/>
          <p:cNvSpPr>
            <a:spLocks noGrp="1"/>
          </p:cNvSpPr>
          <p:nvPr>
            <p:ph type="body" idx="1"/>
          </p:nvPr>
        </p:nvSpPr>
        <p:spPr>
          <a:xfrm>
            <a:off x="594360" y="1463040"/>
            <a:ext cx="7955279" cy="3090672"/>
          </a:xfrm>
        </p:spPr>
        <p:txBody>
          <a:bodyPr wrap="square" tIns="91440" bIns="91440">
            <a:noAutofit/>
          </a:bodyPr>
          <a:lstStyle/>
          <a:p>
            <a:pPr marL="457200" indent="-355600">
              <a:lnSpc>
                <a:spcPts val="2760"/>
              </a:lnSpc>
              <a:spcAft>
                <a:spcPts val="800"/>
              </a:spcAft>
              <a:buSzPct val="57826"/>
              <a:buFont typeface="Noto Sans CJK JP"/>
              <a:buChar char="●"/>
              <a:defRPr sz="2300" b="0">
                <a:solidFill>
                  <a:srgbClr val="303437"/>
                </a:solidFill>
                <a:latin typeface="Noto Sans"/>
              </a:defRPr>
            </a:pPr>
            <a:r>
              <a:rPr sz="2300" b="0" lang="ja-JP" altLang="en-US">
                <a:solidFill>
                  <a:srgbClr val="303437"/>
                </a:solidFill>
                <a:latin typeface="Noto Sans"/>
                <a:ea typeface="Noto Sans CJK JP"/>
                <a:cs typeface="Noto Sans"/>
              </a:rPr>
              <a:t>端末は、文字でコマンドを入力し、ファイル編集やプログラム実行を行う操作環境である。</a:t>
            </a:r>
          </a:p>
          <a:p>
            <a:pPr marL="457200" indent="-355600">
              <a:lnSpc>
                <a:spcPts val="2760"/>
              </a:lnSpc>
              <a:spcAft>
                <a:spcPts val="800"/>
              </a:spcAft>
              <a:buSzPct val="57826"/>
              <a:buFont typeface="Noto Sans CJK JP"/>
              <a:buChar char="●"/>
              <a:defRPr sz="2300" b="0">
                <a:solidFill>
                  <a:srgbClr val="303437"/>
                </a:solidFill>
                <a:latin typeface="Noto Sans"/>
              </a:defRPr>
            </a:pPr>
            <a:r>
              <a:rPr sz="2300" b="0" lang="ja-JP" altLang="en-US">
                <a:solidFill>
                  <a:srgbClr val="303437"/>
                </a:solidFill>
                <a:latin typeface="Noto Sans"/>
                <a:ea typeface="Noto Sans CJK JP"/>
                <a:cs typeface="Noto Sans"/>
              </a:rPr>
              <a:t>Terminal-Benchでは、指示と作業環境を受け取ったAIエージェントが、端末を使って課題を完了させる。</a:t>
            </a:r>
          </a:p>
          <a:p>
            <a:pPr marL="457200" indent="-355600">
              <a:lnSpc>
                <a:spcPts val="2760"/>
              </a:lnSpc>
              <a:spcAft>
                <a:spcPts val="0"/>
              </a:spcAft>
              <a:buSzPct val="57826"/>
              <a:buFont typeface="Noto Sans CJK JP"/>
              <a:buChar char="●"/>
              <a:defRPr sz="2300" b="0">
                <a:solidFill>
                  <a:srgbClr val="303437"/>
                </a:solidFill>
                <a:latin typeface="Noto Sans"/>
              </a:defRPr>
            </a:pPr>
            <a:r>
              <a:rPr sz="2300" b="0" lang="ja-JP" altLang="en-US">
                <a:solidFill>
                  <a:srgbClr val="303437"/>
                </a:solidFill>
                <a:latin typeface="Noto Sans"/>
                <a:ea typeface="Noto Sans CJK JP"/>
                <a:cs typeface="Noto Sans"/>
              </a:rPr>
              <a:t>公開版2.0は89課題。ソフトウェア開発、システム管理、科学計算、データ処理などを扱う。</a:t>
            </a:r>
          </a:p>
        </p:txBody>
      </p:sp>
      <p:sp>
        <p:nvSpPr>
          <p:cNvPr id="4" name="Title 3"/>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FFF"/>
                </a:solidFill>
                <a:latin typeface="Noto Sans"/>
                <a:ea typeface="Noto Sans CJK JP"/>
                <a:cs typeface="Noto Sans"/>
              </a:rPr>
              <a:t>1. 端末で行う作業と実例</a:t>
            </a:r>
          </a:p>
        </p:txBody>
      </p:sp>
      <p:sp>
        <p:nvSpPr>
          <p:cNvPr id="5" name="TextBox 4"/>
          <p:cNvSpPr txBox="1"/>
          <p:nvPr/>
        </p:nvSpPr>
        <p:spPr>
          <a:xfrm>
            <a:off x="502920" y="4690872"/>
            <a:ext cx="8183879" cy="393192"/>
          </a:xfrm>
          <a:prstGeom prst="rect">
            <a:avLst/>
          </a:prstGeom>
          <a:noFill/>
        </p:spPr>
        <p:txBody>
          <a:bodyPr wrap="square" lIns="0" rIns="0" tIns="0" bIns="0">
            <a:noAutofit/>
          </a:bodyPr>
          <a:lstStyle/>
          <a:p>
            <a:pPr algn="l">
              <a:lnSpc>
                <a:spcPct val="112000"/>
              </a:lnSpc>
              <a:spcBef>
                <a:spcPts val="0"/>
              </a:spcBef>
              <a:spcAft>
                <a:spcPts val="0"/>
              </a:spcAft>
              <a:buNone/>
              <a:defRPr sz="810" b="0">
                <a:solidFill>
                  <a:srgbClr val="303437"/>
                </a:solidFill>
                <a:latin typeface="Noto Sans"/>
              </a:defRPr>
            </a:pPr>
            <a:r>
              <a:rPr sz="810" b="0" lang="ja-JP" altLang="en-US">
                <a:solidFill>
                  <a:srgbClr val="626669"/>
                </a:solidFill>
                <a:latin typeface="Noto Sans"/>
                <a:ea typeface="Noto Sans CJK JP"/>
                <a:cs typeface="Noto Sans"/>
              </a:rPr>
              <a:t/>
            </a:r>
            <a:r>
              <a:rPr sz="810" b="0" lang="ja-JP" altLang="en-US">
                <a:solidFill>
                  <a:srgbClr val="626669"/>
                </a:solidFill>
                <a:latin typeface="Noto Sans"/>
                <a:ea typeface="Noto Sans CJK JP"/>
                <a:cs typeface="Noto Sans"/>
              </a:rPr>
              <a:t>Merrill et al. (2026). Terminal-Bench: Benchmarking Agents on Hard, Realistic Tasks in Command Line Interfaces. arXiv:2601.11868.</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https://arxiv.org/abs/2601.11868</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786384"/>
            <a:ext cx="8046720" cy="502920"/>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エージェントは操作と結果の確認を繰り返す</a:t>
            </a:r>
          </a:p>
        </p:txBody>
      </p:sp>
      <p:sp>
        <p:nvSpPr>
          <p:cNvPr id="3" name="Text Placeholder 2"/>
          <p:cNvSpPr>
            <a:spLocks noGrp="1"/>
          </p:cNvSpPr>
          <p:nvPr>
            <p:ph type="body" idx="1"/>
          </p:nvPr>
        </p:nvSpPr>
        <p:spPr>
          <a:xfrm>
            <a:off x="594360" y="1463040"/>
            <a:ext cx="7955279" cy="3090672"/>
          </a:xfrm>
        </p:spPr>
        <p:txBody>
          <a:bodyPr wrap="square" tIns="91440" bIns="91440">
            <a:noAutofit/>
          </a:bodyPr>
          <a:lstStyle/>
          <a:p>
            <a:pPr marL="457200" indent="-355600">
              <a:lnSpc>
                <a:spcPts val="2700"/>
              </a:lnSpc>
              <a:spcAft>
                <a:spcPts val="800"/>
              </a:spcAft>
              <a:buSzPct val="59111"/>
              <a:buFont typeface="Noto Sans CJK JP"/>
              <a:buChar char="●"/>
              <a:defRPr sz="2250" b="0">
                <a:solidFill>
                  <a:srgbClr val="303437"/>
                </a:solidFill>
                <a:latin typeface="Noto Sans"/>
              </a:defRPr>
            </a:pPr>
            <a:r>
              <a:rPr sz="2250" b="0" lang="ja-JP" altLang="en-US">
                <a:solidFill>
                  <a:srgbClr val="303437"/>
                </a:solidFill>
                <a:latin typeface="Noto Sans"/>
                <a:ea typeface="Noto Sans CJK JP"/>
                <a:cs typeface="Noto Sans"/>
              </a:rPr>
              <a:t>言語モデルが、次に行うコマンドや編集内容を決める。エージェントは、その判断を道具の呼出しへつなぐ仕組みである。</a:t>
            </a:r>
          </a:p>
          <a:p>
            <a:pPr marL="457200" indent="-355600">
              <a:lnSpc>
                <a:spcPts val="2700"/>
              </a:lnSpc>
              <a:spcAft>
                <a:spcPts val="800"/>
              </a:spcAft>
              <a:buSzPct val="59111"/>
              <a:buFont typeface="Noto Sans CJK JP"/>
              <a:buChar char="●"/>
              <a:defRPr sz="2250" b="0">
                <a:solidFill>
                  <a:srgbClr val="303437"/>
                </a:solidFill>
                <a:latin typeface="Noto Sans"/>
              </a:defRPr>
            </a:pPr>
            <a:r>
              <a:rPr sz="2250" b="0" lang="ja-JP" altLang="en-US">
                <a:solidFill>
                  <a:srgbClr val="303437"/>
                </a:solidFill>
                <a:latin typeface="Noto Sans"/>
                <a:ea typeface="Noto Sans CJK JP"/>
                <a:cs typeface="Noto Sans"/>
              </a:rPr>
              <a:t>ファイルやエラーを読み、修正し、プログラムを動かし、結果を確認する。この往復を時間制限まで行える。</a:t>
            </a:r>
          </a:p>
          <a:p>
            <a:pPr marL="457200" indent="-355600">
              <a:lnSpc>
                <a:spcPts val="2700"/>
              </a:lnSpc>
              <a:spcAft>
                <a:spcPts val="0"/>
              </a:spcAft>
              <a:buSzPct val="59111"/>
              <a:buFont typeface="Noto Sans CJK JP"/>
              <a:buChar char="●"/>
              <a:defRPr sz="2250" b="0">
                <a:solidFill>
                  <a:srgbClr val="303437"/>
                </a:solidFill>
                <a:latin typeface="Noto Sans"/>
              </a:defRPr>
            </a:pPr>
            <a:r>
              <a:rPr sz="2250" b="0" lang="ja-JP" altLang="en-US">
                <a:solidFill>
                  <a:srgbClr val="303437"/>
                </a:solidFill>
                <a:latin typeface="Noto Sans"/>
                <a:ea typeface="Noto Sans CJK JP"/>
                <a:cs typeface="Noto Sans"/>
              </a:rPr>
              <a:t>採点は、作業後のファイル・プログラムの動作・設定などをテストして行う。</a:t>
            </a:r>
          </a:p>
        </p:txBody>
      </p:sp>
      <p:sp>
        <p:nvSpPr>
          <p:cNvPr id="4" name="Title 3"/>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FFF"/>
                </a:solidFill>
                <a:latin typeface="Noto Sans"/>
                <a:ea typeface="Noto Sans CJK JP"/>
                <a:cs typeface="Noto Sans"/>
              </a:rPr>
              <a:t>1. 端末で行う作業と実例</a:t>
            </a:r>
          </a:p>
        </p:txBody>
      </p:sp>
      <p:sp>
        <p:nvSpPr>
          <p:cNvPr id="5" name="TextBox 4"/>
          <p:cNvSpPr txBox="1"/>
          <p:nvPr/>
        </p:nvSpPr>
        <p:spPr>
          <a:xfrm>
            <a:off x="502920" y="4690872"/>
            <a:ext cx="8183879" cy="393192"/>
          </a:xfrm>
          <a:prstGeom prst="rect">
            <a:avLst/>
          </a:prstGeom>
          <a:noFill/>
        </p:spPr>
        <p:txBody>
          <a:bodyPr wrap="square" lIns="0" rIns="0" tIns="0" bIns="0">
            <a:noAutofit/>
          </a:bodyPr>
          <a:lstStyle/>
          <a:p>
            <a:pPr algn="l">
              <a:lnSpc>
                <a:spcPct val="112000"/>
              </a:lnSpc>
              <a:spcBef>
                <a:spcPts val="0"/>
              </a:spcBef>
              <a:spcAft>
                <a:spcPts val="0"/>
              </a:spcAft>
              <a:buNone/>
              <a:defRPr sz="810" b="0">
                <a:solidFill>
                  <a:srgbClr val="303437"/>
                </a:solidFill>
                <a:latin typeface="Noto Sans"/>
              </a:defRPr>
            </a:pPr>
            <a:r>
              <a:rPr sz="810" b="0" lang="ja-JP" altLang="en-US">
                <a:solidFill>
                  <a:srgbClr val="626669"/>
                </a:solidFill>
                <a:latin typeface="Noto Sans"/>
                <a:ea typeface="Noto Sans CJK JP"/>
                <a:cs typeface="Noto Sans"/>
              </a:rPr>
              <a:t/>
            </a:r>
            <a:r>
              <a:rPr sz="810" b="0" lang="ja-JP" altLang="en-US">
                <a:solidFill>
                  <a:srgbClr val="626669"/>
                </a:solidFill>
                <a:latin typeface="Noto Sans"/>
                <a:ea typeface="Noto Sans CJK JP"/>
                <a:cs typeface="Noto Sans"/>
              </a:rPr>
              <a:t>Merrill et al. (2026). Terminal-Bench: Benchmarking Agents on Hard, Realistic Tasks in Command Line Interfaces. arXiv:2601.11868.</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https://arxiv.org/abs/2601.11868</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786384"/>
            <a:ext cx="8046720" cy="502920"/>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1課題に指示・環境・合格条件がそろう</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FFF"/>
                </a:solidFill>
                <a:latin typeface="Noto Sans"/>
                <a:ea typeface="Noto Sans CJK JP"/>
                <a:cs typeface="Noto Sans"/>
              </a:rPr>
              <a:t>1. 端末で行う作業と実例</a:t>
            </a:r>
          </a:p>
        </p:txBody>
      </p:sp>
      <p:graphicFrame>
        <p:nvGraphicFramePr>
          <p:cNvPr id="4" name="Table 3"/>
          <p:cNvGraphicFramePr>
            <a:graphicFrameLocks noGrp="1"/>
          </p:cNvGraphicFramePr>
          <p:nvPr/>
        </p:nvGraphicFramePr>
        <p:xfrm>
          <a:off x="548640" y="1508760"/>
          <a:ext cx="8046720" cy="2615184"/>
        </p:xfrm>
        <a:graphic>
          <a:graphicData uri="http://schemas.openxmlformats.org/drawingml/2006/table">
            <a:tbl>
              <a:tblPr firstRow="0" bandRow="0"/>
              <a:tblGrid>
                <a:gridCol w="2103120"/>
                <a:gridCol w="5943600"/>
              </a:tblGrid>
              <a:tr h="457200">
                <a:tc>
                  <a:txBody>
                    <a:bodyPr wrap="square">
                      <a:noAutofit/>
                    </a:bodyPr>
                    <a:lstStyle/>
                    <a:p>
                      <a:pPr algn="l">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構成</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c>
                  <a:txBody>
                    <a:bodyPr wrap="square">
                      <a:noAutofit/>
                    </a:bodyPr>
                    <a:lstStyle/>
                    <a:p>
                      <a:pPr algn="l">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与えられるもの・役割</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r>
              <a:tr h="539496">
                <a:tc>
                  <a:txBody>
                    <a:bodyPr wrap="square">
                      <a:noAutofit/>
                    </a:bodyPr>
                    <a:lstStyle/>
                    <a:p>
                      <a:pPr algn="l">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指示文</a:t>
                      </a:r>
                    </a:p>
                  </a:txBody>
                  <a:tcPr marL="63500" marR="63500" marT="38100" marB="38100" anchor="ctr">
                    <a:lnL w="7620">
                      <a:noFill/>
                    </a:lnL>
                    <a:lnR w="7620">
                      <a:noFill/>
                    </a:lnR>
                    <a:lnT w="7620">
                      <a:solidFill>
                        <a:srgbClr val="626669"/>
                      </a:solidFill>
                      <a:prstDash val="solid"/>
                    </a:lnT>
                    <a:lnB w="7620">
                      <a:noFill/>
                    </a:lnB>
                    <a:solidFill>
                      <a:srgbClr val="FFFEF8"/>
                    </a:solidFill>
                  </a:tcPr>
                </a:tc>
                <a:tc>
                  <a:txBody>
                    <a:bodyPr wrap="square">
                      <a:noAutofit/>
                    </a:bodyPr>
                    <a:lstStyle/>
                    <a:p>
                      <a:pPr algn="l">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実現する動作、出力先、守る条件</a:t>
                      </a:r>
                    </a:p>
                  </a:txBody>
                  <a:tcPr marL="63500" marR="63500" marT="38100" marB="38100" anchor="ctr">
                    <a:lnL w="7620">
                      <a:noFill/>
                    </a:lnL>
                    <a:lnR w="7620">
                      <a:noFill/>
                    </a:lnR>
                    <a:lnT w="7620">
                      <a:solidFill>
                        <a:srgbClr val="626669"/>
                      </a:solidFill>
                      <a:prstDash val="solid"/>
                    </a:lnT>
                    <a:lnB w="7620">
                      <a:noFill/>
                    </a:lnB>
                    <a:solidFill>
                      <a:srgbClr val="FFFEF8"/>
                    </a:solidFill>
                  </a:tcPr>
                </a:tc>
              </a:tr>
              <a:tr h="539496">
                <a:tc>
                  <a:txBody>
                    <a:bodyPr wrap="square">
                      <a:noAutofit/>
                    </a:bodyPr>
                    <a:lstStyle/>
                    <a:p>
                      <a:pPr algn="l">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実行環境</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l">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Linux環境と、入力ファイル・依存ソフト</a:t>
                      </a:r>
                    </a:p>
                  </a:txBody>
                  <a:tcPr marL="63500" marR="63500" marT="38100" marB="38100" anchor="ctr">
                    <a:lnL w="7620">
                      <a:noFill/>
                    </a:lnL>
                    <a:lnR w="7620">
                      <a:noFill/>
                    </a:lnR>
                    <a:lnT w="7620">
                      <a:noFill/>
                    </a:lnT>
                    <a:lnB w="7620">
                      <a:noFill/>
                    </a:lnB>
                    <a:solidFill>
                      <a:srgbClr val="FFFEF8"/>
                    </a:solidFill>
                  </a:tcPr>
                </a:tc>
              </a:tr>
              <a:tr h="539496">
                <a:tc>
                  <a:txBody>
                    <a:bodyPr wrap="square">
                      <a:noAutofit/>
                    </a:bodyPr>
                    <a:lstStyle/>
                    <a:p>
                      <a:pPr algn="l">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採点テスト</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l">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完成後の状態を検査するプログラム</a:t>
                      </a:r>
                    </a:p>
                  </a:txBody>
                  <a:tcPr marL="63500" marR="63500" marT="38100" marB="38100" anchor="ctr">
                    <a:lnL w="7620">
                      <a:noFill/>
                    </a:lnL>
                    <a:lnR w="7620">
                      <a:noFill/>
                    </a:lnR>
                    <a:lnT w="7620">
                      <a:noFill/>
                    </a:lnT>
                    <a:lnB w="7620">
                      <a:noFill/>
                    </a:lnB>
                    <a:solidFill>
                      <a:srgbClr val="FFFEF8"/>
                    </a:solidFill>
                  </a:tcPr>
                </a:tc>
              </a:tr>
              <a:tr h="539496">
                <a:tc>
                  <a:txBody>
                    <a:bodyPr wrap="square">
                      <a:noAutofit/>
                    </a:bodyPr>
                    <a:lstStyle/>
                    <a:p>
                      <a:pPr algn="l">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参照解法</a:t>
                      </a:r>
                    </a:p>
                  </a:txBody>
                  <a:tcPr marL="63500" marR="63500" marT="38100" marB="38100" anchor="ctr">
                    <a:lnL w="7620">
                      <a:noFill/>
                    </a:lnL>
                    <a:lnR w="7620">
                      <a:noFill/>
                    </a:lnR>
                    <a:lnT w="7620">
                      <a:noFill/>
                    </a:lnT>
                    <a:lnB w="15240">
                      <a:solidFill>
                        <a:srgbClr val="626669"/>
                      </a:solidFill>
                      <a:prstDash val="solid"/>
                    </a:lnB>
                    <a:solidFill>
                      <a:srgbClr val="FFFEF8"/>
                    </a:solidFill>
                  </a:tcPr>
                </a:tc>
                <a:tc>
                  <a:txBody>
                    <a:bodyPr wrap="square">
                      <a:noAutofit/>
                    </a:bodyPr>
                    <a:lstStyle/>
                    <a:p>
                      <a:pPr algn="l">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人が作成した、合格する解法</a:t>
                      </a:r>
                    </a:p>
                  </a:txBody>
                  <a:tcPr marL="63500" marR="63500" marT="38100" marB="38100" anchor="ctr">
                    <a:lnL w="7620">
                      <a:noFill/>
                    </a:lnL>
                    <a:lnR w="7620">
                      <a:noFill/>
                    </a:lnR>
                    <a:lnT w="7620">
                      <a:noFill/>
                    </a:lnT>
                    <a:lnB w="15240">
                      <a:solidFill>
                        <a:srgbClr val="626669"/>
                      </a:solidFill>
                      <a:prstDash val="solid"/>
                    </a:lnB>
                    <a:solidFill>
                      <a:srgbClr val="FFFEF8"/>
                    </a:solidFill>
                  </a:tcPr>
                </a:tc>
              </a:tr>
            </a:tbl>
          </a:graphicData>
        </a:graphic>
      </p:graphicFrame>
      <p:sp>
        <p:nvSpPr>
          <p:cNvPr id="5" name="TextBox 4"/>
          <p:cNvSpPr txBox="1"/>
          <p:nvPr/>
        </p:nvSpPr>
        <p:spPr>
          <a:xfrm>
            <a:off x="502920" y="4690872"/>
            <a:ext cx="8183879" cy="393192"/>
          </a:xfrm>
          <a:prstGeom prst="rect">
            <a:avLst/>
          </a:prstGeom>
          <a:noFill/>
        </p:spPr>
        <p:txBody>
          <a:bodyPr wrap="square" lIns="0" rIns="0" tIns="0" bIns="0">
            <a:noAutofit/>
          </a:bodyPr>
          <a:lstStyle/>
          <a:p>
            <a:pPr algn="l">
              <a:lnSpc>
                <a:spcPct val="112000"/>
              </a:lnSpc>
              <a:spcBef>
                <a:spcPts val="0"/>
              </a:spcBef>
              <a:spcAft>
                <a:spcPts val="0"/>
              </a:spcAft>
              <a:buNone/>
              <a:defRPr sz="810" b="0">
                <a:solidFill>
                  <a:srgbClr val="303437"/>
                </a:solidFill>
                <a:latin typeface="Noto Sans"/>
              </a:defRPr>
            </a:pPr>
            <a:r>
              <a:rPr sz="810" b="0" lang="ja-JP" altLang="en-US">
                <a:solidFill>
                  <a:srgbClr val="626669"/>
                </a:solidFill>
                <a:latin typeface="Noto Sans"/>
                <a:ea typeface="Noto Sans CJK JP"/>
                <a:cs typeface="Noto Sans"/>
              </a:rPr>
              <a:t/>
            </a:r>
            <a:r>
              <a:rPr sz="810" b="0" lang="ja-JP" altLang="en-US">
                <a:solidFill>
                  <a:srgbClr val="626669"/>
                </a:solidFill>
                <a:latin typeface="Noto Sans"/>
                <a:ea typeface="Noto Sans CJK JP"/>
                <a:cs typeface="Noto Sans"/>
              </a:rPr>
              <a:t>Merrill et al. (2026). Terminal-Bench: Benchmarking Agents on Hard, Realistic Tasks in Command Line Interfaces. arXiv:2601.11868.</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https://arxiv.org/abs/2601.11868</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786384"/>
            <a:ext cx="8046720" cy="502920"/>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実例1：中断時にも後始末する非同期処理</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FFF"/>
                </a:solidFill>
                <a:latin typeface="Noto Sans"/>
                <a:ea typeface="Noto Sans CJK JP"/>
                <a:cs typeface="Noto Sans"/>
              </a:rPr>
              <a:t>1. 端末で行う作業と実例</a:t>
            </a:r>
          </a:p>
        </p:txBody>
      </p:sp>
      <p:sp>
        <p:nvSpPr>
          <p:cNvPr id="4" name="TextBox 3"/>
          <p:cNvSpPr txBox="1"/>
          <p:nvPr/>
        </p:nvSpPr>
        <p:spPr>
          <a:xfrm>
            <a:off x="548640" y="1380744"/>
            <a:ext cx="8046720" cy="228600"/>
          </a:xfrm>
          <a:prstGeom prst="rect">
            <a:avLst/>
          </a:prstGeom>
          <a:noFill/>
        </p:spPr>
        <p:txBody>
          <a:bodyPr wrap="square" lIns="0" rIns="0" tIns="0" bIns="0">
            <a:noAutofit/>
          </a:bodyPr>
          <a:lstStyle/>
          <a:p>
            <a:pPr algn="l">
              <a:lnSpc>
                <a:spcPct val="117000"/>
              </a:lnSpc>
              <a:spcBef>
                <a:spcPts val="0"/>
              </a:spcBef>
              <a:spcAft>
                <a:spcPts val="0"/>
              </a:spcAft>
              <a:buNone/>
              <a:defRPr sz="1300" b="0">
                <a:solidFill>
                  <a:srgbClr val="303437"/>
                </a:solidFill>
                <a:latin typeface="Noto Sans"/>
              </a:defRPr>
            </a:pPr>
            <a:r>
              <a:rPr sz="1300" b="0" lang="ja-JP" altLang="en-US">
                <a:solidFill>
                  <a:srgbClr val="626669"/>
                </a:solidFill>
                <a:latin typeface="Noto Sans"/>
                <a:ea typeface="Noto Sans CJK JP"/>
                <a:cs typeface="Noto Sans"/>
              </a:rPr>
              <a:t>指示文の原文（英語・抜粋）</a:t>
            </a:r>
          </a:p>
        </p:txBody>
      </p:sp>
      <p:sp>
        <p:nvSpPr>
          <p:cNvPr id="5" name="Rectangle 4"/>
          <p:cNvSpPr/>
          <p:nvPr/>
        </p:nvSpPr>
        <p:spPr>
          <a:xfrm>
            <a:off x="548640" y="1700784"/>
            <a:ext cx="8046720" cy="1404264"/>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t" wrap="square" lIns="177800" rIns="177800" tIns="105410" bIns="101600">
            <a:noAutofit/>
          </a:bodyPr>
          <a:lstStyle/>
          <a:p>
            <a:pPr algn="l">
              <a:lnSpc>
                <a:spcPts val="2312"/>
              </a:lnSpc>
              <a:spcBef>
                <a:spcPts val="0"/>
              </a:spcBef>
              <a:spcAft>
                <a:spcPts val="0"/>
              </a:spcAft>
              <a:buNone/>
              <a:defRPr sz="1850" b="0">
                <a:solidFill>
                  <a:srgbClr val="303437"/>
                </a:solidFill>
                <a:latin typeface="Noto Sans"/>
              </a:defRPr>
            </a:pPr>
            <a:r>
              <a:rPr sz="1850" b="0" lang="ja-JP" altLang="en-US">
                <a:solidFill>
                  <a:srgbClr val="303437"/>
                </a:solidFill>
                <a:latin typeface="Noto Sans"/>
                <a:ea typeface="Noto Sans CJK JP"/>
                <a:cs typeface="Noto Sans"/>
              </a:rPr>
              <a:t>Create a Python function called `async run_tasks(tasks: list[Callable[[], Awaitable[None]]], max_concurrent: int) -&gt; None`</a:t>
            </a:r>
          </a:p>
          <a:p>
            <a:pPr algn="l">
              <a:lnSpc>
                <a:spcPts val="2312"/>
              </a:lnSpc>
              <a:spcBef>
                <a:spcPts val="0"/>
              </a:spcBef>
              <a:spcAft>
                <a:spcPts val="0"/>
              </a:spcAft>
              <a:buNone/>
              <a:defRPr sz="1850" b="0">
                <a:solidFill>
                  <a:srgbClr val="303437"/>
                </a:solidFill>
                <a:latin typeface="Noto Sans"/>
              </a:defRPr>
            </a:pPr>
            <a:r>
              <a:rPr sz="1850" b="0" lang="ja-JP" altLang="en-US">
                <a:solidFill>
                  <a:srgbClr val="303437"/>
                </a:solidFill>
                <a:latin typeface="Noto Sans"/>
                <a:ea typeface="Noto Sans CJK JP"/>
                <a:cs typeface="Noto Sans"/>
              </a:rPr>
              <a:t>Sometimes I cancel runs via keyboard interrupt but I want the tasks' cleanup code to still run.</a:t>
            </a:r>
          </a:p>
        </p:txBody>
      </p:sp>
      <p:sp>
        <p:nvSpPr>
          <p:cNvPr id="6" name="TextBox 5"/>
          <p:cNvSpPr txBox="1"/>
          <p:nvPr/>
        </p:nvSpPr>
        <p:spPr>
          <a:xfrm>
            <a:off x="594360" y="3324504"/>
            <a:ext cx="7955279" cy="1247495"/>
          </a:xfrm>
          <a:prstGeom prst="rect">
            <a:avLst/>
          </a:prstGeom>
          <a:noFill/>
        </p:spPr>
        <p:txBody>
          <a:bodyPr wrap="square" lIns="0" rIns="0" tIns="0" bIns="0">
            <a:noAutofit/>
          </a:bodyPr>
          <a:lstStyle/>
          <a:p>
            <a:pPr algn="l">
              <a:lnSpc>
                <a:spcPct val="118000"/>
              </a:lnSpc>
              <a:spcBef>
                <a:spcPts val="0"/>
              </a:spcBef>
              <a:spcAft>
                <a:spcPts val="0"/>
              </a:spcAft>
              <a:buNone/>
              <a:defRPr sz="1950" b="0">
                <a:solidFill>
                  <a:srgbClr val="303437"/>
                </a:solidFill>
                <a:latin typeface="Noto Sans"/>
              </a:defRPr>
            </a:pPr>
            <a:r>
              <a:rPr sz="1950" b="0" lang="ja-JP" altLang="en-US">
                <a:solidFill>
                  <a:srgbClr val="303437"/>
                </a:solidFill>
                <a:latin typeface="Noto Sans"/>
                <a:ea typeface="Noto Sans CJK JP"/>
                <a:cs typeface="Noto Sans"/>
              </a:rPr>
              <a:t>要旨：Pythonで複数の非同期ジョブを並行実行する関数を作る。同時実行数を制限し、キーボードで中断されても各ジョブの後始末を行う。</a:t>
            </a:r>
          </a:p>
        </p:txBody>
      </p:sp>
      <p:sp>
        <p:nvSpPr>
          <p:cNvPr id="7" name="TextBox 6"/>
          <p:cNvSpPr txBox="1"/>
          <p:nvPr/>
        </p:nvSpPr>
        <p:spPr>
          <a:xfrm>
            <a:off x="502920" y="4690872"/>
            <a:ext cx="8183879" cy="393192"/>
          </a:xfrm>
          <a:prstGeom prst="rect">
            <a:avLst/>
          </a:prstGeom>
          <a:noFill/>
        </p:spPr>
        <p:txBody>
          <a:bodyPr wrap="square" lIns="0" rIns="0" tIns="0" bIns="0">
            <a:noAutofit/>
          </a:bodyPr>
          <a:lstStyle/>
          <a:p>
            <a:pPr algn="l">
              <a:lnSpc>
                <a:spcPct val="112000"/>
              </a:lnSpc>
              <a:spcBef>
                <a:spcPts val="0"/>
              </a:spcBef>
              <a:spcAft>
                <a:spcPts val="0"/>
              </a:spcAft>
              <a:buNone/>
              <a:defRPr sz="810" b="0">
                <a:solidFill>
                  <a:srgbClr val="303437"/>
                </a:solidFill>
                <a:latin typeface="Noto Sans"/>
              </a:defRPr>
            </a:pPr>
            <a:r>
              <a:rPr sz="810" b="0" lang="ja-JP" altLang="en-US">
                <a:solidFill>
                  <a:srgbClr val="626669"/>
                </a:solidFill>
                <a:latin typeface="Noto Sans"/>
                <a:ea typeface="Noto Sans CJK JP"/>
                <a:cs typeface="Noto Sans"/>
              </a:rPr>
              <a:t/>
            </a:r>
            <a:r>
              <a:rPr sz="810" b="0" lang="ja-JP" altLang="en-US">
                <a:solidFill>
                  <a:srgbClr val="626669"/>
                </a:solidFill>
                <a:latin typeface="Noto Sans"/>
                <a:ea typeface="Noto Sans CJK JP"/>
                <a:cs typeface="Noto Sans"/>
              </a:rPr>
              <a:t>The Terminal-Bench Team (2025). Terminal-Bench 2.0: cancel-async-tasks. 改訂69671fb。</a:t>
            </a:r>
          </a:p>
          <a:p>
            <a:pPr>
              <a:lnSpc>
                <a:spcPct val="112000"/>
              </a:lnSpc>
              <a:buNone/>
              <a:defRPr sz="810" b="0">
                <a:solidFill>
                  <a:srgbClr val="303437"/>
                </a:solidFill>
                <a:latin typeface="Noto Sans"/>
              </a:defRPr>
            </a:pPr>
            <a:r>
              <a:rPr sz="810" b="0" lang="ja-JP" altLang="en-US">
                <a:solidFill>
                  <a:srgbClr val="626669"/>
                </a:solidFill>
                <a:latin typeface="Noto Sans"/>
                <a:ea typeface="Noto Sans CJK JP"/>
                <a:cs typeface="Noto Sans"/>
                <a:hlinkClick r:id="rId2"/>
              </a:rPr>
              <a:t>https://github.com/laude-institute/terminal-bench-2/tree/69671fbaac6d67a7ef0dfec016cc38a64ef7a77c/cancel-async-tasks</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786384"/>
            <a:ext cx="8046720" cy="502920"/>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実例1は並行実行と中断処理を検査する</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FFF"/>
                </a:solidFill>
                <a:latin typeface="Noto Sans"/>
                <a:ea typeface="Noto Sans CJK JP"/>
                <a:cs typeface="Noto Sans"/>
              </a:rPr>
              <a:t>1. 端末で行う作業と実例</a:t>
            </a:r>
          </a:p>
        </p:txBody>
      </p:sp>
      <p:graphicFrame>
        <p:nvGraphicFramePr>
          <p:cNvPr id="4" name="Table 3"/>
          <p:cNvGraphicFramePr>
            <a:graphicFrameLocks noGrp="1"/>
          </p:cNvGraphicFramePr>
          <p:nvPr/>
        </p:nvGraphicFramePr>
        <p:xfrm>
          <a:off x="548640" y="1508760"/>
          <a:ext cx="8046720" cy="2724912"/>
        </p:xfrm>
        <a:graphic>
          <a:graphicData uri="http://schemas.openxmlformats.org/drawingml/2006/table">
            <a:tbl>
              <a:tblPr firstRow="0" bandRow="0"/>
              <a:tblGrid>
                <a:gridCol w="2011680"/>
                <a:gridCol w="6035040"/>
              </a:tblGrid>
              <a:tr h="457200">
                <a:tc>
                  <a:txBody>
                    <a:bodyPr wrap="square">
                      <a:noAutofit/>
                    </a:bodyPr>
                    <a:lstStyle/>
                    <a:p>
                      <a:pPr algn="l">
                        <a:lnSpc>
                          <a:spcPts val="2185"/>
                        </a:lnSpc>
                        <a:buNone/>
                        <a:defRPr sz="1900" b="0">
                          <a:solidFill>
                            <a:srgbClr val="303437"/>
                          </a:solidFill>
                          <a:latin typeface="Noto Sans"/>
                        </a:defRPr>
                      </a:pPr>
                      <a:r>
                        <a:rPr sz="1900" b="0" lang="ja-JP" altLang="en-US">
                          <a:solidFill>
                            <a:srgbClr val="303437"/>
                          </a:solidFill>
                          <a:latin typeface="Noto Sans"/>
                          <a:ea typeface="Noto Sans CJK JP"/>
                          <a:cs typeface="Noto Sans"/>
                        </a:rPr>
                        <a:t>判定項目</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c>
                  <a:txBody>
                    <a:bodyPr wrap="square">
                      <a:noAutofit/>
                    </a:bodyPr>
                    <a:lstStyle/>
                    <a:p>
                      <a:pPr algn="l">
                        <a:lnSpc>
                          <a:spcPts val="2185"/>
                        </a:lnSpc>
                        <a:buNone/>
                        <a:defRPr sz="1900" b="0">
                          <a:solidFill>
                            <a:srgbClr val="303437"/>
                          </a:solidFill>
                          <a:latin typeface="Noto Sans"/>
                        </a:defRPr>
                      </a:pPr>
                      <a:r>
                        <a:rPr sz="1900" b="0" lang="ja-JP" altLang="en-US">
                          <a:solidFill>
                            <a:srgbClr val="303437"/>
                          </a:solidFill>
                          <a:latin typeface="Noto Sans"/>
                          <a:ea typeface="Noto Sans CJK JP"/>
                          <a:cs typeface="Noto Sans"/>
                        </a:rPr>
                        <a:t>公開テストの内容</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r>
              <a:tr h="566928">
                <a:tc>
                  <a:txBody>
                    <a:bodyPr wrap="square">
                      <a:noAutofit/>
                    </a:bodyPr>
                    <a:lstStyle/>
                    <a:p>
                      <a:pPr algn="l">
                        <a:lnSpc>
                          <a:spcPts val="2185"/>
                        </a:lnSpc>
                        <a:buNone/>
                        <a:defRPr sz="1900" b="0">
                          <a:solidFill>
                            <a:srgbClr val="303437"/>
                          </a:solidFill>
                          <a:latin typeface="Noto Sans"/>
                        </a:defRPr>
                      </a:pPr>
                      <a:r>
                        <a:rPr sz="1900" b="0" lang="ja-JP" altLang="en-US">
                          <a:solidFill>
                            <a:srgbClr val="303437"/>
                          </a:solidFill>
                          <a:latin typeface="Noto Sans"/>
                          <a:ea typeface="Noto Sans CJK JP"/>
                          <a:cs typeface="Noto Sans"/>
                        </a:rPr>
                        <a:t>成果物</a:t>
                      </a:r>
                    </a:p>
                  </a:txBody>
                  <a:tcPr marL="63500" marR="63500" marT="38100" marB="38100" anchor="ctr">
                    <a:lnL w="7620">
                      <a:noFill/>
                    </a:lnL>
                    <a:lnR w="7620">
                      <a:noFill/>
                    </a:lnR>
                    <a:lnT w="7620">
                      <a:solidFill>
                        <a:srgbClr val="626669"/>
                      </a:solidFill>
                      <a:prstDash val="solid"/>
                    </a:lnT>
                    <a:lnB w="7620">
                      <a:noFill/>
                    </a:lnB>
                    <a:solidFill>
                      <a:srgbClr val="FFFEF8"/>
                    </a:solidFill>
                  </a:tcPr>
                </a:tc>
                <a:tc>
                  <a:txBody>
                    <a:bodyPr wrap="square">
                      <a:noAutofit/>
                    </a:bodyPr>
                    <a:lstStyle/>
                    <a:p>
                      <a:pPr algn="l">
                        <a:lnSpc>
                          <a:spcPts val="2185"/>
                        </a:lnSpc>
                        <a:buNone/>
                        <a:defRPr sz="1900" b="0">
                          <a:solidFill>
                            <a:srgbClr val="303437"/>
                          </a:solidFill>
                          <a:latin typeface="Noto Sans"/>
                        </a:defRPr>
                      </a:pPr>
                      <a:r>
                        <a:rPr sz="1900" b="0" lang="ja-JP" altLang="en-US">
                          <a:solidFill>
                            <a:srgbClr val="303437"/>
                          </a:solidFill>
                          <a:latin typeface="Noto Sans"/>
                          <a:ea typeface="Noto Sans CJK JP"/>
                          <a:cs typeface="Noto Sans"/>
                        </a:rPr>
                        <a:t>/app/run.pyからrun_tasksを読み込める</a:t>
                      </a:r>
                    </a:p>
                  </a:txBody>
                  <a:tcPr marL="63500" marR="63500" marT="38100" marB="38100" anchor="ctr">
                    <a:lnL w="7620">
                      <a:noFill/>
                    </a:lnL>
                    <a:lnR w="7620">
                      <a:noFill/>
                    </a:lnR>
                    <a:lnT w="7620">
                      <a:solidFill>
                        <a:srgbClr val="626669"/>
                      </a:solidFill>
                      <a:prstDash val="solid"/>
                    </a:lnT>
                    <a:lnB w="7620">
                      <a:noFill/>
                    </a:lnB>
                    <a:solidFill>
                      <a:srgbClr val="FFFEF8"/>
                    </a:solidFill>
                  </a:tcPr>
                </a:tc>
              </a:tr>
              <a:tr h="566928">
                <a:tc>
                  <a:txBody>
                    <a:bodyPr wrap="square">
                      <a:noAutofit/>
                    </a:bodyPr>
                    <a:lstStyle/>
                    <a:p>
                      <a:pPr algn="l">
                        <a:lnSpc>
                          <a:spcPts val="2185"/>
                        </a:lnSpc>
                        <a:buNone/>
                        <a:defRPr sz="1900" b="0">
                          <a:solidFill>
                            <a:srgbClr val="303437"/>
                          </a:solidFill>
                          <a:latin typeface="Noto Sans"/>
                        </a:defRPr>
                      </a:pPr>
                      <a:r>
                        <a:rPr sz="1900" b="0" lang="ja-JP" altLang="en-US">
                          <a:solidFill>
                            <a:srgbClr val="303437"/>
                          </a:solidFill>
                          <a:latin typeface="Noto Sans"/>
                          <a:ea typeface="Noto Sans CJK JP"/>
                          <a:cs typeface="Noto Sans"/>
                        </a:rPr>
                        <a:t>並行実行</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l">
                        <a:lnSpc>
                          <a:spcPts val="2185"/>
                        </a:lnSpc>
                        <a:buNone/>
                        <a:defRPr sz="1900" b="0">
                          <a:solidFill>
                            <a:srgbClr val="303437"/>
                          </a:solidFill>
                          <a:latin typeface="Noto Sans"/>
                        </a:defRPr>
                      </a:pPr>
                      <a:r>
                        <a:rPr sz="1900" b="0" lang="ja-JP" altLang="en-US">
                          <a:solidFill>
                            <a:srgbClr val="303437"/>
                          </a:solidFill>
                          <a:latin typeface="Noto Sans"/>
                          <a:ea typeface="Noto Sans CJK JP"/>
                          <a:cs typeface="Noto Sans"/>
                        </a:rPr>
                        <a:t>3秒のジョブ2件を、上限2なら並行して完了</a:t>
                      </a:r>
                    </a:p>
                  </a:txBody>
                  <a:tcPr marL="63500" marR="63500" marT="38100" marB="38100" anchor="ctr">
                    <a:lnL w="7620">
                      <a:noFill/>
                    </a:lnL>
                    <a:lnR w="7620">
                      <a:noFill/>
                    </a:lnR>
                    <a:lnT w="7620">
                      <a:noFill/>
                    </a:lnT>
                    <a:lnB w="7620">
                      <a:noFill/>
                    </a:lnB>
                    <a:solidFill>
                      <a:srgbClr val="FFFEF8"/>
                    </a:solidFill>
                  </a:tcPr>
                </a:tc>
              </a:tr>
              <a:tr h="566928">
                <a:tc>
                  <a:txBody>
                    <a:bodyPr wrap="square">
                      <a:noAutofit/>
                    </a:bodyPr>
                    <a:lstStyle/>
                    <a:p>
                      <a:pPr algn="l">
                        <a:lnSpc>
                          <a:spcPts val="2185"/>
                        </a:lnSpc>
                        <a:buNone/>
                        <a:defRPr sz="1900" b="0">
                          <a:solidFill>
                            <a:srgbClr val="303437"/>
                          </a:solidFill>
                          <a:latin typeface="Noto Sans"/>
                        </a:defRPr>
                      </a:pPr>
                      <a:r>
                        <a:rPr sz="1900" b="0" lang="ja-JP" altLang="en-US">
                          <a:solidFill>
                            <a:srgbClr val="303437"/>
                          </a:solidFill>
                          <a:latin typeface="Noto Sans"/>
                          <a:ea typeface="Noto Sans CJK JP"/>
                          <a:cs typeface="Noto Sans"/>
                        </a:rPr>
                        <a:t>上限の順守</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l">
                        <a:lnSpc>
                          <a:spcPts val="2185"/>
                        </a:lnSpc>
                        <a:buNone/>
                        <a:defRPr sz="1900" b="0">
                          <a:solidFill>
                            <a:srgbClr val="303437"/>
                          </a:solidFill>
                          <a:latin typeface="Noto Sans"/>
                        </a:defRPr>
                      </a:pPr>
                      <a:r>
                        <a:rPr sz="1900" b="0" lang="ja-JP" altLang="en-US">
                          <a:solidFill>
                            <a:srgbClr val="303437"/>
                          </a:solidFill>
                          <a:latin typeface="Noto Sans"/>
                          <a:ea typeface="Noto Sans CJK JP"/>
                          <a:cs typeface="Noto Sans"/>
                        </a:rPr>
                        <a:t>上限1なら、2件の実行に6秒以上かかる</a:t>
                      </a:r>
                    </a:p>
                  </a:txBody>
                  <a:tcPr marL="63500" marR="63500" marT="38100" marB="38100" anchor="ctr">
                    <a:lnL w="7620">
                      <a:noFill/>
                    </a:lnL>
                    <a:lnR w="7620">
                      <a:noFill/>
                    </a:lnR>
                    <a:lnT w="7620">
                      <a:noFill/>
                    </a:lnT>
                    <a:lnB w="7620">
                      <a:noFill/>
                    </a:lnB>
                    <a:solidFill>
                      <a:srgbClr val="FFFEF8"/>
                    </a:solidFill>
                  </a:tcPr>
                </a:tc>
              </a:tr>
              <a:tr h="566928">
                <a:tc>
                  <a:txBody>
                    <a:bodyPr wrap="square">
                      <a:noAutofit/>
                    </a:bodyPr>
                    <a:lstStyle/>
                    <a:p>
                      <a:pPr algn="l">
                        <a:lnSpc>
                          <a:spcPts val="2185"/>
                        </a:lnSpc>
                        <a:buNone/>
                        <a:defRPr sz="1900" b="0">
                          <a:solidFill>
                            <a:srgbClr val="303437"/>
                          </a:solidFill>
                          <a:latin typeface="Noto Sans"/>
                        </a:defRPr>
                      </a:pPr>
                      <a:r>
                        <a:rPr sz="1900" b="0" lang="ja-JP" altLang="en-US">
                          <a:solidFill>
                            <a:srgbClr val="303437"/>
                          </a:solidFill>
                          <a:latin typeface="Noto Sans"/>
                          <a:ea typeface="Noto Sans CJK JP"/>
                          <a:cs typeface="Noto Sans"/>
                        </a:rPr>
                        <a:t>中断時の処理</a:t>
                      </a:r>
                    </a:p>
                  </a:txBody>
                  <a:tcPr marL="63500" marR="63500" marT="38100" marB="38100" anchor="ctr">
                    <a:lnL w="7620">
                      <a:noFill/>
                    </a:lnL>
                    <a:lnR w="7620">
                      <a:noFill/>
                    </a:lnR>
                    <a:lnT w="7620">
                      <a:noFill/>
                    </a:lnT>
                    <a:lnB w="15240">
                      <a:solidFill>
                        <a:srgbClr val="626669"/>
                      </a:solidFill>
                      <a:prstDash val="solid"/>
                    </a:lnB>
                    <a:solidFill>
                      <a:srgbClr val="FFFEF8"/>
                    </a:solidFill>
                  </a:tcPr>
                </a:tc>
                <a:tc>
                  <a:txBody>
                    <a:bodyPr wrap="square">
                      <a:noAutofit/>
                    </a:bodyPr>
                    <a:lstStyle/>
                    <a:p>
                      <a:pPr algn="l">
                        <a:lnSpc>
                          <a:spcPts val="2185"/>
                        </a:lnSpc>
                        <a:buNone/>
                        <a:defRPr sz="1900" b="0">
                          <a:solidFill>
                            <a:srgbClr val="303437"/>
                          </a:solidFill>
                          <a:latin typeface="Noto Sans"/>
                        </a:defRPr>
                      </a:pPr>
                      <a:r>
                        <a:rPr sz="1900" b="0" lang="ja-JP" altLang="en-US">
                          <a:solidFill>
                            <a:srgbClr val="303437"/>
                          </a:solidFill>
                          <a:latin typeface="Noto Sans"/>
                          <a:ea typeface="Noto Sans CJK JP"/>
                          <a:cs typeface="Noto Sans"/>
                        </a:rPr>
                        <a:t>SIGINTで中断し、各ジョブの後始末を確認</a:t>
                      </a:r>
                    </a:p>
                  </a:txBody>
                  <a:tcPr marL="63500" marR="63500" marT="38100" marB="38100" anchor="ctr">
                    <a:lnL w="7620">
                      <a:noFill/>
                    </a:lnL>
                    <a:lnR w="7620">
                      <a:noFill/>
                    </a:lnR>
                    <a:lnT w="7620">
                      <a:noFill/>
                    </a:lnT>
                    <a:lnB w="15240">
                      <a:solidFill>
                        <a:srgbClr val="626669"/>
                      </a:solidFill>
                      <a:prstDash val="solid"/>
                    </a:lnB>
                    <a:solidFill>
                      <a:srgbClr val="FFFEF8"/>
                    </a:solidFill>
                  </a:tcPr>
                </a:tc>
              </a:tr>
            </a:tbl>
          </a:graphicData>
        </a:graphic>
      </p:graphicFrame>
      <p:sp>
        <p:nvSpPr>
          <p:cNvPr id="5" name="TextBox 4"/>
          <p:cNvSpPr txBox="1"/>
          <p:nvPr/>
        </p:nvSpPr>
        <p:spPr>
          <a:xfrm>
            <a:off x="502920" y="4690872"/>
            <a:ext cx="8183879" cy="393192"/>
          </a:xfrm>
          <a:prstGeom prst="rect">
            <a:avLst/>
          </a:prstGeom>
          <a:noFill/>
        </p:spPr>
        <p:txBody>
          <a:bodyPr wrap="square" lIns="0" rIns="0" tIns="0" bIns="0">
            <a:noAutofit/>
          </a:bodyPr>
          <a:lstStyle/>
          <a:p>
            <a:pPr algn="l">
              <a:lnSpc>
                <a:spcPct val="112000"/>
              </a:lnSpc>
              <a:spcBef>
                <a:spcPts val="0"/>
              </a:spcBef>
              <a:spcAft>
                <a:spcPts val="0"/>
              </a:spcAft>
              <a:buNone/>
              <a:defRPr sz="810" b="0">
                <a:solidFill>
                  <a:srgbClr val="303437"/>
                </a:solidFill>
                <a:latin typeface="Noto Sans"/>
              </a:defRPr>
            </a:pPr>
            <a:r>
              <a:rPr sz="810" b="0" lang="ja-JP" altLang="en-US">
                <a:solidFill>
                  <a:srgbClr val="626669"/>
                </a:solidFill>
                <a:latin typeface="Noto Sans"/>
                <a:ea typeface="Noto Sans CJK JP"/>
                <a:cs typeface="Noto Sans"/>
              </a:rPr>
              <a:t/>
            </a:r>
            <a:r>
              <a:rPr sz="810" b="0" lang="ja-JP" altLang="en-US">
                <a:solidFill>
                  <a:srgbClr val="626669"/>
                </a:solidFill>
                <a:latin typeface="Noto Sans"/>
                <a:ea typeface="Noto Sans CJK JP"/>
                <a:cs typeface="Noto Sans"/>
              </a:rPr>
              <a:t>The Terminal-Bench Team (2025). Terminal-Bench 2.0: cancel-async-tasks. 改訂69671fb。</a:t>
            </a:r>
          </a:p>
          <a:p>
            <a:pPr>
              <a:lnSpc>
                <a:spcPct val="112000"/>
              </a:lnSpc>
              <a:buNone/>
              <a:defRPr sz="810" b="0">
                <a:solidFill>
                  <a:srgbClr val="303437"/>
                </a:solidFill>
                <a:latin typeface="Noto Sans"/>
              </a:defRPr>
            </a:pPr>
            <a:r>
              <a:rPr sz="810" b="0" lang="ja-JP" altLang="en-US">
                <a:solidFill>
                  <a:srgbClr val="626669"/>
                </a:solidFill>
                <a:latin typeface="Noto Sans"/>
                <a:ea typeface="Noto Sans CJK JP"/>
                <a:cs typeface="Noto Sans"/>
                <a:hlinkClick r:id="rId2"/>
              </a:rPr>
              <a:t>https://github.com/laude-institute/terminal-bench-2/tree/69671fbaac6d67a7ef0dfec016cc38a64ef7a77c/cancel-async-tasks</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786384"/>
            <a:ext cx="8046720" cy="502920"/>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実例2：更新ログからデータベースを復元する</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FFF"/>
                </a:solidFill>
                <a:latin typeface="Noto Sans"/>
                <a:ea typeface="Noto Sans CJK JP"/>
                <a:cs typeface="Noto Sans"/>
              </a:rPr>
              <a:t>1. 端末で行う作業と実例</a:t>
            </a:r>
          </a:p>
        </p:txBody>
      </p:sp>
      <p:sp>
        <p:nvSpPr>
          <p:cNvPr id="4" name="TextBox 3"/>
          <p:cNvSpPr txBox="1"/>
          <p:nvPr/>
        </p:nvSpPr>
        <p:spPr>
          <a:xfrm>
            <a:off x="548640" y="1380744"/>
            <a:ext cx="8046720" cy="228600"/>
          </a:xfrm>
          <a:prstGeom prst="rect">
            <a:avLst/>
          </a:prstGeom>
          <a:noFill/>
        </p:spPr>
        <p:txBody>
          <a:bodyPr wrap="square" lIns="0" rIns="0" tIns="0" bIns="0">
            <a:noAutofit/>
          </a:bodyPr>
          <a:lstStyle/>
          <a:p>
            <a:pPr algn="l">
              <a:lnSpc>
                <a:spcPct val="117000"/>
              </a:lnSpc>
              <a:spcBef>
                <a:spcPts val="0"/>
              </a:spcBef>
              <a:spcAft>
                <a:spcPts val="0"/>
              </a:spcAft>
              <a:buNone/>
              <a:defRPr sz="1300" b="0">
                <a:solidFill>
                  <a:srgbClr val="303437"/>
                </a:solidFill>
                <a:latin typeface="Noto Sans"/>
              </a:defRPr>
            </a:pPr>
            <a:r>
              <a:rPr sz="1300" b="0" lang="ja-JP" altLang="en-US">
                <a:solidFill>
                  <a:srgbClr val="626669"/>
                </a:solidFill>
                <a:latin typeface="Noto Sans"/>
                <a:ea typeface="Noto Sans CJK JP"/>
                <a:cs typeface="Noto Sans"/>
              </a:rPr>
              <a:t>指示文の原文（英語・抜粋）</a:t>
            </a:r>
          </a:p>
        </p:txBody>
      </p:sp>
      <p:sp>
        <p:nvSpPr>
          <p:cNvPr id="5" name="Rectangle 4"/>
          <p:cNvSpPr/>
          <p:nvPr/>
        </p:nvSpPr>
        <p:spPr>
          <a:xfrm>
            <a:off x="548640" y="1700784"/>
            <a:ext cx="8046720" cy="1697951"/>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t" wrap="square" lIns="177800" rIns="177800" tIns="105410" bIns="101600">
            <a:noAutofit/>
          </a:bodyPr>
          <a:lstStyle/>
          <a:p>
            <a:pPr algn="l">
              <a:lnSpc>
                <a:spcPts val="2312"/>
              </a:lnSpc>
              <a:spcBef>
                <a:spcPts val="0"/>
              </a:spcBef>
              <a:spcAft>
                <a:spcPts val="0"/>
              </a:spcAft>
              <a:buNone/>
              <a:defRPr sz="1850" b="0">
                <a:solidFill>
                  <a:srgbClr val="303437"/>
                </a:solidFill>
                <a:latin typeface="Noto Sans"/>
              </a:defRPr>
            </a:pPr>
            <a:r>
              <a:rPr sz="1850" b="0" lang="ja-JP" altLang="en-US">
                <a:solidFill>
                  <a:srgbClr val="303437"/>
                </a:solidFill>
                <a:latin typeface="Noto Sans"/>
                <a:ea typeface="Noto Sans CJK JP"/>
                <a:cs typeface="Noto Sans"/>
              </a:rPr>
              <a:t>I have a database in WAL (Write-Ahead Logging) mode in /app/. However, the WAL file appears to be corrupted or encrypted. When you try to access the database, SQLite may only show the base data (5 records) instead of all 11 records that should be there.</a:t>
            </a:r>
          </a:p>
          <a:p>
            <a:pPr algn="l">
              <a:lnSpc>
                <a:spcPts val="2312"/>
              </a:lnSpc>
              <a:spcBef>
                <a:spcPts val="0"/>
              </a:spcBef>
              <a:spcAft>
                <a:spcPts val="0"/>
              </a:spcAft>
              <a:buNone/>
              <a:defRPr sz="1850" b="0">
                <a:solidFill>
                  <a:srgbClr val="303437"/>
                </a:solidFill>
                <a:latin typeface="Noto Sans"/>
              </a:defRPr>
            </a:pPr>
            <a:r>
              <a:rPr sz="1850" b="0" lang="ja-JP" altLang="en-US">
                <a:solidFill>
                  <a:srgbClr val="303437"/>
                </a:solidFill>
                <a:latin typeface="Noto Sans"/>
                <a:ea typeface="Noto Sans CJK JP"/>
                <a:cs typeface="Noto Sans"/>
              </a:rPr>
              <a:t>You should recover all 11 records total.</a:t>
            </a:r>
          </a:p>
        </p:txBody>
      </p:sp>
      <p:sp>
        <p:nvSpPr>
          <p:cNvPr id="6" name="TextBox 5"/>
          <p:cNvSpPr txBox="1"/>
          <p:nvPr/>
        </p:nvSpPr>
        <p:spPr>
          <a:xfrm>
            <a:off x="594360" y="3618191"/>
            <a:ext cx="7955279" cy="953808"/>
          </a:xfrm>
          <a:prstGeom prst="rect">
            <a:avLst/>
          </a:prstGeom>
          <a:noFill/>
        </p:spPr>
        <p:txBody>
          <a:bodyPr wrap="square" lIns="0" rIns="0" tIns="0" bIns="0">
            <a:noAutofit/>
          </a:bodyPr>
          <a:lstStyle/>
          <a:p>
            <a:pPr algn="l">
              <a:lnSpc>
                <a:spcPct val="118000"/>
              </a:lnSpc>
              <a:spcBef>
                <a:spcPts val="0"/>
              </a:spcBef>
              <a:spcAft>
                <a:spcPts val="0"/>
              </a:spcAft>
              <a:buNone/>
              <a:defRPr sz="1950" b="0">
                <a:solidFill>
                  <a:srgbClr val="303437"/>
                </a:solidFill>
                <a:latin typeface="Noto Sans"/>
              </a:defRPr>
            </a:pPr>
            <a:r>
              <a:rPr sz="1950" b="0" lang="ja-JP" altLang="en-US">
                <a:solidFill>
                  <a:srgbClr val="303437"/>
                </a:solidFill>
                <a:latin typeface="Noto Sans"/>
                <a:ea typeface="Noto Sans CJK JP"/>
                <a:cs typeface="Noto Sans"/>
              </a:rPr>
              <a:t>要旨：SQLiteの更新ログWALを修復し、更新分も含めた11件をJSONへ保存する。WALは、変更を先に記録するファイルである。</a:t>
            </a:r>
          </a:p>
        </p:txBody>
      </p:sp>
      <p:sp>
        <p:nvSpPr>
          <p:cNvPr id="7" name="TextBox 6"/>
          <p:cNvSpPr txBox="1"/>
          <p:nvPr/>
        </p:nvSpPr>
        <p:spPr>
          <a:xfrm>
            <a:off x="502920" y="4690872"/>
            <a:ext cx="8183879" cy="393192"/>
          </a:xfrm>
          <a:prstGeom prst="rect">
            <a:avLst/>
          </a:prstGeom>
          <a:noFill/>
        </p:spPr>
        <p:txBody>
          <a:bodyPr wrap="square" lIns="0" rIns="0" tIns="0" bIns="0">
            <a:noAutofit/>
          </a:bodyPr>
          <a:lstStyle/>
          <a:p>
            <a:pPr algn="l">
              <a:lnSpc>
                <a:spcPct val="112000"/>
              </a:lnSpc>
              <a:spcBef>
                <a:spcPts val="0"/>
              </a:spcBef>
              <a:spcAft>
                <a:spcPts val="0"/>
              </a:spcAft>
              <a:buNone/>
              <a:defRPr sz="810" b="0">
                <a:solidFill>
                  <a:srgbClr val="303437"/>
                </a:solidFill>
                <a:latin typeface="Noto Sans"/>
              </a:defRPr>
            </a:pPr>
            <a:r>
              <a:rPr sz="810" b="0" lang="ja-JP" altLang="en-US">
                <a:solidFill>
                  <a:srgbClr val="626669"/>
                </a:solidFill>
                <a:latin typeface="Noto Sans"/>
                <a:ea typeface="Noto Sans CJK JP"/>
                <a:cs typeface="Noto Sans"/>
              </a:rPr>
              <a:t/>
            </a:r>
            <a:r>
              <a:rPr sz="810" b="0" lang="ja-JP" altLang="en-US">
                <a:solidFill>
                  <a:srgbClr val="626669"/>
                </a:solidFill>
                <a:latin typeface="Noto Sans"/>
                <a:ea typeface="Noto Sans CJK JP"/>
                <a:cs typeface="Noto Sans"/>
              </a:rPr>
              <a:t>The Terminal-Bench Team (2025). Terminal-Bench 2.0: db-wal-recovery. 改訂69671fb。</a:t>
            </a:r>
          </a:p>
          <a:p>
            <a:pPr>
              <a:lnSpc>
                <a:spcPct val="112000"/>
              </a:lnSpc>
              <a:buNone/>
              <a:defRPr sz="810" b="0">
                <a:solidFill>
                  <a:srgbClr val="303437"/>
                </a:solidFill>
                <a:latin typeface="Noto Sans"/>
              </a:defRPr>
            </a:pPr>
            <a:r>
              <a:rPr sz="810" b="0" lang="ja-JP" altLang="en-US">
                <a:solidFill>
                  <a:srgbClr val="626669"/>
                </a:solidFill>
                <a:latin typeface="Noto Sans"/>
                <a:ea typeface="Noto Sans CJK JP"/>
                <a:cs typeface="Noto Sans"/>
                <a:hlinkClick r:id="rId2"/>
              </a:rPr>
              <a:t>https://github.com/laude-institute/terminal-bench-2/tree/69671fbaac6d67a7ef0dfec016cc38a64ef7a77c/db-wal-recovery</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786384"/>
            <a:ext cx="8046720" cy="502920"/>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実例2は復元した11件の内容を採点する</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FFF"/>
                </a:solidFill>
                <a:latin typeface="Noto Sans"/>
                <a:ea typeface="Noto Sans CJK JP"/>
                <a:cs typeface="Noto Sans"/>
              </a:rPr>
              <a:t>1. 端末で行う作業と実例</a:t>
            </a:r>
          </a:p>
        </p:txBody>
      </p:sp>
      <p:graphicFrame>
        <p:nvGraphicFramePr>
          <p:cNvPr id="4" name="Table 3"/>
          <p:cNvGraphicFramePr>
            <a:graphicFrameLocks noGrp="1"/>
          </p:cNvGraphicFramePr>
          <p:nvPr/>
        </p:nvGraphicFramePr>
        <p:xfrm>
          <a:off x="548640" y="1508760"/>
          <a:ext cx="8046720" cy="2651760"/>
        </p:xfrm>
        <a:graphic>
          <a:graphicData uri="http://schemas.openxmlformats.org/drawingml/2006/table">
            <a:tbl>
              <a:tblPr firstRow="0" bandRow="0"/>
              <a:tblGrid>
                <a:gridCol w="2011680"/>
                <a:gridCol w="6035040"/>
              </a:tblGrid>
              <a:tr h="457200">
                <a:tc>
                  <a:txBody>
                    <a:bodyPr wrap="square">
                      <a:noAutofit/>
                    </a:bodyPr>
                    <a:lstStyle/>
                    <a:p>
                      <a:pPr algn="l">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判定項目</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c>
                  <a:txBody>
                    <a:bodyPr wrap="square">
                      <a:noAutofit/>
                    </a:bodyPr>
                    <a:lstStyle/>
                    <a:p>
                      <a:pPr algn="l">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公開テストの内容</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r>
              <a:tr h="548640">
                <a:tc>
                  <a:txBody>
                    <a:bodyPr wrap="square">
                      <a:noAutofit/>
                    </a:bodyPr>
                    <a:lstStyle/>
                    <a:p>
                      <a:pPr algn="l">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保存先</a:t>
                      </a:r>
                    </a:p>
                  </a:txBody>
                  <a:tcPr marL="63500" marR="63500" marT="38100" marB="38100" anchor="ctr">
                    <a:lnL w="7620">
                      <a:noFill/>
                    </a:lnL>
                    <a:lnR w="7620">
                      <a:noFill/>
                    </a:lnR>
                    <a:lnT w="7620">
                      <a:solidFill>
                        <a:srgbClr val="626669"/>
                      </a:solidFill>
                      <a:prstDash val="solid"/>
                    </a:lnT>
                    <a:lnB w="7620">
                      <a:noFill/>
                    </a:lnB>
                    <a:solidFill>
                      <a:srgbClr val="FFFEF8"/>
                    </a:solidFill>
                  </a:tcPr>
                </a:tc>
                <a:tc>
                  <a:txBody>
                    <a:bodyPr wrap="square">
                      <a:noAutofit/>
                    </a:bodyPr>
                    <a:lstStyle/>
                    <a:p>
                      <a:pPr algn="l">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/app/recovered.json</a:t>
                      </a:r>
                    </a:p>
                  </a:txBody>
                  <a:tcPr marL="63500" marR="63500" marT="38100" marB="38100" anchor="ctr">
                    <a:lnL w="7620">
                      <a:noFill/>
                    </a:lnL>
                    <a:lnR w="7620">
                      <a:noFill/>
                    </a:lnR>
                    <a:lnT w="7620">
                      <a:solidFill>
                        <a:srgbClr val="626669"/>
                      </a:solidFill>
                      <a:prstDash val="solid"/>
                    </a:lnT>
                    <a:lnB w="7620">
                      <a:noFill/>
                    </a:lnB>
                    <a:solidFill>
                      <a:srgbClr val="FFFEF8"/>
                    </a:solidFill>
                  </a:tcPr>
                </a:tc>
              </a:tr>
              <a:tr h="548640">
                <a:tc>
                  <a:txBody>
                    <a:bodyPr wrap="square">
                      <a:noAutofit/>
                    </a:bodyPr>
                    <a:lstStyle/>
                    <a:p>
                      <a:pPr algn="l">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構造と順序</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l">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id・name・valueを持つ配列をid順にする</a:t>
                      </a:r>
                    </a:p>
                  </a:txBody>
                  <a:tcPr marL="63500" marR="63500" marT="38100" marB="38100" anchor="ctr">
                    <a:lnL w="7620">
                      <a:noFill/>
                    </a:lnL>
                    <a:lnR w="7620">
                      <a:noFill/>
                    </a:lnR>
                    <a:lnT w="7620">
                      <a:noFill/>
                    </a:lnT>
                    <a:lnB w="7620">
                      <a:noFill/>
                    </a:lnB>
                    <a:solidFill>
                      <a:srgbClr val="FFFEF8"/>
                    </a:solidFill>
                  </a:tcPr>
                </a:tc>
              </a:tr>
              <a:tr h="548640">
                <a:tc>
                  <a:txBody>
                    <a:bodyPr wrap="square">
                      <a:noAutofit/>
                    </a:bodyPr>
                    <a:lstStyle/>
                    <a:p>
                      <a:pPr algn="l">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全件の復元</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l">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idが1〜11の、重複のない11件</a:t>
                      </a:r>
                    </a:p>
                  </a:txBody>
                  <a:tcPr marL="63500" marR="63500" marT="38100" marB="38100" anchor="ctr">
                    <a:lnL w="7620">
                      <a:noFill/>
                    </a:lnL>
                    <a:lnR w="7620">
                      <a:noFill/>
                    </a:lnR>
                    <a:lnT w="7620">
                      <a:noFill/>
                    </a:lnT>
                    <a:lnB w="7620">
                      <a:noFill/>
                    </a:lnB>
                    <a:solidFill>
                      <a:srgbClr val="FFFEF8"/>
                    </a:solidFill>
                  </a:tcPr>
                </a:tc>
              </a:tr>
              <a:tr h="548640">
                <a:tc>
                  <a:txBody>
                    <a:bodyPr wrap="square">
                      <a:noAutofit/>
                    </a:bodyPr>
                    <a:lstStyle/>
                    <a:p>
                      <a:pPr algn="l">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更新の反映</a:t>
                      </a:r>
                    </a:p>
                  </a:txBody>
                  <a:tcPr marL="63500" marR="63500" marT="38100" marB="38100" anchor="ctr">
                    <a:lnL w="7620">
                      <a:noFill/>
                    </a:lnL>
                    <a:lnR w="7620">
                      <a:noFill/>
                    </a:lnR>
                    <a:lnT w="7620">
                      <a:noFill/>
                    </a:lnT>
                    <a:lnB w="15240">
                      <a:solidFill>
                        <a:srgbClr val="626669"/>
                      </a:solidFill>
                      <a:prstDash val="solid"/>
                    </a:lnB>
                    <a:solidFill>
                      <a:srgbClr val="FFFEF8"/>
                    </a:solidFill>
                  </a:tcPr>
                </a:tc>
                <a:tc>
                  <a:txBody>
                    <a:bodyPr wrap="square">
                      <a:noAutofit/>
                    </a:bodyPr>
                    <a:lstStyle/>
                    <a:p>
                      <a:pPr algn="l">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id=1のvalueは150、id=2は250</a:t>
                      </a:r>
                    </a:p>
                  </a:txBody>
                  <a:tcPr marL="63500" marR="63500" marT="38100" marB="38100" anchor="ctr">
                    <a:lnL w="7620">
                      <a:noFill/>
                    </a:lnL>
                    <a:lnR w="7620">
                      <a:noFill/>
                    </a:lnR>
                    <a:lnT w="7620">
                      <a:noFill/>
                    </a:lnT>
                    <a:lnB w="15240">
                      <a:solidFill>
                        <a:srgbClr val="626669"/>
                      </a:solidFill>
                      <a:prstDash val="solid"/>
                    </a:lnB>
                    <a:solidFill>
                      <a:srgbClr val="FFFEF8"/>
                    </a:solidFill>
                  </a:tcPr>
                </a:tc>
              </a:tr>
            </a:tbl>
          </a:graphicData>
        </a:graphic>
      </p:graphicFrame>
      <p:sp>
        <p:nvSpPr>
          <p:cNvPr id="5" name="TextBox 4"/>
          <p:cNvSpPr txBox="1"/>
          <p:nvPr/>
        </p:nvSpPr>
        <p:spPr>
          <a:xfrm>
            <a:off x="502920" y="4690872"/>
            <a:ext cx="8183879" cy="393192"/>
          </a:xfrm>
          <a:prstGeom prst="rect">
            <a:avLst/>
          </a:prstGeom>
          <a:noFill/>
        </p:spPr>
        <p:txBody>
          <a:bodyPr wrap="square" lIns="0" rIns="0" tIns="0" bIns="0">
            <a:noAutofit/>
          </a:bodyPr>
          <a:lstStyle/>
          <a:p>
            <a:pPr algn="l">
              <a:lnSpc>
                <a:spcPct val="112000"/>
              </a:lnSpc>
              <a:spcBef>
                <a:spcPts val="0"/>
              </a:spcBef>
              <a:spcAft>
                <a:spcPts val="0"/>
              </a:spcAft>
              <a:buNone/>
              <a:defRPr sz="810" b="0">
                <a:solidFill>
                  <a:srgbClr val="303437"/>
                </a:solidFill>
                <a:latin typeface="Noto Sans"/>
              </a:defRPr>
            </a:pPr>
            <a:r>
              <a:rPr sz="810" b="0" lang="ja-JP" altLang="en-US">
                <a:solidFill>
                  <a:srgbClr val="626669"/>
                </a:solidFill>
                <a:latin typeface="Noto Sans"/>
                <a:ea typeface="Noto Sans CJK JP"/>
                <a:cs typeface="Noto Sans"/>
              </a:rPr>
              <a:t/>
            </a:r>
            <a:r>
              <a:rPr sz="810" b="0" lang="ja-JP" altLang="en-US">
                <a:solidFill>
                  <a:srgbClr val="626669"/>
                </a:solidFill>
                <a:latin typeface="Noto Sans"/>
                <a:ea typeface="Noto Sans CJK JP"/>
                <a:cs typeface="Noto Sans"/>
              </a:rPr>
              <a:t>The Terminal-Bench Team (2025). Terminal-Bench 2.0: db-wal-recovery. 改訂69671fb。</a:t>
            </a:r>
          </a:p>
          <a:p>
            <a:pPr>
              <a:lnSpc>
                <a:spcPct val="112000"/>
              </a:lnSpc>
              <a:buNone/>
              <a:defRPr sz="810" b="0">
                <a:solidFill>
                  <a:srgbClr val="303437"/>
                </a:solidFill>
                <a:latin typeface="Noto Sans"/>
              </a:defRPr>
            </a:pPr>
            <a:r>
              <a:rPr sz="810" b="0" lang="ja-JP" altLang="en-US">
                <a:solidFill>
                  <a:srgbClr val="626669"/>
                </a:solidFill>
                <a:latin typeface="Noto Sans"/>
                <a:ea typeface="Noto Sans CJK JP"/>
                <a:cs typeface="Noto Sans"/>
                <a:hlinkClick r:id="rId2"/>
              </a:rPr>
              <a:t>https://github.com/laude-institute/terminal-bench-2/tree/69671fbaac6d67a7ef0dfec016cc38a64ef7a77c/db-wal-recovery</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786384"/>
            <a:ext cx="8046720" cy="502920"/>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実例3：COBOLの処理をPythonへ移す</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FFF"/>
                </a:solidFill>
                <a:latin typeface="Noto Sans"/>
                <a:ea typeface="Noto Sans CJK JP"/>
                <a:cs typeface="Noto Sans"/>
              </a:rPr>
              <a:t>1. 端末で行う作業と実例</a:t>
            </a:r>
          </a:p>
        </p:txBody>
      </p:sp>
      <p:sp>
        <p:nvSpPr>
          <p:cNvPr id="4" name="TextBox 3"/>
          <p:cNvSpPr txBox="1"/>
          <p:nvPr/>
        </p:nvSpPr>
        <p:spPr>
          <a:xfrm>
            <a:off x="548640" y="1380744"/>
            <a:ext cx="8046720" cy="228600"/>
          </a:xfrm>
          <a:prstGeom prst="rect">
            <a:avLst/>
          </a:prstGeom>
          <a:noFill/>
        </p:spPr>
        <p:txBody>
          <a:bodyPr wrap="square" lIns="0" rIns="0" tIns="0" bIns="0">
            <a:noAutofit/>
          </a:bodyPr>
          <a:lstStyle/>
          <a:p>
            <a:pPr algn="l">
              <a:lnSpc>
                <a:spcPct val="117000"/>
              </a:lnSpc>
              <a:spcBef>
                <a:spcPts val="0"/>
              </a:spcBef>
              <a:spcAft>
                <a:spcPts val="0"/>
              </a:spcAft>
              <a:buNone/>
              <a:defRPr sz="1300" b="0">
                <a:solidFill>
                  <a:srgbClr val="303437"/>
                </a:solidFill>
                <a:latin typeface="Noto Sans"/>
              </a:defRPr>
            </a:pPr>
            <a:r>
              <a:rPr sz="1300" b="0" lang="ja-JP" altLang="en-US">
                <a:solidFill>
                  <a:srgbClr val="626669"/>
                </a:solidFill>
                <a:latin typeface="Noto Sans"/>
                <a:ea typeface="Noto Sans CJK JP"/>
                <a:cs typeface="Noto Sans"/>
              </a:rPr>
              <a:t>指示文の原文（英語・抜粋）</a:t>
            </a:r>
          </a:p>
        </p:txBody>
      </p:sp>
      <p:sp>
        <p:nvSpPr>
          <p:cNvPr id="5" name="Rectangle 4"/>
          <p:cNvSpPr/>
          <p:nvPr/>
        </p:nvSpPr>
        <p:spPr>
          <a:xfrm>
            <a:off x="548640" y="1700784"/>
            <a:ext cx="8046720" cy="1404264"/>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t" wrap="square" lIns="177800" rIns="177800" tIns="105410" bIns="101600">
            <a:noAutofit/>
          </a:bodyPr>
          <a:lstStyle/>
          <a:p>
            <a:pPr algn="l">
              <a:lnSpc>
                <a:spcPts val="2312"/>
              </a:lnSpc>
              <a:spcBef>
                <a:spcPts val="0"/>
              </a:spcBef>
              <a:spcAft>
                <a:spcPts val="0"/>
              </a:spcAft>
              <a:buNone/>
              <a:defRPr sz="1850" b="0">
                <a:solidFill>
                  <a:srgbClr val="303437"/>
                </a:solidFill>
                <a:latin typeface="Noto Sans"/>
              </a:defRPr>
            </a:pPr>
            <a:r>
              <a:rPr sz="1850" b="0" lang="ja-JP" altLang="en-US">
                <a:solidFill>
                  <a:srgbClr val="303437"/>
                </a:solidFill>
                <a:latin typeface="Noto Sans"/>
                <a:ea typeface="Noto Sans CJK JP"/>
                <a:cs typeface="Noto Sans"/>
              </a:rPr>
              <a:t>Your task is to re-implement the functionality of program.cbl in Python. You must create a new Python script located at /app/program.py, which performs the exact same operations as the COBOL program.</a:t>
            </a:r>
          </a:p>
        </p:txBody>
      </p:sp>
      <p:sp>
        <p:nvSpPr>
          <p:cNvPr id="6" name="TextBox 5"/>
          <p:cNvSpPr txBox="1"/>
          <p:nvPr/>
        </p:nvSpPr>
        <p:spPr>
          <a:xfrm>
            <a:off x="594360" y="3324504"/>
            <a:ext cx="7955279" cy="1247495"/>
          </a:xfrm>
          <a:prstGeom prst="rect">
            <a:avLst/>
          </a:prstGeom>
          <a:noFill/>
        </p:spPr>
        <p:txBody>
          <a:bodyPr wrap="square" lIns="0" rIns="0" tIns="0" bIns="0">
            <a:noAutofit/>
          </a:bodyPr>
          <a:lstStyle/>
          <a:p>
            <a:pPr algn="l">
              <a:lnSpc>
                <a:spcPct val="118000"/>
              </a:lnSpc>
              <a:spcBef>
                <a:spcPts val="0"/>
              </a:spcBef>
              <a:spcAft>
                <a:spcPts val="0"/>
              </a:spcAft>
              <a:buNone/>
              <a:defRPr sz="1950" b="0">
                <a:solidFill>
                  <a:srgbClr val="303437"/>
                </a:solidFill>
                <a:latin typeface="Noto Sans"/>
              </a:defRPr>
            </a:pPr>
            <a:r>
              <a:rPr sz="1950" b="0" lang="ja-JP" altLang="en-US">
                <a:solidFill>
                  <a:srgbClr val="303437"/>
                </a:solidFill>
                <a:latin typeface="Noto Sans"/>
                <a:ea typeface="Noto Sans CJK JP"/>
                <a:cs typeface="Noto Sans"/>
              </a:rPr>
              <a:t>要旨：業務用言語COBOLのプログラムを読み、同じ入力から同じデータファイルを作るPython版を/app/program.pyに実装する。</a:t>
            </a:r>
          </a:p>
        </p:txBody>
      </p:sp>
      <p:sp>
        <p:nvSpPr>
          <p:cNvPr id="7" name="TextBox 6"/>
          <p:cNvSpPr txBox="1"/>
          <p:nvPr/>
        </p:nvSpPr>
        <p:spPr>
          <a:xfrm>
            <a:off x="502920" y="4690872"/>
            <a:ext cx="8183879" cy="393192"/>
          </a:xfrm>
          <a:prstGeom prst="rect">
            <a:avLst/>
          </a:prstGeom>
          <a:noFill/>
        </p:spPr>
        <p:txBody>
          <a:bodyPr wrap="square" lIns="0" rIns="0" tIns="0" bIns="0">
            <a:noAutofit/>
          </a:bodyPr>
          <a:lstStyle/>
          <a:p>
            <a:pPr algn="l">
              <a:lnSpc>
                <a:spcPct val="112000"/>
              </a:lnSpc>
              <a:spcBef>
                <a:spcPts val="0"/>
              </a:spcBef>
              <a:spcAft>
                <a:spcPts val="0"/>
              </a:spcAft>
              <a:buNone/>
              <a:defRPr sz="810" b="0">
                <a:solidFill>
                  <a:srgbClr val="303437"/>
                </a:solidFill>
                <a:latin typeface="Noto Sans"/>
              </a:defRPr>
            </a:pPr>
            <a:r>
              <a:rPr sz="810" b="0" lang="ja-JP" altLang="en-US">
                <a:solidFill>
                  <a:srgbClr val="626669"/>
                </a:solidFill>
                <a:latin typeface="Noto Sans"/>
                <a:ea typeface="Noto Sans CJK JP"/>
                <a:cs typeface="Noto Sans"/>
              </a:rPr>
              <a:t/>
            </a:r>
            <a:r>
              <a:rPr sz="810" b="0" lang="ja-JP" altLang="en-US">
                <a:solidFill>
                  <a:srgbClr val="626669"/>
                </a:solidFill>
                <a:latin typeface="Noto Sans"/>
                <a:ea typeface="Noto Sans CJK JP"/>
                <a:cs typeface="Noto Sans"/>
              </a:rPr>
              <a:t>The Terminal-Bench Team (2025). Terminal-Bench 2.0: cobol-modernization. 改訂69671fb。</a:t>
            </a:r>
          </a:p>
          <a:p>
            <a:pPr>
              <a:lnSpc>
                <a:spcPct val="112000"/>
              </a:lnSpc>
              <a:buNone/>
              <a:defRPr sz="810" b="0">
                <a:solidFill>
                  <a:srgbClr val="303437"/>
                </a:solidFill>
                <a:latin typeface="Noto Sans"/>
              </a:defRPr>
            </a:pPr>
            <a:r>
              <a:rPr sz="810" b="0" lang="ja-JP" altLang="en-US">
                <a:solidFill>
                  <a:srgbClr val="626669"/>
                </a:solidFill>
                <a:latin typeface="Noto Sans"/>
                <a:ea typeface="Noto Sans CJK JP"/>
                <a:cs typeface="Noto Sans"/>
                <a:hlinkClick r:id="rId2"/>
              </a:rPr>
              <a:t>https://github.com/laude-institute/terminal-bench-2/tree/69671fbaac6d67a7ef0dfec016cc38a64ef7a77c/cobol-modernization</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786384"/>
            <a:ext cx="8046720" cy="502920"/>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実例3は入力に対するファイル更新を照合する</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FFF"/>
                </a:solidFill>
                <a:latin typeface="Noto Sans"/>
                <a:ea typeface="Noto Sans CJK JP"/>
                <a:cs typeface="Noto Sans"/>
              </a:rPr>
              <a:t>1. 端末で行う作業と実例</a:t>
            </a:r>
          </a:p>
        </p:txBody>
      </p:sp>
      <p:graphicFrame>
        <p:nvGraphicFramePr>
          <p:cNvPr id="4" name="Table 3"/>
          <p:cNvGraphicFramePr>
            <a:graphicFrameLocks noGrp="1"/>
          </p:cNvGraphicFramePr>
          <p:nvPr/>
        </p:nvGraphicFramePr>
        <p:xfrm>
          <a:off x="548640" y="1508760"/>
          <a:ext cx="8046720" cy="2304287"/>
        </p:xfrm>
        <a:graphic>
          <a:graphicData uri="http://schemas.openxmlformats.org/drawingml/2006/table">
            <a:tbl>
              <a:tblPr firstRow="0" bandRow="0"/>
              <a:tblGrid>
                <a:gridCol w="2743200"/>
                <a:gridCol w="5303520"/>
              </a:tblGrid>
              <a:tr h="426719">
                <a:tc>
                  <a:txBody>
                    <a:bodyPr wrap="square">
                      <a:noAutofit/>
                    </a:bodyPr>
                    <a:lstStyle/>
                    <a:p>
                      <a:pPr algn="l">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対象</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c>
                  <a:txBody>
                    <a:bodyPr wrap="square">
                      <a:noAutofit/>
                    </a:bodyPr>
                    <a:lstStyle/>
                    <a:p>
                      <a:pPr algn="l">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役割・合格条件</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r>
              <a:tr h="469392">
                <a:tc>
                  <a:txBody>
                    <a:bodyPr wrap="square">
                      <a:noAutofit/>
                    </a:bodyPr>
                    <a:lstStyle/>
                    <a:p>
                      <a:pPr algn="l">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INPUT.DAT</a:t>
                      </a:r>
                    </a:p>
                  </a:txBody>
                  <a:tcPr marL="63500" marR="63500" marT="38100" marB="38100" anchor="ctr">
                    <a:lnL w="7620">
                      <a:noFill/>
                    </a:lnL>
                    <a:lnR w="7620">
                      <a:noFill/>
                    </a:lnR>
                    <a:lnT w="7620">
                      <a:solidFill>
                        <a:srgbClr val="626669"/>
                      </a:solidFill>
                      <a:prstDash val="solid"/>
                    </a:lnT>
                    <a:lnB w="7620">
                      <a:noFill/>
                    </a:lnB>
                    <a:solidFill>
                      <a:srgbClr val="FFFEF8"/>
                    </a:solidFill>
                  </a:tcPr>
                </a:tc>
                <a:tc>
                  <a:txBody>
                    <a:bodyPr wrap="square">
                      <a:noAutofit/>
                    </a:bodyPr>
                    <a:lstStyle/>
                    <a:p>
                      <a:pPr algn="l">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取引などの入力を与える</a:t>
                      </a:r>
                    </a:p>
                  </a:txBody>
                  <a:tcPr marL="63500" marR="63500" marT="38100" marB="38100" anchor="ctr">
                    <a:lnL w="7620">
                      <a:noFill/>
                    </a:lnL>
                    <a:lnR w="7620">
                      <a:noFill/>
                    </a:lnR>
                    <a:lnT w="7620">
                      <a:solidFill>
                        <a:srgbClr val="626669"/>
                      </a:solidFill>
                      <a:prstDash val="solid"/>
                    </a:lnT>
                    <a:lnB w="7620">
                      <a:noFill/>
                    </a:lnB>
                    <a:solidFill>
                      <a:srgbClr val="FFFEF8"/>
                    </a:solidFill>
                  </a:tcPr>
                </a:tc>
              </a:tr>
              <a:tr h="469392">
                <a:tc>
                  <a:txBody>
                    <a:bodyPr wrap="square">
                      <a:noAutofit/>
                    </a:bodyPr>
                    <a:lstStyle/>
                    <a:p>
                      <a:pPr algn="l">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ACCOUNTS.DAT</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l">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利用者ごとの残高を更新する</a:t>
                      </a:r>
                    </a:p>
                  </a:txBody>
                  <a:tcPr marL="63500" marR="63500" marT="38100" marB="38100" anchor="ctr">
                    <a:lnL w="7620">
                      <a:noFill/>
                    </a:lnL>
                    <a:lnR w="7620">
                      <a:noFill/>
                    </a:lnR>
                    <a:lnT w="7620">
                      <a:noFill/>
                    </a:lnT>
                    <a:lnB w="7620">
                      <a:noFill/>
                    </a:lnB>
                    <a:solidFill>
                      <a:srgbClr val="FFFEF8"/>
                    </a:solidFill>
                  </a:tcPr>
                </a:tc>
              </a:tr>
              <a:tr h="469392">
                <a:tc>
                  <a:txBody>
                    <a:bodyPr wrap="square">
                      <a:noAutofit/>
                    </a:bodyPr>
                    <a:lstStyle/>
                    <a:p>
                      <a:pPr algn="l">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BOOKS.DAT</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l">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書籍と利用者の対応を更新する</a:t>
                      </a:r>
                    </a:p>
                  </a:txBody>
                  <a:tcPr marL="63500" marR="63500" marT="38100" marB="38100" anchor="ctr">
                    <a:lnL w="7620">
                      <a:noFill/>
                    </a:lnL>
                    <a:lnR w="7620">
                      <a:noFill/>
                    </a:lnR>
                    <a:lnT w="7620">
                      <a:noFill/>
                    </a:lnT>
                    <a:lnB w="7620">
                      <a:noFill/>
                    </a:lnB>
                    <a:solidFill>
                      <a:srgbClr val="FFFEF8"/>
                    </a:solidFill>
                  </a:tcPr>
                </a:tc>
              </a:tr>
              <a:tr h="469392">
                <a:tc>
                  <a:txBody>
                    <a:bodyPr wrap="square">
                      <a:noAutofit/>
                    </a:bodyPr>
                    <a:lstStyle/>
                    <a:p>
                      <a:pPr algn="l">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TRANSACTIONS.DAT</a:t>
                      </a:r>
                    </a:p>
                  </a:txBody>
                  <a:tcPr marL="63500" marR="63500" marT="38100" marB="38100" anchor="ctr">
                    <a:lnL w="7620">
                      <a:noFill/>
                    </a:lnL>
                    <a:lnR w="7620">
                      <a:noFill/>
                    </a:lnR>
                    <a:lnT w="7620">
                      <a:noFill/>
                    </a:lnT>
                    <a:lnB w="15240">
                      <a:solidFill>
                        <a:srgbClr val="626669"/>
                      </a:solidFill>
                      <a:prstDash val="solid"/>
                    </a:lnB>
                    <a:solidFill>
                      <a:srgbClr val="FFFEF8"/>
                    </a:solidFill>
                  </a:tcPr>
                </a:tc>
                <a:tc>
                  <a:txBody>
                    <a:bodyPr wrap="square">
                      <a:noAutofit/>
                    </a:bodyPr>
                    <a:lstStyle/>
                    <a:p>
                      <a:pPr algn="l">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取引の記録を追加する</a:t>
                      </a:r>
                    </a:p>
                  </a:txBody>
                  <a:tcPr marL="63500" marR="63500" marT="38100" marB="38100" anchor="ctr">
                    <a:lnL w="7620">
                      <a:noFill/>
                    </a:lnL>
                    <a:lnR w="7620">
                      <a:noFill/>
                    </a:lnR>
                    <a:lnT w="7620">
                      <a:noFill/>
                    </a:lnT>
                    <a:lnB w="15240">
                      <a:solidFill>
                        <a:srgbClr val="626669"/>
                      </a:solidFill>
                      <a:prstDash val="solid"/>
                    </a:lnB>
                    <a:solidFill>
                      <a:srgbClr val="FFFEF8"/>
                    </a:solidFill>
                  </a:tcPr>
                </a:tc>
              </a:tr>
            </a:tbl>
          </a:graphicData>
        </a:graphic>
      </p:graphicFrame>
      <p:sp>
        <p:nvSpPr>
          <p:cNvPr id="5" name="TextBox 4"/>
          <p:cNvSpPr txBox="1"/>
          <p:nvPr/>
        </p:nvSpPr>
        <p:spPr>
          <a:xfrm>
            <a:off x="594360" y="4005072"/>
            <a:ext cx="7955279" cy="685800"/>
          </a:xfrm>
          <a:prstGeom prst="rect">
            <a:avLst/>
          </a:prstGeom>
          <a:noFill/>
        </p:spPr>
        <p:txBody>
          <a:bodyPr wrap="square" lIns="0" rIns="0" tIns="0" bIns="0">
            <a:noAutofit/>
          </a:bodyPr>
          <a:lstStyle/>
          <a:p>
            <a:pPr algn="l">
              <a:lnSpc>
                <a:spcPts val="2160"/>
              </a:lnSpc>
              <a:spcBef>
                <a:spcPts val="0"/>
              </a:spcBef>
              <a:spcAft>
                <a:spcPts val="0"/>
              </a:spcAft>
              <a:buNone/>
              <a:defRPr sz="1800" b="0">
                <a:solidFill>
                  <a:srgbClr val="303437"/>
                </a:solidFill>
                <a:latin typeface="Noto Sans"/>
              </a:defRPr>
            </a:pPr>
            <a:r>
              <a:rPr sz="1800" b="0" lang="ja-JP" altLang="en-US">
                <a:solidFill>
                  <a:srgbClr val="303437"/>
                </a:solidFill>
                <a:latin typeface="Noto Sans"/>
                <a:ea typeface="Noto Sans CJK JP"/>
                <a:cs typeface="Noto Sans"/>
              </a:rPr>
              <a:t>同じ初期状態と入力列から、3ファイルの内容一致を確認する。</a:t>
            </a:r>
          </a:p>
        </p:txBody>
      </p:sp>
      <p:sp>
        <p:nvSpPr>
          <p:cNvPr id="6" name="TextBox 5"/>
          <p:cNvSpPr txBox="1"/>
          <p:nvPr/>
        </p:nvSpPr>
        <p:spPr>
          <a:xfrm>
            <a:off x="502920" y="4690872"/>
            <a:ext cx="8183879" cy="393192"/>
          </a:xfrm>
          <a:prstGeom prst="rect">
            <a:avLst/>
          </a:prstGeom>
          <a:noFill/>
        </p:spPr>
        <p:txBody>
          <a:bodyPr wrap="square" lIns="0" rIns="0" tIns="0" bIns="0">
            <a:noAutofit/>
          </a:bodyPr>
          <a:lstStyle/>
          <a:p>
            <a:pPr algn="l">
              <a:lnSpc>
                <a:spcPct val="112000"/>
              </a:lnSpc>
              <a:spcBef>
                <a:spcPts val="0"/>
              </a:spcBef>
              <a:spcAft>
                <a:spcPts val="0"/>
              </a:spcAft>
              <a:buNone/>
              <a:defRPr sz="810" b="0">
                <a:solidFill>
                  <a:srgbClr val="303437"/>
                </a:solidFill>
                <a:latin typeface="Noto Sans"/>
              </a:defRPr>
            </a:pPr>
            <a:r>
              <a:rPr sz="810" b="0" lang="ja-JP" altLang="en-US">
                <a:solidFill>
                  <a:srgbClr val="626669"/>
                </a:solidFill>
                <a:latin typeface="Noto Sans"/>
                <a:ea typeface="Noto Sans CJK JP"/>
                <a:cs typeface="Noto Sans"/>
              </a:rPr>
              <a:t/>
            </a:r>
            <a:r>
              <a:rPr sz="810" b="0" lang="ja-JP" altLang="en-US">
                <a:solidFill>
                  <a:srgbClr val="626669"/>
                </a:solidFill>
                <a:latin typeface="Noto Sans"/>
                <a:ea typeface="Noto Sans CJK JP"/>
                <a:cs typeface="Noto Sans"/>
              </a:rPr>
              <a:t>The Terminal-Bench Team (2025). Terminal-Bench 2.0: cobol-modernization. 改訂69671fb。</a:t>
            </a:r>
          </a:p>
          <a:p>
            <a:pPr>
              <a:lnSpc>
                <a:spcPct val="112000"/>
              </a:lnSpc>
              <a:buNone/>
              <a:defRPr sz="810" b="0">
                <a:solidFill>
                  <a:srgbClr val="303437"/>
                </a:solidFill>
                <a:latin typeface="Noto Sans"/>
              </a:defRPr>
            </a:pPr>
            <a:r>
              <a:rPr sz="810" b="0" lang="ja-JP" altLang="en-US">
                <a:solidFill>
                  <a:srgbClr val="626669"/>
                </a:solidFill>
                <a:latin typeface="Noto Sans"/>
                <a:ea typeface="Noto Sans CJK JP"/>
                <a:cs typeface="Noto Sans"/>
                <a:hlinkClick r:id="rId2"/>
              </a:rPr>
              <a:t>https://github.com/laude-institute/terminal-bench-2/tree/69671fbaac6d67a7ef0dfec016cc38a64ef7a77c/cobol-modernization</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2388106"/>
            <a:ext cx="8046720" cy="822960"/>
          </a:xfrm>
        </p:spPr>
        <p:txBody>
          <a:bodyPr wrap="square" lIns="0" rIns="0" tIns="0" bIns="0" anchor="ctr">
            <a:noAutofit/>
          </a:bodyPr>
          <a:lstStyle/>
          <a:p>
            <a:pPr algn="ctr">
              <a:lnSpc>
                <a:spcPct val="110000"/>
              </a:lnSpc>
              <a:buNone/>
              <a:defRPr sz="3600" b="0">
                <a:solidFill>
                  <a:srgbClr val="303437"/>
                </a:solidFill>
                <a:latin typeface="Noto Sans"/>
              </a:defRPr>
            </a:pPr>
            <a:r>
              <a:rPr sz="3600" b="1" lang="ja-JP" altLang="en-US">
                <a:solidFill>
                  <a:srgbClr val="303437"/>
                </a:solidFill>
                <a:latin typeface="Noto Sans"/>
                <a:ea typeface="Noto Sans CJK JP"/>
                <a:cs typeface="Noto Sans"/>
              </a:rPr>
              <a:t>2. 採点方法とモデルの成績</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FFF"/>
                </a:solidFill>
                <a:latin typeface="Noto Sans"/>
                <a:ea typeface="Noto Sans CJK JP"/>
                <a:cs typeface="Noto Sans"/>
              </a:rPr>
              <a:t>2. 採点方法とモデルの成績</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786384"/>
            <a:ext cx="8046720" cy="502920"/>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全テストに合格した試行を成功と数える</a:t>
            </a:r>
          </a:p>
        </p:txBody>
      </p:sp>
      <p:sp>
        <p:nvSpPr>
          <p:cNvPr id="3" name="Text Placeholder 2"/>
          <p:cNvSpPr>
            <a:spLocks noGrp="1"/>
          </p:cNvSpPr>
          <p:nvPr>
            <p:ph type="body" idx="1"/>
          </p:nvPr>
        </p:nvSpPr>
        <p:spPr>
          <a:xfrm>
            <a:off x="594360" y="1463040"/>
            <a:ext cx="7955279" cy="3090672"/>
          </a:xfrm>
        </p:spPr>
        <p:txBody>
          <a:bodyPr wrap="square" tIns="91440" bIns="91440">
            <a:noAutofit/>
          </a:bodyPr>
          <a:lstStyle/>
          <a:p>
            <a:pPr marL="457200" indent="-355600">
              <a:lnSpc>
                <a:spcPts val="2760"/>
              </a:lnSpc>
              <a:spcAft>
                <a:spcPts val="800"/>
              </a:spcAft>
              <a:buSzPct val="57826"/>
              <a:buFont typeface="Noto Sans CJK JP"/>
              <a:buChar char="●"/>
              <a:defRPr sz="2300" b="0">
                <a:solidFill>
                  <a:srgbClr val="303437"/>
                </a:solidFill>
                <a:latin typeface="Noto Sans"/>
              </a:defRPr>
            </a:pPr>
            <a:r>
              <a:rPr sz="2300" b="0" lang="ja-JP" altLang="en-US">
                <a:solidFill>
                  <a:srgbClr val="303437"/>
                </a:solidFill>
                <a:latin typeface="Noto Sans"/>
                <a:ea typeface="Noto Sans CJK JP"/>
                <a:cs typeface="Noto Sans"/>
              </a:rPr>
              <a:t>1回の試行でエージェントが作業し、その終了後に採点テストを実行する。</a:t>
            </a:r>
          </a:p>
          <a:p>
            <a:pPr marL="457200" indent="-355600">
              <a:lnSpc>
                <a:spcPts val="2760"/>
              </a:lnSpc>
              <a:spcAft>
                <a:spcPts val="800"/>
              </a:spcAft>
              <a:buSzPct val="57826"/>
              <a:buFont typeface="Noto Sans CJK JP"/>
              <a:buChar char="●"/>
              <a:defRPr sz="2300" b="0">
                <a:solidFill>
                  <a:srgbClr val="303437"/>
                </a:solidFill>
                <a:latin typeface="Noto Sans"/>
              </a:defRPr>
            </a:pPr>
            <a:r>
              <a:rPr sz="2300" b="0" lang="ja-JP" altLang="en-US">
                <a:solidFill>
                  <a:srgbClr val="303437"/>
                </a:solidFill>
                <a:latin typeface="Noto Sans"/>
                <a:ea typeface="Noto Sans CJK JP"/>
                <a:cs typeface="Noto Sans"/>
              </a:rPr>
              <a:t>全テストに合格すれば成功の1、条件を満たさなければ0を与える。課題には作業時間の上限も設定されている。</a:t>
            </a:r>
          </a:p>
          <a:p>
            <a:pPr marL="457200" indent="-355600">
              <a:lnSpc>
                <a:spcPts val="2760"/>
              </a:lnSpc>
              <a:spcAft>
                <a:spcPts val="0"/>
              </a:spcAft>
              <a:buSzPct val="57826"/>
              <a:buFont typeface="Noto Sans CJK JP"/>
              <a:buChar char="●"/>
              <a:defRPr sz="2300" b="0">
                <a:solidFill>
                  <a:srgbClr val="303437"/>
                </a:solidFill>
                <a:latin typeface="Noto Sans"/>
              </a:defRPr>
            </a:pPr>
            <a:r>
              <a:rPr sz="2300" b="0" lang="ja-JP" altLang="en-US">
                <a:solidFill>
                  <a:srgbClr val="303437"/>
                </a:solidFill>
                <a:latin typeface="Noto Sans"/>
                <a:ea typeface="Noto Sans CJK JP"/>
                <a:cs typeface="Noto Sans"/>
              </a:rPr>
              <a:t>複数の課題・試行の成功率を平均し、解決率（resolution rate）を百分率で報告する。</a:t>
            </a:r>
          </a:p>
        </p:txBody>
      </p:sp>
      <p:sp>
        <p:nvSpPr>
          <p:cNvPr id="4" name="Title 3"/>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FFF"/>
                </a:solidFill>
                <a:latin typeface="Noto Sans"/>
                <a:ea typeface="Noto Sans CJK JP"/>
                <a:cs typeface="Noto Sans"/>
              </a:rPr>
              <a:t>2. 採点方法とモデルの成績</a:t>
            </a:r>
          </a:p>
        </p:txBody>
      </p:sp>
      <p:sp>
        <p:nvSpPr>
          <p:cNvPr id="5" name="TextBox 4"/>
          <p:cNvSpPr txBox="1"/>
          <p:nvPr/>
        </p:nvSpPr>
        <p:spPr>
          <a:xfrm>
            <a:off x="502920" y="4690872"/>
            <a:ext cx="8183879" cy="393192"/>
          </a:xfrm>
          <a:prstGeom prst="rect">
            <a:avLst/>
          </a:prstGeom>
          <a:noFill/>
        </p:spPr>
        <p:txBody>
          <a:bodyPr wrap="square" lIns="0" rIns="0" tIns="0" bIns="0">
            <a:noAutofit/>
          </a:bodyPr>
          <a:lstStyle/>
          <a:p>
            <a:pPr algn="l">
              <a:lnSpc>
                <a:spcPct val="112000"/>
              </a:lnSpc>
              <a:spcBef>
                <a:spcPts val="0"/>
              </a:spcBef>
              <a:spcAft>
                <a:spcPts val="0"/>
              </a:spcAft>
              <a:buNone/>
              <a:defRPr sz="810" b="0">
                <a:solidFill>
                  <a:srgbClr val="303437"/>
                </a:solidFill>
                <a:latin typeface="Noto Sans"/>
              </a:defRPr>
            </a:pPr>
            <a:r>
              <a:rPr sz="810" b="0" lang="ja-JP" altLang="en-US">
                <a:solidFill>
                  <a:srgbClr val="626669"/>
                </a:solidFill>
                <a:latin typeface="Noto Sans"/>
                <a:ea typeface="Noto Sans CJK JP"/>
                <a:cs typeface="Noto Sans"/>
              </a:rPr>
              <a:t/>
            </a:r>
            <a:r>
              <a:rPr sz="810" b="0" lang="ja-JP" altLang="en-US">
                <a:solidFill>
                  <a:srgbClr val="626669"/>
                </a:solidFill>
                <a:latin typeface="Noto Sans"/>
                <a:ea typeface="Noto Sans CJK JP"/>
                <a:cs typeface="Noto Sans"/>
              </a:rPr>
              <a:t>Merrill et al. (2026). Terminal-Bench: Benchmarking Agents on Hard, Realistic Tasks in Command Line Interfaces. arXiv:2601.11868.</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https://arxiv.org/abs/2601.11868</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786384"/>
            <a:ext cx="8046720" cy="502920"/>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説明用の3課題では、2件成功で66.7%</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FFF"/>
                </a:solidFill>
                <a:latin typeface="Noto Sans"/>
                <a:ea typeface="Noto Sans CJK JP"/>
                <a:cs typeface="Noto Sans"/>
              </a:rPr>
              <a:t>2. 採点方法とモデルの成績</a:t>
            </a:r>
          </a:p>
        </p:txBody>
      </p:sp>
      <p:graphicFrame>
        <p:nvGraphicFramePr>
          <p:cNvPr id="4" name="Table 3"/>
          <p:cNvGraphicFramePr>
            <a:graphicFrameLocks noGrp="1"/>
          </p:cNvGraphicFramePr>
          <p:nvPr/>
        </p:nvGraphicFramePr>
        <p:xfrm>
          <a:off x="548640" y="1508760"/>
          <a:ext cx="8046720" cy="2240280"/>
        </p:xfrm>
        <a:graphic>
          <a:graphicData uri="http://schemas.openxmlformats.org/drawingml/2006/table">
            <a:tbl>
              <a:tblPr firstRow="0" bandRow="0"/>
              <a:tblGrid>
                <a:gridCol w="3108960"/>
                <a:gridCol w="3474720"/>
                <a:gridCol w="1463040"/>
              </a:tblGrid>
              <a:tr h="457200">
                <a:tc>
                  <a:txBody>
                    <a:bodyPr wrap="square">
                      <a:noAutofit/>
                    </a:bodyPr>
                    <a:lstStyle/>
                    <a:p>
                      <a:pPr algn="l">
                        <a:lnSpc>
                          <a:spcPts val="2415"/>
                        </a:lnSpc>
                        <a:buNone/>
                        <a:defRPr sz="2100" b="0">
                          <a:solidFill>
                            <a:srgbClr val="303437"/>
                          </a:solidFill>
                          <a:latin typeface="Noto Sans"/>
                        </a:defRPr>
                      </a:pPr>
                      <a:r>
                        <a:rPr sz="2100" b="0" lang="ja-JP" altLang="en-US">
                          <a:solidFill>
                            <a:srgbClr val="303437"/>
                          </a:solidFill>
                          <a:latin typeface="Noto Sans"/>
                          <a:ea typeface="Noto Sans CJK JP"/>
                          <a:cs typeface="Noto Sans"/>
                        </a:rPr>
                        <a:t>説明用の試行</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c>
                  <a:txBody>
                    <a:bodyPr wrap="square">
                      <a:noAutofit/>
                    </a:bodyPr>
                    <a:lstStyle/>
                    <a:p>
                      <a:pPr algn="l">
                        <a:lnSpc>
                          <a:spcPts val="2415"/>
                        </a:lnSpc>
                        <a:buNone/>
                        <a:defRPr sz="2100" b="0">
                          <a:solidFill>
                            <a:srgbClr val="303437"/>
                          </a:solidFill>
                          <a:latin typeface="Noto Sans"/>
                        </a:defRPr>
                      </a:pPr>
                      <a:r>
                        <a:rPr sz="2100" b="0" lang="ja-JP" altLang="en-US">
                          <a:solidFill>
                            <a:srgbClr val="303437"/>
                          </a:solidFill>
                          <a:latin typeface="Noto Sans"/>
                          <a:ea typeface="Noto Sans CJK JP"/>
                          <a:cs typeface="Noto Sans"/>
                        </a:rPr>
                        <a:t>テストの結果</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c>
                  <a:txBody>
                    <a:bodyPr wrap="square">
                      <a:noAutofit/>
                    </a:bodyPr>
                    <a:lstStyle/>
                    <a:p>
                      <a:pPr algn="r">
                        <a:lnSpc>
                          <a:spcPts val="2415"/>
                        </a:lnSpc>
                        <a:buNone/>
                        <a:defRPr sz="2100" b="0">
                          <a:solidFill>
                            <a:srgbClr val="303437"/>
                          </a:solidFill>
                          <a:latin typeface="Noto Sans"/>
                        </a:defRPr>
                      </a:pPr>
                      <a:r>
                        <a:rPr sz="2100" b="0" lang="ja-JP" altLang="en-US">
                          <a:solidFill>
                            <a:srgbClr val="303437"/>
                          </a:solidFill>
                          <a:latin typeface="Noto Sans"/>
                          <a:ea typeface="Noto Sans CJK JP"/>
                          <a:cs typeface="Noto Sans"/>
                        </a:rPr>
                        <a:t>得点</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r>
              <a:tr h="594360">
                <a:tc>
                  <a:txBody>
                    <a:bodyPr wrap="square">
                      <a:noAutofit/>
                    </a:bodyPr>
                    <a:lstStyle/>
                    <a:p>
                      <a:pPr algn="l">
                        <a:lnSpc>
                          <a:spcPts val="2415"/>
                        </a:lnSpc>
                        <a:buNone/>
                        <a:defRPr sz="2100" b="0">
                          <a:solidFill>
                            <a:srgbClr val="303437"/>
                          </a:solidFill>
                          <a:latin typeface="Noto Sans"/>
                        </a:defRPr>
                      </a:pPr>
                      <a:r>
                        <a:rPr sz="2100" b="0" lang="ja-JP" altLang="en-US">
                          <a:solidFill>
                            <a:srgbClr val="303437"/>
                          </a:solidFill>
                          <a:latin typeface="Noto Sans"/>
                          <a:ea typeface="Noto Sans CJK JP"/>
                          <a:cs typeface="Noto Sans"/>
                        </a:rPr>
                        <a:t>非同期処理の実装</a:t>
                      </a:r>
                    </a:p>
                  </a:txBody>
                  <a:tcPr marL="63500" marR="63500" marT="38100" marB="38100" anchor="ctr">
                    <a:lnL w="7620">
                      <a:noFill/>
                    </a:lnL>
                    <a:lnR w="7620">
                      <a:noFill/>
                    </a:lnR>
                    <a:lnT w="7620">
                      <a:solidFill>
                        <a:srgbClr val="626669"/>
                      </a:solidFill>
                      <a:prstDash val="solid"/>
                    </a:lnT>
                    <a:lnB w="7620">
                      <a:noFill/>
                    </a:lnB>
                    <a:solidFill>
                      <a:srgbClr val="FFFEF8"/>
                    </a:solidFill>
                  </a:tcPr>
                </a:tc>
                <a:tc>
                  <a:txBody>
                    <a:bodyPr wrap="square">
                      <a:noAutofit/>
                    </a:bodyPr>
                    <a:lstStyle/>
                    <a:p>
                      <a:pPr algn="l">
                        <a:lnSpc>
                          <a:spcPts val="2415"/>
                        </a:lnSpc>
                        <a:buNone/>
                        <a:defRPr sz="2100" b="0">
                          <a:solidFill>
                            <a:srgbClr val="303437"/>
                          </a:solidFill>
                          <a:latin typeface="Noto Sans"/>
                        </a:defRPr>
                      </a:pPr>
                      <a:r>
                        <a:rPr sz="2100" b="0" lang="ja-JP" altLang="en-US">
                          <a:solidFill>
                            <a:srgbClr val="303437"/>
                          </a:solidFill>
                          <a:latin typeface="Noto Sans"/>
                          <a:ea typeface="Noto Sans CJK JP"/>
                          <a:cs typeface="Noto Sans"/>
                        </a:rPr>
                        <a:t>すべて合格</a:t>
                      </a:r>
                    </a:p>
                  </a:txBody>
                  <a:tcPr marL="63500" marR="63500" marT="38100" marB="38100" anchor="ctr">
                    <a:lnL w="7620">
                      <a:noFill/>
                    </a:lnL>
                    <a:lnR w="7620">
                      <a:noFill/>
                    </a:lnR>
                    <a:lnT w="7620">
                      <a:solidFill>
                        <a:srgbClr val="626669"/>
                      </a:solidFill>
                      <a:prstDash val="solid"/>
                    </a:lnT>
                    <a:lnB w="7620">
                      <a:noFill/>
                    </a:lnB>
                    <a:solidFill>
                      <a:srgbClr val="FFFEF8"/>
                    </a:solidFill>
                  </a:tcPr>
                </a:tc>
                <a:tc>
                  <a:txBody>
                    <a:bodyPr wrap="square">
                      <a:noAutofit/>
                    </a:bodyPr>
                    <a:lstStyle/>
                    <a:p>
                      <a:pPr algn="r">
                        <a:lnSpc>
                          <a:spcPts val="2415"/>
                        </a:lnSpc>
                        <a:buNone/>
                        <a:defRPr sz="2100" b="0">
                          <a:solidFill>
                            <a:srgbClr val="303437"/>
                          </a:solidFill>
                          <a:latin typeface="Noto Sans"/>
                        </a:defRPr>
                      </a:pPr>
                      <a:r>
                        <a:rPr sz="2100" b="0" lang="ja-JP" altLang="en-US">
                          <a:solidFill>
                            <a:srgbClr val="303437"/>
                          </a:solidFill>
                          <a:latin typeface="Noto Sans"/>
                          <a:ea typeface="Noto Sans CJK JP"/>
                          <a:cs typeface="Noto Sans"/>
                        </a:rPr>
                        <a:t>1</a:t>
                      </a:r>
                    </a:p>
                  </a:txBody>
                  <a:tcPr marL="63500" marR="63500" marT="38100" marB="38100" anchor="ctr">
                    <a:lnL w="7620">
                      <a:noFill/>
                    </a:lnL>
                    <a:lnR w="7620">
                      <a:noFill/>
                    </a:lnR>
                    <a:lnT w="7620">
                      <a:solidFill>
                        <a:srgbClr val="626669"/>
                      </a:solidFill>
                      <a:prstDash val="solid"/>
                    </a:lnT>
                    <a:lnB w="7620">
                      <a:noFill/>
                    </a:lnB>
                    <a:solidFill>
                      <a:srgbClr val="FFFEF8"/>
                    </a:solidFill>
                  </a:tcPr>
                </a:tc>
              </a:tr>
              <a:tr h="594360">
                <a:tc>
                  <a:txBody>
                    <a:bodyPr wrap="square">
                      <a:noAutofit/>
                    </a:bodyPr>
                    <a:lstStyle/>
                    <a:p>
                      <a:pPr algn="l">
                        <a:lnSpc>
                          <a:spcPts val="2415"/>
                        </a:lnSpc>
                        <a:buNone/>
                        <a:defRPr sz="2100" b="0">
                          <a:solidFill>
                            <a:srgbClr val="303437"/>
                          </a:solidFill>
                          <a:latin typeface="Noto Sans"/>
                        </a:defRPr>
                      </a:pPr>
                      <a:r>
                        <a:rPr sz="2100" b="0" lang="ja-JP" altLang="en-US">
                          <a:solidFill>
                            <a:srgbClr val="303437"/>
                          </a:solidFill>
                          <a:latin typeface="Noto Sans"/>
                          <a:ea typeface="Noto Sans CJK JP"/>
                          <a:cs typeface="Noto Sans"/>
                        </a:rPr>
                        <a:t>データベース復元</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l">
                        <a:lnSpc>
                          <a:spcPts val="2415"/>
                        </a:lnSpc>
                        <a:buNone/>
                        <a:defRPr sz="2100" b="0">
                          <a:solidFill>
                            <a:srgbClr val="303437"/>
                          </a:solidFill>
                          <a:latin typeface="Noto Sans"/>
                        </a:defRPr>
                      </a:pPr>
                      <a:r>
                        <a:rPr sz="2100" b="0" lang="ja-JP" altLang="en-US">
                          <a:solidFill>
                            <a:srgbClr val="303437"/>
                          </a:solidFill>
                          <a:latin typeface="Noto Sans"/>
                          <a:ea typeface="Noto Sans CJK JP"/>
                          <a:cs typeface="Noto Sans"/>
                        </a:rPr>
                        <a:t>復元件数が不足</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r">
                        <a:lnSpc>
                          <a:spcPts val="2415"/>
                        </a:lnSpc>
                        <a:buNone/>
                        <a:defRPr sz="2100" b="0">
                          <a:solidFill>
                            <a:srgbClr val="303437"/>
                          </a:solidFill>
                          <a:latin typeface="Noto Sans"/>
                        </a:defRPr>
                      </a:pPr>
                      <a:r>
                        <a:rPr sz="2100" b="0" lang="ja-JP" altLang="en-US">
                          <a:solidFill>
                            <a:srgbClr val="303437"/>
                          </a:solidFill>
                          <a:latin typeface="Noto Sans"/>
                          <a:ea typeface="Noto Sans CJK JP"/>
                          <a:cs typeface="Noto Sans"/>
                        </a:rPr>
                        <a:t>0</a:t>
                      </a:r>
                    </a:p>
                  </a:txBody>
                  <a:tcPr marL="63500" marR="63500" marT="38100" marB="38100" anchor="ctr">
                    <a:lnL w="7620">
                      <a:noFill/>
                    </a:lnL>
                    <a:lnR w="7620">
                      <a:noFill/>
                    </a:lnR>
                    <a:lnT w="7620">
                      <a:noFill/>
                    </a:lnT>
                    <a:lnB w="7620">
                      <a:noFill/>
                    </a:lnB>
                    <a:solidFill>
                      <a:srgbClr val="FFFEF8"/>
                    </a:solidFill>
                  </a:tcPr>
                </a:tc>
              </a:tr>
              <a:tr h="594360">
                <a:tc>
                  <a:txBody>
                    <a:bodyPr wrap="square">
                      <a:noAutofit/>
                    </a:bodyPr>
                    <a:lstStyle/>
                    <a:p>
                      <a:pPr algn="l">
                        <a:lnSpc>
                          <a:spcPts val="2415"/>
                        </a:lnSpc>
                        <a:buNone/>
                        <a:defRPr sz="2100" b="0">
                          <a:solidFill>
                            <a:srgbClr val="303437"/>
                          </a:solidFill>
                          <a:latin typeface="Noto Sans"/>
                        </a:defRPr>
                      </a:pPr>
                      <a:r>
                        <a:rPr sz="2100" b="0" lang="ja-JP" altLang="en-US">
                          <a:solidFill>
                            <a:srgbClr val="303437"/>
                          </a:solidFill>
                          <a:latin typeface="Noto Sans"/>
                          <a:ea typeface="Noto Sans CJK JP"/>
                          <a:cs typeface="Noto Sans"/>
                        </a:rPr>
                        <a:t>COBOLの移植</a:t>
                      </a:r>
                    </a:p>
                  </a:txBody>
                  <a:tcPr marL="63500" marR="63500" marT="38100" marB="38100" anchor="ctr">
                    <a:lnL w="7620">
                      <a:noFill/>
                    </a:lnL>
                    <a:lnR w="7620">
                      <a:noFill/>
                    </a:lnR>
                    <a:lnT w="7620">
                      <a:noFill/>
                    </a:lnT>
                    <a:lnB w="15240">
                      <a:solidFill>
                        <a:srgbClr val="626669"/>
                      </a:solidFill>
                      <a:prstDash val="solid"/>
                    </a:lnB>
                    <a:solidFill>
                      <a:srgbClr val="FFFEF8"/>
                    </a:solidFill>
                  </a:tcPr>
                </a:tc>
                <a:tc>
                  <a:txBody>
                    <a:bodyPr wrap="square">
                      <a:noAutofit/>
                    </a:bodyPr>
                    <a:lstStyle/>
                    <a:p>
                      <a:pPr algn="l">
                        <a:lnSpc>
                          <a:spcPts val="2415"/>
                        </a:lnSpc>
                        <a:buNone/>
                        <a:defRPr sz="2100" b="0">
                          <a:solidFill>
                            <a:srgbClr val="303437"/>
                          </a:solidFill>
                          <a:latin typeface="Noto Sans"/>
                        </a:defRPr>
                      </a:pPr>
                      <a:r>
                        <a:rPr sz="2100" b="0" lang="ja-JP" altLang="en-US">
                          <a:solidFill>
                            <a:srgbClr val="303437"/>
                          </a:solidFill>
                          <a:latin typeface="Noto Sans"/>
                          <a:ea typeface="Noto Sans CJK JP"/>
                          <a:cs typeface="Noto Sans"/>
                        </a:rPr>
                        <a:t>すべて合格</a:t>
                      </a:r>
                    </a:p>
                  </a:txBody>
                  <a:tcPr marL="63500" marR="63500" marT="38100" marB="38100" anchor="ctr">
                    <a:lnL w="7620">
                      <a:noFill/>
                    </a:lnL>
                    <a:lnR w="7620">
                      <a:noFill/>
                    </a:lnR>
                    <a:lnT w="7620">
                      <a:noFill/>
                    </a:lnT>
                    <a:lnB w="15240">
                      <a:solidFill>
                        <a:srgbClr val="626669"/>
                      </a:solidFill>
                      <a:prstDash val="solid"/>
                    </a:lnB>
                    <a:solidFill>
                      <a:srgbClr val="FFFEF8"/>
                    </a:solidFill>
                  </a:tcPr>
                </a:tc>
                <a:tc>
                  <a:txBody>
                    <a:bodyPr wrap="square">
                      <a:noAutofit/>
                    </a:bodyPr>
                    <a:lstStyle/>
                    <a:p>
                      <a:pPr algn="r">
                        <a:lnSpc>
                          <a:spcPts val="2415"/>
                        </a:lnSpc>
                        <a:buNone/>
                        <a:defRPr sz="2100" b="0">
                          <a:solidFill>
                            <a:srgbClr val="303437"/>
                          </a:solidFill>
                          <a:latin typeface="Noto Sans"/>
                        </a:defRPr>
                      </a:pPr>
                      <a:r>
                        <a:rPr sz="2100" b="0" lang="ja-JP" altLang="en-US">
                          <a:solidFill>
                            <a:srgbClr val="303437"/>
                          </a:solidFill>
                          <a:latin typeface="Noto Sans"/>
                          <a:ea typeface="Noto Sans CJK JP"/>
                          <a:cs typeface="Noto Sans"/>
                        </a:rPr>
                        <a:t>1</a:t>
                      </a:r>
                    </a:p>
                  </a:txBody>
                  <a:tcPr marL="63500" marR="63500" marT="38100" marB="38100" anchor="ctr">
                    <a:lnL w="7620">
                      <a:noFill/>
                    </a:lnL>
                    <a:lnR w="7620">
                      <a:noFill/>
                    </a:lnR>
                    <a:lnT w="7620">
                      <a:noFill/>
                    </a:lnT>
                    <a:lnB w="15240">
                      <a:solidFill>
                        <a:srgbClr val="626669"/>
                      </a:solidFill>
                      <a:prstDash val="solid"/>
                    </a:lnB>
                    <a:solidFill>
                      <a:srgbClr val="FFFEF8"/>
                    </a:solidFill>
                  </a:tcPr>
                </a:tc>
              </a:tr>
            </a:tbl>
          </a:graphicData>
        </a:graphic>
      </p:graphicFrame>
      <p:sp>
        <p:nvSpPr>
          <p:cNvPr id="5" name="TextBox 4"/>
          <p:cNvSpPr txBox="1"/>
          <p:nvPr/>
        </p:nvSpPr>
        <p:spPr>
          <a:xfrm>
            <a:off x="594360" y="3941063"/>
            <a:ext cx="7955279" cy="685800"/>
          </a:xfrm>
          <a:prstGeom prst="rect">
            <a:avLst/>
          </a:prstGeom>
          <a:noFill/>
        </p:spPr>
        <p:txBody>
          <a:bodyPr wrap="square" lIns="0" rIns="0" tIns="0" bIns="0">
            <a:noAutofit/>
          </a:bodyPr>
          <a:lstStyle/>
          <a:p>
            <a:pPr algn="l">
              <a:lnSpc>
                <a:spcPts val="2160"/>
              </a:lnSpc>
              <a:spcBef>
                <a:spcPts val="0"/>
              </a:spcBef>
              <a:spcAft>
                <a:spcPts val="0"/>
              </a:spcAft>
              <a:buNone/>
              <a:defRPr sz="1800" b="0">
                <a:solidFill>
                  <a:srgbClr val="303437"/>
                </a:solidFill>
                <a:latin typeface="Noto Sans"/>
              </a:defRPr>
            </a:pPr>
            <a:r>
              <a:rPr sz="1800" b="0" lang="ja-JP" altLang="en-US">
                <a:solidFill>
                  <a:srgbClr val="303437"/>
                </a:solidFill>
                <a:latin typeface="Noto Sans"/>
                <a:ea typeface="Noto Sans CJK JP"/>
                <a:cs typeface="Noto Sans"/>
              </a:rPr>
              <a:t>成功2件を全3件で割り、百分率にすると約66.7%。</a:t>
            </a:r>
          </a:p>
        </p:txBody>
      </p:sp>
      <p:sp>
        <p:nvSpPr>
          <p:cNvPr id="6" name="TextBox 5"/>
          <p:cNvSpPr txBox="1"/>
          <p:nvPr/>
        </p:nvSpPr>
        <p:spPr>
          <a:xfrm>
            <a:off x="502920" y="4690872"/>
            <a:ext cx="8183879" cy="393192"/>
          </a:xfrm>
          <a:prstGeom prst="rect">
            <a:avLst/>
          </a:prstGeom>
          <a:noFill/>
        </p:spPr>
        <p:txBody>
          <a:bodyPr wrap="square" lIns="0" rIns="0" tIns="0" bIns="0">
            <a:noAutofit/>
          </a:bodyPr>
          <a:lstStyle/>
          <a:p>
            <a:pPr algn="l">
              <a:lnSpc>
                <a:spcPct val="112000"/>
              </a:lnSpc>
              <a:spcBef>
                <a:spcPts val="0"/>
              </a:spcBef>
              <a:spcAft>
                <a:spcPts val="0"/>
              </a:spcAft>
              <a:buNone/>
              <a:defRPr sz="810" b="0">
                <a:solidFill>
                  <a:srgbClr val="303437"/>
                </a:solidFill>
                <a:latin typeface="Noto Sans"/>
              </a:defRPr>
            </a:pPr>
            <a:r>
              <a:rPr sz="810" b="0" lang="ja-JP" altLang="en-US">
                <a:solidFill>
                  <a:srgbClr val="626669"/>
                </a:solidFill>
                <a:latin typeface="Noto Sans"/>
                <a:ea typeface="Noto Sans CJK JP"/>
                <a:cs typeface="Noto Sans"/>
              </a:rPr>
              <a:t/>
            </a:r>
            <a:r>
              <a:rPr sz="810" b="0" lang="ja-JP" altLang="en-US">
                <a:solidFill>
                  <a:srgbClr val="626669"/>
                </a:solidFill>
                <a:latin typeface="Noto Sans"/>
                <a:ea typeface="Noto Sans CJK JP"/>
                <a:cs typeface="Noto Sans"/>
              </a:rPr>
              <a:t>Merrill et al. (2026). Terminal-Bench: Benchmarking Agents on Hard, Realistic Tasks in Command Line Interfaces. arXiv:2601.11868.</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https://arxiv.org/abs/2601.11868</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786384"/>
            <a:ext cx="8046720" cy="502920"/>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Merrillら（2026）による2.0の評価</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FFF"/>
                </a:solidFill>
                <a:latin typeface="Noto Sans"/>
                <a:ea typeface="Noto Sans CJK JP"/>
                <a:cs typeface="Noto Sans"/>
              </a:rPr>
              <a:t>2. 採点方法とモデルの成績</a:t>
            </a:r>
          </a:p>
        </p:txBody>
      </p:sp>
      <p:graphicFrame>
        <p:nvGraphicFramePr>
          <p:cNvPr id="4" name="Table 3"/>
          <p:cNvGraphicFramePr>
            <a:graphicFrameLocks noGrp="1"/>
          </p:cNvGraphicFramePr>
          <p:nvPr/>
        </p:nvGraphicFramePr>
        <p:xfrm>
          <a:off x="548640" y="1508760"/>
          <a:ext cx="8046720" cy="2240280"/>
        </p:xfrm>
        <a:graphic>
          <a:graphicData uri="http://schemas.openxmlformats.org/drawingml/2006/table">
            <a:tbl>
              <a:tblPr firstRow="0" bandRow="0"/>
              <a:tblGrid>
                <a:gridCol w="3200400"/>
                <a:gridCol w="3200400"/>
                <a:gridCol w="1645920"/>
              </a:tblGrid>
              <a:tr h="457200">
                <a:tc>
                  <a:txBody>
                    <a:bodyPr wrap="square">
                      <a:noAutofit/>
                    </a:bodyPr>
                    <a:lstStyle/>
                    <a:p>
                      <a:pPr algn="l">
                        <a:lnSpc>
                          <a:spcPts val="2415"/>
                        </a:lnSpc>
                        <a:buNone/>
                        <a:defRPr sz="2100" b="0">
                          <a:solidFill>
                            <a:srgbClr val="303437"/>
                          </a:solidFill>
                          <a:latin typeface="Noto Sans"/>
                        </a:defRPr>
                      </a:pPr>
                      <a:r>
                        <a:rPr sz="2100" b="0" lang="ja-JP" altLang="en-US">
                          <a:solidFill>
                            <a:srgbClr val="303437"/>
                          </a:solidFill>
                          <a:latin typeface="Noto Sans"/>
                          <a:ea typeface="Noto Sans CJK JP"/>
                          <a:cs typeface="Noto Sans"/>
                        </a:rPr>
                        <a:t>モデル</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c>
                  <a:txBody>
                    <a:bodyPr wrap="square">
                      <a:noAutofit/>
                    </a:bodyPr>
                    <a:lstStyle/>
                    <a:p>
                      <a:pPr algn="l">
                        <a:lnSpc>
                          <a:spcPts val="2415"/>
                        </a:lnSpc>
                        <a:buNone/>
                        <a:defRPr sz="2100" b="0">
                          <a:solidFill>
                            <a:srgbClr val="303437"/>
                          </a:solidFill>
                          <a:latin typeface="Noto Sans"/>
                        </a:defRPr>
                      </a:pPr>
                      <a:r>
                        <a:rPr sz="2100" b="0" lang="ja-JP" altLang="en-US">
                          <a:solidFill>
                            <a:srgbClr val="303437"/>
                          </a:solidFill>
                          <a:latin typeface="Noto Sans"/>
                          <a:ea typeface="Noto Sans CJK JP"/>
                          <a:cs typeface="Noto Sans"/>
                        </a:rPr>
                        <a:t>エージェント</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c>
                  <a:txBody>
                    <a:bodyPr wrap="square">
                      <a:noAutofit/>
                    </a:bodyPr>
                    <a:lstStyle/>
                    <a:p>
                      <a:pPr algn="r">
                        <a:lnSpc>
                          <a:spcPts val="2415"/>
                        </a:lnSpc>
                        <a:buNone/>
                        <a:defRPr sz="2100" b="0">
                          <a:solidFill>
                            <a:srgbClr val="303437"/>
                          </a:solidFill>
                          <a:latin typeface="Noto Sans"/>
                        </a:defRPr>
                      </a:pPr>
                      <a:r>
                        <a:rPr sz="2100" b="0" lang="ja-JP" altLang="en-US">
                          <a:solidFill>
                            <a:srgbClr val="303437"/>
                          </a:solidFill>
                          <a:latin typeface="Noto Sans"/>
                          <a:ea typeface="Noto Sans CJK JP"/>
                          <a:cs typeface="Noto Sans"/>
                        </a:rPr>
                        <a:t>解決率</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r>
              <a:tr h="594360">
                <a:tc>
                  <a:txBody>
                    <a:bodyPr wrap="square">
                      <a:noAutofit/>
                    </a:bodyPr>
                    <a:lstStyle/>
                    <a:p>
                      <a:pPr algn="l">
                        <a:lnSpc>
                          <a:spcPts val="2415"/>
                        </a:lnSpc>
                        <a:buNone/>
                        <a:defRPr sz="2100" b="0">
                          <a:solidFill>
                            <a:srgbClr val="303437"/>
                          </a:solidFill>
                          <a:latin typeface="Noto Sans"/>
                        </a:defRPr>
                      </a:pPr>
                      <a:r>
                        <a:rPr sz="2100" b="0" lang="ja-JP" altLang="en-US">
                          <a:solidFill>
                            <a:srgbClr val="303437"/>
                          </a:solidFill>
                          <a:latin typeface="Noto Sans"/>
                          <a:ea typeface="Noto Sans CJK JP"/>
                          <a:cs typeface="Noto Sans"/>
                        </a:rPr>
                        <a:t>GPT-5.2</a:t>
                      </a:r>
                    </a:p>
                  </a:txBody>
                  <a:tcPr marL="63500" marR="63500" marT="38100" marB="38100" anchor="ctr">
                    <a:lnL w="7620">
                      <a:noFill/>
                    </a:lnL>
                    <a:lnR w="7620">
                      <a:noFill/>
                    </a:lnR>
                    <a:lnT w="7620">
                      <a:solidFill>
                        <a:srgbClr val="626669"/>
                      </a:solidFill>
                      <a:prstDash val="solid"/>
                    </a:lnT>
                    <a:lnB w="7620">
                      <a:noFill/>
                    </a:lnB>
                    <a:solidFill>
                      <a:srgbClr val="FFFEF8"/>
                    </a:solidFill>
                  </a:tcPr>
                </a:tc>
                <a:tc>
                  <a:txBody>
                    <a:bodyPr wrap="square">
                      <a:noAutofit/>
                    </a:bodyPr>
                    <a:lstStyle/>
                    <a:p>
                      <a:pPr algn="l">
                        <a:lnSpc>
                          <a:spcPts val="2415"/>
                        </a:lnSpc>
                        <a:buNone/>
                        <a:defRPr sz="2100" b="0">
                          <a:solidFill>
                            <a:srgbClr val="303437"/>
                          </a:solidFill>
                          <a:latin typeface="Noto Sans"/>
                        </a:defRPr>
                      </a:pPr>
                      <a:r>
                        <a:rPr sz="2100" b="0" lang="ja-JP" altLang="en-US">
                          <a:solidFill>
                            <a:srgbClr val="303437"/>
                          </a:solidFill>
                          <a:latin typeface="Noto Sans"/>
                          <a:ea typeface="Noto Sans CJK JP"/>
                          <a:cs typeface="Noto Sans"/>
                        </a:rPr>
                        <a:t>Codex CLI</a:t>
                      </a:r>
                    </a:p>
                  </a:txBody>
                  <a:tcPr marL="63500" marR="63500" marT="38100" marB="38100" anchor="ctr">
                    <a:lnL w="7620">
                      <a:noFill/>
                    </a:lnL>
                    <a:lnR w="7620">
                      <a:noFill/>
                    </a:lnR>
                    <a:lnT w="7620">
                      <a:solidFill>
                        <a:srgbClr val="626669"/>
                      </a:solidFill>
                      <a:prstDash val="solid"/>
                    </a:lnT>
                    <a:lnB w="7620">
                      <a:noFill/>
                    </a:lnB>
                    <a:solidFill>
                      <a:srgbClr val="FFFEF8"/>
                    </a:solidFill>
                  </a:tcPr>
                </a:tc>
                <a:tc>
                  <a:txBody>
                    <a:bodyPr wrap="square">
                      <a:noAutofit/>
                    </a:bodyPr>
                    <a:lstStyle/>
                    <a:p>
                      <a:pPr algn="r">
                        <a:lnSpc>
                          <a:spcPts val="2415"/>
                        </a:lnSpc>
                        <a:buNone/>
                        <a:defRPr sz="2100" b="0">
                          <a:solidFill>
                            <a:srgbClr val="303437"/>
                          </a:solidFill>
                          <a:latin typeface="Noto Sans"/>
                        </a:defRPr>
                      </a:pPr>
                      <a:r>
                        <a:rPr sz="2100" b="0" lang="ja-JP" altLang="en-US">
                          <a:solidFill>
                            <a:srgbClr val="303437"/>
                          </a:solidFill>
                          <a:latin typeface="Noto Sans"/>
                          <a:ea typeface="Noto Sans CJK JP"/>
                          <a:cs typeface="Noto Sans"/>
                        </a:rPr>
                        <a:t>62.9%</a:t>
                      </a:r>
                    </a:p>
                  </a:txBody>
                  <a:tcPr marL="63500" marR="63500" marT="38100" marB="38100" anchor="ctr">
                    <a:lnL w="7620">
                      <a:noFill/>
                    </a:lnL>
                    <a:lnR w="7620">
                      <a:noFill/>
                    </a:lnR>
                    <a:lnT w="7620">
                      <a:solidFill>
                        <a:srgbClr val="626669"/>
                      </a:solidFill>
                      <a:prstDash val="solid"/>
                    </a:lnT>
                    <a:lnB w="7620">
                      <a:noFill/>
                    </a:lnB>
                    <a:solidFill>
                      <a:srgbClr val="FFFEF8"/>
                    </a:solidFill>
                  </a:tcPr>
                </a:tc>
              </a:tr>
              <a:tr h="594360">
                <a:tc>
                  <a:txBody>
                    <a:bodyPr wrap="square">
                      <a:noAutofit/>
                    </a:bodyPr>
                    <a:lstStyle/>
                    <a:p>
                      <a:pPr algn="l">
                        <a:lnSpc>
                          <a:spcPts val="2415"/>
                        </a:lnSpc>
                        <a:buNone/>
                        <a:defRPr sz="2100" b="0">
                          <a:solidFill>
                            <a:srgbClr val="303437"/>
                          </a:solidFill>
                          <a:latin typeface="Noto Sans"/>
                        </a:defRPr>
                      </a:pPr>
                      <a:r>
                        <a:rPr sz="2100" b="0" lang="ja-JP" altLang="en-US">
                          <a:solidFill>
                            <a:srgbClr val="303437"/>
                          </a:solidFill>
                          <a:latin typeface="Noto Sans"/>
                          <a:ea typeface="Noto Sans CJK JP"/>
                          <a:cs typeface="Noto Sans"/>
                        </a:rPr>
                        <a:t>Claude Opus 4.5</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l">
                        <a:lnSpc>
                          <a:spcPts val="2415"/>
                        </a:lnSpc>
                        <a:buNone/>
                        <a:defRPr sz="2100" b="0">
                          <a:solidFill>
                            <a:srgbClr val="303437"/>
                          </a:solidFill>
                          <a:latin typeface="Noto Sans"/>
                        </a:defRPr>
                      </a:pPr>
                      <a:r>
                        <a:rPr sz="2100" b="0" lang="ja-JP" altLang="en-US">
                          <a:solidFill>
                            <a:srgbClr val="303437"/>
                          </a:solidFill>
                          <a:latin typeface="Noto Sans"/>
                          <a:ea typeface="Noto Sans CJK JP"/>
                          <a:cs typeface="Noto Sans"/>
                        </a:rPr>
                        <a:t>Terminus 2</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r">
                        <a:lnSpc>
                          <a:spcPts val="2415"/>
                        </a:lnSpc>
                        <a:buNone/>
                        <a:defRPr sz="2100" b="0">
                          <a:solidFill>
                            <a:srgbClr val="303437"/>
                          </a:solidFill>
                          <a:latin typeface="Noto Sans"/>
                        </a:defRPr>
                      </a:pPr>
                      <a:r>
                        <a:rPr sz="2100" b="0" lang="ja-JP" altLang="en-US">
                          <a:solidFill>
                            <a:srgbClr val="303437"/>
                          </a:solidFill>
                          <a:latin typeface="Noto Sans"/>
                          <a:ea typeface="Noto Sans CJK JP"/>
                          <a:cs typeface="Noto Sans"/>
                        </a:rPr>
                        <a:t>57.8%</a:t>
                      </a:r>
                    </a:p>
                  </a:txBody>
                  <a:tcPr marL="63500" marR="63500" marT="38100" marB="38100" anchor="ctr">
                    <a:lnL w="7620">
                      <a:noFill/>
                    </a:lnL>
                    <a:lnR w="7620">
                      <a:noFill/>
                    </a:lnR>
                    <a:lnT w="7620">
                      <a:noFill/>
                    </a:lnT>
                    <a:lnB w="7620">
                      <a:noFill/>
                    </a:lnB>
                    <a:solidFill>
                      <a:srgbClr val="FFFEF8"/>
                    </a:solidFill>
                  </a:tcPr>
                </a:tc>
              </a:tr>
              <a:tr h="594360">
                <a:tc>
                  <a:txBody>
                    <a:bodyPr wrap="square">
                      <a:noAutofit/>
                    </a:bodyPr>
                    <a:lstStyle/>
                    <a:p>
                      <a:pPr algn="l">
                        <a:lnSpc>
                          <a:spcPts val="2415"/>
                        </a:lnSpc>
                        <a:buNone/>
                        <a:defRPr sz="2100" b="0">
                          <a:solidFill>
                            <a:srgbClr val="303437"/>
                          </a:solidFill>
                          <a:latin typeface="Noto Sans"/>
                        </a:defRPr>
                      </a:pPr>
                      <a:r>
                        <a:rPr sz="2100" b="0" lang="ja-JP" altLang="en-US">
                          <a:solidFill>
                            <a:srgbClr val="303437"/>
                          </a:solidFill>
                          <a:latin typeface="Noto Sans"/>
                          <a:ea typeface="Noto Sans CJK JP"/>
                          <a:cs typeface="Noto Sans"/>
                        </a:rPr>
                        <a:t>Gemini 3 Pro</a:t>
                      </a:r>
                    </a:p>
                  </a:txBody>
                  <a:tcPr marL="63500" marR="63500" marT="38100" marB="38100" anchor="ctr">
                    <a:lnL w="7620">
                      <a:noFill/>
                    </a:lnL>
                    <a:lnR w="7620">
                      <a:noFill/>
                    </a:lnR>
                    <a:lnT w="7620">
                      <a:noFill/>
                    </a:lnT>
                    <a:lnB w="15240">
                      <a:solidFill>
                        <a:srgbClr val="626669"/>
                      </a:solidFill>
                      <a:prstDash val="solid"/>
                    </a:lnB>
                    <a:solidFill>
                      <a:srgbClr val="FFFEF8"/>
                    </a:solidFill>
                  </a:tcPr>
                </a:tc>
                <a:tc>
                  <a:txBody>
                    <a:bodyPr wrap="square">
                      <a:noAutofit/>
                    </a:bodyPr>
                    <a:lstStyle/>
                    <a:p>
                      <a:pPr algn="l">
                        <a:lnSpc>
                          <a:spcPts val="2415"/>
                        </a:lnSpc>
                        <a:buNone/>
                        <a:defRPr sz="2100" b="0">
                          <a:solidFill>
                            <a:srgbClr val="303437"/>
                          </a:solidFill>
                          <a:latin typeface="Noto Sans"/>
                        </a:defRPr>
                      </a:pPr>
                      <a:r>
                        <a:rPr sz="2100" b="0" lang="ja-JP" altLang="en-US">
                          <a:solidFill>
                            <a:srgbClr val="303437"/>
                          </a:solidFill>
                          <a:latin typeface="Noto Sans"/>
                          <a:ea typeface="Noto Sans CJK JP"/>
                          <a:cs typeface="Noto Sans"/>
                        </a:rPr>
                        <a:t>Terminus 2</a:t>
                      </a:r>
                    </a:p>
                  </a:txBody>
                  <a:tcPr marL="63500" marR="63500" marT="38100" marB="38100" anchor="ctr">
                    <a:lnL w="7620">
                      <a:noFill/>
                    </a:lnL>
                    <a:lnR w="7620">
                      <a:noFill/>
                    </a:lnR>
                    <a:lnT w="7620">
                      <a:noFill/>
                    </a:lnT>
                    <a:lnB w="15240">
                      <a:solidFill>
                        <a:srgbClr val="626669"/>
                      </a:solidFill>
                      <a:prstDash val="solid"/>
                    </a:lnB>
                    <a:solidFill>
                      <a:srgbClr val="FFFEF8"/>
                    </a:solidFill>
                  </a:tcPr>
                </a:tc>
                <a:tc>
                  <a:txBody>
                    <a:bodyPr wrap="square">
                      <a:noAutofit/>
                    </a:bodyPr>
                    <a:lstStyle/>
                    <a:p>
                      <a:pPr algn="r">
                        <a:lnSpc>
                          <a:spcPts val="2415"/>
                        </a:lnSpc>
                        <a:buNone/>
                        <a:defRPr sz="2100" b="0">
                          <a:solidFill>
                            <a:srgbClr val="303437"/>
                          </a:solidFill>
                          <a:latin typeface="Noto Sans"/>
                        </a:defRPr>
                      </a:pPr>
                      <a:r>
                        <a:rPr sz="2100" b="0" lang="ja-JP" altLang="en-US">
                          <a:solidFill>
                            <a:srgbClr val="303437"/>
                          </a:solidFill>
                          <a:latin typeface="Noto Sans"/>
                          <a:ea typeface="Noto Sans CJK JP"/>
                          <a:cs typeface="Noto Sans"/>
                        </a:rPr>
                        <a:t>56.9%</a:t>
                      </a:r>
                    </a:p>
                  </a:txBody>
                  <a:tcPr marL="63500" marR="63500" marT="38100" marB="38100" anchor="ctr">
                    <a:lnL w="7620">
                      <a:noFill/>
                    </a:lnL>
                    <a:lnR w="7620">
                      <a:noFill/>
                    </a:lnR>
                    <a:lnT w="7620">
                      <a:noFill/>
                    </a:lnT>
                    <a:lnB w="15240">
                      <a:solidFill>
                        <a:srgbClr val="626669"/>
                      </a:solidFill>
                      <a:prstDash val="solid"/>
                    </a:lnB>
                    <a:solidFill>
                      <a:srgbClr val="FFFEF8"/>
                    </a:solidFill>
                  </a:tcPr>
                </a:tc>
              </a:tr>
            </a:tbl>
          </a:graphicData>
        </a:graphic>
      </p:graphicFrame>
      <p:sp>
        <p:nvSpPr>
          <p:cNvPr id="5" name="TextBox 4"/>
          <p:cNvSpPr txBox="1"/>
          <p:nvPr/>
        </p:nvSpPr>
        <p:spPr>
          <a:xfrm>
            <a:off x="594360" y="3941063"/>
            <a:ext cx="7955279" cy="685800"/>
          </a:xfrm>
          <a:prstGeom prst="rect">
            <a:avLst/>
          </a:prstGeom>
          <a:noFill/>
        </p:spPr>
        <p:txBody>
          <a:bodyPr wrap="square" lIns="0" rIns="0" tIns="0" bIns="0">
            <a:noAutofit/>
          </a:bodyPr>
          <a:lstStyle/>
          <a:p>
            <a:pPr algn="l">
              <a:lnSpc>
                <a:spcPts val="2160"/>
              </a:lnSpc>
              <a:spcBef>
                <a:spcPts val="0"/>
              </a:spcBef>
              <a:spcAft>
                <a:spcPts val="0"/>
              </a:spcAft>
              <a:buNone/>
              <a:defRPr sz="1800" b="0">
                <a:solidFill>
                  <a:srgbClr val="303437"/>
                </a:solidFill>
                <a:latin typeface="Noto Sans"/>
              </a:defRPr>
            </a:pPr>
            <a:r>
              <a:rPr sz="1800" b="0" lang="ja-JP" altLang="en-US">
                <a:solidFill>
                  <a:srgbClr val="303437"/>
                </a:solidFill>
                <a:latin typeface="Noto Sans"/>
                <a:ea typeface="Noto Sans CJK JP"/>
                <a:cs typeface="Noto Sans"/>
              </a:rPr>
              <a:t>各モデルとエージェントの組を5回以上評価。</a:t>
            </a:r>
          </a:p>
        </p:txBody>
      </p:sp>
      <p:sp>
        <p:nvSpPr>
          <p:cNvPr id="6" name="TextBox 5"/>
          <p:cNvSpPr txBox="1"/>
          <p:nvPr/>
        </p:nvSpPr>
        <p:spPr>
          <a:xfrm>
            <a:off x="502920" y="4690872"/>
            <a:ext cx="8183879" cy="393192"/>
          </a:xfrm>
          <a:prstGeom prst="rect">
            <a:avLst/>
          </a:prstGeom>
          <a:noFill/>
        </p:spPr>
        <p:txBody>
          <a:bodyPr wrap="square" lIns="0" rIns="0" tIns="0" bIns="0">
            <a:noAutofit/>
          </a:bodyPr>
          <a:lstStyle/>
          <a:p>
            <a:pPr algn="l">
              <a:lnSpc>
                <a:spcPct val="112000"/>
              </a:lnSpc>
              <a:spcBef>
                <a:spcPts val="0"/>
              </a:spcBef>
              <a:spcAft>
                <a:spcPts val="0"/>
              </a:spcAft>
              <a:buNone/>
              <a:defRPr sz="810" b="0">
                <a:solidFill>
                  <a:srgbClr val="303437"/>
                </a:solidFill>
                <a:latin typeface="Noto Sans"/>
              </a:defRPr>
            </a:pPr>
            <a:r>
              <a:rPr sz="810" b="0" lang="ja-JP" altLang="en-US">
                <a:solidFill>
                  <a:srgbClr val="626669"/>
                </a:solidFill>
                <a:latin typeface="Noto Sans"/>
                <a:ea typeface="Noto Sans CJK JP"/>
                <a:cs typeface="Noto Sans"/>
              </a:rPr>
              <a:t/>
            </a:r>
            <a:r>
              <a:rPr sz="810" b="0" lang="ja-JP" altLang="en-US">
                <a:solidFill>
                  <a:srgbClr val="626669"/>
                </a:solidFill>
                <a:latin typeface="Noto Sans"/>
                <a:ea typeface="Noto Sans CJK JP"/>
                <a:cs typeface="Noto Sans"/>
              </a:rPr>
              <a:t>Merrill et al. (2026). Terminal-Bench: Benchmarking Agents on Hard, Realistic Tasks in Command Line Interfaces. arXiv:2601.11868.</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https://arxiv.org/abs/2601.11868</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786384"/>
            <a:ext cx="8046720" cy="502920"/>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2026年の2.0評価でも複数系列が使われる</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FFF"/>
                </a:solidFill>
                <a:latin typeface="Noto Sans"/>
                <a:ea typeface="Noto Sans CJK JP"/>
                <a:cs typeface="Noto Sans"/>
              </a:rPr>
              <a:t>2. 採点方法とモデルの成績</a:t>
            </a:r>
          </a:p>
        </p:txBody>
      </p:sp>
      <p:graphicFrame>
        <p:nvGraphicFramePr>
          <p:cNvPr id="4" name="Table 3"/>
          <p:cNvGraphicFramePr>
            <a:graphicFrameLocks noGrp="1"/>
          </p:cNvGraphicFramePr>
          <p:nvPr/>
        </p:nvGraphicFramePr>
        <p:xfrm>
          <a:off x="548640" y="1508760"/>
          <a:ext cx="8046720" cy="2240280"/>
        </p:xfrm>
        <a:graphic>
          <a:graphicData uri="http://schemas.openxmlformats.org/drawingml/2006/table">
            <a:tbl>
              <a:tblPr firstRow="0" bandRow="0"/>
              <a:tblGrid>
                <a:gridCol w="6217920"/>
                <a:gridCol w="1828800"/>
              </a:tblGrid>
              <a:tr h="457200">
                <a:tc>
                  <a:txBody>
                    <a:bodyPr wrap="square">
                      <a:noAutofit/>
                    </a:bodyPr>
                    <a:lstStyle/>
                    <a:p>
                      <a:pPr algn="l">
                        <a:lnSpc>
                          <a:spcPts val="2415"/>
                        </a:lnSpc>
                        <a:buNone/>
                        <a:defRPr sz="2100" b="0">
                          <a:solidFill>
                            <a:srgbClr val="303437"/>
                          </a:solidFill>
                          <a:latin typeface="Noto Sans"/>
                        </a:defRPr>
                      </a:pPr>
                      <a:r>
                        <a:rPr sz="2100" b="0" lang="ja-JP" altLang="en-US">
                          <a:solidFill>
                            <a:srgbClr val="303437"/>
                          </a:solidFill>
                          <a:latin typeface="Noto Sans"/>
                          <a:ea typeface="Noto Sans CJK JP"/>
                          <a:cs typeface="Noto Sans"/>
                        </a:rPr>
                        <a:t>モデル（Google公表表）</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c>
                  <a:txBody>
                    <a:bodyPr wrap="square">
                      <a:noAutofit/>
                    </a:bodyPr>
                    <a:lstStyle/>
                    <a:p>
                      <a:pPr algn="r">
                        <a:lnSpc>
                          <a:spcPts val="2415"/>
                        </a:lnSpc>
                        <a:buNone/>
                        <a:defRPr sz="2100" b="0">
                          <a:solidFill>
                            <a:srgbClr val="303437"/>
                          </a:solidFill>
                          <a:latin typeface="Noto Sans"/>
                        </a:defRPr>
                      </a:pPr>
                      <a:r>
                        <a:rPr sz="2100" b="0" lang="ja-JP" altLang="en-US">
                          <a:solidFill>
                            <a:srgbClr val="303437"/>
                          </a:solidFill>
                          <a:latin typeface="Noto Sans"/>
                          <a:ea typeface="Noto Sans CJK JP"/>
                          <a:cs typeface="Noto Sans"/>
                        </a:rPr>
                        <a:t>解決率</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r>
              <a:tr h="594360">
                <a:tc>
                  <a:txBody>
                    <a:bodyPr wrap="square">
                      <a:noAutofit/>
                    </a:bodyPr>
                    <a:lstStyle/>
                    <a:p>
                      <a:pPr algn="l">
                        <a:lnSpc>
                          <a:spcPts val="2415"/>
                        </a:lnSpc>
                        <a:buNone/>
                        <a:defRPr sz="2100" b="0">
                          <a:solidFill>
                            <a:srgbClr val="303437"/>
                          </a:solidFill>
                          <a:latin typeface="Noto Sans"/>
                        </a:defRPr>
                      </a:pPr>
                      <a:r>
                        <a:rPr sz="2100" b="0" lang="ja-JP" altLang="en-US">
                          <a:solidFill>
                            <a:srgbClr val="303437"/>
                          </a:solidFill>
                          <a:latin typeface="Noto Sans"/>
                          <a:ea typeface="Noto Sans CJK JP"/>
                          <a:cs typeface="Noto Sans"/>
                        </a:rPr>
                        <a:t>Gemini 3.1 Pro / High</a:t>
                      </a:r>
                    </a:p>
                  </a:txBody>
                  <a:tcPr marL="63500" marR="63500" marT="38100" marB="38100" anchor="ctr">
                    <a:lnL w="7620">
                      <a:noFill/>
                    </a:lnL>
                    <a:lnR w="7620">
                      <a:noFill/>
                    </a:lnR>
                    <a:lnT w="7620">
                      <a:solidFill>
                        <a:srgbClr val="626669"/>
                      </a:solidFill>
                      <a:prstDash val="solid"/>
                    </a:lnT>
                    <a:lnB w="7620">
                      <a:noFill/>
                    </a:lnB>
                    <a:solidFill>
                      <a:srgbClr val="FFFEF8"/>
                    </a:solidFill>
                  </a:tcPr>
                </a:tc>
                <a:tc>
                  <a:txBody>
                    <a:bodyPr wrap="square">
                      <a:noAutofit/>
                    </a:bodyPr>
                    <a:lstStyle/>
                    <a:p>
                      <a:pPr algn="r">
                        <a:lnSpc>
                          <a:spcPts val="2415"/>
                        </a:lnSpc>
                        <a:buNone/>
                        <a:defRPr sz="2100" b="0">
                          <a:solidFill>
                            <a:srgbClr val="303437"/>
                          </a:solidFill>
                          <a:latin typeface="Noto Sans"/>
                        </a:defRPr>
                      </a:pPr>
                      <a:r>
                        <a:rPr sz="2100" b="0" lang="ja-JP" altLang="en-US">
                          <a:solidFill>
                            <a:srgbClr val="303437"/>
                          </a:solidFill>
                          <a:latin typeface="Noto Sans"/>
                          <a:ea typeface="Noto Sans CJK JP"/>
                          <a:cs typeface="Noto Sans"/>
                        </a:rPr>
                        <a:t>68.5%</a:t>
                      </a:r>
                    </a:p>
                  </a:txBody>
                  <a:tcPr marL="63500" marR="63500" marT="38100" marB="38100" anchor="ctr">
                    <a:lnL w="7620">
                      <a:noFill/>
                    </a:lnL>
                    <a:lnR w="7620">
                      <a:noFill/>
                    </a:lnR>
                    <a:lnT w="7620">
                      <a:solidFill>
                        <a:srgbClr val="626669"/>
                      </a:solidFill>
                      <a:prstDash val="solid"/>
                    </a:lnT>
                    <a:lnB w="7620">
                      <a:noFill/>
                    </a:lnB>
                    <a:solidFill>
                      <a:srgbClr val="FFFEF8"/>
                    </a:solidFill>
                  </a:tcPr>
                </a:tc>
              </a:tr>
              <a:tr h="594360">
                <a:tc>
                  <a:txBody>
                    <a:bodyPr wrap="square">
                      <a:noAutofit/>
                    </a:bodyPr>
                    <a:lstStyle/>
                    <a:p>
                      <a:pPr algn="l">
                        <a:lnSpc>
                          <a:spcPts val="2415"/>
                        </a:lnSpc>
                        <a:buNone/>
                        <a:defRPr sz="2100" b="0">
                          <a:solidFill>
                            <a:srgbClr val="303437"/>
                          </a:solidFill>
                          <a:latin typeface="Noto Sans"/>
                        </a:defRPr>
                      </a:pPr>
                      <a:r>
                        <a:rPr sz="2100" b="0" lang="ja-JP" altLang="en-US">
                          <a:solidFill>
                            <a:srgbClr val="303437"/>
                          </a:solidFill>
                          <a:latin typeface="Noto Sans"/>
                          <a:ea typeface="Noto Sans CJK JP"/>
                          <a:cs typeface="Noto Sans"/>
                        </a:rPr>
                        <a:t>Claude Opus 4.6 / Max</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r">
                        <a:lnSpc>
                          <a:spcPts val="2415"/>
                        </a:lnSpc>
                        <a:buNone/>
                        <a:defRPr sz="2100" b="0">
                          <a:solidFill>
                            <a:srgbClr val="303437"/>
                          </a:solidFill>
                          <a:latin typeface="Noto Sans"/>
                        </a:defRPr>
                      </a:pPr>
                      <a:r>
                        <a:rPr sz="2100" b="0" lang="ja-JP" altLang="en-US">
                          <a:solidFill>
                            <a:srgbClr val="303437"/>
                          </a:solidFill>
                          <a:latin typeface="Noto Sans"/>
                          <a:ea typeface="Noto Sans CJK JP"/>
                          <a:cs typeface="Noto Sans"/>
                        </a:rPr>
                        <a:t>65.4%</a:t>
                      </a:r>
                    </a:p>
                  </a:txBody>
                  <a:tcPr marL="63500" marR="63500" marT="38100" marB="38100" anchor="ctr">
                    <a:lnL w="7620">
                      <a:noFill/>
                    </a:lnL>
                    <a:lnR w="7620">
                      <a:noFill/>
                    </a:lnR>
                    <a:lnT w="7620">
                      <a:noFill/>
                    </a:lnT>
                    <a:lnB w="7620">
                      <a:noFill/>
                    </a:lnB>
                    <a:solidFill>
                      <a:srgbClr val="FFFEF8"/>
                    </a:solidFill>
                  </a:tcPr>
                </a:tc>
              </a:tr>
              <a:tr h="594360">
                <a:tc>
                  <a:txBody>
                    <a:bodyPr wrap="square">
                      <a:noAutofit/>
                    </a:bodyPr>
                    <a:lstStyle/>
                    <a:p>
                      <a:pPr algn="l">
                        <a:lnSpc>
                          <a:spcPts val="2415"/>
                        </a:lnSpc>
                        <a:buNone/>
                        <a:defRPr sz="2100" b="0">
                          <a:solidFill>
                            <a:srgbClr val="303437"/>
                          </a:solidFill>
                          <a:latin typeface="Noto Sans"/>
                        </a:defRPr>
                      </a:pPr>
                      <a:r>
                        <a:rPr sz="2100" b="0" lang="ja-JP" altLang="en-US">
                          <a:solidFill>
                            <a:srgbClr val="303437"/>
                          </a:solidFill>
                          <a:latin typeface="Noto Sans"/>
                          <a:ea typeface="Noto Sans CJK JP"/>
                          <a:cs typeface="Noto Sans"/>
                        </a:rPr>
                        <a:t>GPT-5.2 / xhigh</a:t>
                      </a:r>
                    </a:p>
                  </a:txBody>
                  <a:tcPr marL="63500" marR="63500" marT="38100" marB="38100" anchor="ctr">
                    <a:lnL w="7620">
                      <a:noFill/>
                    </a:lnL>
                    <a:lnR w="7620">
                      <a:noFill/>
                    </a:lnR>
                    <a:lnT w="7620">
                      <a:noFill/>
                    </a:lnT>
                    <a:lnB w="15240">
                      <a:solidFill>
                        <a:srgbClr val="626669"/>
                      </a:solidFill>
                      <a:prstDash val="solid"/>
                    </a:lnB>
                    <a:solidFill>
                      <a:srgbClr val="FFFEF8"/>
                    </a:solidFill>
                  </a:tcPr>
                </a:tc>
                <a:tc>
                  <a:txBody>
                    <a:bodyPr wrap="square">
                      <a:noAutofit/>
                    </a:bodyPr>
                    <a:lstStyle/>
                    <a:p>
                      <a:pPr algn="r">
                        <a:lnSpc>
                          <a:spcPts val="2415"/>
                        </a:lnSpc>
                        <a:buNone/>
                        <a:defRPr sz="2100" b="0">
                          <a:solidFill>
                            <a:srgbClr val="303437"/>
                          </a:solidFill>
                          <a:latin typeface="Noto Sans"/>
                        </a:defRPr>
                      </a:pPr>
                      <a:r>
                        <a:rPr sz="2100" b="0" lang="ja-JP" altLang="en-US">
                          <a:solidFill>
                            <a:srgbClr val="303437"/>
                          </a:solidFill>
                          <a:latin typeface="Noto Sans"/>
                          <a:ea typeface="Noto Sans CJK JP"/>
                          <a:cs typeface="Noto Sans"/>
                        </a:rPr>
                        <a:t>54.0%</a:t>
                      </a:r>
                    </a:p>
                  </a:txBody>
                  <a:tcPr marL="63500" marR="63500" marT="38100" marB="38100" anchor="ctr">
                    <a:lnL w="7620">
                      <a:noFill/>
                    </a:lnL>
                    <a:lnR w="7620">
                      <a:noFill/>
                    </a:lnR>
                    <a:lnT w="7620">
                      <a:noFill/>
                    </a:lnT>
                    <a:lnB w="15240">
                      <a:solidFill>
                        <a:srgbClr val="626669"/>
                      </a:solidFill>
                      <a:prstDash val="solid"/>
                    </a:lnB>
                    <a:solidFill>
                      <a:srgbClr val="FFFEF8"/>
                    </a:solidFill>
                  </a:tcPr>
                </a:tc>
              </a:tr>
            </a:tbl>
          </a:graphicData>
        </a:graphic>
      </p:graphicFrame>
      <p:sp>
        <p:nvSpPr>
          <p:cNvPr id="5" name="TextBox 4"/>
          <p:cNvSpPr txBox="1"/>
          <p:nvPr/>
        </p:nvSpPr>
        <p:spPr>
          <a:xfrm>
            <a:off x="594360" y="3941063"/>
            <a:ext cx="7955279" cy="685800"/>
          </a:xfrm>
          <a:prstGeom prst="rect">
            <a:avLst/>
          </a:prstGeom>
          <a:noFill/>
        </p:spPr>
        <p:txBody>
          <a:bodyPr wrap="square" lIns="0" rIns="0" tIns="0" bIns="0">
            <a:noAutofit/>
          </a:bodyPr>
          <a:lstStyle/>
          <a:p>
            <a:pPr algn="l">
              <a:lnSpc>
                <a:spcPts val="2160"/>
              </a:lnSpc>
              <a:spcBef>
                <a:spcPts val="0"/>
              </a:spcBef>
              <a:spcAft>
                <a:spcPts val="0"/>
              </a:spcAft>
              <a:buNone/>
              <a:defRPr sz="1800" b="0">
                <a:solidFill>
                  <a:srgbClr val="303437"/>
                </a:solidFill>
                <a:latin typeface="Noto Sans"/>
              </a:defRPr>
            </a:pPr>
            <a:r>
              <a:rPr sz="1800" b="0" lang="ja-JP" altLang="en-US">
                <a:solidFill>
                  <a:srgbClr val="303437"/>
                </a:solidFill>
                <a:latin typeface="Noto Sans"/>
                <a:ea typeface="Noto Sans CJK JP"/>
                <a:cs typeface="Noto Sans"/>
              </a:rPr>
              <a:t>いずれもTerminus-2による評価。</a:t>
            </a:r>
          </a:p>
        </p:txBody>
      </p:sp>
      <p:sp>
        <p:nvSpPr>
          <p:cNvPr id="6" name="TextBox 5"/>
          <p:cNvSpPr txBox="1"/>
          <p:nvPr/>
        </p:nvSpPr>
        <p:spPr>
          <a:xfrm>
            <a:off x="502920" y="4690872"/>
            <a:ext cx="8183879" cy="393192"/>
          </a:xfrm>
          <a:prstGeom prst="rect">
            <a:avLst/>
          </a:prstGeom>
          <a:noFill/>
        </p:spPr>
        <p:txBody>
          <a:bodyPr wrap="square" lIns="0" rIns="0" tIns="0" bIns="0">
            <a:noAutofit/>
          </a:bodyPr>
          <a:lstStyle/>
          <a:p>
            <a:pPr algn="l">
              <a:lnSpc>
                <a:spcPct val="112000"/>
              </a:lnSpc>
              <a:spcBef>
                <a:spcPts val="0"/>
              </a:spcBef>
              <a:spcAft>
                <a:spcPts val="0"/>
              </a:spcAft>
              <a:buNone/>
              <a:defRPr sz="810" b="0">
                <a:solidFill>
                  <a:srgbClr val="303437"/>
                </a:solidFill>
                <a:latin typeface="Noto Sans"/>
              </a:defRPr>
            </a:pPr>
            <a:r>
              <a:rPr sz="810" b="0" lang="ja-JP" altLang="en-US">
                <a:solidFill>
                  <a:srgbClr val="626669"/>
                </a:solidFill>
                <a:latin typeface="Noto Sans"/>
                <a:ea typeface="Noto Sans CJK JP"/>
                <a:cs typeface="Noto Sans"/>
              </a:rPr>
              <a:t/>
            </a:r>
            <a:r>
              <a:rPr sz="810" b="0" lang="ja-JP" altLang="en-US">
                <a:solidFill>
                  <a:srgbClr val="626669"/>
                </a:solidFill>
                <a:latin typeface="Noto Sans"/>
                <a:ea typeface="Noto Sans CJK JP"/>
                <a:cs typeface="Noto Sans"/>
              </a:rPr>
              <a:t>Google DeepMind (2026). Gemini 3.1 Pro. Performance: Terminal-Bench 2.0. 2026-10-16参照。</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https://deepmind.google/models/gemini/pro/</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786384"/>
            <a:ext cx="8046720" cy="502920"/>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同じモデルの成績もエージェントで変わる</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FFF"/>
                </a:solidFill>
                <a:latin typeface="Noto Sans"/>
                <a:ea typeface="Noto Sans CJK JP"/>
                <a:cs typeface="Noto Sans"/>
              </a:rPr>
              <a:t>2. 採点方法とモデルの成績</a:t>
            </a:r>
          </a:p>
        </p:txBody>
      </p:sp>
      <p:graphicFrame>
        <p:nvGraphicFramePr>
          <p:cNvPr id="4" name="Table 3"/>
          <p:cNvGraphicFramePr>
            <a:graphicFrameLocks noGrp="1"/>
          </p:cNvGraphicFramePr>
          <p:nvPr/>
        </p:nvGraphicFramePr>
        <p:xfrm>
          <a:off x="548640" y="1508760"/>
          <a:ext cx="8046720" cy="2304284"/>
        </p:xfrm>
        <a:graphic>
          <a:graphicData uri="http://schemas.openxmlformats.org/drawingml/2006/table">
            <a:tbl>
              <a:tblPr firstRow="0" bandRow="0"/>
              <a:tblGrid>
                <a:gridCol w="5577840"/>
                <a:gridCol w="2468880"/>
              </a:tblGrid>
              <a:tr h="414440">
                <a:tc>
                  <a:txBody>
                    <a:bodyPr wrap="square">
                      <a:noAutofit/>
                    </a:bodyPr>
                    <a:lstStyle/>
                    <a:p>
                      <a:pPr algn="l">
                        <a:lnSpc>
                          <a:spcPts val="2415"/>
                        </a:lnSpc>
                        <a:buNone/>
                        <a:defRPr sz="2100" b="0">
                          <a:solidFill>
                            <a:srgbClr val="303437"/>
                          </a:solidFill>
                          <a:latin typeface="Noto Sans"/>
                        </a:defRPr>
                      </a:pPr>
                      <a:r>
                        <a:rPr sz="2100" b="0" lang="ja-JP" altLang="en-US">
                          <a:solidFill>
                            <a:srgbClr val="303437"/>
                          </a:solidFill>
                          <a:latin typeface="Noto Sans"/>
                          <a:ea typeface="Noto Sans CJK JP"/>
                          <a:cs typeface="Noto Sans"/>
                        </a:rPr>
                        <a:t>Gemini 2.5 Proのエージェント</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c>
                  <a:txBody>
                    <a:bodyPr wrap="square">
                      <a:noAutofit/>
                    </a:bodyPr>
                    <a:lstStyle/>
                    <a:p>
                      <a:pPr algn="r">
                        <a:lnSpc>
                          <a:spcPts val="2415"/>
                        </a:lnSpc>
                        <a:buNone/>
                        <a:defRPr sz="2100" b="0">
                          <a:solidFill>
                            <a:srgbClr val="303437"/>
                          </a:solidFill>
                          <a:latin typeface="Noto Sans"/>
                        </a:defRPr>
                      </a:pPr>
                      <a:r>
                        <a:rPr sz="2100" b="0" lang="ja-JP" altLang="en-US">
                          <a:solidFill>
                            <a:srgbClr val="303437"/>
                          </a:solidFill>
                          <a:latin typeface="Noto Sans"/>
                          <a:ea typeface="Noto Sans CJK JP"/>
                          <a:cs typeface="Noto Sans"/>
                        </a:rPr>
                        <a:t>2.0の解決率</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r>
              <a:tr h="472461">
                <a:tc>
                  <a:txBody>
                    <a:bodyPr wrap="square">
                      <a:noAutofit/>
                    </a:bodyPr>
                    <a:lstStyle/>
                    <a:p>
                      <a:pPr algn="l">
                        <a:lnSpc>
                          <a:spcPts val="2415"/>
                        </a:lnSpc>
                        <a:buNone/>
                        <a:defRPr sz="2100" b="0">
                          <a:solidFill>
                            <a:srgbClr val="303437"/>
                          </a:solidFill>
                          <a:latin typeface="Noto Sans"/>
                        </a:defRPr>
                      </a:pPr>
                      <a:r>
                        <a:rPr sz="2100" b="0" lang="ja-JP" altLang="en-US">
                          <a:solidFill>
                            <a:srgbClr val="303437"/>
                          </a:solidFill>
                          <a:latin typeface="Noto Sans"/>
                          <a:ea typeface="Noto Sans CJK JP"/>
                          <a:cs typeface="Noto Sans"/>
                        </a:rPr>
                        <a:t>Terminus 2</a:t>
                      </a:r>
                    </a:p>
                  </a:txBody>
                  <a:tcPr marL="63500" marR="63500" marT="38100" marB="38100" anchor="ctr">
                    <a:lnL w="7620">
                      <a:noFill/>
                    </a:lnL>
                    <a:lnR w="7620">
                      <a:noFill/>
                    </a:lnR>
                    <a:lnT w="7620">
                      <a:solidFill>
                        <a:srgbClr val="626669"/>
                      </a:solidFill>
                      <a:prstDash val="solid"/>
                    </a:lnT>
                    <a:lnB w="7620">
                      <a:noFill/>
                    </a:lnB>
                    <a:solidFill>
                      <a:srgbClr val="FFFEF8"/>
                    </a:solidFill>
                  </a:tcPr>
                </a:tc>
                <a:tc>
                  <a:txBody>
                    <a:bodyPr wrap="square">
                      <a:noAutofit/>
                    </a:bodyPr>
                    <a:lstStyle/>
                    <a:p>
                      <a:pPr algn="r">
                        <a:lnSpc>
                          <a:spcPts val="2415"/>
                        </a:lnSpc>
                        <a:buNone/>
                        <a:defRPr sz="2100" b="0">
                          <a:solidFill>
                            <a:srgbClr val="303437"/>
                          </a:solidFill>
                          <a:latin typeface="Noto Sans"/>
                        </a:defRPr>
                      </a:pPr>
                      <a:r>
                        <a:rPr sz="2100" b="0" lang="ja-JP" altLang="en-US">
                          <a:solidFill>
                            <a:srgbClr val="303437"/>
                          </a:solidFill>
                          <a:latin typeface="Noto Sans"/>
                          <a:ea typeface="Noto Sans CJK JP"/>
                          <a:cs typeface="Noto Sans"/>
                        </a:rPr>
                        <a:t>32.6%</a:t>
                      </a:r>
                    </a:p>
                  </a:txBody>
                  <a:tcPr marL="63500" marR="63500" marT="38100" marB="38100" anchor="ctr">
                    <a:lnL w="7620">
                      <a:noFill/>
                    </a:lnL>
                    <a:lnR w="7620">
                      <a:noFill/>
                    </a:lnR>
                    <a:lnT w="7620">
                      <a:solidFill>
                        <a:srgbClr val="626669"/>
                      </a:solidFill>
                      <a:prstDash val="solid"/>
                    </a:lnT>
                    <a:lnB w="7620">
                      <a:noFill/>
                    </a:lnB>
                    <a:solidFill>
                      <a:srgbClr val="FFFEF8"/>
                    </a:solidFill>
                  </a:tcPr>
                </a:tc>
              </a:tr>
              <a:tr h="472461">
                <a:tc>
                  <a:txBody>
                    <a:bodyPr wrap="square">
                      <a:noAutofit/>
                    </a:bodyPr>
                    <a:lstStyle/>
                    <a:p>
                      <a:pPr algn="l">
                        <a:lnSpc>
                          <a:spcPts val="2415"/>
                        </a:lnSpc>
                        <a:buNone/>
                        <a:defRPr sz="2100" b="0">
                          <a:solidFill>
                            <a:srgbClr val="303437"/>
                          </a:solidFill>
                          <a:latin typeface="Noto Sans"/>
                        </a:defRPr>
                      </a:pPr>
                      <a:r>
                        <a:rPr sz="2100" b="0" lang="ja-JP" altLang="en-US">
                          <a:solidFill>
                            <a:srgbClr val="303437"/>
                          </a:solidFill>
                          <a:latin typeface="Noto Sans"/>
                          <a:ea typeface="Noto Sans CJK JP"/>
                          <a:cs typeface="Noto Sans"/>
                        </a:rPr>
                        <a:t>Mini-SWE-Agent</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r">
                        <a:lnSpc>
                          <a:spcPts val="2415"/>
                        </a:lnSpc>
                        <a:buNone/>
                        <a:defRPr sz="2100" b="0">
                          <a:solidFill>
                            <a:srgbClr val="303437"/>
                          </a:solidFill>
                          <a:latin typeface="Noto Sans"/>
                        </a:defRPr>
                      </a:pPr>
                      <a:r>
                        <a:rPr sz="2100" b="0" lang="ja-JP" altLang="en-US">
                          <a:solidFill>
                            <a:srgbClr val="303437"/>
                          </a:solidFill>
                          <a:latin typeface="Noto Sans"/>
                          <a:ea typeface="Noto Sans CJK JP"/>
                          <a:cs typeface="Noto Sans"/>
                        </a:rPr>
                        <a:t>26.1%</a:t>
                      </a:r>
                    </a:p>
                  </a:txBody>
                  <a:tcPr marL="63500" marR="63500" marT="38100" marB="38100" anchor="ctr">
                    <a:lnL w="7620">
                      <a:noFill/>
                    </a:lnL>
                    <a:lnR w="7620">
                      <a:noFill/>
                    </a:lnR>
                    <a:lnT w="7620">
                      <a:noFill/>
                    </a:lnT>
                    <a:lnB w="7620">
                      <a:noFill/>
                    </a:lnB>
                    <a:solidFill>
                      <a:srgbClr val="FFFEF8"/>
                    </a:solidFill>
                  </a:tcPr>
                </a:tc>
              </a:tr>
              <a:tr h="472461">
                <a:tc>
                  <a:txBody>
                    <a:bodyPr wrap="square">
                      <a:noAutofit/>
                    </a:bodyPr>
                    <a:lstStyle/>
                    <a:p>
                      <a:pPr algn="l">
                        <a:lnSpc>
                          <a:spcPts val="2415"/>
                        </a:lnSpc>
                        <a:buNone/>
                        <a:defRPr sz="2100" b="0">
                          <a:solidFill>
                            <a:srgbClr val="303437"/>
                          </a:solidFill>
                          <a:latin typeface="Noto Sans"/>
                        </a:defRPr>
                      </a:pPr>
                      <a:r>
                        <a:rPr sz="2100" b="0" lang="ja-JP" altLang="en-US">
                          <a:solidFill>
                            <a:srgbClr val="303437"/>
                          </a:solidFill>
                          <a:latin typeface="Noto Sans"/>
                          <a:ea typeface="Noto Sans CJK JP"/>
                          <a:cs typeface="Noto Sans"/>
                        </a:rPr>
                        <a:t>Gemini CLI</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r">
                        <a:lnSpc>
                          <a:spcPts val="2415"/>
                        </a:lnSpc>
                        <a:buNone/>
                        <a:defRPr sz="2100" b="0">
                          <a:solidFill>
                            <a:srgbClr val="303437"/>
                          </a:solidFill>
                          <a:latin typeface="Noto Sans"/>
                        </a:defRPr>
                      </a:pPr>
                      <a:r>
                        <a:rPr sz="2100" b="0" lang="ja-JP" altLang="en-US">
                          <a:solidFill>
                            <a:srgbClr val="303437"/>
                          </a:solidFill>
                          <a:latin typeface="Noto Sans"/>
                          <a:ea typeface="Noto Sans CJK JP"/>
                          <a:cs typeface="Noto Sans"/>
                        </a:rPr>
                        <a:t>19.6%</a:t>
                      </a:r>
                    </a:p>
                  </a:txBody>
                  <a:tcPr marL="63500" marR="63500" marT="38100" marB="38100" anchor="ctr">
                    <a:lnL w="7620">
                      <a:noFill/>
                    </a:lnL>
                    <a:lnR w="7620">
                      <a:noFill/>
                    </a:lnR>
                    <a:lnT w="7620">
                      <a:noFill/>
                    </a:lnT>
                    <a:lnB w="7620">
                      <a:noFill/>
                    </a:lnB>
                    <a:solidFill>
                      <a:srgbClr val="FFFEF8"/>
                    </a:solidFill>
                  </a:tcPr>
                </a:tc>
              </a:tr>
              <a:tr h="472461">
                <a:tc>
                  <a:txBody>
                    <a:bodyPr wrap="square">
                      <a:noAutofit/>
                    </a:bodyPr>
                    <a:lstStyle/>
                    <a:p>
                      <a:pPr algn="l">
                        <a:lnSpc>
                          <a:spcPts val="2415"/>
                        </a:lnSpc>
                        <a:buNone/>
                        <a:defRPr sz="2100" b="0">
                          <a:solidFill>
                            <a:srgbClr val="303437"/>
                          </a:solidFill>
                          <a:latin typeface="Noto Sans"/>
                        </a:defRPr>
                      </a:pPr>
                      <a:r>
                        <a:rPr sz="2100" b="0" lang="ja-JP" altLang="en-US">
                          <a:solidFill>
                            <a:srgbClr val="303437"/>
                          </a:solidFill>
                          <a:latin typeface="Noto Sans"/>
                          <a:ea typeface="Noto Sans CJK JP"/>
                          <a:cs typeface="Noto Sans"/>
                        </a:rPr>
                        <a:t>OpenHands</a:t>
                      </a:r>
                    </a:p>
                  </a:txBody>
                  <a:tcPr marL="63500" marR="63500" marT="38100" marB="38100" anchor="ctr">
                    <a:lnL w="7620">
                      <a:noFill/>
                    </a:lnL>
                    <a:lnR w="7620">
                      <a:noFill/>
                    </a:lnR>
                    <a:lnT w="7620">
                      <a:noFill/>
                    </a:lnT>
                    <a:lnB w="15240">
                      <a:solidFill>
                        <a:srgbClr val="626669"/>
                      </a:solidFill>
                      <a:prstDash val="solid"/>
                    </a:lnB>
                    <a:solidFill>
                      <a:srgbClr val="FFFEF8"/>
                    </a:solidFill>
                  </a:tcPr>
                </a:tc>
                <a:tc>
                  <a:txBody>
                    <a:bodyPr wrap="square">
                      <a:noAutofit/>
                    </a:bodyPr>
                    <a:lstStyle/>
                    <a:p>
                      <a:pPr algn="r">
                        <a:lnSpc>
                          <a:spcPts val="2415"/>
                        </a:lnSpc>
                        <a:buNone/>
                        <a:defRPr sz="2100" b="0">
                          <a:solidFill>
                            <a:srgbClr val="303437"/>
                          </a:solidFill>
                          <a:latin typeface="Noto Sans"/>
                        </a:defRPr>
                      </a:pPr>
                      <a:r>
                        <a:rPr sz="2100" b="0" lang="ja-JP" altLang="en-US">
                          <a:solidFill>
                            <a:srgbClr val="303437"/>
                          </a:solidFill>
                          <a:latin typeface="Noto Sans"/>
                          <a:ea typeface="Noto Sans CJK JP"/>
                          <a:cs typeface="Noto Sans"/>
                        </a:rPr>
                        <a:t>15.7%</a:t>
                      </a:r>
                    </a:p>
                  </a:txBody>
                  <a:tcPr marL="63500" marR="63500" marT="38100" marB="38100" anchor="ctr">
                    <a:lnL w="7620">
                      <a:noFill/>
                    </a:lnL>
                    <a:lnR w="7620">
                      <a:noFill/>
                    </a:lnR>
                    <a:lnT w="7620">
                      <a:noFill/>
                    </a:lnT>
                    <a:lnB w="15240">
                      <a:solidFill>
                        <a:srgbClr val="626669"/>
                      </a:solidFill>
                      <a:prstDash val="solid"/>
                    </a:lnB>
                    <a:solidFill>
                      <a:srgbClr val="FFFEF8"/>
                    </a:solidFill>
                  </a:tcPr>
                </a:tc>
              </a:tr>
            </a:tbl>
          </a:graphicData>
        </a:graphic>
      </p:graphicFrame>
      <p:sp>
        <p:nvSpPr>
          <p:cNvPr id="5" name="TextBox 4"/>
          <p:cNvSpPr txBox="1"/>
          <p:nvPr/>
        </p:nvSpPr>
        <p:spPr>
          <a:xfrm>
            <a:off x="594360" y="4005072"/>
            <a:ext cx="7955279" cy="685800"/>
          </a:xfrm>
          <a:prstGeom prst="rect">
            <a:avLst/>
          </a:prstGeom>
          <a:noFill/>
        </p:spPr>
        <p:txBody>
          <a:bodyPr wrap="square" lIns="0" rIns="0" tIns="0" bIns="0">
            <a:noAutofit/>
          </a:bodyPr>
          <a:lstStyle/>
          <a:p>
            <a:pPr algn="l">
              <a:lnSpc>
                <a:spcPts val="2160"/>
              </a:lnSpc>
              <a:spcBef>
                <a:spcPts val="0"/>
              </a:spcBef>
              <a:spcAft>
                <a:spcPts val="0"/>
              </a:spcAft>
              <a:buNone/>
              <a:defRPr sz="1800" b="0">
                <a:solidFill>
                  <a:srgbClr val="303437"/>
                </a:solidFill>
                <a:latin typeface="Noto Sans"/>
              </a:defRPr>
            </a:pPr>
            <a:r>
              <a:rPr sz="1800" b="0" lang="ja-JP" altLang="en-US">
                <a:solidFill>
                  <a:srgbClr val="303437"/>
                </a:solidFill>
                <a:latin typeface="Noto Sans"/>
                <a:ea typeface="Noto Sans CJK JP"/>
                <a:cs typeface="Noto Sans"/>
              </a:rPr>
              <a:t>Merrillら（2026）によるGemini 2.5 Proの評価。</a:t>
            </a:r>
          </a:p>
        </p:txBody>
      </p:sp>
      <p:sp>
        <p:nvSpPr>
          <p:cNvPr id="6" name="TextBox 5"/>
          <p:cNvSpPr txBox="1"/>
          <p:nvPr/>
        </p:nvSpPr>
        <p:spPr>
          <a:xfrm>
            <a:off x="502920" y="4690872"/>
            <a:ext cx="8183879" cy="393192"/>
          </a:xfrm>
          <a:prstGeom prst="rect">
            <a:avLst/>
          </a:prstGeom>
          <a:noFill/>
        </p:spPr>
        <p:txBody>
          <a:bodyPr wrap="square" lIns="0" rIns="0" tIns="0" bIns="0">
            <a:noAutofit/>
          </a:bodyPr>
          <a:lstStyle/>
          <a:p>
            <a:pPr algn="l">
              <a:lnSpc>
                <a:spcPct val="112000"/>
              </a:lnSpc>
              <a:spcBef>
                <a:spcPts val="0"/>
              </a:spcBef>
              <a:spcAft>
                <a:spcPts val="0"/>
              </a:spcAft>
              <a:buNone/>
              <a:defRPr sz="810" b="0">
                <a:solidFill>
                  <a:srgbClr val="303437"/>
                </a:solidFill>
                <a:latin typeface="Noto Sans"/>
              </a:defRPr>
            </a:pPr>
            <a:r>
              <a:rPr sz="810" b="0" lang="ja-JP" altLang="en-US">
                <a:solidFill>
                  <a:srgbClr val="626669"/>
                </a:solidFill>
                <a:latin typeface="Noto Sans"/>
                <a:ea typeface="Noto Sans CJK JP"/>
                <a:cs typeface="Noto Sans"/>
              </a:rPr>
              <a:t/>
            </a:r>
            <a:r>
              <a:rPr sz="810" b="0" lang="ja-JP" altLang="en-US">
                <a:solidFill>
                  <a:srgbClr val="626669"/>
                </a:solidFill>
                <a:latin typeface="Noto Sans"/>
                <a:ea typeface="Noto Sans CJK JP"/>
                <a:cs typeface="Noto Sans"/>
              </a:rPr>
              <a:t>Merrill et al. (2026). Terminal-Bench: Benchmarking Agents on Hard, Realistic Tasks in Command Line Interfaces. arXiv:2601.11868.</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https://arxiv.org/abs/2601.11868</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786384"/>
            <a:ext cx="8046720" cy="502920"/>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2.0と4.0はデータセットのバージョン</a:t>
            </a:r>
          </a:p>
        </p:txBody>
      </p:sp>
      <p:sp>
        <p:nvSpPr>
          <p:cNvPr id="3" name="Text Placeholder 2"/>
          <p:cNvSpPr>
            <a:spLocks noGrp="1"/>
          </p:cNvSpPr>
          <p:nvPr>
            <p:ph type="body" idx="1"/>
          </p:nvPr>
        </p:nvSpPr>
        <p:spPr>
          <a:xfrm>
            <a:off x="594360" y="1463040"/>
            <a:ext cx="7955279" cy="3090672"/>
          </a:xfrm>
        </p:spPr>
        <p:txBody>
          <a:bodyPr wrap="square" tIns="91440" bIns="91440">
            <a:noAutofit/>
          </a:bodyPr>
          <a:lstStyle/>
          <a:p>
            <a:pPr marL="457200" indent="-355600">
              <a:lnSpc>
                <a:spcPts val="2760"/>
              </a:lnSpc>
              <a:spcAft>
                <a:spcPts val="800"/>
              </a:spcAft>
              <a:buSzPct val="57826"/>
              <a:buFont typeface="Noto Sans CJK JP"/>
              <a:buChar char="●"/>
              <a:defRPr sz="2300" b="0">
                <a:solidFill>
                  <a:srgbClr val="303437"/>
                </a:solidFill>
                <a:latin typeface="Noto Sans"/>
              </a:defRPr>
            </a:pPr>
            <a:r>
              <a:rPr sz="2300" b="0" lang="ja-JP" altLang="en-US">
                <a:solidFill>
                  <a:srgbClr val="303437"/>
                </a:solidFill>
                <a:latin typeface="Noto Sans"/>
                <a:ea typeface="Noto Sans CJK JP"/>
                <a:cs typeface="Noto Sans"/>
              </a:rPr>
              <a:t>2.0は、指示文・実行環境・採点テストを公開している89課題の版。本資料の実例と分布は、この公開版に基づく。</a:t>
            </a:r>
          </a:p>
          <a:p>
            <a:pPr marL="457200" indent="-355600">
              <a:lnSpc>
                <a:spcPts val="2760"/>
              </a:lnSpc>
              <a:spcAft>
                <a:spcPts val="800"/>
              </a:spcAft>
              <a:buSzPct val="57826"/>
              <a:buFont typeface="Noto Sans CJK JP"/>
              <a:buChar char="●"/>
              <a:defRPr sz="2300" b="0">
                <a:solidFill>
                  <a:srgbClr val="303437"/>
                </a:solidFill>
                <a:latin typeface="Noto Sans"/>
              </a:defRPr>
            </a:pPr>
            <a:r>
              <a:rPr sz="2300" b="0" lang="ja-JP" altLang="en-US">
                <a:solidFill>
                  <a:srgbClr val="303437"/>
                </a:solidFill>
                <a:latin typeface="Noto Sans"/>
                <a:ea typeface="Noto Sans CJK JP"/>
                <a:cs typeface="Noto Sans"/>
              </a:rPr>
              <a:t>4.0は、2026年のGPT-6 AstraやClaude Opus 5.5の公表評価に使われる後続版である。</a:t>
            </a:r>
          </a:p>
          <a:p>
            <a:pPr marL="457200" indent="-355600">
              <a:lnSpc>
                <a:spcPts val="2760"/>
              </a:lnSpc>
              <a:spcAft>
                <a:spcPts val="0"/>
              </a:spcAft>
              <a:buSzPct val="57826"/>
              <a:buFont typeface="Noto Sans CJK JP"/>
              <a:buChar char="●"/>
              <a:defRPr sz="2300" b="0">
                <a:solidFill>
                  <a:srgbClr val="303437"/>
                </a:solidFill>
                <a:latin typeface="Noto Sans"/>
              </a:defRPr>
            </a:pPr>
            <a:r>
              <a:rPr sz="2300" b="0" lang="ja-JP" altLang="en-US">
                <a:solidFill>
                  <a:srgbClr val="303437"/>
                </a:solidFill>
                <a:latin typeface="Noto Sans"/>
                <a:ea typeface="Noto Sans CJK JP"/>
                <a:cs typeface="Noto Sans"/>
              </a:rPr>
              <a:t>Terminus 2はエージェントの名前。2.0の評価では、このエージェントと各モデルを組み合わせて実行する。</a:t>
            </a:r>
          </a:p>
        </p:txBody>
      </p:sp>
      <p:sp>
        <p:nvSpPr>
          <p:cNvPr id="4" name="Title 3"/>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FFF"/>
                </a:solidFill>
                <a:latin typeface="Noto Sans"/>
                <a:ea typeface="Noto Sans CJK JP"/>
                <a:cs typeface="Noto Sans"/>
              </a:rPr>
              <a:t>2. 採点方法とモデルの成績</a:t>
            </a:r>
          </a:p>
        </p:txBody>
      </p:sp>
      <p:sp>
        <p:nvSpPr>
          <p:cNvPr id="5" name="TextBox 4"/>
          <p:cNvSpPr txBox="1"/>
          <p:nvPr/>
        </p:nvSpPr>
        <p:spPr>
          <a:xfrm>
            <a:off x="502920" y="4517136"/>
            <a:ext cx="8183879" cy="393192"/>
          </a:xfrm>
          <a:prstGeom prst="rect">
            <a:avLst/>
          </a:prstGeom>
          <a:noFill/>
        </p:spPr>
        <p:txBody>
          <a:bodyPr wrap="square" lIns="0" rIns="0" tIns="0" bIns="0">
            <a:noAutofit/>
          </a:bodyPr>
          <a:lstStyle/>
          <a:p>
            <a:pPr algn="l">
              <a:lnSpc>
                <a:spcPct val="112000"/>
              </a:lnSpc>
              <a:spcBef>
                <a:spcPts val="0"/>
              </a:spcBef>
              <a:spcAft>
                <a:spcPts val="0"/>
              </a:spcAft>
              <a:buNone/>
              <a:defRPr sz="810" b="0">
                <a:solidFill>
                  <a:srgbClr val="303437"/>
                </a:solidFill>
                <a:latin typeface="Noto Sans"/>
              </a:defRPr>
            </a:pPr>
            <a:r>
              <a:rPr sz="810" b="0" lang="ja-JP" altLang="en-US">
                <a:solidFill>
                  <a:srgbClr val="626669"/>
                </a:solidFill>
                <a:latin typeface="Noto Sans"/>
                <a:ea typeface="Noto Sans CJK JP"/>
                <a:cs typeface="Noto Sans"/>
              </a:rPr>
              <a:t/>
            </a:r>
            <a:r>
              <a:rPr sz="810" b="0" lang="ja-JP" altLang="en-US">
                <a:solidFill>
                  <a:srgbClr val="626669"/>
                </a:solidFill>
                <a:latin typeface="Noto Sans"/>
                <a:ea typeface="Noto Sans CJK JP"/>
                <a:cs typeface="Noto Sans"/>
              </a:rPr>
              <a:t>The Terminal-Bench Team (2025). Terminal-Bench 2.0. 公式GitHub。2026-10-16参照。</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https://github.com/laude-institute/terminal-bench-2</a:t>
            </a:r>
          </a:p>
        </p:txBody>
      </p:sp>
      <p:sp>
        <p:nvSpPr>
          <p:cNvPr id="6" name="TextBox 5"/>
          <p:cNvSpPr txBox="1"/>
          <p:nvPr/>
        </p:nvSpPr>
        <p:spPr>
          <a:xfrm>
            <a:off x="502920" y="4818888"/>
            <a:ext cx="8183879" cy="393192"/>
          </a:xfrm>
          <a:prstGeom prst="rect">
            <a:avLst/>
          </a:prstGeom>
          <a:noFill/>
        </p:spPr>
        <p:txBody>
          <a:bodyPr wrap="square" lIns="0" rIns="0" tIns="0" bIns="0">
            <a:noAutofit/>
          </a:bodyPr>
          <a:lstStyle/>
          <a:p>
            <a:pPr algn="l">
              <a:lnSpc>
                <a:spcPct val="112000"/>
              </a:lnSpc>
              <a:spcBef>
                <a:spcPts val="0"/>
              </a:spcBef>
              <a:spcAft>
                <a:spcPts val="0"/>
              </a:spcAft>
              <a:buNone/>
              <a:defRPr sz="810" b="0">
                <a:solidFill>
                  <a:srgbClr val="303437"/>
                </a:solidFill>
                <a:latin typeface="Noto Sans"/>
              </a:defRPr>
            </a:pPr>
            <a:r>
              <a:rPr sz="810" b="0" lang="ja-JP" altLang="en-US">
                <a:solidFill>
                  <a:srgbClr val="626669"/>
                </a:solidFill>
                <a:latin typeface="Noto Sans"/>
                <a:ea typeface="Noto Sans CJK JP"/>
                <a:cs typeface="Noto Sans"/>
              </a:rPr>
              <a:t/>
            </a:r>
            <a:r>
              <a:rPr sz="810" b="0" lang="ja-JP" altLang="en-US">
                <a:solidFill>
                  <a:srgbClr val="626669"/>
                </a:solidFill>
                <a:latin typeface="Noto Sans"/>
                <a:ea typeface="Noto Sans CJK JP"/>
                <a:cs typeface="Noto Sans"/>
              </a:rPr>
              <a:t>Anthropic (2026-09-22). Claude Opus 5.5. Terminal-Bench 4.0. 2026-10-16参照。</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3"/>
              </a:rPr>
              <a:t>https://www.anthropic.com/news/claude-opus-5-5</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786384"/>
            <a:ext cx="8046720" cy="502920"/>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4.0は端末での複雑な作業を評価する</a:t>
            </a:r>
          </a:p>
        </p:txBody>
      </p:sp>
      <p:sp>
        <p:nvSpPr>
          <p:cNvPr id="3" name="Text Placeholder 2"/>
          <p:cNvSpPr>
            <a:spLocks noGrp="1"/>
          </p:cNvSpPr>
          <p:nvPr>
            <p:ph type="body" idx="1"/>
          </p:nvPr>
        </p:nvSpPr>
        <p:spPr>
          <a:xfrm>
            <a:off x="594360" y="1463040"/>
            <a:ext cx="7955279" cy="3090672"/>
          </a:xfrm>
        </p:spPr>
        <p:txBody>
          <a:bodyPr wrap="square" tIns="91440" bIns="91440">
            <a:noAutofit/>
          </a:bodyPr>
          <a:lstStyle/>
          <a:p>
            <a:pPr marL="457200" indent="-355600">
              <a:lnSpc>
                <a:spcPts val="2760"/>
              </a:lnSpc>
              <a:spcAft>
                <a:spcPts val="800"/>
              </a:spcAft>
              <a:buSzPct val="57826"/>
              <a:buFont typeface="Noto Sans CJK JP"/>
              <a:buChar char="●"/>
              <a:defRPr sz="2300" b="0">
                <a:solidFill>
                  <a:srgbClr val="303437"/>
                </a:solidFill>
                <a:latin typeface="Noto Sans"/>
              </a:defRPr>
            </a:pPr>
            <a:r>
              <a:rPr sz="2300" b="0" lang="ja-JP" altLang="en-US">
                <a:solidFill>
                  <a:srgbClr val="303437"/>
                </a:solidFill>
                <a:latin typeface="Noto Sans"/>
                <a:ea typeface="Noto Sans CJK JP"/>
                <a:cs typeface="Noto Sans"/>
              </a:rPr>
              <a:t>OpenAIは4.0の課題として、ソフトウェア開発、システムの設定、データ分析を挙げている。</a:t>
            </a:r>
          </a:p>
          <a:p>
            <a:pPr marL="457200" indent="-355600">
              <a:lnSpc>
                <a:spcPts val="2760"/>
              </a:lnSpc>
              <a:spcAft>
                <a:spcPts val="800"/>
              </a:spcAft>
              <a:buSzPct val="57826"/>
              <a:buFont typeface="Noto Sans CJK JP"/>
              <a:buChar char="●"/>
              <a:defRPr sz="2300" b="0">
                <a:solidFill>
                  <a:srgbClr val="303437"/>
                </a:solidFill>
                <a:latin typeface="Noto Sans"/>
              </a:defRPr>
            </a:pPr>
            <a:r>
              <a:rPr sz="2300" b="0" lang="ja-JP" altLang="en-US">
                <a:solidFill>
                  <a:srgbClr val="303437"/>
                </a:solidFill>
                <a:latin typeface="Noto Sans"/>
                <a:ea typeface="Noto Sans CJK JP"/>
                <a:cs typeface="Noto Sans"/>
              </a:rPr>
              <a:t>Anthropicは、コマンドライン上で複数の手順を実行する、複雑な実務課題の評価と説明している。</a:t>
            </a:r>
          </a:p>
          <a:p>
            <a:pPr marL="457200" indent="-355600">
              <a:lnSpc>
                <a:spcPts val="2760"/>
              </a:lnSpc>
              <a:spcAft>
                <a:spcPts val="0"/>
              </a:spcAft>
              <a:buSzPct val="57826"/>
              <a:buFont typeface="Noto Sans CJK JP"/>
              <a:buChar char="●"/>
              <a:defRPr sz="2300" b="0">
                <a:solidFill>
                  <a:srgbClr val="303437"/>
                </a:solidFill>
                <a:latin typeface="Noto Sans"/>
              </a:defRPr>
            </a:pPr>
            <a:r>
              <a:rPr sz="2300" b="0" lang="ja-JP" altLang="en-US">
                <a:solidFill>
                  <a:srgbClr val="303437"/>
                </a:solidFill>
                <a:latin typeface="Noto Sans"/>
                <a:ea typeface="Noto Sans CJK JP"/>
                <a:cs typeface="Noto Sans"/>
              </a:rPr>
              <a:t>Anthropicが参照する公開リーダーボードは、Claude Codeを使い、各課題を5回試行して評価する。</a:t>
            </a:r>
          </a:p>
        </p:txBody>
      </p:sp>
      <p:sp>
        <p:nvSpPr>
          <p:cNvPr id="4" name="Title 3"/>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FFF"/>
                </a:solidFill>
                <a:latin typeface="Noto Sans"/>
                <a:ea typeface="Noto Sans CJK JP"/>
                <a:cs typeface="Noto Sans"/>
              </a:rPr>
              <a:t>2. 採点方法とモデルの成績</a:t>
            </a:r>
          </a:p>
        </p:txBody>
      </p:sp>
      <p:sp>
        <p:nvSpPr>
          <p:cNvPr id="5" name="TextBox 4"/>
          <p:cNvSpPr txBox="1"/>
          <p:nvPr/>
        </p:nvSpPr>
        <p:spPr>
          <a:xfrm>
            <a:off x="502920" y="4517136"/>
            <a:ext cx="8183879" cy="393192"/>
          </a:xfrm>
          <a:prstGeom prst="rect">
            <a:avLst/>
          </a:prstGeom>
          <a:noFill/>
        </p:spPr>
        <p:txBody>
          <a:bodyPr wrap="square" lIns="0" rIns="0" tIns="0" bIns="0">
            <a:noAutofit/>
          </a:bodyPr>
          <a:lstStyle/>
          <a:p>
            <a:pPr algn="l">
              <a:lnSpc>
                <a:spcPct val="112000"/>
              </a:lnSpc>
              <a:spcBef>
                <a:spcPts val="0"/>
              </a:spcBef>
              <a:spcAft>
                <a:spcPts val="0"/>
              </a:spcAft>
              <a:buNone/>
              <a:defRPr sz="810" b="0">
                <a:solidFill>
                  <a:srgbClr val="303437"/>
                </a:solidFill>
                <a:latin typeface="Noto Sans"/>
              </a:defRPr>
            </a:pPr>
            <a:r>
              <a:rPr sz="810" b="0" lang="ja-JP" altLang="en-US">
                <a:solidFill>
                  <a:srgbClr val="626669"/>
                </a:solidFill>
                <a:latin typeface="Noto Sans"/>
                <a:ea typeface="Noto Sans CJK JP"/>
                <a:cs typeface="Noto Sans"/>
              </a:rPr>
              <a:t/>
            </a:r>
            <a:r>
              <a:rPr sz="810" b="0" lang="ja-JP" altLang="en-US">
                <a:solidFill>
                  <a:srgbClr val="626669"/>
                </a:solidFill>
                <a:latin typeface="Noto Sans"/>
                <a:ea typeface="Noto Sans CJK JP"/>
                <a:cs typeface="Noto Sans"/>
              </a:rPr>
              <a:t>OpenAI (2026). GPT-6 Astra: A new generation of intelligence. Terminal-Bench 4.0. 2026-10-16参照。</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https://openai.com/index/gpt-6-astra/</a:t>
            </a:r>
          </a:p>
        </p:txBody>
      </p:sp>
      <p:sp>
        <p:nvSpPr>
          <p:cNvPr id="6" name="TextBox 5"/>
          <p:cNvSpPr txBox="1"/>
          <p:nvPr/>
        </p:nvSpPr>
        <p:spPr>
          <a:xfrm>
            <a:off x="502920" y="4818888"/>
            <a:ext cx="8183879" cy="393192"/>
          </a:xfrm>
          <a:prstGeom prst="rect">
            <a:avLst/>
          </a:prstGeom>
          <a:noFill/>
        </p:spPr>
        <p:txBody>
          <a:bodyPr wrap="square" lIns="0" rIns="0" tIns="0" bIns="0">
            <a:noAutofit/>
          </a:bodyPr>
          <a:lstStyle/>
          <a:p>
            <a:pPr algn="l">
              <a:lnSpc>
                <a:spcPct val="112000"/>
              </a:lnSpc>
              <a:spcBef>
                <a:spcPts val="0"/>
              </a:spcBef>
              <a:spcAft>
                <a:spcPts val="0"/>
              </a:spcAft>
              <a:buNone/>
              <a:defRPr sz="810" b="0">
                <a:solidFill>
                  <a:srgbClr val="303437"/>
                </a:solidFill>
                <a:latin typeface="Noto Sans"/>
              </a:defRPr>
            </a:pPr>
            <a:r>
              <a:rPr sz="810" b="0" lang="ja-JP" altLang="en-US">
                <a:solidFill>
                  <a:srgbClr val="626669"/>
                </a:solidFill>
                <a:latin typeface="Noto Sans"/>
                <a:ea typeface="Noto Sans CJK JP"/>
                <a:cs typeface="Noto Sans"/>
              </a:rPr>
              <a:t/>
            </a:r>
            <a:r>
              <a:rPr sz="810" b="0" lang="ja-JP" altLang="en-US">
                <a:solidFill>
                  <a:srgbClr val="626669"/>
                </a:solidFill>
                <a:latin typeface="Noto Sans"/>
                <a:ea typeface="Noto Sans CJK JP"/>
                <a:cs typeface="Noto Sans"/>
              </a:rPr>
              <a:t>Anthropic (2026-09-22). Claude Opus 5.5. Terminal-Bench 4.0. 2026-10-16参照。</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3"/>
              </a:rPr>
              <a:t>https://www.anthropic.com/news/claude-opus-5-5</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786384"/>
            <a:ext cx="8046720" cy="502920"/>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最新モデルの公表表には4.0も採用される</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FFF"/>
                </a:solidFill>
                <a:latin typeface="Noto Sans"/>
                <a:ea typeface="Noto Sans CJK JP"/>
                <a:cs typeface="Noto Sans"/>
              </a:rPr>
              <a:t>2. 採点方法とモデルの成績</a:t>
            </a:r>
          </a:p>
        </p:txBody>
      </p:sp>
      <p:graphicFrame>
        <p:nvGraphicFramePr>
          <p:cNvPr id="4" name="Table 3"/>
          <p:cNvGraphicFramePr>
            <a:graphicFrameLocks noGrp="1"/>
          </p:cNvGraphicFramePr>
          <p:nvPr/>
        </p:nvGraphicFramePr>
        <p:xfrm>
          <a:off x="548640" y="1508760"/>
          <a:ext cx="8046720" cy="2240280"/>
        </p:xfrm>
        <a:graphic>
          <a:graphicData uri="http://schemas.openxmlformats.org/drawingml/2006/table">
            <a:tbl>
              <a:tblPr firstRow="0" bandRow="0"/>
              <a:tblGrid>
                <a:gridCol w="5577840"/>
                <a:gridCol w="2468880"/>
              </a:tblGrid>
              <a:tr h="457200">
                <a:tc>
                  <a:txBody>
                    <a:bodyPr wrap="square">
                      <a:noAutofit/>
                    </a:bodyPr>
                    <a:lstStyle/>
                    <a:p>
                      <a:pPr algn="l">
                        <a:lnSpc>
                          <a:spcPts val="2415"/>
                        </a:lnSpc>
                        <a:buNone/>
                        <a:defRPr sz="2100" b="0">
                          <a:solidFill>
                            <a:srgbClr val="303437"/>
                          </a:solidFill>
                          <a:latin typeface="Noto Sans"/>
                        </a:defRPr>
                      </a:pPr>
                      <a:r>
                        <a:rPr sz="2100" b="0" lang="ja-JP" altLang="en-US">
                          <a:solidFill>
                            <a:srgbClr val="303437"/>
                          </a:solidFill>
                          <a:latin typeface="Noto Sans"/>
                          <a:ea typeface="Noto Sans CJK JP"/>
                          <a:cs typeface="Noto Sans"/>
                        </a:rPr>
                        <a:t>モデル</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c>
                  <a:txBody>
                    <a:bodyPr wrap="square">
                      <a:noAutofit/>
                    </a:bodyPr>
                    <a:lstStyle/>
                    <a:p>
                      <a:pPr algn="r">
                        <a:lnSpc>
                          <a:spcPts val="2415"/>
                        </a:lnSpc>
                        <a:buNone/>
                        <a:defRPr sz="2100" b="0">
                          <a:solidFill>
                            <a:srgbClr val="303437"/>
                          </a:solidFill>
                          <a:latin typeface="Noto Sans"/>
                        </a:defRPr>
                      </a:pPr>
                      <a:r>
                        <a:rPr sz="2100" b="0" lang="ja-JP" altLang="en-US">
                          <a:solidFill>
                            <a:srgbClr val="303437"/>
                          </a:solidFill>
                          <a:latin typeface="Noto Sans"/>
                          <a:ea typeface="Noto Sans CJK JP"/>
                          <a:cs typeface="Noto Sans"/>
                        </a:rPr>
                        <a:t>4.0の解決率</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r>
              <a:tr h="594360">
                <a:tc>
                  <a:txBody>
                    <a:bodyPr wrap="square">
                      <a:noAutofit/>
                    </a:bodyPr>
                    <a:lstStyle/>
                    <a:p>
                      <a:pPr algn="l">
                        <a:lnSpc>
                          <a:spcPts val="2415"/>
                        </a:lnSpc>
                        <a:buNone/>
                        <a:defRPr sz="2100" b="0">
                          <a:solidFill>
                            <a:srgbClr val="303437"/>
                          </a:solidFill>
                          <a:latin typeface="Noto Sans"/>
                        </a:defRPr>
                      </a:pPr>
                      <a:r>
                        <a:rPr sz="2100" b="0" lang="ja-JP" altLang="en-US">
                          <a:solidFill>
                            <a:srgbClr val="303437"/>
                          </a:solidFill>
                          <a:latin typeface="Noto Sans"/>
                          <a:ea typeface="Noto Sans CJK JP"/>
                          <a:cs typeface="Noto Sans"/>
                        </a:rPr>
                        <a:t>Claude Opus 5.5</a:t>
                      </a:r>
                    </a:p>
                  </a:txBody>
                  <a:tcPr marL="63500" marR="63500" marT="38100" marB="38100" anchor="ctr">
                    <a:lnL w="7620">
                      <a:noFill/>
                    </a:lnL>
                    <a:lnR w="7620">
                      <a:noFill/>
                    </a:lnR>
                    <a:lnT w="7620">
                      <a:solidFill>
                        <a:srgbClr val="626669"/>
                      </a:solidFill>
                      <a:prstDash val="solid"/>
                    </a:lnT>
                    <a:lnB w="7620">
                      <a:noFill/>
                    </a:lnB>
                    <a:solidFill>
                      <a:srgbClr val="FFFEF8"/>
                    </a:solidFill>
                  </a:tcPr>
                </a:tc>
                <a:tc>
                  <a:txBody>
                    <a:bodyPr wrap="square">
                      <a:noAutofit/>
                    </a:bodyPr>
                    <a:lstStyle/>
                    <a:p>
                      <a:pPr algn="r">
                        <a:lnSpc>
                          <a:spcPts val="2415"/>
                        </a:lnSpc>
                        <a:buNone/>
                        <a:defRPr sz="2100" b="0">
                          <a:solidFill>
                            <a:srgbClr val="303437"/>
                          </a:solidFill>
                          <a:latin typeface="Noto Sans"/>
                        </a:defRPr>
                      </a:pPr>
                      <a:r>
                        <a:rPr sz="2100" b="0" lang="ja-JP" altLang="en-US">
                          <a:solidFill>
                            <a:srgbClr val="303437"/>
                          </a:solidFill>
                          <a:latin typeface="Noto Sans"/>
                          <a:ea typeface="Noto Sans CJK JP"/>
                          <a:cs typeface="Noto Sans"/>
                        </a:rPr>
                        <a:t>66.4%</a:t>
                      </a:r>
                    </a:p>
                  </a:txBody>
                  <a:tcPr marL="63500" marR="63500" marT="38100" marB="38100" anchor="ctr">
                    <a:lnL w="7620">
                      <a:noFill/>
                    </a:lnL>
                    <a:lnR w="7620">
                      <a:noFill/>
                    </a:lnR>
                    <a:lnT w="7620">
                      <a:solidFill>
                        <a:srgbClr val="626669"/>
                      </a:solidFill>
                      <a:prstDash val="solid"/>
                    </a:lnT>
                    <a:lnB w="7620">
                      <a:noFill/>
                    </a:lnB>
                    <a:solidFill>
                      <a:srgbClr val="FFFEF8"/>
                    </a:solidFill>
                  </a:tcPr>
                </a:tc>
              </a:tr>
              <a:tr h="594360">
                <a:tc>
                  <a:txBody>
                    <a:bodyPr wrap="square">
                      <a:noAutofit/>
                    </a:bodyPr>
                    <a:lstStyle/>
                    <a:p>
                      <a:pPr algn="l">
                        <a:lnSpc>
                          <a:spcPts val="2415"/>
                        </a:lnSpc>
                        <a:buNone/>
                        <a:defRPr sz="2100" b="0">
                          <a:solidFill>
                            <a:srgbClr val="303437"/>
                          </a:solidFill>
                          <a:latin typeface="Noto Sans"/>
                        </a:defRPr>
                      </a:pPr>
                      <a:r>
                        <a:rPr sz="2100" b="0" lang="ja-JP" altLang="en-US">
                          <a:solidFill>
                            <a:srgbClr val="303437"/>
                          </a:solidFill>
                          <a:latin typeface="Noto Sans"/>
                          <a:ea typeface="Noto Sans CJK JP"/>
                          <a:cs typeface="Noto Sans"/>
                        </a:rPr>
                        <a:t>GPT-6 Astra</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r">
                        <a:lnSpc>
                          <a:spcPts val="2415"/>
                        </a:lnSpc>
                        <a:buNone/>
                        <a:defRPr sz="2100" b="0">
                          <a:solidFill>
                            <a:srgbClr val="303437"/>
                          </a:solidFill>
                          <a:latin typeface="Noto Sans"/>
                        </a:defRPr>
                      </a:pPr>
                      <a:r>
                        <a:rPr sz="2100" b="0" lang="ja-JP" altLang="en-US">
                          <a:solidFill>
                            <a:srgbClr val="303437"/>
                          </a:solidFill>
                          <a:latin typeface="Noto Sans"/>
                          <a:ea typeface="Noto Sans CJK JP"/>
                          <a:cs typeface="Noto Sans"/>
                        </a:rPr>
                        <a:t>57.9%</a:t>
                      </a:r>
                    </a:p>
                  </a:txBody>
                  <a:tcPr marL="63500" marR="63500" marT="38100" marB="38100" anchor="ctr">
                    <a:lnL w="7620">
                      <a:noFill/>
                    </a:lnL>
                    <a:lnR w="7620">
                      <a:noFill/>
                    </a:lnR>
                    <a:lnT w="7620">
                      <a:noFill/>
                    </a:lnT>
                    <a:lnB w="7620">
                      <a:noFill/>
                    </a:lnB>
                    <a:solidFill>
                      <a:srgbClr val="FFFEF8"/>
                    </a:solidFill>
                  </a:tcPr>
                </a:tc>
              </a:tr>
              <a:tr h="594360">
                <a:tc>
                  <a:txBody>
                    <a:bodyPr wrap="square">
                      <a:noAutofit/>
                    </a:bodyPr>
                    <a:lstStyle/>
                    <a:p>
                      <a:pPr algn="l">
                        <a:lnSpc>
                          <a:spcPts val="2415"/>
                        </a:lnSpc>
                        <a:buNone/>
                        <a:defRPr sz="2100" b="0">
                          <a:solidFill>
                            <a:srgbClr val="303437"/>
                          </a:solidFill>
                          <a:latin typeface="Noto Sans"/>
                        </a:defRPr>
                      </a:pPr>
                      <a:r>
                        <a:rPr sz="2100" b="0" lang="ja-JP" altLang="en-US">
                          <a:solidFill>
                            <a:srgbClr val="303437"/>
                          </a:solidFill>
                          <a:latin typeface="Noto Sans"/>
                          <a:ea typeface="Noto Sans CJK JP"/>
                          <a:cs typeface="Noto Sans"/>
                        </a:rPr>
                        <a:t>GPT-5.6 Sol</a:t>
                      </a:r>
                    </a:p>
                  </a:txBody>
                  <a:tcPr marL="63500" marR="63500" marT="38100" marB="38100" anchor="ctr">
                    <a:lnL w="7620">
                      <a:noFill/>
                    </a:lnL>
                    <a:lnR w="7620">
                      <a:noFill/>
                    </a:lnR>
                    <a:lnT w="7620">
                      <a:noFill/>
                    </a:lnT>
                    <a:lnB w="15240">
                      <a:solidFill>
                        <a:srgbClr val="626669"/>
                      </a:solidFill>
                      <a:prstDash val="solid"/>
                    </a:lnB>
                    <a:solidFill>
                      <a:srgbClr val="FFFEF8"/>
                    </a:solidFill>
                  </a:tcPr>
                </a:tc>
                <a:tc>
                  <a:txBody>
                    <a:bodyPr wrap="square">
                      <a:noAutofit/>
                    </a:bodyPr>
                    <a:lstStyle/>
                    <a:p>
                      <a:pPr algn="r">
                        <a:lnSpc>
                          <a:spcPts val="2415"/>
                        </a:lnSpc>
                        <a:buNone/>
                        <a:defRPr sz="2100" b="0">
                          <a:solidFill>
                            <a:srgbClr val="303437"/>
                          </a:solidFill>
                          <a:latin typeface="Noto Sans"/>
                        </a:defRPr>
                      </a:pPr>
                      <a:r>
                        <a:rPr sz="2100" b="0" lang="ja-JP" altLang="en-US">
                          <a:solidFill>
                            <a:srgbClr val="303437"/>
                          </a:solidFill>
                          <a:latin typeface="Noto Sans"/>
                          <a:ea typeface="Noto Sans CJK JP"/>
                          <a:cs typeface="Noto Sans"/>
                        </a:rPr>
                        <a:t>37.3%</a:t>
                      </a:r>
                    </a:p>
                  </a:txBody>
                  <a:tcPr marL="63500" marR="63500" marT="38100" marB="38100" anchor="ctr">
                    <a:lnL w="7620">
                      <a:noFill/>
                    </a:lnL>
                    <a:lnR w="7620">
                      <a:noFill/>
                    </a:lnR>
                    <a:lnT w="7620">
                      <a:noFill/>
                    </a:lnT>
                    <a:lnB w="15240">
                      <a:solidFill>
                        <a:srgbClr val="626669"/>
                      </a:solidFill>
                      <a:prstDash val="solid"/>
                    </a:lnB>
                    <a:solidFill>
                      <a:srgbClr val="FFFEF8"/>
                    </a:solidFill>
                  </a:tcPr>
                </a:tc>
              </a:tr>
            </a:tbl>
          </a:graphicData>
        </a:graphic>
      </p:graphicFrame>
      <p:sp>
        <p:nvSpPr>
          <p:cNvPr id="5" name="TextBox 4"/>
          <p:cNvSpPr txBox="1"/>
          <p:nvPr/>
        </p:nvSpPr>
        <p:spPr>
          <a:xfrm>
            <a:off x="594360" y="3941063"/>
            <a:ext cx="7955279" cy="685800"/>
          </a:xfrm>
          <a:prstGeom prst="rect">
            <a:avLst/>
          </a:prstGeom>
          <a:noFill/>
        </p:spPr>
        <p:txBody>
          <a:bodyPr wrap="square" lIns="0" rIns="0" tIns="0" bIns="0">
            <a:noAutofit/>
          </a:bodyPr>
          <a:lstStyle/>
          <a:p>
            <a:pPr algn="l">
              <a:lnSpc>
                <a:spcPts val="2160"/>
              </a:lnSpc>
              <a:spcBef>
                <a:spcPts val="0"/>
              </a:spcBef>
              <a:spcAft>
                <a:spcPts val="0"/>
              </a:spcAft>
              <a:buNone/>
              <a:defRPr sz="1800" b="0">
                <a:solidFill>
                  <a:srgbClr val="303437"/>
                </a:solidFill>
                <a:latin typeface="Noto Sans"/>
              </a:defRPr>
            </a:pPr>
            <a:r>
              <a:rPr sz="1800" b="0" lang="ja-JP" altLang="en-US">
                <a:solidFill>
                  <a:srgbClr val="303437"/>
                </a:solidFill>
                <a:latin typeface="Noto Sans"/>
                <a:ea typeface="Noto Sans CJK JP"/>
                <a:cs typeface="Noto Sans"/>
              </a:rPr>
              <a:t>Opus 5.5：xhigh effort。GPT-6 Astra：high effort。</a:t>
            </a:r>
          </a:p>
        </p:txBody>
      </p:sp>
      <p:sp>
        <p:nvSpPr>
          <p:cNvPr id="6" name="TextBox 5"/>
          <p:cNvSpPr txBox="1"/>
          <p:nvPr/>
        </p:nvSpPr>
        <p:spPr>
          <a:xfrm>
            <a:off x="502920" y="4690872"/>
            <a:ext cx="8183879" cy="393192"/>
          </a:xfrm>
          <a:prstGeom prst="rect">
            <a:avLst/>
          </a:prstGeom>
          <a:noFill/>
        </p:spPr>
        <p:txBody>
          <a:bodyPr wrap="square" lIns="0" rIns="0" tIns="0" bIns="0">
            <a:noAutofit/>
          </a:bodyPr>
          <a:lstStyle/>
          <a:p>
            <a:pPr algn="l">
              <a:lnSpc>
                <a:spcPct val="112000"/>
              </a:lnSpc>
              <a:spcBef>
                <a:spcPts val="0"/>
              </a:spcBef>
              <a:spcAft>
                <a:spcPts val="0"/>
              </a:spcAft>
              <a:buNone/>
              <a:defRPr sz="810" b="0">
                <a:solidFill>
                  <a:srgbClr val="303437"/>
                </a:solidFill>
                <a:latin typeface="Noto Sans"/>
              </a:defRPr>
            </a:pPr>
            <a:r>
              <a:rPr sz="810" b="0" lang="ja-JP" altLang="en-US">
                <a:solidFill>
                  <a:srgbClr val="626669"/>
                </a:solidFill>
                <a:latin typeface="Noto Sans"/>
                <a:ea typeface="Noto Sans CJK JP"/>
                <a:cs typeface="Noto Sans"/>
              </a:rPr>
              <a:t/>
            </a:r>
            <a:r>
              <a:rPr sz="810" b="0" lang="ja-JP" altLang="en-US">
                <a:solidFill>
                  <a:srgbClr val="626669"/>
                </a:solidFill>
                <a:latin typeface="Noto Sans"/>
                <a:ea typeface="Noto Sans CJK JP"/>
                <a:cs typeface="Noto Sans"/>
              </a:rPr>
              <a:t>Anthropic (2026-09-22). Claude Opus 5.5. Terminal-Bench 4.0. 2026-10-16参照。</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https://www.anthropic.com/news/claude-opus-5-5</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786384"/>
            <a:ext cx="8046720" cy="502920"/>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Terminus 2は端末だけを道具として使う</a:t>
            </a:r>
          </a:p>
        </p:txBody>
      </p:sp>
      <p:sp>
        <p:nvSpPr>
          <p:cNvPr id="3" name="Text Placeholder 2"/>
          <p:cNvSpPr>
            <a:spLocks noGrp="1"/>
          </p:cNvSpPr>
          <p:nvPr>
            <p:ph type="body" idx="1"/>
          </p:nvPr>
        </p:nvSpPr>
        <p:spPr>
          <a:xfrm>
            <a:off x="594360" y="1463040"/>
            <a:ext cx="7955279" cy="3090672"/>
          </a:xfrm>
        </p:spPr>
        <p:txBody>
          <a:bodyPr wrap="square" tIns="91440" bIns="91440">
            <a:noAutofit/>
          </a:bodyPr>
          <a:lstStyle/>
          <a:p>
            <a:pPr marL="457200" indent="-355600">
              <a:lnSpc>
                <a:spcPts val="2760"/>
              </a:lnSpc>
              <a:spcAft>
                <a:spcPts val="800"/>
              </a:spcAft>
              <a:buSzPct val="57826"/>
              <a:buFont typeface="Noto Sans CJK JP"/>
              <a:buChar char="●"/>
              <a:defRPr sz="2300" b="0">
                <a:solidFill>
                  <a:srgbClr val="303437"/>
                </a:solidFill>
                <a:latin typeface="Noto Sans"/>
              </a:defRPr>
            </a:pPr>
            <a:r>
              <a:rPr sz="2300" b="0" lang="ja-JP" altLang="en-US">
                <a:solidFill>
                  <a:srgbClr val="303437"/>
                </a:solidFill>
                <a:latin typeface="Noto Sans"/>
                <a:ea typeface="Noto Sans CJK JP"/>
                <a:cs typeface="Noto Sans"/>
              </a:rPr>
              <a:t>Terminus 2は、モデルへ端末の入出力を渡し、Bashコマンドで作業を進めるエージェントである。</a:t>
            </a:r>
          </a:p>
          <a:p>
            <a:pPr marL="457200" indent="-355600">
              <a:lnSpc>
                <a:spcPts val="2760"/>
              </a:lnSpc>
              <a:spcAft>
                <a:spcPts val="800"/>
              </a:spcAft>
              <a:buSzPct val="57826"/>
              <a:buFont typeface="Noto Sans CJK JP"/>
              <a:buChar char="●"/>
              <a:defRPr sz="2300" b="0">
                <a:solidFill>
                  <a:srgbClr val="303437"/>
                </a:solidFill>
                <a:latin typeface="Noto Sans"/>
              </a:defRPr>
            </a:pPr>
            <a:r>
              <a:rPr sz="2300" b="0" lang="ja-JP" altLang="en-US">
                <a:solidFill>
                  <a:srgbClr val="303437"/>
                </a:solidFill>
                <a:latin typeface="Noto Sans"/>
                <a:ea typeface="Noto Sans CJK JP"/>
                <a:cs typeface="Noto Sans"/>
              </a:rPr>
              <a:t>コマンドの実行、実行中のプロセスからの出力取得、キーボード入力を繰り返し、対話的な作業も行う。</a:t>
            </a:r>
          </a:p>
          <a:p>
            <a:pPr marL="457200" indent="-355600">
              <a:lnSpc>
                <a:spcPts val="2760"/>
              </a:lnSpc>
              <a:spcAft>
                <a:spcPts val="0"/>
              </a:spcAft>
              <a:buSzPct val="57826"/>
              <a:buFont typeface="Noto Sans CJK JP"/>
              <a:buChar char="●"/>
              <a:defRPr sz="2300" b="0">
                <a:solidFill>
                  <a:srgbClr val="303437"/>
                </a:solidFill>
                <a:latin typeface="Noto Sans"/>
              </a:defRPr>
            </a:pPr>
            <a:r>
              <a:rPr sz="2300" b="0" lang="ja-JP" altLang="en-US">
                <a:solidFill>
                  <a:srgbClr val="303437"/>
                </a:solidFill>
                <a:latin typeface="Noto Sans"/>
                <a:ea typeface="Noto Sans CJK JP"/>
                <a:cs typeface="Noto Sans"/>
              </a:rPr>
              <a:t>Merrillら（2026）はTerminus 2に加え、Claude Code、Codex CLI、Gemini CLI、OpenHands、Mini-SWE-Agentを評価した。</a:t>
            </a:r>
          </a:p>
        </p:txBody>
      </p:sp>
      <p:sp>
        <p:nvSpPr>
          <p:cNvPr id="4" name="Title 3"/>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FFF"/>
                </a:solidFill>
                <a:latin typeface="Noto Sans"/>
                <a:ea typeface="Noto Sans CJK JP"/>
                <a:cs typeface="Noto Sans"/>
              </a:rPr>
              <a:t>2. 採点方法とモデルの成績</a:t>
            </a:r>
          </a:p>
        </p:txBody>
      </p:sp>
      <p:sp>
        <p:nvSpPr>
          <p:cNvPr id="5" name="TextBox 4"/>
          <p:cNvSpPr txBox="1"/>
          <p:nvPr/>
        </p:nvSpPr>
        <p:spPr>
          <a:xfrm>
            <a:off x="502920" y="4690872"/>
            <a:ext cx="8183879" cy="393192"/>
          </a:xfrm>
          <a:prstGeom prst="rect">
            <a:avLst/>
          </a:prstGeom>
          <a:noFill/>
        </p:spPr>
        <p:txBody>
          <a:bodyPr wrap="square" lIns="0" rIns="0" tIns="0" bIns="0">
            <a:noAutofit/>
          </a:bodyPr>
          <a:lstStyle/>
          <a:p>
            <a:pPr algn="l">
              <a:lnSpc>
                <a:spcPct val="112000"/>
              </a:lnSpc>
              <a:spcBef>
                <a:spcPts val="0"/>
              </a:spcBef>
              <a:spcAft>
                <a:spcPts val="0"/>
              </a:spcAft>
              <a:buNone/>
              <a:defRPr sz="810" b="0">
                <a:solidFill>
                  <a:srgbClr val="303437"/>
                </a:solidFill>
                <a:latin typeface="Noto Sans"/>
              </a:defRPr>
            </a:pPr>
            <a:r>
              <a:rPr sz="810" b="0" lang="ja-JP" altLang="en-US">
                <a:solidFill>
                  <a:srgbClr val="626669"/>
                </a:solidFill>
                <a:latin typeface="Noto Sans"/>
                <a:ea typeface="Noto Sans CJK JP"/>
                <a:cs typeface="Noto Sans"/>
              </a:rPr>
              <a:t/>
            </a:r>
            <a:r>
              <a:rPr sz="810" b="0" lang="ja-JP" altLang="en-US">
                <a:solidFill>
                  <a:srgbClr val="626669"/>
                </a:solidFill>
                <a:latin typeface="Noto Sans"/>
                <a:ea typeface="Noto Sans CJK JP"/>
                <a:cs typeface="Noto Sans"/>
              </a:rPr>
              <a:t>Merrill et al. (2026). Terminal-Bench: Benchmarking Agents on Hard, Realistic Tasks in Command Line Interfaces. arXiv:2601.11868.</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https://arxiv.org/abs/2601.11868</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2388106"/>
            <a:ext cx="8046720" cy="822960"/>
          </a:xfrm>
        </p:spPr>
        <p:txBody>
          <a:bodyPr wrap="square" lIns="0" rIns="0" tIns="0" bIns="0" anchor="ctr">
            <a:noAutofit/>
          </a:bodyPr>
          <a:lstStyle/>
          <a:p>
            <a:pPr algn="ctr">
              <a:lnSpc>
                <a:spcPct val="110000"/>
              </a:lnSpc>
              <a:buNone/>
              <a:defRPr sz="3600" b="0">
                <a:solidFill>
                  <a:srgbClr val="303437"/>
                </a:solidFill>
                <a:latin typeface="Noto Sans"/>
              </a:defRPr>
            </a:pPr>
            <a:r>
              <a:rPr sz="3600" b="1" lang="ja-JP" altLang="en-US">
                <a:solidFill>
                  <a:srgbClr val="303437"/>
                </a:solidFill>
                <a:latin typeface="Noto Sans"/>
                <a:ea typeface="Noto Sans CJK JP"/>
                <a:cs typeface="Noto Sans"/>
              </a:rPr>
              <a:t>3. 課題の作成方法と全体像</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FFF"/>
                </a:solidFill>
                <a:latin typeface="Noto Sans"/>
                <a:ea typeface="Noto Sans CJK JP"/>
                <a:cs typeface="Noto Sans"/>
              </a:rPr>
              <a:t>3. 課題の作成方法と全体像</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786384"/>
            <a:ext cx="8046720" cy="502920"/>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複数分野の実作業を難しい課題として集めた</a:t>
            </a:r>
          </a:p>
        </p:txBody>
      </p:sp>
      <p:sp>
        <p:nvSpPr>
          <p:cNvPr id="3" name="Text Placeholder 2"/>
          <p:cNvSpPr>
            <a:spLocks noGrp="1"/>
          </p:cNvSpPr>
          <p:nvPr>
            <p:ph type="body" idx="1"/>
          </p:nvPr>
        </p:nvSpPr>
        <p:spPr>
          <a:xfrm>
            <a:off x="594360" y="1463040"/>
            <a:ext cx="7955279" cy="3090672"/>
          </a:xfrm>
        </p:spPr>
        <p:txBody>
          <a:bodyPr wrap="square" tIns="91440" bIns="91440">
            <a:noAutofit/>
          </a:bodyPr>
          <a:lstStyle/>
          <a:p>
            <a:pPr marL="457200" indent="-355600">
              <a:lnSpc>
                <a:spcPts val="2760"/>
              </a:lnSpc>
              <a:spcAft>
                <a:spcPts val="800"/>
              </a:spcAft>
              <a:buSzPct val="57826"/>
              <a:buFont typeface="Noto Sans CJK JP"/>
              <a:buChar char="●"/>
              <a:defRPr sz="2300" b="0">
                <a:solidFill>
                  <a:srgbClr val="303437"/>
                </a:solidFill>
                <a:latin typeface="Noto Sans"/>
              </a:defRPr>
            </a:pPr>
            <a:r>
              <a:rPr sz="2300" b="0" lang="ja-JP" altLang="en-US">
                <a:solidFill>
                  <a:srgbClr val="303437"/>
                </a:solidFill>
                <a:latin typeface="Noto Sans"/>
                <a:ea typeface="Noto Sans CJK JP"/>
                <a:cs typeface="Noto Sans"/>
              </a:rPr>
              <a:t>コード修正、計算環境の整備、研究用プログラムの実装など、専門家が端末で行う作業を課題にした。</a:t>
            </a:r>
          </a:p>
          <a:p>
            <a:pPr marL="457200" indent="-355600">
              <a:lnSpc>
                <a:spcPts val="2760"/>
              </a:lnSpc>
              <a:spcAft>
                <a:spcPts val="800"/>
              </a:spcAft>
              <a:buSzPct val="57826"/>
              <a:buFont typeface="Noto Sans CJK JP"/>
              <a:buChar char="●"/>
              <a:defRPr sz="2300" b="0">
                <a:solidFill>
                  <a:srgbClr val="303437"/>
                </a:solidFill>
                <a:latin typeface="Noto Sans"/>
              </a:defRPr>
            </a:pPr>
            <a:r>
              <a:rPr sz="2300" b="0" lang="ja-JP" altLang="en-US">
                <a:solidFill>
                  <a:srgbClr val="303437"/>
                </a:solidFill>
                <a:latin typeface="Noto Sans"/>
                <a:ea typeface="Noto Sans CJK JP"/>
                <a:cs typeface="Noto Sans"/>
              </a:rPr>
              <a:t>各課題には必要なファイルとソフトウェアを用意し、作業結果を自動テストで判定できるようにする。</a:t>
            </a:r>
          </a:p>
          <a:p>
            <a:pPr marL="457200" indent="-355600">
              <a:lnSpc>
                <a:spcPts val="2760"/>
              </a:lnSpc>
              <a:spcAft>
                <a:spcPts val="0"/>
              </a:spcAft>
              <a:buSzPct val="57826"/>
              <a:buFont typeface="Noto Sans CJK JP"/>
              <a:buChar char="●"/>
              <a:defRPr sz="2300" b="0">
                <a:solidFill>
                  <a:srgbClr val="303437"/>
                </a:solidFill>
                <a:latin typeface="Noto Sans"/>
              </a:defRPr>
            </a:pPr>
            <a:r>
              <a:rPr sz="2300" b="0" lang="ja-JP" altLang="en-US">
                <a:solidFill>
                  <a:srgbClr val="303437"/>
                </a:solidFill>
                <a:latin typeface="Noto Sans"/>
                <a:ea typeface="Noto Sans CJK JP"/>
                <a:cs typeface="Noto Sans"/>
              </a:rPr>
              <a:t>2.0では、複雑な依存関係や専門知識を要する課題を集め、複数人で指示とテストを審査した。</a:t>
            </a:r>
          </a:p>
        </p:txBody>
      </p:sp>
      <p:sp>
        <p:nvSpPr>
          <p:cNvPr id="4" name="Title 3"/>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FFF"/>
                </a:solidFill>
                <a:latin typeface="Noto Sans"/>
                <a:ea typeface="Noto Sans CJK JP"/>
                <a:cs typeface="Noto Sans"/>
              </a:rPr>
              <a:t>3. 課題の作成方法と全体像</a:t>
            </a:r>
          </a:p>
        </p:txBody>
      </p:sp>
      <p:sp>
        <p:nvSpPr>
          <p:cNvPr id="5" name="TextBox 4"/>
          <p:cNvSpPr txBox="1"/>
          <p:nvPr/>
        </p:nvSpPr>
        <p:spPr>
          <a:xfrm>
            <a:off x="502920" y="4690872"/>
            <a:ext cx="8183879" cy="393192"/>
          </a:xfrm>
          <a:prstGeom prst="rect">
            <a:avLst/>
          </a:prstGeom>
          <a:noFill/>
        </p:spPr>
        <p:txBody>
          <a:bodyPr wrap="square" lIns="0" rIns="0" tIns="0" bIns="0">
            <a:noAutofit/>
          </a:bodyPr>
          <a:lstStyle/>
          <a:p>
            <a:pPr algn="l">
              <a:lnSpc>
                <a:spcPct val="112000"/>
              </a:lnSpc>
              <a:spcBef>
                <a:spcPts val="0"/>
              </a:spcBef>
              <a:spcAft>
                <a:spcPts val="0"/>
              </a:spcAft>
              <a:buNone/>
              <a:defRPr sz="810" b="0">
                <a:solidFill>
                  <a:srgbClr val="303437"/>
                </a:solidFill>
                <a:latin typeface="Noto Sans"/>
              </a:defRPr>
            </a:pPr>
            <a:r>
              <a:rPr sz="810" b="0" lang="ja-JP" altLang="en-US">
                <a:solidFill>
                  <a:srgbClr val="626669"/>
                </a:solidFill>
                <a:latin typeface="Noto Sans"/>
                <a:ea typeface="Noto Sans CJK JP"/>
                <a:cs typeface="Noto Sans"/>
              </a:rPr>
              <a:t/>
            </a:r>
            <a:r>
              <a:rPr sz="810" b="0" lang="ja-JP" altLang="en-US">
                <a:solidFill>
                  <a:srgbClr val="626669"/>
                </a:solidFill>
                <a:latin typeface="Noto Sans"/>
                <a:ea typeface="Noto Sans CJK JP"/>
                <a:cs typeface="Noto Sans"/>
              </a:rPr>
              <a:t>Merrill et al. (2026). Terminal-Bench: Benchmarking Agents on Hard, Realistic Tasks in Command Line Interfaces. arXiv:2601.11868.</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https://arxiv.org/abs/2601.11868</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786384"/>
            <a:ext cx="8046720" cy="502920"/>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コード修正やWeb操作から、端末の多分野作業へ</a:t>
            </a:r>
          </a:p>
        </p:txBody>
      </p:sp>
      <p:sp>
        <p:nvSpPr>
          <p:cNvPr id="3" name="Text Placeholder 2"/>
          <p:cNvSpPr>
            <a:spLocks noGrp="1"/>
          </p:cNvSpPr>
          <p:nvPr>
            <p:ph type="body" idx="1"/>
          </p:nvPr>
        </p:nvSpPr>
        <p:spPr>
          <a:xfrm>
            <a:off x="594360" y="1463040"/>
            <a:ext cx="7955279" cy="3090672"/>
          </a:xfrm>
        </p:spPr>
        <p:txBody>
          <a:bodyPr wrap="square" tIns="91440" bIns="91440">
            <a:noAutofit/>
          </a:bodyPr>
          <a:lstStyle/>
          <a:p>
            <a:pPr marL="457200" indent="-355600">
              <a:lnSpc>
                <a:spcPts val="2760"/>
              </a:lnSpc>
              <a:spcAft>
                <a:spcPts val="800"/>
              </a:spcAft>
              <a:buSzPct val="57826"/>
              <a:buFont typeface="Noto Sans CJK JP"/>
              <a:buChar char="●"/>
              <a:defRPr sz="2300" b="0">
                <a:solidFill>
                  <a:srgbClr val="303437"/>
                </a:solidFill>
                <a:latin typeface="Noto Sans"/>
              </a:defRPr>
            </a:pPr>
            <a:r>
              <a:rPr sz="2300" b="0" lang="ja-JP" altLang="en-US">
                <a:solidFill>
                  <a:srgbClr val="303437"/>
                </a:solidFill>
                <a:latin typeface="Noto Sans"/>
                <a:ea typeface="Noto Sans CJK JP"/>
                <a:cs typeface="Noto Sans"/>
              </a:rPr>
              <a:t>SWE-bench（2023年公開）は、GitHubの課題記述から既存リポジトリを修正する評価データである [1]。</a:t>
            </a:r>
          </a:p>
          <a:p>
            <a:pPr marL="457200" indent="-355600">
              <a:lnSpc>
                <a:spcPts val="2760"/>
              </a:lnSpc>
              <a:spcAft>
                <a:spcPts val="800"/>
              </a:spcAft>
              <a:buSzPct val="57826"/>
              <a:buFont typeface="Noto Sans CJK JP"/>
              <a:buChar char="●"/>
              <a:defRPr sz="2300" b="0">
                <a:solidFill>
                  <a:srgbClr val="303437"/>
                </a:solidFill>
                <a:latin typeface="Noto Sans"/>
              </a:defRPr>
            </a:pPr>
            <a:r>
              <a:rPr sz="2300" b="0" lang="ja-JP" altLang="en-US">
                <a:solidFill>
                  <a:srgbClr val="303437"/>
                </a:solidFill>
                <a:latin typeface="Noto Sans"/>
                <a:ea typeface="Noto Sans CJK JP"/>
                <a:cs typeface="Noto Sans"/>
              </a:rPr>
              <a:t>WebArena（2023年公開）は、買物・掲示板などのWebアプリをブラウザーで操作する評価環境である [2]。</a:t>
            </a:r>
          </a:p>
          <a:p>
            <a:pPr marL="457200" indent="-355600">
              <a:lnSpc>
                <a:spcPts val="2760"/>
              </a:lnSpc>
              <a:spcAft>
                <a:spcPts val="0"/>
              </a:spcAft>
              <a:buSzPct val="57826"/>
              <a:buFont typeface="Noto Sans CJK JP"/>
              <a:buChar char="●"/>
              <a:defRPr sz="2300" b="0">
                <a:solidFill>
                  <a:srgbClr val="303437"/>
                </a:solidFill>
                <a:latin typeface="Noto Sans"/>
              </a:defRPr>
            </a:pPr>
            <a:r>
              <a:rPr sz="2300" b="0" lang="ja-JP" altLang="en-US">
                <a:solidFill>
                  <a:srgbClr val="303437"/>
                </a:solidFill>
                <a:latin typeface="Noto Sans"/>
                <a:ea typeface="Noto Sans CJK JP"/>
                <a:cs typeface="Noto Sans"/>
              </a:rPr>
              <a:t>Terminal-Benchは端末を共通の操作面とし、ソフトウェア開発から科学計算まで対象を広げる。</a:t>
            </a:r>
          </a:p>
        </p:txBody>
      </p:sp>
      <p:sp>
        <p:nvSpPr>
          <p:cNvPr id="4" name="Title 3"/>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FFF"/>
                </a:solidFill>
                <a:latin typeface="Noto Sans"/>
                <a:ea typeface="Noto Sans CJK JP"/>
                <a:cs typeface="Noto Sans"/>
              </a:rPr>
              <a:t>3. 課題の作成方法と全体像</a:t>
            </a:r>
          </a:p>
        </p:txBody>
      </p:sp>
      <p:sp>
        <p:nvSpPr>
          <p:cNvPr id="5" name="TextBox 4"/>
          <p:cNvSpPr txBox="1"/>
          <p:nvPr/>
        </p:nvSpPr>
        <p:spPr>
          <a:xfrm>
            <a:off x="502920" y="4517136"/>
            <a:ext cx="8183879" cy="393192"/>
          </a:xfrm>
          <a:prstGeom prst="rect">
            <a:avLst/>
          </a:prstGeom>
          <a:noFill/>
        </p:spPr>
        <p:txBody>
          <a:bodyPr wrap="square" lIns="0" rIns="0" tIns="0" bIns="0">
            <a:noAutofit/>
          </a:bodyPr>
          <a:lstStyle/>
          <a:p>
            <a:pPr algn="l">
              <a:lnSpc>
                <a:spcPct val="112000"/>
              </a:lnSpc>
              <a:spcBef>
                <a:spcPts val="0"/>
              </a:spcBef>
              <a:spcAft>
                <a:spcPts val="0"/>
              </a:spcAft>
              <a:buNone/>
              <a:defRPr sz="810" b="0">
                <a:solidFill>
                  <a:srgbClr val="303437"/>
                </a:solidFill>
                <a:latin typeface="Noto Sans"/>
              </a:defRPr>
            </a:pPr>
            <a:r>
              <a:rPr sz="810" b="0" lang="ja-JP" altLang="en-US">
                <a:solidFill>
                  <a:srgbClr val="626669"/>
                </a:solidFill>
                <a:latin typeface="Noto Sans"/>
                <a:ea typeface="Noto Sans CJK JP"/>
                <a:cs typeface="Noto Sans"/>
              </a:rPr>
              <a:t/>
            </a:r>
            <a:r>
              <a:rPr sz="810" b="0" lang="ja-JP" altLang="en-US">
                <a:solidFill>
                  <a:srgbClr val="626669"/>
                </a:solidFill>
                <a:latin typeface="Noto Sans"/>
                <a:ea typeface="Noto Sans CJK JP"/>
                <a:cs typeface="Noto Sans"/>
              </a:rPr>
              <a:t>[1] Jimenez et al. (2024). SWE-bench: Can Language Models Resolve Real-World GitHub Issues? ICLR.</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https://arxiv.org/abs/2310.06770</a:t>
            </a:r>
          </a:p>
        </p:txBody>
      </p:sp>
      <p:sp>
        <p:nvSpPr>
          <p:cNvPr id="6" name="TextBox 5"/>
          <p:cNvSpPr txBox="1"/>
          <p:nvPr/>
        </p:nvSpPr>
        <p:spPr>
          <a:xfrm>
            <a:off x="502920" y="4818888"/>
            <a:ext cx="8183879" cy="393192"/>
          </a:xfrm>
          <a:prstGeom prst="rect">
            <a:avLst/>
          </a:prstGeom>
          <a:noFill/>
        </p:spPr>
        <p:txBody>
          <a:bodyPr wrap="square" lIns="0" rIns="0" tIns="0" bIns="0">
            <a:noAutofit/>
          </a:bodyPr>
          <a:lstStyle/>
          <a:p>
            <a:pPr algn="l">
              <a:lnSpc>
                <a:spcPct val="112000"/>
              </a:lnSpc>
              <a:spcBef>
                <a:spcPts val="0"/>
              </a:spcBef>
              <a:spcAft>
                <a:spcPts val="0"/>
              </a:spcAft>
              <a:buNone/>
              <a:defRPr sz="810" b="0">
                <a:solidFill>
                  <a:srgbClr val="303437"/>
                </a:solidFill>
                <a:latin typeface="Noto Sans"/>
              </a:defRPr>
            </a:pPr>
            <a:r>
              <a:rPr sz="810" b="0" lang="ja-JP" altLang="en-US">
                <a:solidFill>
                  <a:srgbClr val="626669"/>
                </a:solidFill>
                <a:latin typeface="Noto Sans"/>
                <a:ea typeface="Noto Sans CJK JP"/>
                <a:cs typeface="Noto Sans"/>
              </a:rPr>
              <a:t/>
            </a:r>
            <a:r>
              <a:rPr sz="810" b="0" lang="ja-JP" altLang="en-US">
                <a:solidFill>
                  <a:srgbClr val="626669"/>
                </a:solidFill>
                <a:latin typeface="Noto Sans"/>
                <a:ea typeface="Noto Sans CJK JP"/>
                <a:cs typeface="Noto Sans"/>
              </a:rPr>
              <a:t>[2] Zhou et al. (2024). WebArena: A Realistic Web Environment for Building Autonomous Agents. ICLR.</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3"/>
              </a:rPr>
              <a:t>https://arxiv.org/abs/2307.13854</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786384"/>
            <a:ext cx="8046720" cy="502920"/>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93人の貢献者から229課題を集めた</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FFF"/>
                </a:solidFill>
                <a:latin typeface="Noto Sans"/>
                <a:ea typeface="Noto Sans CJK JP"/>
                <a:cs typeface="Noto Sans"/>
              </a:rPr>
              <a:t>3. 課題の作成方法と全体像</a:t>
            </a:r>
          </a:p>
        </p:txBody>
      </p:sp>
      <p:graphicFrame>
        <p:nvGraphicFramePr>
          <p:cNvPr id="4" name="Table 3"/>
          <p:cNvGraphicFramePr>
            <a:graphicFrameLocks noGrp="1"/>
          </p:cNvGraphicFramePr>
          <p:nvPr/>
        </p:nvGraphicFramePr>
        <p:xfrm>
          <a:off x="548640" y="1508760"/>
          <a:ext cx="8046720" cy="2688336"/>
        </p:xfrm>
        <a:graphic>
          <a:graphicData uri="http://schemas.openxmlformats.org/drawingml/2006/table">
            <a:tbl>
              <a:tblPr firstRow="0" bandRow="0"/>
              <a:tblGrid>
                <a:gridCol w="2286000"/>
                <a:gridCol w="5760720"/>
              </a:tblGrid>
              <a:tr h="457200">
                <a:tc>
                  <a:txBody>
                    <a:bodyPr wrap="square">
                      <a:noAutofit/>
                    </a:bodyPr>
                    <a:lstStyle/>
                    <a:p>
                      <a:pPr algn="l">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段階</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c>
                  <a:txBody>
                    <a:bodyPr wrap="square">
                      <a:noAutofit/>
                    </a:bodyPr>
                    <a:lstStyle/>
                    <a:p>
                      <a:pPr algn="l">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Merrillら（2026）の報告</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r>
              <a:tr h="557784">
                <a:tc>
                  <a:txBody>
                    <a:bodyPr wrap="square">
                      <a:noAutofit/>
                    </a:bodyPr>
                    <a:lstStyle/>
                    <a:p>
                      <a:pPr algn="l">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課題の投稿</a:t>
                      </a:r>
                    </a:p>
                  </a:txBody>
                  <a:tcPr marL="63500" marR="63500" marT="38100" marB="38100" anchor="ctr">
                    <a:lnL w="7620">
                      <a:noFill/>
                    </a:lnL>
                    <a:lnR w="7620">
                      <a:noFill/>
                    </a:lnR>
                    <a:lnT w="7620">
                      <a:solidFill>
                        <a:srgbClr val="626669"/>
                      </a:solidFill>
                      <a:prstDash val="solid"/>
                    </a:lnT>
                    <a:lnB w="7620">
                      <a:noFill/>
                    </a:lnB>
                    <a:solidFill>
                      <a:srgbClr val="FFFEF8"/>
                    </a:solidFill>
                  </a:tcPr>
                </a:tc>
                <a:tc>
                  <a:txBody>
                    <a:bodyPr wrap="square">
                      <a:noAutofit/>
                    </a:bodyPr>
                    <a:lstStyle/>
                    <a:p>
                      <a:pPr algn="l">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93人が229課題を作成</a:t>
                      </a:r>
                    </a:p>
                  </a:txBody>
                  <a:tcPr marL="63500" marR="63500" marT="38100" marB="38100" anchor="ctr">
                    <a:lnL w="7620">
                      <a:noFill/>
                    </a:lnL>
                    <a:lnR w="7620">
                      <a:noFill/>
                    </a:lnR>
                    <a:lnT w="7620">
                      <a:solidFill>
                        <a:srgbClr val="626669"/>
                      </a:solidFill>
                      <a:prstDash val="solid"/>
                    </a:lnT>
                    <a:lnB w="7620">
                      <a:noFill/>
                    </a:lnB>
                    <a:solidFill>
                      <a:srgbClr val="FFFEF8"/>
                    </a:solidFill>
                  </a:tcPr>
                </a:tc>
              </a:tr>
              <a:tr h="557784">
                <a:tc>
                  <a:txBody>
                    <a:bodyPr wrap="square">
                      <a:noAutofit/>
                    </a:bodyPr>
                    <a:lstStyle/>
                    <a:p>
                      <a:pPr algn="l">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選定</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l">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作者の難度評価と、審査者の品質評価</a:t>
                      </a:r>
                    </a:p>
                  </a:txBody>
                  <a:tcPr marL="63500" marR="63500" marT="38100" marB="38100" anchor="ctr">
                    <a:lnL w="7620">
                      <a:noFill/>
                    </a:lnL>
                    <a:lnR w="7620">
                      <a:noFill/>
                    </a:lnR>
                    <a:lnT w="7620">
                      <a:noFill/>
                    </a:lnT>
                    <a:lnB w="7620">
                      <a:noFill/>
                    </a:lnB>
                    <a:solidFill>
                      <a:srgbClr val="FFFEF8"/>
                    </a:solidFill>
                  </a:tcPr>
                </a:tc>
              </a:tr>
              <a:tr h="557784">
                <a:tc>
                  <a:txBody>
                    <a:bodyPr wrap="square">
                      <a:noAutofit/>
                    </a:bodyPr>
                    <a:lstStyle/>
                    <a:p>
                      <a:pPr algn="l">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最終集合</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l">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2.0に89課題を採用</a:t>
                      </a:r>
                    </a:p>
                  </a:txBody>
                  <a:tcPr marL="63500" marR="63500" marT="38100" marB="38100" anchor="ctr">
                    <a:lnL w="7620">
                      <a:noFill/>
                    </a:lnL>
                    <a:lnR w="7620">
                      <a:noFill/>
                    </a:lnR>
                    <a:lnT w="7620">
                      <a:noFill/>
                    </a:lnT>
                    <a:lnB w="7620">
                      <a:noFill/>
                    </a:lnB>
                    <a:solidFill>
                      <a:srgbClr val="FFFEF8"/>
                    </a:solidFill>
                  </a:tcPr>
                </a:tc>
              </a:tr>
              <a:tr h="557784">
                <a:tc>
                  <a:txBody>
                    <a:bodyPr wrap="square">
                      <a:noAutofit/>
                    </a:bodyPr>
                    <a:lstStyle/>
                    <a:p>
                      <a:pPr algn="l">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人手審査</a:t>
                      </a:r>
                    </a:p>
                  </a:txBody>
                  <a:tcPr marL="63500" marR="63500" marT="38100" marB="38100" anchor="ctr">
                    <a:lnL w="7620">
                      <a:noFill/>
                    </a:lnL>
                    <a:lnR w="7620">
                      <a:noFill/>
                    </a:lnR>
                    <a:lnT w="7620">
                      <a:noFill/>
                    </a:lnT>
                    <a:lnB w="15240">
                      <a:solidFill>
                        <a:srgbClr val="626669"/>
                      </a:solidFill>
                      <a:prstDash val="solid"/>
                    </a:lnB>
                    <a:solidFill>
                      <a:srgbClr val="FFFEF8"/>
                    </a:solidFill>
                  </a:tcPr>
                </a:tc>
                <a:tc>
                  <a:txBody>
                    <a:bodyPr wrap="square">
                      <a:noAutofit/>
                    </a:bodyPr>
                    <a:lstStyle/>
                    <a:p>
                      <a:pPr algn="l">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3人が確認し、1課題当たり計約3時間</a:t>
                      </a:r>
                    </a:p>
                  </a:txBody>
                  <a:tcPr marL="63500" marR="63500" marT="38100" marB="38100" anchor="ctr">
                    <a:lnL w="7620">
                      <a:noFill/>
                    </a:lnL>
                    <a:lnR w="7620">
                      <a:noFill/>
                    </a:lnR>
                    <a:lnT w="7620">
                      <a:noFill/>
                    </a:lnT>
                    <a:lnB w="15240">
                      <a:solidFill>
                        <a:srgbClr val="626669"/>
                      </a:solidFill>
                      <a:prstDash val="solid"/>
                    </a:lnB>
                    <a:solidFill>
                      <a:srgbClr val="FFFEF8"/>
                    </a:solidFill>
                  </a:tcPr>
                </a:tc>
              </a:tr>
            </a:tbl>
          </a:graphicData>
        </a:graphic>
      </p:graphicFrame>
      <p:sp>
        <p:nvSpPr>
          <p:cNvPr id="5" name="TextBox 4"/>
          <p:cNvSpPr txBox="1"/>
          <p:nvPr/>
        </p:nvSpPr>
        <p:spPr>
          <a:xfrm>
            <a:off x="502920" y="4690872"/>
            <a:ext cx="8183879" cy="393192"/>
          </a:xfrm>
          <a:prstGeom prst="rect">
            <a:avLst/>
          </a:prstGeom>
          <a:noFill/>
        </p:spPr>
        <p:txBody>
          <a:bodyPr wrap="square" lIns="0" rIns="0" tIns="0" bIns="0">
            <a:noAutofit/>
          </a:bodyPr>
          <a:lstStyle/>
          <a:p>
            <a:pPr algn="l">
              <a:lnSpc>
                <a:spcPct val="112000"/>
              </a:lnSpc>
              <a:spcBef>
                <a:spcPts val="0"/>
              </a:spcBef>
              <a:spcAft>
                <a:spcPts val="0"/>
              </a:spcAft>
              <a:buNone/>
              <a:defRPr sz="810" b="0">
                <a:solidFill>
                  <a:srgbClr val="303437"/>
                </a:solidFill>
                <a:latin typeface="Noto Sans"/>
              </a:defRPr>
            </a:pPr>
            <a:r>
              <a:rPr sz="810" b="0" lang="ja-JP" altLang="en-US">
                <a:solidFill>
                  <a:srgbClr val="626669"/>
                </a:solidFill>
                <a:latin typeface="Noto Sans"/>
                <a:ea typeface="Noto Sans CJK JP"/>
                <a:cs typeface="Noto Sans"/>
              </a:rPr>
              <a:t/>
            </a:r>
            <a:r>
              <a:rPr sz="810" b="0" lang="ja-JP" altLang="en-US">
                <a:solidFill>
                  <a:srgbClr val="626669"/>
                </a:solidFill>
                <a:latin typeface="Noto Sans"/>
                <a:ea typeface="Noto Sans CJK JP"/>
                <a:cs typeface="Noto Sans"/>
              </a:rPr>
              <a:t>Merrill et al. (2026). Terminal-Bench: Benchmarking Agents on Hard, Realistic Tasks in Command Line Interfaces. arXiv:2601.11868.</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https://arxiv.org/abs/2601.11868</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786384"/>
            <a:ext cx="8046720" cy="502920"/>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審査では指示・解法・抜け道を確認する</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FFF"/>
                </a:solidFill>
                <a:latin typeface="Noto Sans"/>
                <a:ea typeface="Noto Sans CJK JP"/>
                <a:cs typeface="Noto Sans"/>
              </a:rPr>
              <a:t>3. 課題の作成方法と全体像</a:t>
            </a:r>
          </a:p>
        </p:txBody>
      </p:sp>
      <p:graphicFrame>
        <p:nvGraphicFramePr>
          <p:cNvPr id="4" name="Table 3"/>
          <p:cNvGraphicFramePr>
            <a:graphicFrameLocks noGrp="1"/>
          </p:cNvGraphicFramePr>
          <p:nvPr/>
        </p:nvGraphicFramePr>
        <p:xfrm>
          <a:off x="548640" y="1508760"/>
          <a:ext cx="8046720" cy="2432304"/>
        </p:xfrm>
        <a:graphic>
          <a:graphicData uri="http://schemas.openxmlformats.org/drawingml/2006/table">
            <a:tbl>
              <a:tblPr firstRow="0" bandRow="0"/>
              <a:tblGrid>
                <a:gridCol w="2103120"/>
                <a:gridCol w="5943600"/>
              </a:tblGrid>
              <a:tr h="457200">
                <a:tc>
                  <a:txBody>
                    <a:bodyPr wrap="square">
                      <a:noAutofit/>
                    </a:bodyPr>
                    <a:lstStyle/>
                    <a:p>
                      <a:pPr algn="l">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基準</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c>
                  <a:txBody>
                    <a:bodyPr wrap="square">
                      <a:noAutofit/>
                    </a:bodyPr>
                    <a:lstStyle/>
                    <a:p>
                      <a:pPr algn="l">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確認する内容</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r>
              <a:tr h="658368">
                <a:tc>
                  <a:txBody>
                    <a:bodyPr wrap="square">
                      <a:noAutofit/>
                    </a:bodyPr>
                    <a:lstStyle/>
                    <a:p>
                      <a:pPr algn="l">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具体性</a:t>
                      </a:r>
                    </a:p>
                  </a:txBody>
                  <a:tcPr marL="63500" marR="63500" marT="38100" marB="38100" anchor="ctr">
                    <a:lnL w="7620">
                      <a:noFill/>
                    </a:lnL>
                    <a:lnR w="7620">
                      <a:noFill/>
                    </a:lnR>
                    <a:lnT w="7620">
                      <a:solidFill>
                        <a:srgbClr val="626669"/>
                      </a:solidFill>
                      <a:prstDash val="solid"/>
                    </a:lnT>
                    <a:lnB w="7620">
                      <a:noFill/>
                    </a:lnB>
                    <a:solidFill>
                      <a:srgbClr val="FFFEF8"/>
                    </a:solidFill>
                  </a:tcPr>
                </a:tc>
                <a:tc>
                  <a:txBody>
                    <a:bodyPr wrap="square">
                      <a:noAutofit/>
                    </a:bodyPr>
                    <a:lstStyle/>
                    <a:p>
                      <a:pPr algn="l">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許容する完成状態とテストの条件が対応する</a:t>
                      </a:r>
                    </a:p>
                  </a:txBody>
                  <a:tcPr marL="63500" marR="63500" marT="38100" marB="38100" anchor="ctr">
                    <a:lnL w="7620">
                      <a:noFill/>
                    </a:lnL>
                    <a:lnR w="7620">
                      <a:noFill/>
                    </a:lnR>
                    <a:lnT w="7620">
                      <a:solidFill>
                        <a:srgbClr val="626669"/>
                      </a:solidFill>
                      <a:prstDash val="solid"/>
                    </a:lnT>
                    <a:lnB w="7620">
                      <a:noFill/>
                    </a:lnB>
                    <a:solidFill>
                      <a:srgbClr val="FFFEF8"/>
                    </a:solidFill>
                  </a:tcPr>
                </a:tc>
              </a:tr>
              <a:tr h="658368">
                <a:tc>
                  <a:txBody>
                    <a:bodyPr wrap="square">
                      <a:noAutofit/>
                    </a:bodyPr>
                    <a:lstStyle/>
                    <a:p>
                      <a:pPr algn="l">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可解性</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l">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人が作った参照解法ですべてのテストに合格する</a:t>
                      </a:r>
                    </a:p>
                  </a:txBody>
                  <a:tcPr marL="63500" marR="63500" marT="38100" marB="38100" anchor="ctr">
                    <a:lnL w="7620">
                      <a:noFill/>
                    </a:lnL>
                    <a:lnR w="7620">
                      <a:noFill/>
                    </a:lnR>
                    <a:lnT w="7620">
                      <a:noFill/>
                    </a:lnT>
                    <a:lnB w="7620">
                      <a:noFill/>
                    </a:lnB>
                    <a:solidFill>
                      <a:srgbClr val="FFFEF8"/>
                    </a:solidFill>
                  </a:tcPr>
                </a:tc>
              </a:tr>
              <a:tr h="658368">
                <a:tc>
                  <a:txBody>
                    <a:bodyPr wrap="square">
                      <a:noAutofit/>
                    </a:bodyPr>
                    <a:lstStyle/>
                    <a:p>
                      <a:pPr algn="l">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評価の健全性</a:t>
                      </a:r>
                    </a:p>
                  </a:txBody>
                  <a:tcPr marL="63500" marR="63500" marT="38100" marB="38100" anchor="ctr">
                    <a:lnL w="7620">
                      <a:noFill/>
                    </a:lnL>
                    <a:lnR w="7620">
                      <a:noFill/>
                    </a:lnR>
                    <a:lnT w="7620">
                      <a:noFill/>
                    </a:lnT>
                    <a:lnB w="15240">
                      <a:solidFill>
                        <a:srgbClr val="626669"/>
                      </a:solidFill>
                      <a:prstDash val="solid"/>
                    </a:lnB>
                    <a:solidFill>
                      <a:srgbClr val="FFFEF8"/>
                    </a:solidFill>
                  </a:tcPr>
                </a:tc>
                <a:tc>
                  <a:txBody>
                    <a:bodyPr wrap="square">
                      <a:noAutofit/>
                    </a:bodyPr>
                    <a:lstStyle/>
                    <a:p>
                      <a:pPr algn="l">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未来のGit履歴などから答えを得る抜け道を除く</a:t>
                      </a:r>
                    </a:p>
                  </a:txBody>
                  <a:tcPr marL="63500" marR="63500" marT="38100" marB="38100" anchor="ctr">
                    <a:lnL w="7620">
                      <a:noFill/>
                    </a:lnL>
                    <a:lnR w="7620">
                      <a:noFill/>
                    </a:lnR>
                    <a:lnT w="7620">
                      <a:noFill/>
                    </a:lnT>
                    <a:lnB w="15240">
                      <a:solidFill>
                        <a:srgbClr val="626669"/>
                      </a:solidFill>
                      <a:prstDash val="solid"/>
                    </a:lnB>
                    <a:solidFill>
                      <a:srgbClr val="FFFEF8"/>
                    </a:solidFill>
                  </a:tcPr>
                </a:tc>
              </a:tr>
            </a:tbl>
          </a:graphicData>
        </a:graphic>
      </p:graphicFrame>
      <p:sp>
        <p:nvSpPr>
          <p:cNvPr id="5" name="TextBox 4"/>
          <p:cNvSpPr txBox="1"/>
          <p:nvPr/>
        </p:nvSpPr>
        <p:spPr>
          <a:xfrm>
            <a:off x="502920" y="4690872"/>
            <a:ext cx="8183879" cy="393192"/>
          </a:xfrm>
          <a:prstGeom prst="rect">
            <a:avLst/>
          </a:prstGeom>
          <a:noFill/>
        </p:spPr>
        <p:txBody>
          <a:bodyPr wrap="square" lIns="0" rIns="0" tIns="0" bIns="0">
            <a:noAutofit/>
          </a:bodyPr>
          <a:lstStyle/>
          <a:p>
            <a:pPr algn="l">
              <a:lnSpc>
                <a:spcPct val="112000"/>
              </a:lnSpc>
              <a:spcBef>
                <a:spcPts val="0"/>
              </a:spcBef>
              <a:spcAft>
                <a:spcPts val="0"/>
              </a:spcAft>
              <a:buNone/>
              <a:defRPr sz="810" b="0">
                <a:solidFill>
                  <a:srgbClr val="303437"/>
                </a:solidFill>
                <a:latin typeface="Noto Sans"/>
              </a:defRPr>
            </a:pPr>
            <a:r>
              <a:rPr sz="810" b="0" lang="ja-JP" altLang="en-US">
                <a:solidFill>
                  <a:srgbClr val="626669"/>
                </a:solidFill>
                <a:latin typeface="Noto Sans"/>
                <a:ea typeface="Noto Sans CJK JP"/>
                <a:cs typeface="Noto Sans"/>
              </a:rPr>
              <a:t/>
            </a:r>
            <a:r>
              <a:rPr sz="810" b="0" lang="ja-JP" altLang="en-US">
                <a:solidFill>
                  <a:srgbClr val="626669"/>
                </a:solidFill>
                <a:latin typeface="Noto Sans"/>
                <a:ea typeface="Noto Sans CJK JP"/>
                <a:cs typeface="Noto Sans"/>
              </a:rPr>
              <a:t>Merrill et al. (2026). Terminal-Bench: Benchmarking Agents on Hard, Realistic Tasks in Command Line Interfaces. arXiv:2601.11868.</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https://arxiv.org/abs/2601.11868</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786384"/>
            <a:ext cx="8046720" cy="502920"/>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自動検査と人手による実行履歴の監査を重ねる</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FFF"/>
                </a:solidFill>
                <a:latin typeface="Noto Sans"/>
                <a:ea typeface="Noto Sans CJK JP"/>
                <a:cs typeface="Noto Sans"/>
              </a:rPr>
              <a:t>3. 課題の作成方法と全体像</a:t>
            </a:r>
          </a:p>
        </p:txBody>
      </p:sp>
      <p:graphicFrame>
        <p:nvGraphicFramePr>
          <p:cNvPr id="4" name="Table 3"/>
          <p:cNvGraphicFramePr>
            <a:graphicFrameLocks noGrp="1"/>
          </p:cNvGraphicFramePr>
          <p:nvPr/>
        </p:nvGraphicFramePr>
        <p:xfrm>
          <a:off x="548640" y="1508760"/>
          <a:ext cx="8046720" cy="2761488"/>
        </p:xfrm>
        <a:graphic>
          <a:graphicData uri="http://schemas.openxmlformats.org/drawingml/2006/table">
            <a:tbl>
              <a:tblPr firstRow="0" bandRow="0"/>
              <a:tblGrid>
                <a:gridCol w="2468880"/>
                <a:gridCol w="5577840"/>
              </a:tblGrid>
              <a:tr h="457200">
                <a:tc>
                  <a:txBody>
                    <a:bodyPr wrap="square">
                      <a:noAutofit/>
                    </a:bodyPr>
                    <a:lstStyle/>
                    <a:p>
                      <a:pPr algn="l">
                        <a:lnSpc>
                          <a:spcPts val="2242"/>
                        </a:lnSpc>
                        <a:buNone/>
                        <a:defRPr sz="1950" b="0">
                          <a:solidFill>
                            <a:srgbClr val="303437"/>
                          </a:solidFill>
                          <a:latin typeface="Noto Sans"/>
                        </a:defRPr>
                      </a:pPr>
                      <a:r>
                        <a:rPr sz="1950" b="0" lang="ja-JP" altLang="en-US">
                          <a:solidFill>
                            <a:srgbClr val="303437"/>
                          </a:solidFill>
                          <a:latin typeface="Noto Sans"/>
                          <a:ea typeface="Noto Sans CJK JP"/>
                          <a:cs typeface="Noto Sans"/>
                        </a:rPr>
                        <a:t>工程</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c>
                  <a:txBody>
                    <a:bodyPr wrap="square">
                      <a:noAutofit/>
                    </a:bodyPr>
                    <a:lstStyle/>
                    <a:p>
                      <a:pPr algn="l">
                        <a:lnSpc>
                          <a:spcPts val="2242"/>
                        </a:lnSpc>
                        <a:buNone/>
                        <a:defRPr sz="1950" b="0">
                          <a:solidFill>
                            <a:srgbClr val="303437"/>
                          </a:solidFill>
                          <a:latin typeface="Noto Sans"/>
                        </a:defRPr>
                      </a:pPr>
                      <a:r>
                        <a:rPr sz="1950" b="0" lang="ja-JP" altLang="en-US">
                          <a:solidFill>
                            <a:srgbClr val="303437"/>
                          </a:solidFill>
                          <a:latin typeface="Noto Sans"/>
                          <a:ea typeface="Noto Sans CJK JP"/>
                          <a:cs typeface="Noto Sans"/>
                        </a:rPr>
                        <a:t>行う確認</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r>
              <a:tr h="576072">
                <a:tc>
                  <a:txBody>
                    <a:bodyPr wrap="square">
                      <a:noAutofit/>
                    </a:bodyPr>
                    <a:lstStyle/>
                    <a:p>
                      <a:pPr algn="l">
                        <a:lnSpc>
                          <a:spcPts val="2242"/>
                        </a:lnSpc>
                        <a:buNone/>
                        <a:defRPr sz="1950" b="0">
                          <a:solidFill>
                            <a:srgbClr val="303437"/>
                          </a:solidFill>
                          <a:latin typeface="Noto Sans"/>
                        </a:defRPr>
                      </a:pPr>
                      <a:r>
                        <a:rPr sz="1950" b="0" lang="ja-JP" altLang="en-US">
                          <a:solidFill>
                            <a:srgbClr val="303437"/>
                          </a:solidFill>
                          <a:latin typeface="Noto Sans"/>
                          <a:ea typeface="Noto Sans CJK JP"/>
                          <a:cs typeface="Noto Sans"/>
                        </a:rPr>
                        <a:t>投稿時</a:t>
                      </a:r>
                    </a:p>
                  </a:txBody>
                  <a:tcPr marL="63500" marR="63500" marT="38100" marB="38100" anchor="ctr">
                    <a:lnL w="7620">
                      <a:noFill/>
                    </a:lnL>
                    <a:lnR w="7620">
                      <a:noFill/>
                    </a:lnR>
                    <a:lnT w="7620">
                      <a:solidFill>
                        <a:srgbClr val="626669"/>
                      </a:solidFill>
                      <a:prstDash val="solid"/>
                    </a:lnT>
                    <a:lnB w="7620">
                      <a:noFill/>
                    </a:lnB>
                    <a:solidFill>
                      <a:srgbClr val="FFFEF8"/>
                    </a:solidFill>
                  </a:tcPr>
                </a:tc>
                <a:tc>
                  <a:txBody>
                    <a:bodyPr wrap="square">
                      <a:noAutofit/>
                    </a:bodyPr>
                    <a:lstStyle/>
                    <a:p>
                      <a:pPr algn="l">
                        <a:lnSpc>
                          <a:spcPts val="2242"/>
                        </a:lnSpc>
                        <a:buNone/>
                        <a:defRPr sz="1950" b="0">
                          <a:solidFill>
                            <a:srgbClr val="303437"/>
                          </a:solidFill>
                          <a:latin typeface="Noto Sans"/>
                        </a:defRPr>
                      </a:pPr>
                      <a:r>
                        <a:rPr sz="1950" b="0" lang="ja-JP" altLang="en-US">
                          <a:solidFill>
                            <a:srgbClr val="303437"/>
                          </a:solidFill>
                          <a:latin typeface="Noto Sans"/>
                          <a:ea typeface="Noto Sans CJK JP"/>
                          <a:cs typeface="Noto Sans"/>
                        </a:rPr>
                        <a:t>参照解法は合格し、何もしない場合は失敗</a:t>
                      </a:r>
                    </a:p>
                  </a:txBody>
                  <a:tcPr marL="63500" marR="63500" marT="38100" marB="38100" anchor="ctr">
                    <a:lnL w="7620">
                      <a:noFill/>
                    </a:lnL>
                    <a:lnR w="7620">
                      <a:noFill/>
                    </a:lnR>
                    <a:lnT w="7620">
                      <a:solidFill>
                        <a:srgbClr val="626669"/>
                      </a:solidFill>
                      <a:prstDash val="solid"/>
                    </a:lnT>
                    <a:lnB w="7620">
                      <a:noFill/>
                    </a:lnB>
                    <a:solidFill>
                      <a:srgbClr val="FFFEF8"/>
                    </a:solidFill>
                  </a:tcPr>
                </a:tc>
              </a:tr>
              <a:tr h="576072">
                <a:tc>
                  <a:txBody>
                    <a:bodyPr wrap="square">
                      <a:noAutofit/>
                    </a:bodyPr>
                    <a:lstStyle/>
                    <a:p>
                      <a:pPr algn="l">
                        <a:lnSpc>
                          <a:spcPts val="2242"/>
                        </a:lnSpc>
                        <a:buNone/>
                        <a:defRPr sz="1950" b="0">
                          <a:solidFill>
                            <a:srgbClr val="303437"/>
                          </a:solidFill>
                          <a:latin typeface="Noto Sans"/>
                        </a:defRPr>
                      </a:pPr>
                      <a:r>
                        <a:rPr sz="1950" b="0" lang="ja-JP" altLang="en-US">
                          <a:solidFill>
                            <a:srgbClr val="303437"/>
                          </a:solidFill>
                          <a:latin typeface="Noto Sans"/>
                          <a:ea typeface="Noto Sans CJK JP"/>
                          <a:cs typeface="Noto Sans"/>
                        </a:rPr>
                        <a:t>コード・仕様の確認</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l">
                        <a:lnSpc>
                          <a:spcPts val="2242"/>
                        </a:lnSpc>
                        <a:buNone/>
                        <a:defRPr sz="1950" b="0">
                          <a:solidFill>
                            <a:srgbClr val="303437"/>
                          </a:solidFill>
                          <a:latin typeface="Noto Sans"/>
                        </a:defRPr>
                      </a:pPr>
                      <a:r>
                        <a:rPr sz="1950" b="0" lang="ja-JP" altLang="en-US">
                          <a:solidFill>
                            <a:srgbClr val="303437"/>
                          </a:solidFill>
                          <a:latin typeface="Noto Sans"/>
                          <a:ea typeface="Noto Sans CJK JP"/>
                          <a:cs typeface="Noto Sans"/>
                        </a:rPr>
                        <a:t>LLMによる検査と、経験ある審査者のレビュー</a:t>
                      </a:r>
                    </a:p>
                  </a:txBody>
                  <a:tcPr marL="63500" marR="63500" marT="38100" marB="38100" anchor="ctr">
                    <a:lnL w="7620">
                      <a:noFill/>
                    </a:lnL>
                    <a:lnR w="7620">
                      <a:noFill/>
                    </a:lnR>
                    <a:lnT w="7620">
                      <a:noFill/>
                    </a:lnT>
                    <a:lnB w="7620">
                      <a:noFill/>
                    </a:lnB>
                    <a:solidFill>
                      <a:srgbClr val="FFFEF8"/>
                    </a:solidFill>
                  </a:tcPr>
                </a:tc>
              </a:tr>
              <a:tr h="576072">
                <a:tc>
                  <a:txBody>
                    <a:bodyPr wrap="square">
                      <a:noAutofit/>
                    </a:bodyPr>
                    <a:lstStyle/>
                    <a:p>
                      <a:pPr algn="l">
                        <a:lnSpc>
                          <a:spcPts val="2242"/>
                        </a:lnSpc>
                        <a:buNone/>
                        <a:defRPr sz="1950" b="0">
                          <a:solidFill>
                            <a:srgbClr val="303437"/>
                          </a:solidFill>
                          <a:latin typeface="Noto Sans"/>
                        </a:defRPr>
                      </a:pPr>
                      <a:r>
                        <a:rPr sz="1950" b="0" lang="ja-JP" altLang="en-US">
                          <a:solidFill>
                            <a:srgbClr val="303437"/>
                          </a:solidFill>
                          <a:latin typeface="Noto Sans"/>
                          <a:ea typeface="Noto Sans CJK JP"/>
                          <a:cs typeface="Noto Sans"/>
                        </a:rPr>
                        <a:t>モデルでの試行</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l">
                        <a:lnSpc>
                          <a:spcPts val="2242"/>
                        </a:lnSpc>
                        <a:buNone/>
                        <a:defRPr sz="1950" b="0">
                          <a:solidFill>
                            <a:srgbClr val="303437"/>
                          </a:solidFill>
                          <a:latin typeface="Noto Sans"/>
                        </a:defRPr>
                      </a:pPr>
                      <a:r>
                        <a:rPr sz="1950" b="0" lang="ja-JP" altLang="en-US">
                          <a:solidFill>
                            <a:srgbClr val="303437"/>
                          </a:solidFill>
                          <a:latin typeface="Noto Sans"/>
                          <a:ea typeface="Noto Sans CJK JP"/>
                          <a:cs typeface="Noto Sans"/>
                        </a:rPr>
                        <a:t>失敗が課題の不備か、解法の失敗かを調べる</a:t>
                      </a:r>
                    </a:p>
                  </a:txBody>
                  <a:tcPr marL="63500" marR="63500" marT="38100" marB="38100" anchor="ctr">
                    <a:lnL w="7620">
                      <a:noFill/>
                    </a:lnL>
                    <a:lnR w="7620">
                      <a:noFill/>
                    </a:lnR>
                    <a:lnT w="7620">
                      <a:noFill/>
                    </a:lnT>
                    <a:lnB w="7620">
                      <a:noFill/>
                    </a:lnB>
                    <a:solidFill>
                      <a:srgbClr val="FFFEF8"/>
                    </a:solidFill>
                  </a:tcPr>
                </a:tc>
              </a:tr>
              <a:tr h="576072">
                <a:tc>
                  <a:txBody>
                    <a:bodyPr wrap="square">
                      <a:noAutofit/>
                    </a:bodyPr>
                    <a:lstStyle/>
                    <a:p>
                      <a:pPr algn="l">
                        <a:lnSpc>
                          <a:spcPts val="2242"/>
                        </a:lnSpc>
                        <a:buNone/>
                        <a:defRPr sz="1950" b="0">
                          <a:solidFill>
                            <a:srgbClr val="303437"/>
                          </a:solidFill>
                          <a:latin typeface="Noto Sans"/>
                        </a:defRPr>
                      </a:pPr>
                      <a:r>
                        <a:rPr sz="1950" b="0" lang="ja-JP" altLang="en-US">
                          <a:solidFill>
                            <a:srgbClr val="303437"/>
                          </a:solidFill>
                          <a:latin typeface="Noto Sans"/>
                          <a:ea typeface="Noto Sans CJK JP"/>
                          <a:cs typeface="Noto Sans"/>
                        </a:rPr>
                        <a:t>採用前の監査</a:t>
                      </a:r>
                    </a:p>
                  </a:txBody>
                  <a:tcPr marL="63500" marR="63500" marT="38100" marB="38100" anchor="ctr">
                    <a:lnL w="7620">
                      <a:noFill/>
                    </a:lnL>
                    <a:lnR w="7620">
                      <a:noFill/>
                    </a:lnR>
                    <a:lnT w="7620">
                      <a:noFill/>
                    </a:lnT>
                    <a:lnB w="15240">
                      <a:solidFill>
                        <a:srgbClr val="626669"/>
                      </a:solidFill>
                      <a:prstDash val="solid"/>
                    </a:lnB>
                    <a:solidFill>
                      <a:srgbClr val="FFFEF8"/>
                    </a:solidFill>
                  </a:tcPr>
                </a:tc>
                <a:tc>
                  <a:txBody>
                    <a:bodyPr wrap="square">
                      <a:noAutofit/>
                    </a:bodyPr>
                    <a:lstStyle/>
                    <a:p>
                      <a:pPr algn="l">
                        <a:lnSpc>
                          <a:spcPts val="2242"/>
                        </a:lnSpc>
                        <a:buNone/>
                        <a:defRPr sz="1950" b="0">
                          <a:solidFill>
                            <a:srgbClr val="303437"/>
                          </a:solidFill>
                          <a:latin typeface="Noto Sans"/>
                        </a:defRPr>
                      </a:pPr>
                      <a:r>
                        <a:rPr sz="1950" b="0" lang="ja-JP" altLang="en-US">
                          <a:solidFill>
                            <a:srgbClr val="303437"/>
                          </a:solidFill>
                          <a:latin typeface="Noto Sans"/>
                          <a:ea typeface="Noto Sans CJK JP"/>
                          <a:cs typeface="Noto Sans"/>
                        </a:rPr>
                        <a:t>追加の2人が実行履歴と抜け道を確認</a:t>
                      </a:r>
                    </a:p>
                  </a:txBody>
                  <a:tcPr marL="63500" marR="63500" marT="38100" marB="38100" anchor="ctr">
                    <a:lnL w="7620">
                      <a:noFill/>
                    </a:lnL>
                    <a:lnR w="7620">
                      <a:noFill/>
                    </a:lnR>
                    <a:lnT w="7620">
                      <a:noFill/>
                    </a:lnT>
                    <a:lnB w="15240">
                      <a:solidFill>
                        <a:srgbClr val="626669"/>
                      </a:solidFill>
                      <a:prstDash val="solid"/>
                    </a:lnB>
                    <a:solidFill>
                      <a:srgbClr val="FFFEF8"/>
                    </a:solidFill>
                  </a:tcPr>
                </a:tc>
              </a:tr>
            </a:tbl>
          </a:graphicData>
        </a:graphic>
      </p:graphicFrame>
      <p:sp>
        <p:nvSpPr>
          <p:cNvPr id="5" name="TextBox 4"/>
          <p:cNvSpPr txBox="1"/>
          <p:nvPr/>
        </p:nvSpPr>
        <p:spPr>
          <a:xfrm>
            <a:off x="502920" y="4690872"/>
            <a:ext cx="8183879" cy="393192"/>
          </a:xfrm>
          <a:prstGeom prst="rect">
            <a:avLst/>
          </a:prstGeom>
          <a:noFill/>
        </p:spPr>
        <p:txBody>
          <a:bodyPr wrap="square" lIns="0" rIns="0" tIns="0" bIns="0">
            <a:noAutofit/>
          </a:bodyPr>
          <a:lstStyle/>
          <a:p>
            <a:pPr algn="l">
              <a:lnSpc>
                <a:spcPct val="112000"/>
              </a:lnSpc>
              <a:spcBef>
                <a:spcPts val="0"/>
              </a:spcBef>
              <a:spcAft>
                <a:spcPts val="0"/>
              </a:spcAft>
              <a:buNone/>
              <a:defRPr sz="810" b="0">
                <a:solidFill>
                  <a:srgbClr val="303437"/>
                </a:solidFill>
                <a:latin typeface="Noto Sans"/>
              </a:defRPr>
            </a:pPr>
            <a:r>
              <a:rPr sz="810" b="0" lang="ja-JP" altLang="en-US">
                <a:solidFill>
                  <a:srgbClr val="626669"/>
                </a:solidFill>
                <a:latin typeface="Noto Sans"/>
                <a:ea typeface="Noto Sans CJK JP"/>
                <a:cs typeface="Noto Sans"/>
              </a:rPr>
              <a:t/>
            </a:r>
            <a:r>
              <a:rPr sz="810" b="0" lang="ja-JP" altLang="en-US">
                <a:solidFill>
                  <a:srgbClr val="626669"/>
                </a:solidFill>
                <a:latin typeface="Noto Sans"/>
                <a:ea typeface="Noto Sans CJK JP"/>
                <a:cs typeface="Noto Sans"/>
              </a:rPr>
              <a:t>Merrill et al. (2026). Terminal-Bench: Benchmarking Agents on Hard, Realistic Tasks in Command Line Interfaces. arXiv:2601.11868.</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https://arxiv.org/abs/2601.11868</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786384"/>
            <a:ext cx="8046720" cy="502920"/>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ソフトウェア開発が26課題を占める</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FFF"/>
                </a:solidFill>
                <a:latin typeface="Noto Sans"/>
                <a:ea typeface="Noto Sans CJK JP"/>
                <a:cs typeface="Noto Sans"/>
              </a:rPr>
              <a:t>3. 課題の作成方法と全体像</a:t>
            </a:r>
          </a:p>
        </p:txBody>
      </p:sp>
      <p:graphicFrame>
        <p:nvGraphicFramePr>
          <p:cNvPr id="4" name="Chart 3"/>
          <p:cNvGraphicFramePr>
            <a:graphicFrameLocks noGrp="1"/>
          </p:cNvGraphicFramePr>
          <p:nvPr/>
        </p:nvGraphicFramePr>
        <p:xfrm>
          <a:off x="548640" y="1481328"/>
          <a:ext cx="8046720" cy="2468880"/>
        </p:xfrm>
        <a:graphic>
          <a:graphicData uri="http://schemas.openxmlformats.org/drawingml/2006/chart">
            <c:chart xmlns:c="http://schemas.openxmlformats.org/drawingml/2006/chart" r:id="rId2"/>
          </a:graphicData>
        </a:graphic>
      </p:graphicFrame>
      <p:sp>
        <p:nvSpPr>
          <p:cNvPr id="5" name="TextBox 4"/>
          <p:cNvSpPr txBox="1"/>
          <p:nvPr/>
        </p:nvSpPr>
        <p:spPr>
          <a:xfrm>
            <a:off x="594360" y="4096512"/>
            <a:ext cx="7955279" cy="420624"/>
          </a:xfrm>
          <a:prstGeom prst="rect">
            <a:avLst/>
          </a:prstGeom>
          <a:noFill/>
        </p:spPr>
        <p:txBody>
          <a:bodyPr wrap="square" lIns="0" rIns="0" tIns="0" bIns="0">
            <a:noAutofit/>
          </a:bodyPr>
          <a:lstStyle/>
          <a:p>
            <a:pPr algn="l">
              <a:lnSpc>
                <a:spcPts val="2160"/>
              </a:lnSpc>
              <a:spcBef>
                <a:spcPts val="0"/>
              </a:spcBef>
              <a:spcAft>
                <a:spcPts val="0"/>
              </a:spcAft>
              <a:buNone/>
              <a:defRPr sz="1750" b="0">
                <a:solidFill>
                  <a:srgbClr val="303437"/>
                </a:solidFill>
                <a:latin typeface="Noto Sans"/>
              </a:defRPr>
            </a:pPr>
            <a:r>
              <a:rPr sz="1750" b="0" lang="ja-JP" altLang="en-US">
                <a:solidFill>
                  <a:srgbClr val="303437"/>
                </a:solidFill>
                <a:latin typeface="Noto Sans"/>
                <a:ea typeface="Noto Sans CJK JP"/>
                <a:cs typeface="Noto Sans"/>
              </a:rPr>
              <a:t>公開版2.0の全89課題。作者が付けた16カテゴリを集計。</a:t>
            </a:r>
          </a:p>
        </p:txBody>
      </p:sp>
      <p:sp>
        <p:nvSpPr>
          <p:cNvPr id="6" name="TextBox 5"/>
          <p:cNvSpPr txBox="1"/>
          <p:nvPr/>
        </p:nvSpPr>
        <p:spPr>
          <a:xfrm>
            <a:off x="502920" y="4690872"/>
            <a:ext cx="8183879" cy="393192"/>
          </a:xfrm>
          <a:prstGeom prst="rect">
            <a:avLst/>
          </a:prstGeom>
          <a:noFill/>
        </p:spPr>
        <p:txBody>
          <a:bodyPr wrap="square" lIns="0" rIns="0" tIns="0" bIns="0">
            <a:noAutofit/>
          </a:bodyPr>
          <a:lstStyle/>
          <a:p>
            <a:pPr algn="l">
              <a:lnSpc>
                <a:spcPct val="112000"/>
              </a:lnSpc>
              <a:spcBef>
                <a:spcPts val="0"/>
              </a:spcBef>
              <a:spcAft>
                <a:spcPts val="0"/>
              </a:spcAft>
              <a:buNone/>
              <a:defRPr sz="810" b="0">
                <a:solidFill>
                  <a:srgbClr val="303437"/>
                </a:solidFill>
                <a:latin typeface="Noto Sans"/>
              </a:defRPr>
            </a:pPr>
            <a:r>
              <a:rPr sz="810" b="0" lang="ja-JP" altLang="en-US">
                <a:solidFill>
                  <a:srgbClr val="626669"/>
                </a:solidFill>
                <a:latin typeface="Noto Sans"/>
                <a:ea typeface="Noto Sans CJK JP"/>
                <a:cs typeface="Noto Sans"/>
              </a:rPr>
              <a:t/>
            </a:r>
            <a:r>
              <a:rPr sz="810" b="0" lang="ja-JP" altLang="en-US">
                <a:solidFill>
                  <a:srgbClr val="626669"/>
                </a:solidFill>
                <a:latin typeface="Noto Sans"/>
                <a:ea typeface="Noto Sans CJK JP"/>
                <a:cs typeface="Noto Sans"/>
              </a:rPr>
              <a:t>The Terminal-Bench Team (2025). Terminal-Bench 2.0. 公開89課題、改訂69671fb。2026-10-16集計。</a:t>
            </a:r>
          </a:p>
          <a:p>
            <a:pPr>
              <a:lnSpc>
                <a:spcPct val="112000"/>
              </a:lnSpc>
              <a:buNone/>
              <a:defRPr sz="810" b="0">
                <a:solidFill>
                  <a:srgbClr val="303437"/>
                </a:solidFill>
                <a:latin typeface="Noto Sans"/>
              </a:defRPr>
            </a:pPr>
            <a:r>
              <a:rPr sz="810" b="0" lang="ja-JP" altLang="en-US">
                <a:solidFill>
                  <a:srgbClr val="626669"/>
                </a:solidFill>
                <a:latin typeface="Noto Sans"/>
                <a:ea typeface="Noto Sans CJK JP"/>
                <a:cs typeface="Noto Sans"/>
                <a:hlinkClick r:id="rId3"/>
              </a:rPr>
              <a:t>https://github.com/laude-institute/terminal-bench-2/tree/69671fbaac6d67a7ef0dfec016cc38a64ef7a77c</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786384"/>
            <a:ext cx="8046720" cy="502920"/>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作者が付けた難度ではmediumが55課題</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FFF"/>
                </a:solidFill>
                <a:latin typeface="Noto Sans"/>
                <a:ea typeface="Noto Sans CJK JP"/>
                <a:cs typeface="Noto Sans"/>
              </a:rPr>
              <a:t>3. 課題の作成方法と全体像</a:t>
            </a:r>
          </a:p>
        </p:txBody>
      </p:sp>
      <p:graphicFrame>
        <p:nvGraphicFramePr>
          <p:cNvPr id="4" name="Table 3"/>
          <p:cNvGraphicFramePr>
            <a:graphicFrameLocks noGrp="1"/>
          </p:cNvGraphicFramePr>
          <p:nvPr/>
        </p:nvGraphicFramePr>
        <p:xfrm>
          <a:off x="548640" y="1508760"/>
          <a:ext cx="8046720" cy="2331720"/>
        </p:xfrm>
        <a:graphic>
          <a:graphicData uri="http://schemas.openxmlformats.org/drawingml/2006/table">
            <a:tbl>
              <a:tblPr firstRow="0" bandRow="0"/>
              <a:tblGrid>
                <a:gridCol w="5577840"/>
                <a:gridCol w="2468880"/>
              </a:tblGrid>
              <a:tr h="548640">
                <a:tc>
                  <a:txBody>
                    <a:bodyPr wrap="square">
                      <a:noAutofit/>
                    </a:bodyPr>
                    <a:lstStyle/>
                    <a:p>
                      <a:pPr algn="l">
                        <a:lnSpc>
                          <a:spcPts val="2529"/>
                        </a:lnSpc>
                        <a:buNone/>
                        <a:defRPr sz="2200" b="0">
                          <a:solidFill>
                            <a:srgbClr val="303437"/>
                          </a:solidFill>
                          <a:latin typeface="Noto Sans"/>
                        </a:defRPr>
                      </a:pPr>
                      <a:r>
                        <a:rPr sz="2200" b="0" lang="ja-JP" altLang="en-US">
                          <a:solidFill>
                            <a:srgbClr val="303437"/>
                          </a:solidFill>
                          <a:latin typeface="Noto Sans"/>
                          <a:ea typeface="Noto Sans CJK JP"/>
                          <a:cs typeface="Noto Sans"/>
                        </a:rPr>
                        <a:t>難度（配布表記）</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c>
                  <a:txBody>
                    <a:bodyPr wrap="square">
                      <a:noAutofit/>
                    </a:bodyPr>
                    <a:lstStyle/>
                    <a:p>
                      <a:pPr algn="r">
                        <a:lnSpc>
                          <a:spcPts val="2529"/>
                        </a:lnSpc>
                        <a:buNone/>
                        <a:defRPr sz="2200" b="0">
                          <a:solidFill>
                            <a:srgbClr val="303437"/>
                          </a:solidFill>
                          <a:latin typeface="Noto Sans"/>
                        </a:defRPr>
                      </a:pPr>
                      <a:r>
                        <a:rPr sz="2200" b="0" lang="ja-JP" altLang="en-US">
                          <a:solidFill>
                            <a:srgbClr val="303437"/>
                          </a:solidFill>
                          <a:latin typeface="Noto Sans"/>
                          <a:ea typeface="Noto Sans CJK JP"/>
                          <a:cs typeface="Noto Sans"/>
                        </a:rPr>
                        <a:t>課題数</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r>
              <a:tr h="594360">
                <a:tc>
                  <a:txBody>
                    <a:bodyPr wrap="square">
                      <a:noAutofit/>
                    </a:bodyPr>
                    <a:lstStyle/>
                    <a:p>
                      <a:pPr algn="l">
                        <a:lnSpc>
                          <a:spcPts val="2529"/>
                        </a:lnSpc>
                        <a:buNone/>
                        <a:defRPr sz="2200" b="0">
                          <a:solidFill>
                            <a:srgbClr val="303437"/>
                          </a:solidFill>
                          <a:latin typeface="Noto Sans"/>
                        </a:defRPr>
                      </a:pPr>
                      <a:r>
                        <a:rPr sz="2200" b="0" lang="ja-JP" altLang="en-US">
                          <a:solidFill>
                            <a:srgbClr val="303437"/>
                          </a:solidFill>
                          <a:latin typeface="Noto Sans"/>
                          <a:ea typeface="Noto Sans CJK JP"/>
                          <a:cs typeface="Noto Sans"/>
                        </a:rPr>
                        <a:t>easy</a:t>
                      </a:r>
                    </a:p>
                  </a:txBody>
                  <a:tcPr marL="63500" marR="63500" marT="38100" marB="38100" anchor="ctr">
                    <a:lnL w="7620">
                      <a:noFill/>
                    </a:lnL>
                    <a:lnR w="7620">
                      <a:noFill/>
                    </a:lnR>
                    <a:lnT w="7620">
                      <a:solidFill>
                        <a:srgbClr val="626669"/>
                      </a:solidFill>
                      <a:prstDash val="solid"/>
                    </a:lnT>
                    <a:lnB w="7620">
                      <a:noFill/>
                    </a:lnB>
                    <a:solidFill>
                      <a:srgbClr val="FFFEF8"/>
                    </a:solidFill>
                  </a:tcPr>
                </a:tc>
                <a:tc>
                  <a:txBody>
                    <a:bodyPr wrap="square">
                      <a:noAutofit/>
                    </a:bodyPr>
                    <a:lstStyle/>
                    <a:p>
                      <a:pPr algn="r">
                        <a:lnSpc>
                          <a:spcPts val="2529"/>
                        </a:lnSpc>
                        <a:buNone/>
                        <a:defRPr sz="2200" b="0">
                          <a:solidFill>
                            <a:srgbClr val="303437"/>
                          </a:solidFill>
                          <a:latin typeface="Noto Sans"/>
                        </a:defRPr>
                      </a:pPr>
                      <a:r>
                        <a:rPr sz="2200" b="0" lang="ja-JP" altLang="en-US">
                          <a:solidFill>
                            <a:srgbClr val="303437"/>
                          </a:solidFill>
                          <a:latin typeface="Noto Sans"/>
                          <a:ea typeface="Noto Sans CJK JP"/>
                          <a:cs typeface="Noto Sans"/>
                        </a:rPr>
                        <a:t>4</a:t>
                      </a:r>
                    </a:p>
                  </a:txBody>
                  <a:tcPr marL="63500" marR="63500" marT="38100" marB="38100" anchor="ctr">
                    <a:lnL w="7620">
                      <a:noFill/>
                    </a:lnL>
                    <a:lnR w="7620">
                      <a:noFill/>
                    </a:lnR>
                    <a:lnT w="7620">
                      <a:solidFill>
                        <a:srgbClr val="626669"/>
                      </a:solidFill>
                      <a:prstDash val="solid"/>
                    </a:lnT>
                    <a:lnB w="7620">
                      <a:noFill/>
                    </a:lnB>
                    <a:solidFill>
                      <a:srgbClr val="FFFEF8"/>
                    </a:solidFill>
                  </a:tcPr>
                </a:tc>
              </a:tr>
              <a:tr h="594360">
                <a:tc>
                  <a:txBody>
                    <a:bodyPr wrap="square">
                      <a:noAutofit/>
                    </a:bodyPr>
                    <a:lstStyle/>
                    <a:p>
                      <a:pPr algn="l">
                        <a:lnSpc>
                          <a:spcPts val="2529"/>
                        </a:lnSpc>
                        <a:buNone/>
                        <a:defRPr sz="2200" b="0">
                          <a:solidFill>
                            <a:srgbClr val="303437"/>
                          </a:solidFill>
                          <a:latin typeface="Noto Sans"/>
                        </a:defRPr>
                      </a:pPr>
                      <a:r>
                        <a:rPr sz="2200" b="0" lang="ja-JP" altLang="en-US">
                          <a:solidFill>
                            <a:srgbClr val="303437"/>
                          </a:solidFill>
                          <a:latin typeface="Noto Sans"/>
                          <a:ea typeface="Noto Sans CJK JP"/>
                          <a:cs typeface="Noto Sans"/>
                        </a:rPr>
                        <a:t>medium</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r">
                        <a:lnSpc>
                          <a:spcPts val="2529"/>
                        </a:lnSpc>
                        <a:buNone/>
                        <a:defRPr sz="2200" b="0">
                          <a:solidFill>
                            <a:srgbClr val="303437"/>
                          </a:solidFill>
                          <a:latin typeface="Noto Sans"/>
                        </a:defRPr>
                      </a:pPr>
                      <a:r>
                        <a:rPr sz="2200" b="0" lang="ja-JP" altLang="en-US">
                          <a:solidFill>
                            <a:srgbClr val="303437"/>
                          </a:solidFill>
                          <a:latin typeface="Noto Sans"/>
                          <a:ea typeface="Noto Sans CJK JP"/>
                          <a:cs typeface="Noto Sans"/>
                        </a:rPr>
                        <a:t>55</a:t>
                      </a:r>
                    </a:p>
                  </a:txBody>
                  <a:tcPr marL="63500" marR="63500" marT="38100" marB="38100" anchor="ctr">
                    <a:lnL w="7620">
                      <a:noFill/>
                    </a:lnL>
                    <a:lnR w="7620">
                      <a:noFill/>
                    </a:lnR>
                    <a:lnT w="7620">
                      <a:noFill/>
                    </a:lnT>
                    <a:lnB w="7620">
                      <a:noFill/>
                    </a:lnB>
                    <a:solidFill>
                      <a:srgbClr val="FFFEF8"/>
                    </a:solidFill>
                  </a:tcPr>
                </a:tc>
              </a:tr>
              <a:tr h="594360">
                <a:tc>
                  <a:txBody>
                    <a:bodyPr wrap="square">
                      <a:noAutofit/>
                    </a:bodyPr>
                    <a:lstStyle/>
                    <a:p>
                      <a:pPr algn="l">
                        <a:lnSpc>
                          <a:spcPts val="2529"/>
                        </a:lnSpc>
                        <a:buNone/>
                        <a:defRPr sz="2200" b="0">
                          <a:solidFill>
                            <a:srgbClr val="303437"/>
                          </a:solidFill>
                          <a:latin typeface="Noto Sans"/>
                        </a:defRPr>
                      </a:pPr>
                      <a:r>
                        <a:rPr sz="2200" b="0" lang="ja-JP" altLang="en-US">
                          <a:solidFill>
                            <a:srgbClr val="303437"/>
                          </a:solidFill>
                          <a:latin typeface="Noto Sans"/>
                          <a:ea typeface="Noto Sans CJK JP"/>
                          <a:cs typeface="Noto Sans"/>
                        </a:rPr>
                        <a:t>hard</a:t>
                      </a:r>
                    </a:p>
                  </a:txBody>
                  <a:tcPr marL="63500" marR="63500" marT="38100" marB="38100" anchor="ctr">
                    <a:lnL w="7620">
                      <a:noFill/>
                    </a:lnL>
                    <a:lnR w="7620">
                      <a:noFill/>
                    </a:lnR>
                    <a:lnT w="7620">
                      <a:noFill/>
                    </a:lnT>
                    <a:lnB w="15240">
                      <a:solidFill>
                        <a:srgbClr val="626669"/>
                      </a:solidFill>
                      <a:prstDash val="solid"/>
                    </a:lnB>
                    <a:solidFill>
                      <a:srgbClr val="FFFEF8"/>
                    </a:solidFill>
                  </a:tcPr>
                </a:tc>
                <a:tc>
                  <a:txBody>
                    <a:bodyPr wrap="square">
                      <a:noAutofit/>
                    </a:bodyPr>
                    <a:lstStyle/>
                    <a:p>
                      <a:pPr algn="r">
                        <a:lnSpc>
                          <a:spcPts val="2529"/>
                        </a:lnSpc>
                        <a:buNone/>
                        <a:defRPr sz="2200" b="0">
                          <a:solidFill>
                            <a:srgbClr val="303437"/>
                          </a:solidFill>
                          <a:latin typeface="Noto Sans"/>
                        </a:defRPr>
                      </a:pPr>
                      <a:r>
                        <a:rPr sz="2200" b="0" lang="ja-JP" altLang="en-US">
                          <a:solidFill>
                            <a:srgbClr val="303437"/>
                          </a:solidFill>
                          <a:latin typeface="Noto Sans"/>
                          <a:ea typeface="Noto Sans CJK JP"/>
                          <a:cs typeface="Noto Sans"/>
                        </a:rPr>
                        <a:t>30</a:t>
                      </a:r>
                    </a:p>
                  </a:txBody>
                  <a:tcPr marL="63500" marR="63500" marT="38100" marB="38100" anchor="ctr">
                    <a:lnL w="7620">
                      <a:noFill/>
                    </a:lnL>
                    <a:lnR w="7620">
                      <a:noFill/>
                    </a:lnR>
                    <a:lnT w="7620">
                      <a:noFill/>
                    </a:lnT>
                    <a:lnB w="15240">
                      <a:solidFill>
                        <a:srgbClr val="626669"/>
                      </a:solidFill>
                      <a:prstDash val="solid"/>
                    </a:lnB>
                    <a:solidFill>
                      <a:srgbClr val="FFFEF8"/>
                    </a:solidFill>
                  </a:tcPr>
                </a:tc>
              </a:tr>
            </a:tbl>
          </a:graphicData>
        </a:graphic>
      </p:graphicFrame>
      <p:sp>
        <p:nvSpPr>
          <p:cNvPr id="5" name="TextBox 4"/>
          <p:cNvSpPr txBox="1"/>
          <p:nvPr/>
        </p:nvSpPr>
        <p:spPr>
          <a:xfrm>
            <a:off x="502920" y="4690872"/>
            <a:ext cx="8183879" cy="393192"/>
          </a:xfrm>
          <a:prstGeom prst="rect">
            <a:avLst/>
          </a:prstGeom>
          <a:noFill/>
        </p:spPr>
        <p:txBody>
          <a:bodyPr wrap="square" lIns="0" rIns="0" tIns="0" bIns="0">
            <a:noAutofit/>
          </a:bodyPr>
          <a:lstStyle/>
          <a:p>
            <a:pPr algn="l">
              <a:lnSpc>
                <a:spcPct val="112000"/>
              </a:lnSpc>
              <a:spcBef>
                <a:spcPts val="0"/>
              </a:spcBef>
              <a:spcAft>
                <a:spcPts val="0"/>
              </a:spcAft>
              <a:buNone/>
              <a:defRPr sz="810" b="0">
                <a:solidFill>
                  <a:srgbClr val="303437"/>
                </a:solidFill>
                <a:latin typeface="Noto Sans"/>
              </a:defRPr>
            </a:pPr>
            <a:r>
              <a:rPr sz="810" b="0" lang="ja-JP" altLang="en-US">
                <a:solidFill>
                  <a:srgbClr val="626669"/>
                </a:solidFill>
                <a:latin typeface="Noto Sans"/>
                <a:ea typeface="Noto Sans CJK JP"/>
                <a:cs typeface="Noto Sans"/>
              </a:rPr>
              <a:t/>
            </a:r>
            <a:r>
              <a:rPr sz="810" b="0" lang="ja-JP" altLang="en-US">
                <a:solidFill>
                  <a:srgbClr val="626669"/>
                </a:solidFill>
                <a:latin typeface="Noto Sans"/>
                <a:ea typeface="Noto Sans CJK JP"/>
                <a:cs typeface="Noto Sans"/>
              </a:rPr>
              <a:t>The Terminal-Bench Team (2025). Terminal-Bench 2.0. 公開89課題、改訂69671fb。2026-10-16集計。</a:t>
            </a:r>
          </a:p>
          <a:p>
            <a:pPr>
              <a:lnSpc>
                <a:spcPct val="112000"/>
              </a:lnSpc>
              <a:buNone/>
              <a:defRPr sz="810" b="0">
                <a:solidFill>
                  <a:srgbClr val="303437"/>
                </a:solidFill>
                <a:latin typeface="Noto Sans"/>
              </a:defRPr>
            </a:pPr>
            <a:r>
              <a:rPr sz="810" b="0" lang="ja-JP" altLang="en-US">
                <a:solidFill>
                  <a:srgbClr val="626669"/>
                </a:solidFill>
                <a:latin typeface="Noto Sans"/>
                <a:ea typeface="Noto Sans CJK JP"/>
                <a:cs typeface="Noto Sans"/>
                <a:hlinkClick r:id="rId2"/>
              </a:rPr>
              <a:t>https://github.com/laude-institute/terminal-bench-2/tree/69671fbaac6d67a7ef0dfec016cc38a64ef7a77c</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786384"/>
            <a:ext cx="8046720" cy="502920"/>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作者の所要時間見積もりは専門家で中央値1時間</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FFF"/>
                </a:solidFill>
                <a:latin typeface="Noto Sans"/>
                <a:ea typeface="Noto Sans CJK JP"/>
                <a:cs typeface="Noto Sans"/>
              </a:rPr>
              <a:t>3. 課題の作成方法と全体像</a:t>
            </a:r>
          </a:p>
        </p:txBody>
      </p:sp>
      <p:graphicFrame>
        <p:nvGraphicFramePr>
          <p:cNvPr id="4" name="Table 3"/>
          <p:cNvGraphicFramePr>
            <a:graphicFrameLocks noGrp="1"/>
          </p:cNvGraphicFramePr>
          <p:nvPr/>
        </p:nvGraphicFramePr>
        <p:xfrm>
          <a:off x="548640" y="1508760"/>
          <a:ext cx="8046720" cy="1965960"/>
        </p:xfrm>
        <a:graphic>
          <a:graphicData uri="http://schemas.openxmlformats.org/drawingml/2006/table">
            <a:tbl>
              <a:tblPr firstRow="0" bandRow="0"/>
              <a:tblGrid>
                <a:gridCol w="5852160"/>
                <a:gridCol w="2194560"/>
              </a:tblGrid>
              <a:tr h="594360">
                <a:tc>
                  <a:txBody>
                    <a:bodyPr wrap="square">
                      <a:noAutofit/>
                    </a:bodyPr>
                    <a:lstStyle/>
                    <a:p>
                      <a:pPr algn="l">
                        <a:lnSpc>
                          <a:spcPts val="2415"/>
                        </a:lnSpc>
                        <a:buNone/>
                        <a:defRPr sz="2100" b="0">
                          <a:solidFill>
                            <a:srgbClr val="303437"/>
                          </a:solidFill>
                          <a:latin typeface="Noto Sans"/>
                        </a:defRPr>
                      </a:pPr>
                      <a:r>
                        <a:rPr sz="2100" b="0" lang="ja-JP" altLang="en-US">
                          <a:solidFill>
                            <a:srgbClr val="303437"/>
                          </a:solidFill>
                          <a:latin typeface="Noto Sans"/>
                          <a:ea typeface="Noto Sans CJK JP"/>
                          <a:cs typeface="Noto Sans"/>
                        </a:rPr>
                        <a:t>作業者の想定</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c>
                  <a:txBody>
                    <a:bodyPr wrap="square">
                      <a:noAutofit/>
                    </a:bodyPr>
                    <a:lstStyle/>
                    <a:p>
                      <a:pPr algn="l">
                        <a:lnSpc>
                          <a:spcPts val="2415"/>
                        </a:lnSpc>
                        <a:buNone/>
                        <a:defRPr sz="2100" b="0">
                          <a:solidFill>
                            <a:srgbClr val="303437"/>
                          </a:solidFill>
                          <a:latin typeface="Noto Sans"/>
                        </a:defRPr>
                      </a:pPr>
                      <a:r>
                        <a:rPr sz="2100" b="0" lang="ja-JP" altLang="en-US">
                          <a:solidFill>
                            <a:srgbClr val="303437"/>
                          </a:solidFill>
                          <a:latin typeface="Noto Sans"/>
                          <a:ea typeface="Noto Sans CJK JP"/>
                          <a:cs typeface="Noto Sans"/>
                        </a:rPr>
                        <a:t>中央値</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r>
              <a:tr h="685800">
                <a:tc>
                  <a:txBody>
                    <a:bodyPr wrap="square">
                      <a:noAutofit/>
                    </a:bodyPr>
                    <a:lstStyle/>
                    <a:p>
                      <a:pPr algn="l">
                        <a:lnSpc>
                          <a:spcPts val="2415"/>
                        </a:lnSpc>
                        <a:buNone/>
                        <a:defRPr sz="2100" b="0">
                          <a:solidFill>
                            <a:srgbClr val="303437"/>
                          </a:solidFill>
                          <a:latin typeface="Noto Sans"/>
                        </a:defRPr>
                      </a:pPr>
                      <a:r>
                        <a:rPr sz="2100" b="0" lang="ja-JP" altLang="en-US">
                          <a:solidFill>
                            <a:srgbClr val="303437"/>
                          </a:solidFill>
                          <a:latin typeface="Noto Sans"/>
                          <a:ea typeface="Noto Sans CJK JP"/>
                          <a:cs typeface="Noto Sans"/>
                        </a:rPr>
                        <a:t>その分野の専門家</a:t>
                      </a:r>
                    </a:p>
                  </a:txBody>
                  <a:tcPr marL="63500" marR="63500" marT="38100" marB="38100" anchor="ctr">
                    <a:lnL w="7620">
                      <a:noFill/>
                    </a:lnL>
                    <a:lnR w="7620">
                      <a:noFill/>
                    </a:lnR>
                    <a:lnT w="7620">
                      <a:solidFill>
                        <a:srgbClr val="626669"/>
                      </a:solidFill>
                      <a:prstDash val="solid"/>
                    </a:lnT>
                    <a:lnB w="7620">
                      <a:noFill/>
                    </a:lnB>
                    <a:solidFill>
                      <a:srgbClr val="FFFEF8"/>
                    </a:solidFill>
                  </a:tcPr>
                </a:tc>
                <a:tc>
                  <a:txBody>
                    <a:bodyPr wrap="square">
                      <a:noAutofit/>
                    </a:bodyPr>
                    <a:lstStyle/>
                    <a:p>
                      <a:pPr algn="l">
                        <a:lnSpc>
                          <a:spcPts val="2415"/>
                        </a:lnSpc>
                        <a:buNone/>
                        <a:defRPr sz="2100" b="0">
                          <a:solidFill>
                            <a:srgbClr val="303437"/>
                          </a:solidFill>
                          <a:latin typeface="Noto Sans"/>
                        </a:defRPr>
                      </a:pPr>
                      <a:r>
                        <a:rPr sz="2100" b="0" lang="ja-JP" altLang="en-US">
                          <a:solidFill>
                            <a:srgbClr val="303437"/>
                          </a:solidFill>
                          <a:latin typeface="Noto Sans"/>
                          <a:ea typeface="Noto Sans CJK JP"/>
                          <a:cs typeface="Noto Sans"/>
                        </a:rPr>
                        <a:t>60分</a:t>
                      </a:r>
                    </a:p>
                  </a:txBody>
                  <a:tcPr marL="63500" marR="63500" marT="38100" marB="38100" anchor="ctr">
                    <a:lnL w="7620">
                      <a:noFill/>
                    </a:lnL>
                    <a:lnR w="7620">
                      <a:noFill/>
                    </a:lnR>
                    <a:lnT w="7620">
                      <a:solidFill>
                        <a:srgbClr val="626669"/>
                      </a:solidFill>
                      <a:prstDash val="solid"/>
                    </a:lnT>
                    <a:lnB w="7620">
                      <a:noFill/>
                    </a:lnB>
                    <a:solidFill>
                      <a:srgbClr val="FFFEF8"/>
                    </a:solidFill>
                  </a:tcPr>
                </a:tc>
              </a:tr>
              <a:tr h="685800">
                <a:tc>
                  <a:txBody>
                    <a:bodyPr wrap="square">
                      <a:noAutofit/>
                    </a:bodyPr>
                    <a:lstStyle/>
                    <a:p>
                      <a:pPr algn="l">
                        <a:lnSpc>
                          <a:spcPts val="2415"/>
                        </a:lnSpc>
                        <a:buNone/>
                        <a:defRPr sz="2100" b="0">
                          <a:solidFill>
                            <a:srgbClr val="303437"/>
                          </a:solidFill>
                          <a:latin typeface="Noto Sans"/>
                        </a:defRPr>
                      </a:pPr>
                      <a:r>
                        <a:rPr sz="2100" b="0" lang="ja-JP" altLang="en-US">
                          <a:solidFill>
                            <a:srgbClr val="303437"/>
                          </a:solidFill>
                          <a:latin typeface="Noto Sans"/>
                          <a:ea typeface="Noto Sans CJK JP"/>
                          <a:cs typeface="Noto Sans"/>
                        </a:rPr>
                        <a:t>分野に詳しくない若手エンジニア</a:t>
                      </a:r>
                    </a:p>
                  </a:txBody>
                  <a:tcPr marL="63500" marR="63500" marT="38100" marB="38100" anchor="ctr">
                    <a:lnL w="7620">
                      <a:noFill/>
                    </a:lnL>
                    <a:lnR w="7620">
                      <a:noFill/>
                    </a:lnR>
                    <a:lnT w="7620">
                      <a:noFill/>
                    </a:lnT>
                    <a:lnB w="15240">
                      <a:solidFill>
                        <a:srgbClr val="626669"/>
                      </a:solidFill>
                      <a:prstDash val="solid"/>
                    </a:lnB>
                    <a:solidFill>
                      <a:srgbClr val="FFFEF8"/>
                    </a:solidFill>
                  </a:tcPr>
                </a:tc>
                <a:tc>
                  <a:txBody>
                    <a:bodyPr wrap="square">
                      <a:noAutofit/>
                    </a:bodyPr>
                    <a:lstStyle/>
                    <a:p>
                      <a:pPr algn="l">
                        <a:lnSpc>
                          <a:spcPts val="2415"/>
                        </a:lnSpc>
                        <a:buNone/>
                        <a:defRPr sz="2100" b="0">
                          <a:solidFill>
                            <a:srgbClr val="303437"/>
                          </a:solidFill>
                          <a:latin typeface="Noto Sans"/>
                        </a:defRPr>
                      </a:pPr>
                      <a:r>
                        <a:rPr sz="2100" b="0" lang="ja-JP" altLang="en-US">
                          <a:solidFill>
                            <a:srgbClr val="303437"/>
                          </a:solidFill>
                          <a:latin typeface="Noto Sans"/>
                          <a:ea typeface="Noto Sans CJK JP"/>
                          <a:cs typeface="Noto Sans"/>
                        </a:rPr>
                        <a:t>240分</a:t>
                      </a:r>
                    </a:p>
                  </a:txBody>
                  <a:tcPr marL="63500" marR="63500" marT="38100" marB="38100" anchor="ctr">
                    <a:lnL w="7620">
                      <a:noFill/>
                    </a:lnL>
                    <a:lnR w="7620">
                      <a:noFill/>
                    </a:lnR>
                    <a:lnT w="7620">
                      <a:noFill/>
                    </a:lnT>
                    <a:lnB w="15240">
                      <a:solidFill>
                        <a:srgbClr val="626669"/>
                      </a:solidFill>
                      <a:prstDash val="solid"/>
                    </a:lnB>
                    <a:solidFill>
                      <a:srgbClr val="FFFEF8"/>
                    </a:solidFill>
                  </a:tcPr>
                </a:tc>
              </a:tr>
            </a:tbl>
          </a:graphicData>
        </a:graphic>
      </p:graphicFrame>
      <p:sp>
        <p:nvSpPr>
          <p:cNvPr id="5" name="TextBox 4"/>
          <p:cNvSpPr txBox="1"/>
          <p:nvPr/>
        </p:nvSpPr>
        <p:spPr>
          <a:xfrm>
            <a:off x="594360" y="3666744"/>
            <a:ext cx="7955279" cy="685800"/>
          </a:xfrm>
          <a:prstGeom prst="rect">
            <a:avLst/>
          </a:prstGeom>
          <a:noFill/>
        </p:spPr>
        <p:txBody>
          <a:bodyPr wrap="square" lIns="0" rIns="0" tIns="0" bIns="0">
            <a:noAutofit/>
          </a:bodyPr>
          <a:lstStyle/>
          <a:p>
            <a:pPr algn="l">
              <a:lnSpc>
                <a:spcPts val="2160"/>
              </a:lnSpc>
              <a:spcBef>
                <a:spcPts val="0"/>
              </a:spcBef>
              <a:spcAft>
                <a:spcPts val="0"/>
              </a:spcAft>
              <a:buNone/>
              <a:defRPr sz="1800" b="0">
                <a:solidFill>
                  <a:srgbClr val="303437"/>
                </a:solidFill>
                <a:latin typeface="Noto Sans"/>
              </a:defRPr>
            </a:pPr>
            <a:r>
              <a:rPr sz="1800" b="0" lang="ja-JP" altLang="en-US">
                <a:solidFill>
                  <a:srgbClr val="303437"/>
                </a:solidFill>
                <a:latin typeface="Noto Sans"/>
                <a:ea typeface="Noto Sans CJK JP"/>
                <a:cs typeface="Noto Sans"/>
              </a:rPr>
              <a:t>作業時間の見積もりがある88課題の配布メタデータを集計。</a:t>
            </a:r>
          </a:p>
        </p:txBody>
      </p:sp>
      <p:sp>
        <p:nvSpPr>
          <p:cNvPr id="6" name="TextBox 5"/>
          <p:cNvSpPr txBox="1"/>
          <p:nvPr/>
        </p:nvSpPr>
        <p:spPr>
          <a:xfrm>
            <a:off x="502920" y="4690872"/>
            <a:ext cx="8183879" cy="393192"/>
          </a:xfrm>
          <a:prstGeom prst="rect">
            <a:avLst/>
          </a:prstGeom>
          <a:noFill/>
        </p:spPr>
        <p:txBody>
          <a:bodyPr wrap="square" lIns="0" rIns="0" tIns="0" bIns="0">
            <a:noAutofit/>
          </a:bodyPr>
          <a:lstStyle/>
          <a:p>
            <a:pPr algn="l">
              <a:lnSpc>
                <a:spcPct val="112000"/>
              </a:lnSpc>
              <a:spcBef>
                <a:spcPts val="0"/>
              </a:spcBef>
              <a:spcAft>
                <a:spcPts val="0"/>
              </a:spcAft>
              <a:buNone/>
              <a:defRPr sz="810" b="0">
                <a:solidFill>
                  <a:srgbClr val="303437"/>
                </a:solidFill>
                <a:latin typeface="Noto Sans"/>
              </a:defRPr>
            </a:pPr>
            <a:r>
              <a:rPr sz="810" b="0" lang="ja-JP" altLang="en-US">
                <a:solidFill>
                  <a:srgbClr val="626669"/>
                </a:solidFill>
                <a:latin typeface="Noto Sans"/>
                <a:ea typeface="Noto Sans CJK JP"/>
                <a:cs typeface="Noto Sans"/>
              </a:rPr>
              <a:t/>
            </a:r>
            <a:r>
              <a:rPr sz="810" b="0" lang="ja-JP" altLang="en-US">
                <a:solidFill>
                  <a:srgbClr val="626669"/>
                </a:solidFill>
                <a:latin typeface="Noto Sans"/>
                <a:ea typeface="Noto Sans CJK JP"/>
                <a:cs typeface="Noto Sans"/>
              </a:rPr>
              <a:t>The Terminal-Bench Team (2025). Terminal-Bench 2.0. 公開89課題、改訂69671fb。2026-10-16集計。</a:t>
            </a:r>
          </a:p>
          <a:p>
            <a:pPr>
              <a:lnSpc>
                <a:spcPct val="112000"/>
              </a:lnSpc>
              <a:buNone/>
              <a:defRPr sz="810" b="0">
                <a:solidFill>
                  <a:srgbClr val="303437"/>
                </a:solidFill>
                <a:latin typeface="Noto Sans"/>
              </a:defRPr>
            </a:pPr>
            <a:r>
              <a:rPr sz="810" b="0" lang="ja-JP" altLang="en-US">
                <a:solidFill>
                  <a:srgbClr val="626669"/>
                </a:solidFill>
                <a:latin typeface="Noto Sans"/>
                <a:ea typeface="Noto Sans CJK JP"/>
                <a:cs typeface="Noto Sans"/>
                <a:hlinkClick r:id="rId2"/>
              </a:rPr>
              <a:t>https://github.com/laude-institute/terminal-bench-2/tree/69671fbaac6d67a7ef0dfec016cc38a64ef7a77c</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786384"/>
            <a:ext cx="8046720" cy="502920"/>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51課題のエージェント実行上限は15分以下</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FFF"/>
                </a:solidFill>
                <a:latin typeface="Noto Sans"/>
                <a:ea typeface="Noto Sans CJK JP"/>
                <a:cs typeface="Noto Sans"/>
              </a:rPr>
              <a:t>3. 課題の作成方法と全体像</a:t>
            </a:r>
          </a:p>
        </p:txBody>
      </p:sp>
      <p:graphicFrame>
        <p:nvGraphicFramePr>
          <p:cNvPr id="4" name="Table 3"/>
          <p:cNvGraphicFramePr>
            <a:graphicFrameLocks noGrp="1"/>
          </p:cNvGraphicFramePr>
          <p:nvPr/>
        </p:nvGraphicFramePr>
        <p:xfrm>
          <a:off x="548640" y="1508760"/>
          <a:ext cx="8046720" cy="2304284"/>
        </p:xfrm>
        <a:graphic>
          <a:graphicData uri="http://schemas.openxmlformats.org/drawingml/2006/table">
            <a:tbl>
              <a:tblPr firstRow="0" bandRow="0"/>
              <a:tblGrid>
                <a:gridCol w="5577840"/>
                <a:gridCol w="2468880"/>
              </a:tblGrid>
              <a:tr h="414440">
                <a:tc>
                  <a:txBody>
                    <a:bodyPr wrap="square">
                      <a:noAutofit/>
                    </a:bodyPr>
                    <a:lstStyle/>
                    <a:p>
                      <a:pPr algn="l">
                        <a:lnSpc>
                          <a:spcPts val="2415"/>
                        </a:lnSpc>
                        <a:buNone/>
                        <a:defRPr sz="2100" b="0">
                          <a:solidFill>
                            <a:srgbClr val="303437"/>
                          </a:solidFill>
                          <a:latin typeface="Noto Sans"/>
                        </a:defRPr>
                      </a:pPr>
                      <a:r>
                        <a:rPr sz="2100" b="0" lang="ja-JP" altLang="en-US">
                          <a:solidFill>
                            <a:srgbClr val="303437"/>
                          </a:solidFill>
                          <a:latin typeface="Noto Sans"/>
                          <a:ea typeface="Noto Sans CJK JP"/>
                          <a:cs typeface="Noto Sans"/>
                        </a:rPr>
                        <a:t>実行上限時間</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c>
                  <a:txBody>
                    <a:bodyPr wrap="square">
                      <a:noAutofit/>
                    </a:bodyPr>
                    <a:lstStyle/>
                    <a:p>
                      <a:pPr algn="r">
                        <a:lnSpc>
                          <a:spcPts val="2415"/>
                        </a:lnSpc>
                        <a:buNone/>
                        <a:defRPr sz="2100" b="0">
                          <a:solidFill>
                            <a:srgbClr val="303437"/>
                          </a:solidFill>
                          <a:latin typeface="Noto Sans"/>
                        </a:defRPr>
                      </a:pPr>
                      <a:r>
                        <a:rPr sz="2100" b="0" lang="ja-JP" altLang="en-US">
                          <a:solidFill>
                            <a:srgbClr val="303437"/>
                          </a:solidFill>
                          <a:latin typeface="Noto Sans"/>
                          <a:ea typeface="Noto Sans CJK JP"/>
                          <a:cs typeface="Noto Sans"/>
                        </a:rPr>
                        <a:t>課題数</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r>
              <a:tr h="472461">
                <a:tc>
                  <a:txBody>
                    <a:bodyPr wrap="square">
                      <a:noAutofit/>
                    </a:bodyPr>
                    <a:lstStyle/>
                    <a:p>
                      <a:pPr algn="l">
                        <a:lnSpc>
                          <a:spcPts val="2415"/>
                        </a:lnSpc>
                        <a:buNone/>
                        <a:defRPr sz="2100" b="0">
                          <a:solidFill>
                            <a:srgbClr val="303437"/>
                          </a:solidFill>
                          <a:latin typeface="Noto Sans"/>
                        </a:defRPr>
                      </a:pPr>
                      <a:r>
                        <a:rPr sz="2100" b="0" lang="ja-JP" altLang="en-US">
                          <a:solidFill>
                            <a:srgbClr val="303437"/>
                          </a:solidFill>
                          <a:latin typeface="Noto Sans"/>
                          <a:ea typeface="Noto Sans CJK JP"/>
                          <a:cs typeface="Noto Sans"/>
                        </a:rPr>
                        <a:t>15分以下</a:t>
                      </a:r>
                    </a:p>
                  </a:txBody>
                  <a:tcPr marL="63500" marR="63500" marT="38100" marB="38100" anchor="ctr">
                    <a:lnL w="7620">
                      <a:noFill/>
                    </a:lnL>
                    <a:lnR w="7620">
                      <a:noFill/>
                    </a:lnR>
                    <a:lnT w="7620">
                      <a:solidFill>
                        <a:srgbClr val="626669"/>
                      </a:solidFill>
                      <a:prstDash val="solid"/>
                    </a:lnT>
                    <a:lnB w="7620">
                      <a:noFill/>
                    </a:lnB>
                    <a:solidFill>
                      <a:srgbClr val="FFFEF8"/>
                    </a:solidFill>
                  </a:tcPr>
                </a:tc>
                <a:tc>
                  <a:txBody>
                    <a:bodyPr wrap="square">
                      <a:noAutofit/>
                    </a:bodyPr>
                    <a:lstStyle/>
                    <a:p>
                      <a:pPr algn="r">
                        <a:lnSpc>
                          <a:spcPts val="2415"/>
                        </a:lnSpc>
                        <a:buNone/>
                        <a:defRPr sz="2100" b="0">
                          <a:solidFill>
                            <a:srgbClr val="303437"/>
                          </a:solidFill>
                          <a:latin typeface="Noto Sans"/>
                        </a:defRPr>
                      </a:pPr>
                      <a:r>
                        <a:rPr sz="2100" b="0" lang="ja-JP" altLang="en-US">
                          <a:solidFill>
                            <a:srgbClr val="303437"/>
                          </a:solidFill>
                          <a:latin typeface="Noto Sans"/>
                          <a:ea typeface="Noto Sans CJK JP"/>
                          <a:cs typeface="Noto Sans"/>
                        </a:rPr>
                        <a:t>51</a:t>
                      </a:r>
                    </a:p>
                  </a:txBody>
                  <a:tcPr marL="63500" marR="63500" marT="38100" marB="38100" anchor="ctr">
                    <a:lnL w="7620">
                      <a:noFill/>
                    </a:lnL>
                    <a:lnR w="7620">
                      <a:noFill/>
                    </a:lnR>
                    <a:lnT w="7620">
                      <a:solidFill>
                        <a:srgbClr val="626669"/>
                      </a:solidFill>
                      <a:prstDash val="solid"/>
                    </a:lnT>
                    <a:lnB w="7620">
                      <a:noFill/>
                    </a:lnB>
                    <a:solidFill>
                      <a:srgbClr val="FFFEF8"/>
                    </a:solidFill>
                  </a:tcPr>
                </a:tc>
              </a:tr>
              <a:tr h="472461">
                <a:tc>
                  <a:txBody>
                    <a:bodyPr wrap="square">
                      <a:noAutofit/>
                    </a:bodyPr>
                    <a:lstStyle/>
                    <a:p>
                      <a:pPr algn="l">
                        <a:lnSpc>
                          <a:spcPts val="2415"/>
                        </a:lnSpc>
                        <a:buNone/>
                        <a:defRPr sz="2100" b="0">
                          <a:solidFill>
                            <a:srgbClr val="303437"/>
                          </a:solidFill>
                          <a:latin typeface="Noto Sans"/>
                        </a:defRPr>
                      </a:pPr>
                      <a:r>
                        <a:rPr sz="2100" b="0" lang="ja-JP" altLang="en-US">
                          <a:solidFill>
                            <a:srgbClr val="303437"/>
                          </a:solidFill>
                          <a:latin typeface="Noto Sans"/>
                          <a:ea typeface="Noto Sans CJK JP"/>
                          <a:cs typeface="Noto Sans"/>
                        </a:rPr>
                        <a:t>15分超〜30分以下</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r">
                        <a:lnSpc>
                          <a:spcPts val="2415"/>
                        </a:lnSpc>
                        <a:buNone/>
                        <a:defRPr sz="2100" b="0">
                          <a:solidFill>
                            <a:srgbClr val="303437"/>
                          </a:solidFill>
                          <a:latin typeface="Noto Sans"/>
                        </a:defRPr>
                      </a:pPr>
                      <a:r>
                        <a:rPr sz="2100" b="0" lang="ja-JP" altLang="en-US">
                          <a:solidFill>
                            <a:srgbClr val="303437"/>
                          </a:solidFill>
                          <a:latin typeface="Noto Sans"/>
                          <a:ea typeface="Noto Sans CJK JP"/>
                          <a:cs typeface="Noto Sans"/>
                        </a:rPr>
                        <a:t>22</a:t>
                      </a:r>
                    </a:p>
                  </a:txBody>
                  <a:tcPr marL="63500" marR="63500" marT="38100" marB="38100" anchor="ctr">
                    <a:lnL w="7620">
                      <a:noFill/>
                    </a:lnL>
                    <a:lnR w="7620">
                      <a:noFill/>
                    </a:lnR>
                    <a:lnT w="7620">
                      <a:noFill/>
                    </a:lnT>
                    <a:lnB w="7620">
                      <a:noFill/>
                    </a:lnB>
                    <a:solidFill>
                      <a:srgbClr val="FFFEF8"/>
                    </a:solidFill>
                  </a:tcPr>
                </a:tc>
              </a:tr>
              <a:tr h="472461">
                <a:tc>
                  <a:txBody>
                    <a:bodyPr wrap="square">
                      <a:noAutofit/>
                    </a:bodyPr>
                    <a:lstStyle/>
                    <a:p>
                      <a:pPr algn="l">
                        <a:lnSpc>
                          <a:spcPts val="2415"/>
                        </a:lnSpc>
                        <a:buNone/>
                        <a:defRPr sz="2100" b="0">
                          <a:solidFill>
                            <a:srgbClr val="303437"/>
                          </a:solidFill>
                          <a:latin typeface="Noto Sans"/>
                        </a:defRPr>
                      </a:pPr>
                      <a:r>
                        <a:rPr sz="2100" b="0" lang="ja-JP" altLang="en-US">
                          <a:solidFill>
                            <a:srgbClr val="303437"/>
                          </a:solidFill>
                          <a:latin typeface="Noto Sans"/>
                          <a:ea typeface="Noto Sans CJK JP"/>
                          <a:cs typeface="Noto Sans"/>
                        </a:rPr>
                        <a:t>30分超〜60分以下</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r">
                        <a:lnSpc>
                          <a:spcPts val="2415"/>
                        </a:lnSpc>
                        <a:buNone/>
                        <a:defRPr sz="2100" b="0">
                          <a:solidFill>
                            <a:srgbClr val="303437"/>
                          </a:solidFill>
                          <a:latin typeface="Noto Sans"/>
                        </a:defRPr>
                      </a:pPr>
                      <a:r>
                        <a:rPr sz="2100" b="0" lang="ja-JP" altLang="en-US">
                          <a:solidFill>
                            <a:srgbClr val="303437"/>
                          </a:solidFill>
                          <a:latin typeface="Noto Sans"/>
                          <a:ea typeface="Noto Sans CJK JP"/>
                          <a:cs typeface="Noto Sans"/>
                        </a:rPr>
                        <a:t>14</a:t>
                      </a:r>
                    </a:p>
                  </a:txBody>
                  <a:tcPr marL="63500" marR="63500" marT="38100" marB="38100" anchor="ctr">
                    <a:lnL w="7620">
                      <a:noFill/>
                    </a:lnL>
                    <a:lnR w="7620">
                      <a:noFill/>
                    </a:lnR>
                    <a:lnT w="7620">
                      <a:noFill/>
                    </a:lnT>
                    <a:lnB w="7620">
                      <a:noFill/>
                    </a:lnB>
                    <a:solidFill>
                      <a:srgbClr val="FFFEF8"/>
                    </a:solidFill>
                  </a:tcPr>
                </a:tc>
              </a:tr>
              <a:tr h="472461">
                <a:tc>
                  <a:txBody>
                    <a:bodyPr wrap="square">
                      <a:noAutofit/>
                    </a:bodyPr>
                    <a:lstStyle/>
                    <a:p>
                      <a:pPr algn="l">
                        <a:lnSpc>
                          <a:spcPts val="2415"/>
                        </a:lnSpc>
                        <a:buNone/>
                        <a:defRPr sz="2100" b="0">
                          <a:solidFill>
                            <a:srgbClr val="303437"/>
                          </a:solidFill>
                          <a:latin typeface="Noto Sans"/>
                        </a:defRPr>
                      </a:pPr>
                      <a:r>
                        <a:rPr sz="2100" b="0" lang="ja-JP" altLang="en-US">
                          <a:solidFill>
                            <a:srgbClr val="303437"/>
                          </a:solidFill>
                          <a:latin typeface="Noto Sans"/>
                          <a:ea typeface="Noto Sans CJK JP"/>
                          <a:cs typeface="Noto Sans"/>
                        </a:rPr>
                        <a:t>60分超</a:t>
                      </a:r>
                    </a:p>
                  </a:txBody>
                  <a:tcPr marL="63500" marR="63500" marT="38100" marB="38100" anchor="ctr">
                    <a:lnL w="7620">
                      <a:noFill/>
                    </a:lnL>
                    <a:lnR w="7620">
                      <a:noFill/>
                    </a:lnR>
                    <a:lnT w="7620">
                      <a:noFill/>
                    </a:lnT>
                    <a:lnB w="15240">
                      <a:solidFill>
                        <a:srgbClr val="626669"/>
                      </a:solidFill>
                      <a:prstDash val="solid"/>
                    </a:lnB>
                    <a:solidFill>
                      <a:srgbClr val="FFFEF8"/>
                    </a:solidFill>
                  </a:tcPr>
                </a:tc>
                <a:tc>
                  <a:txBody>
                    <a:bodyPr wrap="square">
                      <a:noAutofit/>
                    </a:bodyPr>
                    <a:lstStyle/>
                    <a:p>
                      <a:pPr algn="r">
                        <a:lnSpc>
                          <a:spcPts val="2415"/>
                        </a:lnSpc>
                        <a:buNone/>
                        <a:defRPr sz="2100" b="0">
                          <a:solidFill>
                            <a:srgbClr val="303437"/>
                          </a:solidFill>
                          <a:latin typeface="Noto Sans"/>
                        </a:defRPr>
                      </a:pPr>
                      <a:r>
                        <a:rPr sz="2100" b="0" lang="ja-JP" altLang="en-US">
                          <a:solidFill>
                            <a:srgbClr val="303437"/>
                          </a:solidFill>
                          <a:latin typeface="Noto Sans"/>
                          <a:ea typeface="Noto Sans CJK JP"/>
                          <a:cs typeface="Noto Sans"/>
                        </a:rPr>
                        <a:t>2</a:t>
                      </a:r>
                    </a:p>
                  </a:txBody>
                  <a:tcPr marL="63500" marR="63500" marT="38100" marB="38100" anchor="ctr">
                    <a:lnL w="7620">
                      <a:noFill/>
                    </a:lnL>
                    <a:lnR w="7620">
                      <a:noFill/>
                    </a:lnR>
                    <a:lnT w="7620">
                      <a:noFill/>
                    </a:lnT>
                    <a:lnB w="15240">
                      <a:solidFill>
                        <a:srgbClr val="626669"/>
                      </a:solidFill>
                      <a:prstDash val="solid"/>
                    </a:lnB>
                    <a:solidFill>
                      <a:srgbClr val="FFFEF8"/>
                    </a:solidFill>
                  </a:tcPr>
                </a:tc>
              </a:tr>
            </a:tbl>
          </a:graphicData>
        </a:graphic>
      </p:graphicFrame>
      <p:sp>
        <p:nvSpPr>
          <p:cNvPr id="5" name="TextBox 4"/>
          <p:cNvSpPr txBox="1"/>
          <p:nvPr/>
        </p:nvSpPr>
        <p:spPr>
          <a:xfrm>
            <a:off x="594360" y="4005072"/>
            <a:ext cx="7955279" cy="685800"/>
          </a:xfrm>
          <a:prstGeom prst="rect">
            <a:avLst/>
          </a:prstGeom>
          <a:noFill/>
        </p:spPr>
        <p:txBody>
          <a:bodyPr wrap="square" lIns="0" rIns="0" tIns="0" bIns="0">
            <a:noAutofit/>
          </a:bodyPr>
          <a:lstStyle/>
          <a:p>
            <a:pPr algn="l">
              <a:lnSpc>
                <a:spcPts val="2160"/>
              </a:lnSpc>
              <a:spcBef>
                <a:spcPts val="0"/>
              </a:spcBef>
              <a:spcAft>
                <a:spcPts val="0"/>
              </a:spcAft>
              <a:buNone/>
              <a:defRPr sz="1800" b="0">
                <a:solidFill>
                  <a:srgbClr val="303437"/>
                </a:solidFill>
                <a:latin typeface="Noto Sans"/>
              </a:defRPr>
            </a:pPr>
            <a:r>
              <a:rPr sz="1800" b="0" lang="ja-JP" altLang="en-US">
                <a:solidFill>
                  <a:srgbClr val="303437"/>
                </a:solidFill>
                <a:latin typeface="Noto Sans"/>
                <a:ea typeface="Noto Sans CJK JP"/>
                <a:cs typeface="Noto Sans"/>
              </a:rPr>
              <a:t>task.tomlのagent.timeout_secを全89課題で集計。</a:t>
            </a:r>
          </a:p>
        </p:txBody>
      </p:sp>
      <p:sp>
        <p:nvSpPr>
          <p:cNvPr id="6" name="TextBox 5"/>
          <p:cNvSpPr txBox="1"/>
          <p:nvPr/>
        </p:nvSpPr>
        <p:spPr>
          <a:xfrm>
            <a:off x="502920" y="4690872"/>
            <a:ext cx="8183879" cy="393192"/>
          </a:xfrm>
          <a:prstGeom prst="rect">
            <a:avLst/>
          </a:prstGeom>
          <a:noFill/>
        </p:spPr>
        <p:txBody>
          <a:bodyPr wrap="square" lIns="0" rIns="0" tIns="0" bIns="0">
            <a:noAutofit/>
          </a:bodyPr>
          <a:lstStyle/>
          <a:p>
            <a:pPr algn="l">
              <a:lnSpc>
                <a:spcPct val="112000"/>
              </a:lnSpc>
              <a:spcBef>
                <a:spcPts val="0"/>
              </a:spcBef>
              <a:spcAft>
                <a:spcPts val="0"/>
              </a:spcAft>
              <a:buNone/>
              <a:defRPr sz="810" b="0">
                <a:solidFill>
                  <a:srgbClr val="303437"/>
                </a:solidFill>
                <a:latin typeface="Noto Sans"/>
              </a:defRPr>
            </a:pPr>
            <a:r>
              <a:rPr sz="810" b="0" lang="ja-JP" altLang="en-US">
                <a:solidFill>
                  <a:srgbClr val="626669"/>
                </a:solidFill>
                <a:latin typeface="Noto Sans"/>
                <a:ea typeface="Noto Sans CJK JP"/>
                <a:cs typeface="Noto Sans"/>
              </a:rPr>
              <a:t/>
            </a:r>
            <a:r>
              <a:rPr sz="810" b="0" lang="ja-JP" altLang="en-US">
                <a:solidFill>
                  <a:srgbClr val="626669"/>
                </a:solidFill>
                <a:latin typeface="Noto Sans"/>
                <a:ea typeface="Noto Sans CJK JP"/>
                <a:cs typeface="Noto Sans"/>
              </a:rPr>
              <a:t>The Terminal-Bench Team (2025). Terminal-Bench 2.0. 公開89課題、改訂69671fb。2026-10-16集計。</a:t>
            </a:r>
          </a:p>
          <a:p>
            <a:pPr>
              <a:lnSpc>
                <a:spcPct val="112000"/>
              </a:lnSpc>
              <a:buNone/>
              <a:defRPr sz="810" b="0">
                <a:solidFill>
                  <a:srgbClr val="303437"/>
                </a:solidFill>
                <a:latin typeface="Noto Sans"/>
              </a:defRPr>
            </a:pPr>
            <a:r>
              <a:rPr sz="810" b="0" lang="ja-JP" altLang="en-US">
                <a:solidFill>
                  <a:srgbClr val="626669"/>
                </a:solidFill>
                <a:latin typeface="Noto Sans"/>
                <a:ea typeface="Noto Sans CJK JP"/>
                <a:cs typeface="Noto Sans"/>
                <a:hlinkClick r:id="rId2"/>
              </a:rPr>
              <a:t>https://github.com/laude-institute/terminal-bench-2/tree/69671fbaac6d67a7ef0dfec016cc38a64ef7a77c</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786384"/>
            <a:ext cx="8046720" cy="502920"/>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失敗した実行履歴を3種類に分類した</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FFF"/>
                </a:solidFill>
                <a:latin typeface="Noto Sans"/>
                <a:ea typeface="Noto Sans CJK JP"/>
                <a:cs typeface="Noto Sans"/>
              </a:rPr>
              <a:t>3. 課題の作成方法と全体像</a:t>
            </a:r>
          </a:p>
        </p:txBody>
      </p:sp>
      <p:graphicFrame>
        <p:nvGraphicFramePr>
          <p:cNvPr id="4" name="Table 3"/>
          <p:cNvGraphicFramePr>
            <a:graphicFrameLocks noGrp="1"/>
          </p:cNvGraphicFramePr>
          <p:nvPr/>
        </p:nvGraphicFramePr>
        <p:xfrm>
          <a:off x="548640" y="1508760"/>
          <a:ext cx="8046720" cy="2304287"/>
        </p:xfrm>
        <a:graphic>
          <a:graphicData uri="http://schemas.openxmlformats.org/drawingml/2006/table">
            <a:tbl>
              <a:tblPr firstRow="0" bandRow="0"/>
              <a:tblGrid>
                <a:gridCol w="1828800"/>
                <a:gridCol w="6217920"/>
              </a:tblGrid>
              <a:tr h="443132">
                <a:tc>
                  <a:txBody>
                    <a:bodyPr wrap="square">
                      <a:noAutofit/>
                    </a:bodyPr>
                    <a:lstStyle/>
                    <a:p>
                      <a:pPr algn="l">
                        <a:lnSpc>
                          <a:spcPts val="2242"/>
                        </a:lnSpc>
                        <a:buNone/>
                        <a:defRPr sz="1950" b="0">
                          <a:solidFill>
                            <a:srgbClr val="303437"/>
                          </a:solidFill>
                          <a:latin typeface="Noto Sans"/>
                        </a:defRPr>
                      </a:pPr>
                      <a:r>
                        <a:rPr sz="1950" b="0" lang="ja-JP" altLang="en-US">
                          <a:solidFill>
                            <a:srgbClr val="303437"/>
                          </a:solidFill>
                          <a:latin typeface="Noto Sans"/>
                          <a:ea typeface="Noto Sans CJK JP"/>
                          <a:cs typeface="Noto Sans"/>
                        </a:rPr>
                        <a:t>分類</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c>
                  <a:txBody>
                    <a:bodyPr wrap="square">
                      <a:noAutofit/>
                    </a:bodyPr>
                    <a:lstStyle/>
                    <a:p>
                      <a:pPr algn="l">
                        <a:lnSpc>
                          <a:spcPts val="2242"/>
                        </a:lnSpc>
                        <a:buNone/>
                        <a:defRPr sz="1950" b="0">
                          <a:solidFill>
                            <a:srgbClr val="303437"/>
                          </a:solidFill>
                          <a:latin typeface="Noto Sans"/>
                        </a:defRPr>
                      </a:pPr>
                      <a:r>
                        <a:rPr sz="1950" b="0" lang="ja-JP" altLang="en-US">
                          <a:solidFill>
                            <a:srgbClr val="303437"/>
                          </a:solidFill>
                          <a:latin typeface="Noto Sans"/>
                          <a:ea typeface="Noto Sans CJK JP"/>
                          <a:cs typeface="Noto Sans"/>
                        </a:rPr>
                        <a:t>具体的な失敗</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r>
              <a:tr h="620385">
                <a:tc>
                  <a:txBody>
                    <a:bodyPr wrap="square">
                      <a:noAutofit/>
                    </a:bodyPr>
                    <a:lstStyle/>
                    <a:p>
                      <a:pPr algn="l">
                        <a:lnSpc>
                          <a:spcPts val="2242"/>
                        </a:lnSpc>
                        <a:buNone/>
                        <a:defRPr sz="1950" b="0">
                          <a:solidFill>
                            <a:srgbClr val="303437"/>
                          </a:solidFill>
                          <a:latin typeface="Noto Sans"/>
                        </a:defRPr>
                      </a:pPr>
                      <a:r>
                        <a:rPr sz="1950" b="0" lang="ja-JP" altLang="en-US">
                          <a:solidFill>
                            <a:srgbClr val="303437"/>
                          </a:solidFill>
                          <a:latin typeface="Noto Sans"/>
                          <a:ea typeface="Noto Sans CJK JP"/>
                          <a:cs typeface="Noto Sans"/>
                        </a:rPr>
                        <a:t>実行</a:t>
                      </a:r>
                    </a:p>
                  </a:txBody>
                  <a:tcPr marL="63500" marR="63500" marT="38100" marB="38100" anchor="ctr">
                    <a:lnL w="7620">
                      <a:noFill/>
                    </a:lnL>
                    <a:lnR w="7620">
                      <a:noFill/>
                    </a:lnR>
                    <a:lnT w="7620">
                      <a:solidFill>
                        <a:srgbClr val="626669"/>
                      </a:solidFill>
                      <a:prstDash val="solid"/>
                    </a:lnT>
                    <a:lnB w="7620">
                      <a:noFill/>
                    </a:lnB>
                    <a:solidFill>
                      <a:srgbClr val="FFFEF8"/>
                    </a:solidFill>
                  </a:tcPr>
                </a:tc>
                <a:tc>
                  <a:txBody>
                    <a:bodyPr wrap="square">
                      <a:noAutofit/>
                    </a:bodyPr>
                    <a:lstStyle/>
                    <a:p>
                      <a:pPr algn="l">
                        <a:lnSpc>
                          <a:spcPts val="2242"/>
                        </a:lnSpc>
                        <a:buNone/>
                        <a:defRPr sz="1950" b="0">
                          <a:solidFill>
                            <a:srgbClr val="303437"/>
                          </a:solidFill>
                          <a:latin typeface="Noto Sans"/>
                        </a:defRPr>
                      </a:pPr>
                      <a:r>
                        <a:rPr sz="1950" b="0" lang="ja-JP" altLang="en-US">
                          <a:solidFill>
                            <a:srgbClr val="303437"/>
                          </a:solidFill>
                          <a:latin typeface="Noto Sans"/>
                          <a:ea typeface="Noto Sans CJK JP"/>
                          <a:cs typeface="Noto Sans"/>
                        </a:rPr>
                        <a:t>指定への違反、同じ操作の反復、終了条件の見落とし</a:t>
                      </a:r>
                    </a:p>
                  </a:txBody>
                  <a:tcPr marL="63500" marR="63500" marT="38100" marB="38100" anchor="ctr">
                    <a:lnL w="7620">
                      <a:noFill/>
                    </a:lnL>
                    <a:lnR w="7620">
                      <a:noFill/>
                    </a:lnR>
                    <a:lnT w="7620">
                      <a:solidFill>
                        <a:srgbClr val="626669"/>
                      </a:solidFill>
                      <a:prstDash val="solid"/>
                    </a:lnT>
                    <a:lnB w="7620">
                      <a:noFill/>
                    </a:lnB>
                    <a:solidFill>
                      <a:srgbClr val="FFFEF8"/>
                    </a:solidFill>
                  </a:tcPr>
                </a:tc>
              </a:tr>
              <a:tr h="620385">
                <a:tc>
                  <a:txBody>
                    <a:bodyPr wrap="square">
                      <a:noAutofit/>
                    </a:bodyPr>
                    <a:lstStyle/>
                    <a:p>
                      <a:pPr algn="l">
                        <a:lnSpc>
                          <a:spcPts val="2242"/>
                        </a:lnSpc>
                        <a:buNone/>
                        <a:defRPr sz="1950" b="0">
                          <a:solidFill>
                            <a:srgbClr val="303437"/>
                          </a:solidFill>
                          <a:latin typeface="Noto Sans"/>
                        </a:defRPr>
                      </a:pPr>
                      <a:r>
                        <a:rPr sz="1950" b="0" lang="ja-JP" altLang="en-US">
                          <a:solidFill>
                            <a:srgbClr val="303437"/>
                          </a:solidFill>
                          <a:latin typeface="Noto Sans"/>
                          <a:ea typeface="Noto Sans CJK JP"/>
                          <a:cs typeface="Noto Sans"/>
                        </a:rPr>
                        <a:t>一貫性</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l">
                        <a:lnSpc>
                          <a:spcPts val="2242"/>
                        </a:lnSpc>
                        <a:buNone/>
                        <a:defRPr sz="1950" b="0">
                          <a:solidFill>
                            <a:srgbClr val="303437"/>
                          </a:solidFill>
                          <a:latin typeface="Noto Sans"/>
                        </a:defRPr>
                      </a:pPr>
                      <a:r>
                        <a:rPr sz="1950" b="0" lang="ja-JP" altLang="en-US">
                          <a:solidFill>
                            <a:srgbClr val="303437"/>
                          </a:solidFill>
                          <a:latin typeface="Noto Sans"/>
                          <a:ea typeface="Noto Sans CJK JP"/>
                          <a:cs typeface="Noto Sans"/>
                        </a:rPr>
                        <a:t>推論と操作の不一致、文脈の喪失、課題からの逸脱</a:t>
                      </a:r>
                    </a:p>
                  </a:txBody>
                  <a:tcPr marL="63500" marR="63500" marT="38100" marB="38100" anchor="ctr">
                    <a:lnL w="7620">
                      <a:noFill/>
                    </a:lnL>
                    <a:lnR w="7620">
                      <a:noFill/>
                    </a:lnR>
                    <a:lnT w="7620">
                      <a:noFill/>
                    </a:lnT>
                    <a:lnB w="7620">
                      <a:noFill/>
                    </a:lnB>
                    <a:solidFill>
                      <a:srgbClr val="FFFEF8"/>
                    </a:solidFill>
                  </a:tcPr>
                </a:tc>
              </a:tr>
              <a:tr h="620385">
                <a:tc>
                  <a:txBody>
                    <a:bodyPr wrap="square">
                      <a:noAutofit/>
                    </a:bodyPr>
                    <a:lstStyle/>
                    <a:p>
                      <a:pPr algn="l">
                        <a:lnSpc>
                          <a:spcPts val="2242"/>
                        </a:lnSpc>
                        <a:buNone/>
                        <a:defRPr sz="1950" b="0">
                          <a:solidFill>
                            <a:srgbClr val="303437"/>
                          </a:solidFill>
                          <a:latin typeface="Noto Sans"/>
                        </a:defRPr>
                      </a:pPr>
                      <a:r>
                        <a:rPr sz="1950" b="0" lang="ja-JP" altLang="en-US">
                          <a:solidFill>
                            <a:srgbClr val="303437"/>
                          </a:solidFill>
                          <a:latin typeface="Noto Sans"/>
                          <a:ea typeface="Noto Sans CJK JP"/>
                          <a:cs typeface="Noto Sans"/>
                        </a:rPr>
                        <a:t>検証</a:t>
                      </a:r>
                    </a:p>
                  </a:txBody>
                  <a:tcPr marL="63500" marR="63500" marT="38100" marB="38100" anchor="ctr">
                    <a:lnL w="7620">
                      <a:noFill/>
                    </a:lnL>
                    <a:lnR w="7620">
                      <a:noFill/>
                    </a:lnR>
                    <a:lnT w="7620">
                      <a:noFill/>
                    </a:lnT>
                    <a:lnB w="15240">
                      <a:solidFill>
                        <a:srgbClr val="626669"/>
                      </a:solidFill>
                      <a:prstDash val="solid"/>
                    </a:lnB>
                    <a:solidFill>
                      <a:srgbClr val="FFFEF8"/>
                    </a:solidFill>
                  </a:tcPr>
                </a:tc>
                <a:tc>
                  <a:txBody>
                    <a:bodyPr wrap="square">
                      <a:noAutofit/>
                    </a:bodyPr>
                    <a:lstStyle/>
                    <a:p>
                      <a:pPr algn="l">
                        <a:lnSpc>
                          <a:spcPts val="2242"/>
                        </a:lnSpc>
                        <a:buNone/>
                        <a:defRPr sz="1950" b="0">
                          <a:solidFill>
                            <a:srgbClr val="303437"/>
                          </a:solidFill>
                          <a:latin typeface="Noto Sans"/>
                        </a:defRPr>
                      </a:pPr>
                      <a:r>
                        <a:rPr sz="1950" b="0" lang="ja-JP" altLang="en-US">
                          <a:solidFill>
                            <a:srgbClr val="303437"/>
                          </a:solidFill>
                          <a:latin typeface="Noto Sans"/>
                          <a:ea typeface="Noto Sans CJK JP"/>
                          <a:cs typeface="Noto Sans"/>
                        </a:rPr>
                        <a:t>早すぎる終了、未検証・誤った確認、不十分な確認</a:t>
                      </a:r>
                    </a:p>
                  </a:txBody>
                  <a:tcPr marL="63500" marR="63500" marT="38100" marB="38100" anchor="ctr">
                    <a:lnL w="7620">
                      <a:noFill/>
                    </a:lnL>
                    <a:lnR w="7620">
                      <a:noFill/>
                    </a:lnR>
                    <a:lnT w="7620">
                      <a:noFill/>
                    </a:lnT>
                    <a:lnB w="15240">
                      <a:solidFill>
                        <a:srgbClr val="626669"/>
                      </a:solidFill>
                      <a:prstDash val="solid"/>
                    </a:lnB>
                    <a:solidFill>
                      <a:srgbClr val="FFFEF8"/>
                    </a:solidFill>
                  </a:tcPr>
                </a:tc>
              </a:tr>
            </a:tbl>
          </a:graphicData>
        </a:graphic>
      </p:graphicFrame>
      <p:sp>
        <p:nvSpPr>
          <p:cNvPr id="5" name="TextBox 4"/>
          <p:cNvSpPr txBox="1"/>
          <p:nvPr/>
        </p:nvSpPr>
        <p:spPr>
          <a:xfrm>
            <a:off x="594360" y="4005072"/>
            <a:ext cx="7955279" cy="685800"/>
          </a:xfrm>
          <a:prstGeom prst="rect">
            <a:avLst/>
          </a:prstGeom>
          <a:noFill/>
        </p:spPr>
        <p:txBody>
          <a:bodyPr wrap="square" lIns="0" rIns="0" tIns="0" bIns="0">
            <a:noAutofit/>
          </a:bodyPr>
          <a:lstStyle/>
          <a:p>
            <a:pPr algn="l">
              <a:lnSpc>
                <a:spcPts val="2160"/>
              </a:lnSpc>
              <a:spcBef>
                <a:spcPts val="0"/>
              </a:spcBef>
              <a:spcAft>
                <a:spcPts val="0"/>
              </a:spcAft>
              <a:buNone/>
              <a:defRPr sz="1800" b="0">
                <a:solidFill>
                  <a:srgbClr val="303437"/>
                </a:solidFill>
                <a:latin typeface="Noto Sans"/>
              </a:defRPr>
            </a:pPr>
            <a:r>
              <a:rPr sz="1800" b="0" lang="ja-JP" altLang="en-US">
                <a:solidFill>
                  <a:srgbClr val="303437"/>
                </a:solidFill>
                <a:latin typeface="Noto Sans"/>
                <a:ea typeface="Noto Sans CJK JP"/>
                <a:cs typeface="Noto Sans"/>
              </a:rPr>
              <a:t>Merrillら（2026）はTerminus 2の失敗履歴を分析し、LLMで分類した。</a:t>
            </a:r>
          </a:p>
        </p:txBody>
      </p:sp>
      <p:sp>
        <p:nvSpPr>
          <p:cNvPr id="6" name="TextBox 5"/>
          <p:cNvSpPr txBox="1"/>
          <p:nvPr/>
        </p:nvSpPr>
        <p:spPr>
          <a:xfrm>
            <a:off x="502920" y="4690872"/>
            <a:ext cx="8183879" cy="393192"/>
          </a:xfrm>
          <a:prstGeom prst="rect">
            <a:avLst/>
          </a:prstGeom>
          <a:noFill/>
        </p:spPr>
        <p:txBody>
          <a:bodyPr wrap="square" lIns="0" rIns="0" tIns="0" bIns="0">
            <a:noAutofit/>
          </a:bodyPr>
          <a:lstStyle/>
          <a:p>
            <a:pPr algn="l">
              <a:lnSpc>
                <a:spcPct val="112000"/>
              </a:lnSpc>
              <a:spcBef>
                <a:spcPts val="0"/>
              </a:spcBef>
              <a:spcAft>
                <a:spcPts val="0"/>
              </a:spcAft>
              <a:buNone/>
              <a:defRPr sz="810" b="0">
                <a:solidFill>
                  <a:srgbClr val="303437"/>
                </a:solidFill>
                <a:latin typeface="Noto Sans"/>
              </a:defRPr>
            </a:pPr>
            <a:r>
              <a:rPr sz="810" b="0" lang="ja-JP" altLang="en-US">
                <a:solidFill>
                  <a:srgbClr val="626669"/>
                </a:solidFill>
                <a:latin typeface="Noto Sans"/>
                <a:ea typeface="Noto Sans CJK JP"/>
                <a:cs typeface="Noto Sans"/>
              </a:rPr>
              <a:t/>
            </a:r>
            <a:r>
              <a:rPr sz="810" b="0" lang="ja-JP" altLang="en-US">
                <a:solidFill>
                  <a:srgbClr val="626669"/>
                </a:solidFill>
                <a:latin typeface="Noto Sans"/>
                <a:ea typeface="Noto Sans CJK JP"/>
                <a:cs typeface="Noto Sans"/>
              </a:rPr>
              <a:t>Merrill et al. (2026). Terminal-Bench: Benchmarking Agents on Hard, Realistic Tasks in Command Line Interfaces. arXiv:2601.11868.</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https://arxiv.org/abs/2601.11868</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2388106"/>
            <a:ext cx="8046720" cy="822960"/>
          </a:xfrm>
        </p:spPr>
        <p:txBody>
          <a:bodyPr wrap="square" lIns="0" rIns="0" tIns="0" bIns="0" anchor="ctr">
            <a:noAutofit/>
          </a:bodyPr>
          <a:lstStyle/>
          <a:p>
            <a:pPr algn="ctr">
              <a:lnSpc>
                <a:spcPct val="110000"/>
              </a:lnSpc>
              <a:buNone/>
              <a:defRPr sz="3600" b="0">
                <a:solidFill>
                  <a:srgbClr val="303437"/>
                </a:solidFill>
                <a:latin typeface="Noto Sans"/>
              </a:defRPr>
            </a:pPr>
            <a:r>
              <a:rPr sz="3600" b="1" lang="ja-JP" altLang="en-US">
                <a:solidFill>
                  <a:srgbClr val="303437"/>
                </a:solidFill>
                <a:latin typeface="Noto Sans"/>
                <a:ea typeface="Noto Sans CJK JP"/>
                <a:cs typeface="Noto Sans"/>
              </a:rPr>
              <a:t>4. 利用の変遷と実行方法</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FFF"/>
                </a:solidFill>
                <a:latin typeface="Noto Sans"/>
                <a:ea typeface="Noto Sans CJK JP"/>
                <a:cs typeface="Noto Sans"/>
              </a:rPr>
              <a:t>4. 利用の変遷と実行方法</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786384"/>
            <a:ext cx="8046720" cy="502920"/>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2025年の公開から、新しい課題集合へ展開した</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FFF"/>
                </a:solidFill>
                <a:latin typeface="Noto Sans"/>
                <a:ea typeface="Noto Sans CJK JP"/>
                <a:cs typeface="Noto Sans"/>
              </a:rPr>
              <a:t>4. 利用の変遷と実行方法</a:t>
            </a:r>
          </a:p>
        </p:txBody>
      </p:sp>
      <p:graphicFrame>
        <p:nvGraphicFramePr>
          <p:cNvPr id="4" name="Table 3"/>
          <p:cNvGraphicFramePr>
            <a:graphicFrameLocks noGrp="1"/>
          </p:cNvGraphicFramePr>
          <p:nvPr/>
        </p:nvGraphicFramePr>
        <p:xfrm>
          <a:off x="548640" y="1508760"/>
          <a:ext cx="8046720" cy="2798064"/>
        </p:xfrm>
        <a:graphic>
          <a:graphicData uri="http://schemas.openxmlformats.org/drawingml/2006/table">
            <a:tbl>
              <a:tblPr firstRow="0" bandRow="0"/>
              <a:tblGrid>
                <a:gridCol w="3200400"/>
                <a:gridCol w="4846320"/>
              </a:tblGrid>
              <a:tr h="457200">
                <a:tc>
                  <a:txBody>
                    <a:bodyPr wrap="square">
                      <a:noAutofit/>
                    </a:bodyPr>
                    <a:lstStyle/>
                    <a:p>
                      <a:pPr algn="l">
                        <a:lnSpc>
                          <a:spcPts val="2185"/>
                        </a:lnSpc>
                        <a:buNone/>
                        <a:defRPr sz="1900" b="0">
                          <a:solidFill>
                            <a:srgbClr val="303437"/>
                          </a:solidFill>
                          <a:latin typeface="Noto Sans"/>
                        </a:defRPr>
                      </a:pPr>
                      <a:r>
                        <a:rPr sz="1900" b="0" lang="ja-JP" altLang="en-US">
                          <a:solidFill>
                            <a:srgbClr val="303437"/>
                          </a:solidFill>
                          <a:latin typeface="Noto Sans"/>
                          <a:ea typeface="Noto Sans CJK JP"/>
                          <a:cs typeface="Noto Sans"/>
                        </a:rPr>
                        <a:t>時期・資料</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c>
                  <a:txBody>
                    <a:bodyPr wrap="square">
                      <a:noAutofit/>
                    </a:bodyPr>
                    <a:lstStyle/>
                    <a:p>
                      <a:pPr algn="l">
                        <a:lnSpc>
                          <a:spcPts val="2185"/>
                        </a:lnSpc>
                        <a:buNone/>
                        <a:defRPr sz="1900" b="0">
                          <a:solidFill>
                            <a:srgbClr val="303437"/>
                          </a:solidFill>
                          <a:latin typeface="Noto Sans"/>
                        </a:defRPr>
                      </a:pPr>
                      <a:r>
                        <a:rPr sz="1900" b="0" lang="ja-JP" altLang="en-US">
                          <a:solidFill>
                            <a:srgbClr val="303437"/>
                          </a:solidFill>
                          <a:latin typeface="Noto Sans"/>
                          <a:ea typeface="Noto Sans CJK JP"/>
                          <a:cs typeface="Noto Sans"/>
                        </a:rPr>
                        <a:t>利用と更新</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r>
              <a:tr h="585216">
                <a:tc>
                  <a:txBody>
                    <a:bodyPr wrap="square">
                      <a:noAutofit/>
                    </a:bodyPr>
                    <a:lstStyle/>
                    <a:p>
                      <a:pPr algn="l">
                        <a:lnSpc>
                          <a:spcPts val="2185"/>
                        </a:lnSpc>
                        <a:buNone/>
                        <a:defRPr sz="1900" b="0">
                          <a:solidFill>
                            <a:srgbClr val="303437"/>
                          </a:solidFill>
                          <a:latin typeface="Noto Sans"/>
                        </a:defRPr>
                      </a:pPr>
                      <a:r>
                        <a:rPr sz="1900" b="0" lang="ja-JP" altLang="en-US">
                          <a:solidFill>
                            <a:srgbClr val="303437"/>
                          </a:solidFill>
                          <a:latin typeface="Noto Sans"/>
                          <a:ea typeface="Noto Sans CJK JP"/>
                          <a:cs typeface="Noto Sans"/>
                        </a:rPr>
                        <a:t>2025年の公開</a:t>
                      </a:r>
                    </a:p>
                  </a:txBody>
                  <a:tcPr marL="63500" marR="63500" marT="38100" marB="38100" anchor="ctr">
                    <a:lnL w="7620">
                      <a:noFill/>
                    </a:lnL>
                    <a:lnR w="7620">
                      <a:noFill/>
                    </a:lnR>
                    <a:lnT w="7620">
                      <a:solidFill>
                        <a:srgbClr val="626669"/>
                      </a:solidFill>
                      <a:prstDash val="solid"/>
                    </a:lnT>
                    <a:lnB w="7620">
                      <a:noFill/>
                    </a:lnB>
                    <a:solidFill>
                      <a:srgbClr val="FFFEF8"/>
                    </a:solidFill>
                  </a:tcPr>
                </a:tc>
                <a:tc>
                  <a:txBody>
                    <a:bodyPr wrap="square">
                      <a:noAutofit/>
                    </a:bodyPr>
                    <a:lstStyle/>
                    <a:p>
                      <a:pPr algn="l">
                        <a:lnSpc>
                          <a:spcPts val="2185"/>
                        </a:lnSpc>
                        <a:buNone/>
                        <a:defRPr sz="1900" b="0">
                          <a:solidFill>
                            <a:srgbClr val="303437"/>
                          </a:solidFill>
                          <a:latin typeface="Noto Sans"/>
                        </a:defRPr>
                      </a:pPr>
                      <a:r>
                        <a:rPr sz="1900" b="0" lang="ja-JP" altLang="en-US">
                          <a:solidFill>
                            <a:srgbClr val="303437"/>
                          </a:solidFill>
                          <a:latin typeface="Noto Sans"/>
                          <a:ea typeface="Noto Sans CJK JP"/>
                          <a:cs typeface="Noto Sans"/>
                        </a:rPr>
                        <a:t>Terminal-Benchの端末操作課題を公開</a:t>
                      </a:r>
                    </a:p>
                  </a:txBody>
                  <a:tcPr marL="63500" marR="63500" marT="38100" marB="38100" anchor="ctr">
                    <a:lnL w="7620">
                      <a:noFill/>
                    </a:lnL>
                    <a:lnR w="7620">
                      <a:noFill/>
                    </a:lnR>
                    <a:lnT w="7620">
                      <a:solidFill>
                        <a:srgbClr val="626669"/>
                      </a:solidFill>
                      <a:prstDash val="solid"/>
                    </a:lnT>
                    <a:lnB w="7620">
                      <a:noFill/>
                    </a:lnB>
                    <a:solidFill>
                      <a:srgbClr val="FFFEF8"/>
                    </a:solidFill>
                  </a:tcPr>
                </a:tc>
              </a:tr>
              <a:tr h="585216">
                <a:tc>
                  <a:txBody>
                    <a:bodyPr wrap="square">
                      <a:noAutofit/>
                    </a:bodyPr>
                    <a:lstStyle/>
                    <a:p>
                      <a:pPr algn="l">
                        <a:lnSpc>
                          <a:spcPts val="2185"/>
                        </a:lnSpc>
                        <a:buNone/>
                        <a:defRPr sz="1900" b="0">
                          <a:solidFill>
                            <a:srgbClr val="303437"/>
                          </a:solidFill>
                          <a:latin typeface="Noto Sans"/>
                        </a:defRPr>
                      </a:pPr>
                      <a:r>
                        <a:rPr sz="1900" b="0" lang="ja-JP" altLang="en-US">
                          <a:solidFill>
                            <a:srgbClr val="303437"/>
                          </a:solidFill>
                          <a:latin typeface="Noto Sans"/>
                          <a:ea typeface="Noto Sans CJK JP"/>
                          <a:cs typeface="Noto Sans"/>
                        </a:rPr>
                        <a:t>Merrillら（2026年1月）</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l">
                        <a:lnSpc>
                          <a:spcPts val="2185"/>
                        </a:lnSpc>
                        <a:buNone/>
                        <a:defRPr sz="1900" b="0">
                          <a:solidFill>
                            <a:srgbClr val="303437"/>
                          </a:solidFill>
                          <a:latin typeface="Noto Sans"/>
                        </a:defRPr>
                      </a:pPr>
                      <a:r>
                        <a:rPr sz="1900" b="0" lang="ja-JP" altLang="en-US">
                          <a:solidFill>
                            <a:srgbClr val="303437"/>
                          </a:solidFill>
                          <a:latin typeface="Noto Sans"/>
                          <a:ea typeface="Noto Sans CJK JP"/>
                          <a:cs typeface="Noto Sans"/>
                        </a:rPr>
                        <a:t>89課題と複数エージェントの評価を報告</a:t>
                      </a:r>
                    </a:p>
                  </a:txBody>
                  <a:tcPr marL="63500" marR="63500" marT="38100" marB="38100" anchor="ctr">
                    <a:lnL w="7620">
                      <a:noFill/>
                    </a:lnL>
                    <a:lnR w="7620">
                      <a:noFill/>
                    </a:lnR>
                    <a:lnT w="7620">
                      <a:noFill/>
                    </a:lnT>
                    <a:lnB w="7620">
                      <a:noFill/>
                    </a:lnB>
                    <a:solidFill>
                      <a:srgbClr val="FFFEF8"/>
                    </a:solidFill>
                  </a:tcPr>
                </a:tc>
              </a:tr>
              <a:tr h="585216">
                <a:tc>
                  <a:txBody>
                    <a:bodyPr wrap="square">
                      <a:noAutofit/>
                    </a:bodyPr>
                    <a:lstStyle/>
                    <a:p>
                      <a:pPr algn="l">
                        <a:lnSpc>
                          <a:spcPts val="2185"/>
                        </a:lnSpc>
                        <a:buNone/>
                        <a:defRPr sz="1900" b="0">
                          <a:solidFill>
                            <a:srgbClr val="303437"/>
                          </a:solidFill>
                          <a:latin typeface="Noto Sans"/>
                        </a:defRPr>
                      </a:pPr>
                      <a:r>
                        <a:rPr sz="1900" b="0" lang="ja-JP" altLang="en-US">
                          <a:solidFill>
                            <a:srgbClr val="303437"/>
                          </a:solidFill>
                          <a:latin typeface="Noto Sans"/>
                          <a:ea typeface="Noto Sans CJK JP"/>
                          <a:cs typeface="Noto Sans"/>
                        </a:rPr>
                        <a:t>2026年の公式実装</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l">
                        <a:lnSpc>
                          <a:spcPts val="2185"/>
                        </a:lnSpc>
                        <a:buNone/>
                        <a:defRPr sz="1900" b="0">
                          <a:solidFill>
                            <a:srgbClr val="303437"/>
                          </a:solidFill>
                          <a:latin typeface="Noto Sans"/>
                        </a:defRPr>
                      </a:pPr>
                      <a:r>
                        <a:rPr sz="1900" b="0" lang="ja-JP" altLang="en-US">
                          <a:solidFill>
                            <a:srgbClr val="303437"/>
                          </a:solidFill>
                          <a:latin typeface="Noto Sans"/>
                          <a:ea typeface="Noto Sans CJK JP"/>
                          <a:cs typeface="Noto Sans"/>
                        </a:rPr>
                        <a:t>HarborにOpus 5.5＋2.0の実行例</a:t>
                      </a:r>
                    </a:p>
                  </a:txBody>
                  <a:tcPr marL="63500" marR="63500" marT="38100" marB="38100" anchor="ctr">
                    <a:lnL w="7620">
                      <a:noFill/>
                    </a:lnL>
                    <a:lnR w="7620">
                      <a:noFill/>
                    </a:lnR>
                    <a:lnT w="7620">
                      <a:noFill/>
                    </a:lnT>
                    <a:lnB w="7620">
                      <a:noFill/>
                    </a:lnB>
                    <a:solidFill>
                      <a:srgbClr val="FFFEF8"/>
                    </a:solidFill>
                  </a:tcPr>
                </a:tc>
              </a:tr>
              <a:tr h="585216">
                <a:tc>
                  <a:txBody>
                    <a:bodyPr wrap="square">
                      <a:noAutofit/>
                    </a:bodyPr>
                    <a:lstStyle/>
                    <a:p>
                      <a:pPr algn="l">
                        <a:lnSpc>
                          <a:spcPts val="2185"/>
                        </a:lnSpc>
                        <a:buNone/>
                        <a:defRPr sz="1900" b="0">
                          <a:solidFill>
                            <a:srgbClr val="303437"/>
                          </a:solidFill>
                          <a:latin typeface="Noto Sans"/>
                        </a:defRPr>
                      </a:pPr>
                      <a:r>
                        <a:rPr sz="1900" b="0" lang="ja-JP" altLang="en-US">
                          <a:solidFill>
                            <a:srgbClr val="303437"/>
                          </a:solidFill>
                          <a:latin typeface="Noto Sans"/>
                          <a:ea typeface="Noto Sans CJK JP"/>
                          <a:cs typeface="Noto Sans"/>
                        </a:rPr>
                        <a:t>2026年のモデル公表表</a:t>
                      </a:r>
                    </a:p>
                  </a:txBody>
                  <a:tcPr marL="63500" marR="63500" marT="38100" marB="38100" anchor="ctr">
                    <a:lnL w="7620">
                      <a:noFill/>
                    </a:lnL>
                    <a:lnR w="7620">
                      <a:noFill/>
                    </a:lnR>
                    <a:lnT w="7620">
                      <a:noFill/>
                    </a:lnT>
                    <a:lnB w="15240">
                      <a:solidFill>
                        <a:srgbClr val="626669"/>
                      </a:solidFill>
                      <a:prstDash val="solid"/>
                    </a:lnB>
                    <a:solidFill>
                      <a:srgbClr val="FFFEF8"/>
                    </a:solidFill>
                  </a:tcPr>
                </a:tc>
                <a:tc>
                  <a:txBody>
                    <a:bodyPr wrap="square">
                      <a:noAutofit/>
                    </a:bodyPr>
                    <a:lstStyle/>
                    <a:p>
                      <a:pPr algn="l">
                        <a:lnSpc>
                          <a:spcPts val="2185"/>
                        </a:lnSpc>
                        <a:buNone/>
                        <a:defRPr sz="1900" b="0">
                          <a:solidFill>
                            <a:srgbClr val="303437"/>
                          </a:solidFill>
                          <a:latin typeface="Noto Sans"/>
                        </a:defRPr>
                      </a:pPr>
                      <a:r>
                        <a:rPr sz="1900" b="0" lang="ja-JP" altLang="en-US">
                          <a:solidFill>
                            <a:srgbClr val="303437"/>
                          </a:solidFill>
                          <a:latin typeface="Noto Sans"/>
                          <a:ea typeface="Noto Sans CJK JP"/>
                          <a:cs typeface="Noto Sans"/>
                        </a:rPr>
                        <a:t>GPT-6 Astra・Opus 5.5の4.0評価</a:t>
                      </a:r>
                    </a:p>
                  </a:txBody>
                  <a:tcPr marL="63500" marR="63500" marT="38100" marB="38100" anchor="ctr">
                    <a:lnL w="7620">
                      <a:noFill/>
                    </a:lnL>
                    <a:lnR w="7620">
                      <a:noFill/>
                    </a:lnR>
                    <a:lnT w="7620">
                      <a:noFill/>
                    </a:lnT>
                    <a:lnB w="15240">
                      <a:solidFill>
                        <a:srgbClr val="626669"/>
                      </a:solidFill>
                      <a:prstDash val="solid"/>
                    </a:lnB>
                    <a:solidFill>
                      <a:srgbClr val="FFFEF8"/>
                    </a:solidFill>
                  </a:tcPr>
                </a:tc>
              </a:tr>
            </a:tbl>
          </a:graphicData>
        </a:graphic>
      </p:graphicFrame>
      <p:sp>
        <p:nvSpPr>
          <p:cNvPr id="5" name="TextBox 4"/>
          <p:cNvSpPr txBox="1"/>
          <p:nvPr/>
        </p:nvSpPr>
        <p:spPr>
          <a:xfrm>
            <a:off x="502920" y="4690872"/>
            <a:ext cx="8183879" cy="393192"/>
          </a:xfrm>
          <a:prstGeom prst="rect">
            <a:avLst/>
          </a:prstGeom>
          <a:noFill/>
        </p:spPr>
        <p:txBody>
          <a:bodyPr wrap="square" lIns="0" rIns="0" tIns="0" bIns="0">
            <a:noAutofit/>
          </a:bodyPr>
          <a:lstStyle/>
          <a:p>
            <a:pPr algn="l">
              <a:lnSpc>
                <a:spcPct val="112000"/>
              </a:lnSpc>
              <a:spcBef>
                <a:spcPts val="0"/>
              </a:spcBef>
              <a:spcAft>
                <a:spcPts val="0"/>
              </a:spcAft>
              <a:buNone/>
              <a:defRPr sz="810" b="0">
                <a:solidFill>
                  <a:srgbClr val="303437"/>
                </a:solidFill>
                <a:latin typeface="Noto Sans"/>
              </a:defRPr>
            </a:pPr>
            <a:r>
              <a:rPr sz="810" b="0" lang="ja-JP" altLang="en-US">
                <a:solidFill>
                  <a:srgbClr val="626669"/>
                </a:solidFill>
                <a:latin typeface="Noto Sans"/>
                <a:ea typeface="Noto Sans CJK JP"/>
                <a:cs typeface="Noto Sans"/>
              </a:rPr>
              <a:t/>
            </a:r>
            <a:r>
              <a:rPr sz="810" b="0" lang="ja-JP" altLang="en-US">
                <a:solidFill>
                  <a:srgbClr val="626669"/>
                </a:solidFill>
                <a:latin typeface="Noto Sans"/>
                <a:ea typeface="Noto Sans CJK JP"/>
                <a:cs typeface="Noto Sans"/>
              </a:rPr>
              <a:t>Harbor contributors (2026). Harbor. 公式README。2026-10-16参照。</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https://github.com/laude-institute/harbor</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786384"/>
            <a:ext cx="8046720" cy="502920"/>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課題フォルダには実行と採点の材料が入る</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FFF"/>
                </a:solidFill>
                <a:latin typeface="Noto Sans"/>
                <a:ea typeface="Noto Sans CJK JP"/>
                <a:cs typeface="Noto Sans"/>
              </a:rPr>
              <a:t>4. 利用の変遷と実行方法</a:t>
            </a:r>
          </a:p>
        </p:txBody>
      </p:sp>
      <p:graphicFrame>
        <p:nvGraphicFramePr>
          <p:cNvPr id="4" name="Table 3"/>
          <p:cNvGraphicFramePr>
            <a:graphicFrameLocks noGrp="1"/>
          </p:cNvGraphicFramePr>
          <p:nvPr/>
        </p:nvGraphicFramePr>
        <p:xfrm>
          <a:off x="548640" y="1508760"/>
          <a:ext cx="8046720" cy="2743200"/>
        </p:xfrm>
        <a:graphic>
          <a:graphicData uri="http://schemas.openxmlformats.org/drawingml/2006/table">
            <a:tbl>
              <a:tblPr firstRow="0" bandRow="0"/>
              <a:tblGrid>
                <a:gridCol w="2926080"/>
                <a:gridCol w="5120640"/>
              </a:tblGrid>
              <a:tr h="457200">
                <a:tc>
                  <a:txBody>
                    <a:bodyPr wrap="square">
                      <a:noAutofit/>
                    </a:bodyPr>
                    <a:lstStyle/>
                    <a:p>
                      <a:pPr algn="l">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ファイル・フォルダ</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c>
                  <a:txBody>
                    <a:bodyPr wrap="square">
                      <a:noAutofit/>
                    </a:bodyPr>
                    <a:lstStyle/>
                    <a:p>
                      <a:pPr algn="l">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内容</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r>
              <a:tr h="457200">
                <a:tc>
                  <a:txBody>
                    <a:bodyPr wrap="square">
                      <a:noAutofit/>
                    </a:bodyPr>
                    <a:lstStyle/>
                    <a:p>
                      <a:pPr algn="l">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instruction.md</a:t>
                      </a:r>
                    </a:p>
                  </a:txBody>
                  <a:tcPr marL="63500" marR="63500" marT="38100" marB="38100" anchor="ctr">
                    <a:lnL w="7620">
                      <a:noFill/>
                    </a:lnL>
                    <a:lnR w="7620">
                      <a:noFill/>
                    </a:lnR>
                    <a:lnT w="7620">
                      <a:solidFill>
                        <a:srgbClr val="626669"/>
                      </a:solidFill>
                      <a:prstDash val="solid"/>
                    </a:lnT>
                    <a:lnB w="7620">
                      <a:noFill/>
                    </a:lnB>
                    <a:solidFill>
                      <a:srgbClr val="FFFEF8"/>
                    </a:solidFill>
                  </a:tcPr>
                </a:tc>
                <a:tc>
                  <a:txBody>
                    <a:bodyPr wrap="square">
                      <a:noAutofit/>
                    </a:bodyPr>
                    <a:lstStyle/>
                    <a:p>
                      <a:pPr algn="l">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エージェントに与える作業指示</a:t>
                      </a:r>
                    </a:p>
                  </a:txBody>
                  <a:tcPr marL="63500" marR="63500" marT="38100" marB="38100" anchor="ctr">
                    <a:lnL w="7620">
                      <a:noFill/>
                    </a:lnL>
                    <a:lnR w="7620">
                      <a:noFill/>
                    </a:lnR>
                    <a:lnT w="7620">
                      <a:solidFill>
                        <a:srgbClr val="626669"/>
                      </a:solidFill>
                      <a:prstDash val="solid"/>
                    </a:lnT>
                    <a:lnB w="7620">
                      <a:noFill/>
                    </a:lnB>
                    <a:solidFill>
                      <a:srgbClr val="FFFEF8"/>
                    </a:solidFill>
                  </a:tcPr>
                </a:tc>
              </a:tr>
              <a:tr h="457200">
                <a:tc>
                  <a:txBody>
                    <a:bodyPr wrap="square">
                      <a:noAutofit/>
                    </a:bodyPr>
                    <a:lstStyle/>
                    <a:p>
                      <a:pPr algn="l">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task.toml</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l">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難度・分野・時間制限・環境設定</a:t>
                      </a:r>
                    </a:p>
                  </a:txBody>
                  <a:tcPr marL="63500" marR="63500" marT="38100" marB="38100" anchor="ctr">
                    <a:lnL w="7620">
                      <a:noFill/>
                    </a:lnL>
                    <a:lnR w="7620">
                      <a:noFill/>
                    </a:lnR>
                    <a:lnT w="7620">
                      <a:noFill/>
                    </a:lnT>
                    <a:lnB w="7620">
                      <a:noFill/>
                    </a:lnB>
                    <a:solidFill>
                      <a:srgbClr val="FFFEF8"/>
                    </a:solidFill>
                  </a:tcPr>
                </a:tc>
              </a:tr>
              <a:tr h="457200">
                <a:tc>
                  <a:txBody>
                    <a:bodyPr wrap="square">
                      <a:noAutofit/>
                    </a:bodyPr>
                    <a:lstStyle/>
                    <a:p>
                      <a:pPr algn="l">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environment/</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l">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Dockerfileと初期ファイル</a:t>
                      </a:r>
                    </a:p>
                  </a:txBody>
                  <a:tcPr marL="63500" marR="63500" marT="38100" marB="38100" anchor="ctr">
                    <a:lnL w="7620">
                      <a:noFill/>
                    </a:lnL>
                    <a:lnR w="7620">
                      <a:noFill/>
                    </a:lnR>
                    <a:lnT w="7620">
                      <a:noFill/>
                    </a:lnT>
                    <a:lnB w="7620">
                      <a:noFill/>
                    </a:lnB>
                    <a:solidFill>
                      <a:srgbClr val="FFFEF8"/>
                    </a:solidFill>
                  </a:tcPr>
                </a:tc>
              </a:tr>
              <a:tr h="457200">
                <a:tc>
                  <a:txBody>
                    <a:bodyPr wrap="square">
                      <a:noAutofit/>
                    </a:bodyPr>
                    <a:lstStyle/>
                    <a:p>
                      <a:pPr algn="l">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tests/</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l">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完成状態を検査するコード</a:t>
                      </a:r>
                    </a:p>
                  </a:txBody>
                  <a:tcPr marL="63500" marR="63500" marT="38100" marB="38100" anchor="ctr">
                    <a:lnL w="7620">
                      <a:noFill/>
                    </a:lnL>
                    <a:lnR w="7620">
                      <a:noFill/>
                    </a:lnR>
                    <a:lnT w="7620">
                      <a:noFill/>
                    </a:lnT>
                    <a:lnB w="7620">
                      <a:noFill/>
                    </a:lnB>
                    <a:solidFill>
                      <a:srgbClr val="FFFEF8"/>
                    </a:solidFill>
                  </a:tcPr>
                </a:tc>
              </a:tr>
              <a:tr h="457200">
                <a:tc>
                  <a:txBody>
                    <a:bodyPr wrap="square">
                      <a:noAutofit/>
                    </a:bodyPr>
                    <a:lstStyle/>
                    <a:p>
                      <a:pPr algn="l">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solution/</a:t>
                      </a:r>
                    </a:p>
                  </a:txBody>
                  <a:tcPr marL="63500" marR="63500" marT="38100" marB="38100" anchor="ctr">
                    <a:lnL w="7620">
                      <a:noFill/>
                    </a:lnL>
                    <a:lnR w="7620">
                      <a:noFill/>
                    </a:lnR>
                    <a:lnT w="7620">
                      <a:noFill/>
                    </a:lnT>
                    <a:lnB w="15240">
                      <a:solidFill>
                        <a:srgbClr val="626669"/>
                      </a:solidFill>
                      <a:prstDash val="solid"/>
                    </a:lnB>
                    <a:solidFill>
                      <a:srgbClr val="FFFEF8"/>
                    </a:solidFill>
                  </a:tcPr>
                </a:tc>
                <a:tc>
                  <a:txBody>
                    <a:bodyPr wrap="square">
                      <a:noAutofit/>
                    </a:bodyPr>
                    <a:lstStyle/>
                    <a:p>
                      <a:pPr algn="l">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人が書いた参照解法</a:t>
                      </a:r>
                    </a:p>
                  </a:txBody>
                  <a:tcPr marL="63500" marR="63500" marT="38100" marB="38100" anchor="ctr">
                    <a:lnL w="7620">
                      <a:noFill/>
                    </a:lnL>
                    <a:lnR w="7620">
                      <a:noFill/>
                    </a:lnR>
                    <a:lnT w="7620">
                      <a:noFill/>
                    </a:lnT>
                    <a:lnB w="15240">
                      <a:solidFill>
                        <a:srgbClr val="626669"/>
                      </a:solidFill>
                      <a:prstDash val="solid"/>
                    </a:lnB>
                    <a:solidFill>
                      <a:srgbClr val="FFFEF8"/>
                    </a:solidFill>
                  </a:tcPr>
                </a:tc>
              </a:tr>
            </a:tbl>
          </a:graphicData>
        </a:graphic>
      </p:graphicFrame>
      <p:sp>
        <p:nvSpPr>
          <p:cNvPr id="5" name="TextBox 4"/>
          <p:cNvSpPr txBox="1"/>
          <p:nvPr/>
        </p:nvSpPr>
        <p:spPr>
          <a:xfrm>
            <a:off x="502920" y="4690872"/>
            <a:ext cx="8183879" cy="393192"/>
          </a:xfrm>
          <a:prstGeom prst="rect">
            <a:avLst/>
          </a:prstGeom>
          <a:noFill/>
        </p:spPr>
        <p:txBody>
          <a:bodyPr wrap="square" lIns="0" rIns="0" tIns="0" bIns="0">
            <a:noAutofit/>
          </a:bodyPr>
          <a:lstStyle/>
          <a:p>
            <a:pPr algn="l">
              <a:lnSpc>
                <a:spcPct val="112000"/>
              </a:lnSpc>
              <a:spcBef>
                <a:spcPts val="0"/>
              </a:spcBef>
              <a:spcAft>
                <a:spcPts val="0"/>
              </a:spcAft>
              <a:buNone/>
              <a:defRPr sz="810" b="0">
                <a:solidFill>
                  <a:srgbClr val="303437"/>
                </a:solidFill>
                <a:latin typeface="Noto Sans"/>
              </a:defRPr>
            </a:pPr>
            <a:r>
              <a:rPr sz="810" b="0" lang="ja-JP" altLang="en-US">
                <a:solidFill>
                  <a:srgbClr val="626669"/>
                </a:solidFill>
                <a:latin typeface="Noto Sans"/>
                <a:ea typeface="Noto Sans CJK JP"/>
                <a:cs typeface="Noto Sans"/>
              </a:rPr>
              <a:t/>
            </a:r>
            <a:r>
              <a:rPr sz="810" b="0" lang="ja-JP" altLang="en-US">
                <a:solidFill>
                  <a:srgbClr val="626669"/>
                </a:solidFill>
                <a:latin typeface="Noto Sans"/>
                <a:ea typeface="Noto Sans CJK JP"/>
                <a:cs typeface="Noto Sans"/>
              </a:rPr>
              <a:t>The Terminal-Bench Team (2025). Terminal-Bench 2.0. 公開89課題、改訂69671fb。2026-10-16集計。</a:t>
            </a:r>
          </a:p>
          <a:p>
            <a:pPr>
              <a:lnSpc>
                <a:spcPct val="112000"/>
              </a:lnSpc>
              <a:buNone/>
              <a:defRPr sz="810" b="0">
                <a:solidFill>
                  <a:srgbClr val="303437"/>
                </a:solidFill>
                <a:latin typeface="Noto Sans"/>
              </a:defRPr>
            </a:pPr>
            <a:r>
              <a:rPr sz="810" b="0" lang="ja-JP" altLang="en-US">
                <a:solidFill>
                  <a:srgbClr val="626669"/>
                </a:solidFill>
                <a:latin typeface="Noto Sans"/>
                <a:ea typeface="Noto Sans CJK JP"/>
                <a:cs typeface="Noto Sans"/>
                <a:hlinkClick r:id="rId2"/>
              </a:rPr>
              <a:t>https://github.com/laude-institute/terminal-bench-2/tree/69671fbaac6d67a7ef0dfec016cc38a64ef7a77c</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786384"/>
            <a:ext cx="8046720" cy="502920"/>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Harborで公開版2.0を取得して実行する</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FFF"/>
                </a:solidFill>
                <a:latin typeface="Noto Sans"/>
                <a:ea typeface="Noto Sans CJK JP"/>
                <a:cs typeface="Noto Sans"/>
              </a:rPr>
              <a:t>4. 利用の変遷と実行方法</a:t>
            </a:r>
          </a:p>
        </p:txBody>
      </p:sp>
      <p:sp>
        <p:nvSpPr>
          <p:cNvPr id="4" name="Rectangle 3"/>
          <p:cNvSpPr/>
          <p:nvPr/>
        </p:nvSpPr>
        <p:spPr>
          <a:xfrm>
            <a:off x="548640" y="1508760"/>
            <a:ext cx="8046720" cy="1557020"/>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ctr" wrap="none" lIns="152400" rIns="152400" tIns="127000" bIns="127000"/>
          <a:lstStyle/>
          <a:p>
            <a:pPr algn="l">
              <a:lnSpc>
                <a:spcPct val="114000"/>
              </a:lnSpc>
              <a:spcBef>
                <a:spcPts val="0"/>
              </a:spcBef>
              <a:spcAft>
                <a:spcPts val="0"/>
              </a:spcAft>
              <a:buNone/>
              <a:defRPr sz="1800" b="0">
                <a:solidFill>
                  <a:srgbClr val="303437"/>
                </a:solidFill>
                <a:latin typeface="Noto Sans"/>
              </a:defRPr>
            </a:pPr>
            <a:r>
              <a:rPr sz="1800" b="0" lang="ja-JP" altLang="en-US">
                <a:solidFill>
                  <a:srgbClr val="303437"/>
                </a:solidFill>
                <a:latin typeface="Liberation Mono"/>
                <a:ea typeface="Noto Sans CJK JP"/>
                <a:cs typeface="Liberation Mono"/>
              </a:rPr>
              <a:t>uv tool install harbor</a:t>
            </a:r>
          </a:p>
          <a:p>
            <a:pPr algn="l">
              <a:lnSpc>
                <a:spcPct val="114000"/>
              </a:lnSpc>
              <a:spcBef>
                <a:spcPts val="0"/>
              </a:spcBef>
              <a:spcAft>
                <a:spcPts val="0"/>
              </a:spcAft>
              <a:buNone/>
              <a:defRPr sz="1800" b="0">
                <a:solidFill>
                  <a:srgbClr val="303437"/>
                </a:solidFill>
                <a:latin typeface="Noto Sans"/>
              </a:defRPr>
            </a:pPr>
            <a:r>
              <a:rPr sz="1800" b="0" lang="ja-JP" altLang="en-US">
                <a:solidFill>
                  <a:srgbClr val="303437"/>
                </a:solidFill>
                <a:latin typeface="Liberation Mono"/>
                <a:ea typeface="Noto Sans CJK JP"/>
                <a:cs typeface="Liberation Mono"/>
              </a:rPr>
              <a:t/>
            </a:r>
          </a:p>
          <a:p>
            <a:pPr algn="l">
              <a:lnSpc>
                <a:spcPct val="114000"/>
              </a:lnSpc>
              <a:spcBef>
                <a:spcPts val="0"/>
              </a:spcBef>
              <a:spcAft>
                <a:spcPts val="0"/>
              </a:spcAft>
              <a:buNone/>
              <a:defRPr sz="1800" b="0">
                <a:solidFill>
                  <a:srgbClr val="303437"/>
                </a:solidFill>
                <a:latin typeface="Noto Sans"/>
              </a:defRPr>
            </a:pPr>
            <a:r>
              <a:rPr sz="1800" b="0" lang="ja-JP" altLang="en-US">
                <a:solidFill>
                  <a:srgbClr val="303437"/>
                </a:solidFill>
                <a:latin typeface="Liberation Mono"/>
                <a:ea typeface="Noto Sans CJK JP"/>
                <a:cs typeface="Liberation Mono"/>
              </a:rPr>
              <a:t>harbor run --dataset terminal-bench@2.0 \</a:t>
            </a:r>
          </a:p>
          <a:p>
            <a:pPr algn="l">
              <a:lnSpc>
                <a:spcPct val="114000"/>
              </a:lnSpc>
              <a:spcBef>
                <a:spcPts val="0"/>
              </a:spcBef>
              <a:spcAft>
                <a:spcPts val="0"/>
              </a:spcAft>
              <a:buNone/>
              <a:defRPr sz="1800" b="0">
                <a:solidFill>
                  <a:srgbClr val="303437"/>
                </a:solidFill>
                <a:latin typeface="Noto Sans"/>
              </a:defRPr>
            </a:pPr>
            <a:r>
              <a:rPr sz="1800" b="0" lang="ja-JP" altLang="en-US">
                <a:solidFill>
                  <a:srgbClr val="303437"/>
                </a:solidFill>
                <a:latin typeface="Liberation Mono"/>
                <a:ea typeface="Noto Sans CJK JP"/>
                <a:cs typeface="Liberation Mono"/>
              </a:rPr>
              <a:t>  --agent oracle \</a:t>
            </a:r>
          </a:p>
          <a:p>
            <a:pPr algn="l">
              <a:lnSpc>
                <a:spcPct val="114000"/>
              </a:lnSpc>
              <a:spcBef>
                <a:spcPts val="0"/>
              </a:spcBef>
              <a:spcAft>
                <a:spcPts val="0"/>
              </a:spcAft>
              <a:buNone/>
              <a:defRPr sz="1800" b="0">
                <a:solidFill>
                  <a:srgbClr val="303437"/>
                </a:solidFill>
                <a:latin typeface="Noto Sans"/>
              </a:defRPr>
            </a:pPr>
            <a:r>
              <a:rPr sz="1800" b="0" lang="ja-JP" altLang="en-US">
                <a:solidFill>
                  <a:srgbClr val="303437"/>
                </a:solidFill>
                <a:latin typeface="Liberation Mono"/>
                <a:ea typeface="Noto Sans CJK JP"/>
                <a:cs typeface="Liberation Mono"/>
              </a:rPr>
              <a:t>  --n-concurrent 4</a:t>
            </a:r>
          </a:p>
        </p:txBody>
      </p:sp>
      <p:sp>
        <p:nvSpPr>
          <p:cNvPr id="5" name="TextBox 4"/>
          <p:cNvSpPr txBox="1"/>
          <p:nvPr/>
        </p:nvSpPr>
        <p:spPr>
          <a:xfrm>
            <a:off x="594360" y="3266948"/>
            <a:ext cx="7955279" cy="777240"/>
          </a:xfrm>
          <a:prstGeom prst="rect">
            <a:avLst/>
          </a:prstGeom>
          <a:noFill/>
        </p:spPr>
        <p:txBody>
          <a:bodyPr wrap="square" lIns="0" rIns="0" tIns="0" bIns="0">
            <a:noAutofit/>
          </a:bodyPr>
          <a:lstStyle/>
          <a:p>
            <a:pPr algn="l">
              <a:lnSpc>
                <a:spcPct val="117000"/>
              </a:lnSpc>
              <a:spcBef>
                <a:spcPts val="0"/>
              </a:spcBef>
              <a:spcAft>
                <a:spcPts val="0"/>
              </a:spcAft>
              <a:buNone/>
              <a:defRPr sz="1900" b="0">
                <a:solidFill>
                  <a:srgbClr val="303437"/>
                </a:solidFill>
                <a:latin typeface="Noto Sans"/>
              </a:defRPr>
            </a:pPr>
            <a:r>
              <a:rPr sz="1900" b="0" lang="ja-JP" altLang="en-US">
                <a:solidFill>
                  <a:srgbClr val="303437"/>
                </a:solidFill>
                <a:latin typeface="Noto Sans"/>
                <a:ea typeface="Noto Sans CJK JP"/>
                <a:cs typeface="Noto Sans"/>
              </a:rPr>
              <a:t>Harborは評価の実行基盤。ローカルではDockerで課題ごとの環境を作り、oracleは公開参照解法を実行する。</a:t>
            </a:r>
          </a:p>
        </p:txBody>
      </p:sp>
      <p:sp>
        <p:nvSpPr>
          <p:cNvPr id="6" name="TextBox 5"/>
          <p:cNvSpPr txBox="1"/>
          <p:nvPr/>
        </p:nvSpPr>
        <p:spPr>
          <a:xfrm>
            <a:off x="502920" y="4690872"/>
            <a:ext cx="8183879" cy="393192"/>
          </a:xfrm>
          <a:prstGeom prst="rect">
            <a:avLst/>
          </a:prstGeom>
          <a:noFill/>
        </p:spPr>
        <p:txBody>
          <a:bodyPr wrap="square" lIns="0" rIns="0" tIns="0" bIns="0">
            <a:noAutofit/>
          </a:bodyPr>
          <a:lstStyle/>
          <a:p>
            <a:pPr algn="l">
              <a:lnSpc>
                <a:spcPct val="112000"/>
              </a:lnSpc>
              <a:spcBef>
                <a:spcPts val="0"/>
              </a:spcBef>
              <a:spcAft>
                <a:spcPts val="0"/>
              </a:spcAft>
              <a:buNone/>
              <a:defRPr sz="810" b="0">
                <a:solidFill>
                  <a:srgbClr val="303437"/>
                </a:solidFill>
                <a:latin typeface="Noto Sans"/>
              </a:defRPr>
            </a:pPr>
            <a:r>
              <a:rPr sz="810" b="0" lang="ja-JP" altLang="en-US">
                <a:solidFill>
                  <a:srgbClr val="626669"/>
                </a:solidFill>
                <a:latin typeface="Noto Sans"/>
                <a:ea typeface="Noto Sans CJK JP"/>
                <a:cs typeface="Noto Sans"/>
              </a:rPr>
              <a:t/>
            </a:r>
            <a:r>
              <a:rPr sz="810" b="0" lang="ja-JP" altLang="en-US">
                <a:solidFill>
                  <a:srgbClr val="626669"/>
                </a:solidFill>
                <a:latin typeface="Noto Sans"/>
                <a:ea typeface="Noto Sans CJK JP"/>
                <a:cs typeface="Noto Sans"/>
              </a:rPr>
              <a:t>The Terminal-Bench Team (2025). Terminal-Bench 2.0. 公式GitHub。2026-10-16参照。</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https://github.com/laude-institute/terminal-bench-2</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786384"/>
            <a:ext cx="8046720" cy="502920"/>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同じ課題をClaude Codeで評価する</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FFF"/>
                </a:solidFill>
                <a:latin typeface="Noto Sans"/>
                <a:ea typeface="Noto Sans CJK JP"/>
                <a:cs typeface="Noto Sans"/>
              </a:rPr>
              <a:t>4. 利用の変遷と実行方法</a:t>
            </a:r>
          </a:p>
        </p:txBody>
      </p:sp>
      <p:sp>
        <p:nvSpPr>
          <p:cNvPr id="4" name="Rectangle 3"/>
          <p:cNvSpPr/>
          <p:nvPr/>
        </p:nvSpPr>
        <p:spPr>
          <a:xfrm>
            <a:off x="548640" y="1508760"/>
            <a:ext cx="8046720" cy="1296416"/>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ctr" wrap="none" lIns="152400" rIns="152400" tIns="127000" bIns="127000"/>
          <a:lstStyle/>
          <a:p>
            <a:pPr algn="l">
              <a:lnSpc>
                <a:spcPct val="114000"/>
              </a:lnSpc>
              <a:spcBef>
                <a:spcPts val="0"/>
              </a:spcBef>
              <a:spcAft>
                <a:spcPts val="0"/>
              </a:spcAft>
              <a:buNone/>
              <a:defRPr sz="1800" b="0">
                <a:solidFill>
                  <a:srgbClr val="303437"/>
                </a:solidFill>
                <a:latin typeface="Noto Sans"/>
              </a:defRPr>
            </a:pPr>
            <a:r>
              <a:rPr sz="1800" b="0" lang="ja-JP" altLang="en-US">
                <a:solidFill>
                  <a:srgbClr val="303437"/>
                </a:solidFill>
                <a:latin typeface="Liberation Mono"/>
                <a:ea typeface="Noto Sans CJK JP"/>
                <a:cs typeface="Liberation Mono"/>
              </a:rPr>
              <a:t>harbor run --dataset terminal-bench@2.0 \</a:t>
            </a:r>
          </a:p>
          <a:p>
            <a:pPr algn="l">
              <a:lnSpc>
                <a:spcPct val="114000"/>
              </a:lnSpc>
              <a:spcBef>
                <a:spcPts val="0"/>
              </a:spcBef>
              <a:spcAft>
                <a:spcPts val="0"/>
              </a:spcAft>
              <a:buNone/>
              <a:defRPr sz="1800" b="0">
                <a:solidFill>
                  <a:srgbClr val="303437"/>
                </a:solidFill>
                <a:latin typeface="Noto Sans"/>
              </a:defRPr>
            </a:pPr>
            <a:r>
              <a:rPr sz="1800" b="0" lang="ja-JP" altLang="en-US">
                <a:solidFill>
                  <a:srgbClr val="303437"/>
                </a:solidFill>
                <a:latin typeface="Liberation Mono"/>
                <a:ea typeface="Noto Sans CJK JP"/>
                <a:cs typeface="Liberation Mono"/>
              </a:rPr>
              <a:t>  --agent claude-code \</a:t>
            </a:r>
          </a:p>
          <a:p>
            <a:pPr algn="l">
              <a:lnSpc>
                <a:spcPct val="114000"/>
              </a:lnSpc>
              <a:spcBef>
                <a:spcPts val="0"/>
              </a:spcBef>
              <a:spcAft>
                <a:spcPts val="0"/>
              </a:spcAft>
              <a:buNone/>
              <a:defRPr sz="1800" b="0">
                <a:solidFill>
                  <a:srgbClr val="303437"/>
                </a:solidFill>
                <a:latin typeface="Noto Sans"/>
              </a:defRPr>
            </a:pPr>
            <a:r>
              <a:rPr sz="1800" b="0" lang="ja-JP" altLang="en-US">
                <a:solidFill>
                  <a:srgbClr val="303437"/>
                </a:solidFill>
                <a:latin typeface="Liberation Mono"/>
                <a:ea typeface="Noto Sans CJK JP"/>
                <a:cs typeface="Liberation Mono"/>
              </a:rPr>
              <a:t>  --model anthropic/claude-opus-5-5 \</a:t>
            </a:r>
          </a:p>
          <a:p>
            <a:pPr algn="l">
              <a:lnSpc>
                <a:spcPct val="114000"/>
              </a:lnSpc>
              <a:spcBef>
                <a:spcPts val="0"/>
              </a:spcBef>
              <a:spcAft>
                <a:spcPts val="0"/>
              </a:spcAft>
              <a:buNone/>
              <a:defRPr sz="1800" b="0">
                <a:solidFill>
                  <a:srgbClr val="303437"/>
                </a:solidFill>
                <a:latin typeface="Noto Sans"/>
              </a:defRPr>
            </a:pPr>
            <a:r>
              <a:rPr sz="1800" b="0" lang="ja-JP" altLang="en-US">
                <a:solidFill>
                  <a:srgbClr val="303437"/>
                </a:solidFill>
                <a:latin typeface="Liberation Mono"/>
                <a:ea typeface="Noto Sans CJK JP"/>
                <a:cs typeface="Liberation Mono"/>
              </a:rPr>
              <a:t>  --n-concurrent 4</a:t>
            </a:r>
          </a:p>
        </p:txBody>
      </p:sp>
      <p:sp>
        <p:nvSpPr>
          <p:cNvPr id="5" name="TextBox 4"/>
          <p:cNvSpPr txBox="1"/>
          <p:nvPr/>
        </p:nvSpPr>
        <p:spPr>
          <a:xfrm>
            <a:off x="594360" y="3006344"/>
            <a:ext cx="7955279" cy="777240"/>
          </a:xfrm>
          <a:prstGeom prst="rect">
            <a:avLst/>
          </a:prstGeom>
          <a:noFill/>
        </p:spPr>
        <p:txBody>
          <a:bodyPr wrap="square" lIns="0" rIns="0" tIns="0" bIns="0">
            <a:noAutofit/>
          </a:bodyPr>
          <a:lstStyle/>
          <a:p>
            <a:pPr algn="l">
              <a:lnSpc>
                <a:spcPct val="117000"/>
              </a:lnSpc>
              <a:spcBef>
                <a:spcPts val="0"/>
              </a:spcBef>
              <a:spcAft>
                <a:spcPts val="0"/>
              </a:spcAft>
              <a:buNone/>
              <a:defRPr sz="1900" b="0">
                <a:solidFill>
                  <a:srgbClr val="303437"/>
                </a:solidFill>
                <a:latin typeface="Noto Sans"/>
              </a:defRPr>
            </a:pPr>
            <a:r>
              <a:rPr sz="1900" b="0" lang="ja-JP" altLang="en-US">
                <a:solidFill>
                  <a:srgbClr val="303437"/>
                </a:solidFill>
                <a:latin typeface="Noto Sans"/>
                <a:ea typeface="Noto Sans CJK JP"/>
                <a:cs typeface="Noto Sans"/>
              </a:rPr>
              <a:t>Harbor公式READMEの実行例。モデルAPIの認証を設定すると、課題の取得、環境の準備、作業、採点を実行する。</a:t>
            </a:r>
          </a:p>
        </p:txBody>
      </p:sp>
      <p:sp>
        <p:nvSpPr>
          <p:cNvPr id="6" name="TextBox 5"/>
          <p:cNvSpPr txBox="1"/>
          <p:nvPr/>
        </p:nvSpPr>
        <p:spPr>
          <a:xfrm>
            <a:off x="502920" y="4690872"/>
            <a:ext cx="8183879" cy="393192"/>
          </a:xfrm>
          <a:prstGeom prst="rect">
            <a:avLst/>
          </a:prstGeom>
          <a:noFill/>
        </p:spPr>
        <p:txBody>
          <a:bodyPr wrap="square" lIns="0" rIns="0" tIns="0" bIns="0">
            <a:noAutofit/>
          </a:bodyPr>
          <a:lstStyle/>
          <a:p>
            <a:pPr algn="l">
              <a:lnSpc>
                <a:spcPct val="112000"/>
              </a:lnSpc>
              <a:spcBef>
                <a:spcPts val="0"/>
              </a:spcBef>
              <a:spcAft>
                <a:spcPts val="0"/>
              </a:spcAft>
              <a:buNone/>
              <a:defRPr sz="810" b="0">
                <a:solidFill>
                  <a:srgbClr val="303437"/>
                </a:solidFill>
                <a:latin typeface="Noto Sans"/>
              </a:defRPr>
            </a:pPr>
            <a:r>
              <a:rPr sz="810" b="0" lang="ja-JP" altLang="en-US">
                <a:solidFill>
                  <a:srgbClr val="626669"/>
                </a:solidFill>
                <a:latin typeface="Noto Sans"/>
                <a:ea typeface="Noto Sans CJK JP"/>
                <a:cs typeface="Noto Sans"/>
              </a:rPr>
              <a:t/>
            </a:r>
            <a:r>
              <a:rPr sz="810" b="0" lang="ja-JP" altLang="en-US">
                <a:solidFill>
                  <a:srgbClr val="626669"/>
                </a:solidFill>
                <a:latin typeface="Noto Sans"/>
                <a:ea typeface="Noto Sans CJK JP"/>
                <a:cs typeface="Noto Sans"/>
              </a:rPr>
              <a:t>Harbor contributors (2026). Harbor. 公式README。2026-10-16参照。</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https://github.com/laude-institute/harbor</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786384"/>
            <a:ext cx="8046720" cy="502920"/>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配布元・ライセンスと実行結果の保存先</a:t>
            </a:r>
          </a:p>
        </p:txBody>
      </p:sp>
      <p:sp>
        <p:nvSpPr>
          <p:cNvPr id="3" name="Text Placeholder 2"/>
          <p:cNvSpPr>
            <a:spLocks noGrp="1"/>
          </p:cNvSpPr>
          <p:nvPr>
            <p:ph type="body" idx="1"/>
          </p:nvPr>
        </p:nvSpPr>
        <p:spPr>
          <a:xfrm>
            <a:off x="594360" y="1463040"/>
            <a:ext cx="7955279" cy="3090672"/>
          </a:xfrm>
        </p:spPr>
        <p:txBody>
          <a:bodyPr wrap="square" tIns="91440" bIns="91440">
            <a:noAutofit/>
          </a:bodyPr>
          <a:lstStyle/>
          <a:p>
            <a:pPr marL="457200" indent="-355600">
              <a:lnSpc>
                <a:spcPts val="2760"/>
              </a:lnSpc>
              <a:spcAft>
                <a:spcPts val="800"/>
              </a:spcAft>
              <a:buSzPct val="57826"/>
              <a:buFont typeface="Noto Sans CJK JP"/>
              <a:buChar char="●"/>
              <a:defRPr sz="2300" b="0">
                <a:solidFill>
                  <a:srgbClr val="303437"/>
                </a:solidFill>
                <a:latin typeface="Noto Sans"/>
              </a:defRPr>
            </a:pPr>
            <a:r>
              <a:rPr sz="2300" b="0" lang="ja-JP" altLang="en-US">
                <a:solidFill>
                  <a:srgbClr val="303437"/>
                </a:solidFill>
                <a:latin typeface="Noto Sans"/>
                <a:ea typeface="Noto Sans CJK JP"/>
                <a:cs typeface="Noto Sans"/>
              </a:rPr>
              <a:t>公開課題は公式GitHubで配布され、Harborのレジストリからterminal-bench@2.0として取得できる。</a:t>
            </a:r>
          </a:p>
          <a:p>
            <a:pPr marL="457200" indent="-355600">
              <a:lnSpc>
                <a:spcPts val="2760"/>
              </a:lnSpc>
              <a:spcAft>
                <a:spcPts val="800"/>
              </a:spcAft>
              <a:buSzPct val="57826"/>
              <a:buFont typeface="Noto Sans CJK JP"/>
              <a:buChar char="●"/>
              <a:defRPr sz="2300" b="0">
                <a:solidFill>
                  <a:srgbClr val="303437"/>
                </a:solidFill>
                <a:latin typeface="Noto Sans"/>
              </a:defRPr>
            </a:pPr>
            <a:r>
              <a:rPr sz="2300" b="0" lang="ja-JP" altLang="en-US">
                <a:solidFill>
                  <a:srgbClr val="303437"/>
                </a:solidFill>
                <a:latin typeface="Noto Sans"/>
                <a:ea typeface="Noto Sans CJK JP"/>
                <a:cs typeface="Noto Sans"/>
              </a:rPr>
              <a:t>公開タスクリポジトリはApache License 2.0。課題に同梱・参照されるデータやソフトウェアの条件も各配布元で示される。</a:t>
            </a:r>
          </a:p>
          <a:p>
            <a:pPr marL="457200" indent="-355600">
              <a:lnSpc>
                <a:spcPts val="2760"/>
              </a:lnSpc>
              <a:spcAft>
                <a:spcPts val="0"/>
              </a:spcAft>
              <a:buSzPct val="57826"/>
              <a:buFont typeface="Noto Sans CJK JP"/>
              <a:buChar char="●"/>
              <a:defRPr sz="2300" b="0">
                <a:solidFill>
                  <a:srgbClr val="303437"/>
                </a:solidFill>
                <a:latin typeface="Noto Sans"/>
              </a:defRPr>
            </a:pPr>
            <a:r>
              <a:rPr sz="2300" b="0" lang="ja-JP" altLang="en-US">
                <a:solidFill>
                  <a:srgbClr val="303437"/>
                </a:solidFill>
                <a:latin typeface="Noto Sans"/>
                <a:ea typeface="Noto Sans CJK JP"/>
                <a:cs typeface="Noto Sans"/>
              </a:rPr>
              <a:t>Harborは試行ごとの採点結果、エージェントの実行履歴、実行時間などを保存する。</a:t>
            </a:r>
          </a:p>
        </p:txBody>
      </p:sp>
      <p:sp>
        <p:nvSpPr>
          <p:cNvPr id="4" name="Title 3"/>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FFF"/>
                </a:solidFill>
                <a:latin typeface="Noto Sans"/>
                <a:ea typeface="Noto Sans CJK JP"/>
                <a:cs typeface="Noto Sans"/>
              </a:rPr>
              <a:t>4. 利用の変遷と実行方法</a:t>
            </a:r>
          </a:p>
        </p:txBody>
      </p:sp>
      <p:sp>
        <p:nvSpPr>
          <p:cNvPr id="5" name="TextBox 4"/>
          <p:cNvSpPr txBox="1"/>
          <p:nvPr/>
        </p:nvSpPr>
        <p:spPr>
          <a:xfrm>
            <a:off x="502920" y="4690872"/>
            <a:ext cx="8183879" cy="393192"/>
          </a:xfrm>
          <a:prstGeom prst="rect">
            <a:avLst/>
          </a:prstGeom>
          <a:noFill/>
        </p:spPr>
        <p:txBody>
          <a:bodyPr wrap="square" lIns="0" rIns="0" tIns="0" bIns="0">
            <a:noAutofit/>
          </a:bodyPr>
          <a:lstStyle/>
          <a:p>
            <a:pPr algn="l">
              <a:lnSpc>
                <a:spcPct val="112000"/>
              </a:lnSpc>
              <a:spcBef>
                <a:spcPts val="0"/>
              </a:spcBef>
              <a:spcAft>
                <a:spcPts val="0"/>
              </a:spcAft>
              <a:buNone/>
              <a:defRPr sz="810" b="0">
                <a:solidFill>
                  <a:srgbClr val="303437"/>
                </a:solidFill>
                <a:latin typeface="Noto Sans"/>
              </a:defRPr>
            </a:pPr>
            <a:r>
              <a:rPr sz="810" b="0" lang="ja-JP" altLang="en-US">
                <a:solidFill>
                  <a:srgbClr val="626669"/>
                </a:solidFill>
                <a:latin typeface="Noto Sans"/>
                <a:ea typeface="Noto Sans CJK JP"/>
                <a:cs typeface="Noto Sans"/>
              </a:rPr>
              <a:t/>
            </a:r>
            <a:r>
              <a:rPr sz="810" b="0" lang="ja-JP" altLang="en-US">
                <a:solidFill>
                  <a:srgbClr val="626669"/>
                </a:solidFill>
                <a:latin typeface="Noto Sans"/>
                <a:ea typeface="Noto Sans CJK JP"/>
                <a:cs typeface="Noto Sans"/>
              </a:rPr>
              <a:t>Harbor contributors (2026). Harbor. 公式README。2026-10-16参照。</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https://github.com/laude-institute/harbor</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786384"/>
            <a:ext cx="8046720" cy="502920"/>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Terminal-Benchの特徴と利用</a:t>
            </a:r>
          </a:p>
        </p:txBody>
      </p:sp>
      <p:sp>
        <p:nvSpPr>
          <p:cNvPr id="3" name="Text Placeholder 2"/>
          <p:cNvSpPr>
            <a:spLocks noGrp="1"/>
          </p:cNvSpPr>
          <p:nvPr>
            <p:ph type="body" idx="1"/>
          </p:nvPr>
        </p:nvSpPr>
        <p:spPr>
          <a:xfrm>
            <a:off x="594360" y="1463040"/>
            <a:ext cx="7955279" cy="3090672"/>
          </a:xfrm>
        </p:spPr>
        <p:txBody>
          <a:bodyPr wrap="square" tIns="91440" bIns="91440">
            <a:noAutofit/>
          </a:bodyPr>
          <a:lstStyle/>
          <a:p>
            <a:pPr marL="457200" indent="-355600">
              <a:lnSpc>
                <a:spcPts val="2760"/>
              </a:lnSpc>
              <a:spcAft>
                <a:spcPts val="800"/>
              </a:spcAft>
              <a:buSzPct val="57826"/>
              <a:buFont typeface="Noto Sans CJK JP"/>
              <a:buChar char="●"/>
              <a:defRPr sz="2300" b="0">
                <a:solidFill>
                  <a:srgbClr val="303437"/>
                </a:solidFill>
                <a:latin typeface="Noto Sans"/>
              </a:defRPr>
            </a:pPr>
            <a:r>
              <a:rPr sz="2300" b="0" lang="ja-JP" altLang="en-US">
                <a:solidFill>
                  <a:srgbClr val="303437"/>
                </a:solidFill>
                <a:latin typeface="Noto Sans"/>
                <a:ea typeface="Noto Sans CJK JP"/>
                <a:cs typeface="Noto Sans"/>
              </a:rPr>
              <a:t>指示と実行環境を与え、端末を使うエージェントが成果物を作れるかをテストする。</a:t>
            </a:r>
          </a:p>
          <a:p>
            <a:pPr marL="457200" indent="-355600">
              <a:lnSpc>
                <a:spcPts val="2760"/>
              </a:lnSpc>
              <a:spcAft>
                <a:spcPts val="800"/>
              </a:spcAft>
              <a:buSzPct val="57826"/>
              <a:buFont typeface="Noto Sans CJK JP"/>
              <a:buChar char="●"/>
              <a:defRPr sz="2300" b="0">
                <a:solidFill>
                  <a:srgbClr val="303437"/>
                </a:solidFill>
                <a:latin typeface="Noto Sans"/>
              </a:defRPr>
            </a:pPr>
            <a:r>
              <a:rPr sz="2300" b="0" lang="ja-JP" altLang="en-US">
                <a:solidFill>
                  <a:srgbClr val="303437"/>
                </a:solidFill>
                <a:latin typeface="Noto Sans"/>
                <a:ea typeface="Noto Sans CJK JP"/>
                <a:cs typeface="Noto Sans"/>
              </a:rPr>
              <a:t>公開版2.0は、93人の投稿から選び、複数人で審査した89課題。分野と作業内容の広さが特徴である。</a:t>
            </a:r>
          </a:p>
          <a:p>
            <a:pPr marL="457200" indent="-355600">
              <a:lnSpc>
                <a:spcPts val="2760"/>
              </a:lnSpc>
              <a:spcAft>
                <a:spcPts val="0"/>
              </a:spcAft>
              <a:buSzPct val="57826"/>
              <a:buFont typeface="Noto Sans CJK JP"/>
              <a:buChar char="●"/>
              <a:defRPr sz="2300" b="0">
                <a:solidFill>
                  <a:srgbClr val="303437"/>
                </a:solidFill>
                <a:latin typeface="Noto Sans"/>
              </a:defRPr>
            </a:pPr>
            <a:r>
              <a:rPr sz="2300" b="0" lang="ja-JP" altLang="en-US">
                <a:solidFill>
                  <a:srgbClr val="303437"/>
                </a:solidFill>
                <a:latin typeface="Noto Sans"/>
                <a:ea typeface="Noto Sans CJK JP"/>
                <a:cs typeface="Noto Sans"/>
              </a:rPr>
              <a:t>Merrillら（2026）による複数エージェントの比較から、現在のモデル評価とHarborによる実行へ利用が続いている。</a:t>
            </a:r>
          </a:p>
        </p:txBody>
      </p:sp>
      <p:sp>
        <p:nvSpPr>
          <p:cNvPr id="4" name="Title 3"/>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FFF"/>
                </a:solidFill>
                <a:latin typeface="Noto Sans"/>
                <a:ea typeface="Noto Sans CJK JP"/>
                <a:cs typeface="Noto Sans"/>
              </a:rPr>
              <a:t>4. 利用の変遷と実行方法</a:t>
            </a:r>
          </a:p>
        </p:txBody>
      </p:sp>
      <p:sp>
        <p:nvSpPr>
          <p:cNvPr id="5" name="TextBox 4"/>
          <p:cNvSpPr txBox="1"/>
          <p:nvPr/>
        </p:nvSpPr>
        <p:spPr>
          <a:xfrm>
            <a:off x="502920" y="4690872"/>
            <a:ext cx="8183879" cy="393192"/>
          </a:xfrm>
          <a:prstGeom prst="rect">
            <a:avLst/>
          </a:prstGeom>
          <a:noFill/>
        </p:spPr>
        <p:txBody>
          <a:bodyPr wrap="square" lIns="0" rIns="0" tIns="0" bIns="0">
            <a:noAutofit/>
          </a:bodyPr>
          <a:lstStyle/>
          <a:p>
            <a:pPr algn="l">
              <a:lnSpc>
                <a:spcPct val="112000"/>
              </a:lnSpc>
              <a:spcBef>
                <a:spcPts val="0"/>
              </a:spcBef>
              <a:spcAft>
                <a:spcPts val="0"/>
              </a:spcAft>
              <a:buNone/>
              <a:defRPr sz="810" b="0">
                <a:solidFill>
                  <a:srgbClr val="303437"/>
                </a:solidFill>
                <a:latin typeface="Noto Sans"/>
              </a:defRPr>
            </a:pPr>
            <a:r>
              <a:rPr sz="810" b="0" lang="ja-JP" altLang="en-US">
                <a:solidFill>
                  <a:srgbClr val="626669"/>
                </a:solidFill>
                <a:latin typeface="Noto Sans"/>
                <a:ea typeface="Noto Sans CJK JP"/>
                <a:cs typeface="Noto Sans"/>
              </a:rPr>
              <a:t/>
            </a:r>
            <a:r>
              <a:rPr sz="810" b="0" lang="ja-JP" altLang="en-US">
                <a:solidFill>
                  <a:srgbClr val="626669"/>
                </a:solidFill>
                <a:latin typeface="Noto Sans"/>
                <a:ea typeface="Noto Sans CJK JP"/>
                <a:cs typeface="Noto Sans"/>
              </a:rPr>
              <a:t>Merrill et al. (2026). Terminal-Bench: Benchmarking Agents on Hard, Realistic Tasks in Command Line Interfaces. arXiv:2601.11868.</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https://arxiv.org/abs/2601.11868</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2359895"/>
            <a:ext cx="8046720" cy="822960"/>
          </a:xfrm>
        </p:spPr>
        <p:txBody>
          <a:bodyPr wrap="square" lIns="0" rIns="0" tIns="0" bIns="0" anchor="ctr">
            <a:noAutofit/>
          </a:bodyPr>
          <a:lstStyle/>
          <a:p>
            <a:pPr algn="ctr">
              <a:lnSpc>
                <a:spcPct val="110000"/>
              </a:lnSpc>
              <a:buNone/>
              <a:defRPr sz="4400" b="0">
                <a:solidFill>
                  <a:srgbClr val="303437"/>
                </a:solidFill>
                <a:latin typeface="Noto Sans"/>
              </a:defRPr>
            </a:pPr>
            <a:r>
              <a:rPr sz="4400" b="1" lang="ja-JP" altLang="en-US">
                <a:solidFill>
                  <a:srgbClr val="303437"/>
                </a:solidFill>
                <a:latin typeface="Noto Sans"/>
                <a:ea typeface="Noto Sans CJK JP"/>
                <a:cs typeface="Noto Sans"/>
              </a:rPr>
              <a:t>Appendix</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FFF"/>
                </a:solidFill>
                <a:latin typeface="Noto Sans"/>
                <a:ea typeface="Noto Sans CJK JP"/>
                <a:cs typeface="Noto Sans"/>
              </a:rPr>
              <a:t>Appendix</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786384"/>
            <a:ext cx="8046720" cy="502920"/>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
            </a:r>
          </a:p>
        </p:txBody>
      </p:sp>
      <p:sp>
        <p:nvSpPr>
          <p:cNvPr id="3" name="Text Placeholder 2"/>
          <p:cNvSpPr>
            <a:spLocks noGrp="1"/>
          </p:cNvSpPr>
          <p:nvPr>
            <p:ph type="body" idx="1"/>
          </p:nvPr>
        </p:nvSpPr>
        <p:spPr>
          <a:xfrm>
            <a:off x="777240" y="1668081"/>
            <a:ext cx="7772400" cy="2077720"/>
          </a:xfrm>
        </p:spPr>
        <p:txBody>
          <a:bodyPr lIns="0" rIns="0" tIns="0" bIns="0" wrap="square">
            <a:noAutofit/>
          </a:bodyPr>
          <a:lstStyle/>
          <a:p>
            <a:pPr marL="457200" indent="-457200">
              <a:lnSpc>
                <a:spcPct val="128000"/>
              </a:lnSpc>
              <a:spcAft>
                <a:spcPts val="1700"/>
              </a:spcAft>
              <a:buSzPct val="100000"/>
              <a:buFont typeface="Noto Sans CJK JP"/>
              <a:buAutoNum type="arabicPeriod" startAt="1"/>
              <a:defRPr sz="3000" b="1">
                <a:solidFill>
                  <a:srgbClr val="303437"/>
                </a:solidFill>
                <a:latin typeface="Noto Sans"/>
              </a:defRPr>
            </a:pPr>
            <a:r>
              <a:rPr sz="3000" b="1" lang="ja-JP" altLang="en-US">
                <a:solidFill>
                  <a:srgbClr val="303437"/>
                </a:solidFill>
                <a:latin typeface="Noto Sans"/>
                <a:ea typeface="Noto Sans CJK JP"/>
                <a:cs typeface="Noto Sans"/>
              </a:rPr>
              <a:t>分野の異なる追加例</a:t>
            </a:r>
          </a:p>
          <a:p>
            <a:pPr marL="457200" indent="-457200">
              <a:lnSpc>
                <a:spcPct val="128000"/>
              </a:lnSpc>
              <a:spcAft>
                <a:spcPts val="1700"/>
              </a:spcAft>
              <a:buSzPct val="100000"/>
              <a:buFont typeface="Noto Sans CJK JP"/>
              <a:buAutoNum type="arabicPeriod" startAt="2"/>
              <a:defRPr sz="3000" b="1">
                <a:solidFill>
                  <a:srgbClr val="303437"/>
                </a:solidFill>
                <a:latin typeface="Noto Sans"/>
              </a:defRPr>
            </a:pPr>
            <a:r>
              <a:rPr sz="3000" b="1" lang="ja-JP" altLang="en-US">
                <a:solidFill>
                  <a:srgbClr val="303437"/>
                </a:solidFill>
                <a:latin typeface="Noto Sans"/>
                <a:ea typeface="Noto Sans CJK JP"/>
                <a:cs typeface="Noto Sans"/>
              </a:rPr>
              <a:t>分布・実装と採点の詳細</a:t>
            </a:r>
          </a:p>
          <a:p>
            <a:pPr marL="457200" indent="-457200">
              <a:lnSpc>
                <a:spcPct val="128000"/>
              </a:lnSpc>
              <a:spcAft>
                <a:spcPts val="1700"/>
              </a:spcAft>
              <a:buSzPct val="100000"/>
              <a:buFont typeface="Noto Sans CJK JP"/>
              <a:buAutoNum type="arabicPeriod" startAt="3"/>
              <a:defRPr sz="3000" b="1">
                <a:solidFill>
                  <a:srgbClr val="303437"/>
                </a:solidFill>
                <a:latin typeface="Noto Sans"/>
              </a:defRPr>
            </a:pPr>
            <a:r>
              <a:rPr sz="3000" b="1" lang="ja-JP" altLang="en-US">
                <a:solidFill>
                  <a:srgbClr val="303437"/>
                </a:solidFill>
                <a:latin typeface="Noto Sans"/>
                <a:ea typeface="Noto Sans CJK JP"/>
                <a:cs typeface="Noto Sans"/>
              </a:rPr>
              <a:t>開発者と参考文献</a:t>
            </a:r>
          </a:p>
        </p:txBody>
      </p:sp>
      <p:sp>
        <p:nvSpPr>
          <p:cNvPr id="4" name="Title 3"/>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FFF"/>
                </a:solidFill>
                <a:latin typeface="Noto Sans"/>
                <a:ea typeface="Noto Sans CJK JP"/>
                <a:cs typeface="Noto Sans"/>
              </a:rPr>
              <a:t>Appendix: 目次</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2388106"/>
            <a:ext cx="8046720" cy="822960"/>
          </a:xfrm>
        </p:spPr>
        <p:txBody>
          <a:bodyPr wrap="square" lIns="0" rIns="0" tIns="0" bIns="0" anchor="ctr">
            <a:noAutofit/>
          </a:bodyPr>
          <a:lstStyle/>
          <a:p>
            <a:pPr algn="ctr">
              <a:lnSpc>
                <a:spcPct val="110000"/>
              </a:lnSpc>
              <a:buNone/>
              <a:defRPr sz="3600" b="0">
                <a:solidFill>
                  <a:srgbClr val="303437"/>
                </a:solidFill>
                <a:latin typeface="Noto Sans"/>
              </a:defRPr>
            </a:pPr>
            <a:r>
              <a:rPr sz="3600" b="1" lang="ja-JP" altLang="en-US">
                <a:solidFill>
                  <a:srgbClr val="303437"/>
                </a:solidFill>
                <a:latin typeface="Noto Sans"/>
                <a:ea typeface="Noto Sans CJK JP"/>
                <a:cs typeface="Noto Sans"/>
              </a:rPr>
              <a:t>1. 分野の異なる追加例</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FFF"/>
                </a:solidFill>
                <a:latin typeface="Noto Sans"/>
                <a:ea typeface="Noto Sans CJK JP"/>
                <a:cs typeface="Noto Sans"/>
              </a:rPr>
              <a:t>Appendix: 1. 分野の異なる追加例</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786384"/>
            <a:ext cx="8046720" cy="502920"/>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追加例1：同じ結果を返すSQLを高速化する</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FFF"/>
                </a:solidFill>
                <a:latin typeface="Noto Sans"/>
                <a:ea typeface="Noto Sans CJK JP"/>
                <a:cs typeface="Noto Sans"/>
              </a:rPr>
              <a:t>Appendix: 1. 分野の異なる追加例</a:t>
            </a:r>
          </a:p>
        </p:txBody>
      </p:sp>
      <p:sp>
        <p:nvSpPr>
          <p:cNvPr id="4" name="TextBox 3"/>
          <p:cNvSpPr txBox="1"/>
          <p:nvPr/>
        </p:nvSpPr>
        <p:spPr>
          <a:xfrm>
            <a:off x="548640" y="1380744"/>
            <a:ext cx="8046720" cy="228600"/>
          </a:xfrm>
          <a:prstGeom prst="rect">
            <a:avLst/>
          </a:prstGeom>
          <a:noFill/>
        </p:spPr>
        <p:txBody>
          <a:bodyPr wrap="square" lIns="0" rIns="0" tIns="0" bIns="0">
            <a:noAutofit/>
          </a:bodyPr>
          <a:lstStyle/>
          <a:p>
            <a:pPr algn="l">
              <a:lnSpc>
                <a:spcPct val="117000"/>
              </a:lnSpc>
              <a:spcBef>
                <a:spcPts val="0"/>
              </a:spcBef>
              <a:spcAft>
                <a:spcPts val="0"/>
              </a:spcAft>
              <a:buNone/>
              <a:defRPr sz="1300" b="0">
                <a:solidFill>
                  <a:srgbClr val="303437"/>
                </a:solidFill>
                <a:latin typeface="Noto Sans"/>
              </a:defRPr>
            </a:pPr>
            <a:r>
              <a:rPr sz="1300" b="0" lang="ja-JP" altLang="en-US">
                <a:solidFill>
                  <a:srgbClr val="626669"/>
                </a:solidFill>
                <a:latin typeface="Noto Sans"/>
                <a:ea typeface="Noto Sans CJK JP"/>
                <a:cs typeface="Noto Sans"/>
              </a:rPr>
              <a:t>指示文の原文（英語・抜粋）</a:t>
            </a:r>
          </a:p>
        </p:txBody>
      </p:sp>
      <p:sp>
        <p:nvSpPr>
          <p:cNvPr id="5" name="Rectangle 4"/>
          <p:cNvSpPr/>
          <p:nvPr/>
        </p:nvSpPr>
        <p:spPr>
          <a:xfrm>
            <a:off x="548640" y="1700784"/>
            <a:ext cx="8046720" cy="1110576"/>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t" wrap="square" lIns="177800" rIns="177800" tIns="105410" bIns="101600">
            <a:noAutofit/>
          </a:bodyPr>
          <a:lstStyle/>
          <a:p>
            <a:pPr algn="l">
              <a:lnSpc>
                <a:spcPts val="2312"/>
              </a:lnSpc>
              <a:spcBef>
                <a:spcPts val="0"/>
              </a:spcBef>
              <a:spcAft>
                <a:spcPts val="0"/>
              </a:spcAft>
              <a:buNone/>
              <a:defRPr sz="1850" b="0">
                <a:solidFill>
                  <a:srgbClr val="303437"/>
                </a:solidFill>
                <a:latin typeface="Noto Sans"/>
              </a:defRPr>
            </a:pPr>
            <a:r>
              <a:rPr sz="1850" b="0" lang="ja-JP" altLang="en-US">
                <a:solidFill>
                  <a:srgbClr val="303437"/>
                </a:solidFill>
                <a:latin typeface="Noto Sans"/>
                <a:ea typeface="Noto Sans CJK JP"/>
                <a:cs typeface="Noto Sans"/>
              </a:rPr>
              <a:t>I implemented a sql query but it is not optimized. I have saved it in /app/my-sql-query.sql. Please make the query as efficient as possible while ensuring that the same output is produced.</a:t>
            </a:r>
          </a:p>
        </p:txBody>
      </p:sp>
      <p:sp>
        <p:nvSpPr>
          <p:cNvPr id="6" name="TextBox 5"/>
          <p:cNvSpPr txBox="1"/>
          <p:nvPr/>
        </p:nvSpPr>
        <p:spPr>
          <a:xfrm>
            <a:off x="594360" y="3030816"/>
            <a:ext cx="7955279" cy="1541183"/>
          </a:xfrm>
          <a:prstGeom prst="rect">
            <a:avLst/>
          </a:prstGeom>
          <a:noFill/>
        </p:spPr>
        <p:txBody>
          <a:bodyPr wrap="square" lIns="0" rIns="0" tIns="0" bIns="0">
            <a:noAutofit/>
          </a:bodyPr>
          <a:lstStyle/>
          <a:p>
            <a:pPr algn="l">
              <a:lnSpc>
                <a:spcPct val="118000"/>
              </a:lnSpc>
              <a:spcBef>
                <a:spcPts val="0"/>
              </a:spcBef>
              <a:spcAft>
                <a:spcPts val="0"/>
              </a:spcAft>
              <a:buNone/>
              <a:defRPr sz="1950" b="0">
                <a:solidFill>
                  <a:srgbClr val="303437"/>
                </a:solidFill>
                <a:latin typeface="Noto Sans"/>
              </a:defRPr>
            </a:pPr>
            <a:r>
              <a:rPr sz="1950" b="0" lang="ja-JP" altLang="en-US">
                <a:solidFill>
                  <a:srgbClr val="303437"/>
                </a:solidFill>
                <a:latin typeface="Noto Sans"/>
                <a:ea typeface="Noto Sans CJK JP"/>
                <a:cs typeface="Noto Sans"/>
              </a:rPr>
              <a:t>要旨：単語の概念を整理したOpen English WordNetのSQLiteデータベースを使う。結果を保ってSQLを高速化し、/app/sol.sqlへ保存する。</a:t>
            </a:r>
          </a:p>
        </p:txBody>
      </p:sp>
      <p:sp>
        <p:nvSpPr>
          <p:cNvPr id="7" name="TextBox 6"/>
          <p:cNvSpPr txBox="1"/>
          <p:nvPr/>
        </p:nvSpPr>
        <p:spPr>
          <a:xfrm>
            <a:off x="502920" y="4690872"/>
            <a:ext cx="8183879" cy="393192"/>
          </a:xfrm>
          <a:prstGeom prst="rect">
            <a:avLst/>
          </a:prstGeom>
          <a:noFill/>
        </p:spPr>
        <p:txBody>
          <a:bodyPr wrap="square" lIns="0" rIns="0" tIns="0" bIns="0">
            <a:noAutofit/>
          </a:bodyPr>
          <a:lstStyle/>
          <a:p>
            <a:pPr algn="l">
              <a:lnSpc>
                <a:spcPct val="112000"/>
              </a:lnSpc>
              <a:spcBef>
                <a:spcPts val="0"/>
              </a:spcBef>
              <a:spcAft>
                <a:spcPts val="0"/>
              </a:spcAft>
              <a:buNone/>
              <a:defRPr sz="810" b="0">
                <a:solidFill>
                  <a:srgbClr val="303437"/>
                </a:solidFill>
                <a:latin typeface="Noto Sans"/>
              </a:defRPr>
            </a:pPr>
            <a:r>
              <a:rPr sz="810" b="0" lang="ja-JP" altLang="en-US">
                <a:solidFill>
                  <a:srgbClr val="626669"/>
                </a:solidFill>
                <a:latin typeface="Noto Sans"/>
                <a:ea typeface="Noto Sans CJK JP"/>
                <a:cs typeface="Noto Sans"/>
              </a:rPr>
              <a:t/>
            </a:r>
            <a:r>
              <a:rPr sz="810" b="0" lang="ja-JP" altLang="en-US">
                <a:solidFill>
                  <a:srgbClr val="626669"/>
                </a:solidFill>
                <a:latin typeface="Noto Sans"/>
                <a:ea typeface="Noto Sans CJK JP"/>
                <a:cs typeface="Noto Sans"/>
              </a:rPr>
              <a:t>The Terminal-Bench Team (2025). Terminal-Bench 2.0: query-optimize. 改訂69671fb。</a:t>
            </a:r>
          </a:p>
          <a:p>
            <a:pPr>
              <a:lnSpc>
                <a:spcPct val="112000"/>
              </a:lnSpc>
              <a:buNone/>
              <a:defRPr sz="810" b="0">
                <a:solidFill>
                  <a:srgbClr val="303437"/>
                </a:solidFill>
                <a:latin typeface="Noto Sans"/>
              </a:defRPr>
            </a:pPr>
            <a:r>
              <a:rPr sz="810" b="0" lang="ja-JP" altLang="en-US">
                <a:solidFill>
                  <a:srgbClr val="626669"/>
                </a:solidFill>
                <a:latin typeface="Noto Sans"/>
                <a:ea typeface="Noto Sans CJK JP"/>
                <a:cs typeface="Noto Sans"/>
                <a:hlinkClick r:id="rId2"/>
              </a:rPr>
              <a:t>https://github.com/laude-institute/terminal-bench-2/tree/69671fbaac6d67a7ef0dfec016cc38a64ef7a77c/query-optimize</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786384"/>
            <a:ext cx="8046720" cy="502920"/>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追加例2：NumPyに合う拡張モジュールを作る</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FFF"/>
                </a:solidFill>
                <a:latin typeface="Noto Sans"/>
                <a:ea typeface="Noto Sans CJK JP"/>
                <a:cs typeface="Noto Sans"/>
              </a:rPr>
              <a:t>Appendix: 1. 分野の異なる追加例</a:t>
            </a:r>
          </a:p>
        </p:txBody>
      </p:sp>
      <p:sp>
        <p:nvSpPr>
          <p:cNvPr id="4" name="TextBox 3"/>
          <p:cNvSpPr txBox="1"/>
          <p:nvPr/>
        </p:nvSpPr>
        <p:spPr>
          <a:xfrm>
            <a:off x="548640" y="1380744"/>
            <a:ext cx="8046720" cy="228600"/>
          </a:xfrm>
          <a:prstGeom prst="rect">
            <a:avLst/>
          </a:prstGeom>
          <a:noFill/>
        </p:spPr>
        <p:txBody>
          <a:bodyPr wrap="square" lIns="0" rIns="0" tIns="0" bIns="0">
            <a:noAutofit/>
          </a:bodyPr>
          <a:lstStyle/>
          <a:p>
            <a:pPr algn="l">
              <a:lnSpc>
                <a:spcPct val="117000"/>
              </a:lnSpc>
              <a:spcBef>
                <a:spcPts val="0"/>
              </a:spcBef>
              <a:spcAft>
                <a:spcPts val="0"/>
              </a:spcAft>
              <a:buNone/>
              <a:defRPr sz="1300" b="0">
                <a:solidFill>
                  <a:srgbClr val="303437"/>
                </a:solidFill>
                <a:latin typeface="Noto Sans"/>
              </a:defRPr>
            </a:pPr>
            <a:r>
              <a:rPr sz="1300" b="0" lang="ja-JP" altLang="en-US">
                <a:solidFill>
                  <a:srgbClr val="626669"/>
                </a:solidFill>
                <a:latin typeface="Noto Sans"/>
                <a:ea typeface="Noto Sans CJK JP"/>
                <a:cs typeface="Noto Sans"/>
              </a:rPr>
              <a:t>指示文の原文（英語・抜粋）</a:t>
            </a:r>
          </a:p>
        </p:txBody>
      </p:sp>
      <p:sp>
        <p:nvSpPr>
          <p:cNvPr id="5" name="Rectangle 4"/>
          <p:cNvSpPr/>
          <p:nvPr/>
        </p:nvSpPr>
        <p:spPr>
          <a:xfrm>
            <a:off x="548640" y="1700784"/>
            <a:ext cx="8046720" cy="1404264"/>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t" wrap="square" lIns="177800" rIns="177800" tIns="105410" bIns="101600">
            <a:noAutofit/>
          </a:bodyPr>
          <a:lstStyle/>
          <a:p>
            <a:pPr algn="l">
              <a:lnSpc>
                <a:spcPts val="2312"/>
              </a:lnSpc>
              <a:spcBef>
                <a:spcPts val="0"/>
              </a:spcBef>
              <a:spcAft>
                <a:spcPts val="0"/>
              </a:spcAft>
              <a:buNone/>
              <a:defRPr sz="1850" b="0">
                <a:solidFill>
                  <a:srgbClr val="303437"/>
                </a:solidFill>
                <a:latin typeface="Noto Sans"/>
              </a:defRPr>
            </a:pPr>
            <a:r>
              <a:rPr sz="1850" b="0" lang="ja-JP" altLang="en-US">
                <a:solidFill>
                  <a:srgbClr val="303437"/>
                </a:solidFill>
                <a:latin typeface="Noto Sans"/>
                <a:ea typeface="Noto Sans CJK JP"/>
                <a:cs typeface="Noto Sans"/>
              </a:rPr>
              <a:t>Can you help me compile extensions, install pyknotid from source to system's global python environment, while fixing any Numpy compatibility issues so it works with my existing Numpy (2.3.0) versions?</a:t>
            </a:r>
          </a:p>
        </p:txBody>
      </p:sp>
      <p:sp>
        <p:nvSpPr>
          <p:cNvPr id="6" name="TextBox 5"/>
          <p:cNvSpPr txBox="1"/>
          <p:nvPr/>
        </p:nvSpPr>
        <p:spPr>
          <a:xfrm>
            <a:off x="594360" y="3324504"/>
            <a:ext cx="7955279" cy="1247495"/>
          </a:xfrm>
          <a:prstGeom prst="rect">
            <a:avLst/>
          </a:prstGeom>
          <a:noFill/>
        </p:spPr>
        <p:txBody>
          <a:bodyPr wrap="square" lIns="0" rIns="0" tIns="0" bIns="0">
            <a:noAutofit/>
          </a:bodyPr>
          <a:lstStyle/>
          <a:p>
            <a:pPr algn="l">
              <a:lnSpc>
                <a:spcPct val="118000"/>
              </a:lnSpc>
              <a:spcBef>
                <a:spcPts val="0"/>
              </a:spcBef>
              <a:spcAft>
                <a:spcPts val="0"/>
              </a:spcAft>
              <a:buNone/>
              <a:defRPr sz="1950" b="0">
                <a:solidFill>
                  <a:srgbClr val="303437"/>
                </a:solidFill>
                <a:latin typeface="Noto Sans"/>
              </a:defRPr>
            </a:pPr>
            <a:r>
              <a:rPr sz="1950" b="0" lang="ja-JP" altLang="en-US">
                <a:solidFill>
                  <a:srgbClr val="303437"/>
                </a:solidFill>
                <a:latin typeface="Noto Sans"/>
                <a:ea typeface="Noto Sans CJK JP"/>
                <a:cs typeface="Noto Sans"/>
              </a:rPr>
              <a:t>要旨：結び目の計算用ライブラリpyknotidを修正・ビルドする。テストはNumPy 2.3.0の保持、3拡張の読み込み、結び目の計算結果を確認する。</a:t>
            </a:r>
          </a:p>
        </p:txBody>
      </p:sp>
      <p:sp>
        <p:nvSpPr>
          <p:cNvPr id="7" name="TextBox 6"/>
          <p:cNvSpPr txBox="1"/>
          <p:nvPr/>
        </p:nvSpPr>
        <p:spPr>
          <a:xfrm>
            <a:off x="502920" y="4690872"/>
            <a:ext cx="8183879" cy="393192"/>
          </a:xfrm>
          <a:prstGeom prst="rect">
            <a:avLst/>
          </a:prstGeom>
          <a:noFill/>
        </p:spPr>
        <p:txBody>
          <a:bodyPr wrap="square" lIns="0" rIns="0" tIns="0" bIns="0">
            <a:noAutofit/>
          </a:bodyPr>
          <a:lstStyle/>
          <a:p>
            <a:pPr algn="l">
              <a:lnSpc>
                <a:spcPct val="112000"/>
              </a:lnSpc>
              <a:spcBef>
                <a:spcPts val="0"/>
              </a:spcBef>
              <a:spcAft>
                <a:spcPts val="0"/>
              </a:spcAft>
              <a:buNone/>
              <a:defRPr sz="810" b="0">
                <a:solidFill>
                  <a:srgbClr val="303437"/>
                </a:solidFill>
                <a:latin typeface="Noto Sans"/>
              </a:defRPr>
            </a:pPr>
            <a:r>
              <a:rPr sz="810" b="0" lang="ja-JP" altLang="en-US">
                <a:solidFill>
                  <a:srgbClr val="626669"/>
                </a:solidFill>
                <a:latin typeface="Noto Sans"/>
                <a:ea typeface="Noto Sans CJK JP"/>
                <a:cs typeface="Noto Sans"/>
              </a:rPr>
              <a:t/>
            </a:r>
            <a:r>
              <a:rPr sz="810" b="0" lang="ja-JP" altLang="en-US">
                <a:solidFill>
                  <a:srgbClr val="626669"/>
                </a:solidFill>
                <a:latin typeface="Noto Sans"/>
                <a:ea typeface="Noto Sans CJK JP"/>
                <a:cs typeface="Noto Sans"/>
              </a:rPr>
              <a:t>The Terminal-Bench Team (2025). Terminal-Bench 2.0: build-cython-ext. 改訂69671fb。</a:t>
            </a:r>
          </a:p>
          <a:p>
            <a:pPr>
              <a:lnSpc>
                <a:spcPct val="112000"/>
              </a:lnSpc>
              <a:buNone/>
              <a:defRPr sz="810" b="0">
                <a:solidFill>
                  <a:srgbClr val="303437"/>
                </a:solidFill>
                <a:latin typeface="Noto Sans"/>
              </a:defRPr>
            </a:pPr>
            <a:r>
              <a:rPr sz="810" b="0" lang="ja-JP" altLang="en-US">
                <a:solidFill>
                  <a:srgbClr val="626669"/>
                </a:solidFill>
                <a:latin typeface="Noto Sans"/>
                <a:ea typeface="Noto Sans CJK JP"/>
                <a:cs typeface="Noto Sans"/>
                <a:hlinkClick r:id="rId2"/>
              </a:rPr>
              <a:t>https://github.com/laude-institute/terminal-bench-2/tree/69671fbaac6d67a7ef0dfec016cc38a64ef7a77c/build-cython-ext</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786384"/>
            <a:ext cx="8046720" cy="502920"/>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追加例3：GitへのpushをWeb公開へつなぐ</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FFF"/>
                </a:solidFill>
                <a:latin typeface="Noto Sans"/>
                <a:ea typeface="Noto Sans CJK JP"/>
                <a:cs typeface="Noto Sans"/>
              </a:rPr>
              <a:t>Appendix: 1. 分野の異なる追加例</a:t>
            </a:r>
          </a:p>
        </p:txBody>
      </p:sp>
      <p:sp>
        <p:nvSpPr>
          <p:cNvPr id="4" name="TextBox 3"/>
          <p:cNvSpPr txBox="1"/>
          <p:nvPr/>
        </p:nvSpPr>
        <p:spPr>
          <a:xfrm>
            <a:off x="548640" y="1380744"/>
            <a:ext cx="8046720" cy="228600"/>
          </a:xfrm>
          <a:prstGeom prst="rect">
            <a:avLst/>
          </a:prstGeom>
          <a:noFill/>
        </p:spPr>
        <p:txBody>
          <a:bodyPr wrap="square" lIns="0" rIns="0" tIns="0" bIns="0">
            <a:noAutofit/>
          </a:bodyPr>
          <a:lstStyle/>
          <a:p>
            <a:pPr algn="l">
              <a:lnSpc>
                <a:spcPct val="117000"/>
              </a:lnSpc>
              <a:spcBef>
                <a:spcPts val="0"/>
              </a:spcBef>
              <a:spcAft>
                <a:spcPts val="0"/>
              </a:spcAft>
              <a:buNone/>
              <a:defRPr sz="1300" b="0">
                <a:solidFill>
                  <a:srgbClr val="303437"/>
                </a:solidFill>
                <a:latin typeface="Noto Sans"/>
              </a:defRPr>
            </a:pPr>
            <a:r>
              <a:rPr sz="1300" b="0" lang="ja-JP" altLang="en-US">
                <a:solidFill>
                  <a:srgbClr val="626669"/>
                </a:solidFill>
                <a:latin typeface="Noto Sans"/>
                <a:ea typeface="Noto Sans CJK JP"/>
                <a:cs typeface="Noto Sans"/>
              </a:rPr>
              <a:t>指示文の原文（英語・抜粋）</a:t>
            </a:r>
          </a:p>
        </p:txBody>
      </p:sp>
      <p:sp>
        <p:nvSpPr>
          <p:cNvPr id="5" name="Rectangle 4"/>
          <p:cNvSpPr/>
          <p:nvPr/>
        </p:nvSpPr>
        <p:spPr>
          <a:xfrm>
            <a:off x="548640" y="1700784"/>
            <a:ext cx="8046720" cy="1110576"/>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t" wrap="square" lIns="177800" rIns="177800" tIns="105410" bIns="101600">
            <a:noAutofit/>
          </a:bodyPr>
          <a:lstStyle/>
          <a:p>
            <a:pPr algn="l">
              <a:lnSpc>
                <a:spcPts val="2312"/>
              </a:lnSpc>
              <a:spcBef>
                <a:spcPts val="0"/>
              </a:spcBef>
              <a:spcAft>
                <a:spcPts val="0"/>
              </a:spcAft>
              <a:buNone/>
              <a:defRPr sz="1850" b="0">
                <a:solidFill>
                  <a:srgbClr val="303437"/>
                </a:solidFill>
                <a:latin typeface="Noto Sans"/>
              </a:defRPr>
            </a:pPr>
            <a:r>
              <a:rPr sz="1850" b="0" lang="ja-JP" altLang="en-US">
                <a:solidFill>
                  <a:srgbClr val="303437"/>
                </a:solidFill>
                <a:latin typeface="Noto Sans"/>
                <a:ea typeface="Noto Sans CJK JP"/>
                <a:cs typeface="Noto Sans"/>
              </a:rPr>
              <a:t>And have this data then be pushed to a webserver running on port 8080 so if I run curl http://server:8080/hello.html then I see the output "hello world".</a:t>
            </a:r>
          </a:p>
        </p:txBody>
      </p:sp>
      <p:sp>
        <p:nvSpPr>
          <p:cNvPr id="6" name="TextBox 5"/>
          <p:cNvSpPr txBox="1"/>
          <p:nvPr/>
        </p:nvSpPr>
        <p:spPr>
          <a:xfrm>
            <a:off x="594360" y="3030816"/>
            <a:ext cx="7955279" cy="1541183"/>
          </a:xfrm>
          <a:prstGeom prst="rect">
            <a:avLst/>
          </a:prstGeom>
          <a:noFill/>
        </p:spPr>
        <p:txBody>
          <a:bodyPr wrap="square" lIns="0" rIns="0" tIns="0" bIns="0">
            <a:noAutofit/>
          </a:bodyPr>
          <a:lstStyle/>
          <a:p>
            <a:pPr algn="l">
              <a:lnSpc>
                <a:spcPct val="118000"/>
              </a:lnSpc>
              <a:spcBef>
                <a:spcPts val="0"/>
              </a:spcBef>
              <a:spcAft>
                <a:spcPts val="0"/>
              </a:spcAft>
              <a:buNone/>
              <a:defRPr sz="1950" b="0">
                <a:solidFill>
                  <a:srgbClr val="303437"/>
                </a:solidFill>
                <a:latin typeface="Noto Sans"/>
              </a:defRPr>
            </a:pPr>
            <a:r>
              <a:rPr sz="1950" b="0" lang="ja-JP" altLang="en-US">
                <a:solidFill>
                  <a:srgbClr val="303437"/>
                </a:solidFill>
                <a:latin typeface="Noto Sans"/>
                <a:ea typeface="Noto Sans CJK JP"/>
                <a:cs typeface="Noto Sans"/>
              </a:rPr>
              <a:t>要旨：Gitサーバーを設定し、pushしたhello.htmlがポート8080のWebサーバーから取得できるようにする。テストは実際のpushとHTTP取得を行う。</a:t>
            </a:r>
          </a:p>
        </p:txBody>
      </p:sp>
      <p:sp>
        <p:nvSpPr>
          <p:cNvPr id="7" name="TextBox 6"/>
          <p:cNvSpPr txBox="1"/>
          <p:nvPr/>
        </p:nvSpPr>
        <p:spPr>
          <a:xfrm>
            <a:off x="502920" y="4690872"/>
            <a:ext cx="8183879" cy="393192"/>
          </a:xfrm>
          <a:prstGeom prst="rect">
            <a:avLst/>
          </a:prstGeom>
          <a:noFill/>
        </p:spPr>
        <p:txBody>
          <a:bodyPr wrap="square" lIns="0" rIns="0" tIns="0" bIns="0">
            <a:noAutofit/>
          </a:bodyPr>
          <a:lstStyle/>
          <a:p>
            <a:pPr algn="l">
              <a:lnSpc>
                <a:spcPct val="112000"/>
              </a:lnSpc>
              <a:spcBef>
                <a:spcPts val="0"/>
              </a:spcBef>
              <a:spcAft>
                <a:spcPts val="0"/>
              </a:spcAft>
              <a:buNone/>
              <a:defRPr sz="810" b="0">
                <a:solidFill>
                  <a:srgbClr val="303437"/>
                </a:solidFill>
                <a:latin typeface="Noto Sans"/>
              </a:defRPr>
            </a:pPr>
            <a:r>
              <a:rPr sz="810" b="0" lang="ja-JP" altLang="en-US">
                <a:solidFill>
                  <a:srgbClr val="626669"/>
                </a:solidFill>
                <a:latin typeface="Noto Sans"/>
                <a:ea typeface="Noto Sans CJK JP"/>
                <a:cs typeface="Noto Sans"/>
              </a:rPr>
              <a:t/>
            </a:r>
            <a:r>
              <a:rPr sz="810" b="0" lang="ja-JP" altLang="en-US">
                <a:solidFill>
                  <a:srgbClr val="626669"/>
                </a:solidFill>
                <a:latin typeface="Noto Sans"/>
                <a:ea typeface="Noto Sans CJK JP"/>
                <a:cs typeface="Noto Sans"/>
              </a:rPr>
              <a:t>The Terminal-Bench Team (2025). Terminal-Bench 2.0: configure-git-webserver. 改訂69671fb。</a:t>
            </a:r>
          </a:p>
          <a:p>
            <a:pPr>
              <a:lnSpc>
                <a:spcPct val="112000"/>
              </a:lnSpc>
              <a:buNone/>
              <a:defRPr sz="810" b="0">
                <a:solidFill>
                  <a:srgbClr val="303437"/>
                </a:solidFill>
                <a:latin typeface="Noto Sans"/>
              </a:defRPr>
            </a:pPr>
            <a:r>
              <a:rPr sz="810" b="0" lang="ja-JP" altLang="en-US">
                <a:solidFill>
                  <a:srgbClr val="626669"/>
                </a:solidFill>
                <a:latin typeface="Noto Sans"/>
                <a:ea typeface="Noto Sans CJK JP"/>
                <a:cs typeface="Noto Sans"/>
                <a:hlinkClick r:id="rId2"/>
              </a:rPr>
              <a:t>https://github.com/laude-institute/terminal-bench-2/tree/69671fbaac6d67a7ef0dfec016cc38a64ef7a77c/configure-git-webserver</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786384"/>
            <a:ext cx="8046720" cy="502920"/>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追加例4：期間別・重要度別にログを数える</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FFF"/>
                </a:solidFill>
                <a:latin typeface="Noto Sans"/>
                <a:ea typeface="Noto Sans CJK JP"/>
                <a:cs typeface="Noto Sans"/>
              </a:rPr>
              <a:t>Appendix: 1. 分野の異なる追加例</a:t>
            </a:r>
          </a:p>
        </p:txBody>
      </p:sp>
      <p:sp>
        <p:nvSpPr>
          <p:cNvPr id="4" name="TextBox 3"/>
          <p:cNvSpPr txBox="1"/>
          <p:nvPr/>
        </p:nvSpPr>
        <p:spPr>
          <a:xfrm>
            <a:off x="548640" y="1380744"/>
            <a:ext cx="8046720" cy="228600"/>
          </a:xfrm>
          <a:prstGeom prst="rect">
            <a:avLst/>
          </a:prstGeom>
          <a:noFill/>
        </p:spPr>
        <p:txBody>
          <a:bodyPr wrap="square" lIns="0" rIns="0" tIns="0" bIns="0">
            <a:noAutofit/>
          </a:bodyPr>
          <a:lstStyle/>
          <a:p>
            <a:pPr algn="l">
              <a:lnSpc>
                <a:spcPct val="117000"/>
              </a:lnSpc>
              <a:spcBef>
                <a:spcPts val="0"/>
              </a:spcBef>
              <a:spcAft>
                <a:spcPts val="0"/>
              </a:spcAft>
              <a:buNone/>
              <a:defRPr sz="1300" b="0">
                <a:solidFill>
                  <a:srgbClr val="303437"/>
                </a:solidFill>
                <a:latin typeface="Noto Sans"/>
              </a:defRPr>
            </a:pPr>
            <a:r>
              <a:rPr sz="1300" b="0" lang="ja-JP" altLang="en-US">
                <a:solidFill>
                  <a:srgbClr val="626669"/>
                </a:solidFill>
                <a:latin typeface="Noto Sans"/>
                <a:ea typeface="Noto Sans CJK JP"/>
                <a:cs typeface="Noto Sans"/>
              </a:rPr>
              <a:t>指示文の原文（英語・抜粋）</a:t>
            </a:r>
          </a:p>
        </p:txBody>
      </p:sp>
      <p:sp>
        <p:nvSpPr>
          <p:cNvPr id="5" name="Rectangle 4"/>
          <p:cNvSpPr/>
          <p:nvPr/>
        </p:nvSpPr>
        <p:spPr>
          <a:xfrm>
            <a:off x="548640" y="1700784"/>
            <a:ext cx="8046720" cy="1110576"/>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t" wrap="square" lIns="177800" rIns="177800" tIns="105410" bIns="101600">
            <a:noAutofit/>
          </a:bodyPr>
          <a:lstStyle/>
          <a:p>
            <a:pPr algn="l">
              <a:lnSpc>
                <a:spcPts val="2312"/>
              </a:lnSpc>
              <a:spcBef>
                <a:spcPts val="0"/>
              </a:spcBef>
              <a:spcAft>
                <a:spcPts val="0"/>
              </a:spcAft>
              <a:buNone/>
              <a:defRPr sz="1850" b="0">
                <a:solidFill>
                  <a:srgbClr val="303437"/>
                </a:solidFill>
                <a:latin typeface="Noto Sans"/>
              </a:defRPr>
            </a:pPr>
            <a:r>
              <a:rPr sz="1850" b="0" lang="ja-JP" altLang="en-US">
                <a:solidFill>
                  <a:srgbClr val="303437"/>
                </a:solidFill>
                <a:latin typeface="Noto Sans"/>
                <a:ea typeface="Noto Sans CJK JP"/>
                <a:cs typeface="Noto Sans"/>
              </a:rPr>
              <a:t>The severity levels to count are exactly: ERROR, WARNING, and INFO.</a:t>
            </a:r>
          </a:p>
          <a:p>
            <a:pPr algn="l">
              <a:lnSpc>
                <a:spcPts val="2312"/>
              </a:lnSpc>
              <a:spcBef>
                <a:spcPts val="0"/>
              </a:spcBef>
              <a:spcAft>
                <a:spcPts val="0"/>
              </a:spcAft>
              <a:buNone/>
              <a:defRPr sz="1850" b="0">
                <a:solidFill>
                  <a:srgbClr val="303437"/>
                </a:solidFill>
                <a:latin typeface="Noto Sans"/>
              </a:defRPr>
            </a:pPr>
            <a:r>
              <a:rPr sz="1850" b="0" lang="ja-JP" altLang="en-US">
                <a:solidFill>
                  <a:srgbClr val="303437"/>
                </a:solidFill>
                <a:latin typeface="Noto Sans"/>
                <a:ea typeface="Noto Sans CJK JP"/>
                <a:cs typeface="Noto Sans"/>
              </a:rPr>
              <a:t>The current date is 2025-08-12. Use this as the reference date for all calculations.</a:t>
            </a:r>
          </a:p>
        </p:txBody>
      </p:sp>
      <p:sp>
        <p:nvSpPr>
          <p:cNvPr id="6" name="TextBox 5"/>
          <p:cNvSpPr txBox="1"/>
          <p:nvPr/>
        </p:nvSpPr>
        <p:spPr>
          <a:xfrm>
            <a:off x="594360" y="3030816"/>
            <a:ext cx="7955279" cy="1541183"/>
          </a:xfrm>
          <a:prstGeom prst="rect">
            <a:avLst/>
          </a:prstGeom>
          <a:noFill/>
        </p:spPr>
        <p:txBody>
          <a:bodyPr wrap="square" lIns="0" rIns="0" tIns="0" bIns="0">
            <a:noAutofit/>
          </a:bodyPr>
          <a:lstStyle/>
          <a:p>
            <a:pPr algn="l">
              <a:lnSpc>
                <a:spcPct val="118000"/>
              </a:lnSpc>
              <a:spcBef>
                <a:spcPts val="0"/>
              </a:spcBef>
              <a:spcAft>
                <a:spcPts val="0"/>
              </a:spcAft>
              <a:buNone/>
              <a:defRPr sz="1950" b="0">
                <a:solidFill>
                  <a:srgbClr val="303437"/>
                </a:solidFill>
                <a:latin typeface="Noto Sans"/>
              </a:defRPr>
            </a:pPr>
            <a:r>
              <a:rPr sz="1950" b="0" lang="ja-JP" altLang="en-US">
                <a:solidFill>
                  <a:srgbClr val="303437"/>
                </a:solidFill>
                <a:latin typeface="Noto Sans"/>
                <a:ea typeface="Noto Sans CJK JP"/>
                <a:cs typeface="Noto Sans"/>
              </a:rPr>
              <a:t>要旨：指定日、直近7日・30日、月初から指定日、全期間の5区分で集計する。3重要度×5期間の15行をsummary.csvに出力し、全行の値を照合する。</a:t>
            </a:r>
          </a:p>
        </p:txBody>
      </p:sp>
      <p:sp>
        <p:nvSpPr>
          <p:cNvPr id="7" name="TextBox 6"/>
          <p:cNvSpPr txBox="1"/>
          <p:nvPr/>
        </p:nvSpPr>
        <p:spPr>
          <a:xfrm>
            <a:off x="502920" y="4690872"/>
            <a:ext cx="8183879" cy="393192"/>
          </a:xfrm>
          <a:prstGeom prst="rect">
            <a:avLst/>
          </a:prstGeom>
          <a:noFill/>
        </p:spPr>
        <p:txBody>
          <a:bodyPr wrap="square" lIns="0" rIns="0" tIns="0" bIns="0">
            <a:noAutofit/>
          </a:bodyPr>
          <a:lstStyle/>
          <a:p>
            <a:pPr algn="l">
              <a:lnSpc>
                <a:spcPct val="112000"/>
              </a:lnSpc>
              <a:spcBef>
                <a:spcPts val="0"/>
              </a:spcBef>
              <a:spcAft>
                <a:spcPts val="0"/>
              </a:spcAft>
              <a:buNone/>
              <a:defRPr sz="810" b="0">
                <a:solidFill>
                  <a:srgbClr val="303437"/>
                </a:solidFill>
                <a:latin typeface="Noto Sans"/>
              </a:defRPr>
            </a:pPr>
            <a:r>
              <a:rPr sz="810" b="0" lang="ja-JP" altLang="en-US">
                <a:solidFill>
                  <a:srgbClr val="626669"/>
                </a:solidFill>
                <a:latin typeface="Noto Sans"/>
                <a:ea typeface="Noto Sans CJK JP"/>
                <a:cs typeface="Noto Sans"/>
              </a:rPr>
              <a:t/>
            </a:r>
            <a:r>
              <a:rPr sz="810" b="0" lang="ja-JP" altLang="en-US">
                <a:solidFill>
                  <a:srgbClr val="626669"/>
                </a:solidFill>
                <a:latin typeface="Noto Sans"/>
                <a:ea typeface="Noto Sans CJK JP"/>
                <a:cs typeface="Noto Sans"/>
              </a:rPr>
              <a:t>The Terminal-Bench Team (2025). Terminal-Bench 2.0: log-summary-date-ranges. 改訂69671fb。</a:t>
            </a:r>
          </a:p>
          <a:p>
            <a:pPr>
              <a:lnSpc>
                <a:spcPct val="112000"/>
              </a:lnSpc>
              <a:buNone/>
              <a:defRPr sz="810" b="0">
                <a:solidFill>
                  <a:srgbClr val="303437"/>
                </a:solidFill>
                <a:latin typeface="Noto Sans"/>
              </a:defRPr>
            </a:pPr>
            <a:r>
              <a:rPr sz="810" b="0" lang="ja-JP" altLang="en-US">
                <a:solidFill>
                  <a:srgbClr val="626669"/>
                </a:solidFill>
                <a:latin typeface="Noto Sans"/>
                <a:ea typeface="Noto Sans CJK JP"/>
                <a:cs typeface="Noto Sans"/>
                <a:hlinkClick r:id="rId2"/>
              </a:rPr>
              <a:t>https://github.com/laude-institute/terminal-bench-2/tree/69671fbaac6d67a7ef0dfec016cc38a64ef7a77c/log-summary-date-ranges</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786384"/>
            <a:ext cx="8046720" cy="502920"/>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追加例5：3形式の利用者データを統合する</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FFF"/>
                </a:solidFill>
                <a:latin typeface="Noto Sans"/>
                <a:ea typeface="Noto Sans CJK JP"/>
                <a:cs typeface="Noto Sans"/>
              </a:rPr>
              <a:t>Appendix: 1. 分野の異なる追加例</a:t>
            </a:r>
          </a:p>
        </p:txBody>
      </p:sp>
      <p:sp>
        <p:nvSpPr>
          <p:cNvPr id="4" name="TextBox 3"/>
          <p:cNvSpPr txBox="1"/>
          <p:nvPr/>
        </p:nvSpPr>
        <p:spPr>
          <a:xfrm>
            <a:off x="548640" y="1380744"/>
            <a:ext cx="8046720" cy="228600"/>
          </a:xfrm>
          <a:prstGeom prst="rect">
            <a:avLst/>
          </a:prstGeom>
          <a:noFill/>
        </p:spPr>
        <p:txBody>
          <a:bodyPr wrap="square" lIns="0" rIns="0" tIns="0" bIns="0">
            <a:noAutofit/>
          </a:bodyPr>
          <a:lstStyle/>
          <a:p>
            <a:pPr algn="l">
              <a:lnSpc>
                <a:spcPct val="117000"/>
              </a:lnSpc>
              <a:spcBef>
                <a:spcPts val="0"/>
              </a:spcBef>
              <a:spcAft>
                <a:spcPts val="0"/>
              </a:spcAft>
              <a:buNone/>
              <a:defRPr sz="1300" b="0">
                <a:solidFill>
                  <a:srgbClr val="303437"/>
                </a:solidFill>
                <a:latin typeface="Noto Sans"/>
              </a:defRPr>
            </a:pPr>
            <a:r>
              <a:rPr sz="1300" b="0" lang="ja-JP" altLang="en-US">
                <a:solidFill>
                  <a:srgbClr val="626669"/>
                </a:solidFill>
                <a:latin typeface="Noto Sans"/>
                <a:ea typeface="Noto Sans CJK JP"/>
                <a:cs typeface="Noto Sans"/>
              </a:rPr>
              <a:t>指示文の原文（英語・抜粋）</a:t>
            </a:r>
          </a:p>
        </p:txBody>
      </p:sp>
      <p:sp>
        <p:nvSpPr>
          <p:cNvPr id="5" name="Rectangle 4"/>
          <p:cNvSpPr/>
          <p:nvPr/>
        </p:nvSpPr>
        <p:spPr>
          <a:xfrm>
            <a:off x="548640" y="1700784"/>
            <a:ext cx="8046720" cy="1404264"/>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t" wrap="square" lIns="177800" rIns="177800" tIns="105410" bIns="101600">
            <a:noAutofit/>
          </a:bodyPr>
          <a:lstStyle/>
          <a:p>
            <a:pPr algn="l">
              <a:lnSpc>
                <a:spcPts val="2312"/>
              </a:lnSpc>
              <a:spcBef>
                <a:spcPts val="0"/>
              </a:spcBef>
              <a:spcAft>
                <a:spcPts val="0"/>
              </a:spcAft>
              <a:buNone/>
              <a:defRPr sz="1850" b="0">
                <a:solidFill>
                  <a:srgbClr val="303437"/>
                </a:solidFill>
                <a:latin typeface="Noto Sans"/>
              </a:defRPr>
            </a:pPr>
            <a:r>
              <a:rPr sz="1850" b="0" lang="ja-JP" altLang="en-US">
                <a:solidFill>
                  <a:srgbClr val="303437"/>
                </a:solidFill>
                <a:latin typeface="Noto Sans"/>
                <a:ea typeface="Noto Sans CJK JP"/>
                <a:cs typeface="Noto Sans"/>
              </a:rPr>
              <a:t>Merge user data from three different sources with different formats and schemas.</a:t>
            </a:r>
          </a:p>
          <a:p>
            <a:pPr algn="l">
              <a:lnSpc>
                <a:spcPts val="2312"/>
              </a:lnSpc>
              <a:spcBef>
                <a:spcPts val="0"/>
              </a:spcBef>
              <a:spcAft>
                <a:spcPts val="0"/>
              </a:spcAft>
              <a:buNone/>
              <a:defRPr sz="1850" b="0">
                <a:solidFill>
                  <a:srgbClr val="303437"/>
                </a:solidFill>
                <a:latin typeface="Noto Sans"/>
              </a:defRPr>
            </a:pPr>
            <a:r>
              <a:rPr sz="1850" b="0" lang="ja-JP" altLang="en-US">
                <a:solidFill>
                  <a:srgbClr val="303437"/>
                </a:solidFill>
                <a:latin typeface="Noto Sans"/>
                <a:ea typeface="Noto Sans CJK JP"/>
                <a:cs typeface="Noto Sans"/>
              </a:rPr>
              <a:t>4. Handle conflicts using source priority (source_a &gt; source_b &gt; source_c)</a:t>
            </a:r>
          </a:p>
        </p:txBody>
      </p:sp>
      <p:sp>
        <p:nvSpPr>
          <p:cNvPr id="6" name="TextBox 5"/>
          <p:cNvSpPr txBox="1"/>
          <p:nvPr/>
        </p:nvSpPr>
        <p:spPr>
          <a:xfrm>
            <a:off x="594360" y="3324504"/>
            <a:ext cx="7955279" cy="1247495"/>
          </a:xfrm>
          <a:prstGeom prst="rect">
            <a:avLst/>
          </a:prstGeom>
          <a:noFill/>
        </p:spPr>
        <p:txBody>
          <a:bodyPr wrap="square" lIns="0" rIns="0" tIns="0" bIns="0">
            <a:noAutofit/>
          </a:bodyPr>
          <a:lstStyle/>
          <a:p>
            <a:pPr algn="l">
              <a:lnSpc>
                <a:spcPct val="118000"/>
              </a:lnSpc>
              <a:spcBef>
                <a:spcPts val="0"/>
              </a:spcBef>
              <a:spcAft>
                <a:spcPts val="0"/>
              </a:spcAft>
              <a:buNone/>
              <a:defRPr sz="1950" b="0">
                <a:solidFill>
                  <a:srgbClr val="303437"/>
                </a:solidFill>
                <a:latin typeface="Noto Sans"/>
              </a:defRPr>
            </a:pPr>
            <a:r>
              <a:rPr sz="1950" b="0" lang="ja-JP" altLang="en-US">
                <a:solidFill>
                  <a:srgbClr val="303437"/>
                </a:solidFill>
                <a:latin typeface="Noto Sans"/>
                <a:ea typeface="Noto Sans CJK JP"/>
                <a:cs typeface="Noto Sans"/>
              </a:rPr>
              <a:t>要旨：JSON・CSV・Parquetを読み、user_idと列名をそろえる。優先順位で値を選び、統合Parquetと競合レポートを保存する。</a:t>
            </a:r>
          </a:p>
        </p:txBody>
      </p:sp>
      <p:sp>
        <p:nvSpPr>
          <p:cNvPr id="7" name="TextBox 6"/>
          <p:cNvSpPr txBox="1"/>
          <p:nvPr/>
        </p:nvSpPr>
        <p:spPr>
          <a:xfrm>
            <a:off x="502920" y="4690872"/>
            <a:ext cx="8183879" cy="393192"/>
          </a:xfrm>
          <a:prstGeom prst="rect">
            <a:avLst/>
          </a:prstGeom>
          <a:noFill/>
        </p:spPr>
        <p:txBody>
          <a:bodyPr wrap="square" lIns="0" rIns="0" tIns="0" bIns="0">
            <a:noAutofit/>
          </a:bodyPr>
          <a:lstStyle/>
          <a:p>
            <a:pPr algn="l">
              <a:lnSpc>
                <a:spcPct val="112000"/>
              </a:lnSpc>
              <a:spcBef>
                <a:spcPts val="0"/>
              </a:spcBef>
              <a:spcAft>
                <a:spcPts val="0"/>
              </a:spcAft>
              <a:buNone/>
              <a:defRPr sz="810" b="0">
                <a:solidFill>
                  <a:srgbClr val="303437"/>
                </a:solidFill>
                <a:latin typeface="Noto Sans"/>
              </a:defRPr>
            </a:pPr>
            <a:r>
              <a:rPr sz="810" b="0" lang="ja-JP" altLang="en-US">
                <a:solidFill>
                  <a:srgbClr val="626669"/>
                </a:solidFill>
                <a:latin typeface="Noto Sans"/>
                <a:ea typeface="Noto Sans CJK JP"/>
                <a:cs typeface="Noto Sans"/>
              </a:rPr>
              <a:t/>
            </a:r>
            <a:r>
              <a:rPr sz="810" b="0" lang="ja-JP" altLang="en-US">
                <a:solidFill>
                  <a:srgbClr val="626669"/>
                </a:solidFill>
                <a:latin typeface="Noto Sans"/>
                <a:ea typeface="Noto Sans CJK JP"/>
                <a:cs typeface="Noto Sans"/>
              </a:rPr>
              <a:t>The Terminal-Bench Team (2025). Terminal-Bench 2.0: multi-source-data-merger. 改訂69671fb。</a:t>
            </a:r>
          </a:p>
          <a:p>
            <a:pPr>
              <a:lnSpc>
                <a:spcPct val="112000"/>
              </a:lnSpc>
              <a:buNone/>
              <a:defRPr sz="810" b="0">
                <a:solidFill>
                  <a:srgbClr val="303437"/>
                </a:solidFill>
                <a:latin typeface="Noto Sans"/>
              </a:defRPr>
            </a:pPr>
            <a:r>
              <a:rPr sz="810" b="0" lang="ja-JP" altLang="en-US">
                <a:solidFill>
                  <a:srgbClr val="626669"/>
                </a:solidFill>
                <a:latin typeface="Noto Sans"/>
                <a:ea typeface="Noto Sans CJK JP"/>
                <a:cs typeface="Noto Sans"/>
                <a:hlinkClick r:id="rId2"/>
              </a:rPr>
              <a:t>https://github.com/laude-institute/terminal-bench-2/tree/69671fbaac6d67a7ef0dfec016cc38a64ef7a77c/multi-source-data-merger</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786384"/>
            <a:ext cx="8046720" cy="502920"/>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追加例6：同義語でLaTeXの行はみ出しを直す</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FFF"/>
                </a:solidFill>
                <a:latin typeface="Noto Sans"/>
                <a:ea typeface="Noto Sans CJK JP"/>
                <a:cs typeface="Noto Sans"/>
              </a:rPr>
              <a:t>Appendix: 1. 分野の異なる追加例</a:t>
            </a:r>
          </a:p>
        </p:txBody>
      </p:sp>
      <p:sp>
        <p:nvSpPr>
          <p:cNvPr id="4" name="TextBox 3"/>
          <p:cNvSpPr txBox="1"/>
          <p:nvPr/>
        </p:nvSpPr>
        <p:spPr>
          <a:xfrm>
            <a:off x="548640" y="1380744"/>
            <a:ext cx="8046720" cy="228600"/>
          </a:xfrm>
          <a:prstGeom prst="rect">
            <a:avLst/>
          </a:prstGeom>
          <a:noFill/>
        </p:spPr>
        <p:txBody>
          <a:bodyPr wrap="square" lIns="0" rIns="0" tIns="0" bIns="0">
            <a:noAutofit/>
          </a:bodyPr>
          <a:lstStyle/>
          <a:p>
            <a:pPr algn="l">
              <a:lnSpc>
                <a:spcPct val="117000"/>
              </a:lnSpc>
              <a:spcBef>
                <a:spcPts val="0"/>
              </a:spcBef>
              <a:spcAft>
                <a:spcPts val="0"/>
              </a:spcAft>
              <a:buNone/>
              <a:defRPr sz="1300" b="0">
                <a:solidFill>
                  <a:srgbClr val="303437"/>
                </a:solidFill>
                <a:latin typeface="Noto Sans"/>
              </a:defRPr>
            </a:pPr>
            <a:r>
              <a:rPr sz="1300" b="0" lang="ja-JP" altLang="en-US">
                <a:solidFill>
                  <a:srgbClr val="626669"/>
                </a:solidFill>
                <a:latin typeface="Noto Sans"/>
                <a:ea typeface="Noto Sans CJK JP"/>
                <a:cs typeface="Noto Sans"/>
              </a:rPr>
              <a:t>指示文の原文（英語・抜粋）</a:t>
            </a:r>
          </a:p>
        </p:txBody>
      </p:sp>
      <p:sp>
        <p:nvSpPr>
          <p:cNvPr id="5" name="Rectangle 4"/>
          <p:cNvSpPr/>
          <p:nvPr/>
        </p:nvSpPr>
        <p:spPr>
          <a:xfrm>
            <a:off x="548640" y="1700784"/>
            <a:ext cx="8046720" cy="1697951"/>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t" wrap="square" lIns="177800" rIns="177800" tIns="105410" bIns="101600">
            <a:noAutofit/>
          </a:bodyPr>
          <a:lstStyle/>
          <a:p>
            <a:pPr algn="l">
              <a:lnSpc>
                <a:spcPts val="2312"/>
              </a:lnSpc>
              <a:spcBef>
                <a:spcPts val="0"/>
              </a:spcBef>
              <a:spcAft>
                <a:spcPts val="0"/>
              </a:spcAft>
              <a:buNone/>
              <a:defRPr sz="1850" b="0">
                <a:solidFill>
                  <a:srgbClr val="303437"/>
                </a:solidFill>
                <a:latin typeface="Noto Sans"/>
              </a:defRPr>
            </a:pPr>
            <a:r>
              <a:rPr sz="1850" b="0" lang="ja-JP" altLang="en-US">
                <a:solidFill>
                  <a:srgbClr val="303437"/>
                </a:solidFill>
                <a:latin typeface="Noto Sans"/>
                <a:ea typeface="Noto Sans CJK JP"/>
                <a:cs typeface="Noto Sans"/>
              </a:rPr>
              <a:t>Ensure that the LaTeX document main.tex compiles successfully using the installed TeX distribution and pdflatex compiler with no "overfull hbox" warnings. In doing so, the only edits you may make are to replace words in input.tex with their specified synonyms in synonyms.txt (each line specifies a family of allowed synonyms).</a:t>
            </a:r>
          </a:p>
        </p:txBody>
      </p:sp>
      <p:sp>
        <p:nvSpPr>
          <p:cNvPr id="6" name="TextBox 5"/>
          <p:cNvSpPr txBox="1"/>
          <p:nvPr/>
        </p:nvSpPr>
        <p:spPr>
          <a:xfrm>
            <a:off x="594360" y="3618191"/>
            <a:ext cx="7955279" cy="953808"/>
          </a:xfrm>
          <a:prstGeom prst="rect">
            <a:avLst/>
          </a:prstGeom>
          <a:noFill/>
        </p:spPr>
        <p:txBody>
          <a:bodyPr wrap="square" lIns="0" rIns="0" tIns="0" bIns="0">
            <a:noAutofit/>
          </a:bodyPr>
          <a:lstStyle/>
          <a:p>
            <a:pPr algn="l">
              <a:lnSpc>
                <a:spcPct val="118000"/>
              </a:lnSpc>
              <a:spcBef>
                <a:spcPts val="0"/>
              </a:spcBef>
              <a:spcAft>
                <a:spcPts val="0"/>
              </a:spcAft>
              <a:buNone/>
              <a:defRPr sz="1950" b="0">
                <a:solidFill>
                  <a:srgbClr val="303437"/>
                </a:solidFill>
                <a:latin typeface="Noto Sans"/>
              </a:defRPr>
            </a:pPr>
            <a:r>
              <a:rPr sz="1950" b="0" lang="ja-JP" altLang="en-US">
                <a:solidFill>
                  <a:srgbClr val="303437"/>
                </a:solidFill>
                <a:latin typeface="Noto Sans"/>
                <a:ea typeface="Noto Sans CJK JP"/>
                <a:cs typeface="Noto Sans"/>
              </a:rPr>
              <a:t>要旨：許可された同義語への置換だけで、行のはみ出し警告を消す。テストはPDF生成、警告の消失、変更範囲を確認する。</a:t>
            </a:r>
          </a:p>
        </p:txBody>
      </p:sp>
      <p:sp>
        <p:nvSpPr>
          <p:cNvPr id="7" name="TextBox 6"/>
          <p:cNvSpPr txBox="1"/>
          <p:nvPr/>
        </p:nvSpPr>
        <p:spPr>
          <a:xfrm>
            <a:off x="502920" y="4690872"/>
            <a:ext cx="8183879" cy="393192"/>
          </a:xfrm>
          <a:prstGeom prst="rect">
            <a:avLst/>
          </a:prstGeom>
          <a:noFill/>
        </p:spPr>
        <p:txBody>
          <a:bodyPr wrap="square" lIns="0" rIns="0" tIns="0" bIns="0">
            <a:noAutofit/>
          </a:bodyPr>
          <a:lstStyle/>
          <a:p>
            <a:pPr algn="l">
              <a:lnSpc>
                <a:spcPct val="112000"/>
              </a:lnSpc>
              <a:spcBef>
                <a:spcPts val="0"/>
              </a:spcBef>
              <a:spcAft>
                <a:spcPts val="0"/>
              </a:spcAft>
              <a:buNone/>
              <a:defRPr sz="810" b="0">
                <a:solidFill>
                  <a:srgbClr val="303437"/>
                </a:solidFill>
                <a:latin typeface="Noto Sans"/>
              </a:defRPr>
            </a:pPr>
            <a:r>
              <a:rPr sz="810" b="0" lang="ja-JP" altLang="en-US">
                <a:solidFill>
                  <a:srgbClr val="626669"/>
                </a:solidFill>
                <a:latin typeface="Noto Sans"/>
                <a:ea typeface="Noto Sans CJK JP"/>
                <a:cs typeface="Noto Sans"/>
              </a:rPr>
              <a:t/>
            </a:r>
            <a:r>
              <a:rPr sz="810" b="0" lang="ja-JP" altLang="en-US">
                <a:solidFill>
                  <a:srgbClr val="626669"/>
                </a:solidFill>
                <a:latin typeface="Noto Sans"/>
                <a:ea typeface="Noto Sans CJK JP"/>
                <a:cs typeface="Noto Sans"/>
              </a:rPr>
              <a:t>The Terminal-Bench Team (2025). Terminal-Bench 2.0: overfull-hbox. 改訂69671fb。</a:t>
            </a:r>
          </a:p>
          <a:p>
            <a:pPr>
              <a:lnSpc>
                <a:spcPct val="112000"/>
              </a:lnSpc>
              <a:buNone/>
              <a:defRPr sz="810" b="0">
                <a:solidFill>
                  <a:srgbClr val="303437"/>
                </a:solidFill>
                <a:latin typeface="Noto Sans"/>
              </a:defRPr>
            </a:pPr>
            <a:r>
              <a:rPr sz="810" b="0" lang="ja-JP" altLang="en-US">
                <a:solidFill>
                  <a:srgbClr val="626669"/>
                </a:solidFill>
                <a:latin typeface="Noto Sans"/>
                <a:ea typeface="Noto Sans CJK JP"/>
                <a:cs typeface="Noto Sans"/>
                <a:hlinkClick r:id="rId2"/>
              </a:rPr>
              <a:t>https://github.com/laude-institute/terminal-bench-2/tree/69671fbaac6d67a7ef0dfec016cc38a64ef7a77c/overfull-hbox</a:t>
            </a: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786384"/>
            <a:ext cx="8046720" cy="502920"/>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追加例7：ラマン分光の2ピークを推定する</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FFF"/>
                </a:solidFill>
                <a:latin typeface="Noto Sans"/>
                <a:ea typeface="Noto Sans CJK JP"/>
                <a:cs typeface="Noto Sans"/>
              </a:rPr>
              <a:t>Appendix: 1. 分野の異なる追加例</a:t>
            </a:r>
          </a:p>
        </p:txBody>
      </p:sp>
      <p:sp>
        <p:nvSpPr>
          <p:cNvPr id="4" name="TextBox 3"/>
          <p:cNvSpPr txBox="1"/>
          <p:nvPr/>
        </p:nvSpPr>
        <p:spPr>
          <a:xfrm>
            <a:off x="548640" y="1380744"/>
            <a:ext cx="8046720" cy="228600"/>
          </a:xfrm>
          <a:prstGeom prst="rect">
            <a:avLst/>
          </a:prstGeom>
          <a:noFill/>
        </p:spPr>
        <p:txBody>
          <a:bodyPr wrap="square" lIns="0" rIns="0" tIns="0" bIns="0">
            <a:noAutofit/>
          </a:bodyPr>
          <a:lstStyle/>
          <a:p>
            <a:pPr algn="l">
              <a:lnSpc>
                <a:spcPct val="117000"/>
              </a:lnSpc>
              <a:spcBef>
                <a:spcPts val="0"/>
              </a:spcBef>
              <a:spcAft>
                <a:spcPts val="0"/>
              </a:spcAft>
              <a:buNone/>
              <a:defRPr sz="1300" b="0">
                <a:solidFill>
                  <a:srgbClr val="303437"/>
                </a:solidFill>
                <a:latin typeface="Noto Sans"/>
              </a:defRPr>
            </a:pPr>
            <a:r>
              <a:rPr sz="1300" b="0" lang="ja-JP" altLang="en-US">
                <a:solidFill>
                  <a:srgbClr val="626669"/>
                </a:solidFill>
                <a:latin typeface="Noto Sans"/>
                <a:ea typeface="Noto Sans CJK JP"/>
                <a:cs typeface="Noto Sans"/>
              </a:rPr>
              <a:t>指示文の原文（英語・抜粋）</a:t>
            </a:r>
          </a:p>
        </p:txBody>
      </p:sp>
      <p:sp>
        <p:nvSpPr>
          <p:cNvPr id="5" name="Rectangle 4"/>
          <p:cNvSpPr/>
          <p:nvPr/>
        </p:nvSpPr>
        <p:spPr>
          <a:xfrm>
            <a:off x="548640" y="1700784"/>
            <a:ext cx="8046720" cy="1404264"/>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t" wrap="square" lIns="177800" rIns="177800" tIns="105410" bIns="101600">
            <a:noAutofit/>
          </a:bodyPr>
          <a:lstStyle/>
          <a:p>
            <a:pPr algn="l">
              <a:lnSpc>
                <a:spcPts val="2312"/>
              </a:lnSpc>
              <a:spcBef>
                <a:spcPts val="0"/>
              </a:spcBef>
              <a:spcAft>
                <a:spcPts val="0"/>
              </a:spcAft>
              <a:buNone/>
              <a:defRPr sz="1850" b="0">
                <a:solidFill>
                  <a:srgbClr val="303437"/>
                </a:solidFill>
                <a:latin typeface="Noto Sans"/>
              </a:defRPr>
            </a:pPr>
            <a:r>
              <a:rPr sz="1850" b="0" lang="ja-JP" altLang="en-US">
                <a:solidFill>
                  <a:srgbClr val="303437"/>
                </a:solidFill>
                <a:latin typeface="Noto Sans"/>
                <a:ea typeface="Noto Sans CJK JP"/>
                <a:cs typeface="Noto Sans"/>
              </a:rPr>
              <a:t>You are given the output file of a Raman Setup. We used it to measure some graphene sample. Fit the G and 2D Peak of the spectrum and return the x0, gamma, amplitude and offset of the peaks and write them to a file called "/app/results.json".</a:t>
            </a:r>
          </a:p>
        </p:txBody>
      </p:sp>
      <p:sp>
        <p:nvSpPr>
          <p:cNvPr id="6" name="TextBox 5"/>
          <p:cNvSpPr txBox="1"/>
          <p:nvPr/>
        </p:nvSpPr>
        <p:spPr>
          <a:xfrm>
            <a:off x="594360" y="3324504"/>
            <a:ext cx="7955279" cy="1247495"/>
          </a:xfrm>
          <a:prstGeom prst="rect">
            <a:avLst/>
          </a:prstGeom>
          <a:noFill/>
        </p:spPr>
        <p:txBody>
          <a:bodyPr wrap="square" lIns="0" rIns="0" tIns="0" bIns="0">
            <a:noAutofit/>
          </a:bodyPr>
          <a:lstStyle/>
          <a:p>
            <a:pPr algn="l">
              <a:lnSpc>
                <a:spcPct val="118000"/>
              </a:lnSpc>
              <a:spcBef>
                <a:spcPts val="0"/>
              </a:spcBef>
              <a:spcAft>
                <a:spcPts val="0"/>
              </a:spcAft>
              <a:buNone/>
              <a:defRPr sz="1950" b="0">
                <a:solidFill>
                  <a:srgbClr val="303437"/>
                </a:solidFill>
                <a:latin typeface="Noto Sans"/>
              </a:defRPr>
            </a:pPr>
            <a:r>
              <a:rPr sz="1950" b="0" lang="ja-JP" altLang="en-US">
                <a:solidFill>
                  <a:srgbClr val="303437"/>
                </a:solidFill>
                <a:latin typeface="Noto Sans"/>
                <a:ea typeface="Noto Sans CJK JP"/>
                <a:cs typeface="Noto Sans"/>
              </a:rPr>
              <a:t>要旨：グラフェン試料のスペクトルにG・2Dのピークを当てはめ、中心位置・幅・振幅・オフセットをJSONへ保存する。採点はパラメータごとの許容範囲を確認する。</a:t>
            </a:r>
          </a:p>
        </p:txBody>
      </p:sp>
      <p:sp>
        <p:nvSpPr>
          <p:cNvPr id="7" name="TextBox 6"/>
          <p:cNvSpPr txBox="1"/>
          <p:nvPr/>
        </p:nvSpPr>
        <p:spPr>
          <a:xfrm>
            <a:off x="502920" y="4690872"/>
            <a:ext cx="8183879" cy="393192"/>
          </a:xfrm>
          <a:prstGeom prst="rect">
            <a:avLst/>
          </a:prstGeom>
          <a:noFill/>
        </p:spPr>
        <p:txBody>
          <a:bodyPr wrap="square" lIns="0" rIns="0" tIns="0" bIns="0">
            <a:noAutofit/>
          </a:bodyPr>
          <a:lstStyle/>
          <a:p>
            <a:pPr algn="l">
              <a:lnSpc>
                <a:spcPct val="112000"/>
              </a:lnSpc>
              <a:spcBef>
                <a:spcPts val="0"/>
              </a:spcBef>
              <a:spcAft>
                <a:spcPts val="0"/>
              </a:spcAft>
              <a:buNone/>
              <a:defRPr sz="810" b="0">
                <a:solidFill>
                  <a:srgbClr val="303437"/>
                </a:solidFill>
                <a:latin typeface="Noto Sans"/>
              </a:defRPr>
            </a:pPr>
            <a:r>
              <a:rPr sz="810" b="0" lang="ja-JP" altLang="en-US">
                <a:solidFill>
                  <a:srgbClr val="626669"/>
                </a:solidFill>
                <a:latin typeface="Noto Sans"/>
                <a:ea typeface="Noto Sans CJK JP"/>
                <a:cs typeface="Noto Sans"/>
              </a:rPr>
              <a:t/>
            </a:r>
            <a:r>
              <a:rPr sz="810" b="0" lang="ja-JP" altLang="en-US">
                <a:solidFill>
                  <a:srgbClr val="626669"/>
                </a:solidFill>
                <a:latin typeface="Noto Sans"/>
                <a:ea typeface="Noto Sans CJK JP"/>
                <a:cs typeface="Noto Sans"/>
              </a:rPr>
              <a:t>The Terminal-Bench Team (2025). Terminal-Bench 2.0: raman-fitting. 改訂69671fb。</a:t>
            </a:r>
          </a:p>
          <a:p>
            <a:pPr>
              <a:lnSpc>
                <a:spcPct val="112000"/>
              </a:lnSpc>
              <a:buNone/>
              <a:defRPr sz="810" b="0">
                <a:solidFill>
                  <a:srgbClr val="303437"/>
                </a:solidFill>
                <a:latin typeface="Noto Sans"/>
              </a:defRPr>
            </a:pPr>
            <a:r>
              <a:rPr sz="810" b="0" lang="ja-JP" altLang="en-US">
                <a:solidFill>
                  <a:srgbClr val="626669"/>
                </a:solidFill>
                <a:latin typeface="Noto Sans"/>
                <a:ea typeface="Noto Sans CJK JP"/>
                <a:cs typeface="Noto Sans"/>
                <a:hlinkClick r:id="rId2"/>
              </a:rPr>
              <a:t>https://github.com/laude-institute/terminal-bench-2/tree/69671fbaac6d67a7ef0dfec016cc38a64ef7a77c/raman-fitting</a:t>
            </a:r>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786384"/>
            <a:ext cx="8046720" cy="502920"/>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追加例8：制約に合わせてデータを分割する</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FFF"/>
                </a:solidFill>
                <a:latin typeface="Noto Sans"/>
                <a:ea typeface="Noto Sans CJK JP"/>
                <a:cs typeface="Noto Sans"/>
              </a:rPr>
              <a:t>Appendix: 1. 分野の異なる追加例</a:t>
            </a:r>
          </a:p>
        </p:txBody>
      </p:sp>
      <p:sp>
        <p:nvSpPr>
          <p:cNvPr id="4" name="TextBox 3"/>
          <p:cNvSpPr txBox="1"/>
          <p:nvPr/>
        </p:nvSpPr>
        <p:spPr>
          <a:xfrm>
            <a:off x="548640" y="1380744"/>
            <a:ext cx="8046720" cy="228600"/>
          </a:xfrm>
          <a:prstGeom prst="rect">
            <a:avLst/>
          </a:prstGeom>
          <a:noFill/>
        </p:spPr>
        <p:txBody>
          <a:bodyPr wrap="square" lIns="0" rIns="0" tIns="0" bIns="0">
            <a:noAutofit/>
          </a:bodyPr>
          <a:lstStyle/>
          <a:p>
            <a:pPr algn="l">
              <a:lnSpc>
                <a:spcPct val="117000"/>
              </a:lnSpc>
              <a:spcBef>
                <a:spcPts val="0"/>
              </a:spcBef>
              <a:spcAft>
                <a:spcPts val="0"/>
              </a:spcAft>
              <a:buNone/>
              <a:defRPr sz="1300" b="0">
                <a:solidFill>
                  <a:srgbClr val="303437"/>
                </a:solidFill>
                <a:latin typeface="Noto Sans"/>
              </a:defRPr>
            </a:pPr>
            <a:r>
              <a:rPr sz="1300" b="0" lang="ja-JP" altLang="en-US">
                <a:solidFill>
                  <a:srgbClr val="626669"/>
                </a:solidFill>
                <a:latin typeface="Noto Sans"/>
                <a:ea typeface="Noto Sans CJK JP"/>
                <a:cs typeface="Noto Sans"/>
              </a:rPr>
              <a:t>指示文の原文（英語・抜粋）</a:t>
            </a:r>
          </a:p>
        </p:txBody>
      </p:sp>
      <p:sp>
        <p:nvSpPr>
          <p:cNvPr id="5" name="Rectangle 4"/>
          <p:cNvSpPr/>
          <p:nvPr/>
        </p:nvSpPr>
        <p:spPr>
          <a:xfrm>
            <a:off x="548640" y="1700784"/>
            <a:ext cx="8046720" cy="1110576"/>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t" wrap="square" lIns="177800" rIns="177800" tIns="105410" bIns="101600">
            <a:noAutofit/>
          </a:bodyPr>
          <a:lstStyle/>
          <a:p>
            <a:pPr algn="l">
              <a:lnSpc>
                <a:spcPts val="2312"/>
              </a:lnSpc>
              <a:spcBef>
                <a:spcPts val="0"/>
              </a:spcBef>
              <a:spcAft>
                <a:spcPts val="0"/>
              </a:spcAft>
              <a:buNone/>
              <a:defRPr sz="1850" b="0">
                <a:solidFill>
                  <a:srgbClr val="303437"/>
                </a:solidFill>
                <a:latin typeface="Noto Sans"/>
              </a:defRPr>
            </a:pPr>
            <a:r>
              <a:rPr sz="1850" b="0" lang="ja-JP" altLang="en-US">
                <a:solidFill>
                  <a:srgbClr val="303437"/>
                </a:solidFill>
                <a:latin typeface="Noto Sans"/>
                <a:ea typeface="Noto Sans CJK JP"/>
                <a:cs typeface="Noto Sans"/>
              </a:rPr>
              <a:t>- Maximum 30 files or folders in each directory - Maximum 15MB filesize per file</a:t>
            </a:r>
          </a:p>
          <a:p>
            <a:pPr algn="l">
              <a:lnSpc>
                <a:spcPts val="2312"/>
              </a:lnSpc>
              <a:spcBef>
                <a:spcPts val="0"/>
              </a:spcBef>
              <a:spcAft>
                <a:spcPts val="0"/>
              </a:spcAft>
              <a:buNone/>
              <a:defRPr sz="1850" b="0">
                <a:solidFill>
                  <a:srgbClr val="303437"/>
                </a:solidFill>
                <a:latin typeface="Noto Sans"/>
              </a:defRPr>
            </a:pPr>
            <a:r>
              <a:rPr sz="1850" b="0" lang="ja-JP" altLang="en-US">
                <a:solidFill>
                  <a:srgbClr val="303437"/>
                </a:solidFill>
                <a:latin typeface="Noto Sans"/>
                <a:ea typeface="Noto Sans CJK JP"/>
                <a:cs typeface="Noto Sans"/>
              </a:rPr>
              <a:t>- Should reconstruct the original file structure and content exactly</a:t>
            </a:r>
          </a:p>
        </p:txBody>
      </p:sp>
      <p:sp>
        <p:nvSpPr>
          <p:cNvPr id="6" name="TextBox 5"/>
          <p:cNvSpPr txBox="1"/>
          <p:nvPr/>
        </p:nvSpPr>
        <p:spPr>
          <a:xfrm>
            <a:off x="594360" y="3030816"/>
            <a:ext cx="7955279" cy="1541183"/>
          </a:xfrm>
          <a:prstGeom prst="rect">
            <a:avLst/>
          </a:prstGeom>
          <a:noFill/>
        </p:spPr>
        <p:txBody>
          <a:bodyPr wrap="square" lIns="0" rIns="0" tIns="0" bIns="0">
            <a:noAutofit/>
          </a:bodyPr>
          <a:lstStyle/>
          <a:p>
            <a:pPr algn="l">
              <a:lnSpc>
                <a:spcPct val="118000"/>
              </a:lnSpc>
              <a:spcBef>
                <a:spcPts val="0"/>
              </a:spcBef>
              <a:spcAft>
                <a:spcPts val="0"/>
              </a:spcAft>
              <a:buNone/>
              <a:defRPr sz="1950" b="0">
                <a:solidFill>
                  <a:srgbClr val="303437"/>
                </a:solidFill>
                <a:latin typeface="Noto Sans"/>
              </a:defRPr>
            </a:pPr>
            <a:r>
              <a:rPr sz="1950" b="0" lang="ja-JP" altLang="en-US">
                <a:solidFill>
                  <a:srgbClr val="303437"/>
                </a:solidFill>
                <a:latin typeface="Noto Sans"/>
                <a:ea typeface="Noto Sans CJK JP"/>
                <a:cs typeface="Noto Sans"/>
              </a:rPr>
              <a:t>要旨：データを再分割するcompress.pyと元へ戻すdecompress.pyを作る。テストは容量・項目数の上限と、復元後のファイル集合・ハッシュを確認する。</a:t>
            </a:r>
          </a:p>
        </p:txBody>
      </p:sp>
      <p:sp>
        <p:nvSpPr>
          <p:cNvPr id="7" name="TextBox 6"/>
          <p:cNvSpPr txBox="1"/>
          <p:nvPr/>
        </p:nvSpPr>
        <p:spPr>
          <a:xfrm>
            <a:off x="502920" y="4690872"/>
            <a:ext cx="8183879" cy="393192"/>
          </a:xfrm>
          <a:prstGeom prst="rect">
            <a:avLst/>
          </a:prstGeom>
          <a:noFill/>
        </p:spPr>
        <p:txBody>
          <a:bodyPr wrap="square" lIns="0" rIns="0" tIns="0" bIns="0">
            <a:noAutofit/>
          </a:bodyPr>
          <a:lstStyle/>
          <a:p>
            <a:pPr algn="l">
              <a:lnSpc>
                <a:spcPct val="112000"/>
              </a:lnSpc>
              <a:spcBef>
                <a:spcPts val="0"/>
              </a:spcBef>
              <a:spcAft>
                <a:spcPts val="0"/>
              </a:spcAft>
              <a:buNone/>
              <a:defRPr sz="810" b="0">
                <a:solidFill>
                  <a:srgbClr val="303437"/>
                </a:solidFill>
                <a:latin typeface="Noto Sans"/>
              </a:defRPr>
            </a:pPr>
            <a:r>
              <a:rPr sz="810" b="0" lang="ja-JP" altLang="en-US">
                <a:solidFill>
                  <a:srgbClr val="626669"/>
                </a:solidFill>
                <a:latin typeface="Noto Sans"/>
                <a:ea typeface="Noto Sans CJK JP"/>
                <a:cs typeface="Noto Sans"/>
              </a:rPr>
              <a:t/>
            </a:r>
            <a:r>
              <a:rPr sz="810" b="0" lang="ja-JP" altLang="en-US">
                <a:solidFill>
                  <a:srgbClr val="626669"/>
                </a:solidFill>
                <a:latin typeface="Noto Sans"/>
                <a:ea typeface="Noto Sans CJK JP"/>
                <a:cs typeface="Noto Sans"/>
              </a:rPr>
              <a:t>The Terminal-Bench Team (2025). Terminal-Bench 2.0: reshard-c4-data. 改訂69671fb。</a:t>
            </a:r>
          </a:p>
          <a:p>
            <a:pPr>
              <a:lnSpc>
                <a:spcPct val="112000"/>
              </a:lnSpc>
              <a:buNone/>
              <a:defRPr sz="810" b="0">
                <a:solidFill>
                  <a:srgbClr val="303437"/>
                </a:solidFill>
                <a:latin typeface="Noto Sans"/>
              </a:defRPr>
            </a:pPr>
            <a:r>
              <a:rPr sz="810" b="0" lang="ja-JP" altLang="en-US">
                <a:solidFill>
                  <a:srgbClr val="626669"/>
                </a:solidFill>
                <a:latin typeface="Noto Sans"/>
                <a:ea typeface="Noto Sans CJK JP"/>
                <a:cs typeface="Noto Sans"/>
                <a:hlinkClick r:id="rId2"/>
              </a:rPr>
              <a:t>https://github.com/laude-institute/terminal-bench-2/tree/69671fbaac6d67a7ef0dfec016cc38a64ef7a77c/reshard-c4-data</a:t>
            </a:r>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786384"/>
            <a:ext cx="8046720" cy="502920"/>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追加例9：自然数の加法の交換法則を証明する</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FFF"/>
                </a:solidFill>
                <a:latin typeface="Noto Sans"/>
                <a:ea typeface="Noto Sans CJK JP"/>
                <a:cs typeface="Noto Sans"/>
              </a:rPr>
              <a:t>Appendix: 1. 分野の異なる追加例</a:t>
            </a:r>
          </a:p>
        </p:txBody>
      </p:sp>
      <p:sp>
        <p:nvSpPr>
          <p:cNvPr id="4" name="TextBox 3"/>
          <p:cNvSpPr txBox="1"/>
          <p:nvPr/>
        </p:nvSpPr>
        <p:spPr>
          <a:xfrm>
            <a:off x="548640" y="1380744"/>
            <a:ext cx="8046720" cy="228600"/>
          </a:xfrm>
          <a:prstGeom prst="rect">
            <a:avLst/>
          </a:prstGeom>
          <a:noFill/>
        </p:spPr>
        <p:txBody>
          <a:bodyPr wrap="square" lIns="0" rIns="0" tIns="0" bIns="0">
            <a:noAutofit/>
          </a:bodyPr>
          <a:lstStyle/>
          <a:p>
            <a:pPr algn="l">
              <a:lnSpc>
                <a:spcPct val="117000"/>
              </a:lnSpc>
              <a:spcBef>
                <a:spcPts val="0"/>
              </a:spcBef>
              <a:spcAft>
                <a:spcPts val="0"/>
              </a:spcAft>
              <a:buNone/>
              <a:defRPr sz="1300" b="0">
                <a:solidFill>
                  <a:srgbClr val="303437"/>
                </a:solidFill>
                <a:latin typeface="Noto Sans"/>
              </a:defRPr>
            </a:pPr>
            <a:r>
              <a:rPr sz="1300" b="0" lang="ja-JP" altLang="en-US">
                <a:solidFill>
                  <a:srgbClr val="626669"/>
                </a:solidFill>
                <a:latin typeface="Noto Sans"/>
                <a:ea typeface="Noto Sans CJK JP"/>
                <a:cs typeface="Noto Sans"/>
              </a:rPr>
              <a:t>指示文の原文（英語・抜粋）</a:t>
            </a:r>
          </a:p>
        </p:txBody>
      </p:sp>
      <p:sp>
        <p:nvSpPr>
          <p:cNvPr id="5" name="Rectangle 4"/>
          <p:cNvSpPr/>
          <p:nvPr/>
        </p:nvSpPr>
        <p:spPr>
          <a:xfrm>
            <a:off x="548640" y="1700784"/>
            <a:ext cx="8046720" cy="1110576"/>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t" wrap="square" lIns="177800" rIns="177800" tIns="105410" bIns="101600">
            <a:noAutofit/>
          </a:bodyPr>
          <a:lstStyle/>
          <a:p>
            <a:pPr algn="l">
              <a:lnSpc>
                <a:spcPts val="2312"/>
              </a:lnSpc>
              <a:spcBef>
                <a:spcPts val="0"/>
              </a:spcBef>
              <a:spcAft>
                <a:spcPts val="0"/>
              </a:spcAft>
              <a:buNone/>
              <a:defRPr sz="1850" b="0">
                <a:solidFill>
                  <a:srgbClr val="303437"/>
                </a:solidFill>
                <a:latin typeface="Noto Sans"/>
              </a:defRPr>
            </a:pPr>
            <a:r>
              <a:rPr sz="1850" b="0" lang="ja-JP" altLang="en-US">
                <a:solidFill>
                  <a:srgbClr val="303437"/>
                </a:solidFill>
                <a:latin typeface="Noto Sans"/>
                <a:ea typeface="Noto Sans CJK JP"/>
                <a:cs typeface="Noto Sans"/>
              </a:rPr>
              <a:t>The theorem states that addition is commutative for natural numbers (forall n m : nat, n + m = m + n).</a:t>
            </a:r>
          </a:p>
          <a:p>
            <a:pPr algn="l">
              <a:lnSpc>
                <a:spcPts val="2312"/>
              </a:lnSpc>
              <a:spcBef>
                <a:spcPts val="0"/>
              </a:spcBef>
              <a:spcAft>
                <a:spcPts val="0"/>
              </a:spcAft>
              <a:buNone/>
              <a:defRPr sz="1850" b="0">
                <a:solidFill>
                  <a:srgbClr val="303437"/>
                </a:solidFill>
                <a:latin typeface="Noto Sans"/>
              </a:defRPr>
            </a:pPr>
            <a:r>
              <a:rPr sz="1850" b="0" lang="ja-JP" altLang="en-US">
                <a:solidFill>
                  <a:srgbClr val="303437"/>
                </a:solidFill>
                <a:latin typeface="Noto Sans"/>
                <a:ea typeface="Noto Sans CJK JP"/>
                <a:cs typeface="Noto Sans"/>
              </a:rPr>
              <a:t>3. Compile the completed proof using coqc</a:t>
            </a:r>
          </a:p>
        </p:txBody>
      </p:sp>
      <p:sp>
        <p:nvSpPr>
          <p:cNvPr id="6" name="TextBox 5"/>
          <p:cNvSpPr txBox="1"/>
          <p:nvPr/>
        </p:nvSpPr>
        <p:spPr>
          <a:xfrm>
            <a:off x="594360" y="3030816"/>
            <a:ext cx="7955279" cy="1541183"/>
          </a:xfrm>
          <a:prstGeom prst="rect">
            <a:avLst/>
          </a:prstGeom>
          <a:noFill/>
        </p:spPr>
        <p:txBody>
          <a:bodyPr wrap="square" lIns="0" rIns="0" tIns="0" bIns="0">
            <a:noAutofit/>
          </a:bodyPr>
          <a:lstStyle/>
          <a:p>
            <a:pPr algn="l">
              <a:lnSpc>
                <a:spcPct val="118000"/>
              </a:lnSpc>
              <a:spcBef>
                <a:spcPts val="0"/>
              </a:spcBef>
              <a:spcAft>
                <a:spcPts val="0"/>
              </a:spcAft>
              <a:buNone/>
              <a:defRPr sz="1950" b="0">
                <a:solidFill>
                  <a:srgbClr val="303437"/>
                </a:solidFill>
                <a:latin typeface="Noto Sans"/>
              </a:defRPr>
            </a:pPr>
            <a:r>
              <a:rPr sz="1950" b="0" lang="ja-JP" altLang="en-US">
                <a:solidFill>
                  <a:srgbClr val="303437"/>
                </a:solidFill>
                <a:latin typeface="Noto Sans"/>
                <a:ea typeface="Noto Sans CJK JP"/>
                <a:cs typeface="Noto Sans"/>
              </a:rPr>
              <a:t>要旨：証明支援系Coqで、不完全な帰納法の証明を完成させる。採点は証明の完了と、coqcによるコンパイルを確認する。</a:t>
            </a:r>
          </a:p>
        </p:txBody>
      </p:sp>
      <p:sp>
        <p:nvSpPr>
          <p:cNvPr id="7" name="TextBox 6"/>
          <p:cNvSpPr txBox="1"/>
          <p:nvPr/>
        </p:nvSpPr>
        <p:spPr>
          <a:xfrm>
            <a:off x="502920" y="4690872"/>
            <a:ext cx="8183879" cy="393192"/>
          </a:xfrm>
          <a:prstGeom prst="rect">
            <a:avLst/>
          </a:prstGeom>
          <a:noFill/>
        </p:spPr>
        <p:txBody>
          <a:bodyPr wrap="square" lIns="0" rIns="0" tIns="0" bIns="0">
            <a:noAutofit/>
          </a:bodyPr>
          <a:lstStyle/>
          <a:p>
            <a:pPr algn="l">
              <a:lnSpc>
                <a:spcPct val="112000"/>
              </a:lnSpc>
              <a:spcBef>
                <a:spcPts val="0"/>
              </a:spcBef>
              <a:spcAft>
                <a:spcPts val="0"/>
              </a:spcAft>
              <a:buNone/>
              <a:defRPr sz="810" b="0">
                <a:solidFill>
                  <a:srgbClr val="303437"/>
                </a:solidFill>
                <a:latin typeface="Noto Sans"/>
              </a:defRPr>
            </a:pPr>
            <a:r>
              <a:rPr sz="810" b="0" lang="ja-JP" altLang="en-US">
                <a:solidFill>
                  <a:srgbClr val="626669"/>
                </a:solidFill>
                <a:latin typeface="Noto Sans"/>
                <a:ea typeface="Noto Sans CJK JP"/>
                <a:cs typeface="Noto Sans"/>
              </a:rPr>
              <a:t/>
            </a:r>
            <a:r>
              <a:rPr sz="810" b="0" lang="ja-JP" altLang="en-US">
                <a:solidFill>
                  <a:srgbClr val="626669"/>
                </a:solidFill>
                <a:latin typeface="Noto Sans"/>
                <a:ea typeface="Noto Sans CJK JP"/>
                <a:cs typeface="Noto Sans"/>
              </a:rPr>
              <a:t>The Terminal-Bench Team (2025). Terminal-Bench 2.0: prove-plus-comm. 改訂69671fb。</a:t>
            </a:r>
          </a:p>
          <a:p>
            <a:pPr>
              <a:lnSpc>
                <a:spcPct val="112000"/>
              </a:lnSpc>
              <a:buNone/>
              <a:defRPr sz="810" b="0">
                <a:solidFill>
                  <a:srgbClr val="303437"/>
                </a:solidFill>
                <a:latin typeface="Noto Sans"/>
              </a:defRPr>
            </a:pPr>
            <a:r>
              <a:rPr sz="810" b="0" lang="ja-JP" altLang="en-US">
                <a:solidFill>
                  <a:srgbClr val="626669"/>
                </a:solidFill>
                <a:latin typeface="Noto Sans"/>
                <a:ea typeface="Noto Sans CJK JP"/>
                <a:cs typeface="Noto Sans"/>
                <a:hlinkClick r:id="rId2"/>
              </a:rPr>
              <a:t>https://github.com/laude-institute/terminal-bench-2/tree/69671fbaac6d67a7ef0dfec016cc38a64ef7a77c/prove-plus-comm</a:t>
            </a:r>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786384"/>
            <a:ext cx="8046720" cy="502920"/>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追加例10：動画から跳躍の開始・着地を検出する</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FFF"/>
                </a:solidFill>
                <a:latin typeface="Noto Sans"/>
                <a:ea typeface="Noto Sans CJK JP"/>
                <a:cs typeface="Noto Sans"/>
              </a:rPr>
              <a:t>Appendix: 1. 分野の異なる追加例</a:t>
            </a:r>
          </a:p>
        </p:txBody>
      </p:sp>
      <p:sp>
        <p:nvSpPr>
          <p:cNvPr id="4" name="TextBox 3"/>
          <p:cNvSpPr txBox="1"/>
          <p:nvPr/>
        </p:nvSpPr>
        <p:spPr>
          <a:xfrm>
            <a:off x="548640" y="1380744"/>
            <a:ext cx="8046720" cy="228600"/>
          </a:xfrm>
          <a:prstGeom prst="rect">
            <a:avLst/>
          </a:prstGeom>
          <a:noFill/>
        </p:spPr>
        <p:txBody>
          <a:bodyPr wrap="square" lIns="0" rIns="0" tIns="0" bIns="0">
            <a:noAutofit/>
          </a:bodyPr>
          <a:lstStyle/>
          <a:p>
            <a:pPr algn="l">
              <a:lnSpc>
                <a:spcPct val="117000"/>
              </a:lnSpc>
              <a:spcBef>
                <a:spcPts val="0"/>
              </a:spcBef>
              <a:spcAft>
                <a:spcPts val="0"/>
              </a:spcAft>
              <a:buNone/>
              <a:defRPr sz="1300" b="0">
                <a:solidFill>
                  <a:srgbClr val="303437"/>
                </a:solidFill>
                <a:latin typeface="Noto Sans"/>
              </a:defRPr>
            </a:pPr>
            <a:r>
              <a:rPr sz="1300" b="0" lang="ja-JP" altLang="en-US">
                <a:solidFill>
                  <a:srgbClr val="626669"/>
                </a:solidFill>
                <a:latin typeface="Noto Sans"/>
                <a:ea typeface="Noto Sans CJK JP"/>
                <a:cs typeface="Noto Sans"/>
              </a:rPr>
              <a:t>指示文の原文（英語・抜粋）</a:t>
            </a:r>
          </a:p>
        </p:txBody>
      </p:sp>
      <p:sp>
        <p:nvSpPr>
          <p:cNvPr id="5" name="Rectangle 4"/>
          <p:cNvSpPr/>
          <p:nvPr/>
        </p:nvSpPr>
        <p:spPr>
          <a:xfrm>
            <a:off x="548640" y="1700784"/>
            <a:ext cx="8046720" cy="1110576"/>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t" wrap="square" lIns="177800" rIns="177800" tIns="105410" bIns="101600">
            <a:noAutofit/>
          </a:bodyPr>
          <a:lstStyle/>
          <a:p>
            <a:pPr algn="l">
              <a:lnSpc>
                <a:spcPts val="2312"/>
              </a:lnSpc>
              <a:spcBef>
                <a:spcPts val="0"/>
              </a:spcBef>
              <a:spcAft>
                <a:spcPts val="0"/>
              </a:spcAft>
              <a:buNone/>
              <a:defRPr sz="1850" b="0">
                <a:solidFill>
                  <a:srgbClr val="303437"/>
                </a:solidFill>
                <a:latin typeface="Noto Sans"/>
              </a:defRPr>
            </a:pPr>
            <a:r>
              <a:rPr sz="1850" b="0" lang="ja-JP" altLang="en-US">
                <a:solidFill>
                  <a:srgbClr val="303437"/>
                </a:solidFill>
                <a:latin typeface="Noto Sans"/>
                <a:ea typeface="Noto Sans CJK JP"/>
                <a:cs typeface="Noto Sans"/>
              </a:rPr>
              <a:t>Write a script, named jump_analyzer.py, and place it in `/app/jump_analyzer.py` . The script analyzes MP4 videos of hurdle jumpers and extracts performance metrics.</a:t>
            </a:r>
          </a:p>
        </p:txBody>
      </p:sp>
      <p:sp>
        <p:nvSpPr>
          <p:cNvPr id="6" name="TextBox 5"/>
          <p:cNvSpPr txBox="1"/>
          <p:nvPr/>
        </p:nvSpPr>
        <p:spPr>
          <a:xfrm>
            <a:off x="594360" y="3030816"/>
            <a:ext cx="7955279" cy="1541183"/>
          </a:xfrm>
          <a:prstGeom prst="rect">
            <a:avLst/>
          </a:prstGeom>
          <a:noFill/>
        </p:spPr>
        <p:txBody>
          <a:bodyPr wrap="square" lIns="0" rIns="0" tIns="0" bIns="0">
            <a:noAutofit/>
          </a:bodyPr>
          <a:lstStyle/>
          <a:p>
            <a:pPr algn="l">
              <a:lnSpc>
                <a:spcPct val="118000"/>
              </a:lnSpc>
              <a:spcBef>
                <a:spcPts val="0"/>
              </a:spcBef>
              <a:spcAft>
                <a:spcPts val="0"/>
              </a:spcAft>
              <a:buNone/>
              <a:defRPr sz="1950" b="0">
                <a:solidFill>
                  <a:srgbClr val="303437"/>
                </a:solidFill>
                <a:latin typeface="Noto Sans"/>
              </a:defRPr>
            </a:pPr>
            <a:r>
              <a:rPr sz="1950" b="0" lang="ja-JP" altLang="en-US">
                <a:solidFill>
                  <a:srgbClr val="303437"/>
                </a:solidFill>
                <a:latin typeface="Noto Sans"/>
                <a:ea typeface="Noto Sans CJK JP"/>
                <a:cs typeface="Noto Sans"/>
              </a:rPr>
              <a:t>要旨：ハードル走の映像を処理し、踏切と着地のフレーム番号をTOMLへ出力する。公開テストは開発用・別動画で許容範囲を照合し、使用ライブラリも検査する。</a:t>
            </a:r>
          </a:p>
        </p:txBody>
      </p:sp>
      <p:sp>
        <p:nvSpPr>
          <p:cNvPr id="7" name="TextBox 6"/>
          <p:cNvSpPr txBox="1"/>
          <p:nvPr/>
        </p:nvSpPr>
        <p:spPr>
          <a:xfrm>
            <a:off x="502920" y="4690872"/>
            <a:ext cx="8183879" cy="393192"/>
          </a:xfrm>
          <a:prstGeom prst="rect">
            <a:avLst/>
          </a:prstGeom>
          <a:noFill/>
        </p:spPr>
        <p:txBody>
          <a:bodyPr wrap="square" lIns="0" rIns="0" tIns="0" bIns="0">
            <a:noAutofit/>
          </a:bodyPr>
          <a:lstStyle/>
          <a:p>
            <a:pPr algn="l">
              <a:lnSpc>
                <a:spcPct val="112000"/>
              </a:lnSpc>
              <a:spcBef>
                <a:spcPts val="0"/>
              </a:spcBef>
              <a:spcAft>
                <a:spcPts val="0"/>
              </a:spcAft>
              <a:buNone/>
              <a:defRPr sz="810" b="0">
                <a:solidFill>
                  <a:srgbClr val="303437"/>
                </a:solidFill>
                <a:latin typeface="Noto Sans"/>
              </a:defRPr>
            </a:pPr>
            <a:r>
              <a:rPr sz="810" b="0" lang="ja-JP" altLang="en-US">
                <a:solidFill>
                  <a:srgbClr val="626669"/>
                </a:solidFill>
                <a:latin typeface="Noto Sans"/>
                <a:ea typeface="Noto Sans CJK JP"/>
                <a:cs typeface="Noto Sans"/>
              </a:rPr>
              <a:t/>
            </a:r>
            <a:r>
              <a:rPr sz="810" b="0" lang="ja-JP" altLang="en-US">
                <a:solidFill>
                  <a:srgbClr val="626669"/>
                </a:solidFill>
                <a:latin typeface="Noto Sans"/>
                <a:ea typeface="Noto Sans CJK JP"/>
                <a:cs typeface="Noto Sans"/>
              </a:rPr>
              <a:t>The Terminal-Bench Team (2025). Terminal-Bench 2.0: video-processing. 改訂69671fb。</a:t>
            </a:r>
          </a:p>
          <a:p>
            <a:pPr>
              <a:lnSpc>
                <a:spcPct val="112000"/>
              </a:lnSpc>
              <a:buNone/>
              <a:defRPr sz="810" b="0">
                <a:solidFill>
                  <a:srgbClr val="303437"/>
                </a:solidFill>
                <a:latin typeface="Noto Sans"/>
              </a:defRPr>
            </a:pPr>
            <a:r>
              <a:rPr sz="810" b="0" lang="ja-JP" altLang="en-US">
                <a:solidFill>
                  <a:srgbClr val="626669"/>
                </a:solidFill>
                <a:latin typeface="Noto Sans"/>
                <a:ea typeface="Noto Sans CJK JP"/>
                <a:cs typeface="Noto Sans"/>
                <a:hlinkClick r:id="rId2"/>
              </a:rPr>
              <a:t>https://github.com/laude-institute/terminal-bench-2/tree/69671fbaac6d67a7ef0dfec016cc38a64ef7a77c/video-processing</a:t>
            </a:r>
          </a:p>
        </p:txBody>
      </p:sp>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2388106"/>
            <a:ext cx="8046720" cy="822960"/>
          </a:xfrm>
        </p:spPr>
        <p:txBody>
          <a:bodyPr wrap="square" lIns="0" rIns="0" tIns="0" bIns="0" anchor="ctr">
            <a:noAutofit/>
          </a:bodyPr>
          <a:lstStyle/>
          <a:p>
            <a:pPr algn="ctr">
              <a:lnSpc>
                <a:spcPct val="110000"/>
              </a:lnSpc>
              <a:buNone/>
              <a:defRPr sz="3600" b="0">
                <a:solidFill>
                  <a:srgbClr val="303437"/>
                </a:solidFill>
                <a:latin typeface="Noto Sans"/>
              </a:defRPr>
            </a:pPr>
            <a:r>
              <a:rPr sz="3600" b="1" lang="ja-JP" altLang="en-US">
                <a:solidFill>
                  <a:srgbClr val="303437"/>
                </a:solidFill>
                <a:latin typeface="Noto Sans"/>
                <a:ea typeface="Noto Sans CJK JP"/>
                <a:cs typeface="Noto Sans"/>
              </a:rPr>
              <a:t>2. 分布・実装と採点の詳細</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FFF"/>
                </a:solidFill>
                <a:latin typeface="Noto Sans"/>
                <a:ea typeface="Noto Sans CJK JP"/>
                <a:cs typeface="Noto Sans"/>
              </a:rPr>
              <a:t>Appendix: 2. 分布・実装と採点の詳細</a:t>
            </a:r>
          </a:p>
        </p:txBody>
      </p:sp>
    </p:spTree>
  </p:cSld>
  <p:clrMapOvr>
    <a:masterClrMapping/>
  </p:clrMapOvr>
</p:sld>
</file>

<file path=ppt/slides/slide5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786384"/>
            <a:ext cx="8046720" cy="502920"/>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公開89課題のカテゴリ別件数（1/2）</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FFF"/>
                </a:solidFill>
                <a:latin typeface="Noto Sans"/>
                <a:ea typeface="Noto Sans CJK JP"/>
                <a:cs typeface="Noto Sans"/>
              </a:rPr>
              <a:t>Appendix: 2. 分布・実装と採点の詳細</a:t>
            </a:r>
          </a:p>
        </p:txBody>
      </p:sp>
      <p:graphicFrame>
        <p:nvGraphicFramePr>
          <p:cNvPr id="4" name="Table 3"/>
          <p:cNvGraphicFramePr>
            <a:graphicFrameLocks noGrp="1"/>
          </p:cNvGraphicFramePr>
          <p:nvPr/>
        </p:nvGraphicFramePr>
        <p:xfrm>
          <a:off x="548640" y="1508760"/>
          <a:ext cx="8046720" cy="2980944"/>
        </p:xfrm>
        <a:graphic>
          <a:graphicData uri="http://schemas.openxmlformats.org/drawingml/2006/table">
            <a:tbl>
              <a:tblPr firstRow="0" bandRow="0"/>
              <a:tblGrid>
                <a:gridCol w="5852160"/>
                <a:gridCol w="2194560"/>
              </a:tblGrid>
              <a:tr h="347472">
                <a:tc>
                  <a:txBody>
                    <a:bodyPr wrap="square">
                      <a:noAutofit/>
                    </a:bodyPr>
                    <a:lstStyle/>
                    <a:p>
                      <a:pPr algn="l">
                        <a:lnSpc>
                          <a:spcPts val="1954"/>
                        </a:lnSpc>
                        <a:buNone/>
                        <a:defRPr sz="1700" b="0">
                          <a:solidFill>
                            <a:srgbClr val="303437"/>
                          </a:solidFill>
                          <a:latin typeface="Noto Sans"/>
                        </a:defRPr>
                      </a:pPr>
                      <a:r>
                        <a:rPr sz="1700" b="0" lang="ja-JP" altLang="en-US">
                          <a:solidFill>
                            <a:srgbClr val="303437"/>
                          </a:solidFill>
                          <a:latin typeface="Noto Sans"/>
                          <a:ea typeface="Noto Sans CJK JP"/>
                          <a:cs typeface="Noto Sans"/>
                        </a:rPr>
                        <a:t>作者のカテゴリ（日本語）</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c>
                  <a:txBody>
                    <a:bodyPr wrap="square">
                      <a:noAutofit/>
                    </a:bodyPr>
                    <a:lstStyle/>
                    <a:p>
                      <a:pPr algn="r">
                        <a:lnSpc>
                          <a:spcPts val="1954"/>
                        </a:lnSpc>
                        <a:buNone/>
                        <a:defRPr sz="1700" b="0">
                          <a:solidFill>
                            <a:srgbClr val="303437"/>
                          </a:solidFill>
                          <a:latin typeface="Noto Sans"/>
                        </a:defRPr>
                      </a:pPr>
                      <a:r>
                        <a:rPr sz="1700" b="0" lang="ja-JP" altLang="en-US">
                          <a:solidFill>
                            <a:srgbClr val="303437"/>
                          </a:solidFill>
                          <a:latin typeface="Noto Sans"/>
                          <a:ea typeface="Noto Sans CJK JP"/>
                          <a:cs typeface="Noto Sans"/>
                        </a:rPr>
                        <a:t>課題数</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r>
              <a:tr h="329184">
                <a:tc>
                  <a:txBody>
                    <a:bodyPr wrap="square">
                      <a:noAutofit/>
                    </a:bodyPr>
                    <a:lstStyle/>
                    <a:p>
                      <a:pPr algn="l">
                        <a:lnSpc>
                          <a:spcPts val="1954"/>
                        </a:lnSpc>
                        <a:buNone/>
                        <a:defRPr sz="1700" b="0">
                          <a:solidFill>
                            <a:srgbClr val="303437"/>
                          </a:solidFill>
                          <a:latin typeface="Noto Sans"/>
                        </a:defRPr>
                      </a:pPr>
                      <a:r>
                        <a:rPr sz="1700" b="0" lang="ja-JP" altLang="en-US">
                          <a:solidFill>
                            <a:srgbClr val="303437"/>
                          </a:solidFill>
                          <a:latin typeface="Noto Sans"/>
                          <a:ea typeface="Noto Sans CJK JP"/>
                          <a:cs typeface="Noto Sans"/>
                        </a:rPr>
                        <a:t>ソフトウェア開発</a:t>
                      </a:r>
                    </a:p>
                  </a:txBody>
                  <a:tcPr marL="63500" marR="63500" marT="38100" marB="38100" anchor="ctr">
                    <a:lnL w="7620">
                      <a:noFill/>
                    </a:lnL>
                    <a:lnR w="7620">
                      <a:noFill/>
                    </a:lnR>
                    <a:lnT w="7620">
                      <a:solidFill>
                        <a:srgbClr val="626669"/>
                      </a:solidFill>
                      <a:prstDash val="solid"/>
                    </a:lnT>
                    <a:lnB w="7620">
                      <a:noFill/>
                    </a:lnB>
                    <a:solidFill>
                      <a:srgbClr val="FFFEF8"/>
                    </a:solidFill>
                  </a:tcPr>
                </a:tc>
                <a:tc>
                  <a:txBody>
                    <a:bodyPr wrap="square">
                      <a:noAutofit/>
                    </a:bodyPr>
                    <a:lstStyle/>
                    <a:p>
                      <a:pPr algn="r">
                        <a:lnSpc>
                          <a:spcPts val="1954"/>
                        </a:lnSpc>
                        <a:buNone/>
                        <a:defRPr sz="1700" b="0">
                          <a:solidFill>
                            <a:srgbClr val="303437"/>
                          </a:solidFill>
                          <a:latin typeface="Noto Sans"/>
                        </a:defRPr>
                      </a:pPr>
                      <a:r>
                        <a:rPr sz="1700" b="0" lang="ja-JP" altLang="en-US">
                          <a:solidFill>
                            <a:srgbClr val="303437"/>
                          </a:solidFill>
                          <a:latin typeface="Noto Sans"/>
                          <a:ea typeface="Noto Sans CJK JP"/>
                          <a:cs typeface="Noto Sans"/>
                        </a:rPr>
                        <a:t>26</a:t>
                      </a:r>
                    </a:p>
                  </a:txBody>
                  <a:tcPr marL="63500" marR="63500" marT="38100" marB="38100" anchor="ctr">
                    <a:lnL w="7620">
                      <a:noFill/>
                    </a:lnL>
                    <a:lnR w="7620">
                      <a:noFill/>
                    </a:lnR>
                    <a:lnT w="7620">
                      <a:solidFill>
                        <a:srgbClr val="626669"/>
                      </a:solidFill>
                      <a:prstDash val="solid"/>
                    </a:lnT>
                    <a:lnB w="7620">
                      <a:noFill/>
                    </a:lnB>
                    <a:solidFill>
                      <a:srgbClr val="FFFEF8"/>
                    </a:solidFill>
                  </a:tcPr>
                </a:tc>
              </a:tr>
              <a:tr h="329184">
                <a:tc>
                  <a:txBody>
                    <a:bodyPr wrap="square">
                      <a:noAutofit/>
                    </a:bodyPr>
                    <a:lstStyle/>
                    <a:p>
                      <a:pPr algn="l">
                        <a:lnSpc>
                          <a:spcPts val="1954"/>
                        </a:lnSpc>
                        <a:buNone/>
                        <a:defRPr sz="1700" b="0">
                          <a:solidFill>
                            <a:srgbClr val="303437"/>
                          </a:solidFill>
                          <a:latin typeface="Noto Sans"/>
                        </a:defRPr>
                      </a:pPr>
                      <a:r>
                        <a:rPr sz="1700" b="0" lang="ja-JP" altLang="en-US">
                          <a:solidFill>
                            <a:srgbClr val="303437"/>
                          </a:solidFill>
                          <a:latin typeface="Noto Sans"/>
                          <a:ea typeface="Noto Sans CJK JP"/>
                          <a:cs typeface="Noto Sans"/>
                        </a:rPr>
                        <a:t>システム管理</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r">
                        <a:lnSpc>
                          <a:spcPts val="1954"/>
                        </a:lnSpc>
                        <a:buNone/>
                        <a:defRPr sz="1700" b="0">
                          <a:solidFill>
                            <a:srgbClr val="303437"/>
                          </a:solidFill>
                          <a:latin typeface="Noto Sans"/>
                        </a:defRPr>
                      </a:pPr>
                      <a:r>
                        <a:rPr sz="1700" b="0" lang="ja-JP" altLang="en-US">
                          <a:solidFill>
                            <a:srgbClr val="303437"/>
                          </a:solidFill>
                          <a:latin typeface="Noto Sans"/>
                          <a:ea typeface="Noto Sans CJK JP"/>
                          <a:cs typeface="Noto Sans"/>
                        </a:rPr>
                        <a:t>9</a:t>
                      </a:r>
                    </a:p>
                  </a:txBody>
                  <a:tcPr marL="63500" marR="63500" marT="38100" marB="38100" anchor="ctr">
                    <a:lnL w="7620">
                      <a:noFill/>
                    </a:lnL>
                    <a:lnR w="7620">
                      <a:noFill/>
                    </a:lnR>
                    <a:lnT w="7620">
                      <a:noFill/>
                    </a:lnT>
                    <a:lnB w="7620">
                      <a:noFill/>
                    </a:lnB>
                    <a:solidFill>
                      <a:srgbClr val="FFFEF8"/>
                    </a:solidFill>
                  </a:tcPr>
                </a:tc>
              </a:tr>
              <a:tr h="329184">
                <a:tc>
                  <a:txBody>
                    <a:bodyPr wrap="square">
                      <a:noAutofit/>
                    </a:bodyPr>
                    <a:lstStyle/>
                    <a:p>
                      <a:pPr algn="l">
                        <a:lnSpc>
                          <a:spcPts val="1954"/>
                        </a:lnSpc>
                        <a:buNone/>
                        <a:defRPr sz="1700" b="0">
                          <a:solidFill>
                            <a:srgbClr val="303437"/>
                          </a:solidFill>
                          <a:latin typeface="Noto Sans"/>
                        </a:defRPr>
                      </a:pPr>
                      <a:r>
                        <a:rPr sz="1700" b="0" lang="ja-JP" altLang="en-US">
                          <a:solidFill>
                            <a:srgbClr val="303437"/>
                          </a:solidFill>
                          <a:latin typeface="Noto Sans"/>
                          <a:ea typeface="Noto Sans CJK JP"/>
                          <a:cs typeface="Noto Sans"/>
                        </a:rPr>
                        <a:t>科学計算</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r">
                        <a:lnSpc>
                          <a:spcPts val="1954"/>
                        </a:lnSpc>
                        <a:buNone/>
                        <a:defRPr sz="1700" b="0">
                          <a:solidFill>
                            <a:srgbClr val="303437"/>
                          </a:solidFill>
                          <a:latin typeface="Noto Sans"/>
                        </a:defRPr>
                      </a:pPr>
                      <a:r>
                        <a:rPr sz="1700" b="0" lang="ja-JP" altLang="en-US">
                          <a:solidFill>
                            <a:srgbClr val="303437"/>
                          </a:solidFill>
                          <a:latin typeface="Noto Sans"/>
                          <a:ea typeface="Noto Sans CJK JP"/>
                          <a:cs typeface="Noto Sans"/>
                        </a:rPr>
                        <a:t>8</a:t>
                      </a:r>
                    </a:p>
                  </a:txBody>
                  <a:tcPr marL="63500" marR="63500" marT="38100" marB="38100" anchor="ctr">
                    <a:lnL w="7620">
                      <a:noFill/>
                    </a:lnL>
                    <a:lnR w="7620">
                      <a:noFill/>
                    </a:lnR>
                    <a:lnT w="7620">
                      <a:noFill/>
                    </a:lnT>
                    <a:lnB w="7620">
                      <a:noFill/>
                    </a:lnB>
                    <a:solidFill>
                      <a:srgbClr val="FFFEF8"/>
                    </a:solidFill>
                  </a:tcPr>
                </a:tc>
              </a:tr>
              <a:tr h="329184">
                <a:tc>
                  <a:txBody>
                    <a:bodyPr wrap="square">
                      <a:noAutofit/>
                    </a:bodyPr>
                    <a:lstStyle/>
                    <a:p>
                      <a:pPr algn="l">
                        <a:lnSpc>
                          <a:spcPts val="1954"/>
                        </a:lnSpc>
                        <a:buNone/>
                        <a:defRPr sz="1700" b="0">
                          <a:solidFill>
                            <a:srgbClr val="303437"/>
                          </a:solidFill>
                          <a:latin typeface="Noto Sans"/>
                        </a:defRPr>
                      </a:pPr>
                      <a:r>
                        <a:rPr sz="1700" b="0" lang="ja-JP" altLang="en-US">
                          <a:solidFill>
                            <a:srgbClr val="303437"/>
                          </a:solidFill>
                          <a:latin typeface="Noto Sans"/>
                          <a:ea typeface="Noto Sans CJK JP"/>
                          <a:cs typeface="Noto Sans"/>
                        </a:rPr>
                        <a:t>セキュリティ</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r">
                        <a:lnSpc>
                          <a:spcPts val="1954"/>
                        </a:lnSpc>
                        <a:buNone/>
                        <a:defRPr sz="1700" b="0">
                          <a:solidFill>
                            <a:srgbClr val="303437"/>
                          </a:solidFill>
                          <a:latin typeface="Noto Sans"/>
                        </a:defRPr>
                      </a:pPr>
                      <a:r>
                        <a:rPr sz="1700" b="0" lang="ja-JP" altLang="en-US">
                          <a:solidFill>
                            <a:srgbClr val="303437"/>
                          </a:solidFill>
                          <a:latin typeface="Noto Sans"/>
                          <a:ea typeface="Noto Sans CJK JP"/>
                          <a:cs typeface="Noto Sans"/>
                        </a:rPr>
                        <a:t>8</a:t>
                      </a:r>
                    </a:p>
                  </a:txBody>
                  <a:tcPr marL="63500" marR="63500" marT="38100" marB="38100" anchor="ctr">
                    <a:lnL w="7620">
                      <a:noFill/>
                    </a:lnL>
                    <a:lnR w="7620">
                      <a:noFill/>
                    </a:lnR>
                    <a:lnT w="7620">
                      <a:noFill/>
                    </a:lnT>
                    <a:lnB w="7620">
                      <a:noFill/>
                    </a:lnB>
                    <a:solidFill>
                      <a:srgbClr val="FFFEF8"/>
                    </a:solidFill>
                  </a:tcPr>
                </a:tc>
              </a:tr>
              <a:tr h="329184">
                <a:tc>
                  <a:txBody>
                    <a:bodyPr wrap="square">
                      <a:noAutofit/>
                    </a:bodyPr>
                    <a:lstStyle/>
                    <a:p>
                      <a:pPr algn="l">
                        <a:lnSpc>
                          <a:spcPts val="1954"/>
                        </a:lnSpc>
                        <a:buNone/>
                        <a:defRPr sz="1700" b="0">
                          <a:solidFill>
                            <a:srgbClr val="303437"/>
                          </a:solidFill>
                          <a:latin typeface="Noto Sans"/>
                        </a:defRPr>
                      </a:pPr>
                      <a:r>
                        <a:rPr sz="1700" b="0" lang="ja-JP" altLang="en-US">
                          <a:solidFill>
                            <a:srgbClr val="303437"/>
                          </a:solidFill>
                          <a:latin typeface="Noto Sans"/>
                          <a:ea typeface="Noto Sans CJK JP"/>
                          <a:cs typeface="Noto Sans"/>
                        </a:rPr>
                        <a:t>データサイエンス</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r">
                        <a:lnSpc>
                          <a:spcPts val="1954"/>
                        </a:lnSpc>
                        <a:buNone/>
                        <a:defRPr sz="1700" b="0">
                          <a:solidFill>
                            <a:srgbClr val="303437"/>
                          </a:solidFill>
                          <a:latin typeface="Noto Sans"/>
                        </a:defRPr>
                      </a:pPr>
                      <a:r>
                        <a:rPr sz="1700" b="0" lang="ja-JP" altLang="en-US">
                          <a:solidFill>
                            <a:srgbClr val="303437"/>
                          </a:solidFill>
                          <a:latin typeface="Noto Sans"/>
                          <a:ea typeface="Noto Sans CJK JP"/>
                          <a:cs typeface="Noto Sans"/>
                        </a:rPr>
                        <a:t>8</a:t>
                      </a:r>
                    </a:p>
                  </a:txBody>
                  <a:tcPr marL="63500" marR="63500" marT="38100" marB="38100" anchor="ctr">
                    <a:lnL w="7620">
                      <a:noFill/>
                    </a:lnL>
                    <a:lnR w="7620">
                      <a:noFill/>
                    </a:lnR>
                    <a:lnT w="7620">
                      <a:noFill/>
                    </a:lnT>
                    <a:lnB w="7620">
                      <a:noFill/>
                    </a:lnB>
                    <a:solidFill>
                      <a:srgbClr val="FFFEF8"/>
                    </a:solidFill>
                  </a:tcPr>
                </a:tc>
              </a:tr>
              <a:tr h="329184">
                <a:tc>
                  <a:txBody>
                    <a:bodyPr wrap="square">
                      <a:noAutofit/>
                    </a:bodyPr>
                    <a:lstStyle/>
                    <a:p>
                      <a:pPr algn="l">
                        <a:lnSpc>
                          <a:spcPts val="1954"/>
                        </a:lnSpc>
                        <a:buNone/>
                        <a:defRPr sz="1700" b="0">
                          <a:solidFill>
                            <a:srgbClr val="303437"/>
                          </a:solidFill>
                          <a:latin typeface="Noto Sans"/>
                        </a:defRPr>
                      </a:pPr>
                      <a:r>
                        <a:rPr sz="1700" b="0" lang="ja-JP" altLang="en-US">
                          <a:solidFill>
                            <a:srgbClr val="303437"/>
                          </a:solidFill>
                          <a:latin typeface="Noto Sans"/>
                          <a:ea typeface="Noto Sans CJK JP"/>
                          <a:cs typeface="Noto Sans"/>
                        </a:rPr>
                        <a:t>デバッグ</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r">
                        <a:lnSpc>
                          <a:spcPts val="1954"/>
                        </a:lnSpc>
                        <a:buNone/>
                        <a:defRPr sz="1700" b="0">
                          <a:solidFill>
                            <a:srgbClr val="303437"/>
                          </a:solidFill>
                          <a:latin typeface="Noto Sans"/>
                        </a:defRPr>
                      </a:pPr>
                      <a:r>
                        <a:rPr sz="1700" b="0" lang="ja-JP" altLang="en-US">
                          <a:solidFill>
                            <a:srgbClr val="303437"/>
                          </a:solidFill>
                          <a:latin typeface="Noto Sans"/>
                          <a:ea typeface="Noto Sans CJK JP"/>
                          <a:cs typeface="Noto Sans"/>
                        </a:rPr>
                        <a:t>5</a:t>
                      </a:r>
                    </a:p>
                  </a:txBody>
                  <a:tcPr marL="63500" marR="63500" marT="38100" marB="38100" anchor="ctr">
                    <a:lnL w="7620">
                      <a:noFill/>
                    </a:lnL>
                    <a:lnR w="7620">
                      <a:noFill/>
                    </a:lnR>
                    <a:lnT w="7620">
                      <a:noFill/>
                    </a:lnT>
                    <a:lnB w="7620">
                      <a:noFill/>
                    </a:lnB>
                    <a:solidFill>
                      <a:srgbClr val="FFFEF8"/>
                    </a:solidFill>
                  </a:tcPr>
                </a:tc>
              </a:tr>
              <a:tr h="329184">
                <a:tc>
                  <a:txBody>
                    <a:bodyPr wrap="square">
                      <a:noAutofit/>
                    </a:bodyPr>
                    <a:lstStyle/>
                    <a:p>
                      <a:pPr algn="l">
                        <a:lnSpc>
                          <a:spcPts val="1954"/>
                        </a:lnSpc>
                        <a:buNone/>
                        <a:defRPr sz="1700" b="0">
                          <a:solidFill>
                            <a:srgbClr val="303437"/>
                          </a:solidFill>
                          <a:latin typeface="Noto Sans"/>
                        </a:defRPr>
                      </a:pPr>
                      <a:r>
                        <a:rPr sz="1700" b="0" lang="ja-JP" altLang="en-US">
                          <a:solidFill>
                            <a:srgbClr val="303437"/>
                          </a:solidFill>
                          <a:latin typeface="Noto Sans"/>
                          <a:ea typeface="Noto Sans CJK JP"/>
                          <a:cs typeface="Noto Sans"/>
                        </a:rPr>
                        <a:t>ファイル操作</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r">
                        <a:lnSpc>
                          <a:spcPts val="1954"/>
                        </a:lnSpc>
                        <a:buNone/>
                        <a:defRPr sz="1700" b="0">
                          <a:solidFill>
                            <a:srgbClr val="303437"/>
                          </a:solidFill>
                          <a:latin typeface="Noto Sans"/>
                        </a:defRPr>
                      </a:pPr>
                      <a:r>
                        <a:rPr sz="1700" b="0" lang="ja-JP" altLang="en-US">
                          <a:solidFill>
                            <a:srgbClr val="303437"/>
                          </a:solidFill>
                          <a:latin typeface="Noto Sans"/>
                          <a:ea typeface="Noto Sans CJK JP"/>
                          <a:cs typeface="Noto Sans"/>
                        </a:rPr>
                        <a:t>5</a:t>
                      </a:r>
                    </a:p>
                  </a:txBody>
                  <a:tcPr marL="63500" marR="63500" marT="38100" marB="38100" anchor="ctr">
                    <a:lnL w="7620">
                      <a:noFill/>
                    </a:lnL>
                    <a:lnR w="7620">
                      <a:noFill/>
                    </a:lnR>
                    <a:lnT w="7620">
                      <a:noFill/>
                    </a:lnT>
                    <a:lnB w="7620">
                      <a:noFill/>
                    </a:lnB>
                    <a:solidFill>
                      <a:srgbClr val="FFFEF8"/>
                    </a:solidFill>
                  </a:tcPr>
                </a:tc>
              </a:tr>
              <a:tr h="329184">
                <a:tc>
                  <a:txBody>
                    <a:bodyPr wrap="square">
                      <a:noAutofit/>
                    </a:bodyPr>
                    <a:lstStyle/>
                    <a:p>
                      <a:pPr algn="l">
                        <a:lnSpc>
                          <a:spcPts val="1954"/>
                        </a:lnSpc>
                        <a:buNone/>
                        <a:defRPr sz="1700" b="0">
                          <a:solidFill>
                            <a:srgbClr val="303437"/>
                          </a:solidFill>
                          <a:latin typeface="Noto Sans"/>
                        </a:defRPr>
                      </a:pPr>
                      <a:r>
                        <a:rPr sz="1700" b="0" lang="ja-JP" altLang="en-US">
                          <a:solidFill>
                            <a:srgbClr val="303437"/>
                          </a:solidFill>
                          <a:latin typeface="Noto Sans"/>
                          <a:ea typeface="Noto Sans CJK JP"/>
                          <a:cs typeface="Noto Sans"/>
                        </a:rPr>
                        <a:t>モデル学習</a:t>
                      </a:r>
                    </a:p>
                  </a:txBody>
                  <a:tcPr marL="63500" marR="63500" marT="38100" marB="38100" anchor="ctr">
                    <a:lnL w="7620">
                      <a:noFill/>
                    </a:lnL>
                    <a:lnR w="7620">
                      <a:noFill/>
                    </a:lnR>
                    <a:lnT w="7620">
                      <a:noFill/>
                    </a:lnT>
                    <a:lnB w="15240">
                      <a:solidFill>
                        <a:srgbClr val="626669"/>
                      </a:solidFill>
                      <a:prstDash val="solid"/>
                    </a:lnB>
                    <a:solidFill>
                      <a:srgbClr val="FFFEF8"/>
                    </a:solidFill>
                  </a:tcPr>
                </a:tc>
                <a:tc>
                  <a:txBody>
                    <a:bodyPr wrap="square">
                      <a:noAutofit/>
                    </a:bodyPr>
                    <a:lstStyle/>
                    <a:p>
                      <a:pPr algn="r">
                        <a:lnSpc>
                          <a:spcPts val="1954"/>
                        </a:lnSpc>
                        <a:buNone/>
                        <a:defRPr sz="1700" b="0">
                          <a:solidFill>
                            <a:srgbClr val="303437"/>
                          </a:solidFill>
                          <a:latin typeface="Noto Sans"/>
                        </a:defRPr>
                      </a:pPr>
                      <a:r>
                        <a:rPr sz="1700" b="0" lang="ja-JP" altLang="en-US">
                          <a:solidFill>
                            <a:srgbClr val="303437"/>
                          </a:solidFill>
                          <a:latin typeface="Noto Sans"/>
                          <a:ea typeface="Noto Sans CJK JP"/>
                          <a:cs typeface="Noto Sans"/>
                        </a:rPr>
                        <a:t>4</a:t>
                      </a:r>
                    </a:p>
                  </a:txBody>
                  <a:tcPr marL="63500" marR="63500" marT="38100" marB="38100" anchor="ctr">
                    <a:lnL w="7620">
                      <a:noFill/>
                    </a:lnL>
                    <a:lnR w="7620">
                      <a:noFill/>
                    </a:lnR>
                    <a:lnT w="7620">
                      <a:noFill/>
                    </a:lnT>
                    <a:lnB w="15240">
                      <a:solidFill>
                        <a:srgbClr val="626669"/>
                      </a:solidFill>
                      <a:prstDash val="solid"/>
                    </a:lnB>
                    <a:solidFill>
                      <a:srgbClr val="FFFEF8"/>
                    </a:solidFill>
                  </a:tcPr>
                </a:tc>
              </a:tr>
            </a:tbl>
          </a:graphicData>
        </a:graphic>
      </p:graphicFrame>
      <p:sp>
        <p:nvSpPr>
          <p:cNvPr id="5" name="TextBox 4"/>
          <p:cNvSpPr txBox="1"/>
          <p:nvPr/>
        </p:nvSpPr>
        <p:spPr>
          <a:xfrm>
            <a:off x="502920" y="4690872"/>
            <a:ext cx="8183879" cy="393192"/>
          </a:xfrm>
          <a:prstGeom prst="rect">
            <a:avLst/>
          </a:prstGeom>
          <a:noFill/>
        </p:spPr>
        <p:txBody>
          <a:bodyPr wrap="square" lIns="0" rIns="0" tIns="0" bIns="0">
            <a:noAutofit/>
          </a:bodyPr>
          <a:lstStyle/>
          <a:p>
            <a:pPr algn="l">
              <a:lnSpc>
                <a:spcPct val="112000"/>
              </a:lnSpc>
              <a:spcBef>
                <a:spcPts val="0"/>
              </a:spcBef>
              <a:spcAft>
                <a:spcPts val="0"/>
              </a:spcAft>
              <a:buNone/>
              <a:defRPr sz="810" b="0">
                <a:solidFill>
                  <a:srgbClr val="303437"/>
                </a:solidFill>
                <a:latin typeface="Noto Sans"/>
              </a:defRPr>
            </a:pPr>
            <a:r>
              <a:rPr sz="810" b="0" lang="ja-JP" altLang="en-US">
                <a:solidFill>
                  <a:srgbClr val="626669"/>
                </a:solidFill>
                <a:latin typeface="Noto Sans"/>
                <a:ea typeface="Noto Sans CJK JP"/>
                <a:cs typeface="Noto Sans"/>
              </a:rPr>
              <a:t/>
            </a:r>
            <a:r>
              <a:rPr sz="810" b="0" lang="ja-JP" altLang="en-US">
                <a:solidFill>
                  <a:srgbClr val="626669"/>
                </a:solidFill>
                <a:latin typeface="Noto Sans"/>
                <a:ea typeface="Noto Sans CJK JP"/>
                <a:cs typeface="Noto Sans"/>
              </a:rPr>
              <a:t>The Terminal-Bench Team (2025). Terminal-Bench 2.0. 公開89課題、改訂69671fb。2026-10-16集計。</a:t>
            </a:r>
          </a:p>
          <a:p>
            <a:pPr>
              <a:lnSpc>
                <a:spcPct val="112000"/>
              </a:lnSpc>
              <a:buNone/>
              <a:defRPr sz="810" b="0">
                <a:solidFill>
                  <a:srgbClr val="303437"/>
                </a:solidFill>
                <a:latin typeface="Noto Sans"/>
              </a:defRPr>
            </a:pPr>
            <a:r>
              <a:rPr sz="810" b="0" lang="ja-JP" altLang="en-US">
                <a:solidFill>
                  <a:srgbClr val="626669"/>
                </a:solidFill>
                <a:latin typeface="Noto Sans"/>
                <a:ea typeface="Noto Sans CJK JP"/>
                <a:cs typeface="Noto Sans"/>
                <a:hlinkClick r:id="rId2"/>
              </a:rPr>
              <a:t>https://github.com/laude-institute/terminal-bench-2/tree/69671fbaac6d67a7ef0dfec016cc38a64ef7a77c</a:t>
            </a:r>
          </a:p>
        </p:txBody>
      </p:sp>
    </p:spTree>
  </p:cSld>
  <p:clrMapOvr>
    <a:masterClrMapping/>
  </p:clrMapOvr>
</p:sld>
</file>

<file path=ppt/slides/slide5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786384"/>
            <a:ext cx="8046720" cy="502920"/>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公開89課題のカテゴリ別件数（2/2）</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FFF"/>
                </a:solidFill>
                <a:latin typeface="Noto Sans"/>
                <a:ea typeface="Noto Sans CJK JP"/>
                <a:cs typeface="Noto Sans"/>
              </a:rPr>
              <a:t>Appendix: 2. 分布・実装と採点の詳細</a:t>
            </a:r>
          </a:p>
        </p:txBody>
      </p:sp>
      <p:graphicFrame>
        <p:nvGraphicFramePr>
          <p:cNvPr id="4" name="Table 3"/>
          <p:cNvGraphicFramePr>
            <a:graphicFrameLocks noGrp="1"/>
          </p:cNvGraphicFramePr>
          <p:nvPr/>
        </p:nvGraphicFramePr>
        <p:xfrm>
          <a:off x="548640" y="1508760"/>
          <a:ext cx="8046720" cy="2980944"/>
        </p:xfrm>
        <a:graphic>
          <a:graphicData uri="http://schemas.openxmlformats.org/drawingml/2006/table">
            <a:tbl>
              <a:tblPr firstRow="0" bandRow="0"/>
              <a:tblGrid>
                <a:gridCol w="5852160"/>
                <a:gridCol w="2194560"/>
              </a:tblGrid>
              <a:tr h="347472">
                <a:tc>
                  <a:txBody>
                    <a:bodyPr wrap="square">
                      <a:noAutofit/>
                    </a:bodyPr>
                    <a:lstStyle/>
                    <a:p>
                      <a:pPr algn="l">
                        <a:lnSpc>
                          <a:spcPts val="1954"/>
                        </a:lnSpc>
                        <a:buNone/>
                        <a:defRPr sz="1700" b="0">
                          <a:solidFill>
                            <a:srgbClr val="303437"/>
                          </a:solidFill>
                          <a:latin typeface="Noto Sans"/>
                        </a:defRPr>
                      </a:pPr>
                      <a:r>
                        <a:rPr sz="1700" b="0" lang="ja-JP" altLang="en-US">
                          <a:solidFill>
                            <a:srgbClr val="303437"/>
                          </a:solidFill>
                          <a:latin typeface="Noto Sans"/>
                          <a:ea typeface="Noto Sans CJK JP"/>
                          <a:cs typeface="Noto Sans"/>
                        </a:rPr>
                        <a:t>作者のカテゴリ（日本語）</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c>
                  <a:txBody>
                    <a:bodyPr wrap="square">
                      <a:noAutofit/>
                    </a:bodyPr>
                    <a:lstStyle/>
                    <a:p>
                      <a:pPr algn="r">
                        <a:lnSpc>
                          <a:spcPts val="1954"/>
                        </a:lnSpc>
                        <a:buNone/>
                        <a:defRPr sz="1700" b="0">
                          <a:solidFill>
                            <a:srgbClr val="303437"/>
                          </a:solidFill>
                          <a:latin typeface="Noto Sans"/>
                        </a:defRPr>
                      </a:pPr>
                      <a:r>
                        <a:rPr sz="1700" b="0" lang="ja-JP" altLang="en-US">
                          <a:solidFill>
                            <a:srgbClr val="303437"/>
                          </a:solidFill>
                          <a:latin typeface="Noto Sans"/>
                          <a:ea typeface="Noto Sans CJK JP"/>
                          <a:cs typeface="Noto Sans"/>
                        </a:rPr>
                        <a:t>課題数</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r>
              <a:tr h="329184">
                <a:tc>
                  <a:txBody>
                    <a:bodyPr wrap="square">
                      <a:noAutofit/>
                    </a:bodyPr>
                    <a:lstStyle/>
                    <a:p>
                      <a:pPr algn="l">
                        <a:lnSpc>
                          <a:spcPts val="1954"/>
                        </a:lnSpc>
                        <a:buNone/>
                        <a:defRPr sz="1700" b="0">
                          <a:solidFill>
                            <a:srgbClr val="303437"/>
                          </a:solidFill>
                          <a:latin typeface="Noto Sans"/>
                        </a:defRPr>
                      </a:pPr>
                      <a:r>
                        <a:rPr sz="1700" b="0" lang="ja-JP" altLang="en-US">
                          <a:solidFill>
                            <a:srgbClr val="303437"/>
                          </a:solidFill>
                          <a:latin typeface="Noto Sans"/>
                          <a:ea typeface="Noto Sans CJK JP"/>
                          <a:cs typeface="Noto Sans"/>
                        </a:rPr>
                        <a:t>数学</a:t>
                      </a:r>
                    </a:p>
                  </a:txBody>
                  <a:tcPr marL="63500" marR="63500" marT="38100" marB="38100" anchor="ctr">
                    <a:lnL w="7620">
                      <a:noFill/>
                    </a:lnL>
                    <a:lnR w="7620">
                      <a:noFill/>
                    </a:lnR>
                    <a:lnT w="7620">
                      <a:solidFill>
                        <a:srgbClr val="626669"/>
                      </a:solidFill>
                      <a:prstDash val="solid"/>
                    </a:lnT>
                    <a:lnB w="7620">
                      <a:noFill/>
                    </a:lnB>
                    <a:solidFill>
                      <a:srgbClr val="FFFEF8"/>
                    </a:solidFill>
                  </a:tcPr>
                </a:tc>
                <a:tc>
                  <a:txBody>
                    <a:bodyPr wrap="square">
                      <a:noAutofit/>
                    </a:bodyPr>
                    <a:lstStyle/>
                    <a:p>
                      <a:pPr algn="r">
                        <a:lnSpc>
                          <a:spcPts val="1954"/>
                        </a:lnSpc>
                        <a:buNone/>
                        <a:defRPr sz="1700" b="0">
                          <a:solidFill>
                            <a:srgbClr val="303437"/>
                          </a:solidFill>
                          <a:latin typeface="Noto Sans"/>
                        </a:defRPr>
                      </a:pPr>
                      <a:r>
                        <a:rPr sz="1700" b="0" lang="ja-JP" altLang="en-US">
                          <a:solidFill>
                            <a:srgbClr val="303437"/>
                          </a:solidFill>
                          <a:latin typeface="Noto Sans"/>
                          <a:ea typeface="Noto Sans CJK JP"/>
                          <a:cs typeface="Noto Sans"/>
                        </a:rPr>
                        <a:t>4</a:t>
                      </a:r>
                    </a:p>
                  </a:txBody>
                  <a:tcPr marL="63500" marR="63500" marT="38100" marB="38100" anchor="ctr">
                    <a:lnL w="7620">
                      <a:noFill/>
                    </a:lnL>
                    <a:lnR w="7620">
                      <a:noFill/>
                    </a:lnR>
                    <a:lnT w="7620">
                      <a:solidFill>
                        <a:srgbClr val="626669"/>
                      </a:solidFill>
                      <a:prstDash val="solid"/>
                    </a:lnT>
                    <a:lnB w="7620">
                      <a:noFill/>
                    </a:lnB>
                    <a:solidFill>
                      <a:srgbClr val="FFFEF8"/>
                    </a:solidFill>
                  </a:tcPr>
                </a:tc>
              </a:tr>
              <a:tr h="329184">
                <a:tc>
                  <a:txBody>
                    <a:bodyPr wrap="square">
                      <a:noAutofit/>
                    </a:bodyPr>
                    <a:lstStyle/>
                    <a:p>
                      <a:pPr algn="l">
                        <a:lnSpc>
                          <a:spcPts val="1954"/>
                        </a:lnSpc>
                        <a:buNone/>
                        <a:defRPr sz="1700" b="0">
                          <a:solidFill>
                            <a:srgbClr val="303437"/>
                          </a:solidFill>
                          <a:latin typeface="Noto Sans"/>
                        </a:defRPr>
                      </a:pPr>
                      <a:r>
                        <a:rPr sz="1700" b="0" lang="ja-JP" altLang="en-US">
                          <a:solidFill>
                            <a:srgbClr val="303437"/>
                          </a:solidFill>
                          <a:latin typeface="Noto Sans"/>
                          <a:ea typeface="Noto Sans CJK JP"/>
                          <a:cs typeface="Noto Sans"/>
                        </a:rPr>
                        <a:t>データ処理</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r">
                        <a:lnSpc>
                          <a:spcPts val="1954"/>
                        </a:lnSpc>
                        <a:buNone/>
                        <a:defRPr sz="1700" b="0">
                          <a:solidFill>
                            <a:srgbClr val="303437"/>
                          </a:solidFill>
                          <a:latin typeface="Noto Sans"/>
                        </a:defRPr>
                      </a:pPr>
                      <a:r>
                        <a:rPr sz="1700" b="0" lang="ja-JP" altLang="en-US">
                          <a:solidFill>
                            <a:srgbClr val="303437"/>
                          </a:solidFill>
                          <a:latin typeface="Noto Sans"/>
                          <a:ea typeface="Noto Sans CJK JP"/>
                          <a:cs typeface="Noto Sans"/>
                        </a:rPr>
                        <a:t>4</a:t>
                      </a:r>
                    </a:p>
                  </a:txBody>
                  <a:tcPr marL="63500" marR="63500" marT="38100" marB="38100" anchor="ctr">
                    <a:lnL w="7620">
                      <a:noFill/>
                    </a:lnL>
                    <a:lnR w="7620">
                      <a:noFill/>
                    </a:lnR>
                    <a:lnT w="7620">
                      <a:noFill/>
                    </a:lnT>
                    <a:lnB w="7620">
                      <a:noFill/>
                    </a:lnB>
                    <a:solidFill>
                      <a:srgbClr val="FFFEF8"/>
                    </a:solidFill>
                  </a:tcPr>
                </a:tc>
              </a:tr>
              <a:tr h="329184">
                <a:tc>
                  <a:txBody>
                    <a:bodyPr wrap="square">
                      <a:noAutofit/>
                    </a:bodyPr>
                    <a:lstStyle/>
                    <a:p>
                      <a:pPr algn="l">
                        <a:lnSpc>
                          <a:spcPts val="1954"/>
                        </a:lnSpc>
                        <a:buNone/>
                        <a:defRPr sz="1700" b="0">
                          <a:solidFill>
                            <a:srgbClr val="303437"/>
                          </a:solidFill>
                          <a:latin typeface="Noto Sans"/>
                        </a:defRPr>
                      </a:pPr>
                      <a:r>
                        <a:rPr sz="1700" b="0" lang="ja-JP" altLang="en-US">
                          <a:solidFill>
                            <a:srgbClr val="303437"/>
                          </a:solidFill>
                          <a:latin typeface="Noto Sans"/>
                          <a:ea typeface="Noto Sans CJK JP"/>
                          <a:cs typeface="Noto Sans"/>
                        </a:rPr>
                        <a:t>機械学習</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r">
                        <a:lnSpc>
                          <a:spcPts val="1954"/>
                        </a:lnSpc>
                        <a:buNone/>
                        <a:defRPr sz="1700" b="0">
                          <a:solidFill>
                            <a:srgbClr val="303437"/>
                          </a:solidFill>
                          <a:latin typeface="Noto Sans"/>
                        </a:defRPr>
                      </a:pPr>
                      <a:r>
                        <a:rPr sz="1700" b="0" lang="ja-JP" altLang="en-US">
                          <a:solidFill>
                            <a:srgbClr val="303437"/>
                          </a:solidFill>
                          <a:latin typeface="Noto Sans"/>
                          <a:ea typeface="Noto Sans CJK JP"/>
                          <a:cs typeface="Noto Sans"/>
                        </a:rPr>
                        <a:t>3</a:t>
                      </a:r>
                    </a:p>
                  </a:txBody>
                  <a:tcPr marL="63500" marR="63500" marT="38100" marB="38100" anchor="ctr">
                    <a:lnL w="7620">
                      <a:noFill/>
                    </a:lnL>
                    <a:lnR w="7620">
                      <a:noFill/>
                    </a:lnR>
                    <a:lnT w="7620">
                      <a:noFill/>
                    </a:lnT>
                    <a:lnB w="7620">
                      <a:noFill/>
                    </a:lnB>
                    <a:solidFill>
                      <a:srgbClr val="FFFEF8"/>
                    </a:solidFill>
                  </a:tcPr>
                </a:tc>
              </a:tr>
              <a:tr h="329184">
                <a:tc>
                  <a:txBody>
                    <a:bodyPr wrap="square">
                      <a:noAutofit/>
                    </a:bodyPr>
                    <a:lstStyle/>
                    <a:p>
                      <a:pPr algn="l">
                        <a:lnSpc>
                          <a:spcPts val="1954"/>
                        </a:lnSpc>
                        <a:buNone/>
                        <a:defRPr sz="1700" b="0">
                          <a:solidFill>
                            <a:srgbClr val="303437"/>
                          </a:solidFill>
                          <a:latin typeface="Noto Sans"/>
                        </a:defRPr>
                      </a:pPr>
                      <a:r>
                        <a:rPr sz="1700" b="0" lang="ja-JP" altLang="en-US">
                          <a:solidFill>
                            <a:srgbClr val="303437"/>
                          </a:solidFill>
                          <a:latin typeface="Noto Sans"/>
                          <a:ea typeface="Noto Sans CJK JP"/>
                          <a:cs typeface="Noto Sans"/>
                        </a:rPr>
                        <a:t>ゲーム</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r">
                        <a:lnSpc>
                          <a:spcPts val="1954"/>
                        </a:lnSpc>
                        <a:buNone/>
                        <a:defRPr sz="1700" b="0">
                          <a:solidFill>
                            <a:srgbClr val="303437"/>
                          </a:solidFill>
                          <a:latin typeface="Noto Sans"/>
                        </a:defRPr>
                      </a:pPr>
                      <a:r>
                        <a:rPr sz="1700" b="0" lang="ja-JP" altLang="en-US">
                          <a:solidFill>
                            <a:srgbClr val="303437"/>
                          </a:solidFill>
                          <a:latin typeface="Noto Sans"/>
                          <a:ea typeface="Noto Sans CJK JP"/>
                          <a:cs typeface="Noto Sans"/>
                        </a:rPr>
                        <a:t>1</a:t>
                      </a:r>
                    </a:p>
                  </a:txBody>
                  <a:tcPr marL="63500" marR="63500" marT="38100" marB="38100" anchor="ctr">
                    <a:lnL w="7620">
                      <a:noFill/>
                    </a:lnL>
                    <a:lnR w="7620">
                      <a:noFill/>
                    </a:lnR>
                    <a:lnT w="7620">
                      <a:noFill/>
                    </a:lnT>
                    <a:lnB w="7620">
                      <a:noFill/>
                    </a:lnB>
                    <a:solidFill>
                      <a:srgbClr val="FFFEF8"/>
                    </a:solidFill>
                  </a:tcPr>
                </a:tc>
              </a:tr>
              <a:tr h="329184">
                <a:tc>
                  <a:txBody>
                    <a:bodyPr wrap="square">
                      <a:noAutofit/>
                    </a:bodyPr>
                    <a:lstStyle/>
                    <a:p>
                      <a:pPr algn="l">
                        <a:lnSpc>
                          <a:spcPts val="1954"/>
                        </a:lnSpc>
                        <a:buNone/>
                        <a:defRPr sz="1700" b="0">
                          <a:solidFill>
                            <a:srgbClr val="303437"/>
                          </a:solidFill>
                          <a:latin typeface="Noto Sans"/>
                        </a:defRPr>
                      </a:pPr>
                      <a:r>
                        <a:rPr sz="1700" b="0" lang="ja-JP" altLang="en-US">
                          <a:solidFill>
                            <a:srgbClr val="303437"/>
                          </a:solidFill>
                          <a:latin typeface="Noto Sans"/>
                          <a:ea typeface="Noto Sans CJK JP"/>
                          <a:cs typeface="Noto Sans"/>
                        </a:rPr>
                        <a:t>個人向け支援</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r">
                        <a:lnSpc>
                          <a:spcPts val="1954"/>
                        </a:lnSpc>
                        <a:buNone/>
                        <a:defRPr sz="1700" b="0">
                          <a:solidFill>
                            <a:srgbClr val="303437"/>
                          </a:solidFill>
                          <a:latin typeface="Noto Sans"/>
                        </a:defRPr>
                      </a:pPr>
                      <a:r>
                        <a:rPr sz="1700" b="0" lang="ja-JP" altLang="en-US">
                          <a:solidFill>
                            <a:srgbClr val="303437"/>
                          </a:solidFill>
                          <a:latin typeface="Noto Sans"/>
                          <a:ea typeface="Noto Sans CJK JP"/>
                          <a:cs typeface="Noto Sans"/>
                        </a:rPr>
                        <a:t>1</a:t>
                      </a:r>
                    </a:p>
                  </a:txBody>
                  <a:tcPr marL="63500" marR="63500" marT="38100" marB="38100" anchor="ctr">
                    <a:lnL w="7620">
                      <a:noFill/>
                    </a:lnL>
                    <a:lnR w="7620">
                      <a:noFill/>
                    </a:lnR>
                    <a:lnT w="7620">
                      <a:noFill/>
                    </a:lnT>
                    <a:lnB w="7620">
                      <a:noFill/>
                    </a:lnB>
                    <a:solidFill>
                      <a:srgbClr val="FFFEF8"/>
                    </a:solidFill>
                  </a:tcPr>
                </a:tc>
              </a:tr>
              <a:tr h="329184">
                <a:tc>
                  <a:txBody>
                    <a:bodyPr wrap="square">
                      <a:noAutofit/>
                    </a:bodyPr>
                    <a:lstStyle/>
                    <a:p>
                      <a:pPr algn="l">
                        <a:lnSpc>
                          <a:spcPts val="1954"/>
                        </a:lnSpc>
                        <a:buNone/>
                        <a:defRPr sz="1700" b="0">
                          <a:solidFill>
                            <a:srgbClr val="303437"/>
                          </a:solidFill>
                          <a:latin typeface="Noto Sans"/>
                        </a:defRPr>
                      </a:pPr>
                      <a:r>
                        <a:rPr sz="1700" b="0" lang="ja-JP" altLang="en-US">
                          <a:solidFill>
                            <a:srgbClr val="303437"/>
                          </a:solidFill>
                          <a:latin typeface="Noto Sans"/>
                          <a:ea typeface="Noto Sans CJK JP"/>
                          <a:cs typeface="Noto Sans"/>
                        </a:rPr>
                        <a:t>最適化</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r">
                        <a:lnSpc>
                          <a:spcPts val="1954"/>
                        </a:lnSpc>
                        <a:buNone/>
                        <a:defRPr sz="1700" b="0">
                          <a:solidFill>
                            <a:srgbClr val="303437"/>
                          </a:solidFill>
                          <a:latin typeface="Noto Sans"/>
                        </a:defRPr>
                      </a:pPr>
                      <a:r>
                        <a:rPr sz="1700" b="0" lang="ja-JP" altLang="en-US">
                          <a:solidFill>
                            <a:srgbClr val="303437"/>
                          </a:solidFill>
                          <a:latin typeface="Noto Sans"/>
                          <a:ea typeface="Noto Sans CJK JP"/>
                          <a:cs typeface="Noto Sans"/>
                        </a:rPr>
                        <a:t>1</a:t>
                      </a:r>
                    </a:p>
                  </a:txBody>
                  <a:tcPr marL="63500" marR="63500" marT="38100" marB="38100" anchor="ctr">
                    <a:lnL w="7620">
                      <a:noFill/>
                    </a:lnL>
                    <a:lnR w="7620">
                      <a:noFill/>
                    </a:lnR>
                    <a:lnT w="7620">
                      <a:noFill/>
                    </a:lnT>
                    <a:lnB w="7620">
                      <a:noFill/>
                    </a:lnB>
                    <a:solidFill>
                      <a:srgbClr val="FFFEF8"/>
                    </a:solidFill>
                  </a:tcPr>
                </a:tc>
              </a:tr>
              <a:tr h="329184">
                <a:tc>
                  <a:txBody>
                    <a:bodyPr wrap="square">
                      <a:noAutofit/>
                    </a:bodyPr>
                    <a:lstStyle/>
                    <a:p>
                      <a:pPr algn="l">
                        <a:lnSpc>
                          <a:spcPts val="1954"/>
                        </a:lnSpc>
                        <a:buNone/>
                        <a:defRPr sz="1700" b="0">
                          <a:solidFill>
                            <a:srgbClr val="303437"/>
                          </a:solidFill>
                          <a:latin typeface="Noto Sans"/>
                        </a:defRPr>
                      </a:pPr>
                      <a:r>
                        <a:rPr sz="1700" b="0" lang="ja-JP" altLang="en-US">
                          <a:solidFill>
                            <a:srgbClr val="303437"/>
                          </a:solidFill>
                          <a:latin typeface="Noto Sans"/>
                          <a:ea typeface="Noto Sans CJK JP"/>
                          <a:cs typeface="Noto Sans"/>
                        </a:rPr>
                        <a:t>データ照会</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r">
                        <a:lnSpc>
                          <a:spcPts val="1954"/>
                        </a:lnSpc>
                        <a:buNone/>
                        <a:defRPr sz="1700" b="0">
                          <a:solidFill>
                            <a:srgbClr val="303437"/>
                          </a:solidFill>
                          <a:latin typeface="Noto Sans"/>
                        </a:defRPr>
                      </a:pPr>
                      <a:r>
                        <a:rPr sz="1700" b="0" lang="ja-JP" altLang="en-US">
                          <a:solidFill>
                            <a:srgbClr val="303437"/>
                          </a:solidFill>
                          <a:latin typeface="Noto Sans"/>
                          <a:ea typeface="Noto Sans CJK JP"/>
                          <a:cs typeface="Noto Sans"/>
                        </a:rPr>
                        <a:t>1</a:t>
                      </a:r>
                    </a:p>
                  </a:txBody>
                  <a:tcPr marL="63500" marR="63500" marT="38100" marB="38100" anchor="ctr">
                    <a:lnL w="7620">
                      <a:noFill/>
                    </a:lnL>
                    <a:lnR w="7620">
                      <a:noFill/>
                    </a:lnR>
                    <a:lnT w="7620">
                      <a:noFill/>
                    </a:lnT>
                    <a:lnB w="7620">
                      <a:noFill/>
                    </a:lnB>
                    <a:solidFill>
                      <a:srgbClr val="FFFEF8"/>
                    </a:solidFill>
                  </a:tcPr>
                </a:tc>
              </a:tr>
              <a:tr h="329184">
                <a:tc>
                  <a:txBody>
                    <a:bodyPr wrap="square">
                      <a:noAutofit/>
                    </a:bodyPr>
                    <a:lstStyle/>
                    <a:p>
                      <a:pPr algn="l">
                        <a:lnSpc>
                          <a:spcPts val="1954"/>
                        </a:lnSpc>
                        <a:buNone/>
                        <a:defRPr sz="1700" b="0">
                          <a:solidFill>
                            <a:srgbClr val="303437"/>
                          </a:solidFill>
                          <a:latin typeface="Noto Sans"/>
                        </a:defRPr>
                      </a:pPr>
                      <a:r>
                        <a:rPr sz="1700" b="0" lang="ja-JP" altLang="en-US">
                          <a:solidFill>
                            <a:srgbClr val="303437"/>
                          </a:solidFill>
                          <a:latin typeface="Noto Sans"/>
                          <a:ea typeface="Noto Sans CJK JP"/>
                          <a:cs typeface="Noto Sans"/>
                        </a:rPr>
                        <a:t>動画処理</a:t>
                      </a:r>
                    </a:p>
                  </a:txBody>
                  <a:tcPr marL="63500" marR="63500" marT="38100" marB="38100" anchor="ctr">
                    <a:lnL w="7620">
                      <a:noFill/>
                    </a:lnL>
                    <a:lnR w="7620">
                      <a:noFill/>
                    </a:lnR>
                    <a:lnT w="7620">
                      <a:noFill/>
                    </a:lnT>
                    <a:lnB w="15240">
                      <a:solidFill>
                        <a:srgbClr val="626669"/>
                      </a:solidFill>
                      <a:prstDash val="solid"/>
                    </a:lnB>
                    <a:solidFill>
                      <a:srgbClr val="FFFEF8"/>
                    </a:solidFill>
                  </a:tcPr>
                </a:tc>
                <a:tc>
                  <a:txBody>
                    <a:bodyPr wrap="square">
                      <a:noAutofit/>
                    </a:bodyPr>
                    <a:lstStyle/>
                    <a:p>
                      <a:pPr algn="r">
                        <a:lnSpc>
                          <a:spcPts val="1954"/>
                        </a:lnSpc>
                        <a:buNone/>
                        <a:defRPr sz="1700" b="0">
                          <a:solidFill>
                            <a:srgbClr val="303437"/>
                          </a:solidFill>
                          <a:latin typeface="Noto Sans"/>
                        </a:defRPr>
                      </a:pPr>
                      <a:r>
                        <a:rPr sz="1700" b="0" lang="ja-JP" altLang="en-US">
                          <a:solidFill>
                            <a:srgbClr val="303437"/>
                          </a:solidFill>
                          <a:latin typeface="Noto Sans"/>
                          <a:ea typeface="Noto Sans CJK JP"/>
                          <a:cs typeface="Noto Sans"/>
                        </a:rPr>
                        <a:t>1</a:t>
                      </a:r>
                    </a:p>
                  </a:txBody>
                  <a:tcPr marL="63500" marR="63500" marT="38100" marB="38100" anchor="ctr">
                    <a:lnL w="7620">
                      <a:noFill/>
                    </a:lnL>
                    <a:lnR w="7620">
                      <a:noFill/>
                    </a:lnR>
                    <a:lnT w="7620">
                      <a:noFill/>
                    </a:lnT>
                    <a:lnB w="15240">
                      <a:solidFill>
                        <a:srgbClr val="626669"/>
                      </a:solidFill>
                      <a:prstDash val="solid"/>
                    </a:lnB>
                    <a:solidFill>
                      <a:srgbClr val="FFFEF8"/>
                    </a:solidFill>
                  </a:tcPr>
                </a:tc>
              </a:tr>
            </a:tbl>
          </a:graphicData>
        </a:graphic>
      </p:graphicFrame>
      <p:sp>
        <p:nvSpPr>
          <p:cNvPr id="5" name="TextBox 4"/>
          <p:cNvSpPr txBox="1"/>
          <p:nvPr/>
        </p:nvSpPr>
        <p:spPr>
          <a:xfrm>
            <a:off x="502920" y="4690872"/>
            <a:ext cx="8183879" cy="393192"/>
          </a:xfrm>
          <a:prstGeom prst="rect">
            <a:avLst/>
          </a:prstGeom>
          <a:noFill/>
        </p:spPr>
        <p:txBody>
          <a:bodyPr wrap="square" lIns="0" rIns="0" tIns="0" bIns="0">
            <a:noAutofit/>
          </a:bodyPr>
          <a:lstStyle/>
          <a:p>
            <a:pPr algn="l">
              <a:lnSpc>
                <a:spcPct val="112000"/>
              </a:lnSpc>
              <a:spcBef>
                <a:spcPts val="0"/>
              </a:spcBef>
              <a:spcAft>
                <a:spcPts val="0"/>
              </a:spcAft>
              <a:buNone/>
              <a:defRPr sz="810" b="0">
                <a:solidFill>
                  <a:srgbClr val="303437"/>
                </a:solidFill>
                <a:latin typeface="Noto Sans"/>
              </a:defRPr>
            </a:pPr>
            <a:r>
              <a:rPr sz="810" b="0" lang="ja-JP" altLang="en-US">
                <a:solidFill>
                  <a:srgbClr val="626669"/>
                </a:solidFill>
                <a:latin typeface="Noto Sans"/>
                <a:ea typeface="Noto Sans CJK JP"/>
                <a:cs typeface="Noto Sans"/>
              </a:rPr>
              <a:t/>
            </a:r>
            <a:r>
              <a:rPr sz="810" b="0" lang="ja-JP" altLang="en-US">
                <a:solidFill>
                  <a:srgbClr val="626669"/>
                </a:solidFill>
                <a:latin typeface="Noto Sans"/>
                <a:ea typeface="Noto Sans CJK JP"/>
                <a:cs typeface="Noto Sans"/>
              </a:rPr>
              <a:t>The Terminal-Bench Team (2025). Terminal-Bench 2.0. 公開89課題、改訂69671fb。2026-10-16集計。</a:t>
            </a:r>
          </a:p>
          <a:p>
            <a:pPr>
              <a:lnSpc>
                <a:spcPct val="112000"/>
              </a:lnSpc>
              <a:buNone/>
              <a:defRPr sz="810" b="0">
                <a:solidFill>
                  <a:srgbClr val="303437"/>
                </a:solidFill>
                <a:latin typeface="Noto Sans"/>
              </a:defRPr>
            </a:pPr>
            <a:r>
              <a:rPr sz="810" b="0" lang="ja-JP" altLang="en-US">
                <a:solidFill>
                  <a:srgbClr val="626669"/>
                </a:solidFill>
                <a:latin typeface="Noto Sans"/>
                <a:ea typeface="Noto Sans CJK JP"/>
                <a:cs typeface="Noto Sans"/>
                <a:hlinkClick r:id="rId2"/>
              </a:rPr>
              <a:t>https://github.com/laude-institute/terminal-bench-2/tree/69671fbaac6d67a7ef0dfec016cc38a64ef7a77c</a:t>
            </a:r>
          </a:p>
        </p:txBody>
      </p:sp>
    </p:spTree>
  </p:cSld>
  <p:clrMapOvr>
    <a:masterClrMapping/>
  </p:clrMapOvr>
</p:sld>
</file>

<file path=ppt/slides/slide5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786384"/>
            <a:ext cx="8046720" cy="502920"/>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公開メタデータの所要時間見積もり</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FFF"/>
                </a:solidFill>
                <a:latin typeface="Noto Sans"/>
                <a:ea typeface="Noto Sans CJK JP"/>
                <a:cs typeface="Noto Sans"/>
              </a:rPr>
              <a:t>Appendix: 2. 分布・実装と採点の詳細</a:t>
            </a:r>
          </a:p>
        </p:txBody>
      </p:sp>
      <p:graphicFrame>
        <p:nvGraphicFramePr>
          <p:cNvPr id="4" name="Table 3"/>
          <p:cNvGraphicFramePr>
            <a:graphicFrameLocks noGrp="1"/>
          </p:cNvGraphicFramePr>
          <p:nvPr/>
        </p:nvGraphicFramePr>
        <p:xfrm>
          <a:off x="548640" y="1508760"/>
          <a:ext cx="8046720" cy="2286000"/>
        </p:xfrm>
        <a:graphic>
          <a:graphicData uri="http://schemas.openxmlformats.org/drawingml/2006/table">
            <a:tbl>
              <a:tblPr firstRow="0" bandRow="0"/>
              <a:tblGrid>
                <a:gridCol w="3108960"/>
                <a:gridCol w="2468880"/>
                <a:gridCol w="2468880"/>
              </a:tblGrid>
              <a:tr h="502920">
                <a:tc>
                  <a:txBody>
                    <a:bodyPr wrap="square">
                      <a:noAutofit/>
                    </a:bodyPr>
                    <a:lstStyle/>
                    <a:p>
                      <a:pPr algn="l">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対象88課題</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c>
                  <a:txBody>
                    <a:bodyPr wrap="square">
                      <a:noAutofit/>
                    </a:bodyPr>
                    <a:lstStyle/>
                    <a:p>
                      <a:pPr algn="l">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専門家</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c>
                  <a:txBody>
                    <a:bodyPr wrap="square">
                      <a:noAutofit/>
                    </a:bodyPr>
                    <a:lstStyle/>
                    <a:p>
                      <a:pPr algn="l">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若手エンジニア</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r>
              <a:tr h="594360">
                <a:tc>
                  <a:txBody>
                    <a:bodyPr wrap="square">
                      <a:noAutofit/>
                    </a:bodyPr>
                    <a:lstStyle/>
                    <a:p>
                      <a:pPr algn="l">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中央値</a:t>
                      </a:r>
                    </a:p>
                  </a:txBody>
                  <a:tcPr marL="63500" marR="63500" marT="38100" marB="38100" anchor="ctr">
                    <a:lnL w="7620">
                      <a:noFill/>
                    </a:lnL>
                    <a:lnR w="7620">
                      <a:noFill/>
                    </a:lnR>
                    <a:lnT w="7620">
                      <a:solidFill>
                        <a:srgbClr val="626669"/>
                      </a:solidFill>
                      <a:prstDash val="solid"/>
                    </a:lnT>
                    <a:lnB w="7620">
                      <a:noFill/>
                    </a:lnB>
                    <a:solidFill>
                      <a:srgbClr val="FFFEF8"/>
                    </a:solidFill>
                  </a:tcPr>
                </a:tc>
                <a:tc>
                  <a:txBody>
                    <a:bodyPr wrap="square">
                      <a:noAutofit/>
                    </a:bodyPr>
                    <a:lstStyle/>
                    <a:p>
                      <a:pPr algn="l">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60分</a:t>
                      </a:r>
                    </a:p>
                  </a:txBody>
                  <a:tcPr marL="63500" marR="63500" marT="38100" marB="38100" anchor="ctr">
                    <a:lnL w="7620">
                      <a:noFill/>
                    </a:lnL>
                    <a:lnR w="7620">
                      <a:noFill/>
                    </a:lnR>
                    <a:lnT w="7620">
                      <a:solidFill>
                        <a:srgbClr val="626669"/>
                      </a:solidFill>
                      <a:prstDash val="solid"/>
                    </a:lnT>
                    <a:lnB w="7620">
                      <a:noFill/>
                    </a:lnB>
                    <a:solidFill>
                      <a:srgbClr val="FFFEF8"/>
                    </a:solidFill>
                  </a:tcPr>
                </a:tc>
                <a:tc>
                  <a:txBody>
                    <a:bodyPr wrap="square">
                      <a:noAutofit/>
                    </a:bodyPr>
                    <a:lstStyle/>
                    <a:p>
                      <a:pPr algn="l">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240分</a:t>
                      </a:r>
                    </a:p>
                  </a:txBody>
                  <a:tcPr marL="63500" marR="63500" marT="38100" marB="38100" anchor="ctr">
                    <a:lnL w="7620">
                      <a:noFill/>
                    </a:lnL>
                    <a:lnR w="7620">
                      <a:noFill/>
                    </a:lnR>
                    <a:lnT w="7620">
                      <a:solidFill>
                        <a:srgbClr val="626669"/>
                      </a:solidFill>
                      <a:prstDash val="solid"/>
                    </a:lnT>
                    <a:lnB w="7620">
                      <a:noFill/>
                    </a:lnB>
                    <a:solidFill>
                      <a:srgbClr val="FFFEF8"/>
                    </a:solidFill>
                  </a:tcPr>
                </a:tc>
              </a:tr>
              <a:tr h="594360">
                <a:tc>
                  <a:txBody>
                    <a:bodyPr wrap="square">
                      <a:noAutofit/>
                    </a:bodyPr>
                    <a:lstStyle/>
                    <a:p>
                      <a:pPr algn="l">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最小</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l">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5分</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l">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10分</a:t>
                      </a:r>
                    </a:p>
                  </a:txBody>
                  <a:tcPr marL="63500" marR="63500" marT="38100" marB="38100" anchor="ctr">
                    <a:lnL w="7620">
                      <a:noFill/>
                    </a:lnL>
                    <a:lnR w="7620">
                      <a:noFill/>
                    </a:lnR>
                    <a:lnT w="7620">
                      <a:noFill/>
                    </a:lnT>
                    <a:lnB w="7620">
                      <a:noFill/>
                    </a:lnB>
                    <a:solidFill>
                      <a:srgbClr val="FFFEF8"/>
                    </a:solidFill>
                  </a:tcPr>
                </a:tc>
              </a:tr>
              <a:tr h="594360">
                <a:tc>
                  <a:txBody>
                    <a:bodyPr wrap="square">
                      <a:noAutofit/>
                    </a:bodyPr>
                    <a:lstStyle/>
                    <a:p>
                      <a:pPr algn="l">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最大</a:t>
                      </a:r>
                    </a:p>
                  </a:txBody>
                  <a:tcPr marL="63500" marR="63500" marT="38100" marB="38100" anchor="ctr">
                    <a:lnL w="7620">
                      <a:noFill/>
                    </a:lnL>
                    <a:lnR w="7620">
                      <a:noFill/>
                    </a:lnR>
                    <a:lnT w="7620">
                      <a:noFill/>
                    </a:lnT>
                    <a:lnB w="15240">
                      <a:solidFill>
                        <a:srgbClr val="626669"/>
                      </a:solidFill>
                      <a:prstDash val="solid"/>
                    </a:lnB>
                    <a:solidFill>
                      <a:srgbClr val="FFFEF8"/>
                    </a:solidFill>
                  </a:tcPr>
                </a:tc>
                <a:tc>
                  <a:txBody>
                    <a:bodyPr wrap="square">
                      <a:noAutofit/>
                    </a:bodyPr>
                    <a:lstStyle/>
                    <a:p>
                      <a:pPr algn="l">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2,400分</a:t>
                      </a:r>
                    </a:p>
                  </a:txBody>
                  <a:tcPr marL="63500" marR="63500" marT="38100" marB="38100" anchor="ctr">
                    <a:lnL w="7620">
                      <a:noFill/>
                    </a:lnL>
                    <a:lnR w="7620">
                      <a:noFill/>
                    </a:lnR>
                    <a:lnT w="7620">
                      <a:noFill/>
                    </a:lnT>
                    <a:lnB w="15240">
                      <a:solidFill>
                        <a:srgbClr val="626669"/>
                      </a:solidFill>
                      <a:prstDash val="solid"/>
                    </a:lnB>
                    <a:solidFill>
                      <a:srgbClr val="FFFEF8"/>
                    </a:solidFill>
                  </a:tcPr>
                </a:tc>
                <a:tc>
                  <a:txBody>
                    <a:bodyPr wrap="square">
                      <a:noAutofit/>
                    </a:bodyPr>
                    <a:lstStyle/>
                    <a:p>
                      <a:pPr algn="l">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19,200分</a:t>
                      </a:r>
                    </a:p>
                  </a:txBody>
                  <a:tcPr marL="63500" marR="63500" marT="38100" marB="38100" anchor="ctr">
                    <a:lnL w="7620">
                      <a:noFill/>
                    </a:lnL>
                    <a:lnR w="7620">
                      <a:noFill/>
                    </a:lnR>
                    <a:lnT w="7620">
                      <a:noFill/>
                    </a:lnT>
                    <a:lnB w="15240">
                      <a:solidFill>
                        <a:srgbClr val="626669"/>
                      </a:solidFill>
                      <a:prstDash val="solid"/>
                    </a:lnB>
                    <a:solidFill>
                      <a:srgbClr val="FFFEF8"/>
                    </a:solidFill>
                  </a:tcPr>
                </a:tc>
              </a:tr>
            </a:tbl>
          </a:graphicData>
        </a:graphic>
      </p:graphicFrame>
      <p:sp>
        <p:nvSpPr>
          <p:cNvPr id="5" name="TextBox 4"/>
          <p:cNvSpPr txBox="1"/>
          <p:nvPr/>
        </p:nvSpPr>
        <p:spPr>
          <a:xfrm>
            <a:off x="594360" y="3986784"/>
            <a:ext cx="7955279" cy="685800"/>
          </a:xfrm>
          <a:prstGeom prst="rect">
            <a:avLst/>
          </a:prstGeom>
          <a:noFill/>
        </p:spPr>
        <p:txBody>
          <a:bodyPr wrap="square" lIns="0" rIns="0" tIns="0" bIns="0">
            <a:noAutofit/>
          </a:bodyPr>
          <a:lstStyle/>
          <a:p>
            <a:pPr algn="l">
              <a:lnSpc>
                <a:spcPts val="2160"/>
              </a:lnSpc>
              <a:spcBef>
                <a:spcPts val="0"/>
              </a:spcBef>
              <a:spcAft>
                <a:spcPts val="0"/>
              </a:spcAft>
              <a:buNone/>
              <a:defRPr sz="1800" b="0">
                <a:solidFill>
                  <a:srgbClr val="303437"/>
                </a:solidFill>
                <a:latin typeface="Noto Sans"/>
              </a:defRPr>
            </a:pPr>
            <a:r>
              <a:rPr sz="1800" b="0" lang="ja-JP" altLang="en-US">
                <a:solidFill>
                  <a:srgbClr val="303437"/>
                </a:solidFill>
                <a:latin typeface="Noto Sans"/>
                <a:ea typeface="Noto Sans CJK JP"/>
                <a:cs typeface="Noto Sans"/>
              </a:rPr>
              <a:t>authorが記入したexpert_time_estimate_min / junior_time_estimate_min。</a:t>
            </a:r>
          </a:p>
        </p:txBody>
      </p:sp>
      <p:sp>
        <p:nvSpPr>
          <p:cNvPr id="6" name="TextBox 5"/>
          <p:cNvSpPr txBox="1"/>
          <p:nvPr/>
        </p:nvSpPr>
        <p:spPr>
          <a:xfrm>
            <a:off x="502920" y="4690872"/>
            <a:ext cx="8183879" cy="393192"/>
          </a:xfrm>
          <a:prstGeom prst="rect">
            <a:avLst/>
          </a:prstGeom>
          <a:noFill/>
        </p:spPr>
        <p:txBody>
          <a:bodyPr wrap="square" lIns="0" rIns="0" tIns="0" bIns="0">
            <a:noAutofit/>
          </a:bodyPr>
          <a:lstStyle/>
          <a:p>
            <a:pPr algn="l">
              <a:lnSpc>
                <a:spcPct val="112000"/>
              </a:lnSpc>
              <a:spcBef>
                <a:spcPts val="0"/>
              </a:spcBef>
              <a:spcAft>
                <a:spcPts val="0"/>
              </a:spcAft>
              <a:buNone/>
              <a:defRPr sz="810" b="0">
                <a:solidFill>
                  <a:srgbClr val="303437"/>
                </a:solidFill>
                <a:latin typeface="Noto Sans"/>
              </a:defRPr>
            </a:pPr>
            <a:r>
              <a:rPr sz="810" b="0" lang="ja-JP" altLang="en-US">
                <a:solidFill>
                  <a:srgbClr val="626669"/>
                </a:solidFill>
                <a:latin typeface="Noto Sans"/>
                <a:ea typeface="Noto Sans CJK JP"/>
                <a:cs typeface="Noto Sans"/>
              </a:rPr>
              <a:t/>
            </a:r>
            <a:r>
              <a:rPr sz="810" b="0" lang="ja-JP" altLang="en-US">
                <a:solidFill>
                  <a:srgbClr val="626669"/>
                </a:solidFill>
                <a:latin typeface="Noto Sans"/>
                <a:ea typeface="Noto Sans CJK JP"/>
                <a:cs typeface="Noto Sans"/>
              </a:rPr>
              <a:t>The Terminal-Bench Team (2025). Terminal-Bench 2.0. 公開89課題、改訂69671fb。2026-10-16集計。</a:t>
            </a:r>
          </a:p>
          <a:p>
            <a:pPr>
              <a:lnSpc>
                <a:spcPct val="112000"/>
              </a:lnSpc>
              <a:buNone/>
              <a:defRPr sz="810" b="0">
                <a:solidFill>
                  <a:srgbClr val="303437"/>
                </a:solidFill>
                <a:latin typeface="Noto Sans"/>
              </a:defRPr>
            </a:pPr>
            <a:r>
              <a:rPr sz="810" b="0" lang="ja-JP" altLang="en-US">
                <a:solidFill>
                  <a:srgbClr val="626669"/>
                </a:solidFill>
                <a:latin typeface="Noto Sans"/>
                <a:ea typeface="Noto Sans CJK JP"/>
                <a:cs typeface="Noto Sans"/>
                <a:hlinkClick r:id="rId2"/>
              </a:rPr>
              <a:t>https://github.com/laude-institute/terminal-bench-2/tree/69671fbaac6d67a7ef0dfec016cc38a64ef7a77c</a:t>
            </a:r>
          </a:p>
        </p:txBody>
      </p:sp>
    </p:spTree>
  </p:cSld>
  <p:clrMapOvr>
    <a:masterClrMapping/>
  </p:clrMapOvr>
</p:sld>
</file>

<file path=ppt/slides/slide5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786384"/>
            <a:ext cx="8046720" cy="502920"/>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実行時間の上限は課題ごとに設定する</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FFF"/>
                </a:solidFill>
                <a:latin typeface="Noto Sans"/>
                <a:ea typeface="Noto Sans CJK JP"/>
                <a:cs typeface="Noto Sans"/>
              </a:rPr>
              <a:t>Appendix: 2. 分布・実装と採点の詳細</a:t>
            </a:r>
          </a:p>
        </p:txBody>
      </p:sp>
      <p:graphicFrame>
        <p:nvGraphicFramePr>
          <p:cNvPr id="4" name="Table 3"/>
          <p:cNvGraphicFramePr>
            <a:graphicFrameLocks noGrp="1"/>
          </p:cNvGraphicFramePr>
          <p:nvPr/>
        </p:nvGraphicFramePr>
        <p:xfrm>
          <a:off x="548640" y="1508760"/>
          <a:ext cx="8046720" cy="2414016"/>
        </p:xfrm>
        <a:graphic>
          <a:graphicData uri="http://schemas.openxmlformats.org/drawingml/2006/table">
            <a:tbl>
              <a:tblPr firstRow="0" bandRow="0"/>
              <a:tblGrid>
                <a:gridCol w="3291840"/>
                <a:gridCol w="4754880"/>
              </a:tblGrid>
              <a:tr h="502920">
                <a:tc>
                  <a:txBody>
                    <a:bodyPr wrap="square">
                      <a:noAutofit/>
                    </a:bodyPr>
                    <a:lstStyle/>
                    <a:p>
                      <a:pPr algn="l">
                        <a:lnSpc>
                          <a:spcPts val="2185"/>
                        </a:lnSpc>
                        <a:buNone/>
                        <a:defRPr sz="1900" b="0">
                          <a:solidFill>
                            <a:srgbClr val="303437"/>
                          </a:solidFill>
                          <a:latin typeface="Noto Sans"/>
                        </a:defRPr>
                      </a:pPr>
                      <a:r>
                        <a:rPr sz="1900" b="0" lang="ja-JP" altLang="en-US">
                          <a:solidFill>
                            <a:srgbClr val="303437"/>
                          </a:solidFill>
                          <a:latin typeface="Noto Sans"/>
                          <a:ea typeface="Noto Sans CJK JP"/>
                          <a:cs typeface="Noto Sans"/>
                        </a:rPr>
                        <a:t>設定名</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c>
                  <a:txBody>
                    <a:bodyPr wrap="square">
                      <a:noAutofit/>
                    </a:bodyPr>
                    <a:lstStyle/>
                    <a:p>
                      <a:pPr algn="l">
                        <a:lnSpc>
                          <a:spcPts val="2185"/>
                        </a:lnSpc>
                        <a:buNone/>
                        <a:defRPr sz="1900" b="0">
                          <a:solidFill>
                            <a:srgbClr val="303437"/>
                          </a:solidFill>
                          <a:latin typeface="Noto Sans"/>
                        </a:defRPr>
                      </a:pPr>
                      <a:r>
                        <a:rPr sz="1900" b="0" lang="ja-JP" altLang="en-US">
                          <a:solidFill>
                            <a:srgbClr val="303437"/>
                          </a:solidFill>
                          <a:latin typeface="Noto Sans"/>
                          <a:ea typeface="Noto Sans CJK JP"/>
                          <a:cs typeface="Noto Sans"/>
                        </a:rPr>
                        <a:t>公開版の範囲・実例</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r>
              <a:tr h="658368">
                <a:tc>
                  <a:txBody>
                    <a:bodyPr wrap="square">
                      <a:noAutofit/>
                    </a:bodyPr>
                    <a:lstStyle/>
                    <a:p>
                      <a:pPr algn="l">
                        <a:lnSpc>
                          <a:spcPts val="2185"/>
                        </a:lnSpc>
                        <a:buNone/>
                        <a:defRPr sz="1900" b="0">
                          <a:solidFill>
                            <a:srgbClr val="303437"/>
                          </a:solidFill>
                          <a:latin typeface="Noto Sans"/>
                        </a:defRPr>
                      </a:pPr>
                      <a:r>
                        <a:rPr sz="1900" b="0" lang="ja-JP" altLang="en-US">
                          <a:solidFill>
                            <a:srgbClr val="303437"/>
                          </a:solidFill>
                          <a:latin typeface="Noto Sans"/>
                          <a:ea typeface="Noto Sans CJK JP"/>
                          <a:cs typeface="Noto Sans"/>
                        </a:rPr>
                        <a:t>agent.timeout_sec</a:t>
                      </a:r>
                    </a:p>
                  </a:txBody>
                  <a:tcPr marL="63500" marR="63500" marT="38100" marB="38100" anchor="ctr">
                    <a:lnL w="7620">
                      <a:noFill/>
                    </a:lnL>
                    <a:lnR w="7620">
                      <a:noFill/>
                    </a:lnR>
                    <a:lnT w="7620">
                      <a:solidFill>
                        <a:srgbClr val="626669"/>
                      </a:solidFill>
                      <a:prstDash val="solid"/>
                    </a:lnT>
                    <a:lnB w="7620">
                      <a:noFill/>
                    </a:lnB>
                    <a:solidFill>
                      <a:srgbClr val="FFFEF8"/>
                    </a:solidFill>
                  </a:tcPr>
                </a:tc>
                <a:tc>
                  <a:txBody>
                    <a:bodyPr wrap="square">
                      <a:noAutofit/>
                    </a:bodyPr>
                    <a:lstStyle/>
                    <a:p>
                      <a:pPr algn="l">
                        <a:lnSpc>
                          <a:spcPts val="2185"/>
                        </a:lnSpc>
                        <a:buNone/>
                        <a:defRPr sz="1900" b="0">
                          <a:solidFill>
                            <a:srgbClr val="303437"/>
                          </a:solidFill>
                          <a:latin typeface="Noto Sans"/>
                        </a:defRPr>
                      </a:pPr>
                      <a:r>
                        <a:rPr sz="1900" b="0" lang="ja-JP" altLang="en-US">
                          <a:solidFill>
                            <a:srgbClr val="303437"/>
                          </a:solidFill>
                          <a:latin typeface="Noto Sans"/>
                          <a:ea typeface="Noto Sans CJK JP"/>
                          <a:cs typeface="Noto Sans"/>
                        </a:rPr>
                        <a:t>作業の上限。全89課題で600〜12,000秒</a:t>
                      </a:r>
                    </a:p>
                  </a:txBody>
                  <a:tcPr marL="63500" marR="63500" marT="38100" marB="38100" anchor="ctr">
                    <a:lnL w="7620">
                      <a:noFill/>
                    </a:lnL>
                    <a:lnR w="7620">
                      <a:noFill/>
                    </a:lnR>
                    <a:lnT w="7620">
                      <a:solidFill>
                        <a:srgbClr val="626669"/>
                      </a:solidFill>
                      <a:prstDash val="solid"/>
                    </a:lnT>
                    <a:lnB w="7620">
                      <a:noFill/>
                    </a:lnB>
                    <a:solidFill>
                      <a:srgbClr val="FFFEF8"/>
                    </a:solidFill>
                  </a:tcPr>
                </a:tc>
              </a:tr>
              <a:tr h="594360">
                <a:tc>
                  <a:txBody>
                    <a:bodyPr wrap="square">
                      <a:noAutofit/>
                    </a:bodyPr>
                    <a:lstStyle/>
                    <a:p>
                      <a:pPr algn="l">
                        <a:lnSpc>
                          <a:spcPts val="2185"/>
                        </a:lnSpc>
                        <a:buNone/>
                        <a:defRPr sz="1900" b="0">
                          <a:solidFill>
                            <a:srgbClr val="303437"/>
                          </a:solidFill>
                          <a:latin typeface="Noto Sans"/>
                        </a:defRPr>
                      </a:pPr>
                      <a:r>
                        <a:rPr sz="1900" b="0" lang="ja-JP" altLang="en-US">
                          <a:solidFill>
                            <a:srgbClr val="303437"/>
                          </a:solidFill>
                          <a:latin typeface="Noto Sans"/>
                          <a:ea typeface="Noto Sans CJK JP"/>
                          <a:cs typeface="Noto Sans"/>
                        </a:rPr>
                        <a:t>verifier.timeout_sec</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l">
                        <a:lnSpc>
                          <a:spcPts val="2185"/>
                        </a:lnSpc>
                        <a:buNone/>
                        <a:defRPr sz="1900" b="0">
                          <a:solidFill>
                            <a:srgbClr val="303437"/>
                          </a:solidFill>
                          <a:latin typeface="Noto Sans"/>
                        </a:defRPr>
                      </a:pPr>
                      <a:r>
                        <a:rPr sz="1900" b="0" lang="ja-JP" altLang="en-US">
                          <a:solidFill>
                            <a:srgbClr val="303437"/>
                          </a:solidFill>
                          <a:latin typeface="Noto Sans"/>
                          <a:ea typeface="Noto Sans CJK JP"/>
                          <a:cs typeface="Noto Sans"/>
                        </a:rPr>
                        <a:t>採点テスト側の時間制限</a:t>
                      </a:r>
                    </a:p>
                  </a:txBody>
                  <a:tcPr marL="63500" marR="63500" marT="38100" marB="38100" anchor="ctr">
                    <a:lnL w="7620">
                      <a:noFill/>
                    </a:lnL>
                    <a:lnR w="7620">
                      <a:noFill/>
                    </a:lnR>
                    <a:lnT w="7620">
                      <a:noFill/>
                    </a:lnT>
                    <a:lnB w="7620">
                      <a:noFill/>
                    </a:lnB>
                    <a:solidFill>
                      <a:srgbClr val="FFFEF8"/>
                    </a:solidFill>
                  </a:tcPr>
                </a:tc>
              </a:tr>
              <a:tr h="658368">
                <a:tc>
                  <a:txBody>
                    <a:bodyPr wrap="square">
                      <a:noAutofit/>
                    </a:bodyPr>
                    <a:lstStyle/>
                    <a:p>
                      <a:pPr algn="l">
                        <a:lnSpc>
                          <a:spcPts val="2185"/>
                        </a:lnSpc>
                        <a:buNone/>
                        <a:defRPr sz="1900" b="0">
                          <a:solidFill>
                            <a:srgbClr val="303437"/>
                          </a:solidFill>
                          <a:latin typeface="Noto Sans"/>
                        </a:defRPr>
                      </a:pPr>
                      <a:r>
                        <a:rPr sz="1900" b="0" lang="ja-JP" altLang="en-US">
                          <a:solidFill>
                            <a:srgbClr val="303437"/>
                          </a:solidFill>
                          <a:latin typeface="Noto Sans"/>
                          <a:ea typeface="Noto Sans CJK JP"/>
                          <a:cs typeface="Noto Sans"/>
                        </a:rPr>
                        <a:t>environment</a:t>
                      </a:r>
                    </a:p>
                  </a:txBody>
                  <a:tcPr marL="63500" marR="63500" marT="38100" marB="38100" anchor="ctr">
                    <a:lnL w="7620">
                      <a:noFill/>
                    </a:lnL>
                    <a:lnR w="7620">
                      <a:noFill/>
                    </a:lnR>
                    <a:lnT w="7620">
                      <a:noFill/>
                    </a:lnT>
                    <a:lnB w="15240">
                      <a:solidFill>
                        <a:srgbClr val="626669"/>
                      </a:solidFill>
                      <a:prstDash val="solid"/>
                    </a:lnB>
                    <a:solidFill>
                      <a:srgbClr val="FFFEF8"/>
                    </a:solidFill>
                  </a:tcPr>
                </a:tc>
                <a:tc>
                  <a:txBody>
                    <a:bodyPr wrap="square">
                      <a:noAutofit/>
                    </a:bodyPr>
                    <a:lstStyle/>
                    <a:p>
                      <a:pPr algn="l">
                        <a:lnSpc>
                          <a:spcPts val="2185"/>
                        </a:lnSpc>
                        <a:buNone/>
                        <a:defRPr sz="1900" b="0">
                          <a:solidFill>
                            <a:srgbClr val="303437"/>
                          </a:solidFill>
                          <a:latin typeface="Noto Sans"/>
                        </a:defRPr>
                      </a:pPr>
                      <a:r>
                        <a:rPr sz="1900" b="0" lang="ja-JP" altLang="en-US">
                          <a:solidFill>
                            <a:srgbClr val="303437"/>
                          </a:solidFill>
                          <a:latin typeface="Noto Sans"/>
                          <a:ea typeface="Noto Sans CJK JP"/>
                          <a:cs typeface="Noto Sans"/>
                        </a:rPr>
                        <a:t>CPU・メモリ・ストレージと環境の構築条件</a:t>
                      </a:r>
                    </a:p>
                  </a:txBody>
                  <a:tcPr marL="63500" marR="63500" marT="38100" marB="38100" anchor="ctr">
                    <a:lnL w="7620">
                      <a:noFill/>
                    </a:lnL>
                    <a:lnR w="7620">
                      <a:noFill/>
                    </a:lnR>
                    <a:lnT w="7620">
                      <a:noFill/>
                    </a:lnT>
                    <a:lnB w="15240">
                      <a:solidFill>
                        <a:srgbClr val="626669"/>
                      </a:solidFill>
                      <a:prstDash val="solid"/>
                    </a:lnB>
                    <a:solidFill>
                      <a:srgbClr val="FFFEF8"/>
                    </a:solidFill>
                  </a:tcPr>
                </a:tc>
              </a:tr>
            </a:tbl>
          </a:graphicData>
        </a:graphic>
      </p:graphicFrame>
      <p:sp>
        <p:nvSpPr>
          <p:cNvPr id="5" name="TextBox 4"/>
          <p:cNvSpPr txBox="1"/>
          <p:nvPr/>
        </p:nvSpPr>
        <p:spPr>
          <a:xfrm>
            <a:off x="502920" y="4690872"/>
            <a:ext cx="8183879" cy="393192"/>
          </a:xfrm>
          <a:prstGeom prst="rect">
            <a:avLst/>
          </a:prstGeom>
          <a:noFill/>
        </p:spPr>
        <p:txBody>
          <a:bodyPr wrap="square" lIns="0" rIns="0" tIns="0" bIns="0">
            <a:noAutofit/>
          </a:bodyPr>
          <a:lstStyle/>
          <a:p>
            <a:pPr algn="l">
              <a:lnSpc>
                <a:spcPct val="112000"/>
              </a:lnSpc>
              <a:spcBef>
                <a:spcPts val="0"/>
              </a:spcBef>
              <a:spcAft>
                <a:spcPts val="0"/>
              </a:spcAft>
              <a:buNone/>
              <a:defRPr sz="810" b="0">
                <a:solidFill>
                  <a:srgbClr val="303437"/>
                </a:solidFill>
                <a:latin typeface="Noto Sans"/>
              </a:defRPr>
            </a:pPr>
            <a:r>
              <a:rPr sz="810" b="0" lang="ja-JP" altLang="en-US">
                <a:solidFill>
                  <a:srgbClr val="626669"/>
                </a:solidFill>
                <a:latin typeface="Noto Sans"/>
                <a:ea typeface="Noto Sans CJK JP"/>
                <a:cs typeface="Noto Sans"/>
              </a:rPr>
              <a:t/>
            </a:r>
            <a:r>
              <a:rPr sz="810" b="0" lang="ja-JP" altLang="en-US">
                <a:solidFill>
                  <a:srgbClr val="626669"/>
                </a:solidFill>
                <a:latin typeface="Noto Sans"/>
                <a:ea typeface="Noto Sans CJK JP"/>
                <a:cs typeface="Noto Sans"/>
              </a:rPr>
              <a:t>The Terminal-Bench Team (2025). Terminal-Bench 2.0. 公開89課題、改訂69671fb。2026-10-16集計。</a:t>
            </a:r>
          </a:p>
          <a:p>
            <a:pPr>
              <a:lnSpc>
                <a:spcPct val="112000"/>
              </a:lnSpc>
              <a:buNone/>
              <a:defRPr sz="810" b="0">
                <a:solidFill>
                  <a:srgbClr val="303437"/>
                </a:solidFill>
                <a:latin typeface="Noto Sans"/>
              </a:defRPr>
            </a:pPr>
            <a:r>
              <a:rPr sz="810" b="0" lang="ja-JP" altLang="en-US">
                <a:solidFill>
                  <a:srgbClr val="626669"/>
                </a:solidFill>
                <a:latin typeface="Noto Sans"/>
                <a:ea typeface="Noto Sans CJK JP"/>
                <a:cs typeface="Noto Sans"/>
                <a:hlinkClick r:id="rId2"/>
              </a:rPr>
              <a:t>https://github.com/laude-institute/terminal-bench-2/tree/69671fbaac6d67a7ef0dfec016cc38a64ef7a77c</a:t>
            </a:r>
          </a:p>
        </p:txBody>
      </p:sp>
    </p:spTree>
  </p:cSld>
  <p:clrMapOvr>
    <a:masterClrMapping/>
  </p:clrMapOvr>
</p:sld>
</file>

<file path=ppt/slides/slide6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786384"/>
            <a:ext cx="8046720" cy="502920"/>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参照する改訂で課題を固定して取得できる</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FFF"/>
                </a:solidFill>
                <a:latin typeface="Noto Sans"/>
                <a:ea typeface="Noto Sans CJK JP"/>
                <a:cs typeface="Noto Sans"/>
              </a:rPr>
              <a:t>Appendix: 2. 分布・実装と採点の詳細</a:t>
            </a:r>
          </a:p>
        </p:txBody>
      </p:sp>
      <p:sp>
        <p:nvSpPr>
          <p:cNvPr id="4" name="Rectangle 3"/>
          <p:cNvSpPr/>
          <p:nvPr/>
        </p:nvSpPr>
        <p:spPr>
          <a:xfrm>
            <a:off x="548640" y="1508760"/>
            <a:ext cx="8046720" cy="1376044"/>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ctr" wrap="none" lIns="152400" rIns="152400" tIns="127000" bIns="127000"/>
          <a:lstStyle/>
          <a:p>
            <a:pPr algn="l">
              <a:lnSpc>
                <a:spcPct val="114000"/>
              </a:lnSpc>
              <a:spcBef>
                <a:spcPts val="0"/>
              </a:spcBef>
              <a:spcAft>
                <a:spcPts val="0"/>
              </a:spcAft>
              <a:buNone/>
              <a:defRPr sz="1550" b="0">
                <a:solidFill>
                  <a:srgbClr val="303437"/>
                </a:solidFill>
                <a:latin typeface="Noto Sans"/>
              </a:defRPr>
            </a:pPr>
            <a:r>
              <a:rPr sz="1550" b="0" lang="ja-JP" altLang="en-US">
                <a:solidFill>
                  <a:srgbClr val="303437"/>
                </a:solidFill>
                <a:latin typeface="Liberation Mono"/>
                <a:ea typeface="Noto Sans CJK JP"/>
                <a:cs typeface="Liberation Mono"/>
              </a:rPr>
              <a:t>git clone https://github.com/laude-institute/terminal-bench-2.git</a:t>
            </a:r>
          </a:p>
          <a:p>
            <a:pPr algn="l">
              <a:lnSpc>
                <a:spcPct val="114000"/>
              </a:lnSpc>
              <a:spcBef>
                <a:spcPts val="0"/>
              </a:spcBef>
              <a:spcAft>
                <a:spcPts val="0"/>
              </a:spcAft>
              <a:buNone/>
              <a:defRPr sz="1550" b="0">
                <a:solidFill>
                  <a:srgbClr val="303437"/>
                </a:solidFill>
                <a:latin typeface="Noto Sans"/>
              </a:defRPr>
            </a:pPr>
            <a:r>
              <a:rPr sz="1550" b="0" lang="ja-JP" altLang="en-US">
                <a:solidFill>
                  <a:srgbClr val="303437"/>
                </a:solidFill>
                <a:latin typeface="Liberation Mono"/>
                <a:ea typeface="Noto Sans CJK JP"/>
                <a:cs typeface="Liberation Mono"/>
              </a:rPr>
              <a:t>cd terminal-bench-2</a:t>
            </a:r>
          </a:p>
          <a:p>
            <a:pPr algn="l">
              <a:lnSpc>
                <a:spcPct val="114000"/>
              </a:lnSpc>
              <a:spcBef>
                <a:spcPts val="0"/>
              </a:spcBef>
              <a:spcAft>
                <a:spcPts val="0"/>
              </a:spcAft>
              <a:buNone/>
              <a:defRPr sz="1550" b="0">
                <a:solidFill>
                  <a:srgbClr val="303437"/>
                </a:solidFill>
                <a:latin typeface="Noto Sans"/>
              </a:defRPr>
            </a:pPr>
            <a:r>
              <a:rPr sz="1550" b="0" lang="ja-JP" altLang="en-US">
                <a:solidFill>
                  <a:srgbClr val="303437"/>
                </a:solidFill>
                <a:latin typeface="Liberation Mono"/>
                <a:ea typeface="Noto Sans CJK JP"/>
                <a:cs typeface="Liberation Mono"/>
              </a:rPr>
              <a:t>git checkout 69671fbaac6d67a7ef0dfec016cc38a64ef7a77c</a:t>
            </a:r>
          </a:p>
          <a:p>
            <a:pPr algn="l">
              <a:lnSpc>
                <a:spcPct val="114000"/>
              </a:lnSpc>
              <a:spcBef>
                <a:spcPts val="0"/>
              </a:spcBef>
              <a:spcAft>
                <a:spcPts val="0"/>
              </a:spcAft>
              <a:buNone/>
              <a:defRPr sz="1550" b="0">
                <a:solidFill>
                  <a:srgbClr val="303437"/>
                </a:solidFill>
                <a:latin typeface="Noto Sans"/>
              </a:defRPr>
            </a:pPr>
            <a:r>
              <a:rPr sz="1550" b="0" lang="ja-JP" altLang="en-US">
                <a:solidFill>
                  <a:srgbClr val="303437"/>
                </a:solidFill>
                <a:latin typeface="Liberation Mono"/>
                <a:ea typeface="Noto Sans CJK JP"/>
                <a:cs typeface="Liberation Mono"/>
              </a:rPr>
              <a:t/>
            </a:r>
          </a:p>
          <a:p>
            <a:pPr algn="l">
              <a:lnSpc>
                <a:spcPct val="114000"/>
              </a:lnSpc>
              <a:spcBef>
                <a:spcPts val="0"/>
              </a:spcBef>
              <a:spcAft>
                <a:spcPts val="0"/>
              </a:spcAft>
              <a:buNone/>
              <a:defRPr sz="1550" b="0">
                <a:solidFill>
                  <a:srgbClr val="303437"/>
                </a:solidFill>
                <a:latin typeface="Noto Sans"/>
              </a:defRPr>
            </a:pPr>
            <a:r>
              <a:rPr sz="1550" b="0" lang="ja-JP" altLang="en-US">
                <a:solidFill>
                  <a:srgbClr val="303437"/>
                </a:solidFill>
                <a:latin typeface="Liberation Mono"/>
                <a:ea typeface="Noto Sans CJK JP"/>
                <a:cs typeface="Liberation Mono"/>
              </a:rPr>
              <a:t>ls db-wal-recovery</a:t>
            </a:r>
          </a:p>
        </p:txBody>
      </p:sp>
      <p:sp>
        <p:nvSpPr>
          <p:cNvPr id="5" name="TextBox 4"/>
          <p:cNvSpPr txBox="1"/>
          <p:nvPr/>
        </p:nvSpPr>
        <p:spPr>
          <a:xfrm>
            <a:off x="594360" y="3085973"/>
            <a:ext cx="7955279" cy="777240"/>
          </a:xfrm>
          <a:prstGeom prst="rect">
            <a:avLst/>
          </a:prstGeom>
          <a:noFill/>
        </p:spPr>
        <p:txBody>
          <a:bodyPr wrap="square" lIns="0" rIns="0" tIns="0" bIns="0">
            <a:noAutofit/>
          </a:bodyPr>
          <a:lstStyle/>
          <a:p>
            <a:pPr algn="l">
              <a:lnSpc>
                <a:spcPct val="117000"/>
              </a:lnSpc>
              <a:spcBef>
                <a:spcPts val="0"/>
              </a:spcBef>
              <a:spcAft>
                <a:spcPts val="0"/>
              </a:spcAft>
              <a:buNone/>
              <a:defRPr sz="1900" b="0">
                <a:solidFill>
                  <a:srgbClr val="303437"/>
                </a:solidFill>
                <a:latin typeface="Noto Sans"/>
              </a:defRPr>
            </a:pPr>
            <a:r>
              <a:rPr sz="1900" b="0" lang="ja-JP" altLang="en-US">
                <a:solidFill>
                  <a:srgbClr val="303437"/>
                </a:solidFill>
                <a:latin typeface="Noto Sans"/>
                <a:ea typeface="Noto Sans CJK JP"/>
                <a:cs typeface="Noto Sans"/>
              </a:rPr>
              <a:t>Harborレジストリのterminal-bench@2.0は、89課題すべてをこのGit改訂で指定している。</a:t>
            </a:r>
          </a:p>
        </p:txBody>
      </p:sp>
      <p:sp>
        <p:nvSpPr>
          <p:cNvPr id="6" name="TextBox 5"/>
          <p:cNvSpPr txBox="1"/>
          <p:nvPr/>
        </p:nvSpPr>
        <p:spPr>
          <a:xfrm>
            <a:off x="502920" y="4690872"/>
            <a:ext cx="8183879" cy="393192"/>
          </a:xfrm>
          <a:prstGeom prst="rect">
            <a:avLst/>
          </a:prstGeom>
          <a:noFill/>
        </p:spPr>
        <p:txBody>
          <a:bodyPr wrap="square" lIns="0" rIns="0" tIns="0" bIns="0">
            <a:noAutofit/>
          </a:bodyPr>
          <a:lstStyle/>
          <a:p>
            <a:pPr algn="l">
              <a:lnSpc>
                <a:spcPct val="112000"/>
              </a:lnSpc>
              <a:spcBef>
                <a:spcPts val="0"/>
              </a:spcBef>
              <a:spcAft>
                <a:spcPts val="0"/>
              </a:spcAft>
              <a:buNone/>
              <a:defRPr sz="810" b="0">
                <a:solidFill>
                  <a:srgbClr val="303437"/>
                </a:solidFill>
                <a:latin typeface="Noto Sans"/>
              </a:defRPr>
            </a:pPr>
            <a:r>
              <a:rPr sz="810" b="0" lang="ja-JP" altLang="en-US">
                <a:solidFill>
                  <a:srgbClr val="626669"/>
                </a:solidFill>
                <a:latin typeface="Noto Sans"/>
                <a:ea typeface="Noto Sans CJK JP"/>
                <a:cs typeface="Noto Sans"/>
              </a:rPr>
              <a:t/>
            </a:r>
            <a:r>
              <a:rPr sz="810" b="0" lang="ja-JP" altLang="en-US">
                <a:solidFill>
                  <a:srgbClr val="626669"/>
                </a:solidFill>
                <a:latin typeface="Noto Sans"/>
                <a:ea typeface="Noto Sans CJK JP"/>
                <a:cs typeface="Noto Sans"/>
              </a:rPr>
              <a:t>Harbor contributors (2026). Harbor registry: terminal-bench@2.0. 2026-10-16参照。</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https://github.com/laude-institute/harbor/blob/main/registry.json</a:t>
            </a:r>
          </a:p>
        </p:txBody>
      </p:sp>
    </p:spTree>
  </p:cSld>
  <p:clrMapOvr>
    <a:masterClrMapping/>
  </p:clrMapOvr>
</p:sld>
</file>

<file path=ppt/slides/slide6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786384"/>
            <a:ext cx="8046720" cy="502920"/>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データ復元のテストは件数と値を確認する</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FFF"/>
                </a:solidFill>
                <a:latin typeface="Noto Sans"/>
                <a:ea typeface="Noto Sans CJK JP"/>
                <a:cs typeface="Noto Sans"/>
              </a:rPr>
              <a:t>Appendix: 2. 分布・実装と採点の詳細</a:t>
            </a:r>
          </a:p>
        </p:txBody>
      </p:sp>
      <p:sp>
        <p:nvSpPr>
          <p:cNvPr id="4" name="Rectangle 3"/>
          <p:cNvSpPr/>
          <p:nvPr/>
        </p:nvSpPr>
        <p:spPr>
          <a:xfrm>
            <a:off x="548640" y="1508760"/>
            <a:ext cx="8046720" cy="1875536"/>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ctr" wrap="none" lIns="152400" rIns="152400" tIns="127000" bIns="127000"/>
          <a:lstStyle/>
          <a:p>
            <a:pPr algn="l">
              <a:lnSpc>
                <a:spcPct val="114000"/>
              </a:lnSpc>
              <a:spcBef>
                <a:spcPts val="0"/>
              </a:spcBef>
              <a:spcAft>
                <a:spcPts val="0"/>
              </a:spcAft>
              <a:buNone/>
              <a:defRPr sz="1600" b="0">
                <a:solidFill>
                  <a:srgbClr val="303437"/>
                </a:solidFill>
                <a:latin typeface="Noto Sans"/>
              </a:defRPr>
            </a:pPr>
            <a:r>
              <a:rPr sz="1600" b="0" lang="ja-JP" altLang="en-US">
                <a:solidFill>
                  <a:srgbClr val="303437"/>
                </a:solidFill>
                <a:latin typeface="Liberation Mono"/>
                <a:ea typeface="Noto Sans CJK JP"/>
                <a:cs typeface="Liberation Mono"/>
              </a:rPr>
              <a:t>assert len(data) == 11</a:t>
            </a:r>
          </a:p>
          <a:p>
            <a:pPr algn="l">
              <a:lnSpc>
                <a:spcPct val="114000"/>
              </a:lnSpc>
              <a:spcBef>
                <a:spcPts val="0"/>
              </a:spcBef>
              <a:spcAft>
                <a:spcPts val="0"/>
              </a:spcAft>
              <a:buNone/>
              <a:defRPr sz="1600" b="0">
                <a:solidFill>
                  <a:srgbClr val="303437"/>
                </a:solidFill>
                <a:latin typeface="Noto Sans"/>
              </a:defRPr>
            </a:pPr>
            <a:r>
              <a:rPr sz="1600" b="0" lang="ja-JP" altLang="en-US">
                <a:solidFill>
                  <a:srgbClr val="303437"/>
                </a:solidFill>
                <a:latin typeface="Liberation Mono"/>
                <a:ea typeface="Noto Sans CJK JP"/>
                <a:cs typeface="Liberation Mono"/>
              </a:rPr>
              <a:t>ids = [item["id"] for item in data]</a:t>
            </a:r>
          </a:p>
          <a:p>
            <a:pPr algn="l">
              <a:lnSpc>
                <a:spcPct val="114000"/>
              </a:lnSpc>
              <a:spcBef>
                <a:spcPts val="0"/>
              </a:spcBef>
              <a:spcAft>
                <a:spcPts val="0"/>
              </a:spcAft>
              <a:buNone/>
              <a:defRPr sz="1600" b="0">
                <a:solidFill>
                  <a:srgbClr val="303437"/>
                </a:solidFill>
                <a:latin typeface="Noto Sans"/>
              </a:defRPr>
            </a:pPr>
            <a:r>
              <a:rPr sz="1600" b="0" lang="ja-JP" altLang="en-US">
                <a:solidFill>
                  <a:srgbClr val="303437"/>
                </a:solidFill>
                <a:latin typeface="Liberation Mono"/>
                <a:ea typeface="Noto Sans CJK JP"/>
                <a:cs typeface="Liberation Mono"/>
              </a:rPr>
              <a:t>assert ids == list(range(1, 12))</a:t>
            </a:r>
          </a:p>
          <a:p>
            <a:pPr algn="l">
              <a:lnSpc>
                <a:spcPct val="114000"/>
              </a:lnSpc>
              <a:spcBef>
                <a:spcPts val="0"/>
              </a:spcBef>
              <a:spcAft>
                <a:spcPts val="0"/>
              </a:spcAft>
              <a:buNone/>
              <a:defRPr sz="1600" b="0">
                <a:solidFill>
                  <a:srgbClr val="303437"/>
                </a:solidFill>
                <a:latin typeface="Noto Sans"/>
              </a:defRPr>
            </a:pPr>
            <a:r>
              <a:rPr sz="1600" b="0" lang="ja-JP" altLang="en-US">
                <a:solidFill>
                  <a:srgbClr val="303437"/>
                </a:solidFill>
                <a:latin typeface="Liberation Mono"/>
                <a:ea typeface="Noto Sans CJK JP"/>
                <a:cs typeface="Liberation Mono"/>
              </a:rPr>
              <a:t/>
            </a:r>
          </a:p>
          <a:p>
            <a:pPr algn="l">
              <a:lnSpc>
                <a:spcPct val="114000"/>
              </a:lnSpc>
              <a:spcBef>
                <a:spcPts val="0"/>
              </a:spcBef>
              <a:spcAft>
                <a:spcPts val="0"/>
              </a:spcAft>
              <a:buNone/>
              <a:defRPr sz="1600" b="0">
                <a:solidFill>
                  <a:srgbClr val="303437"/>
                </a:solidFill>
                <a:latin typeface="Noto Sans"/>
              </a:defRPr>
            </a:pPr>
            <a:r>
              <a:rPr sz="1600" b="0" lang="ja-JP" altLang="en-US">
                <a:solidFill>
                  <a:srgbClr val="303437"/>
                </a:solidFill>
                <a:latin typeface="Liberation Mono"/>
                <a:ea typeface="Noto Sans CJK JP"/>
                <a:cs typeface="Liberation Mono"/>
              </a:rPr>
              <a:t>id_to_item = {item["id"]: item for item in data}</a:t>
            </a:r>
          </a:p>
          <a:p>
            <a:pPr algn="l">
              <a:lnSpc>
                <a:spcPct val="114000"/>
              </a:lnSpc>
              <a:spcBef>
                <a:spcPts val="0"/>
              </a:spcBef>
              <a:spcAft>
                <a:spcPts val="0"/>
              </a:spcAft>
              <a:buNone/>
              <a:defRPr sz="1600" b="0">
                <a:solidFill>
                  <a:srgbClr val="303437"/>
                </a:solidFill>
                <a:latin typeface="Noto Sans"/>
              </a:defRPr>
            </a:pPr>
            <a:r>
              <a:rPr sz="1600" b="0" lang="ja-JP" altLang="en-US">
                <a:solidFill>
                  <a:srgbClr val="303437"/>
                </a:solidFill>
                <a:latin typeface="Liberation Mono"/>
                <a:ea typeface="Noto Sans CJK JP"/>
                <a:cs typeface="Liberation Mono"/>
              </a:rPr>
              <a:t>assert id_to_item[1]["value"] == 150</a:t>
            </a:r>
          </a:p>
          <a:p>
            <a:pPr algn="l">
              <a:lnSpc>
                <a:spcPct val="114000"/>
              </a:lnSpc>
              <a:spcBef>
                <a:spcPts val="0"/>
              </a:spcBef>
              <a:spcAft>
                <a:spcPts val="0"/>
              </a:spcAft>
              <a:buNone/>
              <a:defRPr sz="1600" b="0">
                <a:solidFill>
                  <a:srgbClr val="303437"/>
                </a:solidFill>
                <a:latin typeface="Noto Sans"/>
              </a:defRPr>
            </a:pPr>
            <a:r>
              <a:rPr sz="1600" b="0" lang="ja-JP" altLang="en-US">
                <a:solidFill>
                  <a:srgbClr val="303437"/>
                </a:solidFill>
                <a:latin typeface="Liberation Mono"/>
                <a:ea typeface="Noto Sans CJK JP"/>
                <a:cs typeface="Liberation Mono"/>
              </a:rPr>
              <a:t>assert id_to_item[2]["value"] == 250</a:t>
            </a:r>
          </a:p>
        </p:txBody>
      </p:sp>
      <p:sp>
        <p:nvSpPr>
          <p:cNvPr id="5" name="TextBox 4"/>
          <p:cNvSpPr txBox="1"/>
          <p:nvPr/>
        </p:nvSpPr>
        <p:spPr>
          <a:xfrm>
            <a:off x="594360" y="3585464"/>
            <a:ext cx="7955279" cy="777240"/>
          </a:xfrm>
          <a:prstGeom prst="rect">
            <a:avLst/>
          </a:prstGeom>
          <a:noFill/>
        </p:spPr>
        <p:txBody>
          <a:bodyPr wrap="square" lIns="0" rIns="0" tIns="0" bIns="0">
            <a:noAutofit/>
          </a:bodyPr>
          <a:lstStyle/>
          <a:p>
            <a:pPr algn="l">
              <a:lnSpc>
                <a:spcPct val="117000"/>
              </a:lnSpc>
              <a:spcBef>
                <a:spcPts val="0"/>
              </a:spcBef>
              <a:spcAft>
                <a:spcPts val="0"/>
              </a:spcAft>
              <a:buNone/>
              <a:defRPr sz="1900" b="0">
                <a:solidFill>
                  <a:srgbClr val="303437"/>
                </a:solidFill>
                <a:latin typeface="Noto Sans"/>
              </a:defRPr>
            </a:pPr>
            <a:r>
              <a:rPr sz="1900" b="0" lang="ja-JP" altLang="en-US">
                <a:solidFill>
                  <a:srgbClr val="303437"/>
                </a:solidFill>
                <a:latin typeface="Noto Sans"/>
                <a:ea typeface="Noto Sans CJK JP"/>
                <a:cs typeface="Noto Sans"/>
              </a:rPr>
              <a:t>db-wal-recovery/tests/test_outputs.pyからの抜粋。id順の全11件と、WALに含まれる更新値を照合する。</a:t>
            </a:r>
          </a:p>
        </p:txBody>
      </p:sp>
      <p:sp>
        <p:nvSpPr>
          <p:cNvPr id="6" name="TextBox 5"/>
          <p:cNvSpPr txBox="1"/>
          <p:nvPr/>
        </p:nvSpPr>
        <p:spPr>
          <a:xfrm>
            <a:off x="502920" y="4690872"/>
            <a:ext cx="8183879" cy="393192"/>
          </a:xfrm>
          <a:prstGeom prst="rect">
            <a:avLst/>
          </a:prstGeom>
          <a:noFill/>
        </p:spPr>
        <p:txBody>
          <a:bodyPr wrap="square" lIns="0" rIns="0" tIns="0" bIns="0">
            <a:noAutofit/>
          </a:bodyPr>
          <a:lstStyle/>
          <a:p>
            <a:pPr algn="l">
              <a:lnSpc>
                <a:spcPct val="112000"/>
              </a:lnSpc>
              <a:spcBef>
                <a:spcPts val="0"/>
              </a:spcBef>
              <a:spcAft>
                <a:spcPts val="0"/>
              </a:spcAft>
              <a:buNone/>
              <a:defRPr sz="810" b="0">
                <a:solidFill>
                  <a:srgbClr val="303437"/>
                </a:solidFill>
                <a:latin typeface="Noto Sans"/>
              </a:defRPr>
            </a:pPr>
            <a:r>
              <a:rPr sz="810" b="0" lang="ja-JP" altLang="en-US">
                <a:solidFill>
                  <a:srgbClr val="626669"/>
                </a:solidFill>
                <a:latin typeface="Noto Sans"/>
                <a:ea typeface="Noto Sans CJK JP"/>
                <a:cs typeface="Noto Sans"/>
              </a:rPr>
              <a:t/>
            </a:r>
            <a:r>
              <a:rPr sz="810" b="0" lang="ja-JP" altLang="en-US">
                <a:solidFill>
                  <a:srgbClr val="626669"/>
                </a:solidFill>
                <a:latin typeface="Noto Sans"/>
                <a:ea typeface="Noto Sans CJK JP"/>
                <a:cs typeface="Noto Sans"/>
              </a:rPr>
              <a:t>The Terminal-Bench Team (2025). Terminal-Bench 2.0: db-wal-recovery. 改訂69671fb。</a:t>
            </a:r>
          </a:p>
          <a:p>
            <a:pPr>
              <a:lnSpc>
                <a:spcPct val="112000"/>
              </a:lnSpc>
              <a:buNone/>
              <a:defRPr sz="810" b="0">
                <a:solidFill>
                  <a:srgbClr val="303437"/>
                </a:solidFill>
                <a:latin typeface="Noto Sans"/>
              </a:defRPr>
            </a:pPr>
            <a:r>
              <a:rPr sz="810" b="0" lang="ja-JP" altLang="en-US">
                <a:solidFill>
                  <a:srgbClr val="626669"/>
                </a:solidFill>
                <a:latin typeface="Noto Sans"/>
                <a:ea typeface="Noto Sans CJK JP"/>
                <a:cs typeface="Noto Sans"/>
                <a:hlinkClick r:id="rId2"/>
              </a:rPr>
              <a:t>https://github.com/laude-institute/terminal-bench-2/tree/69671fbaac6d67a7ef0dfec016cc38a64ef7a77c/db-wal-recovery</a:t>
            </a:r>
          </a:p>
        </p:txBody>
      </p:sp>
    </p:spTree>
  </p:cSld>
  <p:clrMapOvr>
    <a:masterClrMapping/>
  </p:clrMapOvr>
</p:sld>
</file>

<file path=ppt/slides/slide6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786384"/>
            <a:ext cx="8046720" cy="502920"/>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タスクのソースファイルは約43.77 MiB</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FFF"/>
                </a:solidFill>
                <a:latin typeface="Noto Sans"/>
                <a:ea typeface="Noto Sans CJK JP"/>
                <a:cs typeface="Noto Sans"/>
              </a:rPr>
              <a:t>Appendix: 2. 分布・実装と採点の詳細</a:t>
            </a:r>
          </a:p>
        </p:txBody>
      </p:sp>
      <p:graphicFrame>
        <p:nvGraphicFramePr>
          <p:cNvPr id="4" name="Table 3"/>
          <p:cNvGraphicFramePr>
            <a:graphicFrameLocks noGrp="1"/>
          </p:cNvGraphicFramePr>
          <p:nvPr/>
        </p:nvGraphicFramePr>
        <p:xfrm>
          <a:off x="548640" y="1508760"/>
          <a:ext cx="8046720" cy="2304287"/>
        </p:xfrm>
        <a:graphic>
          <a:graphicData uri="http://schemas.openxmlformats.org/drawingml/2006/table">
            <a:tbl>
              <a:tblPr firstRow="0" bandRow="0"/>
              <a:tblGrid>
                <a:gridCol w="2834640"/>
                <a:gridCol w="5212080"/>
              </a:tblGrid>
              <a:tr h="443132">
                <a:tc>
                  <a:txBody>
                    <a:bodyPr wrap="square">
                      <a:noAutofit/>
                    </a:bodyPr>
                    <a:lstStyle/>
                    <a:p>
                      <a:pPr algn="l">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配布物</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c>
                  <a:txBody>
                    <a:bodyPr wrap="square">
                      <a:noAutofit/>
                    </a:bodyPr>
                    <a:lstStyle/>
                    <a:p>
                      <a:pPr algn="l">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取得した版の容量・用途</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r>
              <a:tr h="620385">
                <a:tc>
                  <a:txBody>
                    <a:bodyPr wrap="square">
                      <a:noAutofit/>
                    </a:bodyPr>
                    <a:lstStyle/>
                    <a:p>
                      <a:pPr algn="l">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Git管理ファイル</a:t>
                      </a:r>
                    </a:p>
                  </a:txBody>
                  <a:tcPr marL="63500" marR="63500" marT="38100" marB="38100" anchor="ctr">
                    <a:lnL w="7620">
                      <a:noFill/>
                    </a:lnL>
                    <a:lnR w="7620">
                      <a:noFill/>
                    </a:lnR>
                    <a:lnT w="7620">
                      <a:solidFill>
                        <a:srgbClr val="626669"/>
                      </a:solidFill>
                      <a:prstDash val="solid"/>
                    </a:lnT>
                    <a:lnB w="7620">
                      <a:noFill/>
                    </a:lnB>
                    <a:solidFill>
                      <a:srgbClr val="FFFEF8"/>
                    </a:solidFill>
                  </a:tcPr>
                </a:tc>
                <a:tc>
                  <a:txBody>
                    <a:bodyPr wrap="square">
                      <a:noAutofit/>
                    </a:bodyPr>
                    <a:lstStyle/>
                    <a:p>
                      <a:pPr algn="l">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45,894,095 bytes（43.77 MiB）</a:t>
                      </a:r>
                    </a:p>
                  </a:txBody>
                  <a:tcPr marL="63500" marR="63500" marT="38100" marB="38100" anchor="ctr">
                    <a:lnL w="7620">
                      <a:noFill/>
                    </a:lnL>
                    <a:lnR w="7620">
                      <a:noFill/>
                    </a:lnR>
                    <a:lnT w="7620">
                      <a:solidFill>
                        <a:srgbClr val="626669"/>
                      </a:solidFill>
                      <a:prstDash val="solid"/>
                    </a:lnT>
                    <a:lnB w="7620">
                      <a:noFill/>
                    </a:lnB>
                    <a:solidFill>
                      <a:srgbClr val="FFFEF8"/>
                    </a:solidFill>
                  </a:tcPr>
                </a:tc>
              </a:tr>
              <a:tr h="620385">
                <a:tc>
                  <a:txBody>
                    <a:bodyPr wrap="square">
                      <a:noAutofit/>
                    </a:bodyPr>
                    <a:lstStyle/>
                    <a:p>
                      <a:pPr algn="l">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コンテナーイメージ</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l">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Dockerfileまたは指定イメージを使用</a:t>
                      </a:r>
                    </a:p>
                  </a:txBody>
                  <a:tcPr marL="63500" marR="63500" marT="38100" marB="38100" anchor="ctr">
                    <a:lnL w="7620">
                      <a:noFill/>
                    </a:lnL>
                    <a:lnR w="7620">
                      <a:noFill/>
                    </a:lnR>
                    <a:lnT w="7620">
                      <a:noFill/>
                    </a:lnT>
                    <a:lnB w="7620">
                      <a:noFill/>
                    </a:lnB>
                    <a:solidFill>
                      <a:srgbClr val="FFFEF8"/>
                    </a:solidFill>
                  </a:tcPr>
                </a:tc>
              </a:tr>
              <a:tr h="620385">
                <a:tc>
                  <a:txBody>
                    <a:bodyPr wrap="square">
                      <a:noAutofit/>
                    </a:bodyPr>
                    <a:lstStyle/>
                    <a:p>
                      <a:pPr algn="l">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作業用の保存領域</a:t>
                      </a:r>
                    </a:p>
                  </a:txBody>
                  <a:tcPr marL="63500" marR="63500" marT="38100" marB="38100" anchor="ctr">
                    <a:lnL w="7620">
                      <a:noFill/>
                    </a:lnL>
                    <a:lnR w="7620">
                      <a:noFill/>
                    </a:lnR>
                    <a:lnT w="7620">
                      <a:noFill/>
                    </a:lnT>
                    <a:lnB w="15240">
                      <a:solidFill>
                        <a:srgbClr val="626669"/>
                      </a:solidFill>
                      <a:prstDash val="solid"/>
                    </a:lnB>
                    <a:solidFill>
                      <a:srgbClr val="FFFEF8"/>
                    </a:solidFill>
                  </a:tcPr>
                </a:tc>
                <a:tc>
                  <a:txBody>
                    <a:bodyPr wrap="square">
                      <a:noAutofit/>
                    </a:bodyPr>
                    <a:lstStyle/>
                    <a:p>
                      <a:pPr algn="l">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task.tomlの環境設定で課題ごとに指定</a:t>
                      </a:r>
                    </a:p>
                  </a:txBody>
                  <a:tcPr marL="63500" marR="63500" marT="38100" marB="38100" anchor="ctr">
                    <a:lnL w="7620">
                      <a:noFill/>
                    </a:lnL>
                    <a:lnR w="7620">
                      <a:noFill/>
                    </a:lnR>
                    <a:lnT w="7620">
                      <a:noFill/>
                    </a:lnT>
                    <a:lnB w="15240">
                      <a:solidFill>
                        <a:srgbClr val="626669"/>
                      </a:solidFill>
                      <a:prstDash val="solid"/>
                    </a:lnB>
                    <a:solidFill>
                      <a:srgbClr val="FFFEF8"/>
                    </a:solidFill>
                  </a:tcPr>
                </a:tc>
              </a:tr>
            </a:tbl>
          </a:graphicData>
        </a:graphic>
      </p:graphicFrame>
      <p:sp>
        <p:nvSpPr>
          <p:cNvPr id="5" name="TextBox 4"/>
          <p:cNvSpPr txBox="1"/>
          <p:nvPr/>
        </p:nvSpPr>
        <p:spPr>
          <a:xfrm>
            <a:off x="594360" y="4005072"/>
            <a:ext cx="7955279" cy="685800"/>
          </a:xfrm>
          <a:prstGeom prst="rect">
            <a:avLst/>
          </a:prstGeom>
          <a:noFill/>
        </p:spPr>
        <p:txBody>
          <a:bodyPr wrap="square" lIns="0" rIns="0" tIns="0" bIns="0">
            <a:noAutofit/>
          </a:bodyPr>
          <a:lstStyle/>
          <a:p>
            <a:pPr algn="l">
              <a:lnSpc>
                <a:spcPts val="2160"/>
              </a:lnSpc>
              <a:spcBef>
                <a:spcPts val="0"/>
              </a:spcBef>
              <a:spcAft>
                <a:spcPts val="0"/>
              </a:spcAft>
              <a:buNone/>
              <a:defRPr sz="1800" b="0">
                <a:solidFill>
                  <a:srgbClr val="303437"/>
                </a:solidFill>
                <a:latin typeface="Noto Sans"/>
              </a:defRPr>
            </a:pPr>
            <a:r>
              <a:rPr sz="1800" b="0" lang="ja-JP" altLang="en-US">
                <a:solidFill>
                  <a:srgbClr val="303437"/>
                </a:solidFill>
                <a:latin typeface="Noto Sans"/>
                <a:ea typeface="Noto Sans CJK JP"/>
                <a:cs typeface="Noto Sans"/>
              </a:rPr>
              <a:t>公開Git改訂69671fbの管理ファイルを集計。1 MiB = 2²⁰ bytes。</a:t>
            </a:r>
          </a:p>
        </p:txBody>
      </p:sp>
      <p:sp>
        <p:nvSpPr>
          <p:cNvPr id="6" name="TextBox 5"/>
          <p:cNvSpPr txBox="1"/>
          <p:nvPr/>
        </p:nvSpPr>
        <p:spPr>
          <a:xfrm>
            <a:off x="502920" y="4690872"/>
            <a:ext cx="8183879" cy="393192"/>
          </a:xfrm>
          <a:prstGeom prst="rect">
            <a:avLst/>
          </a:prstGeom>
          <a:noFill/>
        </p:spPr>
        <p:txBody>
          <a:bodyPr wrap="square" lIns="0" rIns="0" tIns="0" bIns="0">
            <a:noAutofit/>
          </a:bodyPr>
          <a:lstStyle/>
          <a:p>
            <a:pPr algn="l">
              <a:lnSpc>
                <a:spcPct val="112000"/>
              </a:lnSpc>
              <a:spcBef>
                <a:spcPts val="0"/>
              </a:spcBef>
              <a:spcAft>
                <a:spcPts val="0"/>
              </a:spcAft>
              <a:buNone/>
              <a:defRPr sz="810" b="0">
                <a:solidFill>
                  <a:srgbClr val="303437"/>
                </a:solidFill>
                <a:latin typeface="Noto Sans"/>
              </a:defRPr>
            </a:pPr>
            <a:r>
              <a:rPr sz="810" b="0" lang="ja-JP" altLang="en-US">
                <a:solidFill>
                  <a:srgbClr val="626669"/>
                </a:solidFill>
                <a:latin typeface="Noto Sans"/>
                <a:ea typeface="Noto Sans CJK JP"/>
                <a:cs typeface="Noto Sans"/>
              </a:rPr>
              <a:t/>
            </a:r>
            <a:r>
              <a:rPr sz="810" b="0" lang="ja-JP" altLang="en-US">
                <a:solidFill>
                  <a:srgbClr val="626669"/>
                </a:solidFill>
                <a:latin typeface="Noto Sans"/>
                <a:ea typeface="Noto Sans CJK JP"/>
                <a:cs typeface="Noto Sans"/>
              </a:rPr>
              <a:t>The Terminal-Bench Team (2025). Terminal-Bench 2.0. 公開89課題、改訂69671fb。2026-10-16集計。</a:t>
            </a:r>
          </a:p>
          <a:p>
            <a:pPr>
              <a:lnSpc>
                <a:spcPct val="112000"/>
              </a:lnSpc>
              <a:buNone/>
              <a:defRPr sz="810" b="0">
                <a:solidFill>
                  <a:srgbClr val="303437"/>
                </a:solidFill>
                <a:latin typeface="Noto Sans"/>
              </a:defRPr>
            </a:pPr>
            <a:r>
              <a:rPr sz="810" b="0" lang="ja-JP" altLang="en-US">
                <a:solidFill>
                  <a:srgbClr val="626669"/>
                </a:solidFill>
                <a:latin typeface="Noto Sans"/>
                <a:ea typeface="Noto Sans CJK JP"/>
                <a:cs typeface="Noto Sans"/>
                <a:hlinkClick r:id="rId2"/>
              </a:rPr>
              <a:t>https://github.com/laude-institute/terminal-bench-2/tree/69671fbaac6d67a7ef0dfec016cc38a64ef7a77c</a:t>
            </a:r>
          </a:p>
        </p:txBody>
      </p:sp>
    </p:spTree>
  </p:cSld>
  <p:clrMapOvr>
    <a:masterClrMapping/>
  </p:clrMapOvr>
</p:sld>
</file>

<file path=ppt/slides/slide6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786384"/>
            <a:ext cx="8046720" cy="502920"/>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ライセンスと参照先</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FFF"/>
                </a:solidFill>
                <a:latin typeface="Noto Sans"/>
                <a:ea typeface="Noto Sans CJK JP"/>
                <a:cs typeface="Noto Sans"/>
              </a:rPr>
              <a:t>Appendix: 2. 分布・実装と採点の詳細</a:t>
            </a:r>
          </a:p>
        </p:txBody>
      </p:sp>
      <p:graphicFrame>
        <p:nvGraphicFramePr>
          <p:cNvPr id="4" name="Table 3"/>
          <p:cNvGraphicFramePr>
            <a:graphicFrameLocks noGrp="1"/>
          </p:cNvGraphicFramePr>
          <p:nvPr/>
        </p:nvGraphicFramePr>
        <p:xfrm>
          <a:off x="548640" y="1508760"/>
          <a:ext cx="8046720" cy="2633472"/>
        </p:xfrm>
        <a:graphic>
          <a:graphicData uri="http://schemas.openxmlformats.org/drawingml/2006/table">
            <a:tbl>
              <a:tblPr firstRow="0" bandRow="0"/>
              <a:tblGrid>
                <a:gridCol w="5212080"/>
                <a:gridCol w="2834640"/>
              </a:tblGrid>
              <a:tr h="548640">
                <a:tc>
                  <a:txBody>
                    <a:bodyPr wrap="square">
                      <a:noAutofit/>
                    </a:bodyPr>
                    <a:lstStyle/>
                    <a:p>
                      <a:pPr algn="l">
                        <a:lnSpc>
                          <a:spcPts val="2242"/>
                        </a:lnSpc>
                        <a:buNone/>
                        <a:defRPr sz="1950" b="0">
                          <a:solidFill>
                            <a:srgbClr val="303437"/>
                          </a:solidFill>
                          <a:latin typeface="Noto Sans"/>
                        </a:defRPr>
                      </a:pPr>
                      <a:r>
                        <a:rPr sz="1950" b="0" lang="ja-JP" altLang="en-US">
                          <a:solidFill>
                            <a:srgbClr val="303437"/>
                          </a:solidFill>
                          <a:latin typeface="Noto Sans"/>
                          <a:ea typeface="Noto Sans CJK JP"/>
                          <a:cs typeface="Noto Sans"/>
                        </a:rPr>
                        <a:t>対象</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c>
                  <a:txBody>
                    <a:bodyPr wrap="square">
                      <a:noAutofit/>
                    </a:bodyPr>
                    <a:lstStyle/>
                    <a:p>
                      <a:pPr algn="l">
                        <a:lnSpc>
                          <a:spcPts val="2242"/>
                        </a:lnSpc>
                        <a:buNone/>
                        <a:defRPr sz="1950" b="0">
                          <a:solidFill>
                            <a:srgbClr val="303437"/>
                          </a:solidFill>
                          <a:latin typeface="Noto Sans"/>
                        </a:defRPr>
                      </a:pPr>
                      <a:r>
                        <a:rPr sz="1950" b="0" lang="ja-JP" altLang="en-US">
                          <a:solidFill>
                            <a:srgbClr val="303437"/>
                          </a:solidFill>
                          <a:latin typeface="Noto Sans"/>
                          <a:ea typeface="Noto Sans CJK JP"/>
                          <a:cs typeface="Noto Sans"/>
                        </a:rPr>
                        <a:t>公開元の指定</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r>
              <a:tr h="621792">
                <a:tc>
                  <a:txBody>
                    <a:bodyPr wrap="square">
                      <a:noAutofit/>
                    </a:bodyPr>
                    <a:lstStyle/>
                    <a:p>
                      <a:pPr algn="l">
                        <a:lnSpc>
                          <a:spcPts val="2242"/>
                        </a:lnSpc>
                        <a:buNone/>
                        <a:defRPr sz="1950" b="0">
                          <a:solidFill>
                            <a:srgbClr val="303437"/>
                          </a:solidFill>
                          <a:latin typeface="Noto Sans"/>
                        </a:defRPr>
                      </a:pPr>
                      <a:r>
                        <a:rPr sz="1950" b="0" lang="ja-JP" altLang="en-US">
                          <a:solidFill>
                            <a:srgbClr val="303437"/>
                          </a:solidFill>
                          <a:latin typeface="Noto Sans"/>
                          <a:ea typeface="Noto Sans CJK JP"/>
                          <a:cs typeface="Noto Sans"/>
                        </a:rPr>
                        <a:t>Terminal-Bench 2.0の公開リポジトリ</a:t>
                      </a:r>
                    </a:p>
                  </a:txBody>
                  <a:tcPr marL="63500" marR="63500" marT="38100" marB="38100" anchor="ctr">
                    <a:lnL w="7620">
                      <a:noFill/>
                    </a:lnL>
                    <a:lnR w="7620">
                      <a:noFill/>
                    </a:lnR>
                    <a:lnT w="7620">
                      <a:solidFill>
                        <a:srgbClr val="626669"/>
                      </a:solidFill>
                      <a:prstDash val="solid"/>
                    </a:lnT>
                    <a:lnB w="7620">
                      <a:noFill/>
                    </a:lnB>
                    <a:solidFill>
                      <a:srgbClr val="FFFEF8"/>
                    </a:solidFill>
                  </a:tcPr>
                </a:tc>
                <a:tc>
                  <a:txBody>
                    <a:bodyPr wrap="square">
                      <a:noAutofit/>
                    </a:bodyPr>
                    <a:lstStyle/>
                    <a:p>
                      <a:pPr algn="l">
                        <a:lnSpc>
                          <a:spcPts val="2242"/>
                        </a:lnSpc>
                        <a:buNone/>
                        <a:defRPr sz="1950" b="0">
                          <a:solidFill>
                            <a:srgbClr val="303437"/>
                          </a:solidFill>
                          <a:latin typeface="Noto Sans"/>
                        </a:defRPr>
                      </a:pPr>
                      <a:r>
                        <a:rPr sz="1950" b="0" lang="ja-JP" altLang="en-US">
                          <a:solidFill>
                            <a:srgbClr val="303437"/>
                          </a:solidFill>
                          <a:latin typeface="Noto Sans"/>
                          <a:ea typeface="Noto Sans CJK JP"/>
                          <a:cs typeface="Noto Sans"/>
                        </a:rPr>
                        <a:t>Apache License 2.0</a:t>
                      </a:r>
                    </a:p>
                  </a:txBody>
                  <a:tcPr marL="63500" marR="63500" marT="38100" marB="38100" anchor="ctr">
                    <a:lnL w="7620">
                      <a:noFill/>
                    </a:lnL>
                    <a:lnR w="7620">
                      <a:noFill/>
                    </a:lnR>
                    <a:lnT w="7620">
                      <a:solidFill>
                        <a:srgbClr val="626669"/>
                      </a:solidFill>
                      <a:prstDash val="solid"/>
                    </a:lnT>
                    <a:lnB w="7620">
                      <a:noFill/>
                    </a:lnB>
                    <a:solidFill>
                      <a:srgbClr val="FFFEF8"/>
                    </a:solidFill>
                  </a:tcPr>
                </a:tc>
              </a:tr>
              <a:tr h="731520">
                <a:tc>
                  <a:txBody>
                    <a:bodyPr wrap="square">
                      <a:noAutofit/>
                    </a:bodyPr>
                    <a:lstStyle/>
                    <a:p>
                      <a:pPr algn="l">
                        <a:lnSpc>
                          <a:spcPts val="2242"/>
                        </a:lnSpc>
                        <a:buNone/>
                        <a:defRPr sz="1950" b="0">
                          <a:solidFill>
                            <a:srgbClr val="303437"/>
                          </a:solidFill>
                          <a:latin typeface="Noto Sans"/>
                        </a:defRPr>
                      </a:pPr>
                      <a:r>
                        <a:rPr sz="1950" b="0" lang="ja-JP" altLang="en-US">
                          <a:solidFill>
                            <a:srgbClr val="303437"/>
                          </a:solidFill>
                          <a:latin typeface="Noto Sans"/>
                          <a:ea typeface="Noto Sans CJK JP"/>
                          <a:cs typeface="Noto Sans"/>
                        </a:rPr>
                        <a:t>取得と実行の案内</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l">
                        <a:lnSpc>
                          <a:spcPts val="2242"/>
                        </a:lnSpc>
                        <a:buNone/>
                        <a:defRPr sz="1950" b="0">
                          <a:solidFill>
                            <a:srgbClr val="303437"/>
                          </a:solidFill>
                          <a:latin typeface="Noto Sans"/>
                        </a:defRPr>
                      </a:pPr>
                      <a:r>
                        <a:rPr sz="1950" b="0" lang="ja-JP" altLang="en-US">
                          <a:solidFill>
                            <a:srgbClr val="303437"/>
                          </a:solidFill>
                          <a:latin typeface="Noto Sans"/>
                          <a:ea typeface="Noto Sans CJK JP"/>
                          <a:cs typeface="Noto Sans"/>
                        </a:rPr>
                        <a:t>公式README／Harbor</a:t>
                      </a:r>
                    </a:p>
                  </a:txBody>
                  <a:tcPr marL="63500" marR="63500" marT="38100" marB="38100" anchor="ctr">
                    <a:lnL w="7620">
                      <a:noFill/>
                    </a:lnL>
                    <a:lnR w="7620">
                      <a:noFill/>
                    </a:lnR>
                    <a:lnT w="7620">
                      <a:noFill/>
                    </a:lnT>
                    <a:lnB w="7620">
                      <a:noFill/>
                    </a:lnB>
                    <a:solidFill>
                      <a:srgbClr val="FFFEF8"/>
                    </a:solidFill>
                  </a:tcPr>
                </a:tc>
              </a:tr>
              <a:tr h="731520">
                <a:tc>
                  <a:txBody>
                    <a:bodyPr wrap="square">
                      <a:noAutofit/>
                    </a:bodyPr>
                    <a:lstStyle/>
                    <a:p>
                      <a:pPr algn="l">
                        <a:lnSpc>
                          <a:spcPts val="2242"/>
                        </a:lnSpc>
                        <a:buNone/>
                        <a:defRPr sz="1950" b="0">
                          <a:solidFill>
                            <a:srgbClr val="303437"/>
                          </a:solidFill>
                          <a:latin typeface="Noto Sans"/>
                        </a:defRPr>
                      </a:pPr>
                      <a:r>
                        <a:rPr sz="1950" b="0" lang="ja-JP" altLang="en-US">
                          <a:solidFill>
                            <a:srgbClr val="303437"/>
                          </a:solidFill>
                          <a:latin typeface="Noto Sans"/>
                          <a:ea typeface="Noto Sans CJK JP"/>
                          <a:cs typeface="Noto Sans"/>
                        </a:rPr>
                        <a:t>各タスクの作業条件</a:t>
                      </a:r>
                    </a:p>
                  </a:txBody>
                  <a:tcPr marL="63500" marR="63500" marT="38100" marB="38100" anchor="ctr">
                    <a:lnL w="7620">
                      <a:noFill/>
                    </a:lnL>
                    <a:lnR w="7620">
                      <a:noFill/>
                    </a:lnR>
                    <a:lnT w="7620">
                      <a:noFill/>
                    </a:lnT>
                    <a:lnB w="15240">
                      <a:solidFill>
                        <a:srgbClr val="626669"/>
                      </a:solidFill>
                      <a:prstDash val="solid"/>
                    </a:lnB>
                    <a:solidFill>
                      <a:srgbClr val="FFFEF8"/>
                    </a:solidFill>
                  </a:tcPr>
                </a:tc>
                <a:tc>
                  <a:txBody>
                    <a:bodyPr wrap="square">
                      <a:noAutofit/>
                    </a:bodyPr>
                    <a:lstStyle/>
                    <a:p>
                      <a:pPr algn="l">
                        <a:lnSpc>
                          <a:spcPts val="2242"/>
                        </a:lnSpc>
                        <a:buNone/>
                        <a:defRPr sz="1950" b="0">
                          <a:solidFill>
                            <a:srgbClr val="303437"/>
                          </a:solidFill>
                          <a:latin typeface="Noto Sans"/>
                        </a:defRPr>
                      </a:pPr>
                      <a:r>
                        <a:rPr sz="1950" b="0" lang="ja-JP" altLang="en-US">
                          <a:solidFill>
                            <a:srgbClr val="303437"/>
                          </a:solidFill>
                          <a:latin typeface="Noto Sans"/>
                          <a:ea typeface="Noto Sans CJK JP"/>
                          <a:cs typeface="Noto Sans"/>
                        </a:rPr>
                        <a:t>instruction.mdとtask.toml</a:t>
                      </a:r>
                    </a:p>
                  </a:txBody>
                  <a:tcPr marL="63500" marR="63500" marT="38100" marB="38100" anchor="ctr">
                    <a:lnL w="7620">
                      <a:noFill/>
                    </a:lnL>
                    <a:lnR w="7620">
                      <a:noFill/>
                    </a:lnR>
                    <a:lnT w="7620">
                      <a:noFill/>
                    </a:lnT>
                    <a:lnB w="15240">
                      <a:solidFill>
                        <a:srgbClr val="626669"/>
                      </a:solidFill>
                      <a:prstDash val="solid"/>
                    </a:lnB>
                    <a:solidFill>
                      <a:srgbClr val="FFFEF8"/>
                    </a:solidFill>
                  </a:tcPr>
                </a:tc>
              </a:tr>
            </a:tbl>
          </a:graphicData>
        </a:graphic>
      </p:graphicFrame>
      <p:sp>
        <p:nvSpPr>
          <p:cNvPr id="5" name="TextBox 4"/>
          <p:cNvSpPr txBox="1"/>
          <p:nvPr/>
        </p:nvSpPr>
        <p:spPr>
          <a:xfrm>
            <a:off x="502920" y="4690872"/>
            <a:ext cx="8183879" cy="393192"/>
          </a:xfrm>
          <a:prstGeom prst="rect">
            <a:avLst/>
          </a:prstGeom>
          <a:noFill/>
        </p:spPr>
        <p:txBody>
          <a:bodyPr wrap="square" lIns="0" rIns="0" tIns="0" bIns="0">
            <a:noAutofit/>
          </a:bodyPr>
          <a:lstStyle/>
          <a:p>
            <a:pPr algn="l">
              <a:lnSpc>
                <a:spcPct val="112000"/>
              </a:lnSpc>
              <a:spcBef>
                <a:spcPts val="0"/>
              </a:spcBef>
              <a:spcAft>
                <a:spcPts val="0"/>
              </a:spcAft>
              <a:buNone/>
              <a:defRPr sz="810" b="0">
                <a:solidFill>
                  <a:srgbClr val="303437"/>
                </a:solidFill>
                <a:latin typeface="Noto Sans"/>
              </a:defRPr>
            </a:pPr>
            <a:r>
              <a:rPr sz="810" b="0" lang="ja-JP" altLang="en-US">
                <a:solidFill>
                  <a:srgbClr val="626669"/>
                </a:solidFill>
                <a:latin typeface="Noto Sans"/>
                <a:ea typeface="Noto Sans CJK JP"/>
                <a:cs typeface="Noto Sans"/>
              </a:rPr>
              <a:t/>
            </a:r>
            <a:r>
              <a:rPr sz="810" b="0" lang="ja-JP" altLang="en-US">
                <a:solidFill>
                  <a:srgbClr val="626669"/>
                </a:solidFill>
                <a:latin typeface="Noto Sans"/>
                <a:ea typeface="Noto Sans CJK JP"/>
                <a:cs typeface="Noto Sans"/>
              </a:rPr>
              <a:t>The Terminal-Bench Team. Terminal-Bench 2.0: LICENSE. Apache License 2.0.</a:t>
            </a:r>
          </a:p>
          <a:p>
            <a:pPr>
              <a:lnSpc>
                <a:spcPct val="112000"/>
              </a:lnSpc>
              <a:buNone/>
              <a:defRPr sz="810" b="0">
                <a:solidFill>
                  <a:srgbClr val="303437"/>
                </a:solidFill>
                <a:latin typeface="Noto Sans"/>
              </a:defRPr>
            </a:pPr>
            <a:r>
              <a:rPr sz="810" b="0" lang="ja-JP" altLang="en-US">
                <a:solidFill>
                  <a:srgbClr val="626669"/>
                </a:solidFill>
                <a:latin typeface="Noto Sans"/>
                <a:ea typeface="Noto Sans CJK JP"/>
                <a:cs typeface="Noto Sans"/>
                <a:hlinkClick r:id="rId2"/>
              </a:rPr>
              <a:t>https://github.com/laude-institute/terminal-bench-2/blob/69671fbaac6d67a7ef0dfec016cc38a64ef7a77c/LICENSE</a:t>
            </a:r>
          </a:p>
        </p:txBody>
      </p:sp>
    </p:spTree>
  </p:cSld>
  <p:clrMapOvr>
    <a:masterClrMapping/>
  </p:clrMapOvr>
</p:sld>
</file>

<file path=ppt/slides/slide6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2388106"/>
            <a:ext cx="8046720" cy="822960"/>
          </a:xfrm>
        </p:spPr>
        <p:txBody>
          <a:bodyPr wrap="square" lIns="0" rIns="0" tIns="0" bIns="0" anchor="ctr">
            <a:noAutofit/>
          </a:bodyPr>
          <a:lstStyle/>
          <a:p>
            <a:pPr algn="ctr">
              <a:lnSpc>
                <a:spcPct val="110000"/>
              </a:lnSpc>
              <a:buNone/>
              <a:defRPr sz="3600" b="0">
                <a:solidFill>
                  <a:srgbClr val="303437"/>
                </a:solidFill>
                <a:latin typeface="Noto Sans"/>
              </a:defRPr>
            </a:pPr>
            <a:r>
              <a:rPr sz="3600" b="1" lang="ja-JP" altLang="en-US">
                <a:solidFill>
                  <a:srgbClr val="303437"/>
                </a:solidFill>
                <a:latin typeface="Noto Sans"/>
                <a:ea typeface="Noto Sans CJK JP"/>
                <a:cs typeface="Noto Sans"/>
              </a:rPr>
              <a:t>3. 開発者と参考文献</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FFF"/>
                </a:solidFill>
                <a:latin typeface="Noto Sans"/>
                <a:ea typeface="Noto Sans CJK JP"/>
                <a:cs typeface="Noto Sans"/>
              </a:rPr>
              <a:t>Appendix: 3. 開発者と参考文献</a:t>
            </a:r>
          </a:p>
        </p:txBody>
      </p:sp>
    </p:spTree>
  </p:cSld>
  <p:clrMapOvr>
    <a:masterClrMapping/>
  </p:clrMapOvr>
</p:sld>
</file>

<file path=ppt/slides/slide6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786384"/>
            <a:ext cx="8046720" cy="502920"/>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大学・研究機関と開発者コミュニティが構築した</a:t>
            </a:r>
          </a:p>
        </p:txBody>
      </p:sp>
      <p:sp>
        <p:nvSpPr>
          <p:cNvPr id="3" name="Text Placeholder 2"/>
          <p:cNvSpPr>
            <a:spLocks noGrp="1"/>
          </p:cNvSpPr>
          <p:nvPr>
            <p:ph type="body" idx="1"/>
          </p:nvPr>
        </p:nvSpPr>
        <p:spPr>
          <a:xfrm>
            <a:off x="594360" y="1463040"/>
            <a:ext cx="7955279" cy="3090672"/>
          </a:xfrm>
        </p:spPr>
        <p:txBody>
          <a:bodyPr wrap="square" tIns="91440" bIns="91440">
            <a:noAutofit/>
          </a:bodyPr>
          <a:lstStyle/>
          <a:p>
            <a:pPr marL="457200" indent="-355600">
              <a:lnSpc>
                <a:spcPts val="2640"/>
              </a:lnSpc>
              <a:spcAft>
                <a:spcPts val="800"/>
              </a:spcAft>
              <a:buSzPct val="60455"/>
              <a:buFont typeface="Noto Sans CJK JP"/>
              <a:buChar char="●"/>
              <a:defRPr sz="2200" b="0">
                <a:solidFill>
                  <a:srgbClr val="303437"/>
                </a:solidFill>
                <a:latin typeface="Noto Sans"/>
              </a:defRPr>
            </a:pPr>
            <a:r>
              <a:rPr sz="2200" b="0" lang="ja-JP" altLang="en-US">
                <a:solidFill>
                  <a:srgbClr val="303437"/>
                </a:solidFill>
                <a:latin typeface="Noto Sans"/>
                <a:ea typeface="Noto Sans CJK JP"/>
                <a:cs typeface="Noto Sans"/>
              </a:rPr>
              <a:t>共同第一著者はMike A. MerrillとAlexander G. Shaw。論文発表時の所属は、それぞれStanford UniversityとLaude Instituteである。</a:t>
            </a:r>
          </a:p>
          <a:p>
            <a:pPr marL="457200" indent="-355600">
              <a:lnSpc>
                <a:spcPts val="2640"/>
              </a:lnSpc>
              <a:spcAft>
                <a:spcPts val="800"/>
              </a:spcAft>
              <a:buSzPct val="60455"/>
              <a:buFont typeface="Noto Sans CJK JP"/>
              <a:buChar char="●"/>
              <a:defRPr sz="2200" b="0">
                <a:solidFill>
                  <a:srgbClr val="303437"/>
                </a:solidFill>
                <a:latin typeface="Noto Sans"/>
              </a:defRPr>
            </a:pPr>
            <a:r>
              <a:rPr sz="2200" b="0" lang="ja-JP" altLang="en-US">
                <a:solidFill>
                  <a:srgbClr val="303437"/>
                </a:solidFill>
                <a:latin typeface="Noto Sans"/>
                <a:ea typeface="Noto Sans CJK JP"/>
                <a:cs typeface="Noto Sans"/>
              </a:rPr>
              <a:t>最終著者はStanford UniversityのLudwig Schmidt。端末でのエージェント評価と、幅広い技術作業の課題設計を共同で研究した。</a:t>
            </a:r>
          </a:p>
          <a:p>
            <a:pPr marL="457200" indent="-355600">
              <a:lnSpc>
                <a:spcPts val="2640"/>
              </a:lnSpc>
              <a:spcAft>
                <a:spcPts val="0"/>
              </a:spcAft>
              <a:buSzPct val="60455"/>
              <a:buFont typeface="Noto Sans CJK JP"/>
              <a:buChar char="●"/>
              <a:defRPr sz="2200" b="0">
                <a:solidFill>
                  <a:srgbClr val="303437"/>
                </a:solidFill>
                <a:latin typeface="Noto Sans"/>
              </a:defRPr>
            </a:pPr>
            <a:r>
              <a:rPr sz="2200" b="0" lang="ja-JP" altLang="en-US">
                <a:solidFill>
                  <a:srgbClr val="303437"/>
                </a:solidFill>
                <a:latin typeface="Noto Sans"/>
                <a:ea typeface="Noto Sans CJK JP"/>
                <a:cs typeface="Noto Sans"/>
              </a:rPr>
              <a:t>Merrillら（2026）は2026年のICLRで発表。公開プロジェクトには多数の課題作成者・審査者が参加している。</a:t>
            </a:r>
          </a:p>
        </p:txBody>
      </p:sp>
      <p:sp>
        <p:nvSpPr>
          <p:cNvPr id="4" name="Title 3"/>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FFF"/>
                </a:solidFill>
                <a:latin typeface="Noto Sans"/>
                <a:ea typeface="Noto Sans CJK JP"/>
                <a:cs typeface="Noto Sans"/>
              </a:rPr>
              <a:t>Appendix: 3. 開発者と参考文献</a:t>
            </a:r>
          </a:p>
        </p:txBody>
      </p:sp>
      <p:sp>
        <p:nvSpPr>
          <p:cNvPr id="5" name="TextBox 4"/>
          <p:cNvSpPr txBox="1"/>
          <p:nvPr/>
        </p:nvSpPr>
        <p:spPr>
          <a:xfrm>
            <a:off x="502920" y="4690872"/>
            <a:ext cx="8183879" cy="393192"/>
          </a:xfrm>
          <a:prstGeom prst="rect">
            <a:avLst/>
          </a:prstGeom>
          <a:noFill/>
        </p:spPr>
        <p:txBody>
          <a:bodyPr wrap="square" lIns="0" rIns="0" tIns="0" bIns="0">
            <a:noAutofit/>
          </a:bodyPr>
          <a:lstStyle/>
          <a:p>
            <a:pPr algn="l">
              <a:lnSpc>
                <a:spcPct val="112000"/>
              </a:lnSpc>
              <a:spcBef>
                <a:spcPts val="0"/>
              </a:spcBef>
              <a:spcAft>
                <a:spcPts val="0"/>
              </a:spcAft>
              <a:buNone/>
              <a:defRPr sz="810" b="0">
                <a:solidFill>
                  <a:srgbClr val="303437"/>
                </a:solidFill>
                <a:latin typeface="Noto Sans"/>
              </a:defRPr>
            </a:pPr>
            <a:r>
              <a:rPr sz="810" b="0" lang="ja-JP" altLang="en-US">
                <a:solidFill>
                  <a:srgbClr val="626669"/>
                </a:solidFill>
                <a:latin typeface="Noto Sans"/>
                <a:ea typeface="Noto Sans CJK JP"/>
                <a:cs typeface="Noto Sans"/>
              </a:rPr>
              <a:t/>
            </a:r>
            <a:r>
              <a:rPr sz="810" b="0" lang="ja-JP" altLang="en-US">
                <a:solidFill>
                  <a:srgbClr val="626669"/>
                </a:solidFill>
                <a:latin typeface="Noto Sans"/>
                <a:ea typeface="Noto Sans CJK JP"/>
                <a:cs typeface="Noto Sans"/>
              </a:rPr>
              <a:t>Merrill et al. (2026). Terminal-Bench: Benchmarking Agents on Hard, Realistic Tasks in Command Line Interfaces. arXiv:2601.11868.</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https://arxiv.org/abs/2601.11868</a:t>
            </a:r>
          </a:p>
        </p:txBody>
      </p:sp>
    </p:spTree>
  </p:cSld>
  <p:clrMapOvr>
    <a:masterClrMapping/>
  </p:clrMapOvr>
</p:sld>
</file>

<file path=ppt/slides/slide6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786384"/>
            <a:ext cx="8046720" cy="502920"/>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参考文献</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FFF"/>
                </a:solidFill>
                <a:latin typeface="Noto Sans"/>
                <a:ea typeface="Noto Sans CJK JP"/>
                <a:cs typeface="Noto Sans"/>
              </a:rPr>
              <a:t>Appendix: 3. 開発者と参考文献</a:t>
            </a:r>
          </a:p>
        </p:txBody>
      </p:sp>
      <p:sp>
        <p:nvSpPr>
          <p:cNvPr id="4" name="文献 1: Terminal-Bench: Benchmarking Agents on Hard, Realistic Tasks in Command Line Interfaces"/>
          <p:cNvSpPr txBox="1"/>
          <p:nvPr/>
        </p:nvSpPr>
        <p:spPr>
          <a:xfrm>
            <a:off x="548640" y="1463040"/>
            <a:ext cx="8046720" cy="1715008"/>
          </a:xfrm>
          <a:prstGeom prst="rect">
            <a:avLst/>
          </a:prstGeom>
          <a:noFill/>
        </p:spPr>
        <p:txBody>
          <a:bodyPr wrap="square" lIns="0" rIns="0" tIns="0" bIns="0">
            <a:noAutofit/>
          </a:bodyPr>
          <a:lstStyle/>
          <a:p>
            <a:pPr algn="l">
              <a:lnSpc>
                <a:spcPct val="114000"/>
              </a:lnSpc>
              <a:spcBef>
                <a:spcPts val="0"/>
              </a:spcBef>
              <a:spcAft>
                <a:spcPts val="400"/>
              </a:spcAft>
              <a:buNone/>
              <a:defRPr sz="2000" b="0">
                <a:solidFill>
                  <a:srgbClr val="303437"/>
                </a:solidFill>
                <a:latin typeface="Noto Sans"/>
              </a:defRPr>
            </a:pPr>
            <a:r>
              <a:rPr sz="2000" b="1" lang="ja-JP" altLang="en-US">
                <a:solidFill>
                  <a:srgbClr val="303437"/>
                </a:solidFill>
                <a:latin typeface="Noto Sans"/>
                <a:ea typeface="Noto Sans CJK JP"/>
                <a:cs typeface="Noto Sans"/>
              </a:rPr>
              <a:t>Terminal-Bench: Benchmarking Agents on Hard, Realistic Tasks in Command Line Interfaces</a:t>
            </a:r>
          </a:p>
          <a:p>
            <a:pPr algn="l">
              <a:lnSpc>
                <a:spcPct val="114000"/>
              </a:lnSpc>
              <a:spcBef>
                <a:spcPts val="0"/>
              </a:spcBef>
              <a:spcAft>
                <a:spcPts val="500"/>
              </a:spcAft>
              <a:buNone/>
              <a:defRPr sz="1350" b="0">
                <a:solidFill>
                  <a:srgbClr val="303437"/>
                </a:solidFill>
                <a:latin typeface="Noto Sans"/>
              </a:defRPr>
            </a:pPr>
            <a:r>
              <a:rPr sz="1350" b="0" lang="ja-JP" altLang="en-US">
                <a:solidFill>
                  <a:srgbClr val="626669"/>
                </a:solidFill>
                <a:latin typeface="Noto Sans"/>
                <a:ea typeface="Noto Sans CJK JP"/>
                <a:cs typeface="Noto Sans"/>
              </a:rPr>
              <a:t>Mike A. Merrill, Alexander G. Shaw et al. / 2026 / ICLR</a:t>
            </a:r>
          </a:p>
          <a:p>
            <a:pPr algn="l">
              <a:lnSpc>
                <a:spcPct val="114000"/>
              </a:lnSpc>
              <a:spcBef>
                <a:spcPts val="0"/>
              </a:spcBef>
              <a:spcAft>
                <a:spcPts val="400"/>
              </a:spcAft>
              <a:buNone/>
              <a:defRPr sz="1850" b="0">
                <a:solidFill>
                  <a:srgbClr val="303437"/>
                </a:solidFill>
                <a:latin typeface="Noto Sans"/>
              </a:defRPr>
            </a:pPr>
            <a:r>
              <a:rPr sz="1850" b="0" lang="ja-JP" altLang="en-US">
                <a:solidFill>
                  <a:srgbClr val="303437"/>
                </a:solidFill>
                <a:latin typeface="Noto Sans"/>
                <a:ea typeface="Noto Sans CJK JP"/>
                <a:cs typeface="Noto Sans"/>
              </a:rPr>
              <a:t>89課題の構築・審査、モデルとエージェントの比較、失敗履歴の分析を報告する原著。</a:t>
            </a:r>
          </a:p>
          <a:p>
            <a:pPr algn="l">
              <a:lnSpc>
                <a:spcPct val="114000"/>
              </a:lnSpc>
              <a:spcBef>
                <a:spcPts val="0"/>
              </a:spcBef>
              <a:spcAft>
                <a:spcPts val="0"/>
              </a:spcAft>
              <a:buNone/>
              <a:defRPr sz="1150" b="0">
                <a:solidFill>
                  <a:srgbClr val="303437"/>
                </a:solidFill>
                <a:latin typeface="Noto Sans"/>
              </a:defRPr>
            </a:pPr>
            <a:r>
              <a:rPr sz="1150" b="0" lang="ja-JP" altLang="en-US">
                <a:solidFill>
                  <a:srgbClr val="626669"/>
                </a:solidFill>
                <a:latin typeface="Noto Sans"/>
                <a:ea typeface="Noto Sans CJK JP"/>
                <a:cs typeface="Noto Sans"/>
                <a:hlinkClick r:id="rId2"/>
              </a:rPr>
              <a:t>https://arxiv.org/abs/2601.11868</a:t>
            </a:r>
          </a:p>
        </p:txBody>
      </p:sp>
    </p:spTree>
  </p:cSld>
  <p:clrMapOvr>
    <a:masterClrMapping/>
  </p:clrMapOvr>
</p:sld>
</file>

<file path=ppt/slides/slide6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786384"/>
            <a:ext cx="8046720" cy="502920"/>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参考文献</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FFF"/>
                </a:solidFill>
                <a:latin typeface="Noto Sans"/>
                <a:ea typeface="Noto Sans CJK JP"/>
                <a:cs typeface="Noto Sans"/>
              </a:rPr>
              <a:t>Appendix: 3. 開発者と参考文献</a:t>
            </a:r>
          </a:p>
        </p:txBody>
      </p:sp>
      <p:sp>
        <p:nvSpPr>
          <p:cNvPr id="4" name="文献 1: Terminal-Bench 2.0"/>
          <p:cNvSpPr txBox="1"/>
          <p:nvPr/>
        </p:nvSpPr>
        <p:spPr>
          <a:xfrm>
            <a:off x="548640" y="1463040"/>
            <a:ext cx="8046720" cy="1157605"/>
          </a:xfrm>
          <a:prstGeom prst="rect">
            <a:avLst/>
          </a:prstGeom>
          <a:noFill/>
        </p:spPr>
        <p:txBody>
          <a:bodyPr wrap="square" lIns="0" rIns="0" tIns="0" bIns="0">
            <a:noAutofit/>
          </a:bodyPr>
          <a:lstStyle/>
          <a:p>
            <a:pPr algn="l">
              <a:lnSpc>
                <a:spcPct val="114000"/>
              </a:lnSpc>
              <a:spcBef>
                <a:spcPts val="0"/>
              </a:spcBef>
              <a:spcAft>
                <a:spcPts val="400"/>
              </a:spcAft>
              <a:buNone/>
              <a:defRPr sz="2000" b="0">
                <a:solidFill>
                  <a:srgbClr val="303437"/>
                </a:solidFill>
                <a:latin typeface="Noto Sans"/>
              </a:defRPr>
            </a:pPr>
            <a:r>
              <a:rPr sz="2000" b="1" lang="ja-JP" altLang="en-US">
                <a:solidFill>
                  <a:srgbClr val="303437"/>
                </a:solidFill>
                <a:latin typeface="Noto Sans"/>
                <a:ea typeface="Noto Sans CJK JP"/>
                <a:cs typeface="Noto Sans"/>
              </a:rPr>
              <a:t>Terminal-Bench 2.0</a:t>
            </a:r>
          </a:p>
          <a:p>
            <a:pPr algn="l">
              <a:lnSpc>
                <a:spcPct val="114000"/>
              </a:lnSpc>
              <a:spcBef>
                <a:spcPts val="0"/>
              </a:spcBef>
              <a:spcAft>
                <a:spcPts val="500"/>
              </a:spcAft>
              <a:buNone/>
              <a:defRPr sz="1350" b="0">
                <a:solidFill>
                  <a:srgbClr val="303437"/>
                </a:solidFill>
                <a:latin typeface="Noto Sans"/>
              </a:defRPr>
            </a:pPr>
            <a:r>
              <a:rPr sz="1350" b="0" lang="ja-JP" altLang="en-US">
                <a:solidFill>
                  <a:srgbClr val="626669"/>
                </a:solidFill>
                <a:latin typeface="Noto Sans"/>
                <a:ea typeface="Noto Sans CJK JP"/>
                <a:cs typeface="Noto Sans"/>
              </a:rPr>
              <a:t>The Terminal-Bench Team / 2025 / GitHub</a:t>
            </a:r>
          </a:p>
          <a:p>
            <a:pPr algn="l">
              <a:lnSpc>
                <a:spcPct val="114000"/>
              </a:lnSpc>
              <a:spcBef>
                <a:spcPts val="0"/>
              </a:spcBef>
              <a:spcAft>
                <a:spcPts val="400"/>
              </a:spcAft>
              <a:buNone/>
              <a:defRPr sz="1850" b="0">
                <a:solidFill>
                  <a:srgbClr val="303437"/>
                </a:solidFill>
                <a:latin typeface="Noto Sans"/>
              </a:defRPr>
            </a:pPr>
            <a:r>
              <a:rPr sz="1850" b="0" lang="ja-JP" altLang="en-US">
                <a:solidFill>
                  <a:srgbClr val="303437"/>
                </a:solidFill>
                <a:latin typeface="Noto Sans"/>
                <a:ea typeface="Noto Sans CJK JP"/>
                <a:cs typeface="Noto Sans"/>
              </a:rPr>
              <a:t>指示、初期環境、参照解法、採点テストを含む89課題を公開する。</a:t>
            </a:r>
          </a:p>
          <a:p>
            <a:pPr algn="l">
              <a:lnSpc>
                <a:spcPct val="114000"/>
              </a:lnSpc>
              <a:spcBef>
                <a:spcPts val="0"/>
              </a:spcBef>
              <a:spcAft>
                <a:spcPts val="0"/>
              </a:spcAft>
              <a:buNone/>
              <a:defRPr sz="1150" b="0">
                <a:solidFill>
                  <a:srgbClr val="303437"/>
                </a:solidFill>
                <a:latin typeface="Noto Sans"/>
              </a:defRPr>
            </a:pPr>
            <a:r>
              <a:rPr sz="1150" b="0" lang="ja-JP" altLang="en-US">
                <a:solidFill>
                  <a:srgbClr val="626669"/>
                </a:solidFill>
                <a:latin typeface="Noto Sans"/>
                <a:ea typeface="Noto Sans CJK JP"/>
                <a:cs typeface="Noto Sans"/>
                <a:hlinkClick r:id="rId2"/>
              </a:rPr>
              <a:t>https://github.com/laude-institute/terminal-bench-2</a:t>
            </a:r>
          </a:p>
        </p:txBody>
      </p:sp>
      <p:sp>
        <p:nvSpPr>
          <p:cNvPr id="5" name="文献 2: Harbor"/>
          <p:cNvSpPr txBox="1"/>
          <p:nvPr/>
        </p:nvSpPr>
        <p:spPr>
          <a:xfrm>
            <a:off x="548640" y="3131693"/>
            <a:ext cx="8046720" cy="1425448"/>
          </a:xfrm>
          <a:prstGeom prst="rect">
            <a:avLst/>
          </a:prstGeom>
          <a:noFill/>
        </p:spPr>
        <p:txBody>
          <a:bodyPr wrap="square" lIns="0" rIns="0" tIns="0" bIns="0">
            <a:noAutofit/>
          </a:bodyPr>
          <a:lstStyle/>
          <a:p>
            <a:pPr algn="l">
              <a:lnSpc>
                <a:spcPct val="114000"/>
              </a:lnSpc>
              <a:spcBef>
                <a:spcPts val="0"/>
              </a:spcBef>
              <a:spcAft>
                <a:spcPts val="400"/>
              </a:spcAft>
              <a:buNone/>
              <a:defRPr sz="2000" b="0">
                <a:solidFill>
                  <a:srgbClr val="303437"/>
                </a:solidFill>
                <a:latin typeface="Noto Sans"/>
              </a:defRPr>
            </a:pPr>
            <a:r>
              <a:rPr sz="2000" b="1" lang="ja-JP" altLang="en-US">
                <a:solidFill>
                  <a:srgbClr val="303437"/>
                </a:solidFill>
                <a:latin typeface="Noto Sans"/>
                <a:ea typeface="Noto Sans CJK JP"/>
                <a:cs typeface="Noto Sans"/>
              </a:rPr>
              <a:t>Harbor</a:t>
            </a:r>
          </a:p>
          <a:p>
            <a:pPr algn="l">
              <a:lnSpc>
                <a:spcPct val="114000"/>
              </a:lnSpc>
              <a:spcBef>
                <a:spcPts val="0"/>
              </a:spcBef>
              <a:spcAft>
                <a:spcPts val="500"/>
              </a:spcAft>
              <a:buNone/>
              <a:defRPr sz="1350" b="0">
                <a:solidFill>
                  <a:srgbClr val="303437"/>
                </a:solidFill>
                <a:latin typeface="Noto Sans"/>
              </a:defRPr>
            </a:pPr>
            <a:r>
              <a:rPr sz="1350" b="0" lang="ja-JP" altLang="en-US">
                <a:solidFill>
                  <a:srgbClr val="626669"/>
                </a:solidFill>
                <a:latin typeface="Noto Sans"/>
                <a:ea typeface="Noto Sans CJK JP"/>
                <a:cs typeface="Noto Sans"/>
              </a:rPr>
              <a:t>Harbor contributors / 2026参照 / GitHub</a:t>
            </a:r>
          </a:p>
          <a:p>
            <a:pPr algn="l">
              <a:lnSpc>
                <a:spcPct val="114000"/>
              </a:lnSpc>
              <a:spcBef>
                <a:spcPts val="0"/>
              </a:spcBef>
              <a:spcAft>
                <a:spcPts val="400"/>
              </a:spcAft>
              <a:buNone/>
              <a:defRPr sz="1850" b="0">
                <a:solidFill>
                  <a:srgbClr val="303437"/>
                </a:solidFill>
                <a:latin typeface="Noto Sans"/>
              </a:defRPr>
            </a:pPr>
            <a:r>
              <a:rPr sz="1850" b="0" lang="ja-JP" altLang="en-US">
                <a:solidFill>
                  <a:srgbClr val="303437"/>
                </a:solidFill>
                <a:latin typeface="Noto Sans"/>
                <a:ea typeface="Noto Sans CJK JP"/>
                <a:cs typeface="Noto Sans"/>
              </a:rPr>
              <a:t>端末操作エージェントの環境準備、実行、採点、結果保存を扱う公式基盤。</a:t>
            </a:r>
          </a:p>
          <a:p>
            <a:pPr algn="l">
              <a:lnSpc>
                <a:spcPct val="114000"/>
              </a:lnSpc>
              <a:spcBef>
                <a:spcPts val="0"/>
              </a:spcBef>
              <a:spcAft>
                <a:spcPts val="0"/>
              </a:spcAft>
              <a:buNone/>
              <a:defRPr sz="1150" b="0">
                <a:solidFill>
                  <a:srgbClr val="303437"/>
                </a:solidFill>
                <a:latin typeface="Noto Sans"/>
              </a:defRPr>
            </a:pPr>
            <a:r>
              <a:rPr sz="1150" b="0" lang="ja-JP" altLang="en-US">
                <a:solidFill>
                  <a:srgbClr val="626669"/>
                </a:solidFill>
                <a:latin typeface="Noto Sans"/>
                <a:ea typeface="Noto Sans CJK JP"/>
                <a:cs typeface="Noto Sans"/>
                <a:hlinkClick r:id="rId3"/>
              </a:rPr>
              <a:t>https://github.com/laude-institute/harbor</a:t>
            </a:r>
          </a:p>
        </p:txBody>
      </p:sp>
    </p:spTree>
  </p:cSld>
  <p:clrMapOvr>
    <a:masterClrMapping/>
  </p:clrMapOvr>
</p:sld>
</file>

<file path=ppt/slides/slide6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786384"/>
            <a:ext cx="8046720" cy="502920"/>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参考文献</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FFF"/>
                </a:solidFill>
                <a:latin typeface="Noto Sans"/>
                <a:ea typeface="Noto Sans CJK JP"/>
                <a:cs typeface="Noto Sans"/>
              </a:rPr>
              <a:t>Appendix: 3. 開発者と参考文献</a:t>
            </a:r>
          </a:p>
        </p:txBody>
      </p:sp>
      <p:sp>
        <p:nvSpPr>
          <p:cNvPr id="4" name="文献 1: SWE-bench: Can Language Models Resolve Real-World GitHub Issues?"/>
          <p:cNvSpPr txBox="1"/>
          <p:nvPr/>
        </p:nvSpPr>
        <p:spPr>
          <a:xfrm>
            <a:off x="548640" y="1463040"/>
            <a:ext cx="8046720" cy="1715008"/>
          </a:xfrm>
          <a:prstGeom prst="rect">
            <a:avLst/>
          </a:prstGeom>
          <a:noFill/>
        </p:spPr>
        <p:txBody>
          <a:bodyPr wrap="square" lIns="0" rIns="0" tIns="0" bIns="0">
            <a:noAutofit/>
          </a:bodyPr>
          <a:lstStyle/>
          <a:p>
            <a:pPr algn="l">
              <a:lnSpc>
                <a:spcPct val="114000"/>
              </a:lnSpc>
              <a:spcBef>
                <a:spcPts val="0"/>
              </a:spcBef>
              <a:spcAft>
                <a:spcPts val="400"/>
              </a:spcAft>
              <a:buNone/>
              <a:defRPr sz="2000" b="0">
                <a:solidFill>
                  <a:srgbClr val="303437"/>
                </a:solidFill>
                <a:latin typeface="Noto Sans"/>
              </a:defRPr>
            </a:pPr>
            <a:r>
              <a:rPr sz="2000" b="1" lang="ja-JP" altLang="en-US">
                <a:solidFill>
                  <a:srgbClr val="303437"/>
                </a:solidFill>
                <a:latin typeface="Noto Sans"/>
                <a:ea typeface="Noto Sans CJK JP"/>
                <a:cs typeface="Noto Sans"/>
              </a:rPr>
              <a:t>SWE-bench: Can Language Models Resolve Real-World GitHub Issues?</a:t>
            </a:r>
          </a:p>
          <a:p>
            <a:pPr algn="l">
              <a:lnSpc>
                <a:spcPct val="114000"/>
              </a:lnSpc>
              <a:spcBef>
                <a:spcPts val="0"/>
              </a:spcBef>
              <a:spcAft>
                <a:spcPts val="500"/>
              </a:spcAft>
              <a:buNone/>
              <a:defRPr sz="1350" b="0">
                <a:solidFill>
                  <a:srgbClr val="303437"/>
                </a:solidFill>
                <a:latin typeface="Noto Sans"/>
              </a:defRPr>
            </a:pPr>
            <a:r>
              <a:rPr sz="1350" b="0" lang="ja-JP" altLang="en-US">
                <a:solidFill>
                  <a:srgbClr val="626669"/>
                </a:solidFill>
                <a:latin typeface="Noto Sans"/>
                <a:ea typeface="Noto Sans CJK JP"/>
                <a:cs typeface="Noto Sans"/>
              </a:rPr>
              <a:t>Carlos E. Jimenez et al. / 2024 / ICLR</a:t>
            </a:r>
          </a:p>
          <a:p>
            <a:pPr algn="l">
              <a:lnSpc>
                <a:spcPct val="114000"/>
              </a:lnSpc>
              <a:spcBef>
                <a:spcPts val="0"/>
              </a:spcBef>
              <a:spcAft>
                <a:spcPts val="400"/>
              </a:spcAft>
              <a:buNone/>
              <a:defRPr sz="1850" b="0">
                <a:solidFill>
                  <a:srgbClr val="303437"/>
                </a:solidFill>
                <a:latin typeface="Noto Sans"/>
              </a:defRPr>
            </a:pPr>
            <a:r>
              <a:rPr sz="1850" b="0" lang="ja-JP" altLang="en-US">
                <a:solidFill>
                  <a:srgbClr val="303437"/>
                </a:solidFill>
                <a:latin typeface="Noto Sans"/>
                <a:ea typeface="Noto Sans CJK JP"/>
                <a:cs typeface="Noto Sans"/>
              </a:rPr>
              <a:t>GitHubの課題記述とリポジトリから、実際のコード修正を評価する先行ベンチマーク。</a:t>
            </a:r>
          </a:p>
          <a:p>
            <a:pPr algn="l">
              <a:lnSpc>
                <a:spcPct val="114000"/>
              </a:lnSpc>
              <a:spcBef>
                <a:spcPts val="0"/>
              </a:spcBef>
              <a:spcAft>
                <a:spcPts val="0"/>
              </a:spcAft>
              <a:buNone/>
              <a:defRPr sz="1150" b="0">
                <a:solidFill>
                  <a:srgbClr val="303437"/>
                </a:solidFill>
                <a:latin typeface="Noto Sans"/>
              </a:defRPr>
            </a:pPr>
            <a:r>
              <a:rPr sz="1150" b="0" lang="ja-JP" altLang="en-US">
                <a:solidFill>
                  <a:srgbClr val="626669"/>
                </a:solidFill>
                <a:latin typeface="Noto Sans"/>
                <a:ea typeface="Noto Sans CJK JP"/>
                <a:cs typeface="Noto Sans"/>
                <a:hlinkClick r:id="rId2"/>
              </a:rPr>
              <a:t>https://arxiv.org/abs/2310.06770</a:t>
            </a:r>
          </a:p>
        </p:txBody>
      </p:sp>
    </p:spTree>
  </p:cSld>
  <p:clrMapOvr>
    <a:masterClrMapping/>
  </p:clrMapOvr>
</p:sld>
</file>

<file path=ppt/slides/slide6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786384"/>
            <a:ext cx="8046720" cy="502920"/>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参考文献</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FFF"/>
                </a:solidFill>
                <a:latin typeface="Noto Sans"/>
                <a:ea typeface="Noto Sans CJK JP"/>
                <a:cs typeface="Noto Sans"/>
              </a:rPr>
              <a:t>Appendix: 3. 開発者と参考文献</a:t>
            </a:r>
          </a:p>
        </p:txBody>
      </p:sp>
      <p:sp>
        <p:nvSpPr>
          <p:cNvPr id="4" name="文献 1: WebArena: A Realistic Web Environment for Building Autonomous Agents"/>
          <p:cNvSpPr txBox="1"/>
          <p:nvPr/>
        </p:nvSpPr>
        <p:spPr>
          <a:xfrm>
            <a:off x="548640" y="1463040"/>
            <a:ext cx="8046720" cy="1447165"/>
          </a:xfrm>
          <a:prstGeom prst="rect">
            <a:avLst/>
          </a:prstGeom>
          <a:noFill/>
        </p:spPr>
        <p:txBody>
          <a:bodyPr wrap="square" lIns="0" rIns="0" tIns="0" bIns="0">
            <a:noAutofit/>
          </a:bodyPr>
          <a:lstStyle/>
          <a:p>
            <a:pPr algn="l">
              <a:lnSpc>
                <a:spcPct val="114000"/>
              </a:lnSpc>
              <a:spcBef>
                <a:spcPts val="0"/>
              </a:spcBef>
              <a:spcAft>
                <a:spcPts val="400"/>
              </a:spcAft>
              <a:buNone/>
              <a:defRPr sz="2000" b="0">
                <a:solidFill>
                  <a:srgbClr val="303437"/>
                </a:solidFill>
                <a:latin typeface="Noto Sans"/>
              </a:defRPr>
            </a:pPr>
            <a:r>
              <a:rPr sz="2000" b="1" lang="ja-JP" altLang="en-US">
                <a:solidFill>
                  <a:srgbClr val="303437"/>
                </a:solidFill>
                <a:latin typeface="Noto Sans"/>
                <a:ea typeface="Noto Sans CJK JP"/>
                <a:cs typeface="Noto Sans"/>
              </a:rPr>
              <a:t>WebArena: A Realistic Web Environment for Building Autonomous Agents</a:t>
            </a:r>
          </a:p>
          <a:p>
            <a:pPr algn="l">
              <a:lnSpc>
                <a:spcPct val="114000"/>
              </a:lnSpc>
              <a:spcBef>
                <a:spcPts val="0"/>
              </a:spcBef>
              <a:spcAft>
                <a:spcPts val="500"/>
              </a:spcAft>
              <a:buNone/>
              <a:defRPr sz="1350" b="0">
                <a:solidFill>
                  <a:srgbClr val="303437"/>
                </a:solidFill>
                <a:latin typeface="Noto Sans"/>
              </a:defRPr>
            </a:pPr>
            <a:r>
              <a:rPr sz="1350" b="0" lang="ja-JP" altLang="en-US">
                <a:solidFill>
                  <a:srgbClr val="626669"/>
                </a:solidFill>
                <a:latin typeface="Noto Sans"/>
                <a:ea typeface="Noto Sans CJK JP"/>
                <a:cs typeface="Noto Sans"/>
              </a:rPr>
              <a:t>Shuyan Zhou et al. / 2024 / ICLR</a:t>
            </a:r>
          </a:p>
          <a:p>
            <a:pPr algn="l">
              <a:lnSpc>
                <a:spcPct val="114000"/>
              </a:lnSpc>
              <a:spcBef>
                <a:spcPts val="0"/>
              </a:spcBef>
              <a:spcAft>
                <a:spcPts val="400"/>
              </a:spcAft>
              <a:buNone/>
              <a:defRPr sz="1850" b="0">
                <a:solidFill>
                  <a:srgbClr val="303437"/>
                </a:solidFill>
                <a:latin typeface="Noto Sans"/>
              </a:defRPr>
            </a:pPr>
            <a:r>
              <a:rPr sz="1850" b="0" lang="ja-JP" altLang="en-US">
                <a:solidFill>
                  <a:srgbClr val="303437"/>
                </a:solidFill>
                <a:latin typeface="Noto Sans"/>
                <a:ea typeface="Noto Sans CJK JP"/>
                <a:cs typeface="Noto Sans"/>
              </a:rPr>
              <a:t>Webアプリでの情報取得や操作を、実行結果から評価する先行研究。</a:t>
            </a:r>
          </a:p>
          <a:p>
            <a:pPr algn="l">
              <a:lnSpc>
                <a:spcPct val="114000"/>
              </a:lnSpc>
              <a:spcBef>
                <a:spcPts val="0"/>
              </a:spcBef>
              <a:spcAft>
                <a:spcPts val="0"/>
              </a:spcAft>
              <a:buNone/>
              <a:defRPr sz="1150" b="0">
                <a:solidFill>
                  <a:srgbClr val="303437"/>
                </a:solidFill>
                <a:latin typeface="Noto Sans"/>
              </a:defRPr>
            </a:pPr>
            <a:r>
              <a:rPr sz="1150" b="0" lang="ja-JP" altLang="en-US">
                <a:solidFill>
                  <a:srgbClr val="626669"/>
                </a:solidFill>
                <a:latin typeface="Noto Sans"/>
                <a:ea typeface="Noto Sans CJK JP"/>
                <a:cs typeface="Noto Sans"/>
                <a:hlinkClick r:id="rId2"/>
              </a:rPr>
              <a:t>https://arxiv.org/abs/2307.13854</a:t>
            </a:r>
          </a:p>
        </p:txBody>
      </p:sp>
    </p:spTree>
  </p:cSld>
  <p:clrMapOvr>
    <a:masterClrMapping/>
  </p:clrMapOvr>
</p:sld>
</file>

<file path=ppt/slides/slide7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786384"/>
            <a:ext cx="8046720" cy="502920"/>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参考文献</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FFF"/>
                </a:solidFill>
                <a:latin typeface="Noto Sans"/>
                <a:ea typeface="Noto Sans CJK JP"/>
                <a:cs typeface="Noto Sans"/>
              </a:rPr>
              <a:t>Appendix: 3. 開発者と参考文献</a:t>
            </a:r>
          </a:p>
        </p:txBody>
      </p:sp>
      <p:sp>
        <p:nvSpPr>
          <p:cNvPr id="4" name="文献 1: Gemini 3.1 Pro"/>
          <p:cNvSpPr txBox="1"/>
          <p:nvPr/>
        </p:nvSpPr>
        <p:spPr>
          <a:xfrm>
            <a:off x="548640" y="1463040"/>
            <a:ext cx="8046720" cy="1157605"/>
          </a:xfrm>
          <a:prstGeom prst="rect">
            <a:avLst/>
          </a:prstGeom>
          <a:noFill/>
        </p:spPr>
        <p:txBody>
          <a:bodyPr wrap="square" lIns="0" rIns="0" tIns="0" bIns="0">
            <a:noAutofit/>
          </a:bodyPr>
          <a:lstStyle/>
          <a:p>
            <a:pPr algn="l">
              <a:lnSpc>
                <a:spcPct val="114000"/>
              </a:lnSpc>
              <a:spcBef>
                <a:spcPts val="0"/>
              </a:spcBef>
              <a:spcAft>
                <a:spcPts val="400"/>
              </a:spcAft>
              <a:buNone/>
              <a:defRPr sz="2000" b="0">
                <a:solidFill>
                  <a:srgbClr val="303437"/>
                </a:solidFill>
                <a:latin typeface="Noto Sans"/>
              </a:defRPr>
            </a:pPr>
            <a:r>
              <a:rPr sz="2000" b="1" lang="ja-JP" altLang="en-US">
                <a:solidFill>
                  <a:srgbClr val="303437"/>
                </a:solidFill>
                <a:latin typeface="Noto Sans"/>
                <a:ea typeface="Noto Sans CJK JP"/>
                <a:cs typeface="Noto Sans"/>
              </a:rPr>
              <a:t>Gemini 3.1 Pro</a:t>
            </a:r>
          </a:p>
          <a:p>
            <a:pPr algn="l">
              <a:lnSpc>
                <a:spcPct val="114000"/>
              </a:lnSpc>
              <a:spcBef>
                <a:spcPts val="0"/>
              </a:spcBef>
              <a:spcAft>
                <a:spcPts val="500"/>
              </a:spcAft>
              <a:buNone/>
              <a:defRPr sz="1350" b="0">
                <a:solidFill>
                  <a:srgbClr val="303437"/>
                </a:solidFill>
                <a:latin typeface="Noto Sans"/>
              </a:defRPr>
            </a:pPr>
            <a:r>
              <a:rPr sz="1350" b="0" lang="ja-JP" altLang="en-US">
                <a:solidFill>
                  <a:srgbClr val="626669"/>
                </a:solidFill>
                <a:latin typeface="Noto Sans"/>
                <a:ea typeface="Noto Sans CJK JP"/>
                <a:cs typeface="Noto Sans"/>
              </a:rPr>
              <a:t>Google DeepMind / 2026 / Model information</a:t>
            </a:r>
          </a:p>
          <a:p>
            <a:pPr algn="l">
              <a:lnSpc>
                <a:spcPct val="114000"/>
              </a:lnSpc>
              <a:spcBef>
                <a:spcPts val="0"/>
              </a:spcBef>
              <a:spcAft>
                <a:spcPts val="400"/>
              </a:spcAft>
              <a:buNone/>
              <a:defRPr sz="1850" b="0">
                <a:solidFill>
                  <a:srgbClr val="303437"/>
                </a:solidFill>
                <a:latin typeface="Noto Sans"/>
              </a:defRPr>
            </a:pPr>
            <a:r>
              <a:rPr sz="1850" b="0" lang="ja-JP" altLang="en-US">
                <a:solidFill>
                  <a:srgbClr val="303437"/>
                </a:solidFill>
                <a:latin typeface="Noto Sans"/>
                <a:ea typeface="Noto Sans CJK JP"/>
                <a:cs typeface="Noto Sans"/>
              </a:rPr>
              <a:t>Terminus-2を用いたTerminal-Bench 2.0の評価値を掲載する。</a:t>
            </a:r>
          </a:p>
          <a:p>
            <a:pPr algn="l">
              <a:lnSpc>
                <a:spcPct val="114000"/>
              </a:lnSpc>
              <a:spcBef>
                <a:spcPts val="0"/>
              </a:spcBef>
              <a:spcAft>
                <a:spcPts val="0"/>
              </a:spcAft>
              <a:buNone/>
              <a:defRPr sz="1150" b="0">
                <a:solidFill>
                  <a:srgbClr val="303437"/>
                </a:solidFill>
                <a:latin typeface="Noto Sans"/>
              </a:defRPr>
            </a:pPr>
            <a:r>
              <a:rPr sz="1150" b="0" lang="ja-JP" altLang="en-US">
                <a:solidFill>
                  <a:srgbClr val="626669"/>
                </a:solidFill>
                <a:latin typeface="Noto Sans"/>
                <a:ea typeface="Noto Sans CJK JP"/>
                <a:cs typeface="Noto Sans"/>
                <a:hlinkClick r:id="rId2"/>
              </a:rPr>
              <a:t>https://deepmind.google/models/gemini/pro/</a:t>
            </a:r>
          </a:p>
        </p:txBody>
      </p:sp>
      <p:sp>
        <p:nvSpPr>
          <p:cNvPr id="5" name="文献 2: Claude Opus 5.5"/>
          <p:cNvSpPr txBox="1"/>
          <p:nvPr/>
        </p:nvSpPr>
        <p:spPr>
          <a:xfrm>
            <a:off x="548640" y="3131693"/>
            <a:ext cx="8046720" cy="1157605"/>
          </a:xfrm>
          <a:prstGeom prst="rect">
            <a:avLst/>
          </a:prstGeom>
          <a:noFill/>
        </p:spPr>
        <p:txBody>
          <a:bodyPr wrap="square" lIns="0" rIns="0" tIns="0" bIns="0">
            <a:noAutofit/>
          </a:bodyPr>
          <a:lstStyle/>
          <a:p>
            <a:pPr algn="l">
              <a:lnSpc>
                <a:spcPct val="114000"/>
              </a:lnSpc>
              <a:spcBef>
                <a:spcPts val="0"/>
              </a:spcBef>
              <a:spcAft>
                <a:spcPts val="400"/>
              </a:spcAft>
              <a:buNone/>
              <a:defRPr sz="2000" b="0">
                <a:solidFill>
                  <a:srgbClr val="303437"/>
                </a:solidFill>
                <a:latin typeface="Noto Sans"/>
              </a:defRPr>
            </a:pPr>
            <a:r>
              <a:rPr sz="2000" b="1" lang="ja-JP" altLang="en-US">
                <a:solidFill>
                  <a:srgbClr val="303437"/>
                </a:solidFill>
                <a:latin typeface="Noto Sans"/>
                <a:ea typeface="Noto Sans CJK JP"/>
                <a:cs typeface="Noto Sans"/>
              </a:rPr>
              <a:t>Claude Opus 5.5</a:t>
            </a:r>
          </a:p>
          <a:p>
            <a:pPr algn="l">
              <a:lnSpc>
                <a:spcPct val="114000"/>
              </a:lnSpc>
              <a:spcBef>
                <a:spcPts val="0"/>
              </a:spcBef>
              <a:spcAft>
                <a:spcPts val="500"/>
              </a:spcAft>
              <a:buNone/>
              <a:defRPr sz="1350" b="0">
                <a:solidFill>
                  <a:srgbClr val="303437"/>
                </a:solidFill>
                <a:latin typeface="Noto Sans"/>
              </a:defRPr>
            </a:pPr>
            <a:r>
              <a:rPr sz="1350" b="0" lang="ja-JP" altLang="en-US">
                <a:solidFill>
                  <a:srgbClr val="626669"/>
                </a:solidFill>
                <a:latin typeface="Noto Sans"/>
                <a:ea typeface="Noto Sans CJK JP"/>
                <a:cs typeface="Noto Sans"/>
              </a:rPr>
              <a:t>Anthropic / 2026-09-22 / Model announcement</a:t>
            </a:r>
          </a:p>
          <a:p>
            <a:pPr algn="l">
              <a:lnSpc>
                <a:spcPct val="114000"/>
              </a:lnSpc>
              <a:spcBef>
                <a:spcPts val="0"/>
              </a:spcBef>
              <a:spcAft>
                <a:spcPts val="400"/>
              </a:spcAft>
              <a:buNone/>
              <a:defRPr sz="1850" b="0">
                <a:solidFill>
                  <a:srgbClr val="303437"/>
                </a:solidFill>
                <a:latin typeface="Noto Sans"/>
              </a:defRPr>
            </a:pPr>
            <a:r>
              <a:rPr sz="1850" b="0" lang="ja-JP" altLang="en-US">
                <a:solidFill>
                  <a:srgbClr val="303437"/>
                </a:solidFill>
                <a:latin typeface="Noto Sans"/>
                <a:ea typeface="Noto Sans CJK JP"/>
                <a:cs typeface="Noto Sans"/>
              </a:rPr>
              <a:t>Terminal-Bench 4.0の性能と推論設定、実行費用の比較を公表する。</a:t>
            </a:r>
          </a:p>
          <a:p>
            <a:pPr algn="l">
              <a:lnSpc>
                <a:spcPct val="114000"/>
              </a:lnSpc>
              <a:spcBef>
                <a:spcPts val="0"/>
              </a:spcBef>
              <a:spcAft>
                <a:spcPts val="0"/>
              </a:spcAft>
              <a:buNone/>
              <a:defRPr sz="1150" b="0">
                <a:solidFill>
                  <a:srgbClr val="303437"/>
                </a:solidFill>
                <a:latin typeface="Noto Sans"/>
              </a:defRPr>
            </a:pPr>
            <a:r>
              <a:rPr sz="1150" b="0" lang="ja-JP" altLang="en-US">
                <a:solidFill>
                  <a:srgbClr val="626669"/>
                </a:solidFill>
                <a:latin typeface="Noto Sans"/>
                <a:ea typeface="Noto Sans CJK JP"/>
                <a:cs typeface="Noto Sans"/>
                <a:hlinkClick r:id="rId3"/>
              </a:rPr>
              <a:t>https://www.anthropic.com/news/claude-opus-5-5</a:t>
            </a:r>
          </a:p>
        </p:txBody>
      </p:sp>
    </p:spTree>
  </p:cSld>
  <p:clrMapOvr>
    <a:masterClrMapping/>
  </p:clrMapOvr>
</p:sld>
</file>

<file path=ppt/slides/slide7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786384"/>
            <a:ext cx="8046720" cy="502920"/>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参考文献</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FFF"/>
                </a:solidFill>
                <a:latin typeface="Noto Sans"/>
                <a:ea typeface="Noto Sans CJK JP"/>
                <a:cs typeface="Noto Sans"/>
              </a:rPr>
              <a:t>Appendix: 3. 開発者と参考文献</a:t>
            </a:r>
          </a:p>
        </p:txBody>
      </p:sp>
      <p:sp>
        <p:nvSpPr>
          <p:cNvPr id="4" name="文献 1: GPT-6 Astra: A new generation of intelligence"/>
          <p:cNvSpPr txBox="1"/>
          <p:nvPr/>
        </p:nvSpPr>
        <p:spPr>
          <a:xfrm>
            <a:off x="548640" y="1463040"/>
            <a:ext cx="8046720" cy="1425448"/>
          </a:xfrm>
          <a:prstGeom prst="rect">
            <a:avLst/>
          </a:prstGeom>
          <a:noFill/>
        </p:spPr>
        <p:txBody>
          <a:bodyPr wrap="square" lIns="0" rIns="0" tIns="0" bIns="0">
            <a:noAutofit/>
          </a:bodyPr>
          <a:lstStyle/>
          <a:p>
            <a:pPr algn="l">
              <a:lnSpc>
                <a:spcPct val="114000"/>
              </a:lnSpc>
              <a:spcBef>
                <a:spcPts val="0"/>
              </a:spcBef>
              <a:spcAft>
                <a:spcPts val="400"/>
              </a:spcAft>
              <a:buNone/>
              <a:defRPr sz="2000" b="0">
                <a:solidFill>
                  <a:srgbClr val="303437"/>
                </a:solidFill>
                <a:latin typeface="Noto Sans"/>
              </a:defRPr>
            </a:pPr>
            <a:r>
              <a:rPr sz="2000" b="1" lang="ja-JP" altLang="en-US">
                <a:solidFill>
                  <a:srgbClr val="303437"/>
                </a:solidFill>
                <a:latin typeface="Noto Sans"/>
                <a:ea typeface="Noto Sans CJK JP"/>
                <a:cs typeface="Noto Sans"/>
              </a:rPr>
              <a:t>GPT-6 Astra: A new generation of intelligence</a:t>
            </a:r>
          </a:p>
          <a:p>
            <a:pPr algn="l">
              <a:lnSpc>
                <a:spcPct val="114000"/>
              </a:lnSpc>
              <a:spcBef>
                <a:spcPts val="0"/>
              </a:spcBef>
              <a:spcAft>
                <a:spcPts val="500"/>
              </a:spcAft>
              <a:buNone/>
              <a:defRPr sz="1350" b="0">
                <a:solidFill>
                  <a:srgbClr val="303437"/>
                </a:solidFill>
                <a:latin typeface="Noto Sans"/>
              </a:defRPr>
            </a:pPr>
            <a:r>
              <a:rPr sz="1350" b="0" lang="ja-JP" altLang="en-US">
                <a:solidFill>
                  <a:srgbClr val="626669"/>
                </a:solidFill>
                <a:latin typeface="Noto Sans"/>
                <a:ea typeface="Noto Sans CJK JP"/>
                <a:cs typeface="Noto Sans"/>
              </a:rPr>
              <a:t>OpenAI / 2026 / Model announcement</a:t>
            </a:r>
          </a:p>
          <a:p>
            <a:pPr algn="l">
              <a:lnSpc>
                <a:spcPct val="114000"/>
              </a:lnSpc>
              <a:spcBef>
                <a:spcPts val="0"/>
              </a:spcBef>
              <a:spcAft>
                <a:spcPts val="400"/>
              </a:spcAft>
              <a:buNone/>
              <a:defRPr sz="1850" b="0">
                <a:solidFill>
                  <a:srgbClr val="303437"/>
                </a:solidFill>
                <a:latin typeface="Noto Sans"/>
              </a:defRPr>
            </a:pPr>
            <a:r>
              <a:rPr sz="1850" b="0" lang="ja-JP" altLang="en-US">
                <a:solidFill>
                  <a:srgbClr val="303437"/>
                </a:solidFill>
                <a:latin typeface="Noto Sans"/>
                <a:ea typeface="Noto Sans CJK JP"/>
                <a:cs typeface="Noto Sans"/>
              </a:rPr>
              <a:t>Terminal-Bench 4.0を含む、端末操作とコード開発の評価結果を公表する。</a:t>
            </a:r>
          </a:p>
          <a:p>
            <a:pPr algn="l">
              <a:lnSpc>
                <a:spcPct val="114000"/>
              </a:lnSpc>
              <a:spcBef>
                <a:spcPts val="0"/>
              </a:spcBef>
              <a:spcAft>
                <a:spcPts val="0"/>
              </a:spcAft>
              <a:buNone/>
              <a:defRPr sz="1150" b="0">
                <a:solidFill>
                  <a:srgbClr val="303437"/>
                </a:solidFill>
                <a:latin typeface="Noto Sans"/>
              </a:defRPr>
            </a:pPr>
            <a:r>
              <a:rPr sz="1150" b="0" lang="ja-JP" altLang="en-US">
                <a:solidFill>
                  <a:srgbClr val="626669"/>
                </a:solidFill>
                <a:latin typeface="Noto Sans"/>
                <a:ea typeface="Noto Sans CJK JP"/>
                <a:cs typeface="Noto Sans"/>
                <a:hlinkClick r:id="rId2"/>
              </a:rPr>
              <a:t>https://openai.com/index/gpt-6-astra/</a:t>
            </a:r>
          </a:p>
        </p:txBody>
      </p:sp>
    </p:spTree>
  </p:cSld>
  <p:clrMapOvr>
    <a:masterClrMapping/>
  </p:clrMapOvr>
</p:sld>
</file>

<file path=ppt/theme/theme1.xml><?xml version="1.0" encoding="utf-8"?>
<a:theme xmlns:a="http://schemas.openxmlformats.org/drawingml/2006/main" name="Simple Light">
  <a:themeElements>
    <a:clrScheme name="IARTEM Research Palette">
      <a:dk1>
        <a:srgbClr val="303437"/>
      </a:dk1>
      <a:lt1>
        <a:srgbClr val="FFFEF8"/>
      </a:lt1>
      <a:dk2>
        <a:srgbClr val="626669"/>
      </a:dk2>
      <a:lt2>
        <a:srgbClr val="EBEDEB"/>
      </a:lt2>
      <a:accent1>
        <a:srgbClr val="B13731"/>
      </a:accent1>
      <a:accent2>
        <a:srgbClr val="2C9100"/>
      </a:accent2>
      <a:accent3>
        <a:srgbClr val="2166AC"/>
      </a:accent3>
      <a:accent4>
        <a:srgbClr val="B84A00"/>
      </a:accent4>
      <a:accent5>
        <a:srgbClr val="007C91"/>
      </a:accent5>
      <a:accent6>
        <a:srgbClr val="763DA0"/>
      </a:accent6>
      <a:hlink>
        <a:srgbClr val="3F6F8F"/>
      </a:hlink>
      <a:folHlink>
        <a:srgbClr val="7A5C8E"/>
      </a:folHlink>
    </a:clrScheme>
    <a:fontScheme name="Office">
      <a:majorFont>
        <a:latin typeface="Noto Sans"/>
        <a:ea typeface="Noto Sans CJK JP"/>
        <a:cs typeface="Noto Sans"/>
        <a:font script="Jpan" typeface="Noto Sans CJK JP"/>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Noto Sans"/>
        <a:ea typeface="Noto Sans CJK JP"/>
        <a:cs typeface="Noto Sans"/>
        <a:font script="Jpan" typeface="Noto Sans CJK JP"/>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webextensions/_rels/taskpanes.xml.rels><?xml version='1.0' encoding='UTF-8' standalone='yes'?>
<Relationships xmlns="http://schemas.openxmlformats.org/package/2006/relationships"><Relationship Id="rId1" Type="http://schemas.microsoft.com/office/2011/relationships/webextension" Target="webextension1.xml"/></Relationships>
</file>

<file path=ppt/webextensions/taskpanes.xml><?xml version="1.0" encoding="utf-8"?>
<wetp:taskpanes xmlns:wetp="http://schemas.microsoft.com/office/webextensions/taskpanes/2010/11">
  <wetp:taskpane dockstate="right" visibility="0" width="350" row="0">
    <wetp:webextensionref xmlns:r="http://schemas.openxmlformats.org/officeDocument/2006/relationships" r:id="rId1"/>
  </wetp:taskpane>
</wetp:taskpanes>
</file>

<file path=ppt/webextensions/webextension1.xml><?xml version="1.0" encoding="utf-8"?>
<we:webextension xmlns:we="http://schemas.microsoft.com/office/webextensions/webextension/2010/11" id="{3EA7E97F-3A5A-9342-98CB-7411DADE8916}">
  <we:reference id="wa200010215" version="2.0.0.0" store="ja-JP" storeType="OMEX"/>
  <we:alternateReferences>
    <we:reference id="WA200010215" version="2.0.0.0" store="WA200010215" storeType="OMEX"/>
  </we:alternateReferences>
  <we:properties>
    <we:property name="bps.codex_control.document_id" value="&quot;f3f6bd8f-7a20-4dbe-a71e-f9942711a911&quot;"/>
  </we:properties>
  <we:bindings/>
  <we:snapshot xmlns:r="http://schemas.openxmlformats.org/officeDocument/2006/relationships"/>
</we:webextension>
</file>

<file path=docProps/app.xml><?xml version="1.0" encoding="utf-8"?>
<Properties xmlns="http://schemas.openxmlformats.org/officeDocument/2006/extended-properties" xmlns:vt="http://schemas.openxmlformats.org/officeDocument/2006/docPropsVTypes">
  <TotalTime>13685</TotalTime>
  <Words>14</Words>
  <Application>Microsoft Macintosh PowerPoint</Application>
  <PresentationFormat>画面に合わせる (16:9)</PresentationFormat>
  <Paragraphs>3</Paragraphs>
  <Slides>8</Slides>
  <Notes>0</Notes>
  <HiddenSlides>0</HiddenSlides>
  <MMClips>0</MMClips>
  <ScaleCrop>false</ScaleCrop>
  <HeadingPairs>
    <vt:vector size="6" baseType="variant">
      <vt:variant>
        <vt:lpstr>使用されているフォント</vt:lpstr>
      </vt:variant>
      <vt:variant>
        <vt:i4>1</vt:i4>
      </vt:variant>
      <vt:variant>
        <vt:lpstr>テーマ</vt:lpstr>
      </vt:variant>
      <vt:variant>
        <vt:i4>1</vt:i4>
      </vt:variant>
      <vt:variant>
        <vt:lpstr>スライド タイトル</vt:lpstr>
      </vt:variant>
      <vt:variant>
        <vt:i4>8</vt:i4>
      </vt:variant>
    </vt:vector>
  </HeadingPairs>
  <TitlesOfParts>
    <vt:vector size="10" baseType="lpstr">
      <vt:lpstr>Arial</vt:lpstr>
      <vt:lpstr>Simple Light</vt:lpstr>
      <vt:lpstr>Developing and Applying a Systematic Classification Framework</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Bottom-right caption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cp:lastModifiedBy>佐々木　悠太</cp:lastModifiedBy>
  <cp:revision>500</cp:revision>
  <dcterms:modified xsi:type="dcterms:W3CDTF">2026-10-13T12:49:59Z</dcterms:modified>
  <dc:title>Terminal-Bench — datasets in 10 minutes</dc:title>
  <dc:subject>公開版2.0の端末操作課題・実例・作成方法・採点とモデル評価</dc:subject>
  <dc:creator>sasakiy84</dc:creator>
  <cp:keywords>Terminal-Bench,Harbor,agents,terminal,benchmark</cp:keywords>
</cp:coreProperties>
</file>