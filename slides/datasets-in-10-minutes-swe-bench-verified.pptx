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clustered"/>
        <c:ser>
          <c:idx val="0"/>
          <c:order val="0"/>
          <c:tx>
            <c:strRef>
              <c:f>Sheet1!$B$1</c:f>
              <c:strCache>
                <c:ptCount val="1"/>
                <c:pt idx="0">
                  <c:v>課題数</c:v>
                </c:pt>
              </c:strCache>
            </c:strRef>
          </c:tx>
          <c:spPr>
            <a:solidFill>
              <a:srgbClr val="2C9100"/>
            </a:solidFill>
            <a:ln>
              <a:noFill/>
            </a:ln>
          </c:spPr>
          <c:cat>
            <c:strRef>
              <c:f>Sheet1!$A$2:$A$7</c:f>
              <c:strCache>
                <c:ptCount val="6"/>
                <c:pt idx="0">
                  <c:v>その他</c:v>
                </c:pt>
                <c:pt idx="1">
                  <c:v>scikit-learn</c:v>
                </c:pt>
                <c:pt idx="2">
                  <c:v>Matplotlib</c:v>
                </c:pt>
                <c:pt idx="3">
                  <c:v>Sphinx</c:v>
                </c:pt>
                <c:pt idx="4">
                  <c:v>SymPy</c:v>
                </c:pt>
                <c:pt idx="5">
                  <c:v>Django</c:v>
                </c:pt>
              </c:strCache>
            </c:strRef>
          </c:cat>
          <c:val>
            <c:numRef>
              <c:f>Sheet1!$B$2:$B$7</c:f>
              <c:numCache>
                <c:formatCode>General</c:formatCode>
                <c:ptCount val="6"/>
                <c:pt idx="0">
                  <c:v>84</c:v>
                </c:pt>
                <c:pt idx="1">
                  <c:v>32</c:v>
                </c:pt>
                <c:pt idx="2">
                  <c:v>34</c:v>
                </c:pt>
                <c:pt idx="3">
                  <c:v>44</c:v>
                </c:pt>
                <c:pt idx="4">
                  <c:v>75</c:v>
                </c:pt>
                <c:pt idx="5">
                  <c:v>231</c:v>
                </c:pt>
              </c:numCache>
            </c:numRef>
          </c:val>
        </c:ser>
        <c:dLbls>
          <c:txPr>
            <a:bodyPr/>
            <a:lstStyle/>
            <a:p>
              <a:pPr>
                <a:defRPr sz="1500">
                  <a:latin typeface="Noto Sans CJK JP"/>
                </a:defRPr>
              </a:pPr>
            </a:p>
          </c:txPr>
          <c:dLblPos val="outEnd"/>
          <c:showLegendKey val="0"/>
          <c:showVal val="1"/>
          <c:showCatName val="0"/>
          <c:showSerName val="0"/>
          <c:showPercent val="0"/>
          <c:showBubbleSize val="0"/>
          <c:showLeaderLines val="1"/>
        </c:dLbls>
        <c:gapWidth val="60"/>
        <c:axId val="2226939960"/>
        <c:axId val="2180972856"/>
      </c:barChart>
      <c:catAx>
        <c:axId val="2226939960"/>
        <c:scaling>
          <c:orientation val="minMax"/>
        </c:scaling>
        <c:delete val="0"/>
        <c:axPos val="l"/>
        <c:majorTickMark val="none"/>
        <c:minorTickMark val="none"/>
        <c:tickLblPos val="nextTo"/>
        <c:spPr>
          <a:ln>
            <a:noFill/>
          </a:ln>
        </c:spPr>
        <c:txPr>
          <a:bodyPr/>
          <a:lstStyle/>
          <a:p>
            <a:pPr>
              <a:defRPr sz="1300">
                <a:latin typeface="Noto Sans CJK JP"/>
              </a:defRPr>
            </a:pPr>
          </a:p>
        </c:txPr>
        <c:crossAx val="2180972856"/>
        <c:crosses val="autoZero"/>
        <c:auto val="1"/>
        <c:lblAlgn val="ctr"/>
        <c:lblOffset val="100"/>
        <c:tickLblSkip val="1"/>
        <c:noMultiLvlLbl val="0"/>
      </c:catAx>
      <c:valAx>
        <c:axId val="2180972856"/>
        <c:scaling>
          <c:min val="0.0"/>
        </c:scaling>
        <c:delete val="0"/>
        <c:axPos val="b"/>
        <c:majorGridlines>
          <c:spPr>
            <a:ln>
              <a:solidFill>
                <a:srgbClr val="DADDD7"/>
              </a:solidFill>
            </a:ln>
          </c:spPr>
        </c:majorGridlines>
        <c:majorTickMark val="none"/>
        <c:minorTickMark val="none"/>
        <c:tickLblPos val="nextTo"/>
        <c:spPr>
          <a:ln>
            <a:noFill/>
          </a:ln>
        </c:spPr>
        <c:txPr>
          <a:bodyPr/>
          <a:lstStyle/>
          <a:p>
            <a:pPr>
              <a:defRPr sz="1300">
                <a:latin typeface="Noto Sans CJK JP"/>
              </a:defRPr>
            </a:pPr>
          </a:p>
        </c:txPr>
        <c:crossAx val="2226939960"/>
        <c:crosses val="autoZero"/>
      </c:valAx>
      <c:spPr>
        <a:solidFill>
          <a:srgbClr val="FFFEF8"/>
        </a:solidFill>
        <a:ln>
          <a:noFill/>
        </a:ln>
      </c:spPr>
    </c:plotArea>
    <c:dispBlanksAs val="gap"/>
  </c:chart>
  <c:spPr>
    <a:solidFill>
      <a:srgbClr val="FFFEF8"/>
    </a:solidFill>
    <a:ln>
      <a:noFill/>
    </a:ln>
  </c:spPr>
  <c:txPr>
    <a:bodyPr/>
    <a:lstStyle/>
    <a:p>
      <a:pPr>
        <a:defRPr sz="1400">
          <a:latin typeface="Noto Sans CJK JP"/>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huggingface.co/datasets/princeton-nlp/SWE-bench_Verified"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swebench.com/verified.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310.06770v3"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WE-bench/swe-bench-task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WE-bench/swe-bench-tasks/blob/3d07b46/tasks/pallets__flask-5014/problem_statement.md"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WE-bench/swe-bench-tasks/blob/3d07b46/tasks/pallets__flask-5014/gold.patch"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WE-bench/swe-bench-tasks/blob/3d07b46/tasks/psf__requests-1921/problem_statement.md"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WE-bench/swe-bench-tasks/blob/3d07b46/tasks/psf__requests-1921/gold.patch"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WE-bench/swe-bench-tasks/blob/3d07b46/tasks/sympy__sympy-16886/problem_statement.md"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WE-bench/swe-bench-tasks/blob/3d07b46/tasks/sympy__sympy-16886/gold.patch"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WE-bench/SWE-bench/blob/02e7a74/swebench/harness/grading.py"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WE-bench/swe-bench-tasks/blob/3d07b46/tasks/pallets__flask-5014/test.patch"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WE-bench/SWE-bench/blob/02e7a74/swebench/harness/grading.py"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WE-bench/SWE-bench/blob/02e7a74/swebench/harness/grading.py"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eepmind.google/models/gemini/pro/"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swebench.com/verified.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310.06770v3"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310.06770v3"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swebench.com/verified.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swebench.com/lite.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hyperlink" Target="https://github.com/SWE-bench/swe-bench-tasks"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WE-bench/swe-bench-tasks"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WE-bench/swe-bench-tasks"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WE-bench/SWE-bench"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9.16941v2"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WE-bench/SWE-bench/blob/02e7a74/CHANGELOG.md"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WE-bench/SWE-bench"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WE-bench/swe-bench-tasks"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WE-bench/swe-bench-tasks/blob/3d07b46/tasks/astropy__astropy-7166/gold.patch"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WE-bench/swe-bench-tasks/blob/3d07b46/tasks/django__django-15987/gold.patch"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WE-bench/swe-bench-tasks/blob/3d07b46/tasks/django__django-14373/gold.patch"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WE-bench/swe-bench-tasks/blob/3d07b46/tasks/matplotlib__matplotlib-24627/gold.patch"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WE-bench/swe-bench-tasks/blob/3d07b46/tasks/mwaskom__seaborn-3187/gold.patch"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WE-bench/swe-bench-tasks/blob/3d07b46/tasks/pydata__xarray-3677/gold.patch"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WE-bench/swe-bench-tasks/blob/3d07b46/tasks/pylint-dev__pylint-4970/gold.patch"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WE-bench/swe-bench-tasks/blob/3d07b46/tasks/pytest-dev__pytest-7982/gold.patch"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WE-bench/swe-bench-tasks/blob/3d07b46/tasks/scikit-learn__scikit-learn-13779/gold.patch"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WE-bench/swe-bench-tasks/blob/3d07b46/tasks/sphinx-doc__sphinx-9367/gold.patch"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WE-bench/swe-bench-tasks"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WE-bench/swe-bench-tasks"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WE-bench/swe-bench-tasks"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WE-bench/swe-bench-tasks"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WE-bench/swe-bench-tasks"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WE-bench/SWE-bench/blob/02e7a74/CHANGELOG.md"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WE-bench/SWE-bench/blob/02e7a74/swebench/harness/grading.py"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WE-bench/SWE-bench/blob/02e7a74/swebench/harness/grading.py"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WE-bench/swe-bench-tasks"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310.06770v3"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310.06770v3" TargetMode="External"/><Relationship Id="rId3" Type="http://schemas.openxmlformats.org/officeDocument/2006/relationships/hyperlink" Target="https://www.swebench.com/verified.html"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WE-bench/SWE-bench" TargetMode="External"/><Relationship Id="rId3" Type="http://schemas.openxmlformats.org/officeDocument/2006/relationships/hyperlink" Target="https://github.com/SWE-bench/swe-bench-tasks"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9.16941v2" TargetMode="External"/><Relationship Id="rId3" Type="http://schemas.openxmlformats.org/officeDocument/2006/relationships/hyperlink" Target="https://deepmind.google/models/gemini/pro/"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2067712"/>
            <a:ext cx="8046720" cy="685800"/>
          </a:xfrm>
        </p:spPr>
        <p:txBody>
          <a:bodyPr wrap="square" lIns="0" rIns="0" tIns="0" bIns="0">
            <a:noAutofit/>
          </a:bodyPr>
          <a:lstStyle/>
          <a:p>
            <a:pPr algn="ctr">
              <a:lnSpc>
                <a:spcPct val="110000"/>
              </a:lnSpc>
              <a:buNone/>
              <a:defRPr sz="5200" b="0">
                <a:solidFill>
                  <a:srgbClr val="303437"/>
                </a:solidFill>
                <a:latin typeface="Noto Sans"/>
              </a:defRPr>
            </a:pPr>
            <a:r>
              <a:rPr sz="5200" b="1" lang="ja-JP" altLang="en-US">
                <a:solidFill>
                  <a:srgbClr val="303437"/>
                </a:solidFill>
                <a:latin typeface="Noto Sans"/>
                <a:ea typeface="Noto Sans CJK JP"/>
                <a:cs typeface="Noto Sans"/>
              </a:rPr>
              <a:t>SWE-bench Verified</a:t>
            </a:r>
          </a:p>
        </p:txBody>
      </p:sp>
      <p:sp>
        <p:nvSpPr>
          <p:cNvPr id="3" name="Subtitle 2"/>
          <p:cNvSpPr>
            <a:spLocks noGrp="1"/>
          </p:cNvSpPr>
          <p:nvPr>
            <p:ph type="subTitle" idx="1"/>
          </p:nvPr>
        </p:nvSpPr>
        <p:spPr>
          <a:xfrm>
            <a:off x="640080" y="2945536"/>
            <a:ext cx="7863840" cy="822960"/>
          </a:xfrm>
        </p:spPr>
        <p:txBody>
          <a:bodyPr wrap="square" lIns="0" rIns="0" tIns="0" bIns="0">
            <a:noAutofit/>
          </a:bodyPr>
          <a:lstStyle/>
          <a:p>
            <a:pPr algn="ctr">
              <a:lnSpc>
                <a:spcPct val="110000"/>
              </a:lnSpc>
              <a:buNone/>
              <a:defRPr sz="2300" b="0">
                <a:solidFill>
                  <a:srgbClr val="303437"/>
                </a:solidFill>
                <a:latin typeface="Noto Sans"/>
              </a:defRPr>
            </a:pPr>
            <a:r>
              <a:rPr sz="2300" b="0" lang="ja-JP" altLang="en-US">
                <a:solidFill>
                  <a:srgbClr val="303437"/>
                </a:solidFill>
                <a:latin typeface="Noto Sans"/>
                <a:ea typeface="Noto Sans CJK JP"/>
                <a:cs typeface="Noto Sans"/>
              </a:rPr>
              <a:t>GitHubの不具合報告を読み、コードを修正する
人が検証した500課題で評価するデータセット</a:t>
            </a:r>
          </a:p>
        </p:txBody>
      </p:sp>
      <p:sp>
        <p:nvSpPr>
          <p:cNvPr id="5" name="Text Placeholder 4"/>
          <p:cNvSpPr>
            <a:spLocks noGrp="1"/>
          </p:cNvSpPr>
          <p:nvPr>
            <p:ph type="body" idx="11"/>
          </p:nvPr>
        </p:nvSpPr>
        <p:spPr>
          <a:xfrm>
            <a:off x="6766560" y="4489704"/>
            <a:ext cx="1828800" cy="365760"/>
          </a:xfrm>
        </p:spPr>
        <p:txBody>
          <a:bodyPr wrap="square" lIns="0" rIns="0" tIns="0" bIns="0">
            <a:noAutofit/>
          </a:bodyPr>
          <a:lstStyle/>
          <a:p>
            <a:pPr algn="l">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658368" y="274320"/>
            <a:ext cx="7772400" cy="365760"/>
          </a:xfrm>
        </p:spPr>
        <p:txBody>
          <a:bodyPr wrap="square" lIns="0" rIns="0" tIns="0" bIns="0">
            <a:noAutofit/>
          </a:bodyPr>
          <a:lstStyle/>
          <a:p>
            <a:pPr algn="l">
              <a:lnSpc>
                <a:spcPct val="110000"/>
              </a:lnSpc>
              <a:buNone/>
              <a:defRPr sz="1400" b="0">
                <a:solidFill>
                  <a:srgbClr val="303437"/>
                </a:solidFill>
                <a:latin typeface="Noto Sans"/>
              </a:defRPr>
            </a:pPr>
            <a:r>
              <a:rPr sz="1400" b="0" lang="ja-JP" altLang="en-US">
                <a:solidFill>
                  <a:srgbClr val="626669"/>
                </a:solidFill>
                <a:latin typeface="Noto Sans"/>
                <a:ea typeface="Noto Sans CJK JP"/>
                <a:cs typeface="Noto Sans"/>
              </a:rPr>
              <a:t>datasets in 10 minutes (2026-10-16)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SWE-bench Verifiedの公式配布ページ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SWE-bench Verified: 公開データ</a:t>
            </a:r>
          </a:p>
        </p:txBody>
      </p:sp>
      <p:pic>
        <p:nvPicPr>
          <p:cNvPr id="4" name="Picture 3" descr="dataset-page.png"/>
          <p:cNvPicPr>
            <a:picLocks noChangeAspect="1"/>
          </p:cNvPicPr>
          <p:nvPr/>
        </p:nvPicPr>
        <p:blipFill>
          <a:blip r:embed="rId2"/>
          <a:stretch>
            <a:fillRect/>
          </a:stretch>
        </p:blipFill>
        <p:spPr>
          <a:xfrm>
            <a:off x="2274570" y="1481328"/>
            <a:ext cx="4594859" cy="3063240"/>
          </a:xfrm>
          <a:prstGeom prst="rect">
            <a:avLst/>
          </a:prstGeom>
        </p:spPr>
      </p:pic>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Verified. Hugging Face公式配布ページ。2026-10-16参照。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https://huggingface.co/datasets/princeton-nlp/SWE-bench_Verified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777240" y="1226434"/>
            <a:ext cx="7772400" cy="2846324"/>
          </a:xfrm>
        </p:spPr>
        <p:txBody>
          <a:bodyPr lIns="0" rIns="0" tIns="0" bIns="0" wrap="square">
            <a:noAutofit/>
          </a:bodyPr>
          <a:lstStyle/>
          <a:p>
            <a:pPr marL="457200" indent="-457200">
              <a:lnSpc>
                <a:spcPct val="128000"/>
              </a:lnSpc>
              <a:spcAft>
                <a:spcPts val="1700"/>
              </a:spcAft>
              <a:buSzPct val="100000"/>
              <a:buFont typeface="Noto Sans CJK JP"/>
              <a:buAutoNum type="arabicPeriod" startAt="1"/>
              <a:defRPr sz="3100" b="1">
                <a:solidFill>
                  <a:srgbClr val="303437"/>
                </a:solidFill>
                <a:latin typeface="Noto Sans"/>
              </a:defRPr>
            </a:pPr>
            <a:r>
              <a:rPr sz="3100" b="1" lang="ja-JP" altLang="en-US">
                <a:solidFill>
                  <a:srgbClr val="303437"/>
                </a:solidFill>
                <a:latin typeface="Noto Sans"/>
                <a:ea typeface="Noto Sans CJK JP"/>
                <a:cs typeface="Noto Sans"/>
              </a:rPr>
              <a:t>不具合報告とコード修正の実例</a:t>
            </a:r>
          </a:p>
          <a:p>
            <a:pPr marL="457200" indent="-457200">
              <a:lnSpc>
                <a:spcPct val="128000"/>
              </a:lnSpc>
              <a:spcAft>
                <a:spcPts val="1700"/>
              </a:spcAft>
              <a:buSzPct val="100000"/>
              <a:buFont typeface="Noto Sans CJK JP"/>
              <a:buAutoNum type="arabicPeriod" startAt="2"/>
              <a:defRPr sz="3100" b="1">
                <a:solidFill>
                  <a:srgbClr val="303437"/>
                </a:solidFill>
                <a:latin typeface="Noto Sans"/>
              </a:defRPr>
            </a:pPr>
            <a:r>
              <a:rPr sz="3100" b="1" lang="ja-JP" altLang="en-US">
                <a:solidFill>
                  <a:srgbClr val="303437"/>
                </a:solidFill>
                <a:latin typeface="Noto Sans"/>
                <a:ea typeface="Noto Sans CJK JP"/>
                <a:cs typeface="Noto Sans"/>
              </a:rPr>
              <a:t>テストによる採点とモデル評価</a:t>
            </a:r>
          </a:p>
          <a:p>
            <a:pPr marL="457200" indent="-457200">
              <a:lnSpc>
                <a:spcPct val="128000"/>
              </a:lnSpc>
              <a:spcAft>
                <a:spcPts val="1700"/>
              </a:spcAft>
              <a:buSzPct val="100000"/>
              <a:buFont typeface="Noto Sans CJK JP"/>
              <a:buAutoNum type="arabicPeriod" startAt="3"/>
              <a:defRPr sz="3100" b="1">
                <a:solidFill>
                  <a:srgbClr val="303437"/>
                </a:solidFill>
                <a:latin typeface="Noto Sans"/>
              </a:defRPr>
            </a:pPr>
            <a:r>
              <a:rPr sz="3100" b="1" lang="ja-JP" altLang="en-US">
                <a:solidFill>
                  <a:srgbClr val="303437"/>
                </a:solidFill>
                <a:latin typeface="Noto Sans"/>
                <a:ea typeface="Noto Sans CJK JP"/>
                <a:cs typeface="Noto Sans"/>
              </a:rPr>
              <a:t>課題の作成と500件の構成</a:t>
            </a:r>
          </a:p>
          <a:p>
            <a:pPr marL="457200" indent="-457200">
              <a:lnSpc>
                <a:spcPct val="128000"/>
              </a:lnSpc>
              <a:spcAft>
                <a:spcPts val="1700"/>
              </a:spcAft>
              <a:buSzPct val="100000"/>
              <a:buFont typeface="Noto Sans CJK JP"/>
              <a:buAutoNum type="arabicPeriod" startAt="4"/>
              <a:defRPr sz="3100" b="1">
                <a:solidFill>
                  <a:srgbClr val="303437"/>
                </a:solidFill>
                <a:latin typeface="Noto Sans"/>
              </a:defRPr>
            </a:pPr>
            <a:r>
              <a:rPr sz="3100" b="1" lang="ja-JP" altLang="en-US">
                <a:solidFill>
                  <a:srgbClr val="303437"/>
                </a:solidFill>
                <a:latin typeface="Noto Sans"/>
                <a:ea typeface="Noto Sans CJK JP"/>
                <a:cs typeface="Noto Sans"/>
              </a:rPr>
              <a:t>系列の発展と評価の実行</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000" b="0">
                <a:solidFill>
                  <a:srgbClr val="303437"/>
                </a:solidFill>
                <a:latin typeface="Noto Sans"/>
              </a:defRPr>
            </a:pPr>
            <a:r>
              <a:rPr sz="3000" b="1" lang="ja-JP" altLang="en-US">
                <a:solidFill>
                  <a:srgbClr val="303437"/>
                </a:solidFill>
                <a:latin typeface="Noto Sans"/>
                <a:ea typeface="Noto Sans CJK JP"/>
                <a:cs typeface="Noto Sans"/>
              </a:rPr>
              <a:t>1. 不具合報告とコード修正の実例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不具合報告とコード修正の実例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既存のコードベースを直してIssueを解決する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SWE-benchは、GitHubにある実際の不具合報告や機能要求を、解決したPull Requestと対応させた評価である。</a:t>
            </a:r>
          </a:p>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モデルにはIssueの本文と修正前のリポジトリを与え、変更を表すパッチを提出させる。</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Verifiedは、問題文・テスト・解決可能性を人が確認して選んだ500課題。2024年8月に公開された。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不具合報告とコード修正の実例</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Verified: Overview. 人による検証。2026-10-16参照。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https://www.swebench.com/verified.html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入力はIssueとコード、出力は修正パッチ</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不具合報告とコード修正の実例</a:t>
            </a:r>
          </a:p>
        </p:txBody>
      </p:sp>
      <p:graphicFrame>
        <p:nvGraphicFramePr>
          <p:cNvPr id="4" name="Table 3"/>
          <p:cNvGraphicFramePr>
            <a:graphicFrameLocks noGrp="1"/>
          </p:cNvGraphicFramePr>
          <p:nvPr/>
        </p:nvGraphicFramePr>
        <p:xfrm>
          <a:off x="548640" y="1508760"/>
          <a:ext cx="8046720" cy="1901952"/>
        </p:xfrm>
        <a:graphic>
          <a:graphicData uri="http://schemas.openxmlformats.org/drawingml/2006/table">
            <a:tbl>
              <a:tblPr firstRow="0" bandRow="0"/>
              <a:tblGrid>
                <a:gridCol w="2286000"/>
                <a:gridCol w="5760720"/>
              </a:tblGrid>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役割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課題に含まれるもの</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モデルへの入力</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問題文とbase_commit時点のコード</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提出するもの</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コードの差分を記述したパッチ</a:t>
                      </a:r>
                    </a:p>
                  </a:txBody>
                  <a:tcPr marL="63500" marR="63500" marT="38100" marB="38100" anchor="ctr">
                    <a:lnL w="7620">
                      <a:noFill/>
                    </a:lnL>
                    <a:lnR w="7620">
                      <a:noFill/>
                    </a:lnR>
                    <a:lnT w="7620">
                      <a:noFill/>
                    </a:lnT>
                    <a:lnB w="7620">
                      <a:noFill/>
                    </a:lnB>
                    <a:solidFill>
                      <a:srgbClr val="FFFEF8"/>
                    </a:solidFill>
                  </a:tcPr>
                </a:tc>
              </a:tr>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採点側が使うもの</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参照テストと期待されるテスト結果</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02736"/>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base_commitは、修正を始める時点のGitコミットを指定する。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Jimenez et al. (2024). SWE-bench: Can Language Models Resolve Real-World GitHub Issues? ICLR 2024.</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https://arxiv.org/abs/2310.06770v3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公開テスト集合から13課題を紹介する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本資料の実例は、公式タスク配布リポジトリでVerifiedに属する500課題から選んだ。</a:t>
            </a:r>
          </a:p>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Flask・Requests・SymPyの3課題を本編、残り10課題をAppendixに置く。全体で12リポジトリを扱う。</a:t>
            </a:r>
          </a:p>
          <a:p>
            <a:pPr marL="457200" indent="-355600">
              <a:lnSpc>
                <a:spcPts val="2640"/>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Issueの原文・要約と、配布されている参照パッチの変更箇所を対応させる。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不具合報告とコード修正の実例</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task data. Verified 500課題、改訂3d07b46を集計。2026-10-16。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https://github.com/SWE-bench/swe-bench-tasks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実例1：空のBlueprint名を拒否する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不具合報告とコード修正の実例</a:t>
            </a:r>
          </a:p>
        </p:txBody>
      </p:sp>
      <p:sp>
        <p:nvSpPr>
          <p:cNvPr id="4" name="TextBox 3"/>
          <p:cNvSpPr txBox="1"/>
          <p:nvPr/>
        </p:nvSpPr>
        <p:spPr>
          <a:xfrm>
            <a:off x="594360" y="1417320"/>
            <a:ext cx="7955279"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公開Issueの本文（原文）</a:t>
            </a:r>
          </a:p>
        </p:txBody>
      </p:sp>
      <p:sp>
        <p:nvSpPr>
          <p:cNvPr id="5" name="TextBox 4"/>
          <p:cNvSpPr txBox="1"/>
          <p:nvPr/>
        </p:nvSpPr>
        <p:spPr>
          <a:xfrm>
            <a:off x="594360" y="1773936"/>
            <a:ext cx="7955279" cy="1508760"/>
          </a:xfrm>
          <a:prstGeom prst="rect">
            <a:avLst/>
          </a:prstGeom>
          <a:noFill/>
        </p:spPr>
        <p:txBody>
          <a:bodyPr wrap="square" lIns="0" rIns="0" tIns="0" bIns="0">
            <a:noAutofit/>
          </a:bodyPr>
          <a:lstStyle/>
          <a:p>
            <a:pPr algn="l">
              <a:lnSpc>
                <a:spcPct val="12000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Require a non-empty name for Blueprints</a:t>
            </a:r>
          </a:p>
          <a:p>
            <a:pPr algn="l">
              <a:lnSpc>
                <a:spcPct val="12000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Things do not work correctly if a Blueprint is given an empty name (e.g. #4944).</a:t>
            </a:r>
          </a:p>
          <a:p>
            <a:pPr algn="l">
              <a:lnSpc>
                <a:spcPct val="12000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It would be helpful if a `ValueError` was raised when trying to do that.</a:t>
            </a:r>
          </a:p>
        </p:txBody>
      </p:sp>
      <p:sp>
        <p:nvSpPr>
          <p:cNvPr id="6" name="TextBox 5"/>
          <p:cNvSpPr txBox="1"/>
          <p:nvPr/>
        </p:nvSpPr>
        <p:spPr>
          <a:xfrm>
            <a:off x="594360" y="3520440"/>
            <a:ext cx="7955279" cy="960120"/>
          </a:xfrm>
          <a:prstGeom prst="rect">
            <a:avLst/>
          </a:prstGeom>
          <a:noFill/>
        </p:spPr>
        <p:txBody>
          <a:bodyPr wrap="square" lIns="0" rIns="0" tIns="0" bIns="0">
            <a:noAutofit/>
          </a:bodyPr>
          <a:lstStyle/>
          <a:p>
            <a:pPr algn="l">
              <a:lnSpc>
                <a:spcPct val="120000"/>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FlaskのBlueprintはルートをまとめる仕組み。名前が空ならValueErrorを出してほしい、という要求である。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Verified. pallets__flask-5014 / problem_statement.md.</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https://github.com/SWE-bench/swe-bench-tasks/blob/3d07b46/tasks/pallets__flask-5014/problem_statement.md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Flask：名前の検証に条件を加える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不具合報告とコード修正の実例</a:t>
            </a:r>
          </a:p>
        </p:txBody>
      </p:sp>
      <p:sp>
        <p:nvSpPr>
          <p:cNvPr id="4" name="Rectangle 3"/>
          <p:cNvSpPr/>
          <p:nvPr/>
        </p:nvSpPr>
        <p:spPr>
          <a:xfrm>
            <a:off x="548640" y="1508760"/>
            <a:ext cx="8046720" cy="79375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        if not name:</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            raise ValueError("'name' may not be empty.")</a:t>
            </a:r>
          </a:p>
        </p:txBody>
      </p:sp>
      <p:sp>
        <p:nvSpPr>
          <p:cNvPr id="5" name="TextBox 4"/>
          <p:cNvSpPr txBox="1"/>
          <p:nvPr/>
        </p:nvSpPr>
        <p:spPr>
          <a:xfrm>
            <a:off x="594360" y="2503678"/>
            <a:ext cx="7955279" cy="777240"/>
          </a:xfrm>
          <a:prstGeom prst="rect">
            <a:avLst/>
          </a:prstGeom>
          <a:noFill/>
        </p:spPr>
        <p:txBody>
          <a:bodyPr wrap="square" lIns="0" rIns="0" tIns="0" bIns="0">
            <a:noAutofit/>
          </a:bodyPr>
          <a:lstStyle/>
          <a:p>
            <a:pPr algn="l">
              <a:lnSpc>
                <a:spcPct val="117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Blueprintの初期化で空の名前を検出する。参照テストは、空の名前でValueErrorが出ることを確かめる。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Verified. pallets__flask-5014 / gold.patch.</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https://github.com/SWE-bench/swe-bench-tasks/blob/3d07b46/tasks/pallets__flask-5014/gold.patch</a:t>
            </a:r>
          </a:p>
        </p:txBody>
      </p:sp>
      <p:sp>
        <p:nvSpPr>
          <p:cNvPr id="7" name="TextBox 6"/>
          <p:cNvSpPr txBox="1"/>
          <p:nvPr/>
        </p:nvSpPr>
        <p:spPr>
          <a:xfrm>
            <a:off x="594360" y="1307592"/>
            <a:ext cx="7955279" cy="164592"/>
          </a:xfrm>
          <a:prstGeom prst="rect">
            <a:avLst/>
          </a:prstGeom>
          <a:noFill/>
        </p:spPr>
        <p:txBody>
          <a:bodyPr wrap="square" lIns="0" rIns="0" tIns="0" bIns="0">
            <a:noAutofit/>
          </a:bodyPr>
          <a:lstStyle/>
          <a:p>
            <a:pPr algn="l">
              <a:lnSpc>
                <a:spcPct val="117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配布参照パッチの変更箇所（抜粋）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実例2：Noneの既定ヘッダーを送らない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不具合報告とコード修正の実例</a:t>
            </a:r>
          </a:p>
        </p:txBody>
      </p:sp>
      <p:sp>
        <p:nvSpPr>
          <p:cNvPr id="4" name="Rectangle 3"/>
          <p:cNvSpPr/>
          <p:nvPr/>
        </p:nvSpPr>
        <p:spPr>
          <a:xfrm>
            <a:off x="548640" y="1508760"/>
            <a:ext cx="8046720" cy="106362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session = requests.Session()</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 Do not send Accept-Encoding</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session.headers['Accept-Encoding'] = None</a:t>
            </a:r>
          </a:p>
        </p:txBody>
      </p:sp>
      <p:sp>
        <p:nvSpPr>
          <p:cNvPr id="5" name="TextBox 4"/>
          <p:cNvSpPr txBox="1"/>
          <p:nvPr/>
        </p:nvSpPr>
        <p:spPr>
          <a:xfrm>
            <a:off x="594360" y="2773553"/>
            <a:ext cx="7955279" cy="777240"/>
          </a:xfrm>
          <a:prstGeom prst="rect">
            <a:avLst/>
          </a:prstGeom>
          <a:noFill/>
        </p:spPr>
        <p:txBody>
          <a:bodyPr wrap="square" lIns="0" rIns="0" tIns="0" bIns="0">
            <a:noAutofit/>
          </a:bodyPr>
          <a:lstStyle/>
          <a:p>
            <a:pPr algn="l">
              <a:lnSpc>
                <a:spcPct val="117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公開Issueの再現コード（抜粋）。Noneを指定しても「Accept-Encoding: None」が送られるため、ヘッダー自体を除外したい。</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Verified. psf__requests-1921 / problem_statement.md.</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https://github.com/SWE-bench/swe-bench-tasks/blob/3d07b46/tasks/psf__requests-1921/problem_statement.md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Requests：結合後のヘッダーからNoneを除く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不具合報告とコード修正の実例</a:t>
            </a:r>
          </a:p>
        </p:txBody>
      </p:sp>
      <p:sp>
        <p:nvSpPr>
          <p:cNvPr id="4" name="Rectangle 3"/>
          <p:cNvSpPr/>
          <p:nvPr/>
        </p:nvSpPr>
        <p:spPr>
          <a:xfrm>
            <a:off x="548640" y="1508760"/>
            <a:ext cx="8046720" cy="48418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1812"/>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dict((k, v) for (k, v) in merged_setting.items() if v is not None)</a:t>
            </a:r>
          </a:p>
        </p:txBody>
      </p:sp>
      <p:sp>
        <p:nvSpPr>
          <p:cNvPr id="5" name="TextBox 4"/>
          <p:cNvSpPr txBox="1"/>
          <p:nvPr/>
        </p:nvSpPr>
        <p:spPr>
          <a:xfrm>
            <a:off x="594360" y="2194115"/>
            <a:ext cx="7955279" cy="777240"/>
          </a:xfrm>
          <a:prstGeom prst="rect">
            <a:avLst/>
          </a:prstGeom>
          <a:noFill/>
        </p:spPr>
        <p:txBody>
          <a:bodyPr wrap="square" lIns="0" rIns="0" tIns="0" bIns="0">
            <a:noAutofit/>
          </a:bodyPr>
          <a:lstStyle/>
          <a:p>
            <a:pPr algn="l">
              <a:lnSpc>
                <a:spcPct val="117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要求単位の設定とセッション設定を結合した後、Noneの項目を除く。ヘッダーの送信前に修正する。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Verified. psf__requests-1921 / gold.patch.</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https://github.com/SWE-bench/swe-bench-tasks/blob/3d07b46/tasks/psf__requests-1921/gold.patch</a:t>
            </a:r>
          </a:p>
        </p:txBody>
      </p:sp>
      <p:sp>
        <p:nvSpPr>
          <p:cNvPr id="7" name="TextBox 6"/>
          <p:cNvSpPr txBox="1"/>
          <p:nvPr/>
        </p:nvSpPr>
        <p:spPr>
          <a:xfrm>
            <a:off x="594360" y="1307592"/>
            <a:ext cx="7955279" cy="164592"/>
          </a:xfrm>
          <a:prstGeom prst="rect">
            <a:avLst/>
          </a:prstGeom>
          <a:noFill/>
        </p:spPr>
        <p:txBody>
          <a:bodyPr wrap="square" lIns="0" rIns="0" tIns="0" bIns="0">
            <a:noAutofit/>
          </a:bodyPr>
          <a:lstStyle/>
          <a:p>
            <a:pPr algn="l">
              <a:lnSpc>
                <a:spcPct val="117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配布参照パッチの変更箇所（抜粋）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実例3：数字1のモールス符号を直す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不具合報告とコード修正の実例</a:t>
            </a:r>
          </a:p>
        </p:txBody>
      </p:sp>
      <p:sp>
        <p:nvSpPr>
          <p:cNvPr id="4" name="TextBox 3"/>
          <p:cNvSpPr txBox="1"/>
          <p:nvPr/>
        </p:nvSpPr>
        <p:spPr>
          <a:xfrm>
            <a:off x="594360" y="1417320"/>
            <a:ext cx="7955279"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公開Issueの本文（原文）</a:t>
            </a:r>
          </a:p>
        </p:txBody>
      </p:sp>
      <p:sp>
        <p:nvSpPr>
          <p:cNvPr id="5" name="TextBox 4"/>
          <p:cNvSpPr txBox="1"/>
          <p:nvPr/>
        </p:nvSpPr>
        <p:spPr>
          <a:xfrm>
            <a:off x="594360" y="1773936"/>
            <a:ext cx="7955279" cy="1508760"/>
          </a:xfrm>
          <a:prstGeom prst="rect">
            <a:avLst/>
          </a:prstGeom>
          <a:noFill/>
        </p:spPr>
        <p:txBody>
          <a:bodyPr wrap="square" lIns="0" rIns="0" tIns="0" bIns="0">
            <a:noAutofit/>
          </a:bodyPr>
          <a:lstStyle/>
          <a:p>
            <a:pPr algn="l">
              <a:lnSpc>
                <a:spcPct val="12000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Morse encoding for "1" is not correct</a:t>
            </a:r>
          </a:p>
          <a:p>
            <a:pPr algn="l">
              <a:lnSpc>
                <a:spcPct val="12000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current Morse mapping in simpy.crypto.crypto contains an incorrect mapping of</a:t>
            </a:r>
          </a:p>
          <a:p>
            <a:pPr algn="l">
              <a:lnSpc>
                <a:spcPct val="12000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"1"`</a:t>
            </a:r>
          </a:p>
          <a:p>
            <a:pPr algn="l">
              <a:lnSpc>
                <a:spcPct val="12000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correct mapping is `".----": "1"`.</a:t>
            </a:r>
          </a:p>
        </p:txBody>
      </p:sp>
      <p:sp>
        <p:nvSpPr>
          <p:cNvPr id="6" name="TextBox 5"/>
          <p:cNvSpPr txBox="1"/>
          <p:nvPr/>
        </p:nvSpPr>
        <p:spPr>
          <a:xfrm>
            <a:off x="594360" y="3520440"/>
            <a:ext cx="7955279" cy="960120"/>
          </a:xfrm>
          <a:prstGeom prst="rect">
            <a:avLst/>
          </a:prstGeom>
          <a:noFill/>
        </p:spPr>
        <p:txBody>
          <a:bodyPr wrap="square" lIns="0" rIns="0" tIns="0" bIns="0">
            <a:noAutofit/>
          </a:bodyPr>
          <a:lstStyle/>
          <a:p>
            <a:pPr algn="l">
              <a:lnSpc>
                <a:spcPct val="120000"/>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SymPyの暗号処理で、数字1に対応する符号の先頭の点が欠けている。期待する符号が問題文に明記されている。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Verified. sympy__sympy-16886 / problem_statement.md.</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https://github.com/SWE-bench/swe-bench-tasks/blob/3d07b46/tasks/sympy__sympy-16886/problem_statement.md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SymPy：モールス符号の対応表を修正する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不具合報告とコード修正の実例</a:t>
            </a:r>
          </a:p>
        </p:txBody>
      </p:sp>
      <p:sp>
        <p:nvSpPr>
          <p:cNvPr id="4" name="Rectangle 3"/>
          <p:cNvSpPr/>
          <p:nvPr/>
        </p:nvSpPr>
        <p:spPr>
          <a:xfrm>
            <a:off x="548640" y="1508760"/>
            <a:ext cx="8046720" cy="79375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    "-----": "0", "----": "1",</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    "-----": "0", ".----": "1",</a:t>
            </a:r>
          </a:p>
        </p:txBody>
      </p:sp>
      <p:sp>
        <p:nvSpPr>
          <p:cNvPr id="5" name="TextBox 4"/>
          <p:cNvSpPr txBox="1"/>
          <p:nvPr/>
        </p:nvSpPr>
        <p:spPr>
          <a:xfrm>
            <a:off x="594360" y="2503678"/>
            <a:ext cx="7955279" cy="777240"/>
          </a:xfrm>
          <a:prstGeom prst="rect">
            <a:avLst/>
          </a:prstGeom>
          <a:noFill/>
        </p:spPr>
        <p:txBody>
          <a:bodyPr wrap="square" lIns="0" rIns="0" tIns="0" bIns="0">
            <a:noAutofit/>
          </a:bodyPr>
          <a:lstStyle/>
          <a:p>
            <a:pPr algn="l">
              <a:lnSpc>
                <a:spcPct val="117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参照パッチは対応表の1箇所を置き換える。test_encode_morseで、符号化の結果を確かめる。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Verified. sympy__sympy-16886 / gold.patch.</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https://github.com/SWE-bench/swe-bench-tasks/blob/3d07b46/tasks/sympy__sympy-16886/gold.patch</a:t>
            </a:r>
          </a:p>
        </p:txBody>
      </p:sp>
      <p:sp>
        <p:nvSpPr>
          <p:cNvPr id="7" name="TextBox 6"/>
          <p:cNvSpPr txBox="1"/>
          <p:nvPr/>
        </p:nvSpPr>
        <p:spPr>
          <a:xfrm>
            <a:off x="594360" y="1307592"/>
            <a:ext cx="7955279" cy="164592"/>
          </a:xfrm>
          <a:prstGeom prst="rect">
            <a:avLst/>
          </a:prstGeom>
          <a:noFill/>
        </p:spPr>
        <p:txBody>
          <a:bodyPr wrap="square" lIns="0" rIns="0" tIns="0" bIns="0">
            <a:noAutofit/>
          </a:bodyPr>
          <a:lstStyle/>
          <a:p>
            <a:pPr algn="l">
              <a:lnSpc>
                <a:spcPct val="117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配布参照パッチの変更箇所（抜粋）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200" b="0">
                <a:solidFill>
                  <a:srgbClr val="303437"/>
                </a:solidFill>
                <a:latin typeface="Noto Sans"/>
              </a:defRPr>
            </a:pPr>
            <a:r>
              <a:rPr sz="3200" b="1" lang="ja-JP" altLang="en-US">
                <a:solidFill>
                  <a:srgbClr val="303437"/>
                </a:solidFill>
                <a:latin typeface="Noto Sans"/>
                <a:ea typeface="Noto Sans CJK JP"/>
                <a:cs typeface="Noto Sans"/>
              </a:rPr>
              <a:t>2. テストによる採点とモデル評価</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テストによる採点とモデル評価</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不具合の修正と既存動作の維持を確認する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テストによる採点とモデル評価</a:t>
            </a:r>
          </a:p>
        </p:txBody>
      </p:sp>
      <p:graphicFrame>
        <p:nvGraphicFramePr>
          <p:cNvPr id="4" name="Table 3"/>
          <p:cNvGraphicFramePr>
            <a:graphicFrameLocks noGrp="1"/>
          </p:cNvGraphicFramePr>
          <p:nvPr/>
        </p:nvGraphicFramePr>
        <p:xfrm>
          <a:off x="548640" y="1508760"/>
          <a:ext cx="8046720" cy="1426464"/>
        </p:xfrm>
        <a:graphic>
          <a:graphicData uri="http://schemas.openxmlformats.org/drawingml/2006/table">
            <a:tbl>
              <a:tblPr firstRow="0" bandRow="0"/>
              <a:tblGrid>
                <a:gridCol w="2834640"/>
                <a:gridCol w="5212080"/>
              </a:tblGrid>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テストの集合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確認する内容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FAIL_TO_PASS</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修正前は失敗し、修正後に成功する</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PASS_TO_PASS</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修正前に成功していた動作を維持する</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127248"/>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Flaskの実例にはFAIL_TO_PASSが1件、PASS_TO_PASSが59件ある。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evaluation harness: grading.py. 改訂02e7a74。</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https://github.com/SWE-bench/SWE-bench/blob/02e7a74/swebench/harness/grading.py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Flaskの追加テストは例外の発生を確かめる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テストによる採点とモデル評価</a:t>
            </a:r>
          </a:p>
        </p:txBody>
      </p:sp>
      <p:sp>
        <p:nvSpPr>
          <p:cNvPr id="4" name="Rectangle 3"/>
          <p:cNvSpPr/>
          <p:nvPr/>
        </p:nvSpPr>
        <p:spPr>
          <a:xfrm>
            <a:off x="548640" y="1508760"/>
            <a:ext cx="8046720" cy="111125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def test_empty_name_not_allowed(app, client):</a:t>
            </a:r>
          </a:p>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with pytest.raises(ValueError):</a:t>
            </a:r>
          </a:p>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flask.Blueprint("", __name__)</a:t>
            </a:r>
          </a:p>
        </p:txBody>
      </p:sp>
      <p:sp>
        <p:nvSpPr>
          <p:cNvPr id="5" name="TextBox 4"/>
          <p:cNvSpPr txBox="1"/>
          <p:nvPr/>
        </p:nvSpPr>
        <p:spPr>
          <a:xfrm>
            <a:off x="594360" y="2821178"/>
            <a:ext cx="7955279" cy="777240"/>
          </a:xfrm>
          <a:prstGeom prst="rect">
            <a:avLst/>
          </a:prstGeom>
          <a:noFill/>
        </p:spPr>
        <p:txBody>
          <a:bodyPr wrap="square" lIns="0" rIns="0" tIns="0" bIns="0">
            <a:noAutofit/>
          </a:bodyPr>
          <a:lstStyle/>
          <a:p>
            <a:pPr algn="l">
              <a:lnSpc>
                <a:spcPct val="117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配布test.patchから追加されたテストを抜粋。空のBlueprint名を渡し、ValueErrorを期待する。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Verified. pallets__flask-5014 / test.patch.</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https://github.com/SWE-bench/swe-bench-tasks/blob/3d07b46/tasks/pallets__flask-5014/test.patch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対象テストを満たした課題だけを解決と数える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テストによる採点とモデル評価</a:t>
            </a:r>
          </a:p>
        </p:txBody>
      </p:sp>
      <p:graphicFrame>
        <p:nvGraphicFramePr>
          <p:cNvPr id="4" name="Table 3"/>
          <p:cNvGraphicFramePr>
            <a:graphicFrameLocks noGrp="1"/>
          </p:cNvGraphicFramePr>
          <p:nvPr/>
        </p:nvGraphicFramePr>
        <p:xfrm>
          <a:off x="548640" y="1508760"/>
          <a:ext cx="8046720" cy="1901952"/>
        </p:xfrm>
        <a:graphic>
          <a:graphicData uri="http://schemas.openxmlformats.org/drawingml/2006/table">
            <a:tbl>
              <a:tblPr firstRow="0" bandRow="0"/>
              <a:tblGrid>
                <a:gridCol w="1188720"/>
                <a:gridCol w="2286000"/>
                <a:gridCol w="2834640"/>
                <a:gridCol w="1737360"/>
              </a:tblGrid>
              <a:tr h="47548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採点例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不具合の修正</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既存動作の維持</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解決</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548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A</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全件成功</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全件維持</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548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B</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一部失敗</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全件維持</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r>
              <a:tr h="47548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C</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全件成功</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回帰あり</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02736"/>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公式実装は両集合の条件を満たすとRESOLVED_FULLを返す。</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evaluation harness: grading.py. 改訂02e7a74。</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https://github.com/SWE-bench/SWE-bench/blob/02e7a74/swebench/harness/grading.py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解決率は、解決した課題数を全課題数で割る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各課題の解決判定を0か1で集計する。Verified全500課題で400課題を解決した場合、400 ÷ 500 × 100 = 80%。</a:t>
            </a:r>
          </a:p>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1回の提出で得た解決率は、1課題に1つの候補パッチを採点する条件に対応する。</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問題文・コードの探索、変更、テスト実行を含むエージェント全体の結果として評価する。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テストによる採点とモデル評価</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evaluation harness: grading.py. 改訂02e7a74。</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https://github.com/SWE-bench/SWE-bench/blob/02e7a74/swebench/harness/grading.py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現行モデルの公式比較にも使われている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テストによる採点とモデル評価</a:t>
            </a:r>
          </a:p>
        </p:txBody>
      </p:sp>
      <p:graphicFrame>
        <p:nvGraphicFramePr>
          <p:cNvPr id="4" name="Table 3"/>
          <p:cNvGraphicFramePr>
            <a:graphicFrameLocks noGrp="1"/>
          </p:cNvGraphicFramePr>
          <p:nvPr/>
        </p:nvGraphicFramePr>
        <p:xfrm>
          <a:off x="548640" y="1508760"/>
          <a:ext cx="8046720" cy="1901952"/>
        </p:xfrm>
        <a:graphic>
          <a:graphicData uri="http://schemas.openxmlformats.org/drawingml/2006/table">
            <a:tbl>
              <a:tblPr firstRow="0" bandRow="0"/>
              <a:tblGrid>
                <a:gridCol w="6126480"/>
                <a:gridCol w="1920240"/>
              </a:tblGrid>
              <a:tr h="475488">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モデル／推論設定</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Verified</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5488">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Gemini 3.1 Pro / High</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80.6%</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5488">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Claude Opus 4.6 / Max</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80.8%</a:t>
                      </a:r>
                    </a:p>
                  </a:txBody>
                  <a:tcPr marL="63500" marR="63500" marT="38100" marB="38100" anchor="ctr">
                    <a:lnL w="7620">
                      <a:noFill/>
                    </a:lnL>
                    <a:lnR w="7620">
                      <a:noFill/>
                    </a:lnR>
                    <a:lnT w="7620">
                      <a:noFill/>
                    </a:lnT>
                    <a:lnB w="7620">
                      <a:noFill/>
                    </a:lnB>
                    <a:solidFill>
                      <a:srgbClr val="FFFEF8"/>
                    </a:solidFill>
                  </a:tcPr>
                </a:tc>
              </a:tr>
              <a:tr h="475488">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GPT-5.2 / xhigh</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80.0%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02736"/>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Google DeepMindの公式表、Single attempt条件。</a:t>
            </a:r>
          </a:p>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High・Max・xhighはモデルの推論設定。</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Google DeepMind (2026). Gemini 3.1 Pro. Performance: SWE-Bench Verified / Single attempt. 2026-10-16参照。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https://deepmind.google/models/gemini/pro/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コードを調べて実行するループを作る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エージェントは、ファイル検索、コードの閲覧、パッチの適用、テスト実行を繰り返して修正を進める。</a:t>
            </a:r>
          </a:p>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公式Verifiedページには任意のシステムの比較と、mini-SWE-agentを使うBash Onlyの比較がある。</a:t>
            </a:r>
          </a:p>
          <a:p>
            <a:pPr marL="457200" indent="-355600">
              <a:lnSpc>
                <a:spcPts val="2640"/>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Bash Onlyはシェルを操作する最小限のループにモデルを組み込み、実行環境と設定をそろえて比較する。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テストによる採点とモデル評価</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Verified: Overview. 人による検証。2026-10-16参照。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https://www.swebench.com/verified.html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200" b="0">
                <a:solidFill>
                  <a:srgbClr val="303437"/>
                </a:solidFill>
                <a:latin typeface="Noto Sans"/>
              </a:defRPr>
            </a:pPr>
            <a:r>
              <a:rPr sz="3200" b="1" lang="ja-JP" altLang="en-US">
                <a:solidFill>
                  <a:srgbClr val="303437"/>
                </a:solidFill>
                <a:latin typeface="Noto Sans"/>
                <a:ea typeface="Noto Sans CJK JP"/>
                <a:cs typeface="Noto Sans"/>
              </a:rPr>
              <a:t>3. 課題の作成と500件の構成</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課題の作成と500件の構成</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解決済みPull Requestから課題を作る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元のSWE-benchでは、広く使われる12のPythonリポジトリから約90,000件のPull Requestを収集した。</a:t>
            </a:r>
          </a:p>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マージ済みで、Issueを解決し、テストファイルも変更したPull Requestを候補にする。</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修正前後でテストを実行し、失敗から成功に変わるテストがあるものを残した。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課題の作成と500件の構成</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Jimenez et al. (2024). SWE-bench: Can Language Models Resolve Real-World GitHub Issues? ICLR 2024.</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https://arxiv.org/abs/2310.06770v3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問題文・参照修正・テストを分けて保存する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Issue本文をproblem_statement、修正開始地点をbase_commitとして保存する。</a:t>
            </a:r>
          </a:p>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Pull Requestの変更を、製品コードの参照パッチと、採点用のtest_patchに分ける。</a:t>
            </a:r>
          </a:p>
          <a:p>
            <a:pPr marL="457200" indent="-355600">
              <a:lnSpc>
                <a:spcPts val="2640"/>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修正前に失敗して修正後に成功するテストと、前後とも成功するテストを記録する。インストールや実行に失敗する候補は除く。</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課題の作成と500件の構成</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Jimenez et al. (2024). SWE-bench: Can Language Models Resolve Real-World GitHub Issues? ICLR 2024.</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https://arxiv.org/abs/2310.06770v3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Verifiedでは人が3つの点を確認した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課題の作成と500件の構成</a:t>
            </a:r>
          </a:p>
        </p:txBody>
      </p:sp>
      <p:graphicFrame>
        <p:nvGraphicFramePr>
          <p:cNvPr id="4" name="Table 3"/>
          <p:cNvGraphicFramePr>
            <a:graphicFrameLocks noGrp="1"/>
          </p:cNvGraphicFramePr>
          <p:nvPr/>
        </p:nvGraphicFramePr>
        <p:xfrm>
          <a:off x="548640" y="1508760"/>
          <a:ext cx="8046720" cy="1901952"/>
        </p:xfrm>
        <a:graphic>
          <a:graphicData uri="http://schemas.openxmlformats.org/drawingml/2006/table">
            <a:tbl>
              <a:tblPr firstRow="0" bandRow="0"/>
              <a:tblGrid>
                <a:gridCol w="2103120"/>
                <a:gridCol w="5943600"/>
              </a:tblGrid>
              <a:tr h="475488">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確認対象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人が確かめること</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5488">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問題文</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要求が明確に記述されている</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5488">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テスト</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問題を正しく検証する内容である</a:t>
                      </a:r>
                    </a:p>
                  </a:txBody>
                  <a:tcPr marL="63500" marR="63500" marT="38100" marB="38100" anchor="ctr">
                    <a:lnL w="7620">
                      <a:noFill/>
                    </a:lnL>
                    <a:lnR w="7620">
                      <a:noFill/>
                    </a:lnR>
                    <a:lnT w="7620">
                      <a:noFill/>
                    </a:lnT>
                    <a:lnB w="7620">
                      <a:noFill/>
                    </a:lnB>
                    <a:solidFill>
                      <a:srgbClr val="FFFEF8"/>
                    </a:solidFill>
                  </a:tcPr>
                </a:tc>
              </a:tr>
              <a:tr h="475488">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解決可能性</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与えられた情報で課題を解ける</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02736"/>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SWE-benchチームとOpenAIの共同作業で500課題を選んだ。</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Verified: Overview. 人による検証。2026-10-16参照。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https://www.swebench.com/verified.html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元のSWE-benchからVerifiedとLiteを選ぶ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課題の作成と500件の構成</a:t>
            </a:r>
          </a:p>
        </p:txBody>
      </p:sp>
      <p:graphicFrame>
        <p:nvGraphicFramePr>
          <p:cNvPr id="4" name="Table 3"/>
          <p:cNvGraphicFramePr>
            <a:graphicFrameLocks noGrp="1"/>
          </p:cNvGraphicFramePr>
          <p:nvPr/>
        </p:nvGraphicFramePr>
        <p:xfrm>
          <a:off x="548640" y="1508760"/>
          <a:ext cx="8046720" cy="1901952"/>
        </p:xfrm>
        <a:graphic>
          <a:graphicData uri="http://schemas.openxmlformats.org/drawingml/2006/table">
            <a:tbl>
              <a:tblPr firstRow="0" bandRow="0"/>
              <a:tblGrid>
                <a:gridCol w="3154680"/>
                <a:gridCol w="1737360"/>
                <a:gridCol w="3154680"/>
              </a:tblGrid>
              <a:tr h="47548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データセット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testの課題数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選び方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548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SWE-bench</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2,294</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実Issueと解決したPR</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548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SWE-bench Lite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評価費用を抑える部分集合</a:t>
                      </a:r>
                    </a:p>
                  </a:txBody>
                  <a:tcPr marL="63500" marR="63500" marT="38100" marB="38100" anchor="ctr">
                    <a:lnL w="7620">
                      <a:noFill/>
                    </a:lnL>
                    <a:lnR w="7620">
                      <a:noFill/>
                    </a:lnR>
                    <a:lnT w="7620">
                      <a:noFill/>
                    </a:lnT>
                    <a:lnB w="7620">
                      <a:noFill/>
                    </a:lnB>
                    <a:solidFill>
                      <a:srgbClr val="FFFEF8"/>
                    </a:solidFill>
                  </a:tcPr>
                </a:tc>
              </a:tr>
              <a:tr h="47548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SWE-bench Verified</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500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人が品質を検証した部分集合</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02736"/>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SWE-benchは2023年、LiteとVerifiedは2024年に公開。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Lite. Selection criteria. 2026-10-16参照。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https://www.swebench.com/lite.html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500課題の46.2%をDjangoが占める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課題の作成と500件の構成</a:t>
            </a:r>
          </a:p>
        </p:txBody>
      </p:sp>
      <p:graphicFrame>
        <p:nvGraphicFramePr>
          <p:cNvPr id="4" name="Chart 3"/>
          <p:cNvGraphicFramePr>
            <a:graphicFrameLocks noGrp="1"/>
          </p:cNvGraphicFramePr>
          <p:nvPr/>
        </p:nvGraphicFramePr>
        <p:xfrm>
          <a:off x="548640" y="1481328"/>
          <a:ext cx="8046720" cy="2468880"/>
        </p:xfrm>
        <a:graphic>
          <a:graphicData uri="http://schemas.openxmlformats.org/drawingml/2006/chart">
            <c:chart xmlns:c="http://schemas.openxmlformats.org/drawingml/2006/chart" r:id="rId2"/>
          </a:graphicData>
        </a:graphic>
      </p:graphicFrame>
      <p:sp>
        <p:nvSpPr>
          <p:cNvPr id="5" name="TextBox 4"/>
          <p:cNvSpPr txBox="1"/>
          <p:nvPr/>
        </p:nvSpPr>
        <p:spPr>
          <a:xfrm>
            <a:off x="594360" y="4096512"/>
            <a:ext cx="7955279" cy="420624"/>
          </a:xfrm>
          <a:prstGeom prst="rect">
            <a:avLst/>
          </a:prstGeom>
          <a:noFill/>
        </p:spPr>
        <p:txBody>
          <a:bodyPr wrap="square" lIns="0" rIns="0" tIns="0" bIns="0">
            <a:noAutofit/>
          </a:bodyPr>
          <a:lstStyle/>
          <a:p>
            <a:pPr algn="l">
              <a:lnSpc>
                <a:spcPts val="216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Verified全500課題を集計。「その他」は残り7リポジトリ。</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task data. Verified 500課題、改訂3d07b46を集計。2026-10-16。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https://github.com/SWE-bench/swe-bench-tasks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参照修正は1ファイルが429課題</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課題の作成と500件の構成</a:t>
            </a:r>
          </a:p>
        </p:txBody>
      </p:sp>
      <p:graphicFrame>
        <p:nvGraphicFramePr>
          <p:cNvPr id="4" name="Table 3"/>
          <p:cNvGraphicFramePr>
            <a:graphicFrameLocks noGrp="1"/>
          </p:cNvGraphicFramePr>
          <p:nvPr/>
        </p:nvGraphicFramePr>
        <p:xfrm>
          <a:off x="548640" y="1508760"/>
          <a:ext cx="8046720" cy="1901952"/>
        </p:xfrm>
        <a:graphic>
          <a:graphicData uri="http://schemas.openxmlformats.org/drawingml/2006/table">
            <a:tbl>
              <a:tblPr firstRow="0" bandRow="0"/>
              <a:tblGrid>
                <a:gridCol w="5943600"/>
                <a:gridCol w="2103120"/>
              </a:tblGrid>
              <a:tr h="475488">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参照パッチの変更ファイル数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課題数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5488">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1ファイル</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429</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5488">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2ファイル</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49</a:t>
                      </a:r>
                    </a:p>
                  </a:txBody>
                  <a:tcPr marL="63500" marR="63500" marT="38100" marB="38100" anchor="ctr">
                    <a:lnL w="7620">
                      <a:noFill/>
                    </a:lnL>
                    <a:lnR w="7620">
                      <a:noFill/>
                    </a:lnR>
                    <a:lnT w="7620">
                      <a:noFill/>
                    </a:lnT>
                    <a:lnB w="7620">
                      <a:noFill/>
                    </a:lnB>
                    <a:solidFill>
                      <a:srgbClr val="FFFEF8"/>
                    </a:solidFill>
                  </a:tcPr>
                </a:tc>
              </a:tr>
              <a:tr h="475488">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3ファイル以上</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02736"/>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gold.patchのdiff --git単位で集計。最大は21ファイル。</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task data. Verified 500課題、改訂3d07b46を集計。2026-10-16。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https://github.com/SWE-bench/swe-bench-tasks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参照パッチの変更行数は中央値7行</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課題の作成と500件の構成</a:t>
            </a:r>
          </a:p>
        </p:txBody>
      </p:sp>
      <p:graphicFrame>
        <p:nvGraphicFramePr>
          <p:cNvPr id="4" name="Table 3"/>
          <p:cNvGraphicFramePr>
            <a:graphicFrameLocks noGrp="1"/>
          </p:cNvGraphicFramePr>
          <p:nvPr/>
        </p:nvGraphicFramePr>
        <p:xfrm>
          <a:off x="548640" y="1508760"/>
          <a:ext cx="8046720" cy="1901952"/>
        </p:xfrm>
        <a:graphic>
          <a:graphicData uri="http://schemas.openxmlformats.org/drawingml/2006/table">
            <a:tbl>
              <a:tblPr firstRow="0" bandRow="0"/>
              <a:tblGrid>
                <a:gridCol w="3931920"/>
                <a:gridCol w="4114800"/>
              </a:tblGrid>
              <a:tr h="475488">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統計量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追加行＋削除行</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5488">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中央値</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7行</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5488">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平均</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14.3行</a:t>
                      </a:r>
                    </a:p>
                  </a:txBody>
                  <a:tcPr marL="63500" marR="63500" marT="38100" marB="38100" anchor="ctr">
                    <a:lnL w="7620">
                      <a:noFill/>
                    </a:lnL>
                    <a:lnR w="7620">
                      <a:noFill/>
                    </a:lnR>
                    <a:lnT w="7620">
                      <a:noFill/>
                    </a:lnT>
                    <a:lnB w="7620">
                      <a:noFill/>
                    </a:lnB>
                    <a:solidFill>
                      <a:srgbClr val="FFFEF8"/>
                    </a:solidFill>
                  </a:tcPr>
                </a:tc>
              </a:tr>
              <a:tr h="475488">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最小／最大</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1行／232行</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02736"/>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500課題のgold.patchを集計。差分のヘッダー・文脈行を除く。</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task data. Verified 500課題、改訂3d07b46を集計。2026-10-16。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https://github.com/SWE-bench/swe-bench-tasks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200" b="0">
                <a:solidFill>
                  <a:srgbClr val="303437"/>
                </a:solidFill>
                <a:latin typeface="Noto Sans"/>
              </a:defRPr>
            </a:pPr>
            <a:r>
              <a:rPr sz="3200" b="1" lang="ja-JP" altLang="en-US">
                <a:solidFill>
                  <a:srgbClr val="303437"/>
                </a:solidFill>
                <a:latin typeface="Noto Sans"/>
                <a:ea typeface="Noto Sans CJK JP"/>
                <a:cs typeface="Noto Sans"/>
              </a:rPr>
              <a:t>4. 系列の発展と評価の実行</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系列の発展と評価の実行</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複数言語や画面を使う課題へ広がった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系列の発展と評価の実行</a:t>
            </a:r>
          </a:p>
        </p:txBody>
      </p:sp>
      <p:graphicFrame>
        <p:nvGraphicFramePr>
          <p:cNvPr id="4" name="Table 3"/>
          <p:cNvGraphicFramePr>
            <a:graphicFrameLocks noGrp="1"/>
          </p:cNvGraphicFramePr>
          <p:nvPr/>
        </p:nvGraphicFramePr>
        <p:xfrm>
          <a:off x="548640" y="1508760"/>
          <a:ext cx="8046720" cy="1901952"/>
        </p:xfrm>
        <a:graphic>
          <a:graphicData uri="http://schemas.openxmlformats.org/drawingml/2006/table">
            <a:tbl>
              <a:tblPr firstRow="0" bandRow="0"/>
              <a:tblGrid>
                <a:gridCol w="3108960"/>
                <a:gridCol w="4937760"/>
              </a:tblGrid>
              <a:tr h="47548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系列</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評価する対象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548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Verified / 2024</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人が確認したPythonの500課題</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548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Multilingual / 2025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9言語・42リポジトリの300課題</a:t>
                      </a:r>
                    </a:p>
                  </a:txBody>
                  <a:tcPr marL="63500" marR="63500" marT="38100" marB="38100" anchor="ctr">
                    <a:lnL w="7620">
                      <a:noFill/>
                    </a:lnL>
                    <a:lnR w="7620">
                      <a:noFill/>
                    </a:lnR>
                    <a:lnT w="7620">
                      <a:noFill/>
                    </a:lnT>
                    <a:lnB w="7620">
                      <a:noFill/>
                    </a:lnB>
                    <a:solidFill>
                      <a:srgbClr val="FFFEF8"/>
                    </a:solidFill>
                  </a:tcPr>
                </a:tc>
              </a:tr>
              <a:tr h="47548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Multimodal / 2024</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画面の情報を使うソフトウェア修正</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02736"/>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Multimodal v2は2026年に公開。480課題をローカル実行できる。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README and News. 各データセットの公開情報。2026-10-16参照。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https://github.com/SWE-bench/SWE-bench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SWE-Bench Proは別の、長い作業を含む評価</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Scale AIが2025年に公開したSWE-Bench Proは、企業での開発に近い長時間の修正課題を集めた後続ベンチマーク。</a:t>
            </a:r>
          </a:p>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論文の全1,865課題は41リポジトリに由来する。公開集合は11リポジトリの731課題で、非公開・商用の集合もある。</a:t>
            </a:r>
          </a:p>
          <a:p>
            <a:pPr marL="457200" indent="-355600">
              <a:lnSpc>
                <a:spcPts val="2640"/>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Gemini 3.1 Proの公式比較ではProのPublic集合も使われる。Verifiedの500課題とは異なる問題集合である。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系列の発展と評価の実行</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Deng et al. (2025). SWE-Bench Pro: Can AI Agents Solve Long-Horizon Software Engineering Tasks? arXiv:2509.16941v2.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https://arxiv.org/abs/2509.16941v2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評価実装の第5版では課題をフォルダで管理する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2026年8月の評価実装5.0.0で、課題ごとのファイルを置くtask repo方式が導入された。</a:t>
            </a:r>
          </a:p>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問題文、テスト一覧、参照パッチ、実行環境の設定を分けて保存し、Dockerで課題環境を作る。</a:t>
            </a:r>
          </a:p>
          <a:p>
            <a:pPr marL="457200" indent="-355600">
              <a:lnSpc>
                <a:spcPts val="2640"/>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本資料の実例・集計は公式swe-bench-tasksの改訂3d07b46、採点は公式コードの改訂02e7a74に対応する。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系列の発展と評価の実行</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(2026). SWE-bench Changelog. 評価実装5.0.0以降のタスク形式。</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https://github.com/SWE-bench/SWE-bench/blob/02e7a74/CHANGELOG.md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候補パッチを渡し、テスト実行とレポートを得る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系列の発展と評価の実行</a:t>
            </a:r>
          </a:p>
        </p:txBody>
      </p:sp>
      <p:sp>
        <p:nvSpPr>
          <p:cNvPr id="4" name="Rectangle 3"/>
          <p:cNvSpPr/>
          <p:nvPr/>
        </p:nvSpPr>
        <p:spPr>
          <a:xfrm>
            <a:off x="548640" y="1508760"/>
            <a:ext cx="8046720" cy="111125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swebench eval verified -p predictions.jsonl \</a:t>
            </a:r>
          </a:p>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--run-id my-run -j 4</a:t>
            </a:r>
          </a:p>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swebench report my-run -d verified</a:t>
            </a:r>
          </a:p>
        </p:txBody>
      </p:sp>
      <p:sp>
        <p:nvSpPr>
          <p:cNvPr id="5" name="TextBox 4"/>
          <p:cNvSpPr txBox="1"/>
          <p:nvPr/>
        </p:nvSpPr>
        <p:spPr>
          <a:xfrm>
            <a:off x="594360" y="2821178"/>
            <a:ext cx="7955279" cy="777240"/>
          </a:xfrm>
          <a:prstGeom prst="rect">
            <a:avLst/>
          </a:prstGeom>
          <a:noFill/>
        </p:spPr>
        <p:txBody>
          <a:bodyPr wrap="square" lIns="0" rIns="0" tIns="0" bIns="0">
            <a:noAutofit/>
          </a:bodyPr>
          <a:lstStyle/>
          <a:p>
            <a:pPr algn="l">
              <a:lnSpc>
                <a:spcPct val="117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参照した公式CLIの実行例。predictions.jsonlに課題IDと候補パッチを置き、用意したDocker環境で評価する。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evaluation harness. 改訂02e7a74。</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https://github.com/SWE-bench/SWE-bench</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人が検証した実Issueを、実行結果で評価する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00"/>
              </a:lnSpc>
              <a:spcAft>
                <a:spcPts val="800"/>
              </a:spcAft>
              <a:buSzPct val="59111"/>
              <a:buFont typeface="Noto Sans CJK JP"/>
              <a:buChar char="●"/>
              <a:defRPr sz="2250" b="0">
                <a:solidFill>
                  <a:srgbClr val="303437"/>
                </a:solidFill>
                <a:latin typeface="Noto Sans"/>
              </a:defRPr>
            </a:pPr>
            <a:r>
              <a:rPr sz="2250" b="0" lang="ja-JP" altLang="en-US">
                <a:solidFill>
                  <a:srgbClr val="303437"/>
                </a:solidFill>
                <a:latin typeface="Noto Sans"/>
                <a:ea typeface="Noto Sans CJK JP"/>
                <a:cs typeface="Noto Sans"/>
              </a:rPr>
              <a:t>Verifiedは、元のSWE-benchから人が品質を確認した500課題を集め、既存Pythonコードの修正を評価する。</a:t>
            </a:r>
          </a:p>
          <a:p>
            <a:pPr marL="457200" indent="-355600">
              <a:lnSpc>
                <a:spcPts val="2700"/>
              </a:lnSpc>
              <a:spcAft>
                <a:spcPts val="800"/>
              </a:spcAft>
              <a:buSzPct val="59111"/>
              <a:buFont typeface="Noto Sans CJK JP"/>
              <a:buChar char="●"/>
              <a:defRPr sz="2250" b="0">
                <a:solidFill>
                  <a:srgbClr val="303437"/>
                </a:solidFill>
                <a:latin typeface="Noto Sans"/>
              </a:defRPr>
            </a:pPr>
            <a:r>
              <a:rPr sz="2250" b="0" lang="ja-JP" altLang="en-US">
                <a:solidFill>
                  <a:srgbClr val="303437"/>
                </a:solidFill>
                <a:latin typeface="Noto Sans"/>
                <a:ea typeface="Noto Sans CJK JP"/>
                <a:cs typeface="Noto Sans"/>
              </a:rPr>
              <a:t>モデルはIssueとリポジトリからパッチを作り、不具合を直すテストと既存動作の維持を確認する。</a:t>
            </a:r>
          </a:p>
          <a:p>
            <a:pPr marL="457200" indent="-355600">
              <a:lnSpc>
                <a:spcPts val="2700"/>
              </a:lnSpc>
              <a:spcAft>
                <a:spcPts val="0"/>
              </a:spcAft>
              <a:buSzPct val="59111"/>
              <a:buFont typeface="Noto Sans CJK JP"/>
              <a:buChar char="●"/>
              <a:defRPr sz="2250" b="0">
                <a:solidFill>
                  <a:srgbClr val="303437"/>
                </a:solidFill>
                <a:latin typeface="Noto Sans"/>
              </a:defRPr>
            </a:pPr>
            <a:r>
              <a:rPr sz="2250" b="0" lang="ja-JP" altLang="en-US">
                <a:solidFill>
                  <a:srgbClr val="303437"/>
                </a:solidFill>
                <a:latin typeface="Noto Sans"/>
                <a:ea typeface="Noto Sans CJK JP"/>
                <a:cs typeface="Noto Sans"/>
              </a:rPr>
              <a:t>参照修正は1ファイル・少数行のものが多い。12リポジトリにまたがる実課題として、探索から実行までを評価できる。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系列の発展と評価の実行</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task data. Verified 500課題、改訂3d07b46を集計。2026-10-16。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https://github.com/SWE-bench/swe-bench-tasks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59895"/>
            <a:ext cx="8046720" cy="82296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777240" y="1668081"/>
            <a:ext cx="7772400" cy="2077720"/>
          </a:xfrm>
        </p:spPr>
        <p:txBody>
          <a:bodyPr lIns="0" rIns="0" tIns="0" bIns="0" wrap="square">
            <a:noAutofit/>
          </a:bodyPr>
          <a:lstStyle/>
          <a:p>
            <a:pPr marL="457200" indent="-457200">
              <a:lnSpc>
                <a:spcPct val="128000"/>
              </a:lnSpc>
              <a:spcAft>
                <a:spcPts val="17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ライブラリの異なる追加例</a:t>
            </a:r>
          </a:p>
          <a:p>
            <a:pPr marL="457200" indent="-457200">
              <a:lnSpc>
                <a:spcPct val="128000"/>
              </a:lnSpc>
              <a:spcAft>
                <a:spcPts val="17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分布・形式と採点の詳細</a:t>
            </a:r>
          </a:p>
          <a:p>
            <a:pPr marL="457200" indent="-457200">
              <a:lnSpc>
                <a:spcPct val="128000"/>
              </a:lnSpc>
              <a:spcAft>
                <a:spcPts val="17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著者と参考文献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目次</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100" b="0">
                <a:solidFill>
                  <a:srgbClr val="303437"/>
                </a:solidFill>
                <a:latin typeface="Noto Sans"/>
              </a:defRPr>
            </a:pPr>
            <a:r>
              <a:rPr sz="3100" b="1" lang="ja-JP" altLang="en-US">
                <a:solidFill>
                  <a:srgbClr val="303437"/>
                </a:solidFill>
                <a:latin typeface="Noto Sans"/>
                <a:ea typeface="Noto Sans CJK JP"/>
                <a:cs typeface="Noto Sans"/>
              </a:rPr>
              <a:t>1. ライブラリの異なる追加例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ライブラリの異なる追加例</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追加例1：propertyの文書を継承する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ライブラリの異なる追加例</a:t>
            </a:r>
          </a:p>
        </p:txBody>
      </p:sp>
      <p:sp>
        <p:nvSpPr>
          <p:cNvPr id="4" name="Rectangle 3"/>
          <p:cNvSpPr/>
          <p:nvPr/>
        </p:nvSpPr>
        <p:spPr>
          <a:xfrm>
            <a:off x="548640" y="1508760"/>
            <a:ext cx="8046720" cy="51593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inspect.isfunction(val) or inspect.isdatadescriptor(val)</a:t>
            </a:r>
          </a:p>
        </p:txBody>
      </p:sp>
      <p:sp>
        <p:nvSpPr>
          <p:cNvPr id="5" name="TextBox 4"/>
          <p:cNvSpPr txBox="1"/>
          <p:nvPr/>
        </p:nvSpPr>
        <p:spPr>
          <a:xfrm>
            <a:off x="594360" y="2225865"/>
            <a:ext cx="7955279" cy="777240"/>
          </a:xfrm>
          <a:prstGeom prst="rect">
            <a:avLst/>
          </a:prstGeom>
          <a:noFill/>
        </p:spPr>
        <p:txBody>
          <a:bodyPr wrap="square" lIns="0" rIns="0" tIns="0" bIns="0">
            <a:noAutofit/>
          </a:bodyPr>
          <a:lstStyle/>
          <a:p>
            <a:pPr algn="l">
              <a:lnSpc>
                <a:spcPct val="117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Astropy：関数だけを見ていた継承処理にデータ記述子の判定を加え、propertyも対象にする。参照パッチの条件式を抜粋。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Verified. astropy__astropy-7166 / gold.patch.</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https://github.com/SWE-bench/swe-bench-tasks/blob/3d07b46/tasks/astropy__astropy-7166/gold.patch</a:t>
            </a:r>
          </a:p>
        </p:txBody>
      </p:sp>
      <p:sp>
        <p:nvSpPr>
          <p:cNvPr id="7" name="TextBox 6"/>
          <p:cNvSpPr txBox="1"/>
          <p:nvPr/>
        </p:nvSpPr>
        <p:spPr>
          <a:xfrm>
            <a:off x="594360" y="1307592"/>
            <a:ext cx="7955279" cy="164592"/>
          </a:xfrm>
          <a:prstGeom prst="rect">
            <a:avLst/>
          </a:prstGeom>
          <a:noFill/>
        </p:spPr>
        <p:txBody>
          <a:bodyPr wrap="square" lIns="0" rIns="0" tIns="0" bIns="0">
            <a:noAutofit/>
          </a:bodyPr>
          <a:lstStyle/>
          <a:p>
            <a:pPr algn="l">
              <a:lnSpc>
                <a:spcPct val="117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配布参照パッチの変更箇所（抜粋）</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追加例2：Path型でも重複を検出する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ライブラリの異なる追加例</a:t>
            </a:r>
          </a:p>
        </p:txBody>
      </p:sp>
      <p:sp>
        <p:nvSpPr>
          <p:cNvPr id="4" name="Rectangle 3"/>
          <p:cNvSpPr/>
          <p:nvPr/>
        </p:nvSpPr>
        <p:spPr>
          <a:xfrm>
            <a:off x="548640" y="1508760"/>
            <a:ext cx="8046720" cy="7620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            if app_dir in fixture_dirs:</a:t>
            </a:r>
          </a:p>
          <a:p>
            <a:pPr algn="l">
              <a:lnSpc>
                <a:spcPts val="2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            if app_dir in [str(d) for d in fixture_dirs]:</a:t>
            </a:r>
          </a:p>
        </p:txBody>
      </p:sp>
      <p:sp>
        <p:nvSpPr>
          <p:cNvPr id="5" name="TextBox 4"/>
          <p:cNvSpPr txBox="1"/>
          <p:nvPr/>
        </p:nvSpPr>
        <p:spPr>
          <a:xfrm>
            <a:off x="594360" y="2471928"/>
            <a:ext cx="7955279" cy="777240"/>
          </a:xfrm>
          <a:prstGeom prst="rect">
            <a:avLst/>
          </a:prstGeom>
          <a:noFill/>
        </p:spPr>
        <p:txBody>
          <a:bodyPr wrap="square" lIns="0" rIns="0" tIns="0" bIns="0">
            <a:noAutofit/>
          </a:bodyPr>
          <a:lstStyle/>
          <a:p>
            <a:pPr algn="l">
              <a:lnSpc>
                <a:spcPct val="117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Django：FIXTURE_DIRSにPathオブジェクトがあると重複を検出できない。文字列へそろえて、既定のfixtureディレクトリと比較する。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Verified. django__django-15987 / gold.patch.</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https://github.com/SWE-bench/swe-bench-tasks/blob/3d07b46/tasks/django__django-15987/gold.patch</a:t>
            </a:r>
          </a:p>
        </p:txBody>
      </p:sp>
      <p:sp>
        <p:nvSpPr>
          <p:cNvPr id="7" name="TextBox 6"/>
          <p:cNvSpPr txBox="1"/>
          <p:nvPr/>
        </p:nvSpPr>
        <p:spPr>
          <a:xfrm>
            <a:off x="594360" y="1307592"/>
            <a:ext cx="7955279" cy="164592"/>
          </a:xfrm>
          <a:prstGeom prst="rect">
            <a:avLst/>
          </a:prstGeom>
          <a:noFill/>
        </p:spPr>
        <p:txBody>
          <a:bodyPr wrap="square" lIns="0" rIns="0" tIns="0" bIns="0">
            <a:noAutofit/>
          </a:bodyPr>
          <a:lstStyle/>
          <a:p>
            <a:pPr algn="l">
              <a:lnSpc>
                <a:spcPct val="117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配布参照パッチの変更箇所（抜粋）</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追加例3：1000未満の年も4桁で表示する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ライブラリの異なる追加例</a:t>
            </a:r>
          </a:p>
        </p:txBody>
      </p:sp>
      <p:sp>
        <p:nvSpPr>
          <p:cNvPr id="4" name="Rectangle 3"/>
          <p:cNvSpPr/>
          <p:nvPr/>
        </p:nvSpPr>
        <p:spPr>
          <a:xfrm>
            <a:off x="548640" y="1508760"/>
            <a:ext cx="8046720" cy="8255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return self.data.year</a:t>
            </a:r>
          </a:p>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return '%04d' % self.data.year</a:t>
            </a:r>
          </a:p>
        </p:txBody>
      </p:sp>
      <p:sp>
        <p:nvSpPr>
          <p:cNvPr id="5" name="TextBox 4"/>
          <p:cNvSpPr txBox="1"/>
          <p:nvPr/>
        </p:nvSpPr>
        <p:spPr>
          <a:xfrm>
            <a:off x="594360" y="2535428"/>
            <a:ext cx="7955279" cy="777240"/>
          </a:xfrm>
          <a:prstGeom prst="rect">
            <a:avLst/>
          </a:prstGeom>
          <a:noFill/>
        </p:spPr>
        <p:txBody>
          <a:bodyPr wrap="square" lIns="0" rIns="0" tIns="0" bIns="0">
            <a:noAutofit/>
          </a:bodyPr>
          <a:lstStyle/>
          <a:p>
            <a:pPr algn="l">
              <a:lnSpc>
                <a:spcPct val="117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Django：日付のY指定子は年を4桁で返す。整数の年をそのまま返す代わりに、先頭を0で埋めた文字列にする。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Verified. django__django-14373 / gold.patch.</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https://github.com/SWE-bench/swe-bench-tasks/blob/3d07b46/tasks/django__django-14373/gold.patch</a:t>
            </a:r>
          </a:p>
        </p:txBody>
      </p:sp>
      <p:sp>
        <p:nvSpPr>
          <p:cNvPr id="7" name="TextBox 6"/>
          <p:cNvSpPr txBox="1"/>
          <p:nvPr/>
        </p:nvSpPr>
        <p:spPr>
          <a:xfrm>
            <a:off x="594360" y="1307592"/>
            <a:ext cx="7955279" cy="164592"/>
          </a:xfrm>
          <a:prstGeom prst="rect">
            <a:avLst/>
          </a:prstGeom>
          <a:noFill/>
        </p:spPr>
        <p:txBody>
          <a:bodyPr wrap="square" lIns="0" rIns="0" tIns="0" bIns="0">
            <a:noAutofit/>
          </a:bodyPr>
          <a:lstStyle/>
          <a:p>
            <a:pPr algn="l">
              <a:lnSpc>
                <a:spcPct val="117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配布参照パッチの変更箇所（抜粋）</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追加例4：消した描画要素の所属を解除する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ライブラリの異なる追加例</a:t>
            </a:r>
          </a:p>
        </p:txBody>
      </p:sp>
      <p:sp>
        <p:nvSpPr>
          <p:cNvPr id="4" name="Rectangle 3"/>
          <p:cNvSpPr/>
          <p:nvPr/>
        </p:nvSpPr>
        <p:spPr>
          <a:xfrm>
            <a:off x="548640" y="1508760"/>
            <a:ext cx="8046720" cy="130175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self._children = []</a:t>
            </a:r>
          </a:p>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old_children, self._children = self._children, []</a:t>
            </a:r>
          </a:p>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for chld in old_children:</a:t>
            </a:r>
          </a:p>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chld.axes = chld.figure = None</a:t>
            </a:r>
          </a:p>
        </p:txBody>
      </p:sp>
      <p:sp>
        <p:nvSpPr>
          <p:cNvPr id="5" name="TextBox 4"/>
          <p:cNvSpPr txBox="1"/>
          <p:nvPr/>
        </p:nvSpPr>
        <p:spPr>
          <a:xfrm>
            <a:off x="594360" y="3011678"/>
            <a:ext cx="7955279" cy="777240"/>
          </a:xfrm>
          <a:prstGeom prst="rect">
            <a:avLst/>
          </a:prstGeom>
          <a:noFill/>
        </p:spPr>
        <p:txBody>
          <a:bodyPr wrap="square" lIns="0" rIns="0" tIns="0" bIns="0">
            <a:noAutofit/>
          </a:bodyPr>
          <a:lstStyle/>
          <a:p>
            <a:pPr algn="l">
              <a:lnSpc>
                <a:spcPct val="117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Matplotlib：Axesをclearしても、子要素に古いAxes・Figureへの参照が残る。消した子要素の所属をNoneに更新する。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Verified. matplotlib__matplotlib-24627 / gold.patch.</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https://github.com/SWE-bench/swe-bench-tasks/blob/3d07b46/tasks/matplotlib__matplotlib-24627/gold.patch</a:t>
            </a:r>
          </a:p>
        </p:txBody>
      </p:sp>
      <p:sp>
        <p:nvSpPr>
          <p:cNvPr id="7" name="TextBox 6"/>
          <p:cNvSpPr txBox="1"/>
          <p:nvPr/>
        </p:nvSpPr>
        <p:spPr>
          <a:xfrm>
            <a:off x="594360" y="1307592"/>
            <a:ext cx="7955279" cy="164592"/>
          </a:xfrm>
          <a:prstGeom prst="rect">
            <a:avLst/>
          </a:prstGeom>
          <a:noFill/>
        </p:spPr>
        <p:txBody>
          <a:bodyPr wrap="square" lIns="0" rIns="0" tIns="0" bIns="0">
            <a:noAutofit/>
          </a:bodyPr>
          <a:lstStyle/>
          <a:p>
            <a:pPr algn="l">
              <a:lnSpc>
                <a:spcPct val="117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配布参照パッチの変更箇所（抜粋）</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追加例5：凡例の数値を省略表記しない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ライブラリの異なる追加例</a:t>
            </a:r>
          </a:p>
        </p:txBody>
      </p:sp>
      <p:sp>
        <p:nvSpPr>
          <p:cNvPr id="4" name="Rectangle 3"/>
          <p:cNvSpPr/>
          <p:nvPr/>
        </p:nvSpPr>
        <p:spPr>
          <a:xfrm>
            <a:off x="548640" y="1508760"/>
            <a:ext cx="8046720" cy="79375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        formatter.set_useOffset(False)</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        formatter.set_scientific(False)</a:t>
            </a:r>
          </a:p>
        </p:txBody>
      </p:sp>
      <p:sp>
        <p:nvSpPr>
          <p:cNvPr id="5" name="TextBox 4"/>
          <p:cNvSpPr txBox="1"/>
          <p:nvPr/>
        </p:nvSpPr>
        <p:spPr>
          <a:xfrm>
            <a:off x="594360" y="2503678"/>
            <a:ext cx="7955279" cy="777240"/>
          </a:xfrm>
          <a:prstGeom prst="rect">
            <a:avLst/>
          </a:prstGeom>
          <a:noFill/>
        </p:spPr>
        <p:txBody>
          <a:bodyPr wrap="square" lIns="0" rIns="0" tIns="0" bIns="0">
            <a:noAutofit/>
          </a:bodyPr>
          <a:lstStyle/>
          <a:p>
            <a:pPr algn="l">
              <a:lnSpc>
                <a:spcPct val="117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Seaborn：大きな数の凡例で倍率が表示されず、値が誤って読める。参照修正は、凡例でオフセットと科学表記を使わない設定にする。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Verified. mwaskom__seaborn-3187 / gold.patch.</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https://github.com/SWE-bench/swe-bench-tasks/blob/3d07b46/tasks/mwaskom__seaborn-3187/gold.patch</a:t>
            </a:r>
          </a:p>
        </p:txBody>
      </p:sp>
      <p:sp>
        <p:nvSpPr>
          <p:cNvPr id="7" name="TextBox 6"/>
          <p:cNvSpPr txBox="1"/>
          <p:nvPr/>
        </p:nvSpPr>
        <p:spPr>
          <a:xfrm>
            <a:off x="594360" y="1307592"/>
            <a:ext cx="7955279" cy="164592"/>
          </a:xfrm>
          <a:prstGeom prst="rect">
            <a:avLst/>
          </a:prstGeom>
          <a:noFill/>
        </p:spPr>
        <p:txBody>
          <a:bodyPr wrap="square" lIns="0" rIns="0" tIns="0" bIns="0">
            <a:noAutofit/>
          </a:bodyPr>
          <a:lstStyle/>
          <a:p>
            <a:pPr algn="l">
              <a:lnSpc>
                <a:spcPct val="117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配布参照パッチの変更箇所（抜粋）</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追加例6：DataArrayを変換して結合する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ライブラリの異なる追加例</a:t>
            </a:r>
          </a:p>
        </p:txBody>
      </p:sp>
      <p:sp>
        <p:nvSpPr>
          <p:cNvPr id="4" name="Rectangle 3"/>
          <p:cNvSpPr/>
          <p:nvPr/>
        </p:nvSpPr>
        <p:spPr>
          <a:xfrm>
            <a:off x="548640" y="1508760"/>
            <a:ext cx="8046720" cy="48418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1812"/>
              </a:lnSpc>
              <a:spcBef>
                <a:spcPts val="0"/>
              </a:spcBef>
              <a:spcAft>
                <a:spcPts val="0"/>
              </a:spcAft>
              <a:buNone/>
              <a:defRPr sz="1450" b="0">
                <a:solidFill>
                  <a:srgbClr val="303437"/>
                </a:solidFill>
                <a:latin typeface="Noto Sans"/>
              </a:defRPr>
            </a:pPr>
            <a:r>
              <a:rPr sz="1450" b="0" lang="ja-JP" altLang="en-US">
                <a:solidFill>
                  <a:srgbClr val="303437"/>
                </a:solidFill>
                <a:latin typeface="Liberation Mono"/>
                <a:ea typeface="Noto Sans CJK JP"/>
                <a:cs typeface="Liberation Mono"/>
              </a:rPr>
              <a:t>other.to_dataset() if isinstance(other, xr.DataArray) else other</a:t>
            </a:r>
          </a:p>
        </p:txBody>
      </p:sp>
      <p:sp>
        <p:nvSpPr>
          <p:cNvPr id="5" name="TextBox 4"/>
          <p:cNvSpPr txBox="1"/>
          <p:nvPr/>
        </p:nvSpPr>
        <p:spPr>
          <a:xfrm>
            <a:off x="594360" y="2194115"/>
            <a:ext cx="7955279" cy="777240"/>
          </a:xfrm>
          <a:prstGeom prst="rect">
            <a:avLst/>
          </a:prstGeom>
          <a:noFill/>
        </p:spPr>
        <p:txBody>
          <a:bodyPr wrap="square" lIns="0" rIns="0" tIns="0" bIns="0">
            <a:noAutofit/>
          </a:bodyPr>
          <a:lstStyle/>
          <a:p>
            <a:pPr algn="l">
              <a:lnSpc>
                <a:spcPct val="117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Xarray：Dataset.mergeにDataArrayを渡すと失敗する。結合前にDataArrayをDatasetへ変換する。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Verified. pydata__xarray-3677 / gold.patch.</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https://github.com/SWE-bench/swe-bench-tasks/blob/3d07b46/tasks/pydata__xarray-3677/gold.patch</a:t>
            </a:r>
          </a:p>
        </p:txBody>
      </p:sp>
      <p:sp>
        <p:nvSpPr>
          <p:cNvPr id="7" name="TextBox 6"/>
          <p:cNvSpPr txBox="1"/>
          <p:nvPr/>
        </p:nvSpPr>
        <p:spPr>
          <a:xfrm>
            <a:off x="594360" y="1307592"/>
            <a:ext cx="7955279" cy="164592"/>
          </a:xfrm>
          <a:prstGeom prst="rect">
            <a:avLst/>
          </a:prstGeom>
          <a:noFill/>
        </p:spPr>
        <p:txBody>
          <a:bodyPr wrap="square" lIns="0" rIns="0" tIns="0" bIns="0">
            <a:noAutofit/>
          </a:bodyPr>
          <a:lstStyle/>
          <a:p>
            <a:pPr algn="l">
              <a:lnSpc>
                <a:spcPct val="117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配布参照パッチの変更箇所（抜粋）</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追加例7：設定値0なら重複検査を止める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ライブラリの異なる追加例</a:t>
            </a:r>
          </a:p>
        </p:txBody>
      </p:sp>
      <p:sp>
        <p:nvSpPr>
          <p:cNvPr id="4" name="Rectangle 3"/>
          <p:cNvSpPr/>
          <p:nvPr/>
        </p:nvSpPr>
        <p:spPr>
          <a:xfrm>
            <a:off x="548640" y="1508760"/>
            <a:ext cx="8046720" cy="8255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if self.min_lines == 0:</a:t>
            </a:r>
          </a:p>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return</a:t>
            </a:r>
          </a:p>
        </p:txBody>
      </p:sp>
      <p:sp>
        <p:nvSpPr>
          <p:cNvPr id="5" name="TextBox 4"/>
          <p:cNvSpPr txBox="1"/>
          <p:nvPr/>
        </p:nvSpPr>
        <p:spPr>
          <a:xfrm>
            <a:off x="594360" y="2535428"/>
            <a:ext cx="7955279" cy="777240"/>
          </a:xfrm>
          <a:prstGeom prst="rect">
            <a:avLst/>
          </a:prstGeom>
          <a:noFill/>
        </p:spPr>
        <p:txBody>
          <a:bodyPr wrap="square" lIns="0" rIns="0" tIns="0" bIns="0">
            <a:noAutofit/>
          </a:bodyPr>
          <a:lstStyle/>
          <a:p>
            <a:pPr algn="l">
              <a:lnSpc>
                <a:spcPct val="117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Pylint：min-similarity-linesを0にすると、逆に多数の重複が報告される。0なら類似行を調べる処理を開始せず戻る。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Verified. pylint-dev__pylint-4970 / gold.patch.</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https://github.com/SWE-bench/swe-bench-tasks/blob/3d07b46/tasks/pylint-dev__pylint-4970/gold.patch</a:t>
            </a:r>
          </a:p>
        </p:txBody>
      </p:sp>
      <p:sp>
        <p:nvSpPr>
          <p:cNvPr id="7" name="TextBox 6"/>
          <p:cNvSpPr txBox="1"/>
          <p:nvPr/>
        </p:nvSpPr>
        <p:spPr>
          <a:xfrm>
            <a:off x="594360" y="1307592"/>
            <a:ext cx="7955279" cy="164592"/>
          </a:xfrm>
          <a:prstGeom prst="rect">
            <a:avLst/>
          </a:prstGeom>
          <a:noFill/>
        </p:spPr>
        <p:txBody>
          <a:bodyPr wrap="square" lIns="0" rIns="0" tIns="0" bIns="0">
            <a:noAutofit/>
          </a:bodyPr>
          <a:lstStyle/>
          <a:p>
            <a:pPr algn="l">
              <a:lnSpc>
                <a:spcPct val="117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配布参照パッチの変更箇所（抜粋）</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追加例8：リンク先のディレクトリも探索する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ライブラリの異なる追加例</a:t>
            </a:r>
          </a:p>
        </p:txBody>
      </p:sp>
      <p:sp>
        <p:nvSpPr>
          <p:cNvPr id="4" name="Rectangle 3"/>
          <p:cNvSpPr/>
          <p:nvPr/>
        </p:nvSpPr>
        <p:spPr>
          <a:xfrm>
            <a:off x="548640" y="1508760"/>
            <a:ext cx="8046720" cy="68262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1687"/>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        if entry.is_dir(follow_symlinks=False) and recurse(entry):</a:t>
            </a:r>
          </a:p>
          <a:p>
            <a:pPr algn="l">
              <a:lnSpc>
                <a:spcPts val="1687"/>
              </a:lnSpc>
              <a:spcBef>
                <a:spcPts val="0"/>
              </a:spcBef>
              <a:spcAft>
                <a:spcPts val="0"/>
              </a:spcAft>
              <a:buNone/>
              <a:defRPr sz="1350" b="0">
                <a:solidFill>
                  <a:srgbClr val="303437"/>
                </a:solidFill>
                <a:latin typeface="Noto Sans"/>
              </a:defRPr>
            </a:pPr>
            <a:r>
              <a:rPr sz="1350" b="0" lang="ja-JP" altLang="en-US">
                <a:solidFill>
                  <a:srgbClr val="303437"/>
                </a:solidFill>
                <a:latin typeface="Liberation Mono"/>
                <a:ea typeface="Noto Sans CJK JP"/>
                <a:cs typeface="Liberation Mono"/>
              </a:rPr>
              <a:t>+        if entry.is_dir() and recurse(entry):</a:t>
            </a:r>
          </a:p>
        </p:txBody>
      </p:sp>
      <p:sp>
        <p:nvSpPr>
          <p:cNvPr id="5" name="TextBox 4"/>
          <p:cNvSpPr txBox="1"/>
          <p:nvPr/>
        </p:nvSpPr>
        <p:spPr>
          <a:xfrm>
            <a:off x="594360" y="2392553"/>
            <a:ext cx="7955279" cy="777240"/>
          </a:xfrm>
          <a:prstGeom prst="rect">
            <a:avLst/>
          </a:prstGeom>
          <a:noFill/>
        </p:spPr>
        <p:txBody>
          <a:bodyPr wrap="square" lIns="0" rIns="0" tIns="0" bIns="0">
            <a:noAutofit/>
          </a:bodyPr>
          <a:lstStyle/>
          <a:p>
            <a:pPr algn="l">
              <a:lnSpc>
                <a:spcPct val="117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Pytest：シンボリックリンクのディレクトリを収集しなくなった回帰。リンクを追わない指定を外し、以前の探索動作に戻す。</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Verified. pytest-dev__pytest-7982 / gold.patch.</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https://github.com/SWE-bench/swe-bench-tasks/blob/3d07b46/tasks/pytest-dev__pytest-7982/gold.patch</a:t>
            </a:r>
          </a:p>
        </p:txBody>
      </p:sp>
      <p:sp>
        <p:nvSpPr>
          <p:cNvPr id="7" name="TextBox 6"/>
          <p:cNvSpPr txBox="1"/>
          <p:nvPr/>
        </p:nvSpPr>
        <p:spPr>
          <a:xfrm>
            <a:off x="594360" y="1307592"/>
            <a:ext cx="7955279" cy="164592"/>
          </a:xfrm>
          <a:prstGeom prst="rect">
            <a:avLst/>
          </a:prstGeom>
          <a:noFill/>
        </p:spPr>
        <p:txBody>
          <a:bodyPr wrap="square" lIns="0" rIns="0" tIns="0" bIns="0">
            <a:noAutofit/>
          </a:bodyPr>
          <a:lstStyle/>
          <a:p>
            <a:pPr algn="l">
              <a:lnSpc>
                <a:spcPct val="117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配布参照パッチの変更箇所（抜粋）</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追加例9：Noneの推定器を検査から除く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ライブラリの異なる追加例</a:t>
            </a:r>
          </a:p>
        </p:txBody>
      </p:sp>
      <p:sp>
        <p:nvSpPr>
          <p:cNvPr id="4" name="Rectangle 3"/>
          <p:cNvSpPr/>
          <p:nvPr/>
        </p:nvSpPr>
        <p:spPr>
          <a:xfrm>
            <a:off x="548640" y="1508760"/>
            <a:ext cx="8046720" cy="8255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if step is None:</a:t>
            </a:r>
          </a:p>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continue</a:t>
            </a:r>
          </a:p>
        </p:txBody>
      </p:sp>
      <p:sp>
        <p:nvSpPr>
          <p:cNvPr id="5" name="TextBox 4"/>
          <p:cNvSpPr txBox="1"/>
          <p:nvPr/>
        </p:nvSpPr>
        <p:spPr>
          <a:xfrm>
            <a:off x="594360" y="2535428"/>
            <a:ext cx="7955279" cy="777240"/>
          </a:xfrm>
          <a:prstGeom prst="rect">
            <a:avLst/>
          </a:prstGeom>
          <a:noFill/>
        </p:spPr>
        <p:txBody>
          <a:bodyPr wrap="square" lIns="0" rIns="0" tIns="0" bIns="0">
            <a:noAutofit/>
          </a:bodyPr>
          <a:lstStyle/>
          <a:p>
            <a:pPr algn="l">
              <a:lnSpc>
                <a:spcPct val="117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Scikit-learn：VotingClassifierで一部の推定器をNoneにすると、sample_weight対応の検査で失敗する。Noneの要素を飛ばす。</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Verified. scikit-learn__scikit-learn-13779 / gold.patch.</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https://github.com/SWE-bench/swe-bench-tasks/blob/3d07b46/tasks/scikit-learn__scikit-learn-13779/gold.patch</a:t>
            </a:r>
          </a:p>
        </p:txBody>
      </p:sp>
      <p:sp>
        <p:nvSpPr>
          <p:cNvPr id="7" name="TextBox 6"/>
          <p:cNvSpPr txBox="1"/>
          <p:nvPr/>
        </p:nvSpPr>
        <p:spPr>
          <a:xfrm>
            <a:off x="594360" y="1307592"/>
            <a:ext cx="7955279" cy="164592"/>
          </a:xfrm>
          <a:prstGeom prst="rect">
            <a:avLst/>
          </a:prstGeom>
          <a:noFill/>
        </p:spPr>
        <p:txBody>
          <a:bodyPr wrap="square" lIns="0" rIns="0" tIns="0" bIns="0">
            <a:noAutofit/>
          </a:bodyPr>
          <a:lstStyle/>
          <a:p>
            <a:pPr algn="l">
              <a:lnSpc>
                <a:spcPct val="117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配布参照パッチの変更箇所（抜粋）</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追加例10：1要素のタプルのカンマを残す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ライブラリの異なる追加例</a:t>
            </a:r>
          </a:p>
        </p:txBody>
      </p:sp>
      <p:sp>
        <p:nvSpPr>
          <p:cNvPr id="4" name="Rectangle 3"/>
          <p:cNvSpPr/>
          <p:nvPr/>
        </p:nvSpPr>
        <p:spPr>
          <a:xfrm>
            <a:off x="548640" y="1508760"/>
            <a:ext cx="8046720" cy="79375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        elif len(node.elts) == 1:</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            return "(%s,)" % self.visit(node.elts[0])</a:t>
            </a:r>
          </a:p>
        </p:txBody>
      </p:sp>
      <p:sp>
        <p:nvSpPr>
          <p:cNvPr id="5" name="TextBox 4"/>
          <p:cNvSpPr txBox="1"/>
          <p:nvPr/>
        </p:nvSpPr>
        <p:spPr>
          <a:xfrm>
            <a:off x="594360" y="2503678"/>
            <a:ext cx="7955279" cy="777240"/>
          </a:xfrm>
          <a:prstGeom prst="rect">
            <a:avLst/>
          </a:prstGeom>
          <a:noFill/>
        </p:spPr>
        <p:txBody>
          <a:bodyPr wrap="square" lIns="0" rIns="0" tIns="0" bIns="0">
            <a:noAutofit/>
          </a:bodyPr>
          <a:lstStyle/>
          <a:p>
            <a:pPr algn="l">
              <a:lnSpc>
                <a:spcPct val="117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Sphinx：型やコードの表示で(1,)が(1)になる。要素が1つの場合を分岐し、タプルを表す末尾のカンマを出力する。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Verified. sphinx-doc__sphinx-9367 / gold.patch.</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https://github.com/SWE-bench/swe-bench-tasks/blob/3d07b46/tasks/sphinx-doc__sphinx-9367/gold.patch</a:t>
            </a:r>
          </a:p>
        </p:txBody>
      </p:sp>
      <p:sp>
        <p:nvSpPr>
          <p:cNvPr id="7" name="TextBox 6"/>
          <p:cNvSpPr txBox="1"/>
          <p:nvPr/>
        </p:nvSpPr>
        <p:spPr>
          <a:xfrm>
            <a:off x="594360" y="1307592"/>
            <a:ext cx="7955279" cy="164592"/>
          </a:xfrm>
          <a:prstGeom prst="rect">
            <a:avLst/>
          </a:prstGeom>
          <a:noFill/>
        </p:spPr>
        <p:txBody>
          <a:bodyPr wrap="square" lIns="0" rIns="0" tIns="0" bIns="0">
            <a:noAutofit/>
          </a:bodyPr>
          <a:lstStyle/>
          <a:p>
            <a:pPr algn="l">
              <a:lnSpc>
                <a:spcPct val="117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配布参照パッチの変更箇所（抜粋）</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200" b="0">
                <a:solidFill>
                  <a:srgbClr val="303437"/>
                </a:solidFill>
                <a:latin typeface="Noto Sans"/>
              </a:defRPr>
            </a:pPr>
            <a:r>
              <a:rPr sz="3200" b="1" lang="ja-JP" altLang="en-US">
                <a:solidFill>
                  <a:srgbClr val="303437"/>
                </a:solidFill>
                <a:latin typeface="Noto Sans"/>
                <a:ea typeface="Noto Sans CJK JP"/>
                <a:cs typeface="Noto Sans"/>
              </a:rPr>
              <a:t>2. 分布・形式と採点の詳細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分布・形式と採点の詳細</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Verifiedのリポジトリ別課題数（前半）</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分布・形式と採点の詳細</a:t>
            </a:r>
          </a:p>
        </p:txBody>
      </p:sp>
      <p:graphicFrame>
        <p:nvGraphicFramePr>
          <p:cNvPr id="4" name="Table 3"/>
          <p:cNvGraphicFramePr>
            <a:graphicFrameLocks noGrp="1"/>
          </p:cNvGraphicFramePr>
          <p:nvPr/>
        </p:nvGraphicFramePr>
        <p:xfrm>
          <a:off x="548640" y="1508760"/>
          <a:ext cx="8046720" cy="2889504"/>
        </p:xfrm>
        <a:graphic>
          <a:graphicData uri="http://schemas.openxmlformats.org/drawingml/2006/table">
            <a:tbl>
              <a:tblPr firstRow="0" bandRow="0"/>
              <a:tblGrid>
                <a:gridCol w="5303520"/>
                <a:gridCol w="1371600"/>
                <a:gridCol w="1371600"/>
              </a:tblGrid>
              <a:tr h="365760">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リポジトリ</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課題数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500件中</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django/django</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231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46.2%</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sympy/sympy</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75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15.0%</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sphinx-doc/sphinx</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44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8.8%</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matplotlib/matplotlib</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34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6.8%</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scikit-learn/scikit-learn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32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6.4%</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astropy/astropy</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22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4.4%</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task data. Verified 500課題、改訂3d07b46を集計。2026-10-16。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https://github.com/SWE-bench/swe-bench-tasks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Verifiedのリポジトリ別課題数（後半）</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分布・形式と採点の詳細</a:t>
            </a:r>
          </a:p>
        </p:txBody>
      </p:sp>
      <p:graphicFrame>
        <p:nvGraphicFramePr>
          <p:cNvPr id="4" name="Table 3"/>
          <p:cNvGraphicFramePr>
            <a:graphicFrameLocks noGrp="1"/>
          </p:cNvGraphicFramePr>
          <p:nvPr/>
        </p:nvGraphicFramePr>
        <p:xfrm>
          <a:off x="548640" y="1508760"/>
          <a:ext cx="8046720" cy="2889504"/>
        </p:xfrm>
        <a:graphic>
          <a:graphicData uri="http://schemas.openxmlformats.org/drawingml/2006/table">
            <a:tbl>
              <a:tblPr firstRow="0" bandRow="0"/>
              <a:tblGrid>
                <a:gridCol w="5303520"/>
                <a:gridCol w="1371600"/>
                <a:gridCol w="1371600"/>
              </a:tblGrid>
              <a:tr h="365760">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リポジトリ</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課題数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500件中</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pydata/xarray</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22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4.4%</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pytest-dev/pytest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3.8%</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pylint-dev/pylint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2.0%</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psf/requests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1.6%</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mwaskom/seaborn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0.4%</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pallets/flask</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0.2%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task data. Verified 500課題、改訂3d07b46を集計。2026-10-16。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https://github.com/SWE-bench/swe-bench-tasks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変更行数の半数近くは5行以下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分布・形式と採点の詳細</a:t>
            </a:r>
          </a:p>
        </p:txBody>
      </p:sp>
      <p:graphicFrame>
        <p:nvGraphicFramePr>
          <p:cNvPr id="4" name="Table 3"/>
          <p:cNvGraphicFramePr>
            <a:graphicFrameLocks noGrp="1"/>
          </p:cNvGraphicFramePr>
          <p:nvPr/>
        </p:nvGraphicFramePr>
        <p:xfrm>
          <a:off x="548640" y="1508760"/>
          <a:ext cx="8046720" cy="2615184"/>
        </p:xfrm>
        <a:graphic>
          <a:graphicData uri="http://schemas.openxmlformats.org/drawingml/2006/table">
            <a:tbl>
              <a:tblPr firstRow="0" bandRow="0"/>
              <a:tblGrid>
                <a:gridCol w="5852160"/>
                <a:gridCol w="2194560"/>
              </a:tblGrid>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追加行＋削除行</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課題数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3891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1〜5行</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223</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3891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6〜10行</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107</a:t>
                      </a:r>
                    </a:p>
                  </a:txBody>
                  <a:tcPr marL="63500" marR="63500" marT="38100" marB="38100" anchor="ctr">
                    <a:lnL w="7620">
                      <a:noFill/>
                    </a:lnL>
                    <a:lnR w="7620">
                      <a:noFill/>
                    </a:lnR>
                    <a:lnT w="7620">
                      <a:noFill/>
                    </a:lnT>
                    <a:lnB w="7620">
                      <a:noFill/>
                    </a:lnB>
                    <a:solidFill>
                      <a:srgbClr val="FFFEF8"/>
                    </a:solidFill>
                  </a:tcPr>
                </a:tc>
              </a:tr>
              <a:tr h="43891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11〜20行</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79</a:t>
                      </a:r>
                    </a:p>
                  </a:txBody>
                  <a:tcPr marL="63500" marR="63500" marT="38100" marB="38100" anchor="ctr">
                    <a:lnL w="7620">
                      <a:noFill/>
                    </a:lnL>
                    <a:lnR w="7620">
                      <a:noFill/>
                    </a:lnR>
                    <a:lnT w="7620">
                      <a:noFill/>
                    </a:lnT>
                    <a:lnB w="7620">
                      <a:noFill/>
                    </a:lnB>
                    <a:solidFill>
                      <a:srgbClr val="FFFEF8"/>
                    </a:solidFill>
                  </a:tcPr>
                </a:tc>
              </a:tr>
              <a:tr h="43891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21〜50行</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65</a:t>
                      </a:r>
                    </a:p>
                  </a:txBody>
                  <a:tcPr marL="63500" marR="63500" marT="38100" marB="38100" anchor="ctr">
                    <a:lnL w="7620">
                      <a:noFill/>
                    </a:lnL>
                    <a:lnR w="7620">
                      <a:noFill/>
                    </a:lnR>
                    <a:lnT w="7620">
                      <a:noFill/>
                    </a:lnT>
                    <a:lnB w="7620">
                      <a:noFill/>
                    </a:lnB>
                    <a:solidFill>
                      <a:srgbClr val="FFFEF8"/>
                    </a:solidFill>
                  </a:tcPr>
                </a:tc>
              </a:tr>
              <a:tr h="43891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51行以上</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26</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task data. Verified 500課題、改訂3d07b46を集計。2026-10-16。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https://github.com/SWE-bench/swe-bench-tasks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Issue本文の長さは中央値約1177文字</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分布・形式と採点の詳細</a:t>
            </a:r>
          </a:p>
        </p:txBody>
      </p:sp>
      <p:graphicFrame>
        <p:nvGraphicFramePr>
          <p:cNvPr id="4" name="Table 3"/>
          <p:cNvGraphicFramePr>
            <a:graphicFrameLocks noGrp="1"/>
          </p:cNvGraphicFramePr>
          <p:nvPr/>
        </p:nvGraphicFramePr>
        <p:xfrm>
          <a:off x="548640" y="1508760"/>
          <a:ext cx="8046719" cy="2167128"/>
        </p:xfrm>
        <a:graphic>
          <a:graphicData uri="http://schemas.openxmlformats.org/drawingml/2006/table">
            <a:tbl>
              <a:tblPr firstRow="0" bandRow="0"/>
              <a:tblGrid>
                <a:gridCol w="3749039"/>
                <a:gridCol w="4297680"/>
              </a:tblGrid>
              <a:tr h="411480">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統計量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文字数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3891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中央値</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1,176.5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3891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平均</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1,672.2</a:t>
                      </a:r>
                    </a:p>
                  </a:txBody>
                  <a:tcPr marL="63500" marR="63500" marT="38100" marB="38100" anchor="ctr">
                    <a:lnL w="7620">
                      <a:noFill/>
                    </a:lnL>
                    <a:lnR w="7620">
                      <a:noFill/>
                    </a:lnR>
                    <a:lnT w="7620">
                      <a:noFill/>
                    </a:lnT>
                    <a:lnB w="7620">
                      <a:noFill/>
                    </a:lnB>
                    <a:solidFill>
                      <a:srgbClr val="FFFEF8"/>
                    </a:solidFill>
                  </a:tcPr>
                </a:tc>
              </a:tr>
              <a:tr h="43891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母標準偏差</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2,015.2</a:t>
                      </a:r>
                    </a:p>
                  </a:txBody>
                  <a:tcPr marL="63500" marR="63500" marT="38100" marB="38100" anchor="ctr">
                    <a:lnL w="7620">
                      <a:noFill/>
                    </a:lnL>
                    <a:lnR w="7620">
                      <a:noFill/>
                    </a:lnR>
                    <a:lnT w="7620">
                      <a:noFill/>
                    </a:lnT>
                    <a:lnB w="7620">
                      <a:noFill/>
                    </a:lnB>
                    <a:solidFill>
                      <a:srgbClr val="FFFEF8"/>
                    </a:solidFill>
                  </a:tcPr>
                </a:tc>
              </a:tr>
              <a:tr h="43891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最小／最大</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129／24,512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867911"/>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500件のproblem_statement.mdで前後の空白を除き、</a:t>
            </a:r>
          </a:p>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改行・コードを含めUnicode文字数を数えた。</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task data. Verified 500課題、改訂3d07b46を集計。2026-10-16。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https://github.com/SWE-bench/swe-bench-tasks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課題には実行開始地点と採点用の情報がある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分布・形式と採点の詳細</a:t>
            </a:r>
          </a:p>
        </p:txBody>
      </p:sp>
      <p:graphicFrame>
        <p:nvGraphicFramePr>
          <p:cNvPr id="4" name="Table 3"/>
          <p:cNvGraphicFramePr>
            <a:graphicFrameLocks noGrp="1"/>
          </p:cNvGraphicFramePr>
          <p:nvPr/>
        </p:nvGraphicFramePr>
        <p:xfrm>
          <a:off x="548640" y="1508760"/>
          <a:ext cx="8046720" cy="2633472"/>
        </p:xfrm>
        <a:graphic>
          <a:graphicData uri="http://schemas.openxmlformats.org/drawingml/2006/table">
            <a:tbl>
              <a:tblPr firstRow="0" bandRow="0"/>
              <a:tblGrid>
                <a:gridCol w="3657600"/>
                <a:gridCol w="4389120"/>
              </a:tblGrid>
              <a:tr h="43891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フィールド／ファイル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内容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4864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base_commit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修正前のコードのGitコミット</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4864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problem_statement.md</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公開Issueの本文</a:t>
                      </a:r>
                    </a:p>
                  </a:txBody>
                  <a:tcPr marL="63500" marR="63500" marT="38100" marB="38100" anchor="ctr">
                    <a:lnL w="7620">
                      <a:noFill/>
                    </a:lnL>
                    <a:lnR w="7620">
                      <a:noFill/>
                    </a:lnR>
                    <a:lnT w="7620">
                      <a:noFill/>
                    </a:lnT>
                    <a:lnB w="7620">
                      <a:noFill/>
                    </a:lnB>
                    <a:solidFill>
                      <a:srgbClr val="FFFEF8"/>
                    </a:solidFill>
                  </a:tcPr>
                </a:tc>
              </a:tr>
              <a:tr h="54864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gold.patch / test.patch</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参照修正／採点用のテスト変更</a:t>
                      </a:r>
                    </a:p>
                  </a:txBody>
                  <a:tcPr marL="63500" marR="63500" marT="38100" marB="38100" anchor="ctr">
                    <a:lnL w="7620">
                      <a:noFill/>
                    </a:lnL>
                    <a:lnR w="7620">
                      <a:noFill/>
                    </a:lnR>
                    <a:lnT w="7620">
                      <a:noFill/>
                    </a:lnT>
                    <a:lnB w="7620">
                      <a:noFill/>
                    </a:lnB>
                    <a:solidFill>
                      <a:srgbClr val="FFFEF8"/>
                    </a:solidFill>
                  </a:tcPr>
                </a:tc>
              </a:tr>
              <a:tr h="54864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tests.json</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FAIL_TO_PASS・PASS_TO_PASS一覧</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task data. Verified 500課題、改訂3d07b46を集計。2026-10-16。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https://github.com/SWE-bench/swe-bench-tasks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評価実装の第5版はファイルを種類別に置く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分布・形式と採点の詳細</a:t>
            </a:r>
          </a:p>
        </p:txBody>
      </p:sp>
      <p:sp>
        <p:nvSpPr>
          <p:cNvPr id="4" name="Rectangle 3"/>
          <p:cNvSpPr/>
          <p:nvPr/>
        </p:nvSpPr>
        <p:spPr>
          <a:xfrm>
            <a:off x="548640" y="1508760"/>
            <a:ext cx="8046720" cy="214312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tasks/pallets__flask-5014/</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  task.yaml</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  problem_statement.md</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  gold.patch</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  test.patch</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  tests.json</a:t>
            </a:r>
          </a:p>
          <a:p>
            <a:pPr algn="l">
              <a:lnSpc>
                <a:spcPts val="2125"/>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  Dockerfile</a:t>
            </a:r>
          </a:p>
        </p:txBody>
      </p:sp>
      <p:sp>
        <p:nvSpPr>
          <p:cNvPr id="5" name="TextBox 4"/>
          <p:cNvSpPr txBox="1"/>
          <p:nvPr/>
        </p:nvSpPr>
        <p:spPr>
          <a:xfrm>
            <a:off x="594360" y="3853053"/>
            <a:ext cx="7955279" cy="777240"/>
          </a:xfrm>
          <a:prstGeom prst="rect">
            <a:avLst/>
          </a:prstGeom>
          <a:noFill/>
        </p:spPr>
        <p:txBody>
          <a:bodyPr wrap="square" lIns="0" rIns="0" tIns="0" bIns="0">
            <a:noAutofit/>
          </a:bodyPr>
          <a:lstStyle/>
          <a:p>
            <a:pPr algn="l">
              <a:lnSpc>
                <a:spcPct val="117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task.yamlにID・リポジトリ・コミットなどを置く。問題文・参照修正・テストと実行環境を同じ課題フォルダで管理する。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(2026). SWE-bench Changelog. 評価実装5.0.0以降のタスク形式。</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https://github.com/SWE-bench/SWE-bench/blob/02e7a74/CHANGELOG.md</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公式コードは修正と維持の条件で解決判定する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分布・形式と採点の詳細</a:t>
            </a:r>
          </a:p>
        </p:txBody>
      </p:sp>
      <p:sp>
        <p:nvSpPr>
          <p:cNvPr id="4" name="Rectangle 3"/>
          <p:cNvSpPr/>
          <p:nvPr/>
        </p:nvSpPr>
        <p:spPr>
          <a:xfrm>
            <a:off x="548640" y="1508760"/>
            <a:ext cx="8046720" cy="13970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f2p = compute_fail_to_pass(report)</a:t>
            </a:r>
          </a:p>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p2p = compute_pass_to_pass(report)</a:t>
            </a:r>
          </a:p>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if f2p == 1 and p2p == 1:</a:t>
            </a:r>
          </a:p>
          <a:p>
            <a:pPr algn="l">
              <a:lnSpc>
                <a:spcPts val="2250"/>
              </a:lnSpc>
              <a:spcBef>
                <a:spcPts val="0"/>
              </a:spcBef>
              <a:spcAft>
                <a:spcPts val="0"/>
              </a:spcAft>
              <a:buNone/>
              <a:defRPr sz="1800" b="0">
                <a:solidFill>
                  <a:srgbClr val="303437"/>
                </a:solidFill>
                <a:latin typeface="Noto Sans"/>
              </a:defRPr>
            </a:pPr>
            <a:r>
              <a:rPr sz="1800" b="0" lang="ja-JP" altLang="en-US">
                <a:solidFill>
                  <a:srgbClr val="303437"/>
                </a:solidFill>
                <a:latin typeface="Liberation Mono"/>
                <a:ea typeface="Noto Sans CJK JP"/>
                <a:cs typeface="Liberation Mono"/>
              </a:rPr>
              <a:t>    return ResolvedStatus.FULL.value</a:t>
            </a:r>
          </a:p>
        </p:txBody>
      </p:sp>
      <p:sp>
        <p:nvSpPr>
          <p:cNvPr id="5" name="TextBox 4"/>
          <p:cNvSpPr txBox="1"/>
          <p:nvPr/>
        </p:nvSpPr>
        <p:spPr>
          <a:xfrm>
            <a:off x="594360" y="3106928"/>
            <a:ext cx="7955279" cy="777240"/>
          </a:xfrm>
          <a:prstGeom prst="rect">
            <a:avLst/>
          </a:prstGeom>
          <a:noFill/>
        </p:spPr>
        <p:txBody>
          <a:bodyPr wrap="square" lIns="0" rIns="0" tIns="0" bIns="0">
            <a:noAutofit/>
          </a:bodyPr>
          <a:lstStyle/>
          <a:p>
            <a:pPr algn="l">
              <a:lnSpc>
                <a:spcPct val="117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get_resolution_statusから字下げをそろえた抜粋。両集合の全条件を満たした課題が完全解決となる。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evaluation harness: grading.py. 改訂02e7a74。</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https://github.com/SWE-bench/SWE-bench/blob/02e7a74/swebench/harness/grading.py</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参照した現行採点実装のテスト状態の扱い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分布・形式と採点の詳細</a:t>
            </a:r>
          </a:p>
        </p:txBody>
      </p:sp>
      <p:graphicFrame>
        <p:nvGraphicFramePr>
          <p:cNvPr id="4" name="Table 3"/>
          <p:cNvGraphicFramePr>
            <a:graphicFrameLocks noGrp="1"/>
          </p:cNvGraphicFramePr>
          <p:nvPr/>
        </p:nvGraphicFramePr>
        <p:xfrm>
          <a:off x="548640" y="1508760"/>
          <a:ext cx="8046720" cy="1901952"/>
        </p:xfrm>
        <a:graphic>
          <a:graphicData uri="http://schemas.openxmlformats.org/drawingml/2006/table">
            <a:tbl>
              <a:tblPr firstRow="0" bandRow="0"/>
              <a:tblGrid>
                <a:gridCol w="3291840"/>
                <a:gridCol w="2377440"/>
                <a:gridCol w="2377440"/>
              </a:tblGrid>
              <a:tr h="47548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テストの結果</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FAIL_TO_PASS</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PASS_TO_PASS</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7548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PASSED / XFAIL</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成功</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維持</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7548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SKIPPED</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失敗</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維持</a:t>
                      </a:r>
                    </a:p>
                  </a:txBody>
                  <a:tcPr marL="63500" marR="63500" marT="38100" marB="38100" anchor="ctr">
                    <a:lnL w="7620">
                      <a:noFill/>
                    </a:lnL>
                    <a:lnR w="7620">
                      <a:noFill/>
                    </a:lnR>
                    <a:lnT w="7620">
                      <a:noFill/>
                    </a:lnT>
                    <a:lnB w="7620">
                      <a:noFill/>
                    </a:lnB>
                    <a:solidFill>
                      <a:srgbClr val="FFFEF8"/>
                    </a:solidFill>
                  </a:tcPr>
                </a:tc>
              </a:tr>
              <a:tr h="475488">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FAILED / ERROR</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失敗</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回帰</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602736"/>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改訂02e7a74のtest_passed・test_maintainedに対応。</a:t>
            </a:r>
          </a:p>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PASS_TO_PASSが空の課題では、維持条件は満たされたとする。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evaluation harness: grading.py. 改訂02e7a74。</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https://github.com/SWE-bench/SWE-bench/blob/02e7a74/swebench/harness/grading.py</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タスクの日付とパッケージの版を記録する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Verifiedのcreated_atは、対応するPull Requestの作成日時。取得した500課題では2013年1月〜2023年8月に分布する。</a:t>
            </a:r>
          </a:p>
          <a:p>
            <a:pPr marL="457200" indent="-355600">
              <a:lnSpc>
                <a:spcPts val="2640"/>
              </a:lnSpc>
              <a:spcAft>
                <a:spcPts val="8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task.yamlのversionは、対象リポジトリのパッケージ版。Verifiedというデータセットや評価実装の版番号とは別に保存されている。</a:t>
            </a:r>
          </a:p>
          <a:p>
            <a:pPr marL="457200" indent="-355600">
              <a:lnSpc>
                <a:spcPts val="2640"/>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base_commitと環境設定のコミットを使い、当時の依存関係とコードの状態を再現する。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分布・形式と採点の詳細</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SWE-bench team. SWE-bench task data. Verified 500課題、改訂3d07b46を集計。2026-10-16。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https://github.com/SWE-bench/swe-bench-tasks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400" b="0">
                <a:solidFill>
                  <a:srgbClr val="303437"/>
                </a:solidFill>
                <a:latin typeface="Noto Sans"/>
              </a:defRPr>
            </a:pPr>
            <a:r>
              <a:rPr sz="3400" b="1" lang="ja-JP" altLang="en-US">
                <a:solidFill>
                  <a:srgbClr val="303437"/>
                </a:solidFill>
                <a:latin typeface="Noto Sans"/>
                <a:ea typeface="Noto Sans CJK JP"/>
                <a:cs typeface="Noto Sans"/>
              </a:rPr>
              <a:t>3. 著者と参考文献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著者と参考文献</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実Issueの修正を評価にした研究者たち</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520"/>
              </a:lnSpc>
              <a:spcAft>
                <a:spcPts val="8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SWE-benchの共同第一著者はCarlos E. JimenezとJohn Yang。Alexander Wettig、Shunyu Yao、Kexin Pei、Ofir Press、Karthik Narasimhanが共著者。</a:t>
            </a:r>
          </a:p>
          <a:p>
            <a:pPr marL="457200" indent="-355600">
              <a:lnSpc>
                <a:spcPts val="2520"/>
              </a:lnSpc>
              <a:spcAft>
                <a:spcPts val="8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2023年に初公開し、ICLR 2024で発表。既存リポジトリと実行可能なテストを使うソフトウェア修正課題を提案した。</a:t>
            </a:r>
          </a:p>
          <a:p>
            <a:pPr marL="457200" indent="-355600">
              <a:lnSpc>
                <a:spcPts val="2520"/>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VerifiedはSWE-benchチームとOpenAIの協力で2024年8月に公開。人が課題の明確さ・テスト・解決可能性を確認した。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著者と参考文献</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Jimenez et al. (2024). SWE-bench: Can Language Models Resolve Real-World GitHub Issues? ICLR 2024.</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https://arxiv.org/abs/2310.06770v3</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著者と参考文献</a:t>
            </a:r>
          </a:p>
        </p:txBody>
      </p:sp>
      <p:sp>
        <p:nvSpPr>
          <p:cNvPr id="4" name="文献 1: SWE-bench: Can Language Models Resolve Real-World GitHub Issues?"/>
          <p:cNvSpPr txBox="1"/>
          <p:nvPr/>
        </p:nvSpPr>
        <p:spPr>
          <a:xfrm>
            <a:off x="548640" y="1371600"/>
            <a:ext cx="8046720" cy="1737360"/>
          </a:xfrm>
          <a:prstGeom prst="rect">
            <a:avLst/>
          </a:prstGeom>
          <a:noFill/>
        </p:spPr>
        <p:txBody>
          <a:bodyPr wrap="square" lIns="0" rIns="0" tIns="0" bIns="0">
            <a:noAutofit/>
          </a:bodyPr>
          <a:lstStyle/>
          <a:p>
            <a:pPr algn="l">
              <a:lnSpc>
                <a:spcPct val="112000"/>
              </a:lnSpc>
              <a:spcBef>
                <a:spcPts val="0"/>
              </a:spcBef>
              <a:spcAft>
                <a:spcPts val="400"/>
              </a:spcAft>
              <a:buNone/>
              <a:defRPr sz="1850" b="0">
                <a:solidFill>
                  <a:srgbClr val="303437"/>
                </a:solidFill>
                <a:latin typeface="Noto Sans"/>
              </a:defRPr>
            </a:pPr>
            <a:r>
              <a:rPr sz="1800" b="0" lang="ja-JP" altLang="en-US">
                <a:solidFill>
                  <a:srgbClr val="303437"/>
                </a:solidFill>
                <a:latin typeface="Noto Sans"/>
                <a:ea typeface="Noto Sans CJK JP"/>
                <a:cs typeface="Noto Sans"/>
              </a:rPr>
              <a:t/>
            </a:r>
            <a:r>
              <a:rPr sz="1850" b="1" lang="ja-JP" altLang="en-US">
                <a:solidFill>
                  <a:srgbClr val="303437"/>
                </a:solidFill>
                <a:latin typeface="Noto Sans"/>
                <a:ea typeface="Noto Sans CJK JP"/>
                <a:cs typeface="Noto Sans"/>
              </a:rPr>
              <a:t>SWE-bench: Can Language Models Resolve Real-World GitHub Issues?</a:t>
            </a:r>
          </a:p>
          <a:p>
            <a:pPr>
              <a:lnSpc>
                <a:spcPct val="112000"/>
              </a:lnSpc>
              <a:spcAft>
                <a:spcPts val="400"/>
              </a:spcAft>
              <a:buNone/>
              <a:defRPr sz="1300" b="0">
                <a:solidFill>
                  <a:srgbClr val="303437"/>
                </a:solidFill>
                <a:latin typeface="Noto Sans"/>
              </a:defRPr>
            </a:pPr>
            <a:r>
              <a:rPr sz="1300" b="0" lang="ja-JP" altLang="en-US">
                <a:solidFill>
                  <a:srgbClr val="626669"/>
                </a:solidFill>
                <a:latin typeface="Noto Sans"/>
                <a:ea typeface="Noto Sans CJK JP"/>
                <a:cs typeface="Noto Sans"/>
              </a:rPr>
              <a:t>Carlos E. Jimenez, John Yang et al. / ICLR 2024</a:t>
            </a:r>
          </a:p>
          <a:p>
            <a:pPr>
              <a:lnSpc>
                <a:spcPct val="112000"/>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実Issue・参照パッチ・テストから、既存コードを修正する評価課題を作った。</a:t>
            </a:r>
          </a:p>
          <a:p>
            <a:pPr>
              <a:lnSpc>
                <a:spcPct val="112000"/>
              </a:lnSpc>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https://arxiv.org/abs/2310.06770v3</a:t>
            </a:r>
          </a:p>
        </p:txBody>
      </p:sp>
      <p:sp>
        <p:nvSpPr>
          <p:cNvPr id="5" name="文献 2: SWE-bench Verified"/>
          <p:cNvSpPr txBox="1"/>
          <p:nvPr/>
        </p:nvSpPr>
        <p:spPr>
          <a:xfrm>
            <a:off x="548640" y="3337560"/>
            <a:ext cx="8046720" cy="1737360"/>
          </a:xfrm>
          <a:prstGeom prst="rect">
            <a:avLst/>
          </a:prstGeom>
          <a:noFill/>
        </p:spPr>
        <p:txBody>
          <a:bodyPr wrap="square" lIns="0" rIns="0" tIns="0" bIns="0">
            <a:noAutofit/>
          </a:bodyPr>
          <a:lstStyle/>
          <a:p>
            <a:pPr algn="l">
              <a:lnSpc>
                <a:spcPct val="112000"/>
              </a:lnSpc>
              <a:spcBef>
                <a:spcPts val="0"/>
              </a:spcBef>
              <a:spcAft>
                <a:spcPts val="400"/>
              </a:spcAft>
              <a:buNone/>
              <a:defRPr sz="1850" b="0">
                <a:solidFill>
                  <a:srgbClr val="303437"/>
                </a:solidFill>
                <a:latin typeface="Noto Sans"/>
              </a:defRPr>
            </a:pPr>
            <a:r>
              <a:rPr sz="1800" b="0" lang="ja-JP" altLang="en-US">
                <a:solidFill>
                  <a:srgbClr val="303437"/>
                </a:solidFill>
                <a:latin typeface="Noto Sans"/>
                <a:ea typeface="Noto Sans CJK JP"/>
                <a:cs typeface="Noto Sans"/>
              </a:rPr>
              <a:t/>
            </a:r>
            <a:r>
              <a:rPr sz="1850" b="1" lang="ja-JP" altLang="en-US">
                <a:solidFill>
                  <a:srgbClr val="303437"/>
                </a:solidFill>
                <a:latin typeface="Noto Sans"/>
                <a:ea typeface="Noto Sans CJK JP"/>
                <a:cs typeface="Noto Sans"/>
              </a:rPr>
              <a:t>SWE-bench Verified</a:t>
            </a:r>
          </a:p>
          <a:p>
            <a:pPr>
              <a:lnSpc>
                <a:spcPct val="112000"/>
              </a:lnSpc>
              <a:spcAft>
                <a:spcPts val="400"/>
              </a:spcAft>
              <a:buNone/>
              <a:defRPr sz="1300" b="0">
                <a:solidFill>
                  <a:srgbClr val="303437"/>
                </a:solidFill>
                <a:latin typeface="Noto Sans"/>
              </a:defRPr>
            </a:pPr>
            <a:r>
              <a:rPr sz="1300" b="0" lang="ja-JP" altLang="en-US">
                <a:solidFill>
                  <a:srgbClr val="626669"/>
                </a:solidFill>
                <a:latin typeface="Noto Sans"/>
                <a:ea typeface="Noto Sans CJK JP"/>
                <a:cs typeface="Noto Sans"/>
              </a:rPr>
              <a:t>SWE-bench team / 2024公開 / 2026-10-16参照</a:t>
            </a:r>
          </a:p>
          <a:p>
            <a:pPr>
              <a:lnSpc>
                <a:spcPct val="112000"/>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人が検証した500課題と、Verified・Bash Onlyの評価条件を説明する。</a:t>
            </a:r>
          </a:p>
          <a:p>
            <a:pPr>
              <a:lnSpc>
                <a:spcPct val="112000"/>
              </a:lnSpc>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https://www.swebench.com/verified.html</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著者と参考文献</a:t>
            </a:r>
          </a:p>
        </p:txBody>
      </p:sp>
      <p:sp>
        <p:nvSpPr>
          <p:cNvPr id="4" name="文献 1: SWE-bench evaluation harness"/>
          <p:cNvSpPr txBox="1"/>
          <p:nvPr/>
        </p:nvSpPr>
        <p:spPr>
          <a:xfrm>
            <a:off x="548640" y="1371600"/>
            <a:ext cx="8046720" cy="1737360"/>
          </a:xfrm>
          <a:prstGeom prst="rect">
            <a:avLst/>
          </a:prstGeom>
          <a:noFill/>
        </p:spPr>
        <p:txBody>
          <a:bodyPr wrap="square" lIns="0" rIns="0" tIns="0" bIns="0">
            <a:noAutofit/>
          </a:bodyPr>
          <a:lstStyle/>
          <a:p>
            <a:pPr algn="l">
              <a:lnSpc>
                <a:spcPct val="112000"/>
              </a:lnSpc>
              <a:spcBef>
                <a:spcPts val="0"/>
              </a:spcBef>
              <a:spcAft>
                <a:spcPts val="400"/>
              </a:spcAft>
              <a:buNone/>
              <a:defRPr sz="1850" b="0">
                <a:solidFill>
                  <a:srgbClr val="303437"/>
                </a:solidFill>
                <a:latin typeface="Noto Sans"/>
              </a:defRPr>
            </a:pPr>
            <a:r>
              <a:rPr sz="1800" b="0" lang="ja-JP" altLang="en-US">
                <a:solidFill>
                  <a:srgbClr val="303437"/>
                </a:solidFill>
                <a:latin typeface="Noto Sans"/>
                <a:ea typeface="Noto Sans CJK JP"/>
                <a:cs typeface="Noto Sans"/>
              </a:rPr>
              <a:t/>
            </a:r>
            <a:r>
              <a:rPr sz="1850" b="1" lang="ja-JP" altLang="en-US">
                <a:solidFill>
                  <a:srgbClr val="303437"/>
                </a:solidFill>
                <a:latin typeface="Noto Sans"/>
                <a:ea typeface="Noto Sans CJK JP"/>
                <a:cs typeface="Noto Sans"/>
              </a:rPr>
              <a:t>SWE-bench evaluation harness</a:t>
            </a:r>
          </a:p>
          <a:p>
            <a:pPr>
              <a:lnSpc>
                <a:spcPct val="112000"/>
              </a:lnSpc>
              <a:spcAft>
                <a:spcPts val="400"/>
              </a:spcAft>
              <a:buNone/>
              <a:defRPr sz="1300" b="0">
                <a:solidFill>
                  <a:srgbClr val="303437"/>
                </a:solidFill>
                <a:latin typeface="Noto Sans"/>
              </a:defRPr>
            </a:pPr>
            <a:r>
              <a:rPr sz="1300" b="0" lang="ja-JP" altLang="en-US">
                <a:solidFill>
                  <a:srgbClr val="626669"/>
                </a:solidFill>
                <a:latin typeface="Noto Sans"/>
                <a:ea typeface="Noto Sans CJK JP"/>
                <a:cs typeface="Noto Sans"/>
              </a:rPr>
              <a:t>SWE-bench team / GitHub / 改訂02e7a74</a:t>
            </a:r>
          </a:p>
          <a:p>
            <a:pPr>
              <a:lnSpc>
                <a:spcPct val="112000"/>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環境構築、パッチの適用、テスト実行と解決判定を行う公式実装。</a:t>
            </a:r>
          </a:p>
          <a:p>
            <a:pPr>
              <a:lnSpc>
                <a:spcPct val="112000"/>
              </a:lnSpc>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https://github.com/SWE-bench/SWE-bench</a:t>
            </a:r>
          </a:p>
        </p:txBody>
      </p:sp>
      <p:sp>
        <p:nvSpPr>
          <p:cNvPr id="5" name="文献 2: SWE-bench task data"/>
          <p:cNvSpPr txBox="1"/>
          <p:nvPr/>
        </p:nvSpPr>
        <p:spPr>
          <a:xfrm>
            <a:off x="548640" y="3337560"/>
            <a:ext cx="8046720" cy="1737360"/>
          </a:xfrm>
          <a:prstGeom prst="rect">
            <a:avLst/>
          </a:prstGeom>
          <a:noFill/>
        </p:spPr>
        <p:txBody>
          <a:bodyPr wrap="square" lIns="0" rIns="0" tIns="0" bIns="0">
            <a:noAutofit/>
          </a:bodyPr>
          <a:lstStyle/>
          <a:p>
            <a:pPr algn="l">
              <a:lnSpc>
                <a:spcPct val="112000"/>
              </a:lnSpc>
              <a:spcBef>
                <a:spcPts val="0"/>
              </a:spcBef>
              <a:spcAft>
                <a:spcPts val="400"/>
              </a:spcAft>
              <a:buNone/>
              <a:defRPr sz="1850" b="0">
                <a:solidFill>
                  <a:srgbClr val="303437"/>
                </a:solidFill>
                <a:latin typeface="Noto Sans"/>
              </a:defRPr>
            </a:pPr>
            <a:r>
              <a:rPr sz="1800" b="0" lang="ja-JP" altLang="en-US">
                <a:solidFill>
                  <a:srgbClr val="303437"/>
                </a:solidFill>
                <a:latin typeface="Noto Sans"/>
                <a:ea typeface="Noto Sans CJK JP"/>
                <a:cs typeface="Noto Sans"/>
              </a:rPr>
              <a:t/>
            </a:r>
            <a:r>
              <a:rPr sz="1850" b="1" lang="ja-JP" altLang="en-US">
                <a:solidFill>
                  <a:srgbClr val="303437"/>
                </a:solidFill>
                <a:latin typeface="Noto Sans"/>
                <a:ea typeface="Noto Sans CJK JP"/>
                <a:cs typeface="Noto Sans"/>
              </a:rPr>
              <a:t>SWE-bench task data</a:t>
            </a:r>
          </a:p>
          <a:p>
            <a:pPr>
              <a:lnSpc>
                <a:spcPct val="112000"/>
              </a:lnSpc>
              <a:spcAft>
                <a:spcPts val="400"/>
              </a:spcAft>
              <a:buNone/>
              <a:defRPr sz="1300" b="0">
                <a:solidFill>
                  <a:srgbClr val="303437"/>
                </a:solidFill>
                <a:latin typeface="Noto Sans"/>
              </a:defRPr>
            </a:pPr>
            <a:r>
              <a:rPr sz="1300" b="0" lang="ja-JP" altLang="en-US">
                <a:solidFill>
                  <a:srgbClr val="626669"/>
                </a:solidFill>
                <a:latin typeface="Noto Sans"/>
                <a:ea typeface="Noto Sans CJK JP"/>
                <a:cs typeface="Noto Sans"/>
              </a:rPr>
              <a:t>SWE-bench team / GitHub / 改訂3d07b46</a:t>
            </a:r>
          </a:p>
          <a:p>
            <a:pPr>
              <a:lnSpc>
                <a:spcPct val="112000"/>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問題文・参照パッチ・採点テスト・実行環境を課題別に配布する。</a:t>
            </a:r>
          </a:p>
          <a:p>
            <a:pPr>
              <a:lnSpc>
                <a:spcPct val="112000"/>
              </a:lnSpc>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https://github.com/SWE-bench/swe-bench-tasks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著者と参考文献</a:t>
            </a:r>
          </a:p>
        </p:txBody>
      </p:sp>
      <p:sp>
        <p:nvSpPr>
          <p:cNvPr id="4" name="文献 1: SWE-Bench Pro: Can AI Agents Solve Long-Horizon Software Engineering Tasks?"/>
          <p:cNvSpPr txBox="1"/>
          <p:nvPr/>
        </p:nvSpPr>
        <p:spPr>
          <a:xfrm>
            <a:off x="548640" y="1371600"/>
            <a:ext cx="8046720" cy="1737360"/>
          </a:xfrm>
          <a:prstGeom prst="rect">
            <a:avLst/>
          </a:prstGeom>
          <a:noFill/>
        </p:spPr>
        <p:txBody>
          <a:bodyPr wrap="square" lIns="0" rIns="0" tIns="0" bIns="0">
            <a:noAutofit/>
          </a:bodyPr>
          <a:lstStyle/>
          <a:p>
            <a:pPr algn="l">
              <a:lnSpc>
                <a:spcPct val="112000"/>
              </a:lnSpc>
              <a:spcBef>
                <a:spcPts val="0"/>
              </a:spcBef>
              <a:spcAft>
                <a:spcPts val="400"/>
              </a:spcAft>
              <a:buNone/>
              <a:defRPr sz="1850" b="0">
                <a:solidFill>
                  <a:srgbClr val="303437"/>
                </a:solidFill>
                <a:latin typeface="Noto Sans"/>
              </a:defRPr>
            </a:pPr>
            <a:r>
              <a:rPr sz="1800" b="0" lang="ja-JP" altLang="en-US">
                <a:solidFill>
                  <a:srgbClr val="303437"/>
                </a:solidFill>
                <a:latin typeface="Noto Sans"/>
                <a:ea typeface="Noto Sans CJK JP"/>
                <a:cs typeface="Noto Sans"/>
              </a:rPr>
              <a:t/>
            </a:r>
            <a:r>
              <a:rPr sz="1850" b="1" lang="ja-JP" altLang="en-US">
                <a:solidFill>
                  <a:srgbClr val="303437"/>
                </a:solidFill>
                <a:latin typeface="Noto Sans"/>
                <a:ea typeface="Noto Sans CJK JP"/>
                <a:cs typeface="Noto Sans"/>
              </a:rPr>
              <a:t>SWE-Bench Pro: Can AI Agents Solve Long-Horizon Software Engineering Tasks?</a:t>
            </a:r>
          </a:p>
          <a:p>
            <a:pPr>
              <a:lnSpc>
                <a:spcPct val="112000"/>
              </a:lnSpc>
              <a:spcAft>
                <a:spcPts val="400"/>
              </a:spcAft>
              <a:buNone/>
              <a:defRPr sz="1300" b="0">
                <a:solidFill>
                  <a:srgbClr val="303437"/>
                </a:solidFill>
                <a:latin typeface="Noto Sans"/>
              </a:defRPr>
            </a:pPr>
            <a:r>
              <a:rPr sz="1300" b="0" lang="ja-JP" altLang="en-US">
                <a:solidFill>
                  <a:srgbClr val="626669"/>
                </a:solidFill>
                <a:latin typeface="Noto Sans"/>
                <a:ea typeface="Noto Sans CJK JP"/>
                <a:cs typeface="Noto Sans"/>
              </a:rPr>
              <a:t>Xiang Deng, Jeff Da et al. / 2025 / arXiv:2509.16941v2</a:t>
            </a:r>
          </a:p>
          <a:p>
            <a:pPr>
              <a:lnSpc>
                <a:spcPct val="112000"/>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企業での開発に近い長時間の修正課題を集め、公開・非公開集合で評価する。</a:t>
            </a:r>
          </a:p>
          <a:p>
            <a:pPr>
              <a:lnSpc>
                <a:spcPct val="112000"/>
              </a:lnSpc>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https://arxiv.org/abs/2509.16941v2</a:t>
            </a:r>
          </a:p>
        </p:txBody>
      </p:sp>
      <p:sp>
        <p:nvSpPr>
          <p:cNvPr id="5" name="文献 2: Gemini 3.1 Pro"/>
          <p:cNvSpPr txBox="1"/>
          <p:nvPr/>
        </p:nvSpPr>
        <p:spPr>
          <a:xfrm>
            <a:off x="548640" y="3337560"/>
            <a:ext cx="8046720" cy="1737360"/>
          </a:xfrm>
          <a:prstGeom prst="rect">
            <a:avLst/>
          </a:prstGeom>
          <a:noFill/>
        </p:spPr>
        <p:txBody>
          <a:bodyPr wrap="square" lIns="0" rIns="0" tIns="0" bIns="0">
            <a:noAutofit/>
          </a:bodyPr>
          <a:lstStyle/>
          <a:p>
            <a:pPr algn="l">
              <a:lnSpc>
                <a:spcPct val="112000"/>
              </a:lnSpc>
              <a:spcBef>
                <a:spcPts val="0"/>
              </a:spcBef>
              <a:spcAft>
                <a:spcPts val="400"/>
              </a:spcAft>
              <a:buNone/>
              <a:defRPr sz="1850" b="0">
                <a:solidFill>
                  <a:srgbClr val="303437"/>
                </a:solidFill>
                <a:latin typeface="Noto Sans"/>
              </a:defRPr>
            </a:pPr>
            <a:r>
              <a:rPr sz="1800" b="0" lang="ja-JP" altLang="en-US">
                <a:solidFill>
                  <a:srgbClr val="303437"/>
                </a:solidFill>
                <a:latin typeface="Noto Sans"/>
                <a:ea typeface="Noto Sans CJK JP"/>
                <a:cs typeface="Noto Sans"/>
              </a:rPr>
              <a:t/>
            </a:r>
            <a:r>
              <a:rPr sz="1850" b="1" lang="ja-JP" altLang="en-US">
                <a:solidFill>
                  <a:srgbClr val="303437"/>
                </a:solidFill>
                <a:latin typeface="Noto Sans"/>
                <a:ea typeface="Noto Sans CJK JP"/>
                <a:cs typeface="Noto Sans"/>
              </a:rPr>
              <a:t>Gemini 3.1 Pro</a:t>
            </a:r>
          </a:p>
          <a:p>
            <a:pPr>
              <a:lnSpc>
                <a:spcPct val="112000"/>
              </a:lnSpc>
              <a:spcAft>
                <a:spcPts val="400"/>
              </a:spcAft>
              <a:buNone/>
              <a:defRPr sz="1300" b="0">
                <a:solidFill>
                  <a:srgbClr val="303437"/>
                </a:solidFill>
                <a:latin typeface="Noto Sans"/>
              </a:defRPr>
            </a:pPr>
            <a:r>
              <a:rPr sz="1300" b="0" lang="ja-JP" altLang="en-US">
                <a:solidFill>
                  <a:srgbClr val="626669"/>
                </a:solidFill>
                <a:latin typeface="Noto Sans"/>
                <a:ea typeface="Noto Sans CJK JP"/>
                <a:cs typeface="Noto Sans"/>
              </a:rPr>
              <a:t>Google DeepMind / 2026 / Model performance</a:t>
            </a:r>
          </a:p>
          <a:p>
            <a:pPr>
              <a:lnSpc>
                <a:spcPct val="112000"/>
              </a:lnSpc>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Verifiedを含む公式モデル比較と、1回の試行による解決率を掲載する。</a:t>
            </a:r>
          </a:p>
          <a:p>
            <a:pPr>
              <a:lnSpc>
                <a:spcPct val="112000"/>
              </a:lnSpc>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https://deepmind.google/models/gemini/pro/</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佐々木　悠太</cp:lastModifiedBy>
  <cp:revision>500</cp:revision>
  <dcterms:modified xsi:type="dcterms:W3CDTF">2026-10-13T12:49:59Z</dcterms:modified>
  <dc:title>SWE-bench Verified — datasets in 10 minutes</dc:title>
  <dc:creator>sasakiy84</dc:creator>
  <dc:subject>実Issueのコード修正、Verifiedの作成と構成、テストによる採点とモデル評価</dc:subject>
  <cp:keywords>SWE-bench,Verified,software engineering,dataset</cp:keywords>
</cp:coreProperties>
</file>