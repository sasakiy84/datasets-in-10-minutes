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scikit-learn</c:v>
                </c:pt>
                <c:pt idx="2">
                  <c:v>Matplotlib</c:v>
                </c:pt>
                <c:pt idx="3">
                  <c:v>Sphinx</c:v>
                </c:pt>
                <c:pt idx="4">
                  <c:v>SymPy</c:v>
                </c:pt>
                <c:pt idx="5">
                  <c:v>Django</c:v>
                </c:pt>
              </c:strCache>
            </c:strRef>
          </c:cat>
          <c:val>
            <c:numRef>
              <c:f>Sheet1!$B$2:$B$7</c:f>
              <c:numCache>
                <c:formatCode>General</c:formatCode>
                <c:ptCount val="6"/>
                <c:pt idx="0">
                  <c:v>84</c:v>
                </c:pt>
                <c:pt idx="1">
                  <c:v>32</c:v>
                </c:pt>
                <c:pt idx="2">
                  <c:v>34</c:v>
                </c:pt>
                <c:pt idx="3">
                  <c:v>44</c:v>
                </c:pt>
                <c:pt idx="4">
                  <c:v>75</c:v>
                </c:pt>
                <c:pt idx="5">
                  <c:v>231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princeton-nlp/SWE-bench_Verifie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problem_statement.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gold.pat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problem_statement.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gold.pat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problem_statement.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gold.pat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test.patch"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swebench/harness/grading.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verified.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lite.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WE-bench/swe-bench-task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CHANGELOG.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astropy__astropy-7166/gold.pat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5987/gold.patc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4373/gold.patch"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atplotlib__matplotlib-24627/gold.patc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waskom__seaborn-3187/gold.pat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data__xarray-3677/gold.patch"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lint-dev__pylint-4970/gold.patc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test-dev__pytest-7982/gold.patch"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cikit-learn__scikit-learn-13779/gold.patc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phinx-doc__sphinx-9367/gold.patch"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CHANGELOG.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 Id="rId3" Type="http://schemas.openxmlformats.org/officeDocument/2006/relationships/hyperlink" Target="https://www.swebench.com/verified.htm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 Id="rId3" Type="http://schemas.openxmlformats.org/officeDocument/2006/relationships/hyperlink" Target="https://github.com/SWE-bench/swe-bench-task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7712"/>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Verified</a:t>
            </a:r>
          </a:p>
        </p:txBody>
      </p:sp>
      <p:sp>
        <p:nvSpPr>
          <p:cNvPr id="3" name="Subtitle 2"/>
          <p:cNvSpPr>
            <a:spLocks noGrp="1"/>
          </p:cNvSpPr>
          <p:nvPr>
            <p:ph type="subTitle" idx="1"/>
          </p:nvPr>
        </p:nvSpPr>
        <p:spPr>
          <a:xfrm>
            <a:off x="640080" y="2945536"/>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GitHubの不具合報告を読み、コードを修正する
人が検証した500課題で評価するデータセット</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Verifiedの公式配布ページ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Verified: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Hugging Face公式配布ページ。2026-10-16参照。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https://huggingface.co/datasets/princeton-nlp/SWE-bench_Verified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不具合報告とコード修正の実例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課題の作成と500件の構成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系列の発展と評価の実行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1. 不具合報告とコード修正の実例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既存のコードベースを直してIssueを解決する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SWE-benchは、GitHubにある実際の不具合報告や機能要求を、解決したPull Requestと対応させた評価である。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モデルにはIssueの本文と修正前のリポジトリを与え、変更を表すパッチを提出させる。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Verifiedは、問題文・テスト・解決可能性を人が確認して選んだ500課題。2024年8月に公開された。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入力はIssueとコード、出力は修正パッチ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286000"/>
                <a:gridCol w="57607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課題に含まれるもの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問題文とbase_commit時点のコード</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提出するもの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コードの差分を記述したパッチ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採点側が使うもの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参照テストと期待されるテスト結果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base_commitは、修正を始める時点のGitコミットを指定する。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公開テスト集合から13課題を紹介する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本資料の実例は、公式タスク配布リポジトリでVerifiedに属する500課題から選んだ。</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Flask・Requests・SymPyの3課題を本編、残り10課題をAppendixに置く。全体で12リポジトリを扱う。</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Issueの原文・要約と、配布されている参照パッチの変更箇所を対応させる。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実例1：空のBlueprint名を拒否する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Require a non-empty name for Blueprints</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Things do not work correctly if a Blueprint is given an empty name (e.g. #4944).</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It would be helpful if a `ValueError` was raised when trying to do that.</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FlaskのBlueprintはルートをまとめる仕組み。名前が空ならValueErrorを出してほしい、という要求である。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https://github.com/SWE-bench/swe-bench-tasks/blob/3d07b46/tasks/pallets__flask-5014/problem_statement.md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Flask：名前の検証に条件を加える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1417"/>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if not name: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raise ValueError("'name' may not be empty.")</a:t>
            </a:r>
          </a:p>
        </p:txBody>
      </p:sp>
      <p:sp>
        <p:nvSpPr>
          <p:cNvPr id="5" name="TextBox 4"/>
          <p:cNvSpPr txBox="1"/>
          <p:nvPr/>
        </p:nvSpPr>
        <p:spPr>
          <a:xfrm>
            <a:off x="594360" y="316633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Blueprintの初期化で空の名前を検出する。参照テストは、空の名前でValueErrorが出ることを確かめる。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https://github.com/SWE-bench/swe-bench-tasks/blob/3d07b46/tasks/pallets__flask-5014/gold.patch</a:t>
            </a:r>
          </a:p>
        </p:txBody>
      </p:sp>
      <p:sp>
        <p:nvSpPr>
          <p:cNvPr id="7" name="TextBox 6"/>
          <p:cNvSpPr txBox="1"/>
          <p:nvPr/>
        </p:nvSpPr>
        <p:spPr>
          <a:xfrm>
            <a:off x="594360" y="19702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実例2：Noneの既定ヘッダーを送らない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1869056"/>
            <a:ext cx="8046720" cy="1063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 = requests.Session()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 not send Accept-Encoding</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session.headers['Accept-Encoding'] = None</a:t>
            </a:r>
          </a:p>
        </p:txBody>
      </p:sp>
      <p:sp>
        <p:nvSpPr>
          <p:cNvPr id="5" name="TextBox 4"/>
          <p:cNvSpPr txBox="1"/>
          <p:nvPr/>
        </p:nvSpPr>
        <p:spPr>
          <a:xfrm>
            <a:off x="594360" y="313384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公開Issueの再現コード（抜粋）。Noneを指定しても「Accept-Encoding: None」が送られるため、ヘッダー自体を除外したい。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https://github.com/SWE-bench/swe-bench-tasks/blob/3d07b46/tasks/psf__requests-1921/problem_statement.md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Requests：結合後のヘッダーからNoneを除く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326820"/>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dict((k, v) for (k, v) in merged_setting.items() if v is not None)</a:t>
            </a:r>
          </a:p>
        </p:txBody>
      </p:sp>
      <p:sp>
        <p:nvSpPr>
          <p:cNvPr id="5" name="TextBox 4"/>
          <p:cNvSpPr txBox="1"/>
          <p:nvPr/>
        </p:nvSpPr>
        <p:spPr>
          <a:xfrm>
            <a:off x="594360" y="301217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要求単位の設定とセッション設定を結合した後、Noneの項目を除く。ヘッダーの送信前に修正する。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https://github.com/SWE-bench/swe-bench-tasks/blob/3d07b46/tasks/psf__requests-1921/gold.patch</a:t>
            </a:r>
          </a:p>
        </p:txBody>
      </p:sp>
      <p:sp>
        <p:nvSpPr>
          <p:cNvPr id="7" name="TextBox 6"/>
          <p:cNvSpPr txBox="1"/>
          <p:nvPr/>
        </p:nvSpPr>
        <p:spPr>
          <a:xfrm>
            <a:off x="594360" y="21256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実例3：数字1のモールス符号を直す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Morse encoding for "1" is not correct</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current Morse mapping in simpy.crypto.crypto contains an incorrect mapping of</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"1"`</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correct mapping is `".----": "1"`.</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SymPyの暗号処理で、数字1に対応する符号の先頭の点が欠けている。期待する符号が問題文に明記されている。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https://github.com/SWE-bench/swe-bench-tasks/blob/3d07b46/tasks/sympy__sympy-16886/problem_statement.md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SymPy：モールス符号の対応表を修正する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参照パッチは対応表の1箇所を置き換える。test_encode_morseで、符号化の結果を確かめる。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不具合の修正と既存動作の維持を確認する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834640"/>
                <a:gridCol w="52120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修正前は失敗し、修正後に成功する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修正前に成功していた動作を維持する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Flaskの実例にはFAIL_TO_PASSが1件、PASS_TO_PASSが59件ある。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Flaskの追加テストは例外の発生を確かめる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4" name="Rectangle 3"/>
          <p:cNvSpPr/>
          <p:nvPr/>
        </p:nvSpPr>
        <p:spPr>
          <a:xfrm>
            <a:off x="548640" y="1843703"/>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def test_empty_name_not_allowed(app, client):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with pytest.raises(ValueError):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flask.Blueprint("", __name__)</a:t>
            </a:r>
          </a:p>
        </p:txBody>
      </p:sp>
      <p:sp>
        <p:nvSpPr>
          <p:cNvPr id="5" name="TextBox 4"/>
          <p:cNvSpPr txBox="1"/>
          <p:nvPr/>
        </p:nvSpPr>
        <p:spPr>
          <a:xfrm>
            <a:off x="594360" y="315612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配布test.patchから追加されたテストを抜粋。空のBlueprint名を渡し、ValueErrorを期待する。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test.patch.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https://github.com/SWE-bench/swe-bench-tasks/blob/3d07b46/tasks/pallets__flask-5014/test.patch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対象テストを満たした課題だけを解決と数える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188720"/>
                <a:gridCol w="2286000"/>
                <a:gridCol w="2834640"/>
                <a:gridCol w="1737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不具合の修正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既存動作の維持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解決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一部失敗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回帰あり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公式実装は両集合の条件を満たすとRESOLVED_FULLを返す。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解決率は、解決した課題数を全課題数で割る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各課題の解決判定を0か1で集計する。Verified全500課題で400課題を解決した場合、400 ÷ 500 × 100 = 80%。</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1回の提出で得た解決率は、1課題に1つの候補パッチを採点する条件に対応する。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問題文・コードの探索、変更、テスト実行を含むエージェント全体の結果として評価する。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現行モデルの公式比較にも使われている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126480"/>
                <a:gridCol w="19202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Verified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80.8%</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 DeepMindの公式表、Single attempt条件。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High・Max・xhighはモデルの推論設定。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SWE-Bench Verified / Single attempt.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コードを調べて実行するループを作る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エージェントは、ファイル検索、コードの閲覧、パッチの適用、テスト実行を繰り返して修正を進める。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公式Verifiedページには任意のシステムの比較と、mini-SWE-agentを使うBash Onlyの比較がある。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Bash Onlyはシェルを操作する最小限のループにモデルを組み込み、実行環境と設定をそろえて比較する。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課題の作成と500件の構成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解決済みPull Requestから課題を作る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元のSWE-benchでは、広く使われる12のPythonリポジトリから約90,000件のPull Requestを収集した。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マージ済みで、Issueを解決し、テストファイルも変更したPull Requestを候補にする。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修正前後でテストを実行し、失敗から成功に変わるテストがあるものを残した。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問題文・参照修正・テストを分けて保存する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Issue本文をproblem_statement、修正開始地点をbase_commitとして保存する。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Pull Requestの変更を、製品コードの参照パッチと、採点用のtest_patchに分ける。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修正前に失敗して修正後に成功するテストと、前後とも成功するテストを記録する。インストールや実行に失敗する候補は除く。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Verifiedでは人が3つの点を確認した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103120"/>
                <a:gridCol w="5943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人が確かめること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要求が明確に記述されている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問題を正しく検証する内容である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解決可能性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与えられた情報で課題を解ける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SWE-benchチームとOpenAIの共同作業で500課題を選んだ。</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元のSWE-benchからVerifiedとLiteを選ぶ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54680"/>
                <a:gridCol w="1737360"/>
                <a:gridCol w="315468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データセット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testの課題数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選び方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実Issueと解決したPR</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Lite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評価費用を抑える部分集合</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人が品質を検証した部分集合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SWE-benchは2023年、LiteとVerifiedは2024年に公開。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Lite. Selection criteria.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https://www.swebench.com/lite.html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500課題の46.2%をDjangoが占める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Verified全500課題を集計。「その他」は残り7リポジトリ。</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参照修正は1ファイルが429課題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参照パッチの変更ファイル数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2ファイル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3ファイル以上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gold.patchのdiff --git単位で集計。最大は21ファイル。</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参照パッチの変更行数は中央値7行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931920"/>
                <a:gridCol w="4114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14.3行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1行／232行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500課題のgold.patchを集計。差分のヘッダー・文脈行を除く。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4. 系列の発展と評価の実行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複数言語や画面を使う課題へ広がった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08960"/>
                <a:gridCol w="493776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評価する対象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Verified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人が確認したPythonの500課題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Multilingual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9言語・42リポジトリの300課題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Multimodal / 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画面の情報を使うソフトウェア修正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Multimodal v2は2026年に公開。480課題をローカル実行できる。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README and News. 各データセットの公開情報。2026-10-16参照。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Proは別の、長い作業を含む評価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Scale AIが2025年に公開したSWE-Bench Proは、企業での開発に近い長時間の修正課題を集めた後続ベンチマーク。</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論文の全1,865課題は41リポジトリに由来する。公開集合は11リポジトリの731課題で、非公開・商用の集合もある。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3.1 Proの公式比較ではProのPublic集合も使われる。Verifiedの500課題とは異なる問題集合である。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et al. (2025). SWE-Bench Pro: Can AI Agents Solve Long-Horizon Software Engineering Tasks? arXiv:2509.16941v2.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評価実装の第5版では課題をフォルダで管理する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2026年8月の評価実装5.0.0で、課題ごとのファイルを置くtask repo方式が導入された。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問題文、テスト一覧、参照パッチ、実行環境の設定を分けて保存し、Dockerで課題環境を作る。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本資料の実例・集計は公式swe-bench-tasksの改訂3d07b46、採点は公式コードの改訂02e7a74に対応する。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候補パッチを渡し、テスト実行とレポートを得る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4" name="Rectangle 3"/>
          <p:cNvSpPr/>
          <p:nvPr/>
        </p:nvSpPr>
        <p:spPr>
          <a:xfrm>
            <a:off x="548640" y="1508760"/>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eval verified -p predictions.jsonl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--run-id my-run -j 4</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report my-run -d verified</a:t>
            </a:r>
          </a:p>
        </p:txBody>
      </p:sp>
      <p:sp>
        <p:nvSpPr>
          <p:cNvPr id="5" name="TextBox 4"/>
          <p:cNvSpPr txBox="1"/>
          <p:nvPr/>
        </p:nvSpPr>
        <p:spPr>
          <a:xfrm>
            <a:off x="594360" y="282117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参照した公式CLIの実行例。predictions.jsonlに課題IDと候補パッチを置き、用意したDocker環境で評価する。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人が検証した実Issueを、実行結果で評価する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Verifiedは、元のSWE-benchから人が品質を確認した500課題を集め、既存Pythonコードの修正を評価する。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モデルはIssueとリポジトリからパッチを作り、不具合を直すテストと既存動作の維持を確認する。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参照修正は1ファイル・少数行のものが多い。12リポジトリにまたがる実課題として、探索から実行までを評価できる。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ライブラリの異なる追加例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分布・形式と採点の詳細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ライブラリの異なる追加例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追加例1：propertyの文書を継承する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10380"/>
            <a:ext cx="8046720" cy="5159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inspect.isfunction(val) or inspect.isdatadescriptor(val)</a:t>
            </a:r>
          </a:p>
        </p:txBody>
      </p:sp>
      <p:sp>
        <p:nvSpPr>
          <p:cNvPr id="5" name="TextBox 4"/>
          <p:cNvSpPr txBox="1"/>
          <p:nvPr/>
        </p:nvSpPr>
        <p:spPr>
          <a:xfrm>
            <a:off x="594360" y="302748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Astropy：関数だけを見ていた継承処理にデータ記述子の判定を加え、propertyも対象にする。参照パッチの条件式を抜粋。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astropy__astropy-7166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https://github.com/SWE-bench/swe-bench-tasks/blob/3d07b46/tasks/astropy__astropy-7166/gold.patch</a:t>
            </a:r>
          </a:p>
        </p:txBody>
      </p:sp>
      <p:sp>
        <p:nvSpPr>
          <p:cNvPr id="7" name="TextBox 6"/>
          <p:cNvSpPr txBox="1"/>
          <p:nvPr/>
        </p:nvSpPr>
        <p:spPr>
          <a:xfrm>
            <a:off x="594360" y="21092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追加例2：Path型でも重複を検出する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87438"/>
            <a:ext cx="8046720" cy="762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fixture_dirs:</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[str(d) for d in fixture_dirs]:</a:t>
            </a:r>
          </a:p>
        </p:txBody>
      </p:sp>
      <p:sp>
        <p:nvSpPr>
          <p:cNvPr id="5" name="TextBox 4"/>
          <p:cNvSpPr txBox="1"/>
          <p:nvPr/>
        </p:nvSpPr>
        <p:spPr>
          <a:xfrm>
            <a:off x="594360" y="315060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Django：FIXTURE_DIRSにPathオブジェクトがあると重複を検出できない。文字列へそろえて、既定のfixtureディレクトリと比較する。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django__django-15987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https://github.com/SWE-bench/swe-bench-tasks/blob/3d07b46/tasks/django__django-15987/gold.patch</a:t>
            </a:r>
          </a:p>
        </p:txBody>
      </p:sp>
      <p:sp>
        <p:nvSpPr>
          <p:cNvPr id="7" name="TextBox 6"/>
          <p:cNvSpPr txBox="1"/>
          <p:nvPr/>
        </p:nvSpPr>
        <p:spPr>
          <a:xfrm>
            <a:off x="594360" y="1986270"/>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追加例3：1000未満の年も4桁で表示する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self.data.year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'%04d' % self.data.year</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Django：日付のY指定子は年を4桁で返す。整数の年をそのまま返す代わりに、先頭を0で埋めた文字列にする。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django__django-14373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https://github.com/SWE-bench/swe-bench-tasks/blob/3d07b46/tasks/django__django-14373/gold.patch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追加例4：消した描画要素の所属を解除する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1917442"/>
            <a:ext cx="8046720" cy="1301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self._children =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old_children, self._children = self._children,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for chld in old_children:</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chld.axes = chld.figure = None</a:t>
            </a:r>
          </a:p>
        </p:txBody>
      </p:sp>
      <p:sp>
        <p:nvSpPr>
          <p:cNvPr id="5" name="TextBox 4"/>
          <p:cNvSpPr txBox="1"/>
          <p:nvPr/>
        </p:nvSpPr>
        <p:spPr>
          <a:xfrm>
            <a:off x="594360" y="3420360"/>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Matplotlib：Axesをclearしても、子要素に古いAxes・Figureへの参照が残る。消した子要素の所属をNoneに更新する。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matplotlib__matplotlib-24627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https://github.com/SWE-bench/swe-bench-tasks/blob/3d07b46/tasks/matplotlib__matplotlib-24627/gold.patch</a:t>
            </a:r>
          </a:p>
        </p:txBody>
      </p:sp>
      <p:sp>
        <p:nvSpPr>
          <p:cNvPr id="7" name="TextBox 6"/>
          <p:cNvSpPr txBox="1"/>
          <p:nvPr/>
        </p:nvSpPr>
        <p:spPr>
          <a:xfrm>
            <a:off x="594360" y="1716274"/>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追加例5：凡例の数値を省略表記しない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formatter.set_useOffset(False)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formatter.set_scientific(False)</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Seaborn：大きな数の凡例で倍率が表示されず、値が誤って読める。参照修正は、凡例でオフセットと科学表記を使わない設定にする。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mwaskom__seaborn-3187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https://github.com/SWE-bench/swe-bench-tasks/blob/3d07b46/tasks/mwaskom__seaborn-3187/gold.patch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追加例6：DataArrayを変換して結合する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26217"/>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other.to_dataset() if isinstance(other, xr.DataArray) else other</a:t>
            </a:r>
          </a:p>
        </p:txBody>
      </p:sp>
      <p:sp>
        <p:nvSpPr>
          <p:cNvPr id="5" name="TextBox 4"/>
          <p:cNvSpPr txBox="1"/>
          <p:nvPr/>
        </p:nvSpPr>
        <p:spPr>
          <a:xfrm>
            <a:off x="594360" y="30115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Xarray：Dataset.mergeにDataArrayを渡すと失敗する。結合前にDataArrayをDatasetへ変換する。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pydata__xarray-3677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https://github.com/SWE-bench/swe-bench-tasks/blob/3d07b46/tasks/pydata__xarray-3677/gold.patch</a:t>
            </a:r>
          </a:p>
        </p:txBody>
      </p:sp>
      <p:sp>
        <p:nvSpPr>
          <p:cNvPr id="7" name="TextBox 6"/>
          <p:cNvSpPr txBox="1"/>
          <p:nvPr/>
        </p:nvSpPr>
        <p:spPr>
          <a:xfrm>
            <a:off x="594360" y="21250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追加例7：設定値0なら重複検査を止める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self.min_lines == 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Pylint：min-similarity-linesを0にすると、逆に多数の重複が報告される。0なら類似行を調べる処理を開始せず戻る。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pylint-dev__pylint-4970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https://github.com/SWE-bench/swe-bench-tasks/blob/3d07b46/tasks/pylint-dev__pylint-4970/gold.patch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追加例8：リンク先のディレクトリも探索する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227646"/>
            <a:ext cx="8046720" cy="682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entry.is_dir(follow_symlinks=False) and recurse(entry):</a:t>
            </a:r>
          </a:p>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 and recurse(entry):</a:t>
            </a:r>
          </a:p>
        </p:txBody>
      </p:sp>
      <p:sp>
        <p:nvSpPr>
          <p:cNvPr id="5" name="TextBox 4"/>
          <p:cNvSpPr txBox="1"/>
          <p:nvPr/>
        </p:nvSpPr>
        <p:spPr>
          <a:xfrm>
            <a:off x="594360" y="311143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Pytest：シンボリックリンクのディレクトリを収集しなくなった回帰。リンクを追わない指定を外し、以前の探索動作に戻す。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pytest-dev__pytest-7982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https://github.com/SWE-bench/swe-bench-tasks/blob/3d07b46/tasks/pytest-dev__pytest-7982/gold.patch</a:t>
            </a:r>
          </a:p>
        </p:txBody>
      </p:sp>
      <p:sp>
        <p:nvSpPr>
          <p:cNvPr id="7" name="TextBox 6"/>
          <p:cNvSpPr txBox="1"/>
          <p:nvPr/>
        </p:nvSpPr>
        <p:spPr>
          <a:xfrm>
            <a:off x="594360" y="2026478"/>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追加例9：Noneの推定器を検査から除く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step is None: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continue</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Scikit-learn：VotingClassifierで一部の推定器をNoneにすると、sample_weight対応の検査で失敗する。Noneの要素を飛ばす。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scikit-learn__scikit-learn-13779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https://github.com/SWE-bench/swe-bench-tasks/blob/3d07b46/tasks/scikit-learn__scikit-learn-13779/gold.patch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追加例10：1要素のタプルのカンマを残す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elif len(node.elts)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return "(%s,)" % self.visit(node.elts[0])</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Sphinx：型やコードの表示で(1,)が(1)になる。要素が1つの場合を分岐し、タプルを表す末尾のカンマを出力する。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sphinx-doc__sphinx-9367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https://github.com/SWE-bench/swe-bench-tasks/blob/3d07b46/tasks/sphinx-doc__sphinx-9367/gold.patch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分布・形式と採点の詳細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Verifiedのリポジトリ別課題数（前半）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django/django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46.2%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sympy/sympy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sphinx-doc/sphinx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matplotlib/matplotlib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scikit-learn/scikit-learn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astropy/astropy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Verifiedのリポジトリ別課題数（後半）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pydata/xarray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pytest-dev/pytest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pylint-dev/pylint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psf/requests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mwaskom/seaborn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pallets/flask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変更行数の半数近くは5行以下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58521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107</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11〜20行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79</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21〜50行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51行以上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Issue本文の長さは中央値約1177文字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19" cy="2167128"/>
        </p:xfrm>
        <a:graphic>
          <a:graphicData uri="http://schemas.openxmlformats.org/drawingml/2006/table">
            <a:tbl>
              <a:tblPr firstRow="0" bandRow="0"/>
              <a:tblGrid>
                <a:gridCol w="3749039"/>
                <a:gridCol w="4297680"/>
              </a:tblGrid>
              <a:tr h="4114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1,176.5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1,672.2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2,015.2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129／24,512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67911"/>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500件のproblem_statement.mdで前後の空白を除き、</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改行・コードを含めUnicode文字数を数えた。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課題には実行開始地点と採点用の情報がある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3657600"/>
                <a:gridCol w="438912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フィールド／ファイル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修正前のコードのGitコミット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problem_statement.md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公開Issueの本文</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gold.patch / test.patch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参照修正／採点用のテスト変更</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tests.json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FAIL_TO_PASS・PASS_TO_PASS一覧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評価実装の第5版はファイルを種類別に置く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21431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tasks/pallets__flask-5014/</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task.yaml</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problem_statement.md</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gold.patch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tests.json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Dockerfile</a:t>
            </a:r>
          </a:p>
        </p:txBody>
      </p:sp>
      <p:sp>
        <p:nvSpPr>
          <p:cNvPr id="5" name="TextBox 4"/>
          <p:cNvSpPr txBox="1"/>
          <p:nvPr/>
        </p:nvSpPr>
        <p:spPr>
          <a:xfrm>
            <a:off x="594360" y="385305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task.yamlにID・リポジトリ・コミットなどを置く。問題文・参照修正・テストと実行環境を同じ課題フォルダで管理する。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公式コードは修正と維持の条件で解決判定する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f2p = compute_fail_to_pass(report)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p2p = compute_pass_to_pass(report)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if f2p == 1 and p2p == 1:</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ResolvedStatus.FULL.value</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get_resolution_statusから字下げをそろえた抜粋。両集合の全条件を満たした課題が完全解決となる。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参照した現行採点実装のテスト状態の扱い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291840"/>
                <a:gridCol w="2377440"/>
                <a:gridCol w="23774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PASSED / XFAIL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SKIPPED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FAILED / ERROR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回帰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改訂02e7a74のtest_passed・test_maintainedに対応。</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PASS_TO_PASSが空の課題では、維持条件は満たされたとする。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タスクの日付とパッケージの版を記録する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Verifiedのcreated_atは、対応するPull Requestの作成日時。取得した500課題では2013年1月〜2023年8月に分布する。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task.yamlのversionは、対象リポジトリのパッケージ版。Verifiedというデータセットや評価実装の版番号とは別に保存されている。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base_commitと環境設定のコミットを使い、当時の依存関係とコードの状態を再現する。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400" b="0">
                <a:solidFill>
                  <a:srgbClr val="303437"/>
                </a:solidFill>
                <a:latin typeface="Noto Sans"/>
              </a:defRPr>
            </a:pPr>
            <a:r>
              <a:rPr sz="34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実Issueの修正を評価にした研究者たち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SWE-benchの共同第一著者はCarlos E. JimenezとJohn Yang。Alexander Wettig、Shunyu Yao、Kexin Pei、Ofir Press、Karthik Narasimhanが共著者。</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2023年に初公開し、ICLR 2024で発表。既存リポジトリと実行可能なテストを使うソフトウェア修正課題を提案した。</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VerifiedはSWE-benchチームとOpenAIの協力で2024年8月に公開。人が課題の明確さ・テスト・解決可能性を確認した。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Can Language Models Resolve Real-World GitHub Issue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Can Language Models Resolve Real-World GitHub Issues?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Carlos E. Jimenez, John Yang et al. / ICLR 2024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実Issue・参照パッチ・テストから、既存コードを修正する評価課題を作った。</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https://arxiv.org/abs/2310.06770v3</a:t>
            </a:r>
          </a:p>
        </p:txBody>
      </p:sp>
      <p:sp>
        <p:nvSpPr>
          <p:cNvPr id="5" name="文献 2: SWE-bench Verified"/>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Verified</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2024公開 / 2026-10-16参照</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人が検証した500課題と、Verified・Bash Onlyの評価条件を説明する。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https://www.swebench.com/verified.html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evaluation harnes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evaluation harness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改訂02e7a74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環境構築、パッチの適用、テスト実行と解決判定を行う公式実装。</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https://github.com/SWE-bench/SWE-bench</a:t>
            </a:r>
          </a:p>
        </p:txBody>
      </p:sp>
      <p:sp>
        <p:nvSpPr>
          <p:cNvPr id="5" name="文献 2: SWE-bench task data"/>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task data</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改訂3d07b46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問題文・参照パッチ・採点テスト・実行環境を課題別に配布する。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2025 / arXiv:2509.16941v2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企業での開発に近い長時間の修正課題を集め、公開・非公開集合で評価する。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Verifiedを含む公式モデル比較と、1回の試行による解決率を掲載する。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Verified — datasets in 10 minutes</dc:title>
  <dc:creator>sasakiy84</dc:creator>
  <dc:subject>実Issueのコード修正、Verifiedの作成と構成、テストによる採点とモデル評価</dc:subject>
  <cp:keywords>SWE-bench,Verified,software engineering,dataset</cp:keywords>
</cp:coreProperties>
</file>