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8" r:id="rId18"/>
    <p:sldId id="270" r:id="rId20"/>
    <p:sldId id="271" r:id="rId21"/>
    <p:sldId id="272" r:id="rId22"/>
    <p:sldId id="273" r:id="rId23"/>
    <p:sldId id="274" r:id="rId24"/>
    <p:sldId id="275" r:id="rId25"/>
    <p:sldId id="276" r:id="rId26"/>
    <p:sldId id="277" r:id="rId27"/>
    <p:sldId id="278" r:id="rId28"/>
    <p:sldId id="279" r:id="rId29"/>
    <p:sldId id="280" r:id="rId30"/>
    <p:sldId id="281" r:id="rId31"/>
    <p:sldId id="315" r:id="rId65"/>
    <p:sldId id="287" r:id="rId37"/>
    <p:sldId id="289" r:id="rId39"/>
    <p:sldId id="288" r:id="rId38"/>
    <p:sldId id="290" r:id="rId40"/>
    <p:sldId id="291" r:id="rId41"/>
    <p:sldId id="292" r:id="rId42"/>
    <p:sldId id="293" r:id="rId43"/>
    <p:sldId id="294" r:id="rId44"/>
    <p:sldId id="295" r:id="rId45"/>
    <p:sldId id="296" r:id="rId46"/>
    <p:sldId id="297" r:id="rId47"/>
    <p:sldId id="299" r:id="rId49"/>
    <p:sldId id="300" r:id="rId50"/>
    <p:sldId id="301" r:id="rId51"/>
    <p:sldId id="302" r:id="rId52"/>
    <p:sldId id="303" r:id="rId53"/>
    <p:sldId id="304" r:id="rId54"/>
    <p:sldId id="306" r:id="rId56"/>
    <p:sldId id="307" r:id="rId57"/>
    <p:sldId id="308" r:id="rId58"/>
    <p:sldId id="309" r:id="rId59"/>
    <p:sldId id="310" r:id="rId60"/>
    <p:sldId id="311" r:id="rId61"/>
    <p:sldId id="312" r:id="rId62"/>
    <p:sldId id="319" r:id="rId69"/>
    <p:sldId id="320" r:id="rId70"/>
    <p:sldId id="321" r:id="rId71"/>
    <p:sldId id="322" r:id="rId7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8"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5" Type="http://schemas.openxmlformats.org/officeDocument/2006/relationships/slide" Target="slides/slide25.xml"/><Relationship Id="rId69" Type="http://schemas.openxmlformats.org/officeDocument/2006/relationships/slide" Target="slides/slide50.xml"/><Relationship Id="rId70" Type="http://schemas.openxmlformats.org/officeDocument/2006/relationships/slide" Target="slides/slide51.xml"/><Relationship Id="rId71" Type="http://schemas.openxmlformats.org/officeDocument/2006/relationships/slide" Target="slides/slide52.xml"/><Relationship Id="rId72"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c:v>
                </c:pt>
                <c:pt idx="1">
                  <c:v>1</c:v>
                </c:pt>
                <c:pt idx="2">
                  <c:v>2</c:v>
                </c:pt>
                <c:pt idx="3">
                  <c:v>3</c:v>
                </c:pt>
                <c:pt idx="4">
                  <c:v>4</c:v>
                </c:pt>
                <c:pt idx="5">
                  <c:v>5</c:v>
                </c:pt>
              </c:strCache>
            </c:strRef>
          </c:cat>
          <c:val>
            <c:numRef>
              <c:f>Sheet1!$B$2:$B$7</c:f>
              <c:numCache>
                <c:formatCode>General</c:formatCode>
                <c:ptCount val="6"/>
                <c:pt idx="0">
                  <c:v>3368</c:v>
                </c:pt>
                <c:pt idx="1">
                  <c:v>1006</c:v>
                </c:pt>
                <c:pt idx="2">
                  <c:v>754</c:v>
                </c:pt>
                <c:pt idx="3">
                  <c:v>716</c:v>
                </c:pt>
                <c:pt idx="4">
                  <c:v>820</c:v>
                </c:pt>
                <c:pt idx="5">
                  <c:v>1166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ai.google.com/research/NaturalQuestions" TargetMode="External"/><Relationship Id="rId4" Type="http://schemas.openxmlformats.org/officeDocument/2006/relationships/hyperlink" Target="https://huggingface.co/datasets/google-research-datasets/natural_question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9-102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google-research-datasets/natural_question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9-1026/"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main/src/helm/benchmark/scenarios/natural_qa_scenario.py" TargetMode="External"/><Relationship Id="rId3" Type="http://schemas.openxmlformats.org/officeDocument/2006/relationships/hyperlink" Target="https://huggingface.co/datasets/google-research-datasets/natural_question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research-datasets/natural_question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research-datasets/natural_question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Q19-1026/"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Q19-1026/" TargetMode="External"/><Relationship Id="rId3" Type="http://schemas.openxmlformats.org/officeDocument/2006/relationships/hyperlink" Target="https://arxiv.org/abs/2211.09110" TargetMode="External"/><Relationship Id="rId4" Type="http://schemas.openxmlformats.org/officeDocument/2006/relationships/hyperlink" Target="https://github.com/google-research-datasets/natural-questions"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oogle-research-datasets/natural-questions" TargetMode="External"/><Relationship Id="rId3" Type="http://schemas.openxmlformats.org/officeDocument/2006/relationships/hyperlink" Target="https://huggingface.co/datasets/google-research-datasets/natural_questions" TargetMode="External"/><Relationship Id="rId4" Type="http://schemas.openxmlformats.org/officeDocument/2006/relationships/hyperlink" Target="https://ai.google.com/research/NaturalQuestion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NQ</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Natural Questions</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検索で実際に尋ねられた質問に答える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Natural Questions</a:t>
            </a:r>
          </a:p>
        </p:txBody>
      </p:sp>
      <p:pic>
        <p:nvPicPr>
          <p:cNvPr id="4" name="Picture 3" descr="official-site.png"/>
          <p:cNvPicPr>
            <a:picLocks noChangeAspect="1"/>
          </p:cNvPicPr>
          <p:nvPr/>
        </p:nvPicPr>
        <p:blipFill>
          <a:blip r:embed="rId2"/>
          <a:stretch>
            <a:fillRect/>
          </a:stretch>
        </p:blipFill>
        <p:spPr>
          <a:xfrm>
            <a:off x="668402" y="1481328"/>
            <a:ext cx="780719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official site.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https://ai.google.com/research/NaturalQuestions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検索質問と実際の回答</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収集・注釈とデータの全体像</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採点と構築時の性能</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データの入手と使い方</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検索質問と実際の回答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検索質問とWikipediaのページが入力</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Google検索で実際に使われた英語の質問に、検索上位のWikipediaページを対応させた。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文章・表・リストなどから、根拠となる範囲と短い答えを選ぶ。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ページに答えがなければ、回答なし（NULL）も正解になる。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長い回答は根拠、短い回答は答え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long answerは、答えを導ける段落・表・リストなどの範囲。</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short answerは、その中の1つ以上の文字列、またはyes／no。長い回答だけがある例もある。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実例では、選ばれたlong answerと質問を示す。回答なしの例では記事の一部を抜粋する。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実例1：米国上院の議員数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原文：Current members of the United States Senate</a:t>
            </a:r>
          </a:p>
        </p:txBody>
      </p:sp>
      <p:sp>
        <p:nvSpPr>
          <p:cNvPr id="5" name="quote-frame"/>
          <p:cNvSpPr/>
          <p:nvPr/>
        </p:nvSpPr>
        <p:spPr>
          <a:xfrm>
            <a:off x="548640" y="1600200"/>
            <a:ext cx="3931920" cy="1905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203"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United States Senate consists of 100 members, two from each of the 50 states. Below is a list of the current U.S. Senators, sitting in the 115th United States Congress.</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Question: how many senators are there in the us senate</a:t>
            </a:r>
          </a:p>
        </p:txBody>
      </p:sp>
      <p:sp>
        <p:nvSpPr>
          <p:cNvPr id="6" name="TextBox 5"/>
          <p:cNvSpPr txBox="1"/>
          <p:nvPr/>
        </p:nvSpPr>
        <p:spPr>
          <a:xfrm>
            <a:off x="548640" y="3581400"/>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100</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訳：現在の米国上院議員</a:t>
            </a:r>
          </a:p>
        </p:txBody>
      </p:sp>
      <p:sp>
        <p:nvSpPr>
          <p:cNvPr id="8" name="quote-frame"/>
          <p:cNvSpPr/>
          <p:nvPr/>
        </p:nvSpPr>
        <p:spPr>
          <a:xfrm>
            <a:off x="4663440" y="1591733"/>
            <a:ext cx="3931920" cy="1676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858"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米国上院は、50州それぞれから2人ずつ、計100人の議員で構成される。以下は、第115議会で在職中の米国上院議員の一覧である。</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質問：米国上院には何人の議員がいるか。</a:t>
            </a:r>
          </a:p>
        </p:txBody>
      </p:sp>
      <p:sp>
        <p:nvSpPr>
          <p:cNvPr id="9" name="TextBox 8"/>
          <p:cNvSpPr txBox="1"/>
          <p:nvPr/>
        </p:nvSpPr>
        <p:spPr>
          <a:xfrm>
            <a:off x="4663440" y="3344333"/>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100人</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Current members of the United States Senate</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数字を含む範囲を選ぶ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long answerは、米国上院の構成を説明した段落全体。short answerは「100」の範囲。</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元の課題では、短い文字列を生成するだけでなく、記事内のどこが答えかを指定する。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実例2：四つの州をまとめて答える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記事：Commonwealth (U.S. state) ／ long answer全文・質問・正解注釈</a:t>
            </a:r>
          </a:p>
        </p:txBody>
      </p:sp>
      <p:sp>
        <p:nvSpPr>
          <p:cNvPr id="5" name="quote-frame"/>
          <p:cNvSpPr/>
          <p:nvPr/>
        </p:nvSpPr>
        <p:spPr>
          <a:xfrm>
            <a:off x="548640" y="1583266"/>
            <a:ext cx="8046720" cy="1803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464"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Commonwealth is a designation used by four of the 50 states of the United States in their full official state names: Kentucky[1] (the law creating Kentucky names it the "State of Kentucky"[2] but it was originally part of the land grant of the Colony of Virginia), Massachusetts,[3] Pennsylvania,[4] and Virginia.[5] Each was, prior to 1776, a British colony, or parts thereof, and share a strong influence of English common law in some of their laws and institutions.[6][7]</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how many us states are commonwealths and which states are they</a:t>
            </a:r>
          </a:p>
        </p:txBody>
      </p:sp>
      <p:sp>
        <p:nvSpPr>
          <p:cNvPr id="6" name="TextBox 5"/>
          <p:cNvSpPr txBox="1"/>
          <p:nvPr/>
        </p:nvSpPr>
        <p:spPr>
          <a:xfrm>
            <a:off x="594360" y="3462866"/>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Kentucky</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Massachusetts</a:t>
            </a:r>
          </a:p>
        </p:txBody>
      </p:sp>
      <p:sp>
        <p:nvSpPr>
          <p:cNvPr id="7" name="TextBox 6"/>
          <p:cNvSpPr txBox="1"/>
          <p:nvPr/>
        </p:nvSpPr>
        <p:spPr>
          <a:xfrm>
            <a:off x="4681728" y="3462866"/>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Pennsylvania</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Virginia</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Commonwealth (U.S. state)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実例2：四つの州をまとめて答える（訳）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記事：コモンウェルス（米国の州） ／ 日本語訳・正解注釈</a:t>
            </a:r>
          </a:p>
        </p:txBody>
      </p:sp>
      <p:sp>
        <p:nvSpPr>
          <p:cNvPr id="5" name="quote-frame"/>
          <p:cNvSpPr/>
          <p:nvPr/>
        </p:nvSpPr>
        <p:spPr>
          <a:xfrm>
            <a:off x="548640" y="1591733"/>
            <a:ext cx="804672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49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コモンウェルスは、米国50州のうち4州が正式な州名に使っている呼称である。ケンタッキー[1]（同州を設置した法律では「ケンタッキー州」と呼ぶが[2]、もともとはバージニア植民地に与えられた土地の一部だった）、マサチューセッツ[3]、ペンシルベニア[4]、バージニア[5]が該当する。いずれも1776年以前はイギリスの植民地かその一部だった。法や制度の一部は、共通してイングランドのコモン・ローの強い影響を受けている。[6][7]</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質問：コモンウェルスと呼ぶ米国の州はいくつあり、どの州か。</a:t>
            </a:r>
          </a:p>
        </p:txBody>
      </p:sp>
      <p:sp>
        <p:nvSpPr>
          <p:cNvPr id="6" name="TextBox 5"/>
          <p:cNvSpPr txBox="1"/>
          <p:nvPr/>
        </p:nvSpPr>
        <p:spPr>
          <a:xfrm>
            <a:off x="594360" y="3606800"/>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ケンタッキー</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マサチューセッツ</a:t>
            </a:r>
          </a:p>
        </p:txBody>
      </p:sp>
      <p:sp>
        <p:nvSpPr>
          <p:cNvPr id="7" name="TextBox 6"/>
          <p:cNvSpPr txBox="1"/>
          <p:nvPr/>
        </p:nvSpPr>
        <p:spPr>
          <a:xfrm>
            <a:off x="4681728" y="3606800"/>
            <a:ext cx="388620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ペンシルベニア</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バージニア</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Commonwealth (U.S. state)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短い回答が複数の箇所に分かれる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4つの州名が、それぞれ離れた範囲にある。一人の注釈者が選んだ、この4範囲の集合が短い回答となる。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コモンウェルスは州の正式名称に使われる呼称である。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実例3：回答なしも正解になる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8" name="TextBox 7"/>
          <p:cNvSpPr txBox="1"/>
          <p:nvPr/>
        </p:nvSpPr>
        <p:spPr>
          <a:xfrm>
            <a:off x="548640" y="1289304"/>
            <a:ext cx="4297680" cy="182880"/>
          </a:xfrm>
          <a:prstGeom prst="rect">
            <a:avLst/>
          </a:prstGeom>
          <a:noFill/>
        </p:spPr>
        <p:txBody>
          <a:bodyPr wrap="square" lIns="0" rIns="0" tIns="0" bIns="0">
            <a:noAutofit/>
          </a:bodyPr>
          <a:lstStyle/>
          <a:p>
            <a:pPr algn="l">
              <a:lnSpc>
                <a:spcPts val="1111"/>
              </a:lnSpc>
              <a:spcBef>
                <a:spcPts val="0"/>
              </a:spcBef>
              <a:spcAft>
                <a:spcPts val="0"/>
              </a:spcAft>
              <a:buNone/>
              <a:defRPr sz="950" b="0">
                <a:solidFill>
                  <a:srgbClr val="303437"/>
                </a:solidFill>
                <a:latin typeface="Noto Sans"/>
              </a:defRPr>
            </a:pPr>
            <a:r>
              <a:rPr sz="950" b="0" lang="ja-JP" altLang="en-US">
                <a:solidFill>
                  <a:srgbClr val="626669"/>
                </a:solidFill>
                <a:latin typeface="Noto Sans"/>
                <a:ea typeface="Noto Sans CJK JP"/>
                <a:cs typeface="Noto Sans"/>
              </a:rPr>
              <a:t>原文：Industrial robot</a:t>
            </a:r>
          </a:p>
        </p:txBody>
      </p:sp>
      <p:sp>
        <p:nvSpPr>
          <p:cNvPr id="9" name="quote-frame"/>
          <p:cNvSpPr/>
          <p:nvPr/>
        </p:nvSpPr>
        <p:spPr>
          <a:xfrm>
            <a:off x="548640" y="1507066"/>
            <a:ext cx="4297680" cy="2429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757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Typical applications of robots include welding, painting, assembly, pick and place for printed circuit boards, packaging and labeling, palletizing, product inspection, and testing; all accomplished with high endurance, speed, and precision. They can assist in material handling.</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which of this following is not an activity typically performed by robots in the automotive industry</a:t>
            </a:r>
          </a:p>
        </p:txBody>
      </p:sp>
      <p:sp>
        <p:nvSpPr>
          <p:cNvPr id="10" name="TextBox 9"/>
          <p:cNvSpPr txBox="1"/>
          <p:nvPr/>
        </p:nvSpPr>
        <p:spPr>
          <a:xfrm>
            <a:off x="548640" y="4013200"/>
            <a:ext cx="4297680" cy="38557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NULL (all 5 annotators)</a:t>
            </a:r>
          </a:p>
        </p:txBody>
      </p:sp>
      <p:sp>
        <p:nvSpPr>
          <p:cNvPr id="11" name="TextBox 10"/>
          <p:cNvSpPr txBox="1"/>
          <p:nvPr/>
        </p:nvSpPr>
        <p:spPr>
          <a:xfrm>
            <a:off x="5029200" y="1289304"/>
            <a:ext cx="3566159" cy="182880"/>
          </a:xfrm>
          <a:prstGeom prst="rect">
            <a:avLst/>
          </a:prstGeom>
          <a:noFill/>
        </p:spPr>
        <p:txBody>
          <a:bodyPr wrap="square" lIns="0" rIns="0" tIns="0" bIns="0">
            <a:noAutofit/>
          </a:bodyPr>
          <a:lstStyle/>
          <a:p>
            <a:pPr algn="l">
              <a:lnSpc>
                <a:spcPts val="1111"/>
              </a:lnSpc>
              <a:spcBef>
                <a:spcPts val="0"/>
              </a:spcBef>
              <a:spcAft>
                <a:spcPts val="0"/>
              </a:spcAft>
              <a:buNone/>
              <a:defRPr sz="950" b="0">
                <a:solidFill>
                  <a:srgbClr val="303437"/>
                </a:solidFill>
                <a:latin typeface="Noto Sans"/>
              </a:defRPr>
            </a:pPr>
            <a:r>
              <a:rPr sz="950" b="0" lang="ja-JP" altLang="en-US">
                <a:solidFill>
                  <a:srgbClr val="626669"/>
                </a:solidFill>
                <a:latin typeface="Noto Sans"/>
                <a:ea typeface="Noto Sans CJK JP"/>
                <a:cs typeface="Noto Sans"/>
              </a:rPr>
              <a:t>日本語訳：産業用ロボット</a:t>
            </a:r>
          </a:p>
        </p:txBody>
      </p:sp>
      <p:sp>
        <p:nvSpPr>
          <p:cNvPr id="12" name="quote-frame"/>
          <p:cNvSpPr/>
          <p:nvPr/>
        </p:nvSpPr>
        <p:spPr>
          <a:xfrm>
            <a:off x="5029200" y="1490133"/>
            <a:ext cx="3566159" cy="2633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507"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ロボットの典型的な用途には、溶接、塗装、組み立て、プリント基板用の部品の取り上げと配置、包装とラベル貼り、パレット積み、製品検査、試験などがあり、いずれも高い耐久性、速度、精度で行われる。資材の取り扱いを支援することもでき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質問：次のうち、自動車産業のロボットが通常行わない作業はどれか。</a:t>
            </a:r>
          </a:p>
        </p:txBody>
      </p:sp>
      <p:sp>
        <p:nvSpPr>
          <p:cNvPr id="13" name="TextBox 12"/>
          <p:cNvSpPr txBox="1"/>
          <p:nvPr/>
        </p:nvSpPr>
        <p:spPr>
          <a:xfrm>
            <a:off x="5029200" y="4199466"/>
            <a:ext cx="3566159" cy="38557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回答なし（5人全員）</a:t>
            </a:r>
          </a:p>
        </p:txBody>
      </p:sp>
      <p:sp>
        <p:nvSpPr>
          <p:cNvPr id="1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Industrial robot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選択肢の欠けた質問も、そのまま含まれる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質問は「次のうち」と尋ねるが、選択肢は書かれていない。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記事にロボットの用途は並んでいても、この質問には5人とも回答なしの注釈を付けた。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答えを作らず、回答しないと判断することも評価の一部になる。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検索質問と実際の回答</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収集・注釈とデータの全体像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情報を探す人が、実際に尋ねた質問を使う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SQuAD（2016年）では、文章を見て作業者が質問を書いた。NQは情報を探す利用者の検索質問を使う。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答えを含む一段落を渡すのではなく、HTML構造を持つ記事全体を入力にする。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答えが見つからない質問も残し、回答の可否を判断する課題にした。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8語以上の検索質問を集める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短い期間に複数の利用者が検索した、8語以上の英語の質問を対象にした。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疑問詞や文の形などの条件で、事実を尋ねる質問を選んだ。how toで始まる質問は対象外。</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検索の上位5件にWikipediaがある質問を採り、最上位のWikipediaページを組にした。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人が質問・根拠・短い答えを順に確認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まず記事を見ずに、事実を尋ねる理解可能な質問かを判断する。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次に記事内で、回答に必要な情報がそろう最小のHTML要素を選ぶ。複数あれば先に出るものを選ぶ。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その範囲から短い回答を選び、yes／noや、短い回答なしも指定する。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複数の注釈で判断の揺れを捉える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約50人の作業者が担当した。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学習データは各1人、開発・テストは各5人が注釈した。人の性能を推定するため、別の標本には25人分の注釈を集めた。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4人の専門家が独立に正しさを評価し、判断が割れた例を議論して合意を取った。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30万件を超える学習データ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286000"/>
                <a:gridCol w="3108960"/>
                <a:gridCol w="265176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質問・記事ペア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注釈者数／件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307,373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7,830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7,842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2019年の公表値。テストの正解注釈は非公開。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開発集合では、回答なしも多い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486400"/>
                <a:gridCol w="2560320"/>
              </a:tblGrid>
              <a:tr h="457200">
                <a:tc>
                  <a:txBody>
                    <a:bodyPr wrap="square">
                      <a:noAutofit/>
                    </a:bodyPr>
                    <a:lstStyle/>
                    <a:p>
                      <a:pPr>
                        <a:buNone/>
                        <a:defRPr sz="2100" b="0">
                          <a:solidFill>
                            <a:srgbClr val="303437"/>
                          </a:solidFill>
                          <a:latin typeface="Noto Sans"/>
                        </a:defRPr>
                      </a:pPr>
                      <a:r>
                        <a:t>5人中2人以上が回答あり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long answerあり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4,608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short answerあり（yes／noを含む）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3,456</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うちyes／no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公開開発集合7,830件の全件集計。各行の対象は重複する。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短い答えの有無も判断が割れる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収集・注釈とデータの全体像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横軸：回答ありとした人数。縦軸：質問数。全7,830件。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https://huggingface.co/datasets/google-research-datasets/natural_questions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採点と構築時の性能</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採点と構築時の性能</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NQの採点：回答するか、範囲は一致するか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5人中2人以上が回答ありとしたら、回答すべき例とする。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long answerは、いずれか1人の非NULLの範囲と一致すれば正解。short answerは範囲の集合かyes／noで照合する。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正しく回答した件数から適合率・再現率を求め、集合全体のF1を計算する。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採点と構築時の性能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2019年のベースライン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採点と構築時の性能</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long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short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DocumentQA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46.1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DecAtt + DocReader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54.8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開発集合、単位は%。回答なしを含む、範囲選択の評価。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人の得点は別の標本で推定した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25人が注釈した別標本から、一人の注釈者の得点と、複数人の判断による上限を推定した。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一人の注釈者はlong F1 73.4、short F1 57.5。上限の推定はそれぞれ87.2、75.7だった。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採点と構築時の性能</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データの入手と使い方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質問・記事と、回答の位置を読む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code-frame"/>
          <p:cNvSpPr/>
          <p:nvPr/>
        </p:nvSpPr>
        <p:spPr>
          <a:xfrm>
            <a:off x="548640" y="1524000"/>
            <a:ext cx="8046720" cy="231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0641"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import pyarrow.parquet as pq</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rows = pq.read_table(</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"validation-00000-of-00007.parquet"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).to_pylist()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x = rows[0]</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print(x["question"]["text"])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print(x["document"]["title"])</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print(x["annotations"]["long_answer"][0])</a:t>
            </a:r>
          </a:p>
        </p:txBody>
      </p:sp>
      <p:sp>
        <p:nvSpPr>
          <p:cNvPr id="6" name="TextBox 5"/>
          <p:cNvSpPr txBox="1"/>
          <p:nvPr/>
        </p:nvSpPr>
        <p:spPr>
          <a:xfrm>
            <a:off x="594360" y="4069080"/>
            <a:ext cx="7955279" cy="50292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回答は、記事内のトークン位置やUTF-8のバイト位置で表される。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https://huggingface.co/datasets/google-research-datasets/natural_questions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公開データから実例と注釈を読む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公式サイトから学習・開発データを取得できる。テストの正解注釈は非公開である。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各例には質問、WikipediaのHTML、長い回答の候補、注釈者ごとの長い回答・短い回答・yes／noがある。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Hugging Faceでも、開発集合7,830例がParquet形式で公開されている。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回答の位置と、記事の利用条件を確かめる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公式リポジトリのライセンスはApache 2.0。</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収録Wikipedia本文のHTMLには、CC BY-SA 3.0の表示と元記事のURLがある。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回答範囲の位置は、データに収録された時点の本文に対応する。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答えを探すことと、答えない判断を測る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実際の検索質問とWikipedia記事に、根拠の範囲・短い答え・回答なしの注釈がある。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表やリスト、複数箇所の答え、注釈者間の揺れも課題の一部。</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記事を読み、答えられるかを判断したうえで、根拠と答えの範囲を選ぶ。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追加例にはyes／noの注釈も含める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追加の10例では、複数の範囲に分かれる短い回答やyes／noも示す。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短い回答は一人の注釈者が選んだ範囲の集合を示す。yes／noは5人のうち最も多い非NULLの注釈を示す。</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本文は、その注釈に対応するlong answerの全文。記事名と質問も添えている。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実例4：二つの呼び名を抽出する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448056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原文：Deposition (phase transition)</a:t>
            </a:r>
          </a:p>
        </p:txBody>
      </p:sp>
      <p:sp>
        <p:nvSpPr>
          <p:cNvPr id="5" name="quote-frame"/>
          <p:cNvSpPr/>
          <p:nvPr/>
        </p:nvSpPr>
        <p:spPr>
          <a:xfrm>
            <a:off x="548640" y="1583266"/>
            <a:ext cx="4480560" cy="199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464"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Deposition is a thermodynamic process, a phase transition in which gas transforms into solid without passing through the liquid phase. The reverse of deposition is sublimation and hence sometimes deposition is called desublimation.</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phase change from gas to solid is called</a:t>
            </a:r>
          </a:p>
        </p:txBody>
      </p:sp>
      <p:sp>
        <p:nvSpPr>
          <p:cNvPr id="6" name="TextBox 5"/>
          <p:cNvSpPr txBox="1"/>
          <p:nvPr/>
        </p:nvSpPr>
        <p:spPr>
          <a:xfrm>
            <a:off x="548640" y="3657600"/>
            <a:ext cx="4480560"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Deposition</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desublimation</a:t>
            </a:r>
          </a:p>
        </p:txBody>
      </p:sp>
      <p:sp>
        <p:nvSpPr>
          <p:cNvPr id="7" name="TextBox 6"/>
          <p:cNvSpPr txBox="1"/>
          <p:nvPr/>
        </p:nvSpPr>
        <p:spPr>
          <a:xfrm>
            <a:off x="5212080" y="1307592"/>
            <a:ext cx="3383279"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訳：凝華（相転移）</a:t>
            </a:r>
          </a:p>
        </p:txBody>
      </p:sp>
      <p:sp>
        <p:nvSpPr>
          <p:cNvPr id="8" name="quote-frame"/>
          <p:cNvSpPr/>
          <p:nvPr/>
        </p:nvSpPr>
        <p:spPr>
          <a:xfrm>
            <a:off x="5212080" y="1600200"/>
            <a:ext cx="3383279" cy="1786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451"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凝華は熱力学的な過程で、気体が液体の状態を経ずに固体へ変わる相転移である。凝華の逆は昇華なので、凝華はdesublimationと呼ばれることもある。</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質問：気体から固体への相転移は何と呼ばれるか。</a:t>
            </a:r>
          </a:p>
        </p:txBody>
      </p:sp>
      <p:sp>
        <p:nvSpPr>
          <p:cNvPr id="9" name="TextBox 8"/>
          <p:cNvSpPr txBox="1"/>
          <p:nvPr/>
        </p:nvSpPr>
        <p:spPr>
          <a:xfrm>
            <a:off x="5212080" y="3462866"/>
            <a:ext cx="3383279" cy="68275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deposition（凝華）</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desublimation（凝華）</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Deposition (phase transition)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実例5：シーズンで歌い手が変わる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9" name="TextBox 8"/>
          <p:cNvSpPr txBox="1"/>
          <p:nvPr/>
        </p:nvSpPr>
        <p:spPr>
          <a:xfrm>
            <a:off x="548640" y="1289304"/>
            <a:ext cx="3200400" cy="182880"/>
          </a:xfrm>
          <a:prstGeom prst="rect">
            <a:avLst/>
          </a:prstGeom>
          <a:noFill/>
        </p:spPr>
        <p:txBody>
          <a:bodyPr wrap="square" lIns="0" rIns="0" tIns="0" bIns="0">
            <a:noAutofit/>
          </a:bodyPr>
          <a:lstStyle/>
          <a:p>
            <a:pPr algn="l">
              <a:lnSpc>
                <a:spcPts val="1111"/>
              </a:lnSpc>
              <a:spcBef>
                <a:spcPts val="0"/>
              </a:spcBef>
              <a:spcAft>
                <a:spcPts val="0"/>
              </a:spcAft>
              <a:buNone/>
              <a:defRPr sz="950" b="0">
                <a:solidFill>
                  <a:srgbClr val="303437"/>
                </a:solidFill>
                <a:latin typeface="Noto Sans"/>
              </a:defRPr>
            </a:pPr>
            <a:r>
              <a:rPr sz="950" b="0" lang="ja-JP" altLang="en-US">
                <a:solidFill>
                  <a:srgbClr val="626669"/>
                </a:solidFill>
                <a:latin typeface="Noto Sans"/>
                <a:ea typeface="Noto Sans CJK JP"/>
                <a:cs typeface="Noto Sans"/>
              </a:rPr>
              <a:t>原文：That '70s Show</a:t>
            </a:r>
          </a:p>
        </p:txBody>
      </p:sp>
      <p:sp>
        <p:nvSpPr>
          <p:cNvPr id="10" name="quote-frame"/>
          <p:cNvSpPr/>
          <p:nvPr/>
        </p:nvSpPr>
        <p:spPr>
          <a:xfrm>
            <a:off x="548640" y="1507066"/>
            <a:ext cx="3200400" cy="1523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757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Opening theme "In the Street" by Big Star as performed by; Todd Griffin (season 1) Cheap Trick (seasons 2–8)</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who sang the theme song to that 70s show</a:t>
            </a:r>
          </a:p>
        </p:txBody>
      </p:sp>
      <p:sp>
        <p:nvSpPr>
          <p:cNvPr id="11" name="TextBox 10"/>
          <p:cNvSpPr txBox="1"/>
          <p:nvPr/>
        </p:nvSpPr>
        <p:spPr>
          <a:xfrm>
            <a:off x="548640" y="3107266"/>
            <a:ext cx="3200400" cy="100431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Todd Griffin (season 1)</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Cheap Trick (seasons 2–8)</a:t>
            </a:r>
          </a:p>
        </p:txBody>
      </p:sp>
      <p:sp>
        <p:nvSpPr>
          <p:cNvPr id="12" name="TextBox 11"/>
          <p:cNvSpPr txBox="1"/>
          <p:nvPr/>
        </p:nvSpPr>
        <p:spPr>
          <a:xfrm>
            <a:off x="3931920" y="1289304"/>
            <a:ext cx="4663440" cy="182880"/>
          </a:xfrm>
          <a:prstGeom prst="rect">
            <a:avLst/>
          </a:prstGeom>
          <a:noFill/>
        </p:spPr>
        <p:txBody>
          <a:bodyPr wrap="square" lIns="0" rIns="0" tIns="0" bIns="0">
            <a:noAutofit/>
          </a:bodyPr>
          <a:lstStyle/>
          <a:p>
            <a:pPr algn="l">
              <a:lnSpc>
                <a:spcPts val="1111"/>
              </a:lnSpc>
              <a:spcBef>
                <a:spcPts val="0"/>
              </a:spcBef>
              <a:spcAft>
                <a:spcPts val="0"/>
              </a:spcAft>
              <a:buNone/>
              <a:defRPr sz="950" b="0">
                <a:solidFill>
                  <a:srgbClr val="303437"/>
                </a:solidFill>
                <a:latin typeface="Noto Sans"/>
              </a:defRPr>
            </a:pPr>
            <a:r>
              <a:rPr sz="950" b="0" lang="ja-JP" altLang="en-US">
                <a:solidFill>
                  <a:srgbClr val="626669"/>
                </a:solidFill>
                <a:latin typeface="Noto Sans"/>
                <a:ea typeface="Noto Sans CJK JP"/>
                <a:cs typeface="Noto Sans"/>
              </a:rPr>
              <a:t>日本語訳：ザット'70sショー</a:t>
            </a:r>
          </a:p>
        </p:txBody>
      </p:sp>
      <p:sp>
        <p:nvSpPr>
          <p:cNvPr id="13" name="quote-frame"/>
          <p:cNvSpPr/>
          <p:nvPr/>
        </p:nvSpPr>
        <p:spPr>
          <a:xfrm>
            <a:off x="3931920" y="1490133"/>
            <a:ext cx="4663440" cy="1286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507"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オープニング曲はBig Starの「In the Street」。歌唱はトッド・グリフィン（シーズン1）、チープ・トリック（シーズン2〜8）。</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質問：「ザット’70sショー」の主題歌を歌ったのは誰か。</a:t>
            </a:r>
          </a:p>
        </p:txBody>
      </p:sp>
      <p:sp>
        <p:nvSpPr>
          <p:cNvPr id="14" name="TextBox 13"/>
          <p:cNvSpPr txBox="1"/>
          <p:nvPr/>
        </p:nvSpPr>
        <p:spPr>
          <a:xfrm>
            <a:off x="3931920" y="2853266"/>
            <a:ext cx="4663440" cy="69494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トッド・グリフィン（シーズン1）</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チープ・トリック（シーズン2〜8）</a:t>
            </a:r>
          </a:p>
        </p:txBody>
      </p:sp>
      <p:sp>
        <p:nvSpPr>
          <p:cNvPr id="1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That '70s Show</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実例6：病気と微生物の関係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記事：Germ theory of disease ／ long answer全文・質問・正解注釈</a:t>
            </a:r>
          </a:p>
        </p:txBody>
      </p:sp>
      <p:sp>
        <p:nvSpPr>
          <p:cNvPr id="5" name="quote-frame"/>
          <p:cNvSpPr/>
          <p:nvPr/>
        </p:nvSpPr>
        <p:spPr>
          <a:xfrm>
            <a:off x="548640" y="1583266"/>
            <a:ext cx="8046720" cy="1811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464"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The Italian Agostino Bassi was the first person to prove that a disease was caused by a microorganism when he conducted a series of experiments between 1808 and 1813, demonstrating that a "vegetable parasite" caused a disease in silkworms known as calcinaccio—this disease was devastating the French silk industry at the time. The "vegetable parasite" is now known to be a fungus pathogenic to insects called Beauveria bassiana (named after Bassi).</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Question: who established the idea that microorganisms play a role in disease</a:t>
            </a:r>
          </a:p>
        </p:txBody>
      </p:sp>
      <p:sp>
        <p:nvSpPr>
          <p:cNvPr id="6" name="TextBox 5"/>
          <p:cNvSpPr txBox="1"/>
          <p:nvPr/>
        </p:nvSpPr>
        <p:spPr>
          <a:xfrm>
            <a:off x="594360" y="3471333"/>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Agostino Bassi</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Germ theory of disease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実例6：病気と微生物の関係（訳）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記事：病原菌説 ／ 日本語訳・正解注釈</a:t>
            </a:r>
          </a:p>
        </p:txBody>
      </p:sp>
      <p:sp>
        <p:nvSpPr>
          <p:cNvPr id="5" name="quote-frame"/>
          <p:cNvSpPr/>
          <p:nvPr/>
        </p:nvSpPr>
        <p:spPr>
          <a:xfrm>
            <a:off x="548640" y="1583266"/>
            <a:ext cx="8046720" cy="1989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837"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イタリア人のアゴスティーノ・バッシは、1808年から1813年にかけて一連の実験を行い、病気が微生物によって引き起こされることを初めて証明した。「植物性の寄生体」がカイコのcalcinaccioという病気を引き起こすことを示したのである。この病気は当時、フランスの絹産業に壊滅的な被害を与えていた。この「植物性の寄生体」は現在、昆虫に病気を起こす菌類Beauveria bassiana（バッシにちなむ命名）と分かっている。</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質問：微生物が病気に関わるという考えを確立したのは誰か。</a:t>
            </a:r>
          </a:p>
        </p:txBody>
      </p:sp>
      <p:sp>
        <p:nvSpPr>
          <p:cNvPr id="6" name="TextBox 5"/>
          <p:cNvSpPr txBox="1"/>
          <p:nvPr/>
        </p:nvSpPr>
        <p:spPr>
          <a:xfrm>
            <a:off x="594360" y="3649133"/>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アゴスティーノ・バッシ</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Germ theory of disease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実例7：データベースの種類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記事：Library Literature and Information Science ／ long answer全文・質問・正解注釈</a:t>
            </a:r>
          </a:p>
        </p:txBody>
      </p:sp>
      <p:sp>
        <p:nvSpPr>
          <p:cNvPr id="5" name="quote-frame"/>
          <p:cNvSpPr/>
          <p:nvPr/>
        </p:nvSpPr>
        <p:spPr>
          <a:xfrm>
            <a:off x="548640" y="1591733"/>
            <a:ext cx="8046720" cy="2218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7624"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Library Literature and Information Science is a bibliographic database that indexes over 410 library and information science periodicals published internationally. It also covers books, chapters within books, library school theses, and pamphlets. In 2011, the H. W. Wilson Company, the firm that created the index, sold it to EBSCO Publishing along with other H.W. Wilson indexes and databases.[1]</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Question: what type of database is library literature and information science</a:t>
            </a:r>
          </a:p>
        </p:txBody>
      </p:sp>
      <p:sp>
        <p:nvSpPr>
          <p:cNvPr id="6" name="TextBox 5"/>
          <p:cNvSpPr txBox="1"/>
          <p:nvPr/>
        </p:nvSpPr>
        <p:spPr>
          <a:xfrm>
            <a:off x="594360" y="3886200"/>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bibliographic</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Library Literature and Information Science</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実例7：データベースの種類（訳）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記事：Library Literature and Information Science ／ 日本語訳・正解注釈</a:t>
            </a:r>
          </a:p>
        </p:txBody>
      </p:sp>
      <p:sp>
        <p:nvSpPr>
          <p:cNvPr id="5" name="quote-frame"/>
          <p:cNvSpPr/>
          <p:nvPr/>
        </p:nvSpPr>
        <p:spPr>
          <a:xfrm>
            <a:off x="548640" y="1591733"/>
            <a:ext cx="8046720" cy="2091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2154"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Library Literature and Information Scienceは、国際的に発行される図書館学・情報科学の定期刊行物410誌以上を索引化した書誌データベースである。書籍、書籍の章、図書館学の学位論文、パンフレットも扱う。2011年、索引を作ったH. W. Wilson社は、他の索引やデータベースとともに、これをEBSCO Publishingへ売却した。[1]</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質問：Library Literature and Information Scienceは、どのような種類のデータベースか。</a:t>
            </a:r>
          </a:p>
        </p:txBody>
      </p:sp>
      <p:sp>
        <p:nvSpPr>
          <p:cNvPr id="6" name="TextBox 5"/>
          <p:cNvSpPr txBox="1"/>
          <p:nvPr/>
        </p:nvSpPr>
        <p:spPr>
          <a:xfrm>
            <a:off x="594360" y="3759200"/>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書誌データベース</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Library Literature and Information Science</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実例8：胃から小腸への通り道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原文：Chyme</a:t>
            </a:r>
          </a:p>
        </p:txBody>
      </p:sp>
      <p:sp>
        <p:nvSpPr>
          <p:cNvPr id="5" name="quote-frame"/>
          <p:cNvSpPr/>
          <p:nvPr/>
        </p:nvSpPr>
        <p:spPr>
          <a:xfrm>
            <a:off x="548640" y="1583266"/>
            <a:ext cx="3931920" cy="2294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403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Chyme or chymus (/kaɪm/; from Greek χυμός khymos, "juice"[1][2]) is the semi-fluid mass of partly digested food that is expelled by the stomach, through the pyloric valve, into the duodenum[3] (the beginning of the small intestine).</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Question: what allows chyme to enter the small intestine</a:t>
            </a:r>
          </a:p>
        </p:txBody>
      </p:sp>
      <p:sp>
        <p:nvSpPr>
          <p:cNvPr id="6" name="TextBox 5"/>
          <p:cNvSpPr txBox="1"/>
          <p:nvPr/>
        </p:nvSpPr>
        <p:spPr>
          <a:xfrm>
            <a:off x="548640" y="3953933"/>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pyloric valve</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訳：食糜</a:t>
            </a:r>
          </a:p>
        </p:txBody>
      </p:sp>
      <p:sp>
        <p:nvSpPr>
          <p:cNvPr id="8" name="quote-frame"/>
          <p:cNvSpPr/>
          <p:nvPr/>
        </p:nvSpPr>
        <p:spPr>
          <a:xfrm>
            <a:off x="4663440" y="1583266"/>
            <a:ext cx="3931920" cy="184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882"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食糜（chyme、chymus、発音/kaɪm/。ギリシャ語χυμός khymos「汁」に由来[1][2]）は、消化途中の食物が半流動状になったもので、胃から幽門弁を通り、十二指腸[3]（小腸の始まり）へ送り出される。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質問：食糜を小腸へ通すのは何か。</a:t>
            </a:r>
          </a:p>
        </p:txBody>
      </p:sp>
      <p:sp>
        <p:nvSpPr>
          <p:cNvPr id="9" name="TextBox 8"/>
          <p:cNvSpPr txBox="1"/>
          <p:nvPr/>
        </p:nvSpPr>
        <p:spPr>
          <a:xfrm>
            <a:off x="4663440" y="3505200"/>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幽門弁</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Chyme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実例9：実話に基づく映画か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8" name="TextBox 7"/>
          <p:cNvSpPr txBox="1"/>
          <p:nvPr/>
        </p:nvSpPr>
        <p:spPr>
          <a:xfrm>
            <a:off x="548640" y="1289304"/>
            <a:ext cx="3931920" cy="182880"/>
          </a:xfrm>
          <a:prstGeom prst="rect">
            <a:avLst/>
          </a:prstGeom>
          <a:noFill/>
        </p:spPr>
        <p:txBody>
          <a:bodyPr wrap="square" lIns="0" rIns="0" tIns="0" bIns="0">
            <a:noAutofit/>
          </a:bodyPr>
          <a:lstStyle/>
          <a:p>
            <a:pPr algn="l">
              <a:lnSpc>
                <a:spcPts val="1111"/>
              </a:lnSpc>
              <a:spcBef>
                <a:spcPts val="0"/>
              </a:spcBef>
              <a:spcAft>
                <a:spcPts val="0"/>
              </a:spcAft>
              <a:buNone/>
              <a:defRPr sz="950" b="0">
                <a:solidFill>
                  <a:srgbClr val="303437"/>
                </a:solidFill>
                <a:latin typeface="Noto Sans"/>
              </a:defRPr>
            </a:pPr>
            <a:r>
              <a:rPr sz="950" b="0" lang="ja-JP" altLang="en-US">
                <a:solidFill>
                  <a:srgbClr val="626669"/>
                </a:solidFill>
                <a:latin typeface="Noto Sans"/>
                <a:ea typeface="Noto Sans CJK JP"/>
                <a:cs typeface="Noto Sans"/>
              </a:rPr>
              <a:t>原文：Draft Day</a:t>
            </a:r>
          </a:p>
        </p:txBody>
      </p:sp>
      <p:sp>
        <p:nvSpPr>
          <p:cNvPr id="9" name="quote-frame"/>
          <p:cNvSpPr/>
          <p:nvPr/>
        </p:nvSpPr>
        <p:spPr>
          <a:xfrm>
            <a:off x="548640" y="1507066"/>
            <a:ext cx="3931920" cy="2650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7574"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Draft Day is a 2014 American sports drama film directed by Ivan Reitman and starring Kevin Costner. The premise revolves around the fictional general manager of the Cleveland Browns (Costner) deciding what to do after his team acquires the number one draft pick in the upcoming National Football League draft.</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is draft day the movie based on a true story</a:t>
            </a:r>
          </a:p>
        </p:txBody>
      </p:sp>
      <p:sp>
        <p:nvSpPr>
          <p:cNvPr id="10" name="TextBox 9"/>
          <p:cNvSpPr txBox="1"/>
          <p:nvPr/>
        </p:nvSpPr>
        <p:spPr>
          <a:xfrm>
            <a:off x="548640" y="4233333"/>
            <a:ext cx="3931920" cy="38557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11" name="TextBox 10"/>
          <p:cNvSpPr txBox="1"/>
          <p:nvPr/>
        </p:nvSpPr>
        <p:spPr>
          <a:xfrm>
            <a:off x="4663440" y="1289304"/>
            <a:ext cx="3931920" cy="182880"/>
          </a:xfrm>
          <a:prstGeom prst="rect">
            <a:avLst/>
          </a:prstGeom>
          <a:noFill/>
        </p:spPr>
        <p:txBody>
          <a:bodyPr wrap="square" lIns="0" rIns="0" tIns="0" bIns="0">
            <a:noAutofit/>
          </a:bodyPr>
          <a:lstStyle/>
          <a:p>
            <a:pPr algn="l">
              <a:lnSpc>
                <a:spcPts val="1111"/>
              </a:lnSpc>
              <a:spcBef>
                <a:spcPts val="0"/>
              </a:spcBef>
              <a:spcAft>
                <a:spcPts val="0"/>
              </a:spcAft>
              <a:buNone/>
              <a:defRPr sz="950" b="0">
                <a:solidFill>
                  <a:srgbClr val="303437"/>
                </a:solidFill>
                <a:latin typeface="Noto Sans"/>
              </a:defRPr>
            </a:pPr>
            <a:r>
              <a:rPr sz="950" b="0" lang="ja-JP" altLang="en-US">
                <a:solidFill>
                  <a:srgbClr val="626669"/>
                </a:solidFill>
                <a:latin typeface="Noto Sans"/>
                <a:ea typeface="Noto Sans CJK JP"/>
                <a:cs typeface="Noto Sans"/>
              </a:rPr>
              <a:t>日本語訳：ドラフト・デイ</a:t>
            </a:r>
          </a:p>
        </p:txBody>
      </p:sp>
      <p:sp>
        <p:nvSpPr>
          <p:cNvPr id="12" name="quote-frame"/>
          <p:cNvSpPr/>
          <p:nvPr/>
        </p:nvSpPr>
        <p:spPr>
          <a:xfrm>
            <a:off x="4663440" y="1490133"/>
            <a:ext cx="3931920" cy="2413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507"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ドラフト・デイ」は、アイヴァン・ライトマン監督、ケビン・コスナー主演の2014年の米国のスポーツドラマ映画である。クリーブランド・ブラウンズの架空のゼネラルマネジャー（コスナー）が、次のNFLドラフトの全体1位指名権を獲得した後、何をするかを決めるという筋書きであ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質問：映画「ドラフト・デイ」は実話に基づいているか。</a:t>
            </a:r>
          </a:p>
        </p:txBody>
      </p:sp>
      <p:sp>
        <p:nvSpPr>
          <p:cNvPr id="13" name="TextBox 12"/>
          <p:cNvSpPr txBox="1"/>
          <p:nvPr/>
        </p:nvSpPr>
        <p:spPr>
          <a:xfrm>
            <a:off x="4663440" y="3979333"/>
            <a:ext cx="3931920" cy="385571"/>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いいえ（NO）</a:t>
            </a:r>
          </a:p>
        </p:txBody>
      </p:sp>
      <p:sp>
        <p:nvSpPr>
          <p:cNvPr id="14"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Draft Day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実例10：過去に発生したことがあるか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原文：Tornadoes in the United States</a:t>
            </a:r>
          </a:p>
        </p:txBody>
      </p:sp>
      <p:sp>
        <p:nvSpPr>
          <p:cNvPr id="5" name="quote-frame"/>
          <p:cNvSpPr/>
          <p:nvPr/>
        </p:nvSpPr>
        <p:spPr>
          <a:xfrm>
            <a:off x="548640" y="1583266"/>
            <a:ext cx="3931920" cy="2294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403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Alaska has only been hit by 2 tornadoes between 1950 and 2006 (the first being November 4, 1959[38] and the other was August 2, 2005[39]); both were only F0. Hawaii has only been hit by 49 tornadoes since 1950.</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Question: has there ever been a tornado in alaska</a:t>
            </a:r>
          </a:p>
        </p:txBody>
      </p:sp>
      <p:sp>
        <p:nvSpPr>
          <p:cNvPr id="6" name="TextBox 5"/>
          <p:cNvSpPr txBox="1"/>
          <p:nvPr/>
        </p:nvSpPr>
        <p:spPr>
          <a:xfrm>
            <a:off x="548640" y="3953933"/>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YES</a:t>
            </a:r>
          </a:p>
        </p:txBody>
      </p:sp>
      <p:sp>
        <p:nvSpPr>
          <p:cNvPr id="7" name="TextBox 6"/>
          <p:cNvSpPr txBox="1"/>
          <p:nvPr/>
        </p:nvSpPr>
        <p:spPr>
          <a:xfrm>
            <a:off x="4663440" y="1307592"/>
            <a:ext cx="39319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訳：米国の竜巻</a:t>
            </a:r>
          </a:p>
        </p:txBody>
      </p:sp>
      <p:sp>
        <p:nvSpPr>
          <p:cNvPr id="8" name="quote-frame"/>
          <p:cNvSpPr/>
          <p:nvPr/>
        </p:nvSpPr>
        <p:spPr>
          <a:xfrm>
            <a:off x="4663440" y="1583266"/>
            <a:ext cx="3931920" cy="231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2882"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アラスカで1950年から2006年までに発生した竜巻は2件だけで、最初は1959年11月4日[38]、もう1件は2005年8月2日[39]だった。いずれもF0にすぎなかった。ハワイでは1950年以降、49件の竜巻しか発生していない。</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質問：アラスカで竜巻が発生したことはあるか。</a:t>
            </a:r>
          </a:p>
        </p:txBody>
      </p:sp>
      <p:sp>
        <p:nvSpPr>
          <p:cNvPr id="9" name="TextBox 8"/>
          <p:cNvSpPr txBox="1"/>
          <p:nvPr/>
        </p:nvSpPr>
        <p:spPr>
          <a:xfrm>
            <a:off x="4663440" y="3979333"/>
            <a:ext cx="3931920"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はい（YES）</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Tornadoes in the United States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実例11：通行方向を記事名から読む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記事：List of countries with left-hand traffic ／ long answer全文・質問・正解注釈</a:t>
            </a:r>
          </a:p>
        </p:txBody>
      </p:sp>
      <p:sp>
        <p:nvSpPr>
          <p:cNvPr id="5" name="quote-frame"/>
          <p:cNvSpPr/>
          <p:nvPr/>
        </p:nvSpPr>
        <p:spPr>
          <a:xfrm>
            <a:off x="548640" y="1583266"/>
            <a:ext cx="8046720" cy="2065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617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Title: List of countries with left-hand traffic</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Australia Christmas Island (Australia) Cocos (Keeling) Islands (Australia) Cook Islands (New Zealand) Fiji Kiribati Nauru New Zealand Niue Norfolk Island (Australia) Papua New Guinea Pitcairn Islands (U.K. Overseas Territory) Solomon Islands Samoa (since September 1, 2009) Tokelau (New Zealand) Tonga Tuvalu</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does australia drive on the right side of the road</a:t>
            </a:r>
          </a:p>
        </p:txBody>
      </p:sp>
      <p:sp>
        <p:nvSpPr>
          <p:cNvPr id="6" name="TextBox 5"/>
          <p:cNvSpPr txBox="1"/>
          <p:nvPr/>
        </p:nvSpPr>
        <p:spPr>
          <a:xfrm>
            <a:off x="594360" y="3725333"/>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NO</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List of countries with left-hand traffic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実例11：通行方向を記事名から読む（訳）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記事：左側通行の国・地域の一覧 ／ 日本語訳・正解注釈</a:t>
            </a:r>
          </a:p>
        </p:txBody>
      </p:sp>
      <p:sp>
        <p:nvSpPr>
          <p:cNvPr id="5" name="quote-frame"/>
          <p:cNvSpPr/>
          <p:nvPr/>
        </p:nvSpPr>
        <p:spPr>
          <a:xfrm>
            <a:off x="548640" y="1591733"/>
            <a:ext cx="8046720" cy="2252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469"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記事名：左側通行の国・地域の一覧</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オーストラリア、クリスマス島（オーストラリア）、ココス（キーリング）諸島（オーストラリア）、クック諸島（ニュージーランド）、フィジー、キリバス、ナウル、ニュージーランド、ニウエ、ノーフォーク島（オーストラリア）、パプアニューギニア、ピトケアン諸島（英国海外領土）、ソロモン諸島、サモア（2009年9月1日から）、トケラウ（ニュージーランド）、トンガ、ツバル。</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質問：オーストラリアでは道路の右側を通行するか。</a:t>
            </a:r>
          </a:p>
        </p:txBody>
      </p:sp>
      <p:sp>
        <p:nvSpPr>
          <p:cNvPr id="6" name="TextBox 5"/>
          <p:cNvSpPr txBox="1"/>
          <p:nvPr/>
        </p:nvSpPr>
        <p:spPr>
          <a:xfrm>
            <a:off x="594360" y="3920066"/>
            <a:ext cx="7955279" cy="373380"/>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いいえ（NO）</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List of countries with left-hand traffic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実例12：複数の州を拾う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記事：Dust Bowl ／ long answer全文・質問・正解注釈</a:t>
            </a:r>
          </a:p>
        </p:txBody>
      </p:sp>
      <p:sp>
        <p:nvSpPr>
          <p:cNvPr id="5" name="quote-frame"/>
          <p:cNvSpPr/>
          <p:nvPr/>
        </p:nvSpPr>
        <p:spPr>
          <a:xfrm>
            <a:off x="548640" y="1583266"/>
            <a:ext cx="8046720" cy="1253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6525"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The drought and erosion of the Dust Bowl affected 100,000,000 acres (400,000 km2) that centered on the panhandles of Texas and Oklahoma and touched adjacent sections of New Mexico, Colorado, and Kansas.[5]</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Question: what states were most affected by the dust bowl</a:t>
            </a:r>
          </a:p>
        </p:txBody>
      </p:sp>
      <p:sp>
        <p:nvSpPr>
          <p:cNvPr id="6" name="TextBox 5"/>
          <p:cNvSpPr txBox="1"/>
          <p:nvPr/>
        </p:nvSpPr>
        <p:spPr>
          <a:xfrm>
            <a:off x="594360" y="2912533"/>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Texas</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Oklahoma</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New Mexico</a:t>
            </a:r>
          </a:p>
        </p:txBody>
      </p:sp>
      <p:sp>
        <p:nvSpPr>
          <p:cNvPr id="7" name="TextBox 6"/>
          <p:cNvSpPr txBox="1"/>
          <p:nvPr/>
        </p:nvSpPr>
        <p:spPr>
          <a:xfrm>
            <a:off x="4681728" y="2912533"/>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Colorado</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Kansas</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Dust Bowl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実例12：複数の州を拾う（訳）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記事：ダストボウル ／ 日本語訳・正解注釈</a:t>
            </a:r>
          </a:p>
        </p:txBody>
      </p:sp>
      <p:sp>
        <p:nvSpPr>
          <p:cNvPr id="5" name="quote-frame"/>
          <p:cNvSpPr/>
          <p:nvPr/>
        </p:nvSpPr>
        <p:spPr>
          <a:xfrm>
            <a:off x="548640" y="1583266"/>
            <a:ext cx="8046720" cy="1642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4853"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ダストボウルによる干ばつと侵食は、テキサス州とオクラホマ州のパンハンドル地域を中心に、隣接するニューメキシコ州、コロラド州、カンザス州の一部にも及ぶ1億エーカー（40万km2）の土地に影響した。[5]</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質問：ダストボウルの被害が最も大きかったのはどの州か。</a:t>
            </a:r>
          </a:p>
        </p:txBody>
      </p:sp>
      <p:sp>
        <p:nvSpPr>
          <p:cNvPr id="6" name="TextBox 5"/>
          <p:cNvSpPr txBox="1"/>
          <p:nvPr/>
        </p:nvSpPr>
        <p:spPr>
          <a:xfrm>
            <a:off x="594360" y="3302000"/>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テキサス</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オクラホマ</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ニューメキシコ</a:t>
            </a:r>
          </a:p>
        </p:txBody>
      </p:sp>
      <p:sp>
        <p:nvSpPr>
          <p:cNvPr id="7" name="TextBox 6"/>
          <p:cNvSpPr txBox="1"/>
          <p:nvPr/>
        </p:nvSpPr>
        <p:spPr>
          <a:xfrm>
            <a:off x="4681728" y="3302000"/>
            <a:ext cx="3886200" cy="992124"/>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コロラド</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カンザス</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Dust Bowl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実例13：複数の機能を答える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記事：Pericardium ／ long answer全文・質問・正解注釈</a:t>
            </a:r>
          </a:p>
        </p:txBody>
      </p:sp>
      <p:sp>
        <p:nvSpPr>
          <p:cNvPr id="5" name="quote-frame"/>
          <p:cNvSpPr/>
          <p:nvPr/>
        </p:nvSpPr>
        <p:spPr>
          <a:xfrm>
            <a:off x="548640" y="1591733"/>
            <a:ext cx="8046720" cy="1066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3892"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Sets heart in mediastinum and limits its motion Protects it from infections coming from other organs (such as lungs) Prevents excessive dilation of the heart in cases of acute volume overload Lubricates the heart</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Question: what is the function of the pericardial sac</a:t>
            </a:r>
          </a:p>
        </p:txBody>
      </p:sp>
      <p:sp>
        <p:nvSpPr>
          <p:cNvPr id="6" name="TextBox 5"/>
          <p:cNvSpPr txBox="1"/>
          <p:nvPr/>
        </p:nvSpPr>
        <p:spPr>
          <a:xfrm>
            <a:off x="594360" y="2734733"/>
            <a:ext cx="3886200" cy="1610868"/>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Sets heart in mediastinum and limits its motion</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Protects it from infections coming from other organs (such as lungs)</a:t>
            </a:r>
          </a:p>
        </p:txBody>
      </p:sp>
      <p:sp>
        <p:nvSpPr>
          <p:cNvPr id="7" name="TextBox 6"/>
          <p:cNvSpPr txBox="1"/>
          <p:nvPr/>
        </p:nvSpPr>
        <p:spPr>
          <a:xfrm>
            <a:off x="4681728" y="2734733"/>
            <a:ext cx="3886200" cy="1610868"/>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Prevents excessive dilation of the heart in cases of acute volume overload</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Lubricates the heart</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Pericardium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実例13：複数の機能を答える（訳）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記事：心膜 ／ 日本語訳・正解注釈</a:t>
            </a:r>
          </a:p>
        </p:txBody>
      </p:sp>
      <p:sp>
        <p:nvSpPr>
          <p:cNvPr id="5" name="quote-frame"/>
          <p:cNvSpPr/>
          <p:nvPr/>
        </p:nvSpPr>
        <p:spPr>
          <a:xfrm>
            <a:off x="548640" y="1583266"/>
            <a:ext cx="8046720" cy="133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5222"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心臓を縦隔内に固定し、動きを制限する。他の臓器（肺など）からの感染を防ぐ。急激な容量負荷の際に心臓が過度に拡張するのを防ぐ。心臓の動きを滑らかにする。</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質問：心嚢にはどのような働きがあるか。</a:t>
            </a:r>
          </a:p>
        </p:txBody>
      </p:sp>
      <p:sp>
        <p:nvSpPr>
          <p:cNvPr id="6" name="TextBox 5"/>
          <p:cNvSpPr txBox="1"/>
          <p:nvPr/>
        </p:nvSpPr>
        <p:spPr>
          <a:xfrm>
            <a:off x="594360" y="2997200"/>
            <a:ext cx="3886200" cy="130149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心臓を縦隔内に固定し、動きを制限する</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他の臓器（肺など）からの感染を防ぐ</a:t>
            </a:r>
          </a:p>
        </p:txBody>
      </p:sp>
      <p:sp>
        <p:nvSpPr>
          <p:cNvPr id="7" name="TextBox 6"/>
          <p:cNvSpPr txBox="1"/>
          <p:nvPr/>
        </p:nvSpPr>
        <p:spPr>
          <a:xfrm>
            <a:off x="4681728" y="2997200"/>
            <a:ext cx="3886200" cy="1301496"/>
          </a:xfrm>
          <a:prstGeom prst="rect">
            <a:avLst/>
          </a:prstGeom>
          <a:noFill/>
        </p:spPr>
        <p:txBody>
          <a:bodyPr wrap="square" lIns="0" rIns="0" tIns="0" bIns="0">
            <a:noAutofit/>
          </a:bodyPr>
          <a:lstStyle/>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急激な容量負荷時の心臓の過度な拡張を防ぐ</a:t>
            </a:r>
          </a:p>
          <a:p>
            <a:pPr algn="l">
              <a:lnSpc>
                <a:spcPts val="2436"/>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心臓の動きを滑らかにする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 Research (n.d.). Natural Questions. Pericardium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https://huggingface.co/datasets/google-research-datasets/natural_questions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Google Researchによる検索質問の課題</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Tom Kwiatkowski、Slav Petrovら、Google Researchの研究者を中心とするチームが構築した。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検索に使われる質問を基に、読解と回答の可否を扱う大規模な注釈付きデータを公開した。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2019年にTACLで発表。注釈者の判断が割れることも、評価設計の中心に置いた。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Kwiatkowski et al. (2019). Natural Questions: A Benchmark for Question Answering Research.</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https://aclanthology.org/Q19-1026/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文献: Natural Questions: A Benchmark for Question Answering Research"/>
          <p:cNvSpPr txBox="1"/>
          <p:nvPr/>
        </p:nvSpPr>
        <p:spPr>
          <a:xfrm>
            <a:off x="548640" y="1463040"/>
            <a:ext cx="8046720" cy="1798320"/>
          </a:xfrm>
          <a:prstGeom prst="rect">
            <a:avLst/>
          </a:prstGeom>
          <a:noFill/>
        </p:spPr>
        <p:txBody>
          <a:bodyPr wrap="square" lIns="0" rIns="0" tIns="0" bIns="381000">
            <a:noAutofit/>
          </a:bodyPr>
          <a:lstStyle/>
          <a:p>
            <a:pPr algn="l">
              <a:lnSpc>
                <a:spcPct val="118000"/>
              </a:lnSpc>
              <a:spcBef>
                <a:spcPts val="0"/>
              </a:spcBef>
              <a:spcAft>
                <a:spcPts val="500"/>
              </a:spcAft>
              <a:buNone/>
              <a:defRPr sz="2000" b="1">
                <a:solidFill>
                  <a:srgbClr val="303437"/>
                </a:solidFill>
                <a:latin typeface="Noto Sans"/>
              </a:defRPr>
            </a:pPr>
            <a:r>
              <a:rPr sz="2000" b="1" lang="ja-JP" altLang="en-US">
                <a:solidFill>
                  <a:srgbClr val="303437"/>
                </a:solidFill>
                <a:latin typeface="Noto Sans"/>
                <a:ea typeface="Noto Sans CJK JP"/>
                <a:cs typeface="Noto Sans"/>
              </a:rPr>
              <a:t>Natural Questions: A Benchmark for Question Answering Research</a:t>
            </a:r>
          </a:p>
          <a:p>
            <a:pPr>
              <a:lnSpc>
                <a:spcPct val="118000"/>
              </a:lnSpc>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Kwiatkowski et al. · 2019 · TACL 7:453–466</a:t>
            </a:r>
          </a:p>
          <a:p>
            <a:pPr>
              <a:lnSpc>
                <a:spcPct val="118000"/>
              </a:lnSpc>
              <a:spcAft>
                <a:spcPts val="500"/>
              </a:spcAft>
              <a:buNone/>
              <a:defRPr sz="1700" b="0">
                <a:solidFill>
                  <a:srgbClr val="303437"/>
                </a:solidFill>
                <a:latin typeface="Noto Sans"/>
              </a:defRPr>
            </a:pPr>
            <a:r>
              <a:rPr sz="1700" b="0" lang="ja-JP" altLang="en-US">
                <a:solidFill>
                  <a:srgbClr val="303437"/>
                </a:solidFill>
                <a:latin typeface="Noto Sans"/>
                <a:ea typeface="Noto Sans CJK JP"/>
                <a:cs typeface="Noto Sans"/>
              </a:rPr>
              <a:t>検索質問の収集、HTML上の回答注釈、複数人の判断を使う採点を提案する。</a:t>
            </a:r>
          </a:p>
          <a:p>
            <a:pPr>
              <a:lnSpc>
                <a:spcPct val="118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2"/>
              </a:rPr>
              <a:t>https://aclanthology.org/Q19-1026/</a:t>
            </a:r>
          </a:p>
        </p:txBody>
      </p:sp>
      <p:sp>
        <p:nvSpPr>
          <p:cNvPr id="5" name="文献: Natural Questions"/>
          <p:cNvSpPr txBox="1"/>
          <p:nvPr/>
        </p:nvSpPr>
        <p:spPr>
          <a:xfrm>
            <a:off x="548640" y="3200400"/>
            <a:ext cx="8046720" cy="1798320"/>
          </a:xfrm>
          <a:prstGeom prst="rect">
            <a:avLst/>
          </a:prstGeom>
          <a:noFill/>
        </p:spPr>
        <p:txBody>
          <a:bodyPr wrap="square" lIns="0" rIns="0" tIns="0" bIns="381000">
            <a:noAutofit/>
          </a:bodyPr>
          <a:lstStyle/>
          <a:p>
            <a:pPr algn="l">
              <a:lnSpc>
                <a:spcPct val="118000"/>
              </a:lnSpc>
              <a:spcBef>
                <a:spcPts val="0"/>
              </a:spcBef>
              <a:spcAft>
                <a:spcPts val="500"/>
              </a:spcAft>
              <a:buNone/>
              <a:defRPr sz="2000" b="1">
                <a:solidFill>
                  <a:srgbClr val="303437"/>
                </a:solidFill>
                <a:latin typeface="Noto Sans"/>
              </a:defRPr>
            </a:pPr>
            <a:r>
              <a:rPr sz="2000" b="1" lang="ja-JP" altLang="en-US">
                <a:solidFill>
                  <a:srgbClr val="303437"/>
                </a:solidFill>
                <a:latin typeface="Noto Sans"/>
                <a:ea typeface="Noto Sans CJK JP"/>
                <a:cs typeface="Noto Sans"/>
              </a:rPr>
              <a:t>Natural Questions</a:t>
            </a:r>
          </a:p>
          <a:p>
            <a:pPr>
              <a:lnSpc>
                <a:spcPct val="118000"/>
              </a:lnSpc>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Research (n.d.). 公式リポジトリ。参照2026-10-19。</a:t>
            </a:r>
          </a:p>
          <a:p>
            <a:pPr>
              <a:lnSpc>
                <a:spcPct val="118000"/>
              </a:lnSpc>
              <a:spcAft>
                <a:spcPts val="500"/>
              </a:spcAft>
              <a:buNone/>
              <a:defRPr sz="1700" b="0">
                <a:solidFill>
                  <a:srgbClr val="303437"/>
                </a:solidFill>
                <a:latin typeface="Noto Sans"/>
              </a:defRPr>
            </a:pPr>
            <a:r>
              <a:rPr sz="1700" b="0" lang="ja-JP" altLang="en-US">
                <a:solidFill>
                  <a:srgbClr val="303437"/>
                </a:solidFill>
                <a:latin typeface="Noto Sans"/>
                <a:ea typeface="Noto Sans CJK JP"/>
                <a:cs typeface="Noto Sans"/>
              </a:rPr>
              <a:t>元データの形式、注釈仕様、採点コードを公開する。</a:t>
            </a:r>
          </a:p>
          <a:p>
            <a:pPr>
              <a:lnSpc>
                <a:spcPct val="118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4"/>
              </a:rPr>
              <a:t>https://github.com/google-research-datasets/natural-questions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文献: Natural Questions — dataset distribution"/>
          <p:cNvSpPr txBox="1"/>
          <p:nvPr/>
        </p:nvSpPr>
        <p:spPr>
          <a:xfrm>
            <a:off x="548640" y="1463040"/>
            <a:ext cx="8046720" cy="1798320"/>
          </a:xfrm>
          <a:prstGeom prst="rect">
            <a:avLst/>
          </a:prstGeom>
          <a:noFill/>
        </p:spPr>
        <p:txBody>
          <a:bodyPr wrap="square" lIns="0" rIns="0" tIns="0" bIns="381000">
            <a:noAutofit/>
          </a:bodyPr>
          <a:lstStyle/>
          <a:p>
            <a:pPr algn="l">
              <a:lnSpc>
                <a:spcPct val="118000"/>
              </a:lnSpc>
              <a:spcBef>
                <a:spcPts val="0"/>
              </a:spcBef>
              <a:spcAft>
                <a:spcPts val="500"/>
              </a:spcAft>
              <a:buNone/>
              <a:defRPr sz="2000" b="1">
                <a:solidFill>
                  <a:srgbClr val="303437"/>
                </a:solidFill>
                <a:latin typeface="Noto Sans"/>
              </a:defRPr>
            </a:pPr>
            <a:r>
              <a:rPr sz="2000" b="1" lang="ja-JP" altLang="en-US">
                <a:solidFill>
                  <a:srgbClr val="303437"/>
                </a:solidFill>
                <a:latin typeface="Noto Sans"/>
                <a:ea typeface="Noto Sans CJK JP"/>
                <a:cs typeface="Noto Sans"/>
              </a:rPr>
              <a:t>Natural Questions — dataset distribution</a:t>
            </a:r>
          </a:p>
          <a:p>
            <a:pPr>
              <a:lnSpc>
                <a:spcPct val="118000"/>
              </a:lnSpc>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Research (n.d.). Hugging Face。参照2026-10-19。</a:t>
            </a:r>
          </a:p>
          <a:p>
            <a:pPr>
              <a:lnSpc>
                <a:spcPct val="118000"/>
              </a:lnSpc>
              <a:spcAft>
                <a:spcPts val="500"/>
              </a:spcAft>
              <a:buNone/>
              <a:defRPr sz="1700" b="0">
                <a:solidFill>
                  <a:srgbClr val="303437"/>
                </a:solidFill>
                <a:latin typeface="Noto Sans"/>
              </a:defRPr>
            </a:pPr>
            <a:r>
              <a:rPr sz="1700" b="0" lang="ja-JP" altLang="en-US">
                <a:solidFill>
                  <a:srgbClr val="303437"/>
                </a:solidFill>
                <a:latin typeface="Noto Sans"/>
                <a:ea typeface="Noto Sans CJK JP"/>
                <a:cs typeface="Noto Sans"/>
              </a:rPr>
              <a:t>質問・Wikipedia本文・回答範囲を、Parquet形式で取得できる。</a:t>
            </a:r>
          </a:p>
          <a:p>
            <a:pPr>
              <a:lnSpc>
                <a:spcPct val="118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3"/>
              </a:rPr>
              <a:t>https://huggingface.co/datasets/google-research-datasets/natural_questions</a:t>
            </a:r>
          </a:p>
        </p:txBody>
      </p:sp>
      <p:sp>
        <p:nvSpPr>
          <p:cNvPr id="5" name="文献: Natural Questions — official site"/>
          <p:cNvSpPr txBox="1"/>
          <p:nvPr/>
        </p:nvSpPr>
        <p:spPr>
          <a:xfrm>
            <a:off x="548640" y="3200400"/>
            <a:ext cx="8046720" cy="1798320"/>
          </a:xfrm>
          <a:prstGeom prst="rect">
            <a:avLst/>
          </a:prstGeom>
          <a:noFill/>
        </p:spPr>
        <p:txBody>
          <a:bodyPr wrap="square" lIns="0" rIns="0" tIns="0" bIns="381000">
            <a:noAutofit/>
          </a:bodyPr>
          <a:lstStyle/>
          <a:p>
            <a:pPr algn="l">
              <a:lnSpc>
                <a:spcPct val="118000"/>
              </a:lnSpc>
              <a:spcBef>
                <a:spcPts val="0"/>
              </a:spcBef>
              <a:spcAft>
                <a:spcPts val="500"/>
              </a:spcAft>
              <a:buNone/>
              <a:defRPr sz="2000" b="1">
                <a:solidFill>
                  <a:srgbClr val="303437"/>
                </a:solidFill>
                <a:latin typeface="Noto Sans"/>
              </a:defRPr>
            </a:pPr>
            <a:r>
              <a:rPr sz="2000" b="1" lang="ja-JP" altLang="en-US">
                <a:solidFill>
                  <a:srgbClr val="303437"/>
                </a:solidFill>
                <a:latin typeface="Noto Sans"/>
                <a:ea typeface="Noto Sans CJK JP"/>
                <a:cs typeface="Noto Sans"/>
              </a:rPr>
              <a:t>Natural Questions — official site</a:t>
            </a:r>
          </a:p>
          <a:p>
            <a:pPr>
              <a:lnSpc>
                <a:spcPct val="118000"/>
              </a:lnSpc>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Research (n.d.). 公式サイト。参照2026-10-19。</a:t>
            </a:r>
          </a:p>
          <a:p>
            <a:pPr>
              <a:lnSpc>
                <a:spcPct val="118000"/>
              </a:lnSpc>
              <a:spcAft>
                <a:spcPts val="500"/>
              </a:spcAft>
              <a:buNone/>
              <a:defRPr sz="1700" b="0">
                <a:solidFill>
                  <a:srgbClr val="303437"/>
                </a:solidFill>
                <a:latin typeface="Noto Sans"/>
              </a:defRPr>
            </a:pPr>
            <a:r>
              <a:rPr sz="1700" b="0" lang="ja-JP" altLang="en-US">
                <a:solidFill>
                  <a:srgbClr val="303437"/>
                </a:solidFill>
                <a:latin typeface="Noto Sans"/>
                <a:ea typeface="Noto Sans CJK JP"/>
                <a:cs typeface="Noto Sans"/>
              </a:rPr>
              <a:t>課題の説明、公開データ、リーダーボードへの入口。</a:t>
            </a:r>
          </a:p>
          <a:p>
            <a:pPr>
              <a:lnSpc>
                <a:spcPct val="118000"/>
              </a:lnSpc>
              <a:spcAft>
                <a:spcPts val="0"/>
              </a:spcAft>
              <a:buNone/>
              <a:defRPr sz="1100" b="0">
                <a:solidFill>
                  <a:srgbClr val="303437"/>
                </a:solidFill>
                <a:latin typeface="Noto Sans"/>
              </a:defRPr>
            </a:pPr>
            <a:r>
              <a:rPr sz="1100" b="0" lang="ja-JP" altLang="en-US">
                <a:solidFill>
                  <a:srgbClr val="2166AC"/>
                </a:solidFill>
                <a:latin typeface="Noto Sans"/>
                <a:ea typeface="Noto Sans CJK JP"/>
                <a:cs typeface="Noto Sans"/>
                <a:hlinkClick r:id="rId4"/>
              </a:rPr>
              <a:t>https://ai.google.com/research/NaturalQuestions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2026-10-18T06:41:22Z</dcterms:modified>
  <dc:title>naturalquestions</dc:title>
  <dc:creator>sasakiy84</dc:creator>
  <dcterms:created xsi:type="dcterms:W3CDTF">2026-10-18T06:41:22Z</dcterms:created>
  <dc:language>ja-JP</dc:language>
</cp:coreProperties>
</file>