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6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8" r:id="rId8"/>
    <p:sldId id="259" r:id="rId9"/>
    <p:sldId id="260" r:id="rId10"/>
    <p:sldId id="261" r:id="rId5"/>
    <p:sldId id="262" r:id="rId4"/>
    <p:sldId id="263" r:id="rId3"/>
    <p:sldId id="264" r:id="rId2"/>
    <p:sldId id="267" r:id="rId17"/>
    <p:sldId id="268" r:id="rId18"/>
    <p:sldId id="269" r:id="rId19"/>
    <p:sldId id="270" r:id="rId20"/>
    <p:sldId id="271" r:id="rId21"/>
    <p:sldId id="273" r:id="rId23"/>
    <p:sldId id="265" r:id="rId15"/>
    <p:sldId id="266" r:id="rId16"/>
    <p:sldId id="278" r:id="rId28"/>
    <p:sldId id="279" r:id="rId29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301" r:id="rId51"/>
    <p:sldId id="304" r:id="rId54"/>
    <p:sldId id="306" r:id="rId56"/>
    <p:sldId id="307" r:id="rId5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51" Type="http://schemas.openxmlformats.org/officeDocument/2006/relationships/slide" Target="slides/slide46.xml"/><Relationship Id="rId54" Type="http://schemas.openxmlformats.org/officeDocument/2006/relationships/slide" Target="slides/slide49.xml"/><Relationship Id="rId56" Type="http://schemas.openxmlformats.org/officeDocument/2006/relationships/slide" Target="slides/slide51.xml"/><Relationship Id="rId57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wikifac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wikifac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wikifac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main/src/helm/benchmark/metrics/evaluate_reference_metrics.py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wikifact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9-1250/" TargetMode="External"/><Relationship Id="rId3" Type="http://schemas.openxmlformats.org/officeDocument/2006/relationships/hyperlink" Target="https://arxiv.org/abs/2211.09110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main/src/helm/benchmark/metrics/evaluate_reference_metrics.py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main/src/helm/benchmark/scenarios/wikifact_scenario.py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main/LICENSE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wikifact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wikifact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wikifact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wikifact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wikifact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wikifact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wikifact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wikifact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wikifact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wikifact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wikifact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Relationship Id="rId3" Type="http://schemas.openxmlformats.org/officeDocument/2006/relationships/hyperlink" Target="https://aclanthology.org/D19-1250/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wikifact" TargetMode="External"/><Relationship Id="rId3" Type="http://schemas.openxmlformats.org/officeDocument/2006/relationships/hyperlink" Target="https://github.com/stanford-crfm/helm/blob/main/src/helm/benchmark/scenarios/wikifact_scenario.p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888452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WikiFact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898102"/>
            <a:ext cx="8046720" cy="48831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知識基盤の事実を、文の続きとして答える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事実を文の続きで答える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知識基盤から問題を作る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参照回答に一致するかを評価する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データの入手と利用条件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事実を文の続きで答える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事実を文の続きで答える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知識を、短い文の補完で尋ねる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事実を文の続きで答える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044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120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WikiFactは、知識基盤Wikidataの「主語・関係・目的語」という三つ組を、英語の短い文に変換した事実補完データである。</a:t>
            </a:r>
          </a:p>
          <a:p>
            <a:pPr>
              <a:lnSpc>
                <a:spcPts val="2499"/>
              </a:lnSpc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モデルは「作品の著者は」「国の通貨は」といった文の続きを生成する。根拠となる文章を与えず、モデルが覚えている事実を名前として答えられるかを測る。</a:t>
            </a:r>
          </a:p>
          <a:p>
            <a:pPr>
              <a:lnSpc>
                <a:spcPts val="2499"/>
              </a:lnSpc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Stanford CRFMを中心とする研究チームが2022年に設計した。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(2023), Holistic Evaluation of Language Models. Transactions on Machine Learning Research.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正解の対象も、その呼び名も複数ある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事実を文の続きで答える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044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120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同じ作品に複数の著者がいるように、一つの入力に複数の正解がある。また、一つの対象が複数の名前や略号を持つこともある。</a:t>
            </a:r>
          </a:p>
          <a:p>
            <a:pPr>
              <a:lnSpc>
                <a:spcPts val="2499"/>
              </a:lnSpc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正解となる対象の名前や別名のいずれかに一致すれば正解とする。次の3例は、公開されている入力と参照回答の全文である。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(2023), Holistic Evaluation of Language Models. Transactions on Machine Learning Research.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実例1：複数の著者と別名が正解になる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事実を文の続きで答える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入力原文（全文）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4297680" cy="75706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author of The Glass Inferno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07878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参照回答（全文）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18773"/>
            <a:ext cx="4206240" cy="100698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Thomas N. Scortia / Thomas Nicholas Scortia / Frank M. Robinson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335024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日本語訳（入力・答えの意味）</a:t>
            </a:r>
          </a:p>
        </p:txBody>
      </p:sp>
      <p:sp>
        <p:nvSpPr>
          <p:cNvPr id="9" name="quote-frame"/>
          <p:cNvSpPr/>
          <p:nvPr/>
        </p:nvSpPr>
        <p:spPr>
          <a:xfrm>
            <a:off x="5029200" y="1655064"/>
            <a:ext cx="3566160" cy="76419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『The Glass Inferno』の著者は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606544"/>
            <a:ext cx="3474720" cy="1051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Thomas N. Scortia</a:t>
            </a:r>
          </a:p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Frank M. Robinson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96512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2人の著者のうち1人を答えればよい。Thomas Nicholas ScortiaとThomas N. Scortiaは、同じ著者の別名である。</a:t>
            </a:r>
          </a:p>
        </p:txBody>
      </p:sp>
      <p:sp>
        <p:nvSpPr>
          <p:cNvPr id="12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WikiFact — 公開入力・参照回答。 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https://crfm.stanford.edu/helm/classic/v0.4.0/#/groups/wikifact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実例2：通貨の名前とコードを認める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事実を文の続きで答える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入力原文（全文）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4297680" cy="50728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currency of Indonesia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290365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参照回答（全文）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1261"/>
            <a:ext cx="4206240" cy="68961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rupiah / Rp / IDR / Indonesian rupiah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335024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日本語訳（入力・答えの意味）</a:t>
            </a:r>
          </a:p>
        </p:txBody>
      </p:sp>
      <p:sp>
        <p:nvSpPr>
          <p:cNvPr id="9" name="quote-frame"/>
          <p:cNvSpPr/>
          <p:nvPr/>
        </p:nvSpPr>
        <p:spPr>
          <a:xfrm>
            <a:off x="5029200" y="1655064"/>
            <a:ext cx="3566160" cy="44668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インドネシアの通貨は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289031"/>
            <a:ext cx="3474720" cy="1051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ルピア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96512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名前、通貨記号Rp、通貨コードIDRを、いずれも参照回答として認める。</a:t>
            </a:r>
          </a:p>
        </p:txBody>
      </p:sp>
      <p:sp>
        <p:nvSpPr>
          <p:cNvPr id="12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WikiFact — 公開入力・参照回答。 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https://crfm.stanford.edu/helm/classic/v0.4.0/#/groups/wikifact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実例3：事件名から原告を答える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事実を文の続きで答える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入力原文（全文）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4297680" cy="50728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plaintiff in USL v. BSDi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290365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参照回答（全文）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1261"/>
            <a:ext cx="4206240" cy="3722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Unix System Laboratories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335024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日本語訳（入力・答えの意味）</a:t>
            </a:r>
          </a:p>
        </p:txBody>
      </p:sp>
      <p:sp>
        <p:nvSpPr>
          <p:cNvPr id="9" name="quote-frame"/>
          <p:cNvSpPr/>
          <p:nvPr/>
        </p:nvSpPr>
        <p:spPr>
          <a:xfrm>
            <a:off x="5029200" y="1655064"/>
            <a:ext cx="3566160" cy="44801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USL対BSDi事件の原告は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290365"/>
            <a:ext cx="3474720" cy="1051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Unix System Laboratories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96512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事件名から、原告となった組織の名前を答える。</a:t>
            </a:r>
          </a:p>
        </p:txBody>
      </p:sp>
      <p:sp>
        <p:nvSpPr>
          <p:cNvPr id="12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WikiFact — 公開入力・参照回答。 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https://crfm.stanford.edu/helm/classic/v0.4.0/#/groups/wikifact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参照のいずれかに一致すれば正解になる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参照回答に一致するかを評価する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044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39"/>
              </a:lnSpc>
              <a:spcBef>
                <a:spcPts val="0"/>
              </a:spcBef>
              <a:spcAft>
                <a:spcPts val="1200"/>
              </a:spcAft>
              <a:buNone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生成した名前が、参照回答のいずれかに一致した割合で正答率を求める。照合では英字の大小、冠詞、句読点、余分な空白をならす。</a:t>
            </a:r>
          </a:p>
          <a:p>
            <a:pPr>
              <a:lnSpc>
                <a:spcPts val="2439"/>
              </a:lnSpc>
              <a:spcAft>
                <a:spcPts val="0"/>
              </a:spcAft>
              <a:buNone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一つの答えだけを見るAccuracy@1と、複数候補のどれかが合えばよいAccuracy@Kでは、正解とする条件が変わる。次の出力例では、先頭候補と5候補全体を比べる。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evaluate_reference_metrics。 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https://github.com/stanford-crfm/helm/blob/main/src/helm/benchmark/metrics/evaluate_reference_metrics.py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略称が、参照回答に含まれない場合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参照回答に一致するかを評価する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 firstRow="0" bandRow="0"/>
              <a:tblGrid>
                <a:gridCol w="822960"/>
                <a:gridCol w="5257800"/>
                <a:gridCol w="1965960"/>
              </a:tblGrid>
              <a:tr h="38404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順位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生成候補（全文）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正規化後の一致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8404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USL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04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Unisys Corporation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04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Unisys Corporation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04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Unix System Laboratories.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04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United States of America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14215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2023年の公開出力例（text-davinci-003）。先頭候補は不一致、5候補の中には一致する答えがある。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WikiFact — 公開入力・参照回答。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https://crfm.stanford.edu/helm/classic/v0.4.0/#/groups/wikifact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知識基盤から問題を作る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知識基盤から問題を作る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一般的な関係から、専門領域の関係へ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知識基盤から問題を作る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044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120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2019年のLAMAは、文の穴埋めを通して言語モデルの事実知識を調べる方法を広めた。</a:t>
            </a:r>
          </a:p>
          <a:p>
            <a:pPr>
              <a:lnSpc>
                <a:spcPts val="2499"/>
              </a:lnSpc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WikiFactでは対象を法律・経済・生物医学などへ広げ、関係と英語テンプレートを人手で選んだ。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Petroni et al. (2019), Language Models as Knowledge Bases? EMNLP-IJCNLP, 2463–2473.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https://aclanthology.org/D19-1250/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Liang et al. (2023), Holistic Evaluation of Language Models. Transactions on Machine Learning Research.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2022年1月のWikidataを使って変換する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知識基盤から問題を作る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044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120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選んだ関係の三つ組を、2022年1月のWikidata dumpから取得した。主語か目的語のいずれかに対応するWikipediaページがない三つ組を除いた。</a:t>
            </a:r>
          </a:p>
          <a:p>
            <a:pPr>
              <a:lnSpc>
                <a:spcPts val="2499"/>
              </a:lnSpc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関係ごとの英語テンプレートへ主語名を埋め込み、目的語の名前と別名を参照回答にする。関係・書式の選定は人手、各問題への変換は自動で行う。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(2023), Holistic Evaluation of Language Models. Transactions on Machine Learning Research.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12分野に86種類の関係を設けた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知識基盤から問題を作る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96312"/>
        </p:xfrm>
        <a:graphic>
          <a:graphicData uri="http://schemas.openxmlformats.org/drawingml/2006/table">
            <a:tbl>
              <a:tblPr firstRow="0" bandRow="0"/>
              <a:tblGrid>
                <a:gridCol w="2651760"/>
                <a:gridCol w="914400"/>
                <a:gridCol w="3566160"/>
                <a:gridCol w="914400"/>
              </a:tblGrid>
              <a:tr h="3566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関係数</a:t>
                      </a:r>
                    </a:p>
                  </a:txBody>
                  <a:tcPr marL="63500" marR="1524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関係数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566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芸術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1524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66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法律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</a:p>
                  </a:txBody>
                  <a:tcPr marL="63500" marR="1524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計算機科学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66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哲学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1524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66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政治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1524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化学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66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1524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生物医学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66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経済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1524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一般的事項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206240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一般的事項には、出生地・職業・所属・分類などを含む。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(2023), Holistic Evaluation of Language Models. Transactions on Machine Learning Research.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関係ごとに、学習・開発・テストへ分ける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知識基盤から問題を作る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28800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621792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用途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関係1種類当たりの設計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100問：プロンプトに示す例の候補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50問：開発用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850問：テスト用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387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通常は、関係ごとに1,000問を抽出して分割する。公開テストでは、問題数がこれより少ない関係もある。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(2023), Holistic Evaluation of Language Models. Transactions on Machine Learning Research.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参照回答に一致するかを評価する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参照回答に一致するかを評価する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参照に含まれる名前が、正誤を左右する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参照回答に一致するかを評価する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044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39"/>
              </a:lnSpc>
              <a:spcBef>
                <a:spcPts val="0"/>
              </a:spcBef>
              <a:spcAft>
                <a:spcPts val="1200"/>
              </a:spcAft>
              <a:buNone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実例3のUSLという略称は、参照回答に含まれていない。人が同じ組織を思い浮かべても、参照に一致する名前でなければ正解にならない。</a:t>
            </a:r>
          </a:p>
          <a:p>
            <a:pPr>
              <a:lnSpc>
                <a:spcPts val="2439"/>
              </a:lnSpc>
              <a:spcAft>
                <a:spcPts val="0"/>
              </a:spcAft>
              <a:buNone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知識基盤の名前や別名の収録範囲が、評価に影響する。複数の参照を持つ場合は、そのうち一つに合う補完を求める。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evaluate_reference_metrics。 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https://github.com/stanford-crfm/helm/blob/main/src/helm/benchmark/metrics/evaluate_reference_metrics.py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データの入手と利用条件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データの入手と利用条件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配布JSONLと、公開例から利用を始める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データの入手と利用条件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044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12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全86関係の問題は、CodaLabのtrain・dev・test JSONLとして案内されている。データの読込実装は、関係を指定して文章と参照回答を取り出す。</a:t>
            </a:r>
          </a:p>
          <a:p>
            <a:pPr>
              <a:lnSpc>
                <a:spcPts val="2379"/>
              </a:lnSpc>
              <a:spcAft>
                <a:spcPts val="12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公式サイトでは、10関係の公開入力・参照回答・出力を閲覧できる。問題の形を調べたり、名前の照合を試したりするために使える。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WIKIFactScenario。 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https://github.com/stanford-crfm/helm/blob/main/src/helm/benchmark/scenarios/wikifact_scenario.py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読込コードと、加工済みデータの利用条件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データの入手と利用条件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044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39"/>
              </a:lnSpc>
              <a:spcBef>
                <a:spcPts val="0"/>
              </a:spcBef>
              <a:spcAft>
                <a:spcPts val="1200"/>
              </a:spcAft>
              <a:buNone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公開されている読込実装はApache License 2.0で提供される。加工済みWikiFactデータの専用ライセンスは、論文と読込コードには明記されていない。</a:t>
            </a:r>
          </a:p>
          <a:p>
            <a:pPr>
              <a:lnSpc>
                <a:spcPts val="2439"/>
              </a:lnSpc>
              <a:spcAft>
                <a:spcPts val="0"/>
              </a:spcAft>
              <a:buNone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データを再配布・再利用する際の条件は、配布元への確認が必要である。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Apache License 2.0（読込コード）。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https://github.com/stanford-crfm/helm/blob/main/LICENSE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専門領域の知識を、名前の補完で測る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データの入手と利用条件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044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120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WikiFactは、Wikidata由来の86関係を文の補完へ変え、一般的な事実から法律・経済・生物医学までを扱う。複数の対象や別名を正解として持つ。</a:t>
            </a:r>
          </a:p>
          <a:p>
            <a:pPr>
              <a:lnSpc>
                <a:spcPts val="2499"/>
              </a:lnSpc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根拠文を与えず、モデルが事実を表す名前を答えられるかを調べる。入力の関係や知識の時点、参照に含まれる名前の範囲が評価の意味を決める。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(2023), Holistic Evaluation of Language Models. Transactions on Machine Learning Research.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686816"/>
          </a:xfrm>
        </p:spPr>
        <p:txBody>
          <a:bodyPr wrap="square" lIns="0" rIns="0" tIns="0" bIns="10160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追加の実例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公開例のデータ形式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実例4：固有名をカテゴリに結び付ける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入力原文（全文）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4297680" cy="44801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WZRO-LP is an instance 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290365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参照回答（全文）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1261"/>
            <a:ext cx="4206240" cy="68961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radio station / radio broadcasting station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335024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日本語訳（入力・答えの意味）</a:t>
            </a:r>
          </a:p>
        </p:txBody>
      </p:sp>
      <p:sp>
        <p:nvSpPr>
          <p:cNvPr id="9" name="quote-frame"/>
          <p:cNvSpPr/>
          <p:nvPr/>
        </p:nvSpPr>
        <p:spPr>
          <a:xfrm>
            <a:off x="5029200" y="1655064"/>
            <a:ext cx="3566160" cy="74726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WZRO-LPは次の種類に当たる：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606544"/>
            <a:ext cx="3474720" cy="1051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ラジオ局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96512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二つの英語表現が同じカテゴリを表す参照になっている。</a:t>
            </a:r>
          </a:p>
        </p:txBody>
      </p:sp>
      <p:sp>
        <p:nvSpPr>
          <p:cNvPr id="12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WikiFact — 公開入力・参照回答。 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https://crfm.stanford.edu/helm/classic/v0.4.0/#/groups/wikifact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実例5：薬剤と治療対象を結び付ける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入力原文（全文）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4297680" cy="75706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caramiphen has effects on diseases such 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07878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参照回答（全文）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18773"/>
            <a:ext cx="4206240" cy="3722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cough / coughing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335024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日本語訳（入力・答えの意味）</a:t>
            </a:r>
          </a:p>
        </p:txBody>
      </p:sp>
      <p:sp>
        <p:nvSpPr>
          <p:cNvPr id="9" name="quote-frame"/>
          <p:cNvSpPr/>
          <p:nvPr/>
        </p:nvSpPr>
        <p:spPr>
          <a:xfrm>
            <a:off x="5029200" y="1655064"/>
            <a:ext cx="3566160" cy="76384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カラミフェンが作用する疾患・症状には、次がある：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606188"/>
            <a:ext cx="3474720" cy="1051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96512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Wikidataの関係を補完する課題。ここではcoughとcoughingが参照に入る。</a:t>
            </a:r>
          </a:p>
        </p:txBody>
      </p:sp>
      <p:sp>
        <p:nvSpPr>
          <p:cNvPr id="12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WikiFact — 公開入力・参照回答。 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https://crfm.stanford.edu/helm/classic/v0.4.0/#/groups/wikifact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実例6：役職と組織の包含関係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入力原文（全文）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4297680" cy="50728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Taoiseach is part 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290365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参照回答（全文）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1261"/>
            <a:ext cx="4206240" cy="68961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Government of Ireland / Cabinet of Ireland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335024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日本語訳（入力・答えの意味）</a:t>
            </a:r>
          </a:p>
        </p:txBody>
      </p:sp>
      <p:sp>
        <p:nvSpPr>
          <p:cNvPr id="9" name="quote-frame"/>
          <p:cNvSpPr/>
          <p:nvPr/>
        </p:nvSpPr>
        <p:spPr>
          <a:xfrm>
            <a:off x="5029200" y="1655064"/>
            <a:ext cx="3566160" cy="106442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アイルランド首相（Taoiseach）が属するのは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923701"/>
            <a:ext cx="3474720" cy="1051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アイルランド政府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96512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Government of IrelandとCabinet of Irelandを参照とする。</a:t>
            </a:r>
          </a:p>
        </p:txBody>
      </p:sp>
      <p:sp>
        <p:nvSpPr>
          <p:cNvPr id="12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WikiFact — 公開入力・参照回答。 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https://crfm.stanford.edu/helm/classic/v0.4.0/#/groups/wikifact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実例7：出生地を地名で答える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入力原文（全文）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4297680" cy="44801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AURORA was born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290365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参照回答（全文）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1261"/>
            <a:ext cx="4206240" cy="100698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Stavanger / Stavanger, Rogaland, Norway / Stavanger, Norway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335024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日本語訳（入力・答えの意味）</a:t>
            </a:r>
          </a:p>
        </p:txBody>
      </p:sp>
      <p:sp>
        <p:nvSpPr>
          <p:cNvPr id="9" name="quote-frame"/>
          <p:cNvSpPr/>
          <p:nvPr/>
        </p:nvSpPr>
        <p:spPr>
          <a:xfrm>
            <a:off x="5029200" y="1655064"/>
            <a:ext cx="3566160" cy="74726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AURORAが生まれた場所は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606544"/>
            <a:ext cx="3474720" cy="1051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スタヴァンゲル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96512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都市名だけの表記と、国名・地域名を添えた表記を認める。</a:t>
            </a:r>
          </a:p>
        </p:txBody>
      </p:sp>
      <p:sp>
        <p:nvSpPr>
          <p:cNvPr id="12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WikiFact — 公開入力・参照回答。 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https://crfm.stanford.edu/helm/classic/v0.4.0/#/groups/wikifact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実例8：医学的評価法の考案者を答える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入力原文（全文）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4297680" cy="50728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Apgar score was discovered by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290366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参照回答（全文）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1261"/>
            <a:ext cx="4206240" cy="68961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Virginia Apgar / Virginia Agpar / Virginia Apgar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335024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日本語訳（入力・答えの意味）</a:t>
            </a:r>
          </a:p>
        </p:txBody>
      </p:sp>
      <p:sp>
        <p:nvSpPr>
          <p:cNvPr id="9" name="quote-frame"/>
          <p:cNvSpPr/>
          <p:nvPr/>
        </p:nvSpPr>
        <p:spPr>
          <a:xfrm>
            <a:off x="5029200" y="1655064"/>
            <a:ext cx="3566160" cy="74726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アプガースコアを考案したのは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606544"/>
            <a:ext cx="3474720" cy="1051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バージニア・アプガー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96512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医学的評価法の考案者を「discovered by」というテンプレートで尋ねる。参照にはVirginia Agparという表記や、同じ名前の重複が含まれる。</a:t>
            </a:r>
          </a:p>
        </p:txBody>
      </p:sp>
      <p:sp>
        <p:nvSpPr>
          <p:cNvPr id="12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WikiFact — 公開入力・参照回答。 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https://crfm.stanford.edu/helm/classic/v0.4.0/#/groups/wikifact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実例9：人物が務める役職を答える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入力原文（全文）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4297680" cy="75706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position held by Alison Foster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07878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参照回答（全文）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18773"/>
            <a:ext cx="4206240" cy="3722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High Court judge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335024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日本語訳（入力・答えの意味）</a:t>
            </a:r>
          </a:p>
        </p:txBody>
      </p:sp>
      <p:sp>
        <p:nvSpPr>
          <p:cNvPr id="9" name="quote-frame"/>
          <p:cNvSpPr/>
          <p:nvPr/>
        </p:nvSpPr>
        <p:spPr>
          <a:xfrm>
            <a:off x="5029200" y="1655064"/>
            <a:ext cx="3566160" cy="76419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アリソン・フォスターの役職は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606544"/>
            <a:ext cx="3474720" cy="1051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高等法院判事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96512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人物と役職の関係を尋ねる。参照回答は高等法院判事である。</a:t>
            </a:r>
          </a:p>
        </p:txBody>
      </p:sp>
      <p:sp>
        <p:nvSpPr>
          <p:cNvPr id="12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WikiFact — 公開入力・参照回答。 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https://crfm.stanford.edu/helm/classic/v0.4.0/#/groups/wikifact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実例10：病態から症状・徴候を答える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入力原文（全文）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4297680" cy="11419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secondary hypertrophic osteoarthropathy has symptoms such 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925034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参照回答（全文）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235930"/>
            <a:ext cx="4206240" cy="13243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nail clubbing / digital clubbing / clubbing of fingers / Hippocratic fingers / finger clubbing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335024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日本語訳（入力・答えの意味）</a:t>
            </a:r>
          </a:p>
        </p:txBody>
      </p:sp>
      <p:sp>
        <p:nvSpPr>
          <p:cNvPr id="9" name="quote-frame"/>
          <p:cNvSpPr/>
          <p:nvPr/>
        </p:nvSpPr>
        <p:spPr>
          <a:xfrm>
            <a:off x="5029200" y="1655064"/>
            <a:ext cx="3566160" cy="76384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続発性肥大性骨関節症の症状・徴候には、次がある：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606188"/>
            <a:ext cx="3474720" cy="1051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ばち指</a:t>
            </a:r>
          </a:p>
        </p:txBody>
      </p:sp>
      <p:sp>
        <p:nvSpPr>
          <p:cNvPr id="11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WikiFact — 公開入力・参照回答。 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https://crfm.stanford.edu/helm/classic/v0.4.0/#/groups/wikifact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実例11：古典作品の著者を答える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入力原文（全文）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4297680" cy="75706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author of Dialectics of Nature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07878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参照回答（全文）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18773"/>
            <a:ext cx="4206240" cy="100698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Friedrich Engels / F. Engels / Frederik Engels / Friedrich Engles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335024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日本語訳（入力・答えの意味）</a:t>
            </a:r>
          </a:p>
        </p:txBody>
      </p:sp>
      <p:sp>
        <p:nvSpPr>
          <p:cNvPr id="9" name="quote-frame"/>
          <p:cNvSpPr/>
          <p:nvPr/>
        </p:nvSpPr>
        <p:spPr>
          <a:xfrm>
            <a:off x="5029200" y="1655064"/>
            <a:ext cx="3566160" cy="44668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『自然弁証法』の著者は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289031"/>
            <a:ext cx="3474720" cy="1051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フリードリヒ・エンゲルス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96512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イニシャル表記などを含む複数の別名が参照になる。</a:t>
            </a:r>
          </a:p>
        </p:txBody>
      </p:sp>
      <p:sp>
        <p:nvSpPr>
          <p:cNvPr id="12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WikiFact — 公開入力・参照回答。 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https://crfm.stanford.edu/helm/classic/v0.4.0/#/groups/wikifact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実例12：歴史上の地域の通貨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入力原文（全文）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4297680" cy="75706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currency of British Cyprus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07878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参照回答（全文）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18773"/>
            <a:ext cx="4206240" cy="3722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Cypriot pound / Cypriot lira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335024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日本語訳（入力・答えの意味）</a:t>
            </a:r>
          </a:p>
        </p:txBody>
      </p:sp>
      <p:sp>
        <p:nvSpPr>
          <p:cNvPr id="9" name="quote-frame"/>
          <p:cNvSpPr/>
          <p:nvPr/>
        </p:nvSpPr>
        <p:spPr>
          <a:xfrm>
            <a:off x="5029200" y="1655064"/>
            <a:ext cx="3566160" cy="74726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イギリス領キプロスの通貨は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606544"/>
            <a:ext cx="3474720" cy="1051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キプロス・ポンド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96512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イギリス領キプロスで用いられた通貨を尋ねる。</a:t>
            </a:r>
          </a:p>
        </p:txBody>
      </p:sp>
      <p:sp>
        <p:nvSpPr>
          <p:cNvPr id="12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WikiFact — 公開入力・参照回答。 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https://crfm.stanford.edu/helm/classic/v0.4.0/#/groups/wikifact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実例13：参照に日本語表記が含まれる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入力原文（全文）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4297680" cy="82479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(5353) 1989 YT was discovered by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07878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参照回答（全文）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18773"/>
            <a:ext cx="4206240" cy="68961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Yoshiaki Oshima / おおしま よしあき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335024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日本語訳（入力・答えの意味）</a:t>
            </a:r>
          </a:p>
        </p:txBody>
      </p:sp>
      <p:sp>
        <p:nvSpPr>
          <p:cNvPr id="9" name="quote-frame"/>
          <p:cNvSpPr/>
          <p:nvPr/>
        </p:nvSpPr>
        <p:spPr>
          <a:xfrm>
            <a:off x="5029200" y="1655064"/>
            <a:ext cx="3566160" cy="75572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(5353) 1989 YTを発見したのは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606544"/>
            <a:ext cx="3474720" cy="1051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大島良明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96512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入力は英語のテンプレートだが、参照の別名には日本語表記も含まれる。</a:t>
            </a:r>
          </a:p>
        </p:txBody>
      </p:sp>
      <p:sp>
        <p:nvSpPr>
          <p:cNvPr id="12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WikiFact — 公開入力・参照回答。 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https://crfm.stanford.edu/helm/classic/v0.4.0/#/groups/wikifact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公開例のデータ形式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公開例のデータ形式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公開例のJSONから、入力と参照を読む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公開例のデータ形式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7000"/>
            <a:ext cx="7955279" cy="533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scenario_state.jsonは、公開された評価記録のJSON。各問の入力、参照回答、モデル出力を収める。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WikiFact — 公開入力・参照回答。 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https://crfm.stanford.edu/helm/classic/v0.4.0/#/groups/wikifact</a:t>
            </a:r>
          </a:p>
        </p:txBody>
      </p:sp>
      <p:sp>
        <p:nvSpPr>
          <p:cNvPr id="7" name="code-frame"/>
          <p:cNvSpPr txBox="1"/>
          <p:nvPr/>
        </p:nvSpPr>
        <p:spPr>
          <a:xfrm>
            <a:off x="548640" y="1591691"/>
            <a:ext cx="8046720" cy="1697610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none" lIns="152400" rIns="152400" tIns="59309" bIns="12700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303638"/>
                </a:solidFill>
                <a:latin typeface="DejaVu Sans Mono"/>
              </a:rPr>
              <a:t>import json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303638"/>
                </a:solidFill>
                <a:latin typeface="DejaVu Sans Mono"/>
              </a:rPr>
              <a:t>with open("scenario_state.json", encoding="utf-8") as f: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303638"/>
                </a:solidFill>
                <a:latin typeface="DejaVu Sans Mono"/>
              </a:rPr>
              <a:t>    state = json.load(f)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303638"/>
                </a:solidFill>
                <a:latin typeface="DejaVu Sans Mono"/>
              </a:rPr>
              <a:t>example = state["request_states"][0]["instance"]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303638"/>
                </a:solidFill>
                <a:latin typeface="DejaVu Sans Mono"/>
              </a:rPr>
              <a:t>print(example["input"]["text"])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303638"/>
                </a:solidFill>
                <a:latin typeface="DejaVu Sans Mono"/>
              </a:rPr>
              <a:t>print([r["output"]["text"] for r in example["references"]])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Holistic Evaluation of Language Models"/>
          <p:cNvSpPr txBox="1"/>
          <p:nvPr/>
        </p:nvSpPr>
        <p:spPr>
          <a:xfrm>
            <a:off x="548640" y="1463040"/>
            <a:ext cx="8046720" cy="15888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Holistic Evaluation of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Percy Liang et al. · 2023 · Transactions on Machine Learning Research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多面的な言語モデル評価を設計し、知識評価の新規データとしてWikiFactを構築した。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  <p:sp>
        <p:nvSpPr>
          <p:cNvPr id="5" name="文献 2: Language Models as Knowledge Bases?"/>
          <p:cNvSpPr txBox="1"/>
          <p:nvPr/>
        </p:nvSpPr>
        <p:spPr>
          <a:xfrm>
            <a:off x="548640" y="3054985"/>
            <a:ext cx="8046720" cy="15888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Language Models as Knowledge Bases?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Fabio Petroni et al. · 2019 · EMNLP-IJCNLP, 2463–2473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文の穴埋めを通して事実知識を取り出すLAMAを提案し、言語モデルの知識表現を分析する。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https://aclanthology.org/D19-1250/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HELM Classic — WikiFact"/>
          <p:cNvSpPr txBox="1"/>
          <p:nvPr/>
        </p:nvSpPr>
        <p:spPr>
          <a:xfrm>
            <a:off x="548640" y="1463040"/>
            <a:ext cx="8046720" cy="13355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WikiFact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(2023). 公開入力・参照回答。参照2026-10-18。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関係ごとの入力、参照回答、既存モデル出力を閲覧できる。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https://crfm.stanford.edu/helm/classic/v0.4.0/#/groups/wikifact</a:t>
            </a:r>
          </a:p>
        </p:txBody>
      </p:sp>
      <p:sp>
        <p:nvSpPr>
          <p:cNvPr id="5" name="文献 2: HELM WIKIFactScenario"/>
          <p:cNvSpPr txBox="1"/>
          <p:nvPr/>
        </p:nvSpPr>
        <p:spPr>
          <a:xfrm>
            <a:off x="548640" y="2801620"/>
            <a:ext cx="8046720" cy="13355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WIKIFactScenario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(n.d.). 公開読込実装。参照2026-10-18。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86関係のIDと、問題・参照回答をJSONLから読み込む手順を定義する。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https://github.com/stanford-crfm/helm/blob/main/src/helm/benchmark/scenarios/wikifact_scenario.py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2026-10-18T07:11:06Z</dcterms:modified>
  <dc:title>wikifact</dc:title>
  <dc:creator>sasakiy84</dc:creator>
  <dcterms:created xsi:type="dcterms:W3CDTF">2026-10-18T07:11:06Z</dcterms:created>
  <dc:language>ja-JP</dc:language>
</cp:coreProperties>
</file>