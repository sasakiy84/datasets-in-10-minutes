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crfm.stanford.edu/helm/classic/v0.4.0/#/groups/wikifact"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211.09110"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211.09110"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wikifact"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wikifact"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wikifact"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tanford-crfm/helm/blob/main/src/helm/benchmark/metrics/evaluate_reference_metrics.py"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wikifact"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9-1250/" TargetMode="External"/><Relationship Id="rId3" Type="http://schemas.openxmlformats.org/officeDocument/2006/relationships/hyperlink" Target="https://arxiv.org/abs/2211.09110"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211.09110"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211.09110"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211.09110"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wikifact"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wikifact"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wikifact"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wikifact"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wikifact"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tanford-crfm/helm/blob/main/src/helm/benchmark/metrics/evaluate_reference_metrics.py"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tanford-crfm/helm/blob/main/src/helm/benchmark/scenarios/wikifact_scenario.py"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tanford-crfm/helm/blob/main/src/helm/benchmark/scenarios/wikifact_scenario.py"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tanford-crfm/helm/blob/main/LICENSE"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211.09110"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wikifact"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wikifact"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wikifact"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wikifact"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wikifact"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wikifact"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wikifact"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wikifact"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wikifact"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wikifact"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wikifact"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wikifact"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wikifact"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tanford-crfm/helm/blob/main/src/helm/benchmark/scenarios/wikifact_scenario.py"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wikifact"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wikifact"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211.09110"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211.09110" TargetMode="External"/><Relationship Id="rId3" Type="http://schemas.openxmlformats.org/officeDocument/2006/relationships/hyperlink" Target="https://aclanthology.org/D19-1250/"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wikifact" TargetMode="External"/><Relationship Id="rId3" Type="http://schemas.openxmlformats.org/officeDocument/2006/relationships/hyperlink" Target="https://github.com/stanford-crfm/helm/blob/main/src/helm/benchmark/scenarios/wikifact_scenario.p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888452"/>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WikiFact</a:t>
            </a:r>
          </a:p>
        </p:txBody>
      </p:sp>
      <p:sp>
        <p:nvSpPr>
          <p:cNvPr id="3" name="Subtitle 2"/>
          <p:cNvSpPr>
            <a:spLocks noGrp="1"/>
          </p:cNvSpPr>
          <p:nvPr>
            <p:ph type="subTitle" idx="1"/>
          </p:nvPr>
        </p:nvSpPr>
        <p:spPr>
          <a:xfrm>
            <a:off x="548640" y="2898102"/>
            <a:ext cx="8046720" cy="488315"/>
          </a:xfrm>
        </p:spPr>
        <p:txBody>
          <a:bodyPr lIns="0" rIns="0" tIns="0" bIns="0">
            <a:noAutofit/>
          </a:bodyPr>
          <a:lstStyle/>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知識基盤の事実を、文の続きとして答える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公式HELMサイト：WikiFactの公開結果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WikiFact</a:t>
            </a:r>
          </a:p>
        </p:txBody>
      </p:sp>
      <p:pic>
        <p:nvPicPr>
          <p:cNvPr id="4" name="Picture 3" descr="official-site.png"/>
          <p:cNvPicPr>
            <a:picLocks noChangeAspect="1"/>
          </p:cNvPicPr>
          <p:nvPr/>
        </p:nvPicPr>
        <p:blipFill>
          <a:blip r:embed="rId2"/>
          <a:stretch>
            <a:fillRect/>
          </a:stretch>
        </p:blipFill>
        <p:spPr>
          <a:xfrm>
            <a:off x="1815084" y="1481328"/>
            <a:ext cx="5513832"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WikiFact. 2023-11-17の固定版。2026-10-18参照。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https://crfm.stanford.edu/helm/classic/v0.4.0/#/groups/wikifact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事実を文の続きで答える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知識基盤から問題を作る</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HELMの採点と公開成績</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利用の位置付けと入手方法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事実を文の続きで答える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事実を文の続きで答える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知識を、短い文の補完で尋ねる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事実を文の続きで答える</a:t>
            </a:r>
          </a:p>
        </p:txBody>
      </p:sp>
      <p:sp>
        <p:nvSpPr>
          <p:cNvPr id="4" name="TextBox 3"/>
          <p:cNvSpPr txBox="1"/>
          <p:nvPr/>
        </p:nvSpPr>
        <p:spPr>
          <a:xfrm>
            <a:off x="594360" y="1463040"/>
            <a:ext cx="7955279" cy="3044952"/>
          </a:xfrm>
          <a:prstGeom prst="rect">
            <a:avLst/>
          </a:prstGeom>
          <a:noFill/>
        </p:spPr>
        <p:txBody>
          <a:bodyPr wrap="square" lIns="0" rIns="0" tIns="0" bIns="0">
            <a:noAutofit/>
          </a:bodyPr>
          <a:lstStyle/>
          <a:p>
            <a:pPr algn="l">
              <a:lnSpc>
                <a:spcPts val="2499"/>
              </a:lnSpc>
              <a:spcBef>
                <a:spcPts val="0"/>
              </a:spcBef>
              <a:spcAft>
                <a:spcPts val="1200"/>
              </a:spcAft>
              <a:buNone/>
              <a:defRPr sz="2100" b="0">
                <a:solidFill>
                  <a:srgbClr val="303437"/>
                </a:solidFill>
                <a:latin typeface="Noto Sans"/>
              </a:defRPr>
            </a:pPr>
            <a:r>
              <a:rPr sz="2100" b="0" lang="ja-JP" altLang="en-US">
                <a:solidFill>
                  <a:srgbClr val="303437"/>
                </a:solidFill>
                <a:latin typeface="Noto Sans"/>
                <a:ea typeface="Noto Sans CJK JP"/>
                <a:cs typeface="Noto Sans"/>
              </a:rPr>
              <a:t>WikiFactは、知識基盤Wikidataの「主語・関係・目的語」という三つ組を、英語の短い文に変換した事実補完データ。</a:t>
            </a:r>
          </a:p>
          <a:p>
            <a:pPr>
              <a:lnSpc>
                <a:spcPts val="2499"/>
              </a:lnSpc>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モデルは「作品の著者は」「国の通貨は」といった文の続きを生成する。本文を検索する段階を設けず、知識を表す名前を出力できるかを測る。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Transactions on Machine Learning Research.</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正解の対象も、その呼び名も複数ある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事実を文の続きで答える</a:t>
            </a:r>
          </a:p>
        </p:txBody>
      </p:sp>
      <p:sp>
        <p:nvSpPr>
          <p:cNvPr id="4" name="TextBox 3"/>
          <p:cNvSpPr txBox="1"/>
          <p:nvPr/>
        </p:nvSpPr>
        <p:spPr>
          <a:xfrm>
            <a:off x="594360" y="1463040"/>
            <a:ext cx="7955279" cy="3044952"/>
          </a:xfrm>
          <a:prstGeom prst="rect">
            <a:avLst/>
          </a:prstGeom>
          <a:noFill/>
        </p:spPr>
        <p:txBody>
          <a:bodyPr wrap="square" lIns="0" rIns="0" tIns="0" bIns="0">
            <a:noAutofit/>
          </a:bodyPr>
          <a:lstStyle/>
          <a:p>
            <a:pPr algn="l">
              <a:lnSpc>
                <a:spcPts val="2499"/>
              </a:lnSpc>
              <a:spcBef>
                <a:spcPts val="0"/>
              </a:spcBef>
              <a:spcAft>
                <a:spcPts val="1200"/>
              </a:spcAft>
              <a:buNone/>
              <a:defRPr sz="2100" b="0">
                <a:solidFill>
                  <a:srgbClr val="303437"/>
                </a:solidFill>
                <a:latin typeface="Noto Sans"/>
              </a:defRPr>
            </a:pPr>
            <a:r>
              <a:rPr sz="2100" b="0" lang="ja-JP" altLang="en-US">
                <a:solidFill>
                  <a:srgbClr val="303437"/>
                </a:solidFill>
                <a:latin typeface="Noto Sans"/>
                <a:ea typeface="Noto Sans CJK JP"/>
                <a:cs typeface="Noto Sans"/>
              </a:rPr>
              <a:t>同じ作品に複数の著者がいるように、同じ入力から複数の対象を答えられる。また、一つの対象が複数の名前や略号を持つこともある。</a:t>
            </a:r>
          </a:p>
          <a:p>
            <a:pPr>
              <a:lnSpc>
                <a:spcPts val="2499"/>
              </a:lnSpc>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いずれかの許容対象の、いずれかの別名に一致すれば正解とする。次の3例は、公開実行の入力と参照回答の全文を示す。</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Transactions on Machine Learning Research.</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実例1：複数の著者と別名が正解になる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事実を文の続きで答える</a:t>
            </a:r>
          </a:p>
        </p:txBody>
      </p:sp>
      <p:sp>
        <p:nvSpPr>
          <p:cNvPr id="4" name="TextBox 3"/>
          <p:cNvSpPr txBox="1"/>
          <p:nvPr/>
        </p:nvSpPr>
        <p:spPr>
          <a:xfrm>
            <a:off x="548640" y="1335024"/>
            <a:ext cx="429768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入力原文（全文）</a:t>
            </a:r>
          </a:p>
        </p:txBody>
      </p:sp>
      <p:sp>
        <p:nvSpPr>
          <p:cNvPr id="5" name="quote-frame"/>
          <p:cNvSpPr/>
          <p:nvPr/>
        </p:nvSpPr>
        <p:spPr>
          <a:xfrm>
            <a:off x="548640" y="1655064"/>
            <a:ext cx="4297680" cy="82479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The author of The Glass Inferno is</a:t>
            </a:r>
          </a:p>
        </p:txBody>
      </p:sp>
      <p:sp>
        <p:nvSpPr>
          <p:cNvPr id="6" name="TextBox 5"/>
          <p:cNvSpPr txBox="1"/>
          <p:nvPr/>
        </p:nvSpPr>
        <p:spPr>
          <a:xfrm>
            <a:off x="594360" y="2607878"/>
            <a:ext cx="420624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参照回答（全文・重複を含む）</a:t>
            </a:r>
          </a:p>
        </p:txBody>
      </p:sp>
      <p:sp>
        <p:nvSpPr>
          <p:cNvPr id="7" name="TextBox 6"/>
          <p:cNvSpPr txBox="1"/>
          <p:nvPr/>
        </p:nvSpPr>
        <p:spPr>
          <a:xfrm>
            <a:off x="594360" y="2918773"/>
            <a:ext cx="4206240" cy="1006983"/>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Thomas N. Scortia / Thomas Nicholas Scortia / Frank M. Robinson</a:t>
            </a:r>
          </a:p>
        </p:txBody>
      </p:sp>
      <p:sp>
        <p:nvSpPr>
          <p:cNvPr id="8" name="TextBox 7"/>
          <p:cNvSpPr txBox="1"/>
          <p:nvPr/>
        </p:nvSpPr>
        <p:spPr>
          <a:xfrm>
            <a:off x="5029200" y="1335024"/>
            <a:ext cx="356616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日本語訳（入力・答えの意味）</a:t>
            </a:r>
          </a:p>
        </p:txBody>
      </p:sp>
      <p:sp>
        <p:nvSpPr>
          <p:cNvPr id="9" name="quote-frame"/>
          <p:cNvSpPr/>
          <p:nvPr/>
        </p:nvSpPr>
        <p:spPr>
          <a:xfrm>
            <a:off x="5029200" y="1655064"/>
            <a:ext cx="3566160" cy="8234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『The Glass Inferno』の著者は</a:t>
            </a:r>
          </a:p>
        </p:txBody>
      </p:sp>
      <p:sp>
        <p:nvSpPr>
          <p:cNvPr id="10" name="TextBox 9"/>
          <p:cNvSpPr txBox="1"/>
          <p:nvPr/>
        </p:nvSpPr>
        <p:spPr>
          <a:xfrm>
            <a:off x="5074920" y="2606544"/>
            <a:ext cx="3474720" cy="10515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Thomas N. Scortia</a:t>
            </a:r>
          </a:p>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Frank M. Robinson</a:t>
            </a:r>
          </a:p>
        </p:txBody>
      </p:sp>
      <p:sp>
        <p:nvSpPr>
          <p:cNvPr id="11" name="TextBox 10"/>
          <p:cNvSpPr txBox="1"/>
          <p:nvPr/>
        </p:nvSpPr>
        <p:spPr>
          <a:xfrm>
            <a:off x="594360" y="4096512"/>
            <a:ext cx="7955279" cy="457200"/>
          </a:xfrm>
          <a:prstGeom prst="rect">
            <a:avLst/>
          </a:prstGeom>
          <a:noFill/>
        </p:spPr>
        <p:txBody>
          <a:bodyPr wrap="square" lIns="0" rIns="0" tIns="0" bIns="0">
            <a:noAutofit/>
          </a:bodyPr>
          <a:lstStyle/>
          <a:p>
            <a:pPr algn="l">
              <a:lnSpc>
                <a:spcPts val="1888"/>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2人の著者のうち1人を答えればよい。Thomas Nicholas ScortiaはThomas N. Scortiaの別名で、3人目ではない。</a:t>
            </a:r>
          </a:p>
        </p:txBody>
      </p:sp>
      <p:sp>
        <p:nvSpPr>
          <p:cNvPr id="12"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WikiFact. 2023-11-17の固定版。2026-10-18参照。 test / author/id151（HELM内ID）</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https://crfm.stanford.edu/helm/classic/v0.4.0/#/groups/wikifact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実例2：通貨の名前とコードを認める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事実を文の続きで答える</a:t>
            </a:r>
          </a:p>
        </p:txBody>
      </p:sp>
      <p:sp>
        <p:nvSpPr>
          <p:cNvPr id="4" name="TextBox 3"/>
          <p:cNvSpPr txBox="1"/>
          <p:nvPr/>
        </p:nvSpPr>
        <p:spPr>
          <a:xfrm>
            <a:off x="548640" y="1335024"/>
            <a:ext cx="429768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入力原文（全文）</a:t>
            </a:r>
          </a:p>
        </p:txBody>
      </p:sp>
      <p:sp>
        <p:nvSpPr>
          <p:cNvPr id="5" name="quote-frame"/>
          <p:cNvSpPr/>
          <p:nvPr/>
        </p:nvSpPr>
        <p:spPr>
          <a:xfrm>
            <a:off x="548640" y="1655064"/>
            <a:ext cx="4297680" cy="50728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The currency of Indonesia is</a:t>
            </a:r>
          </a:p>
        </p:txBody>
      </p:sp>
      <p:sp>
        <p:nvSpPr>
          <p:cNvPr id="6" name="TextBox 5"/>
          <p:cNvSpPr txBox="1"/>
          <p:nvPr/>
        </p:nvSpPr>
        <p:spPr>
          <a:xfrm>
            <a:off x="594360" y="2290365"/>
            <a:ext cx="420624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参照回答（全文・重複を含む）</a:t>
            </a:r>
          </a:p>
        </p:txBody>
      </p:sp>
      <p:sp>
        <p:nvSpPr>
          <p:cNvPr id="7" name="TextBox 6"/>
          <p:cNvSpPr txBox="1"/>
          <p:nvPr/>
        </p:nvSpPr>
        <p:spPr>
          <a:xfrm>
            <a:off x="594360" y="2601261"/>
            <a:ext cx="4206240" cy="68961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rupiah / Rp / IDR / Indonesian rupiah</a:t>
            </a:r>
          </a:p>
        </p:txBody>
      </p:sp>
      <p:sp>
        <p:nvSpPr>
          <p:cNvPr id="8" name="TextBox 7"/>
          <p:cNvSpPr txBox="1"/>
          <p:nvPr/>
        </p:nvSpPr>
        <p:spPr>
          <a:xfrm>
            <a:off x="5029200" y="1335024"/>
            <a:ext cx="356616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日本語訳（入力・答えの意味）</a:t>
            </a:r>
          </a:p>
        </p:txBody>
      </p:sp>
      <p:sp>
        <p:nvSpPr>
          <p:cNvPr id="9" name="quote-frame"/>
          <p:cNvSpPr/>
          <p:nvPr/>
        </p:nvSpPr>
        <p:spPr>
          <a:xfrm>
            <a:off x="5029200" y="1655064"/>
            <a:ext cx="3566160" cy="5059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インドネシアの通貨は</a:t>
            </a:r>
          </a:p>
        </p:txBody>
      </p:sp>
      <p:sp>
        <p:nvSpPr>
          <p:cNvPr id="10" name="TextBox 9"/>
          <p:cNvSpPr txBox="1"/>
          <p:nvPr/>
        </p:nvSpPr>
        <p:spPr>
          <a:xfrm>
            <a:off x="5074920" y="2289031"/>
            <a:ext cx="3474720" cy="10515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ルピア</a:t>
            </a:r>
          </a:p>
        </p:txBody>
      </p:sp>
      <p:sp>
        <p:nvSpPr>
          <p:cNvPr id="11" name="TextBox 10"/>
          <p:cNvSpPr txBox="1"/>
          <p:nvPr/>
        </p:nvSpPr>
        <p:spPr>
          <a:xfrm>
            <a:off x="594360" y="4096512"/>
            <a:ext cx="7955279" cy="457200"/>
          </a:xfrm>
          <a:prstGeom prst="rect">
            <a:avLst/>
          </a:prstGeom>
          <a:noFill/>
        </p:spPr>
        <p:txBody>
          <a:bodyPr wrap="square" lIns="0" rIns="0" tIns="0" bIns="0">
            <a:noAutofit/>
          </a:bodyPr>
          <a:lstStyle/>
          <a:p>
            <a:pPr algn="l">
              <a:lnSpc>
                <a:spcPts val="1888"/>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名前、通貨記号Rp、通貨コードIDRを、いずれも参照回答として認める。</a:t>
            </a:r>
          </a:p>
        </p:txBody>
      </p:sp>
      <p:sp>
        <p:nvSpPr>
          <p:cNvPr id="12"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WikiFact. 2023-11-17の固定版。2026-10-18参照。 test / currency/id156（HELM内ID）</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https://crfm.stanford.edu/helm/classic/v0.4.0/#/groups/wikifact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実例3：事件名から原告を答える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事実を文の続きで答える</a:t>
            </a:r>
          </a:p>
        </p:txBody>
      </p:sp>
      <p:sp>
        <p:nvSpPr>
          <p:cNvPr id="4" name="TextBox 3"/>
          <p:cNvSpPr txBox="1"/>
          <p:nvPr/>
        </p:nvSpPr>
        <p:spPr>
          <a:xfrm>
            <a:off x="548640" y="1335024"/>
            <a:ext cx="429768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入力原文（全文）</a:t>
            </a:r>
          </a:p>
        </p:txBody>
      </p:sp>
      <p:sp>
        <p:nvSpPr>
          <p:cNvPr id="5" name="quote-frame"/>
          <p:cNvSpPr/>
          <p:nvPr/>
        </p:nvSpPr>
        <p:spPr>
          <a:xfrm>
            <a:off x="548640" y="1655064"/>
            <a:ext cx="4297680" cy="50728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The plaintiff in USL v. BSDi is</a:t>
            </a:r>
          </a:p>
        </p:txBody>
      </p:sp>
      <p:sp>
        <p:nvSpPr>
          <p:cNvPr id="6" name="TextBox 5"/>
          <p:cNvSpPr txBox="1"/>
          <p:nvPr/>
        </p:nvSpPr>
        <p:spPr>
          <a:xfrm>
            <a:off x="594360" y="2290365"/>
            <a:ext cx="420624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参照回答（全文・重複を含む）</a:t>
            </a:r>
          </a:p>
        </p:txBody>
      </p:sp>
      <p:sp>
        <p:nvSpPr>
          <p:cNvPr id="7" name="TextBox 6"/>
          <p:cNvSpPr txBox="1"/>
          <p:nvPr/>
        </p:nvSpPr>
        <p:spPr>
          <a:xfrm>
            <a:off x="594360" y="2601261"/>
            <a:ext cx="4206240" cy="372236"/>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Unix System Laboratories</a:t>
            </a:r>
          </a:p>
        </p:txBody>
      </p:sp>
      <p:sp>
        <p:nvSpPr>
          <p:cNvPr id="8" name="TextBox 7"/>
          <p:cNvSpPr txBox="1"/>
          <p:nvPr/>
        </p:nvSpPr>
        <p:spPr>
          <a:xfrm>
            <a:off x="5029200" y="1335024"/>
            <a:ext cx="356616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日本語訳（入力・答えの意味）</a:t>
            </a:r>
          </a:p>
        </p:txBody>
      </p:sp>
      <p:sp>
        <p:nvSpPr>
          <p:cNvPr id="9" name="quote-frame"/>
          <p:cNvSpPr/>
          <p:nvPr/>
        </p:nvSpPr>
        <p:spPr>
          <a:xfrm>
            <a:off x="5029200" y="1655064"/>
            <a:ext cx="3566160" cy="50728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USL対BSDi事件の原告は</a:t>
            </a:r>
          </a:p>
        </p:txBody>
      </p:sp>
      <p:sp>
        <p:nvSpPr>
          <p:cNvPr id="10" name="TextBox 9"/>
          <p:cNvSpPr txBox="1"/>
          <p:nvPr/>
        </p:nvSpPr>
        <p:spPr>
          <a:xfrm>
            <a:off x="5074920" y="2290365"/>
            <a:ext cx="3474720" cy="10515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Unix System Laboratories</a:t>
            </a:r>
          </a:p>
        </p:txBody>
      </p:sp>
      <p:sp>
        <p:nvSpPr>
          <p:cNvPr id="11" name="TextBox 10"/>
          <p:cNvSpPr txBox="1"/>
          <p:nvPr/>
        </p:nvSpPr>
        <p:spPr>
          <a:xfrm>
            <a:off x="594360" y="4096512"/>
            <a:ext cx="7955279" cy="457200"/>
          </a:xfrm>
          <a:prstGeom prst="rect">
            <a:avLst/>
          </a:prstGeom>
          <a:noFill/>
        </p:spPr>
        <p:txBody>
          <a:bodyPr wrap="square" lIns="0" rIns="0" tIns="0" bIns="0">
            <a:noAutofit/>
          </a:bodyPr>
          <a:lstStyle/>
          <a:p>
            <a:pPr algn="l">
              <a:lnSpc>
                <a:spcPts val="1888"/>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訴訟の当事者という関係を扱う。参照は1文字列。</a:t>
            </a:r>
          </a:p>
        </p:txBody>
      </p:sp>
      <p:sp>
        <p:nvSpPr>
          <p:cNvPr id="12"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WikiFact. 2023-11-17の固定版。2026-10-18参照。 test / plaintiff/id47（HELM内ID）</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https://crfm.stanford.edu/helm/classic/v0.4.0/#/groups/wikifact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候補を五つ作り、対数確率で順位を付ける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事実を文の続きで答える</a:t>
            </a:r>
          </a:p>
        </p:txBody>
      </p:sp>
      <p:sp>
        <p:nvSpPr>
          <p:cNvPr id="4" name="TextBox 3"/>
          <p:cNvSpPr txBox="1"/>
          <p:nvPr/>
        </p:nvSpPr>
        <p:spPr>
          <a:xfrm>
            <a:off x="594360" y="1463040"/>
            <a:ext cx="7955279" cy="3044952"/>
          </a:xfrm>
          <a:prstGeom prst="rect">
            <a:avLst/>
          </a:prstGeom>
          <a:noFill/>
        </p:spPr>
        <p:txBody>
          <a:bodyPr wrap="square" lIns="0" rIns="0" tIns="0" bIns="0">
            <a:noAutofit/>
          </a:bodyPr>
          <a:lstStyle/>
          <a:p>
            <a:pPr algn="l">
              <a:lnSpc>
                <a:spcPts val="2439"/>
              </a:lnSpc>
              <a:spcBef>
                <a:spcPts val="0"/>
              </a:spcBef>
              <a:spcAft>
                <a:spcPts val="1200"/>
              </a:spcAft>
              <a:buNone/>
              <a:defRPr sz="2050" b="0">
                <a:solidFill>
                  <a:srgbClr val="303437"/>
                </a:solidFill>
                <a:latin typeface="Noto Sans"/>
              </a:defRPr>
            </a:pPr>
            <a:r>
              <a:rPr sz="2050" b="0" lang="ja-JP" altLang="en-US">
                <a:solidFill>
                  <a:srgbClr val="303437"/>
                </a:solidFill>
                <a:latin typeface="Noto Sans"/>
                <a:ea typeface="Noto Sans CJK JP"/>
                <a:cs typeface="Noto Sans"/>
              </a:rPr>
              <a:t>HELMでは、1問当たり5候補を生成する設定を使う。出力の対数確率の和で並べ、最上位の候補をAccuracy@1で採点する。</a:t>
            </a:r>
          </a:p>
          <a:p>
            <a:pPr>
              <a:lnSpc>
                <a:spcPts val="2439"/>
              </a:lnSpc>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Accuracy@5では、最大5候補のどれかが参照回答に一致すれば正解。文字列を小文字化し、冠詞・句読点・余分な空白を除いて照合する。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evaluate_reference_metrics. 候補の順位付け・正規化・@K採点。2026-10-18確認。</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https://github.com/stanford-crfm/helm/blob/main/src/helm/benchmark/metrics/evaluate_reference_metrics.py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実例3の公開モデル出力と採点</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事実を文の続きで答える</a:t>
            </a:r>
          </a:p>
        </p:txBody>
      </p:sp>
      <p:graphicFrame>
        <p:nvGraphicFramePr>
          <p:cNvPr id="4" name="Table 3"/>
          <p:cNvGraphicFramePr>
            <a:graphicFrameLocks noGrp="1"/>
          </p:cNvGraphicFramePr>
          <p:nvPr/>
        </p:nvGraphicFramePr>
        <p:xfrm>
          <a:off x="548640" y="1508760"/>
          <a:ext cx="8046720" cy="2304288"/>
        </p:xfrm>
        <a:graphic>
          <a:graphicData uri="http://schemas.openxmlformats.org/drawingml/2006/table">
            <a:tbl>
              <a:tblPr firstRow="0" bandRow="0"/>
              <a:tblGrid>
                <a:gridCol w="822960"/>
                <a:gridCol w="5257800"/>
                <a:gridCol w="1965960"/>
              </a:tblGrid>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順位</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生成候補（全文）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正規化後の一致</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USL</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Unisys Corporation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Unisys Corporation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Unix System Laboratories.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The United States of America</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14215"/>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text-davinci-003、第1試行。@1は0、@5は1（USLは参照にない）。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WikiFact. 2023-11-17の固定版。2026-10-18参照。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https://crfm.stanford.edu/helm/classic/v0.4.0/#/groups/wikifact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知識基盤から問題を作る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知識基盤から問題を作る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一般的な関係から、専門領域の関係へ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知識基盤から問題を作る</a:t>
            </a:r>
          </a:p>
        </p:txBody>
      </p:sp>
      <p:sp>
        <p:nvSpPr>
          <p:cNvPr id="4" name="TextBox 3"/>
          <p:cNvSpPr txBox="1"/>
          <p:nvPr/>
        </p:nvSpPr>
        <p:spPr>
          <a:xfrm>
            <a:off x="594360" y="1463040"/>
            <a:ext cx="7955279" cy="3044952"/>
          </a:xfrm>
          <a:prstGeom prst="rect">
            <a:avLst/>
          </a:prstGeom>
          <a:noFill/>
        </p:spPr>
        <p:txBody>
          <a:bodyPr wrap="square" lIns="0" rIns="0" tIns="0" bIns="0">
            <a:noAutofit/>
          </a:bodyPr>
          <a:lstStyle/>
          <a:p>
            <a:pPr algn="l">
              <a:lnSpc>
                <a:spcPts val="2499"/>
              </a:lnSpc>
              <a:spcBef>
                <a:spcPts val="0"/>
              </a:spcBef>
              <a:spcAft>
                <a:spcPts val="1200"/>
              </a:spcAft>
              <a:buNone/>
              <a:defRPr sz="2100" b="0">
                <a:solidFill>
                  <a:srgbClr val="303437"/>
                </a:solidFill>
                <a:latin typeface="Noto Sans"/>
              </a:defRPr>
            </a:pPr>
            <a:r>
              <a:rPr sz="2100" b="0" lang="ja-JP" altLang="en-US">
                <a:solidFill>
                  <a:srgbClr val="303437"/>
                </a:solidFill>
                <a:latin typeface="Noto Sans"/>
                <a:ea typeface="Noto Sans CJK JP"/>
                <a:cs typeface="Noto Sans"/>
              </a:rPr>
              <a:t>2019年のLAMAは、文の穴埋めを通して言語モデルの事実知識を調べる方法を広めた。</a:t>
            </a:r>
          </a:p>
          <a:p>
            <a:pPr>
              <a:lnSpc>
                <a:spcPts val="2499"/>
              </a:lnSpc>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HELMではより幅広い知識を対象にするため、法律・経済・生物医学などの関係とテンプレートを手で選び、WikiFactを作った。</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Petroni et al. (2019), Language Models as Knowledge Bases? EMNLP-IJCNLP, 2463–2473.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https://aclanthology.org/D19-1250/</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Liang et al. (2023), Holistic Evaluation of Language Models. Transactions on Machine Learning Research.</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https://arxiv.org/abs/2211.09110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2022年1月のWikidataを使って変換する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知識基盤から問題を作る</a:t>
            </a:r>
          </a:p>
        </p:txBody>
      </p:sp>
      <p:sp>
        <p:nvSpPr>
          <p:cNvPr id="4" name="TextBox 3"/>
          <p:cNvSpPr txBox="1"/>
          <p:nvPr/>
        </p:nvSpPr>
        <p:spPr>
          <a:xfrm>
            <a:off x="594360" y="1463040"/>
            <a:ext cx="7955279" cy="3044952"/>
          </a:xfrm>
          <a:prstGeom prst="rect">
            <a:avLst/>
          </a:prstGeom>
          <a:noFill/>
        </p:spPr>
        <p:txBody>
          <a:bodyPr wrap="square" lIns="0" rIns="0" tIns="0" bIns="0">
            <a:noAutofit/>
          </a:bodyPr>
          <a:lstStyle/>
          <a:p>
            <a:pPr algn="l">
              <a:lnSpc>
                <a:spcPts val="2499"/>
              </a:lnSpc>
              <a:spcBef>
                <a:spcPts val="0"/>
              </a:spcBef>
              <a:spcAft>
                <a:spcPts val="1200"/>
              </a:spcAft>
              <a:buNone/>
              <a:defRPr sz="2100" b="0">
                <a:solidFill>
                  <a:srgbClr val="303437"/>
                </a:solidFill>
                <a:latin typeface="Noto Sans"/>
              </a:defRPr>
            </a:pPr>
            <a:r>
              <a:rPr sz="2100" b="0" lang="ja-JP" altLang="en-US">
                <a:solidFill>
                  <a:srgbClr val="303437"/>
                </a:solidFill>
                <a:latin typeface="Noto Sans"/>
                <a:ea typeface="Noto Sans CJK JP"/>
                <a:cs typeface="Noto Sans"/>
              </a:rPr>
              <a:t>選んだ関係の三つ組を、2022年1月のWikidata dumpから取得した。主語か目的語のいずれかに対応するWikipediaページがない三つ組を除いた。</a:t>
            </a:r>
          </a:p>
          <a:p>
            <a:pPr>
              <a:lnSpc>
                <a:spcPts val="2499"/>
              </a:lnSpc>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関係ごとの英語テンプレートへ主語名を埋め込み、目的語の名前と別名を参照回答にする。関係・書式の選定は人手、各問題への変換は自動で行う。</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Transactions on Machine Learning Research.</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12分野に86種類の関係を設けた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知識基盤から問題を作る</a:t>
            </a:r>
          </a:p>
        </p:txBody>
      </p:sp>
      <p:graphicFrame>
        <p:nvGraphicFramePr>
          <p:cNvPr id="4" name="Table 3"/>
          <p:cNvGraphicFramePr>
            <a:graphicFrameLocks noGrp="1"/>
          </p:cNvGraphicFramePr>
          <p:nvPr/>
        </p:nvGraphicFramePr>
        <p:xfrm>
          <a:off x="548640" y="1508760"/>
          <a:ext cx="8046720" cy="2496312"/>
        </p:xfrm>
        <a:graphic>
          <a:graphicData uri="http://schemas.openxmlformats.org/drawingml/2006/table">
            <a:tbl>
              <a:tblPr firstRow="0" bandRow="0"/>
              <a:tblGrid>
                <a:gridCol w="2651760"/>
                <a:gridCol w="914400"/>
                <a:gridCol w="3566160"/>
                <a:gridCol w="914400"/>
              </a:tblGrid>
              <a:tr h="356616">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分野</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関係数</a:t>
                      </a:r>
                    </a:p>
                  </a:txBody>
                  <a:tcPr marL="63500" marR="1524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分野</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関係数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56616">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芸術</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a:t>
                      </a:r>
                    </a:p>
                  </a:txBody>
                  <a:tcPr marL="63500" marR="1524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数学</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56616">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法律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7</a:t>
                      </a:r>
                    </a:p>
                  </a:txBody>
                  <a:tcPr marL="63500" marR="152400" marT="38100" marB="38100" anchor="ctr">
                    <a:lnL w="7620">
                      <a:noFill/>
                    </a:lnL>
                    <a:lnR w="7620">
                      <a:noFill/>
                    </a:lnR>
                    <a:lnT w="7620">
                      <a:noFill/>
                    </a:lnT>
                    <a:lnB w="7620">
                      <a:noFill/>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計算機科学</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noFill/>
                    </a:lnT>
                    <a:lnB w="7620">
                      <a:noFill/>
                    </a:lnB>
                    <a:solidFill>
                      <a:srgbClr val="FFFEF8"/>
                    </a:solidFill>
                  </a:tcPr>
                </a:tc>
              </a:tr>
              <a:tr h="356616">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哲学</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2</a:t>
                      </a:r>
                    </a:p>
                  </a:txBody>
                  <a:tcPr marL="63500" marR="152400" marT="38100" marB="38100" anchor="ctr">
                    <a:lnL w="7620">
                      <a:noFill/>
                    </a:lnL>
                    <a:lnR w="7620">
                      <a:noFill/>
                    </a:lnR>
                    <a:lnT w="7620">
                      <a:noFill/>
                    </a:lnT>
                    <a:lnB w="7620">
                      <a:noFill/>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物理</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7620">
                      <a:noFill/>
                    </a:lnB>
                    <a:solidFill>
                      <a:srgbClr val="FFFEF8"/>
                    </a:solidFill>
                  </a:tcPr>
                </a:tc>
              </a:tr>
              <a:tr h="356616">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政治</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8</a:t>
                      </a:r>
                    </a:p>
                  </a:txBody>
                  <a:tcPr marL="63500" marR="152400" marT="38100" marB="38100" anchor="ctr">
                    <a:lnL w="7620">
                      <a:noFill/>
                    </a:lnL>
                    <a:lnR w="7620">
                      <a:noFill/>
                    </a:lnR>
                    <a:lnT w="7620">
                      <a:noFill/>
                    </a:lnT>
                    <a:lnB w="7620">
                      <a:noFill/>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化学</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noFill/>
                    </a:lnT>
                    <a:lnB w="7620">
                      <a:noFill/>
                    </a:lnB>
                    <a:solidFill>
                      <a:srgbClr val="FFFEF8"/>
                    </a:solidFill>
                  </a:tcPr>
                </a:tc>
              </a:tr>
              <a:tr h="356616">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地理</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a:t>
                      </a:r>
                    </a:p>
                  </a:txBody>
                  <a:tcPr marL="63500" marR="152400" marT="38100" marB="38100" anchor="ctr">
                    <a:lnL w="7620">
                      <a:noFill/>
                    </a:lnL>
                    <a:lnR w="7620">
                      <a:noFill/>
                    </a:lnR>
                    <a:lnT w="7620">
                      <a:noFill/>
                    </a:lnT>
                    <a:lnB w="7620">
                      <a:noFill/>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生物医学</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noFill/>
                    </a:lnT>
                    <a:lnB w="7620">
                      <a:noFill/>
                    </a:lnB>
                    <a:solidFill>
                      <a:srgbClr val="FFFEF8"/>
                    </a:solidFill>
                  </a:tcPr>
                </a:tc>
              </a:tr>
              <a:tr h="356616">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経済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5</a:t>
                      </a:r>
                    </a:p>
                  </a:txBody>
                  <a:tcPr marL="63500" marR="1524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一般的事項</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34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06240"/>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一般的事項には、出生地・職業・所属・分類などを含む。</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Transactions on Machine Learning Research.</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通常の分割は100／50／850問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知識基盤から問題を作る</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1828800"/>
                <a:gridCol w="621792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用途</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関係1種類当たりの設計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100問：プロンプトに示す例の候補</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dev</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50問：開発用</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850問：テスト用</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1関係1,000問を標本抽出する設計。公開実行では、これより少ない関係もある。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Transactions on Machine Learning Research.</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Classicの公開実行は10関係を含む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知識基盤から問題を作る</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3840480"/>
                <a:gridCol w="2468880"/>
                <a:gridCol w="173736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関係群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test件数／関係</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関係数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著者・通貨など</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850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原告</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96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症状・徴候</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566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試行間の同一IDをまとめたtestは計7,462問。実装が対応する86関係の全件実行ではない。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WikiFact. 2023-11-17の固定版。2026-10-18参照。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https://crfm.stanford.edu/helm/classic/v0.4.0/#/groups/wikifact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HELMの採点と公開成績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HELMの採点と公開成績</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公開結果は、関係ごとの正答率を平均する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HELMの採点と公開成績</a:t>
            </a:r>
          </a:p>
        </p:txBody>
      </p:sp>
      <p:sp>
        <p:nvSpPr>
          <p:cNvPr id="4" name="TextBox 3"/>
          <p:cNvSpPr txBox="1"/>
          <p:nvPr/>
        </p:nvSpPr>
        <p:spPr>
          <a:xfrm>
            <a:off x="594360" y="1463040"/>
            <a:ext cx="7955279" cy="3044952"/>
          </a:xfrm>
          <a:prstGeom prst="rect">
            <a:avLst/>
          </a:prstGeom>
          <a:noFill/>
        </p:spPr>
        <p:txBody>
          <a:bodyPr wrap="square" lIns="0" rIns="0" tIns="0" bIns="0">
            <a:noAutofit/>
          </a:bodyPr>
          <a:lstStyle/>
          <a:p>
            <a:pPr algn="l">
              <a:lnSpc>
                <a:spcPts val="2499"/>
              </a:lnSpc>
              <a:spcBef>
                <a:spcPts val="0"/>
              </a:spcBef>
              <a:spcAft>
                <a:spcPts val="1200"/>
              </a:spcAft>
              <a:buNone/>
              <a:defRPr sz="2100" b="0">
                <a:solidFill>
                  <a:srgbClr val="303437"/>
                </a:solidFill>
                <a:latin typeface="Noto Sans"/>
              </a:defRPr>
            </a:pPr>
            <a:r>
              <a:rPr sz="2100" b="0" lang="ja-JP" altLang="en-US">
                <a:solidFill>
                  <a:srgbClr val="303437"/>
                </a:solidFill>
                <a:latin typeface="Noto Sans"/>
                <a:ea typeface="Noto Sans CJK JP"/>
                <a:cs typeface="Noto Sans"/>
              </a:rPr>
              <a:t>各関係のtestに対し、最上位候補が参照に一致した割合を計算する。その後、10関係の正答率を同じ重みで平均した値が全体の指標。</a:t>
            </a:r>
          </a:p>
          <a:p>
            <a:pPr>
              <a:lnSpc>
                <a:spcPts val="2499"/>
              </a:lnSpc>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96問の原告も、850問の著者も、全体平均では同じ1関係として扱われる。全7,462問の正誤をそのまま平均した値ではない。</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WikiFact. 2023-11-17の固定版。2026-10-18参照。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https://crfm.stanford.edu/helm/classic/v0.4.0/#/groups/wikifact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候補数と試行数も、モデルで違っていた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HELMの採点と公開成績</a:t>
            </a:r>
          </a:p>
        </p:txBody>
      </p:sp>
      <p:sp>
        <p:nvSpPr>
          <p:cNvPr id="4" name="TextBox 3"/>
          <p:cNvSpPr txBox="1"/>
          <p:nvPr/>
        </p:nvSpPr>
        <p:spPr>
          <a:xfrm>
            <a:off x="594360" y="1463040"/>
            <a:ext cx="7955279" cy="3044952"/>
          </a:xfrm>
          <a:prstGeom prst="rect">
            <a:avLst/>
          </a:prstGeom>
          <a:noFill/>
        </p:spPr>
        <p:txBody>
          <a:bodyPr wrap="square" lIns="0" rIns="0" tIns="0" bIns="0">
            <a:noAutofit/>
          </a:bodyPr>
          <a:lstStyle/>
          <a:p>
            <a:pPr algn="l">
              <a:lnSpc>
                <a:spcPts val="2379"/>
              </a:lnSpc>
              <a:spcBef>
                <a:spcPts val="0"/>
              </a:spcBef>
              <a:spcAft>
                <a:spcPts val="1200"/>
              </a:spcAft>
              <a:buNone/>
              <a:defRPr sz="2000" b="0">
                <a:solidFill>
                  <a:srgbClr val="303437"/>
                </a:solidFill>
                <a:latin typeface="Noto Sans"/>
              </a:defRPr>
            </a:pPr>
            <a:r>
              <a:rPr sz="2000" b="0" lang="ja-JP" altLang="en-US">
                <a:solidFill>
                  <a:srgbClr val="303437"/>
                </a:solidFill>
                <a:latin typeface="Noto Sans"/>
                <a:ea typeface="Noto Sans CJK JP"/>
                <a:cs typeface="Noto Sans"/>
              </a:rPr>
              <a:t>OPTとtext-davinci-003は、5候補から対数確率最大の候補を選び、各3試行の正答率を平均した。</a:t>
            </a:r>
          </a:p>
          <a:p>
            <a:pPr>
              <a:lnSpc>
                <a:spcPts val="2379"/>
              </a:lnSpc>
              <a:spcAft>
                <a:spcPts val="1200"/>
              </a:spcAft>
              <a:buNone/>
              <a:defRPr sz="2000" b="0">
                <a:solidFill>
                  <a:srgbClr val="303437"/>
                </a:solidFill>
                <a:latin typeface="Noto Sans"/>
              </a:defRPr>
            </a:pPr>
            <a:r>
              <a:rPr sz="2000" b="0" lang="ja-JP" altLang="en-US">
                <a:solidFill>
                  <a:srgbClr val="303437"/>
                </a:solidFill>
                <a:latin typeface="Noto Sans"/>
                <a:ea typeface="Noto Sans CJK JP"/>
                <a:cs typeface="Noto Sans"/>
              </a:rPr>
              <a:t>Llama 2 70Bは1試行。設定上は5出力だが、取得した全7,462件のtestレコードには、それぞれ1候補の出力が含まれていた。</a:t>
            </a:r>
          </a:p>
          <a:p>
            <a:pPr>
              <a:lnSpc>
                <a:spcPts val="2379"/>
              </a:lnSpc>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そのため、Llama 2の公開Accuracy@1と@5は同じ値になる。5候補を生成した条件として比較する値ではない。</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WikiFact. 2023-11-17の固定版。2026-10-18参照。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https://crfm.stanford.edu/helm/classic/v0.4.0/#/groups/wikifact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 ClassicのAccuracy@1</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HELMの採点と公開成績</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5212080"/>
                <a:gridCol w="283464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モデル（公開年）</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10関係平均（%）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OPT-175B（2022）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22.03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text-davinci-003（2022）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37.34</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Llama 2 70B（2023）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44.92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v0.4.0収録・suite v0.3.0。最大5提示例、temperature 1、出力上限8トークン。</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WikiFact. 2023-11-17の固定版。2026-10-18参照。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https://crfm.stanford.edu/helm/classic/v0.4.0/#/groups/wikifact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関係によって正答率は大きく違う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HELMの採点と公開成績</a:t>
            </a:r>
          </a:p>
        </p:txBody>
      </p:sp>
      <p:graphicFrame>
        <p:nvGraphicFramePr>
          <p:cNvPr id="4" name="Table 3"/>
          <p:cNvGraphicFramePr>
            <a:graphicFrameLocks noGrp="1"/>
          </p:cNvGraphicFramePr>
          <p:nvPr/>
        </p:nvGraphicFramePr>
        <p:xfrm>
          <a:off x="548640" y="1508760"/>
          <a:ext cx="8046719" cy="2103120"/>
        </p:xfrm>
        <a:graphic>
          <a:graphicData uri="http://schemas.openxmlformats.org/drawingml/2006/table">
            <a:tbl>
              <a:tblPr firstRow="0" bandRow="0"/>
              <a:tblGrid>
                <a:gridCol w="2651760"/>
                <a:gridCol w="1691640"/>
                <a:gridCol w="1828800"/>
                <a:gridCol w="1874519"/>
              </a:tblGrid>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関係</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OPT-175B</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davinci-003</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Llama 2 70B</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通貨</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42.16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57.10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62.71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発見者・発明者</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6.27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17.88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26.12</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出生地</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3.33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16.43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22.94</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原告</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50.69</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60.42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68.75</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1304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Accuracy@1（%）。各関係を独立に評価。候補数は5／5／1、試行数は3／3／1。</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WikiFact. 2023-11-17の固定版。2026-10-18参照。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https://crfm.stanford.edu/helm/classic/v0.4.0/#/groups/wikifact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短い補完でも、参照と生成形式が効く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HELMの採点と公開成績</a:t>
            </a:r>
          </a:p>
        </p:txBody>
      </p:sp>
      <p:sp>
        <p:nvSpPr>
          <p:cNvPr id="4" name="TextBox 3"/>
          <p:cNvSpPr txBox="1"/>
          <p:nvPr/>
        </p:nvSpPr>
        <p:spPr>
          <a:xfrm>
            <a:off x="594360" y="1463040"/>
            <a:ext cx="7955279" cy="3044952"/>
          </a:xfrm>
          <a:prstGeom prst="rect">
            <a:avLst/>
          </a:prstGeom>
          <a:noFill/>
        </p:spPr>
        <p:txBody>
          <a:bodyPr wrap="square" lIns="0" rIns="0" tIns="0" bIns="0">
            <a:noAutofit/>
          </a:bodyPr>
          <a:lstStyle/>
          <a:p>
            <a:pPr algn="l">
              <a:lnSpc>
                <a:spcPts val="2439"/>
              </a:lnSpc>
              <a:spcBef>
                <a:spcPts val="0"/>
              </a:spcBef>
              <a:spcAft>
                <a:spcPts val="1200"/>
              </a:spcAft>
              <a:buNone/>
              <a:defRPr sz="2050" b="0">
                <a:solidFill>
                  <a:srgbClr val="303437"/>
                </a:solidFill>
                <a:latin typeface="Noto Sans"/>
              </a:defRPr>
            </a:pPr>
            <a:r>
              <a:rPr sz="2050" b="0" lang="ja-JP" altLang="en-US">
                <a:solidFill>
                  <a:srgbClr val="303437"/>
                </a:solidFill>
                <a:latin typeface="Noto Sans"/>
                <a:ea typeface="Noto Sans CJK JP"/>
                <a:cs typeface="Noto Sans"/>
              </a:rPr>
              <a:t>実例3ではUSLという略称は参照に含まれず、会社名の全文が必要だった。正規化は略語の展開や、意味の同一性の推論を行わない。</a:t>
            </a:r>
          </a:p>
          <a:p>
            <a:pPr>
              <a:lnSpc>
                <a:spcPts val="2439"/>
              </a:lnSpc>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出力上限は8トークンなので、長い固有名や複数の答えをまとめる出力は途中で切れる場合がある。参照のいずれか一つに合う短い補完を求める評価となる。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evaluate_reference_metrics. 候補の順位付け・正規化・@K採点。2026-10-18確認。</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https://github.com/stanford-crfm/helm/blob/main/src/helm/benchmark/metrics/evaluate_reference_metrics.py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利用の位置付けと入手方法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利用の位置付けと入手方法</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文脈の読解と切り分けて、事実知識を測る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利用の位置付けと入手方法</a:t>
            </a:r>
          </a:p>
        </p:txBody>
      </p:sp>
      <p:sp>
        <p:nvSpPr>
          <p:cNvPr id="4" name="TextBox 3"/>
          <p:cNvSpPr txBox="1"/>
          <p:nvPr/>
        </p:nvSpPr>
        <p:spPr>
          <a:xfrm>
            <a:off x="594360" y="1463040"/>
            <a:ext cx="7955279" cy="3044952"/>
          </a:xfrm>
          <a:prstGeom prst="rect">
            <a:avLst/>
          </a:prstGeom>
          <a:noFill/>
        </p:spPr>
        <p:txBody>
          <a:bodyPr wrap="square" lIns="0" rIns="0" tIns="0" bIns="0">
            <a:noAutofit/>
          </a:bodyPr>
          <a:lstStyle/>
          <a:p>
            <a:pPr algn="l">
              <a:lnSpc>
                <a:spcPts val="2439"/>
              </a:lnSpc>
              <a:spcBef>
                <a:spcPts val="0"/>
              </a:spcBef>
              <a:spcAft>
                <a:spcPts val="1200"/>
              </a:spcAft>
              <a:buNone/>
              <a:defRPr sz="2050" b="0">
                <a:solidFill>
                  <a:srgbClr val="303437"/>
                </a:solidFill>
                <a:latin typeface="Noto Sans"/>
              </a:defRPr>
            </a:pPr>
            <a:r>
              <a:rPr sz="2050" b="0" lang="ja-JP" altLang="en-US">
                <a:solidFill>
                  <a:srgbClr val="303437"/>
                </a:solidFill>
                <a:latin typeface="Noto Sans"/>
                <a:ea typeface="Noto Sans CJK JP"/>
                <a:cs typeface="Noto Sans"/>
              </a:rPr>
              <a:t>WikiFactは、文章に根拠が含まれる読解や、検索器が根拠を探す課題と異なり、主語と関係だけから目的語名を生成する。</a:t>
            </a:r>
          </a:p>
          <a:p>
            <a:pPr>
              <a:lnSpc>
                <a:spcPts val="2439"/>
              </a:lnSpc>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2026-10-18確認のHELM実装にも86関係の読込がある。今回扱う公開成績は2023年のClassic固定版で、現在の知識や最新モデルを評価したものではない。</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WIKIFactScenario. 86関係の辞書と配布ファイルの読込。2026-10-18確認。</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https://github.com/stanford-crfm/helm/blob/main/src/helm/benchmark/scenarios/wikifact_scenario.py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配布ファイルと、実行記録への入口</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利用の位置付けと入手方法</a:t>
            </a:r>
          </a:p>
        </p:txBody>
      </p:sp>
      <p:sp>
        <p:nvSpPr>
          <p:cNvPr id="4" name="TextBox 3"/>
          <p:cNvSpPr txBox="1"/>
          <p:nvPr/>
        </p:nvSpPr>
        <p:spPr>
          <a:xfrm>
            <a:off x="594360" y="1463040"/>
            <a:ext cx="7955279" cy="3044952"/>
          </a:xfrm>
          <a:prstGeom prst="rect">
            <a:avLst/>
          </a:prstGeom>
          <a:noFill/>
        </p:spPr>
        <p:txBody>
          <a:bodyPr wrap="square" lIns="0" rIns="0" tIns="0" bIns="0">
            <a:noAutofit/>
          </a:bodyPr>
          <a:lstStyle/>
          <a:p>
            <a:pPr algn="l">
              <a:lnSpc>
                <a:spcPts val="2379"/>
              </a:lnSpc>
              <a:spcBef>
                <a:spcPts val="0"/>
              </a:spcBef>
              <a:spcAft>
                <a:spcPts val="1200"/>
              </a:spcAft>
              <a:buNone/>
              <a:defRPr sz="2000" b="0">
                <a:solidFill>
                  <a:srgbClr val="303437"/>
                </a:solidFill>
                <a:latin typeface="Noto Sans"/>
              </a:defRPr>
            </a:pPr>
            <a:r>
              <a:rPr sz="2000" b="0" lang="ja-JP" altLang="en-US">
                <a:solidFill>
                  <a:srgbClr val="303437"/>
                </a:solidFill>
                <a:latin typeface="Noto Sans"/>
                <a:ea typeface="Noto Sans CJK JP"/>
                <a:cs typeface="Noto Sans"/>
              </a:rPr>
              <a:t>公式HELMページからWikiFactの条件別成績と予測へ進める。シナリオコードはCodaLabのtrain/dev/test JSONLを読み込む。</a:t>
            </a:r>
          </a:p>
          <a:p>
            <a:pPr>
              <a:lnSpc>
                <a:spcPts val="2379"/>
              </a:lnSpc>
              <a:spcAft>
                <a:spcPts val="1200"/>
              </a:spcAft>
              <a:buNone/>
              <a:defRPr sz="2000" b="0">
                <a:solidFill>
                  <a:srgbClr val="303437"/>
                </a:solidFill>
                <a:latin typeface="Noto Sans"/>
              </a:defRPr>
            </a:pPr>
            <a:r>
              <a:rPr sz="2000" b="0" lang="ja-JP" altLang="en-US">
                <a:solidFill>
                  <a:srgbClr val="303437"/>
                </a:solidFill>
                <a:latin typeface="Noto Sans"/>
                <a:ea typeface="Noto Sans CJK JP"/>
                <a:cs typeface="Noto Sans"/>
              </a:rPr>
              <a:t>今回、CodaLabは3ファイルとも503となった。一方、公開runの10関係の入力・参照・生成結果と、3モデル30条件の得点は取得できた。</a:t>
            </a:r>
          </a:p>
          <a:p>
            <a:pPr>
              <a:lnSpc>
                <a:spcPts val="2379"/>
              </a:lnSpc>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全86関係の元JSONLは未取得で、全体の総件数や全関係のデータ分布は今回の実測対象に含めていない。</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WIKIFactScenario. 86関係の辞書と配布ファイルの読込。2026-10-18確認。</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https://github.com/stanford-crfm/helm/blob/main/src/helm/benchmark/scenarios/wikifact_scenario.py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権利条件はコードとデータを区別する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利用の位置付けと入手方法</a:t>
            </a:r>
          </a:p>
        </p:txBody>
      </p:sp>
      <p:sp>
        <p:nvSpPr>
          <p:cNvPr id="4" name="TextBox 3"/>
          <p:cNvSpPr txBox="1"/>
          <p:nvPr/>
        </p:nvSpPr>
        <p:spPr>
          <a:xfrm>
            <a:off x="594360" y="1463040"/>
            <a:ext cx="7955279" cy="3044952"/>
          </a:xfrm>
          <a:prstGeom prst="rect">
            <a:avLst/>
          </a:prstGeom>
          <a:noFill/>
        </p:spPr>
        <p:txBody>
          <a:bodyPr wrap="square" lIns="0" rIns="0" tIns="0" bIns="0">
            <a:noAutofit/>
          </a:bodyPr>
          <a:lstStyle/>
          <a:p>
            <a:pPr algn="l">
              <a:lnSpc>
                <a:spcPts val="2439"/>
              </a:lnSpc>
              <a:spcBef>
                <a:spcPts val="0"/>
              </a:spcBef>
              <a:spcAft>
                <a:spcPts val="1200"/>
              </a:spcAft>
              <a:buNone/>
              <a:defRPr sz="2050" b="0">
                <a:solidFill>
                  <a:srgbClr val="303437"/>
                </a:solidFill>
                <a:latin typeface="Noto Sans"/>
              </a:defRPr>
            </a:pPr>
            <a:r>
              <a:rPr sz="2050" b="0" lang="ja-JP" altLang="en-US">
                <a:solidFill>
                  <a:srgbClr val="303437"/>
                </a:solidFill>
                <a:latin typeface="Noto Sans"/>
                <a:ea typeface="Noto Sans CJK JP"/>
                <a:cs typeface="Noto Sans"/>
              </a:rPr>
              <a:t>HELMの実装コードはApache License 2.0で公開される。元のWikidataと、加工されたWikiFact配布物の権利条件は、コードの条件とは別に確認する。</a:t>
            </a:r>
          </a:p>
          <a:p>
            <a:pPr>
              <a:lnSpc>
                <a:spcPts val="2439"/>
              </a:lnSpc>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今回取得したシナリオコードと論文では、WikiFactの加工済みデータ全体への専用ライセンス表示は確認できなかった。利用する配布物の条件は、配布元へ照会する必要がある。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Apache License 2.0（コード）。</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https://github.com/stanford-crfm/helm/blob/main/LICENSE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知識の範囲と、答え方をそろえて読む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利用の位置付けと入手方法</a:t>
            </a:r>
          </a:p>
        </p:txBody>
      </p:sp>
      <p:sp>
        <p:nvSpPr>
          <p:cNvPr id="4" name="TextBox 3"/>
          <p:cNvSpPr txBox="1"/>
          <p:nvPr/>
        </p:nvSpPr>
        <p:spPr>
          <a:xfrm>
            <a:off x="594360" y="1463040"/>
            <a:ext cx="7955279" cy="3044952"/>
          </a:xfrm>
          <a:prstGeom prst="rect">
            <a:avLst/>
          </a:prstGeom>
          <a:noFill/>
        </p:spPr>
        <p:txBody>
          <a:bodyPr wrap="square" lIns="0" rIns="0" tIns="0" bIns="0">
            <a:noAutofit/>
          </a:bodyPr>
          <a:lstStyle/>
          <a:p>
            <a:pPr algn="l">
              <a:lnSpc>
                <a:spcPts val="2499"/>
              </a:lnSpc>
              <a:spcBef>
                <a:spcPts val="0"/>
              </a:spcBef>
              <a:spcAft>
                <a:spcPts val="1200"/>
              </a:spcAft>
              <a:buNone/>
              <a:defRPr sz="2100" b="0">
                <a:solidFill>
                  <a:srgbClr val="303437"/>
                </a:solidFill>
                <a:latin typeface="Noto Sans"/>
              </a:defRPr>
            </a:pPr>
            <a:r>
              <a:rPr sz="2100" b="0" lang="ja-JP" altLang="en-US">
                <a:solidFill>
                  <a:srgbClr val="303437"/>
                </a:solidFill>
                <a:latin typeface="Noto Sans"/>
                <a:ea typeface="Noto Sans CJK JP"/>
                <a:cs typeface="Noto Sans"/>
              </a:rPr>
              <a:t>WikiFactは、専門領域を含む86関係を、Wikidata由来の事実補完へ変えたデータ。複数対象と別名を参照として持つ。</a:t>
            </a:r>
          </a:p>
          <a:p>
            <a:pPr>
              <a:lnSpc>
                <a:spcPts val="2499"/>
              </a:lnSpc>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Classicで実行された10関係では、問題数も候補数も条件によって違う。各関係を同じ重みで平均する方法と、文字列の正規化、生成候補数をそろえて、公開成績を解釈する。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Transactions on Machine Learning Research.</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追加の実例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関係別成績と実行条件</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制作チームと参考文献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追加の実例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実例4：固有名をカテゴリに結び付ける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35024"/>
            <a:ext cx="429768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入力原文（全文）</a:t>
            </a:r>
          </a:p>
        </p:txBody>
      </p:sp>
      <p:sp>
        <p:nvSpPr>
          <p:cNvPr id="5" name="quote-frame"/>
          <p:cNvSpPr/>
          <p:nvPr/>
        </p:nvSpPr>
        <p:spPr>
          <a:xfrm>
            <a:off x="548640" y="1655064"/>
            <a:ext cx="4297680" cy="50728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WZRO-LP is an instance of</a:t>
            </a:r>
          </a:p>
        </p:txBody>
      </p:sp>
      <p:sp>
        <p:nvSpPr>
          <p:cNvPr id="6" name="TextBox 5"/>
          <p:cNvSpPr txBox="1"/>
          <p:nvPr/>
        </p:nvSpPr>
        <p:spPr>
          <a:xfrm>
            <a:off x="594360" y="2290365"/>
            <a:ext cx="420624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参照回答（全文・重複を含む）</a:t>
            </a:r>
          </a:p>
        </p:txBody>
      </p:sp>
      <p:sp>
        <p:nvSpPr>
          <p:cNvPr id="7" name="TextBox 6"/>
          <p:cNvSpPr txBox="1"/>
          <p:nvPr/>
        </p:nvSpPr>
        <p:spPr>
          <a:xfrm>
            <a:off x="594360" y="2601261"/>
            <a:ext cx="4206240" cy="68961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radio station / radio broadcasting station</a:t>
            </a:r>
          </a:p>
        </p:txBody>
      </p:sp>
      <p:sp>
        <p:nvSpPr>
          <p:cNvPr id="8" name="TextBox 7"/>
          <p:cNvSpPr txBox="1"/>
          <p:nvPr/>
        </p:nvSpPr>
        <p:spPr>
          <a:xfrm>
            <a:off x="5029200" y="1335024"/>
            <a:ext cx="356616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日本語訳（入力・答えの意味）</a:t>
            </a:r>
          </a:p>
        </p:txBody>
      </p:sp>
      <p:sp>
        <p:nvSpPr>
          <p:cNvPr id="9" name="quote-frame"/>
          <p:cNvSpPr/>
          <p:nvPr/>
        </p:nvSpPr>
        <p:spPr>
          <a:xfrm>
            <a:off x="5029200" y="1655064"/>
            <a:ext cx="3566160" cy="8234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WZRO-LPは次の種類に当たる：</a:t>
            </a:r>
          </a:p>
        </p:txBody>
      </p:sp>
      <p:sp>
        <p:nvSpPr>
          <p:cNvPr id="10" name="TextBox 9"/>
          <p:cNvSpPr txBox="1"/>
          <p:nvPr/>
        </p:nvSpPr>
        <p:spPr>
          <a:xfrm>
            <a:off x="5074920" y="2606544"/>
            <a:ext cx="3474720" cy="10515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ラジオ局</a:t>
            </a:r>
          </a:p>
        </p:txBody>
      </p:sp>
      <p:sp>
        <p:nvSpPr>
          <p:cNvPr id="11" name="TextBox 10"/>
          <p:cNvSpPr txBox="1"/>
          <p:nvPr/>
        </p:nvSpPr>
        <p:spPr>
          <a:xfrm>
            <a:off x="594360" y="4096512"/>
            <a:ext cx="7955279" cy="457200"/>
          </a:xfrm>
          <a:prstGeom prst="rect">
            <a:avLst/>
          </a:prstGeom>
          <a:noFill/>
        </p:spPr>
        <p:txBody>
          <a:bodyPr wrap="square" lIns="0" rIns="0" tIns="0" bIns="0">
            <a:noAutofit/>
          </a:bodyPr>
          <a:lstStyle/>
          <a:p>
            <a:pPr algn="l">
              <a:lnSpc>
                <a:spcPts val="1888"/>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二つの英語表現が同じカテゴリを表す参照になっている。</a:t>
            </a:r>
          </a:p>
        </p:txBody>
      </p:sp>
      <p:sp>
        <p:nvSpPr>
          <p:cNvPr id="12"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WikiFact. 2023-11-17の固定版。2026-10-18参照。 test / instance_of/id150（HELM内ID）</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https://crfm.stanford.edu/helm/classic/v0.4.0/#/groups/wikifact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実例5：薬剤と治療対象を結び付ける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35024"/>
            <a:ext cx="429768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入力原文（全文）</a:t>
            </a:r>
          </a:p>
        </p:txBody>
      </p:sp>
      <p:sp>
        <p:nvSpPr>
          <p:cNvPr id="5" name="quote-frame"/>
          <p:cNvSpPr/>
          <p:nvPr/>
        </p:nvSpPr>
        <p:spPr>
          <a:xfrm>
            <a:off x="548640" y="1655064"/>
            <a:ext cx="4297680" cy="82479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caramiphen has effects on diseases such as</a:t>
            </a:r>
          </a:p>
        </p:txBody>
      </p:sp>
      <p:sp>
        <p:nvSpPr>
          <p:cNvPr id="6" name="TextBox 5"/>
          <p:cNvSpPr txBox="1"/>
          <p:nvPr/>
        </p:nvSpPr>
        <p:spPr>
          <a:xfrm>
            <a:off x="594360" y="2607878"/>
            <a:ext cx="420624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参照回答（全文・重複を含む）</a:t>
            </a:r>
          </a:p>
        </p:txBody>
      </p:sp>
      <p:sp>
        <p:nvSpPr>
          <p:cNvPr id="7" name="TextBox 6"/>
          <p:cNvSpPr txBox="1"/>
          <p:nvPr/>
        </p:nvSpPr>
        <p:spPr>
          <a:xfrm>
            <a:off x="594360" y="2918773"/>
            <a:ext cx="4206240" cy="372236"/>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cough / coughing</a:t>
            </a:r>
          </a:p>
        </p:txBody>
      </p:sp>
      <p:sp>
        <p:nvSpPr>
          <p:cNvPr id="8" name="TextBox 7"/>
          <p:cNvSpPr txBox="1"/>
          <p:nvPr/>
        </p:nvSpPr>
        <p:spPr>
          <a:xfrm>
            <a:off x="5029200" y="1335024"/>
            <a:ext cx="356616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日本語訳（入力・答えの意味）</a:t>
            </a:r>
          </a:p>
        </p:txBody>
      </p:sp>
      <p:sp>
        <p:nvSpPr>
          <p:cNvPr id="9" name="quote-frame"/>
          <p:cNvSpPr/>
          <p:nvPr/>
        </p:nvSpPr>
        <p:spPr>
          <a:xfrm>
            <a:off x="5029200" y="1655064"/>
            <a:ext cx="3566160" cy="82310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カラミフェンが作用する疾患・症状には、次がある：</a:t>
            </a:r>
          </a:p>
        </p:txBody>
      </p:sp>
      <p:sp>
        <p:nvSpPr>
          <p:cNvPr id="10" name="TextBox 9"/>
          <p:cNvSpPr txBox="1"/>
          <p:nvPr/>
        </p:nvSpPr>
        <p:spPr>
          <a:xfrm>
            <a:off x="5074920" y="2606188"/>
            <a:ext cx="3474720" cy="10515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咳</a:t>
            </a:r>
          </a:p>
        </p:txBody>
      </p:sp>
      <p:sp>
        <p:nvSpPr>
          <p:cNvPr id="11" name="TextBox 10"/>
          <p:cNvSpPr txBox="1"/>
          <p:nvPr/>
        </p:nvSpPr>
        <p:spPr>
          <a:xfrm>
            <a:off x="594360" y="4096512"/>
            <a:ext cx="7955279" cy="457200"/>
          </a:xfrm>
          <a:prstGeom prst="rect">
            <a:avLst/>
          </a:prstGeom>
          <a:noFill/>
        </p:spPr>
        <p:txBody>
          <a:bodyPr wrap="square" lIns="0" rIns="0" tIns="0" bIns="0">
            <a:noAutofit/>
          </a:bodyPr>
          <a:lstStyle/>
          <a:p>
            <a:pPr algn="l">
              <a:lnSpc>
                <a:spcPts val="1888"/>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Wikidataの関係を補完する課題。ここではcoughとcoughingが参照に入る。</a:t>
            </a:r>
          </a:p>
        </p:txBody>
      </p:sp>
      <p:sp>
        <p:nvSpPr>
          <p:cNvPr id="12"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WikiFact. 2023-11-17の固定版。2026-10-18参照。 test / medical_condition_treated/id152（HELM内ID）</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https://crfm.stanford.edu/helm/classic/v0.4.0/#/groups/wikifact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実例6：役職と組織の包含関係</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35024"/>
            <a:ext cx="429768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入力原文（全文）</a:t>
            </a:r>
          </a:p>
        </p:txBody>
      </p:sp>
      <p:sp>
        <p:nvSpPr>
          <p:cNvPr id="5" name="quote-frame"/>
          <p:cNvSpPr/>
          <p:nvPr/>
        </p:nvSpPr>
        <p:spPr>
          <a:xfrm>
            <a:off x="548640" y="1655064"/>
            <a:ext cx="4297680" cy="50728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Taoiseach is part of</a:t>
            </a:r>
          </a:p>
        </p:txBody>
      </p:sp>
      <p:sp>
        <p:nvSpPr>
          <p:cNvPr id="6" name="TextBox 5"/>
          <p:cNvSpPr txBox="1"/>
          <p:nvPr/>
        </p:nvSpPr>
        <p:spPr>
          <a:xfrm>
            <a:off x="594360" y="2290365"/>
            <a:ext cx="420624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参照回答（全文・重複を含む）</a:t>
            </a:r>
          </a:p>
        </p:txBody>
      </p:sp>
      <p:sp>
        <p:nvSpPr>
          <p:cNvPr id="7" name="TextBox 6"/>
          <p:cNvSpPr txBox="1"/>
          <p:nvPr/>
        </p:nvSpPr>
        <p:spPr>
          <a:xfrm>
            <a:off x="594360" y="2601261"/>
            <a:ext cx="4206240" cy="68961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Government of Ireland / Cabinet of Ireland</a:t>
            </a:r>
          </a:p>
        </p:txBody>
      </p:sp>
      <p:sp>
        <p:nvSpPr>
          <p:cNvPr id="8" name="TextBox 7"/>
          <p:cNvSpPr txBox="1"/>
          <p:nvPr/>
        </p:nvSpPr>
        <p:spPr>
          <a:xfrm>
            <a:off x="5029200" y="1335024"/>
            <a:ext cx="356616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日本語訳（入力・答えの意味）</a:t>
            </a:r>
          </a:p>
        </p:txBody>
      </p:sp>
      <p:sp>
        <p:nvSpPr>
          <p:cNvPr id="9" name="quote-frame"/>
          <p:cNvSpPr/>
          <p:nvPr/>
        </p:nvSpPr>
        <p:spPr>
          <a:xfrm>
            <a:off x="5029200" y="1655064"/>
            <a:ext cx="3566160" cy="114062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アイルランド首相（Taoiseach）が属するのは</a:t>
            </a:r>
          </a:p>
        </p:txBody>
      </p:sp>
      <p:sp>
        <p:nvSpPr>
          <p:cNvPr id="10" name="TextBox 9"/>
          <p:cNvSpPr txBox="1"/>
          <p:nvPr/>
        </p:nvSpPr>
        <p:spPr>
          <a:xfrm>
            <a:off x="5074920" y="2923701"/>
            <a:ext cx="3474720" cy="10515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アイルランド政府</a:t>
            </a:r>
          </a:p>
        </p:txBody>
      </p:sp>
      <p:sp>
        <p:nvSpPr>
          <p:cNvPr id="11" name="TextBox 10"/>
          <p:cNvSpPr txBox="1"/>
          <p:nvPr/>
        </p:nvSpPr>
        <p:spPr>
          <a:xfrm>
            <a:off x="594360" y="4096512"/>
            <a:ext cx="7955279" cy="457200"/>
          </a:xfrm>
          <a:prstGeom prst="rect">
            <a:avLst/>
          </a:prstGeom>
          <a:noFill/>
        </p:spPr>
        <p:txBody>
          <a:bodyPr wrap="square" lIns="0" rIns="0" tIns="0" bIns="0">
            <a:noAutofit/>
          </a:bodyPr>
          <a:lstStyle/>
          <a:p>
            <a:pPr algn="l">
              <a:lnSpc>
                <a:spcPts val="1888"/>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Government of IrelandとCabinet of Irelandを参照とする。</a:t>
            </a:r>
          </a:p>
        </p:txBody>
      </p:sp>
      <p:sp>
        <p:nvSpPr>
          <p:cNvPr id="12"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WikiFact. 2023-11-17の固定版。2026-10-18参照。 test / part_of/id151（HELM内ID）</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https://crfm.stanford.edu/helm/classic/v0.4.0/#/groups/wikifact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実例7：出生地を地名で答える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35024"/>
            <a:ext cx="429768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入力原文（全文）</a:t>
            </a:r>
          </a:p>
        </p:txBody>
      </p:sp>
      <p:sp>
        <p:nvSpPr>
          <p:cNvPr id="5" name="quote-frame"/>
          <p:cNvSpPr/>
          <p:nvPr/>
        </p:nvSpPr>
        <p:spPr>
          <a:xfrm>
            <a:off x="548640" y="1655064"/>
            <a:ext cx="4297680" cy="50728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AURORA was born in</a:t>
            </a:r>
          </a:p>
        </p:txBody>
      </p:sp>
      <p:sp>
        <p:nvSpPr>
          <p:cNvPr id="6" name="TextBox 5"/>
          <p:cNvSpPr txBox="1"/>
          <p:nvPr/>
        </p:nvSpPr>
        <p:spPr>
          <a:xfrm>
            <a:off x="594360" y="2290365"/>
            <a:ext cx="420624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参照回答（全文・重複を含む）</a:t>
            </a:r>
          </a:p>
        </p:txBody>
      </p:sp>
      <p:sp>
        <p:nvSpPr>
          <p:cNvPr id="7" name="TextBox 6"/>
          <p:cNvSpPr txBox="1"/>
          <p:nvPr/>
        </p:nvSpPr>
        <p:spPr>
          <a:xfrm>
            <a:off x="594360" y="2601261"/>
            <a:ext cx="4206240" cy="1006983"/>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Stavanger / Stavanger, Rogaland, Norway / Stavanger, Norway</a:t>
            </a:r>
          </a:p>
        </p:txBody>
      </p:sp>
      <p:sp>
        <p:nvSpPr>
          <p:cNvPr id="8" name="TextBox 7"/>
          <p:cNvSpPr txBox="1"/>
          <p:nvPr/>
        </p:nvSpPr>
        <p:spPr>
          <a:xfrm>
            <a:off x="5029200" y="1335024"/>
            <a:ext cx="356616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日本語訳（入力・答えの意味）</a:t>
            </a:r>
          </a:p>
        </p:txBody>
      </p:sp>
      <p:sp>
        <p:nvSpPr>
          <p:cNvPr id="9" name="quote-frame"/>
          <p:cNvSpPr/>
          <p:nvPr/>
        </p:nvSpPr>
        <p:spPr>
          <a:xfrm>
            <a:off x="5029200" y="1655064"/>
            <a:ext cx="3566160" cy="8234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AURORAが生まれた場所は</a:t>
            </a:r>
          </a:p>
        </p:txBody>
      </p:sp>
      <p:sp>
        <p:nvSpPr>
          <p:cNvPr id="10" name="TextBox 9"/>
          <p:cNvSpPr txBox="1"/>
          <p:nvPr/>
        </p:nvSpPr>
        <p:spPr>
          <a:xfrm>
            <a:off x="5074920" y="2606544"/>
            <a:ext cx="3474720" cy="10515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スタヴァンゲル</a:t>
            </a:r>
          </a:p>
        </p:txBody>
      </p:sp>
      <p:sp>
        <p:nvSpPr>
          <p:cNvPr id="11" name="TextBox 10"/>
          <p:cNvSpPr txBox="1"/>
          <p:nvPr/>
        </p:nvSpPr>
        <p:spPr>
          <a:xfrm>
            <a:off x="594360" y="4096512"/>
            <a:ext cx="7955279" cy="457200"/>
          </a:xfrm>
          <a:prstGeom prst="rect">
            <a:avLst/>
          </a:prstGeom>
          <a:noFill/>
        </p:spPr>
        <p:txBody>
          <a:bodyPr wrap="square" lIns="0" rIns="0" tIns="0" bIns="0">
            <a:noAutofit/>
          </a:bodyPr>
          <a:lstStyle/>
          <a:p>
            <a:pPr algn="l">
              <a:lnSpc>
                <a:spcPts val="1888"/>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都市名だけの表記と、国名・地域名を添えた表記を認める。</a:t>
            </a:r>
          </a:p>
        </p:txBody>
      </p:sp>
      <p:sp>
        <p:nvSpPr>
          <p:cNvPr id="12"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WikiFact. 2023-11-17の固定版。2026-10-18参照。 test / place_of_birth/id150（HELM内ID）</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https://crfm.stanford.edu/helm/classic/v0.4.0/#/groups/wikifact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実例8：発明者を、決まった形式で答える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35024"/>
            <a:ext cx="429768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入力原文（全文）</a:t>
            </a:r>
          </a:p>
        </p:txBody>
      </p:sp>
      <p:sp>
        <p:nvSpPr>
          <p:cNvPr id="5" name="quote-frame"/>
          <p:cNvSpPr/>
          <p:nvPr/>
        </p:nvSpPr>
        <p:spPr>
          <a:xfrm>
            <a:off x="548640" y="1655064"/>
            <a:ext cx="4297680" cy="50728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Apgar score was discovered by</a:t>
            </a:r>
          </a:p>
        </p:txBody>
      </p:sp>
      <p:sp>
        <p:nvSpPr>
          <p:cNvPr id="6" name="TextBox 5"/>
          <p:cNvSpPr txBox="1"/>
          <p:nvPr/>
        </p:nvSpPr>
        <p:spPr>
          <a:xfrm>
            <a:off x="594360" y="2290366"/>
            <a:ext cx="420624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参照回答（全文・重複を含む）</a:t>
            </a:r>
          </a:p>
        </p:txBody>
      </p:sp>
      <p:sp>
        <p:nvSpPr>
          <p:cNvPr id="7" name="TextBox 6"/>
          <p:cNvSpPr txBox="1"/>
          <p:nvPr/>
        </p:nvSpPr>
        <p:spPr>
          <a:xfrm>
            <a:off x="594360" y="2601261"/>
            <a:ext cx="4206240" cy="68961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Virginia Apgar / Virginia Agpar / Virginia Apgar</a:t>
            </a:r>
          </a:p>
        </p:txBody>
      </p:sp>
      <p:sp>
        <p:nvSpPr>
          <p:cNvPr id="8" name="TextBox 7"/>
          <p:cNvSpPr txBox="1"/>
          <p:nvPr/>
        </p:nvSpPr>
        <p:spPr>
          <a:xfrm>
            <a:off x="5029200" y="1335024"/>
            <a:ext cx="356616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日本語訳（入力・答えの意味）</a:t>
            </a:r>
          </a:p>
        </p:txBody>
      </p:sp>
      <p:sp>
        <p:nvSpPr>
          <p:cNvPr id="9" name="quote-frame"/>
          <p:cNvSpPr/>
          <p:nvPr/>
        </p:nvSpPr>
        <p:spPr>
          <a:xfrm>
            <a:off x="5029200" y="1655064"/>
            <a:ext cx="3566160" cy="8234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アプガースコアを考案したのは</a:t>
            </a:r>
          </a:p>
        </p:txBody>
      </p:sp>
      <p:sp>
        <p:nvSpPr>
          <p:cNvPr id="10" name="TextBox 9"/>
          <p:cNvSpPr txBox="1"/>
          <p:nvPr/>
        </p:nvSpPr>
        <p:spPr>
          <a:xfrm>
            <a:off x="5074920" y="2606544"/>
            <a:ext cx="3474720" cy="10515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バージニア・アプガー</a:t>
            </a:r>
          </a:p>
        </p:txBody>
      </p:sp>
      <p:sp>
        <p:nvSpPr>
          <p:cNvPr id="11" name="TextBox 10"/>
          <p:cNvSpPr txBox="1"/>
          <p:nvPr/>
        </p:nvSpPr>
        <p:spPr>
          <a:xfrm>
            <a:off x="594360" y="4096512"/>
            <a:ext cx="7955279" cy="457200"/>
          </a:xfrm>
          <a:prstGeom prst="rect">
            <a:avLst/>
          </a:prstGeom>
          <a:noFill/>
        </p:spPr>
        <p:txBody>
          <a:bodyPr wrap="square" lIns="0" rIns="0" tIns="0" bIns="0">
            <a:noAutofit/>
          </a:bodyPr>
          <a:lstStyle/>
          <a:p>
            <a:pPr algn="l">
              <a:lnSpc>
                <a:spcPts val="1888"/>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「discovered by」というテンプレートで、医学的評価法の考案者を尋ねる。別表記と重複も配布参照のまま示す。</a:t>
            </a:r>
          </a:p>
        </p:txBody>
      </p:sp>
      <p:sp>
        <p:nvSpPr>
          <p:cNvPr id="12"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WikiFact. 2023-11-17の固定版。2026-10-18参照。 test / discoverer_or_inventor/id154（HELM内ID）</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https://crfm.stanford.edu/helm/classic/v0.4.0/#/groups/wikifact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実例9：人物が務める役職を答える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35024"/>
            <a:ext cx="429768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入力原文（全文）</a:t>
            </a:r>
          </a:p>
        </p:txBody>
      </p:sp>
      <p:sp>
        <p:nvSpPr>
          <p:cNvPr id="5" name="quote-frame"/>
          <p:cNvSpPr/>
          <p:nvPr/>
        </p:nvSpPr>
        <p:spPr>
          <a:xfrm>
            <a:off x="548640" y="1655064"/>
            <a:ext cx="4297680" cy="82479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The position held by Alison Foster is</a:t>
            </a:r>
          </a:p>
        </p:txBody>
      </p:sp>
      <p:sp>
        <p:nvSpPr>
          <p:cNvPr id="6" name="TextBox 5"/>
          <p:cNvSpPr txBox="1"/>
          <p:nvPr/>
        </p:nvSpPr>
        <p:spPr>
          <a:xfrm>
            <a:off x="594360" y="2607878"/>
            <a:ext cx="420624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参照回答（全文・重複を含む）</a:t>
            </a:r>
          </a:p>
        </p:txBody>
      </p:sp>
      <p:sp>
        <p:nvSpPr>
          <p:cNvPr id="7" name="TextBox 6"/>
          <p:cNvSpPr txBox="1"/>
          <p:nvPr/>
        </p:nvSpPr>
        <p:spPr>
          <a:xfrm>
            <a:off x="594360" y="2918773"/>
            <a:ext cx="4206240" cy="372236"/>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High Court judge</a:t>
            </a:r>
          </a:p>
        </p:txBody>
      </p:sp>
      <p:sp>
        <p:nvSpPr>
          <p:cNvPr id="8" name="TextBox 7"/>
          <p:cNvSpPr txBox="1"/>
          <p:nvPr/>
        </p:nvSpPr>
        <p:spPr>
          <a:xfrm>
            <a:off x="5029200" y="1335024"/>
            <a:ext cx="356616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日本語訳（入力・答えの意味）</a:t>
            </a:r>
          </a:p>
        </p:txBody>
      </p:sp>
      <p:sp>
        <p:nvSpPr>
          <p:cNvPr id="9" name="quote-frame"/>
          <p:cNvSpPr/>
          <p:nvPr/>
        </p:nvSpPr>
        <p:spPr>
          <a:xfrm>
            <a:off x="5029200" y="1655064"/>
            <a:ext cx="3566160" cy="8234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アリソン・フォスターが務めた役職は</a:t>
            </a:r>
          </a:p>
        </p:txBody>
      </p:sp>
      <p:sp>
        <p:nvSpPr>
          <p:cNvPr id="10" name="TextBox 9"/>
          <p:cNvSpPr txBox="1"/>
          <p:nvPr/>
        </p:nvSpPr>
        <p:spPr>
          <a:xfrm>
            <a:off x="5074920" y="2606544"/>
            <a:ext cx="3474720" cy="10515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高等法院判事</a:t>
            </a:r>
          </a:p>
        </p:txBody>
      </p:sp>
      <p:sp>
        <p:nvSpPr>
          <p:cNvPr id="11" name="TextBox 10"/>
          <p:cNvSpPr txBox="1"/>
          <p:nvPr/>
        </p:nvSpPr>
        <p:spPr>
          <a:xfrm>
            <a:off x="594360" y="4096512"/>
            <a:ext cx="7955279" cy="457200"/>
          </a:xfrm>
          <a:prstGeom prst="rect">
            <a:avLst/>
          </a:prstGeom>
          <a:noFill/>
        </p:spPr>
        <p:txBody>
          <a:bodyPr wrap="square" lIns="0" rIns="0" tIns="0" bIns="0">
            <a:noAutofit/>
          </a:bodyPr>
          <a:lstStyle/>
          <a:p>
            <a:pPr algn="l">
              <a:lnSpc>
                <a:spcPts val="1888"/>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役職名が参照になる。地位の就任日や退任日は、この入力には含まれない。</a:t>
            </a:r>
          </a:p>
        </p:txBody>
      </p:sp>
      <p:sp>
        <p:nvSpPr>
          <p:cNvPr id="12"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WikiFact. 2023-11-17の固定版。2026-10-18参照。 test / position_held/id150（HELM内ID）</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https://crfm.stanford.edu/helm/classic/v0.4.0/#/groups/wikifact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実例10：病態から症状・徴候を答える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35024"/>
            <a:ext cx="429768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入力原文（全文）</a:t>
            </a:r>
          </a:p>
        </p:txBody>
      </p:sp>
      <p:sp>
        <p:nvSpPr>
          <p:cNvPr id="5" name="quote-frame"/>
          <p:cNvSpPr/>
          <p:nvPr/>
        </p:nvSpPr>
        <p:spPr>
          <a:xfrm>
            <a:off x="548640" y="1655064"/>
            <a:ext cx="4297680" cy="11419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secondary hypertrophic osteoarthropathy has symptoms such as</a:t>
            </a:r>
          </a:p>
        </p:txBody>
      </p:sp>
      <p:sp>
        <p:nvSpPr>
          <p:cNvPr id="6" name="TextBox 5"/>
          <p:cNvSpPr txBox="1"/>
          <p:nvPr/>
        </p:nvSpPr>
        <p:spPr>
          <a:xfrm>
            <a:off x="594360" y="2925034"/>
            <a:ext cx="420624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参照回答（全文・重複を含む）</a:t>
            </a:r>
          </a:p>
        </p:txBody>
      </p:sp>
      <p:sp>
        <p:nvSpPr>
          <p:cNvPr id="7" name="TextBox 6"/>
          <p:cNvSpPr txBox="1"/>
          <p:nvPr/>
        </p:nvSpPr>
        <p:spPr>
          <a:xfrm>
            <a:off x="594360" y="3235930"/>
            <a:ext cx="4206240" cy="1324356"/>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nail clubbing / digital clubbing / clubbing of fingers / Hippocratic fingers / finger clubbing</a:t>
            </a:r>
          </a:p>
        </p:txBody>
      </p:sp>
      <p:sp>
        <p:nvSpPr>
          <p:cNvPr id="8" name="TextBox 7"/>
          <p:cNvSpPr txBox="1"/>
          <p:nvPr/>
        </p:nvSpPr>
        <p:spPr>
          <a:xfrm>
            <a:off x="5029200" y="1335024"/>
            <a:ext cx="356616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日本語訳（入力・答えの意味）</a:t>
            </a:r>
          </a:p>
        </p:txBody>
      </p:sp>
      <p:sp>
        <p:nvSpPr>
          <p:cNvPr id="9" name="quote-frame"/>
          <p:cNvSpPr/>
          <p:nvPr/>
        </p:nvSpPr>
        <p:spPr>
          <a:xfrm>
            <a:off x="5029200" y="1655064"/>
            <a:ext cx="3566160" cy="82310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続発性肥大性骨関節症の症状・徴候には、次がある：</a:t>
            </a:r>
          </a:p>
        </p:txBody>
      </p:sp>
      <p:sp>
        <p:nvSpPr>
          <p:cNvPr id="10" name="TextBox 9"/>
          <p:cNvSpPr txBox="1"/>
          <p:nvPr/>
        </p:nvSpPr>
        <p:spPr>
          <a:xfrm>
            <a:off x="5074920" y="2606188"/>
            <a:ext cx="3474720" cy="10515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ばち指</a:t>
            </a:r>
          </a:p>
        </p:txBody>
      </p:sp>
      <p:sp>
        <p:nvSpPr>
          <p:cNvPr id="11"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WikiFact. 2023-11-17の固定版。2026-10-18参照。 test / symptoms_and_signs/id156（HELM内ID）</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https://crfm.stanford.edu/helm/classic/v0.4.0/#/groups/wikifact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実例11：古典作品の著者を答える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35024"/>
            <a:ext cx="429768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入力原文（全文）</a:t>
            </a:r>
          </a:p>
        </p:txBody>
      </p:sp>
      <p:sp>
        <p:nvSpPr>
          <p:cNvPr id="5" name="quote-frame"/>
          <p:cNvSpPr/>
          <p:nvPr/>
        </p:nvSpPr>
        <p:spPr>
          <a:xfrm>
            <a:off x="548640" y="1655064"/>
            <a:ext cx="4297680" cy="82479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The author of Dialectics of Nature is</a:t>
            </a:r>
          </a:p>
        </p:txBody>
      </p:sp>
      <p:sp>
        <p:nvSpPr>
          <p:cNvPr id="6" name="TextBox 5"/>
          <p:cNvSpPr txBox="1"/>
          <p:nvPr/>
        </p:nvSpPr>
        <p:spPr>
          <a:xfrm>
            <a:off x="594360" y="2607878"/>
            <a:ext cx="420624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参照回答（全文・重複を含む）</a:t>
            </a:r>
          </a:p>
        </p:txBody>
      </p:sp>
      <p:sp>
        <p:nvSpPr>
          <p:cNvPr id="7" name="TextBox 6"/>
          <p:cNvSpPr txBox="1"/>
          <p:nvPr/>
        </p:nvSpPr>
        <p:spPr>
          <a:xfrm>
            <a:off x="594360" y="2918773"/>
            <a:ext cx="4206240" cy="1006983"/>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Friedrich Engels / F. Engels / Frederik Engels / Friedrich Engles</a:t>
            </a:r>
          </a:p>
        </p:txBody>
      </p:sp>
      <p:sp>
        <p:nvSpPr>
          <p:cNvPr id="8" name="TextBox 7"/>
          <p:cNvSpPr txBox="1"/>
          <p:nvPr/>
        </p:nvSpPr>
        <p:spPr>
          <a:xfrm>
            <a:off x="5029200" y="1335024"/>
            <a:ext cx="356616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日本語訳（入力・答えの意味）</a:t>
            </a:r>
          </a:p>
        </p:txBody>
      </p:sp>
      <p:sp>
        <p:nvSpPr>
          <p:cNvPr id="9" name="quote-frame"/>
          <p:cNvSpPr/>
          <p:nvPr/>
        </p:nvSpPr>
        <p:spPr>
          <a:xfrm>
            <a:off x="5029200" y="1655064"/>
            <a:ext cx="3566160" cy="5059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『自然弁証法』の著者は</a:t>
            </a:r>
          </a:p>
        </p:txBody>
      </p:sp>
      <p:sp>
        <p:nvSpPr>
          <p:cNvPr id="10" name="TextBox 9"/>
          <p:cNvSpPr txBox="1"/>
          <p:nvPr/>
        </p:nvSpPr>
        <p:spPr>
          <a:xfrm>
            <a:off x="5074920" y="2289031"/>
            <a:ext cx="3474720" cy="10515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フリードリヒ・エンゲルス</a:t>
            </a:r>
          </a:p>
        </p:txBody>
      </p:sp>
      <p:sp>
        <p:nvSpPr>
          <p:cNvPr id="11" name="TextBox 10"/>
          <p:cNvSpPr txBox="1"/>
          <p:nvPr/>
        </p:nvSpPr>
        <p:spPr>
          <a:xfrm>
            <a:off x="594360" y="4096512"/>
            <a:ext cx="7955279" cy="457200"/>
          </a:xfrm>
          <a:prstGeom prst="rect">
            <a:avLst/>
          </a:prstGeom>
          <a:noFill/>
        </p:spPr>
        <p:txBody>
          <a:bodyPr wrap="square" lIns="0" rIns="0" tIns="0" bIns="0">
            <a:noAutofit/>
          </a:bodyPr>
          <a:lstStyle/>
          <a:p>
            <a:pPr algn="l">
              <a:lnSpc>
                <a:spcPts val="1888"/>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イニシャル表記などを含む複数の別名が参照になる。</a:t>
            </a:r>
          </a:p>
        </p:txBody>
      </p:sp>
      <p:sp>
        <p:nvSpPr>
          <p:cNvPr id="12"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WikiFact. 2023-11-17の固定版。2026-10-18参照。 test / author/id153（HELM内ID）</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https://crfm.stanford.edu/helm/classic/v0.4.0/#/groups/wikifact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実例12：歴史上の地域の通貨</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35024"/>
            <a:ext cx="429768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入力原文（全文）</a:t>
            </a:r>
          </a:p>
        </p:txBody>
      </p:sp>
      <p:sp>
        <p:nvSpPr>
          <p:cNvPr id="5" name="quote-frame"/>
          <p:cNvSpPr/>
          <p:nvPr/>
        </p:nvSpPr>
        <p:spPr>
          <a:xfrm>
            <a:off x="548640" y="1655064"/>
            <a:ext cx="4297680" cy="82479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The currency of British Cyprus is</a:t>
            </a:r>
          </a:p>
        </p:txBody>
      </p:sp>
      <p:sp>
        <p:nvSpPr>
          <p:cNvPr id="6" name="TextBox 5"/>
          <p:cNvSpPr txBox="1"/>
          <p:nvPr/>
        </p:nvSpPr>
        <p:spPr>
          <a:xfrm>
            <a:off x="594360" y="2607878"/>
            <a:ext cx="420624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参照回答（全文・重複を含む）</a:t>
            </a:r>
          </a:p>
        </p:txBody>
      </p:sp>
      <p:sp>
        <p:nvSpPr>
          <p:cNvPr id="7" name="TextBox 6"/>
          <p:cNvSpPr txBox="1"/>
          <p:nvPr/>
        </p:nvSpPr>
        <p:spPr>
          <a:xfrm>
            <a:off x="594360" y="2918773"/>
            <a:ext cx="4206240" cy="372236"/>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Cypriot pound / Cypriot lira</a:t>
            </a:r>
          </a:p>
        </p:txBody>
      </p:sp>
      <p:sp>
        <p:nvSpPr>
          <p:cNvPr id="8" name="TextBox 7"/>
          <p:cNvSpPr txBox="1"/>
          <p:nvPr/>
        </p:nvSpPr>
        <p:spPr>
          <a:xfrm>
            <a:off x="5029200" y="1335024"/>
            <a:ext cx="356616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日本語訳（入力・答えの意味）</a:t>
            </a:r>
          </a:p>
        </p:txBody>
      </p:sp>
      <p:sp>
        <p:nvSpPr>
          <p:cNvPr id="9" name="quote-frame"/>
          <p:cNvSpPr/>
          <p:nvPr/>
        </p:nvSpPr>
        <p:spPr>
          <a:xfrm>
            <a:off x="5029200" y="1655064"/>
            <a:ext cx="3566160" cy="8234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イギリス領キプロスの通貨は</a:t>
            </a:r>
          </a:p>
        </p:txBody>
      </p:sp>
      <p:sp>
        <p:nvSpPr>
          <p:cNvPr id="10" name="TextBox 9"/>
          <p:cNvSpPr txBox="1"/>
          <p:nvPr/>
        </p:nvSpPr>
        <p:spPr>
          <a:xfrm>
            <a:off x="5074920" y="2606544"/>
            <a:ext cx="3474720" cy="10515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キプロス・ポンド</a:t>
            </a:r>
          </a:p>
        </p:txBody>
      </p:sp>
      <p:sp>
        <p:nvSpPr>
          <p:cNvPr id="11" name="TextBox 10"/>
          <p:cNvSpPr txBox="1"/>
          <p:nvPr/>
        </p:nvSpPr>
        <p:spPr>
          <a:xfrm>
            <a:off x="594360" y="4096512"/>
            <a:ext cx="7955279" cy="457200"/>
          </a:xfrm>
          <a:prstGeom prst="rect">
            <a:avLst/>
          </a:prstGeom>
          <a:noFill/>
        </p:spPr>
        <p:txBody>
          <a:bodyPr wrap="square" lIns="0" rIns="0" tIns="0" bIns="0">
            <a:noAutofit/>
          </a:bodyPr>
          <a:lstStyle/>
          <a:p>
            <a:pPr algn="l">
              <a:lnSpc>
                <a:spcPts val="1888"/>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歴史上の地域も含む。現在の国の通貨を一律に尋ねる集合ではない。</a:t>
            </a:r>
          </a:p>
        </p:txBody>
      </p:sp>
      <p:sp>
        <p:nvSpPr>
          <p:cNvPr id="12"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WikiFact. 2023-11-17の固定版。2026-10-18参照。 test / currency/id154（HELM内ID）</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https://crfm.stanford.edu/helm/classic/v0.4.0/#/groups/wikifact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実例13：参照に日本語表記が含まれる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35024"/>
            <a:ext cx="429768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入力原文（全文）</a:t>
            </a:r>
          </a:p>
        </p:txBody>
      </p:sp>
      <p:sp>
        <p:nvSpPr>
          <p:cNvPr id="5" name="quote-frame"/>
          <p:cNvSpPr/>
          <p:nvPr/>
        </p:nvSpPr>
        <p:spPr>
          <a:xfrm>
            <a:off x="548640" y="1655064"/>
            <a:ext cx="4297680" cy="82479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(5353) 1989 YT was discovered by</a:t>
            </a:r>
          </a:p>
        </p:txBody>
      </p:sp>
      <p:sp>
        <p:nvSpPr>
          <p:cNvPr id="6" name="TextBox 5"/>
          <p:cNvSpPr txBox="1"/>
          <p:nvPr/>
        </p:nvSpPr>
        <p:spPr>
          <a:xfrm>
            <a:off x="594360" y="2607878"/>
            <a:ext cx="420624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参照回答（全文・重複を含む）</a:t>
            </a:r>
          </a:p>
        </p:txBody>
      </p:sp>
      <p:sp>
        <p:nvSpPr>
          <p:cNvPr id="7" name="TextBox 6"/>
          <p:cNvSpPr txBox="1"/>
          <p:nvPr/>
        </p:nvSpPr>
        <p:spPr>
          <a:xfrm>
            <a:off x="594360" y="2918773"/>
            <a:ext cx="4206240" cy="68961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Yoshiaki Oshima / おおしま よしあき</a:t>
            </a:r>
          </a:p>
        </p:txBody>
      </p:sp>
      <p:sp>
        <p:nvSpPr>
          <p:cNvPr id="8" name="TextBox 7"/>
          <p:cNvSpPr txBox="1"/>
          <p:nvPr/>
        </p:nvSpPr>
        <p:spPr>
          <a:xfrm>
            <a:off x="5029200" y="1335024"/>
            <a:ext cx="356616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日本語訳（入力・答えの意味）</a:t>
            </a:r>
          </a:p>
        </p:txBody>
      </p:sp>
      <p:sp>
        <p:nvSpPr>
          <p:cNvPr id="9" name="quote-frame"/>
          <p:cNvSpPr/>
          <p:nvPr/>
        </p:nvSpPr>
        <p:spPr>
          <a:xfrm>
            <a:off x="5029200" y="1655064"/>
            <a:ext cx="3566160" cy="8234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(5353) 1989 YTを発見したのは</a:t>
            </a:r>
          </a:p>
        </p:txBody>
      </p:sp>
      <p:sp>
        <p:nvSpPr>
          <p:cNvPr id="10" name="TextBox 9"/>
          <p:cNvSpPr txBox="1"/>
          <p:nvPr/>
        </p:nvSpPr>
        <p:spPr>
          <a:xfrm>
            <a:off x="5074920" y="2606544"/>
            <a:ext cx="3474720" cy="10515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大島良明</a:t>
            </a:r>
          </a:p>
        </p:txBody>
      </p:sp>
      <p:sp>
        <p:nvSpPr>
          <p:cNvPr id="11" name="TextBox 10"/>
          <p:cNvSpPr txBox="1"/>
          <p:nvPr/>
        </p:nvSpPr>
        <p:spPr>
          <a:xfrm>
            <a:off x="594360" y="4096512"/>
            <a:ext cx="7955279" cy="457200"/>
          </a:xfrm>
          <a:prstGeom prst="rect">
            <a:avLst/>
          </a:prstGeom>
          <a:noFill/>
        </p:spPr>
        <p:txBody>
          <a:bodyPr wrap="square" lIns="0" rIns="0" tIns="0" bIns="0">
            <a:noAutofit/>
          </a:bodyPr>
          <a:lstStyle/>
          <a:p>
            <a:pPr algn="l">
              <a:lnSpc>
                <a:spcPts val="1888"/>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入力は英語のテンプレートだが、参照の別名には日本語表記も含まれる。</a:t>
            </a:r>
          </a:p>
        </p:txBody>
      </p:sp>
      <p:sp>
        <p:nvSpPr>
          <p:cNvPr id="12"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WikiFact. 2023-11-17の固定版。2026-10-18参照。 test / discoverer_or_inventor/id155（HELM内ID）</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https://crfm.stanford.edu/helm/classic/v0.4.0/#/groups/wikifact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関係別成績と実行条件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関係別成績と実行条件</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10関係のAccuracy@1（前半）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関係別成績と実行条件</a:t>
            </a:r>
          </a:p>
        </p:txBody>
      </p:sp>
      <p:graphicFrame>
        <p:nvGraphicFramePr>
          <p:cNvPr id="4" name="Table 3"/>
          <p:cNvGraphicFramePr>
            <a:graphicFrameLocks noGrp="1"/>
          </p:cNvGraphicFramePr>
          <p:nvPr/>
        </p:nvGraphicFramePr>
        <p:xfrm>
          <a:off x="548640" y="1508760"/>
          <a:ext cx="8046720" cy="2523744"/>
        </p:xfrm>
        <a:graphic>
          <a:graphicData uri="http://schemas.openxmlformats.org/drawingml/2006/table">
            <a:tbl>
              <a:tblPr firstRow="0" bandRow="0"/>
              <a:tblGrid>
                <a:gridCol w="2788920"/>
                <a:gridCol w="1737360"/>
                <a:gridCol w="1783080"/>
                <a:gridCol w="1737360"/>
              </a:tblGrid>
              <a:tr h="42062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関係</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OPT-175B</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davinci-003</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Llama 2</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著者</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17.06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53.76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61.53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通貨</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42.16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57.10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62.71</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発見者・発明者</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6.27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17.88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26.12</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分類</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34.24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45.73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60.47</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治療対象</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19.65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46.67</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52.12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33672"/>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単位は%。候補数は5／5／1、試行数は3／3／1。</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WikiFact. 2023-11-17の固定版。2026-10-18参照。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https://crfm.stanford.edu/helm/classic/v0.4.0/#/groups/wikifact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10関係のAccuracy@1（後半）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関係別成績と実行条件</a:t>
            </a:r>
          </a:p>
        </p:txBody>
      </p:sp>
      <p:graphicFrame>
        <p:nvGraphicFramePr>
          <p:cNvPr id="4" name="Table 3"/>
          <p:cNvGraphicFramePr>
            <a:graphicFrameLocks noGrp="1"/>
          </p:cNvGraphicFramePr>
          <p:nvPr/>
        </p:nvGraphicFramePr>
        <p:xfrm>
          <a:off x="548640" y="1508760"/>
          <a:ext cx="8046720" cy="2523744"/>
        </p:xfrm>
        <a:graphic>
          <a:graphicData uri="http://schemas.openxmlformats.org/drawingml/2006/table">
            <a:tbl>
              <a:tblPr firstRow="0" bandRow="0"/>
              <a:tblGrid>
                <a:gridCol w="2788920"/>
                <a:gridCol w="1737360"/>
                <a:gridCol w="1783080"/>
                <a:gridCol w="1737360"/>
              </a:tblGrid>
              <a:tr h="42062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関係</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OPT-175B</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davinci-003</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Llama 2</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部分・所属先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18.00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30.63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18.24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出生地</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3.33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16.43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22.94</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原告</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50.69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60.42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68.75</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役職</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9.02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16.31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31.29</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症状・徴候</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19.91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28.45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45.05</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33672"/>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単位は%。候補数は5／5／1、試行数は3／3／1。</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WikiFact. 2023-11-17の固定版。2026-10-18参照。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https://crfm.stanford.edu/helm/classic/v0.4.0/#/groups/wikifact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5候補を許すと、得点が上がる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関係別成績と実行条件</a:t>
            </a:r>
          </a:p>
        </p:txBody>
      </p:sp>
      <p:graphicFrame>
        <p:nvGraphicFramePr>
          <p:cNvPr id="4" name="Table 3"/>
          <p:cNvGraphicFramePr>
            <a:graphicFrameLocks noGrp="1"/>
          </p:cNvGraphicFramePr>
          <p:nvPr/>
        </p:nvGraphicFramePr>
        <p:xfrm>
          <a:off x="548640" y="1508760"/>
          <a:ext cx="8046720" cy="1612900"/>
        </p:xfrm>
        <a:graphic>
          <a:graphicData uri="http://schemas.openxmlformats.org/drawingml/2006/table">
            <a:tbl>
              <a:tblPr firstRow="0" bandRow="0"/>
              <a:tblGrid>
                <a:gridCol w="3291840"/>
                <a:gridCol w="2377440"/>
                <a:gridCol w="2377440"/>
              </a:tblGrid>
              <a:tr h="6985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Accuracy@1（%）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Accuracy@5（%）</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OPT-175B</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22.03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32.28</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text-davinci-003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37.34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44.03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228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10関係の単純平均、3試行平均。Llama 2は実出力が1候補なので、この5候補比較から外した。</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WikiFact. 2023-11-17の固定版。2026-10-18参照。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https://crfm.stanford.edu/helm/classic/v0.4.0/#/groups/wikifact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公開実行で使う関係とWikidataのID</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関係別成績と実行条件</a:t>
            </a:r>
          </a:p>
        </p:txBody>
      </p:sp>
      <p:graphicFrame>
        <p:nvGraphicFramePr>
          <p:cNvPr id="4" name="Table 3"/>
          <p:cNvGraphicFramePr>
            <a:graphicFrameLocks noGrp="1"/>
          </p:cNvGraphicFramePr>
          <p:nvPr/>
        </p:nvGraphicFramePr>
        <p:xfrm>
          <a:off x="548640" y="1508760"/>
          <a:ext cx="8046720" cy="2523744"/>
        </p:xfrm>
        <a:graphic>
          <a:graphicData uri="http://schemas.openxmlformats.org/drawingml/2006/table">
            <a:tbl>
              <a:tblPr firstRow="0" bandRow="0"/>
              <a:tblGrid>
                <a:gridCol w="2651760"/>
                <a:gridCol w="1371600"/>
                <a:gridCol w="2651760"/>
                <a:gridCol w="1371600"/>
              </a:tblGrid>
              <a:tr h="42062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関係</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ID</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関係</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ID</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著者</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P50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部分・所属先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P361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通貨</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P38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出生地</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P19</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発見者・発明者</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P61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原告</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P1620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分類</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P31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役職</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P39</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治療対象</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P2175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症状・徴候</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P780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33672"/>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subject引数は関係名を指定する。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WIKIFactScenario. 86関係の辞書と配布ファイルの読込。2026-10-18確認。</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https://github.com/stanford-crfm/helm/blob/main/src/helm/benchmark/scenarios/wikifact_scenario.py</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設定の5出力と、返った候補数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関係別成績と実行条件</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3291840"/>
                <a:gridCol w="1645920"/>
                <a:gridCol w="1645920"/>
                <a:gridCol w="1463040"/>
              </a:tblGrid>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num_outputs</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実出力／問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試行数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OPT-175B</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text-davinci-003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Llama 2 70B</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Llama 2の全10関係test7,462件を取得して確認。max_tokens 8、stopは改行、最大提示例数5。</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WikiFact. 2023-11-17の固定版。2026-10-18参照。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https://crfm.stanford.edu/helm/classic/v0.4.0/#/groups/wikifact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取得した入力と参照から再照合できる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関係別成績と実行条件</a:t>
            </a:r>
          </a:p>
        </p:txBody>
      </p:sp>
      <p:sp>
        <p:nvSpPr>
          <p:cNvPr id="4" name="TextBox 3"/>
          <p:cNvSpPr txBox="1"/>
          <p:nvPr/>
        </p:nvSpPr>
        <p:spPr>
          <a:xfrm>
            <a:off x="594360" y="1463040"/>
            <a:ext cx="7955279" cy="3044952"/>
          </a:xfrm>
          <a:prstGeom prst="rect">
            <a:avLst/>
          </a:prstGeom>
          <a:noFill/>
        </p:spPr>
        <p:txBody>
          <a:bodyPr wrap="square" lIns="0" rIns="0" tIns="0" bIns="0">
            <a:noAutofit/>
          </a:bodyPr>
          <a:lstStyle/>
          <a:p>
            <a:pPr algn="l">
              <a:lnSpc>
                <a:spcPts val="2439"/>
              </a:lnSpc>
              <a:spcBef>
                <a:spcPts val="0"/>
              </a:spcBef>
              <a:spcAft>
                <a:spcPts val="1200"/>
              </a:spcAft>
              <a:buNone/>
              <a:defRPr sz="2050" b="0">
                <a:solidFill>
                  <a:srgbClr val="303437"/>
                </a:solidFill>
                <a:latin typeface="Noto Sans"/>
              </a:defRPr>
            </a:pPr>
            <a:r>
              <a:rPr sz="2050" b="0" lang="ja-JP" altLang="en-US">
                <a:solidFill>
                  <a:srgbClr val="303437"/>
                </a:solidFill>
                <a:latin typeface="Noto Sans"/>
                <a:ea typeface="Noto Sans CJK JP"/>
                <a:cs typeface="Noto Sans"/>
              </a:rPr>
              <a:t>13実例は、公開text-davinci-003のtest・第1試行から選んだ。全10関係を少なくとも1件ずつ含むが、頻度を代表する無作為標本ではない。</a:t>
            </a:r>
          </a:p>
          <a:p>
            <a:pPr>
              <a:lnSpc>
                <a:spcPts val="2439"/>
              </a:lnSpc>
              <a:spcAft>
                <a:spcPts val="1200"/>
              </a:spcAft>
              <a:buNone/>
              <a:defRPr sz="2050" b="0">
                <a:solidFill>
                  <a:srgbClr val="303437"/>
                </a:solidFill>
                <a:latin typeface="Noto Sans"/>
              </a:defRPr>
            </a:pPr>
            <a:r>
              <a:rPr sz="2050" b="0" lang="ja-JP" altLang="en-US">
                <a:solidFill>
                  <a:srgbClr val="303437"/>
                </a:solidFill>
                <a:latin typeface="Noto Sans"/>
                <a:ea typeface="Noto Sans CJK JP"/>
                <a:cs typeface="Noto Sans"/>
              </a:rPr>
              <a:t>原文、全参照、全5候補、対数確率、条件内ID、固定run URL、取得SHA-256を保存した。参照に同じ名前が重複していても、原レコードでは保持した。</a:t>
            </a:r>
          </a:p>
          <a:p>
            <a:pPr>
              <a:lnSpc>
                <a:spcPts val="2439"/>
              </a:lnSpc>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入力にある古い国・過去の役職も、2022年1月の知識基盤を基にした設計の一部として示す。</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Classic v0.4.0, WikiFact. 2023-11-17の固定版。2026-10-18参照。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https://crfm.stanford.edu/helm/classic/v0.4.0/#/groups/wikifact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制作チームと参考文献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制作チームと参考文献</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HELMの知識評価として新規に構築した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制作チームと参考文献</a:t>
            </a:r>
          </a:p>
        </p:txBody>
      </p:sp>
      <p:sp>
        <p:nvSpPr>
          <p:cNvPr id="4" name="TextBox 3"/>
          <p:cNvSpPr txBox="1"/>
          <p:nvPr/>
        </p:nvSpPr>
        <p:spPr>
          <a:xfrm>
            <a:off x="594360" y="1463040"/>
            <a:ext cx="7955279" cy="3044952"/>
          </a:xfrm>
          <a:prstGeom prst="rect">
            <a:avLst/>
          </a:prstGeom>
          <a:noFill/>
        </p:spPr>
        <p:txBody>
          <a:bodyPr wrap="square" lIns="0" rIns="0" tIns="0" bIns="0">
            <a:noAutofit/>
          </a:bodyPr>
          <a:lstStyle/>
          <a:p>
            <a:pPr algn="l">
              <a:lnSpc>
                <a:spcPts val="2439"/>
              </a:lnSpc>
              <a:spcBef>
                <a:spcPts val="0"/>
              </a:spcBef>
              <a:spcAft>
                <a:spcPts val="1200"/>
              </a:spcAft>
              <a:buNone/>
              <a:defRPr sz="2050" b="0">
                <a:solidFill>
                  <a:srgbClr val="303437"/>
                </a:solidFill>
                <a:latin typeface="Noto Sans"/>
              </a:defRPr>
            </a:pPr>
            <a:r>
              <a:rPr sz="2050" b="0" lang="ja-JP" altLang="en-US">
                <a:solidFill>
                  <a:srgbClr val="303437"/>
                </a:solidFill>
                <a:latin typeface="Noto Sans"/>
                <a:ea typeface="Noto Sans CJK JP"/>
                <a:cs typeface="Noto Sans"/>
              </a:rPr>
              <a:t>WikiFactはHELM論文で導入されたデータセット。論文の貢献記録では、Hongyu Renが設計・実装、Lucia Zhengがデータ注釈・前処理を担当したとされる。</a:t>
            </a:r>
          </a:p>
          <a:p>
            <a:pPr>
              <a:lnSpc>
                <a:spcPts val="2439"/>
              </a:lnSpc>
              <a:spcAft>
                <a:spcPts val="1200"/>
              </a:spcAft>
              <a:buNone/>
              <a:defRPr sz="2050" b="0">
                <a:solidFill>
                  <a:srgbClr val="303437"/>
                </a:solidFill>
                <a:latin typeface="Noto Sans"/>
              </a:defRPr>
            </a:pPr>
            <a:r>
              <a:rPr sz="2050" b="0" lang="ja-JP" altLang="en-US">
                <a:solidFill>
                  <a:srgbClr val="303437"/>
                </a:solidFill>
                <a:latin typeface="Noto Sans"/>
                <a:ea typeface="Noto Sans CJK JP"/>
                <a:cs typeface="Noto Sans"/>
              </a:rPr>
              <a:t>Michihiro Yasunagaが知識評価チームを率い、Neel Guhaらも設計に参加。プロジェクト全体はPercy Liangが統括した。</a:t>
            </a:r>
          </a:p>
          <a:p>
            <a:pPr>
              <a:lnSpc>
                <a:spcPts val="2439"/>
              </a:lnSpc>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文の補完形式はLAMAを受け継ぎつつ、法律・経済・生物医学を含む幅広い関係へ対象を広げた。</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Transactions on Machine Learning Research.</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Holistic Evaluation of Language Models"/>
          <p:cNvSpPr txBox="1"/>
          <p:nvPr/>
        </p:nvSpPr>
        <p:spPr>
          <a:xfrm>
            <a:off x="548640" y="1463040"/>
            <a:ext cx="8046720" cy="1360297"/>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Holistic Evaluation of Language Models</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Percy Liang et al. · 2023 · Transactions on Machine Learning Research</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多面的な言語モデル評価を設計し、知識評価の新規データとしてWikiFactを構築した。</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https://arxiv.org/abs/2211.09110</a:t>
            </a:r>
          </a:p>
        </p:txBody>
      </p:sp>
      <p:sp>
        <p:nvSpPr>
          <p:cNvPr id="5" name="文献 2: Language Models as Knowledge Bases?"/>
          <p:cNvSpPr txBox="1"/>
          <p:nvPr/>
        </p:nvSpPr>
        <p:spPr>
          <a:xfrm>
            <a:off x="548640" y="3054985"/>
            <a:ext cx="8046720" cy="1360297"/>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Language Models as Knowledge Bases?</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Fabio Petroni et al. · 2019 · EMNLP-IJCNLP, 2463–2473</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文の穴埋めを通して事実知識を取り出すLAMAを提案し、言語モデルの知識表現を分析する。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https://aclanthology.org/D19-1250/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HELM Classic — WikiFact"/>
          <p:cNvSpPr txBox="1"/>
          <p:nvPr/>
        </p:nvSpPr>
        <p:spPr>
          <a:xfrm>
            <a:off x="548640" y="1463040"/>
            <a:ext cx="8046720" cy="1106932"/>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HELM Classic — WikiFact</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Stanford CRFM · v0.4.0（2023-11-17）· 2026-10-18参照</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関係別・モデル別の公開成績と予測記録をまとめる。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https://crfm.stanford.edu/helm/classic/v0.4.0/#/groups/wikifact</a:t>
            </a:r>
          </a:p>
        </p:txBody>
      </p:sp>
      <p:sp>
        <p:nvSpPr>
          <p:cNvPr id="5" name="文献 2: HELM WIKIFactScenario"/>
          <p:cNvSpPr txBox="1"/>
          <p:nvPr/>
        </p:nvSpPr>
        <p:spPr>
          <a:xfrm>
            <a:off x="548640" y="2801620"/>
            <a:ext cx="8046720" cy="1106932"/>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HELM WIKIFactScenario</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Stanford CRFM · 公開実装 · 2026-10-18確認</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86関係のIDと、問題・参照回答をJSONLから読み込む手順を定義する。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https://github.com/stanford-crfm/helm/blob/main/src/helm/benchmark/scenarios/wikifact_scenario.py</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2026-10-18T07:11:06Z</dcterms:modified>
  <dc:title>wikifact</dc:title>
  <dc:creator>sasakiy84</dc:creator>
  <dcterms:created xsi:type="dcterms:W3CDTF">2026-10-18T07:11:06Z</dcterms:created>
  <dc:language>ja-JP</dc:language>
</cp:coreProperties>
</file>