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3" r:id="rId3"/>
    <p:sldId id="264" r:id="rId2"/>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4" r:id="rId54"/>
    <p:sldId id="305" r:id="rId55"/>
    <p:sldId id="306" r:id="rId56"/>
    <p:sldId id="307" r:id="rId5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crfm.stanford.edu/helm/classic/v0.4.0/#/groups/wikifact"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211.09110"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211.09110"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wikifact"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wikifact"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wikifact"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tanford-crfm/helm/blob/main/src/helm/benchmark/metrics/evaluate_reference_metrics.py"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wikifact"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D19-1250/" TargetMode="External"/><Relationship Id="rId3" Type="http://schemas.openxmlformats.org/officeDocument/2006/relationships/hyperlink" Target="https://arxiv.org/abs/2211.09110"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211.09110"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211.09110"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211.09110"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wikifact"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wikifact"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wikifact"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wikifact"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wikifact"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tanford-crfm/helm/blob/main/src/helm/benchmark/metrics/evaluate_reference_metrics.py"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tanford-crfm/helm/blob/main/src/helm/benchmark/scenarios/wikifact_scenario.py"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tanford-crfm/helm/blob/main/src/helm/benchmark/scenarios/wikifact_scenario.py"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tanford-crfm/helm/blob/main/LICENSE"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211.09110"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wikifact"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wikifact"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wikifact"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wikifact"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wikifact"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wikifact"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wikifact"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wikifact"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wikifact"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wikifact"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wikifact"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wikifact"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wikifact"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tanford-crfm/helm/blob/main/src/helm/benchmark/scenarios/wikifact_scenario.py"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211.09110"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211.09110" TargetMode="External"/><Relationship Id="rId3" Type="http://schemas.openxmlformats.org/officeDocument/2006/relationships/hyperlink" Target="https://aclanthology.org/D19-1250/"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wikifact" TargetMode="External"/><Relationship Id="rId3" Type="http://schemas.openxmlformats.org/officeDocument/2006/relationships/hyperlink" Target="https://github.com/stanford-crfm/helm/blob/main/src/helm/benchmark/scenarios/wikifact_scenario.py"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888452"/>
            <a:ext cx="8046720" cy="902970"/>
          </a:xfrm>
        </p:spPr>
        <p:txBody>
          <a:bodyPr wrap="square" lIns="0" rIns="0" tIns="0" bIns="0">
            <a:noAutofit/>
          </a:bodyPr>
          <a:lstStyle/>
          <a:p>
            <a:pPr algn="ctr">
              <a:lnSpc>
                <a:spcPct val="110000"/>
              </a:lnSpc>
              <a:buNone/>
              <a:defRPr sz="5400" b="0">
                <a:solidFill>
                  <a:srgbClr val="303437"/>
                </a:solidFill>
                <a:latin typeface="Noto Sans"/>
              </a:defRPr>
            </a:pPr>
            <a:r>
              <a:rPr sz="5400" b="1" lang="ja-JP" altLang="en-US">
                <a:solidFill>
                  <a:srgbClr val="303437"/>
                </a:solidFill>
                <a:latin typeface="Noto Sans"/>
                <a:ea typeface="Noto Sans CJK JP"/>
                <a:cs typeface="Noto Sans"/>
              </a:rPr>
              <a:t>WikiFact</a:t>
            </a:r>
          </a:p>
        </p:txBody>
      </p:sp>
      <p:sp>
        <p:nvSpPr>
          <p:cNvPr id="3" name="Subtitle 2"/>
          <p:cNvSpPr>
            <a:spLocks noGrp="1"/>
          </p:cNvSpPr>
          <p:nvPr>
            <p:ph type="subTitle" idx="1"/>
          </p:nvPr>
        </p:nvSpPr>
        <p:spPr>
          <a:xfrm>
            <a:off x="548640" y="2898102"/>
            <a:ext cx="8046720" cy="488315"/>
          </a:xfrm>
        </p:spPr>
        <p:txBody>
          <a:bodyPr lIns="0" rIns="0" tIns="0" bIns="0">
            <a:noAutofit/>
          </a:bodyPr>
          <a:lstStyle/>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知識基盤の事実を、文の続きとして答える</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000" b="0">
                <a:solidFill>
                  <a:srgbClr val="303437"/>
                </a:solidFill>
                <a:latin typeface="Noto Sans"/>
              </a:defRPr>
            </a:pPr>
            <a:r>
              <a:rPr sz="1000" b="0" lang="ja-JP" altLang="en-US">
                <a:solidFill>
                  <a:srgbClr val="626669"/>
                </a:solidFill>
                <a:latin typeface="Noto Sans"/>
                <a:ea typeface="Noto Sans CJK JP"/>
                <a:cs typeface="Noto Sans"/>
              </a:rPr>
              <a:t>datasets in 10 minutes (2026-10-18)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公式HELMサイト：WikiFactの公開結果</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WikiFact</a:t>
            </a:r>
          </a:p>
        </p:txBody>
      </p:sp>
      <p:pic>
        <p:nvPicPr>
          <p:cNvPr id="4" name="Picture 3" descr="official-site.png"/>
          <p:cNvPicPr>
            <a:picLocks noChangeAspect="1"/>
          </p:cNvPicPr>
          <p:nvPr/>
        </p:nvPicPr>
        <p:blipFill>
          <a:blip r:embed="rId2"/>
          <a:stretch>
            <a:fillRect/>
          </a:stretch>
        </p:blipFill>
        <p:spPr>
          <a:xfrm>
            <a:off x="1815084" y="1481328"/>
            <a:ext cx="5513832" cy="3063240"/>
          </a:xfrm>
          <a:prstGeom prst="rect">
            <a:avLst/>
          </a:prstGeom>
        </p:spPr>
      </p:pic>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 WikiFact（2023）。 </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https://crfm.stanford.edu/helm/classic/v0.4.0/#/groups/wikifact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3621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事実を文の続きで答える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知識基盤から問題を作る</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HELMの採点と公開成績</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利用の位置付けと入手方法</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事実を文の続きで答える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事実を文の続きで答える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知識を、短い文の補完で尋ねる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事実を文の続きで答える</a:t>
            </a:r>
          </a:p>
        </p:txBody>
      </p:sp>
      <p:sp>
        <p:nvSpPr>
          <p:cNvPr id="4" name="TextBox 3"/>
          <p:cNvSpPr txBox="1"/>
          <p:nvPr/>
        </p:nvSpPr>
        <p:spPr>
          <a:xfrm>
            <a:off x="594360" y="1463040"/>
            <a:ext cx="7955279" cy="3044952"/>
          </a:xfrm>
          <a:prstGeom prst="rect">
            <a:avLst/>
          </a:prstGeom>
          <a:noFill/>
        </p:spPr>
        <p:txBody>
          <a:bodyPr wrap="square" lIns="0" rIns="0" tIns="0" bIns="0">
            <a:noAutofit/>
          </a:bodyPr>
          <a:lstStyle/>
          <a:p>
            <a:pPr algn="l">
              <a:lnSpc>
                <a:spcPts val="2499"/>
              </a:lnSpc>
              <a:spcBef>
                <a:spcPts val="0"/>
              </a:spcBef>
              <a:spcAft>
                <a:spcPts val="1200"/>
              </a:spcAft>
              <a:buNone/>
              <a:defRPr sz="2100" b="0">
                <a:solidFill>
                  <a:srgbClr val="303437"/>
                </a:solidFill>
                <a:latin typeface="Noto Sans"/>
              </a:defRPr>
            </a:pPr>
            <a:r>
              <a:rPr sz="2100" b="0" lang="ja-JP" altLang="en-US">
                <a:solidFill>
                  <a:srgbClr val="303437"/>
                </a:solidFill>
                <a:latin typeface="Noto Sans"/>
                <a:ea typeface="Noto Sans CJK JP"/>
                <a:cs typeface="Noto Sans"/>
              </a:rPr>
              <a:t>WikiFactは、知識基盤Wikidataの「主語・関係・目的語」という三つ組を、英語の短い文に変換した事実補完データである。</a:t>
            </a:r>
          </a:p>
          <a:p>
            <a:pPr>
              <a:lnSpc>
                <a:spcPts val="2499"/>
              </a:lnSpc>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モデルは「作品の著者は」「国の通貨は」といった文の続きを生成する。根拠となる文章を与えず、モデルが覚えている事実を名前として答えられるかを測る。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Liang et al. (2023), Holistic Evaluation of Language Models. Transactions on Machine Learning Research.</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https://arxiv.org/abs/2211.09110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正解の対象も、その呼び名も複数ある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事実を文の続きで答える</a:t>
            </a:r>
          </a:p>
        </p:txBody>
      </p:sp>
      <p:sp>
        <p:nvSpPr>
          <p:cNvPr id="4" name="TextBox 3"/>
          <p:cNvSpPr txBox="1"/>
          <p:nvPr/>
        </p:nvSpPr>
        <p:spPr>
          <a:xfrm>
            <a:off x="594360" y="1463040"/>
            <a:ext cx="7955279" cy="3044952"/>
          </a:xfrm>
          <a:prstGeom prst="rect">
            <a:avLst/>
          </a:prstGeom>
          <a:noFill/>
        </p:spPr>
        <p:txBody>
          <a:bodyPr wrap="square" lIns="0" rIns="0" tIns="0" bIns="0">
            <a:noAutofit/>
          </a:bodyPr>
          <a:lstStyle/>
          <a:p>
            <a:pPr algn="l">
              <a:lnSpc>
                <a:spcPts val="2499"/>
              </a:lnSpc>
              <a:spcBef>
                <a:spcPts val="0"/>
              </a:spcBef>
              <a:spcAft>
                <a:spcPts val="1200"/>
              </a:spcAft>
              <a:buNone/>
              <a:defRPr sz="2100" b="0">
                <a:solidFill>
                  <a:srgbClr val="303437"/>
                </a:solidFill>
                <a:latin typeface="Noto Sans"/>
              </a:defRPr>
            </a:pPr>
            <a:r>
              <a:rPr sz="2100" b="0" lang="ja-JP" altLang="en-US">
                <a:solidFill>
                  <a:srgbClr val="303437"/>
                </a:solidFill>
                <a:latin typeface="Noto Sans"/>
                <a:ea typeface="Noto Sans CJK JP"/>
                <a:cs typeface="Noto Sans"/>
              </a:rPr>
              <a:t>同じ作品に複数の著者がいるように、一つの入力に複数の正解がある。また、一つの対象が複数の名前や略号を持つこともある。</a:t>
            </a:r>
          </a:p>
          <a:p>
            <a:pPr>
              <a:lnSpc>
                <a:spcPts val="2499"/>
              </a:lnSpc>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正解となる対象の名前や別名のいずれかに一致すれば正解とする。次の3例は、公開実行の入力と参照回答の全文である。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Liang et al. (2023), Holistic Evaluation of Language Models. Transactions on Machine Learning Research.</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https://arxiv.org/abs/2211.09110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実例1：複数の著者と別名が正解になる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事実を文の続きで答える</a:t>
            </a:r>
          </a:p>
        </p:txBody>
      </p:sp>
      <p:sp>
        <p:nvSpPr>
          <p:cNvPr id="4" name="TextBox 3"/>
          <p:cNvSpPr txBox="1"/>
          <p:nvPr/>
        </p:nvSpPr>
        <p:spPr>
          <a:xfrm>
            <a:off x="548640" y="1335024"/>
            <a:ext cx="429768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入力原文（全文）</a:t>
            </a:r>
          </a:p>
        </p:txBody>
      </p:sp>
      <p:sp>
        <p:nvSpPr>
          <p:cNvPr id="5" name="quote-frame"/>
          <p:cNvSpPr/>
          <p:nvPr/>
        </p:nvSpPr>
        <p:spPr>
          <a:xfrm>
            <a:off x="548640" y="1655064"/>
            <a:ext cx="4297680" cy="75706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The author of The Glass Inferno is</a:t>
            </a:r>
          </a:p>
        </p:txBody>
      </p:sp>
      <p:sp>
        <p:nvSpPr>
          <p:cNvPr id="6" name="TextBox 5"/>
          <p:cNvSpPr txBox="1"/>
          <p:nvPr/>
        </p:nvSpPr>
        <p:spPr>
          <a:xfrm>
            <a:off x="594360" y="2607878"/>
            <a:ext cx="420624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参照回答（全文）</a:t>
            </a:r>
          </a:p>
        </p:txBody>
      </p:sp>
      <p:sp>
        <p:nvSpPr>
          <p:cNvPr id="7" name="TextBox 6"/>
          <p:cNvSpPr txBox="1"/>
          <p:nvPr/>
        </p:nvSpPr>
        <p:spPr>
          <a:xfrm>
            <a:off x="594360" y="2918773"/>
            <a:ext cx="4206240" cy="1006983"/>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Thomas N. Scortia / Thomas Nicholas Scortia / Frank M. Robinson</a:t>
            </a:r>
          </a:p>
        </p:txBody>
      </p:sp>
      <p:sp>
        <p:nvSpPr>
          <p:cNvPr id="8" name="TextBox 7"/>
          <p:cNvSpPr txBox="1"/>
          <p:nvPr/>
        </p:nvSpPr>
        <p:spPr>
          <a:xfrm>
            <a:off x="5029200" y="1335024"/>
            <a:ext cx="356616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日本語訳（入力・答えの意味）</a:t>
            </a:r>
          </a:p>
        </p:txBody>
      </p:sp>
      <p:sp>
        <p:nvSpPr>
          <p:cNvPr id="9" name="quote-frame"/>
          <p:cNvSpPr/>
          <p:nvPr/>
        </p:nvSpPr>
        <p:spPr>
          <a:xfrm>
            <a:off x="5029200" y="1655064"/>
            <a:ext cx="3566160" cy="76419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『The Glass Inferno』の著者は</a:t>
            </a:r>
          </a:p>
        </p:txBody>
      </p:sp>
      <p:sp>
        <p:nvSpPr>
          <p:cNvPr id="10" name="TextBox 9"/>
          <p:cNvSpPr txBox="1"/>
          <p:nvPr/>
        </p:nvSpPr>
        <p:spPr>
          <a:xfrm>
            <a:off x="5074920" y="2606544"/>
            <a:ext cx="3474720" cy="1051560"/>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Thomas N. Scortia</a:t>
            </a:r>
          </a:p>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Frank M. Robinson</a:t>
            </a:r>
          </a:p>
        </p:txBody>
      </p:sp>
      <p:sp>
        <p:nvSpPr>
          <p:cNvPr id="11" name="TextBox 10"/>
          <p:cNvSpPr txBox="1"/>
          <p:nvPr/>
        </p:nvSpPr>
        <p:spPr>
          <a:xfrm>
            <a:off x="594360" y="4096512"/>
            <a:ext cx="7955279" cy="457200"/>
          </a:xfrm>
          <a:prstGeom prst="rect">
            <a:avLst/>
          </a:prstGeom>
          <a:noFill/>
        </p:spPr>
        <p:txBody>
          <a:bodyPr wrap="square" lIns="0" rIns="0" tIns="0" bIns="0">
            <a:noAutofit/>
          </a:bodyPr>
          <a:lstStyle/>
          <a:p>
            <a:pPr algn="l">
              <a:lnSpc>
                <a:spcPts val="1888"/>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2人の著者のうち1人を答えればよい。Thomas Nicholas ScortiaとThomas N. Scortiaは、同じ著者の別名である。</a:t>
            </a:r>
          </a:p>
        </p:txBody>
      </p:sp>
      <p:sp>
        <p:nvSpPr>
          <p:cNvPr id="12"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 WikiFact（2023）。 </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https://crfm.stanford.edu/helm/classic/v0.4.0/#/groups/wikifact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実例2：通貨の名前とコードを認める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事実を文の続きで答える</a:t>
            </a:r>
          </a:p>
        </p:txBody>
      </p:sp>
      <p:sp>
        <p:nvSpPr>
          <p:cNvPr id="4" name="TextBox 3"/>
          <p:cNvSpPr txBox="1"/>
          <p:nvPr/>
        </p:nvSpPr>
        <p:spPr>
          <a:xfrm>
            <a:off x="548640" y="1335024"/>
            <a:ext cx="429768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入力原文（全文）</a:t>
            </a:r>
          </a:p>
        </p:txBody>
      </p:sp>
      <p:sp>
        <p:nvSpPr>
          <p:cNvPr id="5" name="quote-frame"/>
          <p:cNvSpPr/>
          <p:nvPr/>
        </p:nvSpPr>
        <p:spPr>
          <a:xfrm>
            <a:off x="548640" y="1655064"/>
            <a:ext cx="4297680" cy="50728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The currency of Indonesia is</a:t>
            </a:r>
          </a:p>
        </p:txBody>
      </p:sp>
      <p:sp>
        <p:nvSpPr>
          <p:cNvPr id="6" name="TextBox 5"/>
          <p:cNvSpPr txBox="1"/>
          <p:nvPr/>
        </p:nvSpPr>
        <p:spPr>
          <a:xfrm>
            <a:off x="594360" y="2290365"/>
            <a:ext cx="420624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参照回答（全文）</a:t>
            </a:r>
          </a:p>
        </p:txBody>
      </p:sp>
      <p:sp>
        <p:nvSpPr>
          <p:cNvPr id="7" name="TextBox 6"/>
          <p:cNvSpPr txBox="1"/>
          <p:nvPr/>
        </p:nvSpPr>
        <p:spPr>
          <a:xfrm>
            <a:off x="594360" y="2601261"/>
            <a:ext cx="4206240" cy="689610"/>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rupiah / Rp / IDR / Indonesian rupiah</a:t>
            </a:r>
          </a:p>
        </p:txBody>
      </p:sp>
      <p:sp>
        <p:nvSpPr>
          <p:cNvPr id="8" name="TextBox 7"/>
          <p:cNvSpPr txBox="1"/>
          <p:nvPr/>
        </p:nvSpPr>
        <p:spPr>
          <a:xfrm>
            <a:off x="5029200" y="1335024"/>
            <a:ext cx="356616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日本語訳（入力・答えの意味）</a:t>
            </a:r>
          </a:p>
        </p:txBody>
      </p:sp>
      <p:sp>
        <p:nvSpPr>
          <p:cNvPr id="9" name="quote-frame"/>
          <p:cNvSpPr/>
          <p:nvPr/>
        </p:nvSpPr>
        <p:spPr>
          <a:xfrm>
            <a:off x="5029200" y="1655064"/>
            <a:ext cx="3566160" cy="44668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インドネシアの通貨は</a:t>
            </a:r>
          </a:p>
        </p:txBody>
      </p:sp>
      <p:sp>
        <p:nvSpPr>
          <p:cNvPr id="10" name="TextBox 9"/>
          <p:cNvSpPr txBox="1"/>
          <p:nvPr/>
        </p:nvSpPr>
        <p:spPr>
          <a:xfrm>
            <a:off x="5074920" y="2289031"/>
            <a:ext cx="3474720" cy="1051560"/>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ルピア</a:t>
            </a:r>
          </a:p>
        </p:txBody>
      </p:sp>
      <p:sp>
        <p:nvSpPr>
          <p:cNvPr id="11" name="TextBox 10"/>
          <p:cNvSpPr txBox="1"/>
          <p:nvPr/>
        </p:nvSpPr>
        <p:spPr>
          <a:xfrm>
            <a:off x="594360" y="4096512"/>
            <a:ext cx="7955279" cy="457200"/>
          </a:xfrm>
          <a:prstGeom prst="rect">
            <a:avLst/>
          </a:prstGeom>
          <a:noFill/>
        </p:spPr>
        <p:txBody>
          <a:bodyPr wrap="square" lIns="0" rIns="0" tIns="0" bIns="0">
            <a:noAutofit/>
          </a:bodyPr>
          <a:lstStyle/>
          <a:p>
            <a:pPr algn="l">
              <a:lnSpc>
                <a:spcPts val="1888"/>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名前、通貨記号Rp、通貨コードIDRを、いずれも参照回答として認める。</a:t>
            </a:r>
          </a:p>
        </p:txBody>
      </p:sp>
      <p:sp>
        <p:nvSpPr>
          <p:cNvPr id="12"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 WikiFact（2023）。 </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https://crfm.stanford.edu/helm/classic/v0.4.0/#/groups/wikifact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実例3：事件名から原告を答える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事実を文の続きで答える</a:t>
            </a:r>
          </a:p>
        </p:txBody>
      </p:sp>
      <p:sp>
        <p:nvSpPr>
          <p:cNvPr id="4" name="TextBox 3"/>
          <p:cNvSpPr txBox="1"/>
          <p:nvPr/>
        </p:nvSpPr>
        <p:spPr>
          <a:xfrm>
            <a:off x="548640" y="1335024"/>
            <a:ext cx="429768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入力原文（全文）</a:t>
            </a:r>
          </a:p>
        </p:txBody>
      </p:sp>
      <p:sp>
        <p:nvSpPr>
          <p:cNvPr id="5" name="quote-frame"/>
          <p:cNvSpPr/>
          <p:nvPr/>
        </p:nvSpPr>
        <p:spPr>
          <a:xfrm>
            <a:off x="548640" y="1655064"/>
            <a:ext cx="4297680" cy="50728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The plaintiff in USL v. BSDi is</a:t>
            </a:r>
          </a:p>
        </p:txBody>
      </p:sp>
      <p:sp>
        <p:nvSpPr>
          <p:cNvPr id="6" name="TextBox 5"/>
          <p:cNvSpPr txBox="1"/>
          <p:nvPr/>
        </p:nvSpPr>
        <p:spPr>
          <a:xfrm>
            <a:off x="594360" y="2290365"/>
            <a:ext cx="420624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参照回答（全文）</a:t>
            </a:r>
          </a:p>
        </p:txBody>
      </p:sp>
      <p:sp>
        <p:nvSpPr>
          <p:cNvPr id="7" name="TextBox 6"/>
          <p:cNvSpPr txBox="1"/>
          <p:nvPr/>
        </p:nvSpPr>
        <p:spPr>
          <a:xfrm>
            <a:off x="594360" y="2601261"/>
            <a:ext cx="4206240" cy="372236"/>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Unix System Laboratories</a:t>
            </a:r>
          </a:p>
        </p:txBody>
      </p:sp>
      <p:sp>
        <p:nvSpPr>
          <p:cNvPr id="8" name="TextBox 7"/>
          <p:cNvSpPr txBox="1"/>
          <p:nvPr/>
        </p:nvSpPr>
        <p:spPr>
          <a:xfrm>
            <a:off x="5029200" y="1335024"/>
            <a:ext cx="356616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日本語訳（入力・答えの意味）</a:t>
            </a:r>
          </a:p>
        </p:txBody>
      </p:sp>
      <p:sp>
        <p:nvSpPr>
          <p:cNvPr id="9" name="quote-frame"/>
          <p:cNvSpPr/>
          <p:nvPr/>
        </p:nvSpPr>
        <p:spPr>
          <a:xfrm>
            <a:off x="5029200" y="1655064"/>
            <a:ext cx="3566160" cy="44801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USL対BSDi事件の原告は</a:t>
            </a:r>
          </a:p>
        </p:txBody>
      </p:sp>
      <p:sp>
        <p:nvSpPr>
          <p:cNvPr id="10" name="TextBox 9"/>
          <p:cNvSpPr txBox="1"/>
          <p:nvPr/>
        </p:nvSpPr>
        <p:spPr>
          <a:xfrm>
            <a:off x="5074920" y="2290365"/>
            <a:ext cx="3474720" cy="1051560"/>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Unix System Laboratories</a:t>
            </a:r>
          </a:p>
        </p:txBody>
      </p:sp>
      <p:sp>
        <p:nvSpPr>
          <p:cNvPr id="11" name="TextBox 10"/>
          <p:cNvSpPr txBox="1"/>
          <p:nvPr/>
        </p:nvSpPr>
        <p:spPr>
          <a:xfrm>
            <a:off x="594360" y="4096512"/>
            <a:ext cx="7955279" cy="457200"/>
          </a:xfrm>
          <a:prstGeom prst="rect">
            <a:avLst/>
          </a:prstGeom>
          <a:noFill/>
        </p:spPr>
        <p:txBody>
          <a:bodyPr wrap="square" lIns="0" rIns="0" tIns="0" bIns="0">
            <a:noAutofit/>
          </a:bodyPr>
          <a:lstStyle/>
          <a:p>
            <a:pPr algn="l">
              <a:lnSpc>
                <a:spcPts val="1888"/>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事件名から、原告となった組織の名前を答える。</a:t>
            </a:r>
          </a:p>
        </p:txBody>
      </p:sp>
      <p:sp>
        <p:nvSpPr>
          <p:cNvPr id="12"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 WikiFact（2023）。 </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https://crfm.stanford.edu/helm/classic/v0.4.0/#/groups/wikifact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候補を五つ作り、対数確率で順位を付ける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事実を文の続きで答える</a:t>
            </a:r>
          </a:p>
        </p:txBody>
      </p:sp>
      <p:sp>
        <p:nvSpPr>
          <p:cNvPr id="4" name="TextBox 3"/>
          <p:cNvSpPr txBox="1"/>
          <p:nvPr/>
        </p:nvSpPr>
        <p:spPr>
          <a:xfrm>
            <a:off x="594360" y="1463040"/>
            <a:ext cx="7955279" cy="3044952"/>
          </a:xfrm>
          <a:prstGeom prst="rect">
            <a:avLst/>
          </a:prstGeom>
          <a:noFill/>
        </p:spPr>
        <p:txBody>
          <a:bodyPr wrap="square" lIns="0" rIns="0" tIns="0" bIns="0">
            <a:noAutofit/>
          </a:bodyPr>
          <a:lstStyle/>
          <a:p>
            <a:pPr algn="l">
              <a:lnSpc>
                <a:spcPts val="2439"/>
              </a:lnSpc>
              <a:spcBef>
                <a:spcPts val="0"/>
              </a:spcBef>
              <a:spcAft>
                <a:spcPts val="1200"/>
              </a:spcAft>
              <a:buNone/>
              <a:defRPr sz="2050" b="0">
                <a:solidFill>
                  <a:srgbClr val="303437"/>
                </a:solidFill>
                <a:latin typeface="Noto Sans"/>
              </a:defRPr>
            </a:pPr>
            <a:r>
              <a:rPr sz="2050" b="0" lang="ja-JP" altLang="en-US">
                <a:solidFill>
                  <a:srgbClr val="303437"/>
                </a:solidFill>
                <a:latin typeface="Noto Sans"/>
                <a:ea typeface="Noto Sans CJK JP"/>
                <a:cs typeface="Noto Sans"/>
              </a:rPr>
              <a:t>HELMでは、1問当たり5候補を生成する設定を使う。出力の対数確率の和で並べ、最上位の候補をAccuracy@1で採点する。</a:t>
            </a:r>
          </a:p>
          <a:p>
            <a:pPr>
              <a:lnSpc>
                <a:spcPts val="2439"/>
              </a:lnSpc>
              <a:spcAft>
                <a:spcPts val="0"/>
              </a:spcAft>
              <a:buNone/>
              <a:defRPr sz="2050" b="0">
                <a:solidFill>
                  <a:srgbClr val="303437"/>
                </a:solidFill>
                <a:latin typeface="Noto Sans"/>
              </a:defRPr>
            </a:pPr>
            <a:r>
              <a:rPr sz="2050" b="0" lang="ja-JP" altLang="en-US">
                <a:solidFill>
                  <a:srgbClr val="303437"/>
                </a:solidFill>
                <a:latin typeface="Noto Sans"/>
                <a:ea typeface="Noto Sans CJK JP"/>
                <a:cs typeface="Noto Sans"/>
              </a:rPr>
              <a:t>Accuracy@5では、最大5候補のどれかが参照回答に一致すれば正解。文字列を小文字化し、冠詞・句読点・余分な空白を除いて照合する。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evaluate_reference_metrics。 </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https://github.com/stanford-crfm/helm/blob/main/src/helm/benchmark/metrics/evaluate_reference_metrics.py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実例3の公開モデル出力と採点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事実を文の続きで答える</a:t>
            </a:r>
          </a:p>
        </p:txBody>
      </p:sp>
      <p:graphicFrame>
        <p:nvGraphicFramePr>
          <p:cNvPr id="4" name="Table 3"/>
          <p:cNvGraphicFramePr>
            <a:graphicFrameLocks noGrp="1"/>
          </p:cNvGraphicFramePr>
          <p:nvPr/>
        </p:nvGraphicFramePr>
        <p:xfrm>
          <a:off x="548640" y="1508760"/>
          <a:ext cx="8046720" cy="2304288"/>
        </p:xfrm>
        <a:graphic>
          <a:graphicData uri="http://schemas.openxmlformats.org/drawingml/2006/table">
            <a:tbl>
              <a:tblPr firstRow="0" bandRow="0"/>
              <a:tblGrid>
                <a:gridCol w="822960"/>
                <a:gridCol w="5257800"/>
                <a:gridCol w="1965960"/>
              </a:tblGrid>
              <a:tr h="38404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順位</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生成候補（全文）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正規化後の一致</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04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USL</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04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Unisys Corporation</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0</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Unisys Corporation</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0</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Unix System Laboratories.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5</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The United States of America</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014215"/>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text-davinci-003、第1試行。@1は0、@5は1（USLは参照にない）。</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 WikiFact（2023）。 </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https://crfm.stanford.edu/helm/classic/v0.4.0/#/groups/wikifact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知識基盤から問題を作る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知識基盤から問題を作る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一般的な関係から、専門領域の関係へ</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知識基盤から問題を作る</a:t>
            </a:r>
          </a:p>
        </p:txBody>
      </p:sp>
      <p:sp>
        <p:nvSpPr>
          <p:cNvPr id="4" name="TextBox 3"/>
          <p:cNvSpPr txBox="1"/>
          <p:nvPr/>
        </p:nvSpPr>
        <p:spPr>
          <a:xfrm>
            <a:off x="594360" y="1463040"/>
            <a:ext cx="7955279" cy="3044952"/>
          </a:xfrm>
          <a:prstGeom prst="rect">
            <a:avLst/>
          </a:prstGeom>
          <a:noFill/>
        </p:spPr>
        <p:txBody>
          <a:bodyPr wrap="square" lIns="0" rIns="0" tIns="0" bIns="0">
            <a:noAutofit/>
          </a:bodyPr>
          <a:lstStyle/>
          <a:p>
            <a:pPr algn="l">
              <a:lnSpc>
                <a:spcPts val="2499"/>
              </a:lnSpc>
              <a:spcBef>
                <a:spcPts val="0"/>
              </a:spcBef>
              <a:spcAft>
                <a:spcPts val="1200"/>
              </a:spcAft>
              <a:buNone/>
              <a:defRPr sz="2100" b="0">
                <a:solidFill>
                  <a:srgbClr val="303437"/>
                </a:solidFill>
                <a:latin typeface="Noto Sans"/>
              </a:defRPr>
            </a:pPr>
            <a:r>
              <a:rPr sz="2100" b="0" lang="ja-JP" altLang="en-US">
                <a:solidFill>
                  <a:srgbClr val="303437"/>
                </a:solidFill>
                <a:latin typeface="Noto Sans"/>
                <a:ea typeface="Noto Sans CJK JP"/>
                <a:cs typeface="Noto Sans"/>
              </a:rPr>
              <a:t>2019年のLAMAは、文の穴埋めを通して言語モデルの事実知識を調べる方法を広めた。</a:t>
            </a:r>
          </a:p>
          <a:p>
            <a:pPr>
              <a:lnSpc>
                <a:spcPts val="2499"/>
              </a:lnSpc>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HELMではより幅広い知識を対象にするため、法律・経済・生物医学などの関係とテンプレートを手で選び、WikiFactを作った。</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Petroni et al. (2019), Language Models as Knowledge Bases? EMNLP-IJCNLP, 2463–2473.</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https://aclanthology.org/D19-1250/</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Liang et al. (2023), Holistic Evaluation of Language Models. Transactions on Machine Learning Research.</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https://arxiv.org/abs/2211.09110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2022年1月のWikidataを使って変換する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知識基盤から問題を作る</a:t>
            </a:r>
          </a:p>
        </p:txBody>
      </p:sp>
      <p:sp>
        <p:nvSpPr>
          <p:cNvPr id="4" name="TextBox 3"/>
          <p:cNvSpPr txBox="1"/>
          <p:nvPr/>
        </p:nvSpPr>
        <p:spPr>
          <a:xfrm>
            <a:off x="594360" y="1463040"/>
            <a:ext cx="7955279" cy="3044952"/>
          </a:xfrm>
          <a:prstGeom prst="rect">
            <a:avLst/>
          </a:prstGeom>
          <a:noFill/>
        </p:spPr>
        <p:txBody>
          <a:bodyPr wrap="square" lIns="0" rIns="0" tIns="0" bIns="0">
            <a:noAutofit/>
          </a:bodyPr>
          <a:lstStyle/>
          <a:p>
            <a:pPr algn="l">
              <a:lnSpc>
                <a:spcPts val="2499"/>
              </a:lnSpc>
              <a:spcBef>
                <a:spcPts val="0"/>
              </a:spcBef>
              <a:spcAft>
                <a:spcPts val="1200"/>
              </a:spcAft>
              <a:buNone/>
              <a:defRPr sz="2100" b="0">
                <a:solidFill>
                  <a:srgbClr val="303437"/>
                </a:solidFill>
                <a:latin typeface="Noto Sans"/>
              </a:defRPr>
            </a:pPr>
            <a:r>
              <a:rPr sz="2100" b="0" lang="ja-JP" altLang="en-US">
                <a:solidFill>
                  <a:srgbClr val="303437"/>
                </a:solidFill>
                <a:latin typeface="Noto Sans"/>
                <a:ea typeface="Noto Sans CJK JP"/>
                <a:cs typeface="Noto Sans"/>
              </a:rPr>
              <a:t>選んだ関係の三つ組を、2022年1月のWikidata dumpから取得した。主語か目的語のいずれかに対応するWikipediaページがない三つ組を除いた。</a:t>
            </a:r>
          </a:p>
          <a:p>
            <a:pPr>
              <a:lnSpc>
                <a:spcPts val="2499"/>
              </a:lnSpc>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関係ごとの英語テンプレートへ主語名を埋め込み、目的語の名前と別名を参照回答にする。関係・書式の選定は人手、各問題への変換は自動で行う。</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Liang et al. (2023), Holistic Evaluation of Language Models. Transactions on Machine Learning Research.</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https://arxiv.org/abs/2211.09110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12分野に86種類の関係を設けた</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知識基盤から問題を作る</a:t>
            </a:r>
          </a:p>
        </p:txBody>
      </p:sp>
      <p:graphicFrame>
        <p:nvGraphicFramePr>
          <p:cNvPr id="4" name="Table 3"/>
          <p:cNvGraphicFramePr>
            <a:graphicFrameLocks noGrp="1"/>
          </p:cNvGraphicFramePr>
          <p:nvPr/>
        </p:nvGraphicFramePr>
        <p:xfrm>
          <a:off x="548640" y="1508760"/>
          <a:ext cx="8046720" cy="2496312"/>
        </p:xfrm>
        <a:graphic>
          <a:graphicData uri="http://schemas.openxmlformats.org/drawingml/2006/table">
            <a:tbl>
              <a:tblPr firstRow="0" bandRow="0"/>
              <a:tblGrid>
                <a:gridCol w="2651760"/>
                <a:gridCol w="914400"/>
                <a:gridCol w="3566160"/>
                <a:gridCol w="914400"/>
              </a:tblGrid>
              <a:tr h="356616">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分野</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関係数</a:t>
                      </a:r>
                    </a:p>
                  </a:txBody>
                  <a:tcPr marL="63500" marR="1524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分野</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関係数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56616">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芸術</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a:t>
                      </a:r>
                    </a:p>
                  </a:txBody>
                  <a:tcPr marL="63500" marR="1524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数学</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2</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56616">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法律</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7</a:t>
                      </a:r>
                    </a:p>
                  </a:txBody>
                  <a:tcPr marL="63500" marR="152400" marT="38100" marB="38100" anchor="ctr">
                    <a:lnL w="7620">
                      <a:noFill/>
                    </a:lnL>
                    <a:lnR w="7620">
                      <a:noFill/>
                    </a:lnR>
                    <a:lnT w="7620">
                      <a:noFill/>
                    </a:lnT>
                    <a:lnB w="7620">
                      <a:noFill/>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計算機科学</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4</a:t>
                      </a:r>
                    </a:p>
                  </a:txBody>
                  <a:tcPr marL="63500" marR="63500" marT="38100" marB="38100" anchor="ctr">
                    <a:lnL w="7620">
                      <a:noFill/>
                    </a:lnL>
                    <a:lnR w="7620">
                      <a:noFill/>
                    </a:lnR>
                    <a:lnT w="7620">
                      <a:noFill/>
                    </a:lnT>
                    <a:lnB w="7620">
                      <a:noFill/>
                    </a:lnB>
                    <a:solidFill>
                      <a:srgbClr val="FFFEF8"/>
                    </a:solidFill>
                  </a:tcPr>
                </a:tc>
              </a:tr>
              <a:tr h="356616">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哲学</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2</a:t>
                      </a:r>
                    </a:p>
                  </a:txBody>
                  <a:tcPr marL="63500" marR="152400" marT="38100" marB="38100" anchor="ctr">
                    <a:lnL w="7620">
                      <a:noFill/>
                    </a:lnL>
                    <a:lnR w="7620">
                      <a:noFill/>
                    </a:lnR>
                    <a:lnT w="7620">
                      <a:noFill/>
                    </a:lnT>
                    <a:lnB w="7620">
                      <a:noFill/>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物理</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2</a:t>
                      </a:r>
                    </a:p>
                  </a:txBody>
                  <a:tcPr marL="63500" marR="63500" marT="38100" marB="38100" anchor="ctr">
                    <a:lnL w="7620">
                      <a:noFill/>
                    </a:lnL>
                    <a:lnR w="7620">
                      <a:noFill/>
                    </a:lnR>
                    <a:lnT w="7620">
                      <a:noFill/>
                    </a:lnT>
                    <a:lnB w="7620">
                      <a:noFill/>
                    </a:lnB>
                    <a:solidFill>
                      <a:srgbClr val="FFFEF8"/>
                    </a:solidFill>
                  </a:tcPr>
                </a:tc>
              </a:tr>
              <a:tr h="356616">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政治</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8</a:t>
                      </a:r>
                    </a:p>
                  </a:txBody>
                  <a:tcPr marL="63500" marR="152400" marT="38100" marB="38100" anchor="ctr">
                    <a:lnL w="7620">
                      <a:noFill/>
                    </a:lnL>
                    <a:lnR w="7620">
                      <a:noFill/>
                    </a:lnR>
                    <a:lnT w="7620">
                      <a:noFill/>
                    </a:lnT>
                    <a:lnB w="7620">
                      <a:noFill/>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化学</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5</a:t>
                      </a:r>
                    </a:p>
                  </a:txBody>
                  <a:tcPr marL="63500" marR="63500" marT="38100" marB="38100" anchor="ctr">
                    <a:lnL w="7620">
                      <a:noFill/>
                    </a:lnL>
                    <a:lnR w="7620">
                      <a:noFill/>
                    </a:lnR>
                    <a:lnT w="7620">
                      <a:noFill/>
                    </a:lnT>
                    <a:lnB w="7620">
                      <a:noFill/>
                    </a:lnB>
                    <a:solidFill>
                      <a:srgbClr val="FFFEF8"/>
                    </a:solidFill>
                  </a:tcPr>
                </a:tc>
              </a:tr>
              <a:tr h="356616">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地理</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a:t>
                      </a:r>
                    </a:p>
                  </a:txBody>
                  <a:tcPr marL="63500" marR="152400" marT="38100" marB="38100" anchor="ctr">
                    <a:lnL w="7620">
                      <a:noFill/>
                    </a:lnL>
                    <a:lnR w="7620">
                      <a:noFill/>
                    </a:lnR>
                    <a:lnT w="7620">
                      <a:noFill/>
                    </a:lnT>
                    <a:lnB w="7620">
                      <a:noFill/>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生物医学</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5</a:t>
                      </a:r>
                    </a:p>
                  </a:txBody>
                  <a:tcPr marL="63500" marR="63500" marT="38100" marB="38100" anchor="ctr">
                    <a:lnL w="7620">
                      <a:noFill/>
                    </a:lnL>
                    <a:lnR w="7620">
                      <a:noFill/>
                    </a:lnR>
                    <a:lnT w="7620">
                      <a:noFill/>
                    </a:lnT>
                    <a:lnB w="7620">
                      <a:noFill/>
                    </a:lnB>
                    <a:solidFill>
                      <a:srgbClr val="FFFEF8"/>
                    </a:solidFill>
                  </a:tcPr>
                </a:tc>
              </a:tr>
              <a:tr h="356616">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経済</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5</a:t>
                      </a:r>
                    </a:p>
                  </a:txBody>
                  <a:tcPr marL="63500" marR="1524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一般的事項</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34</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206240"/>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一般的事項には、出生地・職業・所属・分類などを含む。</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Liang et al. (2023), Holistic Evaluation of Language Models. Transactions on Machine Learning Research.</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https://arxiv.org/abs/2211.09110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関係ごとに、学習・開発・テストへ分ける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知識基盤から問題を作る</a:t>
            </a:r>
          </a:p>
        </p:txBody>
      </p:sp>
      <p:graphicFrame>
        <p:nvGraphicFramePr>
          <p:cNvPr id="4" name="Table 3"/>
          <p:cNvGraphicFramePr>
            <a:graphicFrameLocks noGrp="1"/>
          </p:cNvGraphicFramePr>
          <p:nvPr/>
        </p:nvGraphicFramePr>
        <p:xfrm>
          <a:off x="548640" y="1508760"/>
          <a:ext cx="8046720" cy="1828800"/>
        </p:xfrm>
        <a:graphic>
          <a:graphicData uri="http://schemas.openxmlformats.org/drawingml/2006/table">
            <a:tbl>
              <a:tblPr firstRow="0" bandRow="0"/>
              <a:tblGrid>
                <a:gridCol w="1828800"/>
                <a:gridCol w="6217920"/>
              </a:tblGrid>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用途</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関係1種類当たりの設計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train</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100問：プロンプトに示す例の候補</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dev</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50問：開発用</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test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850問：テスト用</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3872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通常は、関係ごとに1,000問を抽出して分割する。公開テストでは、問題数がこれより少ない関係もある。</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Liang et al. (2023), Holistic Evaluation of Language Models. Transactions on Machine Learning Research.</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https://arxiv.org/abs/2211.09110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Classicの公開実行は10関係を含む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知識基盤から問題を作る</a:t>
            </a:r>
          </a:p>
        </p:txBody>
      </p:sp>
      <p:graphicFrame>
        <p:nvGraphicFramePr>
          <p:cNvPr id="4" name="Table 3"/>
          <p:cNvGraphicFramePr>
            <a:graphicFrameLocks noGrp="1"/>
          </p:cNvGraphicFramePr>
          <p:nvPr/>
        </p:nvGraphicFramePr>
        <p:xfrm>
          <a:off x="548640" y="1508760"/>
          <a:ext cx="8046720" cy="1828800"/>
        </p:xfrm>
        <a:graphic>
          <a:graphicData uri="http://schemas.openxmlformats.org/drawingml/2006/table">
            <a:tbl>
              <a:tblPr firstRow="0" bandRow="0"/>
              <a:tblGrid>
                <a:gridCol w="3840480"/>
                <a:gridCol w="2468880"/>
                <a:gridCol w="1737360"/>
              </a:tblGrid>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関係群</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test件数／関係</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関係数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著者・通貨など</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850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8</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原告</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96</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症状・徴候</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566</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3872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公開テストは計7,462問で、86関係のうち10関係を対象とする。</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 WikiFact（2023）。 </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https://crfm.stanford.edu/helm/classic/v0.4.0/#/groups/wikifact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HELMの採点と公開成績</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HELMの採点と公開成績</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公開結果は、関係ごとの正答率を平均する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HELMの採点と公開成績</a:t>
            </a:r>
          </a:p>
        </p:txBody>
      </p:sp>
      <p:sp>
        <p:nvSpPr>
          <p:cNvPr id="4" name="TextBox 3"/>
          <p:cNvSpPr txBox="1"/>
          <p:nvPr/>
        </p:nvSpPr>
        <p:spPr>
          <a:xfrm>
            <a:off x="594360" y="1463040"/>
            <a:ext cx="7955279" cy="3044952"/>
          </a:xfrm>
          <a:prstGeom prst="rect">
            <a:avLst/>
          </a:prstGeom>
          <a:noFill/>
        </p:spPr>
        <p:txBody>
          <a:bodyPr wrap="square" lIns="0" rIns="0" tIns="0" bIns="0">
            <a:noAutofit/>
          </a:bodyPr>
          <a:lstStyle/>
          <a:p>
            <a:pPr algn="l">
              <a:lnSpc>
                <a:spcPts val="2499"/>
              </a:lnSpc>
              <a:spcBef>
                <a:spcPts val="0"/>
              </a:spcBef>
              <a:spcAft>
                <a:spcPts val="1200"/>
              </a:spcAft>
              <a:buNone/>
              <a:defRPr sz="2100" b="0">
                <a:solidFill>
                  <a:srgbClr val="303437"/>
                </a:solidFill>
                <a:latin typeface="Noto Sans"/>
              </a:defRPr>
            </a:pPr>
            <a:r>
              <a:rPr sz="2100" b="0" lang="ja-JP" altLang="en-US">
                <a:solidFill>
                  <a:srgbClr val="303437"/>
                </a:solidFill>
                <a:latin typeface="Noto Sans"/>
                <a:ea typeface="Noto Sans CJK JP"/>
                <a:cs typeface="Noto Sans"/>
              </a:rPr>
              <a:t>各関係のtestで、最上位候補が参照回答に一致した割合を求める。その後、10関係の正答率を同じ重みで平均する。</a:t>
            </a:r>
          </a:p>
          <a:p>
            <a:pPr>
              <a:lnSpc>
                <a:spcPts val="2499"/>
              </a:lnSpc>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96問の原告も、850問の著者も、全体の得点には同じ重みで反映される。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 WikiFact（2023）。 </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https://crfm.stanford.edu/helm/classic/v0.4.0/#/groups/wikifact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モデルごとに、候補数と評価回数が異なる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HELMの採点と公開成績</a:t>
            </a:r>
          </a:p>
        </p:txBody>
      </p:sp>
      <p:sp>
        <p:nvSpPr>
          <p:cNvPr id="4" name="TextBox 3"/>
          <p:cNvSpPr txBox="1"/>
          <p:nvPr/>
        </p:nvSpPr>
        <p:spPr>
          <a:xfrm>
            <a:off x="594360" y="1463040"/>
            <a:ext cx="7955279" cy="3044952"/>
          </a:xfrm>
          <a:prstGeom prst="rect">
            <a:avLst/>
          </a:prstGeom>
          <a:noFill/>
        </p:spPr>
        <p:txBody>
          <a:bodyPr wrap="square" lIns="0" rIns="0" tIns="0" bIns="0">
            <a:noAutofit/>
          </a:bodyPr>
          <a:lstStyle/>
          <a:p>
            <a:pPr algn="l">
              <a:lnSpc>
                <a:spcPts val="2379"/>
              </a:lnSpc>
              <a:spcBef>
                <a:spcPts val="0"/>
              </a:spcBef>
              <a:spcAft>
                <a:spcPts val="1200"/>
              </a:spcAft>
              <a:buNone/>
              <a:defRPr sz="2000" b="0">
                <a:solidFill>
                  <a:srgbClr val="303437"/>
                </a:solidFill>
                <a:latin typeface="Noto Sans"/>
              </a:defRPr>
            </a:pPr>
            <a:r>
              <a:rPr sz="2000" b="0" lang="ja-JP" altLang="en-US">
                <a:solidFill>
                  <a:srgbClr val="303437"/>
                </a:solidFill>
                <a:latin typeface="Noto Sans"/>
                <a:ea typeface="Noto Sans CJK JP"/>
                <a:cs typeface="Noto Sans"/>
              </a:rPr>
              <a:t>OPT-175Bとtext-davinci-003は、1問につき5候補を生成し、対数確率が最大の候補を採点する。異なる提示例を使う3試行の正答率を平均した。</a:t>
            </a:r>
          </a:p>
          <a:p>
            <a:pPr>
              <a:lnSpc>
                <a:spcPts val="2379"/>
              </a:lnSpc>
              <a:spcAft>
                <a:spcPts val="1200"/>
              </a:spcAft>
              <a:buNone/>
              <a:defRPr sz="2000" b="0">
                <a:solidFill>
                  <a:srgbClr val="303437"/>
                </a:solidFill>
                <a:latin typeface="Noto Sans"/>
              </a:defRPr>
            </a:pPr>
            <a:r>
              <a:rPr sz="2000" b="0" lang="ja-JP" altLang="en-US">
                <a:solidFill>
                  <a:srgbClr val="303437"/>
                </a:solidFill>
                <a:latin typeface="Noto Sans"/>
                <a:ea typeface="Noto Sans CJK JP"/>
                <a:cs typeface="Noto Sans"/>
              </a:rPr>
              <a:t>Llama 2 70Bの公開出力は1問につき1候補で、評価は1試行である。そのためAccuracy@1と@5は同じ値になる。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 WikiFact（2023）。 </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https://crfm.stanford.edu/helm/classic/v0.4.0/#/groups/wikifact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HELM ClassicのAccuracy@1</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HELMの採点と公開成績</a:t>
            </a:r>
          </a:p>
        </p:txBody>
      </p:sp>
      <p:graphicFrame>
        <p:nvGraphicFramePr>
          <p:cNvPr id="4" name="Table 3"/>
          <p:cNvGraphicFramePr>
            <a:graphicFrameLocks noGrp="1"/>
          </p:cNvGraphicFramePr>
          <p:nvPr/>
        </p:nvGraphicFramePr>
        <p:xfrm>
          <a:off x="548640" y="1508760"/>
          <a:ext cx="8046720" cy="1828800"/>
        </p:xfrm>
        <a:graphic>
          <a:graphicData uri="http://schemas.openxmlformats.org/drawingml/2006/table">
            <a:tbl>
              <a:tblPr firstRow="0" bandRow="0"/>
              <a:tblGrid>
                <a:gridCol w="5212080"/>
                <a:gridCol w="2834640"/>
              </a:tblGrid>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モデル（公開年）</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10関係平均（%）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OPT-175B（2022）</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22.03</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text-davinci-003（2022）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37.34</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Llama 2 70B（2023）</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44.92</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3872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HELM Classicで2023年に公開された結果。各問に最大5例を提示。</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 WikiFact（2023）。 </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https://crfm.stanford.edu/helm/classic/v0.4.0/#/groups/wikifact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関係によって正答率は大きく違う</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HELMの採点と公開成績</a:t>
            </a:r>
          </a:p>
        </p:txBody>
      </p:sp>
      <p:graphicFrame>
        <p:nvGraphicFramePr>
          <p:cNvPr id="4" name="Table 3"/>
          <p:cNvGraphicFramePr>
            <a:graphicFrameLocks noGrp="1"/>
          </p:cNvGraphicFramePr>
          <p:nvPr/>
        </p:nvGraphicFramePr>
        <p:xfrm>
          <a:off x="548640" y="1508760"/>
          <a:ext cx="8046719" cy="2103120"/>
        </p:xfrm>
        <a:graphic>
          <a:graphicData uri="http://schemas.openxmlformats.org/drawingml/2006/table">
            <a:tbl>
              <a:tblPr firstRow="0" bandRow="0"/>
              <a:tblGrid>
                <a:gridCol w="2651760"/>
                <a:gridCol w="1691640"/>
                <a:gridCol w="1828800"/>
                <a:gridCol w="1874519"/>
              </a:tblGrid>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関係</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OPT-175B</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davinci-003</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Llama 2 70B</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通貨</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42.16</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57.10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62.71</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発見者・発明者</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6.27</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17.88</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26.12</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出生地</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3.33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16.43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22.94</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原告</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50.69</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60.42</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68.75</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81304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Accuracy@1（%）。各関係を独立に評価。候補数は5／5／1、試行数は3／3／1。</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 WikiFact（2023）。 </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https://crfm.stanford.edu/helm/classic/v0.4.0/#/groups/wikifact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短い補完でも、参照と生成形式が効く</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HELMの採点と公開成績</a:t>
            </a:r>
          </a:p>
        </p:txBody>
      </p:sp>
      <p:sp>
        <p:nvSpPr>
          <p:cNvPr id="4" name="TextBox 3"/>
          <p:cNvSpPr txBox="1"/>
          <p:nvPr/>
        </p:nvSpPr>
        <p:spPr>
          <a:xfrm>
            <a:off x="594360" y="1463040"/>
            <a:ext cx="7955279" cy="3044952"/>
          </a:xfrm>
          <a:prstGeom prst="rect">
            <a:avLst/>
          </a:prstGeom>
          <a:noFill/>
        </p:spPr>
        <p:txBody>
          <a:bodyPr wrap="square" lIns="0" rIns="0" tIns="0" bIns="0">
            <a:noAutofit/>
          </a:bodyPr>
          <a:lstStyle/>
          <a:p>
            <a:pPr algn="l">
              <a:lnSpc>
                <a:spcPts val="2439"/>
              </a:lnSpc>
              <a:spcBef>
                <a:spcPts val="0"/>
              </a:spcBef>
              <a:spcAft>
                <a:spcPts val="1200"/>
              </a:spcAft>
              <a:buNone/>
              <a:defRPr sz="2050" b="0">
                <a:solidFill>
                  <a:srgbClr val="303437"/>
                </a:solidFill>
                <a:latin typeface="Noto Sans"/>
              </a:defRPr>
            </a:pPr>
            <a:r>
              <a:rPr sz="2050" b="0" lang="ja-JP" altLang="en-US">
                <a:solidFill>
                  <a:srgbClr val="303437"/>
                </a:solidFill>
                <a:latin typeface="Noto Sans"/>
                <a:ea typeface="Noto Sans CJK JP"/>
                <a:cs typeface="Noto Sans"/>
              </a:rPr>
              <a:t>実例3ではUSLという略称は参照に含まれず、会社名の全文が必要だった。正規化は略語の展開や、意味の同一性の推論を行わない。</a:t>
            </a:r>
          </a:p>
          <a:p>
            <a:pPr>
              <a:lnSpc>
                <a:spcPts val="2439"/>
              </a:lnSpc>
              <a:spcAft>
                <a:spcPts val="0"/>
              </a:spcAft>
              <a:buNone/>
              <a:defRPr sz="2050" b="0">
                <a:solidFill>
                  <a:srgbClr val="303437"/>
                </a:solidFill>
                <a:latin typeface="Noto Sans"/>
              </a:defRPr>
            </a:pPr>
            <a:r>
              <a:rPr sz="2050" b="0" lang="ja-JP" altLang="en-US">
                <a:solidFill>
                  <a:srgbClr val="303437"/>
                </a:solidFill>
                <a:latin typeface="Noto Sans"/>
                <a:ea typeface="Noto Sans CJK JP"/>
                <a:cs typeface="Noto Sans"/>
              </a:rPr>
              <a:t>出力上限は8トークンなので、長い固有名や複数の答えをまとめる出力は途中で切れる場合がある。参照のいずれか一つに合う短い補完を求める評価となる。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evaluate_reference_metrics。 </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https://github.com/stanford-crfm/helm/blob/main/src/helm/benchmark/metrics/evaluate_reference_metrics.py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利用の位置付けと入手方法</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利用の位置付けと入手方法</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根拠文を与えずに、事実知識を尋ねる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利用の位置付けと入手方法</a:t>
            </a:r>
          </a:p>
        </p:txBody>
      </p:sp>
      <p:sp>
        <p:nvSpPr>
          <p:cNvPr id="4" name="TextBox 3"/>
          <p:cNvSpPr txBox="1"/>
          <p:nvPr/>
        </p:nvSpPr>
        <p:spPr>
          <a:xfrm>
            <a:off x="594360" y="1463040"/>
            <a:ext cx="7955279" cy="3044952"/>
          </a:xfrm>
          <a:prstGeom prst="rect">
            <a:avLst/>
          </a:prstGeom>
          <a:noFill/>
        </p:spPr>
        <p:txBody>
          <a:bodyPr wrap="square" lIns="0" rIns="0" tIns="0" bIns="0">
            <a:noAutofit/>
          </a:bodyPr>
          <a:lstStyle/>
          <a:p>
            <a:pPr algn="l">
              <a:lnSpc>
                <a:spcPts val="2439"/>
              </a:lnSpc>
              <a:spcBef>
                <a:spcPts val="0"/>
              </a:spcBef>
              <a:spcAft>
                <a:spcPts val="1200"/>
              </a:spcAft>
              <a:buNone/>
              <a:defRPr sz="2050" b="0">
                <a:solidFill>
                  <a:srgbClr val="303437"/>
                </a:solidFill>
                <a:latin typeface="Noto Sans"/>
              </a:defRPr>
            </a:pPr>
            <a:r>
              <a:rPr sz="2050" b="0" lang="ja-JP" altLang="en-US">
                <a:solidFill>
                  <a:srgbClr val="303437"/>
                </a:solidFill>
                <a:latin typeface="Noto Sans"/>
                <a:ea typeface="Noto Sans CJK JP"/>
                <a:cs typeface="Noto Sans"/>
              </a:rPr>
              <a:t>WikiFactは、主語と関係を示す短い文から、目的語となる名前を生成する。文章中の根拠を読み取る読解課題や、検索器で根拠を探す課題とは入力が異なる。</a:t>
            </a:r>
          </a:p>
          <a:p>
            <a:pPr>
              <a:lnSpc>
                <a:spcPts val="2439"/>
              </a:lnSpc>
              <a:spcAft>
                <a:spcPts val="0"/>
              </a:spcAft>
              <a:buNone/>
              <a:defRPr sz="2050" b="0">
                <a:solidFill>
                  <a:srgbClr val="303437"/>
                </a:solidFill>
                <a:latin typeface="Noto Sans"/>
              </a:defRPr>
            </a:pPr>
            <a:r>
              <a:rPr sz="2050" b="0" lang="ja-JP" altLang="en-US">
                <a:solidFill>
                  <a:srgbClr val="303437"/>
                </a:solidFill>
                <a:latin typeface="Noto Sans"/>
                <a:ea typeface="Noto Sans CJK JP"/>
                <a:cs typeface="Noto Sans"/>
              </a:rPr>
              <a:t>HELMの公開実装は86関係に対応する。ここで紹介した2023年の公開成績は、そのうち10関係に対するものである。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WIKIFactScenario。 </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https://github.com/stanford-crfm/helm/blob/main/src/helm/benchmark/scenarios/wikifact_scenario.py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公式サイトで、関係別の成績と出力を見られる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利用の位置付けと入手方法</a:t>
            </a:r>
          </a:p>
        </p:txBody>
      </p:sp>
      <p:sp>
        <p:nvSpPr>
          <p:cNvPr id="4" name="TextBox 3"/>
          <p:cNvSpPr txBox="1"/>
          <p:nvPr/>
        </p:nvSpPr>
        <p:spPr>
          <a:xfrm>
            <a:off x="594360" y="1463040"/>
            <a:ext cx="7955279" cy="3044952"/>
          </a:xfrm>
          <a:prstGeom prst="rect">
            <a:avLst/>
          </a:prstGeom>
          <a:noFill/>
        </p:spPr>
        <p:txBody>
          <a:bodyPr wrap="square" lIns="0" rIns="0" tIns="0" bIns="0">
            <a:noAutofit/>
          </a:bodyPr>
          <a:lstStyle/>
          <a:p>
            <a:pPr algn="l">
              <a:lnSpc>
                <a:spcPts val="2379"/>
              </a:lnSpc>
              <a:spcBef>
                <a:spcPts val="0"/>
              </a:spcBef>
              <a:spcAft>
                <a:spcPts val="1200"/>
              </a:spcAft>
              <a:buNone/>
              <a:defRPr sz="2000" b="0">
                <a:solidFill>
                  <a:srgbClr val="303437"/>
                </a:solidFill>
                <a:latin typeface="Noto Sans"/>
              </a:defRPr>
            </a:pPr>
            <a:r>
              <a:rPr sz="2000" b="0" lang="ja-JP" altLang="en-US">
                <a:solidFill>
                  <a:srgbClr val="303437"/>
                </a:solidFill>
                <a:latin typeface="Noto Sans"/>
                <a:ea typeface="Noto Sans CJK JP"/>
                <a:cs typeface="Noto Sans"/>
              </a:rPr>
              <a:t>公式HELMページでは、WikiFactの関係別・モデル別成績と、各問の入力・参照回答・生成結果を閲覧できる。</a:t>
            </a:r>
          </a:p>
          <a:p>
            <a:pPr>
              <a:lnSpc>
                <a:spcPts val="2379"/>
              </a:lnSpc>
              <a:spcAft>
                <a:spcPts val="1200"/>
              </a:spcAft>
              <a:buNone/>
              <a:defRPr sz="2000" b="0">
                <a:solidFill>
                  <a:srgbClr val="303437"/>
                </a:solidFill>
                <a:latin typeface="Noto Sans"/>
              </a:defRPr>
            </a:pPr>
            <a:r>
              <a:rPr sz="2000" b="0" lang="ja-JP" altLang="en-US">
                <a:solidFill>
                  <a:srgbClr val="303437"/>
                </a:solidFill>
                <a:latin typeface="Noto Sans"/>
                <a:ea typeface="Noto Sans CJK JP"/>
                <a:cs typeface="Noto Sans"/>
              </a:rPr>
              <a:t>全86関係の問題は、CodaLabのtrain・dev・test JSONLとして案内されている。公式サイトでは、10関係の公開実行に含まれる入力・参照回答・出力を利用できる。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WIKIFactScenario。 </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https://github.com/stanford-crfm/helm/blob/main/src/helm/benchmark/scenarios/wikifact_scenario.py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実装コードはApache 2.0で公開される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利用の位置付けと入手方法</a:t>
            </a:r>
          </a:p>
        </p:txBody>
      </p:sp>
      <p:sp>
        <p:nvSpPr>
          <p:cNvPr id="4" name="TextBox 3"/>
          <p:cNvSpPr txBox="1"/>
          <p:nvPr/>
        </p:nvSpPr>
        <p:spPr>
          <a:xfrm>
            <a:off x="594360" y="1463040"/>
            <a:ext cx="7955279" cy="3044952"/>
          </a:xfrm>
          <a:prstGeom prst="rect">
            <a:avLst/>
          </a:prstGeom>
          <a:noFill/>
        </p:spPr>
        <p:txBody>
          <a:bodyPr wrap="square" lIns="0" rIns="0" tIns="0" bIns="0">
            <a:noAutofit/>
          </a:bodyPr>
          <a:lstStyle/>
          <a:p>
            <a:pPr algn="l">
              <a:lnSpc>
                <a:spcPts val="2439"/>
              </a:lnSpc>
              <a:spcBef>
                <a:spcPts val="0"/>
              </a:spcBef>
              <a:spcAft>
                <a:spcPts val="1200"/>
              </a:spcAft>
              <a:buNone/>
              <a:defRPr sz="2050" b="0">
                <a:solidFill>
                  <a:srgbClr val="303437"/>
                </a:solidFill>
                <a:latin typeface="Noto Sans"/>
              </a:defRPr>
            </a:pPr>
            <a:r>
              <a:rPr sz="2050" b="0" lang="ja-JP" altLang="en-US">
                <a:solidFill>
                  <a:srgbClr val="303437"/>
                </a:solidFill>
                <a:latin typeface="Noto Sans"/>
                <a:ea typeface="Noto Sans CJK JP"/>
                <a:cs typeface="Noto Sans"/>
              </a:rPr>
              <a:t>HELMの実装コードはApache License 2.0で公開される。加工済みWikiFactデータの専用ライセンスは、公式論文と読込コードには明記されていない。</a:t>
            </a:r>
          </a:p>
          <a:p>
            <a:pPr>
              <a:lnSpc>
                <a:spcPts val="2439"/>
              </a:lnSpc>
              <a:spcAft>
                <a:spcPts val="0"/>
              </a:spcAft>
              <a:buNone/>
              <a:defRPr sz="2050" b="0">
                <a:solidFill>
                  <a:srgbClr val="303437"/>
                </a:solidFill>
                <a:latin typeface="Noto Sans"/>
              </a:defRPr>
            </a:pPr>
            <a:r>
              <a:rPr sz="2050" b="0" lang="ja-JP" altLang="en-US">
                <a:solidFill>
                  <a:srgbClr val="303437"/>
                </a:solidFill>
                <a:latin typeface="Noto Sans"/>
                <a:ea typeface="Noto Sans CJK JP"/>
                <a:cs typeface="Noto Sans"/>
              </a:rPr>
              <a:t>データを再配布・再利用する際の条件は、配布元への確認が必要である。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Apache License 2.0（コード）。</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https://github.com/stanford-crfm/helm/blob/main/LICENSE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専門領域の知識を、名前の補完で測る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利用の位置付けと入手方法</a:t>
            </a:r>
          </a:p>
        </p:txBody>
      </p:sp>
      <p:sp>
        <p:nvSpPr>
          <p:cNvPr id="4" name="TextBox 3"/>
          <p:cNvSpPr txBox="1"/>
          <p:nvPr/>
        </p:nvSpPr>
        <p:spPr>
          <a:xfrm>
            <a:off x="594360" y="1463040"/>
            <a:ext cx="7955279" cy="3044952"/>
          </a:xfrm>
          <a:prstGeom prst="rect">
            <a:avLst/>
          </a:prstGeom>
          <a:noFill/>
        </p:spPr>
        <p:txBody>
          <a:bodyPr wrap="square" lIns="0" rIns="0" tIns="0" bIns="0">
            <a:noAutofit/>
          </a:bodyPr>
          <a:lstStyle/>
          <a:p>
            <a:pPr algn="l">
              <a:lnSpc>
                <a:spcPts val="2499"/>
              </a:lnSpc>
              <a:spcBef>
                <a:spcPts val="0"/>
              </a:spcBef>
              <a:spcAft>
                <a:spcPts val="1200"/>
              </a:spcAft>
              <a:buNone/>
              <a:defRPr sz="2100" b="0">
                <a:solidFill>
                  <a:srgbClr val="303437"/>
                </a:solidFill>
                <a:latin typeface="Noto Sans"/>
              </a:defRPr>
            </a:pPr>
            <a:r>
              <a:rPr sz="2100" b="0" lang="ja-JP" altLang="en-US">
                <a:solidFill>
                  <a:srgbClr val="303437"/>
                </a:solidFill>
                <a:latin typeface="Noto Sans"/>
                <a:ea typeface="Noto Sans CJK JP"/>
                <a:cs typeface="Noto Sans"/>
              </a:rPr>
              <a:t>WikiFactは、Wikidata由来の86関係を文の補完へ変え、一般的な事実から法律・経済・生物医学までを扱う。複数の対象や別名を正解として持つ。</a:t>
            </a:r>
          </a:p>
          <a:p>
            <a:pPr>
              <a:lnSpc>
                <a:spcPts val="2499"/>
              </a:lnSpc>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HELM Classicの公開成績は10関係の正答率を同じ重みで平均する。候補数の違いと、参照に含まれる名前の範囲が得点に影響する。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Liang et al. (2023), Holistic Evaluation of Language Models. Transactions on Machine Learning Research.</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https://arxiv.org/abs/2211.09110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84835"/>
            <a:ext cx="8046720" cy="686816"/>
          </a:xfrm>
        </p:spPr>
        <p:txBody>
          <a:bodyPr wrap="square" lIns="0" rIns="0" tIns="0" bIns="10160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972511"/>
            <a:ext cx="7863840" cy="174498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追加の実例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関係別成績とデータの読込</a:t>
            </a:r>
          </a:p>
          <a:p>
            <a:pPr marL="457200" indent="-457200">
              <a:lnSpc>
                <a:spcPts val="3660"/>
              </a:lnSpc>
              <a:spcAft>
                <a:spcPts val="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研究と参考文献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追加の実例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実例4：固有名をカテゴリに結び付ける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35024"/>
            <a:ext cx="429768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入力原文（全文）</a:t>
            </a:r>
          </a:p>
        </p:txBody>
      </p:sp>
      <p:sp>
        <p:nvSpPr>
          <p:cNvPr id="5" name="quote-frame"/>
          <p:cNvSpPr/>
          <p:nvPr/>
        </p:nvSpPr>
        <p:spPr>
          <a:xfrm>
            <a:off x="548640" y="1655064"/>
            <a:ext cx="4297680" cy="44801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WZRO-LP is an instance of</a:t>
            </a:r>
          </a:p>
        </p:txBody>
      </p:sp>
      <p:sp>
        <p:nvSpPr>
          <p:cNvPr id="6" name="TextBox 5"/>
          <p:cNvSpPr txBox="1"/>
          <p:nvPr/>
        </p:nvSpPr>
        <p:spPr>
          <a:xfrm>
            <a:off x="594360" y="2290365"/>
            <a:ext cx="420624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参照回答（全文）</a:t>
            </a:r>
          </a:p>
        </p:txBody>
      </p:sp>
      <p:sp>
        <p:nvSpPr>
          <p:cNvPr id="7" name="TextBox 6"/>
          <p:cNvSpPr txBox="1"/>
          <p:nvPr/>
        </p:nvSpPr>
        <p:spPr>
          <a:xfrm>
            <a:off x="594360" y="2601261"/>
            <a:ext cx="4206240" cy="689610"/>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radio station / radio broadcasting station</a:t>
            </a:r>
          </a:p>
        </p:txBody>
      </p:sp>
      <p:sp>
        <p:nvSpPr>
          <p:cNvPr id="8" name="TextBox 7"/>
          <p:cNvSpPr txBox="1"/>
          <p:nvPr/>
        </p:nvSpPr>
        <p:spPr>
          <a:xfrm>
            <a:off x="5029200" y="1335024"/>
            <a:ext cx="356616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日本語訳（入力・答えの意味）</a:t>
            </a:r>
          </a:p>
        </p:txBody>
      </p:sp>
      <p:sp>
        <p:nvSpPr>
          <p:cNvPr id="9" name="quote-frame"/>
          <p:cNvSpPr/>
          <p:nvPr/>
        </p:nvSpPr>
        <p:spPr>
          <a:xfrm>
            <a:off x="5029200" y="1655064"/>
            <a:ext cx="3566160" cy="74726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WZRO-LPは次の種類に当たる：</a:t>
            </a:r>
          </a:p>
        </p:txBody>
      </p:sp>
      <p:sp>
        <p:nvSpPr>
          <p:cNvPr id="10" name="TextBox 9"/>
          <p:cNvSpPr txBox="1"/>
          <p:nvPr/>
        </p:nvSpPr>
        <p:spPr>
          <a:xfrm>
            <a:off x="5074920" y="2606544"/>
            <a:ext cx="3474720" cy="1051560"/>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ラジオ局</a:t>
            </a:r>
          </a:p>
        </p:txBody>
      </p:sp>
      <p:sp>
        <p:nvSpPr>
          <p:cNvPr id="11" name="TextBox 10"/>
          <p:cNvSpPr txBox="1"/>
          <p:nvPr/>
        </p:nvSpPr>
        <p:spPr>
          <a:xfrm>
            <a:off x="594360" y="4096512"/>
            <a:ext cx="7955279" cy="457200"/>
          </a:xfrm>
          <a:prstGeom prst="rect">
            <a:avLst/>
          </a:prstGeom>
          <a:noFill/>
        </p:spPr>
        <p:txBody>
          <a:bodyPr wrap="square" lIns="0" rIns="0" tIns="0" bIns="0">
            <a:noAutofit/>
          </a:bodyPr>
          <a:lstStyle/>
          <a:p>
            <a:pPr algn="l">
              <a:lnSpc>
                <a:spcPts val="1888"/>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二つの英語表現が同じカテゴリを表す参照になっている。</a:t>
            </a:r>
          </a:p>
        </p:txBody>
      </p:sp>
      <p:sp>
        <p:nvSpPr>
          <p:cNvPr id="12"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 WikiFact（2023）。 </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https://crfm.stanford.edu/helm/classic/v0.4.0/#/groups/wikifact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実例5：薬剤と治療対象を結び付ける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35024"/>
            <a:ext cx="429768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入力原文（全文）</a:t>
            </a:r>
          </a:p>
        </p:txBody>
      </p:sp>
      <p:sp>
        <p:nvSpPr>
          <p:cNvPr id="5" name="quote-frame"/>
          <p:cNvSpPr/>
          <p:nvPr/>
        </p:nvSpPr>
        <p:spPr>
          <a:xfrm>
            <a:off x="548640" y="1655064"/>
            <a:ext cx="4297680" cy="75706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caramiphen has effects on diseases such as</a:t>
            </a:r>
          </a:p>
        </p:txBody>
      </p:sp>
      <p:sp>
        <p:nvSpPr>
          <p:cNvPr id="6" name="TextBox 5"/>
          <p:cNvSpPr txBox="1"/>
          <p:nvPr/>
        </p:nvSpPr>
        <p:spPr>
          <a:xfrm>
            <a:off x="594360" y="2607878"/>
            <a:ext cx="420624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参照回答（全文）</a:t>
            </a:r>
          </a:p>
        </p:txBody>
      </p:sp>
      <p:sp>
        <p:nvSpPr>
          <p:cNvPr id="7" name="TextBox 6"/>
          <p:cNvSpPr txBox="1"/>
          <p:nvPr/>
        </p:nvSpPr>
        <p:spPr>
          <a:xfrm>
            <a:off x="594360" y="2918773"/>
            <a:ext cx="4206240" cy="372236"/>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cough / coughing</a:t>
            </a:r>
          </a:p>
        </p:txBody>
      </p:sp>
      <p:sp>
        <p:nvSpPr>
          <p:cNvPr id="8" name="TextBox 7"/>
          <p:cNvSpPr txBox="1"/>
          <p:nvPr/>
        </p:nvSpPr>
        <p:spPr>
          <a:xfrm>
            <a:off x="5029200" y="1335024"/>
            <a:ext cx="356616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日本語訳（入力・答えの意味）</a:t>
            </a:r>
          </a:p>
        </p:txBody>
      </p:sp>
      <p:sp>
        <p:nvSpPr>
          <p:cNvPr id="9" name="quote-frame"/>
          <p:cNvSpPr/>
          <p:nvPr/>
        </p:nvSpPr>
        <p:spPr>
          <a:xfrm>
            <a:off x="5029200" y="1655064"/>
            <a:ext cx="3566160" cy="76384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カラミフェンが作用する疾患・症状には、次がある：</a:t>
            </a:r>
          </a:p>
        </p:txBody>
      </p:sp>
      <p:sp>
        <p:nvSpPr>
          <p:cNvPr id="10" name="TextBox 9"/>
          <p:cNvSpPr txBox="1"/>
          <p:nvPr/>
        </p:nvSpPr>
        <p:spPr>
          <a:xfrm>
            <a:off x="5074920" y="2606188"/>
            <a:ext cx="3474720" cy="1051560"/>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咳</a:t>
            </a:r>
          </a:p>
        </p:txBody>
      </p:sp>
      <p:sp>
        <p:nvSpPr>
          <p:cNvPr id="11" name="TextBox 10"/>
          <p:cNvSpPr txBox="1"/>
          <p:nvPr/>
        </p:nvSpPr>
        <p:spPr>
          <a:xfrm>
            <a:off x="594360" y="4096512"/>
            <a:ext cx="7955279" cy="457200"/>
          </a:xfrm>
          <a:prstGeom prst="rect">
            <a:avLst/>
          </a:prstGeom>
          <a:noFill/>
        </p:spPr>
        <p:txBody>
          <a:bodyPr wrap="square" lIns="0" rIns="0" tIns="0" bIns="0">
            <a:noAutofit/>
          </a:bodyPr>
          <a:lstStyle/>
          <a:p>
            <a:pPr algn="l">
              <a:lnSpc>
                <a:spcPts val="1888"/>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Wikidataの関係を補完する課題。ここではcoughとcoughingが参照に入る。</a:t>
            </a:r>
          </a:p>
        </p:txBody>
      </p:sp>
      <p:sp>
        <p:nvSpPr>
          <p:cNvPr id="12"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 WikiFact（2023）。 </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https://crfm.stanford.edu/helm/classic/v0.4.0/#/groups/wikifact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実例6：役職と組織の包含関係</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35024"/>
            <a:ext cx="429768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入力原文（全文）</a:t>
            </a:r>
          </a:p>
        </p:txBody>
      </p:sp>
      <p:sp>
        <p:nvSpPr>
          <p:cNvPr id="5" name="quote-frame"/>
          <p:cNvSpPr/>
          <p:nvPr/>
        </p:nvSpPr>
        <p:spPr>
          <a:xfrm>
            <a:off x="548640" y="1655064"/>
            <a:ext cx="4297680" cy="50728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Taoiseach is part of</a:t>
            </a:r>
          </a:p>
        </p:txBody>
      </p:sp>
      <p:sp>
        <p:nvSpPr>
          <p:cNvPr id="6" name="TextBox 5"/>
          <p:cNvSpPr txBox="1"/>
          <p:nvPr/>
        </p:nvSpPr>
        <p:spPr>
          <a:xfrm>
            <a:off x="594360" y="2290365"/>
            <a:ext cx="420624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参照回答（全文）</a:t>
            </a:r>
          </a:p>
        </p:txBody>
      </p:sp>
      <p:sp>
        <p:nvSpPr>
          <p:cNvPr id="7" name="TextBox 6"/>
          <p:cNvSpPr txBox="1"/>
          <p:nvPr/>
        </p:nvSpPr>
        <p:spPr>
          <a:xfrm>
            <a:off x="594360" y="2601261"/>
            <a:ext cx="4206240" cy="689610"/>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Government of Ireland / Cabinet of Ireland</a:t>
            </a:r>
          </a:p>
        </p:txBody>
      </p:sp>
      <p:sp>
        <p:nvSpPr>
          <p:cNvPr id="8" name="TextBox 7"/>
          <p:cNvSpPr txBox="1"/>
          <p:nvPr/>
        </p:nvSpPr>
        <p:spPr>
          <a:xfrm>
            <a:off x="5029200" y="1335024"/>
            <a:ext cx="356616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日本語訳（入力・答えの意味）</a:t>
            </a:r>
          </a:p>
        </p:txBody>
      </p:sp>
      <p:sp>
        <p:nvSpPr>
          <p:cNvPr id="9" name="quote-frame"/>
          <p:cNvSpPr/>
          <p:nvPr/>
        </p:nvSpPr>
        <p:spPr>
          <a:xfrm>
            <a:off x="5029200" y="1655064"/>
            <a:ext cx="3566160" cy="106442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アイルランド首相（Taoiseach）が属するのは</a:t>
            </a:r>
          </a:p>
        </p:txBody>
      </p:sp>
      <p:sp>
        <p:nvSpPr>
          <p:cNvPr id="10" name="TextBox 9"/>
          <p:cNvSpPr txBox="1"/>
          <p:nvPr/>
        </p:nvSpPr>
        <p:spPr>
          <a:xfrm>
            <a:off x="5074920" y="2923701"/>
            <a:ext cx="3474720" cy="1051560"/>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アイルランド政府</a:t>
            </a:r>
          </a:p>
        </p:txBody>
      </p:sp>
      <p:sp>
        <p:nvSpPr>
          <p:cNvPr id="11" name="TextBox 10"/>
          <p:cNvSpPr txBox="1"/>
          <p:nvPr/>
        </p:nvSpPr>
        <p:spPr>
          <a:xfrm>
            <a:off x="594360" y="4096512"/>
            <a:ext cx="7955279" cy="457200"/>
          </a:xfrm>
          <a:prstGeom prst="rect">
            <a:avLst/>
          </a:prstGeom>
          <a:noFill/>
        </p:spPr>
        <p:txBody>
          <a:bodyPr wrap="square" lIns="0" rIns="0" tIns="0" bIns="0">
            <a:noAutofit/>
          </a:bodyPr>
          <a:lstStyle/>
          <a:p>
            <a:pPr algn="l">
              <a:lnSpc>
                <a:spcPts val="1888"/>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Government of IrelandとCabinet of Irelandを参照とする。</a:t>
            </a:r>
          </a:p>
        </p:txBody>
      </p:sp>
      <p:sp>
        <p:nvSpPr>
          <p:cNvPr id="12"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 WikiFact（2023）。 </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https://crfm.stanford.edu/helm/classic/v0.4.0/#/groups/wikifact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実例7：出生地を地名で答える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35024"/>
            <a:ext cx="429768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入力原文（全文）</a:t>
            </a:r>
          </a:p>
        </p:txBody>
      </p:sp>
      <p:sp>
        <p:nvSpPr>
          <p:cNvPr id="5" name="quote-frame"/>
          <p:cNvSpPr/>
          <p:nvPr/>
        </p:nvSpPr>
        <p:spPr>
          <a:xfrm>
            <a:off x="548640" y="1655064"/>
            <a:ext cx="4297680" cy="44801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AURORA was born in</a:t>
            </a:r>
          </a:p>
        </p:txBody>
      </p:sp>
      <p:sp>
        <p:nvSpPr>
          <p:cNvPr id="6" name="TextBox 5"/>
          <p:cNvSpPr txBox="1"/>
          <p:nvPr/>
        </p:nvSpPr>
        <p:spPr>
          <a:xfrm>
            <a:off x="594360" y="2290365"/>
            <a:ext cx="420624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参照回答（全文）</a:t>
            </a:r>
          </a:p>
        </p:txBody>
      </p:sp>
      <p:sp>
        <p:nvSpPr>
          <p:cNvPr id="7" name="TextBox 6"/>
          <p:cNvSpPr txBox="1"/>
          <p:nvPr/>
        </p:nvSpPr>
        <p:spPr>
          <a:xfrm>
            <a:off x="594360" y="2601261"/>
            <a:ext cx="4206240" cy="1006983"/>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Stavanger / Stavanger, Rogaland, Norway / Stavanger, Norway</a:t>
            </a:r>
          </a:p>
        </p:txBody>
      </p:sp>
      <p:sp>
        <p:nvSpPr>
          <p:cNvPr id="8" name="TextBox 7"/>
          <p:cNvSpPr txBox="1"/>
          <p:nvPr/>
        </p:nvSpPr>
        <p:spPr>
          <a:xfrm>
            <a:off x="5029200" y="1335024"/>
            <a:ext cx="356616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日本語訳（入力・答えの意味）</a:t>
            </a:r>
          </a:p>
        </p:txBody>
      </p:sp>
      <p:sp>
        <p:nvSpPr>
          <p:cNvPr id="9" name="quote-frame"/>
          <p:cNvSpPr/>
          <p:nvPr/>
        </p:nvSpPr>
        <p:spPr>
          <a:xfrm>
            <a:off x="5029200" y="1655064"/>
            <a:ext cx="3566160" cy="74726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AURORAが生まれた場所は</a:t>
            </a:r>
          </a:p>
        </p:txBody>
      </p:sp>
      <p:sp>
        <p:nvSpPr>
          <p:cNvPr id="10" name="TextBox 9"/>
          <p:cNvSpPr txBox="1"/>
          <p:nvPr/>
        </p:nvSpPr>
        <p:spPr>
          <a:xfrm>
            <a:off x="5074920" y="2606544"/>
            <a:ext cx="3474720" cy="1051560"/>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スタヴァンゲル</a:t>
            </a:r>
          </a:p>
        </p:txBody>
      </p:sp>
      <p:sp>
        <p:nvSpPr>
          <p:cNvPr id="11" name="TextBox 10"/>
          <p:cNvSpPr txBox="1"/>
          <p:nvPr/>
        </p:nvSpPr>
        <p:spPr>
          <a:xfrm>
            <a:off x="594360" y="4096512"/>
            <a:ext cx="7955279" cy="457200"/>
          </a:xfrm>
          <a:prstGeom prst="rect">
            <a:avLst/>
          </a:prstGeom>
          <a:noFill/>
        </p:spPr>
        <p:txBody>
          <a:bodyPr wrap="square" lIns="0" rIns="0" tIns="0" bIns="0">
            <a:noAutofit/>
          </a:bodyPr>
          <a:lstStyle/>
          <a:p>
            <a:pPr algn="l">
              <a:lnSpc>
                <a:spcPts val="1888"/>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都市名だけの表記と、国名・地域名を添えた表記を認める。</a:t>
            </a:r>
          </a:p>
        </p:txBody>
      </p:sp>
      <p:sp>
        <p:nvSpPr>
          <p:cNvPr id="12"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 WikiFact（2023）。 </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https://crfm.stanford.edu/helm/classic/v0.4.0/#/groups/wikifact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実例8：医学的評価法の考案者を答える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35024"/>
            <a:ext cx="429768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入力原文（全文）</a:t>
            </a:r>
          </a:p>
        </p:txBody>
      </p:sp>
      <p:sp>
        <p:nvSpPr>
          <p:cNvPr id="5" name="quote-frame"/>
          <p:cNvSpPr/>
          <p:nvPr/>
        </p:nvSpPr>
        <p:spPr>
          <a:xfrm>
            <a:off x="548640" y="1655064"/>
            <a:ext cx="4297680" cy="50728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Apgar score was discovered by</a:t>
            </a:r>
          </a:p>
        </p:txBody>
      </p:sp>
      <p:sp>
        <p:nvSpPr>
          <p:cNvPr id="6" name="TextBox 5"/>
          <p:cNvSpPr txBox="1"/>
          <p:nvPr/>
        </p:nvSpPr>
        <p:spPr>
          <a:xfrm>
            <a:off x="594360" y="2290366"/>
            <a:ext cx="420624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参照回答（全文）</a:t>
            </a:r>
          </a:p>
        </p:txBody>
      </p:sp>
      <p:sp>
        <p:nvSpPr>
          <p:cNvPr id="7" name="TextBox 6"/>
          <p:cNvSpPr txBox="1"/>
          <p:nvPr/>
        </p:nvSpPr>
        <p:spPr>
          <a:xfrm>
            <a:off x="594360" y="2601261"/>
            <a:ext cx="4206240" cy="689610"/>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Virginia Apgar / Virginia Agpar / Virginia Apgar</a:t>
            </a:r>
          </a:p>
        </p:txBody>
      </p:sp>
      <p:sp>
        <p:nvSpPr>
          <p:cNvPr id="8" name="TextBox 7"/>
          <p:cNvSpPr txBox="1"/>
          <p:nvPr/>
        </p:nvSpPr>
        <p:spPr>
          <a:xfrm>
            <a:off x="5029200" y="1335024"/>
            <a:ext cx="356616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日本語訳（入力・答えの意味）</a:t>
            </a:r>
          </a:p>
        </p:txBody>
      </p:sp>
      <p:sp>
        <p:nvSpPr>
          <p:cNvPr id="9" name="quote-frame"/>
          <p:cNvSpPr/>
          <p:nvPr/>
        </p:nvSpPr>
        <p:spPr>
          <a:xfrm>
            <a:off x="5029200" y="1655064"/>
            <a:ext cx="3566160" cy="74726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アプガースコアを考案したのは</a:t>
            </a:r>
          </a:p>
        </p:txBody>
      </p:sp>
      <p:sp>
        <p:nvSpPr>
          <p:cNvPr id="10" name="TextBox 9"/>
          <p:cNvSpPr txBox="1"/>
          <p:nvPr/>
        </p:nvSpPr>
        <p:spPr>
          <a:xfrm>
            <a:off x="5074920" y="2606544"/>
            <a:ext cx="3474720" cy="1051560"/>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バージニア・アプガー</a:t>
            </a:r>
          </a:p>
        </p:txBody>
      </p:sp>
      <p:sp>
        <p:nvSpPr>
          <p:cNvPr id="11" name="TextBox 10"/>
          <p:cNvSpPr txBox="1"/>
          <p:nvPr/>
        </p:nvSpPr>
        <p:spPr>
          <a:xfrm>
            <a:off x="594360" y="4096512"/>
            <a:ext cx="7955279" cy="457200"/>
          </a:xfrm>
          <a:prstGeom prst="rect">
            <a:avLst/>
          </a:prstGeom>
          <a:noFill/>
        </p:spPr>
        <p:txBody>
          <a:bodyPr wrap="square" lIns="0" rIns="0" tIns="0" bIns="0">
            <a:noAutofit/>
          </a:bodyPr>
          <a:lstStyle/>
          <a:p>
            <a:pPr algn="l">
              <a:lnSpc>
                <a:spcPts val="1888"/>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医学的評価法の考案者を「discovered by」というテンプレートで尋ねる。参照にはVirginia Agparという表記や、同じ名前の重複が含まれる。</a:t>
            </a:r>
          </a:p>
        </p:txBody>
      </p:sp>
      <p:sp>
        <p:nvSpPr>
          <p:cNvPr id="12"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 WikiFact（2023）。 </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https://crfm.stanford.edu/helm/classic/v0.4.0/#/groups/wikifact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実例9：人物が務める役職を答える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35024"/>
            <a:ext cx="429768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入力原文（全文）</a:t>
            </a:r>
          </a:p>
        </p:txBody>
      </p:sp>
      <p:sp>
        <p:nvSpPr>
          <p:cNvPr id="5" name="quote-frame"/>
          <p:cNvSpPr/>
          <p:nvPr/>
        </p:nvSpPr>
        <p:spPr>
          <a:xfrm>
            <a:off x="548640" y="1655064"/>
            <a:ext cx="4297680" cy="75706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The position held by Alison Foster is</a:t>
            </a:r>
          </a:p>
        </p:txBody>
      </p:sp>
      <p:sp>
        <p:nvSpPr>
          <p:cNvPr id="6" name="TextBox 5"/>
          <p:cNvSpPr txBox="1"/>
          <p:nvPr/>
        </p:nvSpPr>
        <p:spPr>
          <a:xfrm>
            <a:off x="594360" y="2607878"/>
            <a:ext cx="420624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参照回答（全文）</a:t>
            </a:r>
          </a:p>
        </p:txBody>
      </p:sp>
      <p:sp>
        <p:nvSpPr>
          <p:cNvPr id="7" name="TextBox 6"/>
          <p:cNvSpPr txBox="1"/>
          <p:nvPr/>
        </p:nvSpPr>
        <p:spPr>
          <a:xfrm>
            <a:off x="594360" y="2918773"/>
            <a:ext cx="4206240" cy="372236"/>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High Court judge</a:t>
            </a:r>
          </a:p>
        </p:txBody>
      </p:sp>
      <p:sp>
        <p:nvSpPr>
          <p:cNvPr id="8" name="TextBox 7"/>
          <p:cNvSpPr txBox="1"/>
          <p:nvPr/>
        </p:nvSpPr>
        <p:spPr>
          <a:xfrm>
            <a:off x="5029200" y="1335024"/>
            <a:ext cx="356616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日本語訳（入力・答えの意味）</a:t>
            </a:r>
          </a:p>
        </p:txBody>
      </p:sp>
      <p:sp>
        <p:nvSpPr>
          <p:cNvPr id="9" name="quote-frame"/>
          <p:cNvSpPr/>
          <p:nvPr/>
        </p:nvSpPr>
        <p:spPr>
          <a:xfrm>
            <a:off x="5029200" y="1655064"/>
            <a:ext cx="3566160" cy="76419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アリソン・フォスターの役職は</a:t>
            </a:r>
          </a:p>
        </p:txBody>
      </p:sp>
      <p:sp>
        <p:nvSpPr>
          <p:cNvPr id="10" name="TextBox 9"/>
          <p:cNvSpPr txBox="1"/>
          <p:nvPr/>
        </p:nvSpPr>
        <p:spPr>
          <a:xfrm>
            <a:off x="5074920" y="2606544"/>
            <a:ext cx="3474720" cy="1051560"/>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高等法院判事</a:t>
            </a:r>
          </a:p>
        </p:txBody>
      </p:sp>
      <p:sp>
        <p:nvSpPr>
          <p:cNvPr id="11" name="TextBox 10"/>
          <p:cNvSpPr txBox="1"/>
          <p:nvPr/>
        </p:nvSpPr>
        <p:spPr>
          <a:xfrm>
            <a:off x="594360" y="4096512"/>
            <a:ext cx="7955279" cy="457200"/>
          </a:xfrm>
          <a:prstGeom prst="rect">
            <a:avLst/>
          </a:prstGeom>
          <a:noFill/>
        </p:spPr>
        <p:txBody>
          <a:bodyPr wrap="square" lIns="0" rIns="0" tIns="0" bIns="0">
            <a:noAutofit/>
          </a:bodyPr>
          <a:lstStyle/>
          <a:p>
            <a:pPr algn="l">
              <a:lnSpc>
                <a:spcPts val="1888"/>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人物と役職の関係を尋ねる。参照回答は高等法院判事である。</a:t>
            </a:r>
          </a:p>
        </p:txBody>
      </p:sp>
      <p:sp>
        <p:nvSpPr>
          <p:cNvPr id="12"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 WikiFact（2023）。 </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https://crfm.stanford.edu/helm/classic/v0.4.0/#/groups/wikifact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実例10：病態から症状・徴候を答える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35024"/>
            <a:ext cx="429768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入力原文（全文）</a:t>
            </a:r>
          </a:p>
        </p:txBody>
      </p:sp>
      <p:sp>
        <p:nvSpPr>
          <p:cNvPr id="5" name="quote-frame"/>
          <p:cNvSpPr/>
          <p:nvPr/>
        </p:nvSpPr>
        <p:spPr>
          <a:xfrm>
            <a:off x="548640" y="1655064"/>
            <a:ext cx="4297680" cy="114195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secondary hypertrophic osteoarthropathy has symptoms such as</a:t>
            </a:r>
          </a:p>
        </p:txBody>
      </p:sp>
      <p:sp>
        <p:nvSpPr>
          <p:cNvPr id="6" name="TextBox 5"/>
          <p:cNvSpPr txBox="1"/>
          <p:nvPr/>
        </p:nvSpPr>
        <p:spPr>
          <a:xfrm>
            <a:off x="594360" y="2925034"/>
            <a:ext cx="420624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参照回答（全文）</a:t>
            </a:r>
          </a:p>
        </p:txBody>
      </p:sp>
      <p:sp>
        <p:nvSpPr>
          <p:cNvPr id="7" name="TextBox 6"/>
          <p:cNvSpPr txBox="1"/>
          <p:nvPr/>
        </p:nvSpPr>
        <p:spPr>
          <a:xfrm>
            <a:off x="594360" y="3235930"/>
            <a:ext cx="4206240" cy="1324356"/>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nail clubbing / digital clubbing / clubbing of fingers / Hippocratic fingers / finger clubbing</a:t>
            </a:r>
          </a:p>
        </p:txBody>
      </p:sp>
      <p:sp>
        <p:nvSpPr>
          <p:cNvPr id="8" name="TextBox 7"/>
          <p:cNvSpPr txBox="1"/>
          <p:nvPr/>
        </p:nvSpPr>
        <p:spPr>
          <a:xfrm>
            <a:off x="5029200" y="1335024"/>
            <a:ext cx="356616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日本語訳（入力・答えの意味）</a:t>
            </a:r>
          </a:p>
        </p:txBody>
      </p:sp>
      <p:sp>
        <p:nvSpPr>
          <p:cNvPr id="9" name="quote-frame"/>
          <p:cNvSpPr/>
          <p:nvPr/>
        </p:nvSpPr>
        <p:spPr>
          <a:xfrm>
            <a:off x="5029200" y="1655064"/>
            <a:ext cx="3566160" cy="76384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続発性肥大性骨関節症の症状・徴候には、次がある：</a:t>
            </a:r>
          </a:p>
        </p:txBody>
      </p:sp>
      <p:sp>
        <p:nvSpPr>
          <p:cNvPr id="10" name="TextBox 9"/>
          <p:cNvSpPr txBox="1"/>
          <p:nvPr/>
        </p:nvSpPr>
        <p:spPr>
          <a:xfrm>
            <a:off x="5074920" y="2606188"/>
            <a:ext cx="3474720" cy="1051560"/>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ばち指</a:t>
            </a:r>
          </a:p>
        </p:txBody>
      </p:sp>
      <p:sp>
        <p:nvSpPr>
          <p:cNvPr id="11"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 WikiFact（2023）。 </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https://crfm.stanford.edu/helm/classic/v0.4.0/#/groups/wikifact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実例11：古典作品の著者を答える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35024"/>
            <a:ext cx="429768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入力原文（全文）</a:t>
            </a:r>
          </a:p>
        </p:txBody>
      </p:sp>
      <p:sp>
        <p:nvSpPr>
          <p:cNvPr id="5" name="quote-frame"/>
          <p:cNvSpPr/>
          <p:nvPr/>
        </p:nvSpPr>
        <p:spPr>
          <a:xfrm>
            <a:off x="548640" y="1655064"/>
            <a:ext cx="4297680" cy="75706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The author of Dialectics of Nature is</a:t>
            </a:r>
          </a:p>
        </p:txBody>
      </p:sp>
      <p:sp>
        <p:nvSpPr>
          <p:cNvPr id="6" name="TextBox 5"/>
          <p:cNvSpPr txBox="1"/>
          <p:nvPr/>
        </p:nvSpPr>
        <p:spPr>
          <a:xfrm>
            <a:off x="594360" y="2607878"/>
            <a:ext cx="420624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参照回答（全文）</a:t>
            </a:r>
          </a:p>
        </p:txBody>
      </p:sp>
      <p:sp>
        <p:nvSpPr>
          <p:cNvPr id="7" name="TextBox 6"/>
          <p:cNvSpPr txBox="1"/>
          <p:nvPr/>
        </p:nvSpPr>
        <p:spPr>
          <a:xfrm>
            <a:off x="594360" y="2918773"/>
            <a:ext cx="4206240" cy="1006983"/>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Friedrich Engels / F. Engels / Frederik Engels / Friedrich Engles</a:t>
            </a:r>
          </a:p>
        </p:txBody>
      </p:sp>
      <p:sp>
        <p:nvSpPr>
          <p:cNvPr id="8" name="TextBox 7"/>
          <p:cNvSpPr txBox="1"/>
          <p:nvPr/>
        </p:nvSpPr>
        <p:spPr>
          <a:xfrm>
            <a:off x="5029200" y="1335024"/>
            <a:ext cx="356616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日本語訳（入力・答えの意味）</a:t>
            </a:r>
          </a:p>
        </p:txBody>
      </p:sp>
      <p:sp>
        <p:nvSpPr>
          <p:cNvPr id="9" name="quote-frame"/>
          <p:cNvSpPr/>
          <p:nvPr/>
        </p:nvSpPr>
        <p:spPr>
          <a:xfrm>
            <a:off x="5029200" y="1655064"/>
            <a:ext cx="3566160" cy="44668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『自然弁証法』の著者は</a:t>
            </a:r>
          </a:p>
        </p:txBody>
      </p:sp>
      <p:sp>
        <p:nvSpPr>
          <p:cNvPr id="10" name="TextBox 9"/>
          <p:cNvSpPr txBox="1"/>
          <p:nvPr/>
        </p:nvSpPr>
        <p:spPr>
          <a:xfrm>
            <a:off x="5074920" y="2289031"/>
            <a:ext cx="3474720" cy="1051560"/>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フリードリヒ・エンゲルス</a:t>
            </a:r>
          </a:p>
        </p:txBody>
      </p:sp>
      <p:sp>
        <p:nvSpPr>
          <p:cNvPr id="11" name="TextBox 10"/>
          <p:cNvSpPr txBox="1"/>
          <p:nvPr/>
        </p:nvSpPr>
        <p:spPr>
          <a:xfrm>
            <a:off x="594360" y="4096512"/>
            <a:ext cx="7955279" cy="457200"/>
          </a:xfrm>
          <a:prstGeom prst="rect">
            <a:avLst/>
          </a:prstGeom>
          <a:noFill/>
        </p:spPr>
        <p:txBody>
          <a:bodyPr wrap="square" lIns="0" rIns="0" tIns="0" bIns="0">
            <a:noAutofit/>
          </a:bodyPr>
          <a:lstStyle/>
          <a:p>
            <a:pPr algn="l">
              <a:lnSpc>
                <a:spcPts val="1888"/>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イニシャル表記などを含む複数の別名が参照になる。</a:t>
            </a:r>
          </a:p>
        </p:txBody>
      </p:sp>
      <p:sp>
        <p:nvSpPr>
          <p:cNvPr id="12"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 WikiFact（2023）。 </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https://crfm.stanford.edu/helm/classic/v0.4.0/#/groups/wikifact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実例12：歴史上の地域の通貨</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35024"/>
            <a:ext cx="429768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入力原文（全文）</a:t>
            </a:r>
          </a:p>
        </p:txBody>
      </p:sp>
      <p:sp>
        <p:nvSpPr>
          <p:cNvPr id="5" name="quote-frame"/>
          <p:cNvSpPr/>
          <p:nvPr/>
        </p:nvSpPr>
        <p:spPr>
          <a:xfrm>
            <a:off x="548640" y="1655064"/>
            <a:ext cx="4297680" cy="75706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The currency of British Cyprus is</a:t>
            </a:r>
          </a:p>
        </p:txBody>
      </p:sp>
      <p:sp>
        <p:nvSpPr>
          <p:cNvPr id="6" name="TextBox 5"/>
          <p:cNvSpPr txBox="1"/>
          <p:nvPr/>
        </p:nvSpPr>
        <p:spPr>
          <a:xfrm>
            <a:off x="594360" y="2607878"/>
            <a:ext cx="420624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参照回答（全文）</a:t>
            </a:r>
          </a:p>
        </p:txBody>
      </p:sp>
      <p:sp>
        <p:nvSpPr>
          <p:cNvPr id="7" name="TextBox 6"/>
          <p:cNvSpPr txBox="1"/>
          <p:nvPr/>
        </p:nvSpPr>
        <p:spPr>
          <a:xfrm>
            <a:off x="594360" y="2918773"/>
            <a:ext cx="4206240" cy="372236"/>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Cypriot pound / Cypriot lira</a:t>
            </a:r>
          </a:p>
        </p:txBody>
      </p:sp>
      <p:sp>
        <p:nvSpPr>
          <p:cNvPr id="8" name="TextBox 7"/>
          <p:cNvSpPr txBox="1"/>
          <p:nvPr/>
        </p:nvSpPr>
        <p:spPr>
          <a:xfrm>
            <a:off x="5029200" y="1335024"/>
            <a:ext cx="356616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日本語訳（入力・答えの意味）</a:t>
            </a:r>
          </a:p>
        </p:txBody>
      </p:sp>
      <p:sp>
        <p:nvSpPr>
          <p:cNvPr id="9" name="quote-frame"/>
          <p:cNvSpPr/>
          <p:nvPr/>
        </p:nvSpPr>
        <p:spPr>
          <a:xfrm>
            <a:off x="5029200" y="1655064"/>
            <a:ext cx="3566160" cy="74726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イギリス領キプロスの通貨は</a:t>
            </a:r>
          </a:p>
        </p:txBody>
      </p:sp>
      <p:sp>
        <p:nvSpPr>
          <p:cNvPr id="10" name="TextBox 9"/>
          <p:cNvSpPr txBox="1"/>
          <p:nvPr/>
        </p:nvSpPr>
        <p:spPr>
          <a:xfrm>
            <a:off x="5074920" y="2606544"/>
            <a:ext cx="3474720" cy="1051560"/>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キプロス・ポンド</a:t>
            </a:r>
          </a:p>
        </p:txBody>
      </p:sp>
      <p:sp>
        <p:nvSpPr>
          <p:cNvPr id="11" name="TextBox 10"/>
          <p:cNvSpPr txBox="1"/>
          <p:nvPr/>
        </p:nvSpPr>
        <p:spPr>
          <a:xfrm>
            <a:off x="594360" y="4096512"/>
            <a:ext cx="7955279" cy="457200"/>
          </a:xfrm>
          <a:prstGeom prst="rect">
            <a:avLst/>
          </a:prstGeom>
          <a:noFill/>
        </p:spPr>
        <p:txBody>
          <a:bodyPr wrap="square" lIns="0" rIns="0" tIns="0" bIns="0">
            <a:noAutofit/>
          </a:bodyPr>
          <a:lstStyle/>
          <a:p>
            <a:pPr algn="l">
              <a:lnSpc>
                <a:spcPts val="1888"/>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イギリス領キプロスで用いられた通貨を尋ねる。</a:t>
            </a:r>
          </a:p>
        </p:txBody>
      </p:sp>
      <p:sp>
        <p:nvSpPr>
          <p:cNvPr id="12"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 WikiFact（2023）。 </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https://crfm.stanford.edu/helm/classic/v0.4.0/#/groups/wikifact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実例13：参照に日本語表記が含まれる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35024"/>
            <a:ext cx="429768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入力原文（全文）</a:t>
            </a:r>
          </a:p>
        </p:txBody>
      </p:sp>
      <p:sp>
        <p:nvSpPr>
          <p:cNvPr id="5" name="quote-frame"/>
          <p:cNvSpPr/>
          <p:nvPr/>
        </p:nvSpPr>
        <p:spPr>
          <a:xfrm>
            <a:off x="548640" y="1655064"/>
            <a:ext cx="4297680" cy="82479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(5353) 1989 YT was discovered by</a:t>
            </a:r>
          </a:p>
        </p:txBody>
      </p:sp>
      <p:sp>
        <p:nvSpPr>
          <p:cNvPr id="6" name="TextBox 5"/>
          <p:cNvSpPr txBox="1"/>
          <p:nvPr/>
        </p:nvSpPr>
        <p:spPr>
          <a:xfrm>
            <a:off x="594360" y="2607878"/>
            <a:ext cx="420624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参照回答（全文）</a:t>
            </a:r>
          </a:p>
        </p:txBody>
      </p:sp>
      <p:sp>
        <p:nvSpPr>
          <p:cNvPr id="7" name="TextBox 6"/>
          <p:cNvSpPr txBox="1"/>
          <p:nvPr/>
        </p:nvSpPr>
        <p:spPr>
          <a:xfrm>
            <a:off x="594360" y="2918773"/>
            <a:ext cx="4206240" cy="689610"/>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Yoshiaki Oshima / おおしま よしあき</a:t>
            </a:r>
          </a:p>
        </p:txBody>
      </p:sp>
      <p:sp>
        <p:nvSpPr>
          <p:cNvPr id="8" name="TextBox 7"/>
          <p:cNvSpPr txBox="1"/>
          <p:nvPr/>
        </p:nvSpPr>
        <p:spPr>
          <a:xfrm>
            <a:off x="5029200" y="1335024"/>
            <a:ext cx="3566160" cy="228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日本語訳（入力・答えの意味）</a:t>
            </a:r>
          </a:p>
        </p:txBody>
      </p:sp>
      <p:sp>
        <p:nvSpPr>
          <p:cNvPr id="9" name="quote-frame"/>
          <p:cNvSpPr/>
          <p:nvPr/>
        </p:nvSpPr>
        <p:spPr>
          <a:xfrm>
            <a:off x="5029200" y="1655064"/>
            <a:ext cx="3566160" cy="75572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499"/>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(5353) 1989 YTを発見したのは</a:t>
            </a:r>
          </a:p>
        </p:txBody>
      </p:sp>
      <p:sp>
        <p:nvSpPr>
          <p:cNvPr id="10" name="TextBox 9"/>
          <p:cNvSpPr txBox="1"/>
          <p:nvPr/>
        </p:nvSpPr>
        <p:spPr>
          <a:xfrm>
            <a:off x="5074920" y="2606544"/>
            <a:ext cx="3474720" cy="1051560"/>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大島良明</a:t>
            </a:r>
          </a:p>
        </p:txBody>
      </p:sp>
      <p:sp>
        <p:nvSpPr>
          <p:cNvPr id="11" name="TextBox 10"/>
          <p:cNvSpPr txBox="1"/>
          <p:nvPr/>
        </p:nvSpPr>
        <p:spPr>
          <a:xfrm>
            <a:off x="594360" y="4096512"/>
            <a:ext cx="7955279" cy="457200"/>
          </a:xfrm>
          <a:prstGeom prst="rect">
            <a:avLst/>
          </a:prstGeom>
          <a:noFill/>
        </p:spPr>
        <p:txBody>
          <a:bodyPr wrap="square" lIns="0" rIns="0" tIns="0" bIns="0">
            <a:noAutofit/>
          </a:bodyPr>
          <a:lstStyle/>
          <a:p>
            <a:pPr algn="l">
              <a:lnSpc>
                <a:spcPts val="1888"/>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入力は英語のテンプレートだが、参照の別名には日本語表記も含まれる。</a:t>
            </a:r>
          </a:p>
        </p:txBody>
      </p:sp>
      <p:sp>
        <p:nvSpPr>
          <p:cNvPr id="12"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 WikiFact（2023）。 </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https://crfm.stanford.edu/helm/classic/v0.4.0/#/groups/wikifact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関係別成績とデータの読込</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関係別成績とデータの読込</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10関係のAccuracy@1（前半）</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関係別成績とデータの読込</a:t>
            </a:r>
          </a:p>
        </p:txBody>
      </p:sp>
      <p:graphicFrame>
        <p:nvGraphicFramePr>
          <p:cNvPr id="4" name="Table 3"/>
          <p:cNvGraphicFramePr>
            <a:graphicFrameLocks noGrp="1"/>
          </p:cNvGraphicFramePr>
          <p:nvPr/>
        </p:nvGraphicFramePr>
        <p:xfrm>
          <a:off x="548640" y="1508760"/>
          <a:ext cx="8046720" cy="2523744"/>
        </p:xfrm>
        <a:graphic>
          <a:graphicData uri="http://schemas.openxmlformats.org/drawingml/2006/table">
            <a:tbl>
              <a:tblPr firstRow="0" bandRow="0"/>
              <a:tblGrid>
                <a:gridCol w="2788920"/>
                <a:gridCol w="1737360"/>
                <a:gridCol w="1783080"/>
                <a:gridCol w="1737360"/>
              </a:tblGrid>
              <a:tr h="420624">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関係</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OPT-175B</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davinci-003</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Llama 2</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著者</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17.06</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53.76</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61.53</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通貨</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42.16</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57.10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62.71</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発見者・発明者</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6.27</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17.88</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26.12</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分類</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34.24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45.73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60.47</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治療対象</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19.65</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46.67</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52.12</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233672"/>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単位は%。候補数は5／5／1、試行数は3／3／1。</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 WikiFact（2023）。 </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https://crfm.stanford.edu/helm/classic/v0.4.0/#/groups/wikifact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10関係のAccuracy@1（後半）</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関係別成績とデータの読込</a:t>
            </a:r>
          </a:p>
        </p:txBody>
      </p:sp>
      <p:graphicFrame>
        <p:nvGraphicFramePr>
          <p:cNvPr id="4" name="Table 3"/>
          <p:cNvGraphicFramePr>
            <a:graphicFrameLocks noGrp="1"/>
          </p:cNvGraphicFramePr>
          <p:nvPr/>
        </p:nvGraphicFramePr>
        <p:xfrm>
          <a:off x="548640" y="1508760"/>
          <a:ext cx="8046720" cy="2523744"/>
        </p:xfrm>
        <a:graphic>
          <a:graphicData uri="http://schemas.openxmlformats.org/drawingml/2006/table">
            <a:tbl>
              <a:tblPr firstRow="0" bandRow="0"/>
              <a:tblGrid>
                <a:gridCol w="2788920"/>
                <a:gridCol w="1737360"/>
                <a:gridCol w="1783080"/>
                <a:gridCol w="1737360"/>
              </a:tblGrid>
              <a:tr h="420624">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関係</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OPT-175B</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davinci-003</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Llama 2</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部分・所属先</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18.00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30.63</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18.24</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出生地</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3.33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16.43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22.94</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原告</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50.69</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60.42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68.75</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役職</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9.02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16.31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31.29</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症状・徴候</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19.91</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28.45</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45.05</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233672"/>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単位は%。候補数は5／5／1、試行数は3／3／1。</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 WikiFact（2023）。 </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https://crfm.stanford.edu/helm/classic/v0.4.0/#/groups/wikifact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5候補のどれかが合えば正解となる評価</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関係別成績とデータの読込</a:t>
            </a:r>
          </a:p>
        </p:txBody>
      </p:sp>
      <p:graphicFrame>
        <p:nvGraphicFramePr>
          <p:cNvPr id="4" name="Table 3"/>
          <p:cNvGraphicFramePr>
            <a:graphicFrameLocks noGrp="1"/>
          </p:cNvGraphicFramePr>
          <p:nvPr/>
        </p:nvGraphicFramePr>
        <p:xfrm>
          <a:off x="548640" y="1508760"/>
          <a:ext cx="8046720" cy="1612900"/>
        </p:xfrm>
        <a:graphic>
          <a:graphicData uri="http://schemas.openxmlformats.org/drawingml/2006/table">
            <a:tbl>
              <a:tblPr firstRow="0" bandRow="0"/>
              <a:tblGrid>
                <a:gridCol w="3291840"/>
                <a:gridCol w="2377440"/>
                <a:gridCol w="2377440"/>
              </a:tblGrid>
              <a:tr h="6985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モデル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Accuracy@1（%）</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Accuracy@5（%）</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OPT-175B</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22.03</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32.28</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text-davinci-003</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37.34</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44.03</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32282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10関係を同じ重みで平均し、3試行を平均した値。</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 WikiFact（2023）。 </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https://crfm.stanford.edu/helm/classic/v0.4.0/#/groups/wikifact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公開実行のJSONから、入力と参照を読む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関係別成績とデータの読込</a:t>
            </a:r>
          </a:p>
        </p:txBody>
      </p:sp>
      <p:sp>
        <p:nvSpPr>
          <p:cNvPr id="5" name="TextBox 4"/>
          <p:cNvSpPr txBox="1"/>
          <p:nvPr/>
        </p:nvSpPr>
        <p:spPr>
          <a:xfrm>
            <a:off x="594360" y="3937000"/>
            <a:ext cx="7955279" cy="533400"/>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scenario_state.jsonは、公式HELMの公開実行に付随するJSONファイル。各問の入力、参照回答、モデル出力を収める。</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WIKIFactScenario。 </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https://github.com/stanford-crfm/helm/blob/main/src/helm/benchmark/scenarios/wikifact_scenario.py</a:t>
            </a:r>
          </a:p>
        </p:txBody>
      </p:sp>
      <p:sp>
        <p:nvSpPr>
          <p:cNvPr id="7" name="code-frame"/>
          <p:cNvSpPr txBox="1"/>
          <p:nvPr/>
        </p:nvSpPr>
        <p:spPr>
          <a:xfrm>
            <a:off x="548640" y="1591691"/>
            <a:ext cx="8046720" cy="1697610"/>
          </a:xfrm>
          <a:prstGeom prst="rect">
            <a:avLst/>
          </a:prstGeom>
          <a:solidFill>
            <a:srgbClr val="EBEDEB"/>
          </a:solidFill>
          <a:ln>
            <a:noFill/>
          </a:ln>
        </p:spPr>
        <p:txBody>
          <a:bodyPr wrap="none" lIns="152400" rIns="152400" tIns="59309" bIns="127000">
            <a:spAutoFit/>
          </a:bodyPr>
          <a:lstStyle/>
          <a:p>
            <a:pPr>
              <a:lnSpc>
                <a:spcPct val="110000"/>
              </a:lnSpc>
              <a:spcBef>
                <a:spcPts val="0"/>
              </a:spcBef>
              <a:spcAft>
                <a:spcPts val="0"/>
              </a:spcAft>
            </a:pPr>
            <a:r>
              <a:rPr sz="1500">
                <a:solidFill>
                  <a:srgbClr val="303638"/>
                </a:solidFill>
                <a:latin typeface="DejaVu Sans Mono"/>
              </a:rPr>
              <a:t>import json</a:t>
            </a:r>
          </a:p>
          <a:p>
            <a:pPr>
              <a:lnSpc>
                <a:spcPct val="110000"/>
              </a:lnSpc>
              <a:spcBef>
                <a:spcPts val="0"/>
              </a:spcBef>
              <a:spcAft>
                <a:spcPts val="0"/>
              </a:spcAft>
            </a:pPr>
            <a:r>
              <a:rPr sz="1500">
                <a:solidFill>
                  <a:srgbClr val="303638"/>
                </a:solidFill>
                <a:latin typeface="DejaVu Sans Mono"/>
              </a:rPr>
              <a:t>with open("scenario_state.json", encoding="utf-8") as f:</a:t>
            </a:r>
          </a:p>
          <a:p>
            <a:pPr>
              <a:lnSpc>
                <a:spcPct val="110000"/>
              </a:lnSpc>
              <a:spcBef>
                <a:spcPts val="0"/>
              </a:spcBef>
              <a:spcAft>
                <a:spcPts val="0"/>
              </a:spcAft>
            </a:pPr>
            <a:r>
              <a:rPr sz="1500">
                <a:solidFill>
                  <a:srgbClr val="303638"/>
                </a:solidFill>
                <a:latin typeface="DejaVu Sans Mono"/>
              </a:rPr>
              <a:t>    state = json.load(f)</a:t>
            </a:r>
          </a:p>
          <a:p>
            <a:pPr>
              <a:lnSpc>
                <a:spcPct val="110000"/>
              </a:lnSpc>
              <a:spcBef>
                <a:spcPts val="0"/>
              </a:spcBef>
              <a:spcAft>
                <a:spcPts val="0"/>
              </a:spcAft>
            </a:pPr>
            <a:r>
              <a:rPr sz="1500">
                <a:solidFill>
                  <a:srgbClr val="303638"/>
                </a:solidFill>
                <a:latin typeface="DejaVu Sans Mono"/>
              </a:rPr>
              <a:t>example = state["request_states"][0]["instance"]</a:t>
            </a:r>
          </a:p>
          <a:p>
            <a:pPr>
              <a:lnSpc>
                <a:spcPct val="110000"/>
              </a:lnSpc>
              <a:spcBef>
                <a:spcPts val="0"/>
              </a:spcBef>
              <a:spcAft>
                <a:spcPts val="0"/>
              </a:spcAft>
            </a:pPr>
            <a:r>
              <a:rPr sz="1500">
                <a:solidFill>
                  <a:srgbClr val="303638"/>
                </a:solidFill>
                <a:latin typeface="DejaVu Sans Mono"/>
              </a:rPr>
              <a:t>print(example["input"]["text"])</a:t>
            </a:r>
          </a:p>
          <a:p>
            <a:pPr>
              <a:lnSpc>
                <a:spcPct val="110000"/>
              </a:lnSpc>
              <a:spcBef>
                <a:spcPts val="0"/>
              </a:spcBef>
              <a:spcAft>
                <a:spcPts val="0"/>
              </a:spcAft>
            </a:pPr>
            <a:r>
              <a:rPr sz="1500">
                <a:solidFill>
                  <a:srgbClr val="303638"/>
                </a:solidFill>
                <a:latin typeface="DejaVu Sans Mono"/>
              </a:rPr>
              <a:t>print([r["output"]["text"] for r in example["references"]])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研究と参考文献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専門領域まで広げた、HELMの事実知識評価</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TextBox 3"/>
          <p:cNvSpPr txBox="1"/>
          <p:nvPr/>
        </p:nvSpPr>
        <p:spPr>
          <a:xfrm>
            <a:off x="594360" y="1463040"/>
            <a:ext cx="7955279" cy="3044952"/>
          </a:xfrm>
          <a:prstGeom prst="rect">
            <a:avLst/>
          </a:prstGeom>
          <a:noFill/>
        </p:spPr>
        <p:txBody>
          <a:bodyPr wrap="square" lIns="0" rIns="0" tIns="0" bIns="0">
            <a:noAutofit/>
          </a:bodyPr>
          <a:lstStyle/>
          <a:p>
            <a:pPr algn="l">
              <a:lnSpc>
                <a:spcPts val="2439"/>
              </a:lnSpc>
              <a:spcBef>
                <a:spcPts val="0"/>
              </a:spcBef>
              <a:spcAft>
                <a:spcPts val="1200"/>
              </a:spcAft>
              <a:buNone/>
              <a:defRPr sz="2050" b="0">
                <a:solidFill>
                  <a:srgbClr val="303437"/>
                </a:solidFill>
                <a:latin typeface="Noto Sans"/>
              </a:defRPr>
            </a:pPr>
            <a:r>
              <a:rPr sz="2050" b="0" lang="ja-JP" altLang="en-US">
                <a:solidFill>
                  <a:srgbClr val="303437"/>
                </a:solidFill>
                <a:latin typeface="Noto Sans"/>
                <a:ea typeface="Noto Sans CJK JP"/>
                <a:cs typeface="Noto Sans"/>
              </a:rPr>
              <a:t>WikiFactは、HELMの事実知識評価のために新しく作られた。Hongyu Ren、Lucia Zheng、Michihiro Yasunagaらが制作に参加した。</a:t>
            </a:r>
          </a:p>
          <a:p>
            <a:pPr>
              <a:lnSpc>
                <a:spcPts val="2439"/>
              </a:lnSpc>
              <a:spcAft>
                <a:spcPts val="1200"/>
              </a:spcAft>
              <a:buNone/>
              <a:defRPr sz="2050" b="0">
                <a:solidFill>
                  <a:srgbClr val="303437"/>
                </a:solidFill>
                <a:latin typeface="Noto Sans"/>
              </a:defRPr>
            </a:pPr>
            <a:r>
              <a:rPr sz="2050" b="0" lang="ja-JP" altLang="en-US">
                <a:solidFill>
                  <a:srgbClr val="303437"/>
                </a:solidFill>
                <a:latin typeface="Noto Sans"/>
                <a:ea typeface="Noto Sans CJK JP"/>
                <a:cs typeface="Noto Sans"/>
              </a:rPr>
              <a:t>文の補完というLAMAの形式を受け継ぎ、法律・経済・生物医学など幅広い分野へ対象を広げた。</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Liang et al. (2023), Holistic Evaluation of Language Models. Transactions on Machine Learning Research.</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https://arxiv.org/abs/2211.09110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1: Holistic Evaluation of Language Models"/>
          <p:cNvSpPr txBox="1"/>
          <p:nvPr/>
        </p:nvSpPr>
        <p:spPr>
          <a:xfrm>
            <a:off x="548640" y="1463040"/>
            <a:ext cx="8046720" cy="1588897"/>
          </a:xfrm>
          <a:prstGeom prst="rect">
            <a:avLst/>
          </a:prstGeom>
          <a:noFill/>
        </p:spPr>
        <p:txBody>
          <a:bodyPr wrap="square" lIns="0" rIns="0" tIns="0" bIns="0">
            <a:noAutofit/>
          </a:bodyPr>
          <a:lstStyle/>
          <a:p>
            <a:pPr algn="l">
              <a:lnSpc>
                <a:spcPct val="114000"/>
              </a:lnSpc>
              <a:spcBef>
                <a:spcPts val="0"/>
              </a:spcBef>
              <a:spcAft>
                <a:spcPts val="400"/>
              </a:spcAft>
              <a:buNone/>
              <a:defRPr sz="1850" b="0">
                <a:solidFill>
                  <a:srgbClr val="303437"/>
                </a:solidFill>
                <a:latin typeface="Noto Sans"/>
              </a:defRPr>
            </a:pPr>
            <a:r>
              <a:rPr sz="1850" b="1" lang="ja-JP" altLang="en-US">
                <a:solidFill>
                  <a:srgbClr val="303437"/>
                </a:solidFill>
                <a:latin typeface="Noto Sans"/>
                <a:ea typeface="Noto Sans CJK JP"/>
                <a:cs typeface="Noto Sans"/>
              </a:rPr>
              <a:t>Holistic Evaluation of Language Models</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Percy Liang et al. · 2023 · Transactions on Machine Learning Research</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多面的な言語モデル評価を設計し、知識評価の新規データとしてWikiFactを構築した。</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https://arxiv.org/abs/2211.09110</a:t>
            </a:r>
          </a:p>
        </p:txBody>
      </p:sp>
      <p:sp>
        <p:nvSpPr>
          <p:cNvPr id="5" name="文献 2: Language Models as Knowledge Bases?"/>
          <p:cNvSpPr txBox="1"/>
          <p:nvPr/>
        </p:nvSpPr>
        <p:spPr>
          <a:xfrm>
            <a:off x="548640" y="3054985"/>
            <a:ext cx="8046720" cy="1588897"/>
          </a:xfrm>
          <a:prstGeom prst="rect">
            <a:avLst/>
          </a:prstGeom>
          <a:noFill/>
        </p:spPr>
        <p:txBody>
          <a:bodyPr wrap="square" lIns="0" rIns="0" tIns="0" bIns="0">
            <a:noAutofit/>
          </a:bodyPr>
          <a:lstStyle/>
          <a:p>
            <a:pPr algn="l">
              <a:lnSpc>
                <a:spcPct val="114000"/>
              </a:lnSpc>
              <a:spcBef>
                <a:spcPts val="0"/>
              </a:spcBef>
              <a:spcAft>
                <a:spcPts val="400"/>
              </a:spcAft>
              <a:buNone/>
              <a:defRPr sz="1850" b="0">
                <a:solidFill>
                  <a:srgbClr val="303437"/>
                </a:solidFill>
                <a:latin typeface="Noto Sans"/>
              </a:defRPr>
            </a:pPr>
            <a:r>
              <a:rPr sz="1850" b="1" lang="ja-JP" altLang="en-US">
                <a:solidFill>
                  <a:srgbClr val="303437"/>
                </a:solidFill>
                <a:latin typeface="Noto Sans"/>
                <a:ea typeface="Noto Sans CJK JP"/>
                <a:cs typeface="Noto Sans"/>
              </a:rPr>
              <a:t>Language Models as Knowledge Bases?</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Fabio Petroni et al. · 2019 · EMNLP-IJCNLP, 2463–2473</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文の穴埋めを通して事実知識を取り出すLAMAを提案し、言語モデルの知識表現を分析する。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3"/>
              </a:rPr>
              <a:t>https://aclanthology.org/D19-1250/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1: HELM Classic — WikiFact"/>
          <p:cNvSpPr txBox="1"/>
          <p:nvPr/>
        </p:nvSpPr>
        <p:spPr>
          <a:xfrm>
            <a:off x="548640" y="1463040"/>
            <a:ext cx="8046720" cy="1335532"/>
          </a:xfrm>
          <a:prstGeom prst="rect">
            <a:avLst/>
          </a:prstGeom>
          <a:noFill/>
        </p:spPr>
        <p:txBody>
          <a:bodyPr wrap="square" lIns="0" rIns="0" tIns="0" bIns="0">
            <a:noAutofit/>
          </a:bodyPr>
          <a:lstStyle/>
          <a:p>
            <a:pPr algn="l">
              <a:lnSpc>
                <a:spcPct val="114000"/>
              </a:lnSpc>
              <a:spcBef>
                <a:spcPts val="0"/>
              </a:spcBef>
              <a:spcAft>
                <a:spcPts val="400"/>
              </a:spcAft>
              <a:buNone/>
              <a:defRPr sz="1850" b="0">
                <a:solidFill>
                  <a:srgbClr val="303437"/>
                </a:solidFill>
                <a:latin typeface="Noto Sans"/>
              </a:defRPr>
            </a:pPr>
            <a:r>
              <a:rPr sz="1850" b="1" lang="ja-JP" altLang="en-US">
                <a:solidFill>
                  <a:srgbClr val="303437"/>
                </a:solidFill>
                <a:latin typeface="Noto Sans"/>
                <a:ea typeface="Noto Sans CJK JP"/>
                <a:cs typeface="Noto Sans"/>
              </a:rPr>
              <a:t>HELM Classic — WikiFact</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Stanford CRFM (2023). v0.4.0（2023-11-17）。参照2026-10-18。</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関係別・モデル別の公開成績と予測記録をまとめる。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https://crfm.stanford.edu/helm/classic/v0.4.0/#/groups/wikifact</a:t>
            </a:r>
          </a:p>
        </p:txBody>
      </p:sp>
      <p:sp>
        <p:nvSpPr>
          <p:cNvPr id="5" name="文献 2: HELM WIKIFactScenario"/>
          <p:cNvSpPr txBox="1"/>
          <p:nvPr/>
        </p:nvSpPr>
        <p:spPr>
          <a:xfrm>
            <a:off x="548640" y="2801620"/>
            <a:ext cx="8046720" cy="1335532"/>
          </a:xfrm>
          <a:prstGeom prst="rect">
            <a:avLst/>
          </a:prstGeom>
          <a:noFill/>
        </p:spPr>
        <p:txBody>
          <a:bodyPr wrap="square" lIns="0" rIns="0" tIns="0" bIns="0">
            <a:noAutofit/>
          </a:bodyPr>
          <a:lstStyle/>
          <a:p>
            <a:pPr algn="l">
              <a:lnSpc>
                <a:spcPct val="114000"/>
              </a:lnSpc>
              <a:spcBef>
                <a:spcPts val="0"/>
              </a:spcBef>
              <a:spcAft>
                <a:spcPts val="400"/>
              </a:spcAft>
              <a:buNone/>
              <a:defRPr sz="1850" b="0">
                <a:solidFill>
                  <a:srgbClr val="303437"/>
                </a:solidFill>
                <a:latin typeface="Noto Sans"/>
              </a:defRPr>
            </a:pPr>
            <a:r>
              <a:rPr sz="1850" b="1" lang="ja-JP" altLang="en-US">
                <a:solidFill>
                  <a:srgbClr val="303437"/>
                </a:solidFill>
                <a:latin typeface="Noto Sans"/>
                <a:ea typeface="Noto Sans CJK JP"/>
                <a:cs typeface="Noto Sans"/>
              </a:rPr>
              <a:t>HELM WIKIFactScenario</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Stanford CRFM (n.d.). 公開実装。参照2026-10-18。</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86関係のIDと、問題・参照回答をJSONLから読み込む手順を定義する。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3"/>
              </a:rPr>
              <a:t>https://github.com/stanford-crfm/helm/blob/main/src/helm/benchmark/scenarios/wikifact_scenario.py</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2026-10-18T07:11:06Z</dcterms:modified>
  <dc:title>wikifact</dc:title>
  <dc:creator>sasakiy84</dc:creator>
  <dcterms:created xsi:type="dcterms:W3CDTF">2026-10-18T07:11:06Z</dcterms:created>
  <dc:language>ja-JP</dc:language>
</cp:coreProperties>
</file>