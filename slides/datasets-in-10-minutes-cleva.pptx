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6" r:id="rId36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10" r:id="rId60"/>
    <p:sldId id="311" r:id="rId61"/>
    <p:sldId id="313" r:id="rId63"/>
    <p:sldId id="314" r:id="rId64"/>
    <p:sldId id="315" r:id="rId65"/>
    <p:sldId id="316" r:id="rId6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6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特定の能力を調べる課題</c:v>
                </c:pt>
                <c:pt idx="1">
                  <c:v>実務に近い課題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20.0</c:v>
                </c:pt>
                <c:pt idx="1">
                  <c:v>11.0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LaVi-Lab/CLEV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clanthology.org/2023.emnlp-demo.17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aVi-Lab/CLEVA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aVi-Lab/CLEV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arxiv.org/abs/2412.04947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LaVi-Lab/CLEVA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eativecommons.org/licenses/by-nc-nd/4.0/" TargetMode="External"/><Relationship Id="rId3" Type="http://schemas.openxmlformats.org/officeDocument/2006/relationships/hyperlink" Target="https://arxiv.org/abs/2412.04947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1091565"/>
          </a:xfrm>
        </p:spPr>
        <p:txBody>
          <a:bodyPr lIns="0" rIns="0" tIns="0" bIns="10160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Language Models EVAluation Platform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中国語モデルを、課題と評価軸の両面から比べる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公式リポジトリのREADME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CLEVA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983" y="1481328"/>
            <a:ext cx="5804033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公開例から見る中国語評価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プロンプトと九つの評価軸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新しい評価集合と比較の条件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データの入手と評価への利用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公開例から見る中国語評価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中国語モデルを、多面的に評価する基盤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CLEVAは、中国語の言語モデルを幅広い課題で評価するために、2023年に公開されたプラットフォーム。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課題、入力の整形、プロンプト、指標、モデルの呼び出しをそろえて比較する。正答率に加え、信頼性や生成文の性質も調べる。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実務に近い11課題と、特定の能力を調べる20課題を含む。ここでは論文で公開された13の説明例に日本語訳を添え、入力と回答を紹介する。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実例1：代名詞が指す相手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2189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蒋盈波原来所在的教研室有位副教授去德国参加一个学术活动，活动中结识了一位华裔德籍的同行，那同行在自己家中招待了他一次，言谈之间，双方忽然都感到巧事真多，而世界真小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在这里，“他”的意思是“同行”。是或否？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2491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蒋盈波が以前所属していた教育・研究部門の准教授が、学術行事に参加するためドイツへ行った。そこで中国系ドイツ人の同業者と知り合い、その同業者は彼を自宅に一度招いた。話すうちに、二人とも、偶然が重なるものだ、世界は狭いものだと感じた。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ここで「彼」は「同業者」を指すか。はい、または、いいえ。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047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047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参照回答：いいえ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文脈から、代名詞が指す人を選ぶ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36"/>
              </a:lnSpc>
              <a:spcAft>
                <a:spcPts val="7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実例1では、自宅に招かれた人が、准教授と同業者のどちらなのかを問う。招かれたのは准教授なので、参照回答は「同業者ではない」。</a:t>
            </a:r>
          </a:p>
          <a:p>
            <a:pPr marL="457200" indent="-355600">
              <a:lnSpc>
                <a:spcPts val="2736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CLEVAはCLUEWSCを用い、代名詞と候補の人物を示す二択の質問へ整形している。元の判定を、中国語の「是／否」で答えられる形にした。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実例2：父と息子の関係が悪い理由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会話と指示（原文）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13075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質問・選択肢（原文）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4480560" cy="211785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阅读以下内容，选择合适的选项回答： 女：听说你儿子跟你的关系不是很好? 男：说实话我不是一个好父亲，因为忙，没时间管他，我们之间几乎没有沟通。因为我，他也有很大的压力。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5212080" y="1618488"/>
            <a:ext cx="3383280" cy="218124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问题：男的和儿子的关系为什么不好?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选项：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儿子态度不好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双方缺少交流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儿子工作很忙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父亲压力太大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3927754"/>
            <a:ext cx="338328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答：B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実例2：父と息子の関係が悪い理由（訳）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会話と指示（日本語訳）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13075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質問・選択肢（日本語訳）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4480560" cy="2416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次の内容を読み、適切な選択肢で答えなさい。 女性：息子さんとの関係があまりよくないと聞きましたが。 男性：正直に言うと、私はよい父親ではありません。忙しくて息子の面倒を見る時間がなく、私たちはほとんど話をしていません。私のせいで、息子も大きな重圧を感じています。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5212080" y="1618488"/>
            <a:ext cx="3383280" cy="19241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問：男性と息子の関係が悪いのはなぜか。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息子の態度が悪い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二人の会話が少ない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息子が仕事で忙しい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父親にかかる重圧が大きすぎる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3670616"/>
            <a:ext cx="3383280" cy="7076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参照回答：B. 二人の会話が少ない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会話中の理由を、選択肢へ対応させる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77"/>
              </a:lnSpc>
              <a:spcAft>
                <a:spcPts val="7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実例2はC3を用いた選択式の読解。父親は、忙しくて息子とほとんど話していないと説明している。選択肢Bは、この会話不足に対応する。</a:t>
            </a:r>
          </a:p>
          <a:p>
            <a:pPr marL="457200" indent="-355600">
              <a:lnSpc>
                <a:spcPts val="2677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忙しいのは父親であり、選択肢Cの「息子が忙しい」とは異なる。文中の人物と理由を結び付け、最も合う選択肢を選ぶ。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実例3：アヒルより多いニワトリの数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3906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问题：一个饲养场，养鸭1200只，养的鸡比养的鸭多(3/5)，养的鸡比鸭多多少只？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答案：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0175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問：ある飼育場ではアヒルを1,200羽飼っている。ニワトリの数は、アヒルの数よりアヒルの数の3/5だけ多い。ニワトリはアヒルより何羽多いか。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8102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参照回答：720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8102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参照回答：720羽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求める量と、回答形式をそろえる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実例3のMath23Kでは、ニワトリの総数ではなく、アヒルとの差を問う。1,200×3/5＝720で、参照回答は720。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同じ中国語の課題でも、文章の理解、選択肢の判別、数量関係の計算では、モデルに求める処理が異なる。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CLEVAは課題を分け、選択問題の正答率や生成回答の完全一致など、出力に応じた指標で評価する。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プロンプトと九つの評価軸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中国語評価の比較条件をそろえる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中国語の既存データを集めるだけでなく、ピンイン変換など中国語に固有の課題や、既存資源が少ない課題も加えた。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意味が近い質問でも、書き方でモデルの回答が変わる。CLEVAでは、データとプロンプトを共通化し、複数の書き方に対する結果を集計する。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テストデータが学習に含まれる問題にも対処するため、新たなデータの収集と、評価回ごとの集合の抽出を組み合わせる。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課題は、実務と能力の二方向に広がる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同じ意味でも、問い方は複数ある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6858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CLEVAの扱い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元レコードの項目を、共通のテンプレートへ入れる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問い方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1評価集合あたり平均3.95個のテンプレートを用意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選択・文章生成などに応じて回答を解釈する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テンプレート間の平均・標準偏差・最小・最大を調べる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テンプレートは、入力と回答をつなぐ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795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52069" bIns="127000"/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“{sentence1}”和“{sentence2}”</a:t>
            </a:r>
          </a:p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这两个问题是在问同一件事情吗？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0579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論文で例示されたテンプレート。二つの入力文を埋め込み、「同じことを尋ねているか」と問う。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選択肢の送り方も、結果に影響する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選択肢を一つずつ別に評価するSeparateと、全選択肢を一つの入力へまとめるJointでは、モデルの振る舞いが変わる。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2023年の比較では、指示に合わせる学習をしていないモデルはSeparateで有利な傾向があった。一方、指示に従うモデルではJointが有利な場合がある。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Chatbot形式の会話履歴と、すべてを文章として連結するCompletion形式にも差がある。課題名だけでなく、入力形式までそろえて比較する。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正答のほかに、信頼性と条件を見る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965960"/>
                <a:gridCol w="60807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評価軸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主に何を見るか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正確性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選択の正答率、完全一致、F1、ROUGEなど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確信度の較正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自信と正答率の対応（ECEなど）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頑健性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意味を保つ入力変更での最悪性能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公平性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社会集団に関係する入力変更による扱いの差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効率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APIの1秒あたり処理数（QPS）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生成文の性質も、別の軸で評価する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53949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評価軸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主に何を見るか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偏り・ステレオタイプ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集団への言及の偏りや、属性との結び付き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有害性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侮辱や憎悪表現などの生成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多様性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応答の表現がどの程度変化するか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プライバシー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生成文に現れる個人を識別しうる情報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九つは評価の観点。各課題にすべての指標が適用されるわけではない。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与えられた文の分類と、生成文の測定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COLDによる有害表現の検出や、CDial-Biasによる偏見の判定では、与えられた文に分類ラベルを付ける。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有害性や偏りを生成文から測る指標では、モデルが書いた応答を調べる。同じモデルについて、入力文を判定する能力と、自身の応答に現れる性質の両面を評価する。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新しい評価集合と比較の条件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31課題・84データセットから、約37万事例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規模の項目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2023年の報告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収録データセット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テスト事例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約37万件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拡張・複数プロンプト後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約900万回の問い合わせ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新たに収集した割合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33.98%（テストデータに対する報告値）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新しいデータと、評価回ごとの抽出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CLEVAは、規則による合成や人手による収集・注釈を行い、既存の公開データだけに依存しない評価集合を作る。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オンライン評価ではモデルの重みではなくAPIを使い、モデル開発者へ評価集合全体を配布せず、抽出した入力をモデルへ送る。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評価回ごとに異なる部分集合を使う。新規収集と組み合わせ、学習データへの混入による影響を減らそうとする設計である。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抽出量は、順位の安定性と結び付ける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課題ごとの抽出量は、モデル間の順位を判別できるかという基準で調整する。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許容する近似誤差の範囲で、任意のモデル対を正しく順位付けする確率が少なくとも70％となるよう、評価に使う件数を決める。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2023年の比較は、23モデルを対象とした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公開時の実験では、APIで利用するモデルと、重みが公開されたモデルの計23種を、中国語の課題で比較した。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同じモデルでも、課題や評価軸によって結果が異なる。課題別の性能と、複数プロンプトでの変動を合わせて示している。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例示を増やす効果は、課題によって異なる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2023年の実験では、8モデルを四つの課題で比較した。多くの場合、提示例を増やすと性能が上がり、4〜8例前後で伸びが頭打ちになった。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一方、文章分類では、提示例を増やすと性能が下がるモデルも見られた。著者は、ラベルの種類が多く、例の追加が判断を妨げた可能性を挙げている。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データの入手と評価への利用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データの入手と評価への利用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公式GitHubから、データの入手方法を探す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公式GitHubは、CLEVA v1のダウンロード方法と、利用条件を案内している。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 v1で使われた全問題や選定範囲は、公開論文とコードの説明だけでは確認できない。C3やMath23Kなど、採用元の公開データは各データセットの配布元からも取得できる。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比較の目的から、課題と指標を選ぶ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CLEVAは、中国語モデルの31課題と九つの評価軸をまとめ、幅広い能力や応答の性質を調べる評価基盤である。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共通の入力形式と複数のプロンプトを使い、正答率に加えて、問い方による変動、信頼性、生成文の性質を測る。新しいデータの収集と評価集合の抽出により、学習データへの混入にも対処する。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データの入手と評価への利用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3875"/>
            <a:ext cx="8046720" cy="80873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課題の種類と評価の仕組み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実例4：雨がやみかけた山の詩句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10896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307592"/>
            <a:ext cx="47548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108960" cy="2189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“山间连绵阴雨刚刚有了一点停止的意思。”这句话可以用以下哪句古文来表达：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寒雨初开霁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山晓雨初霁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宿雨天初霁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山雨初含霁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3840480" y="1618488"/>
            <a:ext cx="4754879" cy="193365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「山間で降り続いていた雨が、ようやく少しやみかけた。」この文は、次のどの古典詩句で表せるか。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冷たい雨がやみ、空が晴れ始める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山の夜明け、雨がやみ、空が晴れ始める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夜通し降った雨がやみ、空が晴れ始める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山の雨が、かすかに晴れ間を見せ始める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46228"/>
            <a:ext cx="310896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946228"/>
            <a:ext cx="4754879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参照回答：D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実例5：文脈に合う慣用句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公開説明例の原文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00664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不过，要想变得____，要想自己能够成就一番事业的话，不是说来就来的，或者说任何一个出色的人，他们都得经历过不少的磨难，以及在经受住了一些挫折之后，才能真正成才成人，才能成为一个实力超群的人物，让自己的人生过得越来越顺当…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上面这个句子下划线处可以填写哪个成语？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足智多谋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语无伦次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绣花枕头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62298"/>
            <a:ext cx="80467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実例5：文脈に合う慣用句（訳）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24054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かし、____になって、自分で何かを成し遂げたいと思っても、簡単に実現できるわけではない。どんな優れた人も、多くの苦難や挫折を経験してこそ、本当に成長し、抜きん出た力を持ち、人生をより順調に歩めるようになる……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下線部には、どの慣用句を入れられるか。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知恵や策略に富む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話が支離滅裂である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見かけはよいが中身がない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96197"/>
            <a:ext cx="80467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参照回答：A. 足智多谋（知恵や策略に富む）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実例6：売り声から何が分かるか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22510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是否可以从“篮子嘛,一块钱,一块钱啊.”中推断出“这个篮子是可以卖的。”？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总是可以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有时可以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不可以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2353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「かごだよ、1元、1元だよ。」という発言から、「このかごは売ることができる」と推論できるか。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常にできる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場合によってはできる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できない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0665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0665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実例7：数式が扱う図形を答える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4567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婆罗摩笈多公式描述了__ -&gt;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7742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ブラーマグプタの公式が扱うのは__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298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参照回答：四边形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298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参照回答：四辺形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実例8：映画賞に関する主張を判定する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71662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第33届金鸡奖揭晓：黄晓明、周冬雨再拿最佳男女主角。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上述说法是否为真？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7169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第33回金鶏賞の結果が発表され、黄暁明と周冬雨が、再び最優秀男優賞と最優秀女優賞をそれぞれ受賞した。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この記述は真実か。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8964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8964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参照回答：真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実例9：不満を含む商品レビュー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9405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这个产品评价是正面还是负面的？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评价：今天刚拿到手机，打电话时发现手机听筒有吱吱吱的杂声，不满意，真怀疑是不是正品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答案：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2340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この商品レビューは肯定的か、否定的か。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レビュー：今日、携帯電話が届いたばかりなのに、通話すると受話口からジジジという雑音がする。不満だ。本当に正規品なのか疑わしい。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89725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参照回答：负面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989725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参照回答：否定的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実例10：ニュースの話題を分類する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75594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“全国青年教师教学艺术大赛举行”这段新闻的类别属于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0815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「全国の若手教員による授業技術大会が開催された」というニュースの分類は、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参照回答：教育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参照回答：教育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実例11：文章の中心となる対象を抜き出す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3906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“《恋恋笔记本》是导演尼克·卡萨维茨2004年的一部爱情类影片。”中主要围绕着什么进行描述？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708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「『きみに読む物語』は、ニック・カサヴェテス監督による2004年の恋愛映画である。」この記述は、主に何について述べているか。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380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参照回答：恋恋笔记本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46380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参照回答：きみに読む物語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実例12：演算記号の意味を変える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0815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将“+”视为数字1而不是数学运算。问：6+1的第一位数字是啥？答：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07443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「+」を数学の演算記号ではなく、数字の1として扱う。問：6+1の最初の桁は何か。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参照回答：6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実例13：例から計算の規則を推定する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307592"/>
            <a:ext cx="310895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4754880" cy="22099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推断符号 -&gt; 的含义并计算下列公式。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512 + 372 -&gt; 885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528 + 170 -&gt; 699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859 + 133 -&gt; 993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199 + 944 -&gt; 1144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154 + 521 -&gt; 676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 + 987 -&gt;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0" y="1618488"/>
            <a:ext cx="3108959" cy="2051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記号「→」の意味を推測し、最後の式を計算しなさい。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512 + 372 → 885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528 + 170 → 699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859 + 133 → 993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199 + 944 → 1144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154 + 521 → 676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 + 987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88538"/>
            <a:ext cx="475488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参照回答：1055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988538"/>
            <a:ext cx="3108959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参照回答：1055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知識の回答と、例から読み取る計算規則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実例7では、ブラーマグプタの公式について、対象となる図形の名称「四辺形」を答える。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実例8は、2020年の第33回金鶏賞で、黄暁明と周冬雨が再び主演賞を受賞したという主張を判定する。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実例13では、通常の和より1大きい値を返す規則を例から推定する。67＋987＝1054なので、同じ規則で得られる答えは1055となる。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課題の種類と評価の仕組み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31課題のうち、実務に近い11課題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質問・読解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読解、外部資料なしの質問応答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文章の判定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言い換え判定、感情分析、文章分類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文章の生成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要約、データからの文章生成、言い換え生成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意見抽出、対話生成、翻訳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特定の能力を調べる20課題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言語：5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言語モデル、共参照、ピンイン、意図、古典中国語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知識：2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分野別知識、文化的知識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推論：7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基礎推論、帰納・演繹・常識・数学推論、コード、概念汎化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害：4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著作物の再現、有害表現の検出、偏りの判定、事実確認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その他：2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指示追従、算術計算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新しい二つの軸を、具体的に測る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3333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多様性は、n-gramの種類数を出現総数で割る。全出力をまとめるinter-distinctと、事例ごとに計算して平均するintra-distinctを定義している。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3333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プライバシーのPII_matchは、個人を識別しうる情報が1件以上検出された出力を持つ事例数を、全評価事例数で割る指標。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3333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2023年の評価ではAzureのPII検出サービスを使う。検出された事例の割合を測る。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データの入手先で、利用条件を確認する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CLEVA公式リポジトリのライセンス表示はCC BY-NC-ND 4.0。非商用、改変物の共有に関する制限などを含む。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収録データの出所は一様ではない。元データの利用条件と、CLEVAが公開した加工済みデータの条件を、それぞれ確認する。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香港中文大学と上海AI実験室の共同研究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Yanyang Li、Jianqiao Zhao、Liwei Wangら香港中文大学と上海AI実験室の研究者が、2023年のEMNLPで発表した。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後続のC²LEVAは英語と中国語を扱い、学習データへの混入を防ぐ仕組みを体系化する。2025年のFindings of ACLに発表された。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(2025). C²LEVA. Findings of ACL.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https://arxiv.org/abs/2412.04947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280160"/>
            <a:ext cx="8046720" cy="16433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Li, Jianqiao Zhao et al. · 2023 · EMNLP System Demonstrations, pp.186–217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中国語の31課題、九つの評価軸、複数プロンプトと評価集合の抽出をまとめた評価基盤を提案する。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: Chinese Language Models EVAluation Platform"/>
          <p:cNvSpPr txBox="1"/>
          <p:nvPr/>
        </p:nvSpPr>
        <p:spPr>
          <a:xfrm>
            <a:off x="548640" y="2937255"/>
            <a:ext cx="8046720" cy="17175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LaVi Lab (n.d.). 公式リポジトリ。参照2026-10-19。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v1の配布案内、評価手順、データの利用条件を公開する。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1: C²LEVA"/>
          <p:cNvSpPr txBox="1"/>
          <p:nvPr/>
        </p:nvSpPr>
        <p:spPr>
          <a:xfrm>
            <a:off x="548640" y="1280160"/>
            <a:ext cx="8046720" cy="1744979"/>
          </a:xfrm>
          <a:prstGeom prst="rect">
            <a:avLst/>
          </a:prstGeom>
          <a:noFill/>
        </p:spPr>
        <p:txBody>
          <a:bodyPr wrap="square" lIns="0" rIns="0" tIns="0" bIns="10160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C²LEVA: Toward Comprehensive and Contamination-Free Language Model Evaluation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· 2025 · Findings of ACL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英語・中国語の評価と、学習データへの混入対策を体系化する。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https://arxiv.org/abs/2412.04947</a:t>
            </a:r>
          </a:p>
        </p:txBody>
      </p:sp>
      <p:sp>
        <p:nvSpPr>
          <p:cNvPr id="5" name="文献2: CC BY-NC-ND4.0"/>
          <p:cNvSpPr txBox="1"/>
          <p:nvPr/>
        </p:nvSpPr>
        <p:spPr>
          <a:xfrm>
            <a:off x="548640" y="2937255"/>
            <a:ext cx="8046720" cy="20071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Attribution-NonCommercial-NoDerivatives 4.0 International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Creative Commons (n.d.). CC BY-NC-ND 4.0。参照2026-10-19。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公式リポジトリのライセンス。非商用・帰属表示・改変物の共有に関する条件を定める。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https://creativecommons.org/licenses/by-nc-nd/4.0/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2026-10-18T09:05:13Z</dcterms:modified>
  <dc:title>cleva</dc:title>
  <dc:creator>sasakiy84</dc:creator>
  <dcterms:created xsi:type="dcterms:W3CDTF">2026-10-18T09:05:13Z</dcterms:created>
  <dc:language>ja-JP</dc:language>
</cp:coreProperties>
</file>