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文書数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特定の能力を調べる課題</c:v>
                </c:pt>
                <c:pt idx="1">
                  <c:v>実務に近い課題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11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LaVi-Lab/CLEVA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html/2308.04813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html/2308.04813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html/2308.04813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html/2308.04813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aclanthology.org/2023.emnlp-demo.17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3.emnlp-demo.17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3.emnlp-demo.17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3.emnlp-demo.17/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3.emnlp-demo.17/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3.emnlp-demo.17/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LaVi-Lab/CLEVA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LaVi-Lab/CLEVA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4.0/src/helm/benchmark/scenarios/cleva_scenario.py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4.0/src/helm/benchmark/presentation/run_specs_cleva_v1.conf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LaVi-Lab/CLEVA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html/2308.04813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html/2308.04813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html/2308.04813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html/2308.04813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html/2308.04813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html/2308.04813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html/2308.04813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html/2308.04813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html/2308.04813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html/2308.04813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html/2308.04813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3.emnlp-demo.17/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3.emnlp-demo.17/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4.0/src/helm/benchmark/scenarios/cleva_scenario.py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LaVi-Lab/CLEVA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2.04947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3.emnlp-demo.17/" TargetMode="External"/><Relationship Id="rId3" Type="http://schemas.openxmlformats.org/officeDocument/2006/relationships/hyperlink" Target="https://github.com/LaVi-Lab/CLEVA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openreview.net/forum?id=iO4LZibEqW" TargetMode="External"/><Relationship Id="rId3" Type="http://schemas.openxmlformats.org/officeDocument/2006/relationships/hyperlink" Target="https://arxiv.org/abs/2412.04947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4.0/src/helm/benchmark/scenarios/cleva_scenario.p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9899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Chinese Language Models EVAluation Platform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中国語モデルを、課題と評価軸の両面から比べる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公式リポジトリのREADME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CLEVA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983" y="1481328"/>
            <a:ext cx="5804033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LaVi Lab, CLEVA. 公式README・ローカル評価・参照結果・利用条件。 README冒頭のブラウザ画面。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https://github.com/LaVi-Lab/CLEVA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公開例から見る中国語評価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プロンプトと九つの評価軸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新しい評価集合と比較の条件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HELMでの利用と公開範囲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公開例から見る中国語評価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公開例から見る中国語評価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中国語モデルを、多面的に評価する基盤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CLEVAは、中国語の言語モデルを幅広い課題で評価するために、2023年に公開されたプラットフォーム。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課題、入力の整形、プロンプト、指標、モデルの呼出しをそろえて比較する。単一の正答率だけでモデルの性質を表さない。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実務に近い11課題と、特定の能力を調べる20課題を含む。まず、公開されている三つの説明例を見る。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公開例から見る中国語評価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公開例と、評価集合を区別する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本編3件と追加10件は、CLEVA論文で公開された課題の説明例。印刷された入力・選択肢・回答を対応させ、日本語訳を添えた。</a:t>
            </a:r>
          </a:p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元データの評価IDや、実行時の全テンプレートを復元したものではない。課題によっては、説明例の中に省略記号もある。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個別データセットの収集方法や評価は、それぞれの資料で扱う。ここでは、CLEVAの評価手順と結果の読み方を説明する。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公開例から見る中国語評価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実例1：代名詞が指す相手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公開例から見る中国語評価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公開例の原文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18488"/>
            <a:ext cx="3931920" cy="218962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7733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蒋盈波原来所在的教研室有位副教授去德国参加一个学术活动，活动中结识了一位华裔德籍的同行，那同行在自己家中招待了他一次，言谈之间，双方忽然都感到巧事真多，而世界真小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在这里，“他”的意思是“同行”。是或否？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18488"/>
            <a:ext cx="3931920" cy="224911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7733" bIns="127000">
            <a:noAutofit/>
          </a:bodyPr>
          <a:lstStyle/>
          <a:p>
            <a:pPr algn="l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蒋盈波が以前所属していた研究室の准教授が、学術行事に参加するためドイツへ行った。そこで中国系ドイツ人の同業者と知り合い、その同業者は彼を自宅に一度招いた。話すうちに、二人とも、偶然が重なるものだ、世界は狭いものだと感じた。</a:t>
            </a:r>
          </a:p>
          <a:p>
            <a:pPr algn="l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ここで「彼」は「同業者」を指すか。はい、または、いいえ。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04762"/>
            <a:ext cx="39319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004762"/>
            <a:ext cx="39319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参照回答：いいえ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CLEVA. 公開説明例。 公開例 A2.SS1.SSS1.Px2 ／ 共参照解決。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https://arxiv.org/html/2308.04813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指示対象を、文脈から区別する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実例1では、自宅に招かれた人が、准教授と同業者のどちらなのかを区別する。参照回答は「同業者ではない」。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CLEVAはCLUEWSCからこの課題を採り、代名詞と候補の人物を示す二択の質問へ整形している。出力の解釈には、質問の形と回答ラベルの対応が必要になる。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公開例から見る中国語評価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実例2：父と息子の関係が悪い理由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公開例から見る中国語評価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会話と指示（原文）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307592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質問・選択肢（原文）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18488"/>
            <a:ext cx="4480560" cy="211785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阅读以下内容，选择合适的选项回答： 女：听说你儿子跟你的关系不是很好? 男：说实话我不是一个好父亲，因为忙，没时间管他，我们之间几乎没有沟通。因为我，他也有很大的压力。</a:t>
            </a:r>
          </a:p>
        </p:txBody>
      </p:sp>
      <p:sp>
        <p:nvSpPr>
          <p:cNvPr id="7" name="quote-frame"/>
          <p:cNvSpPr/>
          <p:nvPr/>
        </p:nvSpPr>
        <p:spPr>
          <a:xfrm>
            <a:off x="5212080" y="1618488"/>
            <a:ext cx="3383280" cy="218124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问题：男的和儿子的关系为什么不好?</a:t>
            </a:r>
          </a:p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选项：</a:t>
            </a:r>
          </a:p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儿子态度不好</a:t>
            </a:r>
          </a:p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双方缺少交流</a:t>
            </a:r>
          </a:p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儿子工作很忙</a:t>
            </a:r>
          </a:p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父亲压力太大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3927754"/>
            <a:ext cx="338328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答：B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CLEVA. 公開説明例。 公開例 A2.SS2.SSS0.Px1 ／ C3。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https://arxiv.org/html/2308.04813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実例2：父と息子の関係が悪い理由（訳）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公開例から見る中国語評価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会話と指示（日本語訳）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307592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質問・選択肢（日本語訳）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18488"/>
            <a:ext cx="4480560" cy="241646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次の内容を読み、適切な選択肢で答えなさい。 女性：息子さんとの関係があまりよくないと聞きましたが。 男性：正直に言うと、私はよい父親ではありません。忙しくて息子の面倒を見る時間がなく、私たちはほとんど話をしていません。私のせいで、息子も大きな重圧を感じています。</a:t>
            </a:r>
          </a:p>
        </p:txBody>
      </p:sp>
      <p:sp>
        <p:nvSpPr>
          <p:cNvPr id="7" name="quote-frame"/>
          <p:cNvSpPr/>
          <p:nvPr/>
        </p:nvSpPr>
        <p:spPr>
          <a:xfrm>
            <a:off x="5212080" y="1618488"/>
            <a:ext cx="3383280" cy="192411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7733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問：男性と息子の関係が悪いのはなぜか。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息子の態度が悪い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二人の会話が少ない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息子が仕事で忙しい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父親が大きな重圧を感じている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3670616"/>
            <a:ext cx="3383280" cy="7076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参照回答：B. 二人の会話が少ない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CLEVA. 公開説明例。 公開例 A2.SS2.SSS0.Px1 ／ C3。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https://arxiv.org/html/2308.04813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会話中の理由を、選択肢へ対応させる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実例2はC3を用いた選択式の読解。父親は、忙しくて息子とほとんど話していないと説明している。選択肢Bは、この会話不足に対応する。</a:t>
            </a:r>
          </a:p>
          <a:p>
            <a:pPr marL="457200" indent="-355600">
              <a:lnSpc>
                <a:spcPts val="2677"/>
              </a:lnSpc>
              <a:spcAft>
                <a:spcPts val="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忙しいのは父親であり、選択肢Cの「息子が忙しい」とは異なる。原文、質問、全選択肢の対応を保つことが、評価の前提になる。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公開例から見る中国語評価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実例3：アヒルより多いニワトリの数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公開例から見る中国語評価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公開例の原文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18488"/>
            <a:ext cx="3931920" cy="139062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问题：一个饲养场，养鸭1200只，养的鸡比养的鸭多(3/5)，养的鸡比鸭多多少只？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答案：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18488"/>
            <a:ext cx="3931920" cy="201756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問：ある飼育場ではアヒルを1,200羽飼っている。ニワトリの数は、アヒルの数よりアヒルの数の3/5だけ多い。ニワトリはアヒルより何羽多いか。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81023"/>
            <a:ext cx="39319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参照回答：720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781023"/>
            <a:ext cx="39319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参照回答：720羽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CLEVA. 公開説明例。 公開例 A2.SS1.SSS3.Px2 ／ 数学的推論。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https://arxiv.org/html/2308.04813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求める量と、回答形式をそろえる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実例3のMath23Kでは、ニワトリの総数ではなく、アヒルとの差を問う。1,200×3/5＝720で、参照回答は720。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同じ中国語の課題でも、文章の理解、選択肢の判別、数量関係の計算では、モデルに求める処理が異なる。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CLEVAは課題を分け、選択問題の正答率や生成回答の完全一致など、出力に応じた指標で評価する。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公開例から見る中国語評価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プロンプトと九つの評価軸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プロンプトと九つの評価軸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中国語評価の比較条件をそろえる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中国語の既存データを集めるだけでなく、ピンイン変換など中国語に固有の課題や、既存資源が少ない課題も加えた。</a:t>
            </a:r>
          </a:p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意味が近い質問でも、書き方でモデルの回答が変わる。CLEVAでは、データとプロンプトを共通化し、複数の書き方に対する結果を集計する。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テストデータが学習に含まれる問題にも対処するため、新たなデータの収集と、評価回ごとの集合の抽出を組み合わせる。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プロンプトと九つの評価軸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課題は、実務と能力の二方向に広がる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プロンプトと九つの評価軸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68496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31は課題の種類。収録データセット数や、実際にモデルへ送る問い合わせ数とは異なる。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同じ意味でも、問い方は複数ある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プロンプトと九つの評価軸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3120"/>
        </p:xfrm>
        <a:graphic>
          <a:graphicData uri="http://schemas.openxmlformats.org/drawingml/2006/table">
            <a:tbl>
              <a:tblPr firstRow="0" bandRow="0"/>
              <a:tblGrid>
                <a:gridCol w="1188720"/>
                <a:gridCol w="68580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要素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CLEVAの扱い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元レコードの項目を、共通のテンプレートへ入れる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問い方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1評価集合あたり平均3.95個のテンプレートを用意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選択・文章生成などに応じて回答を解釈する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テンプレート間の平均・標準偏差・最小・最大を調べる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テンプレートは、入力と回答をつなぐ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プロンプトと九つの評価軸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7958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52069" bIns="127000"/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“{sentence1}”和“{sentence2}”</a:t>
            </a:r>
          </a:p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这两个问题是在问同一件事情吗？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05795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論文で例示されたテンプレート。二つの入力文を埋め込み、「同じことを尋ねているか」と問う。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選択肢の送り方も、結果に影響する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選択肢を一つずつ別に評価するSeparateと、全選択肢を一つの入力へまとめるJointでは、モデルの振る舞いが変わる。</a:t>
            </a:r>
          </a:p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2023年の比較では、指示に合わせる学習をしていないモデルはSeparateで有利な傾向があった。一方、指示に従うモデルではJointが有利な場合がある。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Chatbot形式の会話履歴と、すべてを文章として連結するCompletion形式にも差がある。課題名だけでなく、入力形式までそろえて比較する。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プロンプトと九つの評価軸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正答のほかに、信頼性と条件を見る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プロンプトと九つの評価軸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23744"/>
        </p:xfrm>
        <a:graphic>
          <a:graphicData uri="http://schemas.openxmlformats.org/drawingml/2006/table">
            <a:tbl>
              <a:tblPr firstRow="0" bandRow="0"/>
              <a:tblGrid>
                <a:gridCol w="1965960"/>
                <a:gridCol w="608076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評価軸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主に何を見るか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正確性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選択の正答率、完全一致、F1、ROUGEなど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確信度の較正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自信と正答率の対応（ECEなど）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頑健性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意味を保つ入力変更での最悪性能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公平性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社会集団に関係する入力変更による扱いの差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効率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APIの1秒あたり処理数（QPS）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生成文の性質も、別の軸で評価する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プロンプトと九つの評価軸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3120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539496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評価軸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主に何を見るか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偏り・ステレオタイプ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集団への言及の偏りや、属性との結び付き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有害性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侮辱や憎悪表現などの生成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多様性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応答の表現がどの程度変化するか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プライバシー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生成文に現れる個人を識別しうる情報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1304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九つは評価の観点。各課題にすべての指標が適用されるわけではない。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分類課題と、生成文の測定を分ける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COLDによる有害表現の検出や、CDial-Biasによる偏りの判定は、与えられた文を分類する課題。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一方、有害性や偏りを生成文から測る指標は、モデルが書いた内容を調べる。分類の正答率が高いことだけでは、生成文の性質までは分からない。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課題名が似ていても、入力・出力・測る対象を対応させて結果を読む。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プロンプトと九つの評価軸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新しい評価集合と比較の条件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新しい評価集合と比較の条件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件数の単位を区別する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新しい評価集合と比較の条件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23744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493776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単位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2023年の報告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31種類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収録データセット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テスト事例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約37万件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拡張・複数プロンプト後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約900万回の問い合わせ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新たに収集した割合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33.98%（テストデータに対する報告値）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新しいデータと、評価回ごとの抽出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CLEVAは、規則による合成や人手による収集・注釈を行い、既存の公開データだけに依存しない評価集合を作る。</a:t>
            </a:r>
          </a:p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オンライン評価ではモデルの重みではなくAPIを使い、モデル開発者へ評価集合全体を配布せず、抽出した入力をモデルへ送る。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評価回ごとに異なる部分集合を使う。新規収集と組み合わせ、学習データへの混入による影響を減らそうとする設計である。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新しい評価集合と比較の条件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抽出量は、順位の安定性と結び付ける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すべての課題から同じ割合を抜くのではなく、モデル間の順位を区別できるかという基準に応じて、課題ごとの抽出量を調整する。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報告する基準は、許容する近似誤差の範囲で、任意のモデル対を正しく順位付けする確率が少なくとも70%となること。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この70%は、モデルの問題正答率でも、全モデルを完全に並べ替えられる確率でもない。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新しい評価集合と比較の条件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2023年の比較は、23モデルを対象とした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公開時の実験では、APIで利用するモデルと、重みが公開されたモデルの計23種を、中国語の課題で比較した。モデル一覧と、利用時点が分かるAPI版を記載している。</a:t>
            </a:r>
          </a:p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同じモデルでも、課題や評価軸によって結果が異なる。課題別の性能と、複数プロンプトでの変動を合わせて見る構成である。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これは2023年の結果であり、その後のモデルの順位を示すものではない。次に、公式READMEが示すHELMでの参照結果を見る。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新しい評価集合と比較の条件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提示例は、多ければよいとは限らない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2023年の実験では、8モデルを四つの課題で比較した。多くの場合、提示例を増やすと性能が上がり、4〜8例前後で伸びが頭打ちになった。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一方、文章分類では、提示例を増やすと性能が下がるモデルも見られた。著者は、ラベルの種類が多く、例の追加が判断を妨げた可能性を挙げている。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これは31課題すべてに共通する最適例数の報告ではない。モデル、課題、入力形式を固定した比較として読む。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新しい評価集合と比較の条件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HELM実行と、プラットフォームの参照値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新しい評価集合と比較の条件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3120"/>
        </p:xfrm>
        <a:graphic>
          <a:graphicData uri="http://schemas.openxmlformats.org/drawingml/2006/table">
            <a:tbl>
              <a:tblPr firstRow="0" bandRow="0"/>
              <a:tblGrid>
                <a:gridCol w="4572000"/>
                <a:gridCol w="1737360"/>
                <a:gridCol w="173736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課題／指標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HELM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CLEVA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対話要約／ROUGE-2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0.3045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0.3065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英語→中国語／SacreBLEU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60.48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59.23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事実確認／完全一致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0.4595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0.4528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地域バイアス判定／Micro F1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0.5656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0.5589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1304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gpt-3.5-turbo-0613を用いた公式READMEの比較。指標と尺度が異なるため、行をまたぐ平均は取らない。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LaVi Lab, CLEVA. 公式README・ローカル評価・参照結果・利用条件。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https://github.com/LaVi-Lab/CLEVA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小さな差も、条件の違いとともに読む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公式READMEは、乱数の違いで文脈内の提示例が変わることと、CLEVAとHELMで使ったChatGPTの版が完全には一致しないことを、得点差の主な理由としている。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前ページの値は、同じ条件の二重測定による誤差だけを示すものではない。プロンプト、提示例、モデル版をそろえてから比較する。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新しい評価集合と比較の条件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LaVi Lab, CLEVA. 公式README・ローカル評価・参照結果・利用条件。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https://github.com/LaVi-Lab/CLEVA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HELMでの利用と公開範囲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HELMでの利用と公開範囲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HELMには、ローカル評価の実装がある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2023年11月、CLEVAのデータ形式・プロンプト・摂動・中国語の指標がHELMへ統合された。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v1の設定では、課題・下位課題・プロンプトIDを指定する。選択問題と生成課題で入力の整形や回答の処理が変わる。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v0.4.0のClassic公開run索引にはCLEVAの実行結果がなく、公式READMEの参照値が別に公表されている。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HELMでの利用と公開範囲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CRFM, HELM v0.4.0. CLEVA scenario / Converter.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設定ファイルと、論文の規模は別の単位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HELMでの利用と公開範囲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23744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27432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確認できる数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論文の課題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v0.4.0設定の課題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設定の課題×下位課題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65組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設定のプロンプト記述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253項目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Classic公開run索引のCLEVA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33672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設定の組合せ・プロンプト数と、収録データセット数は別の単位。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CRFM, HELM v0.4.0. CLEVA v1 run configuration.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https://github.com/stanford-crfm/helm/blob/v0.4.0/src/helm/benchmark/presentation/run_specs_cleva_v1.conf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入手先と、現在確認できる範囲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公式GitHubは、CLEVA v1のダウンロード方法とHELMでの評価方法を公開している。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取得時には、公式のオンライン画面とv1配布ファイルに接続できなかった。公開論文と固定実装は取得でき、説明例・入力形式・指標を確認できる。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C3やMath23Kなど、採用元の公開データは別の配布元から取得できる。CLEVA v1での選定範囲、整形、分割とは区別して利用する。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HELMでの利用と公開範囲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LaVi Lab, CLEVA. 公式README・ローカル評価・参照結果・利用条件。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https://github.com/LaVi-Lab/CLEVA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比較の目的から、課題と指標を選ぶ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中国語のモデルを幅広く比べるには、どの課題で何を出力させたかをそろえる必要がある。CLEVAは、その手順と評価軸をまとめた基盤である。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複数プロンプトと九つの評価軸は、平均的な正しさだけでなく、変動や生成文の性質も調べるために使う。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実行時点・モデル版・入力形式・参照回答・抽出集合を確かめて、比較できる範囲の結果を読む。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HELMでの利用と公開範囲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23875"/>
            <a:ext cx="8046720" cy="70713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400" b="0">
                <a:solidFill>
                  <a:srgbClr val="303437"/>
                </a:solidFill>
                <a:latin typeface="Noto Sans"/>
              </a:defRPr>
            </a:pPr>
            <a:r>
              <a:rPr sz="4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追加の公開例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設定・統計・利用条件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追加の公開例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実例4：雨がやみかけた山の詩句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10896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公開例の原文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307592"/>
            <a:ext cx="47548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18488"/>
            <a:ext cx="3108960" cy="218962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7733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“山间连绵阴雨刚刚有了一点停止的意思。”这句话可以用以下哪句古文来表达：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寒雨初开霁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山晓雨初霁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宿雨天初霁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山雨初含霁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答：</a:t>
            </a:r>
          </a:p>
        </p:txBody>
      </p:sp>
      <p:sp>
        <p:nvSpPr>
          <p:cNvPr id="7" name="quote-frame"/>
          <p:cNvSpPr/>
          <p:nvPr/>
        </p:nvSpPr>
        <p:spPr>
          <a:xfrm>
            <a:off x="3840480" y="1618488"/>
            <a:ext cx="4754879" cy="193365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7733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「山間で降り続いていた雨が、ようやく少しやみかけた。」この文は、次のどの古典詩句で表せるか。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冷たい雨がやみ、空が晴れ始める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山の夜明け、雨がやみ、空が晴れ始める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夜通し降った雨がやみ、空が晴れ始める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山の雨が、かすかに晴れ間を見せ始める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46228"/>
            <a:ext cx="310896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946228"/>
            <a:ext cx="4754879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参照回答：D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CLEVA. 公開説明例。 公開例 A2.SS1.SSS1.Px5 ／ 古典中国語の理解。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https://arxiv.org/html/2308.04813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実例5：文脈に合う慣用句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公開説明例の原文（表示範囲を保持）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200664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7733" bIns="127000">
            <a:noAutofit/>
          </a:bodyPr>
          <a:lstStyle/>
          <a:p>
            <a:pPr algn="l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不过，要想变得____，要想自己能够成就一番事业的话，不是说来就来的，或者说任何一个出色的人，他们都得经历过不少的磨难，以及在经受住了一些挫折之后，才能真正成才成人，才能成为一个实力超群的人物，让自己的人生过得越来越顺当…</a:t>
            </a:r>
          </a:p>
          <a:p>
            <a:pPr algn="l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上面这个句子下划线处可以填写哪个成语？</a:t>
            </a:r>
          </a:p>
          <a:p>
            <a:pPr algn="l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足智多谋</a:t>
            </a:r>
          </a:p>
          <a:p>
            <a:pPr algn="l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语无伦次</a:t>
            </a:r>
          </a:p>
          <a:p>
            <a:pPr algn="l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绣花枕头</a:t>
            </a:r>
          </a:p>
          <a:p>
            <a:pPr algn="l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答：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62298"/>
            <a:ext cx="80467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参照回答：A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CLEVA. 公開説明例。 公開例 A2.SS1.SSS2.Px2 ／ 文化的知識。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https://arxiv.org/html/2308.04813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実例5：文脈に合う慣用句（訳）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224054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しかし、____になって、自分で何かを成し遂げたいと思っても、簡単に実現できるわけではない。どんな優れた人も、多くの苦難や挫折を経験してこそ、本当に成長し、抜きん出た力を持ち、人生をより順調に歩めるようになる……。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下線部には、どの慣用句を入れられるか。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知恵や策略に富む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話が支離滅裂である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見かけはよいが中身がない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96197"/>
            <a:ext cx="80467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参照回答：A. 足智多谋（知恵や策略に富む）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CLEVA. 公開説明例。 公開例 A2.SS1.SSS2.Px2 ／ 文化的知識。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https://arxiv.org/html/2308.04813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実例6：売り声から何が分かるか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公開例の原文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18488"/>
            <a:ext cx="3931920" cy="225100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7733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是否可以从“篮子嘛,一块钱,一块钱啊.”中推断出“这个篮子是可以卖的。”？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总是可以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有时可以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不可以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答：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18488"/>
            <a:ext cx="3931920" cy="223534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7733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「かごだよ、1元、1元だよ。」という発言から、「このかごは販売されている」と推論できるか。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常にできる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場合によってはできる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できない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06658"/>
            <a:ext cx="39319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006658"/>
            <a:ext cx="39319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参照回答：A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CLEVA. 公開説明例。 公開例 A2.SS1.SSS3.Px2 ／ 常識推論・含意判定。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https://arxiv.org/html/2308.04813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実例7：数式が扱う図形を答える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公開例の原文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18488"/>
            <a:ext cx="3931920" cy="4567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婆罗摩笈多公式描述了__ -&gt;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18488"/>
            <a:ext cx="3931920" cy="77421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ブラーマグプタの公式が扱うのは__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29862"/>
            <a:ext cx="39319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参照回答：四边形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29862"/>
            <a:ext cx="39319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参照回答：四辺形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CLEVA. 公開説明例。 公開例 A2.SS1.SSS2.Px1 ／ 分野別知識。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https://arxiv.org/html/2308.04813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実例8：映画賞に関する主張を判定する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公開例の原文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18488"/>
            <a:ext cx="3931920" cy="171662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第33届金鸡奖揭晓：黄晓明、周冬雨再拿最佳男女主角。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上述说法是否为真？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答：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18488"/>
            <a:ext cx="3931920" cy="171697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第33回金鶏賞の結果が発表され、黄暁明と周冬雨が、再び最優秀男優賞と最優秀女優賞をそれぞれ受賞した。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この記述は真実か。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89643"/>
            <a:ext cx="39319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789643"/>
            <a:ext cx="39319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参照回答：真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CLEVA. 公開説明例。 公開例 A2.SS1.SSS4.Px4 ／ 事実確認。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https://arxiv.org/html/2308.04813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実例9：不満を含む商品レビュー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公開例の原文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18488"/>
            <a:ext cx="3931920" cy="194051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这个产品评价是正面还是负面的？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评价：今天刚拿到手机，打电话时发现手机听筒有吱吱吱的杂声，不满意，真怀疑是不是正品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答案：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18488"/>
            <a:ext cx="3931920" cy="223407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この商品レビューは肯定的か、否定的か。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レビュー：今日、携帯電話が届いたばかりなのに、通話すると受話口からジジジという雑音がする。不満だ。本当に正規品なのか疑わしい。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89725"/>
            <a:ext cx="39319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参照回答：负面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989725"/>
            <a:ext cx="39319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参照回答：否定的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CLEVA. 公開説明例。 公開例 A2.SS2.SSS0.Px6 ／ 感情分析。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https://arxiv.org/html/2308.04813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実例10：ニュースの話題を分類する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公開例の原文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18488"/>
            <a:ext cx="3931920" cy="75594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“全国青年教师教学艺术大赛举行”这段新闻的类别属于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18488"/>
            <a:ext cx="3931920" cy="108156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「全国の若手教員による授業技術大会が開催された」というニュースの分類は、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7218"/>
            <a:ext cx="39319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参照回答：教育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837218"/>
            <a:ext cx="39319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参照回答：教育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CLEVA. 公開説明例。 公開例 A2.SS2.SSS0.Px7 ／ 文章分類。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https://arxiv.org/html/2308.04813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実例11：文章の中心となる対象を抜き出す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公開例の原文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18488"/>
            <a:ext cx="3931920" cy="139062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“《恋恋笔记本》是导演尼克·卡萨维茨2004年的一部爱情类影片。”中主要围绕着什么进行描述？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18488"/>
            <a:ext cx="3931920" cy="170815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「『きみに読む物語』は、ニック・カサヴェテス監督による2004年の恋愛映画である。」この記述は、主に何について述べているか。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63803"/>
            <a:ext cx="39319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参照回答：恋恋笔记本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463803"/>
            <a:ext cx="39319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参照回答：きみに読む物語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CLEVA. 公開説明例。 公開例 A2.SS2.SSS0.Px8 ／ 意見の対象抽出。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https://arxiv.org/html/2308.04813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実例12：演算記号の意味を変える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公開例の原文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18488"/>
            <a:ext cx="3931920" cy="108156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将“+”视为数字1而不是数学运算。问：6+1的第一位数字是啥？答：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18488"/>
            <a:ext cx="3931920" cy="107443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「+」を数学の演算記号ではなく、数字の1として扱う。問：6+1の最初の桁は何か。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7218"/>
            <a:ext cx="39319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837218"/>
            <a:ext cx="393192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参照回答：6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CLEVA. 公開説明例。 公開例 A2.SS1.SSS5.Px2 ／ 指示追従。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https://arxiv.org/html/2308.04813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実例13：例から計算の規則を推定する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475488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公開例の原文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307592"/>
            <a:ext cx="310895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18488"/>
            <a:ext cx="4754880" cy="220994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推断符号 -&gt; 的含义并计算下列公式。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512 + 372 -&gt; 885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528 + 170 -&gt; 699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859 + 133 -&gt; 993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199 + 944 -&gt; 1144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154 + 521 -&gt; 676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67 + 987 -&gt;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0" y="1618488"/>
            <a:ext cx="3108959" cy="20515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7733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記号「→」の意味を推測し、最後の式を計算しなさい。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512 + 372 → 885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528 + 170 → 699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859 + 133 → 993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199 + 944 → 1144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154 + 521 → 676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67 + 987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88538"/>
            <a:ext cx="4754880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参照回答：1055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988538"/>
            <a:ext cx="3108959" cy="3929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参照回答：1055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CLEVA. 公開説明例。 公開例 A2.SS1.SSS3.Px2 ／ 帰納的推論。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https://arxiv.org/html/2308.04813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参照回答の単位と文脈を確かめる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実例7では、数学の知識を、図形の名称という短い語で答える。参照ラベルは「四辺形」である。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実例8は、2020年の第33回金鶏賞に関する主張。時点を外し、現在の受賞結果に関する質問として扱わない。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実例13は、通常の和より1大きい値を返す規則を例から推定する。67＋987＝1054なので、提示された規則の参照値は1055。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設定・統計・利用条件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設定・統計・利用条件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31課題のうち、実務に近い11課題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設定・統計・利用条件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312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621792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区分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質問・読解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読解、外部資料なしの質問応答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文章の判定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言い換え判定、感情分析、文章分類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文章の生成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要約、データからの文章生成、言い換え生成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その他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意見抽出、対話生成、翻訳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特定の能力を調べる20課題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設定・統計・利用条件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23744"/>
        </p:xfrm>
        <a:graphic>
          <a:graphicData uri="http://schemas.openxmlformats.org/drawingml/2006/table">
            <a:tbl>
              <a:tblPr firstRow="0" bandRow="0"/>
              <a:tblGrid>
                <a:gridCol w="1600200"/>
                <a:gridCol w="644652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区分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言語：5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言語モデル、共参照、ピンイン、意図、古典中国語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知識：2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分野別知識、文化的知識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推論：7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基礎推論、帰納・演繹・常識・数学推論、コード、概念汎化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害：4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著作物の再現、有害表現の検出、偏りの判定、事実確認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その他：2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指示追従、算術計算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文脈内の提示例は、条件の一部になる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入力に何件の例を添えるかだけでなく、どの例をどの順に添えたかも回答に影響する。複数のテンプレートや乱数設定を使う評価では、集計する範囲をそろえる。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HELM実装は、ラベルの言い換え、項目の連結、選択肢の番号付けなどを行うConverterを持つ。元レコードのラベルと、モデルが実際に返す文字列を対応させる。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設定・統計・利用条件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CRFM, HELM v0.4.0. CLEVA scenario / Converter.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新しい二つの軸を、具体的に測る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3333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多様性は、n-gramの種類数を出現総数で割る。全出力をまとめるinter-distinctと、事例ごとに計算して平均するintra-distinctを定義している。</a:t>
            </a:r>
          </a:p>
          <a:p>
            <a:pPr marL="457200" indent="-355600">
              <a:lnSpc>
                <a:spcPts val="2439"/>
              </a:lnSpc>
              <a:spcAft>
                <a:spcPts val="700"/>
              </a:spcAft>
              <a:buSzPct val="63333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プライバシーのPII_matchは、個人を識別しうる情報が1件以上検出された出力を持つ事例数を、全評価事例数で割る指標。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3333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2023年の評価ではAzureのPII検出サービスを使う。文字数に占める個人情報の割合ではなく、検出された事例の割合を測る。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設定・統計・利用条件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公開条件と、収録元の権利を確かめる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CLEVA公式リポジトリのライセンス表示はCC BY-NC-ND 4.0。非商用、改変物の共有に関する制限などを含む。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収録データの出所は一様ではない。元データの利用条件と、CLEVAが公開した加工済みデータの条件を、それぞれ確認する。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この資料の日本語訳は、公開説明例を読むために添えたもの。CLEVAの公式訳や、公式評価ラベルではない。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設定・統計・利用条件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LaVi Lab, CLEVA. 公式README・ローカル評価・参照結果・利用条件。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https://github.com/LaVi-Lab/CLEVA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後続のC²LEVAと、対象を分ける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公式READMEは、後続のC²LEVAを2024年12月に案内し、2025年のFindings of ACLへの採択を報告している。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C²LEVAは、英語と中国語を対象に、学習データへの混入を防ぐ仕組みを体系化する後続の評価。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ここで扱う31課題・84データセット・約37万事例は、CLEVAの2023年の報告値。後続版の構成や結果へ、そのまま移さない。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設定・統計・利用条件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 et al., C²LEVA: Toward Comprehensive and Contamination-Free Language Model Evaluation. Findings of ACL 2025.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https://arxiv.org/abs/2412.04947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香港中文大学と上海AI実験室の共同研究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Yanyang LiとJianqiao Zhaoが共同第一著者、Liwei Wangが責任著者。香港中文大学と上海AI実験室の研究者が参加した。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2023年のEMNLP System Demonstrationsで、ベンチマーク、評価手順、オンラインの利用例とモデル比較を報告している。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公開リポジトリにはHELM統合の手順が追加され、オンライン評価とローカル評価の二つの入口が示されている。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Zhao et al. (2023),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CLEVA: Chinese Language Models EVAluation Platform"/>
          <p:cNvSpPr txBox="1"/>
          <p:nvPr/>
        </p:nvSpPr>
        <p:spPr>
          <a:xfrm>
            <a:off x="548640" y="1280160"/>
            <a:ext cx="8046720" cy="16433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CLEVA: Chinese Language Models EVAluation Platform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Yanyang Li, Jianqiao Zhao et al. · 2023 · EMNLP System Demonstrations, pp.186–217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中国語の31課題、九つの評価軸、複数プロンプトと評価集合の抽出をまとめた評価基盤を提案する。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  <p:sp>
        <p:nvSpPr>
          <p:cNvPr id="5" name="文献 2: CLEVA: Chinese Language Models EVAluation Platform"/>
          <p:cNvSpPr txBox="1"/>
          <p:nvPr/>
        </p:nvSpPr>
        <p:spPr>
          <a:xfrm>
            <a:off x="548640" y="2937255"/>
            <a:ext cx="8046720" cy="17175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CLEVA: Chinese Language Models EVAluation Platform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LaVi Lab · 公式リポジトリ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v1の配布案内、HELMでのローカル評価、四つの参照結果とライセンスを公開する。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https://github.com/LaVi-Lab/CLEVA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Holistic Evaluation of Language Models"/>
          <p:cNvSpPr txBox="1"/>
          <p:nvPr/>
        </p:nvSpPr>
        <p:spPr>
          <a:xfrm>
            <a:off x="548640" y="1280160"/>
            <a:ext cx="8046720" cy="16433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Holistic Evaluation of Language Models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Percy Liang et al. · 2023 · Transactions on Machine Learning Research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能力だけでなく、信頼性や害を含む複数の観点から言語モデルを比較するHELMを提示する。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https://openreview.net/forum?id=iO4LZibEqW</a:t>
            </a:r>
          </a:p>
        </p:txBody>
      </p:sp>
      <p:sp>
        <p:nvSpPr>
          <p:cNvPr id="5" name="文献 2: C²LEVA: Toward Comprehensive and Contamination-Free Language Model Evaluation"/>
          <p:cNvSpPr txBox="1"/>
          <p:nvPr/>
        </p:nvSpPr>
        <p:spPr>
          <a:xfrm>
            <a:off x="548640" y="2937255"/>
            <a:ext cx="8046720" cy="2007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C²LEVA: Toward Comprehensive and Contamination-Free Language Model Evaluation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Yanyang Li et al. · 2025 · Findings of ACL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英語・中国語を対象に、学習データへの混入を防ぐ仕組みを体系化する後続の評価研究。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https://arxiv.org/abs/2412.04947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CLEVA Scenario and v1 Run Configuration"/>
          <p:cNvSpPr txBox="1"/>
          <p:nvPr/>
        </p:nvSpPr>
        <p:spPr>
          <a:xfrm>
            <a:off x="548640" y="1280160"/>
            <a:ext cx="8046720" cy="16433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 Scenario and v1 Run Configuration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Stanford CRFM · HELM v0.4.0 · 2023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CLEVA形式の入力・ラベル・テンプレートを変換する実装と、ローカル評価の課題設定を含む。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2026-10-18T09:05:13Z</dcterms:modified>
  <dc:title>cleva</dc:title>
  <dc:creator>sasakiy84</dc:creator>
  <dcterms:created xsi:type="dcterms:W3CDTF">2026-10-18T09:05:13Z</dcterms:created>
  <dc:language>ja-JP</dc:language>
</cp:coreProperties>
</file>