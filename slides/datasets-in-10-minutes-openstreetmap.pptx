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ww.openstreetmap.org/abou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openstreetmap.org/abou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History_of_OpenStreetMa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www.openstreetmap.org/copyrigh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Map_feature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www.openstreetmap.org/copyrigh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www.openstreetmap.org/copyrigh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www.openstreetmap.org/copyrigh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.openstreetmap.org/wiki/Element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openstreetmap.org/copyrigh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openstreetmap.org/copyrigh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Map_features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Elements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.openstreetmap.org/wiki/Relation:multipolyg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.openstreetmap.org/wiki/PBF_Format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OSM_X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Elements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API_v0.6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openstreetmap.org/about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lanet.openstreetmap.org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openstreetmap.org/copyright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.openstreetmap.org/wiki/Element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openstreetmap.org/copyright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openstreetmap.org/copyright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openstreetmap.org/copyright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.openstreetmap.org/wiki/OSM_X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openstreetmap.org/about" TargetMode="External"/><Relationship Id="rId3" Type="http://schemas.openxmlformats.org/officeDocument/2006/relationships/hyperlink" Target="https://wiki.openstreetmap.org/wiki/Elements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.openstreetmap.org/wiki/OSM_XML" TargetMode="External"/><Relationship Id="rId3" Type="http://schemas.openxmlformats.org/officeDocument/2006/relationships/hyperlink" Target="https://wiki.openstreetmap.org/wiki/PBF_Forma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.openstreetmap.org/wiki/API_v0.6" TargetMode="External"/><Relationship Id="rId3" Type="http://schemas.openxmlformats.org/officeDocument/2006/relationships/hyperlink" Target="https://planet.openstreetmap.org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openstreetmap.org/copyright" TargetMode="External"/><Relationship Id="rId3" Type="http://schemas.openxmlformats.org/officeDocument/2006/relationships/hyperlink" Target="https://osmfoundation.org/wiki/Licence/Attribution_Guideline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953257"/>
            <a:ext cx="8046720" cy="1004570"/>
          </a:xfrm>
        </p:spPr>
        <p:txBody>
          <a:bodyPr wrap="square" lIns="0" rIns="0" tIns="0" bIns="1016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OpenStreetMap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962907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みんなで更新する、道路・建物・施設の地理データ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OpenStreetMapの公式サイト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Foundation. n.d. About OpenStreetMap.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https://www.openstreetmap.org/about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4516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地図の見た目とデータ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地物を表す三つの要素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ファイル形式と座標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更新・入手・利用条件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585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世界各地の地物を、共同で記録・更新する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OpenStreetMap（OSM）は、道路・建物・店舗などの位置と属性を収めた、世界規模の地理データベース。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参加者が現地調査、GPSの記録、利用を許諾された航空写真などを使って編集する。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地図の描画に加え、施設検索や経路探索の元データとして使われる。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Foundation. n.d. About OpenStreetMap.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https://www.openstreetmap.org/about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2004年、自由に使える地図を作り始めた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Steve Coastが英国でプロジェクトを始めた。当時、行政などが持つ地理データを自由に入手・再利用することは難しかった。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参加者が道路を記録し、世界各地の建物や施設へ対象が広がった。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現在も参加者が編集を続ける、更新型のデータベースになっている。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History of OpenStreetMap.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https://wiki.openstreetmap.org/wiki/History_of_OpenStreetMap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京都の街並みを、取得した地物から描く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pic>
        <p:nvPicPr>
          <p:cNvPr id="4" name="Picture 3" descr="map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02" y="1344168"/>
            <a:ext cx="6877594" cy="32095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同じ地物から、用途に応じて地図を作る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道路の線、建物の輪郭、施設の位置を取得し、種類ごとに色や線幅を決めて描画できる。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元データには名前や用途も入っている。地図として表示する情報は、利用側が選ぶ。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この資料の描画例は、京都中心部の同じ範囲を使う。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Map features.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https://wiki.openstreetmap.org/wiki/Map_features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道路を取り出すと、街路網が見える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pic>
        <p:nvPicPr>
          <p:cNvPr id="4" name="Picture 3" descr="map-r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02" y="1344168"/>
            <a:ext cx="6877594" cy="32095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建物の輪郭を取り出すと、街区の形が見える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pic>
        <p:nvPicPr>
          <p:cNvPr id="4" name="Picture 3" descr="map-buil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02" y="1344168"/>
            <a:ext cx="6877594" cy="32095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施設の種類を取り出すと、街の使われ方が見える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地図の見た目とデータ</a:t>
            </a:r>
          </a:p>
        </p:txBody>
      </p:sp>
      <p:pic>
        <p:nvPicPr>
          <p:cNvPr id="4" name="Picture 3" descr="map-po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202" y="1344168"/>
            <a:ext cx="6877594" cy="32095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1740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位置・つながり・まとまりを三つの要素で表す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 firstRow="0" bandRow="0"/>
              <a:tblGrid>
                <a:gridCol w="1417320"/>
                <a:gridCol w="3246120"/>
                <a:gridCol w="33832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保持するもの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代表的な用途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緯度・経度を持つ点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施設、道路の頂点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way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nodeを並べた参照列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道路、建物の輪郭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relation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要素の参照と役割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路線、穴のある領域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Elements.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https://wiki.openstreetmap.org/wiki/Elements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nodeは、座標とタグで施設を表す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6827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&lt;node id="1422960227"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lat="35.0028420" lon="135.7638030"&gt;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k="amenity" v="post_office"/&gt;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k="name" v="京都四条柳馬場郵便局"/&gt;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&lt;/node&gt;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926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実レコードの抜粋。amenityは施設の種類、nameは名称を表す。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wayは、座標ではなくnodeのIDを並べる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&lt;way id="273924625"&gt;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&lt;nd ref="296273837"/&gt;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&lt;nd ref="10692272162"/&gt;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&lt;!-- 残りのnode参照は省略 --&gt;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k="highway" v="primary"/&gt;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k="name" v="四条通"/&gt;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&lt;/way&gt;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四条通の一部分。11個のnode参照を持ち、各nodeの座標をたどると線になる。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タグは、地物の種類と詳しい属性を表す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タグはkey=valueの組。highway=primaryは主要な道路、building=yesは建物を表す。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名称、営業時間、一方通行などもタグで記録する。記録される属性は地物ごとに異なる。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例：道路のoneway=yesは、wayのnode列の向きに沿った一方通行を表す。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Map features.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https://wiki.openstreetmap.org/wiki/Map_features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wayを閉じると、輪郭や周回路を表せる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先頭と末尾で同じnodeを参照するwayを、閉じたwayと呼ぶ。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building=yesの閉じたwayは建物の輪郭として使われる。道路なら、閉じた周回路を表すこともある。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面として解釈するかは、閉じていることに加えてタグから判断する。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Elements.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https://wiki.openstreetmap.org/wiki/Elements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relationは、複数の要素と役割をまとめる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地物を表す三つの要素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778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&lt;relation id="4200287"&gt;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&lt;member type="way" ref="205732413" role="outer"/&gt;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&lt;member type="way" ref="205732325" role="outer"/&gt;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k="type" v="multipolygon"/&gt;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k="building" v="yes"/&gt;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&lt;/relation&gt;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879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京都の建物の実例。outerは外周を構成する役割。穴のある領域ではinnerも使う。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Relation:multipolygon. OpenStreetMap Wiki.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https://wiki.openstreetmap.org/wiki/Relation:multipolygon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0826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ファイル形式と座標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ファイル形式と座標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OSM XMLとPBFは、同じ要素モデルを保存する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ファイル形式と座標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19" cy="2465070"/>
        </p:xfrm>
        <a:graphic>
          <a:graphicData uri="http://schemas.openxmlformats.org/drawingml/2006/table">
            <a:tbl>
              <a:tblPr firstRow="0" bandRow="0"/>
              <a:tblGrid>
                <a:gridCol w="1874519"/>
                <a:gridCol w="3108960"/>
                <a:gridCol w="30632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保存の仕方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読み方の特徴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OSM XML
.osm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タグと参照をXMLで記述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中身を直接読める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PBF
.osm.pbf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Protocol Buffersで符号化し圧縮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小さく、効率よく読める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GeoJSON
.geojson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座標列と属性を保存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GISやWeb地図向き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018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GeoJSONは変換後の表現。OSMの参照構造を、そのまま保存する形式ではない。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PBF Format. OpenStreetMap Wiki.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https://wiki.openstreetmap.org/wiki/PBF_Format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XMLの参照を解決して、線や面を作る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まずnodeのIDと座標を読み、次にwayのnode参照を順にたどる。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relationで面を作る場合は、memberの役割を読み、外周や穴を組み立てる。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GeoJSONへ変換すると、道路はLineString、建物はPolygonなどの座標列として扱える。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ファイル形式と座標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OSM XML.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https://wiki.openstreetmap.org/wiki/OSM_XML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保存する座標と、画面に描く座標は異なる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nodeのlatとlonは、WGS84に基づく緯度と経度。単位は度。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この資料の地図は、Web地図で一般的なWeb Mercator（EPSG:3857）へ投影して描いた。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距離や面積を計算する際は、対象地域に合う座標系や地球上の距離計算を選ぶ。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ファイル形式と座標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Elements.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https://wiki.openstreetmap.org/wiki/Elements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1740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更新・入手・利用条件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更新・入手・利用条件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編集は、地物ごとの履歴として蓄積される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各要素にはIDが付き、変更のたびにversionが増える。timestampは、そのバージョンの更新時刻。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複数の編集はchangesetという編集単位にまとめる。変更の説明や履歴を確認できる。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地物の更新時刻と、データを取得した日時は別に扱う。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更新・入手・利用条件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API v0.6.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https://wiki.openstreetmap.org/wiki/API_v0.6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地図の充実度は、地域や属性によって異なる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道路、建物、施設はそれぞれ追加・修正される。建物が詳しい地域でも、営業時間までそろっているとは限らない。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利用する地域で必要な地物・属性を確認し、不足があれば現地情報や他の資料で補う。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更新・入手・利用条件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Foundation. n.d. About OpenStreetMap.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https://www.openstreetmap.org/about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地域の抽出と、用途に応じた入手先を選ぶ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更新・入手・利用条件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6032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43891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入手先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適した使い方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公式サイト／API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小地域の要素を取得する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Overpass API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タグや範囲を指定して検索する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Planet／Geofabrik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世界全体・国や地域のPBFを読む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差分ファイル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手元のデータへ更新を取り込む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Foundation. n.d. Planet OSM.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https://planet.openstreetmap.org/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12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公開地図には帰属表示、データ配布にはODbLを伴う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OSMのデータはOpen Database License（ODbL）で提供される。コピー、加工、商用利用ができる。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地図には「© OpenStreetMap contributors」などの帰属を表示し、ODbLのデータを使っていることが分かるリンクを付ける。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加工したデータベースを公開利用する場合は、ODbLの継承・提供条件を確認する。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更新・入手・利用条件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Foundation. n.d. Copyright and License.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地物とタグを読み、必要な地図や分析へつなげる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OSMの基本は、位置を持つnode、nodeをつなぐway、要素をまとめるrelationと、それぞれのタグ。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XMLやPBFから地物を読み、描画やGISで使う線・面へ変換できる。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利用地域の内容と更新状況を確かめ、帰属表示とODbLに沿って使う。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更新・入手・利用条件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Elements. OpenStreetMap Wiki.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https://wiki.openstreetmap.org/wiki/Elements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16245"/>
            <a:ext cx="8046720" cy="7782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62762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実データを詳しく読む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6084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実データを詳しく読む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実データを詳しく読む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京都のAPI応答に含まれる要素数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実データを詳しく読む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1680" y="1508760"/>
          <a:ext cx="5120640" cy="237744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2560320"/>
              </a:tblGrid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node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28,480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way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5,376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relation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14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要求範囲にかかるwayを復元するため、応答には範囲外のnodeも含まれる。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要素の属性から、更新履歴の入口を読む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実データを詳しく読む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524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id="1422960227"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version="3"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timestamp="2025-01-15T05:37:06Z"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changeset="161367217"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339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京都四条柳馬場郵便局のnode。IDで要素、versionでその要素のバージョンを指定できる。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閉じた道路のwayも、実際に存在する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実データを詳しく読む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&lt;way id="1117527867"&gt;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&lt;nd ref="10220890820"/&gt;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&lt;!-- 途中の10個のnode参照は省略 --&gt;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&lt;nd ref="10220890820"/&gt;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k="highway" v="service"/&gt;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&lt;tag k="service" v="parking_aisle"/&gt;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&lt;/way&gt;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京都の駐車場内道路の実例。同じnodeへ戻るが、建物の輪郭ではない。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2026-10-28取得. 京都中心部の地図データ（本資料で描画）。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https://www.openstreetmap.org/copyright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XMLを開き、施設の座標と名前を読む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実データを詳しく読む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159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xml.etree.ElementTree as ET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root = ET.parse("kyoto.osm").getroot()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node in root.findall("node"):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tags = {t.get("k"): t.get("v")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for t in node.findall("tag")}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if tags.get("amenity") == "post_office":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03437"/>
                </a:solidFill>
                <a:latin typeface="Noto Sans"/>
              </a:defRPr>
            </a:pPr>
            <a:r>
              <a:rPr sz="15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print(tags.get("name"), node.get("lat"), node.get("lon"))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68927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小地域のOSM XMLを読み込む例。広域のPBFにはストリーム処理ができる専用ライブラリを使う。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81728"/>
            <a:ext cx="8183879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OpenStreetMap contributors. n.d. OSM XML. OpenStreetMap Wiki.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https://wiki.openstreetmap.org/wiki/OSM_XML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1740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About OpenStreetMap"/>
          <p:cNvSpPr txBox="1"/>
          <p:nvPr/>
        </p:nvSpPr>
        <p:spPr>
          <a:xfrm>
            <a:off x="548640" y="1463040"/>
            <a:ext cx="8046720" cy="1550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About OpenStreetMap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Foundation. n.d. OpenStreetMap.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参加者による地図づくり、収集に使う情報、オープンデータとしての位置付けを説明する。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https://www.openstreetmap.org/about</a:t>
            </a:r>
          </a:p>
        </p:txBody>
      </p:sp>
      <p:sp>
        <p:nvSpPr>
          <p:cNvPr id="5" name="文献 2: Elements"/>
          <p:cNvSpPr txBox="1"/>
          <p:nvPr/>
        </p:nvSpPr>
        <p:spPr>
          <a:xfrm>
            <a:off x="548640" y="3265424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Elements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contributors. n.d. OpenStreetMap Wiki.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node・way・relationの定義と、それぞれの属性や参照構造をまとめる。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https://wiki.openstreetmap.org/wiki/Elements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OSM XML"/>
          <p:cNvSpPr txBox="1"/>
          <p:nvPr/>
        </p:nvSpPr>
        <p:spPr>
          <a:xfrm>
            <a:off x="548640" y="1463040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OSM XML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contributors. n.d. OpenStreetMap Wiki.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XMLによる要素の表記と、ファイルに含まれるメタデータを説明する。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https://wiki.openstreetmap.org/wiki/OSM_XML</a:t>
            </a:r>
          </a:p>
        </p:txBody>
      </p:sp>
      <p:sp>
        <p:nvSpPr>
          <p:cNvPr id="5" name="文献 2: PBF Format"/>
          <p:cNvSpPr txBox="1"/>
          <p:nvPr/>
        </p:nvSpPr>
        <p:spPr>
          <a:xfrm>
            <a:off x="548640" y="3012059"/>
            <a:ext cx="8046720" cy="15504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PBF Format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contributors. n.d. OpenStreetMap Wiki.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Protocol Buffersを使ったバイナリ形式、ブロック構造と圧縮方式を定義する。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https://wiki.openstreetmap.org/wiki/PBF_Format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API v0.6"/>
          <p:cNvSpPr txBox="1"/>
          <p:nvPr/>
        </p:nvSpPr>
        <p:spPr>
          <a:xfrm>
            <a:off x="548640" y="1463040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API v0.6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contributors. n.d. OpenStreetMap Wiki.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地図要素の取得、履歴、編集に使うAPIの応答と制約を説明する。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https://wiki.openstreetmap.org/wiki/API_v0.6</a:t>
            </a:r>
          </a:p>
        </p:txBody>
      </p:sp>
      <p:sp>
        <p:nvSpPr>
          <p:cNvPr id="5" name="文献 2: Planet OSM"/>
          <p:cNvSpPr txBox="1"/>
          <p:nvPr/>
        </p:nvSpPr>
        <p:spPr>
          <a:xfrm>
            <a:off x="548640" y="3012059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Planet OSM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Foundation. n.d.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全世界のスナップショットと履歴・差分ファイルの配布先を案内する。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https://planet.openstreetmap.org/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Copyright and License"/>
          <p:cNvSpPr txBox="1"/>
          <p:nvPr/>
        </p:nvSpPr>
        <p:spPr>
          <a:xfrm>
            <a:off x="548640" y="1463040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Copyright and License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Foundation. n.d. OpenStreetMap.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ODbLに基づく利用条件と、地図・データの帰属表示を説明する。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https://www.openstreetmap.org/copyright</a:t>
            </a:r>
          </a:p>
        </p:txBody>
      </p:sp>
      <p:sp>
        <p:nvSpPr>
          <p:cNvPr id="5" name="文献 2: Attribution Guidelines"/>
          <p:cNvSpPr txBox="1"/>
          <p:nvPr/>
        </p:nvSpPr>
        <p:spPr>
          <a:xfrm>
            <a:off x="548640" y="3012059"/>
            <a:ext cx="8046720" cy="12970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Attribution Guidelines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OpenStreetMap Foundation. n.d. 参照：2026-10-28。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対話的な地図、印刷物、静止画像など、媒体ごとの帰属表示の方法を定める。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https://osmfoundation.org/wiki/Licence/Attribution_Guidelines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2026-10-27T16:07:53Z</dcterms:modified>
  <dc:title>openstreetmap</dc:title>
  <dc:creator>sasakiy84</dc:creator>
  <dcterms:created xsi:type="dcterms:W3CDTF">2026-10-27T16:07:53Z</dcterms:created>
  <dc:language>ja-JP</dc:language>
</cp:coreProperties>
</file>