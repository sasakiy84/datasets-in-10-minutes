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webextensions/taskpanes.xml" ContentType="application/vnd.ms-office.webextensiontaskpanes+xml"/>
  <Override PartName="/ppt/webextensions/webextension1.xml" ContentType="application/vnd.ms-office.webextension+xml"/>
</Types>
</file>

<file path=_rels/.rels><?xml version='1.0' encoding='UTF-8' standalone='yes'?>
<Relationships xmlns="http://schemas.openxmlformats.org/package/2006/relationships"><Relationship Id="rId1" Type="http://schemas.microsoft.com/office/2011/relationships/webextensiontaskpanes" Target="ppt/webextensions/taskpanes.xml"/><Relationship Id="rId2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2" r:id="rId1"/>
  </p:sldMasterIdLst>
  <p:sldIdLst>
    <p:sldId id="256" r:id="rId6"/>
    <p:sldId id="257" r:id="rId7"/>
    <p:sldId id="258" r:id="rId8"/>
    <p:sldId id="259" r:id="rId9"/>
    <p:sldId id="260" r:id="rId10"/>
    <p:sldId id="261" r:id="rId5"/>
    <p:sldId id="262" r:id="rId4"/>
    <p:sldId id="263" r:id="rId3"/>
    <p:sldId id="264" r:id="rId2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  <p:sldId id="295" r:id="rId45"/>
    <p:sldId id="296" r:id="rId46"/>
    <p:sldId id="297" r:id="rId47"/>
    <p:sldId id="298" r:id="rId48"/>
    <p:sldId id="299" r:id="rId49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Noto Sans CJK JP"/>
      <a:defRPr sz="1400" b="0" i="0" u="none" strike="noStrike" cap="none" lang="ja-JP">
        <a:solidFill>
          <a:srgbClr val="000000"/>
        </a:solidFill>
        <a:latin typeface="Noto Sans"/>
        <a:ea typeface="Noto Sans CJK JP"/>
        <a:cs typeface="Noto Sans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590">
          <p15:clr>
            <a:srgbClr val="747775"/>
          </p15:clr>
        </p15:guide>
        <p15:guide id="2" pos="1271">
          <p15:clr>
            <a:srgbClr val="747775"/>
          </p15:clr>
        </p15:guide>
        <p15:guide id="3" orient="horz" pos="1584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E77B4"/>
    <a:srgbClr val="7A81FF"/>
    <a:srgbClr val="0096FF"/>
    <a:srgbClr val="011893"/>
    <a:srgbClr val="B13731"/>
    <a:srgbClr val="EF8600"/>
    <a:srgbClr val="FFCD8C"/>
    <a:srgbClr val="0036FF"/>
    <a:srgbClr val="00D989"/>
    <a:srgbClr val="01D8A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FD8A3C8B-3693-4FF3-BE57-18EF887A9C23}">
  <a:tblStyle styleId="{FD8A3C8B-3693-4FF3-BE57-18EF887A9C23}" styleName="Table_0">
    <a:wholeTbl>
      <a:tcTxStyle>
        <a:font>
          <a:latin typeface="Noto Sans"/>
          <a:ea typeface="Noto Sans CJK JP"/>
          <a:cs typeface="Noto Sans"/>
        </a:font>
        <a:srgbClr val="000000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15240" cap="flat">
              <a:solidFill>
                <a:srgbClr val="626669"/>
              </a:solidFill>
              <a:prstDash val="solid"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>
          <a:bottom>
            <a:ln w="15240" cap="flat">
              <a:solidFill>
                <a:srgbClr val="626669"/>
              </a:solidFill>
              <a:prstDash val="solid"/>
            </a:ln>
          </a:bottom>
        </a:tcBdr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>
          <a:top>
            <a:ln w="15240" cap="flat">
              <a:solidFill>
                <a:srgbClr val="626669"/>
              </a:solidFill>
              <a:prstDash val="solid"/>
            </a:ln>
          </a:top>
          <a:bottom>
            <a:ln w="7620" cap="flat">
              <a:solidFill>
                <a:srgbClr val="626669"/>
              </a:solidFill>
              <a:prstDash val="solid"/>
            </a:ln>
          </a:bottom>
        </a:tcBdr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82"/>
    <p:restoredTop sz="87828"/>
  </p:normalViewPr>
  <p:slideViewPr>
    <p:cSldViewPr snapToGrid="0">
      <p:cViewPr varScale="1">
        <p:scale>
          <a:sx n="169" d="100"/>
          <a:sy n="169" d="100"/>
        </p:scale>
        <p:origin x="520" y="192"/>
      </p:cViewPr>
      <p:guideLst>
        <p:guide orient="horz" pos="590"/>
        <p:guide pos="1271"/>
        <p:guide orient="horz" pos="1584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9.xml"/><Relationship Id="rId3" Type="http://schemas.openxmlformats.org/officeDocument/2006/relationships/slide" Target="slides/slide8.xml"/><Relationship Id="rId4" Type="http://schemas.openxmlformats.org/officeDocument/2006/relationships/slide" Target="slides/slide7.xml"/><Relationship Id="rId5" Type="http://schemas.openxmlformats.org/officeDocument/2006/relationships/slide" Target="slides/slide6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slide" Target="slides/slide28.xml"/><Relationship Id="rId34" Type="http://schemas.openxmlformats.org/officeDocument/2006/relationships/slide" Target="slides/slide29.xml"/><Relationship Id="rId35" Type="http://schemas.openxmlformats.org/officeDocument/2006/relationships/slide" Target="slides/slide30.xml"/><Relationship Id="rId36" Type="http://schemas.openxmlformats.org/officeDocument/2006/relationships/slide" Target="slides/slide31.xml"/><Relationship Id="rId37" Type="http://schemas.openxmlformats.org/officeDocument/2006/relationships/slide" Target="slides/slide32.xml"/><Relationship Id="rId38" Type="http://schemas.openxmlformats.org/officeDocument/2006/relationships/slide" Target="slides/slide33.xml"/><Relationship Id="rId39" Type="http://schemas.openxmlformats.org/officeDocument/2006/relationships/slide" Target="slides/slide34.xml"/><Relationship Id="rId40" Type="http://schemas.openxmlformats.org/officeDocument/2006/relationships/slide" Target="slides/slide35.xml"/><Relationship Id="rId41" Type="http://schemas.openxmlformats.org/officeDocument/2006/relationships/slide" Target="slides/slide36.xml"/><Relationship Id="rId42" Type="http://schemas.openxmlformats.org/officeDocument/2006/relationships/slide" Target="slides/slide37.xml"/><Relationship Id="rId43" Type="http://schemas.openxmlformats.org/officeDocument/2006/relationships/slide" Target="slides/slide38.xml"/><Relationship Id="rId44" Type="http://schemas.openxmlformats.org/officeDocument/2006/relationships/slide" Target="slides/slide39.xml"/><Relationship Id="rId45" Type="http://schemas.openxmlformats.org/officeDocument/2006/relationships/slide" Target="slides/slide40.xml"/><Relationship Id="rId46" Type="http://schemas.openxmlformats.org/officeDocument/2006/relationships/slide" Target="slides/slide41.xml"/><Relationship Id="rId47" Type="http://schemas.openxmlformats.org/officeDocument/2006/relationships/slide" Target="slides/slide42.xml"/><Relationship Id="rId48" Type="http://schemas.openxmlformats.org/officeDocument/2006/relationships/slide" Target="slides/slide43.xml"/><Relationship Id="rId49" Type="http://schemas.openxmlformats.org/officeDocument/2006/relationships/slide" Target="slides/slide44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style val="1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問題数</c:v>
                </c:pt>
              </c:strCache>
            </c:strRef>
          </c:tx>
          <c:spPr>
            <a:solidFill>
              <a:srgbClr val="2C9100"/>
            </a:solidFill>
            <a:ln>
              <a:noFill/>
            </a:ln>
          </c:spPr>
          <c:cat>
            <c:strRef>
              <c:f>Sheet1!$A$2:$A$6</c:f>
              <c:strCache>
                <c:ptCount val="5"/>
                <c:pt idx="0">
                  <c:v>binding</c:v>
                </c:pt>
                <c:pt idx="1">
                  <c:v>npi licensing</c:v>
                </c:pt>
                <c:pt idx="2">
                  <c:v>determiner noun agreement</c:v>
                </c:pt>
                <c:pt idx="3">
                  <c:v>island effects</c:v>
                </c:pt>
                <c:pt idx="4">
                  <c:v>argument structure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7000</c:v>
                </c:pt>
                <c:pt idx="1">
                  <c:v>7000</c:v>
                </c:pt>
                <c:pt idx="2">
                  <c:v>8000</c:v>
                </c:pt>
                <c:pt idx="3">
                  <c:v>8000</c:v>
                </c:pt>
                <c:pt idx="4">
                  <c:v>9000</c:v>
                </c:pt>
              </c:numCache>
            </c:numRef>
          </c:val>
        </c:ser>
        <c:dLbls>
          <c:txPr>
            <a:bodyPr/>
            <a:lstStyle/>
            <a:p>
              <a:pPr>
                <a:defRPr sz="1500">
                  <a:latin typeface="Noto Sans CJK JP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60"/>
        <c:axId val="2226939960"/>
        <c:axId val="2180972856"/>
      </c:barChart>
      <c:catAx>
        <c:axId val="2226939960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180972856"/>
        <c:crosses val="autoZero"/>
        <c:auto val="1"/>
        <c:lblAlgn val="ctr"/>
        <c:lblOffset val="100"/>
        <c:tickLblSkip val="1"/>
        <c:noMultiLvlLbl val="0"/>
      </c:catAx>
      <c:valAx>
        <c:axId val="2180972856"/>
        <c:scaling>
          <c:min val="0.0"/>
        </c:scaling>
        <c:delete val="0"/>
        <c:axPos val="b"/>
        <c:majorGridlines>
          <c:spPr>
            <a:ln>
              <a:solidFill>
                <a:srgbClr val="DADDD7"/>
              </a:solidFill>
            </a:ln>
          </c:spPr>
        </c:majorGridlines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300">
                <a:latin typeface="Noto Sans CJK JP"/>
              </a:defRPr>
            </a:pPr>
          </a:p>
        </c:txPr>
        <c:crossAx val="2226939960"/>
        <c:crosses val="autoZero"/>
      </c:valAx>
      <c:spPr>
        <a:solidFill>
          <a:srgbClr val="FFFEF8"/>
        </a:solidFill>
        <a:ln>
          <a:noFill/>
        </a:ln>
      </c:spPr>
    </c:plotArea>
    <c:dispBlanksAs val="gap"/>
  </c:chart>
  <c:spPr>
    <a:solidFill>
      <a:srgbClr val="FFFEF8"/>
    </a:solidFill>
    <a:ln>
      <a:noFill/>
    </a:ln>
  </c:spPr>
  <c:txPr>
    <a:bodyPr/>
    <a:lstStyle/>
    <a:p>
      <a:pPr>
        <a:defRPr sz="1400">
          <a:latin typeface="Noto Sans CJK JP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12471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52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2pPr>
            <a:lvl3pPr lvl="2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3pPr>
            <a:lvl4pPr lvl="3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4pPr>
            <a:lvl5pPr lvl="4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5pPr>
            <a:lvl6pPr lvl="5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6pPr>
            <a:lvl7pPr lvl="6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7pPr>
            <a:lvl8pPr lvl="7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8pPr>
            <a:lvl9pPr lvl="8" algn="ctr">
              <a:spcBef>
                <a:spcPts val="0"/>
              </a:spcBef>
              <a:spcAft>
                <a:spcPts val="0"/>
              </a:spcAft>
              <a:buNone/>
              <a:defRPr sz="5200"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3657600"/>
            <a:ext cx="8520600" cy="36576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2800" lang="ja-JP">
                <a:latin typeface="Noto Sans"/>
                <a:ea typeface="Noto Sans CJK JP"/>
                <a:cs typeface="Noto Sans"/>
              </a:defRPr>
            </a:lvl9pPr>
          </a:lstStyle>
          <a:p>
            <a:pPr>
              <a:defRPr sz="2200" lang="ja-JP">
                <a:latin typeface="Noto Sans"/>
                <a:ea typeface="Noto Sans CJK JP"/>
                <a:cs typeface="Noto Sans"/>
              </a:defRPr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" name="Google Shape;22;p5">
            <a:extLst>
              <a:ext uri="{FF2B5EF4-FFF2-40B4-BE49-F238E27FC236}">
                <a16:creationId xmlns:a16="http://schemas.microsoft.com/office/drawing/2014/main" id="{97A17C7E-5073-6B99-C91A-19299DA839DE}"/>
              </a:ext>
            </a:extLst>
          </p:cNvPr>
          <p:cNvSpPr/>
          <p:nvPr userDrawn="1"/>
        </p:nvSpPr>
        <p:spPr>
          <a:xfrm>
            <a:off x="8607898" y="-10450"/>
            <a:ext cx="548701" cy="4797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Slide Number">
            <a:extLst>
              <a:ext uri="{FF2B5EF4-FFF2-40B4-BE49-F238E27FC236}">
                <a16:creationId xmlns:a16="http://schemas.microsoft.com/office/drawing/2014/main" id="{2BE9CD3C-2632-D40F-DBD2-47ACED4F9A3C}"/>
              </a:ext>
            </a:extLst>
          </p:cNvPr>
          <p:cNvSpPr txBox="1"/>
          <p:nvPr userDrawn="1"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pPr algn="ctr"/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110" name="Author affiliation"/>
          <p:cNvSpPr txBox="1">
            <a:spLocks noGrp="1"/>
          </p:cNvSpPr>
          <p:nvPr>
            <p:ph type="body" idx="10"/>
          </p:nvPr>
        </p:nvSpPr>
        <p:spPr>
          <a:xfrm>
            <a:off x="5486400" y="4224528"/>
            <a:ext cx="310896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所属　［所属］</a:t>
            </a:r>
          </a:p>
        </p:txBody>
      </p:sp>
      <p:sp>
        <p:nvSpPr>
          <p:cNvPr id="111" name="Author name"/>
          <p:cNvSpPr txBox="1"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20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氏名　［氏名］</a:t>
            </a:r>
          </a:p>
        </p:txBody>
      </p:sp>
      <p:sp>
        <p:nvSpPr>
          <p:cNvPr id="112" name="Creation date"/>
          <p:cNvSpPr txBox="1">
            <a:spLocks noGrp="1"/>
          </p:cNvSpPr>
          <p:nvPr>
            <p:ph type="body" idx="12"/>
          </p:nvPr>
        </p:nvSpPr>
        <p:spPr>
          <a:xfrm>
            <a:off x="457200" y="274320"/>
            <a:ext cx="3657600" cy="228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0" lang="ja-JP">
                <a:solidFill>
                  <a:srgbClr val="626669"/>
                </a:solidFill>
                <a:latin typeface="Noto Sans"/>
                <a:ea typeface="Noto Sans CJK JP"/>
                <a:cs typeface="Noto Sans"/>
              </a:defRPr>
            </a:pPr>
            <a:r>
              <a:t>作成日　YYYY-MM-DD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カスタム レイアウト 1">
  <p:cSld name="CUSTOM">
    <p:spTree>
      <p:nvGrpSpPr>
        <p:cNvPr id="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11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5" name="Google Shape;75;p11"/>
          <p:cNvSpPr txBox="1"/>
          <p:nvPr/>
        </p:nvSpPr>
        <p:spPr>
          <a:xfrm>
            <a:off x="76100" y="0"/>
            <a:ext cx="805950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sz="1400" b="1" lang="ja-JP" altLang="en-US">
                <a:latin typeface="Noto Sans"/>
                <a:ea typeface="Noto Sans CJK JP"/>
                <a:cs typeface="Noto Sans"/>
              </a:defRPr>
            </a:pP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T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able of </a:t>
            </a:r>
            <a:r>
              <a:rPr lang="ja-JP" altLang="en-US" b="1" dirty="0" sz="1400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C</a:t>
            </a:r>
            <a:r>
              <a:rPr lang="ja-JP" b="1" dirty="0" sz="1400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ontents</a:t>
            </a:r>
            <a:endParaRPr b="1" dirty="0" lang="ja-JP" sz="1400" altLang="en-US">
              <a:solidFill>
                <a:schemeClr val="lt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6" name="Google Shape;76;p11"/>
          <p:cNvSpPr txBox="1"/>
          <p:nvPr/>
        </p:nvSpPr>
        <p:spPr>
          <a:xfrm>
            <a:off x="1236712" y="842226"/>
            <a:ext cx="5764979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1.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Background &amp; Purpose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79" name="Google Shape;79;p11"/>
          <p:cNvSpPr txBox="1"/>
          <p:nvPr/>
        </p:nvSpPr>
        <p:spPr>
          <a:xfrm>
            <a:off x="1236712" y="1664913"/>
            <a:ext cx="5412281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2.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Methodology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2" name="Google Shape;82;p11"/>
          <p:cNvSpPr txBox="1"/>
          <p:nvPr/>
        </p:nvSpPr>
        <p:spPr>
          <a:xfrm>
            <a:off x="1236712" y="2487598"/>
            <a:ext cx="6688590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3.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Classification Framework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5" name="Google Shape;85;p11"/>
          <p:cNvSpPr txBox="1"/>
          <p:nvPr userDrawn="1"/>
        </p:nvSpPr>
        <p:spPr>
          <a:xfrm>
            <a:off x="1236712" y="3310287"/>
            <a:ext cx="5020396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4.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Results &amp; Analysis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7" name="Google Shape;87;p11"/>
          <p:cNvSpPr txBox="1"/>
          <p:nvPr/>
        </p:nvSpPr>
        <p:spPr>
          <a:xfrm>
            <a:off x="1929203" y="3891800"/>
            <a:ext cx="5996100" cy="43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sz="1900" dirty="0" lang="ja-JP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88" name="Google Shape;88;p11"/>
          <p:cNvSpPr txBox="1"/>
          <p:nvPr/>
        </p:nvSpPr>
        <p:spPr>
          <a:xfrm>
            <a:off x="1236712" y="4132975"/>
            <a:ext cx="6196053" cy="5939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Noto Sans CJK JP"/>
              <a:buNone/>
              <a:tabLst/>
              <a:defRPr lang="ja-JP">
                <a:latin typeface="Noto Sans"/>
                <a:ea typeface="Noto Sans CJK JP"/>
                <a:cs typeface="Noto Sans"/>
              </a:defRPr>
            </a:pPr>
            <a:r>
              <a:rPr lang="ja-JP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5.</a:t>
            </a:r>
            <a:r>
              <a:rPr lang="ja-JP" altLang="ja" sz="2800" b="1" dirty="0">
                <a:solidFill>
                  <a:schemeClr val="accent2"/>
                </a:solidFill>
                <a:latin typeface="Noto Sans"/>
                <a:ea typeface="Noto Sans CJK JP"/>
                <a:cs typeface="Noto Sans"/>
              </a:rPr>
              <a:t> </a:t>
            </a:r>
            <a:r>
              <a:rPr lang="ja-JP" altLang="ja" sz="2800" b="1" dirty="0">
                <a:solidFill>
                  <a:schemeClr val="dk1"/>
                </a:solidFill>
                <a:latin typeface="Noto Sans"/>
                <a:ea typeface="Noto Sans CJK JP"/>
                <a:cs typeface="Noto Sans"/>
              </a:rPr>
              <a:t>Conclusions and future work</a:t>
            </a:r>
            <a:endParaRPr lang="ja-JP" altLang="ja-JP" sz="2800" b="1" dirty="0">
              <a:solidFill>
                <a:schemeClr val="dk1"/>
              </a:solidFill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normal">
  <p:cSld name="ONE_COLUMN_TEXT_1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5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4" name="Google Shape;24;p5"/>
          <p:cNvSpPr txBox="1">
            <a:spLocks noGrp="1"/>
          </p:cNvSpPr>
          <p:nvPr>
            <p:ph type="title"/>
          </p:nvPr>
        </p:nvSpPr>
        <p:spPr>
          <a:xfrm>
            <a:off x="468600" y="748150"/>
            <a:ext cx="83946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5" name="Google Shape;25;p5"/>
          <p:cNvSpPr txBox="1">
            <a:spLocks noGrp="1"/>
          </p:cNvSpPr>
          <p:nvPr>
            <p:ph type="body" idx="1"/>
          </p:nvPr>
        </p:nvSpPr>
        <p:spPr>
          <a:xfrm>
            <a:off x="589650" y="1474850"/>
            <a:ext cx="7964700" cy="3458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26" name="Google Shape;26;p5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0481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 dirty="0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タイトルのみ">
  <p:cSld name="ONE_COLUMN_TEXT_1_4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6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0" name="Google Shape;30;p6"/>
          <p:cNvSpPr txBox="1">
            <a:spLocks noGrp="1"/>
          </p:cNvSpPr>
          <p:nvPr>
            <p:ph type="title"/>
          </p:nvPr>
        </p:nvSpPr>
        <p:spPr>
          <a:xfrm>
            <a:off x="468600" y="649825"/>
            <a:ext cx="8206800" cy="616200"/>
          </a:xfrm>
          <a:prstGeom prst="rect">
            <a:avLst/>
          </a:prstGeom>
        </p:spPr>
        <p:txBody>
          <a:bodyPr spcFirstLastPara="1" wrap="none" lIns="91425" tIns="91425" rIns="91425" bIns="91425" anchor="t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000" b="1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1" name="Google Shape;31;p6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ransition" type="secHead">
  <p:cSld name="ONE_COLUMN_TEXT_1_4_1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7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35" name="Google Shape;35;p7"/>
          <p:cNvSpPr txBox="1">
            <a:spLocks noGrp="1"/>
          </p:cNvSpPr>
          <p:nvPr>
            <p:ph type="title"/>
          </p:nvPr>
        </p:nvSpPr>
        <p:spPr>
          <a:xfrm>
            <a:off x="548640" y="2414016"/>
            <a:ext cx="8046720" cy="822960"/>
          </a:xfrm>
          <a:prstGeom prst="rect">
            <a:avLst/>
          </a:prstGeom>
        </p:spPr>
        <p:txBody>
          <a:bodyPr spcFirstLastPara="1" wrap="none" lIns="0" tIns="0" rIns="0" bIns="0" anchor="ctr" anchorCtr="0">
            <a:norm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3600" b="1" lang="ja-JP" altLang="en-US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None/>
              <a:defRPr lang="ja-JP" sz="36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 algn="ctr">
              <a:lnSpc>
                <a:spcPct val="110000"/>
              </a:lnSpc>
              <a:defRPr sz="3600" b="1" lang="ja-JP" altLang="en-US">
                <a:latin typeface="Noto Sans"/>
                <a:ea typeface="Noto Sans CJK JP"/>
                <a:cs typeface="Noto Sans"/>
              </a:defRPr>
            </a:pPr>
            <a:endParaRPr lang="ja-JP" sz="36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36" name="Google Shape;36;p7"/>
          <p:cNvSpPr txBox="1">
            <a:spLocks noGrp="1"/>
          </p:cNvSpPr>
          <p:nvPr>
            <p:ph type="title" idx="2"/>
          </p:nvPr>
        </p:nvSpPr>
        <p:spPr>
          <a:xfrm>
            <a:off x="76100" y="0"/>
            <a:ext cx="81153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本文のみ">
  <p:cSld name="ONE_COLUMN_TEXT_1_3"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8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0" name="Google Shape;40;p8"/>
          <p:cNvSpPr txBox="1">
            <a:spLocks noGrp="1"/>
          </p:cNvSpPr>
          <p:nvPr>
            <p:ph type="body" idx="1"/>
          </p:nvPr>
        </p:nvSpPr>
        <p:spPr>
          <a:xfrm>
            <a:off x="589650" y="1185250"/>
            <a:ext cx="7964700" cy="3272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1" name="Google Shape;41;p8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0595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ヘッダーのみ">
  <p:cSld name="ONE_COLUMN_TEXT_1_1">
    <p:spTree>
      <p:nvGrpSpPr>
        <p:cNvPr id="1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9"/>
          <p:cNvSpPr/>
          <p:nvPr/>
        </p:nvSpPr>
        <p:spPr>
          <a:xfrm>
            <a:off x="-12600" y="0"/>
            <a:ext cx="91692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spcFirstLastPara="1" wrap="square" lIns="91425" tIns="0" rIns="91425" bIns="0" anchor="ctr" anchorCtr="0">
            <a:noAutofit/>
          </a:bodyPr>
          <a:lstStyle/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45" name="Google Shape;45;p9"/>
          <p:cNvSpPr txBox="1">
            <a:spLocks noGrp="1"/>
          </p:cNvSpPr>
          <p:nvPr>
            <p:ph type="title"/>
          </p:nvPr>
        </p:nvSpPr>
        <p:spPr>
          <a:xfrm>
            <a:off x="76100" y="0"/>
            <a:ext cx="8148900" cy="480059"/>
          </a:xfrm>
          <a:prstGeom prst="rect">
            <a:avLst/>
          </a:prstGeom>
          <a:ln>
            <a:noFill/>
          </a:ln>
        </p:spPr>
        <p:txBody>
          <a:bodyPr spcFirstLastPara="1" wrap="square" lIns="91425" tIns="0" rIns="91425" bIns="0" anchor="ctr" anchorCtr="0">
            <a:norm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1400" b="1" lang="ja-JP" altLang="en-US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lang="ja-JP" sz="1400" b="1" altLang="en-US">
                <a:latin typeface="Noto Sans"/>
                <a:ea typeface="Noto Sans CJK JP"/>
                <a:cs typeface="Noto Sans"/>
              </a:defRPr>
            </a:lvl9pPr>
          </a:lstStyle>
          <a:p>
            <a:pPr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400" b="1" lang="ja-JP" altLang="en-US">
                <a:latin typeface="Noto Sans"/>
                <a:ea typeface="Noto Sans CJK JP"/>
                <a:cs typeface="Noto Sans"/>
              </a:defRPr>
            </a:pPr>
            <a:endParaRPr dirty="0" lang="ja-JP" sz="1400" b="1" altLang="en-US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AND_EXPLAN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band"/>
          <p:cNvSpPr txBox="1"/>
          <p:nvPr userDrawn="1"/>
        </p:nvSpPr>
        <p:spPr>
          <a:xfrm>
            <a:off x="0" y="0"/>
            <a:ext cx="9144000" cy="480059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wrap="square" anchor="ctr" tIns="0" bIns="0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4" name="Chart Placeholder"/>
          <p:cNvSpPr txBox="1">
            <a:spLocks noGrp="1"/>
          </p:cNvSpPr>
          <p:nvPr>
            <p:ph idx="1"/>
          </p:nvPr>
        </p:nvSpPr>
        <p:spPr>
          <a:xfrm>
            <a:off x="456520" y="1250000"/>
            <a:ext cx="5715000" cy="3000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wrap="square"/>
          <a:lstStyle/>
          <a:p>
            <a:r>
              <a:rPr lang="ja-JP" sz="1800" b="0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Insert chart</a:t>
            </a:r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5" name="Explanation Placeholder"/>
          <p:cNvSpPr txBox="1">
            <a:spLocks noGrp="1"/>
          </p:cNvSpPr>
          <p:nvPr>
            <p:ph type="body" idx="2"/>
          </p:nvPr>
        </p:nvSpPr>
        <p:spPr>
          <a:xfrm>
            <a:off x="6295292" y="1550000"/>
            <a:ext cx="2500000" cy="240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6" name="Supporting Text Placeholder"/>
          <p:cNvSpPr txBox="1">
            <a:spLocks noGrp="1"/>
          </p:cNvSpPr>
          <p:nvPr>
            <p:ph type="body" idx="3"/>
          </p:nvPr>
        </p:nvSpPr>
        <p:spPr>
          <a:xfrm>
            <a:off x="500000" y="4650000"/>
            <a:ext cx="8144000" cy="260000"/>
          </a:xfrm>
          <a:prstGeom prst="rect">
            <a:avLst/>
          </a:prstGeom>
          <a:noFill/>
          <a:ln>
            <a:noFill/>
          </a:ln>
        </p:spPr>
        <p:txBody>
          <a:bodyPr wrap="square" lIns="91425" rIns="91425" tIns="91425" bIns="91425"/>
          <a:lstStyle>
            <a:lvl1pPr marL="457200" lvl="0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1pPr>
            <a:lvl2pPr marL="914400" lvl="1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2pPr>
            <a:lvl3pPr marL="1371600" lvl="2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3pPr>
            <a:lvl4pPr marL="1828800" lvl="3" indent="-3683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0455"/>
              <a:buFont typeface="Noto Sans CJK JP"/>
              <a:buChar char="●"/>
              <a:defRPr sz="22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4pPr>
            <a:lvl5pPr marL="2286000" lvl="4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5pPr>
            <a:lvl6pPr marL="2743200" lvl="5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6pPr>
            <a:lvl7pPr marL="3200400" lvl="6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●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7pPr>
            <a:lvl8pPr marL="3657600" lvl="7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8pPr>
            <a:lvl9pPr marL="4114800" lvl="8" indent="-355600">
              <a:spcBef>
                <a:spcPts val="0"/>
              </a:spcBef>
              <a:spcAft>
                <a:spcPts val="0"/>
              </a:spcAft>
              <a:buClr>
                <a:srgbClr val="303437"/>
              </a:buClr>
              <a:buSzPct val="66500"/>
              <a:buFont typeface="Noto Sans CJK JP"/>
              <a:buChar char="○"/>
              <a:defRPr sz="2000" lang="ja-JP">
                <a:solidFill>
                  <a:srgbClr val="303437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 dirty="0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lt1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  <p:sp>
        <p:nvSpPr>
          <p:cNvPr id="9" name="タイトル 8">
            <a:extLst>
              <a:ext uri="{FF2B5EF4-FFF2-40B4-BE49-F238E27FC236}">
                <a16:creationId xmlns:a16="http://schemas.microsoft.com/office/drawing/2014/main" id="{25C0E310-B322-8587-531C-0E2F5BB13C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kumimoji="1" lang="ja-JP" altLang="en-US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ページ番号のみ 1">
  <p:cSld name="ONE_COLUMN_TEXT_1_2_1"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13"/>
          <p:cNvSpPr txBox="1">
            <a:spLocks noGrp="1"/>
          </p:cNvSpPr>
          <p:nvPr>
            <p:ph type="title"/>
          </p:nvPr>
        </p:nvSpPr>
        <p:spPr>
          <a:xfrm>
            <a:off x="5796650" y="4091225"/>
            <a:ext cx="3347400" cy="1052400"/>
          </a:xfrm>
          <a:prstGeom prst="rect">
            <a:avLst/>
          </a:prstGeom>
          <a:solidFill>
            <a:schemeClr val="accent2"/>
          </a:solidFill>
        </p:spPr>
        <p:txBody>
          <a:bodyPr spcFirstLastPara="1" wrap="square" lIns="126000" tIns="126000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None/>
              <a:defRPr sz="3200" b="1" lang="ja-JP">
                <a:solidFill>
                  <a:schemeClr val="lt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dirty="0"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999" name="Slide Number"/>
          <p:cNvSpPr txBox="1"/>
          <p:nvPr/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anchor="ctr" lIns="0" tIns="0" bIns="0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fld id="{00000000-1234-1234-1234-000000000999}" type="slidenum">
              <a:rPr lang="ja-JP" sz="1800" b="1">
                <a:solidFill>
                  <a:schemeClr val="dk2"/>
                </a:solidFill>
                <a:latin typeface="Noto Sans"/>
                <a:ea typeface="Noto Sans CJK JP"/>
                <a:cs typeface="Noto Sans"/>
              </a:rPr>
              <a:t>‹#›</a:t>
            </a:fld>
            <a:endParaRPr lang="ja-JP" sz="1800" b="1">
              <a:latin typeface="Noto Sans"/>
              <a:ea typeface="Noto Sans CJK JP"/>
              <a:cs typeface="Noto Sans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None/>
              <a:defRPr sz="2800" lang="ja-JP">
                <a:solidFill>
                  <a:schemeClr val="dk1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203200" lvl="0" indent="-152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73889"/>
              <a:buFont typeface="Noto Sans CJK JP"/>
              <a:buChar char="●"/>
              <a:defRPr sz="18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marL="482600" lvl="1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marL="762000" lvl="2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marL="1041400" lvl="3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marL="1320800" lvl="4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marL="1600200" lvl="5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marL="1879600" lvl="6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marL="2159000" lvl="7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marL="2438400" lvl="8" indent="-127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ct val="66500"/>
              <a:buFont typeface="Noto Sans CJK JP"/>
              <a:buChar char="○"/>
              <a:defRPr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endParaRPr lang="ja-JP">
              <a:latin typeface="Noto Sans"/>
              <a:ea typeface="Noto Sans CJK JP"/>
              <a:cs typeface="Noto Sans"/>
            </a:endParaRPr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12480" y="7937"/>
            <a:ext cx="640080" cy="4800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bIns="0" anchor="ctr" anchorCtr="0">
            <a:normAutofit/>
          </a:bodyPr>
          <a:lstStyle>
            <a:lvl1pPr lvl="0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1pPr>
            <a:lvl2pPr lvl="1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2pPr>
            <a:lvl3pPr lvl="2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3pPr>
            <a:lvl4pPr lvl="3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4pPr>
            <a:lvl5pPr lvl="4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5pPr>
            <a:lvl6pPr lvl="5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6pPr>
            <a:lvl7pPr lvl="6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7pPr>
            <a:lvl8pPr lvl="7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8pPr>
            <a:lvl9pPr lvl="8" algn="r">
              <a:buNone/>
              <a:defRPr sz="1000" lang="ja-JP">
                <a:solidFill>
                  <a:schemeClr val="dk2"/>
                </a:solidFill>
                <a:latin typeface="Noto Sans"/>
                <a:ea typeface="Noto Sans CJK JP"/>
                <a:cs typeface="Noto Sans"/>
              </a:defRPr>
            </a:lvl9pPr>
          </a:lstStyle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ja-JP">
                <a:latin typeface="Noto Sans"/>
                <a:ea typeface="Noto Sans CJK JP"/>
                <a:cs typeface="Noto Sans"/>
              </a:rPr>
              <a:t>‹#›</a:t>
            </a:fld>
            <a:endParaRPr lang="ja-JP">
              <a:latin typeface="Noto Sans"/>
              <a:ea typeface="Noto Sans CJK JP"/>
              <a:cs typeface="Noto Sans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57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8" r:id="rId8"/>
    <p:sldLayoutId id="214748365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titleStyle>
    <p:bodyStyle>
      <a:lvl1pPr marL="457200" lvl="0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1pPr>
      <a:lvl2pPr marL="914400" lvl="1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2pPr>
      <a:lvl3pPr marL="1371600" lvl="2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3pPr>
      <a:lvl4pPr marL="1828800" lvl="3" indent="-368300">
        <a:spcBef>
          <a:spcPts val="0"/>
        </a:spcBef>
        <a:spcAft>
          <a:spcPts val="0"/>
        </a:spcAft>
        <a:buClr>
          <a:srgbClr val="303437"/>
        </a:buClr>
        <a:buSzPct val="60455"/>
        <a:buFont typeface="Noto Sans CJK JP"/>
        <a:buChar char="●"/>
        <a:defRPr sz="2200" lang="ja-JP">
          <a:solidFill>
            <a:srgbClr val="303437"/>
          </a:solidFill>
          <a:latin typeface="Noto Sans"/>
          <a:ea typeface="Noto Sans CJK JP"/>
          <a:cs typeface="Noto Sans"/>
        </a:defRPr>
      </a:lvl4pPr>
      <a:lvl5pPr marL="2286000" lvl="4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5pPr>
      <a:lvl6pPr marL="2743200" lvl="5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6pPr>
      <a:lvl7pPr marL="3200400" lvl="6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●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7pPr>
      <a:lvl8pPr marL="3657600" lvl="7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8pPr>
      <a:lvl9pPr marL="4114800" lvl="8" indent="-355600">
        <a:spcBef>
          <a:spcPts val="0"/>
        </a:spcBef>
        <a:spcAft>
          <a:spcPts val="0"/>
        </a:spcAft>
        <a:buClr>
          <a:srgbClr val="303437"/>
        </a:buClr>
        <a:buSzPct val="66500"/>
        <a:buFont typeface="Noto Sans CJK JP"/>
        <a:buChar char="○"/>
        <a:defRPr sz="2000" lang="ja-JP">
          <a:solidFill>
            <a:srgbClr val="303437"/>
          </a:solidFill>
          <a:latin typeface="Noto Sans"/>
          <a:ea typeface="Noto Sans CJK JP"/>
          <a:cs typeface="Noto Sans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chemeClr val="dk1"/>
        </a:buClr>
        <a:buFont typeface="Noto Sans CJK JP"/>
        <a:defRPr sz="1400" b="0" i="0" u="none" strike="noStrike" cap="none" lang="ja-JP">
          <a:solidFill>
            <a:schemeClr val="dk1"/>
          </a:solidFill>
          <a:latin typeface="Noto Sans"/>
          <a:ea typeface="Noto Sans CJK JP"/>
          <a:cs typeface="Noto Sans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hyperlink" Target="https://github.com/alexwarstadt/blimp" TargetMode="Externa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Relationship Id="rId3" Type="http://schemas.openxmlformats.org/officeDocument/2006/relationships/hyperlink" Target="https://huggingface.co/datasets/nyu-mll/blimp" TargetMode="Externa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hyperlink" Target="https://huggingface.co/datasets/nyu-mll/blimp" TargetMode="Externa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storage.googleapis.com/crfm-helm-public/classic/benchmark_output/releases/v0.4.0/run_specs.json" TargetMode="Externa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crfm.stanford.edu/helm/classic/v0.4.0/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EleutherAI/lm-evaluation-harness" TargetMode="Externa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github.com/alexwarstadt/blimp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aclanthology.org/2020.tacl-1.25/" TargetMode="Externa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clanthology.org/2020.tacl-1.25/" TargetMode="Externa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arxiv.org/abs/2211.09110" TargetMode="Externa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hyperlink" Target="https://huggingface.co/datasets/nyu-mll/blimp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48640" y="1463002"/>
            <a:ext cx="8046720" cy="902970"/>
          </a:xfrm>
        </p:spPr>
        <p:txBody>
          <a:bodyPr wrap="square" lIns="0" rIns="0" tIns="0" bIns="0">
            <a:noAutofit/>
          </a:bodyPr>
          <a:lstStyle/>
          <a:p>
            <a:pPr algn="ctr">
              <a:lnSpc>
                <a:spcPct val="110000"/>
              </a:lnSpc>
              <a:buNone/>
              <a:defRPr sz="5400" b="0">
                <a:solidFill>
                  <a:srgbClr val="303437"/>
                </a:solidFill>
                <a:latin typeface="Noto Sans"/>
              </a:defRPr>
            </a:pPr>
            <a:r>
              <a:rPr sz="54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548640" y="2472652"/>
            <a:ext cx="8046720" cy="1339215"/>
          </a:xfrm>
        </p:spPr>
        <p:txBody>
          <a:bodyPr lIns="0" rIns="0" tIns="0" bIns="0">
            <a:noAutofit/>
          </a:bodyPr>
          <a:lstStyle/>
          <a:p>
            <a:pPr algn="ctr">
              <a:lnSpc>
                <a:spcPct val="125000"/>
              </a:lnSpc>
              <a:spcAft>
                <a:spcPts val="1200"/>
              </a:spcAft>
              <a:buNone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Benchmark of Linguistic Minimal Pairs
for English</a:t>
            </a:r>
          </a:p>
          <a:p>
            <a:pPr algn="ctr">
              <a:lnSpc>
                <a:spcPct val="125000"/>
              </a:lnSpc>
              <a:spcAft>
                <a:spcPts val="0"/>
              </a:spcAft>
              <a:buNone/>
              <a:defRPr sz="2500" b="0">
                <a:solidFill>
                  <a:srgbClr val="303437"/>
                </a:solidFill>
                <a:latin typeface="Noto Sans"/>
              </a:defRPr>
            </a:pPr>
            <a:r>
              <a:rPr sz="25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文の最小対から、英語の文法知識を測る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1"/>
          </p:nvPr>
        </p:nvSpPr>
        <p:spPr>
          <a:xfrm>
            <a:off x="5486400" y="4416552"/>
            <a:ext cx="3108960" cy="402336"/>
          </a:xfrm>
        </p:spPr>
        <p:txBody>
          <a:bodyPr wrap="square" lIns="0" rIns="0" tIns="0" bIns="0">
            <a:noAutofit/>
          </a:bodyPr>
          <a:lstStyle/>
          <a:p>
            <a:pPr algn="r">
              <a:lnSpc>
                <a:spcPct val="110000"/>
              </a:lnSpc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sasakiy84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2"/>
          </p:nvPr>
        </p:nvSpPr>
        <p:spPr>
          <a:xfrm>
            <a:off x="457200" y="274320"/>
            <a:ext cx="8229600" cy="274320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1000" b="0">
                <a:solidFill>
                  <a:srgbClr val="303437"/>
                </a:solidFill>
                <a:latin typeface="Noto Sans"/>
              </a:defRPr>
            </a:pPr>
            <a:r>
              <a:rPr sz="10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datasets in 10 minutes (2026-10-18)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BLiMPの公開ページ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pic>
        <p:nvPicPr>
          <p:cNvPr id="4" name="Picture 3" descr="official-sit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6467" y="1481328"/>
            <a:ext cx="4411065" cy="3063240"/>
          </a:xfrm>
          <a:prstGeom prst="rect">
            <a:avLst/>
          </a:prstGeom>
        </p:spPr>
      </p:pic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https://github.com/alexwarstadt/blimp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663901"/>
            <a:ext cx="7863840" cy="2362199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4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目次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課題と実際のデータ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似た二つの文で、文法上の違いを検出する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文法的に許容される文と、特定の文法規則に違反する文を対にした英語の評価集合である。1対を1問として扱う。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生成に使った67種類のパターンごとに1,000対、合計67,000対を収録する。翻訳では英語の文法的な違いが消えるため、意味の訳と違反箇所の説明を添える。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入力・出力と配布フィールド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31162"/>
        </p:xfrm>
        <a:graphic>
          <a:graphicData uri="http://schemas.openxmlformats.org/drawingml/2006/table">
            <a:tbl>
              <a:tblPr firstRow="0" bandRow="0"/>
              <a:tblGrid>
                <a:gridCol w="2834640"/>
                <a:gridCol w="52120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フィールド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意味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6692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sentence_good / sentence_bad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許容文と非許容文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UID / pair_id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生成パターンと、その中の対の番号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linguistics_term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85"/>
                        </a:lnSpc>
                        <a:buNone/>
                        <a:defRPr sz="19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9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対象とする言語学上の現象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実例1：再帰代名詞の性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Susan hid herself.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Susan hid itself.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許容文の意味：スーザンは自分自身を隠した。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対立点：herselfを、スーザンと一致しないitselfへ変えている。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anaphor_gender_agreement / pair_id 604。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実例2：再帰代名詞の数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Jodi left herself.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Jodi left themselves.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許容文の意味：ジョディは自分自身を置いていった。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対立点：この生成設定ではJodiを単数・女性として扱い、herselfとthemselvesの数の対応を対比する。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anaphor_number_agreement / pair_id 60。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実例3：指示詞と名詞の数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1. 課題と実際のデータ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Becky hid that face.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Becky hid that faces.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許容文の意味：ベッキーはあの顔を隠した。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対立点：単数のthatに、複数形facesを続けた不一致。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determiner_noun_agreement_1 / pair_id 579。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作成方法とデータの構成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作成の背景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言語モデルの文章予測性能が高くても、主語と動詞の一致や、疑問詞と空所の関係を理解しているかは別に調べる必要があった。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語彙や構造の違いを小さくした対を多数作り、どの文法現象を見分けられるかを測る。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収集と品質の確認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言語学者が作成した文法テンプレートと、3,000語以上の語彙を組み合わせて文の対を生成した。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67パターンから各5対を抽出し、各対を20人が検証した。個々の判断と、多数決によるラベル一致を分けて報告している。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分割と件数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916557"/>
        </p:xfrm>
        <a:graphic>
          <a:graphicData uri="http://schemas.openxmlformats.org/drawingml/2006/table">
            <a:tbl>
              <a:tblPr firstRow="0" bandRow="0"/>
              <a:tblGrid>
                <a:gridCol w="2560320"/>
                <a:gridCol w="1645920"/>
                <a:gridCol w="384048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集合・対象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件数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役割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67パターン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各1,000対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合計67,000対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公式の用途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評価集合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各文の確率を比較する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654685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公開ミラーの分割名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train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配布上の名称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187952"/>
            <a:ext cx="8183879" cy="8778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</a:rPr>
              <a:t>[1] nyu-mll/blimp、改訂877fba08。2026-10-18参照。</a:t>
            </a:r>
          </a:p>
          <a:p>
            <a:pPr>
              <a:lnSpc>
                <a:spcPts val="1200"/>
              </a:lnSpc>
              <a:spcBef>
                <a:spcPts val="0"/>
              </a:spcBef>
              <a:spcAft>
                <a:spcPts val="0"/>
              </a:spcAft>
            </a:pPr>
            <a:r>
              <a:rPr sz="810">
                <a:solidFill>
                  <a:srgbClr val="666666"/>
                </a:solidFill>
                <a:latin typeface="Noto Sans"/>
                <a:ea typeface="Noto Sans CJK JP"/>
                <a:hlinkClick r:id="rId3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文法現象ごとの対の数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2. 作成方法とデータの構成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548640" y="1481328"/>
          <a:ext cx="8046720" cy="24688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4096512"/>
            <a:ext cx="7955279" cy="42062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216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全67,000対。12大分類のうち件数上位5。s-selectionは項構造に統合。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3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採点方法とモデルの成績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何を1件として、どう採点するか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許容文の確率が非許容文の確率より高ければ正解とする。10対中8対で高ければ、正解率は80%。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全文の確率を比べる基本方式のほか、共通の前半に続く部分だけを比べる方式もある。HELMの表では全文を別々に採点する。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初期の代表的な評価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103120"/>
        </p:xfrm>
        <a:graphic>
          <a:graphicData uri="http://schemas.openxmlformats.org/drawingml/2006/table">
            <a:tbl>
              <a:tblPr firstRow="0" bandRow="0"/>
              <a:tblGrid>
                <a:gridCol w="5303520"/>
                <a:gridCol w="274320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2020年の評価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全体の正解率（%）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5-gram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60.5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LSTM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68.9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GPT-2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80.1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人の直接判断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88.6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3813048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論文Table 3の強制二択。多数決ラベルの一致率96.4%とは別の量。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HELMでの評価条件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HELMはbinding、irregular_forms、island_effects、quantifiersの4現象を評価した。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表はbindingからのtest 1,000対。提示例0件、1試行、multiple_choice_separate_originalで文全体の尤度を比較する。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Stanford CRFM. HELM Classic v0.4.0. 公開run_specs。2023-11-17のリリース。</a:t>
            </a:r>
          </a:p>
          <a:p>
            <a:pPr>
              <a:lnSpc>
                <a:spcPts val="940"/>
              </a:lnSpc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https://storage.googleapis.com/crfm-helm-public/classic/benchmark_output/releases/v0.4.0/run_specs.json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HELM Classic v0.4.0の結果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3. 採点方法とモデルの成績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1261872"/>
        </p:xfrm>
        <a:graphic>
          <a:graphicData uri="http://schemas.openxmlformats.org/drawingml/2006/table">
            <a:tbl>
              <a:tblPr firstRow="0" bandRow="0"/>
              <a:tblGrid>
                <a:gridCol w="4206240"/>
                <a:gridCol w="1920240"/>
                <a:gridCol w="1920240"/>
              </a:tblGrid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モデル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正解率（%）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試行数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text-davinci-003（2022）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82.40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42062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Anthropic v4-s3（2022）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82.50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127"/>
                        </a:lnSpc>
                        <a:buNone/>
                        <a:defRPr sz="185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5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1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94360" y="2971800"/>
            <a:ext cx="7955279" cy="6583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750" b="0">
                <a:solidFill>
                  <a:srgbClr val="303437"/>
                </a:solidFill>
                <a:latin typeface="Noto Sans"/>
              </a:defRPr>
            </a:pPr>
            <a:r>
              <a:rPr sz="17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bindingのtest 1,000対、提示例0件、1試行。</a:t>
            </a:r>
          </a:p>
        </p:txBody>
      </p:sp>
      <p:sp>
        <p:nvSpPr>
          <p:cNvPr id="6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Liang et al. Holistic Evaluation of Language Models. TMLR 2023. Classic v0.4.0（2023-11-17）。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https://crfm.stanford.edu/helm/classic/v0.4.0/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利用の変化と入手方法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文法現象ごとの診断に利用される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大規模モデルの総合評価とは別に、英語のどの文法現象で失敗するかを比較できる。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2026-10-18時点のEvaluation HarnessにもBLiMPのパターン別定義がある。パターンの平均から、12の大分類へまとめた評価を読める。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EleutherAI. Language Model Evaluation Harness. 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https://github.com/EleutherAI/lm-evaluation-harness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入手方法と利用条件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公式GitHubは、JSONL形式の文の対と生成に関する情報を公開している。各ファイルが一つのパターンに対応する。</a:t>
            </a:r>
          </a:p>
          <a:p>
            <a:pPr marL="457200" indent="-355600">
              <a:lnSpc>
                <a:spcPts val="2558"/>
              </a:lnSpc>
              <a:spcAft>
                <a:spcPts val="70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本資料はnyu-mll/blimpの固定改訂を用い、全67,000対を取得・集計した。</a:t>
            </a:r>
          </a:p>
          <a:p>
            <a:pPr marL="457200" indent="-355600">
              <a:lnSpc>
                <a:spcPts val="2558"/>
              </a:lnSpc>
              <a:spcAft>
                <a:spcPts val="0"/>
              </a:spcAft>
              <a:buSzPct val="61860"/>
              <a:buFont typeface="Noto Sans CJK JP"/>
              <a:buChar char="●"/>
              <a:defRPr sz="2150" b="0">
                <a:solidFill>
                  <a:srgbClr val="303437"/>
                </a:solidFill>
                <a:latin typeface="Noto Sans"/>
              </a:defRPr>
            </a:pPr>
            <a:r>
              <a:rPr sz="21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データカードはCC BY 4.0を掲げ、出典の表示を求めている。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 公式公開ページ。2026-10-18参照。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https://github.com/alexwarstadt/blimp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BLiMPの要点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67パターンの最小対により、英語の文法現象ごとの知識を調べる。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日本語訳だけでは一致や語順の違反が見えにくい。英語の対と、変化した語・構造を対応させると課題が分かる。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4. 利用の変化と入手方法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454355"/>
            <a:ext cx="8046720" cy="64617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4000" b="0">
                <a:solidFill>
                  <a:srgbClr val="303437"/>
                </a:solidFill>
                <a:latin typeface="Noto Sans"/>
              </a:defRPr>
            </a:pPr>
            <a:r>
              <a:rPr sz="4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/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40080" y="1972511"/>
            <a:ext cx="7863840" cy="1744980"/>
          </a:xfrm>
        </p:spPr>
        <p:txBody>
          <a:bodyPr lIns="0" rIns="0" tIns="0" bIns="0">
            <a:noAutofit/>
          </a:bodyPr>
          <a:lstStyle/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1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  <a:p>
            <a:pPr marL="457200" indent="-457200">
              <a:lnSpc>
                <a:spcPts val="3660"/>
              </a:lnSpc>
              <a:spcAft>
                <a:spcPts val="1200"/>
              </a:spcAft>
              <a:buSzPct val="100000"/>
              <a:buFont typeface="Noto Sans CJK JP"/>
              <a:buAutoNum type="arabicPeriod" startAt="2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  <a:p>
            <a:pPr marL="457200" indent="-457200">
              <a:lnSpc>
                <a:spcPts val="3660"/>
              </a:lnSpc>
              <a:spcAft>
                <a:spcPts val="0"/>
              </a:spcAft>
              <a:buSzPct val="100000"/>
              <a:buFont typeface="Noto Sans CJK JP"/>
              <a:buAutoNum type="arabicPeriod" startAt="3"/>
              <a:defRPr sz="3000" b="1">
                <a:solidFill>
                  <a:srgbClr val="303437"/>
                </a:solidFill>
                <a:latin typeface="Noto Sans"/>
              </a:defRPr>
            </a:pPr>
            <a:r>
              <a:rPr sz="3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目次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題材の異なる追加例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追加例1：主語と動詞の一致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 sees Tanya.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Ann see Tanya.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許容文の意味：アンはターニャを見る。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対立点：三人称単数の主語Annに対し、seesから-sを除いている。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regular_plural_subject_verb_agreement_1 / pair_id 915。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追加例2：過去分詞と過去形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taken pie is bad.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 took pie is bad.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許容文の意味：取られたパイはまずい。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対立点：名詞を修飾する過去分詞takenを、過去形tookへ変えている。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irregular_past_participle_adjectives / pair_id 833。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追加例3：否定極性表現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Chad can not ever nod.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Chad can probably ever nod.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許容文の意味：チャドは決してうなずくことができない。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対立点：否定のnotをprobablyへ置き換えると、否定極性表現everを認可できない。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sentential_negation_npi_licensor_present / pair_id 235。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追加例4：疑問詞と空所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Tiffany sees a cafe that hurts Lori.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Tiffany sees who a cafe hurts Lori.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許容文の意味：ティファニーは、ローリを傷つけるカフェを見る。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対立点：that節の主語に当たる空所と、whoの位置の対応を崩している。意味が奇妙な文も含む。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wh_questions_subject_gap / pair_id 373。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追加例5：存在構文と量化詞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a cake baking.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There is every cake baking.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6140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許容文の意味：ケーキが1個、焼かれている。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対立点：存在構文there isに続くa cakeを、every cakeへ変えている。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existential_there_quantifiers_1 / pair_id 469。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追加例6：再帰代名詞の局所性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Joel says that Beth helps him.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Joel says that Beth helps himself.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許容文の意味：ジョエルは、ベスが彼を助けると言っている。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対立点：埋め込み節の主語Bethと一致しないhimselfを置き、再帰代名詞の局所性に違反する。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principle_A_domain_1 / pair_id 906。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追加例7：複合名詞句の島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would a bird that found Marla find?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Who would Marla find a bird that found?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許容文の意味：マーラを見つけた鳥は、誰を見つけるだろうか。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対立点：複合名詞句の内部から疑問詞を取り出す、島の制約への違反を対比する。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complex_NP_island / pair_id 662。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追加例8：名詞句の省略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Diana has one rough car and the lady has three.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Diana has one car and the lady has three rough.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許容文の意味：ダイアナはごつごつした車を1台持ち、その女性は3台持っている。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対立点：名詞を省略したthreeの後に、形容詞roughだけを続けている。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ellipsis_n_bar_1 / pair_id 74。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追加例9：動詞の項構造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許容文と非許容文／左：原文　右：日本語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3858768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Guy hides.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Guy sees.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90872" y="1673352"/>
            <a:ext cx="3858768" cy="117322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許容文の意味：ガイは隠れる。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対立点：生成テンプレートではhideを自動詞、seeを目的語が必要な他動詞として扱っている。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inchoative / pair_id 998。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追加例10：使役と自他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1. 題材の異なる追加例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583680" y="1271016"/>
            <a:ext cx="196596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50" b="0">
                <a:solidFill>
                  <a:srgbClr val="303437"/>
                </a:solidFill>
                <a:latin typeface="Noto Sans"/>
              </a:defRPr>
            </a:pPr>
            <a:r>
              <a:rPr sz="1250" b="1" lang="ja-JP" altLang="en-US">
                <a:solidFill>
                  <a:srgbClr val="2C9100"/>
                </a:solidFill>
                <a:latin typeface="Noto Sans"/>
                <a:ea typeface="Noto Sans CJK JP"/>
                <a:cs typeface="Noto Sans"/>
              </a:rPr>
              <a:t>正解：上の文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99032"/>
            <a:ext cx="8046720" cy="201168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  <a:buNone/>
              <a:defRPr sz="1200" b="0">
                <a:solidFill>
                  <a:srgbClr val="303437"/>
                </a:solidFill>
                <a:latin typeface="Noto Sans"/>
              </a:defRPr>
            </a:pPr>
            <a:r>
              <a:rPr sz="120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許容文と非許容文／原文と日本語</a:t>
            </a:r>
          </a:p>
        </p:txBody>
      </p:sp>
      <p:sp>
        <p:nvSpPr>
          <p:cNvPr id="6" name="quote-frame"/>
          <p:cNvSpPr/>
          <p:nvPr/>
        </p:nvSpPr>
        <p:spPr>
          <a:xfrm>
            <a:off x="548640" y="1655064"/>
            <a:ext cx="8046720" cy="813181"/>
          </a:xfrm>
          <a:prstGeom prst="rect">
            <a:avLst/>
          </a:prstGeom>
          <a:solidFill>
            <a:srgbClr val="EBED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 wrap="square" lIns="177800" rIns="177800" tIns="101600" bIns="127000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Jason stretched Sara.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Jason fell Sara.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2523109"/>
            <a:ext cx="7955279" cy="89363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許容文の意味：ジェイソンはサラの体を伸ばした。</a:t>
            </a:r>
          </a:p>
          <a:p>
            <a:pPr algn="l">
              <a:lnSpc>
                <a:spcPts val="2201"/>
              </a:lnSpc>
              <a:spcBef>
                <a:spcPts val="0"/>
              </a:spcBef>
              <a:spcAft>
                <a:spcPts val="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対立点：他動詞として使えるstretchedを、この使役用法を取れないfellへ変えている。</a:t>
            </a:r>
          </a:p>
        </p:txBody>
      </p:sp>
      <p:sp>
        <p:nvSpPr>
          <p:cNvPr id="8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nyu-mll/blimp、改訂877fba08。2026-10-18参照。 causative / pair_id 223。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集計と評価条件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12大分類の全体像（1/2）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anaphor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argument structure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9,000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binding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control raising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5,000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determiner noun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ellipsis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12大分類の全体像（2/2）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2. 集計と評価条件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48640" y="1508760"/>
          <a:ext cx="8046720" cy="2640330"/>
        </p:xfrm>
        <a:graphic>
          <a:graphicData uri="http://schemas.openxmlformats.org/drawingml/2006/table">
            <a:tbl>
              <a:tblPr firstRow="0" bandRow="0"/>
              <a:tblGrid>
                <a:gridCol w="5943600"/>
                <a:gridCol w="2103120"/>
              </a:tblGrid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現象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対の数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15240">
                      <a:solidFill>
                        <a:srgbClr val="626669"/>
                      </a:solidFill>
                      <a:prstDash val="solid"/>
                    </a:lnT>
                    <a:lnB w="762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filler gap dependency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solidFill>
                        <a:srgbClr val="626669"/>
                      </a:solidFill>
                      <a:prstDash val="solid"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irregular forms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2,000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island effects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8,000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npi licensing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7,000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quantifiers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4,000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7620">
                      <a:noFill/>
                    </a:lnB>
                    <a:solidFill>
                      <a:srgbClr val="FFFEF8"/>
                    </a:solidFill>
                  </a:tcPr>
                </a:tc>
              </a:tr>
              <a:tr h="377190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subject verb agreement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r">
                        <a:lnSpc>
                          <a:spcPts val="2070"/>
                        </a:lnSpc>
                        <a:buNone/>
                        <a:defRPr sz="1800" b="0">
                          <a:solidFill>
                            <a:srgbClr val="303437"/>
                          </a:solidFill>
                          <a:latin typeface="Noto Sans"/>
                        </a:defRPr>
                      </a:pPr>
                      <a:r>
                        <a:rPr sz="1800" b="0" lang="ja-JP" altLang="en-US">
                          <a:solidFill>
                            <a:srgbClr val="303437"/>
                          </a:solidFill>
                          <a:latin typeface="Noto Sans"/>
                          <a:ea typeface="Noto Sans CJK JP"/>
                          <a:cs typeface="Noto Sans"/>
                        </a:rPr>
                        <a:t>6,000</a:t>
                      </a:r>
                    </a:p>
                  </a:txBody>
                  <a:tcPr marL="63500" marR="63500" marT="38100" marB="38100" anchor="ctr">
                    <a:lnL w="7620">
                      <a:noFill/>
                    </a:lnL>
                    <a:lnR w="7620">
                      <a:noFill/>
                    </a:lnR>
                    <a:lnT w="7620">
                      <a:noFill/>
                    </a:lnT>
                    <a:lnB w="15240">
                      <a:solidFill>
                        <a:srgbClr val="626669"/>
                      </a:solidFill>
                      <a:prstDash val="solid"/>
                    </a:lnB>
                    <a:solidFill>
                      <a:srgbClr val="FFFEF8"/>
                    </a:solidFill>
                  </a:tcPr>
                </a:tc>
              </a:tr>
            </a:tbl>
          </a:graphicData>
        </a:graphic>
      </p:graphicFrame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BLiMP、67 configurations/train全67,000件を集計。2026-10-18取得。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48640" y="2506875"/>
            <a:ext cx="8046720" cy="585216"/>
          </a:xfrm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10000"/>
              </a:lnSpc>
              <a:buNone/>
              <a:defRPr sz="3600" b="0">
                <a:solidFill>
                  <a:srgbClr val="303437"/>
                </a:solidFill>
                <a:latin typeface="Noto Sans"/>
              </a:defRPr>
            </a:pPr>
            <a:r>
              <a:rPr sz="36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研究と参考文献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研究者と発表の位置付け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594360" y="1463040"/>
            <a:ext cx="7955279" cy="3044952"/>
          </a:xfrm>
        </p:spPr>
        <p:txBody>
          <a:bodyPr wrap="square" tIns="91440" bIns="91440">
            <a:noAutofit/>
          </a:bodyPr>
          <a:lstStyle/>
          <a:p>
            <a:pPr marL="457200" indent="-355600">
              <a:lnSpc>
                <a:spcPts val="2618"/>
              </a:lnSpc>
              <a:spcAft>
                <a:spcPts val="70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第一著者Alex Warstadt、最終著者Samuel R. Bowmanら、New York Universityの7名による研究。</a:t>
            </a:r>
          </a:p>
          <a:p>
            <a:pPr marL="457200" indent="-355600">
              <a:lnSpc>
                <a:spcPts val="2618"/>
              </a:lnSpc>
              <a:spcAft>
                <a:spcPts val="0"/>
              </a:spcAft>
              <a:buSzPct val="60455"/>
              <a:buFont typeface="Noto Sans CJK JP"/>
              <a:buChar char="●"/>
              <a:defRPr sz="2200" b="0">
                <a:solidFill>
                  <a:srgbClr val="303437"/>
                </a:solidFill>
                <a:latin typeface="Noto Sans"/>
              </a:defRPr>
            </a:pPr>
            <a:r>
              <a:rPr sz="220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言語学と自然言語処理の観点を合わせ、TACL 2020で67パターンの最小対を報告した。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5" name="sources"/>
          <p:cNvSpPr txBox="1"/>
          <p:nvPr/>
        </p:nvSpPr>
        <p:spPr>
          <a:xfrm>
            <a:off x="502920" y="4700016"/>
            <a:ext cx="8183879" cy="53035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ts val="940"/>
              </a:lnSpc>
              <a:spcBef>
                <a:spcPts val="0"/>
              </a:spcBef>
              <a:spcAft>
                <a:spcPts val="140"/>
              </a:spcAft>
              <a:buNone/>
              <a:defRPr sz="810" b="0">
                <a:solidFill>
                  <a:srgbClr val="303437"/>
                </a:solidFill>
                <a:latin typeface="Noto Sans"/>
              </a:defRPr>
            </a:pP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[1] Alex Warstadt et al. (2020). BLiMP: The Benchmark of Linguistic Minimal Pairs for English. TACL 8, 2020.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  </a:t>
            </a:r>
            <a:r>
              <a:rPr sz="81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MP: The Benchmark of Linguistic Minimal Pairs for English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BLiMP: The Benchmark of Linguistic Minimal Pairs for English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Alex Warstadt, Alicia Parrish, Haokun Liu, Anhad Mohananey, Wei Peng, Sheng-Fu Wang, Samuel R. Bowman / TACL 8, 2020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BLiMPの目的、作成方法、評価をまとめた研究。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https://aclanthology.org/2020.tacl-1.25/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Holistic Evaluation of Language Models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Holistic Evaluation of Language Models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Percy Liang et al. / TMLR 2023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複数のシナリオと指標で、言語モデルを比較するHELMの研究。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https://arxiv.org/abs/2211.09110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8172" y="650138"/>
            <a:ext cx="8206740" cy="616305"/>
          </a:xfrm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0000"/>
              </a:lnSpc>
              <a:buNone/>
              <a:defRPr sz="2800" b="0">
                <a:solidFill>
                  <a:srgbClr val="303437"/>
                </a:solidFill>
                <a:latin typeface="Noto Sans"/>
              </a:defRPr>
            </a:pPr>
            <a:r>
              <a:rPr sz="28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参考文献</a:t>
            </a:r>
          </a:p>
        </p:txBody>
      </p:sp>
      <p:sp>
        <p:nvSpPr>
          <p:cNvPr id="3" name="Title 2"/>
          <p:cNvSpPr>
            <a:spLocks noGrp="1"/>
          </p:cNvSpPr>
          <p:nvPr>
            <p:ph type="title" idx="2"/>
          </p:nvPr>
        </p:nvSpPr>
        <p:spPr>
          <a:xfrm>
            <a:off x="75895" y="0"/>
            <a:ext cx="8115300" cy="480060"/>
          </a:xfrm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10000"/>
              </a:lnSpc>
              <a:buNone/>
              <a:defRPr sz="1400" b="0">
                <a:solidFill>
                  <a:srgbClr val="303437"/>
                </a:solidFill>
                <a:latin typeface="Noto Sans"/>
              </a:defRPr>
            </a:pPr>
            <a:r>
              <a:rPr sz="1400" b="1" lang="ja-JP" altLang="en-US">
                <a:solidFill>
                  <a:srgbClr val="FFFEF8"/>
                </a:solidFill>
                <a:latin typeface="Noto Sans"/>
                <a:ea typeface="Noto Sans CJK JP"/>
                <a:cs typeface="Noto Sans"/>
              </a:rPr>
              <a:t>Appendix: 3. 研究と参考文献</a:t>
            </a:r>
          </a:p>
        </p:txBody>
      </p:sp>
      <p:sp>
        <p:nvSpPr>
          <p:cNvPr id="4" name="文献 1: BLiMP：公開データ"/>
          <p:cNvSpPr txBox="1"/>
          <p:nvPr/>
        </p:nvSpPr>
        <p:spPr>
          <a:xfrm>
            <a:off x="548640" y="1463040"/>
            <a:ext cx="8046720" cy="3200400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2000" b="0">
                <a:solidFill>
                  <a:srgbClr val="303437"/>
                </a:solidFill>
                <a:latin typeface="Noto Sans"/>
              </a:defRPr>
            </a:pPr>
            <a:r>
              <a:rPr sz="2000" b="1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BLiMP：公開データ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500"/>
              </a:spcAft>
              <a:buNone/>
              <a:defRPr sz="1350" b="0">
                <a:solidFill>
                  <a:srgbClr val="303437"/>
                </a:solidFill>
                <a:latin typeface="Noto Sans"/>
              </a:defRPr>
            </a:pPr>
            <a:r>
              <a:rPr sz="13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</a:rPr>
              <a:t>nyu-mll/blimp / 改訂877fba08 / 2026-10-18参照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400"/>
              </a:spcAft>
              <a:buNone/>
              <a:defRPr sz="1850" b="0">
                <a:solidFill>
                  <a:srgbClr val="303437"/>
                </a:solidFill>
                <a:latin typeface="Noto Sans"/>
              </a:defRPr>
            </a:pPr>
            <a:r>
              <a:rPr sz="1850" b="0" lang="ja-JP" altLang="en-US">
                <a:solidFill>
                  <a:srgbClr val="303437"/>
                </a:solidFill>
                <a:latin typeface="Noto Sans"/>
                <a:ea typeface="Noto Sans CJK JP"/>
                <a:cs typeface="Noto Sans"/>
              </a:rPr>
              <a:t>原文・正解の13例と、対象集合の全件集計に用いた公開資源。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None/>
              <a:defRPr sz="1150" b="0">
                <a:solidFill>
                  <a:srgbClr val="303437"/>
                </a:solidFill>
                <a:latin typeface="Noto Sans"/>
              </a:defRPr>
            </a:pPr>
            <a:r>
              <a:rPr sz="1150" b="0" lang="ja-JP" altLang="en-US">
                <a:solidFill>
                  <a:srgbClr val="626669"/>
                </a:solidFill>
                <a:latin typeface="Noto Sans"/>
                <a:ea typeface="Noto Sans CJK JP"/>
                <a:cs typeface="Noto Sans"/>
                <a:hlinkClick r:id="rId2"/>
              </a:rPr>
              <a:t>https://huggingface.co/datasets/nyu-mll/blimp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IARTEM Research Palette">
      <a:dk1>
        <a:srgbClr val="303437"/>
      </a:dk1>
      <a:lt1>
        <a:srgbClr val="FFFEF8"/>
      </a:lt1>
      <a:dk2>
        <a:srgbClr val="626669"/>
      </a:dk2>
      <a:lt2>
        <a:srgbClr val="EBEDEB"/>
      </a:lt2>
      <a:accent1>
        <a:srgbClr val="B13731"/>
      </a:accent1>
      <a:accent2>
        <a:srgbClr val="2C9100"/>
      </a:accent2>
      <a:accent3>
        <a:srgbClr val="2166AC"/>
      </a:accent3>
      <a:accent4>
        <a:srgbClr val="B84A00"/>
      </a:accent4>
      <a:accent5>
        <a:srgbClr val="007C91"/>
      </a:accent5>
      <a:accent6>
        <a:srgbClr val="763DA0"/>
      </a:accent6>
      <a:hlink>
        <a:srgbClr val="3F6F8F"/>
      </a:hlink>
      <a:folHlink>
        <a:srgbClr val="7A5C8E"/>
      </a:folHlink>
    </a:clrScheme>
    <a:fontScheme name="Office">
      <a:maj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Noto Sans"/>
        <a:ea typeface="Noto Sans CJK JP"/>
        <a:cs typeface="Noto Sans"/>
        <a:font script="Jpan" typeface="Noto Sans CJK JP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webextensions/_rels/taskpanes.xml.rels><?xml version='1.0' encoding='UTF-8' standalone='yes'?>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3EA7E97F-3A5A-9342-98CB-7411DADE8916}">
  <we:reference id="wa200010215" version="2.0.0.0" store="ja-JP" storeType="OMEX"/>
  <we:alternateReferences>
    <we:reference id="WA200010215" version="2.0.0.0" store="WA200010215" storeType="OMEX"/>
  </we:alternateReferences>
  <we:properties>
    <we:property name="bps.codex_control.document_id" value="&quot;f3f6bd8f-7a20-4dbe-a71e-f9942711a911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13685</TotalTime>
  <Words>14</Words>
  <Application>Microsoft Macintosh PowerPoint</Application>
  <PresentationFormat>画面に合わせる (16:9)</PresentationFormat>
  <Paragraphs>3</Paragraphs>
  <Slides>8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1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8</vt:i4>
      </vt:variant>
    </vt:vector>
  </HeadingPairs>
  <TitlesOfParts>
    <vt:vector size="10" baseType="lpstr">
      <vt:lpstr>Arial</vt:lpstr>
      <vt:lpstr>Simple Light</vt:lpstr>
      <vt:lpstr>Developing and Applying a Systematic Classification Framework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Bottom-right caption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sasakiy84</cp:lastModifiedBy>
  <cp:revision>500</cp:revision>
  <dcterms:modified xsi:type="dcterms:W3CDTF">2026-10-18T00:20:15Z</dcterms:modified>
  <dc:title>blimp</dc:title>
  <dc:creator>sasakiy84</dc:creator>
  <dcterms:created xsi:type="dcterms:W3CDTF">2026-10-18T00:20:15Z</dcterms:created>
  <dc:language>ja-JP</dc:language>
</cp:coreProperties>
</file>