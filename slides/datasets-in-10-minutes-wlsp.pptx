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レコード数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その他の類</c:v>
                </c:pt>
                <c:pt idx="1">
                  <c:v>相の類</c:v>
                </c:pt>
                <c:pt idx="2">
                  <c:v>用の類</c:v>
                </c:pt>
                <c:pt idx="3">
                  <c:v>体の類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906</c:v>
                </c:pt>
                <c:pt idx="1">
                  <c:v>9388</c:v>
                </c:pt>
                <c:pt idx="2">
                  <c:v>23762</c:v>
                </c:pt>
                <c:pt idx="3">
                  <c:v>67011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  <c:majorUnit val="20000.0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clrd.ninjal.ac.jp/goihyo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/blob/master/kaisetsu.tx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/blob/master/kaisetsu.tx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goihyo.html" TargetMode="External"/><Relationship Id="rId3" Type="http://schemas.openxmlformats.org/officeDocument/2006/relationships/hyperlink" Target="https://github.com/masayu-a/WLSP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2.ninjal.ac.jp/past-publications/publication/catalogue/bunruigoihyo_2ed/" TargetMode="External"/><Relationship Id="rId3" Type="http://schemas.openxmlformats.org/officeDocument/2006/relationships/hyperlink" Target="https://github.com/masayu-a/WLSP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/blob/master/kaisetsu.tx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/blob/master/kaisetsu.tx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/blob/master/kaisetsu.tx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/blob/master/kaisetsu.txt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/blob/master/kaisetsu.txt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2unidic" TargetMode="External"/><Relationship Id="rId3" Type="http://schemas.openxmlformats.org/officeDocument/2006/relationships/hyperlink" Target="https://github.com/masayu-a/WLSP-familiarity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masayu-a/WLSP" TargetMode="External"/><Relationship Id="rId3" Type="http://schemas.openxmlformats.org/officeDocument/2006/relationships/hyperlink" Target="https://creativecommons.org/licenses/by-nc-sa/3.0/deed.ja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masayu-a/WLSP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github.com/masayu-a/WLSP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masayu-a/wlsp2unidic" TargetMode="External"/><Relationship Id="rId3" Type="http://schemas.openxmlformats.org/officeDocument/2006/relationships/hyperlink" Target="https://github.com/masayu-a/WLSP-familiarity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goihyo.html" TargetMode="External"/><Relationship Id="rId3" Type="http://schemas.openxmlformats.org/officeDocument/2006/relationships/hyperlink" Target="https://github.com/masayu-a/WLSP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/blob/master/kaisetsu.txt" TargetMode="External"/><Relationship Id="rId3" Type="http://schemas.openxmlformats.org/officeDocument/2006/relationships/hyperlink" Target="https://github.com/masayu-a/wlsp2unidic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asayu-a/WLSP-familiarity" TargetMode="External"/><Relationship Id="rId3" Type="http://schemas.openxmlformats.org/officeDocument/2006/relationships/hyperlink" Target="https://creativecommons.org/licenses/by-nc-sa/3.0/deed.j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463002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WLSP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472652"/>
            <a:ext cx="8046720" cy="14027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Word List by Semantic Principles
分類語彙表増補改訂版データベース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日本語の語を意味で分類したシソーラス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分類語彙表－増補改訂版データベース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はじめに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64" y="1481328"/>
            <a:ext cx="4579070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分類語彙表－増補改訂版データベース.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https://clrd.ninjal.ac.jp/goihyo.html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語を意味から探す</a:t>
            </a:r>
          </a:p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分類体系とデータの成り立ち</a:t>
            </a:r>
          </a:p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CSVの構造を読む</a:t>
            </a:r>
          </a:p>
          <a:p>
            <a:pPr marL="457200" indent="-457200" algn="l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検索・接続・利用条件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語を意味から探す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語を意味から探す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「国語」の近くに、どんな語が並ぶか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語を意味から探す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6217920" cy="2251075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2103120"/>
                <a:gridCol w="182880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国語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1.3101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母語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1.3101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第一言語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1.3101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第二言語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1.3101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8785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同じ意味領域の語を、共通の分類番号でまとめている。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「国語」は、意味の階層をたどれる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語を意味から探す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5852160" cy="252603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310896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分類の段階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国語の分類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体の類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部門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活動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1.3101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分類語彙表データベース解説. 2004.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https://github.com/masayu-a/WLSP/blob/master/kaisetsu.txt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同じ「手」でも、意味ごとに分類する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語を意味から探す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498080" cy="1684020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3200400"/>
                <a:gridCol w="201168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手（て）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手足・指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1.5603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手（て）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1.3081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手（て）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書き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1.3151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2079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「手」の分類の一部。身体の部位、方法、書き方などが別の項目に入る。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「上がる」と「下がる」は同じ意味領域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語を意味から探す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3015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4114800"/>
                <a:gridCol w="201168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上がる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上がり・下がり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2.1540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下がる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上がり・下がり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2.1540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9979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上下の移動を表す語が、2.1540「上がり・下がり」に集まる。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意味分類の入口は、四つの「類」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語を意味から探す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498080" cy="2105025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1828800"/>
                <a:gridCol w="347472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番号の先頭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実データの例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体の類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国語・手・桜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用の類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走る・見る・上がる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相の類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甘い・美しい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その他の類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及び・もしもし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分類語彙表データベース解説. 2004.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https://github.com/masayu-a/WLSP/blob/master/kaisetsu.txt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22115"/>
            <a:ext cx="8412480" cy="59131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400" b="0">
                <a:solidFill>
                  <a:srgbClr val="303437"/>
                </a:solidFill>
                <a:latin typeface="Noto Sans"/>
              </a:defRPr>
            </a:pPr>
            <a:r>
              <a:rPr sz="3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分類体系とデータの成り立ち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分類体系とデータの成り立ち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1964年の書籍から、電子データへ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分類体系とデータの成り立ち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680960" cy="1684020"/>
        </p:xfrm>
        <a:graphic>
          <a:graphicData uri="http://schemas.openxmlformats.org/drawingml/2006/table">
            <a:tbl>
              <a:tblPr firstRow="0" bandRow="0"/>
              <a:tblGrid>
                <a:gridCol w="1280160"/>
                <a:gridCol w="640080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公開されたもの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1964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書籍『分類語彙表』初版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書籍の増補改訂版と、データベースの配布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データベースv1.0.1の公開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分類語彙表－増補改訂版データベース.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https://clrd.ninjal.ac.jp/goihyo.html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書籍の増補から、データベース化へ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1964年の初版から時間がたち、現代語とのずれや、コンピューター処理への応用に対応する必要が高まった。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2004年の増補改訂版は、新語・複合語・サ変動詞・慣用句などを中心に語を増やし、分類の枠組みも見直した。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その元データを加工したCSVを使うと、語の分類や読みをプログラムで取り出せる。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分類体系とデータの成り立ち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46989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分類語彙表－増補改訂版. 大日本図書. 2004.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https://www2.ninjal.ac.jp/past-publications/publication/catalogue/bunruigoihyo_2ed/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公開データは、約10万レコード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分類体系とデータの成り立ち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5852160" cy="1859280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2743200"/>
              </a:tblGrid>
              <a:tr h="4648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見る単位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規模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48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収録レコード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約10万件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48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895種類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48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49605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masayu-a/WLSPのv1.0.1。レコードには併記から分けた行と区切りも含む。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「体の類」は、五つの部門に分かれる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分類体系とデータの成り立ち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498080" cy="2438400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52120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部門の略称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意味の大きなまとまり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関係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抽象的関係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人間活動の主体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活動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人間活動－精神および行為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生産物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生産物および用具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自然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自然物および自然現象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分類語彙表データベース解説. 2004.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https://github.com/masayu-a/WLSP/blob/master/kaisetsu.txt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分類番号1.3101は、階層を表す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分類体系とデータの成り立ち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6675120" cy="2251075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420624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番号の部分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対応する分類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類：体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部門：活動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1.31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中項目：言語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1.3101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分類項目：言語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8785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分類番号は、小数として計算する数値ではなく、分類を示す識別子。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分類語彙表データベース解説. 2004.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https://github.com/masayu-a/WLSP/blob/master/kaisetsu.txt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分類項目の中にも、語のまとまりがある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分類体系とデータの成り立ち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3015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1371600"/>
                <a:gridCol w="557784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段落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小段落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実データの語句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国語・母語・第一言語・第二言語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外国語・外語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9979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同じ1.3101「言語」の一部。段落・小段落は検索に使う便宜的な語群。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分類語彙表データベース解説. 2004.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https://github.com/masayu-a/WLSP/blob/master/kaisetsu.txt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CSVの構造を読む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CSVの構造を読む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ヘッダなしの15列CSVで配布される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CSVの構造を読む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58975"/>
        </p:xfrm>
        <a:graphic>
          <a:graphicData uri="http://schemas.openxmlformats.org/drawingml/2006/table">
            <a:tbl>
              <a:tblPr firstRow="0" bandRow="0"/>
              <a:tblGrid>
                <a:gridCol w="1005840"/>
                <a:gridCol w="2651760"/>
                <a:gridCol w="438912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1–3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レコードの識別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ID・見出し番号・種別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4–8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意味分類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類・部門・項目・分類番号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9–11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項目内の位置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段落・小段落・語番号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12–15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語句と読み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見出し・見出し本体・読み・逆読み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9575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ファイル名はbunruidb.txtだが、中身はカンマ区切り。文字コードはShift_JIS。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分類語彙表データベース解説. 2004.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https://github.com/masayu-a/WLSP/blob/master/kaisetsu.txt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見出し本体と読みを分けて持つ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CSVの構造を読む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19200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1920240"/>
                <a:gridCol w="1737360"/>
                <a:gridCol w="173736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見出し本体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逆読み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今日（きょう）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今日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きょう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うょき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今日（こんにち）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今日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こんにち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ちにんこ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559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「今日」の二つの読み。逆読みは、読みの文字を後ろから並べたもの。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併記された読みには、分割レコードもある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CSVの構造を読む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67180"/>
        </p:xfrm>
        <a:graphic>
          <a:graphicData uri="http://schemas.openxmlformats.org/drawingml/2006/table">
            <a:tbl>
              <a:tblPr firstRow="0" bandRow="0"/>
              <a:tblGrid>
                <a:gridCol w="914400"/>
                <a:gridCol w="4023360"/>
                <a:gridCol w="310896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種別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市立（しりつ・いちりつ）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しりつ・いちりつ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市立（しりつ）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しりつ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市立（いちりつ）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いちりつ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0395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3行とも見出し番号は01848。Bは元の併記、1・2は分割して追加した行。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「＊」は、意味の区切りを表す行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CSVの構造を読む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5212080" cy="1859280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2377440"/>
              </a:tblGrid>
              <a:tr h="4648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48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48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小段落番号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48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49605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分類項目内の区切りを保存している。語の一覧を作るときは、この行を除く。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分類語彙表データベース解説. 2004.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https://github.com/masayu-a/WLSP/blob/master/kaisetsu.txt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検索・接続・利用条件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検索・接続・利用条件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CSVを読み、見出し本体で検索する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検索・接続・利用条件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08756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csv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open("bunruidb.txt", encoding="shift_jis") as f: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rows = list(csv.reader(f))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words = [r for r in rows if r[11] != "＊"]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found = [r for r in words if r[12] == "晴れる"]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for r in found: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print(r[12], r[7], r[6])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797490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csv.readerは各列を文字列で読み込む。分類番号やIDの桁もそのまま保てる。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「晴れる」を検索すると、二つの意味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検索・接続・利用条件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680960" cy="1350645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2011680"/>
                <a:gridCol w="274320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見出し本体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晴れる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2.3011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快・喜び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晴れる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2.5154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天気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98742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見出し本体の完全一致検索の結果。気分と天気が、別の分類に入る。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分類から探すと、桜に関する語が見つかる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検索・接続・利用条件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6492239" cy="2844800"/>
        </p:xfrm>
        <a:graphic>
          <a:graphicData uri="http://schemas.openxmlformats.org/drawingml/2006/table">
            <a:tbl>
              <a:tblPr firstRow="0" bandRow="0"/>
              <a:tblGrid>
                <a:gridCol w="3749039"/>
                <a:gridCol w="274320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さくら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夜桜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よざくら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葉桜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はざくら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山桜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やまざくら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しだれ桜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しだれざくら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八重桜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やえざくら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9869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1.5401「木本」の段落05・小段落04から抜粋。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分類番号を、他の語彙情報につなぐ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検索・接続・利用条件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175385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548640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公開資源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追加される情報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wlsp2unidic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分類語彙表番号とUniDic語彙素IDの対応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WLSP-familiarity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語の親密度や、読み書きなどの評定値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1216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意味分類を、形態素解析や語の親しみやすさの情報と結び付けられる。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近藤明日子・田中牧郎. 分類語彙表番号－UniDic語彙素番号対応表.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https://github.com/masayu-a/wlsp2unidic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国立国語研究所. WLSP-familiarity v4.0. 2024.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https://github.com/masayu-a/WLSP-familiarity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利用条件は、表示・非営利・継承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公開リポジトリのデータは、CC BY-NC-SA 3.0で公開されている。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利用時には出典とライセンスを示す。加工したデータを頒布する場合は、同じライセンスを継承する。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営利目的の利用は、このライセンスの許諾範囲に入らない。商業利用については配布元の案内に従って問い合わせる。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検索・接続・利用条件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Creative Commons. 表示－非営利－継承3.0非移植.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https://creativecommons.org/licenses/by-nc-sa/3.0/deed.ja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意味分類と、語句・読みを一緒に使える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語を意味の領域から探せる、日本語のシソーラス。分類項目と番号で、語のまとまりを扱える。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同じ語でも意味や読みごとに複数のレコードがある。分類、見出し本体、読みを組み合わせて取り出せる。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配布はShift_JISの15列CSV。区切りや併記の行を、利用目的に合わせて扱う。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検索・接続・利用条件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428955"/>
            <a:ext cx="8412480" cy="733551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列と集計の補足</a:t>
            </a:r>
          </a:p>
          <a:p>
            <a:pPr marL="457200" indent="-457200" algn="l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関連資源と参考文献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「国語」の15列：1～5列目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列と集計の補足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132320" cy="2526030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384048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実際の値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レコードID番号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030548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29140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レコード種別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部門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活動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「国語」の15列：6～10列目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列と集計の補足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132320" cy="2526030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384048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実際の値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分類番号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1.3101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段落番号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小段落番号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「国語」の15列：11～15列目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列と集計の補足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132320" cy="2526030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384048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実際の値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国語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見出し本体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国語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こくご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逆読み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ごくこ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CSVから読み込んだ「国語」の1レコード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列と集計の補足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1588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["030548", "29140", "A", "体", "活動",</a:t>
            </a:r>
          </a:p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"言語", "言語", "1.3101", "03", "01", "01",</a:t>
            </a:r>
          </a:p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"国語", "国語", "こくご", "ごくこ"]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68803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Pythonのリストとして表示。15列の値は、配布レコードの順に対応する。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収録レコードは、体の類が約3分の2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列と集計の補足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全レコードを類別に集計。意味の区切りを表す行も含む。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分類語彙表増補改訂版データベース v1.0.1. 2018.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関連資源は、分類表へ別の情報を付ける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wlsp2unidicは、分類語彙表番号と形態素辞書UniDicの語彙素IDを対応付ける表。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WLSP-familiarity v4.0は、クラウドソーシングを基に、語の親密度や読み書き・話し聞きなどの評定値を推定して付けたデータ。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同じ分類表を基にしていても、元の意味分類と、それぞれの資源が追加した情報は別の列として扱う。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関連資源と参考文献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近藤明日子・田中牧郎. 分類語彙表番号－UniDic語彙素番号対応表.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https://github.com/masayu-a/wlsp2unidic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国立国語研究所. WLSP-familiarity v4.0. 2024.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https://github.com/masayu-a/WLSP-familiarity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関連資源と参考文献</a:t>
            </a:r>
          </a:p>
        </p:txBody>
      </p:sp>
      <p:sp>
        <p:nvSpPr>
          <p:cNvPr id="4" name="文献 1: 分類語彙表－増補改訂版データベース"/>
          <p:cNvSpPr txBox="1"/>
          <p:nvPr/>
        </p:nvSpPr>
        <p:spPr>
          <a:xfrm>
            <a:off x="548640" y="1463040"/>
            <a:ext cx="8046720" cy="14220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分類語彙表－増補改訂版データベース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国立国語研究所.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成立の背景、配布形式、関連する公開資源を紹介する。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https://clrd.ninjal.ac.jp/goihyo.html</a:t>
            </a:r>
          </a:p>
        </p:txBody>
      </p:sp>
      <p:sp>
        <p:nvSpPr>
          <p:cNvPr id="5" name="文献 2: 分類語彙表増補改訂版データベース v1.0.1"/>
          <p:cNvSpPr txBox="1"/>
          <p:nvPr/>
        </p:nvSpPr>
        <p:spPr>
          <a:xfrm>
            <a:off x="548640" y="2948559"/>
            <a:ext cx="8046720" cy="14220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分類語彙表増補改訂版データベース v1.0.1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国立国語研究所. 2018年3月14日.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公開リポジトリの配布データ、版の説明、利用条件を収める。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https://github.com/masayu-a/WLSP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関連資源と参考文献</a:t>
            </a:r>
          </a:p>
        </p:txBody>
      </p:sp>
      <p:sp>
        <p:nvSpPr>
          <p:cNvPr id="4" name="文献 1: 『分類語彙表－増補改訂版－』データベース（Version 1.0）解説"/>
          <p:cNvSpPr txBox="1"/>
          <p:nvPr/>
        </p:nvSpPr>
        <p:spPr>
          <a:xfrm>
            <a:off x="548640" y="1463040"/>
            <a:ext cx="8046720" cy="14220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『分類語彙表－増補改訂版－』データベース（Version 1.0）解説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国立国語研究所. 2004年2月25日.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15列の構造、分類体系、併記分割と区切りの表し方を説明する。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https://github.com/masayu-a/WLSP/blob/master/kaisetsu.txt</a:t>
            </a:r>
          </a:p>
        </p:txBody>
      </p:sp>
      <p:sp>
        <p:nvSpPr>
          <p:cNvPr id="5" name="文献 2: 分類語彙表番号－UniDic語彙素番号対応表"/>
          <p:cNvSpPr txBox="1"/>
          <p:nvPr/>
        </p:nvSpPr>
        <p:spPr>
          <a:xfrm>
            <a:off x="548640" y="2948559"/>
            <a:ext cx="8046720" cy="14220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分類語彙表番号－UniDic語彙素番号対応表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国立国語研究所. 2020. v1.0.2.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意味分類とUniDicの語彙素IDを結ぶ対応表を収める。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https://github.com/masayu-a/wlsp2unidic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関連資源と参考文献</a:t>
            </a:r>
          </a:p>
        </p:txBody>
      </p:sp>
      <p:sp>
        <p:nvSpPr>
          <p:cNvPr id="4" name="文献 1: WLSP-familiarity v4.0"/>
          <p:cNvSpPr txBox="1"/>
          <p:nvPr/>
        </p:nvSpPr>
        <p:spPr>
          <a:xfrm>
            <a:off x="548640" y="1463040"/>
            <a:ext cx="8046720" cy="14220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WLSP-familiarity v4.0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国立国語研究所. 2024年6月30日.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語の親密度と位相情報を、分類語彙表に付与した資源。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https://github.com/masayu-a/WLSP-familiarity</a:t>
            </a:r>
          </a:p>
        </p:txBody>
      </p:sp>
      <p:sp>
        <p:nvSpPr>
          <p:cNvPr id="5" name="文献 2: 表示－非営利－継承3.0非移植"/>
          <p:cNvSpPr txBox="1"/>
          <p:nvPr/>
        </p:nvSpPr>
        <p:spPr>
          <a:xfrm>
            <a:off x="548640" y="2948559"/>
            <a:ext cx="8046720" cy="14220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表示－非営利－継承3.0非移植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Creative Commons.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共有・翻案の許諾と、表示・非営利・継承の条件を示す。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https://creativecommons.org/licenses/by-nc-sa/3.0/deed.ja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2026-10-27T17:15:57Z</dcterms:modified>
  <dc:title>wlsp</dc:title>
  <dc:creator>sasakiy84</dc:creator>
  <dcterms:created xsi:type="dcterms:W3CDTF">2026-10-27T17:15:57Z</dcterms:created>
  <dc:language>ja-JP</dc:language>
</cp:coreProperties>
</file>