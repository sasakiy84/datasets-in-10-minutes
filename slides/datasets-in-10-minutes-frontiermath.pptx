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epoch.ai/frontiermath/tiers-1-4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1.0487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benchmarks/frontiermath-tier-4-v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frontiermath/tiers-1-4/benchmark-problem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epoch.ai/frontiermath/tiers-1-4/benchmark-problem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epoch.ai/frontiermath/tiers-1-4/benchmark-problem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1.04872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abou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abou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benchmarks/frontiermath-tier-4-v2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benchmarks/frontiermath-tier-4-v2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benchmarks/frontiermath-tier-4-v2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benchmarks/frontiermath-tier-4-v2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benchmarks/frontiermath-tier-4-v2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1.04872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models/gpt-6-1-so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frontiermath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openai.com/index/gpt-6-astra/" TargetMode="External"/><Relationship Id="rId3" Type="http://schemas.openxmlformats.org/officeDocument/2006/relationships/hyperlink" Target="https://epoch.ai/benchmarks/frontiermath-tier-4-v2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frontiermath/tiers-1-4/benchmark-problems" TargetMode="External"/><Relationship Id="rId3" Type="http://schemas.openxmlformats.org/officeDocument/2006/relationships/hyperlink" Target="https://epoch.ai/frontiermath/tiers-1-4/about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benchmarks/frontiermath-tier-4-v2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frontiermath/tiers-1-4/benchmark-problems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hyperlink" Target="https://epoch.ai/frontiermath/tiers-1-4/benchmark-problems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epoch.ai/frontiermath/tiers-1-4/benchmark-problems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frontiermath/tiers-1-4/benchmark-problems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epoch.ai/frontiermath/tiers-1-4/benchmark-problems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epoch.ai/frontiermath/tiers-1-4/benchmark-problems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hyperlink" Target="https://epoch.ai/frontiermath/tiers-1-4/benchmark-problems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hyperlink" Target="https://epoch.ai/frontiermath/tiers-1-4/benchmark-problems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s://epoch.ai/frontiermath/tiers-1-4/benchmark-problems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hyperlink" Target="https://epoch.ai/frontiermath/tiers-1-4/benchmark-problems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hyperlink" Target="https://epoch.ai/frontiermath/tiers-1-4/benchmark-problems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hyperlink" Target="https://epoch.ai/frontiermath/tiers-1-4/benchmark-problems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benchmarks/frontiermath-tier-4-v2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och.ai/benchmarks/frontiermath-tier-4-v2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1.04872" TargetMode="External"/><Relationship Id="rId3" Type="http://schemas.openxmlformats.org/officeDocument/2006/relationships/hyperlink" Target="https://www.jmu.edu/mathstat/people/faculty-full-time/ducey-joshua.shtml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1.04872" TargetMode="External"/><Relationship Id="rId3" Type="http://schemas.openxmlformats.org/officeDocument/2006/relationships/hyperlink" Target="https://epoch.ai/benchmarks/frontiermath-tier-4-v2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benchmark-problems" TargetMode="External"/><Relationship Id="rId3" Type="http://schemas.openxmlformats.org/officeDocument/2006/relationships/hyperlink" Target="https://epoch.ai/models/gpt-6-1-sol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poch.ai/frontiermath/tiers-1-4/about" TargetMode="External"/><Relationship Id="rId3" Type="http://schemas.openxmlformats.org/officeDocument/2006/relationships/hyperlink" Target="https://epoch.ai/frontiermat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FrontierMath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36066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Tiers 1–4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専門家が作った数学の難問を、最終的な値で採点する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297" y="1298448"/>
            <a:ext cx="7191404" cy="3246120"/>
          </a:xfrm>
          <a:prstGeom prst="rect">
            <a:avLst/>
          </a:prstGeom>
        </p:spPr>
      </p:pic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Tiers 1–4（2026-10-21参照）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専門的な数学と公開例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問題の作成とデータの構成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採点方法と到達水準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利用の広がりと入手方法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数学の難問を解き、数や式を答える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FrontierMath Tiers 1–4は、数学者が新しく作った問題でAIの数学的な問題解決能力を評価する。分野は数論、解析、代数、幾何、組合せ論などに広がる。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モデルは自然言語の設問を読み、Pythonで試行計算しながら、整数・式などの最終回答を提出する。採点には、問題ごとに用意された検証手順を使う。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Glazer et al. (2024), FrontierMath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https://arxiv.org/abs/2411.04872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公開例から、問題と答えの形をつかむ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難度はTier 1から4に分かれる。Tier 1は発想を要する大学学部・数学競技程度の問題、Tier 4は数学者の短期研究に相当する問題を含む。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公式には12問の問題文と解法が公開されている。ここではそのうち9問を扱い、本編では幾何・数論・解析の3問を紹介する。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正101角形の中心を囲む周長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問題の原文（Tier 1・全文、数式表記を整形）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8046720" cy="134213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Let P be a regular 101-gon of circumradius 1. Draw each diagonal of P with probability 0.001. This splits P into several closed regions. Let E be the expected value of the perimeter of the region containing the center of P. Compute ⌊10⁹ E⌋.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16072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日本語訳：半径1の円に内接する正101角形Pを考える。各対角線を確率0.001で引くと、Pは複数の閉領域に分かれる。中心を含む領域の周長の期待値をEとし、10⁹Eを切り捨てた整数を求める。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4176776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正解：4771880153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何を平均するのか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4" name="Freeform 3"/>
          <p:cNvSpPr/>
          <p:nvPr/>
        </p:nvSpPr>
        <p:spPr>
          <a:xfrm>
            <a:off x="1172261" y="2424257"/>
            <a:ext cx="1173450" cy="1854037"/>
          </a:xfrm>
          <a:custGeom>
            <a:avLst/>
            <a:gdLst/>
            <a:ahLst/>
            <a:cxnLst/>
            <a:rect l="l" t="t" r="r" b="b"/>
            <a:pathLst>
              <a:path w="12833" h="20276">
                <a:moveTo>
                  <a:pt x="9048" y="0"/>
                </a:moveTo>
                <a:lnTo>
                  <a:pt x="4238" y="4885"/>
                </a:lnTo>
                <a:lnTo>
                  <a:pt x="0" y="16784"/>
                </a:lnTo>
                <a:lnTo>
                  <a:pt x="0" y="16784"/>
                </a:lnTo>
                <a:lnTo>
                  <a:pt x="690" y="17365"/>
                </a:lnTo>
                <a:lnTo>
                  <a:pt x="1415" y="17902"/>
                </a:lnTo>
                <a:lnTo>
                  <a:pt x="2171" y="18392"/>
                </a:lnTo>
                <a:lnTo>
                  <a:pt x="2957" y="18835"/>
                </a:lnTo>
                <a:lnTo>
                  <a:pt x="3769" y="19228"/>
                </a:lnTo>
                <a:lnTo>
                  <a:pt x="4603" y="19570"/>
                </a:lnTo>
                <a:lnTo>
                  <a:pt x="5457" y="19860"/>
                </a:lnTo>
                <a:lnTo>
                  <a:pt x="6328" y="20095"/>
                </a:lnTo>
                <a:lnTo>
                  <a:pt x="7211" y="20276"/>
                </a:lnTo>
                <a:lnTo>
                  <a:pt x="7211" y="20276"/>
                </a:lnTo>
                <a:lnTo>
                  <a:pt x="12833" y="17108"/>
                </a:lnTo>
                <a:close/>
              </a:path>
            </a:pathLst>
          </a:custGeom>
          <a:solidFill>
            <a:srgbClr val="DCE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3380715" y="2889370"/>
            <a:ext cx="2565" cy="8243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3373030" y="2807259"/>
            <a:ext cx="7685" cy="8211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360256" y="2725785"/>
            <a:ext cx="12774" cy="81474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3342441" y="2645263"/>
            <a:ext cx="17815" cy="8052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3319655" y="2566004"/>
            <a:ext cx="22786" cy="7925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3291985" y="2488315"/>
            <a:ext cx="27670" cy="7768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259539" y="2412497"/>
            <a:ext cx="32446" cy="75818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3222442" y="2338842"/>
            <a:ext cx="37097" cy="7365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180837" y="2267636"/>
            <a:ext cx="41605" cy="71206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134886" y="2199155"/>
            <a:ext cx="45951" cy="6848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084767" y="2133662"/>
            <a:ext cx="50119" cy="65493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030673" y="2071413"/>
            <a:ext cx="54094" cy="6224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972814" y="2012646"/>
            <a:ext cx="57859" cy="5876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911413" y="1957591"/>
            <a:ext cx="61401" cy="5505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846708" y="1906459"/>
            <a:ext cx="64705" cy="5113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778949" y="1859449"/>
            <a:ext cx="67759" cy="4701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708399" y="1816742"/>
            <a:ext cx="70550" cy="4270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635330" y="1778504"/>
            <a:ext cx="73069" cy="38238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560025" y="1744883"/>
            <a:ext cx="75305" cy="3362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482776" y="1716008"/>
            <a:ext cx="77249" cy="2887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403881" y="1691992"/>
            <a:ext cx="78895" cy="24016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323646" y="1672927"/>
            <a:ext cx="80235" cy="1906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242380" y="1658887"/>
            <a:ext cx="81266" cy="1404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160399" y="1649926"/>
            <a:ext cx="81981" cy="896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078019" y="1646080"/>
            <a:ext cx="82380" cy="3846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995560" y="1646080"/>
            <a:ext cx="82459" cy="128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913340" y="1647362"/>
            <a:ext cx="82220" cy="640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831677" y="1653769"/>
            <a:ext cx="81663" cy="11506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750887" y="1665275"/>
            <a:ext cx="80790" cy="1656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671284" y="1681835"/>
            <a:ext cx="79603" cy="2155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593174" y="1703386"/>
            <a:ext cx="78110" cy="26458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516860" y="1729844"/>
            <a:ext cx="76314" cy="31264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442637" y="1761108"/>
            <a:ext cx="74223" cy="3594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370793" y="1797055"/>
            <a:ext cx="71844" cy="4049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301605" y="1837547"/>
            <a:ext cx="69188" cy="4488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235341" y="1882427"/>
            <a:ext cx="66264" cy="4909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172258" y="1931522"/>
            <a:ext cx="63083" cy="5311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112599" y="1984641"/>
            <a:ext cx="59659" cy="5693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056595" y="2041580"/>
            <a:ext cx="56004" cy="6053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004463" y="2102117"/>
            <a:ext cx="52132" cy="6390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56405" y="2166019"/>
            <a:ext cx="48058" cy="6701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12606" y="2233038"/>
            <a:ext cx="43799" cy="69878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73236" y="2302916"/>
            <a:ext cx="39370" cy="7246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838448" y="2375381"/>
            <a:ext cx="34788" cy="74773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08375" y="2450154"/>
            <a:ext cx="30073" cy="7679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83135" y="2526945"/>
            <a:ext cx="25240" cy="7851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62824" y="2605457"/>
            <a:ext cx="20311" cy="7992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47522" y="2685386"/>
            <a:ext cx="15302" cy="8103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737288" y="2766423"/>
            <a:ext cx="10234" cy="8183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32161" y="2848255"/>
            <a:ext cx="5127" cy="8231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32161" y="2930565"/>
            <a:ext cx="0" cy="8246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2161" y="3013034"/>
            <a:ext cx="5127" cy="8231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7288" y="3095344"/>
            <a:ext cx="10234" cy="8183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7522" y="3177176"/>
            <a:ext cx="15302" cy="8103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62824" y="3258213"/>
            <a:ext cx="20311" cy="7992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83135" y="3338142"/>
            <a:ext cx="25240" cy="7851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08375" y="3416654"/>
            <a:ext cx="30073" cy="7679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38448" y="3493445"/>
            <a:ext cx="34788" cy="74773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73236" y="3568218"/>
            <a:ext cx="39370" cy="7246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12606" y="3640683"/>
            <a:ext cx="43799" cy="69878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56405" y="3710561"/>
            <a:ext cx="48058" cy="6701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04463" y="3777580"/>
            <a:ext cx="52132" cy="6390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56595" y="3841482"/>
            <a:ext cx="56004" cy="6053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12599" y="3902019"/>
            <a:ext cx="59659" cy="5693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72258" y="3958958"/>
            <a:ext cx="63083" cy="5311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235341" y="4012077"/>
            <a:ext cx="66264" cy="4909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01605" y="4061172"/>
            <a:ext cx="69188" cy="4488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70793" y="4106052"/>
            <a:ext cx="71844" cy="4049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42637" y="4146544"/>
            <a:ext cx="74223" cy="3594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516860" y="4182491"/>
            <a:ext cx="76314" cy="31264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593174" y="4213755"/>
            <a:ext cx="78110" cy="26458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671284" y="4240213"/>
            <a:ext cx="79603" cy="2155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750887" y="4261764"/>
            <a:ext cx="80790" cy="1656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831677" y="4278324"/>
            <a:ext cx="81663" cy="11506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913340" y="4289830"/>
            <a:ext cx="82220" cy="640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995560" y="4296237"/>
            <a:ext cx="82459" cy="128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078019" y="4293673"/>
            <a:ext cx="82380" cy="3846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160399" y="4284712"/>
            <a:ext cx="81981" cy="896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242380" y="4270672"/>
            <a:ext cx="81266" cy="1404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323646" y="4251607"/>
            <a:ext cx="80235" cy="1906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403881" y="4227591"/>
            <a:ext cx="78895" cy="24016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482776" y="4198716"/>
            <a:ext cx="77249" cy="2887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560025" y="4165095"/>
            <a:ext cx="75305" cy="3362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635330" y="4126857"/>
            <a:ext cx="73069" cy="38238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708399" y="4084150"/>
            <a:ext cx="70550" cy="4270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778949" y="4037140"/>
            <a:ext cx="67759" cy="47010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846708" y="3986008"/>
            <a:ext cx="64705" cy="5113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911413" y="3930953"/>
            <a:ext cx="61401" cy="5505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972814" y="3872186"/>
            <a:ext cx="57859" cy="58767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030673" y="3809937"/>
            <a:ext cx="54094" cy="6224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084767" y="3744444"/>
            <a:ext cx="50119" cy="65493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134886" y="3675963"/>
            <a:ext cx="45951" cy="6848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180837" y="3604757"/>
            <a:ext cx="41605" cy="71206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222442" y="3531102"/>
            <a:ext cx="37097" cy="73655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259539" y="3455284"/>
            <a:ext cx="32446" cy="75818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291985" y="3377595"/>
            <a:ext cx="27670" cy="7768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319655" y="3298336"/>
            <a:ext cx="22786" cy="7925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342441" y="3217814"/>
            <a:ext cx="17815" cy="80522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360256" y="3136340"/>
            <a:ext cx="12774" cy="81474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373030" y="3054229"/>
            <a:ext cx="7685" cy="82111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380715" y="2971800"/>
            <a:ext cx="2565" cy="82429"/>
          </a:xfrm>
          <a:prstGeom prst="line">
            <a:avLst/>
          </a:prstGeom>
          <a:ln w="8890">
            <a:solidFill>
              <a:srgbClr val="30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084767" y="2133662"/>
            <a:ext cx="275489" cy="1084152"/>
          </a:xfrm>
          <a:prstGeom prst="line">
            <a:avLst/>
          </a:prstGeom>
          <a:ln w="1397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873236" y="1778504"/>
            <a:ext cx="1762094" cy="1789714"/>
          </a:xfrm>
          <a:prstGeom prst="line">
            <a:avLst/>
          </a:prstGeom>
          <a:ln w="1397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1172258" y="1647362"/>
            <a:ext cx="823302" cy="2311596"/>
          </a:xfrm>
          <a:prstGeom prst="line">
            <a:avLst/>
          </a:prstGeom>
          <a:ln w="1397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831677" y="1665275"/>
            <a:ext cx="572204" cy="2586332"/>
          </a:xfrm>
          <a:prstGeom prst="line">
            <a:avLst/>
          </a:prstGeom>
          <a:ln w="1397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831677" y="3455284"/>
            <a:ext cx="1460308" cy="823040"/>
          </a:xfrm>
          <a:prstGeom prst="line">
            <a:avLst/>
          </a:prstGeom>
          <a:ln w="1397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2002536" y="289864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49039" y="16916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図は対角線を引いた一例。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緑は中心Oを含む領域。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49039" y="269748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各線分が境界に残る確率を求め、その長さを足し合わせる。公開解法は、期待値の線形性と幾何の計算を組み合わせる。</a:t>
            </a:r>
          </a:p>
        </p:txBody>
      </p:sp>
      <p:sp>
        <p:nvSpPr>
          <p:cNvPr id="114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115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5変数の方程式の解を数える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問題の原文（Tier 2・全文、数式表記を整形）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8046720" cy="107010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There are unique constants C, α, β such that the number of solutions to the equation ab + 1 = cde with a, b, c, d, e ∈ ℕ with ab ≤ x is asymptotic to Cx^α log^β x as x → ∞. Compute ⌊1000C⌋.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44038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日本語訳：正整数a,b,c,d,eについて、ab＋1＝cde、ab≤xの解の個数が、x→∞でCx^α(log x)^βに漸近する一意な定数C,α,βがある。⌊1000C⌋を求める。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3904742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正解：214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数論の結果を解の個数へ結び付ける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「漸近的に等しい」とは、xを大きくすると実際の個数と近似式の比が1に近づくことをいう。求めるのは特定のxでの個数ではなく、式に現れる定数である。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公開解法では、約数の個数を使う和に書き換え、既知の数論の結果へつなぐ。α＝1、β＝3、Cは約0.214となり、正解214が得られる。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関数の揺れと積分の上限：原文 1/2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4・全文を分割、数式を再組版）</a:t>
            </a:r>
          </a:p>
        </p:txBody>
      </p:sp>
      <p:pic>
        <p:nvPicPr>
          <p:cNvPr id="5" name="Picture 4" descr="problem-01-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9041"/>
            <a:ext cx="8046720" cy="2430109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関数の揺れと積分の上限：原文 2/2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4・全文を分割、数式を再組版）</a:t>
            </a:r>
          </a:p>
        </p:txBody>
      </p:sp>
      <p:pic>
        <p:nvPicPr>
          <p:cNvPr id="5" name="Picture 4" descr="problem-01-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6620"/>
            <a:ext cx="8046720" cy="2574950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平均と各区間の揺れを固定する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7955279" cy="689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fは区間[0,1]上の可積分な実数値関数である。平均は−10、二乗の平均は100＋1/12とする。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08098"/>
            <a:ext cx="7955279" cy="10069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さらに、どの部分区間Jでも、fとその区間内の平均との差の二乗平均を1/12以下に抑える。これは、局所的な揺れの大きさを制限する条件である。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24808"/>
            <a:ext cx="7955279" cy="689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この条件を満たす関数について、f³＋|f|の積分の上限cを求め、c＋1985/2を答える。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答えは平方根と指数関数を含む式になる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専門的な数学と公開例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日本語の要点と公開解法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7955279" cy="6744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BMOは、各区間で平均からどれだけ変動するかを調べる関数空間である。この問題では、その変動を二乗平均で制限している。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74697"/>
            <a:ext cx="7955279" cy="6744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公開解法は、制約を満たす関数を構成し、その値が上限と一致することを示す。最終回答は、平方根と指数関数を含む式になる。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3058922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正解：√3/36 ＋ (√3/6) exp(−20√3 − 1/6)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問題の作成とデータの構成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問題の作成とデータの構成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600" b="0">
                <a:solidFill>
                  <a:srgbClr val="303437"/>
                </a:solidFill>
                <a:latin typeface="Noto Sans"/>
              </a:defRPr>
            </a:pPr>
            <a:r>
              <a:rPr sz="2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新しい問題を数学者が作り、別の数学者が確認する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投稿者は、問題文、解答、解法、分野や難度の情報を用意する。計算を多く使う問題では、答えに到達するためのスクリプトも提出する。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少なくとも1人の専門家が匿名で査読し、数学的な正しさ、曖昧さ、推測や単純な総当たりで答えられないか、難度の妥当性を確認する。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問題の作成とデータの構成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Glazer et al. (2024), FrontierMath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https://arxiv.org/abs/2411.04872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難度は背景知識・着想・実行から判断する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問題の作成とデータの構成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61264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観点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何を評価するか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背景知識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高校数学から研究水準まで、必要な知識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着想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専門家が解法の核心を見つけるまでの時間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着想を証明や計算に仕上げるための労力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難度のTierは、これらを総合して決められる。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About FrontierMath（2026-10-21参照）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https://epoch.ai/frontiermath/tiers-1-4/about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Tier 1から4へ、数学の専門性が深まる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問題の作成とデータの構成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95485"/>
        </p:xfrm>
        <a:graphic>
          <a:graphicData uri="http://schemas.openxmlformats.org/drawingml/2006/table">
            <a:tbl>
              <a:tblPr firstRow="0" bandRow="0"/>
              <a:tblGrid>
                <a:gridCol w="1508760"/>
                <a:gridCol w="6537960"/>
              </a:tblGrid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難度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問題の位置付け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Tier 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数学競技・発展的な学部演習に近い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Tier 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専門的な証明や計算を要する大学院水準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Tier 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博士課程初期の探索的研究に近い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Tier 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教授・博士研究員らによる短期研究規模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About FrontierMath（2026-10-21参照）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https://epoch.ai/frontiermath/tiers-1-4/about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2026年の改訂で誤りを修正し、12問を除いた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2026-06-12にバージョン2を公開した。問題全体の42%にあった誤りへ対応し、Tiers 1–3では123問、Tier 4では12問を修正した。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同時にTiers 1–3から5問、Tier 4から7問を削除した。改訂後の集合は、Tiers 1–3とTier 4を合わせて338問となった。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問題の作成とデータの構成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Tiers 1–4のバージョン2は計338問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問題の作成とデータの構成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0086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Tiers 1–3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295問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Tier 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338問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376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公開問題には解法もあり、課題と評価環境を理解するために使える。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評価用の問題を非公開に保つ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評価の中心は、問題や答えが一般公開されていない集合である。公式ハブの正解率も、特記がなければ非公開集合での結果を示す。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OpenAIが開発資金を提供し、一部の問題と解答へアクセスしている。Epoch AIは、全体を使って評価し、結果を公表する権利を保持している。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問題の作成とデータの構成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Pythonで検討し、answer()で最終回答を返す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モデルは設問を読み、推論とPythonによる試行計算を繰り返す。中間の結果を使って方針を見直し、最終回答を関数answer()として提出する。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問題ごとの検証手順が、返された整数・式・組などを確認する。正しければ1点、誤りや未提出は0点で、部分点は付かない。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例2 214を返す関数が最終提出物になる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9207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answer():</a:t>
            </a:r>
          </a:p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return 214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306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推論や試行計算を経て、答えを返す自己完結した関数を提出する。正解率は、各問題の0点・1点を平均した割合である。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2024年の公開時は6モデルとも正解率2%未満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o1-preview、o1-mini、GPT-4o、Claude 3.5 Sonnet、Grok 2 Beta、Gemini 1.5 Proを評価した。Pythonを使える環境でも、全モデルが2%未満だった。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当時の実験では、会話のトークン上限を1万に設定していた。現在のバージョン2とは、問題集合と実行条件が異なる。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Glazer et al. (2024), FrontierMath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https://arxiv.org/abs/2411.04872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Tier 4のバージョン2では高い正解率に達した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2377440"/>
                <a:gridCol w="17373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GPT-6.1 Sol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2026-09-29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 Astra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2026-09-03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5.5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2026-09-22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Kimi K3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2026-07-16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Epoch AIのモデル比較ページ。2026-10-21参照、表示は整数に丸めた割合。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GPT-6.1 Sol（2026-10-21参照）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https://epoch.ai/models/gpt-6-1-sol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採点するのは最終的な値である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数や式を自動検証するため、専門家の主観に頼らず多数の回答を採点できる。自由な証明文の質を採点するベンチマークとは、出力と評価対象が異なる。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難問の最終回答を得る能力が大きく向上した一方、研究では問題の選択や定式化、長期的な探索も必要になる。後続の公開課題群は、未解決問題にも対象を広げている。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利用の広がりと入手方法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利用の広がりと入手方法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FrontierMathは未解決問題にも広がっている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利用の広がりと入手方法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扱う数学の課題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Tiers 1–4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数学者が問題と解答を用意した難問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Open Problems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数学者が取り組んできた未解決の研究問題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Erdős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2026年8月時点で未解決のErdős問題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39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本資料の主題はTiers 1–4。後の2群は、既知の答えを持つ難問から研究課題への拡張である。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最新モデルの評価指標として使われている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GPT-6 Astraの発表では、FrontierMath Tier 4のバージョン2を評価に用い、正解率97.6%を報告している。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Epoch AIも独自のPython環境でモデルを評価している。公式ハブの公開問題の実行ログでは、推論、Pythonによる試行計算、最終回答の提出までを確認できる。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利用の広がりと入手方法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OpenAI (2026), GPT-6 Astra  [2] Epoch AI (2026), FrontierMath Tier 4 (v2)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https://openai.com/index/gpt-6-astra/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公開問題の解法と利用条件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公開12問の問題文・答え・詳しい解法は、公式のSample Problemsで読める。Pythonコードや解説動画を伴う例もある。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公開ページは、出典と著者を明記するCC BY 4.0の条件で利用できる。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非公開集合の評価についての問い合わせ先は、math_evals@epoch.aiである。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利用の広がりと入手方法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  [2] Epoch AI (2026), About FrontierMath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https://epoch.ai/frontiermath/tiers-1-4/about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専門家の難問を、検証できる答えへ落とし込む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FrontierMath Tiers 1–4は、数学者が作成・査読した多分野の難問で、AIが専門的な数学を解く力を測る。推論と計算を組み合わせ、最後に数や式を返す。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バージョン2は338問で、うち12問を公開している。Pythonの試行計算を使いながら得た最終回答を、問題ごとの手順で自動採点する。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利用の広がりと入手方法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32118"/>
            <a:ext cx="8046720" cy="69065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評価環境と公開範囲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有限体上の非零解を数える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問題の原文（Tier 1・全文、数式表記を整形）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8046720" cy="116078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many nonzero points are there on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x³y + y³z + z³x = 0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 </a:t>
            </a: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</a:t>
            </a:r>
            <a:r>
              <a:rPr sz="1500" b="0" lang="ja-JP" altLang="en-US" baseline="-2500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5¹⁸</a:t>
            </a: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up to scaling?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34716"/>
            <a:ext cx="7955279" cy="5838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日本語訳：5¹⁸個の要素からなる有限体で、方程式を満たす非零の点を、同じ非零数を掛けた点は同一視して数える。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3609975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正解：3814708984376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曲線の理論で有限体上の点を数える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有限体とは、加減乗除のできる有限個の要素の集合である。ここでは、単なる5¹⁸通りの整数の余り算ではなく、5¹⁸個の要素を持つ体を使う。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公開解法は小さな体で点の数を調べ、曲線の理論を使って5¹⁸＋6×5⁹＋1を計算する。この値が公開答案と一致する。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1000次行列の組を数える：原文 1/2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1・全文を分割、数式を再組版）</a:t>
            </a:r>
          </a:p>
        </p:txBody>
      </p:sp>
      <p:pic>
        <p:nvPicPr>
          <p:cNvPr id="5" name="Picture 4" descr="problem-12-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0410"/>
            <a:ext cx="8046720" cy="2647370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1000次行列の組を数える：原文 2/2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1・全文を分割、数式を再組版）</a:t>
            </a:r>
          </a:p>
        </p:txBody>
      </p:sp>
      <p:pic>
        <p:nvPicPr>
          <p:cNvPr id="5" name="Picture 4" descr="problem-12-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667"/>
            <a:ext cx="8046720" cy="2558856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750" b="0">
                <a:solidFill>
                  <a:srgbClr val="303437"/>
                </a:solidFill>
                <a:latin typeface="Noto Sans"/>
              </a:defRPr>
            </a:pPr>
            <a:r>
              <a:rPr sz="2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基底の取り替えで同じ行列の組を同一視する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日本語の要点と公開解法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7955279" cy="961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複素数の1000×1000可逆行列を4個まとめ、指定された積の関係を満たす組を考える。同じBで全行列をBAᵢB⁻¹へ変えられる組を同一視する。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1844"/>
            <a:ext cx="7955279" cy="961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公開解法は、この分類を対称群S₅の表現へ結び付ける。次元が1、1、4、4、5、5、6の基本的な表現を組み合わせ、合計1000次元になる方法を数える。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3633216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正解：625243878951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条件を満たす19次多項式を作る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問題の原文（Tier 2・全文、数式表記を整形）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8046720" cy="133004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18"/>
              </a:lnSpc>
              <a:spcBef>
                <a:spcPts val="0"/>
              </a:spcBef>
              <a:spcAft>
                <a:spcPts val="0"/>
              </a:spcAft>
              <a:buNone/>
              <a:defRPr sz="1780" b="0">
                <a:solidFill>
                  <a:srgbClr val="303437"/>
                </a:solidFill>
                <a:latin typeface="Noto Sans"/>
              </a:defRPr>
            </a:pPr>
            <a:r>
              <a:rPr sz="178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Construct a degree 19 polynomial p(x) ∈ ℂ[x] such that X := {p(x) = p(y)} ⊂ ℙ¹ × ℙ¹ has at least 3 (but not all linear) irreducible components over ℂ. Choose p(x) to be odd, monic, have real coefficients and linear coefficient −19 and calculate p(19).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3981"/>
            <a:ext cx="7955279" cy="8482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日本語訳：曲線p(x)＝p(y)の既約成分が3個以上あり、すべてが一次ではない19次多項式を作る。奇関数・最高次係数1・実係数・一次係数−19を満たすpのp(19)を求める。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4043718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正解：1876572071974094803391179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幾何の条件を満たす多項式を特定する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既約成分は、図形をそれ以上分解できない部分である。公開解法は、曲線の分解を群の作用へ結び付け、p(x)＝2T₁₉(x/2)を導く。Tₙはチェビシェフ多項式である。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このpは条件を満たし、曲線には対角線を含む10個の既約成分がある。多項式を特定した後のp(19)は、整数の漸化式で計算できる。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公開解法の式から整数の答えを計算する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524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u, v = 2, 19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n in range(2, 20):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u, v = v, 19*v - u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339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qₙ＝2Tₙ(19/2)と置くと、q₀＝2、q₁＝19、qₙ＝19qₙ₋₁−qₙ₋₂となる。最後に表示するq₁₉がp(19)である。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二次曲線の接触と個数：原文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3・全文、数式を再組版）</a:t>
            </a:r>
          </a:p>
        </p:txBody>
      </p:sp>
      <p:pic>
        <p:nvPicPr>
          <p:cNvPr id="5" name="Picture 4" descr="problem-04-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26" y="1600199"/>
            <a:ext cx="7592146" cy="2907792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曲線の問題が調和数の計算へつながる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日本語の要点と公開解法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7955279" cy="9843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有限体上で、5本の滑らかな二次曲線すべてに接する曲線の空間を考える。素数pを大きくしたときの、成分数の平均の極限Lを求め、100Lを切り捨てる。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84513"/>
            <a:ext cx="7955279" cy="6744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公開解法は、幾何の問題を3264個の要素の置換の巡回構造に結び付ける。Lは調和数H₃₂₆₄＝1＋1/2＋…＋1/3264となる。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3368738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正解：866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Tsirelson空間の数列を調べる：原文 1/3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3・全文を分割、数式を再組版）</a:t>
            </a:r>
          </a:p>
        </p:txBody>
      </p:sp>
      <p:pic>
        <p:nvPicPr>
          <p:cNvPr id="5" name="Picture 4" descr="problem-03-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8223"/>
            <a:ext cx="8046720" cy="2711744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Tsirelson空間の数列を調べる：原文 2/3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3・全文を分割、数式を再組版）</a:t>
            </a:r>
          </a:p>
        </p:txBody>
      </p:sp>
      <p:pic>
        <p:nvPicPr>
          <p:cNvPr id="5" name="Picture 4" descr="problem-03-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62" y="1600199"/>
            <a:ext cx="7513674" cy="2907792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Tsirelson空間の数列を調べる：原文 3/3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3・全文を分割、数式を再組版）</a:t>
            </a:r>
          </a:p>
        </p:txBody>
      </p:sp>
      <p:pic>
        <p:nvPicPr>
          <p:cNvPr id="5" name="Picture 4" descr="problem-03-p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5485"/>
            <a:ext cx="8046720" cy="2277221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巨大なNを割り切る2の指数を求める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日本語の要点と公開解法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7955279" cy="961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Tsirelson空間は、ノルムによる極限に関して完備な線形空間（バナッハ空間）の一例である。ここでは、数列の集合Kを二つの規則で定め、指定された範囲が狭義減少する数列を探す。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1844"/>
            <a:ext cx="7955279" cy="961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x₃＝1/2、</a:t>
            </a: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</a:t>
            </a:r>
            <a:r>
              <a:rPr sz="1500" b="0" lang="ja-JP" altLang="en-US" baseline="-2500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</a:t>
            </a: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＞1/20を満たす最大のNは非常に大きい。N＝m×2ᵖ（mは奇数）としたときの指数pを答える。公開解法は、Kの構成規則を組合せ的に分析する。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3633216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正解：402653211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楕円曲線と体の拡大：原文 1/4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4・全文を分割、数式を再組版）</a:t>
            </a:r>
          </a:p>
        </p:txBody>
      </p:sp>
      <p:pic>
        <p:nvPicPr>
          <p:cNvPr id="5" name="Picture 4" descr="problem-02-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1494"/>
            <a:ext cx="8046720" cy="1585203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楕円曲線と体の拡大：原文 2/4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4・全文を分割、数式を再組版）</a:t>
            </a:r>
          </a:p>
        </p:txBody>
      </p:sp>
      <p:pic>
        <p:nvPicPr>
          <p:cNvPr id="5" name="Picture 4" descr="problem-02-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1779"/>
            <a:ext cx="8046720" cy="2864632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楕円曲線と体の拡大：原文 3/4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4・全文を分割、数式を再組版）</a:t>
            </a:r>
          </a:p>
        </p:txBody>
      </p:sp>
      <p:pic>
        <p:nvPicPr>
          <p:cNvPr id="5" name="Picture 4" descr="problem-02-p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0442"/>
            <a:ext cx="8046720" cy="1947306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楕円曲線と体の拡大：原文 4/4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公開問題の原文（Tier 4・全文を分割、数式を再組版）</a:t>
            </a:r>
          </a:p>
        </p:txBody>
      </p:sp>
      <p:pic>
        <p:nvPicPr>
          <p:cNvPr id="5" name="Picture 4" descr="problem-02-p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7905"/>
            <a:ext cx="8046720" cy="2132380"/>
          </a:xfrm>
          <a:prstGeom prst="rect">
            <a:avLst/>
          </a:prstGeom>
        </p:spPr>
      </p:pic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750" b="0">
                <a:solidFill>
                  <a:srgbClr val="303437"/>
                </a:solidFill>
                <a:latin typeface="Noto Sans"/>
              </a:defRPr>
            </a:pPr>
            <a:r>
              <a:rPr sz="2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複数の専門分野をつないで巨大な整数へ至る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日本語の要点と公開解法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7955279" cy="961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二つの関数F・G、条件を満たす素数の組、楕円曲線、代数的数αを順に定める。さらにαの最小多項式と、その根をすべて含む分解体を使ってΩを計算する。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1844"/>
            <a:ext cx="7955279" cy="6593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公開解法は、数論・楕円曲線・ガロア理論の条件を結び付ける。答えは74桁の整数になる。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594360" y="3330956"/>
            <a:ext cx="7955279" cy="738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正解：7394849209730169176546403071493892118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0352979774791349212169829996615700482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Sample Problems（2026-10-21参照）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評価環境と公開範囲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評価環境と公開範囲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現在の公式実行環境はPythonでの検討を許す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評価環境と公開範囲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47548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条件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公式ハブの設定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提出するもの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引数なしのanswer()関数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途中の試行計算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Pythonツールで実行できる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正答1点、誤答・未提出0点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提出関数の実行上限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2026-10-21参照。提出関数の実行時間と、解くための会話全体の制限は別に設定される。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会話と試行計算にも上限がある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公式ハブの提示するプロンプトは、入出力を合わせた会話の上限を100万トークンとする。66万トークンに達すると、次の応答で最終回答の提出を求める。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Pythonツールの1回の実行上限も30秒である。SymPyなどの数式処理ライブラリを使え、計算結果を見ながら検討できる。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評価環境と公開範囲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Epoch AI (2026), FrontierMath Tier 4 (v2)（2026-10-21参照）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著者と参考文献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開発にはEpoch AIと多分野の数学者が参加した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7955279" cy="9843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Elliot Glazerは、2024年に公開されたarXiv技術報告の第一著者である。Epoch AIに所属し、中心的な貢献者・問題作成数学者として記載されている。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24912"/>
            <a:ext cx="7955279" cy="9843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技術報告の改訂版の最終著者Josh Duceyは、James Madison Universityの数学者で、問題の提供に参加した。大学の紹介では研究分野を代数的組合せ論としている。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2628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Glazer et al. (2024), FrontierMath  [2] JMU, Joshua Ducey（2026-10-21参照）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https://arxiv.org/abs/2411.04872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https://www.jmu.edu/mathstat/people/faculty-full-time/ducey-joshua.shtml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FrontierMath: A Benchmark for Evaluating Advanced Mathematical Reasoning in AI"/>
          <p:cNvSpPr txBox="1"/>
          <p:nvPr/>
        </p:nvSpPr>
        <p:spPr>
          <a:xfrm>
            <a:off x="548640" y="1463040"/>
            <a:ext cx="8046720" cy="15960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FrontierMath: A Benchmark for Evaluating Advanced Mathematical Reasoning in AI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Glazer et al. (2024). arXiv:2411.04872.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構築、専門家の査読、初期の評価方法とモデル結果を報告する。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https://arxiv.org/abs/2411.04872</a:t>
            </a:r>
          </a:p>
        </p:txBody>
      </p:sp>
      <p:sp>
        <p:nvSpPr>
          <p:cNvPr id="5" name="文献 2: FrontierMath Tier 4 (v2)"/>
          <p:cNvSpPr txBox="1"/>
          <p:nvPr/>
        </p:nvSpPr>
        <p:spPr>
          <a:xfrm>
            <a:off x="548640" y="3098419"/>
            <a:ext cx="8046720" cy="12487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FrontierMath Tier 4 (v2)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Epoch AI (2026). Epoch AI. 参照日 2026-10-21.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バージョン2の件数、修正内容、公開範囲、Pythonを使った採点方法を示す。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https://epoch.ai/benchmarks/frontiermath-tier-4-v2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Sample Problems"/>
          <p:cNvSpPr txBox="1"/>
          <p:nvPr/>
        </p:nvSpPr>
        <p:spPr>
          <a:xfrm>
            <a:off x="548640" y="1463040"/>
            <a:ext cx="8046720" cy="15520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Problems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Epoch AI (2026). Epoch AI. 参照日 2026-10-21.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12問の問題文・答え・詳しい解法を公開する。複数の数学分野と難度の例がある。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https://epoch.ai/frontiermath/tiers-1-4/benchmark-problems</a:t>
            </a:r>
          </a:p>
        </p:txBody>
      </p:sp>
      <p:sp>
        <p:nvSpPr>
          <p:cNvPr id="5" name="文献 2: GPT-6.1 Sol"/>
          <p:cNvSpPr txBox="1"/>
          <p:nvPr/>
        </p:nvSpPr>
        <p:spPr>
          <a:xfrm>
            <a:off x="548640" y="3062224"/>
            <a:ext cx="8046720" cy="124853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GPT-6.1 Sol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Epoch AI (2026). Epoch AI. 参照日 2026-10-21.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現在のモデル比較を掲載し、FrontierMath Tiers 1–3とTier 4の成績を示す。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https://epoch.ai/models/gpt-6-1-sol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About FrontierMath"/>
          <p:cNvSpPr txBox="1"/>
          <p:nvPr/>
        </p:nvSpPr>
        <p:spPr>
          <a:xfrm>
            <a:off x="548640" y="1463040"/>
            <a:ext cx="8046720" cy="13675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About FrontierMath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Epoch AI (2026). Epoch AI. 参照日 2026-10-21.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難度の考え方、数学者による問題作成、開発資金と公開範囲の説明をまとめる。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https://epoch.ai/frontiermath/tiers-1-4/about</a:t>
            </a:r>
          </a:p>
        </p:txBody>
      </p:sp>
      <p:sp>
        <p:nvSpPr>
          <p:cNvPr id="5" name="文献 2: FrontierMath"/>
          <p:cNvSpPr txBox="1"/>
          <p:nvPr/>
        </p:nvSpPr>
        <p:spPr>
          <a:xfrm>
            <a:off x="548640" y="3062224"/>
            <a:ext cx="8046720" cy="124853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FrontierMath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Epoch AI (2026). Epoch AI. 参照日 2026-10-21.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Tiers 1–4、Open Problems、Erdősという課題群の関係と入手先を示す。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https://epoch.ai/frontiermath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2026-10-20T16:44:17Z</dcterms:modified>
  <dc:title>frontiermath</dc:title>
  <dc:creator>sasakiy84</dc:creator>
  <dcterms:created xsi:type="dcterms:W3CDTF">2026-10-20T16:44:17Z</dcterms:created>
  <dc:language>ja-JP</dc:language>
</cp:coreProperties>
</file>