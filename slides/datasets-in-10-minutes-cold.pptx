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316" r:id="rId66"/>
    <p:sldId id="317" r:id="rId67"/>
    <p:sldId id="318" r:id="rId68"/>
    <p:sldId id="262" r:id="rId4"/>
    <p:sldId id="264" r:id="rId2"/>
    <p:sldId id="266" r:id="rId16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278" r:id="rId28"/>
    <p:sldId id="279" r:id="rId29"/>
    <p:sldId id="328" r:id="rId78"/>
    <p:sldId id="329" r:id="rId79"/>
    <p:sldId id="331" r:id="rId81"/>
    <p:sldId id="332" r:id="rId82"/>
    <p:sldId id="333" r:id="rId83"/>
    <p:sldId id="287" r:id="rId37"/>
    <p:sldId id="334" r:id="rId84"/>
    <p:sldId id="335" r:id="rId85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36" r:id="rId86"/>
    <p:sldId id="273" r:id="rId23"/>
    <p:sldId id="337" r:id="rId87"/>
    <p:sldId id="338" r:id="rId88"/>
    <p:sldId id="307" r:id="rId57"/>
    <p:sldId id="339" r:id="rId89"/>
    <p:sldId id="313" r:id="rId6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4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6" Type="http://schemas.openxmlformats.org/officeDocument/2006/relationships/slide" Target="slides/slide8.xml"/><Relationship Id="rId23" Type="http://schemas.openxmlformats.org/officeDocument/2006/relationships/slide" Target="slides/slide39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7" Type="http://schemas.openxmlformats.org/officeDocument/2006/relationships/slide" Target="slides/slide25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7" Type="http://schemas.openxmlformats.org/officeDocument/2006/relationships/slide" Target="slides/slide42.xml"/><Relationship Id="rId63" Type="http://schemas.openxmlformats.org/officeDocument/2006/relationships/slide" Target="slides/slide44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9.xml"/><Relationship Id="rId70" Type="http://schemas.openxmlformats.org/officeDocument/2006/relationships/slide" Target="slides/slide10.xml"/><Relationship Id="rId71" Type="http://schemas.openxmlformats.org/officeDocument/2006/relationships/slide" Target="slides/slide11.xml"/><Relationship Id="rId72" Type="http://schemas.openxmlformats.org/officeDocument/2006/relationships/slide" Target="slides/slide12.xml"/><Relationship Id="rId73" Type="http://schemas.openxmlformats.org/officeDocument/2006/relationships/slide" Target="slides/slide13.xml"/><Relationship Id="rId74" Type="http://schemas.openxmlformats.org/officeDocument/2006/relationships/slide" Target="slides/slide14.xml"/><Relationship Id="rId75" Type="http://schemas.openxmlformats.org/officeDocument/2006/relationships/slide" Target="slides/slide15.xml"/><Relationship Id="rId76" Type="http://schemas.openxmlformats.org/officeDocument/2006/relationships/slide" Target="slides/slide16.xml"/><Relationship Id="rId77" Type="http://schemas.openxmlformats.org/officeDocument/2006/relationships/slide" Target="slides/slide17.xml"/><Relationship Id="rId78" Type="http://schemas.openxmlformats.org/officeDocument/2006/relationships/slide" Target="slides/slide20.xml"/><Relationship Id="rId79" Type="http://schemas.openxmlformats.org/officeDocument/2006/relationships/slide" Target="slides/slide21.xml"/><Relationship Id="rId81" Type="http://schemas.openxmlformats.org/officeDocument/2006/relationships/slide" Target="slides/slide22.xml"/><Relationship Id="rId82" Type="http://schemas.openxmlformats.org/officeDocument/2006/relationships/slide" Target="slides/slide23.xml"/><Relationship Id="rId83" Type="http://schemas.openxmlformats.org/officeDocument/2006/relationships/slide" Target="slides/slide24.xml"/><Relationship Id="rId84" Type="http://schemas.openxmlformats.org/officeDocument/2006/relationships/slide" Target="slides/slide26.xml"/><Relationship Id="rId85" Type="http://schemas.openxmlformats.org/officeDocument/2006/relationships/slide" Target="slides/slide27.xml"/><Relationship Id="rId86" Type="http://schemas.openxmlformats.org/officeDocument/2006/relationships/slide" Target="slides/slide38.xml"/><Relationship Id="rId87" Type="http://schemas.openxmlformats.org/officeDocument/2006/relationships/slide" Target="slides/slide40.xml"/><Relationship Id="rId88" Type="http://schemas.openxmlformats.org/officeDocument/2006/relationships/slide" Target="slides/slide41.xml"/><Relationship Id="rId89" Type="http://schemas.openxmlformats.org/officeDocument/2006/relationships/slide" Target="slides/slide4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正答率（％）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COLDDetector</c:v>
                </c:pt>
                <c:pt idx="1">
                  <c:v>Baidu TC</c:v>
                </c:pt>
                <c:pt idx="2">
                  <c:v>TranslJigsaw</c:v>
                </c:pt>
                <c:pt idx="3">
                  <c:v>Self-detect</c:v>
                </c:pt>
                <c:pt idx="4">
                  <c:v>Keyword</c:v>
                </c:pt>
                <c:pt idx="5">
                  <c:v>Random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</c:v>
                </c:pt>
                <c:pt idx="1">
                  <c:v>63</c:v>
                </c:pt>
                <c:pt idx="2">
                  <c:v>60</c:v>
                </c:pt>
                <c:pt idx="3">
                  <c:v>59</c:v>
                </c:pt>
                <c:pt idx="4">
                  <c:v>54</c:v>
                </c:pt>
                <c:pt idx="5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/tree/main/COLDatase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main/COLDatase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main/COLDatase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/tree/main/COLDataset" TargetMode="External"/><Relationship Id="rId3" Type="http://schemas.openxmlformats.org/officeDocument/2006/relationships/hyperlink" Target="https://aclanthology.org/2022.emnlp-main.796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clanthology.org/2022.emnlp-main.796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-coai/COLDataset" TargetMode="External"/><Relationship Id="rId3" Type="http://schemas.openxmlformats.org/officeDocument/2006/relationships/hyperlink" Target="https://aclanthology.org/2023.emnlp-demo.17/" TargetMode="External"/><Relationship Id="rId4" Type="http://schemas.openxmlformats.org/officeDocument/2006/relationships/hyperlink" Target="https://github.com/thu-coai/COLDataset/tree/main/COLDatase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main/COLDataset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emnlp-main.796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a0c55a945497ab58e94aef491180e1cf88ffb864/COLDataset" TargetMode="External"/><Relationship Id="rId3" Type="http://schemas.openxmlformats.org/officeDocument/2006/relationships/hyperlink" Target="https://github.com/thu-coai/COLDataset/tree/main/COLDatas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/tree/a0c55a945497ab58e94aef491180e1cf88ffb864/COLDataset" TargetMode="External"/><Relationship Id="rId4" Type="http://schemas.openxmlformats.org/officeDocument/2006/relationships/hyperlink" Target="https://github.com/thu-coai/COLDataset/tree/main/COLDataset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main/COLDataset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-coai/COLDataset/tree/main/COLDataset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emnlp-main.796/" TargetMode="External"/><Relationship Id="rId3" Type="http://schemas.openxmlformats.org/officeDocument/2006/relationships/hyperlink" Target="https://github.com/thu-coai/COLDatase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1113227"/>
          </a:xfrm>
        </p:spPr>
        <p:txBody>
          <a:bodyPr lIns="0" rIns="0" tIns="0" bIns="123262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Offensive Language Detection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中国語の発言が攻撃的かどうかを判定する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COLDの公式公開リポジトリ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COLD</a:t>
            </a:r>
          </a:p>
        </p:txBody>
      </p:sp>
      <p:pic>
        <p:nvPicPr>
          <p:cNvPr id="5" name="Picture 4" descr="official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444752"/>
            <a:ext cx="7040880" cy="3108960"/>
          </a:xfrm>
          <a:prstGeom prst="rect">
            <a:avLst/>
          </a:prstGeom>
        </p:spPr>
      </p:pic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中国語の攻撃的発言を分類する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収集と注釈、データの構成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検出方法と評価結果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中国語の攻撃的発言を分類する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中国語の攻撃的発言を分類する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発言を読み、攻撃的かどうかを判定する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COLDは、中国語の攻撃的な言葉を検出するためのベンチマーク。発言を集めたCOLDatasetと、それを学習して分類するCOLDDetectorが提案された。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入力は中国語の発言で、侮辱、差別、脅しなどを含むかどうかを判定する。非攻撃的なら0、攻撃的なら1というラベルが付く。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テスト用データでは、個人への攻撃、集団への攻撃、偏見への反対、その他の非攻撃的な発言という4分類も示される。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中国語の攻撃的発言を分類する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実例1：地名を含む食事の勧め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中国語の攻撃的発言を分類する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41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建议楼主有时间找家新疆馆子尝尝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投稿者さん、時間があれば、新疆料理の店を探して食べてみてください。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実例2：偏見を批判する文と、攻撃的ラベル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中国語の攻撃的発言を分類する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当你说出那句并无歧视的时候，你就已经在歧视了。因为你默认爱嚼舌根是女性的特点。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507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「差別していない」と言ったとき、あなたはすでに差別しています。陰口をたたくことが女性の特徴だと、当然のように考えているからです。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84634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個人への攻撃（1）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実例3：地域全体への決めつけに反対する発言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中国語の攻撃的発言を分類する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4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18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东北人可没这样，别用一个人，去代表所有人，地域黑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27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188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中国東北部の人はこうではありません。一人を見て、全員がそうだと決めつけないでください。地域差別です。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5234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偏見への反対（3）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偏見を批判する発言にも、判断の違いが表れる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新疆料理を勧める実例1は、地域名を含むが非攻撃的とされている。地域や性別を指す語があるだけで、攻撃的という判断になるわけではない。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女性への決めつけを批判する一方、相手を「すでに差別している」と評し、個人への攻撃というラベルが付いている。実例3は、一人を地域全体の代表にすることへの反対として、非攻撃的に分類されて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偏見への反対と個人への批判が重なる文章もあり、文脈の解釈や注釈の判断が分類を難しくする。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中国語の攻撃的発言を分類する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収集と注釈、データの構成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収集と注釈、データの構成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人種・性別・地域の話題から発言を集める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188609"/>
          </a:xfrm>
        </p:spPr>
        <p:txBody>
          <a:bodyPr wrap="square" tIns="91440" bIns="235097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ZhihuやWeiboなどの中国語ソーシャルメディアから、キーワード検索と、関連する話題へのコメント収集を組み合わせた。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人種・性別・地域の偏見に関する話題を対象とする。検索語だけでは見つけにくい表現も、話題へのコメントから集める。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偏見に関する話題を中心に収集しているため、データ内の攻撃的な発言の割合は、インターネット全体の割合とは異なる。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収集と注釈、データの構成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学習用は反復的に作成し、テストは3人で注釈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学習用データは、500件の手動注釈から分類器を作り、分類器が付けたスコアの範囲ごとに候補を集める。データと分類器を更新する作業を6ラウンド行った。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各範囲の約10%を人が確認し、予測精度が90%以上なら採用する。届かなければ、その範囲の全候補を人が再注釈した。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テストでは各発言を3人が判定し、多数決で正解を決める。中国語母語話者17人が参加し、注釈者間の一致度Fleiss κは、二値分類で0.819、4分類で0.757だった。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収集と注釈、データの構成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学習・開発・テストに37,480件の発言を公開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収集と注釈、データの構成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920240"/>
                <a:gridCol w="1920240"/>
                <a:gridCol w="20116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13,003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25,726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6,431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2,107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18,041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19,439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37,480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trainは学習、devは設定の調整、testは最終評価に使う。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テストでは、攻撃対象と偏見への反対も分類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収集と注釈、データの構成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4297680"/>
                <a:gridCol w="182880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詳細分類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二値ラベル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2,548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1,819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偏見への反対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4分類はテスト用の5,323件に付く。学習用・開発用は二値ラベルを持つ。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発言は平均約49文字、同文の重複も含む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論文が報告する平均文字数は全体48.77文字。攻撃的な発言は53.69文字、非攻撃的な発言は44.20文字だった。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同じ発言文が、学習用・開発用・テスト用の複数に含まれることがある。全体では、同じ文に攻撃的・非攻撃的の両方のラベルが付いている例もある。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発言の文脈や、どのような表現を攻撃と判断するかに解釈の幅がある。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収集と注釈、データの構成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https://aclanthology.org/2022.emnlp-main.796/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検出方法と評価結果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検出方法と評価結果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正答率とF1で、検出の性能を測る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正答率（Accuracy）は、攻撃的・非攻撃的を正しく分類した発言の割合を表す。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適合率は、攻撃的と予測した中で正しい割合。再現率は、攻撃的な発言のうち見つけられた割合で、F1は両者の調和平均である。macro F1はクラス別F1を単純平均する。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偏見への反対を攻撃的と判定してしまう例も、検出器の課題になる。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検出方法と評価結果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2022年のCOLDDetectorは、正答率81%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検出方法と評価結果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8046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13632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2022年論文で報告された、テスト用データの二値正答率。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偏見への反対は、検出器にも難しい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検出方法と評価結果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test類型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Baidu TC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COLDDetector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28.47％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79.51％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21.39％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85.49％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偏見への反対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83.08％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38.32％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91.48％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89.29％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2022年の類型別正答率。COLDDetectorの全体の正答率は81.06%。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検出器は、生成文の攻撃性の分析にも使う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COLDDetectorは、中国語の事前学習モデルbert-base-chineseを、攻撃的・非攻撃的の二値分類に向けて微調整した検出器である。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研究では、この検出器で中国語生成モデルの出力も分析した。生成された文章を分類することで、どのような入力条件で攻撃的な文が出やすいかを調べる。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公式リポジトリはデータとともに、利用できる検出モデルへのリンクも公開している。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検出方法と評価結果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公式リポジトリから、データと検出器を入手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COLDatasetの公式GitHubリポジトリで、学習用・開発用・テスト用のCSVと、検出モデルへのリンクが公開されている。リポジトリのライセンスはApache License 2.0である。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CSVから、発言と正解ラベルを読む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</a:t>
            </a:r>
          </a:p>
        </p:txBody>
      </p:sp>
      <p:sp>
        <p:nvSpPr>
          <p:cNvPr id="4" name="code-frame"/>
          <p:cNvSpPr/>
          <p:nvPr/>
        </p:nvSpPr>
        <p:spPr>
          <a:xfrm>
            <a:off x="594360" y="1600200"/>
            <a:ext cx="7955279" cy="1684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423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open('train.csv', encoding='utf-8-sig',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newline='') as f: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 = next(csv.DictReader(f))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print(row['TEXT'])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01222"/>
            <a:ext cx="7955279" cy="6593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TEXTが発言の本文、labelが0（非攻撃的）または1（攻撃的）。先頭の発言1件を読み、その正解ラベルを表示する。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発言の文脈を捉え、中国語の攻撃性を検出する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188609"/>
          </a:xfrm>
        </p:spPr>
        <p:txBody>
          <a:bodyPr wrap="square" tIns="91440" bIns="235097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COLDatasetは、中国語の攻撃的な発言を分類するためのデータ。ソーシャルメディアの人種・性別・地域に関する話題から集めた37,480件を公開している。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非攻撃的・攻撃的の二値に加え、テストでは攻撃対象と偏見への反対も分類する。批判や皮肉、差別に反対する表現など、文脈を踏まえた解釈が必要になる。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COLDDetectorの学習・評価や、中国語生成モデルの攻撃的な出力を調べる研究に利用されている。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74863"/>
          </a:xfrm>
        </p:spPr>
        <p:txBody>
          <a:bodyPr wrap="square" lIns="0" rIns="0" tIns="0" bIns="89647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追加の発言例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追加の発言例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実例4：受験の数値と出身地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85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第一年512，第二年597，河北考生。相当不后悔。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567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753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1年目は512、2年目は597。河北省の受験生です。本当に後悔していません。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3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その他の非攻撃的（0）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実例5：食文化と出身地を述べる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7027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本安徽人二十多年来没吃过板面....?_?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7027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220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安徽出身で、20年以上、板麺は食べたことがありません....?_?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803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その他の非攻撃的（0）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実例6：外国人全体への条件付き評価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104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只要不来中国的外国人就是好外国人[机智]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104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中国へ来ない外国人なら、よい外国人です。[机智]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88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70248"/>
            <a:ext cx="7955279" cy="2891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原文末尾の「机智」は、「機転が利く」の意。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実例7：男性の集団を指す侮辱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4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这种男人又无耻又恶心，自己算什么东西，要求女的这样那样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こういう男は恥知らずで気持ち悪い。自分を何様だと思って、女性にあれこれ要求するのでしょう。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実例8：否定の表現を含む集団攻撃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85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必须不能歧视黑人（让他们心甘情愿交钱、以后也服服帖帖交钱）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黒人を差別してはいけません（彼らが進んで金を払い、これからもおとなしく払い続けるように）。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実例9：個人を評する短文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4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下嫁保安，把爹妈气个半死，关键还被男人坑了，也是倒霉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格下とされる警備員と結婚して、両親をひどく怒らせたうえに、男にだまされた。ついていないね。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個人への攻撃（1）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実例10：皮肉による人物評価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94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一句话将全球好看女生的妈妈都骂了一遍，你是个人才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たった一言で、世界中のきれいな女子の母親をみんな罵倒したとは。あなたは大した人物ですね。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4276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個人への攻撃（1）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実例11：男女差と歴史的な差別への言及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一些病征也显示出一定的男女差异。但真实的差异一定远远小于历史上女性受到的歧视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36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一部の症状にも一定の男女差は見られます。しかし本当の差は、歴史上女性が受けてきた差別より、はるかに小さいはずです。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137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偏見への反対（3）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実例12：被害を防ぐための通報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685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104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不报警就是纵容犯罪分子呀，以后就会有更多的女人受害！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27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104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警察に通報しないのは、犯罪者を野放しにすることです。そうすれば今後、被害に遭う女性がもっと増えてしまいます！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5234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正解：非攻撃的（0） ／ 偏見への反対（3）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実例13：「直男癌」と「直男」への言及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追加の発言例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801368"/>
            <a:ext cx="3931920" cy="965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麻烦你去了解一下到底什么是直男癌再来说话，直男癌不是直男，直男很正常的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7276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8" name="quote-frame"/>
          <p:cNvSpPr/>
          <p:nvPr/>
        </p:nvSpPr>
        <p:spPr>
          <a:xfrm>
            <a:off x="4663440" y="1801368"/>
            <a:ext cx="3931920" cy="1236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2136" bIns="1016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まず「直男癌」とは何かを調べてから発言してください。「直男癌」と異性愛の男性は別物で、異性愛の男性は普通です。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13701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正解：攻撃的（1） ／ 集団への攻撃（2）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https://github.com/thu-coai/COLDataset/tree/main/COLDataset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70248"/>
            <a:ext cx="7955279" cy="2891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「直男癌」は、女性蔑視的な男性への蔑称。「直男」は異性愛の男性を指す。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データと評価の補足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地域・性別・人種の話題と、テストの4分類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データと評価の補足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1463040"/>
                <a:gridCol w="1463040"/>
                <a:gridCol w="14630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詳細類型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性別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その他の非攻撃的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集団への攻撃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偏見への反対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topicは話題の分類。収集時のキーワードは複数の群に重なることもあるが、CSVのtopic欄は1種類を示す。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開発用ファイルには、二種類のsplit値がある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データと評価の補足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1920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split=train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split=dev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split=test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25,726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ファイル名と内部のsplit欄が一致しない行が、dev.csvに含まれる。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分割間で同じ発言文が共有される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データと評価の補足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同じ文の種類数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train–dev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train–test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dev–test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0と1の両ラベルが付く文（全体）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空白や句読点を含め、同じ発言文を数えたもの。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(n.d.). COLDataset: Chinese offensive language data.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https://github.com/thu-coai/COLDataset/tree/main/COLDataset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正答率とmacro F1の報告値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データと評価の補足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38095"/>
        </p:xfrm>
        <a:graphic>
          <a:graphicData uri="http://schemas.openxmlformats.org/drawingml/2006/table">
            <a:tbl>
              <a:tblPr firstRow="0" bandRow="0"/>
              <a:tblGrid>
                <a:gridCol w="4663440"/>
                <a:gridCol w="1691640"/>
                <a:gridCol w="1691640"/>
              </a:tblGrid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検出方法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macro 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Random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Keyword Matching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Prompt-based Self-Detection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TranslJigsaw Detector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Baidu Text Censor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25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COLDDetector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4802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2022年論文で報告された、二値分類の正答率とmacro F1。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54880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Deng et al. (2022). COLD: A Benchmark for Chinese Offensive Language Detection. EMNLP, 11580–11599.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COLD: A Benchmark for Chinese Offensive Language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Deng, Zhou, Sun, Zheng, Mi, Meng &amp; Huang · 2022 · EMNLP 11580–11599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76856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中国語データ、検出器、生成モデル分析を報告する正式論文。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52928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https://aclanthology.org/2022.emnlp-main.796/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9544"/>
            <a:ext cx="80467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COLDataset: official repository and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5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thu-coai / Deng et al. · n.d. · GitHub。参照2026-10-19。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42231"/>
            <a:ext cx="8046720" cy="585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公式3 CSV、二値と詳細ラベルの説明、検出モデルへのリンクを公開する。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18304"/>
            <a:ext cx="80467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https://github.com/thu-coai/COLDataset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2026-10-19T07:31:16Z</dcterms:modified>
  <dc:title>cold</dc:title>
  <dc:creator>sasakiy84</dc:creator>
  <dcterms:created xsi:type="dcterms:W3CDTF">2026-10-19T07:31:16Z</dcterms:created>
  <dc:language>ja-JP</dc:language>
</cp:coreProperties>
</file>