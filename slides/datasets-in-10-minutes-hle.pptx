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 Id="rId4" Type="http://schemas.openxmlformats.org/officeDocument/2006/relationships/image" Target="../media/image10.png"/><Relationship Id="rId5" Type="http://schemas.openxmlformats.org/officeDocument/2006/relationships/hyperlink" Target="https://lastexam.ai/"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 Id="rId3" Type="http://schemas.openxmlformats.org/officeDocument/2006/relationships/hyperlink" Target="https://github.com/centerforaisafety/hle/blob/main/hle-rolling-changes.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https://lastexam.ai/</a:t>
            </a:r>
          </a:p>
        </p:txBody>
      </p:sp>
      <p:pic>
        <p:nvPicPr>
          <p:cNvPr id="6" name="公式サイトの画面" descr="image.png"/>
          <p:cNvPicPr>
            <a:picLocks noChangeAspect="1"/>
          </p:cNvPicPr>
          <p:nvPr/>
        </p:nvPicPr>
        <p:blipFill>
          <a:blip r:embed="rId4"/>
          <a:stretch>
            <a:fillRect/>
          </a:stretch>
        </p:blipFill>
        <p:spPr>
          <a:xfrm>
            <a:off x="2274570" y="1481328"/>
            <a:ext cx="4594860" cy="30632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原著の公開版は2,500問。文章だけの問題に加え、図や画像を読む問題を含む。</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入力は設問と必要な画像、出力は短い答えか選択肢である。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既存の試験が高得点になり、難問を集めた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そこで、当時のモデルが解けず、人間の専門家が答えを確認できる質問を世界各地から集めた。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542028"/>
        </p:xfrm>
        <a:graphic>
          <a:graphicData uri="http://schemas.openxmlformats.org/drawingml/2006/table">
            <a:tbl>
              <a:tblPr firstRow="0" bandRow="0"/>
              <a:tblGrid>
                <a:gridCol w="2377440"/>
                <a:gridCol w="56692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公開問題と非公開テストを用意している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Phanら（2026）は、共通の評価に使える2,500問を公開し、それとは別に非公開のテスト集合を保持している。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非公開集合は、公開問題に対する過学習や、ベンチマークに合わせた対策の影響を確認するために使う。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本資料の実例は、論文で一般公開された6問から選んでいる。本編で3問、Appendixで残りの3問を扱う。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16438"/>
            <a:ext cx="8046720" cy="179301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転写を手掛かりに、語の意味、文法、人名の関係を解釈する。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採点用モデルは、数式の同値な表現や数値の小さな誤差も扱い、参照解答との一致を判定する。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原著の評価ではo3-mini-2025-01-31を採点に使った。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正解率は採点された正解数を全問数で割る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3問中2問が正解。正解率は約66.7%。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「90%の確信がある」と答える問題群で実際の正解が10%なら、強く過信している。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原著は、正解率に加えてRMS calibration errorを報告する。予測した確信度と実際の正解率のずれを測る指標で、低いほどよい。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Phanら（2026）の評価。較正誤差：RMS calibration error。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5.5：adaptive thinking、max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評価対象：full set（text + multimodal）。</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原著では、約1,000人の専門家が、50か国・500超の機関から参加したと報告している。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参加者は主に大学教員、研究者、大学院修了者で、各分野の専門性を使って難問を作成した。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質問は英語で、明確で解けること、答えを短く確認できること、検索だけで容易に見つからないことが求められた。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3657600"/>
                <a:gridCol w="4389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短答式は全モデルが解けないこと、選択式は偶然の正解を考慮して一つのモデル以外が解けないことを投稿条件とした。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第一段階では、関連分野の大学院学位を持つ査読者が、設問ごとに1〜3件のレビューを行い、作者が修正する。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公開後も、コミュニティの指摘、著者への照会、追加の監査によって誤りや曖昧さを修正した。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2926080"/>
                <a:gridCol w="5120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仕組み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数学が41%を占め、分野ごとの重みは違う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Phanら（2026）。分野別の構成比（%）。</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原著の付録では、200問ずつの二つの監査と修正を経た公開版の専門家不一致率を15.4%と推定している。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生物・化学・健康の部分集合を対象にした査読では、不一致率は約18%だった。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HLE-Rollingは質問を継続的に更新する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原著の公開版は2,500問で、HLE-Rollingは問題を継続的に追加・修正する動的な版である。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公式リポジトリには、2026-02-20の再追加・削除・修正と、2026-07-27の追加・削除の履歴がある。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Faceで利用登録が必要な状態。許可されたアカウントで認証してから実行する。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現在のフラッグシップモデルでは、検索やコード実行を使う評価にも採用されている。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追加例：二つの圏の間の個数を求める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数学の例は、定義を理解して個数を答える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言語学の例では、ティベリア式発音を扱う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詩篇104:7のヘブライ語本文について、子音音で終わる閉音節を列挙する。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文章のみの問題に対する登場時の成績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Phanら（2026）による文章のみの問題での評価。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採点では最終回答と参照解答を比較する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公開集合・非公開集合とHLE-Rolling</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359152"/>
        </p:xfrm>
        <a:graphic>
          <a:graphicData uri="http://schemas.openxmlformats.org/drawingml/2006/table">
            <a:tbl>
              <a:tblPr firstRow="0" bandRow="0"/>
              <a:tblGrid>
                <a:gridCol w="2377440"/>
                <a:gridCol w="566928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Phanら（2026）が公開する2,500問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非公開テスト集合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公開集合への過学習や評価対策の影響を確認</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HLE-Rolling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質問の追加・削除・修正を継続する版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https://github.com/centerforaisafety/hle/blob/main/hle-rolling-changes.txt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HLE-Diamondのツール付き評価環境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651760"/>
                <a:gridCol w="539496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経路</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実行エージェント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Code、Codex CLI、Gemini CLIなど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質問の作成には多数の専門家が参加した。原著は運営チームとデータ作成への貢献者を区別して列挙する。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A benchmark of expert-level academic questions to assess AI capabilitie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5" name="文献 2: Humanity’s Last Exam"/>
          <p:cNvSpPr txBox="1"/>
          <p:nvPr/>
        </p:nvSpPr>
        <p:spPr>
          <a:xfrm>
            <a:off x="548640" y="342125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Humanity’s Last Exam: official repository"/>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5" name="文献 2: HLE dataset card"/>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Claude Opus 5.5"/>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5" name="文献 2: GPT-6 Astra: A new generation of intelligen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Gemini 3.1 Pr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Evaluating HLE-Diamond with too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