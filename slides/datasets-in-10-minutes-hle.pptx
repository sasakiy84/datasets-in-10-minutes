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docs/evaluation-with-tools.md"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原著の公開版は2,500問。文章だけの問題に加え、図や画像を読む問題を含む。</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入力は設問と必要な画像、出力は短い答えか選択肢。研究計画や長い論述そのものを採点する課題ではない。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既存の試験が高得点になり、難問を集めた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そこで、当時のモデルが解けず、人間の専門家が答えを確認できる質問を世界各地から集めた。</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難しさは収集時のモデルに依存する。登場時の低得点を、そのまま現在のモデルの能力と見なしてはいけない。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2377440"/>
                <a:gridCol w="56692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形式と画像の有無は別の分類軸。割合は原著の記載で、丸めを含む。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実例1では、解剖学の細部を短く答える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ハチドリという名前を知っているだけでは足りず、筋・腱・種子骨の関係に関する専門知識が必要になる。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質問は長いが、求める出力は数値だけ。採点では、その数が参照解答と一致するかを確認できる。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専門語の多さ、推論の段数、答えの長さは別の性質である。短い答えでも、容易な問題とは限らない。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16438"/>
            <a:ext cx="8046720" cy="179301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指定形式は「[nπ]-con／[nπ]-dis」「[m+n]」。図の結合関係と、反応の規則の両方が解答に関わる。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画像から文字を読むだけでなく、転写と語の意味、文法や人名の関係を解釈する必要がある。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HLEの画像付き問題は、物体名を当てる課題に限らない。文章と図を合わせて専門知識を使う問題を含む。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採点用モデルは参照解答との一致を確認する。数式の同値な表現や数値の小さな誤差も扱うため、単純な文字列一致だけではない。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原著の評価ではo3-mini-2025-01-31を採点に使った。採点モデルの設定も評価条件の一部である。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正解率は採点された正解数を全問数で割る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説明用の採点例。3問中2問が正解なので、正解率は約66.7%。HLEの実測結果ではない。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「90%の確信がある」と答える問題群で実際の正解が10%なら、強く過信している。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原著は、正解率に加えてRMS calibration errorを報告する。予測した確信度と実際の正解率のずれを測る指標で、低いほどよい。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答えが正しいかという能力と、分からないときに確信を下げられるかという性質を、別々に見る。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原著Table 1の公開版全体。較正誤差はRMS calibration error。現在の成績とは区別する。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Anthropicの2026-09-22公開値。Opus 5.5は原則max effort。対象版・ツール環境は出典に依存する。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GPT-6 Astraの提供元でもHLEを報告する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OpenAIのGPT-6 Astra公開資料にも、HLEのツール付き正解率57.2%が掲載されている。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HLEは、2026年10月時点でも最先端のプロプライエタリモデルを評価する指標の一つとして使われている。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公表値は提供元の評価報告である。対象集合、ツールの実行環境、推論量を含めて読む必要がある。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 DeepMindの公開値。full set（text + multimodal）。OpusやAstraとは評価条件を一律と見なさない。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高得点は研究や実務の全能力を意味しない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HLEが測るのは、答えの決まった専門的な質問への応答である。新しい研究課題の発見や、実験を遂行する能力全体を直接は測らない。</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得点を比較するときは、データの版、画像の扱い、ツール、推論量、採点モデルを確認する。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公開問題の学習への混入や、参照解答・設問の不備も得点に影響する。高い正解率だけから万能さを結論しない。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原著では、約1,000人の専門家が、50か国・500超の機関から参加したと報告している。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参加者は主に大学教員、研究者、大学院修了者。既存の簡単な試験を寄せ集めるのではなく、専門性を使って難問を作る。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質問は英語で、明確で解けること、答えを短く確認できること、検索だけで容易に見つからないことが求められた。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3657600"/>
                <a:gridCol w="4389120"/>
              </a:tblGrid>
              <a:tr h="40284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475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475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試行回数と質問数は別の単位。採択率を70,000回を分母にして計算してはいけない。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短答式は全モデルが解けないこと、選択式は偶然の正解を考慮して一つのモデル以外が解けないことを投稿条件とした。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推論には揺らぎがあるため、この段階を通った問題でも、後の再評価で正解が出ることはある。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第一段階では、関連分野の大学院学位を持つ査読者が、設問ごとに1〜3件のレビューを行い、作者が修正する。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公開後も、コミュニティの指摘、著者への照会、追加の監査によって誤りや曖昧さを修正した。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2926080"/>
                <a:gridCol w="5120640"/>
              </a:tblGrid>
              <a:tr h="4085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仕組み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393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393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47393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47393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原著が説明する募集時の仕組み。現在も投稿・賞金募集が継続しているという意味ではない。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数学が41%を占め、分野ごとの重みは違う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原著Fig. 3の構成比（%）。各分野の比率は均等ではない。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原著の付録では、200問ずつの二つの監査と修正を経た公開版の専門家不一致率を15.4%と推定している。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生物・化学・健康の部分集合では約18%。これはその監査の不一致率であり、全データの確定した誤答率ではない。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問題の高度な専門性と、参照解答の信頼性は別に評価する必要がある。疑義は作者を含めて確認し、版を追跡する。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固定した公開版と継続更新の版を区別する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この資料の規模・構成比・登場時の成績は、原著が説明する2,500問の公開版に対応する。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原著はHLE-Rollingという動的な版を説明している。公式リポジトリには2026年2月と7月の追加・削除・修正の履歴がある。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同じHLEという呼び名でも、使ったデータの改訂や評価手順を記録しなければ、成績を厳密に再現できない。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Faceで利用登録が必要な状態。許可されたアカウントで認証してから実行する。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HLEを使うときは、五つの条件を記録する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1828800"/>
                <a:gridCol w="6217920"/>
              </a:tblGrid>
              <a:tr h="43891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記録する内容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データ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版・改訂ID・対象集合・画像の有無</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モデル名・版・推論量</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検索・コード実行と制約</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採点モデル・プロンプト・判定方法</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正解率・確信度・計算量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現在のフラッグシップにも使われるが、ツールや版によって評価条件が変わる。正解率に加えて、確信度と設問の品質も確認する。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追加例：二つの圏の間の個数を求める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数学の例は、定義を理解して個数を答える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原文の数式と定義の対応が入力の一部になる。単語の意味や公式だけでなく、定義から対象を構成する知識が必要である。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問題中の定義と、連結・二部・正則といったグラフの性質を結び付ける。選択式でも、定理や確率過程の知識が必要になる。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言語学の例は、文字列の見た目だけでは解けない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詩篇104:7のヘブライ語本文について、子音音で終わる閉音節を列挙する。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表記された文字と、歴史的に復元された発音は同じではない。どの発音体系を使うかが解答条件になる。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文章のみと画像付きは、別々の評価範囲になる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267712"/>
        </p:xfrm>
        <a:graphic>
          <a:graphicData uri="http://schemas.openxmlformats.org/drawingml/2006/table">
            <a:tbl>
              <a:tblPr firstRow="0" bandRow="0"/>
              <a:tblGrid>
                <a:gridCol w="2286000"/>
                <a:gridCol w="1554480"/>
                <a:gridCol w="4206240"/>
              </a:tblGrid>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解釈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文章のみ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約86%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テキストモデルでも評価できる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画像付き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画像入力に対応する必要がある</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公開版全体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両方を含むモデルと比較する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6849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割合からの件数換算は丸めの影響を受けるため、実数としては提示しない。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文章のみの成績は全体の成績と分けて見る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原著Table 2。全2,500問を分母にした表ではない。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採点モデルには解き直しをさせない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それでも採点はモデルによる判定である。モデル名、プロンプト、失敗時の扱いを保存する必要がある。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0439"/>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説明用の例。両方の正解率は同じだが、Aのほうが過信している。HLEの集計値ではない。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較正誤差は実装と集計範囲も確認する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公開コードは確信度で回答を並べ、原則100件単位の群で確信度と正解率を比較する。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参照した実装には、群のループが末尾の群を含まない箇所がある。指標名だけで、全件を同じ方法で再計算したと見なさない。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較正誤差を再計算する際は、コードの改訂・対象範囲・群の作り方を記録し、原著の報告値との違いを確認する。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配布容量と論理的なデータ量を区別する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19" cy="1819656"/>
        </p:xfrm>
        <a:graphic>
          <a:graphicData uri="http://schemas.openxmlformats.org/drawingml/2006/table">
            <a:tbl>
              <a:tblPr firstRow="0" bandRow="0"/>
              <a:tblGrid>
                <a:gridCol w="3749039"/>
                <a:gridCol w="2651760"/>
                <a:gridCol w="164592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公式メタデータの項目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bytes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download_size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274,276,147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dataset_size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284,205,983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271.04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0439"/>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2026-10-16に取得した公式APIの値。実ファイル全体は未取得。MiB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HLE-Rollingは問題の追加・削除も記録する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公式リポジトリの更新履歴には、2026-02-20の再追加・削除・修正と、2026-07-27の追加・削除が記録されている。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更新履歴だけから、固定公開版の件数がそのまま増減したと決めない。どの配布物・版に対応するか確認する。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モデルの成績を追跡する際は、モデル更新による変化と、問題集合の変更による変化を区別する。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ツール付き評価では外部情報への経路を制限する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2651760"/>
                <a:gridCol w="5394960"/>
              </a:tblGrid>
              <a:tr h="408561">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経路</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3931">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3931">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73931">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73931">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参照文書の表題は「Evaluating HLE-Diamond with tools」。すべての既存スコアがこの設定と同じとは限らない。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ツール付きの成績はモデル以外にも依存する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公式手順では、Claude Code、Codex CLI、Gemini CLIなど、提供元のエージェント環境を使う。</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検索で何が返るか、コードで何を実行できるか、どこまで推論を続けるかが結果に影響する。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同じツールありという表示でも、モデル単体の能力だけを比較しているとは限らない。実行環境の版も記録する。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質問の作成には多数の専門家が参加した。原著は運営チームとデータ作成への貢献者を区別して列挙する。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TextBox 3"/>
          <p:cNvSpPr txBox="1"/>
          <p:nvPr/>
        </p:nvSpPr>
        <p:spPr>
          <a:xfrm>
            <a:off x="548640" y="1435608"/>
            <a:ext cx="8046720" cy="61976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p:txBody>
      </p:sp>
      <p:sp>
        <p:nvSpPr>
          <p:cNvPr id="5" name="TextBox 4"/>
          <p:cNvSpPr txBox="1"/>
          <p:nvPr/>
        </p:nvSpPr>
        <p:spPr>
          <a:xfrm>
            <a:off x="548640" y="2073655"/>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p:txBody>
      </p:sp>
      <p:sp>
        <p:nvSpPr>
          <p:cNvPr id="6" name="TextBox 5"/>
          <p:cNvSpPr txBox="1"/>
          <p:nvPr/>
        </p:nvSpPr>
        <p:spPr>
          <a:xfrm>
            <a:off x="548640" y="2384551"/>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HLEの収集・審査・構成・登場時のモデル評価を報告する原著。</a:t>
            </a:r>
          </a:p>
        </p:txBody>
      </p:sp>
      <p:sp>
        <p:nvSpPr>
          <p:cNvPr id="7" name="TextBox 6"/>
          <p:cNvSpPr txBox="1"/>
          <p:nvPr/>
        </p:nvSpPr>
        <p:spPr>
          <a:xfrm>
            <a:off x="548640" y="3024631"/>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8" name="TextBox 7"/>
          <p:cNvSpPr txBox="1"/>
          <p:nvPr/>
        </p:nvSpPr>
        <p:spPr>
          <a:xfrm>
            <a:off x="548640" y="3527551"/>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p:txBody>
      </p:sp>
      <p:sp>
        <p:nvSpPr>
          <p:cNvPr id="9" name="TextBox 8"/>
          <p:cNvSpPr txBox="1"/>
          <p:nvPr/>
        </p:nvSpPr>
        <p:spPr>
          <a:xfrm>
            <a:off x="548640" y="3878579"/>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p:txBody>
      </p:sp>
      <p:sp>
        <p:nvSpPr>
          <p:cNvPr id="10" name="TextBox 9"/>
          <p:cNvSpPr txBox="1"/>
          <p:nvPr/>
        </p:nvSpPr>
        <p:spPr>
          <a:xfrm>
            <a:off x="548640" y="4189475"/>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p:txBody>
      </p:sp>
      <p:sp>
        <p:nvSpPr>
          <p:cNvPr id="11" name="TextBox 10"/>
          <p:cNvSpPr txBox="1"/>
          <p:nvPr/>
        </p:nvSpPr>
        <p:spPr>
          <a:xfrm>
            <a:off x="548640" y="4829556"/>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TextBox 3"/>
          <p:cNvSpPr txBox="1"/>
          <p:nvPr/>
        </p:nvSpPr>
        <p:spPr>
          <a:xfrm>
            <a:off x="548640" y="1435608"/>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p:txBody>
      </p:sp>
      <p:sp>
        <p:nvSpPr>
          <p:cNvPr id="5" name="TextBox 4"/>
          <p:cNvSpPr txBox="1"/>
          <p:nvPr/>
        </p:nvSpPr>
        <p:spPr>
          <a:xfrm>
            <a:off x="548640" y="1786636"/>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p:txBody>
      </p:sp>
      <p:sp>
        <p:nvSpPr>
          <p:cNvPr id="6" name="TextBox 5"/>
          <p:cNvSpPr txBox="1"/>
          <p:nvPr/>
        </p:nvSpPr>
        <p:spPr>
          <a:xfrm>
            <a:off x="548640" y="2097532"/>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p:txBody>
      </p:sp>
      <p:sp>
        <p:nvSpPr>
          <p:cNvPr id="7" name="TextBox 6"/>
          <p:cNvSpPr txBox="1"/>
          <p:nvPr/>
        </p:nvSpPr>
        <p:spPr>
          <a:xfrm>
            <a:off x="548640" y="2737612"/>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8" name="TextBox 7"/>
          <p:cNvSpPr txBox="1"/>
          <p:nvPr/>
        </p:nvSpPr>
        <p:spPr>
          <a:xfrm>
            <a:off x="548640" y="3240532"/>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p:txBody>
      </p:sp>
      <p:sp>
        <p:nvSpPr>
          <p:cNvPr id="9" name="TextBox 8"/>
          <p:cNvSpPr txBox="1"/>
          <p:nvPr/>
        </p:nvSpPr>
        <p:spPr>
          <a:xfrm>
            <a:off x="548640" y="3591560"/>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p:txBody>
      </p:sp>
      <p:sp>
        <p:nvSpPr>
          <p:cNvPr id="10" name="TextBox 9"/>
          <p:cNvSpPr txBox="1"/>
          <p:nvPr/>
        </p:nvSpPr>
        <p:spPr>
          <a:xfrm>
            <a:off x="548640" y="3902456"/>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p:txBody>
      </p:sp>
      <p:sp>
        <p:nvSpPr>
          <p:cNvPr id="11" name="TextBox 10"/>
          <p:cNvSpPr txBox="1"/>
          <p:nvPr/>
        </p:nvSpPr>
        <p:spPr>
          <a:xfrm>
            <a:off x="548640" y="4542536"/>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TextBox 3"/>
          <p:cNvSpPr txBox="1"/>
          <p:nvPr/>
        </p:nvSpPr>
        <p:spPr>
          <a:xfrm>
            <a:off x="548640" y="1435608"/>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p:txBody>
      </p:sp>
      <p:sp>
        <p:nvSpPr>
          <p:cNvPr id="5" name="TextBox 4"/>
          <p:cNvSpPr txBox="1"/>
          <p:nvPr/>
        </p:nvSpPr>
        <p:spPr>
          <a:xfrm>
            <a:off x="548640" y="1786636"/>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p:txBody>
      </p:sp>
      <p:sp>
        <p:nvSpPr>
          <p:cNvPr id="6" name="TextBox 5"/>
          <p:cNvSpPr txBox="1"/>
          <p:nvPr/>
        </p:nvSpPr>
        <p:spPr>
          <a:xfrm>
            <a:off x="548640" y="2097532"/>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p:txBody>
      </p:sp>
      <p:sp>
        <p:nvSpPr>
          <p:cNvPr id="7" name="TextBox 6"/>
          <p:cNvSpPr txBox="1"/>
          <p:nvPr/>
        </p:nvSpPr>
        <p:spPr>
          <a:xfrm>
            <a:off x="548640" y="2737612"/>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8" name="TextBox 7"/>
          <p:cNvSpPr txBox="1"/>
          <p:nvPr/>
        </p:nvSpPr>
        <p:spPr>
          <a:xfrm>
            <a:off x="548640" y="3240532"/>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p:txBody>
      </p:sp>
      <p:sp>
        <p:nvSpPr>
          <p:cNvPr id="9" name="TextBox 8"/>
          <p:cNvSpPr txBox="1"/>
          <p:nvPr/>
        </p:nvSpPr>
        <p:spPr>
          <a:xfrm>
            <a:off x="548640" y="3591560"/>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p:txBody>
      </p:sp>
      <p:sp>
        <p:nvSpPr>
          <p:cNvPr id="10" name="TextBox 9"/>
          <p:cNvSpPr txBox="1"/>
          <p:nvPr/>
        </p:nvSpPr>
        <p:spPr>
          <a:xfrm>
            <a:off x="548640" y="3902456"/>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p:txBody>
      </p:sp>
      <p:sp>
        <p:nvSpPr>
          <p:cNvPr id="11" name="TextBox 10"/>
          <p:cNvSpPr txBox="1"/>
          <p:nvPr/>
        </p:nvSpPr>
        <p:spPr>
          <a:xfrm>
            <a:off x="548640" y="4542536"/>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TextBox 3"/>
          <p:cNvSpPr txBox="1"/>
          <p:nvPr/>
        </p:nvSpPr>
        <p:spPr>
          <a:xfrm>
            <a:off x="548640" y="1435608"/>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p:txBody>
      </p:sp>
      <p:sp>
        <p:nvSpPr>
          <p:cNvPr id="5" name="TextBox 4"/>
          <p:cNvSpPr txBox="1"/>
          <p:nvPr/>
        </p:nvSpPr>
        <p:spPr>
          <a:xfrm>
            <a:off x="548640" y="1786636"/>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p:txBody>
      </p:sp>
      <p:sp>
        <p:nvSpPr>
          <p:cNvPr id="6" name="TextBox 5"/>
          <p:cNvSpPr txBox="1"/>
          <p:nvPr/>
        </p:nvSpPr>
        <p:spPr>
          <a:xfrm>
            <a:off x="548640" y="2097532"/>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p:txBody>
      </p:sp>
      <p:sp>
        <p:nvSpPr>
          <p:cNvPr id="7" name="TextBox 6"/>
          <p:cNvSpPr txBox="1"/>
          <p:nvPr/>
        </p:nvSpPr>
        <p:spPr>
          <a:xfrm>
            <a:off x="548640" y="2737612"/>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8" name="TextBox 7"/>
          <p:cNvSpPr txBox="1"/>
          <p:nvPr/>
        </p:nvSpPr>
        <p:spPr>
          <a:xfrm>
            <a:off x="548640" y="3240532"/>
            <a:ext cx="8046720" cy="332740"/>
          </a:xfrm>
          <a:prstGeom prst="rect">
            <a:avLst/>
          </a:prstGeom>
          <a:noFill/>
        </p:spPr>
        <p:txBody>
          <a:bodyPr wrap="square" lIns="0" rIns="0" tIns="0" bIns="0">
            <a:noAutofit/>
          </a:bodyPr>
          <a:lstStyle/>
          <a:p>
            <a:pPr algn="l">
              <a:lnSpc>
                <a:spcPct val="113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p:txBody>
      </p:sp>
      <p:sp>
        <p:nvSpPr>
          <p:cNvPr id="9" name="TextBox 8"/>
          <p:cNvSpPr txBox="1"/>
          <p:nvPr/>
        </p:nvSpPr>
        <p:spPr>
          <a:xfrm>
            <a:off x="548640" y="3591560"/>
            <a:ext cx="8046720" cy="246888"/>
          </a:xfrm>
          <a:prstGeom prst="rect">
            <a:avLst/>
          </a:prstGeom>
          <a:noFill/>
        </p:spPr>
        <p:txBody>
          <a:bodyPr wrap="square" lIns="0" rIns="0" tIns="0" bIns="0">
            <a:noAutofit/>
          </a:bodyPr>
          <a:lstStyle/>
          <a:p>
            <a:pPr algn="l">
              <a:lnSpc>
                <a:spcPct val="100000"/>
              </a:lnSpc>
              <a:spcBef>
                <a:spcPts val="0"/>
              </a:spcBef>
              <a:spcAft>
                <a:spcPts val="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p:txBody>
      </p:sp>
      <p:sp>
        <p:nvSpPr>
          <p:cNvPr id="10" name="TextBox 9"/>
          <p:cNvSpPr txBox="1"/>
          <p:nvPr/>
        </p:nvSpPr>
        <p:spPr>
          <a:xfrm>
            <a:off x="548640" y="3902456"/>
            <a:ext cx="8046720" cy="621792"/>
          </a:xfrm>
          <a:prstGeom prst="rect">
            <a:avLst/>
          </a:prstGeom>
          <a:noFill/>
        </p:spPr>
        <p:txBody>
          <a:bodyPr wrap="square" lIns="0" rIns="0" tIns="0" bIns="0">
            <a:noAutofit/>
          </a:bodyPr>
          <a:lstStyle/>
          <a:p>
            <a:pPr algn="l">
              <a:lnSpc>
                <a:spcPct val="114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p:txBody>
      </p:sp>
      <p:sp>
        <p:nvSpPr>
          <p:cNvPr id="11" name="TextBox 10"/>
          <p:cNvSpPr txBox="1"/>
          <p:nvPr/>
        </p:nvSpPr>
        <p:spPr>
          <a:xfrm>
            <a:off x="548640" y="4542536"/>
            <a:ext cx="8046720" cy="219456"/>
          </a:xfrm>
          <a:prstGeom prst="rect">
            <a:avLst/>
          </a:prstGeom>
          <a:noFill/>
        </p:spPr>
        <p:txBody>
          <a:bodyPr wrap="square" lIns="0" rIns="0" tIns="0" bIns="0">
            <a:noAutofit/>
          </a:bodyPr>
          <a:lstStyle/>
          <a:p>
            <a:pPr algn="l">
              <a:lnSpc>
                <a:spcPct val="100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