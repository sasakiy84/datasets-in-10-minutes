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1" r:id="rId21"/>
    <p:sldId id="272" r:id="rId22"/>
    <p:sldId id="304" r:id="rId54"/>
    <p:sldId id="273" r:id="rId23"/>
    <p:sldId id="274" r:id="rId24"/>
    <p:sldId id="275" r:id="rId25"/>
    <p:sldId id="276" r:id="rId26"/>
    <p:sldId id="277" r:id="rId27"/>
    <p:sldId id="280" r:id="rId30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5" r:id="rId55"/>
    <p:sldId id="307" r:id="rId57"/>
    <p:sldId id="309" r:id="rId59"/>
    <p:sldId id="310" r:id="rId60"/>
    <p:sldId id="311" r:id="rId61"/>
    <p:sldId id="312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30" Type="http://schemas.openxmlformats.org/officeDocument/2006/relationships/slide" Target="slides/slide23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4" Type="http://schemas.openxmlformats.org/officeDocument/2006/relationships/slide" Target="slides/slide17.xml"/><Relationship Id="rId55" Type="http://schemas.openxmlformats.org/officeDocument/2006/relationships/slide" Target="slides/slide41.xml"/><Relationship Id="rId57" Type="http://schemas.openxmlformats.org/officeDocument/2006/relationships/slide" Target="slides/slide42.xml"/><Relationship Id="rId59" Type="http://schemas.openxmlformats.org/officeDocument/2006/relationships/slide" Target="slides/slide43.xml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ShichaoSun/math_seq2tre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Relationship Id="rId3" Type="http://schemas.openxmlformats.org/officeDocument/2006/relationships/hyperlink" Target="https://github.com/ShichaoSun/math_seq2tre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/blob/master/data/Math_23K.json" TargetMode="External"/><Relationship Id="rId3" Type="http://schemas.openxmlformats.org/officeDocument/2006/relationships/hyperlink" Target="https://aclanthology.org/2023.emnlp-demo.17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" TargetMode="External"/><Relationship Id="rId3" Type="http://schemas.openxmlformats.org/officeDocument/2006/relationships/hyperlink" Target="https://aclanthology.org/D17-1088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" TargetMode="External"/><Relationship Id="rId3" Type="http://schemas.openxmlformats.org/officeDocument/2006/relationships/hyperlink" Target="https://github.com/ShichaoSun/math_seq2tree/blob/master/data/Math_23K.json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7-1088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jcai.org/proceedings/2019/736" TargetMode="External"/><Relationship Id="rId3" Type="http://schemas.openxmlformats.org/officeDocument/2006/relationships/hyperlink" Target="https://github.com/ShichaoSun/math_seq2tree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hichaoSun/math_seq2tree/tree/master/src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Relationship Id="rId3" Type="http://schemas.openxmlformats.org/officeDocument/2006/relationships/hyperlink" Target="https://github.com/ShichaoSun/math_seq2tree/blob/master/LICENSE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Relationship Id="rId3" Type="http://schemas.openxmlformats.org/officeDocument/2006/relationships/hyperlink" Target="https://github.com/ShichaoSun/math_seq2tree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/blob/master/data/Math_23K.json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ijcai.org/proceedings/2019/736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D17-1088/" TargetMode="External"/><Relationship Id="rId3" Type="http://schemas.openxmlformats.org/officeDocument/2006/relationships/hyperlink" Target="https://www.ijcai.org/proceedings/2019/736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D17-1088/" TargetMode="External"/><Relationship Id="rId3" Type="http://schemas.openxmlformats.org/officeDocument/2006/relationships/hyperlink" Target="https://www.ijcai.org/proceedings/2019/736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hichaoSun/math_seq2tree" TargetMode="External"/><Relationship Id="rId3" Type="http://schemas.openxmlformats.org/officeDocument/2006/relationships/hyperlink" Target="https://web.archive.org/web/20170830114828/http://ai.tencent.com:80/ailab/Deep_Neural_Solver_for_Math_Word_Problem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Math23K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91565"/>
          </a:xfrm>
        </p:spPr>
        <p:txBody>
          <a:bodyPr lIns="0" rIns="0" tIns="0" bIns="10160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Chinese Math Word Problems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中国語の算数文章題から、式と答えを求める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GTSの開発者が公開した、実装とデータ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Math23K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1" y="1481328"/>
            <a:ext cx="735177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math_seq2tree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文章から、式と答えを求める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2017年の収集と問題の表現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モデルの評価と採点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文章から、式と答えを求める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文章の数を拾い、求める量を式で表す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Math23Kは、中国語の算数文章題から計算式を作り、数値の答えを求めるためのデータセット。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入力は中国語の問題文。データには計算式equationと答えansがあり、モデルは文章から式を生成し、式を解いて答える。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2017年にWang・Liu・Shiが発表した。ここでは、その研究と、GTSの研究で公開された問題・実装を紹介する。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(n.d.). math_seq2tree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数値の意味と、求める対象を対応させる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同じ数が出てきても、総数・差・割合のどれを問うかで式は変わる。「より多い」「残り」「平均」などの関係を読む。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括弧で示す計算のまとまり、百分率・分数の表記、整数への丸め方にも注意する。単位は、何の量を求めているかを示す手掛かりになる。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実例1：ニワトリがアヒルより多い羽数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一个饲养场，养鸭1200只，养的鸡比养的鸭多(3/5)，养的鸡比鸭多多少只？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ある飼育場ではアヒルを1200羽飼っている。ニワトリは、アヒルの数の3/5だけ多い。ニワトリはアヒルより何羽多いか。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252895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1200 × (3/5)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65523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正解：720羽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ニワトリとアヒルの差は、720羽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この問題が尋ねるのは、ニワトリがアヒルより多い羽数。アヒル1,200羽に3/5を掛けた720羽が、その差になる。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ニワトリの総数は1,200＋720＝1,920羽となる。何を求めるかによって、必要な式も答えも変わる。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実例2：積を引いてから、差を割る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10.6-0.4与5.5的积，所得的差除以2.1，商=？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10.6から、0.4と5.5の積を引き、その差を2.1で割ると、商はいくつか。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965027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(10.6 − 0.4 × 5.5) ÷ 2.1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36736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文章の順番を、括弧と演算順に変える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0.4と5.5の積を先に求める。10.6から引いた差全体を、2.1で割る。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0.4 × 5.5 = 2.2、10.6 − 2.2 = 8.4、8.4 ÷ 2.1 = 4。引く前に積を計算し、引いた結果を割る。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式を左から機械的に読むだけでは足りない。文中の「積」「差」「商」が、計算のまとまりを指定している。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実例3：年利から、3年間の利息を求める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小明把1800元存入银行，定期整存整取3年．如果按年利率3.33%计算，到期后小明可得利息多少元．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小明は1800元を銀行の3年定期預金に一括で預け入れ、満期にまとめて受け取ることにした。年利3.33%とすると、満期にもらえる利息はいくらか。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540761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1800 × 3.33% × 3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9430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正解：179.82元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百分率と年数から、利息だけを求める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3.33%を0.0333に直す。元金1,800元に年利と年数を掛け、利息を求める。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1,800×0.0333×3＝179.82元。元金を含む受取総額は1,979.82元だが、設問が尋ねるのは利息である。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預金に関する語句と単位が、元金・年利・期間・利息の対応を示している。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文章から、式と答えを求める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2017年の収集と問題の表現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2017年の収集と問題の表現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教育サイトの問題から、式と答えを抽出した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2017年のWang・Liu・Shiは、中国語の教育サイトから6万件以上の問題を収集した。小学算数の文章題を対象とする。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規則により問題文・式・答えを抽出し、適さない例を除いた。論文は、1変数の線形な問題23,161件と、2,187の式テンプレートを報告する。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2017年の収集と問題の表現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数字を記号へ置き換えて、式の形を学ぶ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2017年の方法は、問題文中の数字とその出現位置を対応付け、数字を記号へ置き換える。文章から式テンプレートを生成し、数字を戻して解く。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数が出現しても、すべてが式に必要とは限らない。月や学年など、答えに使わない数も問題文に含まれる。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SNIはsignificant number identification。式に使う数を識別し、式生成に不要な数を抑えるための仕組みである。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2017年の収集と問題の表現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問題文の数を、式の記号へ対応させる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GTSの開発者が公開したファイルには23,162問があり、id・original_text・segmented_text・equation・ansを持つ。1問を7行で記録している。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公開実装は、分かち書き済みのsegmented_textを空白で分割し、数字をNUMへ置き換える。式中のN0、N1…は、問題文から取り出した数値を表す。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問題文からコピーする数に加え、定数1や3.14のような値も出力語彙に入れる。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2017年の収集と問題の表現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https://aclanthology.org/D17-1088/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(n.d.). math_seq2tree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7行を読み、問題文・式・答えを取り出す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2017年の収集と問題の表現</a:t>
            </a:r>
          </a:p>
        </p:txBody>
      </p:sp>
      <p:sp>
        <p:nvSpPr>
          <p:cNvPr id="6" name="code-frame"/>
          <p:cNvSpPr/>
          <p:nvPr/>
        </p:nvSpPr>
        <p:spPr>
          <a:xfrm>
            <a:off x="548640" y="1554480"/>
            <a:ext cx="8046720" cy="1600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47413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open("Math_23K.json", encoding="utf-8") as f: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first = "".join(next(f) for _ in range(7))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problem = json.loads(first)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print(problem["original_text"])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print(problem["equation"], problem["ans"])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307079"/>
            <a:ext cx="790956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1問を7行で記録。original_textが問題文、equationが式、ansが答え。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モデルの評価と採点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モデルの評価と採点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2017年は、5分割交差検証で評価した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2017年に報告された成績は、5分割交差検証の平均正答率。各回で4分割を学習、残る1分割をテストに使った。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類似する問題から式を選ぶRetrieval、式を生成するSeq2seq、両者を組み合わせたHybridを比較した。SNIを使うと、3方式とも正答率が上がった。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モデルの評価と採点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2017年：Math23Kの平均正答率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モデルの評価と採点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SNIなし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SNIあり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Retrieval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Seq2seq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Hybrid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5分割交差検証の平均。既存の比較モデルZDCは42.1%。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2019年のGTSは、式を木として生成する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Xie・SunのGTSは、求める量を目標として式木を上から分解し、完成した部分木を下から表現して、次の生成に使う。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2019年論文は、Math23Kの5分割交差検証でGTSの正答率74.3%を報告した。比較対象の2017年Hybridは64.7%だった。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2019年の公開実装も5分割交差検証を行う。データは配布順に5区間へ分ける。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モデルの評価と採点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(2019). A Goal-Driven Tree-Structured Neural Model for Math Word Problems. IJCAI.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https://www.ijcai.org/proceedings/2019/736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(n.d.). math_seq2tree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式の形と、計算結果を比べる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2019年の公開実装は、予測式と正解式の計算結果を比べる。差が10⁻⁴未満なら、値が一致したと判定する。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比較するのは二つの式の計算結果で、データのans欄を直接比べる方式ではない。式の一致は、式を構成するトークン列の一致で判定する。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式の並びが違っても同じ値になる場合がある。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モデルの評価と採点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math_seq2tree expression evaluation.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https://github.com/ShichaoSun/math_seq2tree/tree/master/src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入手方法と利用条件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2019年の配布ファイルと、利用条件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元の配布先として、Tencent AI Labのプロジェクトページが案内されていた。現在は、GTSの開発者の公式GitHubから問題ファイルを取得できる。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2019年リポジトリのコードはGPL-3.0。教育サイト由来の問題文の権利は、各出所にも関わる。データを再利用する際は、問題文とコードの利用条件を確認する。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入手方法と利用条件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(n.d.). math_seq2tree LICENSE, GNU GPL version3.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https://github.com/ShichaoSun/math_seq2tree/blob/master/LICENSE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文章の数と関係から、式と答えを求める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Math23Kは、中国語の算数文章題を読み、数量関係を計算式で表して答えるデータセット。求める量、演算順、割合、単位が、式の組み立てを左右する。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2017年の研究では、問題から式を生成する方法や、似た問題の式を使う方法を比べた。2019年には、式を木として生成する方法へ発展した。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公開データでモデルを学習・評価し、予測した式の形や計算結果を正解と比べられる。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入手方法と利用条件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(n.d.). math_seq2tree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https://github.com/ShichaoSun/math_seq2tree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86816"/>
          </a:xfrm>
        </p:spPr>
        <p:txBody>
          <a:bodyPr wrap="square" lIns="0" rIns="0" tIns="0" bIns="1016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追加の問題と単位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式の表記とモデル比較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追加の問題と単位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実例4：ある数の4倍を求める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甲数是168，乙数是甲数的4倍，乙数=？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甲の数は168で、乙の数は甲の4倍である。乙の数はいくつか。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677162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168 × 4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07949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正解：672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実例5：残りの読書量と、読んだ頁数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9990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小方看一本书，已经看了136页，剩下的每天看15页，18天看完．这本书一共有多少页？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小方は本をすでに136頁読んだ。残りを毎日15頁ずつ読むと、18日で読み終わる。この本は全部で何頁あるか。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252895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15 × 18 ＋ 136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65523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正解：406頁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実例6：両端にも木を植えた道の長さ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583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镇海雅乐学校二年级的小朋友到一条小路的一边植树．小朋友们每隔2米种一棵树（马路两头都种了树），最后发现一共种了11棵，这条小路长多少米． 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鎮海雅楽学校の2年生が、道の片側に木を植えた。2mごとに1本植え、道の両端にも木を植えたところ、全部で11本になった。この道は何mあるか。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827908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(11 − 1) × 2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423024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正解：20m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実例7：卒業と入学を差し引いた増加率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象山学校原有学生700人，7月份毕业280人，9月份招入新生350人，这时象山学校的学生比原来增加百分之几？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象山学校にはもともと生徒が700人いた。7月に280人が卒業し、9月に350人の新入生が入った。この時点の生徒数は、もとの人数より何%増えたか。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540761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(350 − 280) ÷ 700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9430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正解：10%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実例8：三つの果樹の本数を比でつなぐ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一个果园的李树棵数是桃树的(7/8)，桃树棵数是梨树的(5/6)．已知李树有1680棵，梨树有多少棵？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ある果樹園では、スモモの木の本数はモモの木の7/8で、モモの木の本数はナシの木の5/6である。スモモの木が1680本のとき、ナシの木は何本か。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540761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1680 ÷ (7/8) ÷ (5/6)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9430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正解：2304本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実例9：家庭の水道料金を、5人で分ける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小芳家5月份用水量是16.5吨，每吨水的价格是2.1元，小芳家一共有5口人，平均每人应交多少水费？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小芳の家は5月に水を16.5t使った。水1tの料金は2.1元で、家族は全部で5人いる。1人当たり、平均でいくら水道料金を負担すればよいか。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540761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16.5 × 2.1 ÷ 5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9430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正解：6.93元／人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実例10：12%多い数から、もとの数へ戻す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比一个数多12%的数是112，这个数=？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ある数より12%多い数は112である。もとの数はいくつか。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677162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112 ÷ (1 ＋ 12%)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07949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正解：100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実例11：二つの班の割合を合わせる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5747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208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一班开展课外活动，全班人数的(1/7)参加科技组，比参加阅读组的少占全班人数的(2/7)，参加这两个组的人数占全班人数的几分之几？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72719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6208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あるクラスで課外活動を行っている。クラス全体の1/7が科学班に参加している。この割合は読書班の割合より、クラス全体の2/7だけ少ない。この2班の参加者を合わせると、全体の何分のいくつか。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693162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(1/7) ＋ (2/7) ＋ (1/7)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409549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正解：4/7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実例12：ひもを使った長さと、帯分数の答え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一条绳子长4米，用去(1/4)米，还剩多少米．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711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長さ4mのひもを1/4m使った。残りは何mか。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677163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4 − (1/4)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07949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正解：3と3/4m（3.75m）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実例13：等間隔の木と、整数での表示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追加の問題と単位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184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quote-frame"/>
          <p:cNvSpPr/>
          <p:nvPr/>
        </p:nvSpPr>
        <p:spPr>
          <a:xfrm>
            <a:off x="548640" y="1847088"/>
            <a:ext cx="3749039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一条路的一边从头到尾共种了36棵树，每两棵树间隔5.6米，这条路长约多少米？（得数保留整数）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526280" y="1847088"/>
            <a:ext cx="4023360" cy="12869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4854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道の片側に端から端まで36本の木を植え、木と木の間隔は5.6mとした。この道の長さは約何mか。（答えは整数に丸める）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252895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式：x = (36 − 1) × 5.6</a:t>
            </a:r>
          </a:p>
        </p:txBody>
      </p:sp>
      <p:sp>
        <p:nvSpPr>
          <p:cNvPr id="10" name="answer"/>
          <p:cNvSpPr txBox="1"/>
          <p:nvPr/>
        </p:nvSpPr>
        <p:spPr>
          <a:xfrm>
            <a:off x="585216" y="3655231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正解：196m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式の表記とモデル比較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式の表記とモデル比較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答えは、百分率・分数・帯分数でも記録される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式の表記とモデル比較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3200400"/>
                <a:gridCol w="35661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配布ans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日本語での答え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6.93元／人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((4)/(7))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4/7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3((3)/(4))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3と3/4m（3.75m）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196m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単位や丸め方も問題文に沿って読む。式とansの数値が異なる問題もある。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(n.d.). Math23K public data.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https://github.com/ShichaoSun/math_seq2tree/blob/master/data/Math_23K.json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2019年：比較したモデル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式の表記とモデル比較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Hybrid（2017）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Ensemble with EN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GTS without Subtree Embedding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74.3%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2019年論文で報告された、5分割交差検証の正答率。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Xie &amp; Sun (2019). A Goal-Driven Tree-Structured Neural Model for Math Word Problems. IJCAI.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https://www.ijcai.org/proceedings/2019/736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Math23Kを導入した研究と、GTSの研究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261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2017年のDeep Neural Solver for Math Word Problemsは、Tencent AI LabのYan Wang・Xiaojiang Liu・Shuming ShiによるEMNLP論文。Math23Kを導入し、Seq2seqとHybridを提案した。</a:t>
            </a:r>
          </a:p>
          <a:p>
            <a:pPr marL="457200" indent="-355600">
              <a:lnSpc>
                <a:spcPts val="2261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2019年のGTS研究はZhipeng Xie・Shichao SunによるIJCAI論文。目標に基づく式木生成を提案し、Math23Kで比較した。両者は共同第一著者と記される。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Wang, Liu &amp; Shi (2017). Deep Neural Solver for Math Word Problems. EMNLP.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Xie &amp; Sun (2019). A Goal-Driven Tree-Structured Neural Model for Math Word Problems. IJCAI.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https://www.ijcai.org/proceedings/2019/736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Deep Neural Solver for Math Word Problems"/>
          <p:cNvSpPr txBox="1"/>
          <p:nvPr/>
        </p:nvSpPr>
        <p:spPr>
          <a:xfrm>
            <a:off x="548640" y="1463040"/>
            <a:ext cx="8046720" cy="13222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 Neural Solver for Math Word Problems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Wang, Liu &amp; Shi · 2017 · EMNLP 845–854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Math23Kを構築し、数値の対応、SNI、5分割交差検証を報告した研究。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https://aclanthology.org/D17-1088/</a:t>
            </a:r>
          </a:p>
        </p:txBody>
      </p:sp>
      <p:sp>
        <p:nvSpPr>
          <p:cNvPr id="5" name="文献 2: A Goal-Driven Tree-Structured Neural Model for Math Word Problems"/>
          <p:cNvSpPr txBox="1"/>
          <p:nvPr/>
        </p:nvSpPr>
        <p:spPr>
          <a:xfrm>
            <a:off x="548640" y="3131693"/>
            <a:ext cx="8046720" cy="16695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Goal-Driven Tree-Structured Neural Model for Math Word Problems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&amp; Sun · 2019 · IJCAI 5299–5305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式を木として生成するGTSを提案し、Math23Kで比較した研究。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https://www.ijcai.org/proceedings/2019/736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ath_seq2tree: official implementation and distribution"/>
          <p:cNvSpPr txBox="1"/>
          <p:nvPr/>
        </p:nvSpPr>
        <p:spPr>
          <a:xfrm>
            <a:off x="548640" y="1463040"/>
            <a:ext cx="8046720" cy="132221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math_seq2tree: official implementation and distribution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Xie &amp; Sun (n.d.). 公式リポジトリ。参照2026-10-19。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GTSの研究に用いた問題、前処理、学習と採点のコードを公開する。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https://github.com/ShichaoSun/math_seq2tree</a:t>
            </a:r>
          </a:p>
        </p:txBody>
      </p:sp>
      <p:sp>
        <p:nvSpPr>
          <p:cNvPr id="5" name="文献 2: Deep Neural Solver: original project page"/>
          <p:cNvSpPr txBox="1"/>
          <p:nvPr/>
        </p:nvSpPr>
        <p:spPr>
          <a:xfrm>
            <a:off x="548640" y="3131693"/>
            <a:ext cx="8046720" cy="16055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Deep Neural Solver: original project page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Tencent AI Lab · archived 2017-08-30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2017年の研究を紹介したプロジェクトページの保存版。論文と著者の説明を掲載する。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9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https://web.archive.org/web/20170830114828/http://ai.tencent.com:80/ailab/Deep_Neural_Solver_for_Math_Word_Problems.html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2026-10-18T10:09:26Z</dcterms:modified>
  <dc:title>math23k</dc:title>
  <dc:creator>sasakiy84</dc:creator>
  <dcterms:created xsi:type="dcterms:W3CDTF">2026-10-18T10:09:26Z</dcterms:created>
  <dc:language>ja-JP</dc:language>
</cp:coreProperties>
</file>