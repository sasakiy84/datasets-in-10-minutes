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4" r:id="rId2"/>
    <p:sldId id="265" r:id="rId15"/>
    <p:sldId id="267" r:id="rId17"/>
    <p:sldId id="268" r:id="rId18"/>
    <p:sldId id="269" r:id="rId19"/>
    <p:sldId id="271" r:id="rId21"/>
    <p:sldId id="272" r:id="rId22"/>
    <p:sldId id="273" r:id="rId23"/>
    <p:sldId id="274" r:id="rId24"/>
    <p:sldId id="275" r:id="rId25"/>
    <p:sldId id="276" r:id="rId26"/>
    <p:sldId id="277" r:id="rId27"/>
    <p:sldId id="278" r:id="rId28"/>
    <p:sldId id="279" r:id="rId29"/>
    <p:sldId id="280" r:id="rId30"/>
    <p:sldId id="287" r:id="rId37"/>
    <p:sldId id="288" r:id="rId38"/>
    <p:sldId id="286" r:id="rId36"/>
    <p:sldId id="289" r:id="rId39"/>
    <p:sldId id="281" r:id="rId31"/>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7" r:id="rId57"/>
    <p:sldId id="308" r:id="rId58"/>
    <p:sldId id="309" r:id="rId59"/>
    <p:sldId id="310" r:id="rId60"/>
    <p:sldId id="312" r:id="rId62"/>
    <p:sldId id="313" r:id="rId63"/>
    <p:sldId id="314" r:id="rId64"/>
    <p:sldId id="318" r:id="rId68"/>
    <p:sldId id="319" r:id="rId69"/>
    <p:sldId id="320" r:id="rId70"/>
    <p:sldId id="321" r:id="rId7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7.xml"/><Relationship Id="rId36" Type="http://schemas.openxmlformats.org/officeDocument/2006/relationships/slide" Target="slides/slide25.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6.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2" Type="http://schemas.openxmlformats.org/officeDocument/2006/relationships/slide" Target="slides/slide48.xml"/><Relationship Id="rId63" Type="http://schemas.openxmlformats.org/officeDocument/2006/relationships/slide" Target="slides/slide49.xml"/><Relationship Id="rId64" Type="http://schemas.openxmlformats.org/officeDocument/2006/relationships/slide" Target="slides/slide50.xml"/><Relationship Id="rId68" Type="http://schemas.openxmlformats.org/officeDocument/2006/relationships/slide" Target="slides/slide51.xml"/><Relationship Id="rId69" Type="http://schemas.openxmlformats.org/officeDocument/2006/relationships/slide" Target="slides/slide52.xml"/><Relationship Id="rId70" Type="http://schemas.openxmlformats.org/officeDocument/2006/relationships/slide" Target="slides/slide53.xml"/><Relationship Id="rId71"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10"/>
  <c:chart>
    <c:autoTitleDeleted val="1"/>
    <c:plotArea>
      <c:barChart>
        <c:barDir val="col"/>
        <c:grouping val="clustered"/>
        <c:ser>
          <c:idx val="0"/>
          <c:order val="0"/>
          <c:tx>
            <c:strRef>
              <c:f>Sheet1!$B$1</c:f>
              <c:strCache>
                <c:ptCount val="1"/>
                <c:pt idx="0">
                  <c:v>対話数</c:v>
                </c:pt>
              </c:strCache>
            </c:strRef>
          </c:tx>
          <c:spPr>
            <a:solidFill>
              <a:srgbClr val="2C9100"/>
            </a:solidFill>
            <a:ln>
              <a:noFill/>
            </a:ln>
          </c:spPr>
          <c:cat>
            <c:strRef>
              <c:f>Sheet1!$A$2:$A$10</c:f>
              <c:strCache>
                <c:ptCount val="9"/>
                <c:pt idx="0">
                  <c:v>4</c:v>
                </c:pt>
                <c:pt idx="1">
                  <c:v>5</c:v>
                </c:pt>
                <c:pt idx="2">
                  <c:v>6</c:v>
                </c:pt>
                <c:pt idx="3">
                  <c:v>7</c:v>
                </c:pt>
                <c:pt idx="4">
                  <c:v>8</c:v>
                </c:pt>
                <c:pt idx="5">
                  <c:v>9</c:v>
                </c:pt>
                <c:pt idx="6">
                  <c:v>10</c:v>
                </c:pt>
                <c:pt idx="7">
                  <c:v>11</c:v>
                </c:pt>
                <c:pt idx="8">
                  <c:v>12</c:v>
                </c:pt>
              </c:strCache>
            </c:strRef>
          </c:cat>
          <c:val>
            <c:numRef>
              <c:f>Sheet1!$B$2:$B$10</c:f>
              <c:numCache>
                <c:formatCode>General</c:formatCode>
                <c:ptCount val="9"/>
                <c:pt idx="0">
                  <c:v>99.0</c:v>
                </c:pt>
                <c:pt idx="1">
                  <c:v>133.0</c:v>
                </c:pt>
                <c:pt idx="2">
                  <c:v>135.0</c:v>
                </c:pt>
                <c:pt idx="3">
                  <c:v>142.0</c:v>
                </c:pt>
                <c:pt idx="4">
                  <c:v>218.0</c:v>
                </c:pt>
                <c:pt idx="5">
                  <c:v>108.0</c:v>
                </c:pt>
                <c:pt idx="6">
                  <c:v>71.0</c:v>
                </c:pt>
                <c:pt idx="7">
                  <c:v>65.0</c:v>
                </c:pt>
                <c:pt idx="8">
                  <c:v>29.0</c:v>
                </c:pt>
              </c:numCache>
            </c:numRef>
          </c:val>
        </c:ser>
        <c:dLbls>
          <c:txPr>
            <a:bodyPr/>
            <a:lstStyle/>
            <a:p>
              <a:pPr>
                <a:defRPr sz="1500">
                  <a:latin typeface="Noto Sans CJK JP"/>
                </a:defRPr>
              </a:pPr>
            </a:p>
          </c:txPr>
          <c:dLblPos val="outEnd"/>
          <c:showLegendKey val="0"/>
          <c:showVal val="1"/>
          <c:showCatName val="0"/>
          <c:showSerName val="0"/>
          <c:showPercent val="0"/>
          <c:showBubbleSize val="0"/>
          <c:showLeaderLines val="1"/>
        </c:dLbls>
        <c:gapWidth val="60"/>
        <c:axId val="2226939960"/>
        <c:axId val="2180972856"/>
      </c:barChart>
      <c:catAx>
        <c:axId val="2226939960"/>
        <c:scaling>
          <c:orientation val="minMax"/>
        </c:scaling>
        <c:delete val="0"/>
        <c:axPos val="b"/>
        <c:majorTickMark val="none"/>
        <c:minorTickMark val="none"/>
        <c:tickLblPos val="nextTo"/>
        <c:spPr>
          <a:ln>
            <a:noFill/>
          </a:ln>
        </c:spPr>
        <c:txPr>
          <a:bodyPr/>
          <a:lstStyle/>
          <a:p>
            <a:pPr>
              <a:defRPr sz="1300">
                <a:latin typeface="Noto Sans CJK JP"/>
              </a:defRPr>
            </a:pPr>
          </a:p>
        </c:txPr>
        <c:crossAx val="2180972856"/>
        <c:crosses val="autoZero"/>
        <c:auto val="1"/>
        <c:lblAlgn val="ctr"/>
        <c:lblOffset val="100"/>
        <c:tickLblSkip val="1"/>
        <c:noMultiLvlLbl val="0"/>
      </c:catAx>
      <c:valAx>
        <c:axId val="2180972856"/>
        <c:scaling>
          <c:min val="0.0"/>
        </c:scaling>
        <c:delete val="0"/>
        <c:axPos val="l"/>
        <c:majorGridlines>
          <c:spPr>
            <a:ln>
              <a:solidFill>
                <a:srgbClr val="DADDD7"/>
              </a:solidFill>
            </a:ln>
          </c:spPr>
        </c:majorGridlines>
        <c:majorTickMark val="none"/>
        <c:minorTickMark val="none"/>
        <c:tickLblPos val="nextTo"/>
        <c:spPr>
          <a:ln>
            <a:noFill/>
          </a:ln>
        </c:spPr>
        <c:txPr>
          <a:bodyPr/>
          <a:lstStyle/>
          <a:p>
            <a:pPr>
              <a:defRPr sz="1300">
                <a:latin typeface="Noto Sans CJK JP"/>
              </a:defRPr>
            </a:pPr>
          </a:p>
        </c:txPr>
        <c:crossAx val="2226939960"/>
        <c:crosses val="autoZero"/>
      </c:valAx>
      <c:spPr>
        <a:solidFill>
          <a:srgbClr val="FFFEF8"/>
        </a:solidFill>
        <a:ln>
          <a:noFill/>
        </a:ln>
      </c:spPr>
    </c:plotArea>
    <c:dispBlanksAs val="gap"/>
  </c:chart>
  <c:spPr>
    <a:solidFill>
      <a:srgbClr val="FFFEF8"/>
    </a:solidFill>
    <a:ln>
      <a:noFill/>
    </a:ln>
  </c:spPr>
  <c:txPr>
    <a:bodyPr/>
    <a:lstStyle/>
    <a:p>
      <a:pPr>
        <a:defRPr sz="1400">
          <a:latin typeface="Noto Sans CJK JP"/>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quac.a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3.amazonaws.com/my89public/quac/val_v0.2.js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41/"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hyperlink" Target="https://s3.amazonaws.com/my89public/quac/val_v0.2.json"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3.amazonaws.com/my89public/quac/val_v0.2.json"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3.amazonaws.com/my89public/quac/scorer.py"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4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41/"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quac.ai/"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quac.ai/"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main/src/helm/benchmark/scenarios/quac_scenario.py" TargetMode="External"/><Relationship Id="rId3" Type="http://schemas.openxmlformats.org/officeDocument/2006/relationships/hyperlink" Target="https://s3.amazonaws.com/my89public/quac/val_v0.2.json"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hyperlink" Target="https://aclanthology.org/D18-1241/"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s3.amazonaws.com/my89public/quac/val_v0.2.js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s3.amazonaws.com/my89public/quac/scorer.py"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clanthology.org/D18-1241/"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clanthology.org/D18-1241/" TargetMode="External"/><Relationship Id="rId3" Type="http://schemas.openxmlformats.org/officeDocument/2006/relationships/hyperlink" Target="https://arxiv.org/abs/2211.09110" TargetMode="External"/><Relationship Id="rId4" Type="http://schemas.openxmlformats.org/officeDocument/2006/relationships/hyperlink" Target="https://quac.ai/"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quac.ai/" TargetMode="External"/><Relationship Id="rId3" Type="http://schemas.openxmlformats.org/officeDocument/2006/relationships/hyperlink" Target="https://github.com/stanford-crfm/helm/blob/main/src/helm/benchmark/scenarios/quac_scenario.py" TargetMode="External"/><Relationship Id="rId4" Type="http://schemas.openxmlformats.org/officeDocument/2006/relationships/hyperlink" Target="https://s3.amazonaws.com/my89public/quac/scorer.py" TargetMode="External"/><Relationship Id="rId5" Type="http://schemas.openxmlformats.org/officeDocument/2006/relationships/hyperlink" Target="https://creativecommons.org/licenses/by-sa/4.0/"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QuAC</a:t>
            </a:r>
          </a:p>
        </p:txBody>
      </p:sp>
      <p:sp>
        <p:nvSpPr>
          <p:cNvPr id="3" name="Subtitle 2"/>
          <p:cNvSpPr>
            <a:spLocks noGrp="1"/>
          </p:cNvSpPr>
          <p:nvPr>
            <p:ph type="subTitle" idx="1"/>
          </p:nvPr>
        </p:nvSpPr>
        <p:spPr>
          <a:xfrm>
            <a:off x="548640" y="2647277"/>
            <a:ext cx="8046720" cy="1091565"/>
          </a:xfrm>
        </p:spPr>
        <p:txBody>
          <a:bodyPr lIns="0" rIns="0" tIns="0" bIns="10160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Question Answering in Context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知らない話題を会話で掘り下げる読解課題</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QuAC</a:t>
            </a:r>
          </a:p>
        </p:txBody>
      </p:sp>
      <p:pic>
        <p:nvPicPr>
          <p:cNvPr id="4" name="Picture 3" descr="official-site.png"/>
          <p:cNvPicPr>
            <a:picLocks noChangeAspect="1"/>
          </p:cNvPicPr>
          <p:nvPr/>
        </p:nvPicPr>
        <p:blipFill>
          <a:blip r:embed="rId2"/>
          <a:stretch>
            <a:fillRect/>
          </a:stretch>
        </p:blipFill>
        <p:spPr>
          <a:xfrm>
            <a:off x="896111" y="1481328"/>
            <a:ext cx="7351776"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official site.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https://quac.ai/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会話で質問がつながる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収集・注釈とデータの全体像</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採点と構築時の性能</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データの入手と使い方</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会話で質問がつながる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質問者には、本文が見えていない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学生役は、Wikipediaの記事名・冒頭段落・節の見出しを見て、知りたいことを質問する。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教師役だけが節の本文を読み、答えの範囲を選ぶ。二人は、その場で質問と回答を重ねる。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答えを知ってから質問を書く方式に比べ、探索的な追質問や、本文に答えのない質問が生まれる。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追質問は、直前の回答に依存する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「ほかには？」「それはいつ？」のような質問は、その一文だけでは意味が決まらない。</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記事本文に加え、誰について何を話してきたかを使って答える。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実例では、節本文の連続抜粋・直前の1往復・質問と教師の回答を示す。教師役は節の全文を読んで答える。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実例1：代名詞の指す人物を尋ねる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8" name="TextBox 7"/>
          <p:cNvSpPr txBox="1"/>
          <p:nvPr/>
        </p:nvSpPr>
        <p:spPr>
          <a:xfrm>
            <a:off x="548640" y="1289304"/>
            <a:ext cx="3749039"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原文：Cheap Trick</a:t>
            </a:r>
          </a:p>
        </p:txBody>
      </p:sp>
      <p:sp>
        <p:nvSpPr>
          <p:cNvPr id="9" name="quote-frame"/>
          <p:cNvSpPr/>
          <p:nvPr/>
        </p:nvSpPr>
        <p:spPr>
          <a:xfrm>
            <a:off x="548640" y="1507066"/>
            <a:ext cx="3749039" cy="26077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757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In 1961, Rick Nielsen began playing locally in Rockford, Illinois using an ever-increasing collection of rare and valuable guitars. He formed several local bands with names like The Boyz and The Grim Reapers.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Q: Who started the band?</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A: He formed several local bands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Who  formed several local bands?</a:t>
            </a:r>
          </a:p>
        </p:txBody>
      </p:sp>
      <p:sp>
        <p:nvSpPr>
          <p:cNvPr id="10" name="TextBox 9"/>
          <p:cNvSpPr txBox="1"/>
          <p:nvPr/>
        </p:nvSpPr>
        <p:spPr>
          <a:xfrm>
            <a:off x="548640" y="4165600"/>
            <a:ext cx="3749039" cy="38557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Rick Nielsen</a:t>
            </a:r>
          </a:p>
        </p:txBody>
      </p:sp>
      <p:sp>
        <p:nvSpPr>
          <p:cNvPr id="11" name="TextBox 10"/>
          <p:cNvSpPr txBox="1"/>
          <p:nvPr/>
        </p:nvSpPr>
        <p:spPr>
          <a:xfrm>
            <a:off x="4480559" y="1289304"/>
            <a:ext cx="4114800"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日本語訳：Cheap Trick</a:t>
            </a:r>
          </a:p>
        </p:txBody>
      </p:sp>
      <p:sp>
        <p:nvSpPr>
          <p:cNvPr id="12" name="quote-frame"/>
          <p:cNvSpPr/>
          <p:nvPr/>
        </p:nvSpPr>
        <p:spPr>
          <a:xfrm>
            <a:off x="4480559" y="1490133"/>
            <a:ext cx="4114800" cy="2641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507"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1961年、リック・ニールセンは、珍しく価値のあるギターのコレクションを増やしながら、イリノイ州ロックフォードの地元で演奏を始めた。The BoyzやThe Grim Reapersといった名のバンドをいくつも結成した。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直前の質問：バンドを始めたのは誰か。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直前の回答：地元でいくつものバンドを結成した。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質問：地元でいくつものバンドを結成したのは誰か。</a:t>
            </a:r>
          </a:p>
        </p:txBody>
      </p:sp>
      <p:sp>
        <p:nvSpPr>
          <p:cNvPr id="13" name="TextBox 12"/>
          <p:cNvSpPr txBox="1"/>
          <p:nvPr/>
        </p:nvSpPr>
        <p:spPr>
          <a:xfrm>
            <a:off x="4480559" y="4182533"/>
            <a:ext cx="4114800" cy="385571"/>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リック・ニールセン</a:t>
            </a:r>
          </a:p>
        </p:txBody>
      </p:sp>
      <p:sp>
        <p:nvSpPr>
          <p:cNvPr id="14"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Cheap Trick</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教師は本文から、連続した回答範囲を選ぶ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「地元でいくつものバンドを結成したのは誰か」に、本文からRick Nielsenを選ぶ。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教師役は本文中の連続した文字列を回答にする。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実例2：はい・いいえと根拠の範囲</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8" name="TextBox 7"/>
          <p:cNvSpPr txBox="1"/>
          <p:nvPr/>
        </p:nvSpPr>
        <p:spPr>
          <a:xfrm>
            <a:off x="548640" y="1289304"/>
            <a:ext cx="3566160"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原文：John Hartson</a:t>
            </a:r>
          </a:p>
        </p:txBody>
      </p:sp>
      <p:sp>
        <p:nvSpPr>
          <p:cNvPr id="9" name="quote-frame"/>
          <p:cNvSpPr/>
          <p:nvPr/>
        </p:nvSpPr>
        <p:spPr>
          <a:xfrm>
            <a:off x="548640" y="1507066"/>
            <a:ext cx="3566160" cy="2159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757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In January 1995, at 19, he joined Arsenal for PS2.5 million, a British record fee for a teenage player at the time.</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Q: In what year did John Hartson join Luton Town?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A: 1992</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Did John Hartson play for Arsenal?</a:t>
            </a:r>
          </a:p>
        </p:txBody>
      </p:sp>
      <p:sp>
        <p:nvSpPr>
          <p:cNvPr id="10" name="TextBox 9"/>
          <p:cNvSpPr txBox="1"/>
          <p:nvPr/>
        </p:nvSpPr>
        <p:spPr>
          <a:xfrm>
            <a:off x="548640" y="3716866"/>
            <a:ext cx="3566160" cy="69494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January 1995, at 19, he joined Arsenal</a:t>
            </a:r>
          </a:p>
        </p:txBody>
      </p:sp>
      <p:sp>
        <p:nvSpPr>
          <p:cNvPr id="11" name="TextBox 10"/>
          <p:cNvSpPr txBox="1"/>
          <p:nvPr/>
        </p:nvSpPr>
        <p:spPr>
          <a:xfrm>
            <a:off x="4297680" y="1289304"/>
            <a:ext cx="4297679"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日本語訳：John Hartson</a:t>
            </a:r>
          </a:p>
        </p:txBody>
      </p:sp>
      <p:sp>
        <p:nvSpPr>
          <p:cNvPr id="12" name="quote-frame"/>
          <p:cNvSpPr/>
          <p:nvPr/>
        </p:nvSpPr>
        <p:spPr>
          <a:xfrm>
            <a:off x="4297680" y="1490133"/>
            <a:ext cx="4297679"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507"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1995年1月、19歳でアーセナルに移籍した。移籍金250万ポンドは、当時、10代の選手としては英国最高額だった。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直前の質問：ジョン・ハートソンがルートン・タウンに加入したのは何年か。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直前の回答：1992年</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質問：ジョン・ハートソンはアーセナルでプレーしたか。</a:t>
            </a:r>
          </a:p>
        </p:txBody>
      </p:sp>
      <p:sp>
        <p:nvSpPr>
          <p:cNvPr id="13" name="TextBox 12"/>
          <p:cNvSpPr txBox="1"/>
          <p:nvPr/>
        </p:nvSpPr>
        <p:spPr>
          <a:xfrm>
            <a:off x="4297680" y="3496733"/>
            <a:ext cx="4297679" cy="69494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1995年1月、19歳でアーセナルに移籍した</a:t>
            </a:r>
          </a:p>
        </p:txBody>
      </p:sp>
      <p:sp>
        <p:nvSpPr>
          <p:cNvPr id="14"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John Hartson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回答には三つの種類の情報がある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965960"/>
                <a:gridCol w="608076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項目</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この例の注釈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回答範囲</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In January 1995, at 19, he joined Arsenal</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yes／no</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y：はい</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追質問の勧め</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y：続けることを勧める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yes／noだけでなく、根拠となる本文の範囲も選ぶ。</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実例3：書かれていなければ答えない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原文（本文抜粋）：William Herschel ／ Further discoveries</a:t>
            </a:r>
          </a:p>
        </p:txBody>
      </p:sp>
      <p:sp>
        <p:nvSpPr>
          <p:cNvPr id="5" name="quote-frame"/>
          <p:cNvSpPr/>
          <p:nvPr/>
        </p:nvSpPr>
        <p:spPr>
          <a:xfrm>
            <a:off x="548640" y="1608666"/>
            <a:ext cx="8046720" cy="2065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his later career, Herschel discovered two moons of Saturn, Mimas and Enceladus; as well as two moons of Uranus, Titania and Oberon.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Q: What is one astronomy discovery that was found by William Herschel?</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A: Herschel discovered two moons of Saturn, Mimas and Enceladus;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Did he teach at a university?</a:t>
            </a:r>
          </a:p>
        </p:txBody>
      </p:sp>
      <p:sp>
        <p:nvSpPr>
          <p:cNvPr id="6" name="TextBox 5"/>
          <p:cNvSpPr txBox="1"/>
          <p:nvPr/>
        </p:nvSpPr>
        <p:spPr>
          <a:xfrm>
            <a:off x="594360" y="3725333"/>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CANNOTANSWER</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William Herschel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実例3：書かれていなければ答えない（訳）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会話で質問がつながる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訳（本文抜粋）：William Herschel ／ Further discoveries</a:t>
            </a:r>
          </a:p>
        </p:txBody>
      </p:sp>
      <p:sp>
        <p:nvSpPr>
          <p:cNvPr id="5" name="quote-frame"/>
          <p:cNvSpPr/>
          <p:nvPr/>
        </p:nvSpPr>
        <p:spPr>
          <a:xfrm>
            <a:off x="548640" y="1600200"/>
            <a:ext cx="8046720" cy="2091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晩年の研究で、ハーシェルは土星の二つの衛星ミマスとエンケラドゥス、および天王星の二つの衛星ティタニアとオベロンを発見した。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直前の質問：ウィリアム・ハーシェルによる天文学上の発見を一つ挙げると何か。</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直前の回答：ハーシェルは土星の二つの衛星ミマスとエンケラドゥスを発見した。</a:t>
            </a:r>
          </a:p>
          <a:p>
            <a:pPr algn="l">
              <a:lnSpc>
                <a:spcPts val="2201"/>
              </a:lnSpc>
              <a:spcBef>
                <a:spcPts val="0"/>
              </a:spcBef>
              <a:spcAft>
                <a:spcPts val="0"/>
              </a:spcAft>
              <a:buNone/>
              <a:defRPr sz="1850" b="0">
                <a:solidFill>
                  <a:srgbClr val="303437"/>
                </a:solidFill>
                <a:latin typeface="Noto Sans"/>
              </a:defRPr>
            </a:pPr>
            <a:r>
              <a:rPr sz="1850" b="0" lang="ja-JP" altLang="en-US">
                <a:solidFill>
                  <a:srgbClr val="303437"/>
                </a:solidFill>
                <a:latin typeface="Noto Sans"/>
                <a:ea typeface="Noto Sans CJK JP"/>
                <a:cs typeface="Noto Sans"/>
              </a:rPr>
              <a:t>質問：彼は大学で教えたことがあるか。</a:t>
            </a:r>
          </a:p>
        </p:txBody>
      </p:sp>
      <p:sp>
        <p:nvSpPr>
          <p:cNvPr id="6" name="TextBox 5"/>
          <p:cNvSpPr txBox="1"/>
          <p:nvPr/>
        </p:nvSpPr>
        <p:spPr>
          <a:xfrm>
            <a:off x="594360" y="3742266"/>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回答不能（CANNOTANSWER）</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William Herschel</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収集・注釈とデータの全体像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見える情報を変えて、対話を集める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2018年に公開。学生役と教師役の2人が、Amazon Mechanical Turkでリアルタイムに対話した。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学生役が記事の全文を知らないことで、何を聞けばよいかも対話しながら決める。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人物を中心とするWikipediaの節を使う。話題や人物の分布は百科事典全体を均等に覆うものではない。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教師は範囲と対話用の印を選ぶ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設計上は30トークン以下の連続した範囲を回答とし、答えがなければCANNOTANSWERを選ぶ。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yes／no／どちらでもないと、追質問を勧める／どちらともいえない／勧めないの印も付ける。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対話は最大12問。相手が終了したときや、回答不能が2問を超えたときにも終わる。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学習・開発・テストの規模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3657600"/>
                <a:gridCol w="2011680"/>
                <a:gridCol w="237744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対話数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質問数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11,567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83,568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7,354</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テスト（本文非公開）</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1,002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7,353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学習・開発は公開v0.2を全件集計。テストは2018年の報告値。</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開発集合は8問の対話が最も多い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Chart 3"/>
          <p:cNvGraphicFramePr>
            <a:graphicFrameLocks noGrp="1"/>
          </p:cNvGraphicFramePr>
          <p:nvPr/>
        </p:nvGraphicFramePr>
        <p:xfrm>
          <a:off x="548640" y="1481328"/>
          <a:ext cx="8046720" cy="2468880"/>
        </p:xfrm>
        <a:graphic>
          <a:graphicData uri="http://schemas.openxmlformats.org/drawingml/2006/chart">
            <c:chart xmlns:c="http://schemas.openxmlformats.org/drawingml/2006/chart" r:id="rId2"/>
          </a:graphicData>
        </a:graphic>
      </p:graphicFrame>
      <p:sp>
        <p:nvSpPr>
          <p:cNvPr id="5" name="TextBox 4"/>
          <p:cNvSpPr txBox="1"/>
          <p:nvPr/>
        </p:nvSpPr>
        <p:spPr>
          <a:xfrm>
            <a:off x="594360" y="4096512"/>
            <a:ext cx="7955279" cy="420624"/>
          </a:xfrm>
          <a:prstGeom prst="rect">
            <a:avLst/>
          </a:prstGeom>
          <a:noFill/>
        </p:spPr>
        <p:txBody>
          <a:bodyPr wrap="square" lIns="0" rIns="0" tIns="0" bIns="0">
            <a:noAutofit/>
          </a:bodyPr>
          <a:lstStyle/>
          <a:p>
            <a:pPr algn="l">
              <a:lnSpc>
                <a:spcPts val="2160"/>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横軸：1対話の質問数。縦軸：対話数。開発1,000対話を全件集計。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https://s3.amazonaws.com/my89public/quac/val_v0.2.json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開発質問の約2割が回答不能</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3383280"/>
                <a:gridCol w="2651760"/>
                <a:gridCol w="20116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公開集合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教師の回答不能</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学習83,568問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14,459問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開発7,354問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1,486問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20.2%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公開v0.2の教師の回答から集計した割合。</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開発集合には、質問ごとに複数の参照回答がある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公開開発データは、質問ごとに元の回答を含む1〜5件の参照回答を持つ。</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複数の人が選ぶ範囲には揺れがある。採点には、質問ごとに用意された参照回答を使う。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収集・注釈とデータの全体像</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採点と構築時の性能</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採点と構築時の性能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単語の重なりだけで終わらない採点</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回答は英語の冠詞・句読点・大文字小文字を正規化し、単語の重なりからF1を計算する。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複数参照では1件ずつ除き、残りとの最大F1を平均する。回答不能の票は先に整理する。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人同士の一致が低い質問を主指標から外し、人と同等以上に答えられた割合も測る。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採点と構築時の性能</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Official evaluation script.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https://s3.amazonaws.com/my89public/quac/scorer.py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HEQは人との同等性を測る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採点と構築時の性能</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1920240"/>
                <a:gridCol w="6126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指標</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何を数えるか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F1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参照回答との単語の重なり</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HEQ-Q</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人のF1以上になった質問の割合</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HEQ-D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評価対象の全質問で人のF1以上になった対話の割合</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主F1・HEQは人同士のF1が40未満の質問を除外。除外前のF1 Allも報告。</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会話履歴を使うと成績が改善した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採点と構築時の性能</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023360"/>
                <a:gridCol w="2011680"/>
                <a:gridCol w="201168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2018年のテスト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F1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HEQ-D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BiDAF++：履歴なし</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50.2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BiDAF++：直前2往復</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60.1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4.0</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人の回答</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81.1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100.0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テスト集合の公式評価。人のHEQ-Dは定義上100。</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後のモデルでも対話全体は難しい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採点と構築時の性能</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4572000"/>
                <a:gridCol w="1737360"/>
                <a:gridCol w="1737360"/>
              </a:tblGrid>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公式サイトの掲載モデル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F1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HEQ-D (%)</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CKT-QA ensemble（2022-08）</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76.3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17.9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CDQ-DeBERTa single（2022-02）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75.8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15.9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掲載日付きのテスト結果。高い質問別F1が、対話全体での同等性を保証するわけではない。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official site.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https://quac.ai/</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データの入手と使い方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入手は公式サイトの公開ファイルから</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学習・開発のJSONと公式評価コードが公開されている。非公開テストの評価は公式サイトを確認する。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JSONには記事の背景、節本文、対話順、回答の開始位置、補助注釈が含まれる。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データはCC BY-SA 4.0。抜粋や訳を再利用する際は、帰属表示と継承条件を確認する。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official site.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https://quac.ai/</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JSONから、対話と最初の質問・回答を読む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code-frame"/>
          <p:cNvSpPr/>
          <p:nvPr/>
        </p:nvSpPr>
        <p:spPr>
          <a:xfrm>
            <a:off x="548640" y="1524000"/>
            <a:ext cx="8046720" cy="2565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40641"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import json</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with open("val.json", encoding="utf-8") as f:</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dialog = json.load(f)["data"][0]</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section = dialog["paragraphs"][0]</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question = section["qas"][0]</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print(dialog["title"], dialog["section_title"])</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print(question["question"])</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Liberation Mono"/>
                <a:ea typeface="Noto Sans CJK JP"/>
                <a:cs typeface="Liberation Mono"/>
              </a:rPr>
              <a:t>print(question["orig_answer"])</a:t>
            </a:r>
          </a:p>
        </p:txBody>
      </p:sp>
      <p:sp>
        <p:nvSpPr>
          <p:cNvPr id="6" name="TextBox 5"/>
          <p:cNvSpPr txBox="1"/>
          <p:nvPr/>
        </p:nvSpPr>
        <p:spPr>
          <a:xfrm>
            <a:off x="594360" y="4114800"/>
            <a:ext cx="7955279" cy="411480"/>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qasは対話の順に並ぶ。orig_answerには教師が選んだ答えと開始位置が入る。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https://s3.amazonaws.com/my89public/quac/val_v0.2.json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追質問の理解と、対話を通じた応答を測る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本文に答えがあるだけでは足りない。代名詞や短い追質問を、話してきた内容につなげる必要がある。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質問ごとの回答の一致はF1、対話を通じて人と同等以上に答えられた割合はHEQ-Dで測る。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本文と履歴を使って答えを探し、回答できない質問にはCANNOTANSWERを返す。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データの入手と使い方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39115"/>
            <a:ext cx="8046720" cy="778256"/>
          </a:xfrm>
        </p:spPr>
        <p:txBody>
          <a:bodyPr wrap="square" lIns="0" rIns="0" tIns="0" bIns="10160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補助注釈と回答不能の採点</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研究と参考文献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追加の実例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実例4：影響の中身を掘り下げる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原文（本文抜粋）：Ursula K. Le Guin ／ Influences</a:t>
            </a:r>
          </a:p>
        </p:txBody>
      </p:sp>
      <p:sp>
        <p:nvSpPr>
          <p:cNvPr id="5" name="quote-frame"/>
          <p:cNvSpPr/>
          <p:nvPr/>
        </p:nvSpPr>
        <p:spPr>
          <a:xfrm>
            <a:off x="548640" y="1600200"/>
            <a:ext cx="8046720" cy="1803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In the mid-1950s, she read J. R. R. Tolkien's The Lord of the Rings, which had an enormous impact on her. But rather than making her want to follow in Tolkien's footsteps, it simply showed her what was possible with the fantasy genre.</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Previous Q: what was her biggest influence?</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Previous A: she read J. R. R. Tolkien's The Lord of the Rings, which had an enormous impact on her.</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Question: what influence did it have?</a:t>
            </a:r>
          </a:p>
        </p:txBody>
      </p:sp>
      <p:sp>
        <p:nvSpPr>
          <p:cNvPr id="6" name="TextBox 5"/>
          <p:cNvSpPr txBox="1"/>
          <p:nvPr/>
        </p:nvSpPr>
        <p:spPr>
          <a:xfrm>
            <a:off x="594360" y="3454400"/>
            <a:ext cx="7955279" cy="65532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it simply showed her what was possible with the fantasy genre.</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Ursula K. Le Guin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実例4：影響の中身を掘り下げる（訳）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訳（本文抜粋）：Ursula K. Le Guin ／ Influences</a:t>
            </a:r>
          </a:p>
        </p:txBody>
      </p:sp>
      <p:sp>
        <p:nvSpPr>
          <p:cNvPr id="5" name="quote-frame"/>
          <p:cNvSpPr/>
          <p:nvPr/>
        </p:nvSpPr>
        <p:spPr>
          <a:xfrm>
            <a:off x="548640" y="1591733"/>
            <a:ext cx="8046720" cy="231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1950年代半ば、ル＝グウィンはJ・R・R・トールキンの「指輪物語」を読み、大きな影響を受けた。ただし、トールキンの足跡をたどりたいと思ったわけではない。ファンタジーというジャンルに何が可能なのかを示されたのだ。</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直前の質問：彼女に最も大きな影響を与えたものは何か。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直前の回答：J・R・R・トールキンの「指輪物語」を読み、大きな影響を受けた。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質問：どのような影響があったのか。</a:t>
            </a:r>
          </a:p>
        </p:txBody>
      </p:sp>
      <p:sp>
        <p:nvSpPr>
          <p:cNvPr id="6" name="TextBox 5"/>
          <p:cNvSpPr txBox="1"/>
          <p:nvPr/>
        </p:nvSpPr>
        <p:spPr>
          <a:xfrm>
            <a:off x="594360" y="3962400"/>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ファンタジーというジャンルに何が可能なのかを示された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Ursula K. Le Guin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実例5：短い追質問を解釈する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原文（本文抜粋）：Richard Wagner ／ Influence on music</a:t>
            </a:r>
          </a:p>
        </p:txBody>
      </p:sp>
      <p:sp>
        <p:nvSpPr>
          <p:cNvPr id="5" name="quote-frame"/>
          <p:cNvSpPr/>
          <p:nvPr/>
        </p:nvSpPr>
        <p:spPr>
          <a:xfrm>
            <a:off x="548640" y="1608666"/>
            <a:ext cx="8046720" cy="2057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Anton Bruckner and Hugo Wolf were greatly indebted to him, as were Cesar Franck, Henri Duparc, Ernest Chausson, Jules Massenet, Richard Strauss, Alexander von Zemlinsky, Hans Pfitzner and numerous others.</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Q: What else was known</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A: Anton Bruckner and Hugo Wolf were greatly indebted to him,</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Who else</a:t>
            </a:r>
          </a:p>
        </p:txBody>
      </p:sp>
      <p:sp>
        <p:nvSpPr>
          <p:cNvPr id="6" name="TextBox 5"/>
          <p:cNvSpPr txBox="1"/>
          <p:nvPr/>
        </p:nvSpPr>
        <p:spPr>
          <a:xfrm>
            <a:off x="594360" y="3716866"/>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as were Cesar Franck,</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Richard Wagner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実例5：短い追質問を解釈する（訳）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訳（本文抜粋）：Richard Wagner ／ Influence on music</a:t>
            </a:r>
          </a:p>
        </p:txBody>
      </p:sp>
      <p:sp>
        <p:nvSpPr>
          <p:cNvPr id="5" name="quote-frame"/>
          <p:cNvSpPr/>
          <p:nvPr/>
        </p:nvSpPr>
        <p:spPr>
          <a:xfrm>
            <a:off x="548640" y="1591733"/>
            <a:ext cx="8046720" cy="22013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アントン・ブルックナーとフーゴ・ヴォルフは、彼から大きな影響を受けた。セザール・フランク、アンリ・デュパルク、エルネスト・ショーソン、ジュール・マスネ、リヒャルト・シュトラウス、アレクサンダー・フォン・ツェムリンスキー、ハンス・プフィッツナーら、多くの音楽家も同様だった。</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直前の質問：ほかに何が分かっているか。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直前の回答：アントン・ブルックナーとフーゴ・ヴォルフは、彼から大きな影響を受けた。</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質問：ほかには誰か。</a:t>
            </a:r>
          </a:p>
        </p:txBody>
      </p:sp>
      <p:sp>
        <p:nvSpPr>
          <p:cNvPr id="6" name="TextBox 5"/>
          <p:cNvSpPr txBox="1"/>
          <p:nvPr/>
        </p:nvSpPr>
        <p:spPr>
          <a:xfrm>
            <a:off x="594360" y="3843866"/>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セザール・フランクも同様だった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Richard Wagner</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実例6：年だけの答えにも文脈がある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429768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原文（抜粋）：Sam Kinison</a:t>
            </a:r>
          </a:p>
        </p:txBody>
      </p:sp>
      <p:sp>
        <p:nvSpPr>
          <p:cNvPr id="5" name="quote-frame"/>
          <p:cNvSpPr/>
          <p:nvPr/>
        </p:nvSpPr>
        <p:spPr>
          <a:xfrm>
            <a:off x="548640" y="1617133"/>
            <a:ext cx="4297680" cy="1955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Kinison acquired much of his material from his difficult first two marriages, to Patricia Adkins (1975-1980) and Terry Marze (1981-1989).</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Previous Q: who did he marry?</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Previous A: Patricia Adkins (1975-1980)</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Question: did they divorce?</a:t>
            </a:r>
          </a:p>
        </p:txBody>
      </p:sp>
      <p:sp>
        <p:nvSpPr>
          <p:cNvPr id="6" name="TextBox 5"/>
          <p:cNvSpPr txBox="1"/>
          <p:nvPr/>
        </p:nvSpPr>
        <p:spPr>
          <a:xfrm>
            <a:off x="548640" y="3623733"/>
            <a:ext cx="4297680"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1980</a:t>
            </a:r>
          </a:p>
        </p:txBody>
      </p:sp>
      <p:sp>
        <p:nvSpPr>
          <p:cNvPr id="7" name="TextBox 6"/>
          <p:cNvSpPr txBox="1"/>
          <p:nvPr/>
        </p:nvSpPr>
        <p:spPr>
          <a:xfrm>
            <a:off x="5029200" y="1307592"/>
            <a:ext cx="3566159"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訳（抜粋）：Sam Kinison</a:t>
            </a:r>
          </a:p>
        </p:txBody>
      </p:sp>
      <p:sp>
        <p:nvSpPr>
          <p:cNvPr id="8" name="quote-frame"/>
          <p:cNvSpPr/>
          <p:nvPr/>
        </p:nvSpPr>
        <p:spPr>
          <a:xfrm>
            <a:off x="5029200" y="1600200"/>
            <a:ext cx="3566159" cy="231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キニソンは、パトリシア・アドキンス（1975〜1980年）とテリー・マーズ（1981〜1989年）との、困難を伴った最初の二度の結婚を、多くの芸の題材にした。</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直前の質問：誰と結婚したのか。</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直前の回答：パトリシア・アドキンス（1975〜1980年）</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質問：二人は離婚したのか。</a:t>
            </a:r>
          </a:p>
        </p:txBody>
      </p:sp>
      <p:sp>
        <p:nvSpPr>
          <p:cNvPr id="9" name="TextBox 8"/>
          <p:cNvSpPr txBox="1"/>
          <p:nvPr/>
        </p:nvSpPr>
        <p:spPr>
          <a:xfrm>
            <a:off x="5029200" y="3970866"/>
            <a:ext cx="356615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1980年</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Sam Kinison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実例7：引退後の別の活動を尋ねる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原文（本文抜粋）：Pedro Martínez ／ After retirement</a:t>
            </a:r>
          </a:p>
        </p:txBody>
      </p:sp>
      <p:sp>
        <p:nvSpPr>
          <p:cNvPr id="5" name="quote-frame"/>
          <p:cNvSpPr/>
          <p:nvPr/>
        </p:nvSpPr>
        <p:spPr>
          <a:xfrm>
            <a:off x="548640" y="1617133"/>
            <a:ext cx="8046720" cy="19557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46567"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In 2015, Martinez was hired by the MLB Network as a studio analyst and also released an autobiography, Pedro, which he coauthored with Michael Silverman of the Boston Herald.</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Previous Q: What did Pedro Martinez do after he retired from baseball?</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Previous A: Martinez joined the Boston Red Sox as a special assistant to general manager Ben Cherington.</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Question: Did Martinez do anything else after he retired from baseball?</a:t>
            </a:r>
          </a:p>
        </p:txBody>
      </p:sp>
      <p:sp>
        <p:nvSpPr>
          <p:cNvPr id="6" name="TextBox 5"/>
          <p:cNvSpPr txBox="1"/>
          <p:nvPr/>
        </p:nvSpPr>
        <p:spPr>
          <a:xfrm>
            <a:off x="594360" y="3623733"/>
            <a:ext cx="7955279" cy="65532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2015, Martinez was hired by the MLB Network as a studio analyst</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Pedro Martínez</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実例7：引退後の別の活動を尋ねる（訳）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訳（本文抜粋）：Pedro Martínez ／ After retirement</a:t>
            </a:r>
          </a:p>
        </p:txBody>
      </p:sp>
      <p:sp>
        <p:nvSpPr>
          <p:cNvPr id="5" name="quote-frame"/>
          <p:cNvSpPr/>
          <p:nvPr/>
        </p:nvSpPr>
        <p:spPr>
          <a:xfrm>
            <a:off x="548640" y="1591733"/>
            <a:ext cx="8046720" cy="23198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2015年、マルティネスはMLBネットワークのスタジオ解説者に起用された。同年、ボストン・ヘラルド紙のマイケル・シルバーマンとの共著による自伝「Pedro」も刊行した。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直前の質問：ペドロ・マルティネスは野球選手を引退した後、何をしたか。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直前の回答：ゼネラルマネジャーのベン・チェリントンの特別補佐として、ボストン・レッドソックスに加わった。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質問：引退後に、ほかに何かしたか。</a:t>
            </a:r>
          </a:p>
        </p:txBody>
      </p:sp>
      <p:sp>
        <p:nvSpPr>
          <p:cNvPr id="6" name="TextBox 5"/>
          <p:cNvSpPr txBox="1"/>
          <p:nvPr/>
        </p:nvSpPr>
        <p:spPr>
          <a:xfrm>
            <a:off x="594360" y="3962400"/>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2015年、MLBネットワークのスタジオ解説者に起用された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Pedro Martínez</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実例8：組織を指す言い換えを読む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原文（本文抜粋）：William Shockley ／ Shockley Semiconductor</a:t>
            </a:r>
          </a:p>
        </p:txBody>
      </p:sp>
      <p:sp>
        <p:nvSpPr>
          <p:cNvPr id="5" name="quote-frame"/>
          <p:cNvSpPr/>
          <p:nvPr/>
        </p:nvSpPr>
        <p:spPr>
          <a:xfrm>
            <a:off x="548640" y="1608666"/>
            <a:ext cx="8046720" cy="2336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In 1956 Shockley moved from New Jersey to Mountain View, California to start Shockley Semiconductor Laboratory to live closer to his ailing mother in Palo Alto, California.</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Q: What did Shockley's semiconductor do?</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Previous A: The company, a division of Beckman Instruments, Inc., was the first establishment working on silicon semiconductor devices in what came to be known as Silicon Valley.</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Question: What year was the semiconductor made?</a:t>
            </a:r>
          </a:p>
        </p:txBody>
      </p:sp>
      <p:sp>
        <p:nvSpPr>
          <p:cNvPr id="6" name="TextBox 5"/>
          <p:cNvSpPr txBox="1"/>
          <p:nvPr/>
        </p:nvSpPr>
        <p:spPr>
          <a:xfrm>
            <a:off x="594360" y="3996266"/>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1956</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William Shockley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実例8：組織を指す言い換えを読む（訳）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訳（本文抜粋）：William Shockley ／ 質問のsemiconductorは会社を指すと解釈</a:t>
            </a:r>
          </a:p>
        </p:txBody>
      </p:sp>
      <p:sp>
        <p:nvSpPr>
          <p:cNvPr id="5" name="quote-frame"/>
          <p:cNvSpPr/>
          <p:nvPr/>
        </p:nvSpPr>
        <p:spPr>
          <a:xfrm>
            <a:off x="548640" y="1600200"/>
            <a:ext cx="8046720" cy="2311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1956年、ショックレーはニュージャージー州からカリフォルニア州マウンテンビューへ移り、ショックレー半導体研究所を設立した。パロアルトで病気療養中の母親の近くに住むためだった。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直前の質問：ショックレーの半導体の会社は何をしたのか。</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直前の回答：ベックマン・インスツルメンツ社の一部門で、後にシリコンバレーと呼ばれる地域で、シリコン半導体デバイスに取り組んだ最初の事業所だった。</a:t>
            </a:r>
          </a:p>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質問：その半導体の会社が設立されたのは何年か。</a:t>
            </a:r>
          </a:p>
        </p:txBody>
      </p:sp>
      <p:sp>
        <p:nvSpPr>
          <p:cNvPr id="6" name="TextBox 5"/>
          <p:cNvSpPr txBox="1"/>
          <p:nvPr/>
        </p:nvSpPr>
        <p:spPr>
          <a:xfrm>
            <a:off x="594360" y="3962400"/>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1956年</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William Shockley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実例9：反対運動の方法を尋ねる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原文（本文抜粋）：Phyllis Schlafly ／ Equal Rights Amendment</a:t>
            </a:r>
          </a:p>
        </p:txBody>
      </p:sp>
      <p:sp>
        <p:nvSpPr>
          <p:cNvPr id="5" name="quote-frame"/>
          <p:cNvSpPr/>
          <p:nvPr/>
        </p:nvSpPr>
        <p:spPr>
          <a:xfrm>
            <a:off x="548640" y="1608666"/>
            <a:ext cx="8046720" cy="19134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In Illinois, the anti-ERA activists used traditional symbols of the American housewife, and took homemade foods (bread, jams, apple pies, etc.) to the state legislators, with the slogans, "Preserve us from a congressional jam; Vote against the ERA sham" and "I am for Mom and apple pie."</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Previous Q: what did Phyllis have to do with the Equal Rights Amendment?</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Previous A: Schlafly focused political opposition to the ERA</a:t>
            </a:r>
          </a:p>
          <a:p>
            <a:pPr algn="l">
              <a:lnSpc>
                <a:spcPts val="1963"/>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Question: how did she oppose it?</a:t>
            </a:r>
          </a:p>
        </p:txBody>
      </p:sp>
      <p:sp>
        <p:nvSpPr>
          <p:cNvPr id="6" name="TextBox 5"/>
          <p:cNvSpPr txBox="1"/>
          <p:nvPr/>
        </p:nvSpPr>
        <p:spPr>
          <a:xfrm>
            <a:off x="594360" y="3572933"/>
            <a:ext cx="7955279" cy="65532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In Illinois, the anti-ERA activists used traditional symbols of the American housewife,</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Phyllis Schlafly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実例9：反対運動の方法を尋ねる（訳）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訳（本文抜粋）：Phyllis Schlafly ／ Equal Rights Amendment</a:t>
            </a:r>
          </a:p>
        </p:txBody>
      </p:sp>
      <p:sp>
        <p:nvSpPr>
          <p:cNvPr id="5" name="quote-frame"/>
          <p:cNvSpPr/>
          <p:nvPr/>
        </p:nvSpPr>
        <p:spPr>
          <a:xfrm>
            <a:off x="548640" y="1591733"/>
            <a:ext cx="8046720" cy="226059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1966"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イリノイ州では、平等権修正条項案（ERA）に反対する活動家が、米国の伝統的な主婦の象徴を用いた。自家製のパン、ジャム、アップルパイなどを州議会議員に届け、「議会のジャム〔混乱〕から私たちを守って。ERAのまやかしに反対票を」「私は母親とアップルパイを支持する」といった標語を掲げた。</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直前の質問：フィリスは平等権修正条項案とどのような関係があったか。</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直前の回答：シュラフリーはERAへの政治的な反対運動に力を注いだ。</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質問：どのように反対したのか。</a:t>
            </a:r>
          </a:p>
        </p:txBody>
      </p:sp>
      <p:sp>
        <p:nvSpPr>
          <p:cNvPr id="6" name="TextBox 5"/>
          <p:cNvSpPr txBox="1"/>
          <p:nvPr/>
        </p:nvSpPr>
        <p:spPr>
          <a:xfrm>
            <a:off x="594360" y="3903133"/>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イリノイ州で、反対派は米国の伝統的な主婦の象徴を用いた</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Phyllis Schlafly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実例10：活動再開の方法を尋ねる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8" name="TextBox 7"/>
          <p:cNvSpPr txBox="1"/>
          <p:nvPr/>
        </p:nvSpPr>
        <p:spPr>
          <a:xfrm>
            <a:off x="548640" y="1197864"/>
            <a:ext cx="3749039"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原文：Yanni</a:t>
            </a:r>
          </a:p>
        </p:txBody>
      </p:sp>
      <p:sp>
        <p:nvSpPr>
          <p:cNvPr id="9" name="quote-frame"/>
          <p:cNvSpPr/>
          <p:nvPr/>
        </p:nvSpPr>
        <p:spPr>
          <a:xfrm>
            <a:off x="548640" y="1415626"/>
            <a:ext cx="3749039" cy="2159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757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In 2000, after the two-year hiatus, Yanni released If I Could Tell You, his first studio album in seven years.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Q: When did Yanni end his hiatus?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A: In 2000, after the two-year hiatus,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How did he make his comeback?</a:t>
            </a:r>
          </a:p>
        </p:txBody>
      </p:sp>
      <p:sp>
        <p:nvSpPr>
          <p:cNvPr id="10" name="TextBox 9"/>
          <p:cNvSpPr txBox="1"/>
          <p:nvPr/>
        </p:nvSpPr>
        <p:spPr>
          <a:xfrm>
            <a:off x="548640" y="3625426"/>
            <a:ext cx="3749039" cy="1004316"/>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Yanni released If I Could Tell You, his first studio album in seven years.</a:t>
            </a:r>
          </a:p>
        </p:txBody>
      </p:sp>
      <p:sp>
        <p:nvSpPr>
          <p:cNvPr id="11" name="TextBox 10"/>
          <p:cNvSpPr txBox="1"/>
          <p:nvPr/>
        </p:nvSpPr>
        <p:spPr>
          <a:xfrm>
            <a:off x="4480559" y="1197864"/>
            <a:ext cx="4114800"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日本語訳：Yanni</a:t>
            </a:r>
          </a:p>
        </p:txBody>
      </p:sp>
      <p:sp>
        <p:nvSpPr>
          <p:cNvPr id="12" name="quote-frame"/>
          <p:cNvSpPr/>
          <p:nvPr/>
        </p:nvSpPr>
        <p:spPr>
          <a:xfrm>
            <a:off x="4480559" y="1398693"/>
            <a:ext cx="4114800" cy="196426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507"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2000年、2年間の活動休止を経て、ヤニーは7年ぶりのスタジオアルバム「If I Could Tell You」を発表した。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直前の質問：ヤニーはいつ活動休止を終えたのか。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直前の回答：2000年、2年間の活動休止を経て</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質問：どのように復帰したのか。</a:t>
            </a:r>
          </a:p>
        </p:txBody>
      </p:sp>
      <p:sp>
        <p:nvSpPr>
          <p:cNvPr id="13" name="TextBox 12"/>
          <p:cNvSpPr txBox="1"/>
          <p:nvPr/>
        </p:nvSpPr>
        <p:spPr>
          <a:xfrm>
            <a:off x="4480559" y="3413760"/>
            <a:ext cx="4114800" cy="69494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7年ぶりのスタジオアルバム「If I Could Tell You」を発表した</a:t>
            </a:r>
          </a:p>
        </p:txBody>
      </p:sp>
      <p:sp>
        <p:nvSpPr>
          <p:cNvPr id="14"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Yanni</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実例11：著作の中身を続けて尋ねる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原文（本文抜粋）：David Hume ／ Ethics</a:t>
            </a:r>
          </a:p>
        </p:txBody>
      </p:sp>
      <p:sp>
        <p:nvSpPr>
          <p:cNvPr id="5" name="quote-frame"/>
          <p:cNvSpPr/>
          <p:nvPr/>
        </p:nvSpPr>
        <p:spPr>
          <a:xfrm>
            <a:off x="548640" y="1608666"/>
            <a:ext cx="8046720" cy="1752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His views on ethics are that "[m]oral decisions are grounded in moral sentiment." It is not knowing that governs ethical actions, but feelings.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Previous Q: What is most important about Hume's academics?</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Previous A: Hume's writings on ethics began in the Treatise and were refined in his An Enquiry Concerning the Principles of Morals (1751</a:t>
            </a:r>
          </a:p>
          <a:p>
            <a:pPr algn="l">
              <a:lnSpc>
                <a:spcPts val="2082"/>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Question: What were the Principles of Morals?</a:t>
            </a:r>
          </a:p>
        </p:txBody>
      </p:sp>
      <p:sp>
        <p:nvSpPr>
          <p:cNvPr id="6" name="TextBox 5"/>
          <p:cNvSpPr txBox="1"/>
          <p:nvPr/>
        </p:nvSpPr>
        <p:spPr>
          <a:xfrm>
            <a:off x="594360" y="3412066"/>
            <a:ext cx="7955279" cy="65532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It is not knowing that governs ethical actions, but feelings.</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David Hume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実例11：著作の中身を続けて尋ねる（訳）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80467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訳（本文抜粋）：David Hume ／ Ethics</a:t>
            </a:r>
          </a:p>
        </p:txBody>
      </p:sp>
      <p:sp>
        <p:nvSpPr>
          <p:cNvPr id="5" name="quote-frame"/>
          <p:cNvSpPr/>
          <p:nvPr/>
        </p:nvSpPr>
        <p:spPr>
          <a:xfrm>
            <a:off x="548640" y="1600200"/>
            <a:ext cx="8046720" cy="19558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ヒュームは、道徳的な判断は道徳感情に根差すと考えた。倫理的な行為を動かすのは知識ではなく、感情である。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直前の質問：ヒュームの学問で最も重要なのは何か。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直前の回答：倫理に関する著述は「人間本性論」に始まり、「道徳原理の研究」（1751年）で練り上げられた。</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質問：「道徳原理の研究」はどのような内容か。</a:t>
            </a:r>
          </a:p>
        </p:txBody>
      </p:sp>
      <p:sp>
        <p:nvSpPr>
          <p:cNvPr id="6" name="TextBox 5"/>
          <p:cNvSpPr txBox="1"/>
          <p:nvPr/>
        </p:nvSpPr>
        <p:spPr>
          <a:xfrm>
            <a:off x="594360" y="3606800"/>
            <a:ext cx="7955279" cy="345947"/>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倫理的な行為を動かすのは知識ではなく、感情である</a:t>
            </a:r>
          </a:p>
        </p:txBody>
      </p:sp>
      <p:sp>
        <p:nvSpPr>
          <p:cNvPr id="7"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David Hume</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実例12：家族について追質問する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原文（抜粋）：Ban Ki-moon</a:t>
            </a:r>
          </a:p>
        </p:txBody>
      </p:sp>
      <p:sp>
        <p:nvSpPr>
          <p:cNvPr id="5" name="quote-frame"/>
          <p:cNvSpPr/>
          <p:nvPr/>
        </p:nvSpPr>
        <p:spPr>
          <a:xfrm>
            <a:off x="548640" y="1608666"/>
            <a:ext cx="3931920" cy="161713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5034" bIns="127000">
            <a:noAutofit/>
          </a:bodyPr>
          <a:lstStyle/>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They have three adult children: two daughters and a son.</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Previous Q: who were ban's family?</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Previous A: Ban Ki-moon married Yoo Soon-taek in 1971.</a:t>
            </a:r>
          </a:p>
          <a:p>
            <a:pPr algn="l">
              <a:lnSpc>
                <a:spcPts val="1904"/>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Question: did they have children</a:t>
            </a:r>
          </a:p>
        </p:txBody>
      </p:sp>
      <p:sp>
        <p:nvSpPr>
          <p:cNvPr id="6" name="TextBox 5"/>
          <p:cNvSpPr txBox="1"/>
          <p:nvPr/>
        </p:nvSpPr>
        <p:spPr>
          <a:xfrm>
            <a:off x="548640" y="3276600"/>
            <a:ext cx="3931920" cy="964692"/>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They have three adult children: two daughters and a son.</a:t>
            </a:r>
          </a:p>
        </p:txBody>
      </p:sp>
      <p:sp>
        <p:nvSpPr>
          <p:cNvPr id="7" name="TextBox 6"/>
          <p:cNvSpPr txBox="1"/>
          <p:nvPr/>
        </p:nvSpPr>
        <p:spPr>
          <a:xfrm>
            <a:off x="4663440" y="1307592"/>
            <a:ext cx="3931920" cy="219456"/>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訳（抜粋）：Ban Ki-moon</a:t>
            </a:r>
          </a:p>
        </p:txBody>
      </p:sp>
      <p:sp>
        <p:nvSpPr>
          <p:cNvPr id="8" name="quote-frame"/>
          <p:cNvSpPr/>
          <p:nvPr/>
        </p:nvSpPr>
        <p:spPr>
          <a:xfrm>
            <a:off x="4663440" y="1600200"/>
            <a:ext cx="3931920" cy="16764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二人には、成人した子どもが3人いる。娘が2人、息子が1人である。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直前の質問：潘氏の家族は誰か。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直前の回答：潘基文は1971年に柳淳澤と結婚した。</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質問：二人には子どもがいたか。</a:t>
            </a:r>
          </a:p>
        </p:txBody>
      </p:sp>
      <p:sp>
        <p:nvSpPr>
          <p:cNvPr id="9" name="TextBox 8"/>
          <p:cNvSpPr txBox="1"/>
          <p:nvPr/>
        </p:nvSpPr>
        <p:spPr>
          <a:xfrm>
            <a:off x="4663440" y="3327400"/>
            <a:ext cx="3931920" cy="655320"/>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成人した子どもが3人いる。娘が2人、息子が1人</a:t>
            </a:r>
          </a:p>
        </p:txBody>
      </p:sp>
      <p:sp>
        <p:nvSpPr>
          <p:cNvPr id="10"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Ban Ki-moon</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実例13：候補者への寄付を尋ねる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8" name="TextBox 7"/>
          <p:cNvSpPr txBox="1"/>
          <p:nvPr/>
        </p:nvSpPr>
        <p:spPr>
          <a:xfrm>
            <a:off x="548640" y="1289304"/>
            <a:ext cx="4480560"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原文：Drew Carey</a:t>
            </a:r>
          </a:p>
        </p:txBody>
      </p:sp>
      <p:sp>
        <p:nvSpPr>
          <p:cNvPr id="9" name="quote-frame"/>
          <p:cNvSpPr/>
          <p:nvPr/>
        </p:nvSpPr>
        <p:spPr>
          <a:xfrm>
            <a:off x="548640" y="1507066"/>
            <a:ext cx="4480560" cy="23876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57574"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He made donations to Ron Paul's presidential campaign for the 2008 election.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Q: Was he vocal about his political views?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Previous A: He has expressed his political philosophy in the following terms: "I believe the answers to all the problems we face as a society won't come from Washington,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Question: Did he donate money to any candidates?</a:t>
            </a:r>
          </a:p>
        </p:txBody>
      </p:sp>
      <p:sp>
        <p:nvSpPr>
          <p:cNvPr id="10" name="TextBox 9"/>
          <p:cNvSpPr txBox="1"/>
          <p:nvPr/>
        </p:nvSpPr>
        <p:spPr>
          <a:xfrm>
            <a:off x="548640" y="3945466"/>
            <a:ext cx="4480560" cy="69494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He made donations to Ron Paul's presidential campaign</a:t>
            </a:r>
          </a:p>
        </p:txBody>
      </p:sp>
      <p:sp>
        <p:nvSpPr>
          <p:cNvPr id="11" name="TextBox 10"/>
          <p:cNvSpPr txBox="1"/>
          <p:nvPr/>
        </p:nvSpPr>
        <p:spPr>
          <a:xfrm>
            <a:off x="5212080" y="1289304"/>
            <a:ext cx="3383279" cy="182880"/>
          </a:xfrm>
          <a:prstGeom prst="rect">
            <a:avLst/>
          </a:prstGeom>
          <a:noFill/>
        </p:spPr>
        <p:txBody>
          <a:bodyPr wrap="square" lIns="0" rIns="0" tIns="0" bIns="0">
            <a:noAutofit/>
          </a:bodyPr>
          <a:lstStyle/>
          <a:p>
            <a:pPr algn="l">
              <a:lnSpc>
                <a:spcPts val="1111"/>
              </a:lnSpc>
              <a:spcBef>
                <a:spcPts val="0"/>
              </a:spcBef>
              <a:spcAft>
                <a:spcPts val="0"/>
              </a:spcAft>
              <a:buNone/>
              <a:defRPr sz="950" b="0">
                <a:solidFill>
                  <a:srgbClr val="303437"/>
                </a:solidFill>
                <a:latin typeface="Noto Sans"/>
              </a:defRPr>
            </a:pPr>
            <a:r>
              <a:rPr sz="950" b="0" lang="ja-JP" altLang="en-US">
                <a:solidFill>
                  <a:srgbClr val="626669"/>
                </a:solidFill>
                <a:latin typeface="Noto Sans"/>
                <a:ea typeface="Noto Sans CJK JP"/>
                <a:cs typeface="Noto Sans"/>
              </a:rPr>
              <a:t>日本語訳：Drew Carey</a:t>
            </a:r>
          </a:p>
        </p:txBody>
      </p:sp>
      <p:sp>
        <p:nvSpPr>
          <p:cNvPr id="12" name="quote-frame"/>
          <p:cNvSpPr/>
          <p:nvPr/>
        </p:nvSpPr>
        <p:spPr>
          <a:xfrm>
            <a:off x="5212080" y="1490133"/>
            <a:ext cx="3383279" cy="241300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74507" bIns="12700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2008年の選挙では、ロン・ポールの大統領選挙運動に寄付した。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直前の質問：政治的な考えを公にしていたか。</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直前の回答：自身の政治哲学について、社会が抱えるあらゆる問題への答えはワシントンからは生まれないと信じている、と述べた。</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Noto Sans"/>
                <a:ea typeface="Noto Sans CJK JP"/>
                <a:cs typeface="Noto Sans"/>
              </a:rPr>
              <a:t>質問：候補者に寄付したことはあるか。</a:t>
            </a:r>
          </a:p>
        </p:txBody>
      </p:sp>
      <p:sp>
        <p:nvSpPr>
          <p:cNvPr id="13" name="TextBox 12"/>
          <p:cNvSpPr txBox="1"/>
          <p:nvPr/>
        </p:nvSpPr>
        <p:spPr>
          <a:xfrm>
            <a:off x="5212080" y="3953933"/>
            <a:ext cx="3383279" cy="694944"/>
          </a:xfrm>
          <a:prstGeom prst="rect">
            <a:avLst/>
          </a:prstGeom>
          <a:noFill/>
        </p:spPr>
        <p:txBody>
          <a:bodyPr wrap="square" lIns="0" rIns="0" tIns="0" bIns="0">
            <a:noAutofit/>
          </a:bodyPr>
          <a:lstStyle/>
          <a:p>
            <a:pPr algn="l">
              <a:lnSpc>
                <a:spcPts val="2436"/>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ロン・ポールの大統領選挙運動に寄付した</a:t>
            </a:r>
          </a:p>
        </p:txBody>
      </p:sp>
      <p:sp>
        <p:nvSpPr>
          <p:cNvPr id="14"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 Drew Carey</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補助注釈と回答不能の採点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補助注釈と回答不能の採点</a:t>
            </a:r>
          </a:p>
        </p:txBody>
      </p:sp>
      <p:sp>
        <p:nvSpPr>
          <p:cNvPr id="4"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補助注釈の内訳：公開開発7,354問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補助注釈と回答不能の採点</a:t>
            </a:r>
          </a:p>
        </p:txBody>
      </p:sp>
      <p:graphicFrame>
        <p:nvGraphicFramePr>
          <p:cNvPr id="4" name="Table 3"/>
          <p:cNvGraphicFramePr>
            <a:graphicFrameLocks noGrp="1"/>
          </p:cNvGraphicFramePr>
          <p:nvPr/>
        </p:nvGraphicFramePr>
        <p:xfrm>
          <a:off x="548640" y="1508760"/>
          <a:ext cx="8046720" cy="1371600"/>
        </p:xfrm>
        <a:graphic>
          <a:graphicData uri="http://schemas.openxmlformats.org/drawingml/2006/table">
            <a:tbl>
              <a:tblPr firstRow="0" bandRow="0"/>
              <a:tblGrid>
                <a:gridCol w="1920240"/>
                <a:gridCol w="6126480"/>
              </a:tblGrid>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注釈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内訳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yes／no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y：1,500、n：122、x：5,732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追質問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y：4,255、m：1,358、n：1,741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0815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yes／noのxはどちらでもない。追質問のmはどちらともいえない。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QuAC development data.</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https://s3.amazonaws.com/my89public/quac/val_v0.2.json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回答不能の採点には文字列の条件がある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公式コードは、参照回答の半数以上がCANNOTANSWERなら、回答不能の参照だけに整理する。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この場合、出力がCANNOTANSWERなら1、それ以外は0とする。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補助注釈と回答不能の採点</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QuAC project (n.d.). Official evaluation script.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https://s3.amazonaws.com/my89public/quac/scorer.py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研究と参考文献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対話の情報差に着目した共同研究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Eunsol Choi、He He、Mohit Iyyer、Mark Yatskarらによる共同研究。</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ワシントン大学、スタンフォード大学、Allen Institute for AI、マサチューセッツ大学アマースト校の研究者が構築した。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2018年のEMNLPで発表。情報を探しながら質問を重ねる、会話型の読解課題を提案した。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Choi et al. (2018). QuAC: Question Answering in Context.</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https://aclanthology.org/D18-1241/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QuAC: Question Answering in Context"/>
          <p:cNvSpPr txBox="1"/>
          <p:nvPr/>
        </p:nvSpPr>
        <p:spPr>
          <a:xfrm>
            <a:off x="548640" y="1463040"/>
            <a:ext cx="8046720" cy="1889760"/>
          </a:xfrm>
          <a:prstGeom prst="rect">
            <a:avLst/>
          </a:prstGeom>
          <a:noFill/>
        </p:spPr>
        <p:txBody>
          <a:bodyPr wrap="square" lIns="0" rIns="0" tIns="0" bIns="38100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QuAC: Question Answering in Context</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Choi et al. · 2018 · EMNLP, pp.2174–2184</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質問者と回答者の情報を変えて集めた対話と、回答の一致や人との同等性の評価を提案する。</a:t>
            </a:r>
          </a:p>
          <a:p>
            <a:pPr>
              <a:lnSpc>
                <a:spcPct val="118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2"/>
              </a:rPr>
              <a:t>https://aclanthology.org/D18-1241/</a:t>
            </a:r>
          </a:p>
        </p:txBody>
      </p:sp>
      <p:sp>
        <p:nvSpPr>
          <p:cNvPr id="5" name="文献: QuAC: Question Answering in Context — official site"/>
          <p:cNvSpPr txBox="1"/>
          <p:nvPr/>
        </p:nvSpPr>
        <p:spPr>
          <a:xfrm>
            <a:off x="548640" y="3200400"/>
            <a:ext cx="8046720" cy="1889760"/>
          </a:xfrm>
          <a:prstGeom prst="rect">
            <a:avLst/>
          </a:prstGeom>
          <a:noFill/>
        </p:spPr>
        <p:txBody>
          <a:bodyPr wrap="square" lIns="0" rIns="0" tIns="0" bIns="38100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QuAC: Question Answering in Context — official site</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QuAC project (n.d.). 公式サイト。参照2026-10-19。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データの入手先、公式評価コード、掲載日付きのテスト結果を公開する。</a:t>
            </a:r>
          </a:p>
          <a:p>
            <a:pPr>
              <a:lnSpc>
                <a:spcPct val="118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4"/>
              </a:rPr>
              <a:t>https://quac.ai/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QuAC official evaluation script"/>
          <p:cNvSpPr txBox="1"/>
          <p:nvPr/>
        </p:nvSpPr>
        <p:spPr>
          <a:xfrm>
            <a:off x="548640" y="1463040"/>
            <a:ext cx="8046720" cy="1889760"/>
          </a:xfrm>
          <a:prstGeom prst="rect">
            <a:avLst/>
          </a:prstGeom>
          <a:noFill/>
        </p:spPr>
        <p:txBody>
          <a:bodyPr wrap="square" lIns="0" rIns="0" tIns="0" bIns="38100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QuAC official evaluation script</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QuAC project (n.d.). scorer.py。参照2026-10-19。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複数参照のF1、回答不能、質問・対話単位のHEQを計算する。</a:t>
            </a:r>
          </a:p>
          <a:p>
            <a:pPr>
              <a:lnSpc>
                <a:spcPct val="118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4"/>
              </a:rPr>
              <a:t>https://s3.amazonaws.com/my89public/quac/scorer.py</a:t>
            </a:r>
          </a:p>
        </p:txBody>
      </p:sp>
      <p:sp>
        <p:nvSpPr>
          <p:cNvPr id="5" name="文献: Attribution-ShareAlike 4.0 International"/>
          <p:cNvSpPr txBox="1"/>
          <p:nvPr/>
        </p:nvSpPr>
        <p:spPr>
          <a:xfrm>
            <a:off x="548640" y="3200400"/>
            <a:ext cx="8046720" cy="1889760"/>
          </a:xfrm>
          <a:prstGeom prst="rect">
            <a:avLst/>
          </a:prstGeom>
          <a:noFill/>
        </p:spPr>
        <p:txBody>
          <a:bodyPr wrap="square" lIns="0" rIns="0" tIns="0" bIns="381000">
            <a:noAutofit/>
          </a:bodyPr>
          <a:lstStyle/>
          <a:p>
            <a:pPr algn="l">
              <a:lnSpc>
                <a:spcPct val="118000"/>
              </a:lnSpc>
              <a:spcBef>
                <a:spcPts val="0"/>
              </a:spcBef>
              <a:spcAft>
                <a:spcPts val="500"/>
              </a:spcAft>
              <a:buNone/>
              <a:defRPr sz="2000" b="1">
                <a:solidFill>
                  <a:srgbClr val="303437"/>
                </a:solidFill>
                <a:latin typeface="Noto Sans"/>
              </a:defRPr>
            </a:pPr>
            <a:r>
              <a:rPr sz="2000" b="1" lang="ja-JP" altLang="en-US">
                <a:solidFill>
                  <a:srgbClr val="303437"/>
                </a:solidFill>
                <a:latin typeface="Noto Sans"/>
                <a:ea typeface="Noto Sans CJK JP"/>
                <a:cs typeface="Noto Sans"/>
              </a:rPr>
              <a:t>Attribution-ShareAlike 4.0 International</a:t>
            </a:r>
          </a:p>
          <a:p>
            <a:pPr>
              <a:lnSpc>
                <a:spcPct val="118000"/>
              </a:lnSpc>
              <a:spcAft>
                <a:spcPts val="500"/>
              </a:spcAft>
              <a:buNone/>
              <a:defRPr sz="1350" b="0">
                <a:solidFill>
                  <a:srgbClr val="303437"/>
                </a:solidFill>
                <a:latin typeface="Noto Sans"/>
              </a:defRPr>
            </a:pPr>
            <a:r>
              <a:rPr sz="1350" b="0" lang="ja-JP" altLang="en-US">
                <a:solidFill>
                  <a:srgbClr val="626669"/>
                </a:solidFill>
                <a:latin typeface="Noto Sans"/>
                <a:ea typeface="Noto Sans CJK JP"/>
                <a:cs typeface="Noto Sans"/>
              </a:rPr>
              <a:t>Creative Commons (n.d.). CC BY-SA 4.0。参照2026-10-19。</a:t>
            </a:r>
          </a:p>
          <a:p>
            <a:pPr>
              <a:lnSpc>
                <a:spcPct val="118000"/>
              </a:lnSpc>
              <a:spcAft>
                <a:spcPts val="500"/>
              </a:spcAft>
              <a:buNone/>
              <a:defRPr sz="1700" b="0">
                <a:solidFill>
                  <a:srgbClr val="303437"/>
                </a:solidFill>
                <a:latin typeface="Noto Sans"/>
              </a:defRPr>
            </a:pPr>
            <a:r>
              <a:rPr sz="1700" b="0" lang="ja-JP" altLang="en-US">
                <a:solidFill>
                  <a:srgbClr val="303437"/>
                </a:solidFill>
                <a:latin typeface="Noto Sans"/>
                <a:ea typeface="Noto Sans CJK JP"/>
                <a:cs typeface="Noto Sans"/>
              </a:rPr>
              <a:t>QuACの配布ライセンス。帰属表示と、改変物の共有に関する継承条件を定める。</a:t>
            </a:r>
          </a:p>
          <a:p>
            <a:pPr>
              <a:lnSpc>
                <a:spcPct val="118000"/>
              </a:lnSpc>
              <a:spcAft>
                <a:spcPts val="0"/>
              </a:spcAft>
              <a:buNone/>
              <a:defRPr sz="1100" b="0">
                <a:solidFill>
                  <a:srgbClr val="303437"/>
                </a:solidFill>
                <a:latin typeface="Noto Sans"/>
              </a:defRPr>
            </a:pPr>
            <a:r>
              <a:rPr sz="1100" b="0" lang="ja-JP" altLang="en-US">
                <a:solidFill>
                  <a:srgbClr val="2166AC"/>
                </a:solidFill>
                <a:latin typeface="Noto Sans"/>
                <a:ea typeface="Noto Sans CJK JP"/>
                <a:cs typeface="Noto Sans"/>
                <a:hlinkClick r:id="rId5"/>
              </a:rPr>
              <a:t>https://creativecommons.org/licenses/by-sa/4.0/</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2026-10-18T06:44:17Z</dcterms:modified>
  <dc:title>quac</dc:title>
  <dc:creator>sasakiy84</dc:creator>
  <dcterms:created xsi:type="dcterms:W3CDTF">2026-10-18T06:44:17Z</dcterms:created>
  <dc:language>ja-JP</dc:language>
</cp:coreProperties>
</file>