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340" r:id="rId87"/>
    <p:sldId id="318" r:id="rId65"/>
    <p:sldId id="319" r:id="rId63"/>
    <p:sldId id="261" r:id="rId5"/>
    <p:sldId id="262" r:id="rId4"/>
    <p:sldId id="341" r:id="rId88"/>
    <p:sldId id="322" r:id="rId69"/>
    <p:sldId id="320" r:id="rId67"/>
    <p:sldId id="321" r:id="rId68"/>
    <p:sldId id="323" r:id="rId70"/>
    <p:sldId id="263" r:id="rId3"/>
    <p:sldId id="265" r:id="rId15"/>
    <p:sldId id="324" r:id="rId71"/>
    <p:sldId id="325" r:id="rId72"/>
    <p:sldId id="326" r:id="rId73"/>
    <p:sldId id="264" r:id="rId2"/>
    <p:sldId id="266" r:id="rId16"/>
    <p:sldId id="327" r:id="rId74"/>
    <p:sldId id="267" r:id="rId17"/>
    <p:sldId id="328" r:id="rId75"/>
    <p:sldId id="329" r:id="rId76"/>
    <p:sldId id="330" r:id="rId77"/>
    <p:sldId id="331" r:id="rId78"/>
    <p:sldId id="332" r:id="rId79"/>
    <p:sldId id="268" r:id="rId18"/>
    <p:sldId id="269" r:id="rId19"/>
    <p:sldId id="270" r:id="rId20"/>
    <p:sldId id="271" r:id="rId21"/>
    <p:sldId id="317" r:id="rId64"/>
    <p:sldId id="272" r:id="rId22"/>
    <p:sldId id="273" r:id="rId23"/>
    <p:sldId id="333" r:id="rId80"/>
    <p:sldId id="334" r:id="rId81"/>
    <p:sldId id="274" r:id="rId24"/>
    <p:sldId id="335" r:id="rId82"/>
    <p:sldId id="275" r:id="rId25"/>
    <p:sldId id="336" r:id="rId83"/>
    <p:sldId id="337" r:id="rId84"/>
    <p:sldId id="276" r:id="rId26"/>
    <p:sldId id="277" r:id="rId27"/>
    <p:sldId id="289" r:id="rId39"/>
    <p:sldId id="338" r:id="rId85"/>
    <p:sldId id="278" r:id="rId28"/>
    <p:sldId id="279" r:id="rId29"/>
    <p:sldId id="280" r:id="rId30"/>
    <p:sldId id="281" r:id="rId31"/>
    <p:sldId id="282" r:id="rId32"/>
    <p:sldId id="339" r:id="rId86"/>
    <p:sldId id="283" r:id="rId33"/>
    <p:sldId id="316" r:id="rId66"/>
    <p:sldId id="284" r:id="rId34"/>
    <p:sldId id="285" r:id="rId35"/>
    <p:sldId id="286" r:id="rId36"/>
    <p:sldId id="287" r:id="rId37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1.xml"/><Relationship Id="rId3" Type="http://schemas.openxmlformats.org/officeDocument/2006/relationships/slide" Target="slides/slide16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7.xml"/><Relationship Id="rId16" Type="http://schemas.openxmlformats.org/officeDocument/2006/relationships/slide" Target="slides/slide22.xml"/><Relationship Id="rId17" Type="http://schemas.openxmlformats.org/officeDocument/2006/relationships/slide" Target="slides/slide2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slide" Target="slides/slide32.xml"/><Relationship Id="rId21" Type="http://schemas.openxmlformats.org/officeDocument/2006/relationships/slide" Target="slides/slide33.xml"/><Relationship Id="rId22" Type="http://schemas.openxmlformats.org/officeDocument/2006/relationships/slide" Target="slides/slide35.xml"/><Relationship Id="rId23" Type="http://schemas.openxmlformats.org/officeDocument/2006/relationships/slide" Target="slides/slide36.xml"/><Relationship Id="rId24" Type="http://schemas.openxmlformats.org/officeDocument/2006/relationships/slide" Target="slides/slide39.xml"/><Relationship Id="rId25" Type="http://schemas.openxmlformats.org/officeDocument/2006/relationships/slide" Target="slides/slide41.xml"/><Relationship Id="rId26" Type="http://schemas.openxmlformats.org/officeDocument/2006/relationships/slide" Target="slides/slide44.xml"/><Relationship Id="rId27" Type="http://schemas.openxmlformats.org/officeDocument/2006/relationships/slide" Target="slides/slide45.xml"/><Relationship Id="rId28" Type="http://schemas.openxmlformats.org/officeDocument/2006/relationships/slide" Target="slides/slide48.xml"/><Relationship Id="rId29" Type="http://schemas.openxmlformats.org/officeDocument/2006/relationships/slide" Target="slides/slide49.xml"/><Relationship Id="rId30" Type="http://schemas.openxmlformats.org/officeDocument/2006/relationships/slide" Target="slides/slide50.xml"/><Relationship Id="rId31" Type="http://schemas.openxmlformats.org/officeDocument/2006/relationships/slide" Target="slides/slide51.xml"/><Relationship Id="rId32" Type="http://schemas.openxmlformats.org/officeDocument/2006/relationships/slide" Target="slides/slide52.xml"/><Relationship Id="rId33" Type="http://schemas.openxmlformats.org/officeDocument/2006/relationships/slide" Target="slides/slide54.xml"/><Relationship Id="rId34" Type="http://schemas.openxmlformats.org/officeDocument/2006/relationships/slide" Target="slides/slide56.xml"/><Relationship Id="rId35" Type="http://schemas.openxmlformats.org/officeDocument/2006/relationships/slide" Target="slides/slide57.xml"/><Relationship Id="rId36" Type="http://schemas.openxmlformats.org/officeDocument/2006/relationships/slide" Target="slides/slide58.xml"/><Relationship Id="rId37" Type="http://schemas.openxmlformats.org/officeDocument/2006/relationships/slide" Target="slides/slide59.xml"/><Relationship Id="rId38" Type="http://schemas.openxmlformats.org/officeDocument/2006/relationships/slide" Target="slides/slide60.xml"/><Relationship Id="rId39" Type="http://schemas.openxmlformats.org/officeDocument/2006/relationships/slide" Target="slides/slide46.xml"/><Relationship Id="rId40" Type="http://schemas.openxmlformats.org/officeDocument/2006/relationships/slide" Target="slides/slide61.xml"/><Relationship Id="rId41" Type="http://schemas.openxmlformats.org/officeDocument/2006/relationships/slide" Target="slides/slide62.xml"/><Relationship Id="rId42" Type="http://schemas.openxmlformats.org/officeDocument/2006/relationships/slide" Target="slides/slide63.xml"/><Relationship Id="rId43" Type="http://schemas.openxmlformats.org/officeDocument/2006/relationships/slide" Target="slides/slide64.xml"/><Relationship Id="rId44" Type="http://schemas.openxmlformats.org/officeDocument/2006/relationships/slide" Target="slides/slide65.xml"/><Relationship Id="rId45" Type="http://schemas.openxmlformats.org/officeDocument/2006/relationships/slide" Target="slides/slide66.xml"/><Relationship Id="rId46" Type="http://schemas.openxmlformats.org/officeDocument/2006/relationships/slide" Target="slides/slide67.xml"/><Relationship Id="rId47" Type="http://schemas.openxmlformats.org/officeDocument/2006/relationships/slide" Target="slides/slide68.xml"/><Relationship Id="rId48" Type="http://schemas.openxmlformats.org/officeDocument/2006/relationships/slide" Target="slides/slide69.xml"/><Relationship Id="rId49" Type="http://schemas.openxmlformats.org/officeDocument/2006/relationships/slide" Target="slides/slide70.xml"/><Relationship Id="rId50" Type="http://schemas.openxmlformats.org/officeDocument/2006/relationships/slide" Target="slides/slide71.xml"/><Relationship Id="rId51" Type="http://schemas.openxmlformats.org/officeDocument/2006/relationships/slide" Target="slides/slide72.xml"/><Relationship Id="rId52" Type="http://schemas.openxmlformats.org/officeDocument/2006/relationships/slide" Target="slides/slide73.xml"/><Relationship Id="rId53" Type="http://schemas.openxmlformats.org/officeDocument/2006/relationships/slide" Target="slides/slide74.xml"/><Relationship Id="rId54" Type="http://schemas.openxmlformats.org/officeDocument/2006/relationships/slide" Target="slides/slide75.xml"/><Relationship Id="rId55" Type="http://schemas.openxmlformats.org/officeDocument/2006/relationships/slide" Target="slides/slide76.xml"/><Relationship Id="rId56" Type="http://schemas.openxmlformats.org/officeDocument/2006/relationships/slide" Target="slides/slide77.xml"/><Relationship Id="rId57" Type="http://schemas.openxmlformats.org/officeDocument/2006/relationships/slide" Target="slides/slide78.xml"/><Relationship Id="rId58" Type="http://schemas.openxmlformats.org/officeDocument/2006/relationships/slide" Target="slides/slide79.xml"/><Relationship Id="rId59" Type="http://schemas.openxmlformats.org/officeDocument/2006/relationships/slide" Target="slides/slide80.xml"/><Relationship Id="rId60" Type="http://schemas.openxmlformats.org/officeDocument/2006/relationships/slide" Target="slides/slide81.xml"/><Relationship Id="rId61" Type="http://schemas.openxmlformats.org/officeDocument/2006/relationships/slide" Target="slides/slide82.xml"/><Relationship Id="rId62" Type="http://schemas.openxmlformats.org/officeDocument/2006/relationships/slide" Target="slides/slide83.xml"/><Relationship Id="rId63" Type="http://schemas.openxmlformats.org/officeDocument/2006/relationships/slide" Target="slides/slide8.xml"/><Relationship Id="rId64" Type="http://schemas.openxmlformats.org/officeDocument/2006/relationships/slide" Target="slides/slide34.xml"/><Relationship Id="rId65" Type="http://schemas.openxmlformats.org/officeDocument/2006/relationships/slide" Target="slides/slide7.xml"/><Relationship Id="rId66" Type="http://schemas.openxmlformats.org/officeDocument/2006/relationships/slide" Target="slides/slide55.xml"/><Relationship Id="rId67" Type="http://schemas.openxmlformats.org/officeDocument/2006/relationships/slide" Target="slides/slide13.xml"/><Relationship Id="rId68" Type="http://schemas.openxmlformats.org/officeDocument/2006/relationships/slide" Target="slides/slide14.xml"/><Relationship Id="rId69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8.xml"/><Relationship Id="rId72" Type="http://schemas.openxmlformats.org/officeDocument/2006/relationships/slide" Target="slides/slide19.xml"/><Relationship Id="rId73" Type="http://schemas.openxmlformats.org/officeDocument/2006/relationships/slide" Target="slides/slide20.xml"/><Relationship Id="rId74" Type="http://schemas.openxmlformats.org/officeDocument/2006/relationships/slide" Target="slides/slide23.xml"/><Relationship Id="rId75" Type="http://schemas.openxmlformats.org/officeDocument/2006/relationships/slide" Target="slides/slide25.xml"/><Relationship Id="rId76" Type="http://schemas.openxmlformats.org/officeDocument/2006/relationships/slide" Target="slides/slide26.xml"/><Relationship Id="rId77" Type="http://schemas.openxmlformats.org/officeDocument/2006/relationships/slide" Target="slides/slide27.xml"/><Relationship Id="rId78" Type="http://schemas.openxmlformats.org/officeDocument/2006/relationships/slide" Target="slides/slide28.xml"/><Relationship Id="rId79" Type="http://schemas.openxmlformats.org/officeDocument/2006/relationships/slide" Target="slides/slide29.xml"/><Relationship Id="rId80" Type="http://schemas.openxmlformats.org/officeDocument/2006/relationships/slide" Target="slides/slide37.xml"/><Relationship Id="rId81" Type="http://schemas.openxmlformats.org/officeDocument/2006/relationships/slide" Target="slides/slide38.xml"/><Relationship Id="rId82" Type="http://schemas.openxmlformats.org/officeDocument/2006/relationships/slide" Target="slides/slide40.xml"/><Relationship Id="rId83" Type="http://schemas.openxmlformats.org/officeDocument/2006/relationships/slide" Target="slides/slide42.xml"/><Relationship Id="rId84" Type="http://schemas.openxmlformats.org/officeDocument/2006/relationships/slide" Target="slides/slide43.xml"/><Relationship Id="rId85" Type="http://schemas.openxmlformats.org/officeDocument/2006/relationships/slide" Target="slides/slide47.xml"/><Relationship Id="rId86" Type="http://schemas.openxmlformats.org/officeDocument/2006/relationships/slide" Target="slides/slide53.xml"/><Relationship Id="rId87" Type="http://schemas.openxmlformats.org/officeDocument/2006/relationships/slide" Target="slides/slide6.xml"/><Relationship Id="rId8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ocodataset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format-dat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format-data" TargetMode="External"/><Relationship Id="rId3" Type="http://schemas.openxmlformats.org/officeDocument/2006/relationships/hyperlink" Target="https://arxiv.org/abs/1801.0086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format-dat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format-dat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jpg"/><Relationship Id="rId3" Type="http://schemas.openxmlformats.org/officeDocument/2006/relationships/hyperlink" Target="https://github.com/cocodataset/panopticapi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4" Type="http://schemas.openxmlformats.org/officeDocument/2006/relationships/image" Target="../media/image21.png"/><Relationship Id="rId5" Type="http://schemas.openxmlformats.org/officeDocument/2006/relationships/hyperlink" Target="https://github.com/cocodataset/panopticapi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arxiv.org/abs/1801.0086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4" Type="http://schemas.openxmlformats.org/officeDocument/2006/relationships/image" Target="../media/image20.png"/><Relationship Id="rId5" Type="http://schemas.openxmlformats.org/officeDocument/2006/relationships/hyperlink" Target="https://github.com/cocodataset/panopticapi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arxiv.org/abs/1801.00868" TargetMode="External"/><Relationship Id="rId4" Type="http://schemas.openxmlformats.org/officeDocument/2006/relationships/hyperlink" Target="https://github.com/cocodataset/panopticapi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github.com/cocodataset/panopticapi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www.image-net.org/" TargetMode="External"/><Relationship Id="rId4" Type="http://schemas.openxmlformats.org/officeDocument/2006/relationships/hyperlink" Target="https://arxiv.org/abs/1409.0575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://host.robots.ox.ac.uk/pascal/VOC/voc2012/" TargetMode="External"/><Relationship Id="rId4" Type="http://schemas.openxmlformats.org/officeDocument/2006/relationships/hyperlink" Target="https://cocodataset.org/#externa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4" Type="http://schemas.openxmlformats.org/officeDocument/2006/relationships/hyperlink" Target="https://www.image-net.org/" TargetMode="External"/><Relationship Id="rId5" Type="http://schemas.openxmlformats.org/officeDocument/2006/relationships/hyperlink" Target="https://cocodataset.org/#format-data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cocodataset.org/#format-dat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arxiv.org/abs/1405.031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format-dat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format-data" TargetMode="External"/><Relationship Id="rId4" Type="http://schemas.openxmlformats.org/officeDocument/2006/relationships/hyperlink" Target="https://github.com/cocodataset/cocoapi/blob/master/PythonAPI/pycocotools/mask.py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4" Type="http://schemas.openxmlformats.org/officeDocument/2006/relationships/hyperlink" Target="https://github.com/cocodataset/cocoapi/blob/master/PythonAPI/pycocotools/mask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4" Type="http://schemas.openxmlformats.org/officeDocument/2006/relationships/hyperlink" Target="https://github.com/cocodataset/cocoapi/blob/master/PythonAPI/pycocotools/mask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4" Type="http://schemas.openxmlformats.org/officeDocument/2006/relationships/hyperlink" Target="https://github.com/cocodataset/cocoapi/blob/master/PythonAPI/pycocotools/mask.p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" TargetMode="External"/><Relationship Id="rId3" Type="http://schemas.openxmlformats.org/officeDocument/2006/relationships/hyperlink" Target="https://cocodataset.org/#downloa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nightrome/cocostuff" TargetMode="External"/><Relationship Id="rId3" Type="http://schemas.openxmlformats.org/officeDocument/2006/relationships/hyperlink" Target="https://github.com/cocodataset/panopticapi/blob/master/panoptic_coco_categories.js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4" Type="http://schemas.openxmlformats.org/officeDocument/2006/relationships/image" Target="../media/image19.jpg"/><Relationship Id="rId5" Type="http://schemas.openxmlformats.org/officeDocument/2006/relationships/hyperlink" Target="https://github.com/ultralytics/assets/releases/download/v0.0.0/coco128-seg.zip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cocodataset.org/#detection-eva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etection-eva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detection-eva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4" Type="http://schemas.openxmlformats.org/officeDocument/2006/relationships/hyperlink" Target="https://cocodataset.org/#detection-eva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detection-eva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arxiv.org/abs/1506.01497" TargetMode="External"/><Relationship Id="rId4" Type="http://schemas.openxmlformats.org/officeDocument/2006/relationships/hyperlink" Target="https://arxiv.org/abs/1708.02002" TargetMode="External"/><Relationship Id="rId5" Type="http://schemas.openxmlformats.org/officeDocument/2006/relationships/hyperlink" Target="https://arxiv.org/abs/2407.17140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arxiv.org/abs/1512.03385" TargetMode="External"/><Relationship Id="rId4" Type="http://schemas.openxmlformats.org/officeDocument/2006/relationships/hyperlink" Target="https://arxiv.org/abs/1612.03144" TargetMode="External"/><Relationship Id="rId5" Type="http://schemas.openxmlformats.org/officeDocument/2006/relationships/hyperlink" Target="https://github.com/facebookresearch/detectron2/blob/main/MODEL_ZOO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github.com/lyuwenyu/RT-DETR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panoptic-eva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api/evaluation.py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detection-eval" TargetMode="External"/><Relationship Id="rId4" Type="http://schemas.openxmlformats.org/officeDocument/2006/relationships/hyperlink" Target="https://arxiv.org/abs/1908.03195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ownload" TargetMode="External"/><Relationship Id="rId3" Type="http://schemas.openxmlformats.org/officeDocument/2006/relationships/hyperlink" Target="https://github.com/lyuwenyu/RT-DETR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lvis-dataset/lvis-api" TargetMode="External"/><Relationship Id="rId4" Type="http://schemas.openxmlformats.org/officeDocument/2006/relationships/hyperlink" Target="https://arxiv.org/abs/1908.03195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codataset/cocoapi/blob/master/PythonAPI/pycocoDemo.ipynb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cocodataset/cocoapi/blob/master/PythonAPI/pycocotools/coco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panoptic-eval" TargetMode="External"/><Relationship Id="rId3" Type="http://schemas.openxmlformats.org/officeDocument/2006/relationships/hyperlink" Target="https://github.com/nightrome/cocostuf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common/maskApi.c" TargetMode="External"/><Relationship Id="rId3" Type="http://schemas.openxmlformats.org/officeDocument/2006/relationships/hyperlink" Target="https://github.com/cocodataset/cocoapi/blob/master/PythonAPI/pycocotools/cocoeval.py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22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termsofuse" TargetMode="External"/><Relationship Id="rId3" Type="http://schemas.openxmlformats.org/officeDocument/2006/relationships/hyperlink" Target="https://github.com/cocodataset/cocoapi/blob/master/license.txt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github.com/cocodataset/cocoapi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3" Type="http://schemas.openxmlformats.org/officeDocument/2006/relationships/hyperlink" Target="https://arxiv.org/abs/1612.03716" TargetMode="External"/><Relationship Id="rId4" Type="http://schemas.openxmlformats.org/officeDocument/2006/relationships/hyperlink" Target="https://arxiv.org/abs/1801.00868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3" Type="http://schemas.openxmlformats.org/officeDocument/2006/relationships/hyperlink" Target="https://arxiv.org/abs/1703.06870" TargetMode="External"/><Relationship Id="rId4" Type="http://schemas.openxmlformats.org/officeDocument/2006/relationships/hyperlink" Target="https://arxiv.org/abs/1908.03195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領域認識用データセット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5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5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MS COCO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657600"/>
            <a:ext cx="8046720" cy="365760"/>
          </a:xfrm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anchor="ctr" lIns="0" rIns="0" tIns="0" bIns="0"/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  <p:sp>
        <p:nvSpPr>
          <p:cNvPr id="5" name="body"/>
          <p:cNvSpPr txBox="1"/>
          <p:nvPr>
            <p:ph type="body" idx="1"/>
          </p:nvPr>
        </p:nvSpPr>
        <p:spPr>
          <a:xfrm>
            <a:off x="594360" y="123444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認識課題と実画像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成立の背景と注釈の構造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評価指標とモデル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利用方法と関連データ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0"/>
            <a:ext cx="8229600" cy="192024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pic>
        <p:nvPicPr>
          <p:cNvPr id="4" name="Picture 3" descr="hom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85" y="1371600"/>
            <a:ext cx="4721629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物体のカテゴリ・位置・領域を推定する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COCOは、画像内の複数物体を対象とする検出・領域分割用データセットである。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正解は画像全体のラベルだけでなく、物体ごとのカテゴリ・位置・領域を含む。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物体検出、インスタンス分割、Panoptic分割では、予測する単位が異なる。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位置・個体領域・画素カテゴリを分けて考える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1 認識課題と実画像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33172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383280"/>
                <a:gridCol w="4663440"/>
              </a:tblGrid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予測するもの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物体ごとのカテゴリと画素領域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各画素のカテゴリと領域ID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9227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検出は位置を矩形で示す。分割は画素単位で領域を示し、個体を区別するか、背景まで含めるかが異なる。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物体検出はカテゴリと外接矩形を出力する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物体検出では、画像内の各物体にカテゴリと矩形の位置を割り当てる。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同じカテゴリの物体が複数あれば、それぞれ別の矩形として検出する。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矩形には背景の画素も含まれる。物体の輪郭そのものを表す領域マスクとは異なる。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インスタンス分割は物体ごとに画素を分類する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インスタンスとは、画像に写る個々の物体を指す。2本の傘は同じカテゴリでも別の個体である。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各物体について、その物体に属する画素の集合を領域マスクとして予測する。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重なりや遮蔽のある場面でも、見えている領域を個体ごとに区別する。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食卓の複数の物体を領域ごとに分ける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pic>
        <p:nvPicPr>
          <p:cNvPr id="4" name="Picture 3" descr="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000000000009 / COCO128-seg公開変換注釈の輪郭を重ねて表示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遮蔽された人と重なり合う傘を分ける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pic>
        <p:nvPicPr>
          <p:cNvPr id="4" name="Picture 3" descr="3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COCO128-seg公開変換注釈の輪郭を重ねて表示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同じ写真を個体の領域と背景に分けて見る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  <a:r>
              <a:t>1 認識課題と実画像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APIサンプル画像。</a:t>
            </a:r>
          </a:p>
        </p:txBody>
      </p:sp>
      <p:pic>
        <p:nvPicPr>
          <p:cNvPr id="5" name="Picture 4" descr="000000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371600"/>
            <a:ext cx="46598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個体ごとの分割では人の領域を区別する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公式注釈のthing領域のみ表示。黒は背景または未注釈。</a:t>
            </a:r>
          </a:p>
        </p:txBody>
      </p:sp>
      <p:pic>
        <p:nvPicPr>
          <p:cNvPr id="5" name="Picture 4" descr="instance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14人とボールを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個別の領域で表す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木・空・芝は対象外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色は領域の識別用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意味的領域分割は画素ごとのカテゴリを決める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意味的領域分割は、各画素に人・木・空などのカテゴリを割り当てる課題である。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同じカテゴリの人が複数いても、個体ごとの識別は要求しない。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インスタンス分割は個体を区別するが、通常は草や空のような背景領域を対象外とする。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意味的分割では14人を同じカテゴリで表す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公式Panoptic注釈をカテゴリ単位へ統合。未注釈画素は黒。</a:t>
            </a:r>
          </a:p>
        </p:txBody>
      </p:sp>
      <p:pic>
        <p:nvPicPr>
          <p:cNvPr id="5" name="Picture 4" descr="semantic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人は同じ青色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それぞれ別カテゴリ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個体IDは使わない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Panoptic分割は全体のカテゴリと個体を統合する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Panoptic分割は、各画素にカテゴリと領域IDを割り当て、画像全体を重複しない領域へ分ける。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数えられる物体をthingと呼び、人やボールを個体ごとに区別する。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広がりを持つ背景をstuffと呼び、木・空・芝にもカテゴリを付ける。未注釈領域は別扱いとする。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https://github.com/cocodataset/panopticapi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Panoptic分割では人と背景を同時に表す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pic>
        <p:nvPicPr>
          <p:cNvPr id="4" name="Picture 3" descr="panoptic-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APIサンプルの正解領域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0"/>
            <a:ext cx="8229600" cy="192024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ImageNetは大規模な画像分類を整備した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2009年に発表されたImageNetは、単語の概念を整理したWordNetに対応付けて画像を集めたデータベースである。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画像分類大会ILSVRC 2012では、1,000クラスの画像分類が広く使われた。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COCOは分類カテゴリの拡大よりも、同一画像内の複数物体の位置と画素領域を重視する。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https://www.image-net.org/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https://arxiv.org/abs/1409.0575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VOCは20カテゴリの物体認識を評価した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Visual Object Classes（VOC）は、物体の分類・検出・領域分割を扱う先行ベンチマークである。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VOC 2012は人・動物・乗り物など20物体カテゴリを扱い、矩形や領域の正解を提供する。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COCOの80物体カテゴリはVOCの4倍だが、画像数・注釈方法・評価指標も異なるため、得点を直接比較できない。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http://host.robots.ox.ac.uk/pascal/VOC/voc2012/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https://cocodataset.org/#external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先行データとCOCOでは正解の単位が異なる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https://www.image-net.org/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https://cocodataset.org/#format-data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80360"/>
                <a:gridCol w="333756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代表的な正解単位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ILSVRC 2012 分類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画像全体のラベル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PASCAL VOC 2012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2017 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この比較はタスクの整理であり、同じ評価集合の性能比較ではない。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COCOは複数物体と遮蔽を含む場面を対象とする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単一の大きな物体を中心に置いた画像だけでは、日常場面の物体認識を十分に評価できない。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COCOは、複数カテゴリの共起、小さな物体、重なりや遮蔽を含む場面を重視した。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Tsung-Yi LinらがECCV 2014で発表し、画像選定と物体領域の注釈をデータ設計の中心に据えた。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画像選定と領域注釈を段階に分ける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写真共有サービスFlickrから日常場面の画像を収集し、物体カテゴリの組合せで多様な文脈を探した。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カテゴリの存在確認、個体の特定、輪郭の作成を分け、各段階で注釈品質を確認した。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現在の物体注釈は、カテゴリ・矩形・領域マスクなどを同じレコードにまとめる。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カテゴリ確認から物体の輪郭へ注釈を具体化する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カテゴリの存在確認では、画像に「人」や「傘」が写っているかを判定する。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個体の特定では、何人・何本の傘があり、どの位置にあるかを分ける。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輪郭注釈では、それぞれの個体の見えている境界を画素領域として記録する。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画像・カテゴリ・個々の注釈をIDで対応付ける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1枚の画像に複数の物体注釈が対応し、各注釈は画像IDとカテゴリIDを参照する。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物体注釈は、矩形bbox、領域segmentation、面積area、集団領域の指定iscrowdなどを持つ。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領域の記録には、輪郭点を並べる多角形と、同じ画素値の連続長で表すランレングス符号化（RLE）が使われる。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bboxは左上座標と矩形の幅・高さを表す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bboxは[x, y, width, height]の順で、画像左上を原点として記録する。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たとえば[20, 30, 100, 60]は、左上が(20, 30)、右下が(120, 90)の矩形を表す。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幅100・高さ60の矩形面積6,000画素と、物体の領域面積areaは一致するとは限らない。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多角形は物体の輪郭を座標列で表す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多角形は[x1, y1, x2, y2, …]の順に輪郭点を並べ、隣接する点と最後・最初の点を結ぶ。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たとえば[1, 1, 4, 1, 4, 3, 1, 3]は、4頂点で囲まれた矩形状の領域を表す。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個体が複数の部分に分かれる場合は、1物体のsegmentationに複数の多角形を持たせられる。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https://github.com/cocodataset/cocoapi/blob/master/PythonAPI/pycocotools/mask.py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領域マスクは各画素を0または1で表す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4行×5列の符号化説明例。COCO画像からの集計ではない。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77639" y="173736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1は対象の画素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0は対象外の画素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この領域の面積は6画素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画像の大きさは4行×5列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06908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マスクは輪郭点の列ではなく、画像と同じ縦横を持つ配列である。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RLEは列方向の走査を連続長に置き換える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4行×5列の符号化説明例。COCO画像からの集計ではない。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15087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左の列の上から下へ読む。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次の列も上から下へ読む。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542032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0が5個 → 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0が5個</a:t>
            </a:r>
          </a:p>
        </p:txBody>
      </p:sp>
      <p:sp>
        <p:nvSpPr>
          <p:cNvPr id="49" name="code-background"/>
          <p:cNvSpPr/>
          <p:nvPr/>
        </p:nvSpPr>
        <p:spPr>
          <a:xfrm>
            <a:off x="548640" y="3778736"/>
            <a:ext cx="8046720" cy="584499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3822191"/>
            <a:ext cx="77724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[5, 2, 2, 2, 2, 2, 5]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434340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先頭は0の個数。最初の画素が1なら、先頭の連続長は0になる。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公式APIで同じマスクを符号化・復元する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https://github.com/cocodataset/cocoapi/blob/master/PythonAPI/pycocotools/mask.py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63437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7717536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 import mask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rle = {"size": [4, 5], "counts": [5, 2, 2, 2, 2, 2, 5]}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encoded = mask.frPyObjects(rle, 4, 5)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print(encoded["counts"])          # b'5220003'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print(int(mask.area(encoded)))    # 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restored = mask.decode(encoded)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配布用の圧縮RLEでは連続長を文字列に符号化する。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文字列を手で画素数として読まず、APIで復元・面積計算を行う。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2017の画像分割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084831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3120"/>
                <a:gridCol w="2743200"/>
                <a:gridCol w="3200400"/>
              </a:tblGrid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画像数の概数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正解領域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05351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2014年版のtrain 83K／val 41Kを、同じ画像で再分割した。2017は撮影年ではなく分割の公開年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全体の規模と2017年版の範囲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公式サイトは全体を約330K画像、うち200K超を注釈付きとし、約150万物体を収録すると説明する。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2017年版のtrain＋valは約123K画像。検出用の正解領域が公開されている。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全体規模の概数と、手元のtrain＋valで数える件数は対象範囲が異なる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80物体カテゴリと背景カテゴリ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物体検出・インスタンス分割は80カテゴリ。人、乗り物、動物、食品、家具などを含む。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COCO-Stuffは80物体＋91背景の171カテゴリ。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Panopticは80物体＋53背景の133カテゴリ。背景カテゴリを統合した体系を使う [1, 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https://github.com/nightrome/cocostuff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https://github.com/cocodataset/panopticapi/blob/master/panoptic_coco_categories.json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実画像の傘で面積の大きさを比べる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  <a:effectLst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pic>
        <p:nvPicPr>
          <p:cNvPr id="4" name="Picture 3" descr="0000000003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4983480" cy="3324916"/>
          </a:xfrm>
          <a:prstGeom prst="rect">
            <a:avLst/>
          </a:prstGeom>
          <a:effectLst/>
        </p:spPr>
      </p:pic>
      <p:sp>
        <p:nvSpPr>
          <p:cNvPr id="5" name="Freeform 4"/>
          <p:cNvSpPr/>
          <p:nvPr/>
        </p:nvSpPr>
        <p:spPr>
          <a:xfrm>
            <a:off x="3468390" y="2414924"/>
            <a:ext cx="389300" cy="194650"/>
          </a:xfrm>
          <a:custGeom>
            <a:avLst/>
            <a:gdLst/>
            <a:ahLst/>
            <a:cxnLst/>
            <a:rect l="l" t="t" r="r" b="b"/>
            <a:pathLst>
              <a:path w="50" h="25">
                <a:moveTo>
                  <a:pt x="37" y="25"/>
                </a:moveTo>
                <a:lnTo>
                  <a:pt x="17" y="12"/>
                </a:lnTo>
                <a:lnTo>
                  <a:pt x="0" y="3"/>
                </a:lnTo>
                <a:lnTo>
                  <a:pt x="10" y="0"/>
                </a:lnTo>
                <a:lnTo>
                  <a:pt x="40" y="8"/>
                </a:lnTo>
                <a:lnTo>
                  <a:pt x="50" y="17"/>
                </a:lnTo>
                <a:lnTo>
                  <a:pt x="48" y="22"/>
                </a:lnTo>
                <a:close/>
              </a:path>
            </a:pathLst>
          </a:custGeom>
          <a:noFill/>
          <a:ln w="21590"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3702248" y="2508456"/>
            <a:ext cx="584002" cy="109014"/>
          </a:xfrm>
          <a:prstGeom prst="line">
            <a:avLst/>
          </a:prstGeom>
          <a:ln w="12700">
            <a:solidFill>
              <a:srgbClr val="B137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167378" y="2498598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7378" y="2498598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46304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 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8288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582画素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22199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1,024画素未満</a:t>
            </a:r>
          </a:p>
        </p:txBody>
      </p:sp>
      <p:sp>
        <p:nvSpPr>
          <p:cNvPr id="12" name="Freeform 11"/>
          <p:cNvSpPr/>
          <p:nvPr/>
        </p:nvSpPr>
        <p:spPr>
          <a:xfrm>
            <a:off x="1654252" y="2282562"/>
            <a:ext cx="1199044" cy="692954"/>
          </a:xfrm>
          <a:custGeom>
            <a:avLst/>
            <a:gdLst/>
            <a:ahLst/>
            <a:cxnLst/>
            <a:rect l="l" t="t" r="r" b="b"/>
            <a:pathLst>
              <a:path w="154" h="89">
                <a:moveTo>
                  <a:pt x="7" y="1"/>
                </a:moveTo>
                <a:lnTo>
                  <a:pt x="60" y="1"/>
                </a:lnTo>
                <a:lnTo>
                  <a:pt x="101" y="23"/>
                </a:lnTo>
                <a:lnTo>
                  <a:pt x="152" y="68"/>
                </a:lnTo>
                <a:lnTo>
                  <a:pt x="154" y="85"/>
                </a:lnTo>
                <a:lnTo>
                  <a:pt x="115" y="89"/>
                </a:lnTo>
                <a:lnTo>
                  <a:pt x="98" y="66"/>
                </a:lnTo>
                <a:lnTo>
                  <a:pt x="77" y="24"/>
                </a:lnTo>
                <a:lnTo>
                  <a:pt x="43" y="9"/>
                </a:lnTo>
                <a:lnTo>
                  <a:pt x="9" y="5"/>
                </a:lnTo>
                <a:lnTo>
                  <a:pt x="0" y="0"/>
                </a:lnTo>
                <a:close/>
              </a:path>
            </a:pathLst>
          </a:custGeom>
          <a:noFill/>
          <a:ln w="21590"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230564" y="2539603"/>
            <a:ext cx="654082" cy="739735"/>
          </a:xfrm>
          <a:prstGeom prst="line">
            <a:avLst/>
          </a:prstGeom>
          <a:ln w="12700">
            <a:solidFill>
              <a:srgbClr val="2166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65774" y="3160466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5774" y="3160466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6032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  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79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3,629画素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31927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1,024〜9,216画素</a:t>
            </a:r>
          </a:p>
        </p:txBody>
      </p:sp>
      <p:sp>
        <p:nvSpPr>
          <p:cNvPr id="19" name="Freeform 18"/>
          <p:cNvSpPr/>
          <p:nvPr/>
        </p:nvSpPr>
        <p:spPr>
          <a:xfrm>
            <a:off x="548640" y="2126842"/>
            <a:ext cx="1245760" cy="2024360"/>
          </a:xfrm>
          <a:custGeom>
            <a:avLst/>
            <a:gdLst/>
            <a:ahLst/>
            <a:cxnLst/>
            <a:rect l="l" t="t" r="r" b="b"/>
            <a:pathLst>
              <a:path w="160" h="260">
                <a:moveTo>
                  <a:pt x="67" y="256"/>
                </a:moveTo>
                <a:lnTo>
                  <a:pt x="77" y="131"/>
                </a:lnTo>
                <a:lnTo>
                  <a:pt x="77" y="113"/>
                </a:lnTo>
                <a:lnTo>
                  <a:pt x="79" y="105"/>
                </a:lnTo>
                <a:lnTo>
                  <a:pt x="0" y="40"/>
                </a:lnTo>
                <a:lnTo>
                  <a:pt x="0" y="0"/>
                </a:lnTo>
                <a:lnTo>
                  <a:pt x="53" y="17"/>
                </a:lnTo>
                <a:lnTo>
                  <a:pt x="102" y="46"/>
                </a:lnTo>
                <a:lnTo>
                  <a:pt x="138" y="80"/>
                </a:lnTo>
                <a:lnTo>
                  <a:pt x="156" y="100"/>
                </a:lnTo>
                <a:lnTo>
                  <a:pt x="160" y="119"/>
                </a:lnTo>
                <a:lnTo>
                  <a:pt x="154" y="134"/>
                </a:lnTo>
                <a:lnTo>
                  <a:pt x="134" y="139"/>
                </a:lnTo>
                <a:lnTo>
                  <a:pt x="119" y="140"/>
                </a:lnTo>
                <a:lnTo>
                  <a:pt x="117" y="127"/>
                </a:lnTo>
                <a:lnTo>
                  <a:pt x="96" y="130"/>
                </a:lnTo>
                <a:lnTo>
                  <a:pt x="79" y="131"/>
                </a:lnTo>
                <a:lnTo>
                  <a:pt x="70" y="260"/>
                </a:lnTo>
                <a:close/>
              </a:path>
            </a:pathLst>
          </a:custGeom>
          <a:noFill/>
          <a:ln w="21590"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054774" y="2773203"/>
            <a:ext cx="155734" cy="934403"/>
          </a:xfrm>
          <a:prstGeom prst="line">
            <a:avLst/>
          </a:prstGeom>
          <a:ln w="12700">
            <a:solidFill>
              <a:srgbClr val="7A31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91636" y="3588734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636" y="3588734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6576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  large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402336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10,803画素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41655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9,216画素超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COCO128-seg公開変換ポリゴンを画素化した面積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物体面積の区分とCOCO全体の構成比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pic>
        <p:nvPicPr>
          <p:cNvPr id="4" name="Picture 3" descr="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公式ページの物体面積別の概数（42%、34%、24%）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0"/>
            <a:ext cx="8229600" cy="192024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IoUは領域の重なりを測る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1828800" cy="1828800"/>
          </a:xfrm>
          <a:prstGeom prst="rect">
            <a:avLst/>
          </a:prstGeom>
          <a:noFill/>
          <a:ln w="38100">
            <a:solidFill>
              <a:srgbClr val="2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737360"/>
            <a:ext cx="1828800" cy="1828800"/>
          </a:xfrm>
          <a:prstGeom prst="rect">
            <a:avLst/>
          </a:prstGeom>
          <a:noFill/>
          <a:ln w="3810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2918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予測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= 共通部分 ÷ 和集合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4389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この矩形例では 2 ÷ 6 = 1/3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0.50で一致とはならない。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マスクは画素単位で評価する。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図は指標を説明する矩形例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予測と正解の対応からTP・FP・FNを数える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正しいカテゴリで正解領域へ一致した予測を真陽性TPとする。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正解へ一致しない予測や、同じ物体への重複した予測を偽陽性FPとする。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予測されなかった正解物体を偽陰性FNとする。カテゴリとIoU閾値で一致の条件が決まる。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適合率と再現率は異なる分母で計算する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https://cocodataset.org/#detection-eval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TP=2、FP=1、FN=2とした計算説明例。実モデルの評価値ではない。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57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468880"/>
                <a:gridCol w="3291840"/>
                <a:gridCol w="2286000"/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適合率 Precision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予測3件 = TP + FP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2/3 = 66.7%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再現率 Recall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正解4件 = TP + FN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2/4 = 50.0%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79476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誤検出が増えると適合率が下がり、見落としが増えると再現率が下がる。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APは全予測を集計して評価する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0" bIns="0" lIns="0" rIns="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AP（平均適合率）は、カテゴリごとに予測を信頼度順に並べ、正解との一致を使って求める。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再現率0〜1の101点で適合率を補間し、その平均をAPとする。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COCOの主指標は、カテゴリとIoU 0.50〜0.95の10閾値で平均したAPである。矩形の検出はbox AP、個体領域はmask APと呼ぶ。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AP50と主指標APでは要求する位置精度が異なる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AP50はIoU閾値0.50で計算する。IoU 0.62の予測は、他の一致条件も満たせば対応候補になる。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IoU閾値0.75では、同じ予測は対応候補にならない。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COCOの主指標APは、0.50から0.95まで0.05刻みの10閾値で求めたAPを平均する。1予測の合否を平均した値ではない。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数えにくい集団にはcrowd注釈がある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密集して個体ごとの区切りが難しい領域は、iscrowd=1でまとめて注釈する。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crowdへの一致は通常の真陽性に数えず、条件を満たす予測を評価から除外する。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同じ物体への重複検出や、小さい対象の見落としもAPに影響する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検出方式は領域候補を使うかどうかで異なる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R-CNN（2015）は候補領域を作り、その領域についてカテゴリと位置を推定する二段階方式である。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RetinaNet（2017）は画像上の多数の位置から直接検出する一段階方式で、学習中の易しい負例の影響を抑える。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RT-DETRv2（2024）は、物体間の関係を扱うTransformerを用いた実時間検出器RT-DETR（2023）を改良した。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355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https://arxiv.org/abs/1506.01497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https://arxiv.org/abs/1708.02002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https://arxiv.org/abs/2407.17140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R50・FPN・3xはモデルと学習設定を表す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R50は、画像から特徴を抽出する50層のResNet-50（2016）を指す。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FPNは、異なる解像度の特徴を統合するFeature Pyramid Networks（2017）を指す。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3xは公開実装の学習スケジュール名で、標準的な1xより長く学習する設定を示す。モデルの発表年ではない。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355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https://arxiv.org/abs/1512.03385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https://arxiv.org/abs/1612.03144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https://github.com/facebookresearch/detectron2/blob/main/MODEL_ZOO.md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過去のモデルの評価結果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3048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R-CNNにはFPNを組み合わせた。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19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749039"/>
                <a:gridCol w="1463040"/>
                <a:gridCol w="100584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方式・設定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年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Faster R-CNN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 / 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RetinaNet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RT-DETRv2-L 640 px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Panoptic分割をPanoptic Qualityで評価する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Quality（PQ）は、領域形状の精度と物体の検出精度をまとめて測る指標である。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同じカテゴリの正解と予測をIoU &gt; 0.50で対応付け、TP・FP・FNを数える。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対応した領域のIoUの和をTP＋0.5FP＋0.5FNで割り、カテゴリごとの値を平均する。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1領域の一致と、PQ全体の計算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同一カテゴリの正解2領域に対し、予測2領域のうち1領域がIoU 0.80で一致したとする。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TP=1、FP=1、FN=1なので、PQ=0.80÷(1＋0.5＋0.5)=0.40。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実評価はカテゴリごとに全画像の一致・誤検出・見落としを集計し、カテゴリ間で平均する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https://github.com/cocodataset/panopticapi/blob/master/panopticapi/evaluation.py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数値は計算説明の例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COCOの評価対象と汎化の範囲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COCOの物体検出は80カテゴリを対象とし、未知カテゴリや専門分野の物体認識を直接は測らない。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小さな物体・混雑・遮蔽に加え、注釈の範囲や不確実性も得点の解釈に関わる。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手法の比較では、発表年だけでなく学習画像・事前学習・入力サイズ・評価集合を確認する必要がある。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https://arxiv.org/abs/1908.03195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0"/>
            <a:ext cx="8229600" cy="192024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公開から現在まで、共通の評価基盤へ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2014年に物体の文脈と領域を重視したデータとして登場し、2017年に学習・検証分割を再編した。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2018年にはPanoptic分割を追加した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2026-10-15の確認では、RT-DETR系の公式実装がCOCOでの評価設定と結果を公開している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LVISはCOCO画像を大語彙の物体認識へ拡張した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Large Vocabulary Instance Segmentation（LVIS、2019）は、COCO画像へ1,000以上の物体カテゴリの注釈を追加した。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出現頻度の低いカテゴリを多く含み、頻出・少数カテゴリ別の認識性能を評価する。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COCOと画像を共有しても、カテゴリ・注釈・評価方法が異なり、得点を直接比較できない。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https://arxiv.org/abs/1908.03195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https://github.com/lvis-dataset/lvis-api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画像と注釈を別々に入手する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21208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公式配布物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圧縮容量の目安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train＋val注釈ZIP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公式ページの圧縮配布サイズ。展開後の容量ではない。画像の利用条件はFlickr側のライセンスも確認する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公式APIで物体注釈を読み込む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85040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noFill/>
        </p:spPr>
        <p:txBody>
          <a:bodyPr wrap="none" anchor="t" lIns="152400" rIns="152400" tIns="76200" bIns="1143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pycocotools.coco import COCO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coco = COCO("annotations/instances_val2017.json")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ids = coco.getImgIds(catIds=coco.getCatIds(catNms=["cat"]))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info = coco.loadImgs(ids[0])[0]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anns = coco.loadAnns(coco.getAnnIds(imgIds=[info["id"]]))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pycocotoolsを導入し、公式配布ZIPを展開して使う。画像ファイルは画像ZIPから別に取得する。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https://github.com/cocodataset/cocoapi/blob/master/PythonAPI/pycocoDemo.ipynb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APIは画像IDから物体注釈とマスクを取り出す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COCO.getImgIdsは条件に合う画像IDを返し、loadImgsでファイル名・幅・高さなどを読み込む。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getAnnIdsとloadAnnsで、その画像に対応する物体注釈を取り出す。category_idはカテゴリ表と照合する。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annToMaskは多角形やRLEを画像と同じ縦横の二値マスクへ変換する。表示用の縮小画像の寸法と混同しない。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COCOは複数物体の位置と領域を評価する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COCOは、物体のカテゴリ・矩形・個体領域を注釈し、日常場面の複数物体認識を評価する。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Panoptic分割は背景領域も含め、各画素のカテゴリと領域IDを統合する。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検出・個体分割のAPとPanopticのPQは異なる指標である。範囲・版・評価集合をそろえて結果を読む。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64528"/>
            <a:ext cx="8229600" cy="1280160"/>
          </a:xfrm>
        </p:spPr>
        <p:txBody>
          <a:bodyPr anchor="ctr"/>
          <a:lstStyle/>
          <a:p>
            <a:pPr algn="ctr"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960120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定義・著者・評価の詳細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128画像で見る注釈の分布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追加の領域注釈例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全80カテゴリと利用条件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原著の著者と研究の位置付け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第一著者Tsung-Yi Linは、物体認識・検出の研究者。後のFeature Pyramid Networksでも第一著者を務めた。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最終著者C. Lawrence Zitnickは、視覚認識や画像理解の研究者。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原著はECCV 2014で発表され、日常場面の文脈と物体領域の注釈をデータ設計の中心に据えた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定義・著者・評価の詳細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al., Microsoft COCO: Common Objects in Context, ECCV 2014, pp. 740–755.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同じ画像でもタスクごとに正解が異なる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定義・著者・評価の詳細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34640"/>
                <a:gridCol w="356616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mask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mIoU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カテゴリ＋個体ID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PQ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意味的領域分割では、同じカテゴリに属する複数の人を個体として区別する必要がない。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https://github.com/nightrome/cocostuff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通常注釈とcrowd注釈の扱い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通常の一致判定は、交差面積を和集合面積で割るIoUを用いる。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crowdとの判定は交差面積を予測面積で割る。一つのcrowd領域へ複数の予測を対応付けられる。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crowd正解は再現率の分母から除外され、そこへ一致した予測も適合率の集計から除外される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定義・著者・評価の詳細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https://github.com/cocodataset/cocoapi/blob/master/common/maskApi.c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APの平均には複数の軸がある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各カテゴリ・各IoU閾値で、信頼度順の予測から適合率・再現率を作る。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再現率0.00〜1.00の101点で補間した適合率を平均し、カテゴリと10個のIoU閾値で平均する。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通常APはmaxDets=100。公式Python実装では、画像・カテゴリごとに上位100予測を使う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定義・著者・評価の詳細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ここからは公開128画像の部分集合を見る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全体の配布画像は約330K枚だが、以下の集計はCOCO128-segの128画像に限定する。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公開変換された領域注釈を画像ごとに数え、注釈ファイルがない2画像は0領域として含める。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これは例示用の小さな部分集合。カテゴリ頻度や領域数の分布をCOCO全体へ一般化しない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pic>
        <p:nvPicPr>
          <p:cNvPr id="4" name="Picture 3" descr="sample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128画像すべて。画像ごとの注釈行数、1階級5領域、表示範囲外0画像。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128画像に含まれる929領域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475488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注釈領域数／画像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平均／中央値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7.26 ／ 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第1／第3四分位点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／ 10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最小／最大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／ 42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全128画像を等重みで計算。分位点は線形補間。80カテゴリ中71カテゴリの注釈を含む。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最多の42領域を含む食卓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pic>
        <p:nvPicPr>
          <p:cNvPr id="4" name="Picture 3" descr="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000000000196 / COCO128-seg公開変換注釈の輪郭を重ねて表示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注釈が0領域の画像にも物体は写る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pic>
        <p:nvPicPr>
          <p:cNvPr id="4" name="Picture 3" descr="2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000000000250 / COCO128-seg公開変換注釈の輪郭を重ねて表示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キリン giraffe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87" y="1417320"/>
            <a:ext cx="4739425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000000000025 / COCO128-seg公開変換注釈の輪郭を重ねて表示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 zebra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000000000034 / COCO128-seg公開変換注釈の輪郭を重ねて表示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猫 cat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6" name="Picture 5" descr="0000000006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371600"/>
            <a:ext cx="4728326" cy="315468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3158640" y="2184280"/>
            <a:ext cx="2253340" cy="1802672"/>
          </a:xfrm>
          <a:custGeom>
            <a:avLst/>
            <a:gdLst/>
            <a:ahLst/>
            <a:cxnLst/>
            <a:rect l="l" t="t" r="r" b="b"/>
            <a:pathLst>
              <a:path w="305" h="244">
                <a:moveTo>
                  <a:pt x="39" y="238"/>
                </a:moveTo>
                <a:lnTo>
                  <a:pt x="39" y="220"/>
                </a:lnTo>
                <a:lnTo>
                  <a:pt x="46" y="208"/>
                </a:lnTo>
                <a:lnTo>
                  <a:pt x="60" y="199"/>
                </a:lnTo>
                <a:lnTo>
                  <a:pt x="53" y="186"/>
                </a:lnTo>
                <a:lnTo>
                  <a:pt x="33" y="167"/>
                </a:lnTo>
                <a:lnTo>
                  <a:pt x="24" y="143"/>
                </a:lnTo>
                <a:lnTo>
                  <a:pt x="7" y="107"/>
                </a:lnTo>
                <a:lnTo>
                  <a:pt x="3" y="80"/>
                </a:lnTo>
                <a:lnTo>
                  <a:pt x="3" y="59"/>
                </a:lnTo>
                <a:lnTo>
                  <a:pt x="0" y="32"/>
                </a:lnTo>
                <a:lnTo>
                  <a:pt x="3" y="8"/>
                </a:lnTo>
                <a:lnTo>
                  <a:pt x="28" y="8"/>
                </a:lnTo>
                <a:lnTo>
                  <a:pt x="39" y="18"/>
                </a:lnTo>
                <a:lnTo>
                  <a:pt x="73" y="13"/>
                </a:lnTo>
                <a:lnTo>
                  <a:pt x="90" y="13"/>
                </a:lnTo>
                <a:lnTo>
                  <a:pt x="104" y="0"/>
                </a:lnTo>
                <a:lnTo>
                  <a:pt x="121" y="1"/>
                </a:lnTo>
                <a:lnTo>
                  <a:pt x="121" y="24"/>
                </a:lnTo>
                <a:lnTo>
                  <a:pt x="139" y="14"/>
                </a:lnTo>
                <a:lnTo>
                  <a:pt x="159" y="8"/>
                </a:lnTo>
                <a:lnTo>
                  <a:pt x="214" y="16"/>
                </a:lnTo>
                <a:lnTo>
                  <a:pt x="276" y="47"/>
                </a:lnTo>
                <a:lnTo>
                  <a:pt x="300" y="101"/>
                </a:lnTo>
                <a:lnTo>
                  <a:pt x="305" y="159"/>
                </a:lnTo>
                <a:lnTo>
                  <a:pt x="301" y="195"/>
                </a:lnTo>
                <a:lnTo>
                  <a:pt x="284" y="214"/>
                </a:lnTo>
                <a:lnTo>
                  <a:pt x="247" y="214"/>
                </a:lnTo>
                <a:lnTo>
                  <a:pt x="208" y="222"/>
                </a:lnTo>
                <a:lnTo>
                  <a:pt x="174" y="227"/>
                </a:lnTo>
                <a:lnTo>
                  <a:pt x="138" y="234"/>
                </a:lnTo>
                <a:lnTo>
                  <a:pt x="123" y="243"/>
                </a:lnTo>
                <a:lnTo>
                  <a:pt x="92" y="244"/>
                </a:lnTo>
                <a:lnTo>
                  <a:pt x="72" y="244"/>
                </a:lnTo>
                <a:lnTo>
                  <a:pt x="46" y="244"/>
                </a:lnTo>
                <a:close/>
              </a:path>
            </a:pathLst>
          </a:custGeom>
          <a:noFill/>
          <a:ln w="1905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000000000650 / cat注釈の輪郭。COCO128-seg公開変換注釈。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街路の時計 clock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994" y="1417320"/>
            <a:ext cx="23660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000000000064 / COCO128-seg公開変換注釈の輪郭を重ねて表示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重なり合うオートバイ motorcycle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504" y="1417320"/>
            <a:ext cx="278499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000000000073 / COCO128-seg公開変換注釈の輪郭を重ねて表示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飛行機 airplane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000000000081 / COCO128-seg公開変換注釈の輪郭を重ねて表示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ケーキとフォーク cake / fork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000000000092 / COCO128-seg公開変換注釈の輪郭を重ねて表示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野球の選手とバット person / baseball bat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1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000000000192 / COCO128-seg公開変換注釈の輪郭を重ねて表示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スノーボードと遠方の人 person / snowboard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360" y="1417319"/>
            <a:ext cx="471727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000000000201 / COCO128-seg公開変換注釈の輪郭を重ねて表示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前後に重なるゾウ elephant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25" y="1417320"/>
            <a:ext cx="29131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000000000263 / COCO128-seg公開変換注釈の輪郭を重ねて表示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全80カテゴリ（1/4）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person（1カテゴリ）: person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vehicle（8カテゴリ）: bicycle, car, motorcycle, airplane, bus, train, truck, boat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outdoor（5カテゴリ）: traffic light, fire hydrant, stop sign, parking meter, bench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全80カテゴリ（2/4）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animal（10カテゴリ）: bird, cat, dog, horse, sheep, cow, elephant, bear, zebra, giraffe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accessory（5カテゴリ）: backpack, umbrella, handbag, tie, suitcase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sports（10カテゴリ）: frisbee, skis, snowboard, sports ball, kite, baseball bat, baseball glove, skateboard, surfboard, tennis racket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全80カテゴリ（3/4）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kitchen（7カテゴリ）: bottle, wine glass, cup, fork, knife, spoon, bowl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food（10カテゴリ）: banana, apple, sandwich, orange, broccoli, carrot, hot dog, pizza, donut, cake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furniture（6カテゴリ）: chair, couch, potted plant, bed, dining table, toilet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全80カテゴリ（4/4）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electronic（6カテゴリ）: tv, laptop, mouse, remote, keyboard, cell phone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appliance（5カテゴリ）: microwave, oven, toaster, sink, refrigerator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indoor（7カテゴリ）: book, clock, vase, scissors, teddy bear, hair drier, toothbrush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画像・注釈・ソフトウェアの利用条件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注釈とWebサイトはCOCO ConsortiumのCC BY 4.0で提供される。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画像の著作権は撮影者側にあり、Flickrの画像ごとの利用条件に従う。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公式APIはBSD形式の利用条件を持つ。画像・注釈・コードで利用条件が異なる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https://cocodataset.org/#termsofuse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https://github.com/cocodataset/cocoapi/blob/master/license.txt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5156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 (2014).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European Conference on Computer Vision (ECCV), pp. 740–755.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COCOの原著。日常場面の画像収集、領域注釈と初期評価を報告する。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82112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30752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Consortium (n.d.; 参照日 2026-10-15).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GitHub, cocodataset/cocoapi.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325112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画像・注釈の読込み、マスク表現、検出・分割の評価を担う公式実装。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8231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2999232"/>
            <a:ext cx="7955280" cy="0"/>
          </a:xfrm>
          <a:prstGeom prst="line">
            <a:avLst/>
          </a:prstGeom>
          <a:ln w="10160">
            <a:solidFill>
              <a:srgbClr val="62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5156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COCO-Stuff: Thing and Stuff Classes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Holger Caesar, Jasper Uijlings, Vittorio Ferrari (2018).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IEEE/CVF Conference on Computer Vision and Pattern Recognition (CVPR), pp. 1209–1218.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COCOへ背景の画素注釈を加え、物体と背景を含む場面理解を扱う研究。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https://arxiv.org/abs/1612.03716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82112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30752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Alexander Kirillov, Kaiming He, Ross Girshick, Carsten Rother, Piotr Dollár (2019).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IEEE/CVF Conference on Computer Vision and Pattern Recognition (CVPR), pp. 9404–9413.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325112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意味的領域分割と個体ごとの分割を統合し、共通指標PQを提案する。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8231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https://arxiv.org/abs/1801.00868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2999232"/>
            <a:ext cx="7955280" cy="0"/>
          </a:xfrm>
          <a:prstGeom prst="line">
            <a:avLst/>
          </a:prstGeom>
          <a:ln w="10160">
            <a:solidFill>
              <a:srgbClr val="62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5156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Mask R-CNN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Kaiming He, Georgia Gkioxari, Piotr Dollár, Ross Girshick (2017).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IEEE International Conference on Computer Vision (ICCV), pp. 2961–2969.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物体ごとのマスク予測を検出器に加えた、COCOの代表的な分割モデル。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https://arxiv.org/abs/1703.06870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82112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5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5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LVIS: A Dataset for Large Vocabulary Instance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30752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Agrim Gupta, Piotr Dollár, Ross Girshick (2019).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IEEE/CVF Conference on Computer Vision and Pattern Recognition (CVPR), pp. 5356–5364.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325112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COCO画像に大語彙の領域注釈を加え、まれなカテゴリの認識を評価する。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8231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https://arxiv.org/abs/1908.03195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2999232"/>
            <a:ext cx="7955280" cy="0"/>
          </a:xfrm>
          <a:prstGeom prst="line">
            <a:avLst/>
          </a:prstGeom>
          <a:ln w="10160">
            <a:solidFill>
              <a:srgbClr val="62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