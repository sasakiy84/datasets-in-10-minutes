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317" r:id="rId64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4" Type="http://schemas.openxmlformats.org/officeDocument/2006/relationships/slide" Target="slides/slide16.xml"/><Relationship Id="rId6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201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4" Type="http://schemas.openxmlformats.org/officeDocument/2006/relationships/image" Target="../media/image19.jpg"/><Relationship Id="rId5" Type="http://schemas.openxmlformats.org/officeDocument/2006/relationships/hyperlink" Target="https://github.com/ultralytics/assets/releases/download/v0.0.0/coco128-seg.zip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s://github.com/lvis-dataset/lvis-api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612.03716" TargetMode="External"/><Relationship Id="rId4" Type="http://schemas.openxmlformats.org/officeDocument/2006/relationships/hyperlink" Target="https://arxiv.org/abs/1801.00868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3" Type="http://schemas.openxmlformats.org/officeDocument/2006/relationships/hyperlink" Target="https://arxiv.org/abs/1703.06870" TargetMode="External"/><Relationship Id="rId4" Type="http://schemas.openxmlformats.org/officeDocument/2006/relationships/hyperlink" Target="https://arxiv.org/abs/1908.0319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領域認識用データセット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5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MS COCO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657600"/>
            <a:ext cx="8046720" cy="365760"/>
          </a:xfrm>
        </p:spPr>
        <p:txBody>
          <a:bodyPr wrap="square" anchor="t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目的と実例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作成方法とデータの範囲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評価方法と代表モデル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何が、どこに、いくつあるかを認識する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画像を入力し、物体のカテゴリと位置を出力する。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物体検出は矩形、インスタンス分割は物体ごとの画素領域を予測する。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Panoptic分割は人・車などの個体と、空・道などの背景領域を一体で扱う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https://cocodataset.org/#panoptic-2018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人の個体と、芝・木・空の領域を分ける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日常の文脈の中にある物体を集めた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大きな物体が中央に一つある画像だけでは、日常場面の認識を十分に試せない。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COCOは複数物体の共起、小さな物体、遮蔽を含む場面を重視した。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2014で発表。最終著者はC. Lawrence Zitnick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目的と実例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Flickrから日常の場面を収集し、物体カテゴリの組合せで多様な文脈を探した。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カテゴリの存在確認、個体の特定、輪郭の作成を分業し、各段階で品質を確認した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現在の配布では矩形・カテゴリ・領域マスクを同じ物体注釈にまとめる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画像・物体・カテゴリを区別する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1154"/>
              <a:buFont typeface="Noto Sans CJK JP"/>
              <a:buChar char="●"/>
              <a:def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1154"/>
              <a:buFont typeface="Noto Sans CJK JP"/>
              <a:buChar char="●"/>
              <a:def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物体注釈は画像ID、カテゴリID、矩形、領域、面積、iscrowdを持つ。</a:t>
            </a:r>
          </a:p>
          <a:p>
            <a:pPr algn="l" lvl="1" marL="9144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○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矩形は左上のx・yと幅・高さ。領域は多角形またはRLE形式で記録する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全体の規模と2017年版の範囲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80物体カテゴリと背景カテゴリ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小さな物体が多く、位置合わせも難しい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作成方法とデータの範囲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3954" y="2503170"/>
            <a:ext cx="182880" cy="27432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2350" y="3165038"/>
            <a:ext cx="182880" cy="27432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8212" y="3593306"/>
            <a:ext cx="182880" cy="27432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91456"/>
            <a:ext cx="8183879" cy="246888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>
                <a:solidFill>
                  <a:srgbClr val="626669"/>
                </a:solidFill>
                <a:latin typeface="Noto Sans"/>
              </a:rPr>
              <a:t>[1] </a:t>
            </a:r>
            <a:r>
              <a:rPr sz="800">
                <a:solidFill>
                  <a:srgbClr val="626669"/>
                </a:solidFill>
                <a:latin typeface="Noto Sans"/>
                <a:hlinkClick r:id="rId5"/>
              </a:rPr>
              <a:t>https://github.com/ultralytics/assets/releases/download/v0.0.0/coco128-seg.zip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カテゴリごとに予測を信頼度順に並べ、同じ画像の正解へ対応付ける。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適合率・再現率からAPを計算する。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主指標はカテゴリとIoU 0.50〜0.95の10閾値で平均したAP。AP50より位置精度に厳しい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異なる検出方式の公開結果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1143000"/>
                <a:gridCol w="214884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 [1]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val2017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 [1]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val2017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 [2]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18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各公開実装の単一モデルの値（%）。学習期間・入力解像度・事前学習などが異なるため、方式だけの優劣を示す比較ではない。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Panoptic分割にはPQを使う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PQは対応した領域のIoUの和を、TP＋0.5FP＋0.5FNで割って求める。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領域形状の精度と、領域を見つけて数える精度を同時に測り、カテゴリ間で平均する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評価方法と代表モデル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0"/>
            <a:ext cx="8229600" cy="1920240"/>
          </a:xfrm>
        </p:spPr>
        <p:txBody>
          <a:bodyPr wrap="square" anchor="ctr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公開から現在まで、共通の評価基盤へ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先行するVOC、後続のLVISとの関係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VOCは20物体カテゴリ。COCOは80カテゴリで、複数物体の文脈を扱う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LVISはCOCO画像を使い、物体カテゴリを1,000以上へ拡張した [2]。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COCOの得点だけでは、まれな物体や専門領域への汎化は分からない。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COCOが測る領域認識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1154"/>
              <a:buFont typeface="Noto Sans CJK JP"/>
              <a:buChar char="●"/>
              <a:def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日常場面の複数物体を、矩形・個体ごとの領域・背景を含む領域として扱う。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1154"/>
              <a:buFont typeface="Noto Sans CJK JP"/>
              <a:buChar char="●"/>
              <a:def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物体の80カテゴリと、Panopticの133カテゴリを区別する。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1154"/>
              <a:buFont typeface="Noto Sans CJK JP"/>
              <a:buChar char="●"/>
              <a:def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6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主指標APは位置精度を含み、PanopticのPQは領域形状と個体の検出を合わせて測る。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利用の変遷と入手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64384"/>
            <a:ext cx="8229600" cy="1280160"/>
          </a:xfrm>
        </p:spPr>
        <p:txBody>
          <a:bodyPr anchor="ctr"/>
          <a:lstStyle/>
          <a:p>
            <a:pPr algn="ctr"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定義・著者・評価の詳細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128画像で見る注釈の分布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追加の領域注釈例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全80カテゴリと利用条件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2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1領域の一致と、PQ全体の計算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定義・著者・評価の詳細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ここからは公開128画像の部分集合を見る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128画像に含まれる929領域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2 128画像で見る注釈の分布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080" y="1417320"/>
            <a:ext cx="42238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000000000042 / COCO128-seg公開変換注釈の輪郭を重ねて表示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重なり合う自転車 bicycle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野球の人と道具 person / bat / glove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スキーとスノーボード skis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追加の領域注釈例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全80カテゴリと利用条件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0"/>
            <a:ext cx="8183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800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https://arxiv.org/abs/1801.00868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4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82112"/>
            <a:ext cx="7955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5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30752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325112"/>
            <a:ext cx="79552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8231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150" lang="ja-JP" b="0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https://arxiv.org/abs/1908.03195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" y="2999232"/>
            <a:ext cx="7955280" cy="0"/>
          </a:xfrm>
          <a:prstGeom prst="line">
            <a:avLst/>
          </a:prstGeom>
          <a:ln w="10160">
            <a:solidFill>
              <a:srgbClr val="62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