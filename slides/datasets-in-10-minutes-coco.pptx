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276" r:id="rId26"/>
    <p:sldId id="336" r:id="rId83"/>
    <p:sldId id="337" r:id="rId84"/>
    <p:sldId id="277" r:id="rId27"/>
    <p:sldId id="289" r:id="rId39"/>
    <p:sldId id="338" r:id="rId85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4.xml"/><Relationship Id="rId27" Type="http://schemas.openxmlformats.org/officeDocument/2006/relationships/slide" Target="slides/slide45.xml"/><Relationship Id="rId28" Type="http://schemas.openxmlformats.org/officeDocument/2006/relationships/slide" Target="slides/slide48.xml"/><Relationship Id="rId29" Type="http://schemas.openxmlformats.org/officeDocument/2006/relationships/slide" Target="slides/slide49.xml"/><Relationship Id="rId30" Type="http://schemas.openxmlformats.org/officeDocument/2006/relationships/slide" Target="slides/slide50.xml"/><Relationship Id="rId31" Type="http://schemas.openxmlformats.org/officeDocument/2006/relationships/slide" Target="slides/slide51.xml"/><Relationship Id="rId32" Type="http://schemas.openxmlformats.org/officeDocument/2006/relationships/slide" Target="slides/slide52.xml"/><Relationship Id="rId33" Type="http://schemas.openxmlformats.org/officeDocument/2006/relationships/slide" Target="slides/slide54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46.xml"/><Relationship Id="rId40" Type="http://schemas.openxmlformats.org/officeDocument/2006/relationships/slide" Target="slides/slide61.xml"/><Relationship Id="rId41" Type="http://schemas.openxmlformats.org/officeDocument/2006/relationships/slide" Target="slides/slide62.xml"/><Relationship Id="rId42" Type="http://schemas.openxmlformats.org/officeDocument/2006/relationships/slide" Target="slides/slide63.xml"/><Relationship Id="rId43" Type="http://schemas.openxmlformats.org/officeDocument/2006/relationships/slide" Target="slides/slide64.xml"/><Relationship Id="rId44" Type="http://schemas.openxmlformats.org/officeDocument/2006/relationships/slide" Target="slides/slide65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slide" Target="slides/slide71.xml"/><Relationship Id="rId51" Type="http://schemas.openxmlformats.org/officeDocument/2006/relationships/slide" Target="slides/slide72.xml"/><Relationship Id="rId52" Type="http://schemas.openxmlformats.org/officeDocument/2006/relationships/slide" Target="slides/slide73.xml"/><Relationship Id="rId53" Type="http://schemas.openxmlformats.org/officeDocument/2006/relationships/slide" Target="slides/slide74.xml"/><Relationship Id="rId54" Type="http://schemas.openxmlformats.org/officeDocument/2006/relationships/slide" Target="slides/slide75.xml"/><Relationship Id="rId55" Type="http://schemas.openxmlformats.org/officeDocument/2006/relationships/slide" Target="slides/slide76.xml"/><Relationship Id="rId56" Type="http://schemas.openxmlformats.org/officeDocument/2006/relationships/slide" Target="slides/slide77.xml"/><Relationship Id="rId57" Type="http://schemas.openxmlformats.org/officeDocument/2006/relationships/slide" Target="slides/slide78.xml"/><Relationship Id="rId58" Type="http://schemas.openxmlformats.org/officeDocument/2006/relationships/slide" Target="slides/slide79.xml"/><Relationship Id="rId59" Type="http://schemas.openxmlformats.org/officeDocument/2006/relationships/slide" Target="slides/slide80.xml"/><Relationship Id="rId60" Type="http://schemas.openxmlformats.org/officeDocument/2006/relationships/slide" Target="slides/slide81.xml"/><Relationship Id="rId61" Type="http://schemas.openxmlformats.org/officeDocument/2006/relationships/slide" Target="slides/slide82.xml"/><Relationship Id="rId62" Type="http://schemas.openxmlformats.org/officeDocument/2006/relationships/slide" Target="slides/slide83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5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7.xml"/><Relationship Id="rId86" Type="http://schemas.openxmlformats.org/officeDocument/2006/relationships/slide" Target="slides/slide53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cocodataset.org/#detection-eval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76616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COCOの80物体カテゴリはVOCの4倍だが、画像数・注釈方法・評価指標も異なるため、得点を直接比較できない。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先行データとCOCOでは正解の単位が異なる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この比較はタスクの整理であり、同じ評価集合の性能比較ではない。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個体の特定では、何人・何本の傘があり、どの位置にあるかを分ける。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幅100・高さ60の矩形面積6,000画素と、物体の領域面積areaは一致するとは限らない。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文字列を手で画素数として読まず、APIで復元・面積計算を行う。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2017の画像分割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2014年版のtrain 83K／val 41Kを、同じ画像で再分割した。2017は撮影年ではなく分割の公開年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全体規模の概数と、手元のtrain＋valで数える件数は対象範囲が異なる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実画像の傘で面積の大きさを比べる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0.50で一致とはならない。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正しいカテゴリで正解領域へ一致した予測を真陽性TPとする。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正解へ一致しない予測や、同じ物体への重複した予測を偽陽性FPとする。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COCOの主指標APは、0.50から0.95まで0.05刻みの10閾値で求めたAPを平均する。1予測の合否を平均した値ではない。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数えにくい集団にはcrowd注釈がある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8392" y="4006114"/>
            <a:ext cx="2758407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3598" y="4361713"/>
            <a:ext cx="510320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8753" y="4717326"/>
            <a:ext cx="212804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3xは公開実装の学習スケジュール名で、標準的な1xより長く学習する設定を示す。モデルの発表年ではない。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4725" y="4183913"/>
            <a:ext cx="402207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4365" y="4539526"/>
            <a:ext cx="461243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R50は50層の画像特徴モデル、FPNは多解像度の特徴統合、3xは学習期間の設定を表す。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COCOの評価対象と汎化の範囲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COCOの物体検出は80カテゴリを対象とし、未知カテゴリや専門分野の物体認識を直接は測らない。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小さな物体・混雑・遮蔽に加え、注釈の範囲や不確実性も得点の解釈に関わる。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手法の比較では、発表年だけでなく学習画像・事前学習・入力サイズ・評価集合を確認する必要がある。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4031" y="4717326"/>
            <a:ext cx="74327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COCOと画像を共有しても、カテゴリ・注釈・評価方法が異なり、得点を直接比較できない。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4031" y="4539526"/>
            <a:ext cx="74327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2017の配布ファイルと圧縮容量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公式ページの圧縮配布サイズ。展開後の容量ではない。画像の利用条件はFlickr側のライセンスも確認する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annToMaskは多角形やRLEを画像と同じ縦横の二値マスクへ変換する。表示用の縮小画像の寸法と混同しない。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検出・個体分割のAPとPanopticのPQは異なる指標である。範囲・版・評価集合をそろえて結果を読む。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001897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意味的領域分割では、同じカテゴリに属する複数の人を個体として区別する必要がない。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各カテゴリ・各IoU閾値で、信頼度順の予測から適合率・再現率を作る。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1306154"/>
            <a:ext cx="8206740" cy="594360"/>
          </a:xfrm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220554"/>
            <a:ext cx="7955279" cy="1737360"/>
          </a:xfrm>
        </p:spPr>
        <p:txBody>
          <a:bodyPr wrap="square" anchor="t" tIns="0" bIns="0" lIns="0" rIns="0"/>
          <a:lstStyle/>
          <a:p>
            <a:pPr algn="ctr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全体の配布画像は約330K枚だが、以下の集計はCOCO128-segの128画像に限定する。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公開変換された領域注釈を画像ごとに数え、注釈ファイルがない2画像は0領域として含める。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これは例示用の小さな部分集合。カテゴリ頻度や領域数の分布をCOCO全体へ一般化しない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公式APIはBSD形式の利用条件を持つ。画像・注釈・コードで利用条件が異なる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