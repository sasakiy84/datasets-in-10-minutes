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316" r:id="rId66"/>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6"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ocodatas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panoptic-201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ultralytics/assets/releases/download/v0.0.0/coco128-seg.zi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ultralytics/assets/releases/download/v0.0.0/coco128-seg.zi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cocodataset/panopticap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 Id="rId3" Type="http://schemas.openxmlformats.org/officeDocument/2006/relationships/hyperlink" Target="https://cocodataset.org/#format-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format-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ownloa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 TargetMode="External"/><Relationship Id="rId3" Type="http://schemas.openxmlformats.org/officeDocument/2006/relationships/hyperlink" Target="https://cocodataset.org/#downloa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ightrome/cocostuff" TargetMode="External"/><Relationship Id="rId3" Type="http://schemas.openxmlformats.org/officeDocument/2006/relationships/hyperlink" Target="https://github.com/cocodataset/panopticapi/blob/master/panoptic_coco_categories.js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cocodataset.org/#detection-eva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etection-eva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cebookresearch/detectron2/blob/main/MODEL_ZOO.md" TargetMode="External"/><Relationship Id="rId3" Type="http://schemas.openxmlformats.org/officeDocument/2006/relationships/hyperlink" Target="https://github.com/lyuwenyu/RT-DETR"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panoptic-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download" TargetMode="External"/><Relationship Id="rId3" Type="http://schemas.openxmlformats.org/officeDocument/2006/relationships/hyperlink" Target="https://github.com/lyuwenyu/RT-DETR"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external" TargetMode="External"/><Relationship Id="rId3" Type="http://schemas.openxmlformats.org/officeDocument/2006/relationships/hyperlink" Target="https://github.com/lvis-dataset/lvis-api"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ownloa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ocodataset/cocoapi/blob/master/PythonAPI/pycocoDemo.ipynb"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panoptic-eval" TargetMode="External"/><Relationship Id="rId3" Type="http://schemas.openxmlformats.org/officeDocument/2006/relationships/hyperlink" Target="https://github.com/nightrome/cocostuf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common/maskApi.c" TargetMode="External"/><Relationship Id="rId3" Type="http://schemas.openxmlformats.org/officeDocument/2006/relationships/hyperlink" Target="https://github.com/cocodataset/cocoapi/blob/master/PythonAPI/pycocotools/cocoeval.py"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api/evaluation.py"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ultralytics/assets/releases/download/v0.0.0/coco128-seg.zip"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github.com/ultralytics/assets/releases/download/v0.0.0/coco128-seg.zip"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ultralytics/assets/releases/download/v0.0.0/coco128-seg.zip"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ultralytics/assets/releases/download/v0.0.0/coco128-seg.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ultralytics/assets/releases/download/v0.0.0/coco128-seg.zip"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ultralytics/assets/releases/download/v0.0.0/coco128-seg.zip"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ultralytics/assets/releases/download/v0.0.0/coco128-seg.zi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ultralytics/assets/releases/download/v0.0.0/coco128-seg.zip"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ultralytics/assets/releases/download/v0.0.0/coco128-seg.zip"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hyperlink" Target="https://github.com/ultralytics/assets/releases/download/v0.0.0/coco128-seg.zip"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github.com/ultralytics/assets/releases/download/v0.0.0/coco128-seg.zip"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jpg"/><Relationship Id="rId3" Type="http://schemas.openxmlformats.org/officeDocument/2006/relationships/hyperlink" Target="https://github.com/ultralytics/assets/releases/download/v0.0.0/coco128-seg.zip"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ultralytics/assets/releases/download/v0.0.0/coco128-seg.zip"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ultralytics/assets/releases/download/v0.0.0/coco128-seg.zip"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jpg"/><Relationship Id="rId3" Type="http://schemas.openxmlformats.org/officeDocument/2006/relationships/hyperlink" Target="https://github.com/ultralytics/assets/releases/download/v0.0.0/coco128-seg.zip"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termsofuse" TargetMode="External"/><Relationship Id="rId3" Type="http://schemas.openxmlformats.org/officeDocument/2006/relationships/hyperlink" Target="https://github.com/cocodataset/cocoapi/blob/master/license.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5.0312" TargetMode="External"/><Relationship Id="rId3" Type="http://schemas.openxmlformats.org/officeDocument/2006/relationships/hyperlink" Target="https://github.com/cocodataset/cocoapi"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hyperlink" Target="https://arxiv.org/abs/1612.03716" TargetMode="External"/><Relationship Id="rId4" Type="http://schemas.openxmlformats.org/officeDocument/2006/relationships/hyperlink" Target="https://arxiv.org/abs/1801.00868"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hyperlink" Target="https://arxiv.org/abs/1703.06870" TargetMode="External"/><Relationship Id="rId4" Type="http://schemas.openxmlformats.org/officeDocument/2006/relationships/hyperlink" Target="https://arxiv.org/abs/1908.03195"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097280"/>
            <a:ext cx="8229600" cy="224028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領域認識用データセット</a:t>
            </a:r>
          </a:p>
          <a:p>
            <a:pPr algn="ctr">
              <a:lnSpc>
                <a:spcPct val="115000"/>
              </a:lnSpc>
              <a:spcBef>
                <a:spcPts val="0"/>
              </a:spcBef>
              <a:spcAft>
                <a:spcPts val="0"/>
              </a:spcAft>
              <a:buNone/>
              <a:defRPr lang="ja-JP" sz="5800" b="1">
                <a:solidFill>
                  <a:srgbClr val="303437"/>
                </a:solidFill>
                <a:latin typeface="Noto Sans"/>
                <a:ea typeface="Noto Sans CJK JP"/>
                <a:cs typeface="Noto Sans"/>
              </a:defRPr>
            </a:pPr>
            <a:r>
              <a:rPr lang="ja-JP" sz="5800" b="1">
                <a:solidFill>
                  <a:srgbClr val="303437"/>
                </a:solidFill>
                <a:latin typeface="Noto Sans"/>
                <a:ea typeface="Noto Sans CJK JP"/>
                <a:cs typeface="Noto Sans"/>
              </a:rPr>
              <a:t>MS COCO</a:t>
            </a:r>
          </a:p>
        </p:txBody>
      </p:sp>
      <p:sp>
        <p:nvSpPr>
          <p:cNvPr id="3" name="Subtitle 2"/>
          <p:cNvSpPr>
            <a:spLocks noGrp="1"/>
          </p:cNvSpPr>
          <p:nvPr>
            <p:ph type="subTitle" idx="1"/>
          </p:nvPr>
        </p:nvSpPr>
        <p:spPr>
          <a:xfrm>
            <a:off x="548640" y="3657600"/>
            <a:ext cx="8046720" cy="365760"/>
          </a:xfrm>
        </p:spPr>
        <p:txBody>
          <a:bodyPr wrap="square" anchor="t" lIns="0" rIns="0" tIns="0" bIns="0"/>
          <a:lstStyle/>
          <a:p>
            <a:pPr algn="ct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Microsoft COCO: Common Objects in Context</a:t>
            </a:r>
          </a:p>
        </p:txBody>
      </p:sp>
      <p:sp>
        <p:nvSpPr>
          <p:cNvPr id="5" name="Text Placeholder 4"/>
          <p:cNvSpPr>
            <a:spLocks noGrp="1"/>
          </p:cNvSpPr>
          <p:nvPr>
            <p:ph type="body" idx="11"/>
          </p:nvPr>
        </p:nvSpPr>
        <p:spPr>
          <a:xfrm>
            <a:off x="5486400" y="4416552"/>
            <a:ext cx="3108960" cy="402336"/>
          </a:xfrm>
        </p:spPr>
        <p:txBody>
          <a:bodyPr wrap="square" anchor="ctr" lIns="0" rIns="0" tIns="0" bIns="0"/>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046720" cy="274320"/>
          </a:xfrm>
        </p:spPr>
        <p:txBody>
          <a:bodyPr wrap="square" anchor="t" lIns="0" rIns="0" tIns="0" bIns="0"/>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datasets in 10 minutes (2026-10-15)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31520" y="1234440"/>
            <a:ext cx="7772400" cy="3474720"/>
          </a:xfrm>
        </p:spPr>
        <p:txBody>
          <a:bodyPr wrap="square" anchor="t" tIns="91440" bIns="91440"/>
          <a:lstStyle/>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目的と実例</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作成方法とデータの範囲</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評価方法と代表モデル</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利用の変遷と入手</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目次</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1 目的と実例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home-source.png"/>
          <p:cNvPicPr>
            <a:picLocks noChangeAspect="1"/>
          </p:cNvPicPr>
          <p:nvPr/>
        </p:nvPicPr>
        <p:blipFill>
          <a:blip r:embed="rId2"/>
          <a:stretch>
            <a:fillRect/>
          </a:stretch>
        </p:blipFill>
        <p:spPr>
          <a:xfrm>
            <a:off x="2211185" y="1371600"/>
            <a:ext cx="4721629" cy="324612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https://cocodataset.org/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何が、どこに、いくつあるかを認識する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画像を入力し、物体のカテゴリと位置を出力する。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物体検出は矩形、インスタンス分割は物体ごとの画素領域を予測する。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Panoptic分割は人・車などの個体と、空・道などの背景領域を一体で扱う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https://cocodataset.org/#panoptic-2018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食卓の複数の物体を領域ごとに分ける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9.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000000000009 / COCO128-seg公開変換注釈の輪郭を重ねて表示</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遮蔽された人と重なり合う傘を分ける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315.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000000000315 / COCO128-seg公開変換注釈の輪郭を重ねて表示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人の個体と、芝・木・空の領域を分ける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panoptic-142238.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https://github.com/cocodataset/panopticapi</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000000142238 / 公式Panoptic APIサンプルの正解領域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日常の文脈の中にある物体を集めた</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大きな物体が中央に一つある画像だけでは、日常場面の認識を十分に試せない。</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COCOは複数物体の共起、小さな物体、遮蔽を含む場面を重視した。</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Tsung-Yi LinらがECCV 2014で発表。最終著者はC. Lawrence Zitnick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https://arxiv.org/abs/1405.0312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2 作成方法とデータの範囲</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画像選定と領域注釈を段階に分けた</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Flickrから日常の場面を収集し、物体カテゴリの組合せで多様な文脈を探した。</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カテゴリの存在確認、個体の特定、輪郭の作成を分業し、各段階で品質を確認した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現在の配布では矩形・カテゴリ・領域マスクを同じ物体注釈にまとめる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https://arxiv.org/abs/1405.0312</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https://cocodataset.org/#format-data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画像・物体・カテゴリを区別する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1枚の画像に複数の物体注釈が対応する。</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物体注釈は画像ID、カテゴリID、矩形、領域、面積、iscrowdを持つ。</a:t>
            </a:r>
          </a:p>
          <a:p>
            <a:pPr algn="l" lvl="1" marL="9144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矩形は左上のx・yと幅・高さ。領域は多角形またはRLE形式で記録する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https://cocodataset.org/#format-data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COCO 2017の画像分割</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graphicFrame>
        <p:nvGraphicFramePr>
          <p:cNvPr id="4" name="Table 3"/>
          <p:cNvGraphicFramePr>
            <a:graphicFrameLocks noGrp="1"/>
          </p:cNvGraphicFramePr>
          <p:nvPr/>
        </p:nvGraphicFramePr>
        <p:xfrm>
          <a:off x="548640" y="1417320"/>
          <a:ext cx="8046720" cy="2084831"/>
        </p:xfrm>
        <a:graphic>
          <a:graphicData uri="http://schemas.openxmlformats.org/drawingml/2006/table">
            <a:tbl>
              <a:tblPr firstRow="0" bandRow="0" lastRow="0" firstCol="0" lastCol="0" bandCol="0"/>
              <a:tblGrid>
                <a:gridCol w="2103120"/>
                <a:gridCol w="2743200"/>
                <a:gridCol w="3200400"/>
              </a:tblGrid>
              <a:tr h="521207">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分割</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画像数の概数</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正解領域</a:t>
                      </a:r>
                    </a:p>
                  </a:txBody>
                  <a:tcPr marL="203200" marR="76200" marT="38100" marB="38100" anchor="ctr">
                    <a:lnL w="0">
                      <a:noFill/>
                    </a:lnL>
                    <a:lnR w="0">
                      <a:noFill/>
                    </a:lnR>
                    <a:lnT w="10160">
                      <a:solidFill>
                        <a:srgbClr val="626669"/>
                      </a:solidFill>
                    </a:lnT>
                    <a:lnB w="10160">
                      <a:solidFill>
                        <a:srgbClr val="626669"/>
                      </a:solidFill>
                    </a:lnB>
                    <a:solidFill>
                      <a:srgbClr val="FFFEF8"/>
                    </a:solidFill>
                  </a:tcPr>
                </a:tc>
              </a:tr>
              <a:tr h="521207">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train</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118K</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公開</a:t>
                      </a:r>
                    </a:p>
                  </a:txBody>
                  <a:tcPr marL="203200" marR="76200" marT="38100" marB="38100" anchor="ctr">
                    <a:lnL w="0">
                      <a:noFill/>
                    </a:lnL>
                    <a:lnR w="0">
                      <a:noFill/>
                    </a:lnR>
                    <a:lnT w="0">
                      <a:noFill/>
                    </a:lnT>
                    <a:lnB w="0">
                      <a:noFill/>
                    </a:lnB>
                    <a:solidFill>
                      <a:srgbClr val="FFFEF8"/>
                    </a:solidFill>
                  </a:tcPr>
                </a:tc>
              </a:tr>
              <a:tr h="521207">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val</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5K</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公開</a:t>
                      </a:r>
                    </a:p>
                  </a:txBody>
                  <a:tcPr marL="203200" marR="76200" marT="38100" marB="38100" anchor="ctr">
                    <a:lnL w="0">
                      <a:noFill/>
                    </a:lnL>
                    <a:lnR w="0">
                      <a:noFill/>
                    </a:lnR>
                    <a:lnT w="0">
                      <a:noFill/>
                    </a:lnT>
                    <a:lnB w="0">
                      <a:noFill/>
                    </a:lnB>
                    <a:solidFill>
                      <a:srgbClr val="FFFEF8"/>
                    </a:solidFill>
                  </a:tcPr>
                </a:tc>
              </a:tr>
              <a:tr h="521207">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test</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41K</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非公開</a:t>
                      </a:r>
                    </a:p>
                  </a:txBody>
                  <a:tcPr marL="203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705351"/>
            <a:ext cx="7955279" cy="713232"/>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2014年版のtrain 83K／val 41Kを、同じ画像で再分割した。2017は撮影年ではなく分割の公開年 [1]。</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https://cocodataset.org/#download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全体の規模と2017年版の範囲</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公式サイトは全体を約330K画像、うち200K超を注釈付きとし、約150万物体を収録すると説明する。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2017年版のtrain＋valは約123K画像。検出用の正解領域が公開されている。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全体規模の概数と、手元のtrain＋valで数える件数は対象範囲が異なる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a:t>
            </a:r>
            <a:r>
              <a:rPr lang="ja-JP" sz="800" b="0">
                <a:solidFill>
                  <a:srgbClr val="626669"/>
                </a:solidFill>
                <a:latin typeface="Noto Sans"/>
                <a:ea typeface="Noto Sans CJK JP"/>
                <a:cs typeface="Noto Sans"/>
              </a:rPr>
              <a:t> / </a:t>
            </a:r>
            <a:r>
              <a:rPr lang="ja-JP" sz="800" b="0">
                <a:solidFill>
                  <a:srgbClr val="626669"/>
                </a:solidFill>
                <a:latin typeface="Noto Sans"/>
                <a:ea typeface="Noto Sans CJK JP"/>
                <a:cs typeface="Noto Sans"/>
                <a:hlinkClick r:id="rId3"/>
              </a:rPr>
              <a:t>https://cocodataset.org/#download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80物体カテゴリと背景カテゴリ</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物体検出・インスタンス分割は80カテゴリ。人、乗り物、動物、食品、家具などを含む。</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COCO-Stuffは80物体＋91背景の171カテゴリ。</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 Panopticは80物体＋53背景の133カテゴリ。背景カテゴリを統合した体系を使う [1,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https://github.com/nightrome/cocostuff</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https://github.com/cocodataset/panopticapi/blob/master/panoptic_coco_categories.json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小さな物体が多く、位置合わせも難しい</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pic>
        <p:nvPicPr>
          <p:cNvPr id="4" name="Picture 3" descr="sizes.png"/>
          <p:cNvPicPr>
            <a:picLocks noChangeAspect="1"/>
          </p:cNvPicPr>
          <p:nvPr/>
        </p:nvPicPr>
        <p:blipFill>
          <a:blip r:embed="rId2"/>
          <a:stretch>
            <a:fillRect/>
          </a:stretch>
        </p:blipFill>
        <p:spPr>
          <a:xfrm>
            <a:off x="594360" y="1380744"/>
            <a:ext cx="7955279" cy="3182111"/>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https://cocodataset.org/#detection-eval</a:t>
            </a:r>
            <a:r>
              <a:rPr lang="ja-JP" sz="800" b="0">
                <a:solidFill>
                  <a:srgbClr val="626669"/>
                </a:solidFill>
                <a:latin typeface="Noto Sans"/>
                <a:ea typeface="Noto Sans CJK JP"/>
                <a:cs typeface="Noto Sans"/>
              </a:rPr>
              <a:t> / 公式ページの物体面積別の概数（42%、34%、24%）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3 評価方法と代表モデル</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IoUは領域の重なりを測る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4" name="Rectangle 3"/>
          <p:cNvSpPr/>
          <p:nvPr/>
        </p:nvSpPr>
        <p:spPr>
          <a:xfrm>
            <a:off x="1005840" y="1737360"/>
            <a:ext cx="1828800" cy="1828800"/>
          </a:xfrm>
          <a:prstGeom prst="rect">
            <a:avLst/>
          </a:prstGeom>
          <a:noFill/>
          <a:ln w="38100">
            <a:solidFill>
              <a:srgbClr val="2C9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737360"/>
            <a:ext cx="1828800" cy="1828800"/>
          </a:xfrm>
          <a:prstGeom prst="rect">
            <a:avLst/>
          </a:prstGeom>
          <a:noFill/>
          <a:ln w="38100">
            <a:solidFill>
              <a:srgbClr val="B137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1645920" cy="36576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1">
                <a:solidFill>
                  <a:srgbClr val="2C9100"/>
                </a:solidFill>
                <a:latin typeface="Noto Sans"/>
                <a:ea typeface="Noto Sans CJK JP"/>
                <a:cs typeface="Noto Sans"/>
              </a:defRPr>
            </a:pPr>
            <a:r>
              <a:rPr lang="ja-JP" sz="2200" b="1">
                <a:solidFill>
                  <a:srgbClr val="2C9100"/>
                </a:solidFill>
                <a:latin typeface="Noto Sans"/>
                <a:ea typeface="Noto Sans CJK JP"/>
                <a:cs typeface="Noto Sans"/>
              </a:rPr>
              <a:t>正解</a:t>
            </a:r>
          </a:p>
        </p:txBody>
      </p:sp>
      <p:sp>
        <p:nvSpPr>
          <p:cNvPr id="7" name="TextBox 6"/>
          <p:cNvSpPr txBox="1"/>
          <p:nvPr/>
        </p:nvSpPr>
        <p:spPr>
          <a:xfrm>
            <a:off x="2880360" y="3291840"/>
            <a:ext cx="1005840" cy="36576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1">
                <a:solidFill>
                  <a:srgbClr val="B13731"/>
                </a:solidFill>
                <a:latin typeface="Noto Sans"/>
                <a:ea typeface="Noto Sans CJK JP"/>
                <a:cs typeface="Noto Sans"/>
              </a:defRPr>
            </a:pPr>
            <a:r>
              <a:rPr lang="ja-JP" sz="2200" b="1">
                <a:solidFill>
                  <a:srgbClr val="B13731"/>
                </a:solidFill>
                <a:latin typeface="Noto Sans"/>
                <a:ea typeface="Noto Sans CJK JP"/>
                <a:cs typeface="Noto Sans"/>
              </a:rPr>
              <a:t>予測</a:t>
            </a:r>
          </a:p>
        </p:txBody>
      </p:sp>
      <p:sp>
        <p:nvSpPr>
          <p:cNvPr id="8" name="TextBox 7"/>
          <p:cNvSpPr txBox="1"/>
          <p:nvPr/>
        </p:nvSpPr>
        <p:spPr>
          <a:xfrm>
            <a:off x="4114800" y="1737360"/>
            <a:ext cx="4389120"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2500" b="1">
                <a:solidFill>
                  <a:srgbClr val="303437"/>
                </a:solidFill>
                <a:latin typeface="Noto Sans"/>
                <a:ea typeface="Noto Sans CJK JP"/>
                <a:cs typeface="Noto Sans"/>
              </a:defRPr>
            </a:pPr>
            <a:r>
              <a:rPr lang="ja-JP" sz="2500" b="1">
                <a:solidFill>
                  <a:srgbClr val="303437"/>
                </a:solidFill>
                <a:latin typeface="Noto Sans"/>
                <a:ea typeface="Noto Sans CJK JP"/>
                <a:cs typeface="Noto Sans"/>
              </a:rPr>
              <a:t>IoU = 共通部分 ÷ 和集合</a:t>
            </a:r>
          </a:p>
        </p:txBody>
      </p:sp>
      <p:sp>
        <p:nvSpPr>
          <p:cNvPr id="9" name="TextBox 8"/>
          <p:cNvSpPr txBox="1"/>
          <p:nvPr/>
        </p:nvSpPr>
        <p:spPr>
          <a:xfrm>
            <a:off x="4114800" y="2560320"/>
            <a:ext cx="4389120" cy="164592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この矩形例では 2 ÷ 6 = 1/3</a:t>
            </a:r>
          </a:p>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IoU 0.50で一致とはならない。</a:t>
            </a:r>
          </a:p>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マスクは画素単位で評価する。</a:t>
            </a:r>
          </a:p>
        </p:txBody>
      </p:sp>
      <p:sp>
        <p:nvSpPr>
          <p:cNvPr id="10" name="TextBox 9"/>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https://cocodataset.org/#detection-eval</a:t>
            </a:r>
            <a:r>
              <a:rPr lang="ja-JP" sz="800" b="0">
                <a:solidFill>
                  <a:srgbClr val="626669"/>
                </a:solidFill>
                <a:latin typeface="Noto Sans"/>
                <a:ea typeface="Noto Sans CJK JP"/>
                <a:cs typeface="Noto Sans"/>
              </a:rPr>
              <a:t> / 図は指標を説明する矩形例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APは全予測を集計して評価する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カテゴリごとに予測を信頼度順に並べ、同じ画像の正解へ対応付ける。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適合率・再現率からAPを計算する。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主指標はカテゴリとIoU 0.50〜0.95の10閾値で平均したAP。AP50より位置精度に厳しい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https://github.com/cocodataset/cocoapi/blob/master/PythonAPI/pycocotools/cocoeval.py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数えにくい集団にはcrowd注釈がある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密集して個体ごとの区切りが難しい領域は、iscrowd=1でまとめて注釈する。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crowdへの一致は通常の真陽性に数えず、条件を満たす予測を評価から除外する。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同じ物体への重複検出や、小さい対象の見落としもAPに影響する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https://github.com/cocodataset/cocoapi/blob/master/PythonAPI/pycocotools/cocoeval.py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異なる検出方式の公開結果</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graphicFrame>
        <p:nvGraphicFramePr>
          <p:cNvPr id="4" name="Table 3"/>
          <p:cNvGraphicFramePr>
            <a:graphicFrameLocks noGrp="1"/>
          </p:cNvGraphicFramePr>
          <p:nvPr/>
        </p:nvGraphicFramePr>
        <p:xfrm>
          <a:off x="548640" y="1417320"/>
          <a:ext cx="8046720" cy="2084831"/>
        </p:xfrm>
        <a:graphic>
          <a:graphicData uri="http://schemas.openxmlformats.org/drawingml/2006/table">
            <a:tbl>
              <a:tblPr firstRow="0" bandRow="0" lastRow="0" firstCol="0" lastCol="0" bandCol="0"/>
              <a:tblGrid>
                <a:gridCol w="4754880"/>
                <a:gridCol w="1143000"/>
                <a:gridCol w="2148840"/>
              </a:tblGrid>
              <a:tr h="521207">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方式・設定</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box AP</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評価集合</a:t>
                      </a:r>
                    </a:p>
                  </a:txBody>
                  <a:tcPr marL="203200" marR="76200" marT="38100" marB="38100" anchor="ctr">
                    <a:lnL w="0">
                      <a:noFill/>
                    </a:lnL>
                    <a:lnR w="0">
                      <a:noFill/>
                    </a:lnR>
                    <a:lnT w="10160">
                      <a:solidFill>
                        <a:srgbClr val="626669"/>
                      </a:solidFill>
                    </a:lnT>
                    <a:lnB w="10160">
                      <a:solidFill>
                        <a:srgbClr val="626669"/>
                      </a:solidFill>
                    </a:lnB>
                    <a:solidFill>
                      <a:srgbClr val="FFFEF8"/>
                    </a:solidFill>
                  </a:tcPr>
                </a:tc>
              </a:tr>
              <a:tr h="521207">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Faster R-CNN R50-FPN 3x [1]</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40.2</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val2017</a:t>
                      </a:r>
                    </a:p>
                  </a:txBody>
                  <a:tcPr marL="203200" marR="76200" marT="38100" marB="38100" anchor="ctr">
                    <a:lnL w="0">
                      <a:noFill/>
                    </a:lnL>
                    <a:lnR w="0">
                      <a:noFill/>
                    </a:lnR>
                    <a:lnT w="0">
                      <a:noFill/>
                    </a:lnT>
                    <a:lnB w="0">
                      <a:noFill/>
                    </a:lnB>
                    <a:solidFill>
                      <a:srgbClr val="FFFEF8"/>
                    </a:solidFill>
                  </a:tcPr>
                </a:tc>
              </a:tr>
              <a:tr h="521207">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RetinaNet R50-FPN 3x [1]</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38.7</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val2017</a:t>
                      </a:r>
                    </a:p>
                  </a:txBody>
                  <a:tcPr marL="203200" marR="76200" marT="38100" marB="38100" anchor="ctr">
                    <a:lnL w="0">
                      <a:noFill/>
                    </a:lnL>
                    <a:lnR w="0">
                      <a:noFill/>
                    </a:lnR>
                    <a:lnT w="0">
                      <a:noFill/>
                    </a:lnT>
                    <a:lnB w="0">
                      <a:noFill/>
                    </a:lnB>
                    <a:solidFill>
                      <a:srgbClr val="FFFEF8"/>
                    </a:solidFill>
                  </a:tcPr>
                </a:tc>
              </a:tr>
              <a:tr h="521207">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RT-DETRv2-L 640 px [2]</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53.4</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a:t>
                      </a:r>
                    </a:p>
                  </a:txBody>
                  <a:tcPr marL="203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705351"/>
            <a:ext cx="7955279" cy="713232"/>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各公開実装の単一モデルの値（%）。学習期間・入力解像度・事前学習などが異なるため、方式だけの優劣を示す比較ではない。</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https://github.com/facebookresearch/detectron2/blob/main/MODEL_ZOO.md</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https://github.com/lyuwenyu/RT-DETR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Panoptic分割にはPQを使う</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同じカテゴリの正解と予測をIoU &gt; 0.50で対応付ける。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PQは対応した領域のIoUの和を、TP＋0.5FP＋0.5FNで割って求める。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領域形状の精度と、領域を見つけて数える精度を同時に測り、カテゴリ間で平均する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https://cocodataset.org/#panoptic-eval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4 利用の変遷と入手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公開から現在まで、共通の評価基盤へ</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2014年に物体の文脈と領域を重視したデータとして登場し、2017年に学習・検証分割を再編した。</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2018年にはPanoptic分割を追加した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2026-10-15の確認では、RT-DETR系の公式実装がCOCOでの評価設定と結果を公開している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https://cocodataset.org/#download</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https://github.com/lyuwenyu/RT-DETR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先行するVOC、後続のLVISとの関係</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PASCAL VOCは20物体カテゴリ。COCOは80カテゴリで、複数物体の文脈を扱う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LVISはCOCO画像を使い、物体カテゴリを1,000以上へ拡張した [2]。</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COCOの得点だけでは、まれな物体や専門領域への汎化は分からない。</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https://cocodataset.org/#external</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https://github.com/lvis-dataset/lvis-api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画像と注釈を別々に入手する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graphicFrame>
        <p:nvGraphicFramePr>
          <p:cNvPr id="4" name="Table 3"/>
          <p:cNvGraphicFramePr>
            <a:graphicFrameLocks noGrp="1"/>
          </p:cNvGraphicFramePr>
          <p:nvPr/>
        </p:nvGraphicFramePr>
        <p:xfrm>
          <a:off x="548640" y="1417320"/>
          <a:ext cx="8046720" cy="2377440"/>
        </p:xfrm>
        <a:graphic>
          <a:graphicData uri="http://schemas.openxmlformats.org/drawingml/2006/table">
            <a:tbl>
              <a:tblPr firstRow="0" bandRow="0" lastRow="0" firstCol="0" lastCol="0" bandCol="0"/>
              <a:tblGrid>
                <a:gridCol w="5212080"/>
                <a:gridCol w="2834640"/>
              </a:tblGrid>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公式配布物</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圧縮容量の目安</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train2017画像ZIP</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18 GB</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val2017画像ZIP</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1 GB</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train＋val注釈ZIP</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241 MB</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Panoptic注釈ZIP</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821 MB</a:t>
                      </a:r>
                    </a:p>
                  </a:txBody>
                  <a:tcPr marL="76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959860"/>
            <a:ext cx="7955279" cy="713232"/>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公式ページの圧縮配布サイズ。展開後の容量ではない。画像の利用条件はFlickr側のライセンスも確認する [1]。</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https://cocodataset.org/#download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公式APIで物体注釈を読み込む</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4" name="Rectangle 3"/>
          <p:cNvSpPr/>
          <p:nvPr/>
        </p:nvSpPr>
        <p:spPr>
          <a:xfrm>
            <a:off x="548640" y="1481328"/>
            <a:ext cx="8046720" cy="17373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37360"/>
          </a:xfrm>
          <a:prstGeom prst="rect">
            <a:avLst/>
          </a:prstGeom>
          <a:noFill/>
        </p:spPr>
        <p:txBody>
          <a:bodyPr wrap="none" anchor="t" lIns="152400" rIns="152400" tIns="76200" bIns="114300">
            <a:spAutoFit/>
          </a:bodyPr>
          <a:lstStyle/>
          <a:p>
            <a:pPr algn="l">
              <a:lnSpc>
                <a:spcPct val="110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from pycocotools.coco import COCO</a:t>
            </a:r>
          </a:p>
          <a:p>
            <a:pPr algn="l">
              <a:lnSpc>
                <a:spcPct val="110000"/>
              </a:lnSpc>
              <a:spcBef>
                <a:spcPts val="0"/>
              </a:spcBef>
              <a:spcAft>
                <a:spcPts val="0"/>
              </a:spcAft>
              <a:buNone/>
              <a:defRPr lang="ja-JP" sz="1500" b="0">
                <a:solidFill>
                  <a:srgbClr val="303437"/>
                </a:solidFill>
                <a:latin typeface="Liberation Mono"/>
                <a:ea typeface="Noto Sans CJK JP"/>
                <a:cs typeface="Noto Sans"/>
              </a:defRPr>
            </a:pPr>
          </a:p>
          <a:p>
            <a:pPr algn="l">
              <a:lnSpc>
                <a:spcPct val="110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coco = COCO("annotations/instances_val2017.json")</a:t>
            </a:r>
          </a:p>
          <a:p>
            <a:pPr algn="l">
              <a:lnSpc>
                <a:spcPct val="110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ids = coco.getImgIds(catIds=coco.getCatIds(catNms=["cat"]))</a:t>
            </a:r>
          </a:p>
          <a:p>
            <a:pPr algn="l">
              <a:lnSpc>
                <a:spcPct val="110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info = coco.loadImgs(ids[0])[0]</a:t>
            </a:r>
          </a:p>
          <a:p>
            <a:pPr algn="l">
              <a:lnSpc>
                <a:spcPct val="110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anns = coco.loadAnns(coco.getAnnIds(imgIds=[info["id"]]))</a:t>
            </a:r>
          </a:p>
        </p:txBody>
      </p:sp>
      <p:sp>
        <p:nvSpPr>
          <p:cNvPr id="6" name="TextBox 5"/>
          <p:cNvSpPr txBox="1"/>
          <p:nvPr/>
        </p:nvSpPr>
        <p:spPr>
          <a:xfrm>
            <a:off x="685800" y="3703320"/>
            <a:ext cx="7772400" cy="64008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pycocotoolsを導入し、公式配布ZIPを展開して使う。画像ファイルは画像ZIPから別に取得する。</a:t>
            </a:r>
          </a:p>
        </p:txBody>
      </p:sp>
      <p:sp>
        <p:nvSpPr>
          <p:cNvPr id="7" name="TextBox 6"/>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https://github.com/cocodataset/cocoapi/blob/master/PythonAPI/pycocoDemo.ipynb</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COCOが測る領域認識</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日常場面の複数物体を、矩形・個体ごとの領域・背景を含む領域として扱う。</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物体の80カテゴリと、Panopticの133カテゴリを区別する。</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主指標APは位置精度を含み、PanopticのPQは領域形状と個体の検出を合わせて測る。</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31520" y="1234440"/>
            <a:ext cx="7772400" cy="3474720"/>
          </a:xfrm>
        </p:spPr>
        <p:txBody>
          <a:bodyPr wrap="square" anchor="t" tIns="91440" bIns="91440"/>
          <a:lstStyle/>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定義・著者・評価の詳細</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128画像で見る注釈の分布</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追加の領域注釈例</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全80カテゴリと利用条件</a:t>
            </a:r>
          </a:p>
          <a:p>
            <a:pPr algn="l" marL="457200" indent="-355600" lvl="0">
              <a:lnSpc>
                <a:spcPct val="115000"/>
              </a:lnSpc>
              <a:spcBef>
                <a:spcPts val="0"/>
              </a:spcBef>
              <a:spcAft>
                <a:spcPts val="1400"/>
              </a:spcAft>
              <a:buSzPct val="100000"/>
              <a:buFont typeface="Noto Sans CJK JP"/>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原著の著者と研究の位置付け</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第一著者Tsung-Yi Linは、物体認識・検出の研究者。後のFeature Pyramid Networksでも第一著者を務めた。</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最終著者C. Lawrence Zitnickは、視覚認識や画像理解の研究者。</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原著はECCV 2014で発表され、日常場面の文脈と物体領域の注釈をデータ設計の中心に据えた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https://arxiv.org/abs/1405.0312</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Tsung-Yi Lin et al., Microsoft COCO: Common Objects in Context, ECCV 2014, pp. 740–755.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同じ画像でもタスクごとに正解が異なる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graphicFrame>
        <p:nvGraphicFramePr>
          <p:cNvPr id="4" name="Table 3"/>
          <p:cNvGraphicFramePr>
            <a:graphicFrameLocks noGrp="1"/>
          </p:cNvGraphicFramePr>
          <p:nvPr/>
        </p:nvGraphicFramePr>
        <p:xfrm>
          <a:off x="548640" y="1417320"/>
          <a:ext cx="8046720" cy="2377440"/>
        </p:xfrm>
        <a:graphic>
          <a:graphicData uri="http://schemas.openxmlformats.org/drawingml/2006/table">
            <a:tbl>
              <a:tblPr firstRow="0" bandRow="0" lastRow="0" firstCol="0" lastCol="0" bandCol="0"/>
              <a:tblGrid>
                <a:gridCol w="2834640"/>
                <a:gridCol w="3566160"/>
                <a:gridCol w="1645920"/>
              </a:tblGrid>
              <a:tr h="475488">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課題</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出力単位</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主指標</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r>
              <a:tr h="475488">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物体検出</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物体ごとの矩形</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box AP</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インスタンス分割</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物体ごとの領域</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mask AP</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意味的領域分割</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各画素のカテゴリ</a:t>
                      </a:r>
                    </a:p>
                  </a:txBody>
                  <a:tcPr marL="76200" marR="76200" marT="38100" marB="38100" anchor="ctr">
                    <a:lnL w="0">
                      <a:noFill/>
                    </a:lnL>
                    <a:lnR w="0">
                      <a:noFill/>
                    </a:lnR>
                    <a:lnT w="0">
                      <a:noFill/>
                    </a:lnT>
                    <a:lnB w="0">
                      <a:no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mIoU</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Panoptic分割</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カテゴリ＋個体ID</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l">
                        <a:lnSpc>
                          <a:spcPct val="110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PQ</a:t>
                      </a:r>
                    </a:p>
                  </a:txBody>
                  <a:tcPr marL="76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959860"/>
            <a:ext cx="7955279" cy="713232"/>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意味的領域分割では、同じカテゴリに属する複数の人を個体として区別する必要がない。</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https://cocodataset.org/#panoptic-eval</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[2] </a:t>
            </a:r>
            <a:r>
              <a:rPr lang="ja-JP" sz="800" b="0">
                <a:solidFill>
                  <a:srgbClr val="626669"/>
                </a:solidFill>
                <a:latin typeface="Noto Sans"/>
                <a:ea typeface="Noto Sans CJK JP"/>
                <a:cs typeface="Noto Sans"/>
                <a:hlinkClick r:id="rId3"/>
              </a:rPr>
              <a:t>https://github.com/nightrome/cocostuff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通常注釈とcrowd注釈の扱い</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通常の一致判定は、交差面積を和集合面積で割るIoUを用いる。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crowdとの判定は交差面積を予測面積で割る。一つのcrowd領域へ複数の予測を対応付けられる。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crowd正解は再現率の分母から除外され、そこへ一致した予測も適合率の集計から除外される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https://github.com/cocodataset/cocoapi/blob/master/common/maskApi.c</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https://github.com/cocodataset/cocoapi/blob/master/PythonAPI/pycocotools/cocoeval.py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APの平均には複数の軸がある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各カテゴリ・各IoU閾値で、信頼度順の予測から適合率・再現率を作る。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再現率0.00〜1.00の101点で補間した適合率を平均し、カテゴリと10個のIoU閾値で平均する。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通常APはmaxDets=100。公式Python実装では、画像・カテゴリごとに上位100予測を使う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https://github.com/cocodataset/cocoapi/blob/master/PythonAPI/pycocotools/cocoeval.py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1領域の一致と、PQ全体の計算</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同一カテゴリの正解2領域に対し、予測2領域のうち1領域がIoU 0.80で一致したとする。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TP=1、FP=1、FN=1なので、PQ=0.80÷(1＋0.5＋0.5)=0.40。</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実評価はカテゴリごとに全画像の一致・誤検出・見落としを集計し、カテゴリ間で平均する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https://github.com/cocodataset/panopticapi/blob/master/panopticapi/evaluation.py</a:t>
            </a:r>
            <a:r>
              <a:rPr lang="ja-JP" sz="800" b="0">
                <a:solidFill>
                  <a:srgbClr val="626669"/>
                </a:solidFill>
                <a:latin typeface="Noto Sans"/>
                <a:ea typeface="Noto Sans CJK JP"/>
                <a:cs typeface="Noto Sans"/>
              </a:rPr>
              <a:t> / 数値は計算説明の例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ここからは公開128画像の部分集合を見る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全体の配布画像は約330K枚だが、以下の集計はCOCO128-segの128画像に限定する。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公開変換された領域注釈を画像ごとに数え、注釈ファイルがない2画像は0領域として含める。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これは例示用の小さな部分集合。カテゴリ頻度や領域数の分布をCOCO全体へ一般化しない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https://github.com/ultralytics/assets/releases/download/v0.0.0/coco128-seg.zip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128画像の注釈領域数の分布</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sample-hist.png"/>
          <p:cNvPicPr>
            <a:picLocks noChangeAspect="1"/>
          </p:cNvPicPr>
          <p:nvPr/>
        </p:nvPicPr>
        <p:blipFill>
          <a:blip r:embed="rId2"/>
          <a:stretch>
            <a:fillRect/>
          </a:stretch>
        </p:blipFill>
        <p:spPr>
          <a:xfrm>
            <a:off x="594360" y="1380744"/>
            <a:ext cx="7955279" cy="3182111"/>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128画像すべて。画像ごとの注釈行数、1階級5領域、表示範囲外0画像。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128画像に含まれる929領域</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graphicFrame>
        <p:nvGraphicFramePr>
          <p:cNvPr id="4" name="Table 3"/>
          <p:cNvGraphicFramePr>
            <a:graphicFrameLocks noGrp="1"/>
          </p:cNvGraphicFramePr>
          <p:nvPr/>
        </p:nvGraphicFramePr>
        <p:xfrm>
          <a:off x="548640" y="1417320"/>
          <a:ext cx="8046720" cy="2377440"/>
        </p:xfrm>
        <a:graphic>
          <a:graphicData uri="http://schemas.openxmlformats.org/drawingml/2006/table">
            <a:tbl>
              <a:tblPr firstRow="0" bandRow="0" lastRow="0" firstCol="0" lastCol="0" bandCol="0"/>
              <a:tblGrid>
                <a:gridCol w="4754880"/>
                <a:gridCol w="3291840"/>
              </a:tblGrid>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統計量</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注釈領域数／画像</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平均／中央値</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7.26 ／ 4</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母標準偏差</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7.76</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第1／第3四分位点</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2 ／ 10</a:t>
                      </a:r>
                    </a:p>
                  </a:txBody>
                  <a:tcPr marL="76200" marR="76200" marT="38100" marB="38100" anchor="ctr">
                    <a:lnL w="0">
                      <a:noFill/>
                    </a:lnL>
                    <a:lnR w="0">
                      <a:noFill/>
                    </a:lnR>
                    <a:lnT w="0">
                      <a:noFill/>
                    </a:lnT>
                    <a:lnB w="0">
                      <a:noFill/>
                    </a:lnB>
                    <a:solidFill>
                      <a:srgbClr val="FFFEF8"/>
                    </a:solidFill>
                  </a:tcPr>
                </a:tc>
              </a:tr>
              <a:tr h="475488">
                <a:tc>
                  <a:txBody>
                    <a:bodyPr/>
                    <a:lstStyle/>
                    <a:p>
                      <a:pPr algn="l">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最小／最大</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0 ／ 42</a:t>
                      </a:r>
                    </a:p>
                  </a:txBody>
                  <a:tcPr marL="76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959860"/>
            <a:ext cx="7955279" cy="713232"/>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全128画像を等重みで計算。分位点は線形補間。80カテゴリ中71カテゴリの注釈を含む。</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https://github.com/ultralytics/assets/releases/download/v0.0.0/coco128-seg.zip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最多の42領域を含む食卓</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196.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000000000196 / COCO128-seg公開変換注釈の輪郭を重ねて表示</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注釈が0領域の画像にも物体は写る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250.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000000000250 / COCO128-seg公開変換注釈の輪郭を重ねて表示</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キリン giraffe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5.jpg"/>
          <p:cNvPicPr>
            <a:picLocks noChangeAspect="1"/>
          </p:cNvPicPr>
          <p:nvPr/>
        </p:nvPicPr>
        <p:blipFill>
          <a:blip r:embed="rId2"/>
          <a:stretch>
            <a:fillRect/>
          </a:stretch>
        </p:blipFill>
        <p:spPr>
          <a:xfrm>
            <a:off x="2202287" y="1417320"/>
            <a:ext cx="4739425" cy="3154679"/>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000000000025 / COCO128-seg公開変換注釈の輪郭を重ねて表示</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シマウマ zebra</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34.jpg"/>
          <p:cNvPicPr>
            <a:picLocks noChangeAspect="1"/>
          </p:cNvPicPr>
          <p:nvPr/>
        </p:nvPicPr>
        <p:blipFill>
          <a:blip r:embed="rId2"/>
          <a:stretch>
            <a:fillRect/>
          </a:stretch>
        </p:blipFill>
        <p:spPr>
          <a:xfrm>
            <a:off x="2196711" y="1417320"/>
            <a:ext cx="4750576"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000000000034 / COCO128-seg公開変換注釈の輪郭を重ねて表示</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猫 cat</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42.jpg"/>
          <p:cNvPicPr>
            <a:picLocks noChangeAspect="1"/>
          </p:cNvPicPr>
          <p:nvPr/>
        </p:nvPicPr>
        <p:blipFill>
          <a:blip r:embed="rId2"/>
          <a:stretch>
            <a:fillRect/>
          </a:stretch>
        </p:blipFill>
        <p:spPr>
          <a:xfrm>
            <a:off x="2460080" y="1417320"/>
            <a:ext cx="4223839"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000000000042 / COCO128-seg公開変換注釈の輪郭を重ねて表示</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街路の時計 clock</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64.jpg"/>
          <p:cNvPicPr>
            <a:picLocks noChangeAspect="1"/>
          </p:cNvPicPr>
          <p:nvPr/>
        </p:nvPicPr>
        <p:blipFill>
          <a:blip r:embed="rId2"/>
          <a:stretch>
            <a:fillRect/>
          </a:stretch>
        </p:blipFill>
        <p:spPr>
          <a:xfrm>
            <a:off x="3388994" y="1417320"/>
            <a:ext cx="236601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000000000064 / COCO128-seg公開変換注釈の輪郭を重ねて表示</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重なり合う自転車 bicycle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73.jpg"/>
          <p:cNvPicPr>
            <a:picLocks noChangeAspect="1"/>
          </p:cNvPicPr>
          <p:nvPr/>
        </p:nvPicPr>
        <p:blipFill>
          <a:blip r:embed="rId2"/>
          <a:stretch>
            <a:fillRect/>
          </a:stretch>
        </p:blipFill>
        <p:spPr>
          <a:xfrm>
            <a:off x="3179504" y="1417320"/>
            <a:ext cx="278499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000000000073 / COCO128-seg公開変換注釈の輪郭を重ねて表示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飛行機 airplane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81.jpg"/>
          <p:cNvPicPr>
            <a:picLocks noChangeAspect="1"/>
          </p:cNvPicPr>
          <p:nvPr/>
        </p:nvPicPr>
        <p:blipFill>
          <a:blip r:embed="rId2"/>
          <a:stretch>
            <a:fillRect/>
          </a:stretch>
        </p:blipFill>
        <p:spPr>
          <a:xfrm>
            <a:off x="2196711" y="1417320"/>
            <a:ext cx="4750576"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000000000081 / COCO128-seg公開変換注釈の輪郭を重ねて表示</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ケーキとフォーク cake / fork</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92.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000000000092 / COCO128-seg公開変換注釈の輪郭を重ねて表示</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野球の人と道具 person / bat / glove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192.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000000000192 / COCO128-seg公開変換注釈の輪郭を重ねて表示</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スキーとスノーボード skis / snowboard</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01.jpg"/>
          <p:cNvPicPr>
            <a:picLocks noChangeAspect="1"/>
          </p:cNvPicPr>
          <p:nvPr/>
        </p:nvPicPr>
        <p:blipFill>
          <a:blip r:embed="rId2"/>
          <a:stretch>
            <a:fillRect/>
          </a:stretch>
        </p:blipFill>
        <p:spPr>
          <a:xfrm>
            <a:off x="2213360" y="1417319"/>
            <a:ext cx="4717278"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000000000201 / COCO128-seg公開変換注釈の輪郭を重ねて表示</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前後に重なるゾウ elephant</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63.jpg"/>
          <p:cNvPicPr>
            <a:picLocks noChangeAspect="1"/>
          </p:cNvPicPr>
          <p:nvPr/>
        </p:nvPicPr>
        <p:blipFill>
          <a:blip r:embed="rId2"/>
          <a:stretch>
            <a:fillRect/>
          </a:stretch>
        </p:blipFill>
        <p:spPr>
          <a:xfrm>
            <a:off x="3115425" y="1417320"/>
            <a:ext cx="2913149"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3"/>
              </a:rPr>
              <a:t>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000000000263 / COCO128-seg公開変換注釈の輪郭を重ねて表示</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全80カテゴリ（1/4）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person（1カテゴリ）: person</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vehicle（8カテゴリ）: bicycle, car, motorcycle, airplane, bus, train, truck, boat</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outdoor（5カテゴリ）: traffic light, fire hydrant, stop sign, parking meter, bench</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https://github.com/cocodataset/panopticapi/blob/master/panoptic_coco_categories.json</a:t>
            </a:r>
            <a:r>
              <a:rPr lang="ja-JP" sz="800" b="0">
                <a:solidFill>
                  <a:srgbClr val="626669"/>
                </a:solidFill>
                <a:latin typeface="Noto Sans"/>
                <a:ea typeface="Noto Sans CJK JP"/>
                <a:cs typeface="Noto Sans"/>
              </a:rPr>
              <a:t> / isthing=1の全80カテゴリ</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全80カテゴリ（2/4）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animal（10カテゴリ）: bird, cat, dog, horse, sheep, cow, elephant, bear, zebra, giraffe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accessory（5カテゴリ）: backpack, umbrella, handbag, tie, suitcase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sports（10カテゴリ）: frisbee, skis, snowboard, sports ball, kite, baseball bat, baseball glove, skateboard, surfboard, tennis racket</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https://github.com/cocodataset/panopticapi/blob/master/panoptic_coco_categories.json</a:t>
            </a:r>
            <a:r>
              <a:rPr lang="ja-JP" sz="800" b="0">
                <a:solidFill>
                  <a:srgbClr val="626669"/>
                </a:solidFill>
                <a:latin typeface="Noto Sans"/>
                <a:ea typeface="Noto Sans CJK JP"/>
                <a:cs typeface="Noto Sans"/>
              </a:rPr>
              <a:t> / isthing=1の全80カテゴリ</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全80カテゴリ（3/4）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kitchen（7カテゴリ）: bottle, wine glass, cup, fork, knife, spoon, bowl</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food（10カテゴリ）: banana, apple, sandwich, orange, broccoli, carrot, hot dog, pizza, donut, cake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furniture（6カテゴリ）: chair, couch, potted plant, bed, dining table, toilet</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https://github.com/cocodataset/panopticapi/blob/master/panoptic_coco_categories.json</a:t>
            </a:r>
            <a:r>
              <a:rPr lang="ja-JP" sz="800" b="0">
                <a:solidFill>
                  <a:srgbClr val="626669"/>
                </a:solidFill>
                <a:latin typeface="Noto Sans"/>
                <a:ea typeface="Noto Sans CJK JP"/>
                <a:cs typeface="Noto Sans"/>
              </a:rPr>
              <a:t> / isthing=1の全80カテゴリ</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全80カテゴリ（4/4）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electronic（6カテゴリ）: tv, laptop, mouse, remote, keyboard, cell phone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appliance（5カテゴリ）: microwave, oven, toaster, sink, refrigerator</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indoor（7カテゴリ）: book, clock, vase, scissors, teddy bear, hair drier, toothbrush</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https://github.com/cocodataset/panopticapi/blob/master/panoptic_coco_categories.json</a:t>
            </a:r>
            <a:r>
              <a:rPr lang="ja-JP" sz="800" b="0">
                <a:solidFill>
                  <a:srgbClr val="626669"/>
                </a:solidFill>
                <a:latin typeface="Noto Sans"/>
                <a:ea typeface="Noto Sans CJK JP"/>
                <a:cs typeface="Noto Sans"/>
              </a:rPr>
              <a:t> / isthing=1の全80カテゴリ</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画像・注釈・ソフトウェアの利用条件</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注釈とWebサイトはCOCO ConsortiumのCC BY 4.0で提供される。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画像の著作権は撮影者側にあり、Flickrの画像ごとの利用条件に従う。</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公式APIはBSD形式の利用条件を持つ。画像・注釈・コードで利用条件が異なる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a:t>
            </a:r>
            <a:r>
              <a:rPr lang="ja-JP" sz="800" b="0">
                <a:solidFill>
                  <a:srgbClr val="626669"/>
                </a:solidFill>
                <a:latin typeface="Noto Sans"/>
                <a:ea typeface="Noto Sans CJK JP"/>
                <a:cs typeface="Noto Sans"/>
                <a:hlinkClick r:id="rId2"/>
              </a:rPr>
              <a:t>https://cocodataset.org/#termsofuse</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https://github.com/cocodataset/cocoapi/blob/master/license.txt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23444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Microsoft COCO: Common Objects in Context</a:t>
            </a:r>
          </a:p>
        </p:txBody>
      </p:sp>
      <p:sp>
        <p:nvSpPr>
          <p:cNvPr id="5" name="TextBox 4"/>
          <p:cNvSpPr txBox="1"/>
          <p:nvPr/>
        </p:nvSpPr>
        <p:spPr>
          <a:xfrm>
            <a:off x="594360" y="165506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Tsung-Yi Lin et al. (2014).</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European Conference on Computer Vision (ECCV), pp. 740–755.</a:t>
            </a:r>
          </a:p>
        </p:txBody>
      </p:sp>
      <p:sp>
        <p:nvSpPr>
          <p:cNvPr id="6" name="TextBox 5"/>
          <p:cNvSpPr txBox="1"/>
          <p:nvPr/>
        </p:nvSpPr>
        <p:spPr>
          <a:xfrm>
            <a:off x="594360" y="219456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COCOの原著論文。日常場面の画像選定、物体の領域注釈、データの性質と初期評価を報告する。</a:t>
            </a:r>
          </a:p>
        </p:txBody>
      </p:sp>
      <p:sp>
        <p:nvSpPr>
          <p:cNvPr id="7" name="TextBox 6"/>
          <p:cNvSpPr txBox="1"/>
          <p:nvPr/>
        </p:nvSpPr>
        <p:spPr>
          <a:xfrm>
            <a:off x="594360" y="291693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2"/>
              </a:rPr>
              <a:t>https://arxiv.org/abs/1405.0312</a:t>
            </a:r>
          </a:p>
        </p:txBody>
      </p:sp>
      <p:sp>
        <p:nvSpPr>
          <p:cNvPr id="8" name="TextBox 7"/>
          <p:cNvSpPr txBox="1"/>
          <p:nvPr/>
        </p:nvSpPr>
        <p:spPr>
          <a:xfrm>
            <a:off x="594360" y="320040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COCO API</a:t>
            </a:r>
          </a:p>
        </p:txBody>
      </p:sp>
      <p:sp>
        <p:nvSpPr>
          <p:cNvPr id="9" name="TextBox 8"/>
          <p:cNvSpPr txBox="1"/>
          <p:nvPr/>
        </p:nvSpPr>
        <p:spPr>
          <a:xfrm>
            <a:off x="594360" y="362102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COCO Consortium (n.d.; 参照日 2026-10-15).</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GitHub, cocodataset/cocoapi.</a:t>
            </a:r>
          </a:p>
        </p:txBody>
      </p:sp>
      <p:sp>
        <p:nvSpPr>
          <p:cNvPr id="10" name="TextBox 9"/>
          <p:cNvSpPr txBox="1"/>
          <p:nvPr/>
        </p:nvSpPr>
        <p:spPr>
          <a:xfrm>
            <a:off x="594360" y="416052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COCOの公式実装。画像・注釈の読込み、マスク表現、検出と領域分割の評価コードを提供する。</a:t>
            </a:r>
          </a:p>
        </p:txBody>
      </p:sp>
      <p:sp>
        <p:nvSpPr>
          <p:cNvPr id="11" name="TextBox 10"/>
          <p:cNvSpPr txBox="1"/>
          <p:nvPr/>
        </p:nvSpPr>
        <p:spPr>
          <a:xfrm>
            <a:off x="594360" y="488289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3"/>
              </a:rPr>
              <a:t>https://github.com/cocodataset/cocoapi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23444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COCO-Stuff: Thing and Stuff Classes in Context</a:t>
            </a:r>
          </a:p>
        </p:txBody>
      </p:sp>
      <p:sp>
        <p:nvSpPr>
          <p:cNvPr id="5" name="TextBox 4"/>
          <p:cNvSpPr txBox="1"/>
          <p:nvPr/>
        </p:nvSpPr>
        <p:spPr>
          <a:xfrm>
            <a:off x="594360" y="165506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Holger Caesar, Jasper Uijlings, Vittorio Ferrari (2018).</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IEEE/CVF Conference on Computer Vision and Pattern Recognition (CVPR), pp. 1209–1218.</a:t>
            </a:r>
          </a:p>
        </p:txBody>
      </p:sp>
      <p:sp>
        <p:nvSpPr>
          <p:cNvPr id="6" name="TextBox 5"/>
          <p:cNvSpPr txBox="1"/>
          <p:nvPr/>
        </p:nvSpPr>
        <p:spPr>
          <a:xfrm>
            <a:off x="594360" y="219456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COCOへ背景領域の画素注釈を加えた研究。物体と背景を合わせた場面理解用データを提示する。</a:t>
            </a:r>
          </a:p>
        </p:txBody>
      </p:sp>
      <p:sp>
        <p:nvSpPr>
          <p:cNvPr id="7" name="TextBox 6"/>
          <p:cNvSpPr txBox="1"/>
          <p:nvPr/>
        </p:nvSpPr>
        <p:spPr>
          <a:xfrm>
            <a:off x="594360" y="291693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3"/>
              </a:rPr>
              <a:t>https://arxiv.org/abs/1612.03716</a:t>
            </a:r>
          </a:p>
        </p:txBody>
      </p:sp>
      <p:sp>
        <p:nvSpPr>
          <p:cNvPr id="8" name="TextBox 7"/>
          <p:cNvSpPr txBox="1"/>
          <p:nvPr/>
        </p:nvSpPr>
        <p:spPr>
          <a:xfrm>
            <a:off x="594360" y="320040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Panoptic Segmentation</a:t>
            </a:r>
          </a:p>
        </p:txBody>
      </p:sp>
      <p:sp>
        <p:nvSpPr>
          <p:cNvPr id="9" name="TextBox 8"/>
          <p:cNvSpPr txBox="1"/>
          <p:nvPr/>
        </p:nvSpPr>
        <p:spPr>
          <a:xfrm>
            <a:off x="594360" y="362102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Alexander Kirillov, Kaiming He, Ross Girshick, Carsten Rother, Piotr Dollár (2019).</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IEEE/CVF Conference on Computer Vision and Pattern Recognition (CVPR), pp. 9404–9413.</a:t>
            </a:r>
          </a:p>
        </p:txBody>
      </p:sp>
      <p:sp>
        <p:nvSpPr>
          <p:cNvPr id="10" name="TextBox 9"/>
          <p:cNvSpPr txBox="1"/>
          <p:nvPr/>
        </p:nvSpPr>
        <p:spPr>
          <a:xfrm>
            <a:off x="594360" y="416052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意味的領域分割とインスタンス分割を統合する課題を定義した研究。共通指標Panoptic Qualityを提案する。</a:t>
            </a:r>
          </a:p>
        </p:txBody>
      </p:sp>
      <p:sp>
        <p:nvSpPr>
          <p:cNvPr id="11" name="TextBox 10"/>
          <p:cNvSpPr txBox="1"/>
          <p:nvPr/>
        </p:nvSpPr>
        <p:spPr>
          <a:xfrm>
            <a:off x="594360" y="488289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4"/>
              </a:rPr>
              <a:t>https://arxiv.org/abs/1801.00868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23444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Mask R-CNN</a:t>
            </a:r>
          </a:p>
        </p:txBody>
      </p:sp>
      <p:sp>
        <p:nvSpPr>
          <p:cNvPr id="5" name="TextBox 4"/>
          <p:cNvSpPr txBox="1"/>
          <p:nvPr/>
        </p:nvSpPr>
        <p:spPr>
          <a:xfrm>
            <a:off x="594360" y="165506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Kaiming He, Georgia Gkioxari, Piotr Dollár, Ross Girshick (2017).</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IEEE International Conference on Computer Vision (ICCV), pp. 2961–2969.</a:t>
            </a:r>
          </a:p>
        </p:txBody>
      </p:sp>
      <p:sp>
        <p:nvSpPr>
          <p:cNvPr id="6" name="TextBox 5"/>
          <p:cNvSpPr txBox="1"/>
          <p:nvPr/>
        </p:nvSpPr>
        <p:spPr>
          <a:xfrm>
            <a:off x="594360" y="219456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検出器へ物体ごとのマスク予測を加えた代表的な領域分割モデル。COCO上で検出・分割・人物姿勢の評価を報告する。</a:t>
            </a:r>
          </a:p>
        </p:txBody>
      </p:sp>
      <p:sp>
        <p:nvSpPr>
          <p:cNvPr id="7" name="TextBox 6"/>
          <p:cNvSpPr txBox="1"/>
          <p:nvPr/>
        </p:nvSpPr>
        <p:spPr>
          <a:xfrm>
            <a:off x="594360" y="291693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3"/>
              </a:rPr>
              <a:t>https://arxiv.org/abs/1703.06870</a:t>
            </a:r>
          </a:p>
        </p:txBody>
      </p:sp>
      <p:sp>
        <p:nvSpPr>
          <p:cNvPr id="8" name="TextBox 7"/>
          <p:cNvSpPr txBox="1"/>
          <p:nvPr/>
        </p:nvSpPr>
        <p:spPr>
          <a:xfrm>
            <a:off x="594360" y="3200400"/>
            <a:ext cx="7955279" cy="292608"/>
          </a:xfrm>
          <a:prstGeom prst="rect">
            <a:avLst/>
          </a:prstGeom>
          <a:noFill/>
        </p:spPr>
        <p:txBody>
          <a:bodyPr wrap="square" lIns="0" rIns="0" tIns="0" bIns="0" anchor="t">
            <a:spAutoFit/>
          </a:bodyPr>
          <a:lstStyle/>
          <a:p>
            <a:pPr>
              <a:lnSpc>
                <a:spcPct val="105000"/>
              </a:lnSpc>
              <a:spcBef>
                <a:spcPts val="0"/>
              </a:spcBef>
              <a:spcAft>
                <a:spcPts val="0"/>
              </a:spcAft>
              <a:buNone/>
              <a:defRPr sz="2000" b="0" lang="ja-JP">
                <a:solidFill>
                  <a:srgbClr val="303437"/>
                </a:solidFill>
                <a:latin typeface="Noto Sans"/>
                <a:ea typeface="Noto Sans CJK JP"/>
                <a:cs typeface="Noto Sans"/>
              </a:defRPr>
            </a:pPr>
            <a:r>
              <a:rPr sz="2000" b="0" lang="ja-JP">
                <a:solidFill>
                  <a:srgbClr val="303437"/>
                </a:solidFill>
                <a:latin typeface="Noto Sans"/>
                <a:ea typeface="Noto Sans CJK JP"/>
                <a:cs typeface="Noto Sans"/>
              </a:rPr>
              <a:t>LVIS: A Dataset for Large Vocabulary Instance Segmentation</a:t>
            </a:r>
          </a:p>
        </p:txBody>
      </p:sp>
      <p:sp>
        <p:nvSpPr>
          <p:cNvPr id="9" name="TextBox 8"/>
          <p:cNvSpPr txBox="1"/>
          <p:nvPr/>
        </p:nvSpPr>
        <p:spPr>
          <a:xfrm>
            <a:off x="594360" y="3621024"/>
            <a:ext cx="7955279" cy="594360"/>
          </a:xfrm>
          <a:prstGeom prst="rect">
            <a:avLst/>
          </a:prstGeom>
          <a:noFill/>
        </p:spPr>
        <p:txBody>
          <a:bodyPr wrap="square" lIns="0" rIns="0" tIns="0" bIns="0" anchor="t">
            <a:spAutoFit/>
          </a:bodyPr>
          <a:lstStyle/>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Agrim Gupta, Piotr Dollár, Ross Girshick (2019).</a:t>
            </a:r>
          </a:p>
          <a:p>
            <a:pPr>
              <a:lnSpc>
                <a:spcPct val="105000"/>
              </a:lnSpc>
              <a:spcBef>
                <a:spcPts val="0"/>
              </a:spcBef>
              <a:spcAft>
                <a:spcPts val="0"/>
              </a:spcAft>
              <a:buNone/>
              <a:defRPr sz="1300" b="0" lang="ja-JP">
                <a:solidFill>
                  <a:srgbClr val="626669"/>
                </a:solidFill>
                <a:latin typeface="Noto Sans"/>
                <a:ea typeface="Noto Sans CJK JP"/>
                <a:cs typeface="Noto Sans"/>
              </a:defRPr>
            </a:pPr>
            <a:r>
              <a:rPr sz="1300" b="0" lang="ja-JP">
                <a:solidFill>
                  <a:srgbClr val="626669"/>
                </a:solidFill>
                <a:latin typeface="Noto Sans"/>
                <a:ea typeface="Noto Sans CJK JP"/>
                <a:cs typeface="Noto Sans"/>
              </a:rPr>
              <a:t>IEEE/CVF Conference on Computer Vision and Pattern Recognition (CVPR), pp. 5356–5364.</a:t>
            </a:r>
          </a:p>
        </p:txBody>
      </p:sp>
      <p:sp>
        <p:nvSpPr>
          <p:cNvPr id="10" name="TextBox 9"/>
          <p:cNvSpPr txBox="1"/>
          <p:nvPr/>
        </p:nvSpPr>
        <p:spPr>
          <a:xfrm>
            <a:off x="594360" y="4160520"/>
            <a:ext cx="7955279" cy="521207"/>
          </a:xfrm>
          <a:prstGeom prst="rect">
            <a:avLst/>
          </a:prstGeom>
          <a:noFill/>
        </p:spPr>
        <p:txBody>
          <a:bodyPr wrap="square" lIns="0" rIns="0" tIns="0" bIns="0" anchor="t">
            <a:spAutoFit/>
          </a:bodyPr>
          <a:lstStyle/>
          <a:p>
            <a:pPr>
              <a:lnSpc>
                <a:spcPct val="105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COCO画像へ大語彙の物体領域注釈を追加した後続データセット。まれなカテゴリを含む長い裾の分布を評価対象にする。</a:t>
            </a:r>
          </a:p>
        </p:txBody>
      </p:sp>
      <p:sp>
        <p:nvSpPr>
          <p:cNvPr id="11" name="TextBox 10"/>
          <p:cNvSpPr txBox="1"/>
          <p:nvPr/>
        </p:nvSpPr>
        <p:spPr>
          <a:xfrm>
            <a:off x="594360" y="4882896"/>
            <a:ext cx="7955279" cy="182880"/>
          </a:xfrm>
          <a:prstGeom prst="rect">
            <a:avLst/>
          </a:prstGeom>
          <a:noFill/>
        </p:spPr>
        <p:txBody>
          <a:bodyPr wrap="square" lIns="0" rIns="0" tIns="0" bIns="0" anchor="t">
            <a:spAutoFit/>
          </a:bodyPr>
          <a:lstStyle/>
          <a:p>
            <a:pPr>
              <a:lnSpc>
                <a:spcPct val="105000"/>
              </a:lnSpc>
              <a:spcBef>
                <a:spcPts val="0"/>
              </a:spcBef>
              <a:spcAft>
                <a:spcPts val="0"/>
              </a:spcAft>
              <a:buNone/>
              <a:defRPr sz="1100" b="0" lang="ja-JP">
                <a:solidFill>
                  <a:srgbClr val="626669"/>
                </a:solidFill>
                <a:latin typeface="Noto Sans"/>
                <a:ea typeface="Noto Sans CJK JP"/>
                <a:cs typeface="Noto Sans"/>
              </a:defRPr>
            </a:pPr>
            <a:r>
              <a:rPr sz="1100" b="0" lang="ja-JP">
                <a:solidFill>
                  <a:srgbClr val="626669"/>
                </a:solidFill>
                <a:latin typeface="Noto Sans"/>
                <a:ea typeface="Noto Sans CJK JP"/>
                <a:cs typeface="Noto Sans"/>
                <a:hlinkClick r:id="rId4"/>
              </a:rPr>
              <a:t>https://arxiv.org/abs/1908.03195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645920"/>
            <a:ext cx="8229600" cy="1280160"/>
          </a:xfrm>
        </p:spPr>
        <p:txBody>
          <a:bodyPr anchor="ctr"/>
          <a:lstStyle/>
          <a:p>
            <a:pPr algn="ctr">
              <a:defRPr sz="4800" b="1" lang="ja-JP">
                <a:solidFill>
                  <a:srgbClr val="303437"/>
                </a:solidFill>
                <a:latin typeface="Noto Sans"/>
                <a:ea typeface="Noto Sans CJK JP"/>
                <a:cs typeface="Noto Sans"/>
              </a:defRPr>
            </a:pPr>
            <a:r>
              <a:rPr sz="48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lstStyle/>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