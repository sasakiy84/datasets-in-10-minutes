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wikitech.wikimedia.org/wiki/MediaWiki_Content_File_Exports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ikitech.wikimedia.org/wiki/MediaWiki_Content_File_Exports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dumps.wikimedia.org/other/mediawiki_content_current/biwiki/" TargetMode="External"/><Relationship Id="rId3" Type="http://schemas.openxmlformats.org/officeDocument/2006/relationships/hyperlink" Target="https://bi.wikipedia.org/w/index.php?title=Bislama&amp;oldid=44441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umps.wikimedia.org/other/mediawiki_content_current/biwiki/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bi.wikipedia.org/w/index.php?title=Port_Vila&amp;oldid=41596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bi.wikipedia.org/w/index.php?title=Port_Vila&amp;oldid=41596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mediawiki.org/wiki/Help:Export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umps.wikimedia.org/other/mediawiki_content_current/biwiki/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ikitech.wikimedia.org/wiki/MediaWiki_Content_File_Exports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ww.mediawiki.org/wiki/Help:Export" TargetMode="External"/><Relationship Id="rId3" Type="http://schemas.openxmlformats.org/officeDocument/2006/relationships/hyperlink" Target="https://dumps.wikimedia.org/other/mediawiki_content_current/biwiki/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umps.wikimedia.org/other/mediawiki_content_current/biwiki/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ikitech.wikimedia.org/wiki/MediaWiki_Content_File_Exports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mediawiki.org/wiki/Help:Export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ww.mediawiki.org/wiki/Help:Export" TargetMode="External"/><Relationship Id="rId3" Type="http://schemas.openxmlformats.org/officeDocument/2006/relationships/hyperlink" Target="https://enterprise.wikimedia.com/api/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bi.wikipedia.org/w/index.php?title=Japan&amp;oldid=44104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ikitech.wikimedia.org/wiki/MediaWiki_Content_File_Exports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ikitech.wikimedia.org/wiki/MediaWiki_Content_File_Exports" TargetMode="External"/><Relationship Id="rId3" Type="http://schemas.openxmlformats.org/officeDocument/2006/relationships/hyperlink" Target="https://www.mediawiki.org/wiki/Help:Export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ikitech.wikimedia.org/wiki/Legacy_content_dumps_sunset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ikitech.wikimedia.org/wiki/Legacy_content_dumps_sunset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dumps.wikimedia.org/other/enterprise_html/" TargetMode="External"/><Relationship Id="rId3" Type="http://schemas.openxmlformats.org/officeDocument/2006/relationships/hyperlink" Target="https://enterprise.wikimedia.com/api/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foundation.wikimedia.org/wiki/Policy:Terms_of_Use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ikitech.wikimedia.org/wiki/MediaWiki_Content_File_Exports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bi.wikipedia.org/w/index.php?title=Bislama&amp;oldid=44441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bi.wikipedia.org/w/index.php?title=Ostrelia&amp;oldid=43876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bi.wikipedia.org/w/index.php?title=Vanuatu&amp;oldid=44216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bi.wikipedia.org/w/index.php?title=Efate&amp;oldid=41761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bi.wikipedia.org/w/index.php?title=Template:Delete&amp;oldid=41593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mediawiki.org/wiki/Help:Export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umps.wikimedia.org/other/mediawiki_content_current/biwiki/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ikitech.wikimedia.org/wiki/MediaWiki_Content_File_Exports" TargetMode="External"/><Relationship Id="rId3" Type="http://schemas.openxmlformats.org/officeDocument/2006/relationships/hyperlink" Target="https://wikitech.wikimedia.org/wiki/Legacy_content_dumps_sunset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meta.wikimedia.org/wiki/Data_dumps" TargetMode="External"/><Relationship Id="rId3" Type="http://schemas.openxmlformats.org/officeDocument/2006/relationships/hyperlink" Target="https://www.mediawiki.org/wiki/Help:Export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umps.wikimedia.org/other/enterprise_html/" TargetMode="External"/><Relationship Id="rId3" Type="http://schemas.openxmlformats.org/officeDocument/2006/relationships/hyperlink" Target="https://enterprise.wikimedia.com/api/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foundation.wikimedia.org/wiki/Policy:Terms_of_Use" TargetMode="External"/><Relationship Id="rId3" Type="http://schemas.openxmlformats.org/officeDocument/2006/relationships/hyperlink" Target="https://creativecommons.org/licenses/by-sa/4.0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637627"/>
            <a:ext cx="8046720" cy="1080770"/>
          </a:xfrm>
        </p:spPr>
        <p:txBody>
          <a:bodyPr wrap="square" lIns="0" rIns="0" tIns="0" bIns="50800">
            <a:noAutofit/>
          </a:bodyPr>
          <a:lstStyle/>
          <a:p>
            <a:pPr algn="ctr">
              <a:lnSpc>
                <a:spcPct val="110000"/>
              </a:lnSpc>
              <a:buNone/>
              <a:defRPr sz="5400" b="0">
                <a:solidFill>
                  <a:srgbClr val="303437"/>
                </a:solidFill>
                <a:latin typeface="Noto Sans"/>
              </a:defRPr>
            </a:pPr>
            <a:r>
              <a:rPr sz="5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Wikipedia本文データ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2647277"/>
            <a:ext cx="8046720" cy="1066165"/>
          </a:xfrm>
        </p:spPr>
        <p:txBody>
          <a:bodyPr lIns="0" rIns="0" tIns="0" bIns="0">
            <a:noAutofit/>
          </a:bodyPr>
          <a:lstStyle/>
          <a:p>
            <a:pPr algn="ctr">
              <a:lnSpc>
                <a:spcPct val="125000"/>
              </a:lnSpc>
              <a:spcAft>
                <a:spcPts val="120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MediaWiki Content File Exports</a:t>
            </a:r>
          </a:p>
          <a:p>
            <a:pPr algn="ctr">
              <a:lnSpc>
                <a:spcPct val="125000"/>
              </a:lnSpc>
              <a:spcAft>
                <a:spcPts val="0"/>
              </a:spcAft>
              <a:buNone/>
              <a:defRPr sz="2500" b="0">
                <a:solidFill>
                  <a:srgbClr val="303437"/>
                </a:solidFill>
                <a:latin typeface="Noto Sans"/>
              </a:defRPr>
            </a:pPr>
            <a:r>
              <a:rPr sz="2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記事のXMLから本文コーパスを作る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78536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229600" cy="3505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(2026-10-28)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本文データの公式配布案内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公式サイト</a:t>
            </a:r>
          </a:p>
        </p:txBody>
      </p:sp>
      <p:pic>
        <p:nvPicPr>
          <p:cNvPr id="4" name="Picture 3" descr="official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464" y="1481328"/>
            <a:ext cx="4579070" cy="3063240"/>
          </a:xfrm>
          <a:prstGeom prst="rect">
            <a:avLst/>
          </a:prstGeom>
        </p:spPr>
      </p:pic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Wikimedia. MediaWiki Content File Exports.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https://wikitech.wikimedia.org/wiki/MediaWiki_Content_File_Exports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63901"/>
            <a:ext cx="7863840" cy="2362199"/>
          </a:xfrm>
        </p:spPr>
        <p:txBody>
          <a:bodyPr lIns="0" rIns="0" tIns="0" bIns="0">
            <a:noAutofit/>
          </a:bodyPr>
          <a:lstStyle/>
          <a:p>
            <a:pPr marL="457200" indent="-457200" algn="l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記事本文をデータとして読む</a:t>
            </a:r>
          </a:p>
          <a:p>
            <a:pPr marL="457200" indent="-457200" algn="l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ページと版をXMLで表す</a:t>
            </a:r>
          </a:p>
          <a:p>
            <a:pPr marL="457200" indent="-457200" algn="l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コーパスを作るときの選択</a:t>
            </a:r>
          </a:p>
          <a:p>
            <a:pPr marL="457200" indent="-457200" algn="l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4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取得先と更新・利用条件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506875"/>
            <a:ext cx="8412480" cy="621792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記事本文をデータとして読む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記事本文をデータとして読む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百科事典の記事を、まとめて取得する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Wikipediaの記事は、人が編集する百科事典のページ。公式の本文データを取得すれば、検索や言語分析などにまとめて利用できる。</a:t>
            </a:r>
          </a:p>
          <a:p>
            <a:pPr marL="457200" indent="-355600" algn="l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ダンプは、サイトのデータを書き出したファイル。記事の文章だけでなく、ページ名や編集された版の情報も含む。</a:t>
            </a:r>
          </a:p>
          <a:p>
            <a:pPr marL="457200" indent="-355600" algn="l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ここでは、月次XMLのMediaWiki Content File Exportsを使い、本文をコーパスとして利用するまでを見ていく。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記事本文をデータとして読む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Wikimedia. MediaWiki Content File Exports.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https://wikitech.wikimedia.org/wiki/MediaWiki_Content_File_Exports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小さな言語版を、一式読んでみる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実例には、ビスラマ語版Wikipediaの2026年10月1日分を使う。ビスラマ語は、バヌアツで使われる言語。</a:t>
            </a:r>
          </a:p>
          <a:p>
            <a:pPr marL="457200" indent="-355600" algn="l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biwikiは、この言語版の識別名。currentの全ファイルを取得し、XML内のページを集計した。</a:t>
            </a:r>
          </a:p>
          <a:p>
            <a:pPr marL="457200" indent="-355600" algn="l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日本語版や英語版でも、同じ形式で記事を取り出せる。ここで示す件数や容量は、ビスラマ語版の取得分に限る。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記事本文をデータとして読む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Wikipedia contributors. biwiki current, 2026-10-01. 本資料で集計.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https://dumps.wikimedia.org/other/mediawiki_content_current/biwiki/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Wikipedia contributors. Bislama, rev.44441. 抜粋：本資料. CC BY-SA 4.0.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https://bi.wikipedia.org/w/index.php?title=Bislama&amp;oldid=44441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取得したXMLは、記事だけではない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記事本文をデータとして読む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54480" y="1508760"/>
          <a:ext cx="6035040" cy="1800860"/>
        </p:xfrm>
        <a:graphic>
          <a:graphicData uri="http://schemas.openxmlformats.org/drawingml/2006/table">
            <a:tbl>
              <a:tblPr firstRow="0" bandRow="0"/>
              <a:tblGrid>
                <a:gridCol w="4389120"/>
                <a:gridCol w="1645920"/>
              </a:tblGrid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対象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ページ数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全ページ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3,485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標準名前空間（ns=0）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1,896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そのうち転送ページを除くもの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1,614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43763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標準名前空間には、通常の記事などが入る。ここでの件数は、公式の「記事数」とは定義が異なる。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Wikipedia contributors. biwiki current, 2026-10-01. 本資料で集計.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https://dumps.wikimedia.org/other/mediawiki_content_current/biwiki/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Port Vilaの記事本文を読む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記事本文をデータとして読む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521"/>
              </a:lnSpc>
              <a:spcBef>
                <a:spcPts val="0"/>
              </a:spcBef>
              <a:spcAft>
                <a:spcPts val="0"/>
              </a:spcAft>
              <a:buNone/>
              <a:defRPr sz="1300" b="0">
                <a:solidFill>
                  <a:srgbClr val="303437"/>
                </a:solidFill>
                <a:latin typeface="Noto Sans"/>
              </a:defRPr>
            </a:pPr>
            <a:r>
              <a:rPr sz="13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ビスラマ語の本文（冒頭段落・原文のまま）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755648"/>
            <a:ext cx="8046720" cy="1463039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01600" bIns="12700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'''Port Vila''', o jes '''Vila''', hem i kapital blong [[Vanuatu]]. Hem i stap long [[Efate]] aelan. [[Gavman]] blong [[Vanuatu]] i stap long ples ia mo hed blong stet blong [[kaontri]] ia i stap long ples ia tu.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383279"/>
            <a:ext cx="7955279" cy="65938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日本語訳：ポートビラ、または単にビラは、バヌアツの首都。エファテ島にある。バヌアツの政府が置かれ、国家元首もここにいる。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Wikipedia contributors. Port Vila, rev.41596. 抜粋・日本語説明：本資料. CC BY-SA 4.0.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https://bi.wikipedia.org/w/index.php?title=Port_Vila&amp;oldid=41596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文章の周囲に、構造を表す記法がある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記事本文をデータとして読む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19" cy="1920240"/>
        </p:xfrm>
        <a:graphic>
          <a:graphicData uri="http://schemas.openxmlformats.org/drawingml/2006/table">
            <a:tbl>
              <a:tblPr firstRow="0" bandRow="0"/>
              <a:tblGrid>
                <a:gridCol w="4297680"/>
                <a:gridCol w="3749039"/>
              </a:tblGrid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実データの記法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表すもの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'''Port Vila'''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強調する文字列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[[Vanuatu]]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Vanuatuの記事へのリンク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{{Siti … }}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都市の情報を入れるテンプレート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8404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== Populaesen blong Port Vila ==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人口に関する節の見出し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55701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wikitextは、ページを編集するための記法。配布される本文は、読みやすく整えた平文ではない。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Wikipedia contributors. Port Vila, rev.41596. 抜粋・日本語説明：本資料. CC BY-SA 4.0.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https://bi.wikipedia.org/w/index.php?title=Port_Vila&amp;oldid=41596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506875"/>
            <a:ext cx="8412480" cy="621792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ページと版をXMLで表す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ページと版をXMLで表す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ページの中に、編集された版が入る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ページと版をXMLで表す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800860"/>
        </p:xfrm>
        <a:graphic>
          <a:graphicData uri="http://schemas.openxmlformats.org/drawingml/2006/table">
            <a:tbl>
              <a:tblPr firstRow="0" bandRow="0"/>
              <a:tblGrid>
                <a:gridCol w="2560320"/>
                <a:gridCol w="5486400"/>
              </a:tblGrid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要素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主な内容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siteinfo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サイト名・言語・名前空間の定義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page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タイトル・ページID・名前空間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revision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版ID・日時・本文・内容モデル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43763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pageはページ、revisionはそのページの一つの版。ページIDと版IDは別の識別子。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MediaWiki. Help:Export.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https://www.mediawiki.org/wiki/Help:Export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Port Vilaのページと版を対応づける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ページと版をXMLで表す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438400"/>
        </p:xfrm>
        <a:graphic>
          <a:graphicData uri="http://schemas.openxmlformats.org/drawingml/2006/table">
            <a:tbl>
              <a:tblPr firstRow="0" bandRow="0"/>
              <a:tblGrid>
                <a:gridCol w="3108960"/>
                <a:gridCol w="4937760"/>
              </a:tblGrid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項目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実データの値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title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Port Vila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page / id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842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revision / id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41596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revision / timestamp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2022-06-10T07:00:07Z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model / format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wikitext / text/x-wiki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75175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版の日時は2022年。2026年10月のダンプだからといって、全記事がその月に更新されたわけではない。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Wikipedia contributors. biwiki current, 2026-10-01. 本資料で集計.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https://dumps.wikimedia.org/other/mediawiki_content_current/biwiki/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最新の本文か、過去の本文も含めるか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ページと版をXMLで表す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219200"/>
        </p:xfrm>
        <a:graphic>
          <a:graphicData uri="http://schemas.openxmlformats.org/drawingml/2006/table">
            <a:tbl>
              <a:tblPr firstRow="0" bandRow="0"/>
              <a:tblGrid>
                <a:gridCol w="2651760"/>
                <a:gridCol w="2834640"/>
                <a:gridCol w="2560320"/>
              </a:tblGrid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配布データ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収録する版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主な用途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content_current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各ページの最新の版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本文検索・語彙調査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content_history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過去・現在の版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文章変化の分析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285597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正式名はmediawiki_content_current / mediawiki_content_history。非公開の版の本文は含まない。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Wikimedia. MediaWiki Content File Exports.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https://wikitech.wikimedia.org/wiki/MediaWiki_Content_File_Exports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名前空間で、ページの役割を区別する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記事、会話ページ、利用者ページ、テンプレートなどは、名前空間という区分を持つ。XMLではnsの数値で分かる。</a:t>
            </a:r>
          </a:p>
          <a:p>
            <a:pPr marL="457200" indent="-355600" algn="l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記事本文のコーパスを作るなら、まず標準名前空間のns=0を対象にする。全ページをそのまま記事として数えない。</a:t>
            </a:r>
          </a:p>
          <a:p>
            <a:pPr marL="457200" indent="-355600" algn="l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転送ページは、別の記事へ案内するページ。本文の分析では除き、見出しの別名が必要なら対応関係を残す。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ページと版をXMLで表す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MediaWiki. Help:Export.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https://www.mediawiki.org/wiki/Help:Export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Wikipedia contributors. biwiki current, 2026-10-01. 本資料で集計.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https://dumps.wikimedia.org/other/mediawiki_content_current/biwiki/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別名から、転送先の記事へつながる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ページと版をXMLで表す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251075"/>
        </p:xfrm>
        <a:graphic>
          <a:graphicData uri="http://schemas.openxmlformats.org/drawingml/2006/table">
            <a:tbl>
              <a:tblPr firstRow="0" bandRow="0"/>
              <a:tblGrid>
                <a:gridCol w="4023360"/>
                <a:gridCol w="4023360"/>
              </a:tblGrid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転送ページ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転送先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Australia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Ostrelia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Canada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Kanada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New Zealand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Niusilan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Kapital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Kaptel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887851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いずれも取得したXML内の実例。転送先はpage内のredirect要素にも記録される。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Wikipedia contributors. biwiki current, 2026-10-01. 本資料で集計.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https://dumps.wikimedia.org/other/mediawiki_content_current/biwiki/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506875"/>
            <a:ext cx="8412480" cy="621792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コーパスを作るときの選択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コーパスを作るときの選択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配布データから、目的に合う本文へ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言語版と月を選び、必要なページと版を取り出す。次に、転送ページやテンプレートなどを、目的に応じて扱う。</a:t>
            </a:r>
          </a:p>
          <a:p>
            <a:pPr marL="457200" indent="-355600" algn="l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wikitextから文章を取り出す場合は、リンクの表示文字列、節、表、注釈などをどう残すか決める。</a:t>
            </a:r>
          </a:p>
          <a:p>
            <a:pPr marL="457200" indent="-355600" algn="l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最後に、記事と段落の単位を保って検索や集計へ渡す。どの処理をしたかを残すと、結果の解釈もしやすい。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コーパスを作るときの選択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Wikimedia. MediaWiki Content File Exports.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https://wikitech.wikimedia.org/wiki/MediaWiki_Content_File_Exports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記法を消すだけでは、意味が変わる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コーパスを作るときの選択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178050"/>
        </p:xfrm>
        <a:graphic>
          <a:graphicData uri="http://schemas.openxmlformats.org/drawingml/2006/table">
            <a:tbl>
              <a:tblPr firstRow="0" bandRow="0"/>
              <a:tblGrid>
                <a:gridCol w="2468880"/>
                <a:gridCol w="5577840"/>
              </a:tblGrid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処理するもの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考えるべきこと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内部リンク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表示文字列を文章に残す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テンプレート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展開するか、用途を決めて除く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表・箇条書き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項目の対応や順番を保つ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注釈・出典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本文と区別し、対応を残す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814825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テンプレートは別ページの内容を参照する。参照先をそろえずに描画すると、元の表示を再現できないことがある。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MediaWiki. Help:Export.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https://www.mediawiki.org/wiki/Help:Export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HTMLとwikitextでは、使いやすい場面が違う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wikitextは、編集用の記法やテンプレートの呼び出しを持つ。編集内容や記事の作り方を調べるときに役立つ。</a:t>
            </a:r>
          </a:p>
          <a:p>
            <a:pPr marL="457200" indent="-355600" algn="l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HTMLは、テンプレートなどを展開して表示するための形式。節や表の構造を利用して、読者が見る文章を取り出す入口になる。</a:t>
            </a:r>
          </a:p>
          <a:p>
            <a:pPr marL="457200" indent="-355600" algn="l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Wikimedia EnterpriseはHTMLを含むデータの取得手段を提供する。現在の取得条件は、旧HTMLダンプのアーカイブとは異なる。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コーパスを作るときの選択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MediaWiki. Help:Export.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https://www.mediawiki.org/wiki/Help:Export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Wikimedia Enterprise. API Products.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https://enterprise.wikimedia.com/api/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同じ記事の中に、異なる首相名が残る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コーパスを作るときの選択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511300"/>
        </p:xfrm>
        <a:graphic>
          <a:graphicData uri="http://schemas.openxmlformats.org/drawingml/2006/table">
            <a:tbl>
              <a:tblPr firstRow="0" bandRow="0"/>
              <a:tblGrid>
                <a:gridCol w="2651760"/>
                <a:gridCol w="5394960"/>
              </a:tblGrid>
              <a:tr h="6985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Japanの記事内の位置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原文の抜粋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冒頭テンプレート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praem minista = [[Sanae Takaichi]]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本文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Praem Minista: [[Fumio Kishida]]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14807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同じ版に高市早苗と岸田文雄の名前がある実例。ダンプの本文を、整合性の確認済みの事実一覧として扱わない。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Wikipedia contributors. Japan, rev.44104. 抜粋：本資料. CC BY-SA 4.0.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https://bi.wikipedia.org/w/index.php?title=Japan&amp;oldid=44104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公式の配布と、加工されたコーパスを分ける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公式のXMLは、サイトの内容と版の情報を書き出したデータ。平文の選別や重複除去が済んだ学習用コーパスではない。</a:t>
            </a:r>
          </a:p>
          <a:p>
            <a:pPr marL="457200" indent="-355600" algn="l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第三者が配布するWikipedia由来のコーパスには、文章抽出、言語判定、品質選別など独自の処理が入る。</a:t>
            </a:r>
          </a:p>
          <a:p>
            <a:pPr marL="457200" indent="-355600" algn="l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言語版・取得月・加工方法が違えば、収録内容も変わる。目的に合う配布物を選ぶ。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コーパスを作るときの選択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Wikimedia. MediaWiki Content File Exports.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https://wikitech.wikimedia.org/wiki/MediaWiki_Content_File_Exports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506875"/>
            <a:ext cx="8412480" cy="621792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4. 取得先と更新・利用条件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取得先と更新・利用条件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言語版と月を選び、圧縮XMLを取得する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公式の配布案内から、currentかhistoryを選ぶ。次に、jawikiなどの言語版IDと、対象の月を指定する。</a:t>
            </a:r>
          </a:p>
          <a:p>
            <a:pPr marL="457200" indent="-355600" algn="l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一つの言語版が複数ファイルに分かれることもある。ファイル一覧が公開されてから、その月に必要な分割ファイルを取得する。</a:t>
            </a:r>
          </a:p>
          <a:p>
            <a:pPr marL="457200" indent="-355600" algn="l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大きなXMLは、ページ単位で順に読む。全体を一度にメモリへ載せる方法は、大きな言語版には向かない。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取得先と更新・利用条件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Wikimedia. MediaWiki Content File Exports.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https://wikitech.wikimedia.org/wiki/MediaWiki_Content_File_Exports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MediaWiki. Help:Export.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https://www.mediawiki.org/wiki/Help:Export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配布日は、収録した時点と区別する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取得先と更新・利用条件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105025"/>
        </p:xfrm>
        <a:graphic>
          <a:graphicData uri="http://schemas.openxmlformats.org/drawingml/2006/table">
            <a:tbl>
              <a:tblPr firstRow="0" bandRow="0"/>
              <a:tblGrid>
                <a:gridCol w="2560320"/>
                <a:gridCol w="5486400"/>
              </a:tblGrid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項目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MediaWiki Content File Exports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基準となる時点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月初1日 00:00 UTC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公開までの待機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2026年11月分から7〜10日程度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待機中の反映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削除・秘匿された版を除く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通常の編集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基準時点より後の編集は翌月分へ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741800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公開時点の最新状態ではなく、月初時点を基準にしたデータ。内部データとの照合により、公開が遅れることもある。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Wikimedia. Legacy content dumps sunset.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https://wikitech.wikimedia.org/wiki/Legacy_content_dumps_sunset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旧方式から、新しい配布への移行が進む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2026年1月に新しい配布方式が始まった。最新の本文や全版の本文など、旧XMLの一部の出力から移行するための方式である。</a:t>
            </a:r>
          </a:p>
          <a:p>
            <a:pPr marL="457200" indent="-355600" algn="l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移行対象の六つの旧出力は、2027年1月に公開を終了する予定。本文や履歴の収録範囲を確認して、新しい取得先へ切り替える。</a:t>
            </a:r>
          </a:p>
          <a:p>
            <a:pPr marL="457200" indent="-355600" algn="l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pages-articlesなど他のXMLや、SQL・JSON・RDFまで、すべて廃止されるという告知ではない。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取得先と更新・利用条件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Wikimedia. Legacy content dumps sunset.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https://wikitech.wikimedia.org/wiki/Legacy_content_dumps_sunset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現行HTMLと、過去のアーカイブを区別する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dumpsサイトのHTML Dumps Archiveは、過去のHTML配布の保存先。Enterpriseデータの同サイトへの複製は、2025年3月24日に終了している。</a:t>
            </a:r>
          </a:p>
          <a:p>
            <a:pPr marL="457200" indent="-355600" algn="l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現行の一括HTMLは、Wikimedia EnterpriseのSnapshot APIなどで取得する。無料アカウントで利用できる月次の配布がある。</a:t>
            </a:r>
          </a:p>
          <a:p>
            <a:pPr marL="457200" indent="-355600" algn="l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古いアーカイブを現在の月次データだと思って使わず、配布日・対象プロジェクト・利用条件を確認する。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取得先と更新・利用条件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 Downloads. HTML Dumps Archive.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https://dumps.wikimedia.org/other/enterprise_html/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Wikimedia Enterprise. API Products.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https://enterprise.wikimedia.com/api/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本文の再利用には、出典とライセンスを添える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Wikipediaの本文は、一般にCC BY-SA 4.0などの条件で再利用できる。転載部分などには、別の条件が付く場合もある。</a:t>
            </a:r>
          </a:p>
          <a:p>
            <a:pPr marL="457200" indent="-355600" algn="l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記事へのリンクなどで著者を表示し、ライセンスを示す。加工・翻訳にも同じ条件が適用され、変更したことを明記する。</a:t>
            </a:r>
          </a:p>
          <a:p>
            <a:pPr marL="457200" indent="-355600" algn="l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画像などは、ファイルごとに条件が異なる。本文XMLの画像名から画像ファイルも利用する場合は、その配布先と利用条件を別に確認する。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取得先と更新・利用条件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 Foundation. Terms of Use, §7 Licensing of Content.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https://foundation.wikimedia.org/wiki/Policy:Terms_of_Use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Wikipedia本文データの要点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記事の文章に加え、ページ・版・リンク・節などの構造を持つ、百科事典由来の言語資源。</a:t>
            </a:r>
          </a:p>
          <a:p>
            <a:pPr marL="457200" indent="-355600" algn="l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最新の本文を使うか、文章の変化を追うかで、currentとhistoryを選ぶ。名前空間や転送を見て、収録対象を整える。</a:t>
            </a:r>
          </a:p>
          <a:p>
            <a:pPr marL="457200" indent="-355600" algn="l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言語版・取得月・抽出方法・利用条件を確認し、目的に合う本文データとして使う。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取得先と更新・利用条件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Wikimedia. MediaWiki Content File Exports.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https://wikitech.wikimedia.org/wiki/MediaWiki_Content_File_Exports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454355"/>
            <a:ext cx="8412480" cy="784351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4000" b="0">
                <a:solidFill>
                  <a:srgbClr val="303437"/>
                </a:solidFill>
                <a:latin typeface="Noto Sans"/>
              </a:defRPr>
            </a:pPr>
            <a:r>
              <a:rPr sz="4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2281121"/>
            <a:ext cx="7863840" cy="1127760"/>
          </a:xfrm>
        </p:spPr>
        <p:txBody>
          <a:bodyPr lIns="0" rIns="0" tIns="0" bIns="0">
            <a:noAutofit/>
          </a:bodyPr>
          <a:lstStyle/>
          <a:p>
            <a:pPr marL="457200" indent="-457200" algn="l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実データの追加例</a:t>
            </a:r>
          </a:p>
          <a:p>
            <a:pPr marL="457200" indent="-457200" algn="l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形式と参考資料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追加例1：Bislamaの言語情報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実データの追加例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613660"/>
        </p:xfrm>
        <a:graphic>
          <a:graphicData uri="http://schemas.openxmlformats.org/drawingml/2006/table">
            <a:tbl>
              <a:tblPr firstRow="0" bandRow="0"/>
              <a:tblGrid>
                <a:gridCol w="3657600"/>
                <a:gridCol w="4389120"/>
              </a:tblGrid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実データの項目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title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Bislama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speakers（話者数）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200,000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iso1（2字の言語コード）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bi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iso3（3字の言語コード）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bis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glotto（言語の識別子）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bisl1239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250435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Toktokテンプレートの値を抜粋。話者数はこの記事の記載値。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Wikipedia contributors. Bislama, rev.44441. 抜粋：本資料. CC BY-SA 4.0.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https://bi.wikipedia.org/w/index.php?title=Bislama&amp;oldid=44441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追加例2：Ostreliaの国情報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実データの追加例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178050"/>
        </p:xfrm>
        <a:graphic>
          <a:graphicData uri="http://schemas.openxmlformats.org/drawingml/2006/table">
            <a:tbl>
              <a:tblPr firstRow="0" bandRow="0"/>
              <a:tblGrid>
                <a:gridCol w="2834640"/>
                <a:gridCol w="5212080"/>
              </a:tblGrid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テンプレートの項目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実際の値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nem ofisial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Komenwelth blong Ostrelia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kaptel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[[Canberra]]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lanwis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[[Inglis]]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eria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7 692 024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814825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Ostreliaはオーストラリア。国名・首都・言語・面積の欄を抜粋。リンクの値も、ただの数値も同じテンプレート内に入る。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Wikipedia contributors. Ostrelia, rev.43876. 抜粋・説明：本資料. CC BY-SA 4.0.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https://bi.wikipedia.org/w/index.php?title=Ostrelia&amp;oldid=43876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追加例3：Vanuatuの表には列の対応がある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実データの追加例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567180"/>
        </p:xfrm>
        <a:graphic>
          <a:graphicData uri="http://schemas.openxmlformats.org/drawingml/2006/table">
            <a:tbl>
              <a:tblPr firstRow="0" bandRow="0"/>
              <a:tblGrid>
                <a:gridCol w="1828800"/>
                <a:gridCol w="1554480"/>
                <a:gridCol w="2560320"/>
                <a:gridCol w="2103120"/>
              </a:tblGrid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面積 (km²)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人口（2000年）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州都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Malampa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2 779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36 100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Lakatoro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Penama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1 198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28 960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Saratamata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Sanma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4 248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32 340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Luganville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20395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Vanuatuの州別表から3行を抜粋し、見出しを日本語化。人口は2000年の列。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Wikipedia contributors. Vanuatu, rev.44216. 抜粋・見出し訳：本資料. CC BY-SA 4.0.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https://bi.wikipedia.org/w/index.php?title=Vanuatu&amp;oldid=44216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追加例4：Efateの記事内リンク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実データの追加例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105025"/>
        </p:xfrm>
        <a:graphic>
          <a:graphicData uri="http://schemas.openxmlformats.org/drawingml/2006/table">
            <a:tbl>
              <a:tblPr firstRow="0" bandRow="0"/>
              <a:tblGrid>
                <a:gridCol w="3657600"/>
                <a:gridCol w="4389120"/>
              </a:tblGrid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原文内の記法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リンク先・役割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[[Vanuatu]]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バヌアツの記事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[[Shefa]]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シェファ州の記事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[[Port Vila]]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首都ポートビラの記事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{{Ol aelan blong Vanuatu}}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関連する島のテンプレート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741800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リンクとテンプレートは異なる構造。末尾にはShefaとVanuatuのカテゴリも記録されている。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Wikipedia contributors. Efate, rev.41761. 抜粋・説明：本資料. CC BY-SA 4.0.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https://bi.wikipedia.org/w/index.php?title=Efate&amp;oldid=41761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追加例5：テンプレートも独立したページ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実データの追加例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105025"/>
        </p:xfrm>
        <a:graphic>
          <a:graphicData uri="http://schemas.openxmlformats.org/drawingml/2006/table">
            <a:tbl>
              <a:tblPr firstRow="0" bandRow="0"/>
              <a:tblGrid>
                <a:gridCol w="2743200"/>
                <a:gridCol w="5303520"/>
              </a:tblGrid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XMLの項目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実データの値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title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Template:Delete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model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wikitext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本文の一部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Samwan wantem rabemaot pej ia!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741800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Template:Deleteは、削除を求める案内を表示する。抜粋は「このページの削除を求める人がいる」の意。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Wikipedia contributors. Template:Delete, rev.41593. 抜粋・訳：本資料. CC BY-SA 4.0.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https://bi.wikipedia.org/w/index.php?title=Template:Delete&amp;oldid=41593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圧縮XMLから、ページ名を順に読む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形式と参考資料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08760"/>
            <a:ext cx="8046720" cy="22860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bz2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xml.etree.ElementTree as ET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ns = "{http://www.mediawiki.org/xml/export-0.11/}"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with bz2.open("biwiki.xml.bz2", "rb") as f: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for _, page in ET.iterparse(f, events=("end",)):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    if page.tag == ns + "page":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        print(page.findtext(ns + "title"))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        page.clear()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995928"/>
            <a:ext cx="7955279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取得したファイルをbiwiki.xml.bz2として置く例。本資料の集計では、ページ名・名前空間・版・本文も取り出した。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MediaWiki. Help:Export.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https://www.mediawiki.org/wiki/Help:Export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今回取得したビスラマ語版の容量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形式と参考資料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54480" y="1508760"/>
          <a:ext cx="6035040" cy="1394460"/>
        </p:xfrm>
        <a:graphic>
          <a:graphicData uri="http://schemas.openxmlformats.org/drawingml/2006/table">
            <a:tbl>
              <a:tblPr firstRow="0" bandRow="0"/>
              <a:tblGrid>
                <a:gridCol w="4114800"/>
                <a:gridCol w="1920240"/>
              </a:tblGrid>
              <a:tr h="4648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対象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容量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648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bzip2圧縮ファイル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1.05 MB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648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展開したXML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6.40 MB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03123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MBは10⁶ bytes。2026年10月1日分のcurrentを一式取得して実測。他の言語版の容量を表す値ではない。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Wikipedia contributors. biwiki current, 2026-10-01. 本資料で集計.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https://dumps.wikimedia.org/other/mediawiki_content_current/biwiki/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形式と参考資料</a:t>
            </a:r>
          </a:p>
        </p:txBody>
      </p:sp>
      <p:sp>
        <p:nvSpPr>
          <p:cNvPr id="4" name="文献 1: MediaWiki Content File Exports"/>
          <p:cNvSpPr txBox="1"/>
          <p:nvPr/>
        </p:nvSpPr>
        <p:spPr>
          <a:xfrm>
            <a:off x="548640" y="1463040"/>
            <a:ext cx="8046720" cy="13458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MediaWiki Content File Exports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Wikimedia. n.d.（参照：2026-10-28）.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月次本文データの収録範囲、取得方法、従来形式との違いを説明する。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https://wikitech.wikimedia.org/wiki/MediaWiki_Content_File_Exports</a:t>
            </a:r>
          </a:p>
        </p:txBody>
      </p:sp>
      <p:sp>
        <p:nvSpPr>
          <p:cNvPr id="5" name="文献 2: Legacy content dumps sunset"/>
          <p:cNvSpPr txBox="1"/>
          <p:nvPr/>
        </p:nvSpPr>
        <p:spPr>
          <a:xfrm>
            <a:off x="548640" y="2999359"/>
            <a:ext cx="8046720" cy="13458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Legacy content dumps sunset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Wikimedia. n.d.（参照：2026-10-28）.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旧出力の移行対象、終了時期、公開待機期間を案内する。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https://wikitech.wikimedia.org/wiki/Legacy_content_dumps_sunset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形式と参考資料</a:t>
            </a:r>
          </a:p>
        </p:txBody>
      </p:sp>
      <p:sp>
        <p:nvSpPr>
          <p:cNvPr id="4" name="文献 1: Data dumps"/>
          <p:cNvSpPr txBox="1"/>
          <p:nvPr/>
        </p:nvSpPr>
        <p:spPr>
          <a:xfrm>
            <a:off x="548640" y="1463040"/>
            <a:ext cx="8046720" cy="13458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Data dumps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Wikimedia. n.d.（参照：2026-10-28）.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公式ダンプの全体像と、利用目的・形式の入口をまとめる。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https://meta.wikimedia.org/wiki/Data_dumps</a:t>
            </a:r>
          </a:p>
        </p:txBody>
      </p:sp>
      <p:sp>
        <p:nvSpPr>
          <p:cNvPr id="5" name="文献 2: Help:Export"/>
          <p:cNvSpPr txBox="1"/>
          <p:nvPr/>
        </p:nvSpPr>
        <p:spPr>
          <a:xfrm>
            <a:off x="548640" y="2999359"/>
            <a:ext cx="8046720" cy="13458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Help:Export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MediaWiki. n.d.（参照：2026-10-28）.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ページ・版をXMLで出力する形式と処理方法を解説する。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https://www.mediawiki.org/wiki/Help:Export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形式と参考資料</a:t>
            </a:r>
          </a:p>
        </p:txBody>
      </p:sp>
      <p:sp>
        <p:nvSpPr>
          <p:cNvPr id="4" name="文献 1: HTML Dumps Archive"/>
          <p:cNvSpPr txBox="1"/>
          <p:nvPr/>
        </p:nvSpPr>
        <p:spPr>
          <a:xfrm>
            <a:off x="548640" y="1463040"/>
            <a:ext cx="8046720" cy="13458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HTML Dumps Archive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Wikimedia Downloads. n.d.（参照：2026-10-28）.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過去のHTML配布を保存し、現行Enterprise APIへの導線を示す。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https://dumps.wikimedia.org/other/enterprise_html/</a:t>
            </a:r>
          </a:p>
        </p:txBody>
      </p:sp>
      <p:sp>
        <p:nvSpPr>
          <p:cNvPr id="5" name="文献 2: Wikipedia &amp; Wikimedia APIs"/>
          <p:cNvSpPr txBox="1"/>
          <p:nvPr/>
        </p:nvSpPr>
        <p:spPr>
          <a:xfrm>
            <a:off x="548640" y="2999359"/>
            <a:ext cx="8046720" cy="13458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Wikipedia &amp; Wikimedia APIs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Wikimedia Enterprise. n.d.（参照：2026-10-28）.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Snapshotなど、現行のコンテンツ取得サービスを案内する。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https://enterprise.wikimedia.com/api/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形式と参考資料</a:t>
            </a:r>
          </a:p>
        </p:txBody>
      </p:sp>
      <p:sp>
        <p:nvSpPr>
          <p:cNvPr id="4" name="文献 1: Terms of Use — Licensing of Content"/>
          <p:cNvSpPr txBox="1"/>
          <p:nvPr/>
        </p:nvSpPr>
        <p:spPr>
          <a:xfrm>
            <a:off x="548640" y="1463040"/>
            <a:ext cx="8046720" cy="13458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Terms of Use — Licensing of Content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Wikimedia Foundation. n.d.（参照：2026-10-28）.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本文・媒体のライセンス、著者表示、加工時の条件を定める。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https://foundation.wikimedia.org/wiki/Policy:Terms_of_Use</a:t>
            </a:r>
          </a:p>
        </p:txBody>
      </p:sp>
      <p:sp>
        <p:nvSpPr>
          <p:cNvPr id="5" name="文献 2: Attribution-ShareAlike 4.0 International"/>
          <p:cNvSpPr txBox="1"/>
          <p:nvPr/>
        </p:nvSpPr>
        <p:spPr>
          <a:xfrm>
            <a:off x="548640" y="2999359"/>
            <a:ext cx="8046720" cy="159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Attribution-ShareAlike 4.0 International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Creative Commons. n.d.（参照：2026-10-28）.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本文抜粋・本資料の日本語訳に適用するライセンス。記事へのリンクで著者を表示。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https://creativecommons.org/licenses/by-sa/4.0/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sasakiy84</cp:lastModifiedBy>
  <cp:revision>500</cp:revision>
  <dcterms:modified xsi:type="dcterms:W3CDTF">2026-10-27T19:33:57Z</dcterms:modified>
  <dc:title>wikimedia-content-dumps</dc:title>
  <dc:creator>sasakiy84</dc:creator>
  <dcterms:created xsi:type="dcterms:W3CDTF">2026-10-27T19:33:57Z</dcterms:created>
  <dc:language>ja-JP</dc:language>
</cp:coreProperties>
</file>