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livecodebench.github.io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3.0797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livecodebench/code_generation_lit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3.07974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3.07974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3.07974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LiveCodeBench/LiveCodeBench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3.07974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3.07974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livecodebench.github.io/leaderboard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moonshotai/Kimi-K2.6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3.07974" TargetMode="External"/><Relationship Id="rId3" Type="http://schemas.openxmlformats.org/officeDocument/2006/relationships/hyperlink" Target="https://livecodebench.github.io/leaderboard.htm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LiveCodeBench/LiveCodeBench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livecodebench/code_generation_lite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3.07974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3.07974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LiveCodeBench/LiveCodeBench/blob/main/ERRATA.md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livecodebench/code_generation_lite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livecodebench.github.io/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3.07974" TargetMode="External"/><Relationship Id="rId3" Type="http://schemas.openxmlformats.org/officeDocument/2006/relationships/hyperlink" Target="https://github.com/LiveCodeBench/LiveCodeBench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livecodebench.github.io/leaderboard.html" TargetMode="External"/><Relationship Id="rId3" Type="http://schemas.openxmlformats.org/officeDocument/2006/relationships/hyperlink" Target="https://huggingface.co/moonshotai/Kimi-K2.6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livecodebench/code_generation_lite" TargetMode="External"/><Relationship Id="rId3" Type="http://schemas.openxmlformats.org/officeDocument/2006/relationships/hyperlink" Target="https://github.com/LiveCodeBench/LiveCodeBench/blob/main/ERRATA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888452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LiveCodeBench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898102"/>
            <a:ext cx="8046720" cy="4883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競技問題を更新し、コードの生成と理解を評価する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LiveCodeBenchの公式サイト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55" y="1481328"/>
            <a:ext cx="5189488" cy="3063240"/>
          </a:xfrm>
          <a:prstGeom prst="rect">
            <a:avLst/>
          </a:prstGeom>
        </p:spPr>
      </p:pic>
      <p:sp>
        <p:nvSpPr>
          <p:cNvPr id="5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Jain et al. (n.d.; 2026-10-25参照), LiveCodeBench.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https://livecodebench.github.io/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課題と三つの実例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収集方法とデータの広がり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利用の変遷と入手方法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79443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日付付きの競技問題で、コードの能力を測る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LiveCodeBenchは、プログラミングコンテストの問題を公開日付きで集めるベンチマークである。モデルの学習時期に合わせて問題の期間を選び、新しい問題への対応を調べる。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コード生成に加え、誤ったコードの修正、コードの実行結果の予測、問題文からのテスト出力の予測を扱う。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754880"/>
            <a:ext cx="8183879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Jain et al. (2024), LiveCodeBench.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https://arxiv.org/abs/2403.07974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問題を読み、テストを通るプログラムを書く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コード生成では、問題文、制約、公開された入出力例を与える。LeetCodeの問題には実装するメソッドの書き出しも含み、AtCoderなどの問題では標準入力から値を読む。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ここでは、2025年1〜4月の追加分175問から、入力形式と難しさが異なる13問を選んだ。本編では和の計算、区間への加算、桁の性質による数え上げを見る。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 和を二乗する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問題文の原文（全文）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19984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453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are given two positive integers A and B. Output the square of A + B.</a:t>
            </a:r>
          </a:p>
        </p:txBody>
      </p:sp>
      <p:sp>
        <p:nvSpPr>
          <p:cNvPr id="7" name="original-part"/>
          <p:cNvSpPr txBox="1"/>
          <p:nvPr/>
        </p:nvSpPr>
        <p:spPr>
          <a:xfrm>
            <a:off x="594360" y="17802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  The input is given from Standard Input in the following format: A B</a:t>
            </a:r>
          </a:p>
        </p:txBody>
      </p:sp>
      <p:sp>
        <p:nvSpPr>
          <p:cNvPr id="8" name="original-part"/>
          <p:cNvSpPr txBox="1"/>
          <p:nvPr/>
        </p:nvSpPr>
        <p:spPr>
          <a:xfrm>
            <a:off x="594360" y="20152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  Print the answer.</a:t>
            </a:r>
          </a:p>
        </p:txBody>
      </p:sp>
      <p:sp>
        <p:nvSpPr>
          <p:cNvPr id="9" name="original-part"/>
          <p:cNvSpPr txBox="1"/>
          <p:nvPr/>
        </p:nvSpPr>
        <p:spPr>
          <a:xfrm>
            <a:off x="594360" y="22501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Constraints   - 1 ≤ A,B ≤ 2025 - All input values are integers.</a:t>
            </a:r>
          </a:p>
        </p:txBody>
      </p:sp>
      <p:sp>
        <p:nvSpPr>
          <p:cNvPr id="10" name="original-part"/>
          <p:cNvSpPr txBox="1"/>
          <p:nvPr/>
        </p:nvSpPr>
        <p:spPr>
          <a:xfrm>
            <a:off x="594360" y="2464745"/>
            <a:ext cx="7955279" cy="310205"/>
          </a:xfrm>
          <a:prstGeom prst="rect">
            <a:avLst/>
          </a:prstGeom>
          <a:noFill/>
        </p:spPr>
        <p:txBody>
          <a:bodyPr wrap="square" lIns="0" rIns="0" tIns="20391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1  20 25  Sample Output 1  2025 (20+25)²=2025.</a:t>
            </a:r>
          </a:p>
        </p:txBody>
      </p:sp>
      <p:sp>
        <p:nvSpPr>
          <p:cNvPr id="11" name="original-part"/>
          <p:cNvSpPr txBox="1"/>
          <p:nvPr/>
        </p:nvSpPr>
        <p:spPr>
          <a:xfrm>
            <a:off x="594360" y="27200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2  30 25  Sample Output 2  3025</a:t>
            </a:r>
          </a:p>
        </p:txBody>
      </p:sp>
      <p:sp>
        <p:nvSpPr>
          <p:cNvPr id="12" name="original-part"/>
          <p:cNvSpPr txBox="1"/>
          <p:nvPr/>
        </p:nvSpPr>
        <p:spPr>
          <a:xfrm>
            <a:off x="594360" y="29550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3  45 11  Sample Output 3  3136</a:t>
            </a:r>
          </a:p>
        </p:txBody>
      </p:sp>
      <p:sp>
        <p:nvSpPr>
          <p:cNvPr id="13" name="original-part"/>
          <p:cNvSpPr txBox="1"/>
          <p:nvPr/>
        </p:nvSpPr>
        <p:spPr>
          <a:xfrm>
            <a:off x="594360" y="31899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4  2025 1111  Sample Output 4  9834496</a:t>
            </a:r>
          </a:p>
        </p:txBody>
      </p:sp>
      <p:sp>
        <p:nvSpPr>
          <p:cNvPr id="14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abc387_a</a:t>
            </a:r>
          </a:p>
        </p:txBody>
      </p:sp>
      <p:sp>
        <p:nvSpPr>
          <p:cNvPr id="15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 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日本語訳（公開例は入力 → 期待出力）</a:t>
            </a:r>
          </a:p>
        </p:txBody>
      </p:sp>
      <p:sp>
        <p:nvSpPr>
          <p:cNvPr id="5" name="japanese-part"/>
          <p:cNvSpPr txBox="1"/>
          <p:nvPr/>
        </p:nvSpPr>
        <p:spPr>
          <a:xfrm>
            <a:off x="594360" y="1600200"/>
            <a:ext cx="7955279" cy="3340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二つの正整数A、Bが与えられる。A+Bの二乗を出力せよ。</a:t>
            </a:r>
          </a:p>
        </p:txBody>
      </p:sp>
      <p:sp>
        <p:nvSpPr>
          <p:cNvPr id="6" name="japanese-part"/>
          <p:cNvSpPr txBox="1"/>
          <p:nvPr/>
        </p:nvSpPr>
        <p:spPr>
          <a:xfrm>
            <a:off x="594360" y="1879345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入力は「A B」の形式で標準入力から与えられる。答えを出力する。</a:t>
            </a:r>
          </a:p>
        </p:txBody>
      </p:sp>
      <p:sp>
        <p:nvSpPr>
          <p:cNvPr id="7" name="japanese-part"/>
          <p:cNvSpPr txBox="1"/>
          <p:nvPr/>
        </p:nvSpPr>
        <p:spPr>
          <a:xfrm>
            <a:off x="594360" y="2144776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制約　1 ≤ A, B ≤ 2025。入力はすべて整数である。</a:t>
            </a:r>
          </a:p>
        </p:txBody>
      </p:sp>
      <p:sp>
        <p:nvSpPr>
          <p:cNvPr id="8" name="japanese-part"/>
          <p:cNvSpPr txBox="1"/>
          <p:nvPr/>
        </p:nvSpPr>
        <p:spPr>
          <a:xfrm>
            <a:off x="594360" y="2410206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　20 25 → 2025。(20+25)²=2025。</a:t>
            </a:r>
          </a:p>
        </p:txBody>
      </p:sp>
      <p:sp>
        <p:nvSpPr>
          <p:cNvPr id="9" name="japanese-part"/>
          <p:cNvSpPr txBox="1"/>
          <p:nvPr/>
        </p:nvSpPr>
        <p:spPr>
          <a:xfrm>
            <a:off x="594360" y="2675636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　30 25 → 3025</a:t>
            </a:r>
          </a:p>
        </p:txBody>
      </p:sp>
      <p:sp>
        <p:nvSpPr>
          <p:cNvPr id="10" name="japanese-part"/>
          <p:cNvSpPr txBox="1"/>
          <p:nvPr/>
        </p:nvSpPr>
        <p:spPr>
          <a:xfrm>
            <a:off x="594360" y="2941066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　45 11 → 3136</a:t>
            </a:r>
          </a:p>
        </p:txBody>
      </p:sp>
      <p:sp>
        <p:nvSpPr>
          <p:cNvPr id="11" name="japanese-part"/>
          <p:cNvSpPr txBox="1"/>
          <p:nvPr/>
        </p:nvSpPr>
        <p:spPr>
          <a:xfrm>
            <a:off x="594360" y="3206496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　2025 1111 → 9834496</a:t>
            </a:r>
          </a:p>
        </p:txBody>
      </p:sp>
      <p:sp>
        <p:nvSpPr>
          <p:cNvPr id="12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abc387_a</a:t>
            </a:r>
          </a:p>
        </p:txBody>
      </p:sp>
      <p:sp>
        <p:nvSpPr>
          <p:cNvPr id="13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  <p:sp>
        <p:nvSpPr>
          <p:cNvPr id="14" name="expected-answer"/>
          <p:cNvSpPr txBox="1"/>
          <p:nvPr/>
        </p:nvSpPr>
        <p:spPr>
          <a:xfrm>
            <a:off x="594360" y="3554466"/>
            <a:ext cx="7955279" cy="402092"/>
          </a:xfrm>
          <a:prstGeom prst="rect">
            <a:avLst/>
          </a:prstGeom>
          <a:noFill/>
        </p:spPr>
        <p:txBody>
          <a:bodyPr wrap="square" lIns="0" rIns="0" tIns="8900" bIns="0">
            <a:noAutofit/>
          </a:bodyPr>
          <a:lstStyle/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公開例1の期待出力：2025</a:t>
            </a:r>
          </a:p>
        </p:txBody>
      </p:sp>
      <p:sp>
        <p:nvSpPr>
          <p:cNvPr id="15" name="example-explanation"/>
          <p:cNvSpPr txBox="1"/>
          <p:nvPr/>
        </p:nvSpPr>
        <p:spPr>
          <a:xfrm>
            <a:off x="594360" y="4066285"/>
            <a:ext cx="7955279" cy="348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入力1行から、和の二乗を1個の整数として出力する。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区間への加算で出現回数を増やす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問題文の原文（全文）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300812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45336"/>
            <a:ext cx="7955279" cy="11534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are given an array nums of length n. You are also given an integer k. You perform the following operation on nums once:  Select a subarray nums[i..j] where 0 &lt;= i &lt;= j &lt;= n - 1. Select an integer x and add x to all the elements in nums[i..j].  Find the maximum frequency of the value k after the operation.</a:t>
            </a:r>
          </a:p>
        </p:txBody>
      </p:sp>
      <p:sp>
        <p:nvSpPr>
          <p:cNvPr id="7" name="original-part"/>
          <p:cNvSpPr txBox="1"/>
          <p:nvPr/>
        </p:nvSpPr>
        <p:spPr>
          <a:xfrm>
            <a:off x="594360" y="264388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1:  Input: nums = [1,2,3,4,5,6], k = 1 Output: 2 Explanation: After adding -5 to nums[2..5], 1 has a frequency of 2 in [1, 2, -2, -1, 0, 1].</a:t>
            </a:r>
          </a:p>
        </p:txBody>
      </p:sp>
      <p:sp>
        <p:nvSpPr>
          <p:cNvPr id="8" name="original-part"/>
          <p:cNvSpPr txBox="1"/>
          <p:nvPr/>
        </p:nvSpPr>
        <p:spPr>
          <a:xfrm>
            <a:off x="594360" y="3094735"/>
            <a:ext cx="7955279" cy="7216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2:  Input: nums = [10,2,3,4,5,5,4,3,2,2], k = 10 Output: 4 Explanation: After adding 8 to nums[1..9], 10 has a frequency of 4 in [10, 10, 11, 12, 13, 13, 12, 11, 10, 10].</a:t>
            </a:r>
          </a:p>
        </p:txBody>
      </p:sp>
      <p:sp>
        <p:nvSpPr>
          <p:cNvPr id="9" name="original-part"/>
          <p:cNvSpPr txBox="1"/>
          <p:nvPr/>
        </p:nvSpPr>
        <p:spPr>
          <a:xfrm>
            <a:off x="594360" y="3743242"/>
            <a:ext cx="7955279" cy="308058"/>
          </a:xfrm>
          <a:prstGeom prst="rect">
            <a:avLst/>
          </a:prstGeom>
          <a:noFill/>
        </p:spPr>
        <p:txBody>
          <a:bodyPr wrap="square" lIns="0" rIns="0" tIns="18244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Constraints:  1 &lt;= n == nums.length &lt;= 10⁵ 1 &lt;= nums[i] &lt;= 50 1 &lt;= k &lt;= 50</a:t>
            </a:r>
          </a:p>
        </p:txBody>
      </p:sp>
      <p:sp>
        <p:nvSpPr>
          <p:cNvPr id="10" name="original-part"/>
          <p:cNvSpPr txBox="1"/>
          <p:nvPr/>
        </p:nvSpPr>
        <p:spPr>
          <a:xfrm>
            <a:off x="594360" y="3996436"/>
            <a:ext cx="7955279" cy="4930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class Solution: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def maxFrequency(self, nums: List[int], k: int) -&gt; int:</a:t>
            </a:r>
          </a:p>
        </p:txBody>
      </p:sp>
      <p:sp>
        <p:nvSpPr>
          <p:cNvPr id="11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3751</a:t>
            </a:r>
          </a:p>
        </p:txBody>
      </p:sp>
      <p:sp>
        <p:nvSpPr>
          <p:cNvPr id="12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日本語訳（公開例は入力 → 期待出力）</a:t>
            </a:r>
          </a:p>
        </p:txBody>
      </p:sp>
      <p:sp>
        <p:nvSpPr>
          <p:cNvPr id="5" name="japanese-part"/>
          <p:cNvSpPr txBox="1"/>
          <p:nvPr/>
        </p:nvSpPr>
        <p:spPr>
          <a:xfrm>
            <a:off x="594360" y="1600200"/>
            <a:ext cx="7955279" cy="10952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長さnの配列numsと整数kが与えられる。操作をちょうど1回行う。0 ≤ i ≤ j ≤ n−1を満たす連続部分配列nums[i..j]を選び、整数xを選んでその区間の全要素にxを加える。操作後の値kの出現回数の最大値を求めよ。</a:t>
            </a:r>
          </a:p>
        </p:txBody>
      </p:sp>
      <p:sp>
        <p:nvSpPr>
          <p:cNvPr id="6" name="japanese-part"/>
          <p:cNvSpPr txBox="1"/>
          <p:nvPr/>
        </p:nvSpPr>
        <p:spPr>
          <a:xfrm>
            <a:off x="594360" y="2640584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制約　1 ≤ n = nums.length ≤ 10⁵、1 ≤ nums[i] ≤ 50、1 ≤ k ≤ 50。</a:t>
            </a:r>
          </a:p>
        </p:txBody>
      </p:sp>
      <p:sp>
        <p:nvSpPr>
          <p:cNvPr id="7" name="japanese-part"/>
          <p:cNvSpPr txBox="1"/>
          <p:nvPr/>
        </p:nvSpPr>
        <p:spPr>
          <a:xfrm>
            <a:off x="594360" y="2906014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　nums=[1, 2, 3, 4, 5, 6], k=1 → 2。nums[2..5]に−5を加えると、配列は[1, 2, −2, −1, 0, 1]となり、1の出現回数は2になる。</a:t>
            </a:r>
          </a:p>
        </p:txBody>
      </p:sp>
      <p:sp>
        <p:nvSpPr>
          <p:cNvPr id="8" name="japanese-part"/>
          <p:cNvSpPr txBox="1"/>
          <p:nvPr/>
        </p:nvSpPr>
        <p:spPr>
          <a:xfrm>
            <a:off x="594360" y="3411474"/>
            <a:ext cx="7955279" cy="8003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　nums=[10, 2, 3, 4, 5, 5, 4, 3, 2, 2], k=10 → 4。nums[1..9]に8を加えると、[10, 10, 11, 12, 13, 13, 12, 11, 10, 10]となり、10の出現回数は4になる。</a:t>
            </a:r>
          </a:p>
        </p:txBody>
      </p:sp>
      <p:sp>
        <p:nvSpPr>
          <p:cNvPr id="9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3751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公開例の答えと解説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公開された入出力例1を確認する</a:t>
            </a:r>
          </a:p>
        </p:txBody>
      </p:sp>
      <p:sp>
        <p:nvSpPr>
          <p:cNvPr id="5" name="code-frame"/>
          <p:cNvSpPr/>
          <p:nvPr/>
        </p:nvSpPr>
        <p:spPr>
          <a:xfrm>
            <a:off x="594360" y="1828800"/>
            <a:ext cx="7955279" cy="79806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nums=[1, 2, 3, 4, 5, 6]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k=1</a:t>
            </a:r>
          </a:p>
        </p:txBody>
      </p:sp>
      <p:sp>
        <p:nvSpPr>
          <p:cNvPr id="6" name="expected-answer"/>
          <p:cNvSpPr txBox="1"/>
          <p:nvPr/>
        </p:nvSpPr>
        <p:spPr>
          <a:xfrm>
            <a:off x="594360" y="2809748"/>
            <a:ext cx="7955279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6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公開例1の期待出力：2</a:t>
            </a:r>
          </a:p>
        </p:txBody>
      </p:sp>
      <p:sp>
        <p:nvSpPr>
          <p:cNvPr id="7" name="example-explanation"/>
          <p:cNvSpPr txBox="1"/>
          <p:nvPr/>
        </p:nvSpPr>
        <p:spPr>
          <a:xfrm>
            <a:off x="594360" y="3431540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区間内の別の値をkに変えると、もともとkだった要素も変わる。増える個数と失う個数の差を最大にする。x=0も許されるので、値を変えない操作も選べる。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3751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各桁の積と和で整数を数える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問題文の原文（全文）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236042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45336"/>
            <a:ext cx="7955279" cy="7216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are given two positive integers, l and r. A positive integer is called beautiful if the product of its digits is divisible by the sum of its digits. Return the count of beautiful numbers between l and r, inclusive.</a:t>
            </a:r>
          </a:p>
        </p:txBody>
      </p:sp>
      <p:sp>
        <p:nvSpPr>
          <p:cNvPr id="7" name="original-part"/>
          <p:cNvSpPr txBox="1"/>
          <p:nvPr/>
        </p:nvSpPr>
        <p:spPr>
          <a:xfrm>
            <a:off x="594360" y="221208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1:  Input: l = 10, r = 20 Output: 2 Explanation: The beautiful numbers in the range are 10 and 20.</a:t>
            </a:r>
          </a:p>
        </p:txBody>
      </p:sp>
      <p:sp>
        <p:nvSpPr>
          <p:cNvPr id="8" name="original-part"/>
          <p:cNvSpPr txBox="1"/>
          <p:nvPr/>
        </p:nvSpPr>
        <p:spPr>
          <a:xfrm>
            <a:off x="594360" y="2662935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2:  Input: l = 1, r = 15 Output: 10 Explanation: The beautiful numbers in the range are 1, 2, 3, 4, 5, 6, 7, 8, 9, and 10.</a:t>
            </a:r>
          </a:p>
        </p:txBody>
      </p:sp>
      <p:sp>
        <p:nvSpPr>
          <p:cNvPr id="9" name="original-part"/>
          <p:cNvSpPr txBox="1"/>
          <p:nvPr/>
        </p:nvSpPr>
        <p:spPr>
          <a:xfrm>
            <a:off x="594360" y="3093090"/>
            <a:ext cx="7955279" cy="310509"/>
          </a:xfrm>
          <a:prstGeom prst="rect">
            <a:avLst/>
          </a:prstGeom>
          <a:noFill/>
        </p:spPr>
        <p:txBody>
          <a:bodyPr wrap="square" lIns="0" rIns="0" tIns="20695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Constraints:  1 &lt;= l &lt;= r &lt; 10⁹</a:t>
            </a:r>
          </a:p>
        </p:txBody>
      </p:sp>
      <p:sp>
        <p:nvSpPr>
          <p:cNvPr id="10" name="original-part"/>
          <p:cNvSpPr txBox="1"/>
          <p:nvPr/>
        </p:nvSpPr>
        <p:spPr>
          <a:xfrm>
            <a:off x="594360" y="3348735"/>
            <a:ext cx="7955279" cy="4930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class Solution: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def beautifulNumbers(self, l: int, r: int) -&gt; int:</a:t>
            </a:r>
          </a:p>
        </p:txBody>
      </p:sp>
      <p:sp>
        <p:nvSpPr>
          <p:cNvPr id="11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3801</a:t>
            </a:r>
          </a:p>
        </p:txBody>
      </p:sp>
      <p:sp>
        <p:nvSpPr>
          <p:cNvPr id="12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日本語訳（公開例は入力 → 期待出力）</a:t>
            </a:r>
          </a:p>
        </p:txBody>
      </p:sp>
      <p:sp>
        <p:nvSpPr>
          <p:cNvPr id="5" name="japanese-part"/>
          <p:cNvSpPr txBox="1"/>
          <p:nvPr/>
        </p:nvSpPr>
        <p:spPr>
          <a:xfrm>
            <a:off x="594360" y="1600200"/>
            <a:ext cx="7955279" cy="8415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正整数l、rが与えられる。各桁の積が各桁の和で割り切れる正整数をbeautiful numberと呼ぶ。l以上r以下にあるbeautiful numberの個数を返せ。</a:t>
            </a:r>
          </a:p>
        </p:txBody>
      </p:sp>
      <p:sp>
        <p:nvSpPr>
          <p:cNvPr id="6" name="japanese-part"/>
          <p:cNvSpPr txBox="1"/>
          <p:nvPr/>
        </p:nvSpPr>
        <p:spPr>
          <a:xfrm>
            <a:off x="594360" y="238683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制約　1 ≤ l ≤ r &lt; 10⁹。</a:t>
            </a:r>
          </a:p>
        </p:txBody>
      </p:sp>
      <p:sp>
        <p:nvSpPr>
          <p:cNvPr id="7" name="japanese-part"/>
          <p:cNvSpPr txBox="1"/>
          <p:nvPr/>
        </p:nvSpPr>
        <p:spPr>
          <a:xfrm>
            <a:off x="594360" y="265226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　l=10, r=20 → 2。この範囲で条件を満たすのは10と20。</a:t>
            </a:r>
          </a:p>
        </p:txBody>
      </p:sp>
      <p:sp>
        <p:nvSpPr>
          <p:cNvPr id="8" name="japanese-part"/>
          <p:cNvSpPr txBox="1"/>
          <p:nvPr/>
        </p:nvSpPr>
        <p:spPr>
          <a:xfrm>
            <a:off x="594360" y="2917698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　l=1, r=15 → 10。条件を満たすのは1、2、3、4、5、6、7、8、9、10。</a:t>
            </a:r>
          </a:p>
        </p:txBody>
      </p:sp>
      <p:sp>
        <p:nvSpPr>
          <p:cNvPr id="9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3801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公開例の答えと解説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課題と三つの実例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公開された入出力例1を確認する</a:t>
            </a:r>
          </a:p>
        </p:txBody>
      </p:sp>
      <p:sp>
        <p:nvSpPr>
          <p:cNvPr id="5" name="code-frame"/>
          <p:cNvSpPr/>
          <p:nvPr/>
        </p:nvSpPr>
        <p:spPr>
          <a:xfrm>
            <a:off x="594360" y="1828800"/>
            <a:ext cx="7955279" cy="79806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l=10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r=20</a:t>
            </a:r>
          </a:p>
        </p:txBody>
      </p:sp>
      <p:sp>
        <p:nvSpPr>
          <p:cNvPr id="6" name="expected-answer"/>
          <p:cNvSpPr txBox="1"/>
          <p:nvPr/>
        </p:nvSpPr>
        <p:spPr>
          <a:xfrm>
            <a:off x="594360" y="2809748"/>
            <a:ext cx="7955279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6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公開例1の期待出力：2</a:t>
            </a:r>
          </a:p>
        </p:txBody>
      </p:sp>
      <p:sp>
        <p:nvSpPr>
          <p:cNvPr id="7" name="example-explanation"/>
          <p:cNvSpPr txBox="1"/>
          <p:nvPr/>
        </p:nvSpPr>
        <p:spPr>
          <a:xfrm>
            <a:off x="594360" y="3431540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0を含む数では各桁の積が0となり、正の桁和で割り切れる。上限が10⁹未満なので、大きな範囲でも個数を求める実装が必要になる。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3801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79443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収集方法とデータの広がり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収集方法とデータの広がり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公開コンテストの問題とテストを集める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LeetCode、AtCoder、Codeforcesの公開問題を取得し、問題文、解答、テスト、開催日を対応させた。問題を図なしで読めるように数式を整形し、画像を必要とする問題などを除いた。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構築時には、入出力で自動採点しにくい問題も除外した。難しさは競技サイトの表示や数値評価を使って整理し、易しい問題だけに偏らないようにした。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収集方法とデータの広がり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754880"/>
            <a:ext cx="8183879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Jain et al. (2024), LiveCodeBench.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https://arxiv.org/abs/2403.07974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不足するテストを、入力生成器から作る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取得できる公開・非公開テストを利用し、テストが不足する問題ではGPT-4-Turboで入力生成器を作った。通常の入力と、誤りが出やすい入力を生成し、収集した正しいプログラムで出力を確かめた。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2024年6月の報告では511問、1問あたり平均17テストを収録した。公開された入出力例に通るかだけでなく、追加テストでもプログラムの動作を評価する。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収集方法とデータの広がり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754880"/>
            <a:ext cx="8183879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Jain et al. (2024), LiveCodeBench.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https://arxiv.org/abs/2403.07974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初期報告では、三つのサイトから511問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収集方法とデータの広がり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9163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1828800"/>
                <a:gridCol w="2377440"/>
              </a:tblGrid>
              <a:tr h="42290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平均テスト数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290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AtCoder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290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LeetCode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290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Codeforces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2841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2024年6月の報告。対象は2023年5月〜2024年5月の問題。</a:t>
            </a:r>
          </a:p>
        </p:txBody>
      </p:sp>
      <p:sp>
        <p:nvSpPr>
          <p:cNvPr id="6" name="source-bib"/>
          <p:cNvSpPr txBox="1"/>
          <p:nvPr/>
        </p:nvSpPr>
        <p:spPr>
          <a:xfrm>
            <a:off x="502920" y="4754880"/>
            <a:ext cx="8183879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Jain et al. (2024), LiveCodeBench.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https://arxiv.org/abs/2403.07974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公開データは、バージョン6で累積1,055問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収集方法とデータの広がり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8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1828800"/>
                <a:gridCol w="393192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バージョン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収録期間の末尾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2024年3月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2024年5月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2024年9月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2025年1月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1,055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2025年4月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41063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各バージョンは2023年5月からの累積。2026年10月25日参照。</a:t>
            </a:r>
          </a:p>
        </p:txBody>
      </p:sp>
      <p:sp>
        <p:nvSpPr>
          <p:cNvPr id="6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official repository.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https://github.com/LiveCodeBench/LiveCodeBench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四つの課題では、渡すものと答えるものが違う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収集方法とデータの広がり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2024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3383280"/>
                <a:gridCol w="228600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モデルへの入力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求める出力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コード生成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問題文と公開例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プログラム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自己修正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問題文、失敗コードと結果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修正したコード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実行結果の予測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コードと入力値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コードの出力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テスト出力の予測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問題文と入力値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問題に対する出力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-bib"/>
          <p:cNvSpPr txBox="1"/>
          <p:nvPr/>
        </p:nvSpPr>
        <p:spPr>
          <a:xfrm>
            <a:off x="502920" y="4754880"/>
            <a:ext cx="8183879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Jain et al. (2024), LiveCodeBench.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https://arxiv.org/abs/2403.07974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79443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すべてのテストに通る候補を正解とする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コード生成では、生成したプログラムを公開例と追加テストで実行する。どれか一つでも答えが違う、例外が起きる、時間制限を超える場合は、その候補を不正解とする。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Pass@1は、1回の生成で正解する割合を表す。初期実験では各問題に10候補を生成し、候補ごとの合否から1回あたりの成功率を推定した。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754880"/>
            <a:ext cx="8183879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Jain et al. (2024), LiveCodeBench.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https://arxiv.org/abs/2403.07974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公開表ではo4-miniが80.2%を記録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31985"/>
        </p:xfrm>
        <a:graphic>
          <a:graphicData uri="http://schemas.openxmlformats.org/drawingml/2006/table">
            <a:tbl>
              <a:tblPr firstRow="0" bandRow="0"/>
              <a:tblGrid>
                <a:gridCol w="6126480"/>
                <a:gridCol w="1920240"/>
              </a:tblGrid>
              <a:tr h="3863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Pass@1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63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o4-mini High (2025)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80.2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63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o3 High (2025)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63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2.5 Pro 06-05 (2025)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73.6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63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 Thinking (2025)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56.6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68763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公式表の期間は2024年8月〜2025年4月、454問。2026年10月25日参照。</a:t>
            </a:r>
          </a:p>
        </p:txBody>
      </p:sp>
      <p:sp>
        <p:nvSpPr>
          <p:cNvPr id="6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Leaderboard.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https://livecodebench.github.io/leaderboard.html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2026年のモデル評価にもバージョン6を使う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31985"/>
        </p:xfrm>
        <a:graphic>
          <a:graphicData uri="http://schemas.openxmlformats.org/drawingml/2006/table">
            <a:tbl>
              <a:tblPr firstRow="0" bandRow="0"/>
              <a:tblGrid>
                <a:gridCol w="6126480"/>
                <a:gridCol w="1920240"/>
              </a:tblGrid>
              <a:tr h="3863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Pass@1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63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3.1 Pro Thinking 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63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Kimi K2.6 Thinking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63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4.6 Max Effort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88.8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63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Kimi K2.5 Thinking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85.0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68763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Moonshot AIの2026年の報告。バージョン6を使用。KimiはThinking、K2.6は10試行平均、他モデルは公式報告の引用値。</a:t>
            </a:r>
          </a:p>
        </p:txBody>
      </p:sp>
      <p:sp>
        <p:nvSpPr>
          <p:cNvPr id="6" name="source-bib"/>
          <p:cNvSpPr txBox="1"/>
          <p:nvPr/>
        </p:nvSpPr>
        <p:spPr>
          <a:xfrm>
            <a:off x="502920" y="4754880"/>
            <a:ext cx="8183879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Moonshot AI (2026), Kimi K2.6 Model Card.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https://huggingface.co/moonshotai/Kimi-K2.6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問題の期間を選ぶことが、比較の前提になる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初期実験では、学習に含まれた可能性のある古い問題で高得点になり、新しい問題では下がるモデルが見られた。公開日で区切ることで、この差を調べられる。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バージョン6の累積1,055問と、公式表の454問のような期間指定の集合は異なる。新しいモデルを比べるときは、同じ期間と採点条件の結果を使う。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729480"/>
            <a:ext cx="8183879" cy="180848"/>
          </a:xfrm>
          <a:prstGeom prst="rect">
            <a:avLst/>
          </a:prstGeom>
          <a:noFill/>
        </p:spPr>
        <p:txBody>
          <a:bodyPr wrap="square" lIns="0" rIns="0" tIns="25400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Jain et al. (2024), LiveCodeBench.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https://arxiv.org/abs/2403.07974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LiveCodeBench (2026-10-25参照), Leaderboard.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https://livecodebench.github.io/leaderboard.html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79443"/>
            <a:ext cx="8046720" cy="64008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利用の変遷と入手方法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利用の変遷と入手方法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固定問題から、公開時期を選ぶ評価へ広げた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HumanEvalは短い関数の生成を扱い、APPSは競技問題からコードを作る課題を広げた。LiveCodeBenchは新しいコンテスト問題を継続的に追加し、公開時期を選んで評価する設計を採った。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現在取得できるコード生成データのバージョン6は2025年4月までを含む。2026年にもモデルの評価で使われており、各報告が選んだ期間や実行条件を確認して利用する。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利用の変遷と入手方法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official repository.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https://github.com/LiveCodeBench/LiveCodeBench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問題文・書き出し・公開テストを一緒に読む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公式のHugging Face配布では、問題文、競技サイト、開催日、難しさ、関数の書き出し、公開・追加テストを取得できる。標準入力形式と関数形式では、生成するコードの受け取り方が異なる。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コード生成の軽量版は、テストを絞って採点時間を短くした配布である。コード実行とテスト出力予測には、それぞれ別の公式データがある。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利用の変遷と入手方法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問題文と公開テストを読み込む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利用の変遷と入手方法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413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pathlib import Path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Path("test6.jsonl").open() as f: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item = json.loads(next(f))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print(item["question_content"])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print(json.loads(item["public_test_cases"]))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059936"/>
            <a:ext cx="7955279" cy="5684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公式配布のtest6.jsonlを保存した場所で読む。この追加分は2025年1〜4月の175問。</a:t>
            </a:r>
          </a:p>
        </p:txBody>
      </p:sp>
      <p:sp>
        <p:nvSpPr>
          <p:cNvPr id="6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コードのMITと、問題文の権利は別に扱う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評価用コードはMIT Licenseで公開されている。問題文や解答は各競技サイトに由来し、構築時には公開部分だけを収集して学術目的で利用した。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データを再利用するときは競技サイトの条件も確認する。配布ページには包括的な問題文の許諾条件が示されていないため、コードのライセンスだけで利用範囲を判断しない。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利用の変遷と入手方法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754880"/>
            <a:ext cx="8183879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Jain et al. (2024), LiveCodeBench.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https://arxiv.org/abs/2403.07974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公開日と複数の課題からコードの能力を調べる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LiveCodeBenchは競技問題とテストを開催日付きで集め、問題文から実装する力を評価する。コードの修正や実行結果の予測も扱い、生成だけでは見えない違いを調べられる。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現在の利用では、累積バージョンと評価期間を選び、公開テストと追加テストで正しさを測る。出所、難しさ、時間範囲をそろえることが、成績を理解する手掛かりになる。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利用の変遷と入手方法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754880"/>
            <a:ext cx="8183879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Jain et al. (2024), LiveCodeBench.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https://arxiv.org/abs/2403.07974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11683"/>
            <a:ext cx="8046720" cy="747814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200" b="0">
                <a:solidFill>
                  <a:srgbClr val="303437"/>
                </a:solidFill>
                <a:latin typeface="Noto Sans"/>
              </a:defRPr>
            </a:pPr>
            <a:r>
              <a:rPr sz="4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多様な競技問題の追加例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評価条件と利用上の特徴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 中央に等号を置く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問題文の原文（全文）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19603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45336"/>
            <a:ext cx="7955279" cy="7216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Find a length-N string that satisfies all of the following conditions:  - Each character is - or =. - It is a palindrome. - It contains exactly one or exactly two =s. If it contains two =s, they are adjacent.  Such a string is unique.</a:t>
            </a:r>
          </a:p>
        </p:txBody>
      </p:sp>
      <p:sp>
        <p:nvSpPr>
          <p:cNvPr id="7" name="original-part"/>
          <p:cNvSpPr txBox="1"/>
          <p:nvPr/>
        </p:nvSpPr>
        <p:spPr>
          <a:xfrm>
            <a:off x="594360" y="22120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  The input is given from Standard Input in the following format: N</a:t>
            </a:r>
          </a:p>
        </p:txBody>
      </p:sp>
      <p:sp>
        <p:nvSpPr>
          <p:cNvPr id="8" name="original-part"/>
          <p:cNvSpPr txBox="1"/>
          <p:nvPr/>
        </p:nvSpPr>
        <p:spPr>
          <a:xfrm>
            <a:off x="594360" y="24470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  Print the answer.</a:t>
            </a:r>
          </a:p>
        </p:txBody>
      </p:sp>
      <p:sp>
        <p:nvSpPr>
          <p:cNvPr id="9" name="original-part"/>
          <p:cNvSpPr txBox="1"/>
          <p:nvPr/>
        </p:nvSpPr>
        <p:spPr>
          <a:xfrm>
            <a:off x="594360" y="26819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Constraints   - 1 ≤ N ≤ 100 - N is an integer.</a:t>
            </a:r>
          </a:p>
        </p:txBody>
      </p:sp>
      <p:sp>
        <p:nvSpPr>
          <p:cNvPr id="10" name="original-part"/>
          <p:cNvSpPr txBox="1"/>
          <p:nvPr/>
        </p:nvSpPr>
        <p:spPr>
          <a:xfrm>
            <a:off x="594360" y="29169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1  4  Sample Output 1  -==-</a:t>
            </a:r>
          </a:p>
        </p:txBody>
      </p:sp>
      <p:sp>
        <p:nvSpPr>
          <p:cNvPr id="11" name="original-part"/>
          <p:cNvSpPr txBox="1"/>
          <p:nvPr/>
        </p:nvSpPr>
        <p:spPr>
          <a:xfrm>
            <a:off x="594360" y="31518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2  7  Sample Output 2  ---=---</a:t>
            </a:r>
          </a:p>
        </p:txBody>
      </p:sp>
      <p:sp>
        <p:nvSpPr>
          <p:cNvPr id="12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abc398_a</a:t>
            </a:r>
          </a:p>
        </p:txBody>
      </p:sp>
      <p:sp>
        <p:nvSpPr>
          <p:cNvPr id="13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 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日本語訳（公開例は入力 → 期待出力）</a:t>
            </a:r>
          </a:p>
        </p:txBody>
      </p:sp>
      <p:sp>
        <p:nvSpPr>
          <p:cNvPr id="5" name="japanese-part"/>
          <p:cNvSpPr txBox="1"/>
          <p:nvPr/>
        </p:nvSpPr>
        <p:spPr>
          <a:xfrm>
            <a:off x="594360" y="1600200"/>
            <a:ext cx="7955279" cy="8415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次の条件をすべて満たす長さNの文字列を求めよ。各文字は「-」または「=」で、回文であり、「=」をちょうど1個または2個含む。2個含む場合は隣り合う。このような文字列は一意に定まる。</a:t>
            </a:r>
          </a:p>
        </p:txBody>
      </p:sp>
      <p:sp>
        <p:nvSpPr>
          <p:cNvPr id="6" name="japanese-part"/>
          <p:cNvSpPr txBox="1"/>
          <p:nvPr/>
        </p:nvSpPr>
        <p:spPr>
          <a:xfrm>
            <a:off x="594360" y="238683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標準入力からNが与えられる。答えを出力する。</a:t>
            </a:r>
          </a:p>
        </p:txBody>
      </p:sp>
      <p:sp>
        <p:nvSpPr>
          <p:cNvPr id="7" name="japanese-part"/>
          <p:cNvSpPr txBox="1"/>
          <p:nvPr/>
        </p:nvSpPr>
        <p:spPr>
          <a:xfrm>
            <a:off x="594360" y="265226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制約　1 ≤ N ≤ 100。Nは整数である。</a:t>
            </a:r>
          </a:p>
        </p:txBody>
      </p:sp>
      <p:sp>
        <p:nvSpPr>
          <p:cNvPr id="8" name="japanese-part"/>
          <p:cNvSpPr txBox="1"/>
          <p:nvPr/>
        </p:nvSpPr>
        <p:spPr>
          <a:xfrm>
            <a:off x="594360" y="291769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　4 → -==-</a:t>
            </a:r>
          </a:p>
        </p:txBody>
      </p:sp>
      <p:sp>
        <p:nvSpPr>
          <p:cNvPr id="9" name="japanese-part"/>
          <p:cNvSpPr txBox="1"/>
          <p:nvPr/>
        </p:nvSpPr>
        <p:spPr>
          <a:xfrm>
            <a:off x="594360" y="318312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　7 → ---=---</a:t>
            </a:r>
          </a:p>
        </p:txBody>
      </p:sp>
      <p:sp>
        <p:nvSpPr>
          <p:cNvPr id="10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abc398_a</a:t>
            </a:r>
          </a:p>
        </p:txBody>
      </p:sp>
      <p:sp>
        <p:nvSpPr>
          <p:cNvPr id="11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  <p:sp>
        <p:nvSpPr>
          <p:cNvPr id="12" name="expected-answer"/>
          <p:cNvSpPr txBox="1"/>
          <p:nvPr/>
        </p:nvSpPr>
        <p:spPr>
          <a:xfrm>
            <a:off x="594360" y="3531060"/>
            <a:ext cx="7955279" cy="402130"/>
          </a:xfrm>
          <a:prstGeom prst="rect">
            <a:avLst/>
          </a:prstGeom>
          <a:noFill/>
        </p:spPr>
        <p:txBody>
          <a:bodyPr wrap="square" lIns="0" rIns="0" tIns="8938" bIns="0">
            <a:noAutofit/>
          </a:bodyPr>
          <a:lstStyle/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公開例1の期待出力：-==-</a:t>
            </a:r>
          </a:p>
        </p:txBody>
      </p:sp>
      <p:sp>
        <p:nvSpPr>
          <p:cNvPr id="13" name="example-explanation"/>
          <p:cNvSpPr txBox="1"/>
          <p:nvPr/>
        </p:nvSpPr>
        <p:spPr>
          <a:xfrm>
            <a:off x="594360" y="4042918"/>
            <a:ext cx="7955279" cy="348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偶数長は中央の2文字、奇数長は中央の1文字を「=」にする。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 環状配列の隣接差を求める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問題文の原文（全文）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279222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45336"/>
            <a:ext cx="7955279" cy="7216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Given a circular array nums, find the maximum absolute difference between adjacent elements. Note: In a circular array, the first and last elements are adjacent.</a:t>
            </a:r>
          </a:p>
        </p:txBody>
      </p:sp>
      <p:sp>
        <p:nvSpPr>
          <p:cNvPr id="7" name="original-part"/>
          <p:cNvSpPr txBox="1"/>
          <p:nvPr/>
        </p:nvSpPr>
        <p:spPr>
          <a:xfrm>
            <a:off x="594360" y="2212086"/>
            <a:ext cx="7955279" cy="7216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1:  Input: nums = [1,2,4] Output: 3 Explanation: Because nums is circular, nums[0] and nums[2] are adjacent. They have the maximum absolute difference of |4 - 1| = 3.</a:t>
            </a:r>
          </a:p>
        </p:txBody>
      </p:sp>
      <p:sp>
        <p:nvSpPr>
          <p:cNvPr id="8" name="original-part"/>
          <p:cNvSpPr txBox="1"/>
          <p:nvPr/>
        </p:nvSpPr>
        <p:spPr>
          <a:xfrm>
            <a:off x="594360" y="2878835"/>
            <a:ext cx="7955279" cy="7216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2:  Input: nums = [-5,-10,-5] Output: 5 Explanation: The adjacent elements nums[0] and nums[1] have the maximum absolute difference of |-5 - (-10)| = 5.</a:t>
            </a:r>
          </a:p>
        </p:txBody>
      </p:sp>
      <p:sp>
        <p:nvSpPr>
          <p:cNvPr id="9" name="original-part"/>
          <p:cNvSpPr txBox="1"/>
          <p:nvPr/>
        </p:nvSpPr>
        <p:spPr>
          <a:xfrm>
            <a:off x="594360" y="3545585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Constraints:  2 &lt;= nums.length &lt;= 100 -100 &lt;= nums[i] &lt;= 100</a:t>
            </a:r>
          </a:p>
        </p:txBody>
      </p:sp>
      <p:sp>
        <p:nvSpPr>
          <p:cNvPr id="10" name="original-part"/>
          <p:cNvSpPr txBox="1"/>
          <p:nvPr/>
        </p:nvSpPr>
        <p:spPr>
          <a:xfrm>
            <a:off x="594360" y="3780535"/>
            <a:ext cx="7955279" cy="4930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class Solution: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def maxAdjacentDistance(self, nums: List[int]) -&gt; int:</a:t>
            </a:r>
          </a:p>
        </p:txBody>
      </p:sp>
      <p:sp>
        <p:nvSpPr>
          <p:cNvPr id="11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3747</a:t>
            </a:r>
          </a:p>
        </p:txBody>
      </p:sp>
      <p:sp>
        <p:nvSpPr>
          <p:cNvPr id="12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 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日本語訳（公開例は入力 → 期待出力）</a:t>
            </a:r>
          </a:p>
        </p:txBody>
      </p:sp>
      <p:sp>
        <p:nvSpPr>
          <p:cNvPr id="5" name="japanese-part"/>
          <p:cNvSpPr txBox="1"/>
          <p:nvPr/>
        </p:nvSpPr>
        <p:spPr>
          <a:xfrm>
            <a:off x="594360" y="1600200"/>
            <a:ext cx="7955279" cy="5877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環状配列numsが与えられる。隣接する要素の差の絶対値の最大値を求めよ。環状配列では先頭要素と末尾要素も隣り合う。</a:t>
            </a:r>
          </a:p>
        </p:txBody>
      </p:sp>
      <p:sp>
        <p:nvSpPr>
          <p:cNvPr id="6" name="japanese-part"/>
          <p:cNvSpPr txBox="1"/>
          <p:nvPr/>
        </p:nvSpPr>
        <p:spPr>
          <a:xfrm>
            <a:off x="594360" y="2133092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制約　2 ≤ nums.length ≤ 100、−100 ≤ nums[i] ≤ 100。</a:t>
            </a:r>
          </a:p>
        </p:txBody>
      </p:sp>
      <p:sp>
        <p:nvSpPr>
          <p:cNvPr id="7" name="japanese-part"/>
          <p:cNvSpPr txBox="1"/>
          <p:nvPr/>
        </p:nvSpPr>
        <p:spPr>
          <a:xfrm>
            <a:off x="594360" y="2398522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　nums=[1, 2, 4] → 3。環状なのでnums[0]とnums[2]は隣り合い、最大の差は|4−1|=3になる。</a:t>
            </a:r>
          </a:p>
        </p:txBody>
      </p:sp>
      <p:sp>
        <p:nvSpPr>
          <p:cNvPr id="8" name="japanese-part"/>
          <p:cNvSpPr txBox="1"/>
          <p:nvPr/>
        </p:nvSpPr>
        <p:spPr>
          <a:xfrm>
            <a:off x="594360" y="2903982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　nums=[-5, -10, -5] → 5。隣接するnums[0]とnums[1]の差の絶対値は|−5−(−10)|=5になる。</a:t>
            </a:r>
          </a:p>
        </p:txBody>
      </p:sp>
      <p:sp>
        <p:nvSpPr>
          <p:cNvPr id="9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3747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  <p:sp>
        <p:nvSpPr>
          <p:cNvPr id="11" name="expected-answer"/>
          <p:cNvSpPr txBox="1"/>
          <p:nvPr/>
        </p:nvSpPr>
        <p:spPr>
          <a:xfrm>
            <a:off x="594360" y="3500882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公開例1の期待出力：3</a:t>
            </a:r>
          </a:p>
        </p:txBody>
      </p:sp>
      <p:sp>
        <p:nvSpPr>
          <p:cNvPr id="12" name="example-explanation"/>
          <p:cNvSpPr txBox="1"/>
          <p:nvPr/>
        </p:nvSpPr>
        <p:spPr>
          <a:xfrm>
            <a:off x="594360" y="4003801"/>
            <a:ext cx="7955279" cy="348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末尾と先頭の組も比較する。例1の最大差は|4−1|=3となる。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 階乗から元の整数を求める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問題文の原文（全文）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239217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45336"/>
            <a:ext cx="7955279" cy="7216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are given an integer X not less than 2. Find the positive integer N such that N! = X. Here, N! denotes the factorial of N, and it is guaranteed that there is exactly one such N.</a:t>
            </a:r>
          </a:p>
        </p:txBody>
      </p:sp>
      <p:sp>
        <p:nvSpPr>
          <p:cNvPr id="7" name="original-part"/>
          <p:cNvSpPr txBox="1"/>
          <p:nvPr/>
        </p:nvSpPr>
        <p:spPr>
          <a:xfrm>
            <a:off x="594360" y="22120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  The input is given from Standard Input in the following format: X</a:t>
            </a:r>
          </a:p>
        </p:txBody>
      </p:sp>
      <p:sp>
        <p:nvSpPr>
          <p:cNvPr id="8" name="original-part"/>
          <p:cNvSpPr txBox="1"/>
          <p:nvPr/>
        </p:nvSpPr>
        <p:spPr>
          <a:xfrm>
            <a:off x="594360" y="24470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  Print the answer.</a:t>
            </a:r>
          </a:p>
        </p:txBody>
      </p:sp>
      <p:sp>
        <p:nvSpPr>
          <p:cNvPr id="9" name="original-part"/>
          <p:cNvSpPr txBox="1"/>
          <p:nvPr/>
        </p:nvSpPr>
        <p:spPr>
          <a:xfrm>
            <a:off x="594360" y="2661874"/>
            <a:ext cx="7955279" cy="525826"/>
          </a:xfrm>
          <a:prstGeom prst="rect">
            <a:avLst/>
          </a:prstGeom>
          <a:noFill/>
        </p:spPr>
        <p:txBody>
          <a:bodyPr wrap="square" lIns="0" rIns="0" tIns="20112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Constraints   - 2 ≤ X ≤ 3 × 10¹⁸ - There is exactly one positive integer N such that N!=X. - All input values are integers.</a:t>
            </a:r>
          </a:p>
        </p:txBody>
      </p:sp>
      <p:sp>
        <p:nvSpPr>
          <p:cNvPr id="10" name="original-part"/>
          <p:cNvSpPr txBox="1"/>
          <p:nvPr/>
        </p:nvSpPr>
        <p:spPr>
          <a:xfrm>
            <a:off x="594360" y="31328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1  6  Sample Output 1  3 From 3!=3×2×1=6, print 3.</a:t>
            </a:r>
          </a:p>
        </p:txBody>
      </p:sp>
      <p:sp>
        <p:nvSpPr>
          <p:cNvPr id="11" name="original-part"/>
          <p:cNvSpPr txBox="1"/>
          <p:nvPr/>
        </p:nvSpPr>
        <p:spPr>
          <a:xfrm>
            <a:off x="594360" y="336778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2  2432902008176640000  Sample Output 2  20 From 20!=2432902008176640000, print 20.</a:t>
            </a:r>
          </a:p>
        </p:txBody>
      </p:sp>
      <p:sp>
        <p:nvSpPr>
          <p:cNvPr id="12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abc389_b</a:t>
            </a:r>
          </a:p>
        </p:txBody>
      </p:sp>
      <p:sp>
        <p:nvSpPr>
          <p:cNvPr id="13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 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日本語訳（公開例は入力 → 期待出力）</a:t>
            </a:r>
          </a:p>
        </p:txBody>
      </p:sp>
      <p:sp>
        <p:nvSpPr>
          <p:cNvPr id="5" name="japanese-part"/>
          <p:cNvSpPr txBox="1"/>
          <p:nvPr/>
        </p:nvSpPr>
        <p:spPr>
          <a:xfrm>
            <a:off x="594360" y="1600200"/>
            <a:ext cx="7955279" cy="8415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2以上の整数Xが与えられる。N! = Xを満たす正整数Nを求めよ。N!はNの階乗を表し、そのようなNはちょうど一つ存在することが保証される。</a:t>
            </a:r>
          </a:p>
        </p:txBody>
      </p:sp>
      <p:sp>
        <p:nvSpPr>
          <p:cNvPr id="6" name="japanese-part"/>
          <p:cNvSpPr txBox="1"/>
          <p:nvPr/>
        </p:nvSpPr>
        <p:spPr>
          <a:xfrm>
            <a:off x="594360" y="238683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標準入力からXが与えられる。答えを出力する。</a:t>
            </a:r>
          </a:p>
        </p:txBody>
      </p:sp>
      <p:sp>
        <p:nvSpPr>
          <p:cNvPr id="7" name="japanese-part"/>
          <p:cNvSpPr txBox="1"/>
          <p:nvPr/>
        </p:nvSpPr>
        <p:spPr>
          <a:xfrm>
            <a:off x="594360" y="2652268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制約　2 ≤ X ≤ 3×10¹⁸。N! = Xを満たす正整数Nはちょうど一つ存在する。入力はすべて整数である。</a:t>
            </a:r>
          </a:p>
        </p:txBody>
      </p:sp>
      <p:sp>
        <p:nvSpPr>
          <p:cNvPr id="8" name="japanese-part"/>
          <p:cNvSpPr txBox="1"/>
          <p:nvPr/>
        </p:nvSpPr>
        <p:spPr>
          <a:xfrm>
            <a:off x="594360" y="315772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　6 → 3。3! = 3×2×1 = 6なので3を出力する。</a:t>
            </a:r>
          </a:p>
        </p:txBody>
      </p:sp>
      <p:sp>
        <p:nvSpPr>
          <p:cNvPr id="9" name="japanese-part"/>
          <p:cNvSpPr txBox="1"/>
          <p:nvPr/>
        </p:nvSpPr>
        <p:spPr>
          <a:xfrm>
            <a:off x="594360" y="3423158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　2432902008176640000 → 20。20! = 2432902008176640000なので20を出力する。</a:t>
            </a:r>
          </a:p>
        </p:txBody>
      </p:sp>
      <p:sp>
        <p:nvSpPr>
          <p:cNvPr id="10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abc389_b</a:t>
            </a:r>
          </a:p>
        </p:txBody>
      </p:sp>
      <p:sp>
        <p:nvSpPr>
          <p:cNvPr id="11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 公開例の答えと解説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公開された入出力例1を確認する</a:t>
            </a:r>
          </a:p>
        </p:txBody>
      </p:sp>
      <p:sp>
        <p:nvSpPr>
          <p:cNvPr id="5" name="code-frame"/>
          <p:cNvSpPr/>
          <p:nvPr/>
        </p:nvSpPr>
        <p:spPr>
          <a:xfrm>
            <a:off x="594360" y="1828800"/>
            <a:ext cx="7955279" cy="5260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6</a:t>
            </a:r>
          </a:p>
        </p:txBody>
      </p:sp>
      <p:sp>
        <p:nvSpPr>
          <p:cNvPr id="6" name="expected-answer"/>
          <p:cNvSpPr txBox="1"/>
          <p:nvPr/>
        </p:nvSpPr>
        <p:spPr>
          <a:xfrm>
            <a:off x="594360" y="2537714"/>
            <a:ext cx="7955279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6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公開例1の期待出力：3</a:t>
            </a:r>
          </a:p>
        </p:txBody>
      </p:sp>
      <p:sp>
        <p:nvSpPr>
          <p:cNvPr id="7" name="example-explanation"/>
          <p:cNvSpPr txBox="1"/>
          <p:nvPr/>
        </p:nvSpPr>
        <p:spPr>
          <a:xfrm>
            <a:off x="594360" y="3159506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小さい階乗から順に比較できる。公開例には20!という大きな整数も含まれる。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abc389_b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 末尾を補って最短の回文にする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問題文の原文（全文）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262712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453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Find one shortest palindrome that has S as its prefix.</a:t>
            </a:r>
          </a:p>
        </p:txBody>
      </p:sp>
      <p:sp>
        <p:nvSpPr>
          <p:cNvPr id="7" name="original-part"/>
          <p:cNvSpPr txBox="1"/>
          <p:nvPr/>
        </p:nvSpPr>
        <p:spPr>
          <a:xfrm>
            <a:off x="594360" y="17802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  The input is given from Standard Input in the following format: S</a:t>
            </a:r>
          </a:p>
        </p:txBody>
      </p:sp>
      <p:sp>
        <p:nvSpPr>
          <p:cNvPr id="8" name="original-part"/>
          <p:cNvSpPr txBox="1"/>
          <p:nvPr/>
        </p:nvSpPr>
        <p:spPr>
          <a:xfrm>
            <a:off x="594360" y="20152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  Print the answer. If multiple solutions exist, any of them is accepted.</a:t>
            </a:r>
          </a:p>
        </p:txBody>
      </p:sp>
      <p:sp>
        <p:nvSpPr>
          <p:cNvPr id="9" name="original-part"/>
          <p:cNvSpPr txBox="1"/>
          <p:nvPr/>
        </p:nvSpPr>
        <p:spPr>
          <a:xfrm>
            <a:off x="594360" y="225018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Constraints   - S is a string of length between 1 and 500000, inclusive, consisting of uppercase English letters.</a:t>
            </a:r>
          </a:p>
        </p:txBody>
      </p:sp>
      <p:sp>
        <p:nvSpPr>
          <p:cNvPr id="10" name="original-part"/>
          <p:cNvSpPr txBox="1"/>
          <p:nvPr/>
        </p:nvSpPr>
        <p:spPr>
          <a:xfrm>
            <a:off x="594360" y="270103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1  ABC  Sample Output 1  ABCBA ABCBA is a shortest palindrome that has S= ABC as its prefix.</a:t>
            </a:r>
          </a:p>
        </p:txBody>
      </p:sp>
      <p:sp>
        <p:nvSpPr>
          <p:cNvPr id="11" name="original-part"/>
          <p:cNvSpPr txBox="1"/>
          <p:nvPr/>
        </p:nvSpPr>
        <p:spPr>
          <a:xfrm>
            <a:off x="594360" y="3151885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2  Z  Sample Output 2  Z Z is a shortest palindrome that has S= Z as its prefix.</a:t>
            </a:r>
          </a:p>
        </p:txBody>
      </p:sp>
      <p:sp>
        <p:nvSpPr>
          <p:cNvPr id="12" name="original-part"/>
          <p:cNvSpPr txBox="1"/>
          <p:nvPr/>
        </p:nvSpPr>
        <p:spPr>
          <a:xfrm>
            <a:off x="594360" y="3602735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3  TREE  Sample Output 3  TREERT TREERT is a shortest palindrome that has S= TREE as its prefix.</a:t>
            </a:r>
          </a:p>
        </p:txBody>
      </p:sp>
      <p:sp>
        <p:nvSpPr>
          <p:cNvPr id="13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abc398_f</a:t>
            </a:r>
          </a:p>
        </p:txBody>
      </p:sp>
      <p:sp>
        <p:nvSpPr>
          <p:cNvPr id="14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 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日本語訳（公開例は入力 → 期待出力）</a:t>
            </a:r>
          </a:p>
        </p:txBody>
      </p:sp>
      <p:sp>
        <p:nvSpPr>
          <p:cNvPr id="5" name="japanese-part"/>
          <p:cNvSpPr txBox="1"/>
          <p:nvPr/>
        </p:nvSpPr>
        <p:spPr>
          <a:xfrm>
            <a:off x="594360" y="1600200"/>
            <a:ext cx="7955279" cy="3340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Sを接頭辞として持つ最短の回文を一つ求めよ。</a:t>
            </a:r>
          </a:p>
        </p:txBody>
      </p:sp>
      <p:sp>
        <p:nvSpPr>
          <p:cNvPr id="6" name="japanese-part"/>
          <p:cNvSpPr txBox="1"/>
          <p:nvPr/>
        </p:nvSpPr>
        <p:spPr>
          <a:xfrm>
            <a:off x="594360" y="1879345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標準入力からSが与えられる。答えを出力する。複数の解がある場合はいずれを出力してもよい。</a:t>
            </a:r>
          </a:p>
        </p:txBody>
      </p:sp>
      <p:sp>
        <p:nvSpPr>
          <p:cNvPr id="7" name="japanese-part"/>
          <p:cNvSpPr txBox="1"/>
          <p:nvPr/>
        </p:nvSpPr>
        <p:spPr>
          <a:xfrm>
            <a:off x="594360" y="2384806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制約　Sは英大文字からなる長さ1以上500000以下の文字列である。</a:t>
            </a:r>
          </a:p>
        </p:txBody>
      </p:sp>
      <p:sp>
        <p:nvSpPr>
          <p:cNvPr id="8" name="japanese-part"/>
          <p:cNvSpPr txBox="1"/>
          <p:nvPr/>
        </p:nvSpPr>
        <p:spPr>
          <a:xfrm>
            <a:off x="594360" y="2650236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　ABC → ABCBA。ABCBAはS=ABCを接頭辞として持つ最短の回文である。</a:t>
            </a:r>
          </a:p>
        </p:txBody>
      </p:sp>
      <p:sp>
        <p:nvSpPr>
          <p:cNvPr id="9" name="japanese-part"/>
          <p:cNvSpPr txBox="1"/>
          <p:nvPr/>
        </p:nvSpPr>
        <p:spPr>
          <a:xfrm>
            <a:off x="594360" y="3155696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　Z → Z。ZはS=Zを接頭辞として持つ最短の回文である。</a:t>
            </a:r>
          </a:p>
        </p:txBody>
      </p:sp>
      <p:sp>
        <p:nvSpPr>
          <p:cNvPr id="10" name="japanese-part"/>
          <p:cNvSpPr txBox="1"/>
          <p:nvPr/>
        </p:nvSpPr>
        <p:spPr>
          <a:xfrm>
            <a:off x="594360" y="3421126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　TREE → TREERT。TREERTはS=TREEを接頭辞として持つ最短の回文である。</a:t>
            </a:r>
          </a:p>
        </p:txBody>
      </p:sp>
      <p:sp>
        <p:nvSpPr>
          <p:cNvPr id="11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abc398_f</a:t>
            </a:r>
          </a:p>
        </p:txBody>
      </p:sp>
      <p:sp>
        <p:nvSpPr>
          <p:cNvPr id="12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 公開例の答えと解説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公開された入出力例1を確認する</a:t>
            </a:r>
          </a:p>
        </p:txBody>
      </p:sp>
      <p:sp>
        <p:nvSpPr>
          <p:cNvPr id="5" name="code-frame"/>
          <p:cNvSpPr/>
          <p:nvPr/>
        </p:nvSpPr>
        <p:spPr>
          <a:xfrm>
            <a:off x="594360" y="1828800"/>
            <a:ext cx="7955279" cy="5260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ABC</a:t>
            </a:r>
          </a:p>
        </p:txBody>
      </p:sp>
      <p:sp>
        <p:nvSpPr>
          <p:cNvPr id="6" name="expected-answer"/>
          <p:cNvSpPr txBox="1"/>
          <p:nvPr/>
        </p:nvSpPr>
        <p:spPr>
          <a:xfrm>
            <a:off x="594360" y="2537714"/>
            <a:ext cx="7955279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6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公開例1の期待出力：ABCBA</a:t>
            </a:r>
          </a:p>
        </p:txBody>
      </p:sp>
      <p:sp>
        <p:nvSpPr>
          <p:cNvPr id="7" name="example-explanation"/>
          <p:cNvSpPr txBox="1"/>
          <p:nvPr/>
        </p:nvSpPr>
        <p:spPr>
          <a:xfrm>
            <a:off x="594360" y="3159506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末尾にある最長の回文部分を残し、それより前の部分を逆順にして付け足す。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abc398_f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並べ替えて積の等式を作る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問題文の原文（全文）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239217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4533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are given a sequence of integers A = (A₁, A₂, A₃). Let B = (B₁, B₂, B₃) be any permutation of A. Determine whether it is possible that B₁ × B₂ = B₃.</a:t>
            </a:r>
          </a:p>
        </p:txBody>
      </p:sp>
      <p:sp>
        <p:nvSpPr>
          <p:cNvPr id="7" name="original-part"/>
          <p:cNvSpPr txBox="1"/>
          <p:nvPr/>
        </p:nvSpPr>
        <p:spPr>
          <a:xfrm>
            <a:off x="594360" y="199618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  The input is given from Standard Input in the following format: A₁ A₂ A₃</a:t>
            </a:r>
          </a:p>
        </p:txBody>
      </p:sp>
      <p:sp>
        <p:nvSpPr>
          <p:cNvPr id="8" name="original-part"/>
          <p:cNvSpPr txBox="1"/>
          <p:nvPr/>
        </p:nvSpPr>
        <p:spPr>
          <a:xfrm>
            <a:off x="594360" y="24470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  If it is possible that B₁ × B₂ = B₃, print Yes; otherwise, print No.</a:t>
            </a:r>
          </a:p>
        </p:txBody>
      </p:sp>
      <p:sp>
        <p:nvSpPr>
          <p:cNvPr id="9" name="original-part"/>
          <p:cNvSpPr txBox="1"/>
          <p:nvPr/>
        </p:nvSpPr>
        <p:spPr>
          <a:xfrm>
            <a:off x="594360" y="26819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Constraints   - All input values are integers. - 1 ≤ A₁, A₂, A₃ ≤ 100</a:t>
            </a:r>
          </a:p>
        </p:txBody>
      </p:sp>
      <p:sp>
        <p:nvSpPr>
          <p:cNvPr id="10" name="original-part"/>
          <p:cNvSpPr txBox="1"/>
          <p:nvPr/>
        </p:nvSpPr>
        <p:spPr>
          <a:xfrm>
            <a:off x="594360" y="291693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1  3 15 5  Sample Output 1  Yes Here, A=(3,15,5). By rearranging it as B=(3,5,15), we can satisfy B₁ × B₂ = B₃.</a:t>
            </a:r>
          </a:p>
        </p:txBody>
      </p:sp>
      <p:sp>
        <p:nvSpPr>
          <p:cNvPr id="11" name="original-part"/>
          <p:cNvSpPr txBox="1"/>
          <p:nvPr/>
        </p:nvSpPr>
        <p:spPr>
          <a:xfrm>
            <a:off x="594360" y="336778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2  5 3 2  Sample Output 2  No No permutation of B satisfies B₁ × B₂ = B₃.</a:t>
            </a:r>
          </a:p>
        </p:txBody>
      </p:sp>
      <p:sp>
        <p:nvSpPr>
          <p:cNvPr id="12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abc392_a</a:t>
            </a:r>
          </a:p>
        </p:txBody>
      </p:sp>
      <p:sp>
        <p:nvSpPr>
          <p:cNvPr id="13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日本語訳（公開例は入力 → 期待出力）</a:t>
            </a:r>
          </a:p>
        </p:txBody>
      </p:sp>
      <p:sp>
        <p:nvSpPr>
          <p:cNvPr id="5" name="japanese-part"/>
          <p:cNvSpPr txBox="1"/>
          <p:nvPr/>
        </p:nvSpPr>
        <p:spPr>
          <a:xfrm>
            <a:off x="594360" y="1600200"/>
            <a:ext cx="7955279" cy="5877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整数列A=(A₁,A₂,A₃)が与えられる。B=(B₁,B₂,B₃)をAの並べ替えとする。B₁×B₂=B₃を満たす並べ替えが可能か判定せよ。</a:t>
            </a:r>
          </a:p>
        </p:txBody>
      </p:sp>
      <p:sp>
        <p:nvSpPr>
          <p:cNvPr id="6" name="japanese-part"/>
          <p:cNvSpPr txBox="1"/>
          <p:nvPr/>
        </p:nvSpPr>
        <p:spPr>
          <a:xfrm>
            <a:off x="594360" y="2133092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入力は「A₁ A₂ A₃」の形式で標準入力から与えられる。可能ならYes、不可能ならNoを出力する。</a:t>
            </a:r>
          </a:p>
        </p:txBody>
      </p:sp>
      <p:sp>
        <p:nvSpPr>
          <p:cNvPr id="7" name="japanese-part"/>
          <p:cNvSpPr txBox="1"/>
          <p:nvPr/>
        </p:nvSpPr>
        <p:spPr>
          <a:xfrm>
            <a:off x="594360" y="2638552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制約　入力はすべて整数で、1 ≤ A₁,A₂,A₃ ≤ 100。</a:t>
            </a:r>
          </a:p>
        </p:txBody>
      </p:sp>
      <p:sp>
        <p:nvSpPr>
          <p:cNvPr id="8" name="japanese-part"/>
          <p:cNvSpPr txBox="1"/>
          <p:nvPr/>
        </p:nvSpPr>
        <p:spPr>
          <a:xfrm>
            <a:off x="594360" y="2903982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　3 15 5 → Yes。A=(3,15,5)をB=(3,5,15)に並べ替えれば、B₁×B₂=B₃を満たす。</a:t>
            </a:r>
          </a:p>
        </p:txBody>
      </p:sp>
      <p:sp>
        <p:nvSpPr>
          <p:cNvPr id="9" name="japanese-part"/>
          <p:cNvSpPr txBox="1"/>
          <p:nvPr/>
        </p:nvSpPr>
        <p:spPr>
          <a:xfrm>
            <a:off x="594360" y="3409442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　5 3 2 → No。条件を満たす並べ替えは存在しない。</a:t>
            </a:r>
          </a:p>
        </p:txBody>
      </p:sp>
      <p:sp>
        <p:nvSpPr>
          <p:cNvPr id="10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abc392_a</a:t>
            </a:r>
          </a:p>
        </p:txBody>
      </p:sp>
      <p:sp>
        <p:nvSpPr>
          <p:cNvPr id="11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  <p:sp>
        <p:nvSpPr>
          <p:cNvPr id="12" name="expected-answer"/>
          <p:cNvSpPr txBox="1"/>
          <p:nvPr/>
        </p:nvSpPr>
        <p:spPr>
          <a:xfrm>
            <a:off x="594360" y="3766312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公開例1の期待出力：Yes</a:t>
            </a:r>
          </a:p>
        </p:txBody>
      </p:sp>
      <p:sp>
        <p:nvSpPr>
          <p:cNvPr id="13" name="example-explanation"/>
          <p:cNvSpPr txBox="1"/>
          <p:nvPr/>
        </p:nvSpPr>
        <p:spPr>
          <a:xfrm>
            <a:off x="594360" y="4269232"/>
            <a:ext cx="7955279" cy="348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4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三つの値の大小関係を固定せず、掛ける二つと積になる一つを選ぶ。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等比数列の和を求める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問題文の原文（全文）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264617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24932"/>
            <a:ext cx="7955279" cy="526118"/>
          </a:xfrm>
          <a:prstGeom prst="rect">
            <a:avLst/>
          </a:prstGeom>
          <a:noFill/>
        </p:spPr>
        <p:txBody>
          <a:bodyPr wrap="square" lIns="0" rIns="0" tIns="20404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are given two positive integers N and M. Let X = Σ(i=0..M) Nⁱ. If X ≤ 10⁹, print the value of X. If X &gt; 10⁹, print inf.</a:t>
            </a:r>
          </a:p>
        </p:txBody>
      </p:sp>
      <p:sp>
        <p:nvSpPr>
          <p:cNvPr id="7" name="original-part"/>
          <p:cNvSpPr txBox="1"/>
          <p:nvPr/>
        </p:nvSpPr>
        <p:spPr>
          <a:xfrm>
            <a:off x="594360" y="19961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  The input is given from Standard Input in the following format: N M</a:t>
            </a:r>
          </a:p>
        </p:txBody>
      </p:sp>
      <p:sp>
        <p:nvSpPr>
          <p:cNvPr id="8" name="original-part"/>
          <p:cNvSpPr txBox="1"/>
          <p:nvPr/>
        </p:nvSpPr>
        <p:spPr>
          <a:xfrm>
            <a:off x="594360" y="22311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  Print the value of X or inf as specified by the problem statement.</a:t>
            </a:r>
          </a:p>
        </p:txBody>
      </p:sp>
      <p:sp>
        <p:nvSpPr>
          <p:cNvPr id="9" name="original-part"/>
          <p:cNvSpPr txBox="1"/>
          <p:nvPr/>
        </p:nvSpPr>
        <p:spPr>
          <a:xfrm>
            <a:off x="594360" y="2445453"/>
            <a:ext cx="7955279" cy="310447"/>
          </a:xfrm>
          <a:prstGeom prst="rect">
            <a:avLst/>
          </a:prstGeom>
          <a:noFill/>
        </p:spPr>
        <p:txBody>
          <a:bodyPr wrap="square" lIns="0" rIns="0" tIns="20633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Constraints   - 1 ≤ N ≤ 10⁹ - 1 ≤ M ≤ 100 - All input values are integers.</a:t>
            </a:r>
          </a:p>
        </p:txBody>
      </p:sp>
      <p:sp>
        <p:nvSpPr>
          <p:cNvPr id="10" name="original-part"/>
          <p:cNvSpPr txBox="1"/>
          <p:nvPr/>
        </p:nvSpPr>
        <p:spPr>
          <a:xfrm>
            <a:off x="594360" y="270103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1  7 3  Sample Output 1  400 X = 1 + 7 + 49 + 343 = 400. Since 400 ≤ 10⁹, print 400.</a:t>
            </a:r>
          </a:p>
        </p:txBody>
      </p:sp>
      <p:sp>
        <p:nvSpPr>
          <p:cNvPr id="11" name="original-part"/>
          <p:cNvSpPr txBox="1"/>
          <p:nvPr/>
        </p:nvSpPr>
        <p:spPr>
          <a:xfrm>
            <a:off x="594360" y="3131253"/>
            <a:ext cx="7955279" cy="526347"/>
          </a:xfrm>
          <a:prstGeom prst="rect">
            <a:avLst/>
          </a:prstGeom>
          <a:noFill/>
        </p:spPr>
        <p:txBody>
          <a:bodyPr wrap="square" lIns="0" rIns="0" tIns="20633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2  1000000 2  Sample Output 2  inf X = 1000001000001 &gt; 10⁹, so print inf.</a:t>
            </a:r>
          </a:p>
        </p:txBody>
      </p:sp>
      <p:sp>
        <p:nvSpPr>
          <p:cNvPr id="12" name="original-part"/>
          <p:cNvSpPr txBox="1"/>
          <p:nvPr/>
        </p:nvSpPr>
        <p:spPr>
          <a:xfrm>
            <a:off x="594360" y="36027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3  999999999 1  Sample Output 3  1000000000</a:t>
            </a:r>
          </a:p>
        </p:txBody>
      </p:sp>
      <p:sp>
        <p:nvSpPr>
          <p:cNvPr id="13" name="original-part"/>
          <p:cNvSpPr txBox="1"/>
          <p:nvPr/>
        </p:nvSpPr>
        <p:spPr>
          <a:xfrm>
            <a:off x="594360" y="38376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4  998244353 99  Sample Output 4  inf</a:t>
            </a:r>
          </a:p>
        </p:txBody>
      </p:sp>
      <p:sp>
        <p:nvSpPr>
          <p:cNvPr id="14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abc400_b</a:t>
            </a:r>
          </a:p>
        </p:txBody>
      </p:sp>
      <p:sp>
        <p:nvSpPr>
          <p:cNvPr id="15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日本語訳（公開例は入力 → 期待出力）</a:t>
            </a:r>
          </a:p>
        </p:txBody>
      </p:sp>
      <p:sp>
        <p:nvSpPr>
          <p:cNvPr id="5" name="japanese-part"/>
          <p:cNvSpPr txBox="1"/>
          <p:nvPr/>
        </p:nvSpPr>
        <p:spPr>
          <a:xfrm>
            <a:off x="594360" y="1600200"/>
            <a:ext cx="7955279" cy="5877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正整数N、Mが与えられる。X=Σᵢ₌₀ᴹNⁱとする。X ≤ 10⁹ならXを出力し、X &gt; 10⁹ならinfを出力せよ。</a:t>
            </a:r>
          </a:p>
        </p:txBody>
      </p:sp>
      <p:sp>
        <p:nvSpPr>
          <p:cNvPr id="6" name="japanese-part"/>
          <p:cNvSpPr txBox="1"/>
          <p:nvPr/>
        </p:nvSpPr>
        <p:spPr>
          <a:xfrm>
            <a:off x="594360" y="2133092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入力は「N M」の形式で標準入力から与えられる。問題文の指定どおりXまたはinfを出力する。</a:t>
            </a:r>
          </a:p>
        </p:txBody>
      </p:sp>
      <p:sp>
        <p:nvSpPr>
          <p:cNvPr id="7" name="japanese-part"/>
          <p:cNvSpPr txBox="1"/>
          <p:nvPr/>
        </p:nvSpPr>
        <p:spPr>
          <a:xfrm>
            <a:off x="594360" y="2638552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制約　1 ≤ N ≤ 10⁹、1 ≤ M ≤ 100。入力はすべて整数である。</a:t>
            </a:r>
          </a:p>
        </p:txBody>
      </p:sp>
      <p:sp>
        <p:nvSpPr>
          <p:cNvPr id="8" name="japanese-part"/>
          <p:cNvSpPr txBox="1"/>
          <p:nvPr/>
        </p:nvSpPr>
        <p:spPr>
          <a:xfrm>
            <a:off x="594360" y="2903982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　7 3 → 400。X=1+7+49+343=400であり、400 ≤ 10⁹なので400を出力する。</a:t>
            </a:r>
          </a:p>
        </p:txBody>
      </p:sp>
      <p:sp>
        <p:nvSpPr>
          <p:cNvPr id="9" name="japanese-part"/>
          <p:cNvSpPr txBox="1"/>
          <p:nvPr/>
        </p:nvSpPr>
        <p:spPr>
          <a:xfrm>
            <a:off x="594360" y="3409442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　1000000 2 → inf。X=1000001000001 &gt; 10⁹なのでinfを出力する。</a:t>
            </a:r>
          </a:p>
        </p:txBody>
      </p:sp>
      <p:sp>
        <p:nvSpPr>
          <p:cNvPr id="10" name="japanese-part"/>
          <p:cNvSpPr txBox="1"/>
          <p:nvPr/>
        </p:nvSpPr>
        <p:spPr>
          <a:xfrm>
            <a:off x="594360" y="3674872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　999999999 1 → 1000000000</a:t>
            </a:r>
          </a:p>
        </p:txBody>
      </p:sp>
      <p:sp>
        <p:nvSpPr>
          <p:cNvPr id="11" name="japanese-part"/>
          <p:cNvSpPr txBox="1"/>
          <p:nvPr/>
        </p:nvSpPr>
        <p:spPr>
          <a:xfrm>
            <a:off x="594360" y="3940302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　998244353 99 → inf</a:t>
            </a:r>
          </a:p>
        </p:txBody>
      </p:sp>
      <p:sp>
        <p:nvSpPr>
          <p:cNvPr id="12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abc400_b</a:t>
            </a:r>
          </a:p>
        </p:txBody>
      </p:sp>
      <p:sp>
        <p:nvSpPr>
          <p:cNvPr id="13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公開例の答えと解説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公開された入出力例1を確認する</a:t>
            </a:r>
          </a:p>
        </p:txBody>
      </p:sp>
      <p:sp>
        <p:nvSpPr>
          <p:cNvPr id="5" name="code-frame"/>
          <p:cNvSpPr/>
          <p:nvPr/>
        </p:nvSpPr>
        <p:spPr>
          <a:xfrm>
            <a:off x="594360" y="1828800"/>
            <a:ext cx="7955279" cy="5260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7 3</a:t>
            </a:r>
          </a:p>
        </p:txBody>
      </p:sp>
      <p:sp>
        <p:nvSpPr>
          <p:cNvPr id="6" name="expected-answer"/>
          <p:cNvSpPr txBox="1"/>
          <p:nvPr/>
        </p:nvSpPr>
        <p:spPr>
          <a:xfrm>
            <a:off x="594360" y="2537714"/>
            <a:ext cx="7955279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6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公開例1の期待出力：400</a:t>
            </a:r>
          </a:p>
        </p:txBody>
      </p:sp>
      <p:sp>
        <p:nvSpPr>
          <p:cNvPr id="7" name="example-explanation"/>
          <p:cNvSpPr txBox="1"/>
          <p:nvPr/>
        </p:nvSpPr>
        <p:spPr>
          <a:xfrm>
            <a:off x="594360" y="3159506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10⁹ちょうどは数値として出力する。上限を超えるかどうかも結果の一部になる。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abc400_b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例10 重ならない区間の和を最大化する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問題文の原文（全文）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322402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45336"/>
            <a:ext cx="7955279" cy="7216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are given an integer array nums and two integers, k and m. Return the maximum sum of k non-overlapping subarrays of nums, where each subarray has a length of at least m.</a:t>
            </a:r>
          </a:p>
        </p:txBody>
      </p:sp>
      <p:sp>
        <p:nvSpPr>
          <p:cNvPr id="7" name="original-part"/>
          <p:cNvSpPr txBox="1"/>
          <p:nvPr/>
        </p:nvSpPr>
        <p:spPr>
          <a:xfrm>
            <a:off x="594360" y="2212086"/>
            <a:ext cx="7955279" cy="9375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1:  Input: nums = [1,2,-1,3,3,4], k = 2, m = 2 Output: 13 Explanation: The optimal choice is:  Subarray nums[3..5] with sum 3 + 3 + 4 = 10 (length is 3 &gt;= m). Subarray nums[0..1] with sum 1 + 2 = 3 (length is 2 &gt;= m).  The total sum is 10 + 3 = 13.</a:t>
            </a:r>
          </a:p>
        </p:txBody>
      </p:sp>
      <p:sp>
        <p:nvSpPr>
          <p:cNvPr id="8" name="original-part"/>
          <p:cNvSpPr txBox="1"/>
          <p:nvPr/>
        </p:nvSpPr>
        <p:spPr>
          <a:xfrm>
            <a:off x="594360" y="3094735"/>
            <a:ext cx="7955279" cy="7216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Example 2:  Input: nums = [-10,3,-1,-2], k = 4, m = 1 Output: -10 Explanation: The optimal choice is choosing each element as a subarray. The output is (-10) + 3 + (-1) + (-2) = -10.</a:t>
            </a:r>
          </a:p>
        </p:txBody>
      </p:sp>
      <p:sp>
        <p:nvSpPr>
          <p:cNvPr id="9" name="original-part"/>
          <p:cNvSpPr txBox="1"/>
          <p:nvPr/>
        </p:nvSpPr>
        <p:spPr>
          <a:xfrm>
            <a:off x="594360" y="3742594"/>
            <a:ext cx="7955279" cy="524606"/>
          </a:xfrm>
          <a:prstGeom prst="rect">
            <a:avLst/>
          </a:prstGeom>
          <a:noFill/>
        </p:spPr>
        <p:txBody>
          <a:bodyPr wrap="square" lIns="0" rIns="0" tIns="18892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Constraints:  1 &lt;= nums.length &lt;= 2000 -10⁴ &lt;= nums[i] &lt;= 10⁴ 1 &lt;= k &lt;= floor(nums.length / m) 1 &lt;= m &lt;= 3</a:t>
            </a:r>
          </a:p>
        </p:txBody>
      </p:sp>
      <p:sp>
        <p:nvSpPr>
          <p:cNvPr id="10" name="original-part"/>
          <p:cNvSpPr txBox="1"/>
          <p:nvPr/>
        </p:nvSpPr>
        <p:spPr>
          <a:xfrm>
            <a:off x="594360" y="4212336"/>
            <a:ext cx="7955279" cy="4930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class Solution: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def maxSum(self, nums: List[int], k: int, m: int) -&gt; int:</a:t>
            </a:r>
          </a:p>
        </p:txBody>
      </p:sp>
      <p:sp>
        <p:nvSpPr>
          <p:cNvPr id="11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3722</a:t>
            </a:r>
          </a:p>
        </p:txBody>
      </p:sp>
      <p:sp>
        <p:nvSpPr>
          <p:cNvPr id="12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例10 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日本語訳（公開例は入力 → 期待出力）</a:t>
            </a:r>
          </a:p>
        </p:txBody>
      </p:sp>
      <p:sp>
        <p:nvSpPr>
          <p:cNvPr id="5" name="japanese-part"/>
          <p:cNvSpPr txBox="1"/>
          <p:nvPr/>
        </p:nvSpPr>
        <p:spPr>
          <a:xfrm>
            <a:off x="594360" y="1600200"/>
            <a:ext cx="7955279" cy="5877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整数配列numsと整数k、mが与えられる。長さがそれぞれm以上の、重ならないk個の連続部分配列を選び、要素の和の最大値を返せ。</a:t>
            </a:r>
          </a:p>
        </p:txBody>
      </p:sp>
      <p:sp>
        <p:nvSpPr>
          <p:cNvPr id="6" name="japanese-part"/>
          <p:cNvSpPr txBox="1"/>
          <p:nvPr/>
        </p:nvSpPr>
        <p:spPr>
          <a:xfrm>
            <a:off x="594360" y="2133092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制約　1 ≤ nums.length ≤ 2000、−10⁴ ≤ nums[i] ≤ 10⁴、1 ≤ k ≤ floor(nums.length/m)、1 ≤ m ≤ 3。</a:t>
            </a:r>
          </a:p>
        </p:txBody>
      </p:sp>
      <p:sp>
        <p:nvSpPr>
          <p:cNvPr id="7" name="japanese-part"/>
          <p:cNvSpPr txBox="1"/>
          <p:nvPr/>
        </p:nvSpPr>
        <p:spPr>
          <a:xfrm>
            <a:off x="594360" y="2638552"/>
            <a:ext cx="7955279" cy="8003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　nums=[1, 2, -1, 3, 3, 4], k=2, m=2 → 13。nums[3..5]の和は3+3+4=10で、長さは3 ≥ m。nums[0..1]の和は1+2=3で、長さは2 ≥ m。合計は10+3=13。</a:t>
            </a:r>
          </a:p>
        </p:txBody>
      </p:sp>
      <p:sp>
        <p:nvSpPr>
          <p:cNvPr id="8" name="japanese-part"/>
          <p:cNvSpPr txBox="1"/>
          <p:nvPr/>
        </p:nvSpPr>
        <p:spPr>
          <a:xfrm>
            <a:off x="594360" y="3384042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　nums=[-10, 3, -1, -2], k=4, m=1 → -10。各要素を一つの部分配列として選ぶのが最適で、合計は(−10)+3+(−1)+(−2)=−10。</a:t>
            </a:r>
          </a:p>
        </p:txBody>
      </p:sp>
      <p:sp>
        <p:nvSpPr>
          <p:cNvPr id="9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3722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例10 公開例の答えと解説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公開された入出力例1を確認する</a:t>
            </a:r>
          </a:p>
        </p:txBody>
      </p:sp>
      <p:sp>
        <p:nvSpPr>
          <p:cNvPr id="5" name="code-frame"/>
          <p:cNvSpPr/>
          <p:nvPr/>
        </p:nvSpPr>
        <p:spPr>
          <a:xfrm>
            <a:off x="594360" y="1828800"/>
            <a:ext cx="7955279" cy="107010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nums=[1, 2, -1, 3, 3, 4]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k=2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m=2</a:t>
            </a:r>
          </a:p>
        </p:txBody>
      </p:sp>
      <p:sp>
        <p:nvSpPr>
          <p:cNvPr id="6" name="expected-answer"/>
          <p:cNvSpPr txBox="1"/>
          <p:nvPr/>
        </p:nvSpPr>
        <p:spPr>
          <a:xfrm>
            <a:off x="594360" y="3081782"/>
            <a:ext cx="7955279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6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公開例1の期待出力：13</a:t>
            </a:r>
          </a:p>
        </p:txBody>
      </p:sp>
      <p:sp>
        <p:nvSpPr>
          <p:cNvPr id="7" name="example-explanation"/>
          <p:cNvSpPr txBox="1"/>
          <p:nvPr/>
        </p:nvSpPr>
        <p:spPr>
          <a:xfrm>
            <a:off x="594360" y="3703574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区間をちょうどk個選ぶ。負の値があっても区間数を減らせないことが、二つ目の公開例に表れる。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3722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 先頭の桁が最大の整数を数える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問題文の原文（全文）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305892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45336"/>
            <a:ext cx="7955279" cy="11534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positive integer not less than 10 whose top digit (the most significant digit) in decimal representation is strictly larger than every other digit in that number is called a Snake number. For example, 31 and 201 are Snake numbers, but 35 and 202 are not. Find how many Snake numbers exist between L and R, inclusive.</a:t>
            </a:r>
          </a:p>
        </p:txBody>
      </p:sp>
      <p:sp>
        <p:nvSpPr>
          <p:cNvPr id="7" name="original-part"/>
          <p:cNvSpPr txBox="1"/>
          <p:nvPr/>
        </p:nvSpPr>
        <p:spPr>
          <a:xfrm>
            <a:off x="594360" y="26438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  The input is given from Standard Input in the following format: L R</a:t>
            </a:r>
          </a:p>
        </p:txBody>
      </p:sp>
      <p:sp>
        <p:nvSpPr>
          <p:cNvPr id="8" name="original-part"/>
          <p:cNvSpPr txBox="1"/>
          <p:nvPr/>
        </p:nvSpPr>
        <p:spPr>
          <a:xfrm>
            <a:off x="594360" y="28788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  Print the answer.</a:t>
            </a:r>
          </a:p>
        </p:txBody>
      </p:sp>
      <p:sp>
        <p:nvSpPr>
          <p:cNvPr id="9" name="original-part"/>
          <p:cNvSpPr txBox="1"/>
          <p:nvPr/>
        </p:nvSpPr>
        <p:spPr>
          <a:xfrm>
            <a:off x="594360" y="3093522"/>
            <a:ext cx="7955279" cy="310078"/>
          </a:xfrm>
          <a:prstGeom prst="rect">
            <a:avLst/>
          </a:prstGeom>
          <a:noFill/>
        </p:spPr>
        <p:txBody>
          <a:bodyPr wrap="square" lIns="0" rIns="0" tIns="20264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Constraints   - 10 ≤ L ≤ R ≤ 10¹⁸ - All input values are integers.</a:t>
            </a:r>
          </a:p>
        </p:txBody>
      </p:sp>
      <p:sp>
        <p:nvSpPr>
          <p:cNvPr id="10" name="original-part"/>
          <p:cNvSpPr txBox="1"/>
          <p:nvPr/>
        </p:nvSpPr>
        <p:spPr>
          <a:xfrm>
            <a:off x="594360" y="334873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1  97 210  Sample Output 1  6 The Snake numbers between 97 and 210, inclusive, are 97, 98, 100, 200, 201, and 210: there are six.</a:t>
            </a:r>
          </a:p>
        </p:txBody>
      </p:sp>
      <p:sp>
        <p:nvSpPr>
          <p:cNvPr id="11" name="original-part"/>
          <p:cNvSpPr txBox="1"/>
          <p:nvPr/>
        </p:nvSpPr>
        <p:spPr>
          <a:xfrm>
            <a:off x="594360" y="37995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2  1000 9999  Sample Output 2  2025</a:t>
            </a:r>
          </a:p>
        </p:txBody>
      </p:sp>
      <p:sp>
        <p:nvSpPr>
          <p:cNvPr id="12" name="original-part"/>
          <p:cNvSpPr txBox="1"/>
          <p:nvPr/>
        </p:nvSpPr>
        <p:spPr>
          <a:xfrm>
            <a:off x="594360" y="403453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3  252509054433933519 760713016476190692  Sample Output 3  221852052834757</a:t>
            </a:r>
          </a:p>
        </p:txBody>
      </p:sp>
      <p:sp>
        <p:nvSpPr>
          <p:cNvPr id="13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abc387_c</a:t>
            </a:r>
          </a:p>
        </p:txBody>
      </p:sp>
      <p:sp>
        <p:nvSpPr>
          <p:cNvPr id="14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 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日本語訳（公開例は入力 → 期待出力）</a:t>
            </a:r>
          </a:p>
        </p:txBody>
      </p:sp>
      <p:sp>
        <p:nvSpPr>
          <p:cNvPr id="5" name="japanese-part"/>
          <p:cNvSpPr txBox="1"/>
          <p:nvPr/>
        </p:nvSpPr>
        <p:spPr>
          <a:xfrm>
            <a:off x="594360" y="1600200"/>
            <a:ext cx="7955279" cy="8415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10以上の正整数で、十進表記の先頭の桁が他のすべての桁より厳密に大きいものをSnake numberと呼ぶ。31や201は該当するが、35や202は該当しない。L以上R以下のSnake numberの個数を求めよ。</a:t>
            </a:r>
          </a:p>
        </p:txBody>
      </p:sp>
      <p:sp>
        <p:nvSpPr>
          <p:cNvPr id="6" name="japanese-part"/>
          <p:cNvSpPr txBox="1"/>
          <p:nvPr/>
        </p:nvSpPr>
        <p:spPr>
          <a:xfrm>
            <a:off x="594360" y="238683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入力は「L R」の形式で標準入力から与えられる。答えを出力する。</a:t>
            </a:r>
          </a:p>
        </p:txBody>
      </p:sp>
      <p:sp>
        <p:nvSpPr>
          <p:cNvPr id="7" name="japanese-part"/>
          <p:cNvSpPr txBox="1"/>
          <p:nvPr/>
        </p:nvSpPr>
        <p:spPr>
          <a:xfrm>
            <a:off x="594360" y="265226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制約　10 ≤ L ≤ R ≤ 10¹⁸。入力はすべて整数である。</a:t>
            </a:r>
          </a:p>
        </p:txBody>
      </p:sp>
      <p:sp>
        <p:nvSpPr>
          <p:cNvPr id="8" name="japanese-part"/>
          <p:cNvSpPr txBox="1"/>
          <p:nvPr/>
        </p:nvSpPr>
        <p:spPr>
          <a:xfrm>
            <a:off x="594360" y="2917698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　97 210 → 6。97以上210以下では97、98、100、200、201、210の6個が該当する。</a:t>
            </a:r>
          </a:p>
        </p:txBody>
      </p:sp>
      <p:sp>
        <p:nvSpPr>
          <p:cNvPr id="9" name="japanese-part"/>
          <p:cNvSpPr txBox="1"/>
          <p:nvPr/>
        </p:nvSpPr>
        <p:spPr>
          <a:xfrm>
            <a:off x="594360" y="342315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　1000 9999 → 2025</a:t>
            </a:r>
          </a:p>
        </p:txBody>
      </p:sp>
      <p:sp>
        <p:nvSpPr>
          <p:cNvPr id="10" name="japanese-part"/>
          <p:cNvSpPr txBox="1"/>
          <p:nvPr/>
        </p:nvSpPr>
        <p:spPr>
          <a:xfrm>
            <a:off x="594360" y="368858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　252509054433933519 760713016476190692 → 221852052834757</a:t>
            </a:r>
          </a:p>
        </p:txBody>
      </p:sp>
      <p:sp>
        <p:nvSpPr>
          <p:cNvPr id="11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abc387_c</a:t>
            </a:r>
          </a:p>
        </p:txBody>
      </p:sp>
      <p:sp>
        <p:nvSpPr>
          <p:cNvPr id="12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 公開例の答えと解説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公開された入出力例1を確認する</a:t>
            </a:r>
          </a:p>
        </p:txBody>
      </p:sp>
      <p:sp>
        <p:nvSpPr>
          <p:cNvPr id="5" name="code-frame"/>
          <p:cNvSpPr/>
          <p:nvPr/>
        </p:nvSpPr>
        <p:spPr>
          <a:xfrm>
            <a:off x="594360" y="1828800"/>
            <a:ext cx="7955279" cy="5260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97 210</a:t>
            </a:r>
          </a:p>
        </p:txBody>
      </p:sp>
      <p:sp>
        <p:nvSpPr>
          <p:cNvPr id="6" name="expected-answer"/>
          <p:cNvSpPr txBox="1"/>
          <p:nvPr/>
        </p:nvSpPr>
        <p:spPr>
          <a:xfrm>
            <a:off x="594360" y="2537714"/>
            <a:ext cx="7955279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6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公開例1の期待出力：6</a:t>
            </a:r>
          </a:p>
        </p:txBody>
      </p:sp>
      <p:sp>
        <p:nvSpPr>
          <p:cNvPr id="7" name="example-explanation"/>
          <p:cNvSpPr txBox="1"/>
          <p:nvPr/>
        </p:nvSpPr>
        <p:spPr>
          <a:xfrm>
            <a:off x="594360" y="3159506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先頭と同じ数字が後ろに現れると条件を満たさない。公開例の201と202の違いが、この厳密な大小関係を示す。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abc387_c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全区間の和を累乗して足す（1）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問題文の原文（1/2）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20875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4533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You are given positive integers N, K, and an integer sequence of length N: A = (A₁, A₂, …, Aₙ). Find  Σ(1≤l≤r≤N) (Σ(l≤i≤r) Aᵢ)ᴷ, modulo 998244353.</a:t>
            </a:r>
          </a:p>
        </p:txBody>
      </p:sp>
      <p:sp>
        <p:nvSpPr>
          <p:cNvPr id="7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abc399_f</a:t>
            </a:r>
          </a:p>
        </p:txBody>
      </p:sp>
      <p:sp>
        <p:nvSpPr>
          <p:cNvPr id="8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  <p:sp>
        <p:nvSpPr>
          <p:cNvPr id="9" name="original-part"/>
          <p:cNvSpPr txBox="1"/>
          <p:nvPr/>
        </p:nvSpPr>
        <p:spPr>
          <a:xfrm>
            <a:off x="594360" y="2103120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  The input is given from Standard Input in the following format: N K A₁ A₂ … Aₙ</a:t>
            </a:r>
          </a:p>
        </p:txBody>
      </p:sp>
      <p:sp>
        <p:nvSpPr>
          <p:cNvPr id="10" name="original-part"/>
          <p:cNvSpPr txBox="1"/>
          <p:nvPr/>
        </p:nvSpPr>
        <p:spPr>
          <a:xfrm>
            <a:off x="594360" y="2645409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  Print the answer.</a:t>
            </a:r>
          </a:p>
        </p:txBody>
      </p:sp>
      <p:sp>
        <p:nvSpPr>
          <p:cNvPr id="11" name="original-part"/>
          <p:cNvSpPr txBox="1"/>
          <p:nvPr/>
        </p:nvSpPr>
        <p:spPr>
          <a:xfrm>
            <a:off x="594360" y="2971799"/>
            <a:ext cx="7955279" cy="523958"/>
          </a:xfrm>
          <a:prstGeom prst="rect">
            <a:avLst/>
          </a:prstGeom>
          <a:noFill/>
        </p:spPr>
        <p:txBody>
          <a:bodyPr wrap="square" lIns="0" rIns="0" tIns="18244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Constraints   - 1≤ N ≤ 2× 10⁵ - 1≤ K ≤ 10 - 0 ≤ Aᵢ &lt; 998244353 - All input values are integers.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全区間の和を累乗して足す（2）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問題文の原文（2/2）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190601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48130"/>
            <a:ext cx="7955279" cy="7216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1  3 2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 1 2  Sample Output 1  75 The value is A₁²+A₂²+A₃²+(A₁+A₂)²+(A₂+A₃)²+(A₁+A₂+A₃)²=3²+1²+2²+4²+3²+6²=75.</a:t>
            </a:r>
          </a:p>
        </p:txBody>
      </p:sp>
      <p:sp>
        <p:nvSpPr>
          <p:cNvPr id="7" name="original-part"/>
          <p:cNvSpPr txBox="1"/>
          <p:nvPr/>
        </p:nvSpPr>
        <p:spPr>
          <a:xfrm>
            <a:off x="594360" y="2214880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2  1 10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  Sample Output 2  0</a:t>
            </a:r>
          </a:p>
        </p:txBody>
      </p:sp>
      <p:sp>
        <p:nvSpPr>
          <p:cNvPr id="8" name="original-part"/>
          <p:cNvSpPr txBox="1"/>
          <p:nvPr/>
        </p:nvSpPr>
        <p:spPr>
          <a:xfrm>
            <a:off x="594360" y="2665730"/>
            <a:ext cx="7955279" cy="7216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3  10 5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91 59 85 60 57 72 12 3 27 16  Sample Output 3  428633385 Be sure to find the sum modulo 998244353.</a:t>
            </a:r>
          </a:p>
        </p:txBody>
      </p:sp>
      <p:sp>
        <p:nvSpPr>
          <p:cNvPr id="9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abc399_f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日本語訳（公開例は入力 → 期待出力）</a:t>
            </a:r>
          </a:p>
        </p:txBody>
      </p:sp>
      <p:sp>
        <p:nvSpPr>
          <p:cNvPr id="5" name="japanese-part"/>
          <p:cNvSpPr txBox="1"/>
          <p:nvPr/>
        </p:nvSpPr>
        <p:spPr>
          <a:xfrm>
            <a:off x="594360" y="1600200"/>
            <a:ext cx="7955279" cy="8415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正整数N、Kと長さNの整数列A=(A₁,A₂,…,Aₙ)が与えられる。すべての1 ≤ l ≤ r ≤ Nについて、区間Aₗ,…,Aᵣの和のK乗を足し、998244353で割った余りを求めよ。</a:t>
            </a:r>
          </a:p>
        </p:txBody>
      </p:sp>
      <p:sp>
        <p:nvSpPr>
          <p:cNvPr id="6" name="japanese-part"/>
          <p:cNvSpPr txBox="1"/>
          <p:nvPr/>
        </p:nvSpPr>
        <p:spPr>
          <a:xfrm>
            <a:off x="594360" y="2386838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入力は1行目が「N K」、2行目が「A₁ A₂ … Aₙ」で、標準入力から与えられる。答えを出力する。</a:t>
            </a:r>
          </a:p>
        </p:txBody>
      </p:sp>
      <p:sp>
        <p:nvSpPr>
          <p:cNvPr id="7" name="japanese-part"/>
          <p:cNvSpPr txBox="1"/>
          <p:nvPr/>
        </p:nvSpPr>
        <p:spPr>
          <a:xfrm>
            <a:off x="594360" y="2892297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制約　1 ≤ N ≤ 2×10⁵、1 ≤ K ≤ 10、0 ≤ Aᵢ &lt; 998244353。入力はすべて整数である。</a:t>
            </a:r>
          </a:p>
        </p:txBody>
      </p:sp>
      <p:sp>
        <p:nvSpPr>
          <p:cNvPr id="8" name="japanese-part"/>
          <p:cNvSpPr txBox="1"/>
          <p:nvPr/>
        </p:nvSpPr>
        <p:spPr>
          <a:xfrm>
            <a:off x="594360" y="339775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　3 2 / 3 1 2 → 75。値は3²+1²+2²+4²+3²+6²=75になる。</a:t>
            </a:r>
          </a:p>
        </p:txBody>
      </p:sp>
      <p:sp>
        <p:nvSpPr>
          <p:cNvPr id="9" name="japanese-part"/>
          <p:cNvSpPr txBox="1"/>
          <p:nvPr/>
        </p:nvSpPr>
        <p:spPr>
          <a:xfrm>
            <a:off x="594360" y="3663188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　1 10 / 0 → 0</a:t>
            </a:r>
          </a:p>
        </p:txBody>
      </p:sp>
      <p:sp>
        <p:nvSpPr>
          <p:cNvPr id="10" name="japanese-part"/>
          <p:cNvSpPr txBox="1"/>
          <p:nvPr/>
        </p:nvSpPr>
        <p:spPr>
          <a:xfrm>
            <a:off x="594360" y="3928618"/>
            <a:ext cx="7955279" cy="5603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　10 5 / 91 59 85 60 57 72 12 3 27 16 → 428633385。998244353で割った余りを求めること。</a:t>
            </a:r>
          </a:p>
        </p:txBody>
      </p:sp>
      <p:sp>
        <p:nvSpPr>
          <p:cNvPr id="11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abc399_f</a:t>
            </a:r>
          </a:p>
        </p:txBody>
      </p:sp>
      <p:sp>
        <p:nvSpPr>
          <p:cNvPr id="12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公開例の答えと解説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公開された入出力例1を確認する</a:t>
            </a:r>
          </a:p>
        </p:txBody>
      </p:sp>
      <p:sp>
        <p:nvSpPr>
          <p:cNvPr id="5" name="code-frame"/>
          <p:cNvSpPr/>
          <p:nvPr/>
        </p:nvSpPr>
        <p:spPr>
          <a:xfrm>
            <a:off x="594360" y="1828800"/>
            <a:ext cx="7955279" cy="79806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3 2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3 1 2</a:t>
            </a:r>
          </a:p>
        </p:txBody>
      </p:sp>
      <p:sp>
        <p:nvSpPr>
          <p:cNvPr id="6" name="expected-answer"/>
          <p:cNvSpPr txBox="1"/>
          <p:nvPr/>
        </p:nvSpPr>
        <p:spPr>
          <a:xfrm>
            <a:off x="594360" y="2809748"/>
            <a:ext cx="7955279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6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公開例1の期待出力：75</a:t>
            </a:r>
          </a:p>
        </p:txBody>
      </p:sp>
      <p:sp>
        <p:nvSpPr>
          <p:cNvPr id="7" name="example-explanation"/>
          <p:cNvSpPr txBox="1"/>
          <p:nvPr/>
        </p:nvSpPr>
        <p:spPr>
          <a:xfrm>
            <a:off x="594360" y="3431540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各区間の和を求めてからK乗する。区間の全要素を先にK乗して足す計算とは異なる。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abc399_f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 等間隔に現れるABCを数える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8881"/>
            <a:ext cx="8046720" cy="181591"/>
          </a:xfrm>
          <a:prstGeom prst="rect">
            <a:avLst/>
          </a:prstGeom>
          <a:noFill/>
        </p:spPr>
        <p:txBody>
          <a:bodyPr wrap="square" lIns="0" rIns="0" tIns="16999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問題文の原文（全文）</a:t>
            </a:r>
          </a:p>
        </p:txBody>
      </p:sp>
      <p:sp>
        <p:nvSpPr>
          <p:cNvPr id="5" name="quote-background"/>
          <p:cNvSpPr/>
          <p:nvPr/>
        </p:nvSpPr>
        <p:spPr>
          <a:xfrm>
            <a:off x="457200" y="1481328"/>
            <a:ext cx="8229600" cy="305892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iginal-part"/>
          <p:cNvSpPr txBox="1"/>
          <p:nvPr/>
        </p:nvSpPr>
        <p:spPr>
          <a:xfrm>
            <a:off x="594360" y="1545336"/>
            <a:ext cx="7955279" cy="11534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string S is given. Find how many places in S have A, B, and C in this order at even intervals. Specifically, find the number of triples of integers (i,j,k) that satisfy all of the following conditions. Here, |S| denotes the length of S, and S_x denotes the x-th character of S.  - 1 ≤ i &lt; j &lt; k ≤ |S| - j - i = k - j - Sᵢ = A - Sⱼ = B - Sₖ = C</a:t>
            </a:r>
          </a:p>
        </p:txBody>
      </p:sp>
      <p:sp>
        <p:nvSpPr>
          <p:cNvPr id="7" name="original-part"/>
          <p:cNvSpPr txBox="1"/>
          <p:nvPr/>
        </p:nvSpPr>
        <p:spPr>
          <a:xfrm>
            <a:off x="594360" y="26438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Input  The input is given from Standard Input in the following format: S</a:t>
            </a:r>
          </a:p>
        </p:txBody>
      </p:sp>
      <p:sp>
        <p:nvSpPr>
          <p:cNvPr id="8" name="original-part"/>
          <p:cNvSpPr txBox="1"/>
          <p:nvPr/>
        </p:nvSpPr>
        <p:spPr>
          <a:xfrm>
            <a:off x="594360" y="28788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Output  Print the answer.</a:t>
            </a:r>
          </a:p>
        </p:txBody>
      </p:sp>
      <p:sp>
        <p:nvSpPr>
          <p:cNvPr id="9" name="original-part"/>
          <p:cNvSpPr txBox="1"/>
          <p:nvPr/>
        </p:nvSpPr>
        <p:spPr>
          <a:xfrm>
            <a:off x="594360" y="311378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Constraints   - S is an uppercase English string with length between 3 and 100, inclusive.</a:t>
            </a:r>
          </a:p>
        </p:txBody>
      </p:sp>
      <p:sp>
        <p:nvSpPr>
          <p:cNvPr id="10" name="original-part"/>
          <p:cNvSpPr txBox="1"/>
          <p:nvPr/>
        </p:nvSpPr>
        <p:spPr>
          <a:xfrm>
            <a:off x="594360" y="3564636"/>
            <a:ext cx="7955279" cy="5057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1  AABCC  Sample Output 1  2 There are two triples (i,j,k) = (1,3,5) and (2,3,4) that satisfy the conditions.</a:t>
            </a:r>
          </a:p>
        </p:txBody>
      </p:sp>
      <p:sp>
        <p:nvSpPr>
          <p:cNvPr id="11" name="original-part"/>
          <p:cNvSpPr txBox="1"/>
          <p:nvPr/>
        </p:nvSpPr>
        <p:spPr>
          <a:xfrm>
            <a:off x="594360" y="401548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2  ARC  Sample Output 2  0</a:t>
            </a:r>
          </a:p>
        </p:txBody>
      </p:sp>
      <p:sp>
        <p:nvSpPr>
          <p:cNvPr id="12" name="original-part"/>
          <p:cNvSpPr txBox="1"/>
          <p:nvPr/>
        </p:nvSpPr>
        <p:spPr>
          <a:xfrm>
            <a:off x="594360" y="4250436"/>
            <a:ext cx="7955279" cy="2898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Sample Input 3  AABAAABBAEDCCCD  Sample Output 3  4</a:t>
            </a:r>
          </a:p>
        </p:txBody>
      </p:sp>
      <p:sp>
        <p:nvSpPr>
          <p:cNvPr id="13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abc393_b</a:t>
            </a:r>
          </a:p>
        </p:txBody>
      </p:sp>
      <p:sp>
        <p:nvSpPr>
          <p:cNvPr id="14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 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日本語訳（公開例は入力 → 期待出力）</a:t>
            </a:r>
          </a:p>
        </p:txBody>
      </p:sp>
      <p:sp>
        <p:nvSpPr>
          <p:cNvPr id="5" name="japanese-part"/>
          <p:cNvSpPr txBox="1"/>
          <p:nvPr/>
        </p:nvSpPr>
        <p:spPr>
          <a:xfrm>
            <a:off x="594360" y="1600200"/>
            <a:ext cx="7955279" cy="10952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98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文字列Sが与えられる。A、B、Cがこの順で等間隔に現れる箇所を数えよ。具体的には、1 ≤ i &lt; j &lt; k ≤ |S|、j−i=k−j、Sᵢ=A、Sⱼ=B、Sₖ=Cをすべて満たす整数の組(i,j,k)の個数を求める。|S|はSの長さ、SₓはSのx文字目を表す。</a:t>
            </a:r>
          </a:p>
        </p:txBody>
      </p:sp>
      <p:sp>
        <p:nvSpPr>
          <p:cNvPr id="6" name="japanese-part"/>
          <p:cNvSpPr txBox="1"/>
          <p:nvPr/>
        </p:nvSpPr>
        <p:spPr>
          <a:xfrm>
            <a:off x="594360" y="2640584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標準入力からSが与えられる。答えを出力する。</a:t>
            </a:r>
          </a:p>
        </p:txBody>
      </p:sp>
      <p:sp>
        <p:nvSpPr>
          <p:cNvPr id="7" name="japanese-part"/>
          <p:cNvSpPr txBox="1"/>
          <p:nvPr/>
        </p:nvSpPr>
        <p:spPr>
          <a:xfrm>
            <a:off x="594360" y="2906014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制約　Sは英大文字からなる長さ3以上100以下の文字列である。</a:t>
            </a:r>
          </a:p>
        </p:txBody>
      </p:sp>
      <p:sp>
        <p:nvSpPr>
          <p:cNvPr id="8" name="japanese-part"/>
          <p:cNvSpPr txBox="1"/>
          <p:nvPr/>
        </p:nvSpPr>
        <p:spPr>
          <a:xfrm>
            <a:off x="594360" y="3171444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　AABCC → 2。条件を満たす組は(i,j,k)=(1,3,5)と(2,3,4)の二つ。</a:t>
            </a:r>
          </a:p>
        </p:txBody>
      </p:sp>
      <p:sp>
        <p:nvSpPr>
          <p:cNvPr id="9" name="japanese-part"/>
          <p:cNvSpPr txBox="1"/>
          <p:nvPr/>
        </p:nvSpPr>
        <p:spPr>
          <a:xfrm>
            <a:off x="594360" y="3436874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　ARC → 0</a:t>
            </a:r>
          </a:p>
        </p:txBody>
      </p:sp>
      <p:sp>
        <p:nvSpPr>
          <p:cNvPr id="10" name="japanese-part"/>
          <p:cNvSpPr txBox="1"/>
          <p:nvPr/>
        </p:nvSpPr>
        <p:spPr>
          <a:xfrm>
            <a:off x="594360" y="3702304"/>
            <a:ext cx="7955279" cy="320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　AABAAABBAEDCCCD → 4</a:t>
            </a:r>
          </a:p>
        </p:txBody>
      </p:sp>
      <p:sp>
        <p:nvSpPr>
          <p:cNvPr id="11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abc393_b</a:t>
            </a:r>
          </a:p>
        </p:txBody>
      </p:sp>
      <p:sp>
        <p:nvSpPr>
          <p:cNvPr id="12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 公開例の答えと解説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多様な競技問題の追加例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公開された入出力例1を確認する</a:t>
            </a:r>
          </a:p>
        </p:txBody>
      </p:sp>
      <p:sp>
        <p:nvSpPr>
          <p:cNvPr id="5" name="code-frame"/>
          <p:cNvSpPr/>
          <p:nvPr/>
        </p:nvSpPr>
        <p:spPr>
          <a:xfrm>
            <a:off x="594360" y="1828800"/>
            <a:ext cx="7955279" cy="5260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AABCC</a:t>
            </a:r>
          </a:p>
        </p:txBody>
      </p:sp>
      <p:sp>
        <p:nvSpPr>
          <p:cNvPr id="6" name="expected-answer"/>
          <p:cNvSpPr txBox="1"/>
          <p:nvPr/>
        </p:nvSpPr>
        <p:spPr>
          <a:xfrm>
            <a:off x="594360" y="2537714"/>
            <a:ext cx="7955279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6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公開例1の期待出力：2</a:t>
            </a:r>
          </a:p>
        </p:txBody>
      </p:sp>
      <p:sp>
        <p:nvSpPr>
          <p:cNvPr id="7" name="example-explanation"/>
          <p:cNvSpPr txBox="1"/>
          <p:nvPr/>
        </p:nvSpPr>
        <p:spPr>
          <a:xfrm>
            <a:off x="594360" y="3159506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隣り合ったABCだけでなく、文字間に同じ数の文字がある並びも数える。</a:t>
            </a:r>
          </a:p>
        </p:txBody>
      </p:sp>
      <p:sp>
        <p:nvSpPr>
          <p:cNvPr id="8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 abc393_b</a:t>
            </a:r>
          </a:p>
        </p:txBody>
      </p:sp>
      <p:sp>
        <p:nvSpPr>
          <p:cNvPr id="9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既知の採点上の問題も公開している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公式Errataには、複数の正しい出力がある問題、対話型の問題、テストが誤っている問題が挙げられている。出力の単純な照合では、正しい実装を不正解にする場合がある。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問題が対話型なら、実行中に採点側とやり取りする仕組みが必要になる。通常の入力と出力だけを扱う採点器では、この形式に対応できない。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評価条件と利用上の特徴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Errata.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https://github.com/LiveCodeBench/LiveCodeBench/blob/main/ERRATA.md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難しさの分類と、出所の構成も変わる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初期構築ではLeetCodeの難度表示と、AtCoderやCodeforcesの数値評価を使ってeasy・medium・hardを付けた。これは各サイトの問題をまとめて比較するための分類である。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2025年1〜4月の追加分175問では、AtCoderが112問、LeetCodeが63問だった。難しさはeasyが43問、mediumが52問、hardが80問で、追加分は難しい問題を多く含む。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評価条件と利用上の特徴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LiveCodeBench (n.d.; 2026-10-25参照), code_generation_lite.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113"/>
            <a:ext cx="8183879" cy="206663"/>
          </a:xfrm>
          <a:prstGeom prst="rect">
            <a:avLst/>
          </a:prstGeom>
          <a:noFill/>
        </p:spPr>
        <p:txBody>
          <a:bodyPr wrap="square" lIns="0" rIns="0" tIns="2378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大学の研究者が、コード評価の更新を提案した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Naman Jain、King Hanら、UC Berkeley、MIT、Cornell Universityの研究者が2024年に公開した。既存の固定問題だけでなく、公開時期を動かして評価する方法を提案した。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論文はICLR 2025で発表された。公開後は問題集合の累積バージョンや採点実装を更新し、公式リーダーボードとモデルの報告で利用されている。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評価条件と利用上の特徴</a:t>
            </a:r>
          </a:p>
        </p:txBody>
      </p:sp>
      <p:sp>
        <p:nvSpPr>
          <p:cNvPr id="5" name="source-bib"/>
          <p:cNvSpPr txBox="1"/>
          <p:nvPr/>
        </p:nvSpPr>
        <p:spPr>
          <a:xfrm>
            <a:off x="502920" y="4741587"/>
            <a:ext cx="8183879" cy="168741"/>
          </a:xfrm>
          <a:prstGeom prst="rect">
            <a:avLst/>
          </a:prstGeom>
          <a:noFill/>
        </p:spPr>
        <p:txBody>
          <a:bodyPr wrap="square" lIns="0" rIns="0" tIns="13293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Jain et al. (n.d.; 2026-10-25参照), LiveCodeBench.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9628"/>
            <a:ext cx="8183879" cy="206148"/>
          </a:xfrm>
          <a:prstGeom prst="rect">
            <a:avLst/>
          </a:prstGeom>
          <a:noFill/>
        </p:spPr>
        <p:txBody>
          <a:bodyPr wrap="square" lIns="0" rIns="0" tIns="23268" bIns="0">
            <a:noAutofit/>
          </a:bodyPr>
          <a:lstStyle/>
          <a:p>
            <a:pPr algn="l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https://livecodebench.github.io/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LiveCodeBench: Holistic and Contamination Free Evaluation of Large Language Models for Code"/>
          <p:cNvSpPr txBox="1"/>
          <p:nvPr/>
        </p:nvSpPr>
        <p:spPr>
          <a:xfrm>
            <a:off x="548640" y="1463040"/>
            <a:ext cx="8046720" cy="16570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LiveCodeBench: Holistic and Contamination Free Evaluation of Large Language Models for Code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Naman Jain et al. (2024年公開、ICLR 2025). arXiv:2403.07974.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競技問題の収集、四つの評価課題、公開時期による比較と採点方法を提案する。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https://arxiv.org/abs/2403.07974</a:t>
            </a:r>
          </a:p>
        </p:txBody>
      </p:sp>
      <p:sp>
        <p:nvSpPr>
          <p:cNvPr id="5" name="文献 2: LiveCodeBench Official Repository"/>
          <p:cNvSpPr txBox="1"/>
          <p:nvPr/>
        </p:nvSpPr>
        <p:spPr>
          <a:xfrm>
            <a:off x="548640" y="3351784"/>
            <a:ext cx="8046720" cy="12322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LiveCodeBench Official Repository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LiveCodeBench (n.d.). GitHub. 2026-10-25参照。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評価用実装、累積バージョンの構成、期間を指定した集計方法を公開する。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https://github.com/LiveCodeBench/LiveCodeBench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LiveCodeBench Leaderboard"/>
          <p:cNvSpPr txBox="1"/>
          <p:nvPr/>
        </p:nvSpPr>
        <p:spPr>
          <a:xfrm>
            <a:off x="548640" y="1463040"/>
            <a:ext cx="8046720" cy="12320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LiveCodeBench Leaderboard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LiveCodeBench (n.d.). 2026-10-25参照。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問題の期間を選び、全体と難しさ別のコード生成成績を比較する公式表。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https://livecodebench.github.io/leaderboard.html</a:t>
            </a:r>
          </a:p>
        </p:txBody>
      </p:sp>
      <p:sp>
        <p:nvSpPr>
          <p:cNvPr id="5" name="文献 2: Kimi K2.6 Model Card"/>
          <p:cNvSpPr txBox="1"/>
          <p:nvPr/>
        </p:nvSpPr>
        <p:spPr>
          <a:xfrm>
            <a:off x="548640" y="2913100"/>
            <a:ext cx="8046720" cy="153544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Kimi K2.6 Model Card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Moonshot AI (2026). Hugging Face.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2026年のモデルを複数の課題で評価し、LiveCodeBenchのバージョン6による成績も報告する。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https://huggingface.co/moonshotai/Kimi-K2.6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LiveCodeBench Code Generation Lite"/>
          <p:cNvSpPr txBox="1"/>
          <p:nvPr/>
        </p:nvSpPr>
        <p:spPr>
          <a:xfrm>
            <a:off x="548640" y="1463040"/>
            <a:ext cx="8046720" cy="15355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LiveCodeBench Code Generation Lite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LiveCodeBench (n.d.). Hugging Face. 2026-10-25参照。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問題文、公開日、書き出し、公開・追加テストを累積バージョンごとに配布する。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https://huggingface.co/datasets/livecodebench/code_generation_lite</a:t>
            </a:r>
          </a:p>
        </p:txBody>
      </p:sp>
      <p:sp>
        <p:nvSpPr>
          <p:cNvPr id="5" name="文献 2: LiveCodeBench Errata"/>
          <p:cNvSpPr txBox="1"/>
          <p:nvPr/>
        </p:nvSpPr>
        <p:spPr>
          <a:xfrm>
            <a:off x="548640" y="3216516"/>
            <a:ext cx="8046720" cy="15355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LiveCodeBench Errata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LiveCodeBench (n.d.). GitHub. 2026-10-25参照。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複数解や対話型課題、誤ったテストなど、公開後に確認した採点上の問題をまとめる。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https://github.com/LiveCodeBench/LiveCodeBench/blob/main/ERRATA.md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creator>sasakiy84</dc:creator>
  <dc:title>LiveCodeBench</dc:title>
</cp:coreProperties>
</file>