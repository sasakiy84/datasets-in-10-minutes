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bond-lab.github.io/wnja/jpn/downloads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ond-lab/wnja/releases/tag/v2.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Relationship Id="rId3" Type="http://schemas.openxmlformats.org/officeDocument/2006/relationships/hyperlink" Target="https://github.com/omwn/omw-data/releases/tag/v2.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mwn/omw-data/releases/tag/v2.0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mwn/omw-data/releases/tag/v2.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gwc-1.22/" TargetMode="External"/><Relationship Id="rId3" Type="http://schemas.openxmlformats.org/officeDocument/2006/relationships/hyperlink" Target="https://github.com/bond-lab/wnja/releases/tag/v2.1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gwc-1.22/" TargetMode="External"/><Relationship Id="rId3" Type="http://schemas.openxmlformats.org/officeDocument/2006/relationships/hyperlink" Target="https://github.com/bond-lab/wnja/releases/tag/v2.1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ond-lab/wnja/releases/tag/v2.1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ond-lab/wnja/releases/tag/v2.1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lobalwordnet.github.io/schemas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n.readthedocs.io/en/latest/guides/basic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n.readthedocs.io/en/latest/guides/basic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bond-lab.github.io/wnja/jpn/downloads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ond-lab/wnja/releases/tag/v2.1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n.readthedocs.io/en/latest/guides/basic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ond-lab.github.io/wnja/jpn/downloads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ond-lab/wnja/releases/tag/v2.1" TargetMode="External"/><Relationship Id="rId3" Type="http://schemas.openxmlformats.org/officeDocument/2006/relationships/hyperlink" Target="https://aclanthology.org/2023.gwc-1.22/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L08-1269/" TargetMode="External"/><Relationship Id="rId3" Type="http://schemas.openxmlformats.org/officeDocument/2006/relationships/hyperlink" Target="https://globalwordnet.github.io/schemas/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n.readthedocs.io/en/latest/guides/basic.html" TargetMode="External"/><Relationship Id="rId3" Type="http://schemas.openxmlformats.org/officeDocument/2006/relationships/hyperlink" Target="https://github.com/omwn/omw-data/releases/tag/v2.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1004570"/>
          </a:xfrm>
        </p:spPr>
        <p:txBody>
          <a:bodyPr wrap="square" lIns="0" rIns="0" tIns="0" bIns="1016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日本語WordNet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280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Japanese WordNet 2.1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語と意味を結び、概念の関係をたどる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日本語WordNetの公式ダウンロード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公式ダウンロード</a:t>
            </a:r>
          </a:p>
        </p:txBody>
      </p:sp>
      <p:pic>
        <p:nvPicPr>
          <p:cNvPr id="4" name="Picture 3" descr="official-down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615" y="1481328"/>
            <a:ext cx="4626768" cy="3063240"/>
          </a:xfrm>
          <a:prstGeom prst="rect">
            <a:avLst/>
          </a:prstGeom>
        </p:spPr>
      </p:pic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日本語WordNet. n.d. リリース・ダウンロード.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https://bond-lab.github.io/wnja/jpn/downloads.html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語と意味を結び付ける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概念の関係と表記・読み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収録規模と構築の歩み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形式・検索・利用条件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語と意味を結び付ける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語と意味を結び付ける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意味の近い語と、概念同士のつながりを収める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日本語WordNetは、語を意味ごとのまとまりに結び付け、概念同士の関係をたどれるようにした語彙データ。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同じ意味を表す語の候補や、より広い・狭い概念などを調べられる。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ここでは2026年10月24日公開の2.1を使い、実際の語・定義・関係を紹介する。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語と意味を結び付ける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金融機関としての「銀行」を調べる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語と意味を結び付ける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26464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掲載されている定義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73936"/>
            <a:ext cx="8046720" cy="5713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預金を受け付け、その金を貸付業務に回す金融機関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8189"/>
            <a:ext cx="7955279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同じ概念に属する語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57373"/>
            <a:ext cx="7955279" cy="4419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バンク・銀行・銭荘・預金金融機関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36493"/>
            <a:ext cx="7955279" cy="6126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例文：彼は銀行で小切手を換金した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同じ「銀行」でも、建物と金融機関は別の概念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語と意味を結び付ける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1168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61264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注目する意味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掲載されている定義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商業銀行取引ができる建物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金融機関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預金を受け付け、その金を貸付業務に回す金融機関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484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「銀行」が持つ四つの語義から、ここでは二つを取り上げる。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語・語義・概念の三つの単位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語と意味を結び付ける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2316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3200400"/>
                <a:gridCol w="32461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「銀行」での例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表記と読みを持つ語の項目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銀行（ギンコウ）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語と一つの概念の結び付き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銀行→金融機関の概念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概念
（synset）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意味を共有する語のまとまり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銀行・バンク・銭荘・
預金金融機関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  <a:effectLst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「犬」から、上位・下位の概念をたどる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2057400" y="2048256"/>
            <a:ext cx="2423160" cy="658368"/>
          </a:xfrm>
          <a:prstGeom prst="line">
            <a:avLst/>
          </a:prstGeom>
          <a:ln w="22860">
            <a:solidFill>
              <a:srgbClr val="626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480560" y="2048256"/>
            <a:ext cx="2423160" cy="658368"/>
          </a:xfrm>
          <a:prstGeom prst="line">
            <a:avLst/>
          </a:prstGeom>
          <a:ln w="22860">
            <a:solidFill>
              <a:srgbClr val="626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508760" y="3182112"/>
            <a:ext cx="2971800" cy="566927"/>
          </a:xfrm>
          <a:prstGeom prst="line">
            <a:avLst/>
          </a:prstGeom>
          <a:ln w="22860">
            <a:solidFill>
              <a:srgbClr val="2C91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480560" y="3182112"/>
            <a:ext cx="0" cy="566927"/>
          </a:xfrm>
          <a:prstGeom prst="line">
            <a:avLst/>
          </a:prstGeom>
          <a:ln w="22860">
            <a:solidFill>
              <a:srgbClr val="626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4480560" y="3182112"/>
            <a:ext cx="2971800" cy="566927"/>
          </a:xfrm>
          <a:prstGeom prst="line">
            <a:avLst/>
          </a:prstGeom>
          <a:ln w="22860">
            <a:solidFill>
              <a:srgbClr val="62666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43000" y="1572768"/>
            <a:ext cx="1828800" cy="475488"/>
          </a:xfrm>
          <a:prstGeom prst="rect">
            <a:avLst/>
          </a:prstGeom>
          <a:solidFill>
            <a:srgbClr val="FFFEF8"/>
          </a:solidFill>
          <a:ln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犬科動物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72768"/>
            <a:ext cx="1828800" cy="475488"/>
          </a:xfrm>
          <a:prstGeom prst="rect">
            <a:avLst/>
          </a:prstGeom>
          <a:solidFill>
            <a:srgbClr val="FFFEF8"/>
          </a:solidFill>
          <a:ln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家畜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706624"/>
            <a:ext cx="1828800" cy="475488"/>
          </a:xfrm>
          <a:prstGeom prst="rect">
            <a:avLst/>
          </a:prstGeom>
          <a:solidFill>
            <a:srgbClr val="FFFEF8"/>
          </a:solidFill>
          <a:ln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49039"/>
            <a:ext cx="1828800" cy="475488"/>
          </a:xfrm>
          <a:prstGeom prst="rect">
            <a:avLst/>
          </a:prstGeom>
          <a:solidFill>
            <a:srgbClr val="FFFEF8"/>
          </a:solidFill>
          <a:ln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柴犬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749039"/>
            <a:ext cx="1828800" cy="475488"/>
          </a:xfrm>
          <a:prstGeom prst="rect">
            <a:avLst/>
          </a:prstGeom>
          <a:solidFill>
            <a:srgbClr val="FFFEF8"/>
          </a:solidFill>
          <a:ln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猟犬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3749039"/>
            <a:ext cx="1828800" cy="475488"/>
          </a:xfrm>
          <a:prstGeom prst="rect">
            <a:avLst/>
          </a:prstGeom>
          <a:solidFill>
            <a:srgbClr val="FFFEF8"/>
          </a:solidFill>
          <a:ln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愛玩犬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7955279" cy="210312"/>
          </a:xfrm>
          <a:prstGeom prst="rect">
            <a:avLst/>
          </a:prstGeom>
          <a:noFill/>
          <a:effectLst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矢印は下位→上位。緑は日本語側、灰は英語側の関係を併用。</a:t>
            </a:r>
          </a:p>
        </p:txBody>
      </p:sp>
      <p:sp>
        <p:nvSpPr>
          <p:cNvPr id="16" name="sources"/>
          <p:cNvSpPr txBox="1"/>
          <p:nvPr/>
        </p:nvSpPr>
        <p:spPr>
          <a:xfrm>
            <a:off x="502920" y="4663440"/>
            <a:ext cx="8183879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  <p:sp>
        <p:nvSpPr>
          <p:cNvPr id="17" name="sources"/>
          <p:cNvSpPr txBox="1"/>
          <p:nvPr/>
        </p:nvSpPr>
        <p:spPr>
          <a:xfrm>
            <a:off x="502920" y="4846320"/>
            <a:ext cx="8183879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Open Multilingual Wordnet. n.d. OMW English Wordnet based on WordNet 3.0.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https://github.com/omwn/omw-data/releases/tag/v2.0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種類・構成員・行為の関係をたどる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実データでたどれる例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上位・下位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犬→犬科動物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組織と構成員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学校→教職員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行為の含意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食べる（固形食物）→噛む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22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英語データを併用して得た関係。語は各概念の代表語を示す。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 Multilingual Wordnet. n.d. OMW English Wordnet based on WordNet 3.0.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https://github.com/omwn/omw-data/releases/tag/v2.0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英語側の関係も使うと、概念のつながりが広がる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公式の利用例は、日本語のwnja:2.1と、英語のomw-en:2.0を併用する。英語データはPrinceton WordNet 3.0に基づく。</a:t>
            </a:r>
          </a:p>
          <a:p>
            <a:pPr marL="457200" indent="-355600" algn="l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言語をまたぐ概念ID（ILI）が、対応する概念を結び付ける。wnのexpand指定で、英語側の関係も使って探索できる。</a:t>
            </a:r>
          </a:p>
          <a:p>
            <a:pPr marL="457200" indent="-355600" algn="l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例えば「犬」の上位概念は、この併用により「犬科動物」と「家畜」として得られる。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 Multilingual Wordnet. n.d. OMW English Wordnet based on WordNet 3.0.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https://github.com/omwn/omw-data/releases/tag/v2.0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表記が同じ「物」でも、読みが違えば別の項目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3108960"/>
                <a:gridCol w="2651760"/>
              </a:tblGrid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語義数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ブツ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027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二つの項目が、共通の概念に結び付くこともある。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「走る」の項目には、読みと別の表記も入る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概念の関係と表記・読み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24328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393192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配布データの表記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代表表記（Lemma）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走る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読み（Form / kana）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ハシル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読み（Form / hira）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はしる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別の表記（Form）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奔る・趨る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2.1には、日本語の語がある概念が約5.8万件ある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508760"/>
          <a:ext cx="6400800" cy="2633472"/>
        </p:xfrm>
        <a:graphic>
          <a:graphicData uri="http://schemas.openxmlformats.org/drawingml/2006/table">
            <a:tbl>
              <a:tblPr firstRow="0" bandRow="0"/>
              <a:tblGrid>
                <a:gridCol w="4572000"/>
                <a:gridCol w="182880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日本語の語がある概念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57,885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90,706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148,703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日本語の定義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67,064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日本語の例文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35,359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70247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日本語の語がない概念も含めた全概念数は67,509。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既存の概念に語を結び、コーパスから補う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構築時には、Princeton WordNetの概念へ日本語の語を対応付ける方法を出発点にした。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その後、文章中の語がどの意味で使われたかを記録し、不足する語義や日本語に必要な概念を追加した。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現在の2.1は、1.1のデータと、意味を付けたNTU多言語コーパスの日本語データを基に作られている。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63440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2023. The Japanese Wordnet 2.0.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https://aclanthology.org/2023.gwc-1.22/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46320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Bond, F.; Kuribayashi, T. 2026. Japanese WordNet 2.1.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構築と拡張の歩み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9748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2006年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NICTで開発を開始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2009年2月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0.9を初公開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2023年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2.0の拡張を論文で報告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2026年10月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現在の配布パッケージ2.1を公開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63440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2023. The Japanese Wordnet 2.0.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https://aclanthology.org/2023.gwc-1.22/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846320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Bond, F.; Kuribayashi, T. 2026. Japanese WordNet 2.1.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2.1では、例文と語義・読みを見直した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NTU多言語コーパスに基づく日本語例文35,359件を追加した。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LLMによる複数回の確認やエラー報告を基に、誤りと判定された語義を削除し、語義付きコーパス「日本語SemCor」の見直しから語義を追加した。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読みの違う同形語を別の項目に分け、全角英数字や送り仮名などの表記も整えた。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12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定義と例文が、どの意味かを確かめる手掛かりになる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定義は概念の意味を説明し、例文は文の中での使われ方を示す。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例えば金融機関としての「銀行」には、「彼は銀行で小切手を換金した」という例文が付く。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一つの表記が複数の概念に結び付くため、検索や語の対応付けでは、定義や例文から使いたい意味を選ぶ。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収録規模と構築の歩み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2.1は、WN-LMF 1.4のXMLで配布される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LexicalEntryが語の項目、Senseが語義、Synsetが概念を表す。IDによる参照で、それぞれを結ぶ。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Lemmaには代表表記や品詞、Formには読みや別の表記を格納する。概念には定義・例文・関係を格納する。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wnパッケージで読み込むと、XMLの構造を自分で組み立てずに、語・語義・概念を検索できる。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Global WordNet Association. n.d. Wordnet LMF.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https://globalwordnet.github.io/schemas/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語の項目から、語義と概念のIDを参照する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&lt;LexicalEntry id="wnja-n-32857"&gt;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&lt;Lemma writtenForm="銀行" partOfSpeech="n"/&gt;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&lt;Form writtenForm="ギンコウ" script="kana"/&gt;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&lt;Sense id="wnja-08420278-n-32857"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synset="wnja-08420278-n"/&gt;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&lt;!-- ほかの語義と表記は省略 --&gt;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&lt;/LexicalEntry&gt;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「銀行」の金融機関の語義を抜粋。Senseのsynset属性が、概念のIDを指す。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概念には、定義や例文が付く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873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&lt;Synset id="wnja-08420278-n" partOfSpeech="n"&gt;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&lt;Definition&gt;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預金を受け付け、その金を貸付業務に回す金融機関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&lt;/Definition&gt;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&lt;Example&gt;彼は銀行で小切手を換金した&lt;/Example&gt;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&lt;/Synset&gt;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831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金融機関としての「銀行」の実レコードを整形して抜粋。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Pythonで英語データと日本語2.1を追加する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wn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wn.download("omw-en:2.0")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url = (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"https://github.com/bond-lab/wnja/releases/"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"download/v2.1/wnja-2.1.tar.xz"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wn.download(url)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事前にpip install wnでライブラリを導入する。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語から概念を探し、上位概念を取り出す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6033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 = wn.Wordnet("wnja:2.1", expand="omw-en:2.0")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s in w.synsets("犬", pos="n"):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print(s.id, s.lemmas())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print([p.lemmas() for p in s.hypernyms()])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1330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語の検索から、意味ごとのまとまりと上位概念を得る。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Goodman, M. W. n.d. Basic Usage. Wn documentation.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https://wn.readthedocs.io/en/latest/guides/basic.html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語の展開、概念での集計、意味の対応付けに使う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検索語の意味を選び、同じ概念に登録された別の語を候補に加える。例えば金融機関の「銀行」から「バンク」などを得る。</a:t>
            </a:r>
          </a:p>
          <a:p>
            <a:pPr marL="457200" indent="-355600" algn="l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上位概念をたどり、異なる語を広い意味のまとまりへ集約する。</a:t>
            </a:r>
          </a:p>
          <a:p>
            <a:pPr marL="457200" indent="-355600" algn="l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文章を扱うときは、形態素解析で取り出した語を概念へ対応付けると、表記だけでなく意味を使った処理につなげられる。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Goodman, M. W. n.d. Basic Usage. Wn documentation.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https://wn.readthedocs.io/en/latest/guides/basic.html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無償で利用でき、著作権表示とライセンスを保つ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日本語WordNetは、利用・複写・改変・頒布を、目的を問わず無償で認める独自のWordNet形式のライセンスで提供される。</a:t>
            </a:r>
          </a:p>
          <a:p>
            <a:pPr marL="457200" indent="-355600" algn="l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公開する成果物では、指定された著作権表示と公式サイトへのリンクを付ける。データを再配布するときはライセンスも添える。</a:t>
            </a:r>
          </a:p>
          <a:p>
            <a:pPr marL="457200" indent="-355600" algn="l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英語データomw-en:2.0を使う場合は、Princeton WordNet 3.0の著作権表示とライセンスも保つ。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日本語WordNet. n.d. リリース・ダウンロード.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https://bond-lab.github.io/wnja/jpn/downloads.html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81838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rgbClr val="303437"/>
                </a:solidFill>
                <a:latin typeface="Noto Sans"/>
              </a:defRPr>
            </a:pPr>
            <a:r>
              <a:rPr sz="8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Japanese WordNet 2.1 © 2009–2011 NICT; © 2012–2015, 2018–2020 Francis Bond;</a:t>
            </a:r>
          </a:p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  <a:defRPr sz="800" b="0">
                <a:solidFill>
                  <a:srgbClr val="303437"/>
                </a:solidFill>
                <a:latin typeface="Noto Sans"/>
              </a:defRPr>
            </a:pPr>
            <a:r>
              <a:rPr sz="8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© 2016–2017, 2021–2026 Francis Bond, Takayuki Kuribayashi. WordNet 3.0 © 2006 Princeton University.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語と意味を結び、概念の関係をたどる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日本語WordNetは、語・語義・概念を分け、同義語や概念同士の関係を扱う。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2.1には、読み・別表記、日本語の定義や例文、日本語に必要な概念の追加が含まれる。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WN-LMFをwnで読み、使いたい意味を選んで、検索語の展開や概念に基づく処理へつなげられる。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形式・検索・利用条件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315"/>
            <a:ext cx="8046720" cy="7782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語の情報と検索の補足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語の情報と検索の補足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「猫」の概念には、三つの語が登録されている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26464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掲載されている定義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73936"/>
            <a:ext cx="8046720" cy="88874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通常、厚く柔らかい毛皮を持ち、吠えることのできないネコ科の哺乳類：家ネコ; ヤマネコ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45561"/>
            <a:ext cx="7955279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同じ概念に属する語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4745"/>
            <a:ext cx="7955279" cy="4419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キャット・ニャンニャン・猫</a:t>
            </a:r>
          </a:p>
        </p:txBody>
      </p:sp>
      <p:sp>
        <p:nvSpPr>
          <p:cNvPr id="8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「学校」は、教育機関と授業期間に結び付く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5740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603504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掲載されている定義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教育機関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教育機関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授業期間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学校の授業期間; 学校で授業が行われる期間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941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同じ語の項目が、二つの概念に対応する。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同じ概念に、文体の違う語も登録される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26464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掲載されている定義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73936"/>
            <a:ext cx="8046720" cy="5713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固形食物を取り入れる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8189"/>
            <a:ext cx="7955279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同じ概念に属する語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57373"/>
            <a:ext cx="7955279" cy="4419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食べる・食う・召し上がる（掲載語の一部）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36493"/>
            <a:ext cx="7955279" cy="6126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例文：彼女はバナナを食べていた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33672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言い換えに使う場合は、敬語や文体に合う候補を選ぶ。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「静か」には、名詞への接続の情報もある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111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&lt;Lemma writtenForm="静か" partOfSpeech="a"&gt;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category="adjective-class"&gt;na&lt;/Tag&gt;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&lt;/Lemma&gt;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211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実レコードの抜粋。naは「静かな」のように、名詞へ「な」で接続する分類を表す。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Bond, F.; Kuribayashi, T. 2026. Japanese WordNet 2.1.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024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検索する単位により、「物」の返り値の数は変わる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3383280"/>
                <a:gridCol w="3291840"/>
                <a:gridCol w="13716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wnの呼出し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返る単位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w.words("物")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w.senses("物")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w.synsets("物")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重複を除いた概念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22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「ブツ」と「モノ」の項目から、同じ概念への結び付きが得られる。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Goodman, M. W. n.d. Basic Usage. Wn documentation.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https://wn.readthedocs.io/en/latest/guides/basic.html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旧1.1の形式と、現在の2.1を対応させる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語の情報と検索の補足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3108960"/>
                <a:gridCol w="32004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バージョン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利用時の入口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SQLite3・旧WordNet-LMF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旧版向けの例やコード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WN-LMF 1.4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wnで語と意味を検索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日本語WordNet. n.d. リリース・ダウンロード.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https://bond-lab.github.io/wnja/jpn/downloads.html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Japanese WordNet 2.1"/>
          <p:cNvSpPr txBox="1"/>
          <p:nvPr/>
        </p:nvSpPr>
        <p:spPr>
          <a:xfrm>
            <a:off x="523240" y="1463040"/>
            <a:ext cx="8072120" cy="1297051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Japanese WordNet 2.1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Francis Bond・Takayuki Kuribayashi. 2026-10-24. 公式リリース。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WN-LMF 1.4の配布物、収録規模、例文・語義・読みの変更を説明する。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https://github.com/bond-lab/wnja/releases/tag/v2.1</a:t>
            </a:r>
          </a:p>
        </p:txBody>
      </p:sp>
      <p:sp>
        <p:nvSpPr>
          <p:cNvPr id="5" name="文献 2: The Japanese Wordnet 2.0"/>
          <p:cNvSpPr txBox="1"/>
          <p:nvPr/>
        </p:nvSpPr>
        <p:spPr>
          <a:xfrm>
            <a:off x="548640" y="3012059"/>
            <a:ext cx="8046720" cy="1550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Japanese Wordnet 2.0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Francis Bond and Takayuki Kuribayashi. 2023. GWC, pp.179–186.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表記・読みの情報、コーパスに基づく語義追加、日本語固有の拡張を報告する。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https://aclanthology.org/2023.gwc-1.22/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Development of the Japanese WordNet"/>
          <p:cNvSpPr txBox="1"/>
          <p:nvPr/>
        </p:nvSpPr>
        <p:spPr>
          <a:xfrm>
            <a:off x="548640" y="1463040"/>
            <a:ext cx="8046720" cy="1550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Development of the Japanese WordNet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Hitoshi Isahara et al. 2008. LREC 2008, Marrakech.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日本語の大規模な意味辞書を作る目的と、既存の概念を利用する構築方法を説明する。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https://aclanthology.org/L08-1269/</a:t>
            </a:r>
          </a:p>
        </p:txBody>
      </p:sp>
      <p:sp>
        <p:nvSpPr>
          <p:cNvPr id="5" name="文献 2: Wordnet LMF"/>
          <p:cNvSpPr txBox="1"/>
          <p:nvPr/>
        </p:nvSpPr>
        <p:spPr>
          <a:xfrm>
            <a:off x="548640" y="3265424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Wordnet LMF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WordNet Association. n.d.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語・語義・概念とその関係を、共通のXMLで表すための仕様を定める。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https://globalwordnet.github.io/schemas/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Basic Usage"/>
          <p:cNvSpPr txBox="1"/>
          <p:nvPr/>
        </p:nvSpPr>
        <p:spPr>
          <a:xfrm>
            <a:off x="548640" y="1463040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Basic Usage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Michael Wayne Goodman. n.d. Wn 1.1.1 documentation.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語・語義・概念の検索と、特定の語彙データを指定する使い方を説明する。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https://wn.readthedocs.io/en/latest/guides/basic.html</a:t>
            </a:r>
          </a:p>
        </p:txBody>
      </p:sp>
      <p:sp>
        <p:nvSpPr>
          <p:cNvPr id="5" name="文献 2: OMW English Wordnet based on WordNet 3.0"/>
          <p:cNvSpPr txBox="1"/>
          <p:nvPr/>
        </p:nvSpPr>
        <p:spPr>
          <a:xfrm>
            <a:off x="548640" y="3012059"/>
            <a:ext cx="8046720" cy="1550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OMW English Wordnet based on WordNet 3.0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 Multilingual Wordnet. v2.0. 配布README。参照：2026-10-28。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英語データの構造、Princeton WordNetからの変換、言語間の概念対応を説明する。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https://github.com/omwn/omw-data/releases/tag/v2.0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2026-10-27T18:45:05Z</dcterms:modified>
  <dc:title>japanese-wordnet</dc:title>
  <dc:creator>sasakiy84</dc:creator>
  <dcterms:created xsi:type="dcterms:W3CDTF">2026-10-27T18:45:05Z</dcterms:created>
  <dc:language>ja-JP</dc:language>
</cp:coreProperties>
</file>