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CLUEbenchmark/FewCLU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7.07498v2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FewCLUE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FewCLUE/tree/62a02c6f31cf32814cfe522f78ef088228840f8d/datasets/eprstmt" TargetMode="External"/><Relationship Id="rId3" Type="http://schemas.openxmlformats.org/officeDocument/2006/relationships/hyperlink" Target="https://aclanthology.org/2023.emnlp-demo.17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scenarios/cleva_scenario.py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7.07498v2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FewCLUE" TargetMode="External"/><Relationship Id="rId3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FewCLUE/blob/62a02c6f31cf32814cfe522f78ef088228840f8d/baselines/models_pytorch/EFL/metrics/clue_compute_metrics.py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blob/62a02c6f31cf32814cfe522f78ef088228840f8d/baselines/models_pytorch/EFL/metrics/clue_compute_metrics.py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7.07498v2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7.07498v2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FewCLUE/blob/62a02c6f31cf32814cfe522f78ef088228840f8d/baselines/models_keras/pet/pet_eprstmt.py" TargetMode="External"/><Relationship Id="rId3" Type="http://schemas.openxmlformats.org/officeDocument/2006/relationships/hyperlink" Target="https://github.com/CLUEbenchmark/FewCLUE/blob/62a02c6f31cf32814cfe522f78ef088228840f8d/baselines/models_pytorch/EFL/processors/efl_fewclue.py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Relationship Id="rId3" Type="http://schemas.openxmlformats.org/officeDocument/2006/relationships/hyperlink" Target="https://github.com/stanford-crfm/helm/blob/v0.4.0/src/helm/benchmark/scenarios/cleva_scenario.py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presentation/run_specs_cleva_v1.conf" TargetMode="External"/><Relationship Id="rId3" Type="http://schemas.openxmlformats.org/officeDocument/2006/relationships/hyperlink" Target="https://crfm.stanford.edu/helm/classic/v0.4.0/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FewCLUE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7.07498v2" TargetMode="External"/><Relationship Id="rId3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Relationship Id="rId3" Type="http://schemas.openxmlformats.org/officeDocument/2006/relationships/hyperlink" Target="https://github.com/CLUEbenchmark/FewCLUE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tree/62a02c6f31cf32814cfe522f78ef088228840f8d/datasets/eprstmt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LUEbenchmark/FewCLUE/blob/62a02c6f31cf32814cfe522f78ef088228840f8d/baselines/models_keras/pet/pet_eprstmt.py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blob/62a02c6f31cf32814cfe522f78ef088228840f8d/baselines/models_pytorch/EFL/processors/efl_fewclue.py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7.07498v2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7.07498v2" TargetMode="External"/><Relationship Id="rId3" Type="http://schemas.openxmlformats.org/officeDocument/2006/relationships/hyperlink" Target="https://github.com/CLUEbenchmark/FewCLUE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7.07498v2" TargetMode="External"/><Relationship Id="rId3" Type="http://schemas.openxmlformats.org/officeDocument/2006/relationships/hyperlink" Target="https://github.com/CLUEbenchmark/FewCLUE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LUEbenchmark/FewCLUE/blob/62a02c6f31cf/baselines/models_keras/pet/pet_eprstmt.py" TargetMode="External"/><Relationship Id="rId3" Type="http://schemas.openxmlformats.org/officeDocument/2006/relationships/hyperlink" Target="https://github.com/CLUEbenchmark/FewCLUE/tree/62a02c6f31cf/baselines/models_pytorch/EFL/metrics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3.emnlp-demo.17/" TargetMode="External"/><Relationship Id="rId3" Type="http://schemas.openxmlformats.org/officeDocument/2006/relationships/hyperlink" Target="https://github.com/stanford-crfm/helm/blob/v0.4.0/src/helm/benchmark/scenarios/cleva_scenario.py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4.0/src/helm/benchmark/presentation/run_specs_cleva_v1.conf" TargetMode="External"/><Relationship Id="rId3" Type="http://schemas.openxmlformats.org/officeDocument/2006/relationships/hyperlink" Target="https://crfm.stanford.edu/helm/classic/v0.4.0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463002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EPRSTMT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472652"/>
            <a:ext cx="8046720" cy="13392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E-commerce Product Review Dataset for Sentiment Analysis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短い商品レビューから、評価の向きを読む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EPRSTMTの公式配布ページ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EPRSTMT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186" y="1481328"/>
            <a:ext cx="5583627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official README. 固定版62a02c6f31cf、EPRSTMTの定義・配布構造。 現在の公式画面。解析した原データは固定commit版。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https://github.com/CLUEbenchmark/FewCLUE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商品レビューの感情を読む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作成の由来と、少数例の分割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評価の分母と、実装で変わる入力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CLEVAでの採用と利用条件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商品レビューの感情を読む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商品レビューの感情を読む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商品の品質より、レビューの評価を分類する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EPRSTMTは、中国語の商品レビューを読み、投稿された評価が正面（肯定的）か負面（否定的）かを二つのラベルで表すデータセット。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FewCLUEではEPR-sentimentとも呼ばれる。電子商取引の商品レビューを使う、単文の感情分析課題。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出力はPositiveかNegative。星の数や、商品の故障原因、レビューが事実かどうかを答える課題ではない。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商品レビューの感情を読む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(2021). FewCLUE: A Chinese Few-shot Learning Evaluation Benchmark. arXiv:2107.07498v2.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https://arxiv.org/abs/2107.07498v2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正面と負面は、配布された二つのラベル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原データはid、sentence、labelを持つ。Positiveは正向、Negativeは負向と、公式READMEが定義する。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配送の速さ、価格、音質、同梱品などへの評価が、一つのレビューで食い違うことがある。部分的な否定語と、レコード全体の配布ラベルを分けて読む。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以下の13例では、レビューの中国語全文と日本語訳を同じページに置き、公開ラベルをそのまま示す。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商品レビューの感情を読む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official README. 固定版62a02c6f31cf、EPRSTMTの定義・配布構造。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実例1：通話中の雑音と、正規品への疑念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商品レビューの感情を読む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train_4.json / 0起算行7 / ローカルID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627632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840480" cy="10075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今天刚拿到手机，打电话时发现手机听筒有吱吱吱的杂声，不满意，真怀疑是不是正品</a:t>
            </a:r>
          </a:p>
        </p:txBody>
      </p:sp>
      <p:sp>
        <p:nvSpPr>
          <p:cNvPr id="8" name="quote-frame"/>
          <p:cNvSpPr/>
          <p:nvPr/>
        </p:nvSpPr>
        <p:spPr>
          <a:xfrm>
            <a:off x="4617720" y="1847088"/>
            <a:ext cx="3931920" cy="18541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今日、携帯電話を受け取りました。電話をかけると受話口からジージーという雑音がすることに気づきました。不満です。本当に正規品なのか疑ってしまいます。</a:t>
            </a:r>
          </a:p>
        </p:txBody>
      </p:sp>
      <p:sp>
        <p:nvSpPr>
          <p:cNvPr id="9" name="answer"/>
          <p:cNvSpPr txBox="1"/>
          <p:nvPr/>
        </p:nvSpPr>
        <p:spPr>
          <a:xfrm>
            <a:off x="585216" y="3970274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正解：負面（否定的） / Negative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 train_4.json、0起算行7。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雑音への不満から、正規品かを疑う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不満と正規品への疑念を述べる。CLEVA論文の公開例と原文が一致する。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受取直後の通話で、受話口から雑音がする。最後の疑いは投稿者の発言であり、正規品でないと確認した結果ではない。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元ラベルNegativeは、レビューの否定的な評価を表す。CLEVAで引用された文も、元コーパスの1件として位置を特定できる。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商品レビューの感情を読む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Li et al. (2023).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https://aclanthology.org/2023.emnlp-demo.17/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実例2：速さ・良さ・安さを繰り返す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商品レビューの感情を読む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train_0.json / 0起算行29 / ローカルID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627632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840480" cy="4318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商城就是快好省，快好省</a:t>
            </a:r>
          </a:p>
        </p:txBody>
      </p:sp>
      <p:sp>
        <p:nvSpPr>
          <p:cNvPr id="8" name="quote-frame"/>
          <p:cNvSpPr/>
          <p:nvPr/>
        </p:nvSpPr>
        <p:spPr>
          <a:xfrm>
            <a:off x="4617720" y="1847088"/>
            <a:ext cx="3931920" cy="999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このモールは本当に速くて、よくて、お得。速くて、よくて、お得。</a:t>
            </a:r>
          </a:p>
        </p:txBody>
      </p:sp>
      <p:sp>
        <p:nvSpPr>
          <p:cNvPr id="9" name="answer"/>
          <p:cNvSpPr txBox="1"/>
          <p:nvPr/>
        </p:nvSpPr>
        <p:spPr>
          <a:xfrm>
            <a:off x="585216" y="3108833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正解：正面（肯定的） / Positive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 train_0.json、0起算行29。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同じ短文でも、元データと選択肢付き課題は違う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元のレコードはレビュー文とPositiveラベル。HELMの公開説明例は、「正面か負面か」と問い、A. 负面、B. 正面を選ばせる。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公開説明例の正解Bは、原データのPositiveに対応する。ただし、全テンプレートやCLEVAの採用集合を取得できたわけではない。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この文はtrainの複数分割に現れる。同じレビューが別IDで現れても、異なる内容の例が増えたことにはならない。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商品レビューの感情を読む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CLEVASentimentAnalysisScenario / Converter.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実例3：包装の傷より、試聴後の評価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商品レビューの感情を読む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train_0.json / 0起算行23 / ローカルID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627632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840480" cy="711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外包装上有点磨损，试听后感觉不错</a:t>
            </a:r>
          </a:p>
        </p:txBody>
      </p:sp>
      <p:sp>
        <p:nvSpPr>
          <p:cNvPr id="8" name="quote-frame"/>
          <p:cNvSpPr/>
          <p:nvPr/>
        </p:nvSpPr>
        <p:spPr>
          <a:xfrm>
            <a:off x="4617720" y="1847088"/>
            <a:ext cx="3931920" cy="711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外箱に少し擦れがありますが、試聴した感じはよいです。</a:t>
            </a:r>
          </a:p>
        </p:txBody>
      </p:sp>
      <p:sp>
        <p:nvSpPr>
          <p:cNvPr id="9" name="answer"/>
          <p:cNvSpPr txBox="1"/>
          <p:nvPr/>
        </p:nvSpPr>
        <p:spPr>
          <a:xfrm>
            <a:off x="585216" y="2821686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正解：正面（肯定的） / Positive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 train_0.json、0起算行23。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傷がある、という一節だけでは決めない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一部に不満が含まれても、配布ラベルはPositive。単語一つの極性とレビュー全体を分ける。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「外箱に少し擦れ」と「試聴した感じはよい」が同居する。全体のラベルはPositive。原文が示さない評価の重みを、後から数式で補わない。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解釈が難しい例や、不満が並ぶPositiveも含まれる。配布ラベルを保持し、モデルの誤りと人手で再注釈した結果を混同しない。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商品レビューの感情を読む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作成の由来と、少数例の分割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作成の由来と、少数例の分割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ICIPの収集と、FewCLUEでの再構成を分ける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FewCLUE論文は、北京師範大学のICIP Labが収集した商品レビューを、FewCLUE向けにフィルタ・検査・再構成したと説明する。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原収集全体の規模、注釈者数、星評価からラベルを作ったかどうかは、確認した一次資料では特定できない。特定のECサイト名も推測しない。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対象は、FewCLUE公式リポジトリの固定公開版。ICIPの元配布と同一の全コーパスだとは扱わない。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作成の由来と、少数例の分割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(2021). FewCLUE: A Chinese Few-shot Learning Evaluation Benchmark. arXiv:2107.07498v2.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https://arxiv.org/abs/2107.07498v2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1組32件と、公開・非公開テストを区別する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作成の由来と、少数例の分割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23744"/>
        </p:xfrm>
        <a:graphic>
          <a:graphicData uri="http://schemas.openxmlformats.org/drawingml/2006/table">
            <a:tbl>
              <a:tblPr firstRow="0" bandRow="0"/>
              <a:tblGrid>
                <a:gridCol w="4023360"/>
                <a:gridCol w="1371600"/>
                <a:gridCol w="265176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正解ラベル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train_0〜4（各）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あり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dev_0〜4（各）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あり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test_public.json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あり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753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unlabeled.json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19,565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33672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5組のtrain/devと、一つずつのテスト。行数は固定公開ファイルを再集計。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32件の中の、二つのラベルの内訳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作成の由来と、少数例の分割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23744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3474720"/>
                <a:gridCol w="347472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 正面 / 負面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 正面 / 負面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 / 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 / 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 / 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 / 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 / 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 / 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 / 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 / 18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 / 17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 / 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33672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各組は合計32件。各クラス32件ではなく、内訳も組ごとに異なる。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集約版の160行は、160の異なる文ではない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集約ファイルは160行だが、一意なレビュー文はtrainが131件、devが135件。同じ文が別の分割やIDで繰り返されても、独立した新しい用例とは数えない。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READMEはtrain_few_allとdev_few_allを「合併・重複除去した結果」と説明する。しかし固定ファイルは、ID以外を比較すると0〜4の各分割を順に連結した内容と完全一致する。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集約版のIDは0〜159へ振り直される。IDが異なることと、レビュー文が異なることは同じではない。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作成の由来と、少数例の分割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official README. 固定版62a02c6f31cf、EPRSTMTの定義・配布構造。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ICIP Lab / CLUE team. EPRSTMT official public files via FewCLUE. 固定版62a02c6f31cf。原レビューの権利は出所に帰属。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同じ組のtrain/devと、別の組の共有を分ける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同じ番号のtrain_iとdev_iを、Unicode文字列の完全一致で照合すると、同じレビュー文の共有は5組とも0件。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一方、別番号のtrain同士やdev同士には同文がある。少数例の分割をまたぐ再出現と、同じ組内のtrain/devの共有を分けて読む。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空白や句読点を消さずに数える。異なる文章を、意味が似ているという理由で重複扱いにしない。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作成の由来と、少数例の分割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評価の分母と、実装で変わる入力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評価の分母と、実装で変わる入力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基本指標は、正解ラベルとの一致率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公式EFL baselineのcompute_metricsは、eprstmtに対してsimple_accuracyを呼ぶ。一致した予測数を、ラベル付き評価例数で割る。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ここで公式関数を実行できるのは公開testの610件。公開されていない753件の正解を仮定して、テスト成績を作らない。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32件で学習するfew-shot設定と、大規模言語モデルの入力に何例を置くかというin-contextのshot数は別の条件。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評価の分母と、実装で変わる入力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compute_metrics / simple_accuracy. EFL baseline、固定版62a02c6f31cf。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https://github.com/CLUEbenchmark/FewCLUE/blob/62a02c6f31cf32814cfe522f78ef088228840f8d/baselines/models_pytorch/EFL/metrics/clue_compute_metrics.py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公開610件では、定数予測はどちらも50%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評価の分母と、実装で変わる入力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371600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2286000"/>
                <a:gridCol w="22860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定数予測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一致 / 分母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Accuracy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全てNegative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305 / 610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50.00%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全てPositive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305 / 610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50.00%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0815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配布正解を使った公式関数の再計算。訓練済みモデルや非公開testの成績ではない。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compute_metrics / simple_accuracy. EFL baseline、固定版62a02c6f31cf。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https://github.com/CLUEbenchmark/FewCLUE/blob/62a02c6f31cf32814cfe522f78ef088228840f8d/baselines/models_pytorch/EFL/metrics/clue_compute_metrics.py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2021年に報告された、EPRSTMTの成績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評価の分母と、実装で変わる入力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86000"/>
        </p:xfrm>
        <a:graphic>
          <a:graphicData uri="http://schemas.openxmlformats.org/drawingml/2006/table">
            <a:tbl>
              <a:tblPr firstRow="0" bandRow="0"/>
              <a:tblGrid>
                <a:gridCol w="5943600"/>
                <a:gridCol w="210312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方法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報告値（%）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Fine-tuning / RoBERTa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65.4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Zero-shot / RoBERTa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85.2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PET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86.7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P-tuning / RoBERTa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88.3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959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FewCLUE論文v2のEPRSTMT列。原論文の報告値を引用し、公開610件で再採点した値とは分ける。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(2021). FewCLUE: A Chinese Few-shot Learning Evaluation Benchmark. arXiv:2107.07498v2.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https://arxiv.org/abs/2107.07498v2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人手90.0%も、モデルと同じ分母ではない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論文の人手評価は、練習と討議を経た注釈者がtestの100件を読む手順。EPRSTMTの報告値は90.0%だが、全件に対するモデル値と分母をそろえた再採点ではない。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論文では、注釈者はdevの30〜50件で練習し、正解と比べ、議論してからtestの100件を注釈する。EPRSTMTの原ラベル作成手順とは別の人手評価。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元の個別予測や非公開正解を取得していないため、論文のモデル値・人手値をこの資料で再現したとは呼ばない。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評価の分母と、実装で変わる入力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(2021). FewCLUE: A Chinese Few-shot Learning Evaluation Benchmark. arXiv:2107.07498v2.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https://arxiv.org/abs/2107.07498v2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ラベル語や文ペアへ変換しても、原例数は同じ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PETの公開実装はNegativeを0、Positiveを1へ写し、「不」「很」というラベル語を使う。モデル入力のテンプレートは、原レビューそのものとは別の処理。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EFLはレビューとラベル説明の文ペアを作り、entail / not_entailを学習する。変換後の文ペア数を、原コーパスのレビュー数と呼ばない。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test.jsonには正解ラベルがない。PETの読み込み関数が置く仮の0を、配布されたNegativeの正解とみなして採点しない。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評価の分母と、実装で変わる入力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PET baseline pet_eprstmt.py. ラベル語・読み込み・評価。固定版62a02c6f31cf。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https://github.com/CLUEbenchmark/FewCLUE/blob/62a02c6f31cf32814cfe522f78ef088228840f8d/baselines/models_keras/pet/pet_eprstmt.py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CLUE team. EprstmtProcessor. EFL baseline、固定版62a02c6f31cf。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https://github.com/CLUEbenchmark/FewCLUE/blob/62a02c6f31cf32814cfe522f78ef088228840f8d/baselines/models_pytorch/EFL/processors/efl_fewclue.py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CLEVAでの採用と利用条件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CLEVAでの採用と利用条件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元の感情分類と、CLEVAでの利用範囲を分ける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CLEVA論文は、感情分析にFewCLUEを採用し、通話中の雑音を訴えるレビューを公開例として示す。原データのtrain_4行7と全文・Negativeラベルが一致する。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v0.4.0の感情分析クラスは、モールを褒める別の公開例を示す。これは原データのtrain_0行29などと一致する。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説明例の一致で確認できるのは、その原票との対応。CLEVAが使ったレビュー全件・選び方・実際の全入力は未取得のまま区別する。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 et al. (2023).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CLEVASentimentAnalysisScenario / Converter.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設定6通りと、固定公開実行0件は別の情報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20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HELMのCLEVA v1設定には、sentiment_analysisのprompt_idが0〜5の6通りある。設定の数を、実行済みの件数や採用レビュー数とは呼ばない。</a:t>
            </a:r>
          </a:p>
          <a:p>
            <a:pPr marL="457200" indent="-355600">
              <a:lnSpc>
                <a:spcPts val="2320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Classic v0.4.0の固定公開run索引8,526件では、CLEVAの対象実行は0件。公開実行から生成結果やAccuracyを読み取ったとはしない。</a:t>
            </a:r>
          </a:p>
          <a:p>
            <a:pPr marL="457200" indent="-355600">
              <a:lnSpc>
                <a:spcPts val="2320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変換済みの集合を読み込むConverterがあり、入力やラベルの形は変換後のデータに依存する。公開説明例から全設定の候補順を決めつけない。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CLEVA v1 run configuration. HELM v0.4.0.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https://github.com/stanford-crfm/helm/blob/v0.4.0/src/helm/benchmark/presentation/run_specs_cleva_v1.conf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HELM Classic v0.4.0、2023-11-17固定公開版。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https://crfm.stanford.edu/helm/classic/v0.4.0/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出所の表示と、再利用の条件を区別する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収集元としてのICIP Lab、FewCLUEの作成・配布者、原レビューの権利者は同じとは限らない。引用は原文と訳を区別し、配布版と原位置を添えて参照する。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確認した固定リポジトリには、EPRSTMTデータ全体への包括ライセンスを特定できなかった。公開ダウンロードできることだけで、無条件の再配布許諾とはしない。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BERTコードのサブディレクトリにあるApache 2.0を、商品レビュー本文全体の許諾へ広げない。研究利用や再配布では、配布元の条件を個別に確認する。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FewCLUE official README. 固定版62a02c6f31cf、EPRSTMTの定義・配布構造。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公開版・原位置・評価範囲を併せて参照する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固定commit、各JSONファイルのSHA-256、ファイル名と0起算行、原レコードのIDで、用例と公開版を特定する。IDだけでは異なる分割の文を特定できない。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13例は全て独立したレビュー文。主な3例はCLEVA論文・HELM説明・公式READMEに対応し、追加10例は公開testから選んだ。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公開テストの再計算、論文の報告値、HELMの設定、未取得のCLEVA採用集合は、それぞれ異なる根拠と分母として扱う。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読むときに残したい、三つの区別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短いレビューでも、複数の評価対象や皮肉が同居する。日本語訳で原文にない事情を補わず、配布ラベルを読み解く。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32件の各分割、重複を含む160行の集約版、正解付き610件と正解非公開753件を混同しない。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公式Accuracyの再計算と、2021年の研究報告値、CLEVA/HELMの採用情報を分けて利用する。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CLEVAでの採用と利用条件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(2021). FewCLUE: A Chinese Few-shot Learning Evaluation Benchmark. arXiv:2107.07498v2.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https://arxiv.org/abs/2107.07498v2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ICIP Lab / CLUE team. EPRSTMT official public files via FewCLUE. 固定版62a02c6f31cf。原レビューの権利は出所に帰属。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追加の原レビュー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原位置・重複・実装の補足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追加の原レビュー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追加の原レビュー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実例4：配送への皮肉を読む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追加の原レビュー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test_public.json / 0起算行0 / ローカルID 835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627632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840480" cy="711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呵呵了 这物流速度也是没谁了 同城网购竟然三天了还不到</a:t>
            </a:r>
          </a:p>
        </p:txBody>
      </p:sp>
      <p:sp>
        <p:nvSpPr>
          <p:cNvPr id="8" name="quote-frame"/>
          <p:cNvSpPr/>
          <p:nvPr/>
        </p:nvSpPr>
        <p:spPr>
          <a:xfrm>
            <a:off x="4617720" y="1847088"/>
            <a:ext cx="393192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はは、この配送スピードには参りました。同じ市内のネット購入なのに、3日たってもまだ届きません。</a:t>
            </a:r>
          </a:p>
        </p:txBody>
      </p:sp>
      <p:sp>
        <p:nvSpPr>
          <p:cNvPr id="9" name="answer"/>
          <p:cNvSpPr txBox="1"/>
          <p:nvPr/>
        </p:nvSpPr>
        <p:spPr>
          <a:xfrm>
            <a:off x="585216" y="3395980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正解：負面（否定的） / Negative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 test_public.json、0起算行0。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実例5：短い肯定と、今後の試用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追加の原レビュー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test_public.json / 0起算行1 / ローカルID 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627632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840480" cy="4318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还不错，等试用一段时间再说</a:t>
            </a:r>
          </a:p>
        </p:txBody>
      </p:sp>
      <p:sp>
        <p:nvSpPr>
          <p:cNvPr id="8" name="quote-frame"/>
          <p:cNvSpPr/>
          <p:nvPr/>
        </p:nvSpPr>
        <p:spPr>
          <a:xfrm>
            <a:off x="4617720" y="1847088"/>
            <a:ext cx="3931920" cy="711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悪くありません。しばらく使ってから、また評価します。</a:t>
            </a:r>
          </a:p>
        </p:txBody>
      </p:sp>
      <p:sp>
        <p:nvSpPr>
          <p:cNvPr id="9" name="answer"/>
          <p:cNvSpPr txBox="1"/>
          <p:nvPr/>
        </p:nvSpPr>
        <p:spPr>
          <a:xfrm>
            <a:off x="585216" y="2821686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正解：正面（肯定的） / Positive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 test_public.json、0起算行1。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実例6：使わなくても電池がなくなる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追加の原レビュー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test_public.json / 0起算行3 / ローカルID 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627632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840480" cy="711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冲满电2天没用过就没电   客服说正常的</a:t>
            </a:r>
          </a:p>
        </p:txBody>
      </p:sp>
      <p:sp>
        <p:nvSpPr>
          <p:cNvPr id="8" name="quote-frame"/>
          <p:cNvSpPr/>
          <p:nvPr/>
        </p:nvSpPr>
        <p:spPr>
          <a:xfrm>
            <a:off x="4617720" y="1847088"/>
            <a:ext cx="393192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満充電にして、2日間使っていないのに電池がなくなりました。カスタマーサービスは正常だと言っています。</a:t>
            </a:r>
          </a:p>
        </p:txBody>
      </p:sp>
      <p:sp>
        <p:nvSpPr>
          <p:cNvPr id="9" name="answer"/>
          <p:cNvSpPr txBox="1"/>
          <p:nvPr/>
        </p:nvSpPr>
        <p:spPr>
          <a:xfrm>
            <a:off x="585216" y="3395980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正解：負面（否定的） / Negative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 test_public.json、0起算行3。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実例7：高齢者にも使いやすい携帯電話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追加の原レビュー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test_public.json / 0起算行16 / ローカルID 303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627632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840480" cy="711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手机好用，声音大，手写流利，老人非常中意。</a:t>
            </a:r>
          </a:p>
        </p:txBody>
      </p:sp>
      <p:sp>
        <p:nvSpPr>
          <p:cNvPr id="8" name="quote-frame"/>
          <p:cNvSpPr/>
          <p:nvPr/>
        </p:nvSpPr>
        <p:spPr>
          <a:xfrm>
            <a:off x="4617720" y="1847088"/>
            <a:ext cx="393192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携帯電話は使いやすく、音も大きく、手書き入力も滑らかです。高齢者がとても気に入っています。</a:t>
            </a:r>
          </a:p>
        </p:txBody>
      </p:sp>
      <p:sp>
        <p:nvSpPr>
          <p:cNvPr id="9" name="answer"/>
          <p:cNvSpPr txBox="1"/>
          <p:nvPr/>
        </p:nvSpPr>
        <p:spPr>
          <a:xfrm>
            <a:off x="585216" y="3395980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正解：正面（肯定的） / Positive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 test_public.json、0起算行16。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実例8：期待との差や痛みがあっても正面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追加の原レビュー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test_public.json / 0起算行7 / ローカルID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627632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84048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耳机做工还行，音效的话没有想象中的那么好，可能需要煲机吧，耳机戴了一两个小时耳朵就有点疼</a:t>
            </a:r>
          </a:p>
        </p:txBody>
      </p:sp>
      <p:sp>
        <p:nvSpPr>
          <p:cNvPr id="8" name="quote-frame"/>
          <p:cNvSpPr/>
          <p:nvPr/>
        </p:nvSpPr>
        <p:spPr>
          <a:xfrm>
            <a:off x="4617720" y="1847088"/>
            <a:ext cx="3931920" cy="15663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6387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イヤホンの作りはまあまあです。音は想像していたほどよくなく、慣らし運転が必要なのかもしれません。1、2時間着けると、耳が少し痛くなります。</a:t>
            </a:r>
          </a:p>
        </p:txBody>
      </p:sp>
      <p:sp>
        <p:nvSpPr>
          <p:cNvPr id="9" name="answer"/>
          <p:cNvSpPr txBox="1"/>
          <p:nvPr/>
        </p:nvSpPr>
        <p:spPr>
          <a:xfrm>
            <a:off x="585216" y="3683127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正解：正面（肯定的） / Positive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 test_public.json、0起算行7。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実例9：中国製品を応援しつつ、操作に戸惑う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追加の原レビュー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test_public.json / 0起算行12 / ローカルID 996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627632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840480" cy="711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支持国产，用起来挺好的，操作有点不习惯。</a:t>
            </a:r>
          </a:p>
        </p:txBody>
      </p:sp>
      <p:sp>
        <p:nvSpPr>
          <p:cNvPr id="8" name="quote-frame"/>
          <p:cNvSpPr/>
          <p:nvPr/>
        </p:nvSpPr>
        <p:spPr>
          <a:xfrm>
            <a:off x="4617720" y="1847088"/>
            <a:ext cx="3931920" cy="999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中国製品を応援します。使い心地はよいですが、操作には少し慣れません。</a:t>
            </a:r>
          </a:p>
        </p:txBody>
      </p:sp>
      <p:sp>
        <p:nvSpPr>
          <p:cNvPr id="9" name="answer"/>
          <p:cNvSpPr txBox="1"/>
          <p:nvPr/>
        </p:nvSpPr>
        <p:spPr>
          <a:xfrm>
            <a:off x="585216" y="3108833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正解：正面（肯定的） / Positive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 test_public.json、0起算行12。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実例10：厚さが期待と合わない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追加の原レビュー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test_public.json / 0起算行18 / ローカルID 209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627632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840480" cy="999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太厚了，和期待值有差距.夏天揣口袋里绝对不和谐.看来只能应急用用了.</a:t>
            </a:r>
          </a:p>
        </p:txBody>
      </p:sp>
      <p:sp>
        <p:nvSpPr>
          <p:cNvPr id="8" name="quote-frame"/>
          <p:cNvSpPr/>
          <p:nvPr/>
        </p:nvSpPr>
        <p:spPr>
          <a:xfrm>
            <a:off x="4617720" y="1847088"/>
            <a:ext cx="3931920" cy="15747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厚すぎて、期待とは差があります。夏にポケットへ入れたら、どう見ても不格好です。どうやら非常用に使うしかなさそうです。</a:t>
            </a:r>
          </a:p>
        </p:txBody>
      </p:sp>
      <p:sp>
        <p:nvSpPr>
          <p:cNvPr id="9" name="answer"/>
          <p:cNvSpPr txBox="1"/>
          <p:nvPr/>
        </p:nvSpPr>
        <p:spPr>
          <a:xfrm>
            <a:off x="585216" y="3683127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正解：負面（否定的） / Negative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 test_public.json、0起算行18。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実例11：使って分かった複数の問題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追加の原レビュー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test_public.json / 0起算行22 / ローカルID 315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627632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840480" cy="10075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用了几天，发现很多问题，无线网容易掉线，屏幕容易刮花，打开网页容易死掉，不值的买</a:t>
            </a:r>
          </a:p>
        </p:txBody>
      </p:sp>
      <p:sp>
        <p:nvSpPr>
          <p:cNvPr id="8" name="quote-frame"/>
          <p:cNvSpPr/>
          <p:nvPr/>
        </p:nvSpPr>
        <p:spPr>
          <a:xfrm>
            <a:off x="4617720" y="1847088"/>
            <a:ext cx="3931920" cy="18541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数日使って、多くの問題に気づきました。無線ネットワークは切れやすく、画面は傷つきやすく、ウェブページを開くとフリーズしやすいです。買う価値はありません。</a:t>
            </a:r>
          </a:p>
        </p:txBody>
      </p:sp>
      <p:sp>
        <p:nvSpPr>
          <p:cNvPr id="9" name="answer"/>
          <p:cNvSpPr txBox="1"/>
          <p:nvPr/>
        </p:nvSpPr>
        <p:spPr>
          <a:xfrm>
            <a:off x="585216" y="3970274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正解：負面（否定的） / Negative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 test_public.json、0起算行22。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実例12：イヤホンが見当たらず、気分が変わる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追加の原レビュー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test_public.json / 0起算行24 / ローカルID 1050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627632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84048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收到手机的时候挺高兴的。 但是我找了半天都没有找到耳机，跟我想象的不太一样 心情立马不好了</a:t>
            </a:r>
          </a:p>
        </p:txBody>
      </p:sp>
      <p:sp>
        <p:nvSpPr>
          <p:cNvPr id="8" name="quote-frame"/>
          <p:cNvSpPr/>
          <p:nvPr/>
        </p:nvSpPr>
        <p:spPr>
          <a:xfrm>
            <a:off x="4617720" y="1847088"/>
            <a:ext cx="3931920" cy="18541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携帯電話が届いたときはうれしかったです。でも、しばらく探してもイヤホンが見つからず、想像していたものとは少し違いました。たちまち嫌な気分になりました。</a:t>
            </a:r>
          </a:p>
        </p:txBody>
      </p:sp>
      <p:sp>
        <p:nvSpPr>
          <p:cNvPr id="9" name="answer"/>
          <p:cNvSpPr txBox="1"/>
          <p:nvPr/>
        </p:nvSpPr>
        <p:spPr>
          <a:xfrm>
            <a:off x="585216" y="3970274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正解：負面（否定的） / Negative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 test_public.json、0起算行24。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実例13：イヤホンへの不満を含む正面ラベル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追加の原レビュー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test_public.json / 0起算行27 / ローカルID 994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627632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840480" cy="999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一分钱一分货嘛，毕竟价格在这里，也不错了，没送耳机，本人不高兴</a:t>
            </a:r>
          </a:p>
        </p:txBody>
      </p:sp>
      <p:sp>
        <p:nvSpPr>
          <p:cNvPr id="8" name="quote-frame"/>
          <p:cNvSpPr/>
          <p:nvPr/>
        </p:nvSpPr>
        <p:spPr>
          <a:xfrm>
            <a:off x="4617720" y="1847088"/>
            <a:ext cx="393192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値段なりですよね。結局この価格ですし、悪くありません。イヤホンが付いてこなかったので、私は不満です。</a:t>
            </a:r>
          </a:p>
        </p:txBody>
      </p:sp>
      <p:sp>
        <p:nvSpPr>
          <p:cNvPr id="9" name="answer"/>
          <p:cNvSpPr txBox="1"/>
          <p:nvPr/>
        </p:nvSpPr>
        <p:spPr>
          <a:xfrm>
            <a:off x="585216" y="3395980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正解：正面（肯定的） / Positive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 test_public.json、0起算行27。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原位置・重複・実装の補足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原位置・重複・実装の補足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13例のファイル・行位置・配布ラベル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原位置・重複・実装の補足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64412"/>
          <a:ext cx="8046720" cy="2842256"/>
        </p:xfrm>
        <a:graphic>
          <a:graphicData uri="http://schemas.openxmlformats.org/drawingml/2006/table">
            <a:tbl>
              <a:tblPr firstRow="0" bandRow="0"/>
              <a:tblGrid>
                <a:gridCol w="594360"/>
                <a:gridCol w="3520440"/>
                <a:gridCol w="1280160"/>
                <a:gridCol w="2651760"/>
              </a:tblGrid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原ファイル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0起算行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原ラベル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train_4.json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Negative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train_0.json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Positive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train_0.json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Positive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test_public.json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Negative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test_public.json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Positive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test_public.json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Negative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test_public.json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Positive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307839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IDはファイル内の値。同文の別IDを区別する。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13例のファイル・行位置・配布ラベル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原位置・重複・実装の補足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86974"/>
        </p:xfrm>
        <a:graphic>
          <a:graphicData uri="http://schemas.openxmlformats.org/drawingml/2006/table">
            <a:tbl>
              <a:tblPr firstRow="0" bandRow="0"/>
              <a:tblGrid>
                <a:gridCol w="594360"/>
                <a:gridCol w="3520440"/>
                <a:gridCol w="1280160"/>
                <a:gridCol w="2651760"/>
              </a:tblGrid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原ファイル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0起算行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原ラベル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test_public.json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Positive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test_public.json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Positive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test_public.json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Negative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test_public.json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Negative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test_public.json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Negative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test_public.json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Positive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19690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IDはファイル内の値。同文の別IDを区別する。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READMEの説明と、集約ファイルの実内容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原位置・重複・実装の補足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1872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1280160"/>
                <a:gridCol w="1463040"/>
                <a:gridCol w="146304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集約版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一意な文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重複分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train_few_all.json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dev_few_all.json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97180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IDを除く全項目が、0〜4の分割を順に連結した内容と一致。同文のラベル違いは集約版内0件。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</a:t>
            </a:r>
          </a:p>
          <a:p>
            <a:pPr>
              <a:lnSpc>
                <a:spcPts val="940"/>
              </a:lnSpc>
              <a:spcAft>
                <a:spcPts val="40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CLUE team. FewCLUE official README. 固定版62a02c6f31cf、EPRSTMTの定義・配布構造。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https://github.com/CLUEbenchmark/FewCLUE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無ラベル資料の行数と、同文の共有も分ける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原位置・重複・実装の補足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23744"/>
        </p:xfrm>
        <a:graphic>
          <a:graphicData uri="http://schemas.openxmlformats.org/drawingml/2006/table">
            <a:tbl>
              <a:tblPr firstRow="0" bandRow="0"/>
              <a:tblGrid>
                <a:gridCol w="5212080"/>
                <a:gridCol w="283464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照合対象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一意な文・共有数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unlabeled 全19,565行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一意な文 18,744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train集約版とunlabeled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共有文 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dev集約版とunlabeled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共有文 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公開testとunlabeled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共有文 45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非公開testとunlabeled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共有文 47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33672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完全一致する文の共有数。無ラベル資料の利用は公式ルールで認められる。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公開testの分母と、定数予測を確かめる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原位置・重複・実装の補足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4562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60536" bIns="12700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json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rows = [json.loads(s) for s in open(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'datasets--eprstmt--test_public.json')]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hits = sum(r['label'] == 'Negative' for r in rows)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print(hits, len(rows), hits / len(rows))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166195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出力は305、610、0.5。ラベルなしtest.jsonやunlabeled.jsonを分母に混ぜない。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ICIP Lab / CLUE team. EPRSTMT official public files via FewCLUE. 固定版62a02c6f31cf。原レビューの権利は出所に帰属。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https://github.com/CLUEbenchmark/FewCLUE/tree/62a02c6f31cf32814cfe522f78ef088228840f8d/datasets/eprstmt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PETでは、正解がないファイルにも仮の0が入る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公開実装のload_dataは、labelがあればPositiveを1、それ以外を0へ写す。label自体がない場合も0を入れる。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この関数を全15ファイルに実行すると、testの753件、unlabeledの19,565件が全て0になる。元ファイルのNegativeラベルを見つけた結果ではない。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検証用にはdev_0〜4を結合する公開コードもある。どのbaselineを使うかで、学習・検証の入力範囲が異なるため、32件という課題説明だけから全実装の条件を決めない。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原位置・重複・実装の補足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PET baseline pet_eprstmt.py. ラベル語・読み込み・評価。固定版62a02c6f31cf。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https://github.com/CLUEbenchmark/FewCLUE/blob/62a02c6f31cf32814cfe522f78ef088228840f8d/baselines/models_keras/pet/pet_eprstmt.py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EFLの変換後ペア数は、原レビュー数ではない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原位置・重複・実装の補足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23744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1920240"/>
                <a:gridCol w="38404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元train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原レビュー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変換ペア（ratio=1）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train_4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33672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公式処理の結果。原例に、少数クラス数を基準とする負の文ペアを加える。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CLUE team. EprstmtProcessor. EFL baseline、固定版62a02c6f31cf。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https://github.com/CLUEbenchmark/FewCLUE/blob/62a02c6f31cf32814cfe522f78ef088228840f8d/baselines/models_pytorch/EFL/processors/efl_fewclue.py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2021年：EPRSTMT列の追加報告値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原位置・重複・実装の補足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64412"/>
          <a:ext cx="8046720" cy="2842256"/>
        </p:xfrm>
        <a:graphic>
          <a:graphicData uri="http://schemas.openxmlformats.org/drawingml/2006/table">
            <a:tbl>
              <a:tblPr firstRow="0" bandRow="0"/>
              <a:tblGrid>
                <a:gridCol w="5943600"/>
                <a:gridCol w="2103120"/>
              </a:tblGrid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方法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報告値（%）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LM-BFF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85.6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EFL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Fine-tuning / ERNIE1.0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66.5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PET / ERNIE1.0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P-tuning / ERNIE1.0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80.6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EFL / ERNIE1.0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76.7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Zero-shot / GPT系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57.5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307839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論文の中心値のみ引用。括弧内の統計や試行数は推定しない。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(2021). FewCLUE: A Chinese Few-shot Learning Evaluation Benchmark. arXiv:2107.07498v2.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https://arxiv.org/abs/2107.07498v2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2021年の研究と、固定公開版の役割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FewCLUE研究は、中国語の少数例学習を9課題で比較するベンチマーク。EPRSTMTはその単文感情分析課題であり、元レビュー収集全体の説明とは範囲が異なる。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FewCLUE論文はarXivのプレプリントとして公開されている。参照版はv2（2021年9月29日）で、CLEVA書誌に示された2021年版との版情報を区別する。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公開ファイルから確かめた件数・重複・ラベルと、論文に記された収集説明・成績を、それぞれの根拠に沿って利用する。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Xu et al. (2021). FewCLUE: A Chinese Few-shot Learning Evaluation Benchmark. arXiv:2107.07498v2.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https://arxiv.org/abs/2107.07498v2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CLUE team. FewCLUE official README. 固定版62a02c6f31cf、EPRSTMTの定義・配布構造。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https://github.com/CLUEbenchmark/FewCLUE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FewCLUE: A Chinese Few-shot Learning Evaluation Benchmark"/>
          <p:cNvSpPr txBox="1"/>
          <p:nvPr/>
        </p:nvSpPr>
        <p:spPr>
          <a:xfrm>
            <a:off x="548640" y="1463040"/>
            <a:ext cx="8046720" cy="18780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FewCLUE: A Chinese Few-shot Learning Evaluation Benchmark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Liang Xu, Xiaojing Lu, Chenyang Yuan, Xuanwei Zhang, Huilin Xu, Hu Yuan, Guoao Wei, Xiang Pan, Xin Tian, Libo Qin &amp; Hai Hu · 2021 · arXiv:2107.07498v2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中国語の少数例学習を9課題で比較し、EPRSTMTの由来・分割・報告成績を説明する。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https://arxiv.org/abs/2107.07498v2</a:t>
            </a:r>
          </a:p>
        </p:txBody>
      </p:sp>
      <p:sp>
        <p:nvSpPr>
          <p:cNvPr id="5" name="文献 2: FewCLUE: official repository and EPRSTMT files"/>
          <p:cNvSpPr txBox="1"/>
          <p:nvPr/>
        </p:nvSpPr>
        <p:spPr>
          <a:xfrm>
            <a:off x="548640" y="3594989"/>
            <a:ext cx="8046720" cy="1322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FewCLUE: official repository and EPRSTMT files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CLUE team · commit 62a02c6f31cf · README / 15 JSON files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公開分割、原レビュー、二つの感情ラベル、baseline実装を配布する。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https://github.com/CLUEbenchmark/FewCLUE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FewCLUE EPRSTMT: PET baseline"/>
          <p:cNvSpPr txBox="1"/>
          <p:nvPr/>
        </p:nvSpPr>
        <p:spPr>
          <a:xfrm>
            <a:off x="548640" y="1463040"/>
            <a:ext cx="8046720" cy="16436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FewCLUE EPRSTMT: PET baseline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CLUE team · pet_eprstmt.py · commit 62a02c6f31cf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原ラベル・仮値の読み込み、ラベル語、学習・検証入力の範囲を定めるPET実装。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https://github.com/CLUEbenchmark/FewCLUE/blob/62a02c6f31cf/baselines/models_keras/pet/pet_eprstmt.py</a:t>
            </a:r>
          </a:p>
        </p:txBody>
      </p:sp>
      <p:sp>
        <p:nvSpPr>
          <p:cNvPr id="5" name="文献 2: FewCLUE EFL: compute_metrics / simple_accuracy"/>
          <p:cNvSpPr txBox="1"/>
          <p:nvPr/>
        </p:nvSpPr>
        <p:spPr>
          <a:xfrm>
            <a:off x="548640" y="3375533"/>
            <a:ext cx="8046720" cy="16435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FewCLUE EFL: compute_metrics / simple_accuracy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CLUE team · clue_compute_metrics.py · commit 62a02c6f31cf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eprstmtで呼び出されるAccuracyの公式計算関数。予測と正解の一致率を返す。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https://github.com/CLUEbenchmark/FewCLUE/tree/62a02c6f31cf/baselines/models_pytorch/EFL/metrics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CLEVA: Chinese Language Models EVAluation Platform"/>
          <p:cNvSpPr txBox="1"/>
          <p:nvPr/>
        </p:nvSpPr>
        <p:spPr>
          <a:xfrm>
            <a:off x="548640" y="1463040"/>
            <a:ext cx="8046720" cy="13222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CLEVA: Chinese Language Models EVAluation Platform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· 2023 · EMNLP System Demonstrations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感情分析の採用元としてFewCLUEを挙げ、商品レビューの公開例を示す。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  <p:sp>
        <p:nvSpPr>
          <p:cNvPr id="5" name="文献 2: CLEVASentimentAnalysisScenario and Converter"/>
          <p:cNvSpPr txBox="1"/>
          <p:nvPr/>
        </p:nvSpPr>
        <p:spPr>
          <a:xfrm>
            <a:off x="548640" y="3131693"/>
            <a:ext cx="8046720" cy="164363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CLEVASentimentAnalysisScenario and Converter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Stanford CRFM · HELM v0.4.0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元レビューに対応する説明例と選択肢・正解ターゲット、変換済み集合の読み込みを定義する。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CLEVA v1 run configuration"/>
          <p:cNvSpPr txBox="1"/>
          <p:nvPr/>
        </p:nvSpPr>
        <p:spPr>
          <a:xfrm>
            <a:off x="548640" y="1463040"/>
            <a:ext cx="8046720" cy="16436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 v1 run configuration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Stanford CRFM · HELM v0.4.0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sentiment_analysisのprompt_id 0〜5を含む設定。実行結果の公開とは別の情報。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https://github.com/stanford-crfm/helm/blob/v0.4.0/src/helm/benchmark/presentation/run_specs_cleva_v1.conf</a:t>
            </a:r>
          </a:p>
        </p:txBody>
      </p:sp>
      <p:sp>
        <p:nvSpPr>
          <p:cNvPr id="5" name="文献 2: HELM Classic v0.4.0: public run index"/>
          <p:cNvSpPr txBox="1"/>
          <p:nvPr/>
        </p:nvSpPr>
        <p:spPr>
          <a:xfrm>
            <a:off x="548640" y="3399536"/>
            <a:ext cx="8046720" cy="142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Classic v0.4.0: public run index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Stanford CRFM · release 2023-11-17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固定公開8,526 runの索引。CLEVAの対象実行0件という公開範囲を示す。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https://crfm.stanford.edu/helm/classic/v0.4.0/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2026-10-18T11:10:18Z</dcterms:modified>
  <dc:title>eprstmt</dc:title>
  <dc:creator>sasakiy84</dc:creator>
  <dcterms:created xsi:type="dcterms:W3CDTF">2026-10-18T11:10:18Z</dcterms:created>
  <dc:language>ja-JP</dc:language>
</cp:coreProperties>
</file>