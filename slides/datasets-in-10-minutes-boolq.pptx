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4" r:id="rId2"/>
    <p:sldId id="265" r:id="rId15"/>
    <p:sldId id="266" r:id="rId16"/>
    <p:sldId id="267" r:id="rId17"/>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6" r:id="rId46"/>
    <p:sldId id="298" r:id="rId48"/>
    <p:sldId id="300" r:id="rId50"/>
    <p:sldId id="301" r:id="rId51"/>
    <p:sldId id="303" r:id="rId53"/>
    <p:sldId id="304" r:id="rId54"/>
    <p:sldId id="306" r:id="rId56"/>
    <p:sldId id="307" r:id="rId57"/>
    <p:sldId id="308" r:id="rId58"/>
    <p:sldId id="309" r:id="rId59"/>
    <p:sldId id="310" r:id="rId60"/>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6" Type="http://schemas.openxmlformats.org/officeDocument/2006/relationships/slide" Target="slides/slide38.xml"/><Relationship Id="rId48"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Sheet1!$A$2:$A$3</c:f>
              <c:strCache>
                <c:ptCount val="2"/>
                <c:pt idx="0">
                  <c:v>No</c:v>
                </c:pt>
                <c:pt idx="1">
                  <c:v>Yes</c:v>
                </c:pt>
              </c:strCache>
            </c:strRef>
          </c:cat>
          <c:val>
            <c:numRef>
              <c:f>Sheet1!$B$2:$B$3</c:f>
              <c:numCache>
                <c:formatCode>General</c:formatCode>
                <c:ptCount val="2"/>
                <c:pt idx="0">
                  <c:v>1237</c:v>
                </c:pt>
                <c:pt idx="1">
                  <c:v>2033</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0–49</c:v>
                </c:pt>
                <c:pt idx="1">
                  <c:v>50–99</c:v>
                </c:pt>
                <c:pt idx="2">
                  <c:v>100–199</c:v>
                </c:pt>
                <c:pt idx="3">
                  <c:v>200–399</c:v>
                </c:pt>
                <c:pt idx="4">
                  <c:v>400–799</c:v>
                </c:pt>
                <c:pt idx="5">
                  <c:v>800以上</c:v>
                </c:pt>
              </c:strCache>
            </c:strRef>
          </c:cat>
          <c:val>
            <c:numRef>
              <c:f>Sheet1!$B$2:$B$7</c:f>
              <c:numCache>
                <c:formatCode>General</c:formatCode>
                <c:ptCount val="6"/>
                <c:pt idx="0">
                  <c:v>640</c:v>
                </c:pt>
                <c:pt idx="1">
                  <c:v>1473</c:v>
                </c:pt>
                <c:pt idx="2">
                  <c:v>1035</c:v>
                </c:pt>
                <c:pt idx="3">
                  <c:v>113</c:v>
                </c:pt>
                <c:pt idx="4">
                  <c:v>8</c:v>
                </c:pt>
                <c:pt idx="5">
                  <c:v>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google-research-datasets/boolean-question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boolq"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boolq"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boolq"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N19-130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boolq"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google/boolq"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N19-1300/"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905.00537"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boolean-question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huggingface.co/datasets/google/boolq"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boolq"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N19-1300/"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5.00537"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90015"/>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BoolQ</a:t>
            </a:r>
          </a:p>
        </p:txBody>
      </p:sp>
      <p:sp>
        <p:nvSpPr>
          <p:cNvPr id="3" name="Subtitle 2"/>
          <p:cNvSpPr>
            <a:spLocks noGrp="1"/>
          </p:cNvSpPr>
          <p:nvPr>
            <p:ph type="subTitle" idx="1"/>
          </p:nvPr>
        </p:nvSpPr>
        <p:spPr>
          <a:xfrm>
            <a:off x="548640" y="2699665"/>
            <a:ext cx="8046720" cy="885190"/>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自然なYes／Noの質問を
段落を根拠に判定する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BoolQの公式公開ページ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BoolQ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https://github.com/google-research-datasets/boolean-questions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段落を読んで、質問へYesかNoで答える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BoolQは、自然に生じた英語の質問とWikipediaの段落を組にした読解データセットである。答えはYesかNoで示す。</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入力は質問と段落、正解は真偽のラベルである。本文から答えの文字列を抜き出す形式とは異なる。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否定、言い換え、数量、出来事の前後関係などを読み取り、段落が質問をどう裏付けるかを判断する。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入力と正解の対応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54864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ユーザーが検索時に入力した質問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passage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質問に関連するWikipediaの段落</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answer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True＝Yes、False＝No</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実例1：トマトピューレとソース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43。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正解：No</a:t>
            </a:r>
          </a:p>
        </p:txBody>
      </p:sp>
      <p:sp>
        <p:nvSpPr>
          <p:cNvPr id="9" name="original-label"/>
          <p:cNvSpPr txBox="1"/>
          <p:nvPr/>
        </p:nvSpPr>
        <p:spPr>
          <a:xfrm>
            <a:off x="548640" y="1399032"/>
            <a:ext cx="48463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translation-label"/>
          <p:cNvSpPr txBox="1"/>
          <p:nvPr/>
        </p:nvSpPr>
        <p:spPr>
          <a:xfrm>
            <a:off x="5669279" y="1399032"/>
            <a:ext cx="29260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original-panel"/>
          <p:cNvSpPr txBox="1"/>
          <p:nvPr/>
        </p:nvSpPr>
        <p:spPr>
          <a:xfrm>
            <a:off x="548640" y="1655064"/>
            <a:ext cx="48463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Question: is pureed tomatoes the same as tomato sauce</a:t>
            </a:r>
          </a:p>
          <a:p>
            <a:pPr>
              <a:lnSpc>
                <a:spcPts val="2257"/>
              </a:lnSpc>
              <a:spcBef>
                <a:spcPts val="0"/>
              </a:spcBef>
              <a:spcAft>
                <a:spcPts val="0"/>
              </a:spcAft>
              <a:buNone/>
            </a:pPr>
            <a:r>
              <a:rPr sz="1850" b="0" lang="ja-JP">
                <a:solidFill>
                  <a:srgbClr val="303437"/>
                </a:solidFill>
                <a:latin typeface="Noto Sans"/>
                <a:ea typeface="Noto Sans CJK JP"/>
                <a:cs typeface="Noto Sans"/>
              </a:rPr>
              <a:t>Passage: Tomato purée is a thick liquid made by cooking and straining tomatoes. The difference between tomato paste, tomato purée, and tomato sauce is consistency; tomato puree has a thicker consistency and a deeper flavour than sauce.</a:t>
            </a:r>
          </a:p>
        </p:txBody>
      </p:sp>
      <p:sp>
        <p:nvSpPr>
          <p:cNvPr id="12" name="translation-body"/>
          <p:cNvSpPr txBox="1"/>
          <p:nvPr/>
        </p:nvSpPr>
        <p:spPr>
          <a:xfrm>
            <a:off x="5669279" y="1664208"/>
            <a:ext cx="2926080" cy="2446782"/>
          </a:xfrm>
          <a:prstGeom prst="rect">
            <a:avLst/>
          </a:prstGeom>
          <a:noFill/>
        </p:spPr>
        <p:txBody>
          <a:bodyPr wrap="square" lIns="0" rIns="0" tIns="0" bIns="0">
            <a:noAutofit/>
          </a:bodyPr>
          <a:lstStyle/>
          <a:p>
            <a:pPr>
              <a:lnSpc>
                <a:spcPts val="2074"/>
              </a:lnSpc>
              <a:spcBef>
                <a:spcPts val="0"/>
              </a:spcBef>
              <a:spcAft>
                <a:spcPts val="0"/>
              </a:spcAft>
              <a:buNone/>
            </a:pPr>
            <a:r>
              <a:rPr sz="1700" b="0" lang="ja-JP">
                <a:solidFill>
                  <a:srgbClr val="303437"/>
                </a:solidFill>
                <a:latin typeface="Noto Sans"/>
                <a:ea typeface="Noto Sans CJK JP"/>
                <a:cs typeface="Noto Sans"/>
              </a:rPr>
              <a:t>質問：トマトピューレはトマトソースと同じものですか。</a:t>
            </a:r>
          </a:p>
          <a:p>
            <a:pPr>
              <a:lnSpc>
                <a:spcPts val="2074"/>
              </a:lnSpc>
              <a:spcBef>
                <a:spcPts val="0"/>
              </a:spcBef>
              <a:spcAft>
                <a:spcPts val="0"/>
              </a:spcAft>
              <a:buNone/>
            </a:pPr>
            <a:r>
              <a:rPr sz="1700" b="0" lang="ja-JP">
                <a:solidFill>
                  <a:srgbClr val="303437"/>
                </a:solidFill>
                <a:latin typeface="Noto Sans"/>
                <a:ea typeface="Noto Sans CJK JP"/>
                <a:cs typeface="Noto Sans"/>
              </a:rPr>
              <a:t>段落：トマトピューレは、トマトを加熱して裏ごしした、とろみのある液体である。トマトペースト、トマトピューレ、トマトソースの違いは濃度にあり、ピューレはソースよりも濃厚で風味が強い。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同じ原料でも、濃度と風味が異なる。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質問と段落の表現を対応付け、配布ラベルのYes／Noがどの記述から分かるかを確認する。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実例2：代表選手のその後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did anyone from the 1980 us hockey team play in the nhl</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Of the 20 players on Team USA, 13 eventually played in the NHL. Five of them went on to play over 500 NHL games, and three would play over 1,000 NHL games.</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質問：1980年の米国アイスホッケー代表で、NHLでプレーした選手はいますか。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段落：米国代表20人のうち、13人が後にNHLでプレーした。そのうち5人は500試合を超え、3人は1,000試合を超えて出場した。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64。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正解：Yes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13人という記述が、少なくとも1人いたことを裏付ける。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質問と段落の表現を対応付け、配布ラベルのYes／Noがどの記述から分かるかを確認する。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実例3：形容詞の位置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311。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正解：No</a:t>
            </a:r>
          </a:p>
        </p:txBody>
      </p:sp>
      <p:sp>
        <p:nvSpPr>
          <p:cNvPr id="9" name="original-label"/>
          <p:cNvSpPr txBox="1"/>
          <p:nvPr/>
        </p:nvSpPr>
        <p:spPr>
          <a:xfrm>
            <a:off x="548640" y="1399032"/>
            <a:ext cx="43891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translation-label"/>
          <p:cNvSpPr txBox="1"/>
          <p:nvPr/>
        </p:nvSpPr>
        <p:spPr>
          <a:xfrm>
            <a:off x="5212079" y="1399032"/>
            <a:ext cx="33832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original-panel"/>
          <p:cNvSpPr txBox="1"/>
          <p:nvPr/>
        </p:nvSpPr>
        <p:spPr>
          <a:xfrm>
            <a:off x="548640" y="1655064"/>
            <a:ext cx="43891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Question: do adjectives have to come before a noun</a:t>
            </a:r>
          </a:p>
          <a:p>
            <a:pPr>
              <a:lnSpc>
                <a:spcPts val="2257"/>
              </a:lnSpc>
              <a:spcBef>
                <a:spcPts val="0"/>
              </a:spcBef>
              <a:spcAft>
                <a:spcPts val="0"/>
              </a:spcAft>
              <a:buNone/>
            </a:pPr>
            <a:r>
              <a:rPr sz="1850" b="0" lang="ja-JP">
                <a:solidFill>
                  <a:srgbClr val="303437"/>
                </a:solidFill>
                <a:latin typeface="Noto Sans"/>
                <a:ea typeface="Noto Sans CJK JP"/>
                <a:cs typeface="Noto Sans"/>
              </a:rPr>
              <a:t>Passage: A postpositive or postnominal adjective is an attributive adjective that is placed after the noun or pronoun that it modifies. This contrasts with prepositive adjectives, which come before the noun or pronoun.</a:t>
            </a:r>
          </a:p>
        </p:txBody>
      </p:sp>
      <p:sp>
        <p:nvSpPr>
          <p:cNvPr id="12" name="translation-body"/>
          <p:cNvSpPr txBox="1"/>
          <p:nvPr/>
        </p:nvSpPr>
        <p:spPr>
          <a:xfrm>
            <a:off x="5212079" y="1664208"/>
            <a:ext cx="3383280"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質問：形容詞は名詞の前に置かなければなりませんか。</a:t>
            </a:r>
          </a:p>
          <a:p>
            <a:pPr>
              <a:lnSpc>
                <a:spcPts val="2135"/>
              </a:lnSpc>
              <a:spcBef>
                <a:spcPts val="0"/>
              </a:spcBef>
              <a:spcAft>
                <a:spcPts val="0"/>
              </a:spcAft>
              <a:buNone/>
            </a:pPr>
            <a:r>
              <a:rPr sz="1750" b="0" lang="ja-JP">
                <a:solidFill>
                  <a:srgbClr val="303437"/>
                </a:solidFill>
                <a:latin typeface="Noto Sans"/>
                <a:ea typeface="Noto Sans CJK JP"/>
                <a:cs typeface="Noto Sans"/>
              </a:rPr>
              <a:t>段落：後置形容詞とは、修飾する名詞や代名詞の後ろに置かれる限定用法の形容詞である。名詞や代名詞の前に置かれる前置形容詞とは対照的である。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後ろに置く用法があるので、必ず前とはいえない。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質問と段落の表現を対応付け、配布ラベルのYes／Noがどの記述から分かるかを確認する。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質問を考える前に、答えを見せない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0455"/>
              <a:buFont typeface="Noto Sans CJK JP"/>
              <a:buChar char="●"/>
              <a:defRPr sz="2200" b="0">
                <a:solidFill>
                  <a:srgbClr val="303437"/>
                </a:solidFill>
                <a:latin typeface="Noto Sans"/>
              </a:defRPr>
            </a:pPr>
            <a:r>
              <a:rPr sz="2050" b="0" lang="ja-JP" altLang="en-US">
                <a:solidFill>
                  <a:srgbClr val="303437"/>
                </a:solidFill>
                <a:latin typeface="Noto Sans"/>
                <a:ea typeface="Noto Sans CJK JP"/>
                <a:cs typeface="Noto Sans"/>
              </a:rPr>
              <a:t>読解データでは、作業者が段落を読んでから質問を書くことが多かった。質問の語彙や内容が、提示された段落に引き寄せられやすい。</a:t>
            </a:r>
          </a:p>
          <a:p>
            <a:pPr marL="457200" indent="-355600">
              <a:lnSpc>
                <a:spcPts val="2439"/>
              </a:lnSpc>
              <a:spcAft>
                <a:spcPts val="700"/>
              </a:spcAft>
              <a:buSzPct val="60455"/>
              <a:buFont typeface="Noto Sans CJK JP"/>
              <a:buChar char="●"/>
              <a:defRPr sz="2200" b="0">
                <a:solidFill>
                  <a:srgbClr val="303437"/>
                </a:solidFill>
                <a:latin typeface="Noto Sans"/>
              </a:defRPr>
            </a:pPr>
            <a:r>
              <a:rPr sz="2050" b="0" lang="ja-JP" altLang="en-US">
                <a:solidFill>
                  <a:srgbClr val="303437"/>
                </a:solidFill>
                <a:latin typeface="Noto Sans"/>
                <a:ea typeface="Noto Sans CJK JP"/>
                <a:cs typeface="Noto Sans"/>
              </a:rPr>
              <a:t>BoolQでは、検索エンジンの利用者が自発的に入力した質問を先に集めた。特定の段落を見て質問を作るようには指示していない。</a:t>
            </a:r>
          </a:p>
          <a:p>
            <a:pPr marL="457200" indent="-355600">
              <a:lnSpc>
                <a:spcPts val="2439"/>
              </a:lnSpc>
              <a:spcAft>
                <a:spcPts val="0"/>
              </a:spcAft>
              <a:buSzPct val="60455"/>
              <a:buFont typeface="Noto Sans CJK JP"/>
              <a:buChar char="●"/>
              <a:defRPr sz="2200" b="0">
                <a:solidFill>
                  <a:srgbClr val="303437"/>
                </a:solidFill>
                <a:latin typeface="Noto Sans"/>
              </a:defRPr>
            </a:pPr>
            <a:r>
              <a:rPr sz="2050" b="0" lang="ja-JP" altLang="en-US">
                <a:solidFill>
                  <a:srgbClr val="303437"/>
                </a:solidFill>
                <a:latin typeface="Noto Sans"/>
                <a:ea typeface="Noto Sans CJK JP"/>
                <a:cs typeface="Noto Sans"/>
              </a:rPr>
              <a:t>二択の質問でも、答えを導くのが簡単とは限らない。質問と段落の表現が異なる場合や、段落中の一部の記述を組み合わせる場合がある。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検索質問とWikipediaを結び付けた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検索ログからYes／No形式の質問を集め、検索結果にWikipediaが含まれるものを候補にした。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クラウドワーカーが記事中から関連する段落を選び、その段落に基づいてYes／Noを付けた。答えられないものは除外した。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質問と答えの関係を確認し、自然な質問に対して段落が根拠となる組を残した。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Noは「根拠が見つからない」ではない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Noは、質問への答えが否定となるラベルである。無関係な段落や、答えが分からない段落を一律にNoとする設計ではない。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トマトの実例では濃度の違いが否定の根拠となる。形容詞の実例では、後置する用法の存在が「必ず前に置く」を否定する。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この区別を保つことで、文章からの推論と、知識が不足した場合の回答保留を混同せずに評価できる。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931162"/>
        </p:xfrm>
        <a:graphic>
          <a:graphicData uri="http://schemas.openxmlformats.org/drawingml/2006/table">
            <a:tbl>
              <a:tblPr firstRow="0" bandRow="0"/>
              <a:tblGrid>
                <a:gridCol w="1920240"/>
                <a:gridCol w="1371600"/>
                <a:gridCol w="47548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9,427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学習とプロンプト内の解答例に利用</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3,270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正解付きで公開された開発集合</a:t>
                      </a:r>
                    </a:p>
                  </a:txBody>
                  <a:tcPr marL="63500" marR="63500" marT="38100" marB="38100" anchor="ctr">
                    <a:lnL w="7620">
                      <a:noFill/>
                    </a:lnL>
                    <a:lnR w="7620">
                      <a:noFill/>
                    </a:lnR>
                    <a:lnT w="7620">
                      <a:noFill/>
                    </a:lnT>
                    <a:lnB w="7620">
                      <a:noFill/>
                    </a:lnB>
                    <a:solidFill>
                      <a:srgbClr val="FFFEF8"/>
                    </a:solidFill>
                  </a:tcPr>
                </a:tc>
              </a:tr>
              <a:tr h="66929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3,245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論文のテスト集合。正解は一般公開されていない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Yesに答え続けても一定の点数になる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公開validationではYesが2,033問、Noが1,237問で、Yesは62.17%を占める。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二択だから偶然の正解率が必ず50%になるわけではない。クラス分布に合わせた多数派ベースラインも比較に使う。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実例はYes／Noの両方から選び、否定、別名、数量、翻案の順序など、異なる読み取りを含めた。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google/boolq、改訂35b264d0。validation全3,270件を集計。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公開集合のラベル分布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validation全3,270問。縦軸は質問数。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google/boolq、改訂35b264d0。validation全3,270件を集計。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https://huggingface.co/datasets/google/boolq</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正解率はYes／No判定の平均である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1問ごとに、予測したYes／Noが配布ラベルと一致すれば1、一致しなければ0とする。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正解率＝正しく答えた質問数÷評価した質問数。1,000問中793問なら79.3%となる。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HELMでは答えを生成させ、大文字・小文字などを正規化して一致を測るquasi-exact matchを使う。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登場時の代表的な結果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5760720"/>
                <a:gridCol w="22860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2019年の方法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テスト正解率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多数派のYesを常に選ぶ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62.31%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BERT-Large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76.70%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BERT-Large＋MultiNLIでの学習</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80.43%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論文Table 4。BoolQの学習集合で微調整し、非公開のテスト集合で評価。</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 Classic v0.4.0（2023-11-17）の公開結果を参照する。評価はvalidationの1,000問で、プロンプトに最大5問の解答例を示す。</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表はcanonical設定のquasi-exact match。OPTとtext-davinci-003は例の選び方を変えた3試行、Llama 2は1試行である。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論文のテスト全件での微調整後の成績と、HELMの少数例提示による成績は、それぞれの条件で読む。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v0.4.0。公開run_specsと実行別statsのcanonical設定を照合。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663440"/>
                <a:gridCol w="182880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試行数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88.60%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 1,000件、最大5例提示。</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得点と評価条件を一緒に読む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この比較は、指定URLが指す2023年11月17日のHELM Classicの結果である。現在の最高性能の一覧を意図していない。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少数例提示では、例題の選び方や、候補の並べ方、入力の長さが条件になる。表には評価集合と試行数を添えた。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正解率のほか、入力を少し変えた際の頑健性や、自信のある予測がどの程度正しいかも評価できる。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転移学習の比較から汎用モデルの読解評価へ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2019年の比較では、MultiNLIで文章間の含意関係を学習してからBoolQへ微調整する方法が有効だった。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BoolQはSuperGLUEにも組み込まれ、複数の課題をまとめた言語理解評価の一部として使われている。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HELMでは正解率に加え、入力の変化への頑健性や、回答への確信と正しさの関係も調べる。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Wang et al. (2019). SuperGLUE: A Stickier Benchmark for General-Purpose Language Understanding Systems.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https://arxiv.org/abs/1905.00537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データの入手と利用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公式リポジトリは2026年4月にアーカイブされた。Googleの公開ミラーgoogle/boolqでは、trainとvalidationの質問・段落・正解ラベルを読める。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データはCC BY-SA 3.0で公開されている。質問や段落を再利用する際は、配布元とライセンスを確認する。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BoolQ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https://github.com/google-research-datasets/boolean-questions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code-frame"/>
          <p:cNvSpPr/>
          <p:nvPr/>
        </p:nvSpPr>
        <p:spPr>
          <a:xfrm>
            <a:off x="548640" y="1508760"/>
            <a:ext cx="8046720" cy="15763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from datasets import load_dataset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ds = load_dataset("google/boolq",</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revision="35b264d0")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example = ds["validation"][0]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print(example["question"])</a:t>
            </a:r>
          </a:p>
        </p:txBody>
      </p:sp>
      <p:sp>
        <p:nvSpPr>
          <p:cNvPr id="5" name="TextBox 4"/>
          <p:cNvSpPr txBox="1"/>
          <p:nvPr/>
        </p:nvSpPr>
        <p:spPr>
          <a:xfrm>
            <a:off x="594360" y="3703320"/>
            <a:ext cx="7955279" cy="644271"/>
          </a:xfrm>
          <a:prstGeom prst="rect">
            <a:avLst/>
          </a:prstGeom>
          <a:noFill/>
        </p:spPr>
        <p:txBody>
          <a:bodyPr wrap="square" lIns="0" rIns="0" tIns="0" bIns="0">
            <a:noAutofit/>
          </a:bodyPr>
          <a:lstStyle/>
          <a:p>
            <a:pPr algn="l">
              <a:lnSpc>
                <a:spcPct val="119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この資料で照合した改訂を指定して読み込む。各フィールドの意味は本編の対応表を参照。</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BoolQの要点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自然な検索質問へ、Wikipediaの段落を根拠にYes／Noで答える。答えの短さと、推論の簡単さは一致しない。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構築時には質問を先に集め、関連する段落と真偽のラベルを付けた。公開validationはYesが約62%を占める。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微調整、少数例提示、評価集合の違いを条件に添えて、正解率と頑健性を読む。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追加例1：動脈と静脈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6519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is there a right and left brachiocephalic artery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There is no brachiocephalic artery for the left side of the body. The left common carotid, and the left subclavian artery, come directly off the aortic arch. However, there are two brachiocephalic veins.</a:t>
            </a:r>
          </a:p>
        </p:txBody>
      </p:sp>
      <p:sp>
        <p:nvSpPr>
          <p:cNvPr id="6" name="TextBox 5"/>
          <p:cNvSpPr txBox="1"/>
          <p:nvPr/>
        </p:nvSpPr>
        <p:spPr>
          <a:xfrm>
            <a:off x="594360" y="330701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質問：腕頭動脈は左右にありますか。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段落：体の左側には腕頭動脈がない。左総頸動脈と左鎖骨下動脈は大動脈弓から直接分岐する。一方、腕頭静脈は2本ある。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77。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正解：No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追加例2：映画評価の0%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is there a movie with 0 on rotten tomatoes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On the film review aggregation website Rotten Tomatoes, films that all surveyed critics consider bad have a 0% rating. Some of these are often considered some of the worst films ever made.</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質問：Rotten Tomatoesで評価が0%の映画はありますか。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段落：映画評の集約サイトRotten Tomatoesでは、集計対象の批評家全員が悪いと判断した映画の評価は0%になる。その中には、史上最悪の映画の一つとされる作品もある。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88。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正解：Yes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追加例3：ドラマの撮影地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関連する入力・回答／左：原文　右：日本語訳</a:t>
            </a:r>
          </a:p>
        </p:txBody>
      </p:sp>
      <p:sp>
        <p:nvSpPr>
          <p:cNvPr id="5" name="quote-frame"/>
          <p:cNvSpPr/>
          <p:nvPr/>
        </p:nvSpPr>
        <p:spPr>
          <a:xfrm>
            <a:off x="548640" y="1600200"/>
            <a:ext cx="3858768" cy="2211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is anne with an e filmed on pei</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The series is filmed partially in Prince Edward Island as well as locations in Southern Ontario (including Millbrook and Caledon).</a:t>
            </a:r>
          </a:p>
        </p:txBody>
      </p:sp>
      <p:sp>
        <p:nvSpPr>
          <p:cNvPr id="6" name="TextBox 5"/>
          <p:cNvSpPr txBox="1"/>
          <p:nvPr/>
        </p:nvSpPr>
        <p:spPr>
          <a:xfrm>
            <a:off x="4690872" y="1627632"/>
            <a:ext cx="3858768" cy="2002853"/>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質問：『アンという名の少女』はプリンスエドワード島で撮影されていますか。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段落：このシリーズは、プリンスエドワード島のほか、オンタリオ州南部の各地（ミルブルックやカレドンを含む）でも撮影されている。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94。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正解：Yes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追加例4：へその呼び方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146。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正解：Yes</a:t>
            </a:r>
          </a:p>
        </p:txBody>
      </p:sp>
      <p:sp>
        <p:nvSpPr>
          <p:cNvPr id="9" name="original-label"/>
          <p:cNvSpPr txBox="1"/>
          <p:nvPr/>
        </p:nvSpPr>
        <p:spPr>
          <a:xfrm>
            <a:off x="548640" y="1399032"/>
            <a:ext cx="48463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translation-label"/>
          <p:cNvSpPr txBox="1"/>
          <p:nvPr/>
        </p:nvSpPr>
        <p:spPr>
          <a:xfrm>
            <a:off x="5669279" y="1399032"/>
            <a:ext cx="29260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original-panel"/>
          <p:cNvSpPr txBox="1"/>
          <p:nvPr/>
        </p:nvSpPr>
        <p:spPr>
          <a:xfrm>
            <a:off x="548640" y="1655064"/>
            <a:ext cx="48463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Question: is navel and belly button the same thing</a:t>
            </a:r>
          </a:p>
          <a:p>
            <a:pPr>
              <a:lnSpc>
                <a:spcPts val="2257"/>
              </a:lnSpc>
              <a:spcBef>
                <a:spcPts val="0"/>
              </a:spcBef>
              <a:spcAft>
                <a:spcPts val="0"/>
              </a:spcAft>
              <a:buNone/>
            </a:pPr>
            <a:r>
              <a:rPr sz="1850" b="0" lang="ja-JP">
                <a:solidFill>
                  <a:srgbClr val="303437"/>
                </a:solidFill>
                <a:latin typeface="Noto Sans"/>
                <a:ea typeface="Noto Sans CJK JP"/>
                <a:cs typeface="Noto Sans"/>
              </a:rPr>
              <a:t>Passage: The navel (clinically known as the umbilicus, colloquially known as the belly button, or tummy button) is a hollowed or sometimes raised area on the abdomen at the attachment site of the umbilical cord. All placental mammals have a navel.</a:t>
            </a:r>
          </a:p>
        </p:txBody>
      </p:sp>
      <p:sp>
        <p:nvSpPr>
          <p:cNvPr id="12" name="translation-body"/>
          <p:cNvSpPr txBox="1"/>
          <p:nvPr/>
        </p:nvSpPr>
        <p:spPr>
          <a:xfrm>
            <a:off x="5669279" y="1664208"/>
            <a:ext cx="2926080" cy="2787650"/>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質問：navelとbelly buttonは同じものですか。</a:t>
            </a:r>
          </a:p>
          <a:p>
            <a:pPr>
              <a:lnSpc>
                <a:spcPts val="2135"/>
              </a:lnSpc>
              <a:spcBef>
                <a:spcPts val="0"/>
              </a:spcBef>
              <a:spcAft>
                <a:spcPts val="0"/>
              </a:spcAft>
              <a:buNone/>
            </a:pPr>
            <a:r>
              <a:rPr sz="1750" b="0" lang="ja-JP">
                <a:solidFill>
                  <a:srgbClr val="303437"/>
                </a:solidFill>
                <a:latin typeface="Noto Sans"/>
                <a:ea typeface="Noto Sans CJK JP"/>
                <a:cs typeface="Noto Sans"/>
              </a:rPr>
              <a:t>段落：へそ（医学的にはumbilicus、日常語ではbelly buttonやtummy buttonと呼ぶ）は、臍帯が付着していた腹部の、くぼんだ、または盛り上がった部分である。すべての有胎盤哺乳類にはへそがある。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追加例5：湖から海への航路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183。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正解：Yes</a:t>
            </a:r>
          </a:p>
        </p:txBody>
      </p:sp>
      <p:sp>
        <p:nvSpPr>
          <p:cNvPr id="9" name="original-label"/>
          <p:cNvSpPr txBox="1"/>
          <p:nvPr/>
        </p:nvSpPr>
        <p:spPr>
          <a:xfrm>
            <a:off x="548640" y="1399032"/>
            <a:ext cx="43891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translation-label"/>
          <p:cNvSpPr txBox="1"/>
          <p:nvPr/>
        </p:nvSpPr>
        <p:spPr>
          <a:xfrm>
            <a:off x="5212079" y="1399032"/>
            <a:ext cx="33832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original-panel"/>
          <p:cNvSpPr txBox="1"/>
          <p:nvPr/>
        </p:nvSpPr>
        <p:spPr>
          <a:xfrm>
            <a:off x="548640" y="1655064"/>
            <a:ext cx="43891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Question: can you boat from lake michigan to atlantic ocean</a:t>
            </a:r>
          </a:p>
          <a:p>
            <a:pPr>
              <a:lnSpc>
                <a:spcPts val="2257"/>
              </a:lnSpc>
              <a:spcBef>
                <a:spcPts val="0"/>
              </a:spcBef>
              <a:spcAft>
                <a:spcPts val="0"/>
              </a:spcAft>
              <a:buNone/>
            </a:pPr>
            <a:r>
              <a:rPr sz="1850" b="0" lang="ja-JP">
                <a:solidFill>
                  <a:srgbClr val="303437"/>
                </a:solidFill>
                <a:latin typeface="Noto Sans"/>
                <a:ea typeface="Noto Sans CJK JP"/>
                <a:cs typeface="Noto Sans"/>
              </a:rPr>
              <a:t>Passage: The waterway allows passage from the Atlantic Ocean to the inland port of Duluth on Lake Superior, a distance of 2,340 miles (3,770 km) and to Chicago, on Lake Michigan, at 2,250 miles (3,620 km).</a:t>
            </a:r>
          </a:p>
        </p:txBody>
      </p:sp>
      <p:sp>
        <p:nvSpPr>
          <p:cNvPr id="12" name="translation-body"/>
          <p:cNvSpPr txBox="1"/>
          <p:nvPr/>
        </p:nvSpPr>
        <p:spPr>
          <a:xfrm>
            <a:off x="5212079" y="1664208"/>
            <a:ext cx="3383280"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質問：ミシガン湖から大西洋まで船で行けますか。</a:t>
            </a:r>
          </a:p>
          <a:p>
            <a:pPr>
              <a:lnSpc>
                <a:spcPts val="2135"/>
              </a:lnSpc>
              <a:spcBef>
                <a:spcPts val="0"/>
              </a:spcBef>
              <a:spcAft>
                <a:spcPts val="0"/>
              </a:spcAft>
              <a:buNone/>
            </a:pPr>
            <a:r>
              <a:rPr sz="1750" b="0" lang="ja-JP">
                <a:solidFill>
                  <a:srgbClr val="303437"/>
                </a:solidFill>
                <a:latin typeface="Noto Sans"/>
                <a:ea typeface="Noto Sans CJK JP"/>
                <a:cs typeface="Noto Sans"/>
              </a:rPr>
              <a:t>段落：この水路により、大西洋からスペリオル湖の内陸港ダルースまで2,340マイル（3,770km）、ミシガン湖のシカゴまで2,250マイル（3,620km）の航行が可能となる。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追加例6：英国の国民保険番号</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228。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正解：Yes</a:t>
            </a:r>
          </a:p>
        </p:txBody>
      </p:sp>
      <p:sp>
        <p:nvSpPr>
          <p:cNvPr id="9" name="original-label"/>
          <p:cNvSpPr txBox="1"/>
          <p:nvPr/>
        </p:nvSpPr>
        <p:spPr>
          <a:xfrm>
            <a:off x="548640" y="1399032"/>
            <a:ext cx="43891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translation-label"/>
          <p:cNvSpPr txBox="1"/>
          <p:nvPr/>
        </p:nvSpPr>
        <p:spPr>
          <a:xfrm>
            <a:off x="5212079" y="1399032"/>
            <a:ext cx="33832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original-panel"/>
          <p:cNvSpPr txBox="1"/>
          <p:nvPr/>
        </p:nvSpPr>
        <p:spPr>
          <a:xfrm>
            <a:off x="548640" y="1655064"/>
            <a:ext cx="43891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Question: do all ni numbers have a letter at the end</a:t>
            </a:r>
          </a:p>
          <a:p>
            <a:pPr>
              <a:lnSpc>
                <a:spcPts val="2257"/>
              </a:lnSpc>
              <a:spcBef>
                <a:spcPts val="0"/>
              </a:spcBef>
              <a:spcAft>
                <a:spcPts val="0"/>
              </a:spcAft>
              <a:buNone/>
            </a:pPr>
            <a:r>
              <a:rPr sz="1850" b="0" lang="ja-JP">
                <a:solidFill>
                  <a:srgbClr val="303437"/>
                </a:solidFill>
                <a:latin typeface="Noto Sans"/>
                <a:ea typeface="Noto Sans CJK JP"/>
                <a:cs typeface="Noto Sans"/>
              </a:rPr>
              <a:t>Passage: The format of the number is two prefix letters, six digits, and one suffix letter. The example used is typically QQ123456C. Often, the number is printed with spaces to pair off the digits, like this: QQ 12 34 56 C.</a:t>
            </a:r>
          </a:p>
        </p:txBody>
      </p:sp>
      <p:sp>
        <p:nvSpPr>
          <p:cNvPr id="12" name="translation-body"/>
          <p:cNvSpPr txBox="1"/>
          <p:nvPr/>
        </p:nvSpPr>
        <p:spPr>
          <a:xfrm>
            <a:off x="5212079" y="1664208"/>
            <a:ext cx="3383280" cy="251650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質問：国民保険番号はすべて末尾が英字ですか。</a:t>
            </a:r>
          </a:p>
          <a:p>
            <a:pPr>
              <a:lnSpc>
                <a:spcPts val="2135"/>
              </a:lnSpc>
              <a:spcBef>
                <a:spcPts val="0"/>
              </a:spcBef>
              <a:spcAft>
                <a:spcPts val="0"/>
              </a:spcAft>
              <a:buNone/>
            </a:pPr>
            <a:r>
              <a:rPr sz="1750" b="0" lang="ja-JP">
                <a:solidFill>
                  <a:srgbClr val="303437"/>
                </a:solidFill>
                <a:latin typeface="Noto Sans"/>
                <a:ea typeface="Noto Sans CJK JP"/>
                <a:cs typeface="Noto Sans"/>
              </a:rPr>
              <a:t>段落：番号は、先頭の英字2文字、数字6桁、末尾の英字1文字からなる。通常、例にはQQ123456Cを使う。数字を2桁ずつ空白で区切り、QQ 12 34 56 Cのように印字することも多い。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追加例7：エンジンの別名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is there a difference between 2 cycle and 2 stroke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Two-stroke oil (also referred to as two-cycle oil, 2-cycle oil, 2T oil, 2-stroke oil or petroil) is a special type of motor oil intended for use in crankcase compression two-stroke engines.</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質問：2-cycleと2-strokeには違いがありますか。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段落：2ストロークオイル（two-cycle oil、2-cycle oil、2T oil、2-stroke oil、petroilとも呼ぶ）は、クランクケース圧縮式2ストロークエンジン用の特殊なエンジンオイルである。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236。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正解：No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追加例8：陸上の国境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303。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正解：Yes</a:t>
            </a:r>
          </a:p>
        </p:txBody>
      </p:sp>
      <p:sp>
        <p:nvSpPr>
          <p:cNvPr id="9" name="original-label"/>
          <p:cNvSpPr txBox="1"/>
          <p:nvPr/>
        </p:nvSpPr>
        <p:spPr>
          <a:xfrm>
            <a:off x="548640" y="1399032"/>
            <a:ext cx="43891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translation-label"/>
          <p:cNvSpPr txBox="1"/>
          <p:nvPr/>
        </p:nvSpPr>
        <p:spPr>
          <a:xfrm>
            <a:off x="5212079" y="1399032"/>
            <a:ext cx="33832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original-panel"/>
          <p:cNvSpPr txBox="1"/>
          <p:nvPr/>
        </p:nvSpPr>
        <p:spPr>
          <a:xfrm>
            <a:off x="548640" y="1655064"/>
            <a:ext cx="43891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Question: is there a border between england and scotland</a:t>
            </a:r>
          </a:p>
          <a:p>
            <a:pPr>
              <a:lnSpc>
                <a:spcPts val="2257"/>
              </a:lnSpc>
              <a:spcBef>
                <a:spcPts val="0"/>
              </a:spcBef>
              <a:spcAft>
                <a:spcPts val="0"/>
              </a:spcAft>
              <a:buNone/>
            </a:pPr>
            <a:r>
              <a:rPr sz="1850" b="0" lang="ja-JP">
                <a:solidFill>
                  <a:srgbClr val="303437"/>
                </a:solidFill>
                <a:latin typeface="Noto Sans"/>
                <a:ea typeface="Noto Sans CJK JP"/>
                <a:cs typeface="Noto Sans"/>
              </a:rPr>
              <a:t>Passage: The Anglo-Scottish border between England and Scotland runs for 96 miles (154 km) between Marshall Meadows Bay on the east coast and the Solway Firth in the west. It is Scotland's only land border.</a:t>
            </a:r>
          </a:p>
        </p:txBody>
      </p:sp>
      <p:sp>
        <p:nvSpPr>
          <p:cNvPr id="12" name="translation-body"/>
          <p:cNvSpPr txBox="1"/>
          <p:nvPr/>
        </p:nvSpPr>
        <p:spPr>
          <a:xfrm>
            <a:off x="5212079" y="1664208"/>
            <a:ext cx="3383280" cy="251650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質問：イングランドとスコットランドの間に国境はありますか。</a:t>
            </a:r>
          </a:p>
          <a:p>
            <a:pPr>
              <a:lnSpc>
                <a:spcPts val="2135"/>
              </a:lnSpc>
              <a:spcBef>
                <a:spcPts val="0"/>
              </a:spcBef>
              <a:spcAft>
                <a:spcPts val="0"/>
              </a:spcAft>
              <a:buNone/>
            </a:pPr>
            <a:r>
              <a:rPr sz="1750" b="0" lang="ja-JP">
                <a:solidFill>
                  <a:srgbClr val="303437"/>
                </a:solidFill>
                <a:latin typeface="Noto Sans"/>
                <a:ea typeface="Noto Sans CJK JP"/>
                <a:cs typeface="Noto Sans"/>
              </a:rPr>
              <a:t>段落：イングランドとスコットランドの境界は、東のマーシャル・メドウズ湾から西のソルウェー湾まで96マイル（154km）続く。これはスコットランドで唯一の陸上の国境である。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追加例9：脚本から小説への順序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was the movie insomnia based on a book</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Robert Westbrook adapted the screenplay to novel form, which was published by Alex in May 2002.</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質問：映画『インソムニア』は本をもとに作られましたか。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段落：ロバート・ウェストブルックが脚本を小説化し、2002年5月にAlexから刊行された。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350。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正解：No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追加例10：フィクションか実話か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367。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正解：No</a:t>
            </a:r>
          </a:p>
        </p:txBody>
      </p:sp>
      <p:sp>
        <p:nvSpPr>
          <p:cNvPr id="9" name="original-label"/>
          <p:cNvSpPr txBox="1"/>
          <p:nvPr/>
        </p:nvSpPr>
        <p:spPr>
          <a:xfrm>
            <a:off x="548640" y="1399032"/>
            <a:ext cx="43891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translation-label"/>
          <p:cNvSpPr txBox="1"/>
          <p:nvPr/>
        </p:nvSpPr>
        <p:spPr>
          <a:xfrm>
            <a:off x="5212079" y="1399032"/>
            <a:ext cx="33832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original-panel"/>
          <p:cNvSpPr txBox="1"/>
          <p:nvPr/>
        </p:nvSpPr>
        <p:spPr>
          <a:xfrm>
            <a:off x="548640" y="1655064"/>
            <a:ext cx="43891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Question: was the color purple based on a true story</a:t>
            </a:r>
          </a:p>
          <a:p>
            <a:pPr>
              <a:lnSpc>
                <a:spcPts val="2257"/>
              </a:lnSpc>
              <a:spcBef>
                <a:spcPts val="0"/>
              </a:spcBef>
              <a:spcAft>
                <a:spcPts val="0"/>
              </a:spcAft>
              <a:buNone/>
            </a:pPr>
            <a:r>
              <a:rPr sz="1850" b="0" lang="ja-JP">
                <a:solidFill>
                  <a:srgbClr val="303437"/>
                </a:solidFill>
                <a:latin typeface="Noto Sans"/>
                <a:ea typeface="Noto Sans CJK JP"/>
                <a:cs typeface="Noto Sans"/>
              </a:rPr>
              <a:t>Passage: The Color Purple is a 1982 epistolary novel by American author Alice Walker which won the 1983 Pulitzer Prize for Fiction and the National Book Award for Fiction. It was later adapted into a film and musical of the same name.</a:t>
            </a:r>
          </a:p>
        </p:txBody>
      </p:sp>
      <p:sp>
        <p:nvSpPr>
          <p:cNvPr id="12" name="translation-body"/>
          <p:cNvSpPr txBox="1"/>
          <p:nvPr/>
        </p:nvSpPr>
        <p:spPr>
          <a:xfrm>
            <a:off x="5212079" y="1664208"/>
            <a:ext cx="3383280" cy="251650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質問：『カラーパープル』は実話をもとにしていますか。</a:t>
            </a:r>
          </a:p>
          <a:p>
            <a:pPr>
              <a:lnSpc>
                <a:spcPts val="2135"/>
              </a:lnSpc>
              <a:spcBef>
                <a:spcPts val="0"/>
              </a:spcBef>
              <a:spcAft>
                <a:spcPts val="0"/>
              </a:spcAft>
              <a:buNone/>
            </a:pPr>
            <a:r>
              <a:rPr sz="1750" b="0" lang="ja-JP">
                <a:solidFill>
                  <a:srgbClr val="303437"/>
                </a:solidFill>
                <a:latin typeface="Noto Sans"/>
                <a:ea typeface="Noto Sans CJK JP"/>
                <a:cs typeface="Noto Sans"/>
              </a:rPr>
              <a:t>段落：『カラーパープル』は米国の作家アリス・ウォーカーによる1982年の書簡体小説で、1983年のピュリツァー賞小説部門と全米図書賞小説部門を受賞した。後に同名の映画とミュージカルになった。</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入力の語数分布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validation全3,270件。横軸は空白区切りの語数、縦軸は件数。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google/boolq、改訂35b264d0。validation全3,270件を集計。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https://huggingface.co/datasets/google/boolq</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入力の長さを同じ方法で集計した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5120640"/>
                <a:gridCol w="292608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空白区切りの語数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55.0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813.0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入力はpassage。質問文とは別に集計。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google/boolq、改訂35b264d0。validation全3,270件を集計。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集計の対象と測り方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対象は改訂35b264d0のvalidation全3,270件。表示した13例だけの集計ではない。</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語数はPythonのstr.split()による空白区切り。母標準偏差を用い、分位点はNumPyの線形補間で求めた。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図は0〜49、50〜99、100〜199、200〜399、400〜799、800以上の階級で、最後の階級に長い入力もすべて含める。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google/boolq、改訂35b264d0。validation全3,270件を集計。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Christopher Clarkは、発表時にワシントン大学のPaul G. Allen Schoolに所属していた。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最終著者のKristina ToutanovaらはGoogle AI Languageの研究者として参加した。論文はNAACL-HLT 2019で発表された。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oolQ: Exploring the Surprising Difficulty of Natural Yes/No Questions"/>
          <p:cNvSpPr txBox="1"/>
          <p:nvPr/>
        </p:nvSpPr>
        <p:spPr>
          <a:xfrm>
            <a:off x="548640" y="1463040"/>
            <a:ext cx="8046720" cy="164261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BoolQ: Exploring the Surprising Difficulty of Natural Yes/No Questions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Christopher Clark, Kenton Lee, Ming-Wei Chang, Tom Kwiatkowski, Michael Collins, Kristina Toutanova / NAACL-HLT 2019</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BoolQの作成方法、実例、初期評価を報告した研究。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HELMのシナリオ、評価指標、少数例提示による多面的な比較をまとめる。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oolQ：公開データと配布情報"/>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BoolQ：公開データと配布情報</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google/boolq / 改訂35b264d0 / 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掲載した13例の原文・正解と、公開集合の全件集計を照合した。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SuperGLUE: A Stickier Benchmark for General-Purpose Language Understanding System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SuperGLUE: A Stickier Benchmark for General-Purpose Language Understanding Systems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Alex Wang et al. / NeurIPS 2019</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BoolQを含む複数の言語理解課題と、統合した評価を提案した。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https://arxiv.org/abs/1905.00537</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2026-10-17T16:08:26Z</dcterms:modified>
  <dc:title>boolq</dc:title>
  <dc:creator>sasakiy84</dc:creator>
  <dcterms:created xsi:type="dcterms:W3CDTF">2026-10-17T16:08:26Z</dcterms:created>
  <dc:language>ja-JP</dc:language>
</cp:coreProperties>
</file>