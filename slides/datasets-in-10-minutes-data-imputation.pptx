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6" r:id="rId16"/>
    <p:sldId id="267" r:id="rId17"/>
    <p:sldId id="268" r:id="rId18"/>
    <p:sldId id="269" r:id="rId19"/>
    <p:sldId id="272" r:id="rId22"/>
    <p:sldId id="273" r:id="rId23"/>
    <p:sldId id="276" r:id="rId26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304" r:id="rId54"/>
    <p:sldId id="305" r:id="rId55"/>
    <p:sldId id="306" r:id="rId56"/>
    <p:sldId id="309" r:id="rId5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9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github.com/EliasMei/IP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211.09110v1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bs.uni-leipzig.de/research/projects/benchmark-datasets-for-entity-resolution" TargetMode="External"/><Relationship Id="rId3" Type="http://schemas.openxmlformats.org/officeDocument/2006/relationships/hyperlink" Target="https://www.cs.utexas.edu/users/ml/riddle/data/restaurant.tar.gz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bs.uni-leipzig.de/research/projects/benchmark-datasets-for-entity-resolution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cs.utexas.edu/users/ml/riddle/data/restaurant.tar.gz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bs.uni-leipzig.de/research/projects/benchmark-datasets-for-entity-resolution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bs.uni-leipzig.de/research/projects/benchmark-datasets-for-entity-resolution" TargetMode="External"/><Relationship Id="rId3" Type="http://schemas.openxmlformats.org/officeDocument/2006/relationships/hyperlink" Target="https://www.cs.utexas.edu/users/ml/riddle/data/restaurant.tar.gz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bs.uni-leipzig.de/research/projects/benchmark-datasets-for-entity-resolution" TargetMode="External"/><Relationship Id="rId3" Type="http://schemas.openxmlformats.org/officeDocument/2006/relationships/hyperlink" Target="https://www.cs.utexas.edu/users/ml/riddle/data/restaurant.tar.gz" TargetMode="External"/><Relationship Id="rId4" Type="http://schemas.openxmlformats.org/officeDocument/2006/relationships/hyperlink" Target="https://github.com/stanford-crfm/helm/blob/v0.3.0/src/helm/benchmark/scenarios/entity_data_imputation_scenario.py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bs.uni-leipzig.de/research/projects/benchmark-datasets-for-entity-resolution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bs.uni-leipzig.de/research/projects/benchmark-datasets-for-entity-resolution" TargetMode="External"/><Relationship Id="rId3" Type="http://schemas.openxmlformats.org/officeDocument/2006/relationships/hyperlink" Target="https://www.cs.utexas.edu/users/ml/riddle/data/restaurant.tar.gz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bs.uni-leipzig.de/research/projects/benchmark-datasets-for-entity-resolution" TargetMode="External"/><Relationship Id="rId3" Type="http://schemas.openxmlformats.org/officeDocument/2006/relationships/hyperlink" Target="https://www.cs.utexas.edu/users/ml/riddle/data/restaurant.tar.gz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bs.uni-leipzig.de/research/projects/benchmark-datasets-for-entity-resolution" TargetMode="External"/><Relationship Id="rId3" Type="http://schemas.openxmlformats.org/officeDocument/2006/relationships/hyperlink" Target="https://crfm.stanford.edu/helm/classic/v0.4.0/#/groups/entity_data_imputation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cs.utexas.edu/users/ml/riddle/data/restaurant.tar.gz" TargetMode="External"/><Relationship Id="rId3" Type="http://schemas.openxmlformats.org/officeDocument/2006/relationships/hyperlink" Target="https://github.com/stanford-crfm/helm/blob/v0.3.0/src/helm/benchmark/metrics/basic_metrics.py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oi.org/10.1109/ICDE51399.2021.00013" TargetMode="External"/><Relationship Id="rId3" Type="http://schemas.openxmlformats.org/officeDocument/2006/relationships/hyperlink" Target="https://github.com/EliasMei/IPM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bs.uni-leipzig.de/research/projects/benchmark-datasets-for-entity-resolution" TargetMode="External"/><Relationship Id="rId3" Type="http://schemas.openxmlformats.org/officeDocument/2006/relationships/hyperlink" Target="https://www.cs.utexas.edu/users/ml/riddle/data/restaurant.tar.gz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bs.uni-leipzig.de/research/projects/benchmark-datasets-for-entity-resolution" TargetMode="External"/><Relationship Id="rId3" Type="http://schemas.openxmlformats.org/officeDocument/2006/relationships/hyperlink" Target="https://www.cs.utexas.edu/users/ml/riddle/data/restaurant.tar.gz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bs.uni-leipzig.de/research/projects/benchmark-datasets-for-entity-resolution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bs.uni-leipzig.de/research/projects/benchmark-datasets-for-entity-resolution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bs.uni-leipzig.de/research/projects/benchmark-datasets-for-entity-resolution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bs.uni-leipzig.de/research/projects/benchmark-datasets-for-entity-resolution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cs.utexas.edu/users/ml/riddle/data/restaurant.tar.gz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cs.utexas.edu/users/ml/riddle/data/restaurant.tar.gz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cs.utexas.edu/users/ml/riddle/data/restaurant.tar.gz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cs.utexas.edu/users/ml/riddle/data/restaurant.tar.gz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cs.utexas.edu/users/ml/riddle/data/restaurant.tar.gz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www.cs.utexas.edu/users/ml/riddle/data/restaurant.tar.gz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i.org/10.1109/ICDE51399.2021.00013" TargetMode="External"/><Relationship Id="rId3" Type="http://schemas.openxmlformats.org/officeDocument/2006/relationships/hyperlink" Target="https://github.com/EliasMei/IPM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bs.uni-leipzig.de/research/projects/benchmark-datasets-for-entity-resolution" TargetMode="External"/><Relationship Id="rId3" Type="http://schemas.openxmlformats.org/officeDocument/2006/relationships/hyperlink" Target="https://www.cs.utexas.edu/users/ml/riddle/data/restaurant.tar.gz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bs.uni-leipzig.de/research/publications/evaluation-of-entity-resolution-approaches-on-real-world-match-problems" TargetMode="External"/><Relationship Id="rId3" Type="http://schemas.openxmlformats.org/officeDocument/2006/relationships/hyperlink" Target="https://arxiv.org/abs/2211.09110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37627"/>
            <a:ext cx="8046720" cy="1055370"/>
          </a:xfrm>
        </p:spPr>
        <p:txBody>
          <a:bodyPr wrap="square" lIns="0" rIns="0" tIns="0" bIns="15240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表の欠損補完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647277"/>
            <a:ext cx="8046720" cy="1142365"/>
          </a:xfrm>
        </p:spPr>
        <p:txBody>
          <a:bodyPr lIns="0" rIns="0" tIns="0" bIns="152400">
            <a:noAutofit/>
          </a:bodyPr>
          <a:lstStyle/>
          <a:p>
            <a:pPr algn="ctr">
              <a:lnSpc>
                <a:spcPct val="125000"/>
              </a:lnSpc>
              <a:spcAft>
                <a:spcPts val="120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Abt-BuyのBuy表 / Restaurant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商品と飲食店の属性値を補う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補完研究IPMの公式実装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表の欠損補完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084" y="1481328"/>
            <a:ext cx="5513832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Mei et al. (2021). Capturing Semantics for Imputation with Pre-trained Language Models — IPM公式実装。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3"/>
              </a:rPr>
              <a:t>https://github.com/EliasMei/IPM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表の空欄を、一つの値で埋める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公開表から、補完問題を作る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補完結果を確かめる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手掛かりと利用条件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737616"/>
          </a:xfrm>
        </p:spPr>
        <p:txBody>
          <a:bodyPr wrap="square" lIns="0" rIns="0" tIns="0" bIns="15240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表の空欄を、一つの値で埋める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表の空欄を、一つの値で埋める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一つの行から、隠した属性を復元する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データ補完は、表の空欄を他の属性から埋める処理。本資料では、商品表Buyと飲食店表Restaurantを例に、メーカーや都市を補う方法を考える。</a:t>
            </a:r>
          </a:p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元のセルに値がある行なら、その値をいったん隠すことで、答えが分かる補完問題を作れる。商品名や説明、住所や電話番号など、同じ行に残した属性を手掛かりにする。</a:t>
            </a:r>
          </a:p>
          <a:p>
            <a:pPr marL="457200" indent="-355600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Liangらが2022年に公開した研究でも、この2表の値を言語モデルで補う課題が扱われた。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表の空欄を、一つの値で埋める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Liang et al. (2023). Holistic Evaluation of Language Models. TMLR. 初稿2022。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https://arxiv.org/abs/2211.09110v1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対象は、商品と飲食店の二つの表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表の空欄を、一つの値で埋める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20240"/>
        </p:xfrm>
        <a:graphic>
          <a:graphicData uri="http://schemas.openxmlformats.org/drawingml/2006/table">
            <a:tbl>
              <a:tblPr firstRow="0" bandRow="0"/>
              <a:tblGrid>
                <a:gridCol w="1645920"/>
                <a:gridCol w="1828800"/>
                <a:gridCol w="457200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使う表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隠す属性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手掛かりとして残す属性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7315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Buy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manufacturer
メーカー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name、description、price
商品名、説明、価格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7315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Restaurant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city
都市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name、addr、phone、type
店名、住所、電話、料理の種類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63016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商品の特徴や所在地の違いが伝わる13例を紹介する。各行を文章化し、メーカーまたは都市の元セルを正解として示す。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381500"/>
            <a:ext cx="8183879" cy="711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Database Group, Universität Leipzig. Abt-Buy.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https://dbs.uni-leipzig.de/research/projects/benchmark-datasets-for-entity-resolution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[2] University of Texas at Austin. RIDDLE / Restaurant data.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  <a:hlinkClick r:id="rId3"/>
              </a:rPr>
              <a:t>https://www.cs.utexas.edu/users/ml/riddle/data/restaurant.tar.gz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実例1：リモコンのメーカー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表の空欄を、一つの値で埋める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表の行を文章化した補完問題（全文）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27632"/>
            <a:ext cx="3931920" cy="127448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name: Sony Universal Remote Control - RM-EZ4. description: TV, Cable Box - Universal Remote. price: $12.72. manufacturer?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33502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対応する日本語訳</a:t>
            </a:r>
          </a:p>
        </p:txBody>
      </p:sp>
      <p:sp>
        <p:nvSpPr>
          <p:cNvPr id="7" name="quote-frame"/>
          <p:cNvSpPr/>
          <p:nvPr/>
        </p:nvSpPr>
        <p:spPr>
          <a:xfrm>
            <a:off x="4663440" y="1627632"/>
            <a:ext cx="3931920" cy="151993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商品名：Sonyの汎用リモコン − RM-EZ4。説明：テレビ、ケーブルテレビ受信機用 − 汎用リモコン。価格：$12.72。メーカーは？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51960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正解：Sony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Database Group, Universität Leipzig. Benchmark Datasets for Entity Resolution. CC BY 4.0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https://dbs.uni-leipzig.de/research/projects/benchmark-datasets-for-entity-resolution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実例2：住所と電話番号から都市を補う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表の空欄を、一つの値で埋める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表の行を文章化した補完問題（全文）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27632"/>
            <a:ext cx="3931920" cy="100269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name: kelly's on trinity. addr: 333 bush st.. phone: 415-362-4454. type: californian. city?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33502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対応する日本語訳</a:t>
            </a:r>
          </a:p>
        </p:txBody>
      </p:sp>
      <p:sp>
        <p:nvSpPr>
          <p:cNvPr id="7" name="quote-frame"/>
          <p:cNvSpPr/>
          <p:nvPr/>
        </p:nvSpPr>
        <p:spPr>
          <a:xfrm>
            <a:off x="4663440" y="1627632"/>
            <a:ext cx="3931920" cy="124900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店名：kelly’s on trinity。住所：333 bush st.。電話：415-362-4454。料理の種類：カリフォルニア料理。都市は？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51960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正解：san francisco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4297680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サンフランシスコ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University of Texas at Austin. RIDDLE / Restaurant data (fz.arff).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https://www.cs.utexas.edu/users/ml/riddle/data/restaurant.tar.gz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実例3：正解には製品分野まで含まれる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表の空欄を、一つの値で埋める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表の行を文章化した補完問題（全文）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27632"/>
            <a:ext cx="3931920" cy="176547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name: Canon VIXIA HF100 High Definition Digital Camcorder - 2708B001. description: Canon VIXIA HF100 High Definition Camcorder. price: $529.00. manufacturer?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33502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対応する日本語訳</a:t>
            </a:r>
          </a:p>
        </p:txBody>
      </p:sp>
      <p:sp>
        <p:nvSpPr>
          <p:cNvPr id="7" name="quote-frame"/>
          <p:cNvSpPr/>
          <p:nvPr/>
        </p:nvSpPr>
        <p:spPr>
          <a:xfrm>
            <a:off x="4663440" y="1627632"/>
            <a:ext cx="3931920" cy="152840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商品名：Canon VIXIA HF100 高精細デジタルビデオカメラ − 2708B001。説明：Canon VIXIA HF100 高精細ビデオカメラ。価格：$529.00。メーカーは？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51960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正解：Canon Camcorders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Database Group, Universität Leipzig. Benchmark Datasets for Entity Resolution. CC BY 4.0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https://dbs.uni-leipzig.de/research/projects/benchmark-datasets-for-entity-resolution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737616"/>
          </a:xfrm>
        </p:spPr>
        <p:txBody>
          <a:bodyPr wrap="square" lIns="0" rIns="0" tIns="0" bIns="15240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公開表から、補完問題を作る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公開表から、補完問題を作る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商品・飲食店の照合用に公開された表を使う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Buyは、商品照合用のAbt-Buyに含まれる片側の表。商品名、説明、価格、メーカーなどの属性があり、メーカーを補う例に使える。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Restaurantは、飲食店照合のために公開されたデータ。電話番号を含むfz.arffには店名、住所、電話番号、都市、料理の種類があり、同じ店を示すclassも付く。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公開表から、補完問題を作る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08500"/>
            <a:ext cx="8183879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Database Group, Universität Leipzig. Benchmark Datasets for Entity Resolution. CC BY 4.0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https://dbs.uni-leipzig.de/research/projects/benchmark-datasets-for-entity-resolution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</a:rPr>
              <a:t>[2] University of Texas at Austin. RIDDLE / Restaurant data (fz.arff).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3"/>
              </a:rPr>
              <a:t>https://www.cs.utexas.edu/users/ml/riddle/data/restaurant.tar.gz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Buy.csvから、手掛かりと正解を取り出す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公開表から、補完問題を作る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63016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配布ZIPからBuy.csvを展開し、同じフォルダで実行する。メーカー欄を正解として取り出し、商品名・説明・価格を表示する。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508500"/>
            <a:ext cx="8183879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Database Group, Universität Leipzig. Abt-Buy.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https://dbs.uni-leipzig.de/research/projects/benchmark-datasets-for-entity-resolution</a:t>
            </a:r>
          </a:p>
        </p:txBody>
      </p:sp>
      <p:sp>
        <p:nvSpPr>
          <p:cNvPr id="7" name="code-frame"/>
          <p:cNvSpPr/>
          <p:nvPr/>
        </p:nvSpPr>
        <p:spPr>
          <a:xfrm>
            <a:off x="548640" y="1530731"/>
            <a:ext cx="8046720" cy="158792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46567" bIns="127000">
            <a:noAutofit/>
          </a:bodyPr>
          <a:lstStyle/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pandas as pd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table = pd.read_csv("Buy.csv").dropna(subset=["description"])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row = table.iloc[0]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answer = row["manufacturer"]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print(row[["name", "description", "price"]])</a:t>
            </a:r>
          </a:p>
          <a:p>
            <a:pPr algn="l"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print("正解:", answer)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説明文を使うときは、空欄を確認する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公開表から、補完問題を作る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03120"/>
        </p:xfrm>
        <a:graphic>
          <a:graphicData uri="http://schemas.openxmlformats.org/drawingml/2006/table">
            <a:tbl>
              <a:tblPr firstRow="0" bandRow="0"/>
              <a:tblGrid>
                <a:gridCol w="5760720"/>
                <a:gridCol w="228600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処理と残った空欄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配布Buy.csv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1,092行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descriptionが欠損した行を除外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441行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説明文がある商品行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651行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残った表でpriceが欠損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269行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1304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説明文がある651行では、メーカー欄の値がそろっている。価格は269行で空欄。本資料の文章化した例では、価格の空欄をnanと表示する。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Database Group, Universität Leipzig. Abt-Buy.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https://dbs.uni-leipzig.de/research/projects/benchmark-datasets-for-entity-resolution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補完する列を隠し、元の値を正解にする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元の表にあるmanufacturerまたはcityの値を保存し、その列を手掛かりから外す。補完した値は、保存した元の値と比べられる。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学習用と評価用の行を分けて使う。同じ店の別レコードを同じ分割へまとめると、未知の店の属性を補えるかを調べられる。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公開表から、補完問題を作る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381500"/>
            <a:ext cx="8183879" cy="711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Database Group, Universität Leipzig. Abt-Buy.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https://dbs.uni-leipzig.de/research/projects/benchmark-datasets-for-entity-resolution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[2] University of Texas at Austin. RIDDLE / Restaurant data.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  <a:hlinkClick r:id="rId3"/>
              </a:rPr>
              <a:t>https://www.cs.utexas.edu/users/ml/riddle/data/restaurant.tar.gz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737616"/>
          </a:xfrm>
        </p:spPr>
        <p:txBody>
          <a:bodyPr wrap="square" lIns="0" rIns="0" tIns="0" bIns="15240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補完結果を確かめる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補完結果を確かめる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元の値の表記と、意味を確かめる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補完した値を元のセルと照合すると、どの行で値が復元できたかを確かめられる。表記をそのまま比べるか、大文字・小文字や空白をそろえるかを決めておく。</a:t>
            </a:r>
          </a:p>
          <a:p>
            <a:pPr marL="457200" indent="-355600">
              <a:lnSpc>
                <a:spcPts val="2439"/>
              </a:lnSpc>
              <a:spcAft>
                <a:spcPts val="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メーカー欄のLACIEと、商品名のLaCieのように、表記が異なる場合がある。Canon Camcordersのように、製品分野まで含む値もある。</a:t>
            </a:r>
          </a:p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都市の略記や地区名も、補完する値の範囲に関わる。元の表記と、どの場所や企業を指す値なのかを合わせて確認する。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補完結果を確かめる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381500"/>
            <a:ext cx="8183879" cy="711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Database Group, Universität Leipzig. Abt-Buy.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https://dbs.uni-leipzig.de/research/projects/benchmark-datasets-for-entity-resolution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[2] University of Texas at Austin. RIDDLE / Restaurant data.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  <a:hlinkClick r:id="rId3"/>
              </a:rPr>
              <a:t>https://www.cs.utexas.edu/users/ml/riddle/data/restaurant.tar.gz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737616"/>
          </a:xfrm>
        </p:spPr>
        <p:txBody>
          <a:bodyPr wrap="square" lIns="0" rIns="0" tIns="0" bIns="15240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手掛かりと利用条件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手掛かりと利用条件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商品名はメーカーの強い手掛かりになる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Buyの商品名や説明には、SonyやCanonなどのメーカー名が現れる。文字列からメーカーを取り出せる行もあり、価格が空欄でも有用な手掛かりが残る。</a:t>
            </a:r>
          </a:p>
          <a:p>
            <a:pPr marL="457200" indent="-355600">
              <a:lnSpc>
                <a:spcPts val="2439"/>
              </a:lnSpc>
              <a:spcAft>
                <a:spcPts val="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メーカー欄には、Canon CamcordersやLG Electronicsのような値も含む。短いブランド名、企業名、製品分野を含む名前など、その列で使う表し方を確かめる。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手掛かりと利用条件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08500"/>
            <a:ext cx="8183879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Database Group, Universität Leipzig. Abt-Buy.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https://dbs.uni-leipzig.de/research/projects/benchmark-datasets-for-entity-resolution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都市欄には、略記や地区名が混在する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Restaurantには住所と電話番号があり、所在地を推定する手掛かりになる。city欄には、los felizのような地区名やlaのような略記も入る。</a:t>
            </a:r>
          </a:p>
          <a:p>
            <a:pPr marL="457200" indent="-355600">
              <a:lnSpc>
                <a:spcPts val="2439"/>
              </a:lnSpc>
              <a:spcAft>
                <a:spcPts val="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補完結果を照合するときは、元の表記を保存する。略記を正式名へそろえて扱う場合は、laとlos angelesなどの対応を明確にする。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手掛かりと利用条件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08500"/>
            <a:ext cx="8183879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University of Texas at Austin. RIDDLE / Restaurant data (fz.arff).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https://www.cs.utexas.edu/users/ml/riddle/data/restaurant.tar.gz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言語モデルを追加学習して値を補うIPM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Meiらは2021年、事前学習言語モデルで属性値の意味を捉え、欠損値を補う手法IPMを提案した。8種類のデータを扱い、BuyのmanufacturerとRestaurantのcityも対象に含む。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IPM-Multiは属性値を分類し、IPM-Binaryは候補値ごとの適否を判定する。利用時には、補完する属性と候補値、学習用データを用意して追加学習する。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手掛かりと利用条件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08500"/>
            <a:ext cx="8183879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Mei et al. (2021). Capturing Semantics for Imputation with Pre-trained Language Models.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https://doi.org/10.1109/ICDE51399.2021.00013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</a:rPr>
              <a:t>[2] Yinan Mei et al. IPM公式実装.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3"/>
              </a:rPr>
              <a:t>https://github.com/EliasMei/IPM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入手元と利用条件を確認する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BuyはLeipzig大学のAbt-Buy配布から取得でき、同ページはCC BY 4.0を示す。商品同士を照合する用途ではAbt側や対応表も使い、ここではBuy側の属性を補う例を紹介した。</a:t>
            </a:r>
          </a:p>
          <a:p>
            <a:pPr marL="457200" indent="-355600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RestaurantはUT Austinの公開アーカイブから取得できる。添付READMEには独立した再配布ライセンスの表示がない。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手掛かりと利用条件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508500"/>
            <a:ext cx="8183879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Database Group, Universität Leipzig. Benchmark Datasets for Entity Resolution. CC BY 4.0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https://dbs.uni-leipzig.de/research/projects/benchmark-datasets-for-entity-resolution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</a:rPr>
              <a:t>[2] University of Texas at Austin. RIDDLE / Restaurant data (fz.arff).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3"/>
              </a:rPr>
              <a:t>https://www.cs.utexas.edu/users/ml/riddle/data/restaurant.tar.gz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公開表から、答えのある補完問題を作れる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39"/>
              </a:lnSpc>
              <a:spcAft>
                <a:spcPts val="70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BuyのメーカーとRestaurantの都市を、同じ行にある他の属性から補う例を示した。元の値を隠すことで、補完した値を確かめられる。</a:t>
            </a:r>
          </a:p>
          <a:p>
            <a:pPr marL="457200" indent="-355600">
              <a:lnSpc>
                <a:spcPts val="2439"/>
              </a:lnSpc>
              <a:spcAft>
                <a:spcPts val="0"/>
              </a:spcAft>
              <a:buSzPct val="64878"/>
              <a:buFont typeface="Noto Sans CJK JP"/>
              <a:buChar char="●"/>
              <a:defRPr sz="2050" b="0">
                <a:solidFill>
                  <a:srgbClr val="303437"/>
                </a:solidFill>
                <a:latin typeface="Noto Sans"/>
              </a:defRPr>
            </a:pPr>
            <a:r>
              <a:rPr sz="20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商品名や電話番号が手掛かりになる一方、メーカー名の表し方や都市の略記も扱う必要がある。元表の値と文脈を読み、利用目的に合う比較方法を選ぶ。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手掛かりと利用条件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381500"/>
            <a:ext cx="8183879" cy="711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Database Group, Universität Leipzig. Abt-Buy.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https://dbs.uni-leipzig.de/research/projects/benchmark-datasets-for-entity-resolution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[2] University of Texas at Austin. RIDDLE / Restaurant data.</a:t>
            </a:r>
          </a:p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  <a:hlinkClick r:id="rId3"/>
              </a:rPr>
              <a:t>https://www.cs.utexas.edu/users/ml/riddle/data/restaurant.tar.gz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84835"/>
            <a:ext cx="8046720" cy="737616"/>
          </a:xfrm>
        </p:spPr>
        <p:txBody>
          <a:bodyPr wrap="square" lIns="0" rIns="0" tIns="0" bIns="15240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追加の実例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実例4：価格が欠けたノートPC用スタンド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表の行を文章化した補完問題（全文）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27632"/>
            <a:ext cx="3931920" cy="148607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name: Griffin Elevator Desktop Stand for Portable Laptops - 1093-CURV2. description: Aluminum. price: nan. manufacturer?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33502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対応する日本語訳</a:t>
            </a:r>
          </a:p>
        </p:txBody>
      </p:sp>
      <p:sp>
        <p:nvSpPr>
          <p:cNvPr id="7" name="quote-frame"/>
          <p:cNvSpPr/>
          <p:nvPr/>
        </p:nvSpPr>
        <p:spPr>
          <a:xfrm>
            <a:off x="4663440" y="1627632"/>
            <a:ext cx="3931920" cy="124900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商品名：Griffin Elevator ノートPC用デスクトップスタンド − 1093-CURV2。説明：アルミニウム。価格：nan。メーカーは？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51960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正解：Griffin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Database Group, Universität Leipzig. Benchmark Datasets for Entity Resolution. CC BY 4.0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https://dbs.uni-leipzig.de/research/projects/benchmark-datasets-for-entity-resolution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実例5：メーカー欄に企業名が入るテレビ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表の行を文章化した補完問題（全文）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27632"/>
            <a:ext cx="3931920" cy="181917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name: LG LG70 Series 52LG70 52' LCD TV. description: LG 52LG70 - 52' Widescreen 1080p LCD HDTV - 120Hz - 15,000:1 Dynamic Contrast Ratio - 4ms Response Time. price: nan. manufacturer?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33502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対応する日本語訳</a:t>
            </a:r>
          </a:p>
        </p:txBody>
      </p:sp>
      <p:sp>
        <p:nvSpPr>
          <p:cNvPr id="7" name="quote-frame"/>
          <p:cNvSpPr/>
          <p:nvPr/>
        </p:nvSpPr>
        <p:spPr>
          <a:xfrm>
            <a:off x="4663440" y="1627632"/>
            <a:ext cx="3931920" cy="233273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171"/>
              </a:lnSpc>
              <a:spcBef>
                <a:spcPts val="0"/>
              </a:spcBef>
              <a:spcAft>
                <a:spcPts val="0"/>
              </a:spcAft>
              <a:buNone/>
              <a:defRPr sz="1825" b="0">
                <a:solidFill>
                  <a:srgbClr val="303437"/>
                </a:solidFill>
                <a:latin typeface="Noto Sans"/>
              </a:defRPr>
            </a:pPr>
            <a:r>
              <a:rPr sz="1825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商品名：LG LG70シリーズ 52LG70 52インチ液晶テレビ。説明：LG 52LG70 − 52インチ・ワイド画面・1080p液晶ハイビジョンテレビ − 120Hz − ダイナミックコントラスト比15,000:1 − 応答時間4ms。価格：nan。メーカーは？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51960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正解：LG Electronics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Database Group, Universität Leipzig. Benchmark Datasets for Entity Resolution. CC BY 4.0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https://dbs.uni-leipzig.de/research/projects/benchmark-datasets-for-entity-resolution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実例6：大文字と小文字の表記差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表の行を文章化した補完問題（全文）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27632"/>
            <a:ext cx="3931920" cy="209132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name: LaCie Big Disk Extreme+ Hard Drive - 301199U. description: LaCie Big Disk Extreme 1TB Hard Drive - Triple Interface (USB 2.0 &amp; FireWire 400/800) External Hard Drive. price: nan. manufacturer?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33502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対応する日本語訳</a:t>
            </a:r>
          </a:p>
        </p:txBody>
      </p:sp>
      <p:sp>
        <p:nvSpPr>
          <p:cNvPr id="7" name="quote-frame"/>
          <p:cNvSpPr/>
          <p:nvPr/>
        </p:nvSpPr>
        <p:spPr>
          <a:xfrm>
            <a:off x="4663440" y="1627632"/>
            <a:ext cx="3931920" cy="233273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171"/>
              </a:lnSpc>
              <a:spcBef>
                <a:spcPts val="0"/>
              </a:spcBef>
              <a:spcAft>
                <a:spcPts val="0"/>
              </a:spcAft>
              <a:buNone/>
              <a:defRPr sz="1825" b="0">
                <a:solidFill>
                  <a:srgbClr val="303437"/>
                </a:solidFill>
                <a:latin typeface="Noto Sans"/>
              </a:defRPr>
            </a:pPr>
            <a:r>
              <a:rPr sz="1825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商品名：LaCie Big Disk Extreme+ ハードドライブ − 301199U。説明：LaCie Big Disk Extreme 1TBハードドライブ − 3種類の接続方式（USB 2.0、FireWire 400/800）を備える外付けハードドライブ。価格：nan。メーカーは？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51960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正解：LACIE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Database Group, Universität Leipzig. Benchmark Datasets for Entity Resolution. CC BY 4.0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https://dbs.uni-leipzig.de/research/projects/benchmark-datasets-for-entity-resolution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実例7：対応機器と、ケースのメーカー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表の行を文章化した補完問題（全文）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27632"/>
            <a:ext cx="3931920" cy="149453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name: Speck Products SeeThru Case for Apple 13' MacBook - MB13-ORG-SEE-V2. description: Plastic - Orange. price: nan. manufacturer?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33502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対応する日本語訳</a:t>
            </a:r>
          </a:p>
        </p:txBody>
      </p:sp>
      <p:sp>
        <p:nvSpPr>
          <p:cNvPr id="7" name="quote-frame"/>
          <p:cNvSpPr/>
          <p:nvPr/>
        </p:nvSpPr>
        <p:spPr>
          <a:xfrm>
            <a:off x="4663440" y="1627632"/>
            <a:ext cx="3931920" cy="1799337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商品名：Apple 13インチMacBook用 Speck Products SeeThruケース − MB13-ORG-SEE-V2。説明：プラスチック − オレンジ色。価格：nan。メーカーは？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51960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正解：Speck Products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Database Group, Universität Leipzig. Benchmark Datasets for Entity Resolution. CC BY 4.0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https://dbs.uni-leipzig.de/research/projects/benchmark-datasets-for-entity-resolution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実例8：都市欄には地区名も入る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表の行を文章化した補完問題（全文）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27632"/>
            <a:ext cx="3931920" cy="100269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name: katsu. addr: 1972 hillhurst ave.. phone: 213-665-1891. type: japanese. city?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33502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対応する日本語訳</a:t>
            </a:r>
          </a:p>
        </p:txBody>
      </p:sp>
      <p:sp>
        <p:nvSpPr>
          <p:cNvPr id="7" name="quote-frame"/>
          <p:cNvSpPr/>
          <p:nvPr/>
        </p:nvSpPr>
        <p:spPr>
          <a:xfrm>
            <a:off x="4663440" y="1627632"/>
            <a:ext cx="3931920" cy="124900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店名：katsu。住所：1972 hillhurst ave.。電話：213-665-1891。料理の種類：日本料理。都市は？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51960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正解：los feliz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4297680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ロス・フェリズ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University of Texas at Austin. RIDDLE / Restaurant data (fz.arff).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https://www.cs.utexas.edu/users/ml/riddle/data/restaurant.tar.gz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実例9：都市がlaと略記されている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表の行を文章化した補完問題（全文）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27632"/>
            <a:ext cx="3931920" cy="100269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name: cassell's. addr: 3266 w. sixth st.. phone: 213-480-8668. type: hamburgers. city?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33502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対応する日本語訳</a:t>
            </a:r>
          </a:p>
        </p:txBody>
      </p:sp>
      <p:sp>
        <p:nvSpPr>
          <p:cNvPr id="7" name="quote-frame"/>
          <p:cNvSpPr/>
          <p:nvPr/>
        </p:nvSpPr>
        <p:spPr>
          <a:xfrm>
            <a:off x="4663440" y="1627632"/>
            <a:ext cx="3931920" cy="124900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店名：cassell’s。住所：3266 w. sixth st.。電話：213-480-8668。料理の種類：ハンバーガー。都市は？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51960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4297680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ロサンゼルスの略記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University of Texas at Austin. RIDDLE / Restaurant data (fz.arff).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https://www.cs.utexas.edu/users/ml/riddle/data/restaurant.tar.gz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実例10：city欄がnew york cityの飲食店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表の行を文章化した補完問題（全文）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27632"/>
            <a:ext cx="3931920" cy="100269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name: sylvia's. addr: 328 lenox ave.. phone: 212-996-0660. type: southern/soul. city?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33502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対応する日本語訳</a:t>
            </a:r>
          </a:p>
        </p:txBody>
      </p:sp>
      <p:sp>
        <p:nvSpPr>
          <p:cNvPr id="7" name="quote-frame"/>
          <p:cNvSpPr/>
          <p:nvPr/>
        </p:nvSpPr>
        <p:spPr>
          <a:xfrm>
            <a:off x="4663440" y="1627632"/>
            <a:ext cx="3931920" cy="124900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店名：sylvia’s。住所：328 lenox ave.。電話：212-996-0660。料理の種類：米国南部料理／ソウルフード。都市は？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51960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正解：new york 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4297680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ニューヨーク市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University of Texas at Austin. RIDDLE / Restaurant data (fz.arff).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https://www.cs.utexas.edu/users/ml/riddle/data/restaurant.tar.gz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実例11：大都市周辺の別の都市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表の行を文章化した補完問題（全文）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27632"/>
            <a:ext cx="3931920" cy="100269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name: house of chan. addr: 2469 cobb pkwy.. phone: 770-955-9444. type: chinese. city?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33502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対応する日本語訳</a:t>
            </a:r>
          </a:p>
        </p:txBody>
      </p:sp>
      <p:sp>
        <p:nvSpPr>
          <p:cNvPr id="7" name="quote-frame"/>
          <p:cNvSpPr/>
          <p:nvPr/>
        </p:nvSpPr>
        <p:spPr>
          <a:xfrm>
            <a:off x="4663440" y="1627632"/>
            <a:ext cx="3931920" cy="124900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店名：house of chan。住所：2469 cobb pkwy.。電話：770-955-9444。料理の種類：中国料理。都市は？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51960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正解：smyrna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4297680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スマーナ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University of Texas at Austin. RIDDLE / Restaurant data (fz.arff).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https://www.cs.utexas.edu/users/ml/riddle/data/restaurant.tar.gz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実例12：店名にも所在地が現れる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表の行を文章化した補完問題（全文）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27632"/>
            <a:ext cx="3931920" cy="127448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name: morton's of chicago (las vegas). addr: 3200 las vegas blvd. s.. phone: 702-893-0703. type: steakhouses. city?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33502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対応する日本語訳</a:t>
            </a:r>
          </a:p>
        </p:txBody>
      </p:sp>
      <p:sp>
        <p:nvSpPr>
          <p:cNvPr id="7" name="quote-frame"/>
          <p:cNvSpPr/>
          <p:nvPr/>
        </p:nvSpPr>
        <p:spPr>
          <a:xfrm>
            <a:off x="4663440" y="1627632"/>
            <a:ext cx="3931920" cy="152840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店名：morton’s of chicago（las vegas）。住所：3200 las vegas blvd. s.。電話：702-893-0703。料理の種類：ステーキハウス。都市は？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51960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正解：las vegas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4297680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ラスベガス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University of Texas at Austin. RIDDLE / Restaurant data (fz.arff).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https://www.cs.utexas.edu/users/ml/riddle/data/restaurant.tar.gz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実例13：サンタモニカのイタリア料理店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502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表の行を文章化した補完問題（全文）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27632"/>
            <a:ext cx="3931920" cy="100269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142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name: remi. addr: 3rd st. promenade. phone: 310/393-6545. type: italian. city?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33502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04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対応する日本語訳</a:t>
            </a:r>
          </a:p>
        </p:txBody>
      </p:sp>
      <p:sp>
        <p:nvSpPr>
          <p:cNvPr id="7" name="quote-frame"/>
          <p:cNvSpPr/>
          <p:nvPr/>
        </p:nvSpPr>
        <p:spPr>
          <a:xfrm>
            <a:off x="4663440" y="1627632"/>
            <a:ext cx="3931920" cy="124900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77800" rIns="177800" tIns="635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店名：remi。住所：3rd st. promenade。電話：310/393-6545。料理の種類：イタリア料理。都市は？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51960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457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正解：santa monica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4297680"/>
            <a:ext cx="3886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サンタモニカ</a:t>
            </a:r>
          </a:p>
        </p:txBody>
      </p:sp>
      <p:sp>
        <p:nvSpPr>
          <p:cNvPr id="10" name="sources"/>
          <p:cNvSpPr txBox="1"/>
          <p:nvPr/>
        </p:nvSpPr>
        <p:spPr>
          <a:xfrm>
            <a:off x="502920" y="4699000"/>
            <a:ext cx="8183879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30">
                <a:latin typeface="Noto Sans CJK JP"/>
              </a:rPr>
              <a:t>[1] University of Texas at Austin. RIDDLE / Restaurant data (fz.arff).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30">
                <a:latin typeface="Noto Sans CJK JP"/>
                <a:hlinkClick r:id="rId2"/>
              </a:rPr>
              <a:t>https://www.cs.utexas.edu/users/ml/riddle/data/restaurant.tar.gz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737616"/>
          </a:xfrm>
        </p:spPr>
        <p:txBody>
          <a:bodyPr wrap="square" lIns="0" rIns="0" tIns="0" bIns="15240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参考文献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参考文献</a:t>
            </a:r>
          </a:p>
        </p:txBody>
      </p:sp>
      <p:sp>
        <p:nvSpPr>
          <p:cNvPr id="4" name="文献 1: Capturing Semantics for Imputation with Pre-trained Language Models"/>
          <p:cNvSpPr txBox="1"/>
          <p:nvPr/>
        </p:nvSpPr>
        <p:spPr>
          <a:xfrm>
            <a:off x="548640" y="1463040"/>
            <a:ext cx="8046720" cy="179463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Capturing Semantics for Imputation with Pre-trained Language Models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Yinan Mei, Shaoxu Song, Chenguang Fang, Haifeng Yang, Jingyun Fang, Jiang Long · 2021 · IEEE ICDE, 61–72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事前学習言語モデルで属性値の意味を捉える補完方法IPMを提案する。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https://doi.org/10.1109/ICDE51399.2021.00013</a:t>
            </a:r>
          </a:p>
        </p:txBody>
      </p:sp>
      <p:sp>
        <p:nvSpPr>
          <p:cNvPr id="5" name="文献 2: IPM"/>
          <p:cNvSpPr txBox="1"/>
          <p:nvPr/>
        </p:nvSpPr>
        <p:spPr>
          <a:xfrm>
            <a:off x="548640" y="3489325"/>
            <a:ext cx="8046720" cy="154571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IPM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Yinan Mei et al. (n.d.). 公式実装。2026-10-18参照。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IPM-Multi・IPM-Binaryの学習コード、補完対象属性、実行例、欠損率10%のサンプルを公開する。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https://github.com/EliasMei/IPM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参考文献</a:t>
            </a:r>
          </a:p>
        </p:txBody>
      </p:sp>
      <p:sp>
        <p:nvSpPr>
          <p:cNvPr id="4" name="文献 1: Benchmark Datasets for Entity Resolution"/>
          <p:cNvSpPr txBox="1"/>
          <p:nvPr/>
        </p:nvSpPr>
        <p:spPr>
          <a:xfrm>
            <a:off x="548640" y="1463040"/>
            <a:ext cx="8046720" cy="12424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Benchmark Datasets for Entity Resolution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Database Group, Universität Leipzig (n.d.). 2026-10-18参照。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Abt-Buyを含む照合用データと対応表、配布条件CC BY 4.0を掲載する。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https://dbs.uni-leipzig.de/research/projects/benchmark-datasets-for-entity-resolution</a:t>
            </a:r>
          </a:p>
        </p:txBody>
      </p:sp>
      <p:sp>
        <p:nvSpPr>
          <p:cNvPr id="5" name="文献 2: Restaurant data — RIDDLE"/>
          <p:cNvSpPr txBox="1"/>
          <p:nvPr/>
        </p:nvSpPr>
        <p:spPr>
          <a:xfrm>
            <a:off x="548640" y="2787142"/>
            <a:ext cx="8046720" cy="154590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Restaurant data — RIDDLE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University of Texas at Austin (n.d.). 公開データアーカイブ。2026-10-18参照。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電話番号あり・なしのARFF、元の飲食店記録、由来を記したREADMEを収録する。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https://www.cs.utexas.edu/users/ml/riddle/data/restaurant.tar.gz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参考文献</a:t>
            </a:r>
          </a:p>
        </p:txBody>
      </p:sp>
      <p:sp>
        <p:nvSpPr>
          <p:cNvPr id="4" name="文献 1: Evaluation of entity resolution approaches on real-world match problems"/>
          <p:cNvSpPr txBox="1"/>
          <p:nvPr/>
        </p:nvSpPr>
        <p:spPr>
          <a:xfrm>
            <a:off x="548640" y="1463040"/>
            <a:ext cx="8046720" cy="18674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Evaluation of entity resolution approaches on real-world match problems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H. Köpcke, A. Thor, E. Rahm · 2010 · Proceedings of the VLDB Endowment 3(1)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異なる出所のレコードを照合する方法の精度と効率を比較し、Abt-Buyを含む実データの評価課題を公開した。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https://dbs.uni-leipzig.de/research/publications/evaluation-of-entity-resolution-approaches-on-real-world-match-problems</a:t>
            </a:r>
          </a:p>
        </p:txBody>
      </p:sp>
      <p:sp>
        <p:nvSpPr>
          <p:cNvPr id="5" name="文献 1: Holistic Evaluation of Language Models"/>
          <p:cNvSpPr txBox="1"/>
          <p:nvPr/>
        </p:nvSpPr>
        <p:spPr>
          <a:xfrm>
            <a:off x="548640" y="3429000"/>
            <a:ext cx="8046720" cy="1625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Holistic Evaluation of Language Models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Percy Liang et al. (2023). TMLR. 初稿2022。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BuyとRestaurantの属性値を言語モデルで補う課題を、2022年の初稿から記載する。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https://arxiv.org/abs/2211.09110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2026-10-18T08:23:26Z</dcterms:modified>
  <dc:title>data-imputation</dc:title>
  <dc:creator>sasakiy84</dc:creator>
  <dcterms:created xsi:type="dcterms:W3CDTF">2026-10-18T08:23:26Z</dcterms:created>
  <dc:language>ja-JP</dc:language>
</cp:coreProperties>
</file>