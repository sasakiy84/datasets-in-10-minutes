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github.com/EliasMei/IP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blob/v0.3.0/src/helm/benchmark/scenarios/entity_data_imputation_scenario.py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v0.3.0/src/helm/benchmark/scenarios/entity_data_imputation_scenario.py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bs.uni-leipzig.de/research/projects/benchmark-datasets-for-entity-resolution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www.cs.utexas.edu/users/ml/riddle/data/restaurant.tar.gz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bs.uni-leipzig.de/research/projects/benchmark-datasets-for-entity-resolution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entity_data_imputation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dbs.uni-leipzig.de/research/projects/benchmark-datasets-for-entity-resolution" TargetMode="External"/><Relationship Id="rId3" Type="http://schemas.openxmlformats.org/officeDocument/2006/relationships/hyperlink" Target="https://www.cs.utexas.edu/users/ml/riddle/data/restaurant.tar.gz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bs.uni-leipzig.de/research/projects/benchmark-datasets-for-entity-resolution" TargetMode="External"/><Relationship Id="rId3" Type="http://schemas.openxmlformats.org/officeDocument/2006/relationships/hyperlink" Target="https://www.cs.utexas.edu/users/ml/riddle/data/restaurant.tar.gz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v0.3.0/src/helm/benchmark/scenarios/entity_data_imputation_scenario.py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blob/v0.3.0/src/helm/benchmark/scenarios/entity_data_imputation_scenario.py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v0.3.0/src/helm/benchmark/scenarios/entity_data_imputation_scenario.py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blob/v0.3.0/src/helm/benchmark/scenarios/entity_data_imputation_scenario.py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rfm.stanford.edu/helm/classic/v0.4.0/#/groups/entity_data_imputation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entity_data_imputation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blob/v0.3.0/src/helm/benchmark/metrics/basic_metrics.py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entity_data_imputation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entity_data_imputation" TargetMode="External"/><Relationship Id="rId3" Type="http://schemas.openxmlformats.org/officeDocument/2006/relationships/hyperlink" Target="https://github.com/stanford-crfm/helm/blob/v0.3.0/src/helm/benchmark/metrics/basic_metrics.py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blob/v0.3.0/src/helm/benchmark/scenarios/entity_data_imputation_scenario.py" TargetMode="External"/><Relationship Id="rId3" Type="http://schemas.openxmlformats.org/officeDocument/2006/relationships/hyperlink" Target="https://crfm.stanford.edu/helm/classic/v0.4.0/#/groups/entity_data_imputation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www.cs.utexas.edu/users/ml/riddle/data/restaurant.tar.gz" TargetMode="External"/><Relationship Id="rId3" Type="http://schemas.openxmlformats.org/officeDocument/2006/relationships/hyperlink" Target="https://github.com/stanford-crfm/helm/blob/v0.3.0/src/helm/benchmark/metrics/basic_metrics.py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EliasMei/IPM" TargetMode="External"/><Relationship Id="rId3" Type="http://schemas.openxmlformats.org/officeDocument/2006/relationships/hyperlink" Target="https://arxiv.org/abs/2211.09110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dbs.uni-leipzig.de/research/projects/benchmark-datasets-for-entity-resolution" TargetMode="External"/><Relationship Id="rId3" Type="http://schemas.openxmlformats.org/officeDocument/2006/relationships/hyperlink" Target="https://www.cs.utexas.edu/users/ml/riddle/data/restaurant.tar.gz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rfm.stanford.edu/helm/classic/v0.4.0/#/groups/entity_data_imputation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bs.uni-leipzig.de/research/projects/benchmark-datasets-for-entity-resolution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bs.uni-leipzig.de/research/projects/benchmark-datasets-for-entity-resolution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bs.uni-leipzig.de/research/projects/benchmark-datasets-for-entity-resolution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bs.uni-leipzig.de/research/projects/benchmark-datasets-for-entity-resolution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www.cs.utexas.edu/users/ml/riddle/data/restaurant.tar.gz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www.cs.utexas.edu/users/ml/riddle/data/restaurant.tar.gz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www.cs.utexas.edu/users/ml/riddle/data/restaurant.tar.gz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www.cs.utexas.edu/users/ml/riddle/data/restaurant.tar.gz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www.cs.utexas.edu/users/ml/riddle/data/restaurant.tar.gz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www.cs.utexas.edu/users/ml/riddle/data/restaurant.tar.gz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entity_data_imputation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entity_data_imputation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entity_data_imputation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211.09110" TargetMode="External"/><Relationship Id="rId3" Type="http://schemas.openxmlformats.org/officeDocument/2006/relationships/hyperlink" Target="https://github.com/stanford-crfm/helm/blob/v0.3.0/src/helm/benchmark/scenarios/entity_data_imputation_scenario.py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EliasMei/IPM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rfm.stanford.edu/helm/classic/v0.4.0/#/groups/entity_data_imputation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oi.org/10.1109/ICDE51399.2021.00013" TargetMode="External"/><Relationship Id="rId3" Type="http://schemas.openxmlformats.org/officeDocument/2006/relationships/hyperlink" Target="https://github.com/EliasMei/IPM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bs.uni-leipzig.de/research/projects/benchmark-datasets-for-entity-resolution" TargetMode="External"/><Relationship Id="rId3" Type="http://schemas.openxmlformats.org/officeDocument/2006/relationships/hyperlink" Target="https://www.cs.utexas.edu/users/ml/riddle/data/restaurant.tar.gz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211.09110" TargetMode="External"/><Relationship Id="rId3" Type="http://schemas.openxmlformats.org/officeDocument/2006/relationships/hyperlink" Target="https://crfm.stanford.edu/helm/classic/v0.4.0/#/groups/entity_data_imputation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v0.3.0/src/helm/benchmark/scenarios/entity_data_imputation_scenario.py" TargetMode="External"/><Relationship Id="rId3" Type="http://schemas.openxmlformats.org/officeDocument/2006/relationships/hyperlink" Target="https://github.com/stanford-crfm/helm/blob/v0.3.0/src/helm/benchmark/metrics/basic_metrics.py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bs.uni-leipzig.de/research/publications/evaluation-of-entity-resolution-approaches-on-real-world-match-problems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637627"/>
            <a:ext cx="8046720" cy="90297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400" b="0">
                <a:solidFill>
                  <a:srgbClr val="303437"/>
                </a:solidFill>
                <a:latin typeface="Noto Sans"/>
              </a:defRPr>
            </a:pPr>
            <a:r>
              <a:rPr sz="5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Data imputation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2647277"/>
            <a:ext cx="8046720" cy="989965"/>
          </a:xfrm>
        </p:spPr>
        <p:txBody>
          <a:bodyPr lIns="0" rIns="0" tIns="0" bIns="0">
            <a:noAutofit/>
          </a:bodyPr>
          <a:lstStyle/>
          <a:p>
            <a:pPr algn="ctr">
              <a:lnSpc>
                <a:spcPct val="125000"/>
              </a:lnSpc>
              <a:spcAft>
                <a:spcPts val="120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HELM：Buy / Restaurant</a:t>
            </a:r>
          </a:p>
          <a:p>
            <a:pPr algn="ctr">
              <a:lnSpc>
                <a:spcPct val="125000"/>
              </a:lnSpc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表の属性から、隠したメーカーや都市を補う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2296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000" b="0">
                <a:solidFill>
                  <a:srgbClr val="303437"/>
                </a:solidFill>
                <a:latin typeface="Noto Sans"/>
              </a:defRPr>
            </a:pPr>
            <a:r>
              <a:rPr sz="1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補完研究IPMの公式実装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Data imputation</a:t>
            </a:r>
          </a:p>
        </p:txBody>
      </p:sp>
      <p:pic>
        <p:nvPicPr>
          <p:cNvPr id="4" name="Picture 3" descr="official-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5084" y="1481328"/>
            <a:ext cx="5513832" cy="3063240"/>
          </a:xfrm>
          <a:prstGeom prst="rect">
            <a:avLst/>
          </a:prstGeom>
        </p:spPr>
      </p:pic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Mei et al. (2021). Capturing Semantics for Imputation with Pre-trained Language Models — IPM公式実装。commit 583826e。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https://github.com/EliasMei/IPM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63901"/>
            <a:ext cx="7863840" cy="2362199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表の空欄を、一つの値で埋める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二つの表と、欠損を作る手順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HELMの提示条件と採点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4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何が得点を左右するか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表の空欄を、一つの値で埋める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表の空欄を、一つの値で埋める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一つの行から、隠した属性を復元する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データ補完は、表の空欄を他の属性から埋める処理。HELMのData imputationでは、値が分かっているセルを隠し、元の値を生成できるか測る。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対象は商品表Buyと飲食店表Restaurant。メーカーと都市をそれぞれ補う。正解候補の一覧は付けず、残りの属性を文章に直して入力する。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表の空欄を、一つの値で埋める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HELM v0.3.0, EntityDataImputationScenario. 2026-10-18取得。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https://github.com/stanford-crfm/helm/blob/v0.3.0/src/helm/benchmark/scenarios/entity_data_imputation_scenario.py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対象は、商品と飲食店の二つの表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表の空欄を、一つの値で埋める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20240"/>
        </p:xfrm>
        <a:graphic>
          <a:graphicData uri="http://schemas.openxmlformats.org/drawingml/2006/table">
            <a:tbl>
              <a:tblPr firstRow="0" bandRow="0"/>
              <a:tblGrid>
                <a:gridCol w="1645920"/>
                <a:gridCol w="1828800"/>
                <a:gridCol w="457200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HELMの表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隠す属性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手掛かりとして残す属性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7315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Buy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manufacturer
メーカー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name、description、price
商品名、説明、価格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7315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Restaurant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city
都市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name、addr、phone、type
店名、住所、電話、料理の種類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3016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以下の13例は、公開テスト151行から内容の違いが伝わるように選定。本編3例、Appendix10例。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HELM v0.3.0, EntityDataImputationScenario. 2026-10-18取得。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https://github.com/stanford-crfm/helm/blob/v0.3.0/src/helm/benchmark/scenarios/entity_data_imputation_scenario.py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実例1：リモコンのメーカー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表の空欄を、一つの値で埋める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35024"/>
            <a:ext cx="39319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HELM入力の原文全文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27632"/>
            <a:ext cx="3931920" cy="127448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name: Sony Universal Remote Control - RM-EZ4. description: TV, Cable Box - Universal Remote. price: $12.72. manufacturer?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335024"/>
            <a:ext cx="39319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対応する日本語訳</a:t>
            </a:r>
          </a:p>
        </p:txBody>
      </p:sp>
      <p:sp>
        <p:nvSpPr>
          <p:cNvPr id="7" name="quote-frame"/>
          <p:cNvSpPr/>
          <p:nvPr/>
        </p:nvSpPr>
        <p:spPr>
          <a:xfrm>
            <a:off x="4663440" y="1627632"/>
            <a:ext cx="3931920" cy="151993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商品名：Sonyの汎用リモコン − RM-EZ4。説明：テレビ、ケーブルテレビ受信機用 − 汎用リモコン。価格：$12.72。メーカーは？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51960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正解：Sony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Database Group, Universität Leipzig. Benchmark Datasets for Entity Resolution. CC BY 4.0、2026-10-18取得。 Buy.csv 行435 / HELM test id587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https://dbs.uni-leipzig.de/research/projects/benchmark-datasets-for-entity-resolution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実例2：住所と電話番号から都市を補う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表の空欄を、一つの値で埋める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35024"/>
            <a:ext cx="39319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HELM入力の原文全文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27632"/>
            <a:ext cx="3931920" cy="100269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name: kelly's on trinity. addr: 333 bush st.. phone: 415-362-4454. type: californian. city?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335024"/>
            <a:ext cx="39319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対応する日本語訳</a:t>
            </a:r>
          </a:p>
        </p:txBody>
      </p:sp>
      <p:sp>
        <p:nvSpPr>
          <p:cNvPr id="7" name="quote-frame"/>
          <p:cNvSpPr/>
          <p:nvPr/>
        </p:nvSpPr>
        <p:spPr>
          <a:xfrm>
            <a:off x="4663440" y="1627632"/>
            <a:ext cx="3931920" cy="124900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店名：kelly’s on trinity。住所：333 bush st.。電話：415-362-4454。料理の種類：カリフォルニア料理。都市は？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51960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正解：san francisco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4297680"/>
            <a:ext cx="3886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38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サンフランシスコ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University of Texas at Austin. RIDDLE / Restaurant data (fz.arff). 2026-10-18取得。 fz.arff 行856 / HELM test id781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https://www.cs.utexas.edu/users/ml/riddle/data/restaurant.tar.gz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実例3：正解には製品分野まで含まれる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表の空欄を、一つの値で埋める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35024"/>
            <a:ext cx="39319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HELM入力の原文全文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27632"/>
            <a:ext cx="3931920" cy="176547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name: Canon VIXIA HF100 High Definition Digital Camcorder - 2708B001. description: Canon VIXIA HF100 High Definition Camcorder. price: $529.00. manufacturer?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335024"/>
            <a:ext cx="39319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対応する日本語訳</a:t>
            </a:r>
          </a:p>
        </p:txBody>
      </p:sp>
      <p:sp>
        <p:nvSpPr>
          <p:cNvPr id="7" name="quote-frame"/>
          <p:cNvSpPr/>
          <p:nvPr/>
        </p:nvSpPr>
        <p:spPr>
          <a:xfrm>
            <a:off x="4663440" y="1627632"/>
            <a:ext cx="3931920" cy="152840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商品名：Canon VIXIA HF100 高精細デジタルビデオカメラ − 2708B001。説明：Canon VIXIA HF100 高精細ビデオカメラ。価格：$529.00。メーカーは？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51960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正解：Canon Camcorders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Database Group, Universität Leipzig. Benchmark Datasets for Entity Resolution. CC BY 4.0、2026-10-18取得。 Buy.csv 行508 / HELM test id586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https://dbs.uni-leipzig.de/research/projects/benchmark-datasets-for-entity-resolution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同じ入力に対する、公開モデルの実出力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表の空欄を、一つの値で埋める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682496"/>
        </p:xfrm>
        <a:graphic>
          <a:graphicData uri="http://schemas.openxmlformats.org/drawingml/2006/table">
            <a:tbl>
              <a:tblPr firstRow="0" bandRow="0"/>
              <a:tblGrid>
                <a:gridCol w="2011680"/>
                <a:gridCol w="2286000"/>
                <a:gridCol w="2286000"/>
                <a:gridCol w="146304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20"/>
                        </a:lnSpc>
                        <a:buNone/>
                        <a:defRPr sz="167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7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実例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20"/>
                        </a:lnSpc>
                        <a:buNone/>
                        <a:defRPr sz="167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7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元の正解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20"/>
                        </a:lnSpc>
                        <a:buNone/>
                        <a:defRPr sz="167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7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text-davinci-003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20"/>
                        </a:lnSpc>
                        <a:buNone/>
                        <a:defRPr sz="167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7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準完全一致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20"/>
                        </a:lnSpc>
                        <a:buNone/>
                        <a:defRPr sz="167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7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1：リモコン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20"/>
                        </a:lnSpc>
                        <a:buNone/>
                        <a:defRPr sz="167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7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Sony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20"/>
                        </a:lnSpc>
                        <a:buNone/>
                        <a:defRPr sz="167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7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Sony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20"/>
                        </a:lnSpc>
                        <a:buNone/>
                        <a:defRPr sz="167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7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20"/>
                        </a:lnSpc>
                        <a:buNone/>
                        <a:defRPr sz="167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7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2：飲食店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20"/>
                        </a:lnSpc>
                        <a:buNone/>
                        <a:defRPr sz="167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7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san francisco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20"/>
                        </a:lnSpc>
                        <a:buNone/>
                        <a:defRPr sz="167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7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san francisco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20"/>
                        </a:lnSpc>
                        <a:buNone/>
                        <a:defRPr sz="167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7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20"/>
                        </a:lnSpc>
                        <a:buNone/>
                        <a:defRPr sz="167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7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3：ビデオカメラ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20"/>
                        </a:lnSpc>
                        <a:buNone/>
                        <a:defRPr sz="167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7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Canon Camcorders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20"/>
                        </a:lnSpc>
                        <a:buNone/>
                        <a:defRPr sz="167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7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Canon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20"/>
                        </a:lnSpc>
                        <a:buNone/>
                        <a:defRPr sz="167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7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392424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公開test・第1試行の出力から前後の空白を除いて表示。準完全一致の定義は後述する。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HELM Classic v0.4.0, Data imputation. 2023-11-17の固定版。2026-10-18参照。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https://crfm.stanford.edu/helm/classic/v0.4.0/#/groups/entity_data_imputation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二つの表と、欠損を作る手順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二つの表と、欠損を作る手順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照合用の公開表を、補完課題へ転用した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BuyはAbt-Buyの片側で、商品照合のために公開された表。HELMはBuy.csvだけを読み、Abt.csvや商品間の対応表は入力に使わない。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Restaurantは飲食店の照合用データ。HELMは電話番号を含むfz.arffを読み、同じ店を示すclass列を取り除く。都市以外の4属性を入力に残す。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二つの表と、欠損を作る手順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51713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Database Group, Universität Leipzig. Benchmark Datasets for Entity Resolution. CC BY 4.0、2026-10-18取得。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https://dbs.uni-leipzig.de/research/projects/benchmark-datasets-for-entity-resolution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University of Texas at Austin. RIDDLE / Restaurant data (fz.arff). 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https://www.cs.utexas.edu/users/ml/riddle/data/restaurant.tar.gz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元の配布物と、HELMで使う範囲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二つの表と、欠損を作る手順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20240"/>
        </p:xfrm>
        <a:graphic>
          <a:graphicData uri="http://schemas.openxmlformats.org/drawingml/2006/table">
            <a:tbl>
              <a:tblPr firstRow="0" bandRow="0"/>
              <a:tblGrid>
                <a:gridCol w="2286000"/>
                <a:gridCol w="3657600"/>
                <a:gridCol w="210312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配布物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含まれるもの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HELMで読むもの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7315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Abt-Buy.zip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Abt 1,081行、Buy 1,092行
対応表1,097組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Buy.csv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7315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restaurant.tar.gz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fz.arff、fz-nophone.arff
元のFodor’s・Zagat’s記録など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fz.arff 864行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3016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対応表の組数と、商品・飲食店の行数はそれぞれの単位で示す。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51713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Database Group, Universität Leipzig. Benchmark Datasets for Entity Resolution. CC BY 4.0、2026-10-18取得。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https://dbs.uni-leipzig.de/research/projects/benchmark-datasets-for-entity-resolution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University of Texas at Austin. RIDDLE / Restaurant data (fz.arff). 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https://www.cs.utexas.edu/users/ml/riddle/data/restaurant.tar.gz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Buyは、説明文がある651行を残す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二つの表と、欠損を作る手順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03120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処理・残存欠損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配布Buy.csv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1,092行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descriptionが欠損した行を除外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441行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補完課題に使う表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651行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残った表でpriceが欠損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269行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1304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manufacturerの欠損は除外後0行。priceの欠損は文字列nanとして入力に残り、テスト65行中33行にも現れる。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HELM v0.3.0, EntityDataImputationScenario. 2026-10-18取得。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https://github.com/stanford-crfm/helm/blob/v0.3.0/src/helm/benchmark/scenarios/entity_data_imputation_scenario.py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Restaurantは、引用符と前後の空白を除く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fz.arffから6列を読み、識別用のclass列を除く。各値に残った二重引用符と前後の空白を削除し、欠損行を除く。今回の配布では864行が全て残る。</a:t>
            </a:r>
          </a:p>
          <a:p>
            <a:pPr marL="457200" indent="-355600">
              <a:lnSpc>
                <a:spcPts val="2439"/>
              </a:lnSpc>
              <a:spcAft>
                <a:spcPts val="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名前・住所・都市の表記は元データを保つ。例えば都市欄にはnew yorkとnew york city、los angelesとlaが別の文字列として含まれる。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二つの表と、欠損を作る手順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HELM v0.3.0, EntityDataImputationScenario. 2026-10-18取得。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https://github.com/stanford-crfm/helm/blob/v0.3.0/src/helm/benchmark/scenarios/entity_data_imputation_scenario.py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行を乱択し、学習・開発・テストへ分ける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二つの表と、欠損を作る手順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371600"/>
        </p:xfrm>
        <a:graphic>
          <a:graphicData uri="http://schemas.openxmlformats.org/drawingml/2006/table">
            <a:tbl>
              <a:tblPr firstRow="0" bandRow="0"/>
              <a:tblGrid>
                <a:gridCol w="2194560"/>
                <a:gridCol w="1463040"/>
                <a:gridCol w="1463040"/>
                <a:gridCol w="1463040"/>
                <a:gridCol w="146304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Buy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469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651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Restaurant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622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864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0815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seed=1234。全行から10%をtest、残りから20%をvalidに抽出し、残りをtrainへ。pandas.sampleの丸めを含む実装の実測値。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HELM v0.3.0, EntityDataImputationScenario. 2026-10-18取得。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https://github.com/stanford-crfm/helm/blob/v0.3.0/src/helm/benchmark/scenarios/entity_data_imputation_scenario.py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セル値は、改めて人手で付けた正解ではない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元の表にあるmanufacturerまたはcityの値を保存し、その列を入力から外す。正解は、取り除いたセルの文字列。自然に発生した空欄へ新しい正解を注釈する手順ではない。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分割の単位は行。Restaurantのclassは分割条件に使われず、テスト86行中17行は同じclassの別行が学習表にもある。実際のプロンプトへは学習表から5例を選ぶ。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二つの表と、欠損を作る手順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HELM v0.3.0, EntityDataImputationScenario. 2026-10-18取得。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https://github.com/stanford-crfm/helm/blob/v0.3.0/src/helm/benchmark/scenarios/entity_data_imputation_scenario.py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HELMの提示条件と採点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HELMの提示条件と採点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5例を示し、値の文字列を生成させる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標準条件はgeneration。指示は“What is the missing value?”。正解付きの学習例を5件示し、対象行の末尾をmanufacturer?またはcity?で終える。</a:t>
            </a:r>
          </a:p>
          <a:p>
            <a:pPr marL="457200" indent="-355600">
              <a:lnSpc>
                <a:spcPts val="2439"/>
              </a:lnSpc>
              <a:spcAft>
                <a:spcPts val="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モデルは“Answer:”に続く値を生成する。公開記録では、選んだ3モデルとも全テストで5例が入り、入力の切り詰めはなかった。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HELMの提示条件と採点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HELM Classic v0.4.0, Data imputation. 2023-11-17の固定版。2026-10-18参照。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https://crfm.stanford.edu/helm/classic/v0.4.0/#/groups/entity_data_imputation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実際の提示では、入力の後に答えが続く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HELMの提示条件と採点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53312"/>
            <a:ext cx="7955279" cy="2377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text-davinci-003・第1試行：5学習例の後に続く、評価対象の末尾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91640"/>
            <a:ext cx="8046720" cy="103632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name: Sony Universal Remote Control - RM-EZ4. description: TV, Cable Box - Universal Remote. price: $12.72. manufacturer?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Answer: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673108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実出力：Sony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HELM Classic v0.4.0, Data imputation. 2023-11-17の固定版。2026-10-18参照。 Buy / test id587、プロンプト末尾を連続して引用。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https://crfm.stanford.edu/helm/classic/v0.4.0/#/groups/entity_data_imputation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主指標は、表記を正規化した一致率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quasi_exact_match（準完全一致）は、正解と出力を小文字化し、ASCII句読記号、英語の冠詞a・an・the、余分な空白を除いて比較する。テスト行ごとの0／1を平均する。</a:t>
            </a:r>
          </a:p>
          <a:p>
            <a:pPr marL="457200" indent="-355600">
              <a:lnSpc>
                <a:spcPts val="2439"/>
              </a:lnSpc>
              <a:spcAft>
                <a:spcPts val="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別名や地域の包含関係を解釈する採点ではない。LACIEとLaCieは一致するが、Canon CamcordersとCanon、laとlos angelesは一致しない。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HELMの提示条件と採点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HELM v0.3.0, BasicMetric / normalize_text・一致指標。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https://github.com/stanford-crfm/helm/blob/v0.3.0/src/helm/benchmark/metrics/basic_metrics.py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テストの準完全一致率を表ごとに比較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HELMの提示条件と採点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 firstRow="0" bandRow="0"/>
              <a:tblGrid>
                <a:gridCol w="3291840"/>
                <a:gridCol w="1097280"/>
                <a:gridCol w="1737360"/>
                <a:gridCol w="1920240"/>
              </a:tblGrid>
              <a:tr h="6400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モデル（公開年）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試行数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Buy 65行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Restaurant 86行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OPT-175B（2022）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85.13%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59.30%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text-davinci-003（2022）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85.64%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82.17%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Llama 2 70B（2023）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86.15%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81.40%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11880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 Classic v0.4.0（2023-11-17）、run suite v0.3.0。OPTとdavinciは各試行の全行を採点した3試行平均。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HELM Classic v0.4.0, Data imputation. 2023-11-17の固定版。2026-10-18参照。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https://crfm.stanford.edu/helm/classic/v0.4.0/#/groups/entity_data_imputation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一致指標を変えると、得点も変わる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HELMの提示条件と採点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682496"/>
        </p:xfrm>
        <a:graphic>
          <a:graphicData uri="http://schemas.openxmlformats.org/drawingml/2006/table">
            <a:tbl>
              <a:tblPr firstRow="0" bandRow="0"/>
              <a:tblGrid>
                <a:gridCol w="3291840"/>
                <a:gridCol w="1554480"/>
                <a:gridCol w="1645920"/>
                <a:gridCol w="155448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Restaurant／試行平均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完全一致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準完全一致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前方一致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OPT-175B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59.30%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59.30%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88.76%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text-davinci-003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81.01%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82.17%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81.01%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Llama 2 70B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81.40%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81.40%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81.40%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392424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前方一致は、出力が正解文字列から始まるかを測る。OPTの実出力new york cityは、正解new yorkに前方一致する（id778・第1試行）。4指標を全出力から再計算し、公開値と一致した。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51713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HELM Classic v0.4.0, Data imputation. 2023-11-17の固定版。2026-10-18参照。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https://crfm.stanford.edu/helm/classic/v0.4.0/#/groups/entity_data_imputation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Stanford CRFM. HELM v0.3.0, BasicMetric / normalize_text・一致指標。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https://github.com/stanford-crfm/helm/blob/v0.3.0/src/helm/benchmark/metrics/basic_metrics.py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何が得点を左右するか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何が得点を左右するか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商品名はメーカーの強い手掛かりになる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Buyの入力には、SonyやCanonなどのメーカー名が商品名や説明に現れる。メーカーを単に抜き出せる行もあり、価格がnanでも推定できる。</a:t>
            </a:r>
          </a:p>
          <a:p>
            <a:pPr marL="457200" indent="-355600">
              <a:lnSpc>
                <a:spcPts val="2439"/>
              </a:lnSpc>
              <a:spcAft>
                <a:spcPts val="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一方、正解は元セルの表記。Canon CamcordersやLG Electronicsのように、よく知られた短いブランド名だけでは一致しない値も含む。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何が得点を左右するか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51713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HELM v0.3.0, EntityDataImputationScenario. 2026-10-18取得。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https://github.com/stanford-crfm/helm/blob/v0.3.0/src/helm/benchmark/scenarios/entity_data_imputation_scenario.py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Stanford CRFM. HELM Classic v0.4.0, Data imputation. 2023-11-17の固定版。2026-10-18参照。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https://crfm.stanford.edu/helm/classic/v0.4.0/#/groups/entity_data_imputation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都市欄には、略記や地区名が混在する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Restaurantには住所と電話番号があり、所在地を推定する手掛かりになる。ただし正解のcity欄には、los felizのような地区名やlaのような略記も入る。</a:t>
            </a:r>
          </a:p>
          <a:p>
            <a:pPr marL="457200" indent="-355600">
              <a:lnSpc>
                <a:spcPts val="2439"/>
              </a:lnSpc>
              <a:spcAft>
                <a:spcPts val="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同じ地域を指すつもりの出力でも、元のセルと異なる文字列なら不一致になる。追加例では、new york city、smyrnaなどの実際の正解と予測を示す。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何が得点を左右するか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51713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University of Texas at Austin. RIDDLE / Restaurant data (fz.arff). 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https://www.cs.utexas.edu/users/ml/riddle/data/restaurant.tar.gz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Stanford CRFM. HELM v0.3.0, BasicMetric / normalize_text・一致指標。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https://github.com/stanford-crfm/helm/blob/v0.3.0/src/helm/benchmark/metrics/basic_metrics.py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IPMとHELMでは、回答の作り方が異なる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MeiらのIPMは、事前学習言語モデルを補完に使う研究。IPM-Multiは属性値を分類し、IPM-Binaryは候補値ごとの適否を判定する。公式実装はモデルを追加学習する。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HELMはBuyとRestaurantを取り込み、5例を提示する共通の生成形式で比較する。IPMの分類候補の選択と、HELMの自由な文字列生成では、回答の作り方が異なる。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何が得点を左右するか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51713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Mei et al. (2021). Capturing Semantics for Imputation with Pre-trained Language Models — IPM公式実装。commit 583826e。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https://github.com/EliasMei/IPM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Liang et al. (2023). Holistic Evaluation of Language Models. Transactions on Machine Learning Research.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https://arxiv.org/abs/2211.09110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入手元と利用条件を確認する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BuyはLeipzig大学の配布ページから取得でき、同ページはCC BY 4.0を示す。元のAbt-Buyは照合用で、HELMではBuy側だけを使う。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RestaurantはUT Austinの公開アーカイブから取得できる。添付READMEには独立した再配布ライセンスの表示がない。この資料では出典を付けて選定した実例を引用する。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何が得点を左右するか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51713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Database Group, Universität Leipzig. Benchmark Datasets for Entity Resolution. CC BY 4.0、2026-10-18取得。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https://dbs.uni-leipzig.de/research/projects/benchmark-datasets-for-entity-resolution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University of Texas at Austin. RIDDLE / Restaurant data (fz.arff). 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https://www.cs.utexas.edu/users/ml/riddle/data/restaurant.tar.gz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まとめ：空欄補完を、元セルとの一致で測る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BuyのメーカーとRestaurantの都市を、同じ行の残りの属性から生成する。元表のセルを隠して正解を作り、行単位の固定分割で比較する。</a:t>
            </a:r>
          </a:p>
          <a:p>
            <a:pPr marL="457200" indent="-355600">
              <a:lnSpc>
                <a:spcPts val="2439"/>
              </a:lnSpc>
              <a:spcAft>
                <a:spcPts val="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入力に残る商品名や電話番号が手掛かりになる一方、メーカー名の粒度や都市の略記が一致率を左右する。公開値を読む際は、対象の表と一致指標を合わせる。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何が得点を左右するか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HELM Classic v0.4.0, Data imputation. 2023-11-17の固定版。2026-10-18参照。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https://crfm.stanford.edu/helm/classic/v0.4.0/#/groups/entity_data_imputation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8483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972511"/>
            <a:ext cx="7863840" cy="1744980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追加の実例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配布・実装・集計の補足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実例4：価格が欠けたノートPC用スタンド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35024"/>
            <a:ext cx="39319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HELM入力の原文全文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27632"/>
            <a:ext cx="3931920" cy="148607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name: Griffin Elevator Desktop Stand for Portable Laptops - 1093-CURV2. description: Aluminum. price: nan. manufacturer?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335024"/>
            <a:ext cx="39319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対応する日本語訳</a:t>
            </a:r>
          </a:p>
        </p:txBody>
      </p:sp>
      <p:sp>
        <p:nvSpPr>
          <p:cNvPr id="7" name="quote-frame"/>
          <p:cNvSpPr/>
          <p:nvPr/>
        </p:nvSpPr>
        <p:spPr>
          <a:xfrm>
            <a:off x="4663440" y="1627632"/>
            <a:ext cx="3931920" cy="124900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商品名：Griffin Elevator ノートPC用デスクトップスタンド − 1093-CURV2。説明：アルミニウム。価格：nan。メーカーは？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51960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正解：Griffin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Database Group, Universität Leipzig. Benchmark Datasets for Entity Resolution. CC BY 4.0、2026-10-18取得。 Buy.csv 行218 / HELM test id588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https://dbs.uni-leipzig.de/research/projects/benchmark-datasets-for-entity-resolution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実例5：ブランド名だけでは一致しない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35024"/>
            <a:ext cx="39319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HELM入力の原文全文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27632"/>
            <a:ext cx="3931920" cy="181917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name: LG LG70 Series 52LG70 52' LCD TV. description: LG 52LG70 - 52' Widescreen 1080p LCD HDTV - 120Hz - 15,000:1 Dynamic Contrast Ratio - 4ms Response Time. price: nan. manufacturer?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335024"/>
            <a:ext cx="39319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対応する日本語訳</a:t>
            </a:r>
          </a:p>
        </p:txBody>
      </p:sp>
      <p:sp>
        <p:nvSpPr>
          <p:cNvPr id="7" name="quote-frame"/>
          <p:cNvSpPr/>
          <p:nvPr/>
        </p:nvSpPr>
        <p:spPr>
          <a:xfrm>
            <a:off x="4663440" y="1627632"/>
            <a:ext cx="3931920" cy="233273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171"/>
              </a:lnSpc>
              <a:spcBef>
                <a:spcPts val="0"/>
              </a:spcBef>
              <a:spcAft>
                <a:spcPts val="0"/>
              </a:spcAft>
              <a:buNone/>
              <a:defRPr sz="1825" b="0">
                <a:solidFill>
                  <a:srgbClr val="303437"/>
                </a:solidFill>
                <a:latin typeface="Noto Sans"/>
              </a:defRPr>
            </a:pPr>
            <a:r>
              <a:rPr sz="1825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商品名：LG LG70シリーズ 52LG70 52インチ液晶テレビ。説明：LG 52LG70 − 52インチ・ワイド画面・1080p液晶ハイビジョンテレビ − 120Hz − ダイナミックコントラスト比15,000:1 − 応答時間4ms。価格：nan。メーカーは？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51960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正解：LG Electronics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Database Group, Universität Leipzig. Benchmark Datasets for Entity Resolution. CC BY 4.0、2026-10-18取得。 Buy.csv 行901 / HELM test id589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https://dbs.uni-leipzig.de/research/projects/benchmark-datasets-for-entity-resolution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実例6：大文字と小文字の表記差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35024"/>
            <a:ext cx="39319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HELM入力の原文全文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27632"/>
            <a:ext cx="3931920" cy="209132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name: LaCie Big Disk Extreme+ Hard Drive - 301199U. description: LaCie Big Disk Extreme 1TB Hard Drive - Triple Interface (USB 2.0 &amp; FireWire 400/800) External Hard Drive. price: nan. manufacturer?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335024"/>
            <a:ext cx="39319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対応する日本語訳</a:t>
            </a:r>
          </a:p>
        </p:txBody>
      </p:sp>
      <p:sp>
        <p:nvSpPr>
          <p:cNvPr id="7" name="quote-frame"/>
          <p:cNvSpPr/>
          <p:nvPr/>
        </p:nvSpPr>
        <p:spPr>
          <a:xfrm>
            <a:off x="4663440" y="1627632"/>
            <a:ext cx="3931920" cy="233273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171"/>
              </a:lnSpc>
              <a:spcBef>
                <a:spcPts val="0"/>
              </a:spcBef>
              <a:spcAft>
                <a:spcPts val="0"/>
              </a:spcAft>
              <a:buNone/>
              <a:defRPr sz="1825" b="0">
                <a:solidFill>
                  <a:srgbClr val="303437"/>
                </a:solidFill>
                <a:latin typeface="Noto Sans"/>
              </a:defRPr>
            </a:pPr>
            <a:r>
              <a:rPr sz="1825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商品名：LaCie Big Disk Extreme+ ハードドライブ − 301199U。説明：LaCie Big Disk Extreme 1TBハードドライブ − 3種類の接続方式（USB 2.0、FireWire 400/800）を備える外付けハードドライブ。価格：nan。メーカーは？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51960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正解：LACIE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Database Group, Universität Leipzig. Benchmark Datasets for Entity Resolution. CC BY 4.0、2026-10-18取得。 Buy.csv 行390 / HELM test id595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https://dbs.uni-leipzig.de/research/projects/benchmark-datasets-for-entity-resolution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実例7：対応機器と、ケースのメーカー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35024"/>
            <a:ext cx="39319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HELM入力の原文全文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27632"/>
            <a:ext cx="3931920" cy="149453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name: Speck Products SeeThru Case for Apple 13' MacBook - MB13-ORG-SEE-V2. description: Plastic - Orange. price: nan. manufacturer?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335024"/>
            <a:ext cx="39319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対応する日本語訳</a:t>
            </a:r>
          </a:p>
        </p:txBody>
      </p:sp>
      <p:sp>
        <p:nvSpPr>
          <p:cNvPr id="7" name="quote-frame"/>
          <p:cNvSpPr/>
          <p:nvPr/>
        </p:nvSpPr>
        <p:spPr>
          <a:xfrm>
            <a:off x="4663440" y="1627632"/>
            <a:ext cx="3931920" cy="179933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商品名：Apple 13インチMacBook用 Speck Products SeeThruケース − MB13-ORG-SEE-V2。説明：プラスチック − オレンジ色。価格：nan。メーカーは？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51960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正解：Speck Products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Database Group, Universität Leipzig. Benchmark Datasets for Entity Resolution. CC BY 4.0、2026-10-18取得。 Buy.csv 行825 / HELM test id596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https://dbs.uni-leipzig.de/research/projects/benchmark-datasets-for-entity-resolution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実例8：都市欄には地区名も入る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35024"/>
            <a:ext cx="39319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HELM入力の原文全文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27632"/>
            <a:ext cx="3931920" cy="100269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name: katsu. addr: 1972 hillhurst ave.. phone: 213-665-1891. type: japanese. city?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335024"/>
            <a:ext cx="39319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対応する日本語訳</a:t>
            </a:r>
          </a:p>
        </p:txBody>
      </p:sp>
      <p:sp>
        <p:nvSpPr>
          <p:cNvPr id="7" name="quote-frame"/>
          <p:cNvSpPr/>
          <p:nvPr/>
        </p:nvSpPr>
        <p:spPr>
          <a:xfrm>
            <a:off x="4663440" y="1627632"/>
            <a:ext cx="3931920" cy="124900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店名：katsu。住所：1972 hillhurst ave.。電話：213-665-1891。料理の種類：日本料理。都市は？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51960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正解：los feliz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4297680"/>
            <a:ext cx="3886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38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ロス・フェリズ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University of Texas at Austin. RIDDLE / Restaurant data (fz.arff). 2026-10-18取得。 fz.arff 行33 / HELM test id780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https://www.cs.utexas.edu/users/ml/riddle/data/restaurant.tar.gz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実例9：短縮表記laを正解として保持する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35024"/>
            <a:ext cx="39319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HELM入力の原文全文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27632"/>
            <a:ext cx="3931920" cy="100269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name: cassell's. addr: 3266 w. sixth st.. phone: 213-480-8668. type: hamburgers. city?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335024"/>
            <a:ext cx="39319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対応する日本語訳</a:t>
            </a:r>
          </a:p>
        </p:txBody>
      </p:sp>
      <p:sp>
        <p:nvSpPr>
          <p:cNvPr id="7" name="quote-frame"/>
          <p:cNvSpPr/>
          <p:nvPr/>
        </p:nvSpPr>
        <p:spPr>
          <a:xfrm>
            <a:off x="4663440" y="1627632"/>
            <a:ext cx="3931920" cy="124900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店名：cassell’s。住所：3266 w. sixth st.。電話：213-480-8668。料理の種類：ハンバーガー。都市は？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51960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4297680"/>
            <a:ext cx="3886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38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ロサンゼルスの略記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University of Texas at Austin. RIDDLE / Restaurant data (fz.arff). 2026-10-18取得。 fz.arff 行670 / HELM test id782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https://www.cs.utexas.edu/users/ml/riddle/data/restaurant.tar.gz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実例10：new yorkとnew york cityの違い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35024"/>
            <a:ext cx="39319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HELM入力の原文全文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27632"/>
            <a:ext cx="3931920" cy="100269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name: sylvia's. addr: 328 lenox ave.. phone: 212-996-0660. type: southern/soul. city?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335024"/>
            <a:ext cx="39319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対応する日本語訳</a:t>
            </a:r>
          </a:p>
        </p:txBody>
      </p:sp>
      <p:sp>
        <p:nvSpPr>
          <p:cNvPr id="7" name="quote-frame"/>
          <p:cNvSpPr/>
          <p:nvPr/>
        </p:nvSpPr>
        <p:spPr>
          <a:xfrm>
            <a:off x="4663440" y="1627632"/>
            <a:ext cx="3931920" cy="124900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店名：sylvia’s。住所：328 lenox ave.。電話：212-996-0660。料理の種類：米国南部料理／ソウルフード。都市は？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51960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正解：new york city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4297680"/>
            <a:ext cx="3886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38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ニューヨーク市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University of Texas at Austin. RIDDLE / Restaurant data (fz.arff). 2026-10-18取得。 fz.arff 行767 / HELM test id793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https://www.cs.utexas.edu/users/ml/riddle/data/restaurant.tar.gz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実例11：大都市周辺の別の都市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35024"/>
            <a:ext cx="39319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HELM入力の原文全文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27632"/>
            <a:ext cx="3931920" cy="100269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name: house of chan. addr: 2469 cobb pkwy.. phone: 770-955-9444. type: chinese. city?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335024"/>
            <a:ext cx="39319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対応する日本語訳</a:t>
            </a:r>
          </a:p>
        </p:txBody>
      </p:sp>
      <p:sp>
        <p:nvSpPr>
          <p:cNvPr id="7" name="quote-frame"/>
          <p:cNvSpPr/>
          <p:nvPr/>
        </p:nvSpPr>
        <p:spPr>
          <a:xfrm>
            <a:off x="4663440" y="1627632"/>
            <a:ext cx="3931920" cy="124900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店名：house of chan。住所：2469 cobb pkwy.。電話：770-955-9444。料理の種類：中国料理。都市は？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51960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正解：smyrna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4297680"/>
            <a:ext cx="3886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38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スマーナ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University of Texas at Austin. RIDDLE / Restaurant data (fz.arff). 2026-10-18取得。 fz.arff 行819 / HELM test id796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https://www.cs.utexas.edu/users/ml/riddle/data/restaurant.tar.gz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実例12：店名にも所在地が現れる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35024"/>
            <a:ext cx="39319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HELM入力の原文全文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27632"/>
            <a:ext cx="3931920" cy="127448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name: morton's of chicago (las vegas). addr: 3200 las vegas blvd. s.. phone: 702-893-0703. type: steakhouses. city?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335024"/>
            <a:ext cx="39319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対応する日本語訳</a:t>
            </a:r>
          </a:p>
        </p:txBody>
      </p:sp>
      <p:sp>
        <p:nvSpPr>
          <p:cNvPr id="7" name="quote-frame"/>
          <p:cNvSpPr/>
          <p:nvPr/>
        </p:nvSpPr>
        <p:spPr>
          <a:xfrm>
            <a:off x="4663440" y="1627632"/>
            <a:ext cx="3931920" cy="152840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店名：morton’s of chicago（las vegas）。住所：3200 las vegas blvd. s.。電話：702-893-0703。料理の種類：ステーキハウス。都市は？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51960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正解：las vegas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4297680"/>
            <a:ext cx="3886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38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ラスベガス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University of Texas at Austin. RIDDLE / Restaurant data (fz.arff). 2026-10-18取得。 fz.arff 行790 / HELM test id789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https://www.cs.utexas.edu/users/ml/riddle/data/restaurant.tar.gz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実例13：サンタモニカのイタリア料理店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35024"/>
            <a:ext cx="39319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HELM入力の原文全文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27632"/>
            <a:ext cx="3931920" cy="100269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name: remi. addr: 3rd st. promenade. phone: 310/393-6545. type: italian. city?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335024"/>
            <a:ext cx="39319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対応する日本語訳</a:t>
            </a:r>
          </a:p>
        </p:txBody>
      </p:sp>
      <p:sp>
        <p:nvSpPr>
          <p:cNvPr id="7" name="quote-frame"/>
          <p:cNvSpPr/>
          <p:nvPr/>
        </p:nvSpPr>
        <p:spPr>
          <a:xfrm>
            <a:off x="4663440" y="1627632"/>
            <a:ext cx="3931920" cy="124900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店名：remi。住所：3rd st. promenade。電話：310/393-6545。料理の種類：イタリア料理。都市は？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51960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正解：santa monica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4297680"/>
            <a:ext cx="3886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38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サンタモニカ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University of Texas at Austin. RIDDLE / Restaurant data (fz.arff). 2026-10-18取得。 fz.arff 行283 / HELM test id804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https://www.cs.utexas.edu/users/ml/riddle/data/restaurant.tar.gz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追加例で見る、正解と実際の生成文字列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03120"/>
        </p:xfrm>
        <a:graphic>
          <a:graphicData uri="http://schemas.openxmlformats.org/drawingml/2006/table">
            <a:tbl>
              <a:tblPr firstRow="0" bandRow="0"/>
              <a:tblGrid>
                <a:gridCol w="1005840"/>
                <a:gridCol w="3474720"/>
                <a:gridCol w="356616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実例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davinci-003／第1試行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Griffin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Griffin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LG Electronics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LG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LACIE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LaCie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Speck Products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Speck Products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1304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実例6は完全一致0、準完全一致1。実例5は両指標とも0。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HELM Classic v0.4.0, Data imputation. 2023-11-17の固定版。2026-10-18参照。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https://crfm.stanford.edu/helm/classic/v0.4.0/#/groups/entity_data_imputation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都市名・略記・地区名の一致を確かめる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23744"/>
        </p:xfrm>
        <a:graphic>
          <a:graphicData uri="http://schemas.openxmlformats.org/drawingml/2006/table">
            <a:tbl>
              <a:tblPr firstRow="0" bandRow="0"/>
              <a:tblGrid>
                <a:gridCol w="1005840"/>
                <a:gridCol w="3474720"/>
                <a:gridCol w="356616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実例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davinci-003／第1試行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los feliz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los angeles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los angeles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new york city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new york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smyrna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atlanta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12・13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las vegas／santa monica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las vegas／santa monica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233672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表示した8〜11の出力は全て準完全一致0。12・13はそれぞれ1。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HELM Classic v0.4.0, Data imputation. 2023-11-17の固定版。2026-10-18参照。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https://crfm.stanford.edu/helm/classic/v0.4.0/#/groups/entity_data_imputation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配布・実装・集計の補足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配布・実装・集計の補足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公開実行の生成設定と、実送信値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配布・実装・集計の補足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7971"/>
        </p:xfrm>
        <a:graphic>
          <a:graphicData uri="http://schemas.openxmlformats.org/drawingml/2006/table">
            <a:tbl>
              <a:tblPr firstRow="0" bandRow="0"/>
              <a:tblGrid>
                <a:gridCol w="2834640"/>
                <a:gridCol w="2560320"/>
                <a:gridCol w="265176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項目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3モデル共通の設定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全テストの実送信値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学習例数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max_tokens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254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num_outputs／completions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温度／停止列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0／改行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0／改行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17899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出力は一つ。各モデルでトークナイザが異なり、5トークンの生成上限が掛かる。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HELM Classic v0.4.0, Data imputation. 2023-11-17の固定版。2026-10-18参照。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https://crfm.stanford.edu/helm/classic/v0.4.0/#/groups/entity_data_imputation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HELM本文の件数と、実装・公開入力の差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配布・実装・集計の補足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261872"/>
        </p:xfrm>
        <a:graphic>
          <a:graphicData uri="http://schemas.openxmlformats.org/drawingml/2006/table">
            <a:tbl>
              <a:tblPr firstRow="0" bandRow="0"/>
              <a:tblGrid>
                <a:gridCol w="1828800"/>
                <a:gridCol w="3474720"/>
                <a:gridCol w="274320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HELM論文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実装・公開入力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Buy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470／118／66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469／117／65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Restaurant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623／157／87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622／156／86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2971800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各欄は学習／開発／テスト。再取得した元配布、固定v0.3.0コード、3モデルの公開入力は右列と一致。本文には2表を説明しながら「3 datasets」とする箇所もある。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51713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Liang et al. (2023). Holistic Evaluation of Language Models. Transactions on Machine Learning Research.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https://arxiv.org/abs/2211.09110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Stanford CRFM. HELM v0.3.0, EntityDataImputationScenario. 2026-10-18取得。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https://github.com/stanford-crfm/helm/blob/v0.3.0/src/helm/benchmark/scenarios/entity_data_imputation_scenario.py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IPMの8データのうち、HELMは2表を使う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配布・実装・集計の補足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96896"/>
        </p:xfrm>
        <a:graphic>
          <a:graphicData uri="http://schemas.openxmlformats.org/drawingml/2006/table">
            <a:tbl>
              <a:tblPr firstRow="0" bandRow="0"/>
              <a:tblGrid>
                <a:gridCol w="3108960"/>
                <a:gridCol w="4937760"/>
              </a:tblGrid>
              <a:tr h="4389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データ名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公式READMEで指定する補完属性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389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walmart／amazon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category、brand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89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restaurant／buy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city／manufacturer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400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housing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region、price、sqfeet、beds、baths ほか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400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phone／zomato／flipkart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brand／location／brand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Mei et al. (2021). Capturing Semantics for Imputation with Pre-trained Language Models — IPM公式実装。commit 583826e。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https://github.com/EliasMei/IPM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13実例を、配布行と公開記録へ結び付けた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各例に元ファイル名、行位置、HELMのID、入力全文、元セルの正解、日本語訳、公開出力を保存した。元の行とファイルのSHA-256も記録した。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3モデルでは、Buyの開発117行・テスト65行と、Restaurantの開発156行・テスト86行を全件照合した。テストの全1,057出力を使い、4種類の一致指標を再計算した。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配布・実装・集計の補足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HELM Classic v0.4.0, Data imputation. 2023-11-17の固定版。2026-10-18参照。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https://crfm.stanford.edu/helm/classic/v0.4.0/#/groups/entity_data_imputation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参考文献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参考文献</a:t>
            </a:r>
          </a:p>
        </p:txBody>
      </p:sp>
      <p:sp>
        <p:nvSpPr>
          <p:cNvPr id="4" name="文献 1: Capturing Semantics for Imputation with Pre-trained Language Models"/>
          <p:cNvSpPr txBox="1"/>
          <p:nvPr/>
        </p:nvSpPr>
        <p:spPr>
          <a:xfrm>
            <a:off x="548640" y="1463040"/>
            <a:ext cx="8046720" cy="179463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Capturing Semantics for Imputation with Pre-trained Language Models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Yinan Mei, Shaoxu Song, Chenguang Fang, Haifeng Yang, Jingyun Fang, Jiang Long · 2021 · IEEE ICDE, 61–72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事前学習言語モデルで属性値の意味を捉える補完方法IPMを提案する。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https://doi.org/10.1109/ICDE51399.2021.00013</a:t>
            </a:r>
          </a:p>
        </p:txBody>
      </p:sp>
      <p:sp>
        <p:nvSpPr>
          <p:cNvPr id="5" name="文献 2: IPM"/>
          <p:cNvSpPr txBox="1"/>
          <p:nvPr/>
        </p:nvSpPr>
        <p:spPr>
          <a:xfrm>
            <a:off x="548640" y="3489325"/>
            <a:ext cx="8046720" cy="134581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IPM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Yinan Mei et al. · 公式実装 · commit 583826e41205c04a48548673945213181085536c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IPM-Multi・IPM-Binaryの学習コード、補完対象属性、実行例、欠損率10%のサンプルを公開する。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https://github.com/EliasMei/IPM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参考文献</a:t>
            </a:r>
          </a:p>
        </p:txBody>
      </p:sp>
      <p:sp>
        <p:nvSpPr>
          <p:cNvPr id="4" name="文献 1: Benchmark Datasets for Entity Resolution"/>
          <p:cNvSpPr txBox="1"/>
          <p:nvPr/>
        </p:nvSpPr>
        <p:spPr>
          <a:xfrm>
            <a:off x="548640" y="1463040"/>
            <a:ext cx="8046720" cy="109245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Benchmark Datasets for Entity Resolution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Database Group, Universität Leipzig · 2026-10-18参照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Abt-Buyを含む照合用データと対応表、配布条件CC BY 4.0を掲載する。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https://dbs.uni-leipzig.de/research/projects/benchmark-datasets-for-entity-resolution</a:t>
            </a:r>
          </a:p>
        </p:txBody>
      </p:sp>
      <p:sp>
        <p:nvSpPr>
          <p:cNvPr id="5" name="文献 2: Restaurant data — RIDDLE"/>
          <p:cNvSpPr txBox="1"/>
          <p:nvPr/>
        </p:nvSpPr>
        <p:spPr>
          <a:xfrm>
            <a:off x="548640" y="2787142"/>
            <a:ext cx="8046720" cy="134581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Restaurant data — RIDDLE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University of Texas at Austin · 公開データアーカイブ · 2026-10-18取得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電話番号あり・なしのARFF、元の飲食店記録、由来を記したREADMEを収録する。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https://www.cs.utexas.edu/users/ml/riddle/data/restaurant.tar.gz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参考文献</a:t>
            </a:r>
          </a:p>
        </p:txBody>
      </p:sp>
      <p:sp>
        <p:nvSpPr>
          <p:cNvPr id="4" name="文献 1: Holistic Evaluation of Language Models"/>
          <p:cNvSpPr txBox="1"/>
          <p:nvPr/>
        </p:nvSpPr>
        <p:spPr>
          <a:xfrm>
            <a:off x="548640" y="1463040"/>
            <a:ext cx="8046720" cy="134581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Holistic Evaluation of Language Models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Percy Liang et al. · 2023 · Transactions on Machine Learning Research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構造化データの補完を含む多様な課題を、共通の提示方法と指標で評価する。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https://arxiv.org/abs/2211.09110</a:t>
            </a:r>
          </a:p>
        </p:txBody>
      </p:sp>
      <p:sp>
        <p:nvSpPr>
          <p:cNvPr id="5" name="文献 2: HELM Classic — Data imputation"/>
          <p:cNvSpPr txBox="1"/>
          <p:nvPr/>
        </p:nvSpPr>
        <p:spPr>
          <a:xfrm>
            <a:off x="548640" y="3040507"/>
            <a:ext cx="8046720" cy="109245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 Classic — Data imputation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Stanford CRFM · v0.4.0（2023-11-17）· 2026-10-18参照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BuyとRestaurantのモデル別成績、実行条件、実際の予測記録を保存する。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https://crfm.stanford.edu/helm/classic/v0.4.0/#/groups/entity_data_imputation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参考文献</a:t>
            </a:r>
          </a:p>
        </p:txBody>
      </p:sp>
      <p:sp>
        <p:nvSpPr>
          <p:cNvPr id="4" name="文献 1: EntityDataImputationScenario"/>
          <p:cNvSpPr txBox="1"/>
          <p:nvPr/>
        </p:nvSpPr>
        <p:spPr>
          <a:xfrm>
            <a:off x="548640" y="1463040"/>
            <a:ext cx="8046720" cy="134581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EntityDataImputationScenario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Stanford CRFM · HELM v0.3.0 · Python実装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表の読込、欠損行の選別、分割、属性列の文章化、正解文字列の取得を実装する。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https://github.com/stanford-crfm/helm/blob/v0.3.0/src/helm/benchmark/scenarios/entity_data_imputation_scenario.py</a:t>
            </a:r>
          </a:p>
        </p:txBody>
      </p:sp>
      <p:sp>
        <p:nvSpPr>
          <p:cNvPr id="5" name="文献 2: BasicMetric — text matching metrics"/>
          <p:cNvSpPr txBox="1"/>
          <p:nvPr/>
        </p:nvSpPr>
        <p:spPr>
          <a:xfrm>
            <a:off x="548640" y="3040507"/>
            <a:ext cx="8046720" cy="134581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BasicMetric — text matching metrics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Stanford CRFM · HELM v0.3.0 · Python実装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小文字化・句読記号・冠詞・空白の正規化と、完全一致・前方一致の採点を定義する。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https://github.com/stanford-crfm/helm/blob/v0.3.0/src/helm/benchmark/metrics/basic_metrics.py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参考文献</a:t>
            </a:r>
          </a:p>
        </p:txBody>
      </p:sp>
      <p:sp>
        <p:nvSpPr>
          <p:cNvPr id="4" name="文献 1: Evaluation of entity resolution approaches on real-world match problems"/>
          <p:cNvSpPr txBox="1"/>
          <p:nvPr/>
        </p:nvSpPr>
        <p:spPr>
          <a:xfrm>
            <a:off x="548640" y="1463040"/>
            <a:ext cx="8046720" cy="17656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Evaluation of entity resolution approaches on real-world match problems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H. Köpcke, A. Thor, E. Rahm · 2010 · Proceedings of the VLDB Endowment 3(1)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異なる出所のレコードを照合する方法の精度と効率を比較し、Abt-Buyを含む実データの評価課題を公開した。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https://dbs.uni-leipzig.de/research/publications/evaluation-of-entity-resolution-approaches-on-real-world-match-problems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sasakiy84</cp:lastModifiedBy>
  <cp:revision>500</cp:revision>
  <dcterms:modified xsi:type="dcterms:W3CDTF">2026-10-18T08:23:26Z</dcterms:modified>
  <dc:title>data-imputation</dc:title>
  <dc:creator>sasakiy84</dc:creator>
  <dcterms:created xsi:type="dcterms:W3CDTF">2026-10-18T08:23:26Z</dcterms:created>
  <dc:language>ja-JP</dc:language>
</cp:coreProperties>
</file>