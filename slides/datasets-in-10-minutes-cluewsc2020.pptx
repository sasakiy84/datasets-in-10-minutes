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70" r:id="rId20"/>
    <p:sldId id="271" r:id="rId21"/>
    <p:sldId id="272" r:id="rId22"/>
    <p:sldId id="273" r:id="rId23"/>
    <p:sldId id="274" r:id="rId24"/>
    <p:sldId id="275" r:id="rId25"/>
    <p:sldId id="276" r:id="rId26"/>
    <p:sldId id="277" r:id="rId27"/>
    <p:sldId id="278" r:id="rId28"/>
    <p:sldId id="279" r:id="rId29"/>
    <p:sldId id="280" r:id="rId30"/>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3" r:id="rId53"/>
    <p:sldId id="304" r:id="rId54"/>
    <p:sldId id="306" r:id="rId56"/>
    <p:sldId id="307" r:id="rId57"/>
    <p:sldId id="308" r:id="rId58"/>
    <p:sldId id="311" r:id="rId61"/>
    <p:sldId id="312" r:id="rId62"/>
    <p:sldId id="313" r:id="rId63"/>
    <p:sldId id="314" r:id="rId64"/>
    <p:sldId id="315" r:id="rId6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3" Type="http://schemas.openxmlformats.org/officeDocument/2006/relationships/slide" Target="slides/slide48.xml"/><Relationship Id="rId54" Type="http://schemas.openxmlformats.org/officeDocument/2006/relationships/slide" Target="slides/slide49.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正答率（％）</c:v>
                </c:pt>
              </c:strCache>
            </c:strRef>
          </c:tx>
          <c:spPr>
            <a:solidFill>
              <a:srgbClr val="2C9100"/>
            </a:solidFill>
            <a:ln>
              <a:noFill/>
            </a:ln>
          </c:spPr>
          <c:cat>
            <c:strRef>
              <c:f>Sheet1!$A$2:$A$8</c:f>
              <c:strCache>
                <c:ptCount val="7"/>
                <c:pt idx="0">
                  <c:v>BERT-base</c:v>
                </c:pt>
                <c:pt idx="1">
                  <c:v>ALBERT-tiny</c:v>
                </c:pt>
                <c:pt idx="2">
                  <c:v>ALBERT-xxlarge</c:v>
                </c:pt>
                <c:pt idx="3">
                  <c:v>XLNet-mid</c:v>
                </c:pt>
                <c:pt idx="4">
                  <c:v>RoBERTa-large</c:v>
                </c:pt>
                <c:pt idx="5">
                  <c:v>RoBERTa-wwm-ext-base</c:v>
                </c:pt>
                <c:pt idx="6">
                  <c:v>RoBERTa-wwm-ext-large</c:v>
                </c:pt>
              </c:strCache>
            </c:strRef>
          </c:cat>
          <c:val>
            <c:numRef>
              <c:f>Sheet1!$B$2:$B$8</c:f>
              <c:numCache>
                <c:formatCode>General</c:formatCode>
                <c:ptCount val="7"/>
                <c:pt idx="0">
                  <c:v>63.45</c:v>
                </c:pt>
                <c:pt idx="1">
                  <c:v>63.38</c:v>
                </c:pt>
                <c:pt idx="2">
                  <c:v>61.54</c:v>
                </c:pt>
                <c:pt idx="3">
                  <c:v>61.04</c:v>
                </c:pt>
                <c:pt idx="4">
                  <c:v>62.44</c:v>
                </c:pt>
                <c:pt idx="5">
                  <c:v>72.07</c:v>
                </c:pt>
                <c:pt idx="6">
                  <c:v>81.38</c:v>
                </c:pt>
              </c:numCache>
            </c:numRef>
          </c:val>
        </c:ser>
        <c:dLbls>
          <c:numFmt formatCode="0.00" sourceLinked="0"/>
          <c:txPr>
            <a:bodyPr/>
            <a:lstStyle/>
            <a:p>
              <a:pPr>
                <a:defRPr sz="1100"/>
              </a:pPr>
            </a:p>
          </c:txPr>
          <c:dLblPos val="outEnd"/>
          <c:showLegendKey val="0"/>
          <c:showVal val="1"/>
          <c:showCatName val="0"/>
          <c:showSerName val="0"/>
          <c:showPercent val="0"/>
          <c:showBubbleSize val="0"/>
          <c:showLeaderLines val="1"/>
        </c:dLbls>
        <c:gapWidth val="45"/>
        <c:axId val="2226939960"/>
        <c:axId val="2180972856"/>
      </c:barChart>
      <c:catAx>
        <c:axId val="2226939960"/>
        <c:scaling>
          <c:orientation val="maxMin"/>
        </c:scaling>
        <c:delete val="0"/>
        <c:axPos val="l"/>
        <c:majorTickMark val="out"/>
        <c:minorTickMark val="none"/>
        <c:tickLblPos val="nextTo"/>
        <c:txPr>
          <a:bodyPr/>
          <a:lstStyle/>
          <a:p>
            <a:pPr>
              <a:defRPr sz="1200"/>
            </a:pPr>
          </a:p>
        </c:txPr>
        <c:crossAx val="2180972856"/>
        <c:crosses val="autoZero"/>
        <c:auto val="1"/>
        <c:lblAlgn val="ctr"/>
        <c:lblOffset val="100"/>
        <c:noMultiLvlLbl val="0"/>
      </c:catAx>
      <c:valAx>
        <c:axId val="2180972856"/>
        <c:scaling>
          <c:max val="100.0"/>
          <c:min val="0.0"/>
        </c:scaling>
        <c:delete val="0"/>
        <c:axPos val="b"/>
        <c:majorGridlines/>
        <c:majorTickMark val="out"/>
        <c:minorTickMark val="none"/>
        <c:tickLblPos val="nextTo"/>
        <c:txPr>
          <a:bodyPr/>
          <a:lstStyle/>
          <a:p>
            <a:pPr>
              <a:defRPr sz="1100"/>
            </a:pPr>
          </a:p>
        </c:txPr>
        <c:crossAx val="2226939960"/>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CLUEbenchmark/CLUEWSC202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CLUEbenchmark/CLUEWSC2020/blob/446646278671444c79a67e7434b3a1d1d1cbbe88/README.md" TargetMode="External"/><Relationship Id="rId3" Type="http://schemas.openxmlformats.org/officeDocument/2006/relationships/hyperlink" Target="https://aclanthology.org/2023.emnlp-demo.1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cluebenchmark/tasks/cluewsc2020_public.zip" TargetMode="External"/><Relationship Id="rId3" Type="http://schemas.openxmlformats.org/officeDocument/2006/relationships/hyperlink" Target="https://github.com/stanford-crfm/helm/blob/v0.4.0/src/helm/benchmark/scenarios/cleva_scenario.p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cluebenchmark/tasks/cluewsc2020_public.zip" TargetMode="External"/><Relationship Id="rId3" Type="http://schemas.openxmlformats.org/officeDocument/2006/relationships/hyperlink" Target="https://aclanthology.org/2023.emnlp-demo.17/"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cluebenchmark/tasks/cluewsc2020_public.zip"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coling-main.419/" TargetMode="External"/><Relationship Id="rId3" Type="http://schemas.openxmlformats.org/officeDocument/2006/relationships/hyperlink" Target="https://storage.googleapis.com/cluebenchmark/tasks/cluewsc2020_public.zi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coling-main.419/" TargetMode="External"/><Relationship Id="rId3" Type="http://schemas.openxmlformats.org/officeDocument/2006/relationships/hyperlink" Target="https://storage.googleapis.com/cluebenchmark/tasks/cluewsc2020_public.zi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cluebenchmark/tasks/cluewsc2020_public.zi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coling-main.419/" TargetMode="External"/><Relationship Id="rId3" Type="http://schemas.openxmlformats.org/officeDocument/2006/relationships/hyperlink" Target="https://aclanthology.org/2023.emnlp-demo.17/"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aclanthology.org/2020.coling-main.419/"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coling-main.419/"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coling-main.419/" TargetMode="External"/><Relationship Id="rId3" Type="http://schemas.openxmlformats.org/officeDocument/2006/relationships/hyperlink" Target="https://github.com/CLUEbenchmark/CLUEWSC2020/blob/446646278671444c79a67e7434b3a1d1d1cbbe88/README.m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dn.aaai.org/ocs/4492/4492-21843-1-PB.pdf" TargetMode="External"/><Relationship Id="rId3" Type="http://schemas.openxmlformats.org/officeDocument/2006/relationships/hyperlink" Target="https://aclanthology.org/2020.coling-main.419/"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CLUEbenchmark/CLUEWSC2020/blob/446646278671444c79a67e7434b3a1d1d1cbbe88/README.md" TargetMode="External"/><Relationship Id="rId3" Type="http://schemas.openxmlformats.org/officeDocument/2006/relationships/hyperlink" Target="https://storage.googleapis.com/cluebenchmark/tasks/cluewsc2020_public.zip"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coling-main.419/"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cluebenchmark/tasks/cluewsc2020_public.zip"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coling-main.419/"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coling-main.419/"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luewsc2020_public.zip"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coling-main.419/"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coling-main.419/" TargetMode="External"/><Relationship Id="rId3" Type="http://schemas.openxmlformats.org/officeDocument/2006/relationships/hyperlink" Target="https://cdn.aaai.org/ocs/4492/4492-21843-1-PB.pdf"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CLUEbenchmark/CLUEWSC2020" TargetMode="External"/><Relationship Id="rId3" Type="http://schemas.openxmlformats.org/officeDocument/2006/relationships/hyperlink" Target="https://storage.googleapis.com/cluebenchmark/tasks/cluewsc2020_public.zip"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6300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CLUEWSC2020</a:t>
            </a:r>
          </a:p>
        </p:txBody>
      </p:sp>
      <p:sp>
        <p:nvSpPr>
          <p:cNvPr id="3" name="Subtitle 2"/>
          <p:cNvSpPr>
            <a:spLocks noGrp="1"/>
          </p:cNvSpPr>
          <p:nvPr>
            <p:ph type="subTitle" idx="1"/>
          </p:nvPr>
        </p:nvSpPr>
        <p:spPr>
          <a:xfrm>
            <a:off x="548640" y="2472652"/>
            <a:ext cx="8046720" cy="133921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Chinese Winograd Schema Challenge
CLUE: Chinese Language Understanding Evaluation</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中国語の文章で、代名詞と名詞句の指示関係を問う</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CLUEWSC2020の公式公開リポジトリ</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CLUEWSC2020</a:t>
            </a:r>
          </a:p>
        </p:txBody>
      </p:sp>
      <p:pic>
        <p:nvPicPr>
          <p:cNvPr id="4" name="Picture 3" descr="official-site.png"/>
          <p:cNvPicPr>
            <a:picLocks noChangeAspect="1"/>
          </p:cNvPicPr>
          <p:nvPr/>
        </p:nvPicPr>
        <p:blipFill>
          <a:blip r:embed="rId2"/>
          <a:stretch>
            <a:fillRect/>
          </a:stretch>
        </p:blipFill>
        <p:spPr>
          <a:xfrm>
            <a:off x="1178872" y="1481328"/>
            <a:ext cx="6786254"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 team. CLUEWSC2020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https://github.com/CLUEbenchmark/CLUEWSC2020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代名詞が指す対象を読む</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収集と、データの構成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評価と歴史的な性能</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CLUEとCLEVAでの利用</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「それ」は、何を指しているか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代名詞が指す対象を読む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二つの指定箇所が、同じ対象を指すか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CLUEWSC2020は、中国語の文章と、指定された名詞句・代名詞を入力にする二値分類のデータ。二つが同じ対象を指すならtrue、違えばfalse。</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登場人物や物が何をしているかを読み、代名詞が指す対象を判断する。語の位置だけでなく、動作の対象や話し手の意図が手掛かりになる。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2020年にCLUEの新しい指示関係課題として公開され、後にCLEVAの共参照解決にも採用された。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代名詞が指す対象を読む</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 team. CLUEWSC2020: WSC Winograd模式挑战中文版，中文指代消解任务.</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https://github.com/CLUEbenchmark/CLUEWSC2020/blob/446646278671444c79a67e7434b3a1d1d1cbbe88/README.md</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 et al. (2023). CLEVA: Chinese Language Models EVAluation Platform.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https://aclanthology.org/2023.emnlp-demo.17/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実例1：すくい上げるのは、煮汁の中の塊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代名詞が指す対象を読む</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474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474720" cy="1430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渐渐地，汤中凝结出一团团</a:t>
            </a:r>
            <a:r>
              <a:rPr sz="1500" b="1" lang="ja-JP" altLang="en-US">
                <a:solidFill>
                  <a:srgbClr val="2C9100"/>
                </a:solidFill>
                <a:latin typeface="Noto Sans"/>
                <a:ea typeface="Noto Sans CJK JP"/>
                <a:cs typeface="Noto Sans"/>
              </a:rPr>
              <a:t>块状物</a:t>
            </a:r>
            <a:r>
              <a:rPr sz="1500" b="0" lang="ja-JP" altLang="en-US">
                <a:solidFill>
                  <a:srgbClr val="303437"/>
                </a:solidFill>
                <a:latin typeface="Noto Sans"/>
                <a:ea typeface="Noto Sans CJK JP"/>
                <a:cs typeface="Noto Sans"/>
              </a:rPr>
              <a:t>，将</a:t>
            </a:r>
            <a:r>
              <a:rPr sz="1500" b="1" lang="ja-JP" altLang="en-US">
                <a:solidFill>
                  <a:srgbClr val="2166AC"/>
                </a:solidFill>
                <a:latin typeface="Noto Sans"/>
                <a:ea typeface="Noto Sans CJK JP"/>
                <a:cs typeface="Noto Sans"/>
              </a:rPr>
              <a:t>它们</a:t>
            </a:r>
            <a:r>
              <a:rPr sz="1500" b="0" lang="ja-JP" altLang="en-US">
                <a:solidFill>
                  <a:srgbClr val="303437"/>
                </a:solidFill>
                <a:latin typeface="Noto Sans"/>
                <a:ea typeface="Noto Sans CJK JP"/>
                <a:cs typeface="Noto Sans"/>
              </a:rPr>
              <a:t>捞起放进盆里冷却，肥皂便出现在世上了。</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候选名词：块状物</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指定代词：它们</a:t>
            </a:r>
          </a:p>
        </p:txBody>
      </p:sp>
      <p:sp>
        <p:nvSpPr>
          <p:cNvPr id="7" name="TextBox 6"/>
          <p:cNvSpPr txBox="1"/>
          <p:nvPr/>
        </p:nvSpPr>
        <p:spPr>
          <a:xfrm>
            <a:off x="4206240" y="1508760"/>
            <a:ext cx="43891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206240" y="1719072"/>
            <a:ext cx="4389120" cy="1430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次第に、煮汁の中に塊がいくつもできた。それらをすくい上げてボウルに入れて冷ますと、石けんがこの世に生まれた。</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候補の名詞句：塊</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指定された代名詞：それら</a:t>
            </a:r>
          </a:p>
        </p:txBody>
      </p:sp>
      <p:sp>
        <p:nvSpPr>
          <p:cNvPr id="9" name="TextBox 8"/>
          <p:cNvSpPr txBox="1"/>
          <p:nvPr/>
        </p:nvSpPr>
        <p:spPr>
          <a:xfrm>
            <a:off x="594360" y="3226138"/>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正解：true（同じ対象）</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「すくう」「冷ます」の対象を追う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すくい上げて冷ます対象は、煮汁の中にできた塊。「它们」は複数の塊を指すので、答えはtrueになる。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「煮汁」と「塊」の両方が出てくる文章で、代名詞と動作の対象を結び付ける問題になっている。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この問題は、HELMにあるCLEVAの共参照解決シナリオでも説明例に使われている。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代名詞が指す対象を読む</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CLEVACoreferenceResolutionScenario / Converter. HELM v0.4.0.</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実例2：同業者が招いたのは、准教授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代名詞が指す対象を読む</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9319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931920" cy="1845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蒋盈波原来所在的教研室有位副教授去德国参加一个学术活动，活动中结识了一位华裔德籍的</a:t>
            </a:r>
            <a:r>
              <a:rPr sz="1500" b="1" lang="ja-JP" altLang="en-US">
                <a:solidFill>
                  <a:srgbClr val="2C9100"/>
                </a:solidFill>
                <a:latin typeface="Noto Sans"/>
                <a:ea typeface="Noto Sans CJK JP"/>
                <a:cs typeface="Noto Sans"/>
              </a:rPr>
              <a:t>同行</a:t>
            </a:r>
            <a:r>
              <a:rPr sz="1500" b="0" lang="ja-JP" altLang="en-US">
                <a:solidFill>
                  <a:srgbClr val="303437"/>
                </a:solidFill>
                <a:latin typeface="Noto Sans"/>
                <a:ea typeface="Noto Sans CJK JP"/>
                <a:cs typeface="Noto Sans"/>
              </a:rPr>
              <a:t>，那同行在自己家中招待了</a:t>
            </a:r>
            <a:r>
              <a:rPr sz="1500" b="1" lang="ja-JP" altLang="en-US">
                <a:solidFill>
                  <a:srgbClr val="2166AC"/>
                </a:solidFill>
                <a:latin typeface="Noto Sans"/>
                <a:ea typeface="Noto Sans CJK JP"/>
                <a:cs typeface="Noto Sans"/>
              </a:rPr>
              <a:t>他</a:t>
            </a:r>
            <a:r>
              <a:rPr sz="1500" b="0" lang="ja-JP" altLang="en-US">
                <a:solidFill>
                  <a:srgbClr val="303437"/>
                </a:solidFill>
                <a:latin typeface="Noto Sans"/>
                <a:ea typeface="Noto Sans CJK JP"/>
                <a:cs typeface="Noto Sans"/>
              </a:rPr>
              <a:t>一次，言谈之间，双方忽然都感到巧事真多，而世界真小</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候选名词：同行</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指定代词：他</a:t>
            </a:r>
          </a:p>
        </p:txBody>
      </p:sp>
      <p:sp>
        <p:nvSpPr>
          <p:cNvPr id="7" name="TextBox 6"/>
          <p:cNvSpPr txBox="1"/>
          <p:nvPr/>
        </p:nvSpPr>
        <p:spPr>
          <a:xfrm>
            <a:off x="4663440" y="1508760"/>
            <a:ext cx="39319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663440" y="1719072"/>
            <a:ext cx="3931920" cy="2269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蒋盈波が以前所属していた教育・研究部門の准教授が、学術行事に参加するためドイツへ行った。そこで中国系ドイツ人の同業者と知り合い、その同業者は自宅で彼を一度もてなした。話すうちに、双方は偶然の一致の多さと、世間の狭さに気付いた。</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候補の名詞句：同業者</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指定された代名詞：彼</a:t>
            </a:r>
          </a:p>
        </p:txBody>
      </p:sp>
      <p:sp>
        <p:nvSpPr>
          <p:cNvPr id="9" name="TextBox 8"/>
          <p:cNvSpPr txBox="1"/>
          <p:nvPr/>
        </p:nvSpPr>
        <p:spPr>
          <a:xfrm>
            <a:off x="594360" y="4064338"/>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正解：false（同じ対象ではない）</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同業者が招いたのは、准教授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自宅に招いたのは同業者で、招かれたのはドイツへ行った准教授。「他」が指す准教授と、候補の同業者は別人なのでfalseになる。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蒋盈波、准教授、同業者という複数の人物が出てくる。誰が誰を招いたかを、文の主語が変わっても追う必要がある。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CLEVAの論文でも、この文章と二つの指定箇所が共参照解決の例に使われている。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代名詞が指す対象を読む</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 et al. (2023). CLEVA: Chinese Language Models EVAluation Platform.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https://aclanthology.org/2023.emnlp-demo.17/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実例3：突然鳴った物を特定する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代名詞が指す対象を読む</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474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474720" cy="1430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这时候放在</a:t>
            </a:r>
            <a:r>
              <a:rPr sz="1500" b="1" lang="ja-JP" altLang="en-US">
                <a:solidFill>
                  <a:srgbClr val="2C9100"/>
                </a:solidFill>
                <a:latin typeface="Noto Sans"/>
                <a:ea typeface="Noto Sans CJK JP"/>
                <a:cs typeface="Noto Sans"/>
              </a:rPr>
              <a:t>床</a:t>
            </a:r>
            <a:r>
              <a:rPr sz="1500" b="0" lang="ja-JP" altLang="en-US">
                <a:solidFill>
                  <a:srgbClr val="303437"/>
                </a:solidFill>
                <a:latin typeface="Noto Sans"/>
                <a:ea typeface="Noto Sans CJK JP"/>
                <a:cs typeface="Noto Sans"/>
              </a:rPr>
              <a:t>上枕头旁边的手机响了，我感到奇怪，因为欠费已被停机两个月，现在</a:t>
            </a:r>
            <a:r>
              <a:rPr sz="1500" b="1" lang="ja-JP" altLang="en-US">
                <a:solidFill>
                  <a:srgbClr val="2166AC"/>
                </a:solidFill>
                <a:latin typeface="Noto Sans"/>
                <a:ea typeface="Noto Sans CJK JP"/>
                <a:cs typeface="Noto Sans"/>
              </a:rPr>
              <a:t>它</a:t>
            </a:r>
            <a:r>
              <a:rPr sz="1500" b="0" lang="ja-JP" altLang="en-US">
                <a:solidFill>
                  <a:srgbClr val="303437"/>
                </a:solidFill>
                <a:latin typeface="Noto Sans"/>
                <a:ea typeface="Noto Sans CJK JP"/>
                <a:cs typeface="Noto Sans"/>
              </a:rPr>
              <a:t>突然响了。</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候选名词：床</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指定代词：它</a:t>
            </a:r>
          </a:p>
        </p:txBody>
      </p:sp>
      <p:sp>
        <p:nvSpPr>
          <p:cNvPr id="7" name="TextBox 6"/>
          <p:cNvSpPr txBox="1"/>
          <p:nvPr/>
        </p:nvSpPr>
        <p:spPr>
          <a:xfrm>
            <a:off x="4206240" y="1508760"/>
            <a:ext cx="43891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206240" y="1719072"/>
            <a:ext cx="43891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そのとき、ベッドの枕の横に置いた携帯電話が鳴った。料金未払いで2か月も利用停止になっていたので、今それが突然鳴ったことを不思議に思った。</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候補の名詞句：ベッド</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指定された代名詞：それ</a:t>
            </a:r>
          </a:p>
        </p:txBody>
      </p:sp>
      <p:sp>
        <p:nvSpPr>
          <p:cNvPr id="9" name="TextBox 8"/>
          <p:cNvSpPr txBox="1"/>
          <p:nvPr/>
        </p:nvSpPr>
        <p:spPr>
          <a:xfrm>
            <a:off x="594360" y="3437805"/>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正解：false（同じ対象ではない）</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候補はベッド、鳴った物は携帯電話</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利用停止になっていて、突然鳴ったのは携帯電話。「それ」が指す物と、候補のベッドは異なるのでfalseになる。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この問題では、代名詞が指す物を見つけたうえで、指定された候補と一致するかを判定する。文章にはベッドや枕も出てくるが、電話が鳴るという動作と利用停止の説明が手掛かりになる。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代名詞が指す対象を読む</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文学作品から、指示関係の問題を作る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収集と、データの構成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中国語の自然な文章を、人手で選ぶ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36の現代中国文学作品から文章を選び、言語の専門家が選別・注釈した。2020年の構成は学習1,244問、開発304問、テスト290問の計1,838問。</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一つの文章から、異なる名詞句と代名詞の組を指定して複数の問題を作れる。たとえば実例2の文章では、准教授を候補にするとtrue、同業者を候補にするとfalseになる。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配布データには文章と指定箇所、正解が収められている。個々の文章の作品名・作者名は記載されていない。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Xu et al. (2020). CLUE: A Chinese Language Understanding Evaluation Benchmark. COLING, pp.4762–4772.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https://aclanthology.org/2020.coling-main.419/</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CLUEbenchmark. CLUEWSC2020 public data; test update 2021-08-29.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https://storage.googleapis.com/cluebenchmark/tasks/cluewsc2020_public.zip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2020年の分割と、後のテスト更新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収集と、データの構成</a:t>
            </a:r>
          </a:p>
        </p:txBody>
      </p:sp>
      <p:graphicFrame>
        <p:nvGraphicFramePr>
          <p:cNvPr id="4" name="Table 3"/>
          <p:cNvGraphicFramePr>
            <a:graphicFrameLocks noGrp="1"/>
          </p:cNvGraphicFramePr>
          <p:nvPr/>
        </p:nvGraphicFramePr>
        <p:xfrm>
          <a:off x="548640" y="1508760"/>
          <a:ext cx="8046720" cy="1885950"/>
        </p:xfrm>
        <a:graphic>
          <a:graphicData uri="http://schemas.openxmlformats.org/drawingml/2006/table">
            <a:tbl>
              <a:tblPr firstRow="0" bandRow="0"/>
              <a:tblGrid>
                <a:gridCol w="1097280"/>
                <a:gridCol w="2468880"/>
                <a:gridCol w="448056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分割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2020年の構成</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現在の公開ZIP</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1,244問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1,244問・正解あり</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304問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304問・正解あり</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290問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2,574問・正解なし</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旧test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上の290問</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test1.0.jsonで290問を保存</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86150"/>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2021年8月29日にテストを更新。学習・開発・新テストは計4,122問。</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Xu et al. (2020). CLUE: A Chinese Language Understanding Evaluation Benchmark. COLING, pp.4762–4772.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https://aclanthology.org/2020.coling-main.419/</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CLUEbenchmark. CLUEWSC2020 public data; test update 2021-08-29.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https://storage.googleapis.com/cluebenchmark/tasks/cluewsc2020_public.zip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一つの文章から、複数の問題を作る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収集と、データの構成</a:t>
            </a:r>
          </a:p>
        </p:txBody>
      </p:sp>
      <p:graphicFrame>
        <p:nvGraphicFramePr>
          <p:cNvPr id="4" name="Table 3"/>
          <p:cNvGraphicFramePr>
            <a:graphicFrameLocks noGrp="1"/>
          </p:cNvGraphicFramePr>
          <p:nvPr/>
        </p:nvGraphicFramePr>
        <p:xfrm>
          <a:off x="548640" y="1508760"/>
          <a:ext cx="8046720" cy="1812925"/>
        </p:xfrm>
        <a:graphic>
          <a:graphicData uri="http://schemas.openxmlformats.org/drawingml/2006/table">
            <a:tbl>
              <a:tblPr firstRow="0" bandRow="0"/>
              <a:tblGrid>
                <a:gridCol w="2194560"/>
                <a:gridCol w="914400"/>
                <a:gridCol w="1645920"/>
                <a:gridCol w="3291840"/>
              </a:tblGrid>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ファイル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文章数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ラベル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train.json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1,244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387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true 517 / false 727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dev.json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304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true 111 / false 193</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test.json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2,574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1,424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非公開</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test1.0.json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290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非公開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13125"/>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学習では387文章から1,244問、開発では104文章から304問を作っている。表は現在の公開データの構成。</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 test update 2021-08-29.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性・数・動作・談話の流れを組み合わせる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他・她・它に加え、他们・她们・它们のような複数形や「其」も含む。人と物、単数と複数の違いが手掛かりになる。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招く側と招かれる側、物を運ぶ人と運ばれる物など、文の役割と動作の対象も読み取る。複数の人物が続けて登場する文章では、談話の流れが重要になる。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本資料では、正解が公開されている学習・開発データから、異なる文章の13問を紹介する。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 test update 2021-08-29.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正答率を、評価条件とともに読む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評価と歴史的な性能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正答率は、指定された組の判定が合う割合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正答率は、予測したtrue/falseが正解ラベルと一致した問題の割合。指定された名詞句と代名詞が、同じ対象を指すかを評価する。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次のモデル性能は、構築時の2020年テスト290問に対する報告値。現在公開されているテストは2,574問に更新されている。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CLEVAの共参照解決でも正答率を用い、言語モデルがプロンプトへ答える形で評価する。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評価と歴史的な性能</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Xu et al. (2020). CLUE: A Chinese Language Understanding Evaluation Benchmark. COLING, pp.4762–4772.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https://aclanthology.org/2020.coling-main.419/</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 et al. (2023). CLEVA: Chinese Language Models EVAluation Platform.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https://aclanthology.org/2023.emnlp-demo.17/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構築時のモデルは、最大81.38％</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評価と歴史的な性能</a:t>
            </a:r>
          </a:p>
        </p:txBody>
      </p:sp>
      <p:graphicFrame>
        <p:nvGraphicFramePr>
          <p:cNvPr id="4" name="Chart 3"/>
          <p:cNvGraphicFramePr>
            <a:graphicFrameLocks noGrp="1"/>
          </p:cNvGraphicFramePr>
          <p:nvPr/>
        </p:nvGraphicFramePr>
        <p:xfrm>
          <a:off x="548640" y="1353312"/>
          <a:ext cx="8046720" cy="2962656"/>
        </p:xfrm>
        <a:graphic>
          <a:graphicData uri="http://schemas.openxmlformats.org/drawingml/2006/chart">
            <c:chart xmlns:c="http://schemas.openxmlformats.org/drawingml/2006/chart" r:id="rId2"/>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Xu et al. (2020). CLUE: A Chinese Language Understanding Evaluation Benchmark. COLING, pp.4762–4772. 2020年のtest。9モデル中7モデルを表示。</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https://aclanthology.org/2020.coling-main.419/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人手評価98％は、100問の多数決</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テストから無作為に選んだ100問を3人が解き、個人の正答率は94％、97％、95％。平均は95.3％、多数決の正答率は98％だった。</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注釈者は、開発データ30〜50問を解いて議論した後に評価した。</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モデルの正答率は旧テスト全290問、人手の正答率はそのうち100問に基づく。</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評価と歴史的な性能</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Xu et al. (2020). CLUE: A Chinese Language Understanding Evaluation Benchmark. COLING, pp.4762–4772.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https://aclanthology.org/2020.coling-main.419/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モデルは3回微調整し、開発成績で選ぶ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各モデルを3回微調整し、開発データで最も良い成績を出したモデルのテスト値を報告した。</a:t>
            </a:r>
          </a:p>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この結果は、教師あり学習で指示関係を判定するモデルの歴史的な比較。後にCLEVAでは、生成モデルにプロンプトを与えて答えさせる課題としても利用された。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評価と歴史的な性能</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Xu et al. (2020). CLUE: A Chinese Language Understanding Evaluation Benchmark. COLING, pp.4762–4772.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https://aclanthology.org/2020.coling-main.419/</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CLUE team. CLUEWSC2020: WSC Winograd模式挑战中文版，中文指代消解任务.</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https://github.com/CLUEbenchmark/CLUEWSC2020/blob/446646278671444c79a67e7434b3a1d1d1cbbe88/README.md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中国語の指示関係を、モデル評価へ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CLUEとCLEVAでの利用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元WSCの発想を、中国語の自然な文章へ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Winograd Schema Challenge（2012年）は、常識を使って曖昧な代名詞を解く課題。語を一つか二つ変えると、指す対象が入れ替わる文の対を重視した。</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CLUEWSC2020は、中国語の文学作品から自然な文章を選び、指定された名詞句と代名詞が同じ対象を指すかを二値で判定する。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語を置き換えた文の対に限らず、作品中の動作や会話、常識を手掛かりに、文章内の人物や物の関係を読む。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CLUEとCLEVAでの利用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Levesque, Davis &amp; Morgenstern (2012). The Winograd Schema Challenge. KR 2012.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https://cdn.aaai.org/ocs/4492/4492-21843-1-PB.pdf</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Xu et al. (2020). CLUE: A Chinese Language Understanding Evaluation Benchmark. COLING, pp.4762–4772.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https://aclanthology.org/2020.coling-main.419/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CLEVAは、CLUEWSCから問題を採用</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CLEVAは、CLUEWSCから抽出した問題を共参照解決の評価に使う。論文に掲載された例が、本資料の実例2に当たる。</a:t>
            </a:r>
          </a:p>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HELMのCLEVA実装では、プロンプトに文章と問いを組み込み、回答候補を用意する。実例1は「不是／是」の二候補を使う説明例として載っている。</a:t>
            </a:r>
          </a:p>
          <a:p>
            <a:pPr marL="457200" indent="-355600">
              <a:lnSpc>
                <a:spcPts val="2261"/>
              </a:lnSpc>
              <a:spcAft>
                <a:spcPts val="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CLEVAで選定された全問題や推論条件の詳細は確認できないため、ここでは元のCLUEWSC2020の構成と、公開されている利用方法を紹介する。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CLUEとCLEVAでの利用</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 et al. (2023). CLEVA: Chinese Language Models EVAluation Platform.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https://aclanthology.org/2023.emnlp-demo.17/</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CLEVACoreferenceResolutionScenario / Converter. HELM v0.4.0.</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公開データの入手先と、文章の利用条件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公式リポジトリから公開ZIPをダウンロードできる。学習・開発データは正解付きで、テストデータの正解は非公開。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課題リポジトリには、データ専用の利用許諾が明記されていない。文章は文学作品に由来するため、再利用や再配布の際には、データ提供者の条件と元の文章の権利を確認する必要がある。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CLUEとCLEVAでの利用</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 team. CLUEWSC2020: WSC Winograd模式挑战中文版，中文指代消解任务.</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https://github.com/CLUEbenchmark/CLUEWSC2020/blob/446646278671444c79a67e7434b3a1d1d1cbbe88/README.md</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CLUEbenchmark. CLUEWSC2020 public data; test update 2021-08-29.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https://storage.googleapis.com/cluebenchmark/tasks/cluewsc2020_public.zip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文学作品の文脈で、代名詞の指示対象を判定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CLUEWSC2020は、中国語の自然な文章で、指定された名詞句と代名詞が同じ対象を指すかを問うデータセット。</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文学作品に現れる人物や物の関係を読み、性・数だけでなく、動作や談話の流れも手掛かりにする。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構築時のテストでは最良モデルの正答率が81.38％、100問の人手評価は多数決で98％だった。中国語理解の課題として、CLUEからCLEVAへと利用が広がった。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CLUEとCLEVAでの利用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Xu et al. (2020). CLUE: A Chinese Language Understanding Evaluation Benchmark. COLING, pp.4762–4772.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https://aclanthology.org/2020.coling-main.419/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追加の公開実例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データの読み方と評価値</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追加の公開実例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実例4：服に残る素朴さ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474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4747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当然，他自己的</a:t>
            </a:r>
            <a:r>
              <a:rPr sz="1500" b="1" lang="ja-JP" altLang="en-US">
                <a:solidFill>
                  <a:srgbClr val="2C9100"/>
                </a:solidFill>
                <a:latin typeface="Noto Sans"/>
                <a:ea typeface="Noto Sans CJK JP"/>
                <a:cs typeface="Noto Sans"/>
              </a:rPr>
              <a:t>衣服</a:t>
            </a:r>
            <a:r>
              <a:rPr sz="1500" b="0" lang="ja-JP" altLang="en-US">
                <a:solidFill>
                  <a:srgbClr val="303437"/>
                </a:solidFill>
                <a:latin typeface="Noto Sans"/>
                <a:ea typeface="Noto Sans CJK JP"/>
                <a:cs typeface="Noto Sans"/>
              </a:rPr>
              <a:t>还是老模样。一身家织的老粗布，尽管金波妈给他裁剪成制服式样，但仍然不能掩饰</a:t>
            </a:r>
            <a:r>
              <a:rPr sz="1500" b="1" lang="ja-JP" altLang="en-US">
                <a:solidFill>
                  <a:srgbClr val="2166AC"/>
                </a:solidFill>
                <a:latin typeface="Noto Sans"/>
                <a:ea typeface="Noto Sans CJK JP"/>
                <a:cs typeface="Noto Sans"/>
              </a:rPr>
              <a:t>它</a:t>
            </a:r>
            <a:r>
              <a:rPr sz="1500" b="0" lang="ja-JP" altLang="en-US">
                <a:solidFill>
                  <a:srgbClr val="303437"/>
                </a:solidFill>
                <a:latin typeface="Noto Sans"/>
                <a:ea typeface="Noto Sans CJK JP"/>
                <a:cs typeface="Noto Sans"/>
              </a:rPr>
              <a:t>本质上的土气。</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候选名词：衣服</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指定代词：它</a:t>
            </a:r>
          </a:p>
        </p:txBody>
      </p:sp>
      <p:sp>
        <p:nvSpPr>
          <p:cNvPr id="7" name="TextBox 6"/>
          <p:cNvSpPr txBox="1"/>
          <p:nvPr/>
        </p:nvSpPr>
        <p:spPr>
          <a:xfrm>
            <a:off x="4206240" y="1508760"/>
            <a:ext cx="43891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206240" y="1719072"/>
            <a:ext cx="4389120" cy="1430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もちろん、自分の服は相変わらずだった。自家製の粗い布の服を金波の母が制服の形に仕立てても、その本来の田舎くささは隠せなかった。</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候補の名詞句：服</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指定された代名詞：その</a:t>
            </a:r>
          </a:p>
        </p:txBody>
      </p:sp>
      <p:sp>
        <p:nvSpPr>
          <p:cNvPr id="9" name="TextBox 8"/>
          <p:cNvSpPr txBox="1"/>
          <p:nvPr/>
        </p:nvSpPr>
        <p:spPr>
          <a:xfrm>
            <a:off x="594360" y="3437805"/>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正解：true（同じ対象）</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実例5：崩れそうでも残る橋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474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474720" cy="1430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村里现在最高寿的人，也不知这</a:t>
            </a:r>
            <a:r>
              <a:rPr sz="1500" b="1" lang="ja-JP" altLang="en-US">
                <a:solidFill>
                  <a:srgbClr val="2C9100"/>
                </a:solidFill>
                <a:latin typeface="Noto Sans"/>
                <a:ea typeface="Noto Sans CJK JP"/>
                <a:cs typeface="Noto Sans"/>
              </a:rPr>
              <a:t>小桥</a:t>
            </a:r>
            <a:r>
              <a:rPr sz="1500" b="0" lang="ja-JP" altLang="en-US">
                <a:solidFill>
                  <a:srgbClr val="303437"/>
                </a:solidFill>
                <a:latin typeface="Noto Sans"/>
                <a:ea typeface="Noto Sans CJK JP"/>
                <a:cs typeface="Noto Sans"/>
              </a:rPr>
              <a:t>是什么年间建造的。</a:t>
            </a:r>
            <a:r>
              <a:rPr sz="1500" b="1" lang="ja-JP" altLang="en-US">
                <a:solidFill>
                  <a:srgbClr val="2166AC"/>
                </a:solidFill>
                <a:latin typeface="Noto Sans"/>
                <a:ea typeface="Noto Sans CJK JP"/>
                <a:cs typeface="Noto Sans"/>
              </a:rPr>
              <a:t>它</a:t>
            </a:r>
            <a:r>
              <a:rPr sz="1500" b="0" lang="ja-JP" altLang="en-US">
                <a:solidFill>
                  <a:srgbClr val="303437"/>
                </a:solidFill>
                <a:latin typeface="Noto Sans"/>
                <a:ea typeface="Noto Sans CJK JP"/>
                <a:cs typeface="Noto Sans"/>
              </a:rPr>
              <a:t>年年摇摇欲坠，但年年都存在着。</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候选名词：小桥</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指定代词：它</a:t>
            </a:r>
          </a:p>
        </p:txBody>
      </p:sp>
      <p:sp>
        <p:nvSpPr>
          <p:cNvPr id="7" name="TextBox 6"/>
          <p:cNvSpPr txBox="1"/>
          <p:nvPr/>
        </p:nvSpPr>
        <p:spPr>
          <a:xfrm>
            <a:off x="4206240" y="1508760"/>
            <a:ext cx="43891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206240" y="1719072"/>
            <a:ext cx="4389120" cy="1430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村でいちばん長生きしている人にも、この小さな橋がいつ架けられたのか分からない。それは毎年崩れそうになりながら、毎年そこにある。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候補の名詞句：小さな橋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指定された代名詞：それ</a:t>
            </a:r>
          </a:p>
        </p:txBody>
      </p:sp>
      <p:sp>
        <p:nvSpPr>
          <p:cNvPr id="9" name="TextBox 8"/>
          <p:cNvSpPr txBox="1"/>
          <p:nvPr/>
        </p:nvSpPr>
        <p:spPr>
          <a:xfrm>
            <a:off x="594360" y="3226138"/>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正解：true（同じ対象）</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実例6：繰り返される男女の代名詞</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474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4747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810"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只要</a:t>
            </a:r>
            <a:r>
              <a:rPr sz="1500" b="1" lang="ja-JP" altLang="en-US">
                <a:solidFill>
                  <a:srgbClr val="2C9100"/>
                </a:solidFill>
                <a:latin typeface="Noto Sans"/>
                <a:ea typeface="Noto Sans CJK JP"/>
                <a:cs typeface="Noto Sans"/>
              </a:rPr>
              <a:t>孙少平</a:t>
            </a:r>
            <a:r>
              <a:rPr sz="1500" b="0" lang="ja-JP" altLang="en-US">
                <a:solidFill>
                  <a:srgbClr val="303437"/>
                </a:solidFill>
                <a:latin typeface="Noto Sans"/>
                <a:ea typeface="Noto Sans CJK JP"/>
                <a:cs typeface="Noto Sans"/>
              </a:rPr>
              <a:t>看过的书，就借给郝红梅看。无论是他给</a:t>
            </a:r>
            <a:r>
              <a:rPr sz="1500" b="1" lang="ja-JP" altLang="en-US">
                <a:solidFill>
                  <a:srgbClr val="2166AC"/>
                </a:solidFill>
                <a:latin typeface="Noto Sans"/>
                <a:ea typeface="Noto Sans CJK JP"/>
                <a:cs typeface="Noto Sans"/>
              </a:rPr>
              <a:t>她</a:t>
            </a:r>
            <a:r>
              <a:rPr sz="1500" b="0" lang="ja-JP" altLang="en-US">
                <a:solidFill>
                  <a:srgbClr val="303437"/>
                </a:solidFill>
                <a:latin typeface="Noto Sans"/>
                <a:ea typeface="Noto Sans CJK JP"/>
                <a:cs typeface="Noto Sans"/>
              </a:rPr>
              <a:t>借书，还是她给他还书，两个人不约而同地都是悄悄进行的。</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候选名词：孙少平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指定代词：她</a:t>
            </a:r>
          </a:p>
        </p:txBody>
      </p:sp>
      <p:sp>
        <p:nvSpPr>
          <p:cNvPr id="7" name="TextBox 6"/>
          <p:cNvSpPr txBox="1"/>
          <p:nvPr/>
        </p:nvSpPr>
        <p:spPr>
          <a:xfrm>
            <a:off x="4206240" y="1508760"/>
            <a:ext cx="43891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206240" y="1719072"/>
            <a:ext cx="43891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810"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孫少平が読んだ本は、どれも郝紅梅にも貸していた。彼が彼女へ本を貸すときも、彼女が彼へ返すときも、二人とも、示し合わせることなく、ひっそりと行っていた。</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候補の名詞句：孫少平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指定された代名詞：彼女</a:t>
            </a:r>
          </a:p>
        </p:txBody>
      </p:sp>
      <p:sp>
        <p:nvSpPr>
          <p:cNvPr id="9" name="TextBox 8"/>
          <p:cNvSpPr txBox="1"/>
          <p:nvPr/>
        </p:nvSpPr>
        <p:spPr>
          <a:xfrm>
            <a:off x="594360" y="3437805"/>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正解：false（同じ対象ではない）</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実例7：発見の経緯を話している父親</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474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4747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1" lang="ja-JP" altLang="en-US">
                <a:solidFill>
                  <a:srgbClr val="2C9100"/>
                </a:solidFill>
                <a:latin typeface="Noto Sans"/>
                <a:ea typeface="Noto Sans CJK JP"/>
                <a:cs typeface="Noto Sans"/>
              </a:rPr>
              <a:t>我父亲</a:t>
            </a:r>
            <a:r>
              <a:rPr sz="1500" b="0" lang="ja-JP" altLang="en-US">
                <a:solidFill>
                  <a:srgbClr val="303437"/>
                </a:solidFill>
                <a:latin typeface="Noto Sans"/>
                <a:ea typeface="Noto Sans CJK JP"/>
                <a:cs typeface="Noto Sans"/>
              </a:rPr>
              <a:t>杨金彪和他的扳道工同事郝强生坐在外面的房间里，那时我父亲只有二十一岁，</a:t>
            </a:r>
            <a:r>
              <a:rPr sz="1500" b="1" lang="ja-JP" altLang="en-US">
                <a:solidFill>
                  <a:srgbClr val="2166AC"/>
                </a:solidFill>
                <a:latin typeface="Noto Sans"/>
                <a:ea typeface="Noto Sans CJK JP"/>
                <a:cs typeface="Noto Sans"/>
              </a:rPr>
              <a:t>他</a:t>
            </a:r>
            <a:r>
              <a:rPr sz="1500" b="0" lang="ja-JP" altLang="en-US">
                <a:solidFill>
                  <a:srgbClr val="303437"/>
                </a:solidFill>
                <a:latin typeface="Noto Sans"/>
                <a:ea typeface="Noto Sans CJK JP"/>
                <a:cs typeface="Noto Sans"/>
              </a:rPr>
              <a:t>擦着脸上的汗水，详细讲述了发现我的经过。</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候选名词：我父亲</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指定代词：他</a:t>
            </a:r>
          </a:p>
        </p:txBody>
      </p:sp>
      <p:sp>
        <p:nvSpPr>
          <p:cNvPr id="7" name="TextBox 6"/>
          <p:cNvSpPr txBox="1"/>
          <p:nvPr/>
        </p:nvSpPr>
        <p:spPr>
          <a:xfrm>
            <a:off x="4206240" y="1508760"/>
            <a:ext cx="43891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206240" y="1719072"/>
            <a:ext cx="43891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父の楊金彪と、転轍係の同僚の郝強生が外側の部屋に座っていた。そのとき父はまだ21歳で、彼は顔の汗を拭きながら、私を見つけた経緯を詳しく話した。</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候補の名詞句：私の父</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指定された代名詞：彼</a:t>
            </a:r>
          </a:p>
        </p:txBody>
      </p:sp>
      <p:sp>
        <p:nvSpPr>
          <p:cNvPr id="9" name="TextBox 8"/>
          <p:cNvSpPr txBox="1"/>
          <p:nvPr/>
        </p:nvSpPr>
        <p:spPr>
          <a:xfrm>
            <a:off x="594360" y="3437805"/>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正解：true（同じ対象）</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実例8：縛り付けたのは、小麦粉の袋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474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4747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他先到街上给祖母买好了</a:t>
            </a:r>
            <a:r>
              <a:rPr sz="1500" b="1" lang="ja-JP" altLang="en-US">
                <a:solidFill>
                  <a:srgbClr val="2C9100"/>
                </a:solidFill>
                <a:latin typeface="Noto Sans"/>
                <a:ea typeface="Noto Sans CJK JP"/>
                <a:cs typeface="Noto Sans"/>
              </a:rPr>
              <a:t>药</a:t>
            </a:r>
            <a:r>
              <a:rPr sz="1500" b="0" lang="ja-JP" altLang="en-US">
                <a:solidFill>
                  <a:srgbClr val="303437"/>
                </a:solidFill>
                <a:latin typeface="Noto Sans"/>
                <a:ea typeface="Noto Sans CJK JP"/>
                <a:cs typeface="Noto Sans"/>
              </a:rPr>
              <a:t>，然后就把那一小袋面粉提到金波的宿舍里。两个人相帮着把</a:t>
            </a:r>
            <a:r>
              <a:rPr sz="1500" b="1" lang="ja-JP" altLang="en-US">
                <a:solidFill>
                  <a:srgbClr val="2166AC"/>
                </a:solidFill>
                <a:latin typeface="Noto Sans"/>
                <a:ea typeface="Noto Sans CJK JP"/>
                <a:cs typeface="Noto Sans"/>
              </a:rPr>
              <a:t>它</a:t>
            </a:r>
            <a:r>
              <a:rPr sz="1500" b="0" lang="ja-JP" altLang="en-US">
                <a:solidFill>
                  <a:srgbClr val="303437"/>
                </a:solidFill>
                <a:latin typeface="Noto Sans"/>
                <a:ea typeface="Noto Sans CJK JP"/>
                <a:cs typeface="Noto Sans"/>
              </a:rPr>
              <a:t>绑在后车座的旁边，就准备一起相跟回家了。</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候选名词：药</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指定代词：它</a:t>
            </a:r>
          </a:p>
        </p:txBody>
      </p:sp>
      <p:sp>
        <p:nvSpPr>
          <p:cNvPr id="7" name="TextBox 6"/>
          <p:cNvSpPr txBox="1"/>
          <p:nvPr/>
        </p:nvSpPr>
        <p:spPr>
          <a:xfrm>
            <a:off x="4206240" y="1508760"/>
            <a:ext cx="43891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206240" y="1719072"/>
            <a:ext cx="43891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彼はまず街で祖母のための薬を買い、それから小さな小麦粉の袋を金波の寮へ持って行った。二人は協力してそれを後部座席の脇へ縛り付け、一緒に家へ帰る準備をした。</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候補の名詞句：薬</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指定された代名詞：それ</a:t>
            </a:r>
          </a:p>
        </p:txBody>
      </p:sp>
      <p:sp>
        <p:nvSpPr>
          <p:cNvPr id="9" name="TextBox 8"/>
          <p:cNvSpPr txBox="1"/>
          <p:nvPr/>
        </p:nvSpPr>
        <p:spPr>
          <a:xfrm>
            <a:off x="594360" y="3437805"/>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正解：false（同じ対象ではない）</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実例9：一人の女性と、女性たちの集団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474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4747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这时候，双水村妇女主任</a:t>
            </a:r>
            <a:r>
              <a:rPr sz="1500" b="1" lang="ja-JP" altLang="en-US">
                <a:solidFill>
                  <a:srgbClr val="2C9100"/>
                </a:solidFill>
                <a:latin typeface="Noto Sans"/>
                <a:ea typeface="Noto Sans CJK JP"/>
                <a:cs typeface="Noto Sans"/>
              </a:rPr>
              <a:t>贺凤英</a:t>
            </a:r>
            <a:r>
              <a:rPr sz="1500" b="0" lang="ja-JP" altLang="en-US">
                <a:solidFill>
                  <a:srgbClr val="303437"/>
                </a:solidFill>
                <a:latin typeface="Noto Sans"/>
                <a:ea typeface="Noto Sans CJK JP"/>
                <a:cs typeface="Noto Sans"/>
              </a:rPr>
              <a:t>，正领着本村和外村的一些“铁姑娘”，忙碌地布置会场。</a:t>
            </a:r>
            <a:r>
              <a:rPr sz="1500" b="1" lang="ja-JP" altLang="en-US">
                <a:solidFill>
                  <a:srgbClr val="2166AC"/>
                </a:solidFill>
                <a:latin typeface="Noto Sans"/>
                <a:ea typeface="Noto Sans CJK JP"/>
                <a:cs typeface="Noto Sans"/>
              </a:rPr>
              <a:t>她们</a:t>
            </a:r>
            <a:r>
              <a:rPr sz="1500" b="0" lang="ja-JP" altLang="en-US">
                <a:solidFill>
                  <a:srgbClr val="303437"/>
                </a:solidFill>
                <a:latin typeface="Noto Sans"/>
                <a:ea typeface="Noto Sans CJK JP"/>
                <a:cs typeface="Noto Sans"/>
              </a:rPr>
              <a:t>把课桌从教室里抬出两张来，拼在一起放到人群面前</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候选名词：贺凤英</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指定代词：她们</a:t>
            </a:r>
          </a:p>
        </p:txBody>
      </p:sp>
      <p:sp>
        <p:nvSpPr>
          <p:cNvPr id="7" name="TextBox 6"/>
          <p:cNvSpPr txBox="1"/>
          <p:nvPr/>
        </p:nvSpPr>
        <p:spPr>
          <a:xfrm>
            <a:off x="4206240" y="1508760"/>
            <a:ext cx="43891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206240" y="1719072"/>
            <a:ext cx="43891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そのとき双水村の女性担当主任の賀鳳英は、村内外の「鉄の娘たち」を率いて、忙しく会場を整えていた。彼女たちは教室から机を二つ運び出し、並べて人々の前へ置いた。</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候補の名詞句：賀鳳英</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指定された代名詞：彼女たち</a:t>
            </a:r>
          </a:p>
        </p:txBody>
      </p:sp>
      <p:sp>
        <p:nvSpPr>
          <p:cNvPr id="9" name="TextBox 8"/>
          <p:cNvSpPr txBox="1"/>
          <p:nvPr/>
        </p:nvSpPr>
        <p:spPr>
          <a:xfrm>
            <a:off x="594360" y="3437805"/>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正解：false（同じ対象ではない）</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実例10：二人の子供をまとめて指す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474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4747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我回来，咱们两个人劳动，一定要把</a:t>
            </a:r>
            <a:r>
              <a:rPr sz="1500" b="1" lang="ja-JP" altLang="en-US">
                <a:solidFill>
                  <a:srgbClr val="2C9100"/>
                </a:solidFill>
                <a:latin typeface="Noto Sans"/>
                <a:ea typeface="Noto Sans CJK JP"/>
                <a:cs typeface="Noto Sans"/>
              </a:rPr>
              <a:t>少平和兰香</a:t>
            </a:r>
            <a:r>
              <a:rPr sz="1500" b="0" lang="ja-JP" altLang="en-US">
                <a:solidFill>
                  <a:srgbClr val="303437"/>
                </a:solidFill>
                <a:latin typeface="Noto Sans"/>
                <a:ea typeface="Noto Sans CJK JP"/>
                <a:cs typeface="Noto Sans"/>
              </a:rPr>
              <a:t>的书供成。只要他两个有本事，能考到哪里，咱们就把</a:t>
            </a:r>
            <a:r>
              <a:rPr sz="1500" b="1" lang="ja-JP" altLang="en-US">
                <a:solidFill>
                  <a:srgbClr val="2166AC"/>
                </a:solidFill>
                <a:latin typeface="Noto Sans"/>
                <a:ea typeface="Noto Sans CJK JP"/>
                <a:cs typeface="Noto Sans"/>
              </a:rPr>
              <a:t>他们</a:t>
            </a:r>
            <a:r>
              <a:rPr sz="1500" b="0" lang="ja-JP" altLang="en-US">
                <a:solidFill>
                  <a:srgbClr val="303437"/>
                </a:solidFill>
                <a:latin typeface="Noto Sans"/>
                <a:ea typeface="Noto Sans CJK JP"/>
                <a:cs typeface="Noto Sans"/>
              </a:rPr>
              <a:t>供到哪里。</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候选名词：少平和兰香</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指定代词：他们</a:t>
            </a:r>
          </a:p>
        </p:txBody>
      </p:sp>
      <p:sp>
        <p:nvSpPr>
          <p:cNvPr id="7" name="TextBox 6"/>
          <p:cNvSpPr txBox="1"/>
          <p:nvPr/>
        </p:nvSpPr>
        <p:spPr>
          <a:xfrm>
            <a:off x="4206240" y="1508760"/>
            <a:ext cx="43891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206240" y="1719072"/>
            <a:ext cx="43891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私が戻ったら二人で働いて、少平と蘭香が学業を終えるまで、必ず支えよう。二人に力があって、どこの学校に受かろうと、私たちは彼らをそこへ通わせよう。</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候補の名詞句：少平と蘭香</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指定された代名詞：彼ら</a:t>
            </a:r>
          </a:p>
        </p:txBody>
      </p:sp>
      <p:sp>
        <p:nvSpPr>
          <p:cNvPr id="9" name="TextBox 8"/>
          <p:cNvSpPr txBox="1"/>
          <p:nvPr/>
        </p:nvSpPr>
        <p:spPr>
          <a:xfrm>
            <a:off x="594360" y="3437805"/>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正解：true（同じ対象）</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実例11：鑑賞する姿勢と、聴こえる音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474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474720" cy="1845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她索性以毒攻毒，干脆用欣赏的</a:t>
            </a:r>
            <a:r>
              <a:rPr sz="1500" b="1" lang="ja-JP" altLang="en-US">
                <a:solidFill>
                  <a:srgbClr val="2C9100"/>
                </a:solidFill>
                <a:latin typeface="Noto Sans"/>
                <a:ea typeface="Noto Sans CJK JP"/>
                <a:cs typeface="Noto Sans"/>
              </a:rPr>
              <a:t>态度</a:t>
            </a:r>
            <a:r>
              <a:rPr sz="1500" b="0" lang="ja-JP" altLang="en-US">
                <a:solidFill>
                  <a:srgbClr val="303437"/>
                </a:solidFill>
                <a:latin typeface="Noto Sans"/>
                <a:ea typeface="Noto Sans CJK JP"/>
                <a:cs typeface="Noto Sans"/>
              </a:rPr>
              <a:t>来感受她所讨厌的风雨声。她把</a:t>
            </a:r>
            <a:r>
              <a:rPr sz="1500" b="1" lang="ja-JP" altLang="en-US">
                <a:solidFill>
                  <a:srgbClr val="2166AC"/>
                </a:solidFill>
                <a:latin typeface="Noto Sans"/>
                <a:ea typeface="Noto Sans CJK JP"/>
                <a:cs typeface="Noto Sans"/>
              </a:rPr>
              <a:t>它</a:t>
            </a:r>
            <a:r>
              <a:rPr sz="1500" b="0" lang="ja-JP" altLang="en-US">
                <a:solidFill>
                  <a:srgbClr val="303437"/>
                </a:solidFill>
                <a:latin typeface="Noto Sans"/>
                <a:ea typeface="Noto Sans CJK JP"/>
                <a:cs typeface="Noto Sans"/>
              </a:rPr>
              <a:t>想象成那些迷人的小夜曲，或者庞大的层次复杂的交响乐，企图在这种“陶醉”中入睡。</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候选名词：态度</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指定代词：它</a:t>
            </a:r>
          </a:p>
        </p:txBody>
      </p:sp>
      <p:sp>
        <p:nvSpPr>
          <p:cNvPr id="7" name="TextBox 6"/>
          <p:cNvSpPr txBox="1"/>
          <p:nvPr/>
        </p:nvSpPr>
        <p:spPr>
          <a:xfrm>
            <a:off x="4206240" y="1508760"/>
            <a:ext cx="43891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206240" y="1719072"/>
            <a:ext cx="4389120" cy="1845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彼女はいっそ毒をもって毒を制そうと、嫌いだった風雨の音を楽しむ姿勢で聴くことにした。彼女はそれを魅力的な小夜曲や、壮大で複雑な構成の交響曲に見立て、その「陶酔」の中で眠ろうとした。</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候補の名詞句：姿勢</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指定された代名詞：それ</a:t>
            </a:r>
          </a:p>
        </p:txBody>
      </p:sp>
      <p:sp>
        <p:nvSpPr>
          <p:cNvPr id="9" name="TextBox 8"/>
          <p:cNvSpPr txBox="1"/>
          <p:nvPr/>
        </p:nvSpPr>
        <p:spPr>
          <a:xfrm>
            <a:off x="594360" y="3641005"/>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正解：false（同じ対象ではない）</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実例12：一家を、複数の人として受ける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474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474720" cy="1430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1" lang="ja-JP" altLang="en-US">
                <a:solidFill>
                  <a:srgbClr val="2C9100"/>
                </a:solidFill>
                <a:latin typeface="Noto Sans"/>
                <a:ea typeface="Noto Sans CJK JP"/>
                <a:cs typeface="Noto Sans"/>
              </a:rPr>
              <a:t>老张一家</a:t>
            </a:r>
            <a:r>
              <a:rPr sz="1500" b="0" lang="ja-JP" altLang="en-US">
                <a:solidFill>
                  <a:srgbClr val="303437"/>
                </a:solidFill>
                <a:latin typeface="Noto Sans"/>
                <a:ea typeface="Noto Sans CJK JP"/>
                <a:cs typeface="Noto Sans"/>
              </a:rPr>
              <a:t>十分厚道，都说怎能收高老师的钱呢？房子他尽管住；娃娃放下，</a:t>
            </a:r>
            <a:r>
              <a:rPr sz="1500" b="1" lang="ja-JP" altLang="en-US">
                <a:solidFill>
                  <a:srgbClr val="2166AC"/>
                </a:solidFill>
                <a:latin typeface="Noto Sans"/>
                <a:ea typeface="Noto Sans CJK JP"/>
                <a:cs typeface="Noto Sans"/>
              </a:rPr>
              <a:t>他们</a:t>
            </a:r>
            <a:r>
              <a:rPr sz="1500" b="0" lang="ja-JP" altLang="en-US">
                <a:solidFill>
                  <a:srgbClr val="303437"/>
                </a:solidFill>
                <a:latin typeface="Noto Sans"/>
                <a:ea typeface="Noto Sans CJK JP"/>
                <a:cs typeface="Noto Sans"/>
              </a:rPr>
              <a:t>尽力照顾。</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候选名词：老张一家</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指定代词：他们</a:t>
            </a:r>
          </a:p>
        </p:txBody>
      </p:sp>
      <p:sp>
        <p:nvSpPr>
          <p:cNvPr id="7" name="TextBox 6"/>
          <p:cNvSpPr txBox="1"/>
          <p:nvPr/>
        </p:nvSpPr>
        <p:spPr>
          <a:xfrm>
            <a:off x="4206240" y="1508760"/>
            <a:ext cx="43891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206240" y="1719072"/>
            <a:ext cx="43891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張さん一家はとても親切で、高先生からお金など取れるものかと皆が言った。家には自由に住んでもらえばよい。子供を預ければ、彼らが精いっぱい面倒を見る。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候補の名詞句：張さん一家</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指定された代名詞：彼ら</a:t>
            </a:r>
          </a:p>
        </p:txBody>
      </p:sp>
      <p:sp>
        <p:nvSpPr>
          <p:cNvPr id="9" name="TextBox 8"/>
          <p:cNvSpPr txBox="1"/>
          <p:nvPr/>
        </p:nvSpPr>
        <p:spPr>
          <a:xfrm>
            <a:off x="594360" y="3437805"/>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正解：true（同じ対象）</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実例13：「其」が指す、拾ったボトル</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緑：候補の名詞句／青：指定された代名詞</a:t>
            </a:r>
          </a:p>
        </p:txBody>
      </p:sp>
      <p:sp>
        <p:nvSpPr>
          <p:cNvPr id="5" name="TextBox 4"/>
          <p:cNvSpPr txBox="1"/>
          <p:nvPr/>
        </p:nvSpPr>
        <p:spPr>
          <a:xfrm>
            <a:off x="548640" y="1508760"/>
            <a:ext cx="3474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中国語：文章全文と指定された語句</a:t>
            </a:r>
          </a:p>
        </p:txBody>
      </p:sp>
      <p:sp>
        <p:nvSpPr>
          <p:cNvPr id="6" name="quote-frame"/>
          <p:cNvSpPr/>
          <p:nvPr/>
        </p:nvSpPr>
        <p:spPr>
          <a:xfrm>
            <a:off x="548640" y="1719072"/>
            <a:ext cx="34747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记得在十年前的沙依横布拉克牧场，塑料袋之类的东西更少见，偶尔在河边捡到一个从上游漂来的</a:t>
            </a:r>
            <a:r>
              <a:rPr sz="1500" b="1" lang="ja-JP" altLang="en-US">
                <a:solidFill>
                  <a:srgbClr val="2C9100"/>
                </a:solidFill>
                <a:latin typeface="Noto Sans"/>
                <a:ea typeface="Noto Sans CJK JP"/>
                <a:cs typeface="Noto Sans"/>
              </a:rPr>
              <a:t>塑料瓶</a:t>
            </a:r>
            <a:r>
              <a:rPr sz="1500" b="0" lang="ja-JP" altLang="en-US">
                <a:solidFill>
                  <a:srgbClr val="303437"/>
                </a:solidFill>
                <a:latin typeface="Noto Sans"/>
                <a:ea typeface="Noto Sans CJK JP"/>
                <a:cs typeface="Noto Sans"/>
              </a:rPr>
              <a:t>都会心花怒放，将</a:t>
            </a:r>
            <a:r>
              <a:rPr sz="1500" b="1" lang="ja-JP" altLang="en-US">
                <a:solidFill>
                  <a:srgbClr val="2166AC"/>
                </a:solidFill>
                <a:latin typeface="Noto Sans"/>
                <a:ea typeface="Noto Sans CJK JP"/>
                <a:cs typeface="Noto Sans"/>
              </a:rPr>
              <a:t>其</a:t>
            </a:r>
            <a:r>
              <a:rPr sz="1500" b="0" lang="ja-JP" altLang="en-US">
                <a:solidFill>
                  <a:srgbClr val="303437"/>
                </a:solidFill>
                <a:latin typeface="Noto Sans"/>
                <a:ea typeface="Noto Sans CJK JP"/>
                <a:cs typeface="Noto Sans"/>
              </a:rPr>
              <a:t>大派用场。</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候选名词：塑料瓶</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指定代词：其</a:t>
            </a:r>
          </a:p>
        </p:txBody>
      </p:sp>
      <p:sp>
        <p:nvSpPr>
          <p:cNvPr id="7" name="TextBox 6"/>
          <p:cNvSpPr txBox="1"/>
          <p:nvPr/>
        </p:nvSpPr>
        <p:spPr>
          <a:xfrm>
            <a:off x="4206240" y="1508760"/>
            <a:ext cx="43891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日本語訳：全文と指定された語句</a:t>
            </a:r>
          </a:p>
        </p:txBody>
      </p:sp>
      <p:sp>
        <p:nvSpPr>
          <p:cNvPr id="8" name="quote-frame"/>
          <p:cNvSpPr/>
          <p:nvPr/>
        </p:nvSpPr>
        <p:spPr>
          <a:xfrm>
            <a:off x="4206240" y="1719072"/>
            <a:ext cx="4389120" cy="1845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3472"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10年前の沙依横布拉克牧場では、ビニール袋のような物はさらに珍しかった。上流から流れてきたプラスチック製のボトルを川岸でたまたま拾うだけでも大喜びし、それを大いに活用したのを覚えている。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候補の名詞句：プラスチック製のボトル</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指定された代名詞：それ</a:t>
            </a:r>
          </a:p>
        </p:txBody>
      </p:sp>
      <p:sp>
        <p:nvSpPr>
          <p:cNvPr id="9" name="TextBox 8"/>
          <p:cNvSpPr txBox="1"/>
          <p:nvPr/>
        </p:nvSpPr>
        <p:spPr>
          <a:xfrm>
            <a:off x="594360" y="3641005"/>
            <a:ext cx="7955279" cy="33832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正解：true（同じ対象）</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実例ごとの判定の手掛かり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graphicFrame>
        <p:nvGraphicFramePr>
          <p:cNvPr id="4" name="Table 3"/>
          <p:cNvGraphicFramePr>
            <a:graphicFrameLocks noGrp="1"/>
          </p:cNvGraphicFramePr>
          <p:nvPr/>
        </p:nvGraphicFramePr>
        <p:xfrm>
          <a:off x="548640" y="1508760"/>
          <a:ext cx="8046720" cy="2382519"/>
        </p:xfrm>
        <a:graphic>
          <a:graphicData uri="http://schemas.openxmlformats.org/drawingml/2006/table">
            <a:tbl>
              <a:tblPr firstRow="0" bandRow="0"/>
              <a:tblGrid>
                <a:gridCol w="594360"/>
                <a:gridCol w="7452360"/>
              </a:tblGrid>
              <a:tr h="340677">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説明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40677">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すくい上げて冷ます対象は、煮汁の中にできた塊。動作と対象の関係を読む。</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67055">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自宅に招いたのは同業者で、招かれたのはドイツへ行った准教授。「他」は准教授を指す。</a:t>
                      </a:r>
                    </a:p>
                  </a:txBody>
                  <a:tcPr marL="63500" marR="63500" marT="38100" marB="38100" anchor="ctr">
                    <a:lnL w="7620">
                      <a:noFill/>
                    </a:lnL>
                    <a:lnR w="7620">
                      <a:noFill/>
                    </a:lnR>
                    <a:lnT w="7620">
                      <a:noFill/>
                    </a:lnT>
                    <a:lnB w="7620">
                      <a:noFill/>
                    </a:lnB>
                    <a:solidFill>
                      <a:srgbClr val="FFFEF8"/>
                    </a:solidFill>
                  </a:tcPr>
                </a:tc>
              </a:tr>
              <a:tr h="567055">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鳴る物と利用停止の説明は携帯電話を指す。指定された候補はベッドなのでfalse。</a:t>
                      </a:r>
                    </a:p>
                  </a:txBody>
                  <a:tcPr marL="63500" marR="63500" marT="38100" marB="38100" anchor="ctr">
                    <a:lnL w="7620">
                      <a:noFill/>
                    </a:lnL>
                    <a:lnR w="7620">
                      <a:noFill/>
                    </a:lnR>
                    <a:lnT w="7620">
                      <a:noFill/>
                    </a:lnT>
                    <a:lnB w="7620">
                      <a:noFill/>
                    </a:lnB>
                    <a:solidFill>
                      <a:srgbClr val="FFFEF8"/>
                    </a:solidFill>
                  </a:tcPr>
                </a:tc>
              </a:tr>
              <a:tr h="567055">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田舎くさい性質が残る対象は服。「它」は物を表す代名詞。</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82719"/>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 test update 2021-08-29.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実例ごとの判定の手掛かり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graphicFrame>
        <p:nvGraphicFramePr>
          <p:cNvPr id="4" name="Table 3"/>
          <p:cNvGraphicFramePr>
            <a:graphicFrameLocks noGrp="1"/>
          </p:cNvGraphicFramePr>
          <p:nvPr/>
        </p:nvGraphicFramePr>
        <p:xfrm>
          <a:off x="548640" y="1508760"/>
          <a:ext cx="8046720" cy="1703385"/>
        </p:xfrm>
        <a:graphic>
          <a:graphicData uri="http://schemas.openxmlformats.org/drawingml/2006/table">
            <a:tbl>
              <a:tblPr firstRow="0" bandRow="0"/>
              <a:tblGrid>
                <a:gridCol w="594360"/>
                <a:gridCol w="7452360"/>
              </a:tblGrid>
              <a:tr h="340677">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説明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40677">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建造年代の話から、毎年残っている橋の状態へつながる。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40677">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指定位置の她は郝紅梅を指す。候補の孫少平とは同じ人物ではない。</a:t>
                      </a:r>
                    </a:p>
                  </a:txBody>
                  <a:tcPr marL="63500" marR="63500" marT="38100" marB="38100" anchor="ctr">
                    <a:lnL w="7620">
                      <a:noFill/>
                    </a:lnL>
                    <a:lnR w="7620">
                      <a:noFill/>
                    </a:lnR>
                    <a:lnT w="7620">
                      <a:noFill/>
                    </a:lnT>
                    <a:lnB w="7620">
                      <a:noFill/>
                    </a:lnB>
                    <a:solidFill>
                      <a:srgbClr val="FFFEF8"/>
                    </a:solidFill>
                  </a:tcPr>
                </a:tc>
              </a:tr>
              <a:tr h="340677">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年齢の説明の後、父親が発見の経緯を話す。「他」は父親を指す。</a:t>
                      </a:r>
                    </a:p>
                  </a:txBody>
                  <a:tcPr marL="63500" marR="63500" marT="38100" marB="38100" anchor="ctr">
                    <a:lnL w="7620">
                      <a:noFill/>
                    </a:lnL>
                    <a:lnR w="7620">
                      <a:noFill/>
                    </a:lnR>
                    <a:lnT w="7620">
                      <a:noFill/>
                    </a:lnT>
                    <a:lnB w="7620">
                      <a:noFill/>
                    </a:lnB>
                    <a:solidFill>
                      <a:srgbClr val="FFFEF8"/>
                    </a:solidFill>
                  </a:tcPr>
                </a:tc>
              </a:tr>
              <a:tr h="340677">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縛り付けた対象は小麦粉の袋。先に登場した薬を選ぶ判定はfalse。</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03587"/>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 test update 2021-08-29.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実例ごとの判定の手掛かり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graphicFrame>
        <p:nvGraphicFramePr>
          <p:cNvPr id="4" name="Table 3"/>
          <p:cNvGraphicFramePr>
            <a:graphicFrameLocks noGrp="1"/>
          </p:cNvGraphicFramePr>
          <p:nvPr/>
        </p:nvGraphicFramePr>
        <p:xfrm>
          <a:off x="548640" y="1508760"/>
          <a:ext cx="8046720" cy="2496818"/>
        </p:xfrm>
        <a:graphic>
          <a:graphicData uri="http://schemas.openxmlformats.org/drawingml/2006/table">
            <a:tbl>
              <a:tblPr firstRow="0" bandRow="0"/>
              <a:tblGrid>
                <a:gridCol w="594360"/>
                <a:gridCol w="7452360"/>
              </a:tblGrid>
              <a:tr h="340677">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説明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40677">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代名詞は複数の女性を表す。指定された一人の主任だけとの同一指示はfalse。</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40677">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二人を並べた名詞句を、複数代名詞で受けている。</a:t>
                      </a:r>
                    </a:p>
                  </a:txBody>
                  <a:tcPr marL="63500" marR="63500" marT="38100" marB="38100" anchor="ctr">
                    <a:lnL w="7620">
                      <a:noFill/>
                    </a:lnL>
                    <a:lnR w="7620">
                      <a:noFill/>
                    </a:lnR>
                    <a:lnT w="7620">
                      <a:noFill/>
                    </a:lnT>
                    <a:lnB w="7620">
                      <a:noFill/>
                    </a:lnB>
                    <a:solidFill>
                      <a:srgbClr val="FFFEF8"/>
                    </a:solidFill>
                  </a:tcPr>
                </a:tc>
              </a:tr>
              <a:tr h="567055">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11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音楽に見立てる対象は風雨の音。音を聴く姿勢そのものを指しているのではない。</a:t>
                      </a:r>
                    </a:p>
                  </a:txBody>
                  <a:tcPr marL="63500" marR="63500" marT="38100" marB="38100" anchor="ctr">
                    <a:lnL w="7620">
                      <a:noFill/>
                    </a:lnL>
                    <a:lnR w="7620">
                      <a:noFill/>
                    </a:lnR>
                    <a:lnT w="7620">
                      <a:noFill/>
                    </a:lnT>
                    <a:lnB w="7620">
                      <a:noFill/>
                    </a:lnB>
                    <a:solidFill>
                      <a:srgbClr val="FFFEF8"/>
                    </a:solidFill>
                  </a:tcPr>
                </a:tc>
              </a:tr>
              <a:tr h="340677">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12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一家という集団名を、その家族の人々を表す他们で受ける。</a:t>
                      </a:r>
                    </a:p>
                  </a:txBody>
                  <a:tcPr marL="63500" marR="63500" marT="38100" marB="38100" anchor="ctr">
                    <a:lnL w="7620">
                      <a:noFill/>
                    </a:lnL>
                    <a:lnR w="7620">
                      <a:noFill/>
                    </a:lnR>
                    <a:lnT w="7620">
                      <a:noFill/>
                    </a:lnT>
                    <a:lnB w="7620">
                      <a:noFill/>
                    </a:lnB>
                    <a:solidFill>
                      <a:srgbClr val="FFFEF8"/>
                    </a:solidFill>
                  </a:tcPr>
                </a:tc>
              </a:tr>
              <a:tr h="567055">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13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其は拾ったボトルを指す。先に出た牧場や袋ではなく、直前に拾った物を受ける。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97019"/>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 test update 2021-08-29.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データの読み方と評価値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データの読み方と評価値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同じ文章で、候補を変えると正解も変わる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データの読み方と評価値</a:t>
            </a:r>
          </a:p>
        </p:txBody>
      </p:sp>
      <p:graphicFrame>
        <p:nvGraphicFramePr>
          <p:cNvPr id="4" name="Table 3"/>
          <p:cNvGraphicFramePr>
            <a:graphicFrameLocks noGrp="1"/>
          </p:cNvGraphicFramePr>
          <p:nvPr/>
        </p:nvGraphicFramePr>
        <p:xfrm>
          <a:off x="548640" y="1508760"/>
          <a:ext cx="8046720" cy="2175510"/>
        </p:xfrm>
        <a:graphic>
          <a:graphicData uri="http://schemas.openxmlformats.org/drawingml/2006/table">
            <a:tbl>
              <a:tblPr firstRow="0" bandRow="0"/>
              <a:tblGrid>
                <a:gridCol w="2103120"/>
                <a:gridCol w="2286000"/>
                <a:gridCol w="1828800"/>
                <a:gridCol w="1828800"/>
              </a:tblGrid>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文章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span1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span2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label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実例2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蒋盈波</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他</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false</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実例2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同行</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他</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false</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実例2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副教授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他</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true</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実例1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块状物</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它们</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true</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実例1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汤</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它们</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false</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75710"/>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実例2では「准教授」、実例1では「块状物」を候補にするとtrueになる。候補の名詞句も、問題を構成する入力の一部。</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 test update 2021-08-29.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指定箇所は、文字位置と語句で表す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targetは、名詞句と代名詞それぞれの文字位置と語句を持つ。span1_indexとspan2_indexは、文章の先頭を0とする文字位置。</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同じ代名詞が文中に繰り返されても、この位置によって、どの箇所が判定対象かが分かる。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候補の名詞句が代名詞より後ろにある問題も含む。前後の文脈を読み、指定された二箇所の関係を判断する。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データの読み方と評価値</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 test update 2021-08-29.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正式論文で報告された9モデルの精度</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データの読み方と評価値</a:t>
            </a:r>
          </a:p>
        </p:txBody>
      </p:sp>
      <p:graphicFrame>
        <p:nvGraphicFramePr>
          <p:cNvPr id="4" name="Table 3"/>
          <p:cNvGraphicFramePr>
            <a:graphicFrameLocks noGrp="1"/>
          </p:cNvGraphicFramePr>
          <p:nvPr/>
        </p:nvGraphicFramePr>
        <p:xfrm>
          <a:off x="548640" y="1508760"/>
          <a:ext cx="8046720" cy="2175510"/>
        </p:xfrm>
        <a:graphic>
          <a:graphicData uri="http://schemas.openxmlformats.org/drawingml/2006/table">
            <a:tbl>
              <a:tblPr firstRow="0" bandRow="0"/>
              <a:tblGrid>
                <a:gridCol w="5760720"/>
                <a:gridCol w="2286000"/>
              </a:tblGrid>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test正答率（％）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BERT-base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63.45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BERT-wwm-ext-base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62.41</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ALBERT-tiny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63.38</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ALBERT-xxlarge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61.54</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ERNIE-base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63.44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75710"/>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2020年のテスト290問に対する正答率。3回の微調整から、開発成績が最良のモデルを選択。</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Xu et al. (2020). CLUE: A Chinese Language Understanding Evaluation Benchmark. COLING, pp.4762–4772.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https://aclanthology.org/2020.coling-main.419/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正式論文で報告された9モデルの精度</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データの読み方と評価値</a:t>
            </a:r>
          </a:p>
        </p:txBody>
      </p:sp>
      <p:graphicFrame>
        <p:nvGraphicFramePr>
          <p:cNvPr id="4" name="Table 3"/>
          <p:cNvGraphicFramePr>
            <a:graphicFrameLocks noGrp="1"/>
          </p:cNvGraphicFramePr>
          <p:nvPr/>
        </p:nvGraphicFramePr>
        <p:xfrm>
          <a:off x="548640" y="1508760"/>
          <a:ext cx="8046720" cy="1812925"/>
        </p:xfrm>
        <a:graphic>
          <a:graphicData uri="http://schemas.openxmlformats.org/drawingml/2006/table">
            <a:tbl>
              <a:tblPr firstRow="0" bandRow="0"/>
              <a:tblGrid>
                <a:gridCol w="5760720"/>
                <a:gridCol w="2286000"/>
              </a:tblGrid>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test正答率（％）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XLNet-mid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61.04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RoBERTa-large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62.44</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RoBERTa-wwm-ext-base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72.07</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RoBERTa-wwm-ext-large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81.38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13125"/>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2020年のテスト290問に対する正答率。3回の微調整から、開発成績が最良のモデルを選択。</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Xu et al. (2020). CLUE: A Chinese Language Understanding Evaluation Benchmark. COLING, pp.4762–4772.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https://aclanthology.org/2020.coling-main.419/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学習データの一問を読み込む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データの読み方と評価値</a:t>
            </a:r>
          </a:p>
        </p:txBody>
      </p:sp>
      <p:sp>
        <p:nvSpPr>
          <p:cNvPr id="4" name="code-frame"/>
          <p:cNvSpPr/>
          <p:nvPr/>
        </p:nvSpPr>
        <p:spPr>
          <a:xfrm>
            <a:off x="548640" y="1536192"/>
            <a:ext cx="8046720" cy="167335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54525" bIns="127000">
            <a:noAutofit/>
          </a:bodyPr>
          <a:lstStyle/>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Liberation Mono"/>
                <a:ea typeface="Noto Sans CJK JP"/>
                <a:cs typeface="Liberation Mono"/>
              </a:rPr>
              <a:t>import json</a:t>
            </a:r>
          </a:p>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Liberation Mono"/>
                <a:ea typeface="Noto Sans CJK JP"/>
                <a:cs typeface="Liberation Mono"/>
              </a:rPr>
              <a:t>with open('train.json', encoding='utf-8') as f:</a:t>
            </a:r>
          </a:p>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Liberation Mono"/>
                <a:ea typeface="Noto Sans CJK JP"/>
                <a:cs typeface="Liberation Mono"/>
              </a:rPr>
              <a:t>    row = json.loads(next(f))</a:t>
            </a:r>
          </a:p>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Liberation Mono"/>
                <a:ea typeface="Noto Sans CJK JP"/>
                <a:cs typeface="Liberation Mono"/>
              </a:rPr>
              <a:t>print(row['text'])</a:t>
            </a:r>
          </a:p>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Liberation Mono"/>
                <a:ea typeface="Noto Sans CJK JP"/>
                <a:cs typeface="Liberation Mono"/>
              </a:rPr>
              <a:t>target = row['target']</a:t>
            </a:r>
          </a:p>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Liberation Mono"/>
                <a:ea typeface="Noto Sans CJK JP"/>
                <a:cs typeface="Liberation Mono"/>
              </a:rPr>
              <a:t>print(target['span1_text'], target['span2_text'])</a:t>
            </a:r>
          </a:p>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Liberation Mono"/>
                <a:ea typeface="Noto Sans CJK JP"/>
                <a:cs typeface="Liberation Mono"/>
              </a:rPr>
              <a:t>print(row['label'])</a:t>
            </a:r>
          </a:p>
        </p:txBody>
      </p:sp>
      <p:sp>
        <p:nvSpPr>
          <p:cNvPr id="5" name="TextBox 4"/>
          <p:cNvSpPr txBox="1"/>
          <p:nvPr/>
        </p:nvSpPr>
        <p:spPr>
          <a:xfrm>
            <a:off x="594360" y="3429000"/>
            <a:ext cx="7955279" cy="54610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拡張子は.jsonだが、中身は1行1問のJSON。文章・二つの指定語句・正解を読み出せる。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CLUEWSC2020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https://storage.googleapis.com/cluebenchmark/tasks/cluewsc2020_public.zip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中国語の言語理解を、共通の基盤で測る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CLUEチームは、Liang Xu、Hai Hu、Xuanwei Zhangらによる共同プロジェクト。COLING 2020では9種類の中国語理解課題と事前学習モデルの比較を示した。</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CLUEWSC2020はそのうち、指定された代名詞の指示対象を判定する課題。英語中心の評価基盤を補い、中国語の自然な文脈で理解を測る位置付けを持つ。</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元WSCの発想、CLUEでの中国語データ整備、CLEVAでの言語モデル評価という、異なる段階の取り組みがつながっている。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Xu et al. (2020). CLUE: A Chinese Language Understanding Evaluation Benchmark. COLING, pp.4762–4772.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https://aclanthology.org/2020.coling-main.419/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325880"/>
            <a:ext cx="8046720" cy="585216"/>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CLUE: A Chinese Language Understanding Evaluation Benchmark</a:t>
            </a:r>
          </a:p>
        </p:txBody>
      </p:sp>
      <p:sp>
        <p:nvSpPr>
          <p:cNvPr id="5" name="TextBox 4"/>
          <p:cNvSpPr txBox="1"/>
          <p:nvPr/>
        </p:nvSpPr>
        <p:spPr>
          <a:xfrm>
            <a:off x="548640" y="195681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Liang Xu et al. · 2020 · COLING, pp.4762–4772</a:t>
            </a:r>
          </a:p>
        </p:txBody>
      </p:sp>
      <p:sp>
        <p:nvSpPr>
          <p:cNvPr id="6" name="TextBox 5"/>
          <p:cNvSpPr txBox="1"/>
          <p:nvPr/>
        </p:nvSpPr>
        <p:spPr>
          <a:xfrm>
            <a:off x="548640" y="2240280"/>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中国語9課題を整備。CLUEWSC2020の収集・分割と、モデルおよび人手の評価を報告する。</a:t>
            </a:r>
          </a:p>
        </p:txBody>
      </p:sp>
      <p:sp>
        <p:nvSpPr>
          <p:cNvPr id="7" name="TextBox 6"/>
          <p:cNvSpPr txBox="1"/>
          <p:nvPr/>
        </p:nvSpPr>
        <p:spPr>
          <a:xfrm>
            <a:off x="548640" y="2752344"/>
            <a:ext cx="8046720" cy="228600"/>
          </a:xfrm>
          <a:prstGeom prst="rect">
            <a:avLst/>
          </a:prstGeom>
          <a:noFill/>
        </p:spPr>
        <p:txBody>
          <a:bodyPr wrap="square" lIns="0" rIns="0" tIns="0" bIns="0">
            <a:noAutofit/>
          </a:bodyPr>
          <a:lstStyle/>
          <a:p>
            <a:pPr algn="l">
              <a:lnSpc>
                <a:spcPts val="1263"/>
              </a:lnSpc>
              <a:spcBef>
                <a:spcPts val="0"/>
              </a:spcBef>
              <a:spcAft>
                <a:spcPts val="0"/>
              </a:spcAft>
              <a:buNone/>
              <a:defRPr sz="1080" b="0">
                <a:solidFill>
                  <a:srgbClr val="303437"/>
                </a:solidFill>
                <a:latin typeface="Noto Sans"/>
              </a:defRPr>
            </a:pPr>
            <a:r>
              <a:rPr sz="1080" b="0" lang="ja-JP" altLang="en-US">
                <a:solidFill>
                  <a:srgbClr val="2166AC"/>
                </a:solidFill>
                <a:latin typeface="Noto Sans"/>
                <a:ea typeface="Noto Sans CJK JP"/>
                <a:cs typeface="Noto Sans"/>
                <a:hlinkClick r:id="rId2"/>
              </a:rPr>
              <a:t>https://aclanthology.org/2020.coling-main.419/</a:t>
            </a:r>
          </a:p>
        </p:txBody>
      </p:sp>
      <p:sp>
        <p:nvSpPr>
          <p:cNvPr id="8" name="TextBox 7"/>
          <p:cNvSpPr txBox="1"/>
          <p:nvPr/>
        </p:nvSpPr>
        <p:spPr>
          <a:xfrm>
            <a:off x="548640" y="3063239"/>
            <a:ext cx="8046720" cy="585216"/>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The Winograd Schema Challenge</a:t>
            </a:r>
          </a:p>
        </p:txBody>
      </p:sp>
      <p:sp>
        <p:nvSpPr>
          <p:cNvPr id="9" name="TextBox 8"/>
          <p:cNvSpPr txBox="1"/>
          <p:nvPr/>
        </p:nvSpPr>
        <p:spPr>
          <a:xfrm>
            <a:off x="548640" y="369417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Hector J. Levesque, Ernest Davis, Leora Morgenstern · 2012 · KR</a:t>
            </a:r>
          </a:p>
        </p:txBody>
      </p:sp>
      <p:sp>
        <p:nvSpPr>
          <p:cNvPr id="10" name="TextBox 9"/>
          <p:cNvSpPr txBox="1"/>
          <p:nvPr/>
        </p:nvSpPr>
        <p:spPr>
          <a:xfrm>
            <a:off x="548640" y="3977639"/>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代名詞の解釈に常識を要する問題を提案。少数の語の変更で指示対象が変わる文の対を論じる。</a:t>
            </a:r>
          </a:p>
        </p:txBody>
      </p:sp>
      <p:sp>
        <p:nvSpPr>
          <p:cNvPr id="11" name="TextBox 10"/>
          <p:cNvSpPr txBox="1"/>
          <p:nvPr/>
        </p:nvSpPr>
        <p:spPr>
          <a:xfrm>
            <a:off x="548640" y="4489704"/>
            <a:ext cx="8046720" cy="228600"/>
          </a:xfrm>
          <a:prstGeom prst="rect">
            <a:avLst/>
          </a:prstGeom>
          <a:noFill/>
        </p:spPr>
        <p:txBody>
          <a:bodyPr wrap="square" lIns="0" rIns="0" tIns="0" bIns="0">
            <a:noAutofit/>
          </a:bodyPr>
          <a:lstStyle/>
          <a:p>
            <a:pPr algn="l">
              <a:lnSpc>
                <a:spcPts val="1263"/>
              </a:lnSpc>
              <a:spcBef>
                <a:spcPts val="0"/>
              </a:spcBef>
              <a:spcAft>
                <a:spcPts val="0"/>
              </a:spcAft>
              <a:buNone/>
              <a:defRPr sz="1080" b="0">
                <a:solidFill>
                  <a:srgbClr val="303437"/>
                </a:solidFill>
                <a:latin typeface="Noto Sans"/>
              </a:defRPr>
            </a:pPr>
            <a:r>
              <a:rPr sz="1080" b="0" lang="ja-JP" altLang="en-US">
                <a:solidFill>
                  <a:srgbClr val="2166AC"/>
                </a:solidFill>
                <a:latin typeface="Noto Sans"/>
                <a:ea typeface="Noto Sans CJK JP"/>
                <a:cs typeface="Noto Sans"/>
                <a:hlinkClick r:id="rId3"/>
              </a:rPr>
              <a:t>https://cdn.aaai.org/ocs/4492/4492-21843-1-PB.pdf</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325880"/>
            <a:ext cx="8046720" cy="585216"/>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CLUEWSC2020: WSC Winograd模式挑战中文版，中文指代消解任务</a:t>
            </a:r>
          </a:p>
        </p:txBody>
      </p:sp>
      <p:sp>
        <p:nvSpPr>
          <p:cNvPr id="5" name="TextBox 4"/>
          <p:cNvSpPr txBox="1"/>
          <p:nvPr/>
        </p:nvSpPr>
        <p:spPr>
          <a:xfrm>
            <a:off x="548640" y="195681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CLUE team · 2020 · Official task repository</a:t>
            </a:r>
          </a:p>
        </p:txBody>
      </p:sp>
      <p:sp>
        <p:nvSpPr>
          <p:cNvPr id="6" name="TextBox 5"/>
          <p:cNvSpPr txBox="1"/>
          <p:nvPr/>
        </p:nvSpPr>
        <p:spPr>
          <a:xfrm>
            <a:off x="548640" y="2240280"/>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中国語文学作品からの収集、二値ラベル、指定spanの形式、配布先を説明する。</a:t>
            </a:r>
          </a:p>
        </p:txBody>
      </p:sp>
      <p:sp>
        <p:nvSpPr>
          <p:cNvPr id="7" name="TextBox 6"/>
          <p:cNvSpPr txBox="1"/>
          <p:nvPr/>
        </p:nvSpPr>
        <p:spPr>
          <a:xfrm>
            <a:off x="548640" y="2752344"/>
            <a:ext cx="8046720" cy="228600"/>
          </a:xfrm>
          <a:prstGeom prst="rect">
            <a:avLst/>
          </a:prstGeom>
          <a:noFill/>
        </p:spPr>
        <p:txBody>
          <a:bodyPr wrap="square" lIns="0" rIns="0" tIns="0" bIns="0">
            <a:noAutofit/>
          </a:bodyPr>
          <a:lstStyle/>
          <a:p>
            <a:pPr algn="l">
              <a:lnSpc>
                <a:spcPts val="1263"/>
              </a:lnSpc>
              <a:spcBef>
                <a:spcPts val="0"/>
              </a:spcBef>
              <a:spcAft>
                <a:spcPts val="0"/>
              </a:spcAft>
              <a:buNone/>
              <a:defRPr sz="1080" b="0">
                <a:solidFill>
                  <a:srgbClr val="303437"/>
                </a:solidFill>
                <a:latin typeface="Noto Sans"/>
              </a:defRPr>
            </a:pPr>
            <a:r>
              <a:rPr sz="1080" b="0" lang="ja-JP" altLang="en-US">
                <a:solidFill>
                  <a:srgbClr val="2166AC"/>
                </a:solidFill>
                <a:latin typeface="Noto Sans"/>
                <a:ea typeface="Noto Sans CJK JP"/>
                <a:cs typeface="Noto Sans"/>
                <a:hlinkClick r:id="rId2"/>
              </a:rPr>
              <a:t>https://github.com/CLUEbenchmark/CLUEWSC2020</a:t>
            </a:r>
          </a:p>
        </p:txBody>
      </p:sp>
      <p:sp>
        <p:nvSpPr>
          <p:cNvPr id="8" name="TextBox 7"/>
          <p:cNvSpPr txBox="1"/>
          <p:nvPr/>
        </p:nvSpPr>
        <p:spPr>
          <a:xfrm>
            <a:off x="548640" y="3063239"/>
            <a:ext cx="8046720" cy="585216"/>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CLUEWSC2020 public data: test version 1.1 / 1.0</a:t>
            </a:r>
          </a:p>
        </p:txBody>
      </p:sp>
      <p:sp>
        <p:nvSpPr>
          <p:cNvPr id="9" name="TextBox 8"/>
          <p:cNvSpPr txBox="1"/>
          <p:nvPr/>
        </p:nvSpPr>
        <p:spPr>
          <a:xfrm>
            <a:off x="548640" y="369417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CLUEbenchmark · README 2021-08-29 · Public ZIP</a:t>
            </a:r>
          </a:p>
        </p:txBody>
      </p:sp>
      <p:sp>
        <p:nvSpPr>
          <p:cNvPr id="10" name="TextBox 9"/>
          <p:cNvSpPr txBox="1"/>
          <p:nvPr/>
        </p:nvSpPr>
        <p:spPr>
          <a:xfrm>
            <a:off x="548640" y="3977639"/>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学習・開発と新旧テストを配布。旧テストを残し、新testへの切替えを説明する。</a:t>
            </a:r>
          </a:p>
        </p:txBody>
      </p:sp>
      <p:sp>
        <p:nvSpPr>
          <p:cNvPr id="11" name="TextBox 10"/>
          <p:cNvSpPr txBox="1"/>
          <p:nvPr/>
        </p:nvSpPr>
        <p:spPr>
          <a:xfrm>
            <a:off x="548640" y="4489704"/>
            <a:ext cx="8046720" cy="228600"/>
          </a:xfrm>
          <a:prstGeom prst="rect">
            <a:avLst/>
          </a:prstGeom>
          <a:noFill/>
        </p:spPr>
        <p:txBody>
          <a:bodyPr wrap="square" lIns="0" rIns="0" tIns="0" bIns="0">
            <a:noAutofit/>
          </a:bodyPr>
          <a:lstStyle/>
          <a:p>
            <a:pPr algn="l">
              <a:lnSpc>
                <a:spcPts val="1263"/>
              </a:lnSpc>
              <a:spcBef>
                <a:spcPts val="0"/>
              </a:spcBef>
              <a:spcAft>
                <a:spcPts val="0"/>
              </a:spcAft>
              <a:buNone/>
              <a:defRPr sz="1080" b="0">
                <a:solidFill>
                  <a:srgbClr val="303437"/>
                </a:solidFill>
                <a:latin typeface="Noto Sans"/>
              </a:defRPr>
            </a:pPr>
            <a:r>
              <a:rPr sz="1080" b="0" lang="ja-JP" altLang="en-US">
                <a:solidFill>
                  <a:srgbClr val="2166AC"/>
                </a:solidFill>
                <a:latin typeface="Noto Sans"/>
                <a:ea typeface="Noto Sans CJK JP"/>
                <a:cs typeface="Noto Sans"/>
                <a:hlinkClick r:id="rId3"/>
              </a:rPr>
              <a:t>https://storage.googleapis.com/cluebenchmark/tasks/cluewsc2020_public.zip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325880"/>
            <a:ext cx="8046720" cy="585216"/>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CLEVA: Chinese Language Models EVAluation Platform</a:t>
            </a:r>
          </a:p>
        </p:txBody>
      </p:sp>
      <p:sp>
        <p:nvSpPr>
          <p:cNvPr id="5" name="TextBox 4"/>
          <p:cNvSpPr txBox="1"/>
          <p:nvPr/>
        </p:nvSpPr>
        <p:spPr>
          <a:xfrm>
            <a:off x="548640" y="195681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Li et al. · 2023 · EMNLP System Demonstrations</a:t>
            </a:r>
          </a:p>
        </p:txBody>
      </p:sp>
      <p:sp>
        <p:nvSpPr>
          <p:cNvPr id="6" name="TextBox 5"/>
          <p:cNvSpPr txBox="1"/>
          <p:nvPr/>
        </p:nvSpPr>
        <p:spPr>
          <a:xfrm>
            <a:off x="548640" y="2240280"/>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中国語モデルの多面的評価基盤。付録B.1.1でCLUEWSCの採用と共参照例を示す。</a:t>
            </a:r>
          </a:p>
        </p:txBody>
      </p:sp>
      <p:sp>
        <p:nvSpPr>
          <p:cNvPr id="7" name="TextBox 6"/>
          <p:cNvSpPr txBox="1"/>
          <p:nvPr/>
        </p:nvSpPr>
        <p:spPr>
          <a:xfrm>
            <a:off x="548640" y="2752344"/>
            <a:ext cx="8046720" cy="228600"/>
          </a:xfrm>
          <a:prstGeom prst="rect">
            <a:avLst/>
          </a:prstGeom>
          <a:noFill/>
        </p:spPr>
        <p:txBody>
          <a:bodyPr wrap="square" lIns="0" rIns="0" tIns="0" bIns="0">
            <a:noAutofit/>
          </a:bodyPr>
          <a:lstStyle/>
          <a:p>
            <a:pPr algn="l">
              <a:lnSpc>
                <a:spcPts val="1263"/>
              </a:lnSpc>
              <a:spcBef>
                <a:spcPts val="0"/>
              </a:spcBef>
              <a:spcAft>
                <a:spcPts val="0"/>
              </a:spcAft>
              <a:buNone/>
              <a:defRPr sz="1080" b="0">
                <a:solidFill>
                  <a:srgbClr val="303437"/>
                </a:solidFill>
                <a:latin typeface="Noto Sans"/>
              </a:defRPr>
            </a:pPr>
            <a:r>
              <a:rPr sz="1080" b="0" lang="ja-JP" altLang="en-US">
                <a:solidFill>
                  <a:srgbClr val="2166AC"/>
                </a:solidFill>
                <a:latin typeface="Noto Sans"/>
                <a:ea typeface="Noto Sans CJK JP"/>
                <a:cs typeface="Noto Sans"/>
                <a:hlinkClick r:id="rId2"/>
              </a:rPr>
              <a:t>https://aclanthology.org/2023.emnlp-demo.17/</a:t>
            </a:r>
          </a:p>
        </p:txBody>
      </p:sp>
      <p:sp>
        <p:nvSpPr>
          <p:cNvPr id="8" name="TextBox 7"/>
          <p:cNvSpPr txBox="1"/>
          <p:nvPr/>
        </p:nvSpPr>
        <p:spPr>
          <a:xfrm>
            <a:off x="548640" y="3063239"/>
            <a:ext cx="8046720" cy="585216"/>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CLEVACoreferenceResolutionScenario and Converter</a:t>
            </a:r>
          </a:p>
        </p:txBody>
      </p:sp>
      <p:sp>
        <p:nvSpPr>
          <p:cNvPr id="9" name="TextBox 8"/>
          <p:cNvSpPr txBox="1"/>
          <p:nvPr/>
        </p:nvSpPr>
        <p:spPr>
          <a:xfrm>
            <a:off x="548640" y="369417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Stanford CRFM · 2023 · HELM v0.4.0 implementation</a:t>
            </a:r>
          </a:p>
        </p:txBody>
      </p:sp>
      <p:sp>
        <p:nvSpPr>
          <p:cNvPr id="10" name="TextBox 9"/>
          <p:cNvSpPr txBox="1"/>
          <p:nvPr/>
        </p:nvSpPr>
        <p:spPr>
          <a:xfrm>
            <a:off x="548640" y="3977639"/>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テンプレートから入力と参照を作る。塊と代名詞の一致を問う中国語の例を含む。</a:t>
            </a:r>
          </a:p>
        </p:txBody>
      </p:sp>
      <p:sp>
        <p:nvSpPr>
          <p:cNvPr id="11" name="TextBox 10"/>
          <p:cNvSpPr txBox="1"/>
          <p:nvPr/>
        </p:nvSpPr>
        <p:spPr>
          <a:xfrm>
            <a:off x="548640" y="4489704"/>
            <a:ext cx="8046720" cy="228600"/>
          </a:xfrm>
          <a:prstGeom prst="rect">
            <a:avLst/>
          </a:prstGeom>
          <a:noFill/>
        </p:spPr>
        <p:txBody>
          <a:bodyPr wrap="square" lIns="0" rIns="0" tIns="0" bIns="0">
            <a:noAutofit/>
          </a:bodyPr>
          <a:lstStyle/>
          <a:p>
            <a:pPr algn="l">
              <a:lnSpc>
                <a:spcPts val="1263"/>
              </a:lnSpc>
              <a:spcBef>
                <a:spcPts val="0"/>
              </a:spcBef>
              <a:spcAft>
                <a:spcPts val="0"/>
              </a:spcAft>
              <a:buNone/>
              <a:defRPr sz="1080" b="0">
                <a:solidFill>
                  <a:srgbClr val="303437"/>
                </a:solidFill>
                <a:latin typeface="Noto Sans"/>
              </a:defRPr>
            </a:pPr>
            <a:r>
              <a:rPr sz="1080" b="0" lang="ja-JP" altLang="en-US">
                <a:solidFill>
                  <a:srgbClr val="2166AC"/>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2026-10-18T10:03:17Z</dcterms:modified>
  <dc:title>cluewsc2020</dc:title>
  <dc:creator>sasakiy84</dc:creator>
  <dcterms:created xsi:type="dcterms:W3CDTF">2026-10-18T10:03:17Z</dcterms:created>
  <dc:language>ja-JP</dc:language>
</cp:coreProperties>
</file>