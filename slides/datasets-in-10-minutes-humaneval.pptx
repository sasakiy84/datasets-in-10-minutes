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Sheet1!$A$2:$A$6</c:f>
              <c:strCache>
                <c:ptCount val="5"/>
                <c:pt idx="0">
                  <c:v>0–249</c:v>
                </c:pt>
                <c:pt idx="1">
                  <c:v>250–499</c:v>
                </c:pt>
                <c:pt idx="2">
                  <c:v>500–749</c:v>
                </c:pt>
                <c:pt idx="3">
                  <c:v>750–999</c:v>
                </c:pt>
                <c:pt idx="4">
                  <c:v>1,000以上</c:v>
                </c:pt>
              </c:strCache>
            </c:strRef>
          </c:cat>
          <c:val>
            <c:numRef>
              <c:f>Sheet1!$B$2:$B$6</c:f>
              <c:numCache>
                <c:formatCode>General</c:formatCode>
                <c:ptCount val="5"/>
                <c:pt idx="0">
                  <c:v>31</c:v>
                </c:pt>
                <c:pt idx="1">
                  <c:v>86</c:v>
                </c:pt>
                <c:pt idx="2">
                  <c:v>27</c:v>
                </c:pt>
                <c:pt idx="3">
                  <c:v>14</c:v>
                </c:pt>
                <c:pt idx="4">
                  <c:v>6</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openai/human-ev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human-eval/blob/b9453e8/human_eval/evaluation.p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7.0337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7.0337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9.1218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 Id="rId3" Type="http://schemas.openxmlformats.org/officeDocument/2006/relationships/hyperlink" Target="https://arxiv.org/abs/2305.0121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human-eval/blob/b9453e8/data/HumanEval.jsonl.gz"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5.0121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valplus/evalplus" TargetMode="External"/><Relationship Id="rId3" Type="http://schemas.openxmlformats.org/officeDocument/2006/relationships/hyperlink" Target="https://arxiv.org/abs/2310.0677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human-eva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openai/human-eval/blob/b9453e8/data/HumanEval.jsonl.gz"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human-eval/blob/b9453e8/data/HumanEval.jsonl.gz"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7.03374"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7.03374" TargetMode="External"/><Relationship Id="rId3" Type="http://schemas.openxmlformats.org/officeDocument/2006/relationships/hyperlink" Target="https://arxiv.org/abs/2409.12186"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5.0121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0.06770" TargetMode="External"/><Relationship Id="rId3" Type="http://schemas.openxmlformats.org/officeDocument/2006/relationships/hyperlink" Target="https://github.com/evalplus/evalplu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39190"/>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HumanEval</a:t>
            </a:r>
          </a:p>
        </p:txBody>
      </p:sp>
      <p:sp>
        <p:nvSpPr>
          <p:cNvPr id="3" name="Subtitle 2"/>
          <p:cNvSpPr>
            <a:spLocks noGrp="1"/>
          </p:cNvSpPr>
          <p:nvPr>
            <p:ph type="subTitle" idx="1"/>
          </p:nvPr>
        </p:nvSpPr>
        <p:spPr>
          <a:xfrm>
            <a:off x="548640" y="2448840"/>
            <a:ext cx="8046720" cy="1386840"/>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Hand-Written Evaluation Set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仕様を読み、実行テストを通る
Python関数を生成する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HumanEvalの公式リポジトリ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pic>
        <p:nvPicPr>
          <p:cNvPr id="4" name="Picture 3" descr="official-site.png"/>
          <p:cNvPicPr>
            <a:picLocks noChangeAspect="1"/>
          </p:cNvPicPr>
          <p:nvPr/>
        </p:nvPicPr>
        <p:blipFill>
          <a:blip r:embed="rId2"/>
          <a:stretch>
            <a:fillRect/>
          </a:stretch>
        </p:blipFill>
        <p:spPr>
          <a:xfrm>
            <a:off x="1328569" y="1481328"/>
            <a:ext cx="6486861"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 Hand-Written Evaluation Set. 改訂b9453e8、2026-10-17参照。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https://github.com/openai/human-eval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関数を完成させる課題と実例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実行テストとpass@kの読み方</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問題の作成とデータの構成</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テストの拡充と現在の利用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関数を完成させる課題と実例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関数の仕様を読み、処理の本体を生成する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HumanEvalは、人が作成した164問のPython関数の完成課題である。OpenAIが2021年に公開した。</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関数名、引数、型注釈、英語の仕様文、入出力例などが入力となる。モデルはその続きを生成して関数を完成させる。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生成した関数を実行し、各問に付属するテストを全て通るかで判定する。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入力・参照実装・テストを別々に持つ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graphicFrame>
        <p:nvGraphicFramePr>
          <p:cNvPr id="4" name="Table 3"/>
          <p:cNvGraphicFramePr>
            <a:graphicFrameLocks noGrp="1"/>
          </p:cNvGraphicFramePr>
          <p:nvPr/>
        </p:nvGraphicFramePr>
        <p:xfrm>
          <a:off x="548640" y="1508760"/>
          <a:ext cx="8046720" cy="2148840"/>
        </p:xfrm>
        <a:graphic>
          <a:graphicData uri="http://schemas.openxmlformats.org/drawingml/2006/table">
            <a:tbl>
              <a:tblPr firstRow="0" bandRow="0"/>
              <a:tblGrid>
                <a:gridCol w="3108960"/>
                <a:gridCol w="4937760"/>
              </a:tblGrid>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prompt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モデルに渡す関数の冒頭と仕様</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canonical_solution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配布された参照実装</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正しさを判定するテストコード</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entry_point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評価する関数の名前</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実例1：数値の近さを判定する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858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Check if in given list of numbers, are any two numbers closer to each other than given threshold.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HumanEval/0。入出力例は日本語訳とともに掲載。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数値のリストに、差の絶対値がしきい値より小さい2要素があればTrueを返す。しきい値と等しい差は条件を満たさない。</a:t>
            </a:r>
          </a:p>
        </p:txBody>
      </p:sp>
      <p:sp>
        <p:nvSpPr>
          <p:cNvPr id="5" name="code-frame"/>
          <p:cNvSpPr/>
          <p:nvPr/>
        </p:nvSpPr>
        <p:spPr>
          <a:xfrm>
            <a:off x="548640" y="2314448"/>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has_close_elements([1.0, 2.0, 3.0], 0.5)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False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has_close_elements(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[1.0, 2.8, 3.0, 4.0, 5.0, 2.0], 0.3)</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True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HumanEval/0。#以降は期待する返り値。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実例2：括弧のまとまりを分ける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Input to this function is a string containing multiple groups of nested parentheses. Your goal is to separate those group into separate strings and return the list of those. Separate groups are balanced (each open brace is properly closed) and not nested within each other Ignore any spaces in the input string.</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94360" y="1508760"/>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空白を無視して括弧列を読み、各グループを文字列に分け、そのリストを返す。各グループの括弧は対応して閉じており、グループ同士は入れ子にならない。</a:t>
            </a:r>
          </a:p>
        </p:txBody>
      </p:sp>
      <p:sp>
        <p:nvSpPr>
          <p:cNvPr id="5" name="code-frame"/>
          <p:cNvSpPr/>
          <p:nvPr/>
        </p:nvSpPr>
        <p:spPr>
          <a:xfrm>
            <a:off x="548640" y="261670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separate_paren_groups('( ) (( )) (( )(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 '(())', '(()())']</a:t>
            </a:r>
          </a:p>
        </p:txBody>
      </p:sp>
      <p:sp>
        <p:nvSpPr>
          <p:cNvPr id="6" name="TextBox 5"/>
          <p:cNvSpPr txBox="1"/>
          <p:nvPr/>
        </p:nvSpPr>
        <p:spPr>
          <a:xfrm>
            <a:off x="594360" y="3579368"/>
            <a:ext cx="7955279" cy="629158"/>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開き括弧で深さを増やし、閉じ括弧で減らす。深さが0に戻るたびに1グループを確定する。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実例3：途中の残高を調べる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You're given a list of deposit and withdrawal operations on a bank account that starts with zero balance. Your task is to detect if at any point the balance of account fallls below zero, and at that point function should return True. Otherwise it should return False.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HumanEval/3。入出力例は日本語訳とともに掲載。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残高0から入出金のリストを順に適用する。途中で一度でも残高が負になればTrue、ならなければFalseを返す。</a:t>
            </a:r>
          </a:p>
        </p:txBody>
      </p:sp>
      <p:sp>
        <p:nvSpPr>
          <p:cNvPr id="5" name="code-frame"/>
          <p:cNvSpPr/>
          <p:nvPr/>
        </p:nvSpPr>
        <p:spPr>
          <a:xfrm>
            <a:off x="548640" y="231444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below_zero([1, 2, 3])</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False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below_zero([1, 2, -4, 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True</a:t>
            </a:r>
          </a:p>
        </p:txBody>
      </p:sp>
      <p:sp>
        <p:nvSpPr>
          <p:cNvPr id="6" name="TextBox 5"/>
          <p:cNvSpPr txBox="1"/>
          <p:nvPr/>
        </p:nvSpPr>
        <p:spPr>
          <a:xfrm>
            <a:off x="594360" y="3821175"/>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最終残高だけでなく、更新のたびに負になったかを判定する。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HumanEval/3。#以降は期待する返り値。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しきい値「未満」と「以下」では答えが変わる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2971800"/>
                <a:gridCol w="1828800"/>
                <a:gridCol w="1463040"/>
                <a:gridCol w="17830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差の絶対値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しきい値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返り値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 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True</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 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False</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HumanEval/0の仕様に基づく境界の例。差がしきい値と等しいときはFalse。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最終残高が正でも、途中で負ならTrueとなる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関数を完成させる課題と実例</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5303520"/>
                <a:gridCol w="27432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適用した入出金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その時点の残高</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開始前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48327"/>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HumanEval/3の入力[1, 2, −4, 5]。残高が−1になった時点でTrueを返す。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実行テストとpass@kの読み方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1候補の正しさは、全テストの通過で判定する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生成した関数を、問題に付属するテストコードへ渡す。全ての検査を通れば、その候補は成功となる。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参照実装との文字列の一致は求めない。同じ入力に対して求められた出力を返す別の実装も正解になる。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構文エラー、実行時エラー、時間切れ、期待値との不一致があれば、その候補は失敗となる。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 evaluation.py.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https://github.com/openai/human-eval/blob/b9453e8/human_eval/evaluation.py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pass@kは、k候補に正解が含まれる確率を表す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同じ問題に対してk個の候補を生成し、少なくとも1個が全テストを通る確率を考える。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各問でn個の候補を生成し、そのうちc個が成功したとき、重複なくk個を選んで全て失敗する確率を用いて推定する。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問題ごとの推定値を平均して、HumanEval全体のpass@kとして報告する。kや生成条件をそろえて値を比較する。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10候補のうち2候補が成功した場合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sp>
        <p:nvSpPr>
          <p:cNvPr id="4" name="TextBox 3"/>
          <p:cNvSpPr txBox="1"/>
          <p:nvPr/>
        </p:nvSpPr>
        <p:spPr>
          <a:xfrm>
            <a:off x="594360" y="1572768"/>
            <a:ext cx="7955279" cy="594360"/>
          </a:xfrm>
          <a:prstGeom prst="rect">
            <a:avLst/>
          </a:prstGeom>
          <a:noFill/>
        </p:spPr>
        <p:txBody>
          <a:bodyPr wrap="square" lIns="0" rIns="0" tIns="0" bIns="0">
            <a:noAutofit/>
          </a:bodyPr>
          <a:lstStyle/>
          <a:p>
            <a:pPr algn="l">
              <a:lnSpc>
                <a:spcPct val="117000"/>
              </a:lnSpc>
              <a:spcBef>
                <a:spcPts val="0"/>
              </a:spcBef>
              <a:spcAft>
                <a:spcPts val="0"/>
              </a:spcAft>
              <a:buNone/>
              <a:defRPr sz="2600" b="0">
                <a:solidFill>
                  <a:srgbClr val="303437"/>
                </a:solidFill>
                <a:latin typeface="Noto Sans"/>
              </a:defRPr>
            </a:pPr>
            <a:r>
              <a:rPr sz="2600" b="1" lang="ja-JP" altLang="en-US">
                <a:solidFill>
                  <a:srgbClr val="303437"/>
                </a:solidFill>
                <a:latin typeface="Noto Sans"/>
                <a:ea typeface="Noto Sans CJK JP"/>
                <a:cs typeface="Noto Sans"/>
              </a:rPr>
              <a:t>pass@k = 1 − C(n−c, k) / C(n, k)</a:t>
            </a:r>
          </a:p>
        </p:txBody>
      </p:sp>
      <p:sp>
        <p:nvSpPr>
          <p:cNvPr id="5" name="TextBox 4"/>
          <p:cNvSpPr txBox="1"/>
          <p:nvPr/>
        </p:nvSpPr>
        <p:spPr>
          <a:xfrm>
            <a:off x="594360" y="2249424"/>
            <a:ext cx="7955279" cy="719836"/>
          </a:xfrm>
          <a:prstGeom prst="rect">
            <a:avLst/>
          </a:prstGeom>
          <a:noFill/>
        </p:spPr>
        <p:txBody>
          <a:bodyPr wrap="square" lIns="0" rIns="0" tIns="0" bIns="0">
            <a:noAutofit/>
          </a:bodyPr>
          <a:lstStyle/>
          <a:p>
            <a:pPr algn="l">
              <a:lnSpc>
                <a:spcPct val="11900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C(a, b)はa個からb個を選ぶ組合せの数。n = 10、c = 2として計算する。</a:t>
            </a:r>
          </a:p>
        </p:txBody>
      </p:sp>
      <p:graphicFrame>
        <p:nvGraphicFramePr>
          <p:cNvPr id="6" name="Table 3"/>
          <p:cNvGraphicFramePr>
            <a:graphicFrameLocks noGrp="1"/>
          </p:cNvGraphicFramePr>
          <p:nvPr/>
        </p:nvGraphicFramePr>
        <p:xfrm>
          <a:off x="548640" y="3163824"/>
          <a:ext cx="8046720" cy="1234440"/>
        </p:xfrm>
        <a:graphic>
          <a:graphicData uri="http://schemas.openxmlformats.org/drawingml/2006/table">
            <a:tbl>
              <a:tblPr firstRow="0" bandRow="0"/>
              <a:tblGrid>
                <a:gridCol w="1097280"/>
                <a:gridCol w="4937760"/>
                <a:gridCol w="2011680"/>
              </a:tblGrid>
              <a:tr h="41148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k</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計算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推定値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1148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1 − 8 / 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1148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1 − 56 / 252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77.8%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 nはk以上とする。k=5は成功候補を選び出す能力の指標ではない。</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2021年：Codex-12Bは候補数で成績が変わる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5394960"/>
                <a:gridCol w="2651760"/>
              </a:tblGrid>
              <a:tr h="47548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28.81%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pass@10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46.81%</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pass@100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72.31%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1188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原著Table 1。各指標には論文が選んだ生成温度を使う。12Bは約120億パラメータ。</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2024年：元のテストと強化版で差が出る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4937760"/>
                <a:gridCol w="1463040"/>
                <a:gridCol w="1645920"/>
              </a:tblGrid>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HumanEval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HumanEval+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Qwen2.5-Coder-32B-Instruct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87.2%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GPT-4o-2024-08-06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86.0%</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Claude-3.5-Sonnet-20241022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1188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Qwen2.5-Coder報告Table 16のpass@1。HumanEval+はテストを拡充した同じ164問。</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Hui et al. (2024). Qwen2.5-Coder Technical Report. arXiv:2409.12186.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https://arxiv.org/abs/2409.12186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高い得点を読むときは、テストの範囲も見る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HumanEvalは、短いPython関数が指定された入力に対して正しく振る舞うかを評価する。テストを通る候補が成功となる。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HumanEval+はテストの入力を増やし、元のテストで見逃した誤りを検出する。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未知の仕様や大きなコードベースを扱う能力は、公開問題の得点だけでは分からない。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実行テストとpass@kの読み方</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Liu et al. (2023). Is Your Code Generated by ChatGPT Really Correct? Rigorous Evaluation of Large Language Models for Code Generation. NeurIPS.</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https://arxiv.org/abs/2305.01210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問題の作成とデータの構成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問題の作成とデータの構成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公開コードの記憶だけに頼らない評価を目指した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原著は、GitHub由来のコードで学習したCodexを評価するため、問題を手作業で新しく作成した。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仕様の読解、推論、アルゴリズム、簡単な数学を必要とする問題を含む。関数の署名とdocstring、参照実装、テストをそろえた。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原著は1問あたり平均7.7件のテストを報告する。モデルが仕様を満たすかを、実際の実行結果で調べる。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問題の作成とデータの構成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公式の問題ファイルは評価用の164問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問題の作成とデータの構成</a:t>
            </a:r>
          </a:p>
        </p:txBody>
      </p:sp>
      <p:graphicFrame>
        <p:nvGraphicFramePr>
          <p:cNvPr id="4" name="Table 3"/>
          <p:cNvGraphicFramePr>
            <a:graphicFrameLocks noGrp="1"/>
          </p:cNvGraphicFramePr>
          <p:nvPr/>
        </p:nvGraphicFramePr>
        <p:xfrm>
          <a:off x="548640" y="1508760"/>
          <a:ext cx="8046720" cy="2194560"/>
        </p:xfrm>
        <a:graphic>
          <a:graphicData uri="http://schemas.openxmlformats.org/drawingml/2006/table">
            <a:tbl>
              <a:tblPr firstRow="0" bandRow="0"/>
              <a:tblGrid>
                <a:gridCol w="3566160"/>
                <a:gridCol w="4480560"/>
              </a:tblGrid>
              <a:tr h="43891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配布内容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164問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識別子</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HumanEval/0〜HumanEval/163</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対象言語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Python</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公式の学習用分割</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用意されていない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promptには補助関数が含まれる問題もある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promptは、関数名や英語の仕様文だけでなく、importや型注釈、入出力例、既存の補助関数を含むことがある。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HumanEval/10では、回文を判定する補助関数is_palindromeが入力に含まれる。生成するmake_palindromeから利用できる。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生成する本体と、もともと入力に含まれるコードを区別すると、モデルが何を完成させるかを把握しやすい。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問題の作成とデータの構成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入力の長さには問題間の幅がある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問題の作成とデータの構成</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2743200"/>
                <a:gridCol w="1554480"/>
                <a:gridCol w="2148840"/>
                <a:gridCol w="16002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対象164問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25〜75%点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promptの文字数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396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288〜567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1,360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promptの行数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文字数は空白・改行を含む。行数はsplitlines()で計測。</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HumanEval.jsonl.gzを164問全件集計。改訂b9453e8。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テストの拡充と現在の利用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HumanEval+は同じ仕様のテストを増やす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EvalPlus（2023）は、元の入力を変形する方法とモデルによる入力生成を組み合わせ、HumanEvalのテストを約80倍に増やした。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人が入力の妥当性や参照実装を点検し、必要な訂正も加えた。新しい関数の仕様を164問追加するものではない。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元のテストで通ったコードの一部が強化版では失敗し、評価値やモデルの順位が変わることを示した。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Liu et al. (2023). Is Your Code Generated by ChatGPT Really Correct? Rigorous Evaluation of Large Language Models for Code Generation. NeurIPS.</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https://arxiv.org/abs/2305.01210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短い関数の評価から、実際の変更課題へ広がる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HumanEvalは、1関数の生成結果を、仕様と実行テストで評価する代表的な基準として使われてきた。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SWE-benchは、実際のGitHubリポジトリの課題を解決する変更を評価する。複数のファイルや既存実装の理解が必要になる。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2026-10-17時点でもEvalPlusはHumanEvalとHumanEval+の評価手順を公開している。元のOpenAIリポジトリは保守終了を明記している。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EvalPlus. EvalPlus: Rigorous Evaluation of LLM-synthesized Code. 改訂26d6d00、2026-10-17参照。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https://github.com/evalplus/evalplus</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Jimenez et al. (2024). SWE-bench: Can Language Models Resolve Real-World GitHub Issues? ICLR.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https://arxiv.org/abs/2310.06770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公式の問題を読み、入力と参照実装を見る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
        <p:nvSpPr>
          <p:cNvPr id="4" name="Rectangle 3"/>
          <p:cNvSpPr/>
          <p:nvPr/>
        </p:nvSpPr>
        <p:spPr>
          <a:xfrm>
            <a:off x="548640" y="1508760"/>
            <a:ext cx="8046720" cy="1968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from human_eval.data import read_problems</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problems = read_problems()</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 = problems["HumanEval/0"]</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print(p["prompt"])</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print(p["canonical_solution"])</a:t>
            </a:r>
          </a:p>
        </p:txBody>
      </p:sp>
      <p:sp>
        <p:nvSpPr>
          <p:cNvPr id="5" name="TextBox 4"/>
          <p:cNvSpPr txBox="1"/>
          <p:nvPr/>
        </p:nvSpPr>
        <p:spPr>
          <a:xfrm>
            <a:off x="594360" y="36784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公式パッケージの読み込み例。配布フィールドを確認するためのコード。</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 Hand-Written Evaluation Set. 改訂b9453e8、2026-10-17参照。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配布物はMIT Licenseで利用できる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公式リポジトリでは、問題ファイルと読み込み・評価コードをMIT Licenseで公開している。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候補は、task_idとcompletionを持つJSON Linesとして保存する。completionにはpromptに続く関数本体を入れる。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公式READMEに従い、生成コードは隔離した環境で実行する。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 Hand-Written Evaluation Set. 改訂b9453e8、2026-10-17参照。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仕様の細部を、実行できる振る舞いに変える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HumanEvalは、英語の仕様や入出力例からPython関数を完成させる、164問の評価データである。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しきい値との等号、途中の状態、空入力など、条件を満たす実装かをテストで判定する。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成績はpass@kの候補数と生成条件をそろえて読み、元のテストか、HumanEval+の強化テストかも確認する。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テストの拡充と現在の利用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69595"/>
            <a:ext cx="8046720" cy="615696"/>
          </a:xfrm>
        </p:spPr>
        <p:txBody>
          <a:bodyPr wrap="square" lIns="0" rIns="0" tIns="0" bIns="0" anchor="ctr">
            <a:noAutofit/>
          </a:bodyPr>
          <a:lstStyle/>
          <a:p>
            <a:pPr algn="ctr">
              <a:lnSpc>
                <a:spcPct val="110000"/>
              </a:lnSpc>
              <a:buNone/>
              <a:defRPr sz="3800" b="0">
                <a:solidFill>
                  <a:srgbClr val="303437"/>
                </a:solidFill>
                <a:latin typeface="Noto Sans"/>
              </a:defRPr>
            </a:pPr>
            <a:r>
              <a:rPr sz="38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仕様の異なる追加10例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入力と参照実装の集計</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仕様の異なる追加10例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追加例1：小数部分を取り出す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Given a positive floating point number, it can be decomposed into and integer part (largest integer smaller than given number) and decimals (leftover part always smaller than 1). Return the decimal part of the number.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HumanEval/2。入出力例は日本語訳とともに掲載。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正の浮動小数点数を受け取り、整数部分を除いた、1未満の小数部分を返す。</a:t>
            </a:r>
          </a:p>
        </p:txBody>
      </p:sp>
      <p:sp>
        <p:nvSpPr>
          <p:cNvPr id="5" name="code-frame"/>
          <p:cNvSpPr/>
          <p:nvPr/>
        </p:nvSpPr>
        <p:spPr>
          <a:xfrm>
            <a:off x="548640" y="231444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truncate_number(3.5)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0.5</a:t>
            </a:r>
          </a:p>
        </p:txBody>
      </p:sp>
      <p:sp>
        <p:nvSpPr>
          <p:cNvPr id="6" name="TextBox 5"/>
          <p:cNvSpPr txBox="1"/>
          <p:nvPr/>
        </p:nvSpPr>
        <p:spPr>
          <a:xfrm>
            <a:off x="594360" y="3277108"/>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配布された参照実装は、1.0で割った余りを返す。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HumanEval/2。#以降は期待する返り値。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追加例2：平均絶対偏差を求める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For a given list of input numbers, calculate Mean Absolute Deviation around the mean of this dataset. Mean Absolute Deviation is the average absolute difference between each element and a centerpoint (mean in this case): MAD = average | x - x_mean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HumanEval/4。入出力例は日本語訳とともに掲載。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数値のリストについて、平均からの平均絶対偏差を求める。各要素と平均との差の絶対値を取り、その平均を返す。</a:t>
            </a:r>
          </a:p>
        </p:txBody>
      </p:sp>
      <p:sp>
        <p:nvSpPr>
          <p:cNvPr id="5" name="code-frame"/>
          <p:cNvSpPr/>
          <p:nvPr/>
        </p:nvSpPr>
        <p:spPr>
          <a:xfrm>
            <a:off x="548640" y="231444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mean_absolute_deviation([1.0, 2.0, 3.0, 4.0])</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1.0</a:t>
            </a:r>
          </a:p>
        </p:txBody>
      </p:sp>
      <p:sp>
        <p:nvSpPr>
          <p:cNvPr id="6" name="TextBox 5"/>
          <p:cNvSpPr txBox="1"/>
          <p:nvPr/>
        </p:nvSpPr>
        <p:spPr>
          <a:xfrm>
            <a:off x="594360" y="3277108"/>
            <a:ext cx="7955279" cy="629158"/>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平均との差の符号を打ち消すため、各差の絶対値を取ってから合計する。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HumanEval/4。#以降は期待する返り値。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追加例3：要素の間に値を挟む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858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Insert a number 'delimeter' between every two consecutive elements of input list `numbers'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HumanEval/5。入出力例は日本語訳とともに掲載。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35712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整数リストの隣り合う要素の間に、指定された整数を挟んで返す。</a:t>
            </a:r>
          </a:p>
        </p:txBody>
      </p:sp>
      <p:sp>
        <p:nvSpPr>
          <p:cNvPr id="5" name="code-frame"/>
          <p:cNvSpPr/>
          <p:nvPr/>
        </p:nvSpPr>
        <p:spPr>
          <a:xfrm>
            <a:off x="548640" y="2012187"/>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intersperse([1, 2, 3], 4)</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 4, 2, 4, 3]</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intersperse([], 4)</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t>
            </a:r>
          </a:p>
        </p:txBody>
      </p:sp>
      <p:sp>
        <p:nvSpPr>
          <p:cNvPr id="6" name="TextBox 5"/>
          <p:cNvSpPr txBox="1"/>
          <p:nvPr/>
        </p:nvSpPr>
        <p:spPr>
          <a:xfrm>
            <a:off x="594360" y="3518916"/>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区切り値を先頭や末尾には加えない。空リストには空リストを返す。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HumanEval/5。#以降は期待する返り値。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追加例4：括弧の最大深さを求める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Input to this function is a string represented multiple groups for nested parentheses separated by spaces. For each of the group, output the deepest level of nesting of parentheses. E.g. (()()) has maximum two levels of nesting while ((())) has three.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HumanEval/6。入出力例は日本語訳とともに掲載。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空白で区切られた括弧の各グループについて、入れ子の最大深さを返す。たとえば(()())は深さ2、((()))は深さ3となる。</a:t>
            </a:r>
          </a:p>
        </p:txBody>
      </p:sp>
      <p:sp>
        <p:nvSpPr>
          <p:cNvPr id="5" name="code-frame"/>
          <p:cNvSpPr/>
          <p:nvPr/>
        </p:nvSpPr>
        <p:spPr>
          <a:xfrm>
            <a:off x="548640" y="2314448"/>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parse_nested_parens(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 ((())) ()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[2, 3, 1, 3]</a:t>
            </a:r>
          </a:p>
        </p:txBody>
      </p:sp>
      <p:sp>
        <p:nvSpPr>
          <p:cNvPr id="6" name="TextBox 5"/>
          <p:cNvSpPr txBox="1"/>
          <p:nvPr/>
        </p:nvSpPr>
        <p:spPr>
          <a:xfrm>
            <a:off x="594360" y="3549142"/>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現在の深さと、そのグループで到達した最大値を別々に保持する。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HumanEval/6。#以降は期待する返り値。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追加例5：部分文字列で絞り込む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858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Filter an input list of strings only for ones that contain given substring</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HumanEval/7。入出力例は日本語訳とともに掲載。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文字列リストから、指定された部分文字列を含む要素だけを元の順に返す。</a:t>
            </a:r>
          </a:p>
        </p:txBody>
      </p:sp>
      <p:sp>
        <p:nvSpPr>
          <p:cNvPr id="5" name="code-frame"/>
          <p:cNvSpPr/>
          <p:nvPr/>
        </p:nvSpPr>
        <p:spPr>
          <a:xfrm>
            <a:off x="548640" y="231444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filter_by_substring(['abc', 'bacd', 'cde', 'array'], 'a')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['abc', 'bacd', 'array']</a:t>
            </a:r>
          </a:p>
        </p:txBody>
      </p:sp>
      <p:sp>
        <p:nvSpPr>
          <p:cNvPr id="6" name="TextBox 5"/>
          <p:cNvSpPr txBox="1"/>
          <p:nvPr/>
        </p:nvSpPr>
        <p:spPr>
          <a:xfrm>
            <a:off x="594360" y="3277108"/>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部分文字列が含まれるかを要素ごとに判定する。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HumanEval/7。#以降は期待する返り値。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追加例6：和と積を同時に返す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For a given list of integers, return a tuple consisting of a sum and a product of all the integers in a list. Empty sum should be equal to 0 and empty product should be equal to 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HumanEval/8。入出力例は日本語訳とともに掲載。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整数リストの全要素の和と積をタプルで返す。空リストの和は0、積は1とする。</a:t>
            </a:r>
          </a:p>
        </p:txBody>
      </p:sp>
      <p:sp>
        <p:nvSpPr>
          <p:cNvPr id="5" name="code-frame"/>
          <p:cNvSpPr/>
          <p:nvPr/>
        </p:nvSpPr>
        <p:spPr>
          <a:xfrm>
            <a:off x="548640" y="231444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sum_product([1, 2, 3, 4])</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(10, 24)</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sum_product([])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(0, 1)</a:t>
            </a:r>
          </a:p>
        </p:txBody>
      </p:sp>
      <p:sp>
        <p:nvSpPr>
          <p:cNvPr id="6" name="TextBox 5"/>
          <p:cNvSpPr txBox="1"/>
          <p:nvPr/>
        </p:nvSpPr>
        <p:spPr>
          <a:xfrm>
            <a:off x="594360" y="3821175"/>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和を0、積を1で初期化すると、空リストも同じ処理で扱える。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HumanEval/8。#以降は期待する返り値。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追加例7：それまでの最大値を返す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858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From a given list of integers, generate a list of rolling maximum element found until given moment in the sequence.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HumanEval/9。入出力例は日本語訳とともに掲載。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整数列を先頭から読み、各位置までに現れた値の最大値をリストにして返す。</a:t>
            </a:r>
          </a:p>
        </p:txBody>
      </p:sp>
      <p:sp>
        <p:nvSpPr>
          <p:cNvPr id="5" name="code-frame"/>
          <p:cNvSpPr/>
          <p:nvPr/>
        </p:nvSpPr>
        <p:spPr>
          <a:xfrm>
            <a:off x="548640" y="231444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rolling_max([1, 2, 3, 2, 3, 4, 2])</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 2, 3, 3, 3, 4, 4]</a:t>
            </a:r>
          </a:p>
        </p:txBody>
      </p:sp>
      <p:sp>
        <p:nvSpPr>
          <p:cNvPr id="6" name="TextBox 5"/>
          <p:cNvSpPr txBox="1"/>
          <p:nvPr/>
        </p:nvSpPr>
        <p:spPr>
          <a:xfrm>
            <a:off x="594360" y="3277108"/>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直前までの最大値と今回の値を比較して更新する。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HumanEval/9。#以降は期待する返り値。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追加例8：最短の回文を作る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Find the shortest palindrome that begins with a supplied string. Algorithm idea is simple: - Find the longest postfix of supplied string that is a palindrome. - Append to the end of the string reverse of a string prefix that comes before the palindromic suffix.</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HumanEval/10。入出力例は日本語訳とともに掲載。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与えられた文字列で始まる最短の回文を返す。末尾側の最長の回文を探し、その前に残った部分を逆順にして末尾へ付ける。</a:t>
            </a:r>
          </a:p>
        </p:txBody>
      </p:sp>
      <p:sp>
        <p:nvSpPr>
          <p:cNvPr id="5" name="code-frame"/>
          <p:cNvSpPr/>
          <p:nvPr/>
        </p:nvSpPr>
        <p:spPr>
          <a:xfrm>
            <a:off x="548640" y="231444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make_palindrome('cat')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'catac'</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make_palindrome('cata')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'catac'</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HumanEval/10。#以降は期待する返り値。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追加例9：ビット列の排他的論理和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Input are two strings a and b consisting only of 1s and 0s. Perform binary XOR on these inputs and return result also as a string.</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HumanEval/11。入出力例は日本語訳とともに掲載。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0と1からなる二つの文字列について、各位置の排他的論理和を文字列で返す。</a:t>
            </a:r>
          </a:p>
        </p:txBody>
      </p:sp>
      <p:sp>
        <p:nvSpPr>
          <p:cNvPr id="5" name="code-frame"/>
          <p:cNvSpPr/>
          <p:nvPr/>
        </p:nvSpPr>
        <p:spPr>
          <a:xfrm>
            <a:off x="548640" y="2314448"/>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string_xor('010', '110')</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'100'</a:t>
            </a:r>
          </a:p>
        </p:txBody>
      </p:sp>
      <p:sp>
        <p:nvSpPr>
          <p:cNvPr id="6" name="TextBox 5"/>
          <p:cNvSpPr txBox="1"/>
          <p:nvPr/>
        </p:nvSpPr>
        <p:spPr>
          <a:xfrm>
            <a:off x="594360" y="3277108"/>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同じ文字同士なら0、異なる文字同士なら1を返す。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HumanEval/11。#以降は期待する返り値。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追加例10：最長の文字列を選ぶ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仕様文の原文（docstringから抜粋）</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Out of list of strings, return the longest one. Return the first one in case of multiple strings of the same length. Return None in case the input list is empty.</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HumanEval/12。入出力例は日本語訳とともに掲載。</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追加例10：日本語訳と入出力例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仕様の異なる追加10例</a:t>
            </a:r>
          </a:p>
        </p:txBody>
      </p:sp>
      <p:sp>
        <p:nvSpPr>
          <p:cNvPr id="4" name="TextBox 3"/>
          <p:cNvSpPr txBox="1"/>
          <p:nvPr/>
        </p:nvSpPr>
        <p:spPr>
          <a:xfrm>
            <a:off x="594360" y="1508760"/>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文字列リストで最も長い要素を返す。同じ長さなら先に現れたものを選び、空リストならNoneを返す。</a:t>
            </a:r>
          </a:p>
        </p:txBody>
      </p:sp>
      <p:sp>
        <p:nvSpPr>
          <p:cNvPr id="5" name="code-frame"/>
          <p:cNvSpPr/>
          <p:nvPr/>
        </p:nvSpPr>
        <p:spPr>
          <a:xfrm>
            <a:off x="548640" y="231444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longest(['a', 'bb', 'cc'])</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'bb'</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longest([])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None</a:t>
            </a:r>
          </a:p>
        </p:txBody>
      </p:sp>
      <p:sp>
        <p:nvSpPr>
          <p:cNvPr id="6" name="TextBox 5"/>
          <p:cNvSpPr txBox="1"/>
          <p:nvPr/>
        </p:nvSpPr>
        <p:spPr>
          <a:xfrm>
            <a:off x="594360" y="3821175"/>
            <a:ext cx="7955279" cy="342011"/>
          </a:xfrm>
          <a:prstGeom prst="rect">
            <a:avLst/>
          </a:prstGeom>
          <a:noFill/>
        </p:spPr>
        <p:txBody>
          <a:bodyPr wrap="square" lIns="0" rIns="0" tIns="0" bIns="0">
            <a:noAutofit/>
          </a:bodyPr>
          <a:lstStyle/>
          <a:p>
            <a:pPr algn="l">
              <a:lnSpc>
                <a:spcPct val="119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最大長を求め、その長さを持つ最初の文字列を返す。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 改訂b9453e8。 HumanEval/12。#以降は期待する返り値。</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入力と参照実装の集計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入力と参照実装の集計</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164問のpromptの文字数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入力と参照実装の集計</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5303520"/>
                <a:gridCol w="2743200"/>
              </a:tblGrid>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450.6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396</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229.6</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25〜75%点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288〜567</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95%点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926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HumanEval.jsonl.gzを164問全件集計。改訂b9453e8。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promptは250〜499文字の問題が最も多い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入力と参照実装の集計</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横軸はpromptの文字数、縦軸は問題数。164問を全件集計。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HumanEval.jsonl.gzを164問全件集計。改訂b9453e8。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https://github.com/openai/human-eval/blob/b9453e8/data/HumanEval.jsonl.gz</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参照実装の長さも問題によって異なる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入力と参照実装の集計</a:t>
            </a:r>
          </a:p>
        </p:txBody>
      </p:sp>
      <p:graphicFrame>
        <p:nvGraphicFramePr>
          <p:cNvPr id="4" name="Table 3"/>
          <p:cNvGraphicFramePr>
            <a:graphicFrameLocks noGrp="1"/>
          </p:cNvGraphicFramePr>
          <p:nvPr/>
        </p:nvGraphicFramePr>
        <p:xfrm>
          <a:off x="548640" y="1508760"/>
          <a:ext cx="8046720" cy="2148840"/>
        </p:xfrm>
        <a:graphic>
          <a:graphicData uri="http://schemas.openxmlformats.org/drawingml/2006/table">
            <a:tbl>
              <a:tblPr firstRow="0" bandRow="0"/>
              <a:tblGrid>
                <a:gridCol w="3657600"/>
                <a:gridCol w="4389120"/>
              </a:tblGrid>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canonical_solutionの行数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25〜75%点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2〜10</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5876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空行を含むsplitlines()の行数。入力に含まれる署名・補助関数は含めない。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HumanEval.jsonl.gzを164問全件集計。改訂b9453e8。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https://github.com/openai/human-eval/blob/b9453e8/data/HumanEval.jsonl.gz</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原著はコード生成モデルと評価方法を提示した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Mark Chen、Jerry TworekらのOpenAIの研究チームが、Codexと、その評価用のHumanEvalを発表した。</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原著は、手書きの問題、実行による正しさの判定、複数候補から成功率を推定するpass@kを組み合わせた。</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後続のEvalPlusはテストを強化し、同じ仕様に対する、より幅広い入力での正しさを調べる。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Chen et al. (2021). Evaluating Large Language Models Trained on Code. arXiv:2107.03374.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https://arxiv.org/abs/2107.03374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Evaluating Large Language Models Trained on Code"/>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Evaluating Large Language Models Trained on Code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Chen et al. (2021). OpenAI. arXiv:2107.03374.</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HumanEval、Codex、実行テスト、pass@kの定義と実験を示した原著。</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https://arxiv.org/abs/2107.03374</a:t>
            </a:r>
          </a:p>
        </p:txBody>
      </p:sp>
      <p:sp>
        <p:nvSpPr>
          <p:cNvPr id="5" name="文献 2: Qwen2.5-Coder Technical Report"/>
          <p:cNvSpPr txBox="1"/>
          <p:nvPr/>
        </p:nvSpPr>
        <p:spPr>
          <a:xfrm>
            <a:off x="548640" y="3131693"/>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Qwen2.5-Coder Technical Report</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Hui et al. (2024). arXiv:2409.12186.</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2024年のコード生成モデルを、HumanEvalとHumanEval+などで比較する。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https://arxiv.org/abs/2409.12186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Is Your Code Generated by ChatGPT Really Correct? Rigorous Evaluation of Large Language Models for Code Generation"/>
          <p:cNvSpPr txBox="1"/>
          <p:nvPr/>
        </p:nvSpPr>
        <p:spPr>
          <a:xfrm>
            <a:off x="548640" y="1463040"/>
            <a:ext cx="8046720" cy="1403731"/>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Is Your Code Generated by ChatGPT Really Correct? Rigorous Evaluation of Large Language Models for Code Generation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Liu, Xia, Wang &amp; Zhang (2023). NeurIPS.</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入力の拡充と参照実装の点検により、既存テストが見逃す誤りを調べる。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https://arxiv.org/abs/2305.01210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SWE-bench: Can Language Models Resolve Real-World GitHub Issues?"/>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SWE-bench: Can Language Models Resolve Real-World GitHub Issues?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Jimenez et al. (2024). ICLR.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関数の単独生成から、実際のリポジトリの課題解決へ評価対象を広げた研究。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https://arxiv.org/abs/2310.06770</a:t>
            </a:r>
          </a:p>
        </p:txBody>
      </p:sp>
      <p:sp>
        <p:nvSpPr>
          <p:cNvPr id="5" name="文献 2: EvalPlus"/>
          <p:cNvSpPr txBox="1"/>
          <p:nvPr/>
        </p:nvSpPr>
        <p:spPr>
          <a:xfrm>
            <a:off x="548640" y="3689096"/>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EvalPlus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EvalPlus (n.d.). 改訂26d6d00。2026-10-17参照。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HumanEval・HumanEval+の評価手順、データと実装を公開する。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https://github.com/evalplus/evalplus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2026-10-17T14:57:11Z</dcterms:modified>
  <dc:title>humaneval</dc:title>
  <dc:creator>sasakiy84</dc:creator>
  <dcterms:created xsi:type="dcterms:W3CDTF">2026-10-17T14:57:11Z</dcterms:created>
  <dc:language>ja-JP</dc:language>
</cp:coreProperties>
</file>