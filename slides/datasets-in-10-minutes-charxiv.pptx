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5サブプロット以上</c:v>
                </c:pt>
                <c:pt idx="1">
                  <c:v>2〜4サブプロット</c:v>
                </c:pt>
                <c:pt idx="2">
                  <c:v>1サブプロット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551</c:v>
                </c:pt>
                <c:pt idx="1">
                  <c:v>876</c:v>
                </c:pt>
                <c:pt idx="2">
                  <c:v>896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GPT案を採用</c:v>
                </c:pt>
                <c:pt idx="1">
                  <c:v>GPT案を修正</c:v>
                </c:pt>
                <c:pt idx="2">
                  <c:v>人が新規作成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448</c:v>
                </c:pt>
                <c:pt idx="1">
                  <c:v>497</c:v>
                </c:pt>
                <c:pt idx="2">
                  <c:v>1378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princeton-nlp/CharXiv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charxiv.github.io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852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852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princeton-nlp/CharXiv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hyperlink" Target="https://arxiv.org/abs/2011.09136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arxiv.org/abs/2002.02837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arxiv.org/abs/2004.03497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princeton-nlp/CharXiv/tree/main/src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8521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model-cards/gemini-3-pro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eepmind.google/models/evals-methodology/gemini-3-pro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8521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8521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inceton-nlp/CharXiv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inceton-nlp/CharXiv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princeton-nlp/CharXiv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princeton-nlp/CharXiv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inceton-nlp/CharXiv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8521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hyperlink" Target="https://arxiv.org/abs/2003.10167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hyperlink" Target="https://arxiv.org/abs/2010.13340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arxiv.org/abs/2012.09115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hyperlink" Target="https://arxiv.org/abs/2008.01498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hyperlink" Target="https://arxiv.org/abs/2007.03069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hyperlink" Target="https://arxiv.org/abs/2005.06239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hyperlink" Target="https://arxiv.org/abs/2010.06417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arxiv.org/abs/2004.05374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hyperlink" Target="https://arxiv.org/abs/2005.13596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hyperlink" Target="https://arxiv.org/abs/2012.06858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blob/main/data/reasoning_val.json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tree/main/src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tree/main/src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/tree/main/src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inceton-nlp/CharXiv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huggingface.co/datasets/princeton-nlp/CharXiv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princeton-nlp/CharXiv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princeton-nlp/CharXiv#license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8521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8521" TargetMode="External"/><Relationship Id="rId3" Type="http://schemas.openxmlformats.org/officeDocument/2006/relationships/hyperlink" Target="https://huggingface.co/datasets/princeton-nlp/CharXiv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princeton-nlp/CharXiv" TargetMode="External"/><Relationship Id="rId3" Type="http://schemas.openxmlformats.org/officeDocument/2006/relationships/hyperlink" Target="https://deepmind.google/models/model-cards/gemini-3-pro/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evals-methodology/gemini-3-pro/" TargetMode="External"/><Relationship Id="rId3" Type="http://schemas.openxmlformats.org/officeDocument/2006/relationships/hyperlink" Target="https://github.com/princeton-nlp/CharXiv#licens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56231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990088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科学論文の図表を読み解く
視覚と言語の理解を測るデータセット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CharXiv: 公式サイト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1000">
                <a:solidFill>
                  <a:srgbClr val="626669"/>
                </a:solidFill>
                <a:latin typeface="Noto Sans"/>
                <a:hlinkClick r:id="rId5"/>
              </a:rPr>
              <a:t>https://charxiv.github.io/</a:t>
            </a:r>
          </a:p>
        </p:txBody>
      </p:sp>
      <p:pic>
        <p:nvPicPr>
          <p:cNvPr id="6" name="公式サイトの画面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70" y="1481328"/>
            <a:ext cx="4594858" cy="3063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科学論文の図表と実例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採点とモデルの成績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論文の図と質問を入力し、短い答えを返す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CharXivは、arXivの科学論文から選んだ2,323点の図表に、英語の質問と参照正解を付けた評価データセット。2024年に公開された。</a:t>
            </a:r>
          </a:p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軸・凡例・目盛りを読む記述問題と、比較・計算・傾向の判断を行う推論問題を含む。入力は図と質問で、回答は文字列や数値。</a:t>
            </a:r>
          </a:p>
          <a:p>
            <a:pPr marL="457200" indent="-355600">
              <a:lnSpc>
                <a:spcPts val="2580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複数のグラフを一つの図に並べたものや、二重軸・ヒートマップなど、論文で使われる図の多様性を重視している。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CharXiv: Charting Gaps in Realistic Chart Understanding in Multimodal LLMs. NeurIPS。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整ったグラフから、論文の多様な図へ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既存の図表評価では、単純な図や、似た形式の質問に評価が偏ることが課題だった。CharXivは、実際の論文から図を集めて人手で質問を作る。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著者らは既存評価の図や質問を変える実験を行い、モデルの得点が大きく下がる場合を示した。そこで、図の見た目と問い方の幅を広げた。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CharXiv: Charting Gaps in Realistic Chart Understanding in Multimodal LLMs. NeurIPS。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公開validationから、13件の図と設問を選ぶ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全体はvalidation 1,000図とtest 1,323図。testの参照正解は公開せず、評価用に保持している。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本編は、学習曲線の急な変化、アンケート回答の中央値、二重軸の傾向を扱う3件。図と、設問・日本語訳・配布正解を別ページで示す。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Appendixは、散布図、積み上げ棒、ヒストグラム、ヒートマップなど、別の10件。すべて正解が公開されているvalidation集合から選んだ。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 / 公式配布。改訂 f441eb6。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実例1：最も急に下がる区間（図）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pic>
        <p:nvPicPr>
          <p:cNvPr id="4" name="Picture 3" descr="9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185" y="1399032"/>
            <a:ext cx="435362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図：Golubnichiy et al. (2020). An Evaluation of novel method of Ill-Posed Problem for the Black-Scholes  Equation solution / CharXiv validation, ID 917。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https://arxiv.org/abs/2011.09136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実例1：最も急に下がる区間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8145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90646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epoch interval experience the largest drop in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9279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26168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損失が最も大きく下がるのは、どのエポック間か。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55573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配布正解：1 - 2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47037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最初の2点を結ぶ区間が最も急で、1から2へ下がる。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917。設問・回答と日本語訳：CC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実例2：回答の中央値（図）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pic>
        <p:nvPicPr>
          <p:cNvPr id="4" name="Picture 3" descr="12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399032"/>
            <a:ext cx="7022592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図：Andari et al. (2020). Report on the ECFA Early-Career Researchers Debate on the 2020 European  Strategy Update for Particle Physics / CharXiv validation, ID 1209。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https://arxiv.org/abs/2002.02837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実例2：回答の中央値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26481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35668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median response value according to the survey results shown in the chart?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47777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1145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このアンケート結果で、回答値の中央値はいくつか。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10551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02015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全111件。3以下は33件、4以下は85件なので、中央の56番目は4。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1209。設問・回答と日本語訳：CC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実例3：二重軸の傾向（図）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pic>
        <p:nvPicPr>
          <p:cNvPr id="4" name="Picture 3" descr="15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66" y="1399032"/>
            <a:ext cx="4792866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図：Madani et al. (2020). ProGen: Language Modeling for Protein Generation / CharXiv validation, ID 1520。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https://arxiv.org/abs/2004.03497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実例3：二重軸の傾向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57993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779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Does the overall trend in accuracy correlate positively or negatively with the trend in perplexity across the sequence length intervals?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08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1058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配列長の各区間を通じて、正解率とパープレキシティの全体的な傾向は正と負のどちらに相関するか。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3095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配布正解：Negatively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71613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青は左軸のパープレキシティ、橙は右軸の正解率。全体では逆方向に動く。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1520。設問・回答と日本語訳：CC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記述問題では図の基本要素を読み取る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科学論文の図表と実例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5806440"/>
                <a:gridCol w="224028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 917の設問（日本語訳）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y軸の隣り合う目盛りの差は？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サブプロットの配置は？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 by 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y軸の最も高い目盛りは？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カラーバーの最大値と最小値の差は？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Not Applicable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1図に4問。最後の問いに対応するカラーバーは図中にない。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公式実装・データ・リリース情報。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GPT-4oが答えを抽出し、0点か1点で採点する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公式実装は、設問・参照正解・モデルの回答を採点用GPT-4oへ渡す。最終的な答えを取り出し、正解と意味が一致すれば1点、不一致は0点。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ギリシャ文字や数式は表記が変わるため、文字列の完全一致ではなく、同じ意味を表すかを判定する。数値は指定された精度で照合する。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記述問題と推論問題を別々に集計し、各問題の0/1得点の平均を正答率として報告する。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回答の抽出・採点と問題単位の集計。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https://github.com/princeton-nlp/CharXiv/tree/main/src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登場時の正答率：推論問題で大きな差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2024年の評価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推論1,000問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記述4,000問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80.50%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92.10%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47.10%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84.45%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37.10%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79.92%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InternVL Chat V1.5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29.20%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58.50%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検証セット（validation）を対象。人間にもモデルと同じ設問・回答指示を提示した。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CharXiv: Charting Gaps in Realistic Chart Understanding in Multimodal LLMs. NeurIPS。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 Proの公式比較（2025年11月）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384048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CharXiv Reasoning 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2.5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69.6%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69.5%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対象はvalidationの推論1,000問。Googleの公式モデルカード掲載値。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(2025). Gemini 3 Pro: Model Card. 2025年11月の評価。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https://deepmind.google/models/model-cards/gemini-3-pro/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Googleは、他社のAPIも使って比較した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 Reasoningの比較値は、Google DeepMindが各提供元の公式APIを使って計算した。評価対象はvalidationの推論1,000問。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Geminiはpass@1。1回の試行では多数決や並列の回答探索を使わず、小さな評価では複数試行の平均を取る。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手順書の既定設定はgemini-3-pro-preview。GPT-5.1とClaude Sonnet 4.5は、原則としてhigh推論設定を採用する。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(2025). Gemini 3 Pro: Evaluation Methodology. validationの推論1,000問。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https://deepmind.google/models/evals-methodology/gemini-3-pro/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図を集め、似た図と不鮮明な図を除く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3464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603504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工程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作業の内容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素材を収集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2020年1月〜2023年9月のarXiv論文を取得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候補を絞る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画像の類似度で図表らしい候補を抽出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人手で選ぶ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大学院生が10件の候補から、多様な図を選ぶ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重複・品質確認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似た図、不鮮明・ラベル不明瞭な図を除外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CharXiv: Charting Gaps in Realistic Chart Understanding in Multimodal LLMs. NeurIPS。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質問も人が選び、書き直し、正解を付ける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記述問題は19種類のテンプレートから作る。注釈者は回答できる3問と、必要な要素が図にない1問を選び、正解を付ける。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推論問題では、GPT-4Vが生成した10組の質問・回答を提示する。大学院生が選択、修正、または新規作成し、最終的な1組を決める。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図の収集は2023年11月、質問の注釈は2024年4月。図の選定と注釈にはLabel Studioを使った。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CharXiv: Charting Gaps in Realistic Chart Understanding in Multimodal LLMs. NeurIPS。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2,323図に、合計11,615問が対応する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828800"/>
                <a:gridCol w="1828800"/>
                <a:gridCol w="182880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図の数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記述問題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推論問題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1,323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5,292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1,323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2,323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9,292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2,323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9534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図ごとに記述問題4問＋推論問題1問。学習用の分割は設けていない。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 / 公式配布。改訂 f441eb6。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8分野から、ほぼ同じ数の図を収録した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44952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図の数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計算機科学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292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経済学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287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電気・システム科学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291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数学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286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物理学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294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定量生物学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293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定量金融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289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383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統計学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291</a:t>
                      </a:r>
                    </a:p>
                  </a:txBody>
                  <a:tcPr marL="63500" marR="63500" marT="7620" marB="762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 / 公式配布。改訂 f441eb6。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複数のグラフが、一つの図に入る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配布データの全2,323図でサブプロット数を集計。複数を含む図は61.4%。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 / 公式配布。改訂 f441eb6。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2024年の公開以降、モデル評価に採用されている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2024年6月に論文を公開し、同年7月にデータと評価コードをリリース。NeurIPS 2024のDatasets and Benchmarks Trackで発表した。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2025年にはGPT-4.1の評価に採用され、Gemini 3 Proの公式モデルカードでも、複雑な図から情報を読み取る評価に使われている。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Hugging Faceで画像とメタデータを、GitHubで質問・正解・評価コードを入手できる。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公式実装・データ・リリース情報。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公開validationをPythonで読み込む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349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"princeton-nlp/CharXiv", split="validation",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revision="f441eb632fc62f6f777830a0f47619e6e86459b0",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ds[392]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print(row["reasoning_q"], row["reasoning_a"])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図ID 917の設問と正解を表示する。図はrow["image"]で取得できる。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 / 公式配布。改訂 f441eb6。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まとめ：CharXivの構成と特徴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CharXivは、科学論文から選んだ多様な図を用いた評価ベンチマーク。図の要素を読み取る4問と、比較・計算・判断を行う1問が各図に付いている。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計2,323図をvalidation 1,000図とtest 1,323図に分割。公開validationには、設問と参照正解を収録している。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初期のGPT-4oは推論47.1%。後のGemini 3 Pro公式比較では81.4%となり、図表理解の継続的な評価に使われている。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CharXiv: Charting Gaps in Realistic Chart Understanding in Multimodal LLMs. NeurIPS。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設問の分類とバージョン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制作機関と参考文献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図の異なる追加例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追加例1：構成を比べる散布図（図）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790" y="1399032"/>
            <a:ext cx="5278418" cy="3154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図：Nair et al. (2020). Performance Evaluation of Low-Cost Machine Vision Cameras for  Image-Based Grasp Verification / CharXiv validation, ID 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https://arxiv.org/abs/2003.10167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追加例1：構成を比べる散布図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8145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90646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configuration has the lowest average throughput?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9279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26168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平均のスループットが最も低いのは、どの構成か。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55573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配布正解：JeVois (408MHz)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47037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赤丸のJeVois (408MHz)が、全体として最も低い位置に集まる。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8。設問・回答と日本語訳：CC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追加例2：閾値を下回る点を数える（図）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365" y="1399032"/>
            <a:ext cx="3393269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図：Cohen et al. (2020). What can be learned from satisfaction assessments? / CharXiv validation, ID 321。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https://arxiv.org/abs/2010.13340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追加例2：閾値を下回る点を数える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8082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90010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intrinsic variability points have ΔNPS values worse than -9%?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9216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25532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ΔNPSが−9%より悪い値となる、内在的変動の点はいくつあるか。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56209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47673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横軸が±4、±5、±6、±7の4点が、−9%より下にある。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321。設問・回答と日本語訳：CC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追加例3：積み上げ棒の一層を比べる：図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3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259" y="1399032"/>
            <a:ext cx="4821481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図：Vargas-Calderón et al. (2020). Towards robust and speculation-reduction real estate pricing models  based on a data-driven strategy / CharXiv validation, ID 332。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https://arxiv.org/abs/2012.09115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追加例3：積み上げ棒の一層を比べる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8082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90010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decile shows the largest count in the 0%-5% category?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9216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25532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0%–5%の区分の件数が最も多いのは、どの十分位か。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56209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配布正解：3rd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47673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最下段の最も薄い青色の層を比べると、3rdが最も高い。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332。設問・回答と日本語訳：CC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追加例4：ピークの時間範囲を読む：図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6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41" y="1399032"/>
            <a:ext cx="4582116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図：Battiloro et al. (2020). Dynamic Resource Optimization for Decentralized Estimation in Energy  Harvesting IoT Networks / CharXiv validation, ID 620。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https://arxiv.org/abs/2008.01498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追加例4：ピークの時間範囲を読む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57437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224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Between which time slot indices does the BMSE stay consistently above -18 dB in the second major peak?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253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0502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2番目の大きなピークで、BMSEが−18 dBより上にあり続ける時間スロットは、どこからどこまでか。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30395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配布正解：3000 to 4000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71058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右側の山を見て、−18 dBを上回る区間の両端を読む。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620。設問・回答と日本語訳：CC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追加例5：横棒と基準値を照合する：図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9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29" y="1399032"/>
            <a:ext cx="767314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図：Bansak et al. (2020). Outcome-Driven Dynamic Refugee Assignment with Allocation Balancing / CharXiv validation, ID 903。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https://arxiv.org/abs/2007.03069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追加例5：横棒と基準値を照合する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57437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224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Which category just met the threshold with a Mean Outcome Score of 0.425?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253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0502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平均Outcome Scoreが0.425の基準値に、ちょうど達するカテゴリはどれか。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30395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配布正解：Minimum-Risk (Exact)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71058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中央のMinimum-Risk (Exact)は、0.425の目盛り付近で終わる。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903。設問・回答と日本語訳：CC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追加例6：二つのヒストグラムを比べる：図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15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698" y="1399032"/>
            <a:ext cx="6660602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図：Janczura et al. (2020). Classification of particle trajectories in living cells: machine  learning versus statistical testing hypothesis for fractional anomalous  diffusion / CharXiv validation, ID 1505。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https://arxiv.org/abs/2005.06239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追加例6：二つのヒストグラムを比べる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57437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224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Between the two subplots, which one has a wider spread of trajectory distributions across different D [μm²/s] values?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253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0502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二つのサブプロットのうち、D［μm²/s］に対する軌跡分布の広がりが大きいのはどちらか。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30395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配布正解：G-proteins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71058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右のG-proteinsは、横軸の大きい値まで分布が伸びる。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1505。設問・回答と日本語訳：CC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追加例7：学習曲線の下がり方を比べる：図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18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649" y="1399032"/>
            <a:ext cx="4562701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図：Vaheb (2020). Asset Price Forecasting using Recurrent Neural Networks / CharXiv validation, ID 1818。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https://arxiv.org/abs/2010.06417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追加例7：学習曲線の下がり方を比べる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8145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90646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name of the line that decreases faster over the epochs?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9279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26168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エポックが進むにつれて、より速く下がる線の名前は何か。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55573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47037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青のTrainは序盤の下降が大きい。橙のTestはほぼ横ばい。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1818。設問・回答と日本語訳：CC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追加例8：色と横軸の対応を読む：図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2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058" y="1399032"/>
            <a:ext cx="3499883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図：Riggi et al. (2020). Handling missing data in a neural network approach for the  identification of charged particles in a multilayer detector / CharXiv validation, ID 2124。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https://arxiv.org/abs/2004.05374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追加例8：色と横軸の対応を読む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25846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35032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For what value of inefficiency do we see the greatest values of overall missing fraction 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4714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051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全体の欠損率fが最大になるのは、非効率性がいくつのときか。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11187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02651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右端の非効率性0.5に、欠損率の高い色が集まる。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2124。設問・回答と日本語訳：CC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追加例9：ヒートマップの列差を比べる：図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2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44" y="1399032"/>
            <a:ext cx="568731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図：Mukhopadhyay et al. (2020). Breiman's "Two Cultures" Revisited and Reconciled / CharXiv validation, ID 2145。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https://arxiv.org/abs/2005.13596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追加例9：ヒートマップの列差を比べる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501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3397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Calculate the value difference between location and scale for each variable, what is the name of the variable whose value difference is the largest 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76561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59129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各変数のlocationとscaleの値の差を求めたとき、その差が最大の変数名は何か。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0922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配布正解：kw_avg_avg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43486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最上段のkw_avg_avgは、locationが濃く、scaleが淡い。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2145。設問・回答と日本語訳：CC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追加例10：時間で順位を決めて値を読む：図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pic>
        <p:nvPicPr>
          <p:cNvPr id="4" name="Picture 3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185" y="1399032"/>
            <a:ext cx="435362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図：Quintana et al. (2020). LiveChess2FEN: a Framework for Classifying Chess Pieces based on CNNs / CharXiv validation, ID 14。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https://arxiv.org/abs/2012.06858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追加例10：時間で順位を決めて値を読む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図の異なる追加例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8082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設問（配布英語・全文）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90010"/>
            <a:ext cx="7955279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Provide the accuracy (%) of the model with the second highest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9216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25532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所要時間が2番目に長いモデルの正解率（%）を答えよ。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56209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47673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横軸で右から2番目のXceptionを選び、縦軸の94%を読む。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 / reasoning_val / ID 14。設問・回答と日本語訳：CC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https://github.com/princeton-nlp/CharXiv/blob/main/data/reasoning_val.json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設問の分類とバージョン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記述問題の19テンプレート（1/3）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07792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658368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記述問題の内容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図のタイトル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 / 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x軸 / y軸のラベル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 /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x軸の左端 / 右端の目盛り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 / 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y軸の最下部 / 最上部の目盛り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 / 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x軸 / y軸の隣り合う目盛りの差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回答の抽出・採点と問題単位の集計。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https://github.com/princeton-nlp/CharXiv/tree/main/src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記述問題の19テンプレート（2/3）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07792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658368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記述問題の内容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線の本数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線が交わるか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凡例の離散ラベルの個数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凡例のラベル名（指定の順序）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 / 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カラーバーの最大−最小 / 最大値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回答の抽出・採点と問題単位の集計。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https://github.com/princeton-nlp/CharXiv/tree/main/src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記述問題の19テンプレート（3/3）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2316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658368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記述問題の内容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左から右へ見た全体的な傾向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全軸の、値が明記された目盛りの総数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サブプロットの配置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サブプロットの個数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回答の抽出・採点と問題単位の集計。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https://github.com/princeton-nlp/CharXiv/tree/main/src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推論問題は、正解の形で4種類に分かれる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4297680"/>
                <a:gridCol w="155448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図との関係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文字：図中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図に書かれた文字を答える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文字：一般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傾向などを言葉で答える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数値：図中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図に書かれた数値を答える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数値：一般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計算した値や個数を答える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全2,323問。分類は配布フィールドinst_categoryに対応する。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 / 公式配布。改訂 f441eb6。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推論問題の約6割は、人が新しく書いた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推論問題全2,323問。配布フィールドqa_sourceを集計。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 / 公式配布。改訂 f441eb6。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公開バージョンと参照したデータ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20"/>
              </a:lnSpc>
              <a:spcAft>
                <a:spcPts val="80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公式の評価パイプラインは、2024年7月24日にバージョン1.0（v1.0）が公開された。この資料では2024年に公開されたCharXivのデータを参照する。</a:t>
            </a:r>
          </a:p>
          <a:p>
            <a:pPr marL="457200" indent="-355600">
              <a:lnSpc>
                <a:spcPts val="2520"/>
              </a:lnSpc>
              <a:spcAft>
                <a:spcPts val="80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この資料ではHugging Faceの改訂f441eb6と公式JSONを使用している。画像ZIPを取得し、2,323ファイルと両分割の図IDを照合した。</a:t>
            </a:r>
          </a:p>
          <a:p>
            <a:pPr marL="457200" indent="-355600">
              <a:lnSpc>
                <a:spcPts val="2520"/>
              </a:lnSpc>
              <a:spcAft>
                <a:spcPts val="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validationでは設問・参照正解が公開され、testでは参照正解が非公開とされている。掲載した13件はすべてvalidationに属する。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公式実装・データ・リリース情報。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データ・図・コードで利用条件が異なる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設問・回答などのデータはCC BY-SA 4.0。ここに載せた設問の日本語訳も、同じライセンスで提供する。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図は原著論文からの引用で、権利は各原著者に帰属する。各図ページの下部に、原著の著者・タイトル・URLを記載した。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評価コードはApache 2.0。画像ZIPは取得時に約134.9 MiBで、公式配布ページからダウンロードできる。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設問の分類とバージョン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CharXiv: データはCC BY-SA 4.0、図の権利は原著者に帰属。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https://github.com/princeton-nlp/CharXiv#license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制作機関と参考文献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Princetonを中心とした研究チームが制作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第一著者はZirui Wang、最終著者はDanqi Chen。論文にはPrinceton Language and Intelligence（PLI）などの所属が記載されている。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著者の所属にはPrinceton University、University of Wisconsin–Madison、The University of Hong Kongが含まれる。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2024年のNeurIPS Datasets and Benchmarks Trackで発表。図の選別、質問作成、採点、モデル比較を一つの評価体系として公開した。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(2024). CharXiv: Charting Gaps in Realistic Chart Understanding in Multimodal LLMs. NeurIPS。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CharXiv: Charting Gaps in Realistic Chart Understanding in Multimodal LLM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CharXiv: Charting Gaps in Realistic Chart Understanding in Multimodal LLMs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Zirui Wang, Mengzhou Xia et al. / NeurIPS 2024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図の選定・注釈・採点と、初期モデルの評価を報告する。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https://arxiv.org/abs/2406.18521</a:t>
            </a:r>
          </a:p>
        </p:txBody>
      </p:sp>
      <p:sp>
        <p:nvSpPr>
          <p:cNvPr id="5" name="文献 2: CharXiv: Official Dataset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CharXiv: Official Dataset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/ Hugging Face Datasets / 2024 / 改訂f441eb6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図・分野・年と設問を配布する。公開validationの実例と、本資料の全件集計の取得元。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https://huggingface.co/datasets/princeton-nlp/CharXiv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CharXiv: Official Code and Data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CharXiv: Official Code and Data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/ princeton-nlp / 2024 / 評価実装v1.0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JSON形式の設問・正解、回答生成、GPT-4oによる採点と、分野別などの集計実装を公開する。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https://github.com/princeton-nlp/CharXiv</a:t>
            </a:r>
          </a:p>
        </p:txBody>
      </p:sp>
      <p:sp>
        <p:nvSpPr>
          <p:cNvPr id="5" name="文献 2: Gemini 3 Pro: Model Card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 Pro: Model Card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2025年11月の評価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 Reasoningを含むモデル比較を掲載。本資料の後年のモデル成績の出典。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https://deepmind.google/models/model-cards/gemini-3-pro/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Gemini 3 Pro: Evaluation Methodology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 Pro: Evaluation Methodology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2025年11月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CharXivの評価集合、公式APIによる他社モデルの比較、試行と推論設定を説明する。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https://deepmind.google/models/evals-methodology/gemini-3-pro/</a:t>
            </a:r>
          </a:p>
        </p:txBody>
      </p:sp>
      <p:sp>
        <p:nvSpPr>
          <p:cNvPr id="5" name="文献 2: CharXiv: License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CharXiv: License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 et al. / CC BY-SA 4.0（データ）・Apache 2.0（コード）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データとコードの利用条件を示し、図の権利が各原著者に属することを明記する。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https://github.com/princeton-nlp/CharXiv#license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CharXiv — datasets in 10 minutes</dc:title>
  <dc:creator>sasakiy84</dc:creator>
  <dc:subject>科学論文の図表理解：記述問題と推論問題、13実例、作成方法とモデル評価</dc:subject>
  <cp:keywords>CharXiv,chart,visual question answering,dataset</cp:keywords>
</cp:coreProperties>
</file>