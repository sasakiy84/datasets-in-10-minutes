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2" r:id="rId1"/>
  </p:sldMasterIdLst>
  <p:sldIdLst>
    <p:sldId id="256" r:id="rId6"/>
    <p:sldId id="257" r:id="rId7"/>
    <p:sldId id="258" r:id="rId8"/>
    <p:sldId id="259" r:id="rId9"/>
    <p:sldId id="260" r:id="rId10"/>
    <p:sldId id="261" r:id="rId5"/>
    <p:sldId id="262" r:id="rId4"/>
    <p:sldId id="263" r:id="rId3"/>
    <p:sldId id="264" r:id="rId2"/>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1pPr>
    <a:lvl2pPr marR="0" lvl="1"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2pPr>
    <a:lvl3pPr marR="0" lvl="2"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3pPr>
    <a:lvl4pPr marR="0" lvl="3"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4pPr>
    <a:lvl5pPr marR="0" lvl="4"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5pPr>
    <a:lvl6pPr marR="0" lvl="5"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6pPr>
    <a:lvl7pPr marR="0" lvl="6"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7pPr>
    <a:lvl8pPr marR="0" lvl="7"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8pPr>
    <a:lvl9pPr marR="0" lvl="8"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9pPr>
  </p:defaultTextStyle>
  <p:extLst>
    <p:ext uri="{EFAFB233-063F-42B5-8137-9DF3F51BA10A}">
      <p15:sldGuideLst xmlns:p15="http://schemas.microsoft.com/office/powerpoint/2012/main">
        <p15:guide id="1" orient="horz" pos="590">
          <p15:clr>
            <a:srgbClr val="747775"/>
          </p15:clr>
        </p15:guide>
        <p15:guide id="2" pos="1271">
          <p15:clr>
            <a:srgbClr val="747775"/>
          </p15:clr>
        </p15:guide>
        <p15:guide id="3" orient="horz" pos="1584">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E77B4"/>
    <a:srgbClr val="7A81FF"/>
    <a:srgbClr val="0096FF"/>
    <a:srgbClr val="011893"/>
    <a:srgbClr val="B13731"/>
    <a:srgbClr val="EF8600"/>
    <a:srgbClr val="FFCD8C"/>
    <a:srgbClr val="0036FF"/>
    <a:srgbClr val="00D989"/>
    <a:srgbClr val="01D8A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D8A3C8B-3693-4FF3-BE57-18EF887A9C23}">
  <a:tblStyle styleId="{FD8A3C8B-3693-4FF3-BE57-18EF887A9C23}" styleName="Table_0">
    <a:wholeTbl>
      <a:tcTxStyle>
        <a:font>
          <a:latin typeface="Noto Sans"/>
          <a:ea typeface="Noto Sans CJK JP"/>
          <a:cs typeface="Noto Sans"/>
        </a:font>
        <a:srgbClr val="000000"/>
      </a:tcTxStyle>
      <a:tcStyle>
        <a:tcBdr>
          <a:left>
            <a:ln>
              <a:noFill/>
            </a:ln>
          </a:left>
          <a:right>
            <a:ln>
              <a:noFill/>
            </a:ln>
          </a:right>
          <a:top>
            <a:ln w="15240" cap="flat">
              <a:solidFill>
                <a:srgbClr val="626669"/>
              </a:solidFill>
              <a:prstDash val="solid"/>
            </a:ln>
          </a:top>
          <a:bottom>
            <a:ln w="15240" cap="flat">
              <a:solidFill>
                <a:srgbClr val="626669"/>
              </a:solidFill>
              <a:prstDash val="solid"/>
            </a:ln>
          </a:bottom>
          <a:insideH>
            <a:ln>
              <a:noFill/>
            </a:ln>
          </a:insideH>
          <a:insideV>
            <a:ln>
              <a:noFill/>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bottom>
            <a:ln w="15240" cap="flat">
              <a:solidFill>
                <a:srgbClr val="626669"/>
              </a:solidFill>
              <a:prstDash val="solid"/>
            </a:ln>
          </a:bottom>
        </a:tcBdr>
      </a:tcStyle>
    </a:lastRow>
    <a:seCell>
      <a:tcTxStyle/>
      <a:tcStyle>
        <a:tcBdr/>
      </a:tcStyle>
    </a:seCell>
    <a:swCell>
      <a:tcTxStyle/>
      <a:tcStyle>
        <a:tcBdr/>
      </a:tcStyle>
    </a:swCell>
    <a:firstRow>
      <a:tcTxStyle/>
      <a:tcStyle>
        <a:tcBdr>
          <a:top>
            <a:ln w="15240" cap="flat">
              <a:solidFill>
                <a:srgbClr val="626669"/>
              </a:solidFill>
              <a:prstDash val="solid"/>
            </a:ln>
          </a:top>
          <a:bottom>
            <a:ln w="7620" cap="flat">
              <a:solidFill>
                <a:srgbClr val="626669"/>
              </a:solidFill>
              <a:prstDash val="solid"/>
            </a:ln>
          </a:bottom>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082"/>
    <p:restoredTop sz="87828"/>
  </p:normalViewPr>
  <p:slideViewPr>
    <p:cSldViewPr snapToGrid="0">
      <p:cViewPr varScale="1">
        <p:scale>
          <a:sx n="169" d="100"/>
          <a:sy n="169" d="100"/>
        </p:scale>
        <p:origin x="520" y="192"/>
      </p:cViewPr>
      <p:guideLst>
        <p:guide orient="horz" pos="590"/>
        <p:guide pos="1271"/>
        <p:guide orient="horz" pos="1584"/>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9.xml"/><Relationship Id="rId3" Type="http://schemas.openxmlformats.org/officeDocument/2006/relationships/slide" Target="slides/slide8.xml"/><Relationship Id="rId4" Type="http://schemas.openxmlformats.org/officeDocument/2006/relationships/slide" Target="slides/slide7.xml"/><Relationship Id="rId5" Type="http://schemas.openxmlformats.org/officeDocument/2006/relationships/slide" Target="slides/slide6.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slide" Target="slides/slide39.xml"/><Relationship Id="rId45" Type="http://schemas.openxmlformats.org/officeDocument/2006/relationships/slide" Target="slides/slide40.xml"/><Relationship Id="rId46" Type="http://schemas.openxmlformats.org/officeDocument/2006/relationships/slide" Target="slides/slide41.xml"/><Relationship Id="rId47" Type="http://schemas.openxmlformats.org/officeDocument/2006/relationships/slide" Target="slides/slide42.xml"/><Relationship Id="rId48" Type="http://schemas.openxmlformats.org/officeDocument/2006/relationships/slide" Target="slides/slide43.xml"/><Relationship Id="rId49" Type="http://schemas.openxmlformats.org/officeDocument/2006/relationships/slide" Target="slides/slide44.xml"/><Relationship Id="rId50" Type="http://schemas.openxmlformats.org/officeDocument/2006/relationships/slide" Target="slides/slide45.xml"/><Relationship Id="rId51" Type="http://schemas.openxmlformats.org/officeDocument/2006/relationships/slide" Target="slides/slide46.xml"/><Relationship Id="rId52" Type="http://schemas.openxmlformats.org/officeDocument/2006/relationships/slide" Target="slides/slide47.xml"/><Relationship Id="rId53" Type="http://schemas.openxmlformats.org/officeDocument/2006/relationships/slide" Target="slides/slide48.xml"/><Relationship Id="rId54" Type="http://schemas.openxmlformats.org/officeDocument/2006/relationships/slide" Target="slides/slide49.xml"/><Relationship Id="rId55" Type="http://schemas.openxmlformats.org/officeDocument/2006/relationships/slide" Target="slides/slide50.xml"/><Relationship Id="rId56" Type="http://schemas.openxmlformats.org/officeDocument/2006/relationships/slide" Target="slides/slide51.xml"/><Relationship Id="rId57" Type="http://schemas.openxmlformats.org/officeDocument/2006/relationships/slide" Target="slides/slide52.xml"/><Relationship Id="rId58" Type="http://schemas.openxmlformats.org/officeDocument/2006/relationships/slide" Target="slides/slide53.xml"/><Relationship Id="rId59" Type="http://schemas.openxmlformats.org/officeDocument/2006/relationships/slide" Target="slides/slide54.xml"/><Relationship Id="rId60" Type="http://schemas.openxmlformats.org/officeDocument/2006/relationships/slide" Target="slides/slide55.xml"/><Relationship Id="rId61" Type="http://schemas.openxmlformats.org/officeDocument/2006/relationships/slide" Target="slides/slide56.xml"/><Relationship Id="rId62" Type="http://schemas.openxmlformats.org/officeDocument/2006/relationships/slide" Target="slides/slide57.xml"/><Relationship Id="rId63" Type="http://schemas.openxmlformats.org/officeDocument/2006/relationships/slide" Target="slides/slide58.xml"/><Relationship Id="rId64" Type="http://schemas.openxmlformats.org/officeDocument/2006/relationships/slide" Target="slides/slide59.xml"/><Relationship Id="rId65" Type="http://schemas.openxmlformats.org/officeDocument/2006/relationships/slide" Target="slides/slide60.xml"/><Relationship Id="rId66" Type="http://schemas.openxmlformats.org/officeDocument/2006/relationships/slide" Target="slides/slide61.xml"/><Relationship Id="rId67" Type="http://schemas.openxmlformats.org/officeDocument/2006/relationships/slide" Target="slides/slide62.xml"/><Relationship Id="rId68" Type="http://schemas.openxmlformats.org/officeDocument/2006/relationships/slide" Target="slides/slide6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12471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Clr>
                <a:schemeClr val="dk1"/>
              </a:buClr>
              <a:buNone/>
              <a:defRPr sz="5200" b="1" lang="ja-JP">
                <a:solidFill>
                  <a:schemeClr val="dk1"/>
                </a:solidFill>
                <a:latin typeface="Noto Sans"/>
                <a:ea typeface="Noto Sans CJK JP"/>
                <a:cs typeface="Noto Sans"/>
              </a:defRPr>
            </a:lvl1pPr>
            <a:lvl2pPr lvl="1" algn="ctr">
              <a:spcBef>
                <a:spcPts val="0"/>
              </a:spcBef>
              <a:spcAft>
                <a:spcPts val="0"/>
              </a:spcAft>
              <a:buNone/>
              <a:defRPr sz="5200" lang="ja-JP">
                <a:latin typeface="Noto Sans"/>
                <a:ea typeface="Noto Sans CJK JP"/>
                <a:cs typeface="Noto Sans"/>
              </a:defRPr>
            </a:lvl2pPr>
            <a:lvl3pPr lvl="2" algn="ctr">
              <a:spcBef>
                <a:spcPts val="0"/>
              </a:spcBef>
              <a:spcAft>
                <a:spcPts val="0"/>
              </a:spcAft>
              <a:buNone/>
              <a:defRPr sz="5200" lang="ja-JP">
                <a:latin typeface="Noto Sans"/>
                <a:ea typeface="Noto Sans CJK JP"/>
                <a:cs typeface="Noto Sans"/>
              </a:defRPr>
            </a:lvl3pPr>
            <a:lvl4pPr lvl="3" algn="ctr">
              <a:spcBef>
                <a:spcPts val="0"/>
              </a:spcBef>
              <a:spcAft>
                <a:spcPts val="0"/>
              </a:spcAft>
              <a:buNone/>
              <a:defRPr sz="5200" lang="ja-JP">
                <a:latin typeface="Noto Sans"/>
                <a:ea typeface="Noto Sans CJK JP"/>
                <a:cs typeface="Noto Sans"/>
              </a:defRPr>
            </a:lvl4pPr>
            <a:lvl5pPr lvl="4" algn="ctr">
              <a:spcBef>
                <a:spcPts val="0"/>
              </a:spcBef>
              <a:spcAft>
                <a:spcPts val="0"/>
              </a:spcAft>
              <a:buNone/>
              <a:defRPr sz="5200" lang="ja-JP">
                <a:latin typeface="Noto Sans"/>
                <a:ea typeface="Noto Sans CJK JP"/>
                <a:cs typeface="Noto Sans"/>
              </a:defRPr>
            </a:lvl5pPr>
            <a:lvl6pPr lvl="5" algn="ctr">
              <a:spcBef>
                <a:spcPts val="0"/>
              </a:spcBef>
              <a:spcAft>
                <a:spcPts val="0"/>
              </a:spcAft>
              <a:buNone/>
              <a:defRPr sz="5200" lang="ja-JP">
                <a:latin typeface="Noto Sans"/>
                <a:ea typeface="Noto Sans CJK JP"/>
                <a:cs typeface="Noto Sans"/>
              </a:defRPr>
            </a:lvl6pPr>
            <a:lvl7pPr lvl="6" algn="ctr">
              <a:spcBef>
                <a:spcPts val="0"/>
              </a:spcBef>
              <a:spcAft>
                <a:spcPts val="0"/>
              </a:spcAft>
              <a:buNone/>
              <a:defRPr sz="5200" lang="ja-JP">
                <a:latin typeface="Noto Sans"/>
                <a:ea typeface="Noto Sans CJK JP"/>
                <a:cs typeface="Noto Sans"/>
              </a:defRPr>
            </a:lvl7pPr>
            <a:lvl8pPr lvl="7" algn="ctr">
              <a:spcBef>
                <a:spcPts val="0"/>
              </a:spcBef>
              <a:spcAft>
                <a:spcPts val="0"/>
              </a:spcAft>
              <a:buNone/>
              <a:defRPr sz="5200" lang="ja-JP">
                <a:latin typeface="Noto Sans"/>
                <a:ea typeface="Noto Sans CJK JP"/>
                <a:cs typeface="Noto Sans"/>
              </a:defRPr>
            </a:lvl8pPr>
            <a:lvl9pPr lvl="8" algn="ctr">
              <a:spcBef>
                <a:spcPts val="0"/>
              </a:spcBef>
              <a:spcAft>
                <a:spcPts val="0"/>
              </a:spcAft>
              <a:buNone/>
              <a:defRPr sz="5200" lang="ja-JP">
                <a:latin typeface="Noto Sans"/>
                <a:ea typeface="Noto Sans CJK JP"/>
                <a:cs typeface="Noto Sans"/>
              </a:defRPr>
            </a:lvl9pPr>
          </a:lstStyle>
          <a:p>
            <a:endParaRPr lang="ja-JP">
              <a:latin typeface="Noto Sans"/>
              <a:ea typeface="Noto Sans CJK JP"/>
              <a:cs typeface="Noto Sans"/>
            </a:endParaRPr>
          </a:p>
        </p:txBody>
      </p:sp>
      <p:sp>
        <p:nvSpPr>
          <p:cNvPr id="11" name="Google Shape;11;p2"/>
          <p:cNvSpPr txBox="1">
            <a:spLocks noGrp="1"/>
          </p:cNvSpPr>
          <p:nvPr>
            <p:ph type="subTitle" idx="1"/>
          </p:nvPr>
        </p:nvSpPr>
        <p:spPr>
          <a:xfrm>
            <a:off x="311700" y="3657600"/>
            <a:ext cx="8520600" cy="36576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Clr>
                <a:schemeClr val="dk1"/>
              </a:buClr>
              <a:buNone/>
              <a:defRPr sz="2800" lang="ja-JP">
                <a:solidFill>
                  <a:schemeClr val="dk1"/>
                </a:solidFill>
                <a:latin typeface="Noto Sans"/>
                <a:ea typeface="Noto Sans CJK JP"/>
                <a:cs typeface="Noto Sans"/>
              </a:defRPr>
            </a:lvl1pPr>
            <a:lvl2pPr lvl="1" algn="ctr">
              <a:lnSpc>
                <a:spcPct val="100000"/>
              </a:lnSpc>
              <a:spcBef>
                <a:spcPts val="0"/>
              </a:spcBef>
              <a:spcAft>
                <a:spcPts val="0"/>
              </a:spcAft>
              <a:buNone/>
              <a:defRPr sz="2800" lang="ja-JP">
                <a:latin typeface="Noto Sans"/>
                <a:ea typeface="Noto Sans CJK JP"/>
                <a:cs typeface="Noto Sans"/>
              </a:defRPr>
            </a:lvl2pPr>
            <a:lvl3pPr lvl="2" algn="ctr">
              <a:lnSpc>
                <a:spcPct val="100000"/>
              </a:lnSpc>
              <a:spcBef>
                <a:spcPts val="0"/>
              </a:spcBef>
              <a:spcAft>
                <a:spcPts val="0"/>
              </a:spcAft>
              <a:buNone/>
              <a:defRPr sz="2800" lang="ja-JP">
                <a:latin typeface="Noto Sans"/>
                <a:ea typeface="Noto Sans CJK JP"/>
                <a:cs typeface="Noto Sans"/>
              </a:defRPr>
            </a:lvl3pPr>
            <a:lvl4pPr lvl="3" algn="ctr">
              <a:lnSpc>
                <a:spcPct val="100000"/>
              </a:lnSpc>
              <a:spcBef>
                <a:spcPts val="0"/>
              </a:spcBef>
              <a:spcAft>
                <a:spcPts val="0"/>
              </a:spcAft>
              <a:buNone/>
              <a:defRPr sz="2800" lang="ja-JP">
                <a:latin typeface="Noto Sans"/>
                <a:ea typeface="Noto Sans CJK JP"/>
                <a:cs typeface="Noto Sans"/>
              </a:defRPr>
            </a:lvl4pPr>
            <a:lvl5pPr lvl="4" algn="ctr">
              <a:lnSpc>
                <a:spcPct val="100000"/>
              </a:lnSpc>
              <a:spcBef>
                <a:spcPts val="0"/>
              </a:spcBef>
              <a:spcAft>
                <a:spcPts val="0"/>
              </a:spcAft>
              <a:buNone/>
              <a:defRPr sz="2800" lang="ja-JP">
                <a:latin typeface="Noto Sans"/>
                <a:ea typeface="Noto Sans CJK JP"/>
                <a:cs typeface="Noto Sans"/>
              </a:defRPr>
            </a:lvl5pPr>
            <a:lvl6pPr lvl="5" algn="ctr">
              <a:lnSpc>
                <a:spcPct val="100000"/>
              </a:lnSpc>
              <a:spcBef>
                <a:spcPts val="0"/>
              </a:spcBef>
              <a:spcAft>
                <a:spcPts val="0"/>
              </a:spcAft>
              <a:buNone/>
              <a:defRPr sz="2800" lang="ja-JP">
                <a:latin typeface="Noto Sans"/>
                <a:ea typeface="Noto Sans CJK JP"/>
                <a:cs typeface="Noto Sans"/>
              </a:defRPr>
            </a:lvl6pPr>
            <a:lvl7pPr lvl="6" algn="ctr">
              <a:lnSpc>
                <a:spcPct val="100000"/>
              </a:lnSpc>
              <a:spcBef>
                <a:spcPts val="0"/>
              </a:spcBef>
              <a:spcAft>
                <a:spcPts val="0"/>
              </a:spcAft>
              <a:buNone/>
              <a:defRPr sz="2800" lang="ja-JP">
                <a:latin typeface="Noto Sans"/>
                <a:ea typeface="Noto Sans CJK JP"/>
                <a:cs typeface="Noto Sans"/>
              </a:defRPr>
            </a:lvl7pPr>
            <a:lvl8pPr lvl="7" algn="ctr">
              <a:lnSpc>
                <a:spcPct val="100000"/>
              </a:lnSpc>
              <a:spcBef>
                <a:spcPts val="0"/>
              </a:spcBef>
              <a:spcAft>
                <a:spcPts val="0"/>
              </a:spcAft>
              <a:buNone/>
              <a:defRPr sz="2800" lang="ja-JP">
                <a:latin typeface="Noto Sans"/>
                <a:ea typeface="Noto Sans CJK JP"/>
                <a:cs typeface="Noto Sans"/>
              </a:defRPr>
            </a:lvl8pPr>
            <a:lvl9pPr lvl="8" algn="ctr">
              <a:lnSpc>
                <a:spcPct val="100000"/>
              </a:lnSpc>
              <a:spcBef>
                <a:spcPts val="0"/>
              </a:spcBef>
              <a:spcAft>
                <a:spcPts val="0"/>
              </a:spcAft>
              <a:buNone/>
              <a:defRPr sz="2800" lang="ja-JP">
                <a:latin typeface="Noto Sans"/>
                <a:ea typeface="Noto Sans CJK JP"/>
                <a:cs typeface="Noto Sans"/>
              </a:defRPr>
            </a:lvl9pPr>
          </a:lstStyle>
          <a:p>
            <a:pPr>
              <a:defRPr sz="2200" lang="ja-JP">
                <a:latin typeface="Noto Sans"/>
                <a:ea typeface="Noto Sans CJK JP"/>
                <a:cs typeface="Noto Sans"/>
              </a:defRPr>
            </a:pPr>
            <a:endParaRPr lang="ja-JP">
              <a:latin typeface="Noto Sans"/>
              <a:ea typeface="Noto Sans CJK JP"/>
              <a:cs typeface="Noto Sans"/>
            </a:endParaRPr>
          </a:p>
        </p:txBody>
      </p:sp>
      <p:sp>
        <p:nvSpPr>
          <p:cNvPr id="2" name="Google Shape;22;p5">
            <a:extLst>
              <a:ext uri="{FF2B5EF4-FFF2-40B4-BE49-F238E27FC236}">
                <a16:creationId xmlns:a16="http://schemas.microsoft.com/office/drawing/2014/main" id="{97A17C7E-5073-6B99-C91A-19299DA839DE}"/>
              </a:ext>
            </a:extLst>
          </p:cNvPr>
          <p:cNvSpPr/>
          <p:nvPr userDrawn="1"/>
        </p:nvSpPr>
        <p:spPr>
          <a:xfrm>
            <a:off x="8607898" y="-10450"/>
            <a:ext cx="548701" cy="4797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ja-JP">
              <a:latin typeface="Noto Sans"/>
              <a:ea typeface="Noto Sans CJK JP"/>
              <a:cs typeface="Noto Sans"/>
            </a:endParaRPr>
          </a:p>
        </p:txBody>
      </p:sp>
      <p:sp>
        <p:nvSpPr>
          <p:cNvPr id="7" name="Slide Number">
            <a:extLst>
              <a:ext uri="{FF2B5EF4-FFF2-40B4-BE49-F238E27FC236}">
                <a16:creationId xmlns:a16="http://schemas.microsoft.com/office/drawing/2014/main" id="{2BE9CD3C-2632-D40F-DBD2-47ACED4F9A3C}"/>
              </a:ext>
            </a:extLst>
          </p:cNvPr>
          <p:cNvSpPr txBox="1"/>
          <p:nvPr userDrawn="1"/>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pPr algn="ctr"/>
              <a:t>‹#›</a:t>
            </a:fld>
            <a:endParaRPr lang="ja-JP" sz="1800" b="1" dirty="0">
              <a:latin typeface="Noto Sans"/>
              <a:ea typeface="Noto Sans CJK JP"/>
              <a:cs typeface="Noto Sans"/>
            </a:endParaRPr>
          </a:p>
        </p:txBody>
      </p:sp>
      <p:sp>
        <p:nvSpPr>
          <p:cNvPr id="110" name="Author affiliation"/>
          <p:cNvSpPr txBox="1">
            <a:spLocks noGrp="1"/>
          </p:cNvSpPr>
          <p:nvPr>
            <p:ph type="body" idx="10"/>
          </p:nvPr>
        </p:nvSpPr>
        <p:spPr>
          <a:xfrm>
            <a:off x="5486400" y="4224528"/>
            <a:ext cx="3108960" cy="228600"/>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r">
              <a:lnSpc>
                <a:spcPct val="100000"/>
              </a:lnSpc>
              <a:spcBef>
                <a:spcPts val="0"/>
              </a:spcBef>
              <a:spcAft>
                <a:spcPts val="0"/>
              </a:spcAft>
              <a:defRPr sz="1400" b="0" lang="ja-JP">
                <a:solidFill>
                  <a:srgbClr val="626669"/>
                </a:solidFill>
                <a:latin typeface="Noto Sans"/>
                <a:ea typeface="Noto Sans CJK JP"/>
                <a:cs typeface="Noto Sans"/>
              </a:defRPr>
            </a:pPr>
            <a:r>
              <a:t>所属　［所属］</a:t>
            </a:r>
          </a:p>
        </p:txBody>
      </p:sp>
      <p:sp>
        <p:nvSpPr>
          <p:cNvPr id="111" name="Author name"/>
          <p:cNvSpPr txBox="1">
            <a:spLocks noGrp="1"/>
          </p:cNvSpPr>
          <p:nvPr>
            <p:ph type="body" idx="11"/>
          </p:nvPr>
        </p:nvSpPr>
        <p:spPr>
          <a:xfrm>
            <a:off x="5486400" y="4416552"/>
            <a:ext cx="3108960" cy="402336"/>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r">
              <a:lnSpc>
                <a:spcPct val="100000"/>
              </a:lnSpc>
              <a:spcBef>
                <a:spcPts val="0"/>
              </a:spcBef>
              <a:spcAft>
                <a:spcPts val="0"/>
              </a:spcAft>
              <a:defRPr sz="2000" b="0" lang="ja-JP">
                <a:solidFill>
                  <a:srgbClr val="626669"/>
                </a:solidFill>
                <a:latin typeface="Noto Sans"/>
                <a:ea typeface="Noto Sans CJK JP"/>
                <a:cs typeface="Noto Sans"/>
              </a:defRPr>
            </a:pPr>
            <a:r>
              <a:rPr sz="2000" lang="ja-JP">
                <a:solidFill>
                  <a:srgbClr val="303437"/>
                </a:solidFill>
                <a:latin typeface="Noto Sans"/>
                <a:ea typeface="Noto Sans CJK JP"/>
                <a:cs typeface="Noto Sans"/>
              </a:rPr>
              <a:t>氏名　［氏名］</a:t>
            </a:r>
          </a:p>
        </p:txBody>
      </p:sp>
      <p:sp>
        <p:nvSpPr>
          <p:cNvPr id="112" name="Creation date"/>
          <p:cNvSpPr txBox="1">
            <a:spLocks noGrp="1"/>
          </p:cNvSpPr>
          <p:nvPr>
            <p:ph type="body" idx="12"/>
          </p:nvPr>
        </p:nvSpPr>
        <p:spPr>
          <a:xfrm>
            <a:off x="457200" y="274320"/>
            <a:ext cx="3657600" cy="228600"/>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l">
              <a:lnSpc>
                <a:spcPct val="100000"/>
              </a:lnSpc>
              <a:spcBef>
                <a:spcPts val="0"/>
              </a:spcBef>
              <a:spcAft>
                <a:spcPts val="0"/>
              </a:spcAft>
              <a:defRPr sz="1400" b="0" lang="ja-JP">
                <a:solidFill>
                  <a:srgbClr val="626669"/>
                </a:solidFill>
                <a:latin typeface="Noto Sans"/>
                <a:ea typeface="Noto Sans CJK JP"/>
                <a:cs typeface="Noto Sans"/>
              </a:defRPr>
            </a:pPr>
            <a:r>
              <a:t>作成日　YYYY-MM-DD</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カスタム レイアウト 1">
  <p:cSld name="CUSTOM">
    <p:spTree>
      <p:nvGrpSpPr>
        <p:cNvPr id="1" name="Shape 71"/>
        <p:cNvGrpSpPr/>
        <p:nvPr/>
      </p:nvGrpSpPr>
      <p:grpSpPr>
        <a:xfrm>
          <a:off x="0" y="0"/>
          <a:ext cx="0" cy="0"/>
          <a:chOff x="0" y="0"/>
          <a:chExt cx="0" cy="0"/>
        </a:xfrm>
      </p:grpSpPr>
      <p:sp>
        <p:nvSpPr>
          <p:cNvPr id="73" name="Google Shape;73;p11"/>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75" name="Google Shape;75;p11"/>
          <p:cNvSpPr txBox="1"/>
          <p:nvPr/>
        </p:nvSpPr>
        <p:spPr>
          <a:xfrm>
            <a:off x="76100" y="0"/>
            <a:ext cx="8059500" cy="480059"/>
          </a:xfrm>
          <a:prstGeom prst="rect">
            <a:avLst/>
          </a:prstGeom>
          <a:noFill/>
          <a:ln>
            <a:noFill/>
          </a:ln>
        </p:spPr>
        <p:txBody>
          <a:bodyPr spcFirstLastPara="1" wrap="square" lIns="91425" tIns="0" rIns="91425" bIns="0" anchor="ctr" anchorCtr="0">
            <a:normAutofit/>
          </a:bodyPr>
          <a:lstStyle/>
          <a:p>
            <a:pPr marL="0" lvl="0" indent="0" algn="l" rtl="0">
              <a:lnSpc>
                <a:spcPct val="100000"/>
              </a:lnSpc>
              <a:spcBef>
                <a:spcPts val="0"/>
              </a:spcBef>
              <a:spcAft>
                <a:spcPts val="0"/>
              </a:spcAft>
              <a:buNone/>
              <a:defRPr sz="1400" b="1" lang="ja-JP" altLang="en-US">
                <a:latin typeface="Noto Sans"/>
                <a:ea typeface="Noto Sans CJK JP"/>
                <a:cs typeface="Noto Sans"/>
              </a:defRPr>
            </a:pPr>
            <a:r>
              <a:rPr lang="ja-JP" altLang="en-US" b="1" dirty="0" sz="1400">
                <a:solidFill>
                  <a:schemeClr val="lt1"/>
                </a:solidFill>
                <a:latin typeface="Noto Sans"/>
                <a:ea typeface="Noto Sans CJK JP"/>
                <a:cs typeface="Noto Sans"/>
              </a:rPr>
              <a:t>T</a:t>
            </a:r>
            <a:r>
              <a:rPr lang="ja-JP" b="1" dirty="0" sz="1400" altLang="en-US">
                <a:solidFill>
                  <a:schemeClr val="lt1"/>
                </a:solidFill>
                <a:latin typeface="Noto Sans"/>
                <a:ea typeface="Noto Sans CJK JP"/>
                <a:cs typeface="Noto Sans"/>
              </a:rPr>
              <a:t>able of </a:t>
            </a:r>
            <a:r>
              <a:rPr lang="ja-JP" altLang="en-US" b="1" dirty="0" sz="1400">
                <a:solidFill>
                  <a:schemeClr val="lt1"/>
                </a:solidFill>
                <a:latin typeface="Noto Sans"/>
                <a:ea typeface="Noto Sans CJK JP"/>
                <a:cs typeface="Noto Sans"/>
              </a:rPr>
              <a:t>C</a:t>
            </a:r>
            <a:r>
              <a:rPr lang="ja-JP" b="1" dirty="0" sz="1400" altLang="en-US">
                <a:solidFill>
                  <a:schemeClr val="lt1"/>
                </a:solidFill>
                <a:latin typeface="Noto Sans"/>
                <a:ea typeface="Noto Sans CJK JP"/>
                <a:cs typeface="Noto Sans"/>
              </a:rPr>
              <a:t>ontents</a:t>
            </a:r>
            <a:endParaRPr b="1" dirty="0" lang="ja-JP" sz="1400" altLang="en-US">
              <a:solidFill>
                <a:schemeClr val="lt1"/>
              </a:solidFill>
              <a:latin typeface="Noto Sans"/>
              <a:ea typeface="Noto Sans CJK JP"/>
              <a:cs typeface="Noto Sans"/>
            </a:endParaRPr>
          </a:p>
        </p:txBody>
      </p:sp>
      <p:sp>
        <p:nvSpPr>
          <p:cNvPr id="76" name="Google Shape;76;p11"/>
          <p:cNvSpPr txBox="1"/>
          <p:nvPr/>
        </p:nvSpPr>
        <p:spPr>
          <a:xfrm>
            <a:off x="1236712" y="842226"/>
            <a:ext cx="5764979"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1.</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Background &amp; Purpose</a:t>
            </a:r>
            <a:endParaRPr lang="ja-JP" altLang="ja-JP" sz="2800" b="1" dirty="0">
              <a:solidFill>
                <a:schemeClr val="dk1"/>
              </a:solidFill>
              <a:latin typeface="Noto Sans"/>
              <a:ea typeface="Noto Sans CJK JP"/>
              <a:cs typeface="Noto Sans"/>
            </a:endParaRPr>
          </a:p>
        </p:txBody>
      </p:sp>
      <p:sp>
        <p:nvSpPr>
          <p:cNvPr id="79" name="Google Shape;79;p11"/>
          <p:cNvSpPr txBox="1"/>
          <p:nvPr/>
        </p:nvSpPr>
        <p:spPr>
          <a:xfrm>
            <a:off x="1236712" y="1664913"/>
            <a:ext cx="5412281"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2.</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Methodology</a:t>
            </a:r>
            <a:endParaRPr lang="ja-JP" altLang="ja-JP" sz="2800" b="1" dirty="0">
              <a:solidFill>
                <a:schemeClr val="dk1"/>
              </a:solidFill>
              <a:latin typeface="Noto Sans"/>
              <a:ea typeface="Noto Sans CJK JP"/>
              <a:cs typeface="Noto Sans"/>
            </a:endParaRPr>
          </a:p>
        </p:txBody>
      </p:sp>
      <p:sp>
        <p:nvSpPr>
          <p:cNvPr id="82" name="Google Shape;82;p11"/>
          <p:cNvSpPr txBox="1"/>
          <p:nvPr/>
        </p:nvSpPr>
        <p:spPr>
          <a:xfrm>
            <a:off x="1236712" y="2487598"/>
            <a:ext cx="6688590"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3.</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Classification Framework</a:t>
            </a:r>
            <a:endParaRPr lang="ja-JP" altLang="ja-JP" sz="2800" b="1" dirty="0">
              <a:solidFill>
                <a:schemeClr val="dk1"/>
              </a:solidFill>
              <a:latin typeface="Noto Sans"/>
              <a:ea typeface="Noto Sans CJK JP"/>
              <a:cs typeface="Noto Sans"/>
            </a:endParaRPr>
          </a:p>
        </p:txBody>
      </p:sp>
      <p:sp>
        <p:nvSpPr>
          <p:cNvPr id="85" name="Google Shape;85;p11"/>
          <p:cNvSpPr txBox="1"/>
          <p:nvPr userDrawn="1"/>
        </p:nvSpPr>
        <p:spPr>
          <a:xfrm>
            <a:off x="1236712" y="3310287"/>
            <a:ext cx="5020396"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4.</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Results &amp; Analysis</a:t>
            </a:r>
            <a:endParaRPr lang="ja-JP" altLang="ja-JP" sz="2800" b="1" dirty="0">
              <a:solidFill>
                <a:schemeClr val="dk1"/>
              </a:solidFill>
              <a:latin typeface="Noto Sans"/>
              <a:ea typeface="Noto Sans CJK JP"/>
              <a:cs typeface="Noto Sans"/>
            </a:endParaRPr>
          </a:p>
        </p:txBody>
      </p:sp>
      <p:sp>
        <p:nvSpPr>
          <p:cNvPr id="87" name="Google Shape;87;p11"/>
          <p:cNvSpPr txBox="1"/>
          <p:nvPr/>
        </p:nvSpPr>
        <p:spPr>
          <a:xfrm>
            <a:off x="1929203" y="3891800"/>
            <a:ext cx="5996100" cy="432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900" dirty="0" lang="ja-JP">
              <a:solidFill>
                <a:schemeClr val="dk1"/>
              </a:solidFill>
              <a:latin typeface="Noto Sans"/>
              <a:ea typeface="Noto Sans CJK JP"/>
              <a:cs typeface="Noto Sans"/>
            </a:endParaRPr>
          </a:p>
        </p:txBody>
      </p:sp>
      <p:sp>
        <p:nvSpPr>
          <p:cNvPr id="88" name="Google Shape;88;p11"/>
          <p:cNvSpPr txBox="1"/>
          <p:nvPr/>
        </p:nvSpPr>
        <p:spPr>
          <a:xfrm>
            <a:off x="1236712" y="4132975"/>
            <a:ext cx="6196053"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5.</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Conclusions and future work</a:t>
            </a:r>
            <a:endParaRPr lang="ja-JP" altLang="ja-JP" sz="2800" b="1" dirty="0">
              <a:solidFill>
                <a:schemeClr val="dk1"/>
              </a:solidFill>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normal">
  <p:cSld name="ONE_COLUMN_TEXT_1">
    <p:spTree>
      <p:nvGrpSpPr>
        <p:cNvPr id="1" name="Shape 21"/>
        <p:cNvGrpSpPr/>
        <p:nvPr/>
      </p:nvGrpSpPr>
      <p:grpSpPr>
        <a:xfrm>
          <a:off x="0" y="0"/>
          <a:ext cx="0" cy="0"/>
          <a:chOff x="0" y="0"/>
          <a:chExt cx="0" cy="0"/>
        </a:xfrm>
      </p:grpSpPr>
      <p:sp>
        <p:nvSpPr>
          <p:cNvPr id="22" name="Google Shape;22;p5"/>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24" name="Google Shape;24;p5"/>
          <p:cNvSpPr txBox="1">
            <a:spLocks noGrp="1"/>
          </p:cNvSpPr>
          <p:nvPr>
            <p:ph type="title"/>
          </p:nvPr>
        </p:nvSpPr>
        <p:spPr>
          <a:xfrm>
            <a:off x="468600" y="748150"/>
            <a:ext cx="8394600" cy="616200"/>
          </a:xfrm>
          <a:prstGeom prst="rect">
            <a:avLst/>
          </a:prstGeom>
        </p:spPr>
        <p:txBody>
          <a:bodyPr spcFirstLastPara="1" wrap="none" lIns="91425" tIns="91425" rIns="91425" bIns="91425" anchor="t" anchorCtr="0">
            <a:normAutofit/>
          </a:bodyPr>
          <a:lstStyle>
            <a:lvl1pPr lvl="0">
              <a:spcBef>
                <a:spcPts val="0"/>
              </a:spcBef>
              <a:spcAft>
                <a:spcPts val="0"/>
              </a:spcAft>
              <a:buClr>
                <a:schemeClr val="dk1"/>
              </a:buClr>
              <a:buNone/>
              <a:defRPr sz="3000" b="1" lang="ja-JP">
                <a:solidFill>
                  <a:schemeClr val="dk1"/>
                </a:solidFill>
                <a:latin typeface="Noto Sans"/>
                <a:ea typeface="Noto Sans CJK JP"/>
                <a:cs typeface="Noto Sans"/>
              </a:defRPr>
            </a:lvl1pPr>
            <a:lvl2pPr lvl="1">
              <a:spcBef>
                <a:spcPts val="0"/>
              </a:spcBef>
              <a:spcAft>
                <a:spcPts val="0"/>
              </a:spcAft>
              <a:buNone/>
              <a:defRPr lang="ja-JP">
                <a:latin typeface="Noto Sans"/>
                <a:ea typeface="Noto Sans CJK JP"/>
                <a:cs typeface="Noto Sans"/>
              </a:defRPr>
            </a:lvl2pPr>
            <a:lvl3pPr lvl="2">
              <a:spcBef>
                <a:spcPts val="0"/>
              </a:spcBef>
              <a:spcAft>
                <a:spcPts val="0"/>
              </a:spcAft>
              <a:buNone/>
              <a:defRPr lang="ja-JP">
                <a:latin typeface="Noto Sans"/>
                <a:ea typeface="Noto Sans CJK JP"/>
                <a:cs typeface="Noto Sans"/>
              </a:defRPr>
            </a:lvl3pPr>
            <a:lvl4pPr lvl="3">
              <a:spcBef>
                <a:spcPts val="0"/>
              </a:spcBef>
              <a:spcAft>
                <a:spcPts val="0"/>
              </a:spcAft>
              <a:buNone/>
              <a:defRPr lang="ja-JP">
                <a:latin typeface="Noto Sans"/>
                <a:ea typeface="Noto Sans CJK JP"/>
                <a:cs typeface="Noto Sans"/>
              </a:defRPr>
            </a:lvl4pPr>
            <a:lvl5pPr lvl="4">
              <a:spcBef>
                <a:spcPts val="0"/>
              </a:spcBef>
              <a:spcAft>
                <a:spcPts val="0"/>
              </a:spcAft>
              <a:buNone/>
              <a:defRPr lang="ja-JP">
                <a:latin typeface="Noto Sans"/>
                <a:ea typeface="Noto Sans CJK JP"/>
                <a:cs typeface="Noto Sans"/>
              </a:defRPr>
            </a:lvl5pPr>
            <a:lvl6pPr lvl="5">
              <a:spcBef>
                <a:spcPts val="0"/>
              </a:spcBef>
              <a:spcAft>
                <a:spcPts val="0"/>
              </a:spcAft>
              <a:buNone/>
              <a:defRPr lang="ja-JP">
                <a:latin typeface="Noto Sans"/>
                <a:ea typeface="Noto Sans CJK JP"/>
                <a:cs typeface="Noto Sans"/>
              </a:defRPr>
            </a:lvl6pPr>
            <a:lvl7pPr lvl="6">
              <a:spcBef>
                <a:spcPts val="0"/>
              </a:spcBef>
              <a:spcAft>
                <a:spcPts val="0"/>
              </a:spcAft>
              <a:buNone/>
              <a:defRPr lang="ja-JP">
                <a:latin typeface="Noto Sans"/>
                <a:ea typeface="Noto Sans CJK JP"/>
                <a:cs typeface="Noto Sans"/>
              </a:defRPr>
            </a:lvl7pPr>
            <a:lvl8pPr lvl="7">
              <a:spcBef>
                <a:spcPts val="0"/>
              </a:spcBef>
              <a:spcAft>
                <a:spcPts val="0"/>
              </a:spcAft>
              <a:buNone/>
              <a:defRPr lang="ja-JP">
                <a:latin typeface="Noto Sans"/>
                <a:ea typeface="Noto Sans CJK JP"/>
                <a:cs typeface="Noto Sans"/>
              </a:defRPr>
            </a:lvl8pPr>
            <a:lvl9pPr lvl="8">
              <a:spcBef>
                <a:spcPts val="0"/>
              </a:spcBef>
              <a:spcAft>
                <a:spcPts val="0"/>
              </a:spcAft>
              <a:buNone/>
              <a:defRPr lang="ja-JP">
                <a:latin typeface="Noto Sans"/>
                <a:ea typeface="Noto Sans CJK JP"/>
                <a:cs typeface="Noto Sans"/>
              </a:defRPr>
            </a:lvl9pPr>
          </a:lstStyle>
          <a:p>
            <a:endParaRPr lang="ja-JP">
              <a:latin typeface="Noto Sans"/>
              <a:ea typeface="Noto Sans CJK JP"/>
              <a:cs typeface="Noto Sans"/>
            </a:endParaRPr>
          </a:p>
        </p:txBody>
      </p:sp>
      <p:sp>
        <p:nvSpPr>
          <p:cNvPr id="25" name="Google Shape;25;p5"/>
          <p:cNvSpPr txBox="1">
            <a:spLocks noGrp="1"/>
          </p:cNvSpPr>
          <p:nvPr>
            <p:ph type="body" idx="1"/>
          </p:nvPr>
        </p:nvSpPr>
        <p:spPr>
          <a:xfrm>
            <a:off x="589650" y="1474850"/>
            <a:ext cx="7964700" cy="3458700"/>
          </a:xfrm>
          <a:prstGeom prst="rect">
            <a:avLst/>
          </a:prstGeom>
        </p:spPr>
        <p:txBody>
          <a:bodyPr spcFirstLastPara="1" wrap="square" lIns="91425" tIns="91425" rIns="91425" bIns="91425" anchor="t"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a:latin typeface="Noto Sans"/>
              <a:ea typeface="Noto Sans CJK JP"/>
              <a:cs typeface="Noto Sans"/>
            </a:endParaRPr>
          </a:p>
        </p:txBody>
      </p:sp>
      <p:sp>
        <p:nvSpPr>
          <p:cNvPr id="26" name="Google Shape;26;p5"/>
          <p:cNvSpPr txBox="1">
            <a:spLocks noGrp="1"/>
          </p:cNvSpPr>
          <p:nvPr>
            <p:ph type="title" idx="2"/>
          </p:nvPr>
        </p:nvSpPr>
        <p:spPr>
          <a:xfrm>
            <a:off x="76100" y="0"/>
            <a:ext cx="8048100" cy="480059"/>
          </a:xfrm>
          <a:prstGeom prst="rect">
            <a:avLst/>
          </a:prstGeom>
          <a:ln>
            <a:noFill/>
          </a:ln>
        </p:spPr>
        <p:txBody>
          <a:bodyPr spcFirstLastPara="1" wrap="square" lIns="91425" tIns="0" rIns="91425" bIns="0" anchor="ctr" anchorCtr="0">
            <a:normAutofit/>
          </a:bodyPr>
          <a:lstStyle>
            <a:lvl1pPr lv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a:spcBef>
                <a:spcPts val="0"/>
              </a:spcBef>
              <a:spcAft>
                <a:spcPts val="0"/>
              </a:spcAft>
              <a:buNone/>
              <a:defRPr lang="ja-JP" sz="1400" b="1" altLang="en-US">
                <a:latin typeface="Noto Sans"/>
                <a:ea typeface="Noto Sans CJK JP"/>
                <a:cs typeface="Noto Sans"/>
              </a:defRPr>
            </a:lvl2pPr>
            <a:lvl3pPr lvl="2">
              <a:spcBef>
                <a:spcPts val="0"/>
              </a:spcBef>
              <a:spcAft>
                <a:spcPts val="0"/>
              </a:spcAft>
              <a:buNone/>
              <a:defRPr lang="ja-JP" sz="1400" b="1" altLang="en-US">
                <a:latin typeface="Noto Sans"/>
                <a:ea typeface="Noto Sans CJK JP"/>
                <a:cs typeface="Noto Sans"/>
              </a:defRPr>
            </a:lvl3pPr>
            <a:lvl4pPr lvl="3">
              <a:spcBef>
                <a:spcPts val="0"/>
              </a:spcBef>
              <a:spcAft>
                <a:spcPts val="0"/>
              </a:spcAft>
              <a:buNone/>
              <a:defRPr lang="ja-JP" sz="1400" b="1" altLang="en-US">
                <a:latin typeface="Noto Sans"/>
                <a:ea typeface="Noto Sans CJK JP"/>
                <a:cs typeface="Noto Sans"/>
              </a:defRPr>
            </a:lvl4pPr>
            <a:lvl5pPr lvl="4">
              <a:spcBef>
                <a:spcPts val="0"/>
              </a:spcBef>
              <a:spcAft>
                <a:spcPts val="0"/>
              </a:spcAft>
              <a:buNone/>
              <a:defRPr lang="ja-JP" sz="1400" b="1" altLang="en-US">
                <a:latin typeface="Noto Sans"/>
                <a:ea typeface="Noto Sans CJK JP"/>
                <a:cs typeface="Noto Sans"/>
              </a:defRPr>
            </a:lvl5pPr>
            <a:lvl6pPr lvl="5">
              <a:spcBef>
                <a:spcPts val="0"/>
              </a:spcBef>
              <a:spcAft>
                <a:spcPts val="0"/>
              </a:spcAft>
              <a:buNone/>
              <a:defRPr lang="ja-JP" sz="1400" b="1" altLang="en-US">
                <a:latin typeface="Noto Sans"/>
                <a:ea typeface="Noto Sans CJK JP"/>
                <a:cs typeface="Noto Sans"/>
              </a:defRPr>
            </a:lvl6pPr>
            <a:lvl7pPr lvl="6">
              <a:spcBef>
                <a:spcPts val="0"/>
              </a:spcBef>
              <a:spcAft>
                <a:spcPts val="0"/>
              </a:spcAft>
              <a:buNone/>
              <a:defRPr lang="ja-JP" sz="1400" b="1" altLang="en-US">
                <a:latin typeface="Noto Sans"/>
                <a:ea typeface="Noto Sans CJK JP"/>
                <a:cs typeface="Noto Sans"/>
              </a:defRPr>
            </a:lvl7pPr>
            <a:lvl8pPr lvl="7">
              <a:spcBef>
                <a:spcPts val="0"/>
              </a:spcBef>
              <a:spcAft>
                <a:spcPts val="0"/>
              </a:spcAft>
              <a:buNone/>
              <a:defRPr lang="ja-JP" sz="1400" b="1" altLang="en-US">
                <a:latin typeface="Noto Sans"/>
                <a:ea typeface="Noto Sans CJK JP"/>
                <a:cs typeface="Noto Sans"/>
              </a:defRPr>
            </a:lvl8pPr>
            <a:lvl9pPr lvl="8">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dirty="0">
              <a:latin typeface="Noto Sans"/>
              <a:ea typeface="Noto Sans CJK JP"/>
              <a:cs typeface="Noto San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タイトルのみ">
  <p:cSld name="ONE_COLUMN_TEXT_1_4">
    <p:spTree>
      <p:nvGrpSpPr>
        <p:cNvPr id="1" name="Shape 27"/>
        <p:cNvGrpSpPr/>
        <p:nvPr/>
      </p:nvGrpSpPr>
      <p:grpSpPr>
        <a:xfrm>
          <a:off x="0" y="0"/>
          <a:ext cx="0" cy="0"/>
          <a:chOff x="0" y="0"/>
          <a:chExt cx="0" cy="0"/>
        </a:xfrm>
      </p:grpSpPr>
      <p:sp>
        <p:nvSpPr>
          <p:cNvPr id="28" name="Google Shape;28;p6"/>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30" name="Google Shape;30;p6"/>
          <p:cNvSpPr txBox="1">
            <a:spLocks noGrp="1"/>
          </p:cNvSpPr>
          <p:nvPr>
            <p:ph type="title"/>
          </p:nvPr>
        </p:nvSpPr>
        <p:spPr>
          <a:xfrm>
            <a:off x="468600" y="649825"/>
            <a:ext cx="8206800" cy="616200"/>
          </a:xfrm>
          <a:prstGeom prst="rect">
            <a:avLst/>
          </a:prstGeom>
        </p:spPr>
        <p:txBody>
          <a:bodyPr spcFirstLastPara="1" wrap="none" lIns="91425" tIns="91425" rIns="91425" bIns="91425" anchor="t" anchorCtr="0">
            <a:normAutofit/>
          </a:bodyPr>
          <a:lstStyle>
            <a:lvl1pPr lvl="0" rtl="0">
              <a:spcBef>
                <a:spcPts val="0"/>
              </a:spcBef>
              <a:spcAft>
                <a:spcPts val="0"/>
              </a:spcAft>
              <a:buClr>
                <a:schemeClr val="dk1"/>
              </a:buClr>
              <a:buNone/>
              <a:defRPr sz="3000" b="1" lang="ja-JP">
                <a:solidFill>
                  <a:schemeClr val="dk1"/>
                </a:solidFill>
                <a:latin typeface="Noto Sans"/>
                <a:ea typeface="Noto Sans CJK JP"/>
                <a:cs typeface="Noto Sans"/>
              </a:defRPr>
            </a:lvl1pPr>
            <a:lvl2pPr lvl="1" rtl="0">
              <a:spcBef>
                <a:spcPts val="0"/>
              </a:spcBef>
              <a:spcAft>
                <a:spcPts val="0"/>
              </a:spcAft>
              <a:buNone/>
              <a:defRPr lang="ja-JP">
                <a:latin typeface="Noto Sans"/>
                <a:ea typeface="Noto Sans CJK JP"/>
                <a:cs typeface="Noto Sans"/>
              </a:defRPr>
            </a:lvl2pPr>
            <a:lvl3pPr lvl="2" rtl="0">
              <a:spcBef>
                <a:spcPts val="0"/>
              </a:spcBef>
              <a:spcAft>
                <a:spcPts val="0"/>
              </a:spcAft>
              <a:buNone/>
              <a:defRPr lang="ja-JP">
                <a:latin typeface="Noto Sans"/>
                <a:ea typeface="Noto Sans CJK JP"/>
                <a:cs typeface="Noto Sans"/>
              </a:defRPr>
            </a:lvl3pPr>
            <a:lvl4pPr lvl="3" rtl="0">
              <a:spcBef>
                <a:spcPts val="0"/>
              </a:spcBef>
              <a:spcAft>
                <a:spcPts val="0"/>
              </a:spcAft>
              <a:buNone/>
              <a:defRPr lang="ja-JP">
                <a:latin typeface="Noto Sans"/>
                <a:ea typeface="Noto Sans CJK JP"/>
                <a:cs typeface="Noto Sans"/>
              </a:defRPr>
            </a:lvl4pPr>
            <a:lvl5pPr lvl="4" rtl="0">
              <a:spcBef>
                <a:spcPts val="0"/>
              </a:spcBef>
              <a:spcAft>
                <a:spcPts val="0"/>
              </a:spcAft>
              <a:buNone/>
              <a:defRPr lang="ja-JP">
                <a:latin typeface="Noto Sans"/>
                <a:ea typeface="Noto Sans CJK JP"/>
                <a:cs typeface="Noto Sans"/>
              </a:defRPr>
            </a:lvl5pPr>
            <a:lvl6pPr lvl="5" rtl="0">
              <a:spcBef>
                <a:spcPts val="0"/>
              </a:spcBef>
              <a:spcAft>
                <a:spcPts val="0"/>
              </a:spcAft>
              <a:buNone/>
              <a:defRPr lang="ja-JP">
                <a:latin typeface="Noto Sans"/>
                <a:ea typeface="Noto Sans CJK JP"/>
                <a:cs typeface="Noto Sans"/>
              </a:defRPr>
            </a:lvl6pPr>
            <a:lvl7pPr lvl="6" rtl="0">
              <a:spcBef>
                <a:spcPts val="0"/>
              </a:spcBef>
              <a:spcAft>
                <a:spcPts val="0"/>
              </a:spcAft>
              <a:buNone/>
              <a:defRPr lang="ja-JP">
                <a:latin typeface="Noto Sans"/>
                <a:ea typeface="Noto Sans CJK JP"/>
                <a:cs typeface="Noto Sans"/>
              </a:defRPr>
            </a:lvl7pPr>
            <a:lvl8pPr lvl="7" rtl="0">
              <a:spcBef>
                <a:spcPts val="0"/>
              </a:spcBef>
              <a:spcAft>
                <a:spcPts val="0"/>
              </a:spcAft>
              <a:buNone/>
              <a:defRPr lang="ja-JP">
                <a:latin typeface="Noto Sans"/>
                <a:ea typeface="Noto Sans CJK JP"/>
                <a:cs typeface="Noto Sans"/>
              </a:defRPr>
            </a:lvl8pPr>
            <a:lvl9pPr lvl="8" rtl="0">
              <a:spcBef>
                <a:spcPts val="0"/>
              </a:spcBef>
              <a:spcAft>
                <a:spcPts val="0"/>
              </a:spcAft>
              <a:buNone/>
              <a:defRPr lang="ja-JP">
                <a:latin typeface="Noto Sans"/>
                <a:ea typeface="Noto Sans CJK JP"/>
                <a:cs typeface="Noto Sans"/>
              </a:defRPr>
            </a:lvl9pPr>
          </a:lstStyle>
          <a:p>
            <a:endParaRPr lang="ja-JP">
              <a:latin typeface="Noto Sans"/>
              <a:ea typeface="Noto Sans CJK JP"/>
              <a:cs typeface="Noto Sans"/>
            </a:endParaRPr>
          </a:p>
        </p:txBody>
      </p:sp>
      <p:sp>
        <p:nvSpPr>
          <p:cNvPr id="31" name="Google Shape;31;p6"/>
          <p:cNvSpPr txBox="1">
            <a:spLocks noGrp="1"/>
          </p:cNvSpPr>
          <p:nvPr>
            <p:ph type="title" idx="2"/>
          </p:nvPr>
        </p:nvSpPr>
        <p:spPr>
          <a:xfrm>
            <a:off x="76100" y="0"/>
            <a:ext cx="81153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ransition" type="secHead">
  <p:cSld name="ONE_COLUMN_TEXT_1_4_1">
    <p:spTree>
      <p:nvGrpSpPr>
        <p:cNvPr id="1" name="Shape 32"/>
        <p:cNvGrpSpPr/>
        <p:nvPr/>
      </p:nvGrpSpPr>
      <p:grpSpPr>
        <a:xfrm>
          <a:off x="0" y="0"/>
          <a:ext cx="0" cy="0"/>
          <a:chOff x="0" y="0"/>
          <a:chExt cx="0" cy="0"/>
        </a:xfrm>
      </p:grpSpPr>
      <p:sp>
        <p:nvSpPr>
          <p:cNvPr id="33" name="Google Shape;33;p7"/>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35" name="Google Shape;35;p7"/>
          <p:cNvSpPr txBox="1">
            <a:spLocks noGrp="1"/>
          </p:cNvSpPr>
          <p:nvPr>
            <p:ph type="title"/>
          </p:nvPr>
        </p:nvSpPr>
        <p:spPr>
          <a:xfrm>
            <a:off x="548640" y="2414016"/>
            <a:ext cx="8046720" cy="822960"/>
          </a:xfrm>
          <a:prstGeom prst="rect">
            <a:avLst/>
          </a:prstGeom>
        </p:spPr>
        <p:txBody>
          <a:bodyPr spcFirstLastPara="1" wrap="none" lIns="0" tIns="0" rIns="0" bIns="0" anchor="ctr" anchorCtr="0">
            <a:normAutofit/>
          </a:bodyPr>
          <a:lstStyle>
            <a:lvl1pPr lvl="0" rtl="0" algn="ctr">
              <a:spcBef>
                <a:spcPts val="0"/>
              </a:spcBef>
              <a:spcAft>
                <a:spcPts val="0"/>
              </a:spcAft>
              <a:buClr>
                <a:schemeClr val="dk1"/>
              </a:buClr>
              <a:buNone/>
              <a:defRPr sz="3600" b="1" lang="ja-JP" altLang="en-US">
                <a:solidFill>
                  <a:schemeClr val="dk1"/>
                </a:solidFill>
                <a:latin typeface="Noto Sans"/>
                <a:ea typeface="Noto Sans CJK JP"/>
                <a:cs typeface="Noto Sans"/>
              </a:defRPr>
            </a:lvl1pPr>
            <a:lvl2pPr lvl="1" rtl="0" algn="ctr">
              <a:spcBef>
                <a:spcPts val="0"/>
              </a:spcBef>
              <a:spcAft>
                <a:spcPts val="0"/>
              </a:spcAft>
              <a:buNone/>
              <a:defRPr lang="ja-JP" sz="3600" b="1" altLang="en-US">
                <a:latin typeface="Noto Sans"/>
                <a:ea typeface="Noto Sans CJK JP"/>
                <a:cs typeface="Noto Sans"/>
              </a:defRPr>
            </a:lvl2pPr>
            <a:lvl3pPr lvl="2" rtl="0" algn="ctr">
              <a:spcBef>
                <a:spcPts val="0"/>
              </a:spcBef>
              <a:spcAft>
                <a:spcPts val="0"/>
              </a:spcAft>
              <a:buNone/>
              <a:defRPr lang="ja-JP" sz="3600" b="1" altLang="en-US">
                <a:latin typeface="Noto Sans"/>
                <a:ea typeface="Noto Sans CJK JP"/>
                <a:cs typeface="Noto Sans"/>
              </a:defRPr>
            </a:lvl3pPr>
            <a:lvl4pPr lvl="3" rtl="0" algn="ctr">
              <a:spcBef>
                <a:spcPts val="0"/>
              </a:spcBef>
              <a:spcAft>
                <a:spcPts val="0"/>
              </a:spcAft>
              <a:buNone/>
              <a:defRPr lang="ja-JP" sz="3600" b="1" altLang="en-US">
                <a:latin typeface="Noto Sans"/>
                <a:ea typeface="Noto Sans CJK JP"/>
                <a:cs typeface="Noto Sans"/>
              </a:defRPr>
            </a:lvl4pPr>
            <a:lvl5pPr lvl="4" rtl="0" algn="ctr">
              <a:spcBef>
                <a:spcPts val="0"/>
              </a:spcBef>
              <a:spcAft>
                <a:spcPts val="0"/>
              </a:spcAft>
              <a:buNone/>
              <a:defRPr lang="ja-JP" sz="3600" b="1" altLang="en-US">
                <a:latin typeface="Noto Sans"/>
                <a:ea typeface="Noto Sans CJK JP"/>
                <a:cs typeface="Noto Sans"/>
              </a:defRPr>
            </a:lvl5pPr>
            <a:lvl6pPr lvl="5" rtl="0" algn="ctr">
              <a:spcBef>
                <a:spcPts val="0"/>
              </a:spcBef>
              <a:spcAft>
                <a:spcPts val="0"/>
              </a:spcAft>
              <a:buNone/>
              <a:defRPr lang="ja-JP" sz="3600" b="1" altLang="en-US">
                <a:latin typeface="Noto Sans"/>
                <a:ea typeface="Noto Sans CJK JP"/>
                <a:cs typeface="Noto Sans"/>
              </a:defRPr>
            </a:lvl6pPr>
            <a:lvl7pPr lvl="6" rtl="0" algn="ctr">
              <a:spcBef>
                <a:spcPts val="0"/>
              </a:spcBef>
              <a:spcAft>
                <a:spcPts val="0"/>
              </a:spcAft>
              <a:buNone/>
              <a:defRPr lang="ja-JP" sz="3600" b="1" altLang="en-US">
                <a:latin typeface="Noto Sans"/>
                <a:ea typeface="Noto Sans CJK JP"/>
                <a:cs typeface="Noto Sans"/>
              </a:defRPr>
            </a:lvl7pPr>
            <a:lvl8pPr lvl="7" rtl="0" algn="ctr">
              <a:spcBef>
                <a:spcPts val="0"/>
              </a:spcBef>
              <a:spcAft>
                <a:spcPts val="0"/>
              </a:spcAft>
              <a:buNone/>
              <a:defRPr lang="ja-JP" sz="3600" b="1" altLang="en-US">
                <a:latin typeface="Noto Sans"/>
                <a:ea typeface="Noto Sans CJK JP"/>
                <a:cs typeface="Noto Sans"/>
              </a:defRPr>
            </a:lvl8pPr>
            <a:lvl9pPr lvl="8" rtl="0" algn="ctr">
              <a:spcBef>
                <a:spcPts val="0"/>
              </a:spcBef>
              <a:spcAft>
                <a:spcPts val="0"/>
              </a:spcAft>
              <a:buNone/>
              <a:defRPr lang="ja-JP" sz="3600" b="1" altLang="en-US">
                <a:latin typeface="Noto Sans"/>
                <a:ea typeface="Noto Sans CJK JP"/>
                <a:cs typeface="Noto Sans"/>
              </a:defRPr>
            </a:lvl9pPr>
          </a:lstStyle>
          <a:p>
            <a:pPr algn="ctr">
              <a:lnSpc>
                <a:spcPct val="110000"/>
              </a:lnSpc>
              <a:defRPr sz="3600" b="1" lang="ja-JP" altLang="en-US">
                <a:latin typeface="Noto Sans"/>
                <a:ea typeface="Noto Sans CJK JP"/>
                <a:cs typeface="Noto Sans"/>
              </a:defRPr>
            </a:pPr>
            <a:endParaRPr lang="ja-JP" sz="3600" b="1" altLang="en-US">
              <a:latin typeface="Noto Sans"/>
              <a:ea typeface="Noto Sans CJK JP"/>
              <a:cs typeface="Noto Sans"/>
            </a:endParaRPr>
          </a:p>
        </p:txBody>
      </p:sp>
      <p:sp>
        <p:nvSpPr>
          <p:cNvPr id="36" name="Google Shape;36;p7"/>
          <p:cNvSpPr txBox="1">
            <a:spLocks noGrp="1"/>
          </p:cNvSpPr>
          <p:nvPr>
            <p:ph type="title" idx="2"/>
          </p:nvPr>
        </p:nvSpPr>
        <p:spPr>
          <a:xfrm>
            <a:off x="76100" y="0"/>
            <a:ext cx="81153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本文のみ">
  <p:cSld name="ONE_COLUMN_TEXT_1_3">
    <p:spTree>
      <p:nvGrpSpPr>
        <p:cNvPr id="1" name="Shape 37"/>
        <p:cNvGrpSpPr/>
        <p:nvPr/>
      </p:nvGrpSpPr>
      <p:grpSpPr>
        <a:xfrm>
          <a:off x="0" y="0"/>
          <a:ext cx="0" cy="0"/>
          <a:chOff x="0" y="0"/>
          <a:chExt cx="0" cy="0"/>
        </a:xfrm>
      </p:grpSpPr>
      <p:sp>
        <p:nvSpPr>
          <p:cNvPr id="38" name="Google Shape;38;p8"/>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40" name="Google Shape;40;p8"/>
          <p:cNvSpPr txBox="1">
            <a:spLocks noGrp="1"/>
          </p:cNvSpPr>
          <p:nvPr>
            <p:ph type="body" idx="1"/>
          </p:nvPr>
        </p:nvSpPr>
        <p:spPr>
          <a:xfrm>
            <a:off x="589650" y="1185250"/>
            <a:ext cx="7964700" cy="3272100"/>
          </a:xfrm>
          <a:prstGeom prst="rect">
            <a:avLst/>
          </a:prstGeom>
        </p:spPr>
        <p:txBody>
          <a:bodyPr spcFirstLastPara="1" wrap="square" lIns="91425" tIns="91425" rIns="91425" bIns="91425" anchor="t"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a:latin typeface="Noto Sans"/>
              <a:ea typeface="Noto Sans CJK JP"/>
              <a:cs typeface="Noto Sans"/>
            </a:endParaRPr>
          </a:p>
        </p:txBody>
      </p:sp>
      <p:sp>
        <p:nvSpPr>
          <p:cNvPr id="41" name="Google Shape;41;p8"/>
          <p:cNvSpPr txBox="1">
            <a:spLocks noGrp="1"/>
          </p:cNvSpPr>
          <p:nvPr>
            <p:ph type="title"/>
          </p:nvPr>
        </p:nvSpPr>
        <p:spPr>
          <a:xfrm>
            <a:off x="76100" y="0"/>
            <a:ext cx="80595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ヘッダーのみ">
  <p:cSld name="ONE_COLUMN_TEXT_1_1">
    <p:spTree>
      <p:nvGrpSpPr>
        <p:cNvPr id="1" name="Shape 42"/>
        <p:cNvGrpSpPr/>
        <p:nvPr/>
      </p:nvGrpSpPr>
      <p:grpSpPr>
        <a:xfrm>
          <a:off x="0" y="0"/>
          <a:ext cx="0" cy="0"/>
          <a:chOff x="0" y="0"/>
          <a:chExt cx="0" cy="0"/>
        </a:xfrm>
      </p:grpSpPr>
      <p:sp>
        <p:nvSpPr>
          <p:cNvPr id="43" name="Google Shape;43;p9"/>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45" name="Google Shape;45;p9"/>
          <p:cNvSpPr txBox="1">
            <a:spLocks noGrp="1"/>
          </p:cNvSpPr>
          <p:nvPr>
            <p:ph type="title"/>
          </p:nvPr>
        </p:nvSpPr>
        <p:spPr>
          <a:xfrm>
            <a:off x="76100" y="0"/>
            <a:ext cx="81489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RT_AND_EXPLANATION">
    <p:spTree>
      <p:nvGrpSpPr>
        <p:cNvPr id="1" name=""/>
        <p:cNvGrpSpPr/>
        <p:nvPr/>
      </p:nvGrpSpPr>
      <p:grpSpPr>
        <a:xfrm>
          <a:off x="0" y="0"/>
          <a:ext cx="0" cy="0"/>
          <a:chOff x="0" y="0"/>
          <a:chExt cx="0" cy="0"/>
        </a:xfrm>
      </p:grpSpPr>
      <p:sp>
        <p:nvSpPr>
          <p:cNvPr id="2" name="Header band"/>
          <p:cNvSpPr txBox="1"/>
          <p:nvPr userDrawn="1"/>
        </p:nvSpPr>
        <p:spPr>
          <a:xfrm>
            <a:off x="0" y="0"/>
            <a:ext cx="9144000" cy="480059"/>
          </a:xfrm>
          <a:prstGeom prst="rect">
            <a:avLst/>
          </a:prstGeom>
          <a:solidFill>
            <a:schemeClr val="accent2"/>
          </a:solidFill>
          <a:ln>
            <a:noFill/>
          </a:ln>
        </p:spPr>
        <p:txBody>
          <a:bodyPr wrap="square" anchor="ctr" tIns="0" bIns="0"/>
          <a:lstStyle/>
          <a:p>
            <a:pPr algn="l">
              <a:lnSpc>
                <a:spcPct val="100000"/>
              </a:lnSpc>
              <a:spcBef>
                <a:spcPts val="0"/>
              </a:spcBef>
              <a:spcAft>
                <a:spcPts val="0"/>
              </a:spcAft>
            </a:pPr>
            <a:endParaRPr lang="ja-JP" dirty="0">
              <a:latin typeface="Noto Sans"/>
              <a:ea typeface="Noto Sans CJK JP"/>
              <a:cs typeface="Noto Sans"/>
            </a:endParaRPr>
          </a:p>
        </p:txBody>
      </p:sp>
      <p:sp>
        <p:nvSpPr>
          <p:cNvPr id="4" name="Chart Placeholder"/>
          <p:cNvSpPr txBox="1">
            <a:spLocks noGrp="1"/>
          </p:cNvSpPr>
          <p:nvPr>
            <p:ph idx="1"/>
          </p:nvPr>
        </p:nvSpPr>
        <p:spPr>
          <a:xfrm>
            <a:off x="456520" y="1250000"/>
            <a:ext cx="5715000" cy="3000000"/>
          </a:xfrm>
          <a:prstGeom prst="rect">
            <a:avLst/>
          </a:prstGeom>
          <a:solidFill>
            <a:schemeClr val="lt2"/>
          </a:solidFill>
          <a:ln>
            <a:noFill/>
          </a:ln>
        </p:spPr>
        <p:txBody>
          <a:bodyPr wrap="square"/>
          <a:lstStyle/>
          <a:p>
            <a:r>
              <a:rPr lang="ja-JP" sz="1800" b="0">
                <a:solidFill>
                  <a:schemeClr val="dk2"/>
                </a:solidFill>
                <a:latin typeface="Noto Sans"/>
                <a:ea typeface="Noto Sans CJK JP"/>
                <a:cs typeface="Noto Sans"/>
              </a:rPr>
              <a:t>Insert chart</a:t>
            </a:r>
            <a:endParaRPr lang="ja-JP">
              <a:latin typeface="Noto Sans"/>
              <a:ea typeface="Noto Sans CJK JP"/>
              <a:cs typeface="Noto Sans"/>
            </a:endParaRPr>
          </a:p>
        </p:txBody>
      </p:sp>
      <p:sp>
        <p:nvSpPr>
          <p:cNvPr id="5" name="Explanation Placeholder"/>
          <p:cNvSpPr txBox="1">
            <a:spLocks noGrp="1"/>
          </p:cNvSpPr>
          <p:nvPr>
            <p:ph type="body" idx="2"/>
          </p:nvPr>
        </p:nvSpPr>
        <p:spPr>
          <a:xfrm>
            <a:off x="6295292" y="1550000"/>
            <a:ext cx="2500000" cy="2400000"/>
          </a:xfrm>
          <a:prstGeom prst="rect">
            <a:avLst/>
          </a:prstGeom>
          <a:noFill/>
          <a:ln>
            <a:noFill/>
          </a:ln>
        </p:spPr>
        <p:txBody>
          <a:bodyPr wrap="square" lIns="91425" rIns="91425" tIns="91425" bIns="91425"/>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dirty="0">
              <a:latin typeface="Noto Sans"/>
              <a:ea typeface="Noto Sans CJK JP"/>
              <a:cs typeface="Noto Sans"/>
            </a:endParaRPr>
          </a:p>
        </p:txBody>
      </p:sp>
      <p:sp>
        <p:nvSpPr>
          <p:cNvPr id="6" name="Supporting Text Placeholder"/>
          <p:cNvSpPr txBox="1">
            <a:spLocks noGrp="1"/>
          </p:cNvSpPr>
          <p:nvPr>
            <p:ph type="body" idx="3"/>
          </p:nvPr>
        </p:nvSpPr>
        <p:spPr>
          <a:xfrm>
            <a:off x="500000" y="4650000"/>
            <a:ext cx="8144000" cy="260000"/>
          </a:xfrm>
          <a:prstGeom prst="rect">
            <a:avLst/>
          </a:prstGeom>
          <a:noFill/>
          <a:ln>
            <a:noFill/>
          </a:ln>
        </p:spPr>
        <p:txBody>
          <a:bodyPr wrap="square" lIns="91425" rIns="91425" tIns="91425" bIns="91425"/>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dirty="0">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
        <p:nvSpPr>
          <p:cNvPr id="9" name="タイトル 8">
            <a:extLst>
              <a:ext uri="{FF2B5EF4-FFF2-40B4-BE49-F238E27FC236}">
                <a16:creationId xmlns:a16="http://schemas.microsoft.com/office/drawing/2014/main" id="{25C0E310-B322-8587-531C-0E2F5BB13C5E}"/>
              </a:ext>
            </a:extLst>
          </p:cNvPr>
          <p:cNvSpPr>
            <a:spLocks noGrp="1"/>
          </p:cNvSpPr>
          <p:nvPr>
            <p:ph type="title"/>
          </p:nvPr>
        </p:nvSpPr>
        <p:spPr/>
        <p:txBody>
          <a:bodyPr/>
          <a:lstStyle/>
          <a:p>
            <a:endParaRPr kumimoji="1" lang="ja-JP" altLang="en-US">
              <a:latin typeface="Noto Sans"/>
              <a:ea typeface="Noto Sans CJK JP"/>
              <a:cs typeface="Noto San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ページ番号のみ 1">
  <p:cSld name="ONE_COLUMN_TEXT_1_2_1">
    <p:spTree>
      <p:nvGrpSpPr>
        <p:cNvPr id="1" name="Shape 93"/>
        <p:cNvGrpSpPr/>
        <p:nvPr/>
      </p:nvGrpSpPr>
      <p:grpSpPr>
        <a:xfrm>
          <a:off x="0" y="0"/>
          <a:ext cx="0" cy="0"/>
          <a:chOff x="0" y="0"/>
          <a:chExt cx="0" cy="0"/>
        </a:xfrm>
      </p:grpSpPr>
      <p:sp>
        <p:nvSpPr>
          <p:cNvPr id="96" name="Google Shape;96;p13"/>
          <p:cNvSpPr txBox="1">
            <a:spLocks noGrp="1"/>
          </p:cNvSpPr>
          <p:nvPr>
            <p:ph type="title"/>
          </p:nvPr>
        </p:nvSpPr>
        <p:spPr>
          <a:xfrm>
            <a:off x="5796650" y="4091225"/>
            <a:ext cx="3347400" cy="1052400"/>
          </a:xfrm>
          <a:prstGeom prst="rect">
            <a:avLst/>
          </a:prstGeom>
          <a:solidFill>
            <a:schemeClr val="accent2"/>
          </a:solidFill>
        </p:spPr>
        <p:txBody>
          <a:bodyPr spcFirstLastPara="1" wrap="square" lIns="126000" tIns="126000" rIns="91425" bIns="91425" anchor="ctr" anchorCtr="0">
            <a:normAutofit/>
          </a:bodyPr>
          <a:lstStyle>
            <a:lvl1pPr lvl="0" algn="ctr">
              <a:spcBef>
                <a:spcPts val="0"/>
              </a:spcBef>
              <a:spcAft>
                <a:spcPts val="0"/>
              </a:spcAft>
              <a:buClr>
                <a:schemeClr val="lt1"/>
              </a:buClr>
              <a:buNone/>
              <a:defRPr b="1" lang="ja-JP">
                <a:solidFill>
                  <a:schemeClr val="lt1"/>
                </a:solidFill>
                <a:latin typeface="Noto Sans"/>
                <a:ea typeface="Noto Sans CJK JP"/>
                <a:cs typeface="Noto Sans"/>
              </a:defRPr>
            </a:lvl1pPr>
            <a:lvl2pPr lvl="1">
              <a:spcBef>
                <a:spcPts val="0"/>
              </a:spcBef>
              <a:spcAft>
                <a:spcPts val="0"/>
              </a:spcAft>
              <a:buClr>
                <a:schemeClr val="lt1"/>
              </a:buClr>
              <a:buNone/>
              <a:defRPr sz="3200" b="1" lang="ja-JP">
                <a:solidFill>
                  <a:schemeClr val="lt1"/>
                </a:solidFill>
                <a:latin typeface="Noto Sans"/>
                <a:ea typeface="Noto Sans CJK JP"/>
                <a:cs typeface="Noto Sans"/>
              </a:defRPr>
            </a:lvl2pPr>
            <a:lvl3pPr lvl="2">
              <a:spcBef>
                <a:spcPts val="0"/>
              </a:spcBef>
              <a:spcAft>
                <a:spcPts val="0"/>
              </a:spcAft>
              <a:buClr>
                <a:schemeClr val="lt1"/>
              </a:buClr>
              <a:buNone/>
              <a:defRPr sz="3200" b="1" lang="ja-JP">
                <a:solidFill>
                  <a:schemeClr val="lt1"/>
                </a:solidFill>
                <a:latin typeface="Noto Sans"/>
                <a:ea typeface="Noto Sans CJK JP"/>
                <a:cs typeface="Noto Sans"/>
              </a:defRPr>
            </a:lvl3pPr>
            <a:lvl4pPr lvl="3">
              <a:spcBef>
                <a:spcPts val="0"/>
              </a:spcBef>
              <a:spcAft>
                <a:spcPts val="0"/>
              </a:spcAft>
              <a:buClr>
                <a:schemeClr val="lt1"/>
              </a:buClr>
              <a:buNone/>
              <a:defRPr sz="3200" b="1" lang="ja-JP">
                <a:solidFill>
                  <a:schemeClr val="lt1"/>
                </a:solidFill>
                <a:latin typeface="Noto Sans"/>
                <a:ea typeface="Noto Sans CJK JP"/>
                <a:cs typeface="Noto Sans"/>
              </a:defRPr>
            </a:lvl4pPr>
            <a:lvl5pPr lvl="4">
              <a:spcBef>
                <a:spcPts val="0"/>
              </a:spcBef>
              <a:spcAft>
                <a:spcPts val="0"/>
              </a:spcAft>
              <a:buClr>
                <a:schemeClr val="lt1"/>
              </a:buClr>
              <a:buNone/>
              <a:defRPr sz="3200" b="1" lang="ja-JP">
                <a:solidFill>
                  <a:schemeClr val="lt1"/>
                </a:solidFill>
                <a:latin typeface="Noto Sans"/>
                <a:ea typeface="Noto Sans CJK JP"/>
                <a:cs typeface="Noto Sans"/>
              </a:defRPr>
            </a:lvl5pPr>
            <a:lvl6pPr lvl="5">
              <a:spcBef>
                <a:spcPts val="0"/>
              </a:spcBef>
              <a:spcAft>
                <a:spcPts val="0"/>
              </a:spcAft>
              <a:buClr>
                <a:schemeClr val="lt1"/>
              </a:buClr>
              <a:buNone/>
              <a:defRPr sz="3200" b="1" lang="ja-JP">
                <a:solidFill>
                  <a:schemeClr val="lt1"/>
                </a:solidFill>
                <a:latin typeface="Noto Sans"/>
                <a:ea typeface="Noto Sans CJK JP"/>
                <a:cs typeface="Noto Sans"/>
              </a:defRPr>
            </a:lvl6pPr>
            <a:lvl7pPr lvl="6">
              <a:spcBef>
                <a:spcPts val="0"/>
              </a:spcBef>
              <a:spcAft>
                <a:spcPts val="0"/>
              </a:spcAft>
              <a:buClr>
                <a:schemeClr val="lt1"/>
              </a:buClr>
              <a:buNone/>
              <a:defRPr sz="3200" b="1" lang="ja-JP">
                <a:solidFill>
                  <a:schemeClr val="lt1"/>
                </a:solidFill>
                <a:latin typeface="Noto Sans"/>
                <a:ea typeface="Noto Sans CJK JP"/>
                <a:cs typeface="Noto Sans"/>
              </a:defRPr>
            </a:lvl7pPr>
            <a:lvl8pPr lvl="7">
              <a:spcBef>
                <a:spcPts val="0"/>
              </a:spcBef>
              <a:spcAft>
                <a:spcPts val="0"/>
              </a:spcAft>
              <a:buClr>
                <a:schemeClr val="lt1"/>
              </a:buClr>
              <a:buNone/>
              <a:defRPr sz="3200" b="1" lang="ja-JP">
                <a:solidFill>
                  <a:schemeClr val="lt1"/>
                </a:solidFill>
                <a:latin typeface="Noto Sans"/>
                <a:ea typeface="Noto Sans CJK JP"/>
                <a:cs typeface="Noto Sans"/>
              </a:defRPr>
            </a:lvl8pPr>
            <a:lvl9pPr lvl="8">
              <a:spcBef>
                <a:spcPts val="0"/>
              </a:spcBef>
              <a:spcAft>
                <a:spcPts val="0"/>
              </a:spcAft>
              <a:buClr>
                <a:schemeClr val="lt1"/>
              </a:buClr>
              <a:buNone/>
              <a:defRPr sz="3200" b="1" lang="ja-JP">
                <a:solidFill>
                  <a:schemeClr val="lt1"/>
                </a:solidFill>
                <a:latin typeface="Noto Sans"/>
                <a:ea typeface="Noto Sans CJK JP"/>
                <a:cs typeface="Noto Sans"/>
              </a:defRPr>
            </a:lvl9pPr>
          </a:lstStyle>
          <a:p>
            <a:endParaRPr dirty="0" lang="ja-JP">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dk2"/>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None/>
              <a:defRPr sz="2800" lang="ja-JP">
                <a:solidFill>
                  <a:schemeClr val="dk1"/>
                </a:solidFill>
                <a:latin typeface="Noto Sans"/>
                <a:ea typeface="Noto Sans CJK JP"/>
                <a:cs typeface="Noto Sans"/>
              </a:defRPr>
            </a:lvl1pPr>
            <a:lvl2pPr lvl="1">
              <a:spcBef>
                <a:spcPts val="0"/>
              </a:spcBef>
              <a:spcAft>
                <a:spcPts val="0"/>
              </a:spcAft>
              <a:buClr>
                <a:schemeClr val="dk1"/>
              </a:buClr>
              <a:buNone/>
              <a:defRPr sz="2800" lang="ja-JP">
                <a:solidFill>
                  <a:schemeClr val="dk1"/>
                </a:solidFill>
                <a:latin typeface="Noto Sans"/>
                <a:ea typeface="Noto Sans CJK JP"/>
                <a:cs typeface="Noto Sans"/>
              </a:defRPr>
            </a:lvl2pPr>
            <a:lvl3pPr lvl="2">
              <a:spcBef>
                <a:spcPts val="0"/>
              </a:spcBef>
              <a:spcAft>
                <a:spcPts val="0"/>
              </a:spcAft>
              <a:buClr>
                <a:schemeClr val="dk1"/>
              </a:buClr>
              <a:buNone/>
              <a:defRPr sz="2800" lang="ja-JP">
                <a:solidFill>
                  <a:schemeClr val="dk1"/>
                </a:solidFill>
                <a:latin typeface="Noto Sans"/>
                <a:ea typeface="Noto Sans CJK JP"/>
                <a:cs typeface="Noto Sans"/>
              </a:defRPr>
            </a:lvl3pPr>
            <a:lvl4pPr lvl="3">
              <a:spcBef>
                <a:spcPts val="0"/>
              </a:spcBef>
              <a:spcAft>
                <a:spcPts val="0"/>
              </a:spcAft>
              <a:buClr>
                <a:schemeClr val="dk1"/>
              </a:buClr>
              <a:buNone/>
              <a:defRPr sz="2800" lang="ja-JP">
                <a:solidFill>
                  <a:schemeClr val="dk1"/>
                </a:solidFill>
                <a:latin typeface="Noto Sans"/>
                <a:ea typeface="Noto Sans CJK JP"/>
                <a:cs typeface="Noto Sans"/>
              </a:defRPr>
            </a:lvl4pPr>
            <a:lvl5pPr lvl="4">
              <a:spcBef>
                <a:spcPts val="0"/>
              </a:spcBef>
              <a:spcAft>
                <a:spcPts val="0"/>
              </a:spcAft>
              <a:buClr>
                <a:schemeClr val="dk1"/>
              </a:buClr>
              <a:buNone/>
              <a:defRPr sz="2800" lang="ja-JP">
                <a:solidFill>
                  <a:schemeClr val="dk1"/>
                </a:solidFill>
                <a:latin typeface="Noto Sans"/>
                <a:ea typeface="Noto Sans CJK JP"/>
                <a:cs typeface="Noto Sans"/>
              </a:defRPr>
            </a:lvl5pPr>
            <a:lvl6pPr lvl="5">
              <a:spcBef>
                <a:spcPts val="0"/>
              </a:spcBef>
              <a:spcAft>
                <a:spcPts val="0"/>
              </a:spcAft>
              <a:buClr>
                <a:schemeClr val="dk1"/>
              </a:buClr>
              <a:buNone/>
              <a:defRPr sz="2800" lang="ja-JP">
                <a:solidFill>
                  <a:schemeClr val="dk1"/>
                </a:solidFill>
                <a:latin typeface="Noto Sans"/>
                <a:ea typeface="Noto Sans CJK JP"/>
                <a:cs typeface="Noto Sans"/>
              </a:defRPr>
            </a:lvl6pPr>
            <a:lvl7pPr lvl="6">
              <a:spcBef>
                <a:spcPts val="0"/>
              </a:spcBef>
              <a:spcAft>
                <a:spcPts val="0"/>
              </a:spcAft>
              <a:buClr>
                <a:schemeClr val="dk1"/>
              </a:buClr>
              <a:buNone/>
              <a:defRPr sz="2800" lang="ja-JP">
                <a:solidFill>
                  <a:schemeClr val="dk1"/>
                </a:solidFill>
                <a:latin typeface="Noto Sans"/>
                <a:ea typeface="Noto Sans CJK JP"/>
                <a:cs typeface="Noto Sans"/>
              </a:defRPr>
            </a:lvl7pPr>
            <a:lvl8pPr lvl="7">
              <a:spcBef>
                <a:spcPts val="0"/>
              </a:spcBef>
              <a:spcAft>
                <a:spcPts val="0"/>
              </a:spcAft>
              <a:buClr>
                <a:schemeClr val="dk1"/>
              </a:buClr>
              <a:buNone/>
              <a:defRPr sz="2800" lang="ja-JP">
                <a:solidFill>
                  <a:schemeClr val="dk1"/>
                </a:solidFill>
                <a:latin typeface="Noto Sans"/>
                <a:ea typeface="Noto Sans CJK JP"/>
                <a:cs typeface="Noto Sans"/>
              </a:defRPr>
            </a:lvl8pPr>
            <a:lvl9pPr lvl="8">
              <a:spcBef>
                <a:spcPts val="0"/>
              </a:spcBef>
              <a:spcAft>
                <a:spcPts val="0"/>
              </a:spcAft>
              <a:buClr>
                <a:schemeClr val="dk1"/>
              </a:buClr>
              <a:buNone/>
              <a:defRPr sz="2800" lang="ja-JP">
                <a:solidFill>
                  <a:schemeClr val="dk1"/>
                </a:solidFill>
                <a:latin typeface="Noto Sans"/>
                <a:ea typeface="Noto Sans CJK JP"/>
                <a:cs typeface="Noto Sans"/>
              </a:defRPr>
            </a:lvl9pPr>
          </a:lstStyle>
          <a:p>
            <a:endParaRPr lang="ja-JP">
              <a:latin typeface="Noto Sans"/>
              <a:ea typeface="Noto Sans CJK JP"/>
              <a:cs typeface="Noto Sans"/>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203200" lvl="0" indent="-152400">
              <a:lnSpc>
                <a:spcPct val="115000"/>
              </a:lnSpc>
              <a:spcBef>
                <a:spcPts val="0"/>
              </a:spcBef>
              <a:spcAft>
                <a:spcPts val="0"/>
              </a:spcAft>
              <a:buClr>
                <a:schemeClr val="dk2"/>
              </a:buClr>
              <a:buSzPct val="73889"/>
              <a:buFont typeface="Noto Sans CJK JP"/>
              <a:buChar char="●"/>
              <a:defRPr sz="1800" lang="ja-JP">
                <a:solidFill>
                  <a:schemeClr val="dk2"/>
                </a:solidFill>
                <a:latin typeface="Noto Sans"/>
                <a:ea typeface="Noto Sans CJK JP"/>
                <a:cs typeface="Noto Sans"/>
              </a:defRPr>
            </a:lvl1pPr>
            <a:lvl2pPr marL="482600" lvl="1"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2pPr>
            <a:lvl3pPr marL="762000" lvl="2"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3pPr>
            <a:lvl4pPr marL="1041400" lvl="3"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4pPr>
            <a:lvl5pPr marL="1320800" lvl="4"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5pPr>
            <a:lvl6pPr marL="1600200" lvl="5"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6pPr>
            <a:lvl7pPr marL="1879600" lvl="6"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7pPr>
            <a:lvl8pPr marL="2159000" lvl="7"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8pPr>
            <a:lvl9pPr marL="2438400" lvl="8"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9pPr>
          </a:lstStyle>
          <a:p>
            <a:endParaRPr lang="ja-JP">
              <a:latin typeface="Noto Sans"/>
              <a:ea typeface="Noto Sans CJK JP"/>
              <a:cs typeface="Noto Sans"/>
            </a:endParaRPr>
          </a:p>
        </p:txBody>
      </p:sp>
      <p:sp>
        <p:nvSpPr>
          <p:cNvPr id="8" name="Google Shape;8;p1"/>
          <p:cNvSpPr txBox="1">
            <a:spLocks noGrp="1"/>
          </p:cNvSpPr>
          <p:nvPr>
            <p:ph type="sldNum" idx="12"/>
          </p:nvPr>
        </p:nvSpPr>
        <p:spPr>
          <a:xfrm>
            <a:off x="8412480" y="7937"/>
            <a:ext cx="640080" cy="480059"/>
          </a:xfrm>
          <a:prstGeom prst="rect">
            <a:avLst/>
          </a:prstGeom>
          <a:noFill/>
          <a:ln>
            <a:noFill/>
          </a:ln>
        </p:spPr>
        <p:txBody>
          <a:bodyPr spcFirstLastPara="1" wrap="square" lIns="0" tIns="0" bIns="0" anchor="ctr" anchorCtr="0">
            <a:normAutofit/>
          </a:bodyPr>
          <a:lstStyle>
            <a:lvl1pPr lvl="0" algn="r">
              <a:buNone/>
              <a:defRPr sz="1000" lang="ja-JP">
                <a:solidFill>
                  <a:schemeClr val="dk2"/>
                </a:solidFill>
                <a:latin typeface="Noto Sans"/>
                <a:ea typeface="Noto Sans CJK JP"/>
                <a:cs typeface="Noto Sans"/>
              </a:defRPr>
            </a:lvl1pPr>
            <a:lvl2pPr lvl="1" algn="r">
              <a:buNone/>
              <a:defRPr sz="1000" lang="ja-JP">
                <a:solidFill>
                  <a:schemeClr val="dk2"/>
                </a:solidFill>
                <a:latin typeface="Noto Sans"/>
                <a:ea typeface="Noto Sans CJK JP"/>
                <a:cs typeface="Noto Sans"/>
              </a:defRPr>
            </a:lvl2pPr>
            <a:lvl3pPr lvl="2" algn="r">
              <a:buNone/>
              <a:defRPr sz="1000" lang="ja-JP">
                <a:solidFill>
                  <a:schemeClr val="dk2"/>
                </a:solidFill>
                <a:latin typeface="Noto Sans"/>
                <a:ea typeface="Noto Sans CJK JP"/>
                <a:cs typeface="Noto Sans"/>
              </a:defRPr>
            </a:lvl3pPr>
            <a:lvl4pPr lvl="3" algn="r">
              <a:buNone/>
              <a:defRPr sz="1000" lang="ja-JP">
                <a:solidFill>
                  <a:schemeClr val="dk2"/>
                </a:solidFill>
                <a:latin typeface="Noto Sans"/>
                <a:ea typeface="Noto Sans CJK JP"/>
                <a:cs typeface="Noto Sans"/>
              </a:defRPr>
            </a:lvl4pPr>
            <a:lvl5pPr lvl="4" algn="r">
              <a:buNone/>
              <a:defRPr sz="1000" lang="ja-JP">
                <a:solidFill>
                  <a:schemeClr val="dk2"/>
                </a:solidFill>
                <a:latin typeface="Noto Sans"/>
                <a:ea typeface="Noto Sans CJK JP"/>
                <a:cs typeface="Noto Sans"/>
              </a:defRPr>
            </a:lvl5pPr>
            <a:lvl6pPr lvl="5" algn="r">
              <a:buNone/>
              <a:defRPr sz="1000" lang="ja-JP">
                <a:solidFill>
                  <a:schemeClr val="dk2"/>
                </a:solidFill>
                <a:latin typeface="Noto Sans"/>
                <a:ea typeface="Noto Sans CJK JP"/>
                <a:cs typeface="Noto Sans"/>
              </a:defRPr>
            </a:lvl6pPr>
            <a:lvl7pPr lvl="6" algn="r">
              <a:buNone/>
              <a:defRPr sz="1000" lang="ja-JP">
                <a:solidFill>
                  <a:schemeClr val="dk2"/>
                </a:solidFill>
                <a:latin typeface="Noto Sans"/>
                <a:ea typeface="Noto Sans CJK JP"/>
                <a:cs typeface="Noto Sans"/>
              </a:defRPr>
            </a:lvl7pPr>
            <a:lvl8pPr lvl="7" algn="r">
              <a:buNone/>
              <a:defRPr sz="1000" lang="ja-JP">
                <a:solidFill>
                  <a:schemeClr val="dk2"/>
                </a:solidFill>
                <a:latin typeface="Noto Sans"/>
                <a:ea typeface="Noto Sans CJK JP"/>
                <a:cs typeface="Noto Sans"/>
              </a:defRPr>
            </a:lvl8pPr>
            <a:lvl9pPr lvl="8" algn="r">
              <a:buNone/>
              <a:defRPr sz="1000" lang="ja-JP">
                <a:solidFill>
                  <a:schemeClr val="dk2"/>
                </a:solidFill>
                <a:latin typeface="Noto Sans"/>
                <a:ea typeface="Noto Sans CJK JP"/>
                <a:cs typeface="Noto Sans"/>
              </a:defRPr>
            </a:lvl9pPr>
          </a:lstStyle>
          <a:p>
            <a:pPr marL="0" lvl="0" indent="0" algn="r" rtl="0">
              <a:lnSpc>
                <a:spcPct val="100000"/>
              </a:lnSpc>
              <a:spcBef>
                <a:spcPts val="0"/>
              </a:spcBef>
              <a:spcAft>
                <a:spcPts val="0"/>
              </a:spcAft>
              <a:buNone/>
            </a:pPr>
            <a:fld id="{00000000-1234-1234-1234-123412341234}" type="slidenum">
              <a:rPr lang="ja-JP">
                <a:latin typeface="Noto Sans"/>
                <a:ea typeface="Noto Sans CJK JP"/>
                <a:cs typeface="Noto Sans"/>
              </a:rPr>
              <a:t>‹#›</a:t>
            </a:fld>
            <a:endParaRPr lang="ja-JP">
              <a:latin typeface="Noto Sans"/>
              <a:ea typeface="Noto Sans CJK JP"/>
              <a:cs typeface="Noto Sans"/>
            </a:endParaRPr>
          </a:p>
        </p:txBody>
      </p:sp>
    </p:spTree>
  </p:cSld>
  <p:clrMap bg1="lt1" tx1="dk1" bg2="dk2" tx2="lt2" accent1="accent1" accent2="accent2" accent3="accent3" accent4="accent4" accent5="accent5" accent6="accent6" hlink="hlink" folHlink="folHlink"/>
  <p:sldLayoutIdLst>
    <p:sldLayoutId id="2147483648" r:id="rId1"/>
    <p:sldLayoutId id="2147483657" r:id="rId2"/>
    <p:sldLayoutId id="2147483651" r:id="rId3"/>
    <p:sldLayoutId id="2147483652" r:id="rId4"/>
    <p:sldLayoutId id="2147483653" r:id="rId5"/>
    <p:sldLayoutId id="2147483654" r:id="rId6"/>
    <p:sldLayoutId id="2147483655" r:id="rId7"/>
    <p:sldLayoutId id="2147483658" r:id="rId8"/>
    <p:sldLayoutId id="2147483659"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1pPr>
      <a:lvl2pPr marR="0" lvl="1"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2pPr>
      <a:lvl3pPr marR="0" lvl="2"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3pPr>
      <a:lvl4pPr marR="0" lvl="3"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4pPr>
      <a:lvl5pPr marR="0" lvl="4"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5pPr>
      <a:lvl6pPr marR="0" lvl="5"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6pPr>
      <a:lvl7pPr marR="0" lvl="6"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7pPr>
      <a:lvl8pPr marR="0" lvl="7"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8pPr>
      <a:lvl9pPr marR="0" lvl="8"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9pPr>
    </p:titleStyle>
    <p:body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1pPr>
      <a:lvl2pPr marR="0" lvl="1"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2pPr>
      <a:lvl3pPr marR="0" lvl="2"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3pPr>
      <a:lvl4pPr marR="0" lvl="3"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4pPr>
      <a:lvl5pPr marR="0" lvl="4"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5pPr>
      <a:lvl6pPr marR="0" lvl="5"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6pPr>
      <a:lvl7pPr marR="0" lvl="6"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7pPr>
      <a:lvl8pPr marR="0" lvl="7"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8pPr>
      <a:lvl9pPr marR="0" lvl="8"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 Id="rId3" Type="http://schemas.openxmlformats.org/officeDocument/2006/relationships/hyperlink" Target="https://livebench.ai/"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406.19314" TargetMode="External"/><Relationship Id="rId3" Type="http://schemas.openxmlformats.org/officeDocument/2006/relationships/hyperlink" Target="https://livebench.ai/"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LiveBench/LiveBench" TargetMode="External"/><Relationship Id="rId3" Type="http://schemas.openxmlformats.org/officeDocument/2006/relationships/hyperlink" Target="https://livebench.ai/#/methodology"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livebench/reasoning"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livebench/reasoning"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livebench/reasoning"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livebench/data_analysis"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livebench/data_analysis"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livebench/instruction_following"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livebench/instruction_following"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livebench/instruction_following"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406.19314"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406.19314"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406.19314"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406.19314"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406.19314" TargetMode="External"/><Relationship Id="rId3" Type="http://schemas.openxmlformats.org/officeDocument/2006/relationships/hyperlink" Target="https://github.com/LiveBench/LiveBench"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LiveBench/LiveBench"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406.19314"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LiveBench/LiveBench/blob/main/changelog.md"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livebench.ai/#/methodology"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livebench.ai/#/methodology"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livebench.ai/#/methodology"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livebench.ai/"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LiveBench/LiveBench/blob/main/docs/DATASHEET.md" TargetMode="External"/><Relationship Id="rId3" Type="http://schemas.openxmlformats.org/officeDocument/2006/relationships/hyperlink" Target="https://github.com/LiveBench/LiveBench"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LiveBench/LiveBench"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406.19314" TargetMode="External"/><Relationship Id="rId3" Type="http://schemas.openxmlformats.org/officeDocument/2006/relationships/hyperlink" Target="https://livebench.ai/#/methodology"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livebench/coding"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livebench/coding"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livebench/coding"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livebench/coding"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livebench/math"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livebench/math"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livebench/math"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livebench/reasoning"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livebench/reasoning"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livebench/reasoning"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livebench/reasoning" TargetMode="Externa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livebench/language" TargetMode="Externa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livebench/language" TargetMode="Externa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livebench/language" TargetMode="Externa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livebench/language" TargetMode="Externa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livebench/language" TargetMode="Externa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livebench/language" TargetMode="Externa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livebench/language" TargetMode="Externa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livebench/language" TargetMode="Externa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livebench/language" TargetMode="Externa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livebench/data_analysis" TargetMode="Externa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livebench/data_analysis" TargetMode="Externa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livebench/data_analysis" TargetMode="Externa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livebench/data_analysis" TargetMode="Externa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LiveBench/LiveBench/blob/main/changelog.md" TargetMode="External"/><Relationship Id="rId3" Type="http://schemas.openxmlformats.org/officeDocument/2006/relationships/hyperlink" Target="https://livebench.ai/#/methodology" TargetMode="Externa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proceedings.iclr.cc/paper_files/paper/2025/file/e4a46394ba5378b3f9a186a5b4c650d1-Paper-Conference.pdf" TargetMode="External"/><Relationship Id="rId3" Type="http://schemas.openxmlformats.org/officeDocument/2006/relationships/hyperlink" Target="https://livebench.ai/#/methodology" TargetMode="Externa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LiveBench/LiveBench" TargetMode="External"/><Relationship Id="rId3" Type="http://schemas.openxmlformats.org/officeDocument/2006/relationships/hyperlink" Target="https://github.com/LiveBench/LiveBench/blob/main/docs/DATASHEET.md"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548640" y="1888452"/>
            <a:ext cx="8046720" cy="902970"/>
          </a:xfrm>
        </p:spPr>
        <p:txBody>
          <a:bodyPr wrap="square" lIns="0" rIns="0" tIns="0" bIns="0">
            <a:noAutofit/>
          </a:bodyPr>
          <a:lstStyle/>
          <a:p>
            <a:pPr algn="ctr">
              <a:lnSpc>
                <a:spcPct val="110000"/>
              </a:lnSpc>
              <a:buNone/>
              <a:defRPr sz="5400" b="0">
                <a:solidFill>
                  <a:srgbClr val="303437"/>
                </a:solidFill>
                <a:latin typeface="Noto Sans"/>
              </a:defRPr>
            </a:pPr>
            <a:r>
              <a:rPr sz="5400" b="1" lang="ja-JP" altLang="en-US">
                <a:solidFill>
                  <a:srgbClr val="303437"/>
                </a:solidFill>
                <a:latin typeface="Noto Sans"/>
                <a:ea typeface="Noto Sans CJK JP"/>
                <a:cs typeface="Noto Sans"/>
              </a:rPr>
              <a:t>LiveBench</a:t>
            </a:r>
          </a:p>
        </p:txBody>
      </p:sp>
      <p:sp>
        <p:nvSpPr>
          <p:cNvPr id="3" name="Subtitle 2"/>
          <p:cNvSpPr>
            <a:spLocks noGrp="1"/>
          </p:cNvSpPr>
          <p:nvPr>
            <p:ph type="subTitle" idx="1"/>
          </p:nvPr>
        </p:nvSpPr>
        <p:spPr>
          <a:xfrm>
            <a:off x="548640" y="2898102"/>
            <a:ext cx="8046720" cy="488315"/>
          </a:xfrm>
        </p:spPr>
        <p:txBody>
          <a:bodyPr lIns="0" rIns="0" tIns="0" bIns="0">
            <a:noAutofit/>
          </a:bodyPr>
          <a:lstStyle/>
          <a:p>
            <a:pPr algn="ctr">
              <a:lnSpc>
                <a:spcPct val="125000"/>
              </a:lnSpc>
              <a:spcAft>
                <a:spcPts val="0"/>
              </a:spcAft>
              <a:buNone/>
              <a:defRPr sz="2500" b="0">
                <a:solidFill>
                  <a:srgbClr val="303437"/>
                </a:solidFill>
                <a:latin typeface="Noto Sans"/>
              </a:defRPr>
            </a:pPr>
            <a:r>
              <a:rPr sz="2500" b="0" lang="ja-JP" altLang="en-US">
                <a:solidFill>
                  <a:srgbClr val="303437"/>
                </a:solidFill>
                <a:latin typeface="Noto Sans"/>
                <a:ea typeface="Noto Sans CJK JP"/>
                <a:cs typeface="Noto Sans"/>
              </a:rPr>
              <a:t>問題を更新し、幅広い能力を評価する</a:t>
            </a:r>
          </a:p>
        </p:txBody>
      </p:sp>
      <p:sp>
        <p:nvSpPr>
          <p:cNvPr id="5" name="Text Placeholder 4"/>
          <p:cNvSpPr>
            <a:spLocks noGrp="1"/>
          </p:cNvSpPr>
          <p:nvPr>
            <p:ph type="body" idx="11"/>
          </p:nvPr>
        </p:nvSpPr>
        <p:spPr>
          <a:xfrm>
            <a:off x="5486400" y="4416552"/>
            <a:ext cx="3108960" cy="402336"/>
          </a:xfrm>
        </p:spPr>
        <p:txBody>
          <a:bodyPr wrap="square" lIns="0" rIns="0" tIns="0" bIns="0">
            <a:noAutofit/>
          </a:bodyPr>
          <a:lstStyle/>
          <a:p>
            <a:pPr algn="r">
              <a:lnSpc>
                <a:spcPct val="110000"/>
              </a:lnSpc>
              <a:buNone/>
              <a:defRPr sz="2000" b="0">
                <a:solidFill>
                  <a:srgbClr val="303437"/>
                </a:solidFill>
                <a:latin typeface="Noto Sans"/>
              </a:defRPr>
            </a:pPr>
            <a:r>
              <a:rPr sz="2000" b="0" lang="ja-JP" altLang="en-US">
                <a:solidFill>
                  <a:srgbClr val="303437"/>
                </a:solidFill>
                <a:latin typeface="Noto Sans"/>
                <a:ea typeface="Noto Sans CJK JP"/>
                <a:cs typeface="Noto Sans"/>
              </a:rPr>
              <a:t>sasakiy84</a:t>
            </a:r>
          </a:p>
        </p:txBody>
      </p:sp>
      <p:sp>
        <p:nvSpPr>
          <p:cNvPr id="6" name="Text Placeholder 5"/>
          <p:cNvSpPr>
            <a:spLocks noGrp="1"/>
          </p:cNvSpPr>
          <p:nvPr>
            <p:ph type="body" idx="12"/>
          </p:nvPr>
        </p:nvSpPr>
        <p:spPr>
          <a:xfrm>
            <a:off x="457200" y="274320"/>
            <a:ext cx="8229600" cy="274320"/>
          </a:xfrm>
        </p:spPr>
        <p:txBody>
          <a:bodyPr wrap="square" lIns="0" rIns="0" tIns="0" bIns="0">
            <a:noAutofit/>
          </a:bodyPr>
          <a:lstStyle/>
          <a:p>
            <a:pPr algn="l">
              <a:lnSpc>
                <a:spcPct val="110000"/>
              </a:lnSpc>
              <a:buNone/>
              <a:defRPr sz="1400" b="0">
                <a:solidFill>
                  <a:srgbClr val="303437"/>
                </a:solidFill>
                <a:latin typeface="Noto Sans"/>
              </a:defRPr>
            </a:pPr>
            <a:r>
              <a:rPr sz="1400" b="0" lang="ja-JP" altLang="en-US">
                <a:solidFill>
                  <a:srgbClr val="626669"/>
                </a:solidFill>
                <a:latin typeface="Noto Sans"/>
                <a:ea typeface="Noto Sans CJK JP"/>
                <a:cs typeface="Noto Sans"/>
              </a:rPr>
              <a:t>datasets in 10 minutes (2026-10-25)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
            </a:r>
          </a:p>
        </p:txBody>
      </p:sp>
      <p:sp>
        <p:nvSpPr>
          <p:cNvPr id="3" name="Text Placeholder 2"/>
          <p:cNvSpPr>
            <a:spLocks noGrp="1"/>
          </p:cNvSpPr>
          <p:nvPr>
            <p:ph type="body" idx="1"/>
          </p:nvPr>
        </p:nvSpPr>
        <p:spPr>
          <a:xfrm>
            <a:off x="640080" y="1663901"/>
            <a:ext cx="7863840" cy="2362199"/>
          </a:xfrm>
        </p:spPr>
        <p:txBody>
          <a:bodyPr lIns="0" rIns="0" tIns="0" bIns="0">
            <a:noAutofit/>
          </a:bodyPr>
          <a:lstStyle/>
          <a:p>
            <a:pPr marL="457200" indent="-457200">
              <a:lnSpc>
                <a:spcPts val="3660"/>
              </a:lnSpc>
              <a:spcAft>
                <a:spcPts val="1200"/>
              </a:spcAft>
              <a:buSzPct val="100000"/>
              <a:buFont typeface="Noto Sans CJK JP"/>
              <a:buAutoNum type="arabicPeriod" startAt="1"/>
              <a:defRPr sz="3000" b="1">
                <a:solidFill>
                  <a:srgbClr val="303437"/>
                </a:solidFill>
                <a:latin typeface="Noto Sans"/>
              </a:defRPr>
            </a:pPr>
            <a:r>
              <a:rPr sz="3000" b="1" lang="ja-JP" altLang="en-US">
                <a:solidFill>
                  <a:srgbClr val="303437"/>
                </a:solidFill>
                <a:latin typeface="Noto Sans"/>
                <a:ea typeface="Noto Sans CJK JP"/>
                <a:cs typeface="Noto Sans"/>
              </a:rPr>
              <a:t>公開問題で課題と正解を見る</a:t>
            </a:r>
          </a:p>
          <a:p>
            <a:pPr marL="457200" indent="-457200">
              <a:lnSpc>
                <a:spcPts val="3660"/>
              </a:lnSpc>
              <a:spcAft>
                <a:spcPts val="1200"/>
              </a:spcAft>
              <a:buSzPct val="100000"/>
              <a:buFont typeface="Noto Sans CJK JP"/>
              <a:buAutoNum type="arabicPeriod" startAt="2"/>
              <a:defRPr sz="3000" b="1">
                <a:solidFill>
                  <a:srgbClr val="303437"/>
                </a:solidFill>
                <a:latin typeface="Noto Sans"/>
              </a:defRPr>
            </a:pPr>
            <a:r>
              <a:rPr sz="3000" b="1" lang="ja-JP" altLang="en-US">
                <a:solidFill>
                  <a:srgbClr val="303437"/>
                </a:solidFill>
                <a:latin typeface="Noto Sans"/>
                <a:ea typeface="Noto Sans CJK JP"/>
                <a:cs typeface="Noto Sans"/>
              </a:rPr>
              <a:t>問題の構築と分野の広がり</a:t>
            </a:r>
          </a:p>
          <a:p>
            <a:pPr marL="457200" indent="-457200">
              <a:lnSpc>
                <a:spcPts val="3660"/>
              </a:lnSpc>
              <a:spcAft>
                <a:spcPts val="1200"/>
              </a:spcAft>
              <a:buSzPct val="100000"/>
              <a:buFont typeface="Noto Sans CJK JP"/>
              <a:buAutoNum type="arabicPeriod" startAt="3"/>
              <a:defRPr sz="3000" b="1">
                <a:solidFill>
                  <a:srgbClr val="303437"/>
                </a:solidFill>
                <a:latin typeface="Noto Sans"/>
              </a:defRPr>
            </a:pPr>
            <a:r>
              <a:rPr sz="3000" b="1" lang="ja-JP" altLang="en-US">
                <a:solidFill>
                  <a:srgbClr val="303437"/>
                </a:solidFill>
                <a:latin typeface="Noto Sans"/>
                <a:ea typeface="Noto Sans CJK JP"/>
                <a:cs typeface="Noto Sans"/>
              </a:rPr>
              <a:t>採点方法とモデルの成績</a:t>
            </a:r>
          </a:p>
          <a:p>
            <a:pPr marL="457200" indent="-457200">
              <a:lnSpc>
                <a:spcPts val="3660"/>
              </a:lnSpc>
              <a:spcAft>
                <a:spcPts val="0"/>
              </a:spcAft>
              <a:buSzPct val="100000"/>
              <a:buFont typeface="Noto Sans CJK JP"/>
              <a:buAutoNum type="arabicPeriod" startAt="4"/>
              <a:defRPr sz="3000" b="1">
                <a:solidFill>
                  <a:srgbClr val="303437"/>
                </a:solidFill>
                <a:latin typeface="Noto Sans"/>
              </a:defRPr>
            </a:pPr>
            <a:r>
              <a:rPr sz="3000" b="1" lang="ja-JP" altLang="en-US">
                <a:solidFill>
                  <a:srgbClr val="303437"/>
                </a:solidFill>
                <a:latin typeface="Noto Sans"/>
                <a:ea typeface="Noto Sans CJK JP"/>
                <a:cs typeface="Noto Sans"/>
              </a:rPr>
              <a:t>長い実務課題への展開と入手方法</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目次</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LiveBench 2.0 の公式サイト</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公式サイト</a:t>
            </a:r>
          </a:p>
        </p:txBody>
      </p:sp>
      <p:pic>
        <p:nvPicPr>
          <p:cNvPr id="4" name="Picture 3" descr="site-screen.png"/>
          <p:cNvPicPr>
            <a:picLocks noChangeAspect="1"/>
          </p:cNvPicPr>
          <p:nvPr/>
        </p:nvPicPr>
        <p:blipFill>
          <a:blip r:embed="rId2"/>
          <a:stretch>
            <a:fillRect/>
          </a:stretch>
        </p:blipFill>
        <p:spPr>
          <a:xfrm>
            <a:off x="1375575" y="1481328"/>
            <a:ext cx="6392848" cy="3063240"/>
          </a:xfrm>
          <a:prstGeom prst="rect">
            <a:avLst/>
          </a:prstGeom>
        </p:spPr>
      </p:pic>
      <p:sp>
        <p:nvSpPr>
          <p:cNvPr id="5" name="source-bib"/>
          <p:cNvSpPr txBox="1"/>
          <p:nvPr/>
        </p:nvSpPr>
        <p:spPr>
          <a:xfrm>
            <a:off x="502920" y="4718304"/>
            <a:ext cx="8183879" cy="181736"/>
          </a:xfrm>
          <a:prstGeom prst="rect">
            <a:avLst/>
          </a:prstGeom>
          <a:noFill/>
        </p:spPr>
        <p:txBody>
          <a:bodyPr wrap="square" lIns="0" rIns="0" tIns="0" bIns="0">
            <a:noAutofit/>
          </a:bodyPr>
          <a:lstStyle/>
          <a:p>
            <a:pPr algn="l">
              <a:lnSpc>
                <a:spcPts val="97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LiveBench (2026-10-25参照), LiveBench 2.0.</a:t>
            </a:r>
          </a:p>
        </p:txBody>
      </p:sp>
      <p:sp>
        <p:nvSpPr>
          <p:cNvPr id="6" name="source-url"/>
          <p:cNvSpPr txBox="1"/>
          <p:nvPr/>
        </p:nvSpPr>
        <p:spPr>
          <a:xfrm>
            <a:off x="502920" y="4850892"/>
            <a:ext cx="8183879" cy="201168"/>
          </a:xfrm>
          <a:prstGeom prst="rect">
            <a:avLst/>
          </a:prstGeom>
          <a:noFill/>
        </p:spPr>
        <p:txBody>
          <a:bodyPr wrap="square" lIns="0" rIns="0" tIns="0" bIns="0">
            <a:noAutofit/>
          </a:bodyPr>
          <a:lstStyle/>
          <a:p>
            <a:pPr algn="l">
              <a:lnSpc>
                <a:spcPts val="97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3"/>
              </a:rPr>
              <a:t>https://livebench.ai/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9923"/>
            <a:ext cx="8046720" cy="579120"/>
          </a:xfrm>
        </p:spPr>
        <p:txBody>
          <a:bodyPr wrap="square" lIns="0" rIns="0" tIns="0" bIns="0" anchor="ctr">
            <a:noAutofit/>
          </a:bodyPr>
          <a:lstStyle/>
          <a:p>
            <a:pPr algn="ctr">
              <a:lnSpc>
                <a:spcPct val="110000"/>
              </a:lnSpc>
              <a:buNone/>
              <a:defRPr sz="3200" b="0">
                <a:solidFill>
                  <a:srgbClr val="303437"/>
                </a:solidFill>
                <a:latin typeface="Noto Sans"/>
              </a:defRPr>
            </a:pPr>
            <a:r>
              <a:rPr sz="3200" b="1" lang="ja-JP" altLang="en-US">
                <a:solidFill>
                  <a:srgbClr val="303437"/>
                </a:solidFill>
                <a:latin typeface="Noto Sans"/>
                <a:ea typeface="Noto Sans CJK JP"/>
                <a:cs typeface="Noto Sans"/>
              </a:rPr>
              <a:t>1. 公開問題で課題と正解を見る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公開問題で課題と正解を見る</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更新型の問題集合から、長い実務課題へ</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LiveBenchは、問題を継続的に更新して、幅広いモデル能力を測る評価データセットとして2024年に登場した。答えが明確な課題を集め、正解照合やテストで採点する設計を採った。</a:t>
            </a:r>
          </a:p>
          <a:p>
            <a:pPr marL="457200" indent="-355600">
              <a:lnSpc>
                <a:spcPts val="2499"/>
              </a:lnSpc>
              <a:spcAft>
                <a:spcPts val="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2026年10月公開の2.0では、アプリの操作や報告書・スライドの作成など、複数の手順を踏む実務課題へ対象を広げた。</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公開問題で課題と正解を見る</a:t>
            </a:r>
          </a:p>
        </p:txBody>
      </p:sp>
      <p:sp>
        <p:nvSpPr>
          <p:cNvPr id="5" name="source-inline"/>
          <p:cNvSpPr txBox="1"/>
          <p:nvPr/>
        </p:nvSpPr>
        <p:spPr>
          <a:xfrm>
            <a:off x="502920" y="4736592"/>
            <a:ext cx="8183879" cy="182880"/>
          </a:xfrm>
          <a:prstGeom prst="rect">
            <a:avLst/>
          </a:prstGeom>
          <a:noFill/>
        </p:spPr>
        <p:txBody>
          <a:bodyPr wrap="square" lIns="0" rIns="0" tIns="0" bIns="0">
            <a:noAutofit/>
          </a:bodyPr>
          <a:lstStyle/>
          <a:p>
            <a:pPr algn="l">
              <a:lnSpc>
                <a:spcPts val="936"/>
              </a:lnSpc>
              <a:spcBef>
                <a:spcPts val="0"/>
              </a:spcBef>
              <a:spcAft>
                <a:spcPts val="0"/>
              </a:spcAft>
              <a:buNone/>
              <a:defRPr sz="780" b="0">
                <a:solidFill>
                  <a:srgbClr val="303437"/>
                </a:solidFill>
                <a:latin typeface="Noto Sans"/>
              </a:defRPr>
            </a:pPr>
            <a:r>
              <a:rPr sz="780" b="0" lang="ja-JP" altLang="en-US">
                <a:solidFill>
                  <a:srgbClr val="626669"/>
                </a:solidFill>
                <a:latin typeface="Noto Sans"/>
                <a:ea typeface="Noto Sans CJK JP"/>
                <a:cs typeface="Noto Sans"/>
              </a:rPr>
              <a:t/>
            </a:r>
            <a:r>
              <a:rPr sz="780" b="0" lang="ja-JP" altLang="en-US">
                <a:solidFill>
                  <a:srgbClr val="626669"/>
                </a:solidFill>
                <a:latin typeface="Noto Sans"/>
                <a:ea typeface="Noto Sans CJK JP"/>
                <a:cs typeface="Noto Sans"/>
              </a:rPr>
              <a:t>[1] White et al. (2025), LiveBench. </a:t>
            </a:r>
            <a:r>
              <a:rPr sz="780" b="0" lang="ja-JP" altLang="en-US">
                <a:solidFill>
                  <a:srgbClr val="626669"/>
                </a:solidFill>
                <a:latin typeface="Noto Sans"/>
                <a:ea typeface="Noto Sans CJK JP"/>
                <a:cs typeface="Noto Sans"/>
                <a:hlinkClick r:id="rId2"/>
              </a:rPr>
              <a:t>https://arxiv.org/abs/2406.19314</a:t>
            </a:r>
          </a:p>
        </p:txBody>
      </p:sp>
      <p:sp>
        <p:nvSpPr>
          <p:cNvPr id="6" name="source-inline"/>
          <p:cNvSpPr txBox="1"/>
          <p:nvPr/>
        </p:nvSpPr>
        <p:spPr>
          <a:xfrm>
            <a:off x="502920" y="4873752"/>
            <a:ext cx="8183879" cy="182880"/>
          </a:xfrm>
          <a:prstGeom prst="rect">
            <a:avLst/>
          </a:prstGeom>
          <a:noFill/>
        </p:spPr>
        <p:txBody>
          <a:bodyPr wrap="square" lIns="0" rIns="0" tIns="0" bIns="0">
            <a:noAutofit/>
          </a:bodyPr>
          <a:lstStyle/>
          <a:p>
            <a:pPr algn="l">
              <a:lnSpc>
                <a:spcPts val="936"/>
              </a:lnSpc>
              <a:spcBef>
                <a:spcPts val="0"/>
              </a:spcBef>
              <a:spcAft>
                <a:spcPts val="0"/>
              </a:spcAft>
              <a:buNone/>
              <a:defRPr sz="780" b="0">
                <a:solidFill>
                  <a:srgbClr val="303437"/>
                </a:solidFill>
                <a:latin typeface="Noto Sans"/>
              </a:defRPr>
            </a:pPr>
            <a:r>
              <a:rPr sz="780" b="0" lang="ja-JP" altLang="en-US">
                <a:solidFill>
                  <a:srgbClr val="626669"/>
                </a:solidFill>
                <a:latin typeface="Noto Sans"/>
                <a:ea typeface="Noto Sans CJK JP"/>
                <a:cs typeface="Noto Sans"/>
              </a:rPr>
              <a:t/>
            </a:r>
            <a:r>
              <a:rPr sz="780" b="0" lang="ja-JP" altLang="en-US">
                <a:solidFill>
                  <a:srgbClr val="626669"/>
                </a:solidFill>
                <a:latin typeface="Noto Sans"/>
                <a:ea typeface="Noto Sans CJK JP"/>
                <a:cs typeface="Noto Sans"/>
              </a:rPr>
              <a:t>[2] LiveBench (2026-10-25参照), LiveBench 2.0. </a:t>
            </a:r>
            <a:r>
              <a:rPr sz="780" b="0" lang="ja-JP" altLang="en-US">
                <a:solidFill>
                  <a:srgbClr val="626669"/>
                </a:solidFill>
                <a:latin typeface="Noto Sans"/>
                <a:ea typeface="Noto Sans CJK JP"/>
                <a:cs typeface="Noto Sans"/>
                <a:hlinkClick r:id="rId3"/>
              </a:rPr>
              <a:t>https://livebench.ai/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13例は、公開された1.0系列から選んだ</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本編の3例とAppendixの10例は、2024年6月・7月に公開された1.0系列の問題である。推理、数学、コード、言語、指示への対応、データ分析の六分野を含む。</a:t>
            </a:r>
          </a:p>
          <a:p>
            <a:pPr marL="457200" indent="-355600">
              <a:lnSpc>
                <a:spcPts val="2499"/>
              </a:lnSpc>
              <a:spcAft>
                <a:spcPts val="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問題の原文、依頼の日本語訳、参照回答や採点条件を対応させる。2.0の課題構成と成績は、2026年10月の公開情報に基づいて紹介する。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公開問題で課題と正解を見る</a:t>
            </a:r>
          </a:p>
        </p:txBody>
      </p:sp>
      <p:sp>
        <p:nvSpPr>
          <p:cNvPr id="5" name="source-inline"/>
          <p:cNvSpPr txBox="1"/>
          <p:nvPr/>
        </p:nvSpPr>
        <p:spPr>
          <a:xfrm>
            <a:off x="502920" y="4736592"/>
            <a:ext cx="8183879" cy="182880"/>
          </a:xfrm>
          <a:prstGeom prst="rect">
            <a:avLst/>
          </a:prstGeom>
          <a:noFill/>
        </p:spPr>
        <p:txBody>
          <a:bodyPr wrap="square" lIns="0" rIns="0" tIns="0" bIns="0">
            <a:noAutofit/>
          </a:bodyPr>
          <a:lstStyle/>
          <a:p>
            <a:pPr algn="l">
              <a:lnSpc>
                <a:spcPts val="936"/>
              </a:lnSpc>
              <a:spcBef>
                <a:spcPts val="0"/>
              </a:spcBef>
              <a:spcAft>
                <a:spcPts val="0"/>
              </a:spcAft>
              <a:buNone/>
              <a:defRPr sz="780" b="0">
                <a:solidFill>
                  <a:srgbClr val="303437"/>
                </a:solidFill>
                <a:latin typeface="Noto Sans"/>
              </a:defRPr>
            </a:pPr>
            <a:r>
              <a:rPr sz="780" b="0" lang="ja-JP" altLang="en-US">
                <a:solidFill>
                  <a:srgbClr val="626669"/>
                </a:solidFill>
                <a:latin typeface="Noto Sans"/>
                <a:ea typeface="Noto Sans CJK JP"/>
                <a:cs typeface="Noto Sans"/>
              </a:rPr>
              <a:t/>
            </a:r>
            <a:r>
              <a:rPr sz="780" b="0" lang="ja-JP" altLang="en-US">
                <a:solidFill>
                  <a:srgbClr val="626669"/>
                </a:solidFill>
                <a:latin typeface="Noto Sans"/>
                <a:ea typeface="Noto Sans CJK JP"/>
                <a:cs typeface="Noto Sans"/>
              </a:rPr>
              <a:t>[1] LiveBench (2026-10-25参照), official repository. </a:t>
            </a:r>
            <a:r>
              <a:rPr sz="780" b="0" lang="ja-JP" altLang="en-US">
                <a:solidFill>
                  <a:srgbClr val="626669"/>
                </a:solidFill>
                <a:latin typeface="Noto Sans"/>
                <a:ea typeface="Noto Sans CJK JP"/>
                <a:cs typeface="Noto Sans"/>
                <a:hlinkClick r:id="rId2"/>
              </a:rPr>
              <a:t>https://github.com/LiveBench/LiveBench</a:t>
            </a:r>
          </a:p>
        </p:txBody>
      </p:sp>
      <p:sp>
        <p:nvSpPr>
          <p:cNvPr id="6" name="source-inline"/>
          <p:cNvSpPr txBox="1"/>
          <p:nvPr/>
        </p:nvSpPr>
        <p:spPr>
          <a:xfrm>
            <a:off x="502920" y="4873752"/>
            <a:ext cx="8183879" cy="182880"/>
          </a:xfrm>
          <a:prstGeom prst="rect">
            <a:avLst/>
          </a:prstGeom>
          <a:noFill/>
        </p:spPr>
        <p:txBody>
          <a:bodyPr wrap="square" lIns="0" rIns="0" tIns="0" bIns="0">
            <a:noAutofit/>
          </a:bodyPr>
          <a:lstStyle/>
          <a:p>
            <a:pPr algn="l">
              <a:lnSpc>
                <a:spcPts val="936"/>
              </a:lnSpc>
              <a:spcBef>
                <a:spcPts val="0"/>
              </a:spcBef>
              <a:spcAft>
                <a:spcPts val="0"/>
              </a:spcAft>
              <a:buNone/>
              <a:defRPr sz="780" b="0">
                <a:solidFill>
                  <a:srgbClr val="303437"/>
                </a:solidFill>
                <a:latin typeface="Noto Sans"/>
              </a:defRPr>
            </a:pPr>
            <a:r>
              <a:rPr sz="780" b="0" lang="ja-JP" altLang="en-US">
                <a:solidFill>
                  <a:srgbClr val="626669"/>
                </a:solidFill>
                <a:latin typeface="Noto Sans"/>
                <a:ea typeface="Noto Sans CJK JP"/>
                <a:cs typeface="Noto Sans"/>
              </a:rPr>
              <a:t/>
            </a:r>
            <a:r>
              <a:rPr sz="780" b="0" lang="ja-JP" altLang="en-US">
                <a:solidFill>
                  <a:srgbClr val="626669"/>
                </a:solidFill>
                <a:latin typeface="Noto Sans"/>
                <a:ea typeface="Noto Sans CJK JP"/>
                <a:cs typeface="Noto Sans"/>
              </a:rPr>
              <a:t>[2] LiveBench (2026-10-25参照), Methodology. </a:t>
            </a:r>
            <a:r>
              <a:rPr sz="780" b="0" lang="ja-JP" altLang="en-US">
                <a:solidFill>
                  <a:srgbClr val="626669"/>
                </a:solidFill>
                <a:latin typeface="Noto Sans"/>
                <a:ea typeface="Noto Sans CJK JP"/>
                <a:cs typeface="Noto Sans"/>
                <a:hlinkClick r:id="rId3"/>
              </a:rPr>
              <a:t>https://livebench.ai/#/methodology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 三人の属性を推理する：原文</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公開問題で課題と正解を見る</a:t>
            </a:r>
          </a:p>
        </p:txBody>
      </p:sp>
      <p:sp>
        <p:nvSpPr>
          <p:cNvPr id="4" name="original-frame"/>
          <p:cNvSpPr/>
          <p:nvPr/>
        </p:nvSpPr>
        <p:spPr>
          <a:xfrm>
            <a:off x="274320" y="1344168"/>
            <a:ext cx="8595360" cy="32639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88900" bIns="127000">
            <a:noAutofit/>
          </a:bodyPr>
          <a:lstStyle/>
          <a:p>
            <a:pPr algn="l">
              <a:lnSpc>
                <a:spcPts val="1600"/>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There are 3 people standing in a line numbered 1 through 3 in a left to right order.</a:t>
            </a:r>
          </a:p>
          <a:p>
            <a:pPr algn="l">
              <a:lnSpc>
                <a:spcPts val="1600"/>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Each person has a set of attributes: Food, Nationality, Hobby.</a:t>
            </a:r>
          </a:p>
          <a:p>
            <a:pPr algn="l">
              <a:lnSpc>
                <a:spcPts val="1600"/>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The attributes have the following possible values:</a:t>
            </a:r>
          </a:p>
          <a:p>
            <a:pPr algn="l">
              <a:lnSpc>
                <a:spcPts val="1600"/>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 Food: nectarine, garlic, cucumber</a:t>
            </a:r>
          </a:p>
          <a:p>
            <a:pPr algn="l">
              <a:lnSpc>
                <a:spcPts val="1600"/>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 Nationality: chinese, japanese, thai</a:t>
            </a:r>
          </a:p>
          <a:p>
            <a:pPr algn="l">
              <a:lnSpc>
                <a:spcPts val="1600"/>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 Hobby: magic-tricks, filmmaking, puzzles</a:t>
            </a:r>
          </a:p>
          <a:p>
            <a:pPr algn="l">
              <a:lnSpc>
                <a:spcPts val="1600"/>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and exactly one person in the line has a given value for an attribute.</a:t>
            </a:r>
          </a:p>
          <a:p>
            <a:pPr algn="l">
              <a:lnSpc>
                <a:spcPts val="1600"/>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Given the following premises about the line of people:</a:t>
            </a:r>
          </a:p>
          <a:p>
            <a:pPr algn="l">
              <a:lnSpc>
                <a:spcPts val="1600"/>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 the person that likes garlic is on the far left</a:t>
            </a:r>
          </a:p>
          <a:p>
            <a:pPr algn="l">
              <a:lnSpc>
                <a:spcPts val="1600"/>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 the person who is thai is somewhere to the right of the person who likes magic-tricks</a:t>
            </a:r>
          </a:p>
          <a:p>
            <a:pPr algn="l">
              <a:lnSpc>
                <a:spcPts val="1600"/>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 the person who is chinese is somewhere between the person that likes cucumber and the person who likes puzzles</a:t>
            </a:r>
          </a:p>
          <a:p>
            <a:pPr algn="l">
              <a:lnSpc>
                <a:spcPts val="1600"/>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Answer the following question:</a:t>
            </a:r>
          </a:p>
          <a:p>
            <a:pPr algn="l">
              <a:lnSpc>
                <a:spcPts val="1600"/>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What is the hobby of the person who is thai? Return your answer as a single word, in the following format: ***X***, where X is the answer.</a:t>
            </a:r>
          </a:p>
        </p:txBody>
      </p:sp>
      <p:sp>
        <p:nvSpPr>
          <p:cNvPr id="5" name="source-bib"/>
          <p:cNvSpPr txBox="1"/>
          <p:nvPr/>
        </p:nvSpPr>
        <p:spPr>
          <a:xfrm>
            <a:off x="502920" y="4718304"/>
            <a:ext cx="8183879" cy="181736"/>
          </a:xfrm>
          <a:prstGeom prst="rect">
            <a:avLst/>
          </a:prstGeom>
          <a:noFill/>
        </p:spPr>
        <p:txBody>
          <a:bodyPr wrap="square" lIns="0" rIns="0" tIns="0" bIns="0">
            <a:noAutofit/>
          </a:bodyPr>
          <a:lstStyle/>
          <a:p>
            <a:pPr algn="l">
              <a:lnSpc>
                <a:spcPts val="97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LiveBench (2024), reasoning — public questions.</a:t>
            </a:r>
          </a:p>
        </p:txBody>
      </p:sp>
      <p:sp>
        <p:nvSpPr>
          <p:cNvPr id="6" name="source-url"/>
          <p:cNvSpPr txBox="1"/>
          <p:nvPr/>
        </p:nvSpPr>
        <p:spPr>
          <a:xfrm>
            <a:off x="502920" y="4850892"/>
            <a:ext cx="8183879" cy="201168"/>
          </a:xfrm>
          <a:prstGeom prst="rect">
            <a:avLst/>
          </a:prstGeom>
          <a:noFill/>
        </p:spPr>
        <p:txBody>
          <a:bodyPr wrap="square" lIns="0" rIns="0" tIns="0" bIns="0">
            <a:noAutofit/>
          </a:bodyPr>
          <a:lstStyle/>
          <a:p>
            <a:pPr algn="l">
              <a:lnSpc>
                <a:spcPts val="97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https://huggingface.co/datasets/livebench/reasoning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 三人の属性を推理する：日本語訳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公開問題で課題と正解を見る</a:t>
            </a:r>
          </a:p>
        </p:txBody>
      </p:sp>
      <p:sp>
        <p:nvSpPr>
          <p:cNvPr id="4" name="TextBox 3"/>
          <p:cNvSpPr txBox="1"/>
          <p:nvPr/>
        </p:nvSpPr>
        <p:spPr>
          <a:xfrm>
            <a:off x="548640" y="1344168"/>
            <a:ext cx="8046720" cy="246507"/>
          </a:xfrm>
          <a:prstGeom prst="rect">
            <a:avLst/>
          </a:prstGeom>
          <a:noFill/>
        </p:spPr>
        <p:txBody>
          <a:bodyPr wrap="square" lIns="0" rIns="0" tIns="0" bIns="0">
            <a:noAutofit/>
          </a:bodyPr>
          <a:lstStyle/>
          <a:p>
            <a:pPr algn="l">
              <a:lnSpc>
                <a:spcPts val="1380"/>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問題の日本語訳</a:t>
            </a:r>
          </a:p>
        </p:txBody>
      </p:sp>
      <p:sp>
        <p:nvSpPr>
          <p:cNvPr id="5" name="TextBox 4"/>
          <p:cNvSpPr txBox="1"/>
          <p:nvPr/>
        </p:nvSpPr>
        <p:spPr>
          <a:xfrm>
            <a:off x="594360" y="1618488"/>
            <a:ext cx="7955279" cy="2963037"/>
          </a:xfrm>
          <a:prstGeom prst="rect">
            <a:avLst/>
          </a:prstGeom>
          <a:noFill/>
        </p:spPr>
        <p:txBody>
          <a:bodyPr wrap="square" lIns="0" rIns="0" tIns="0" bIns="0">
            <a:noAutofit/>
          </a:bodyPr>
          <a:lstStyle/>
          <a:p>
            <a:pPr algn="l">
              <a:lnSpc>
                <a:spcPts val="192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3人が左から1番、2番、3番の順に並んでいる。各人には、食べ物・国籍・趣味の三つの属性がある。候補は次のとおり。</a:t>
            </a:r>
          </a:p>
          <a:p>
            <a:pPr algn="l">
              <a:lnSpc>
                <a:spcPts val="192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食べ物：ネクタリン、ニンニク、キュウリ</a:t>
            </a:r>
          </a:p>
          <a:p>
            <a:pPr algn="l">
              <a:lnSpc>
                <a:spcPts val="192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国籍：中国人、日本人、タイ人</a:t>
            </a:r>
          </a:p>
          <a:p>
            <a:pPr algn="l">
              <a:lnSpc>
                <a:spcPts val="192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趣味：手品、映画制作、パズル</a:t>
            </a:r>
          </a:p>
          <a:p>
            <a:pPr algn="l">
              <a:lnSpc>
                <a:spcPts val="192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各属性のそれぞれの値に当てはまる人は、ちょうど1人ずついる。</a:t>
            </a:r>
          </a:p>
          <a:p>
            <a:pPr algn="l">
              <a:lnSpc>
                <a:spcPts val="192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次の条件が分かっている。</a:t>
            </a:r>
          </a:p>
          <a:p>
            <a:pPr algn="l">
              <a:lnSpc>
                <a:spcPts val="192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・ニンニクが好きな人は、いちばん左にいる。</a:t>
            </a:r>
          </a:p>
          <a:p>
            <a:pPr algn="l">
              <a:lnSpc>
                <a:spcPts val="192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・タイ人は、手品が好きな人より右にいる。</a:t>
            </a:r>
          </a:p>
          <a:p>
            <a:pPr algn="l">
              <a:lnSpc>
                <a:spcPts val="192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・中国人は、キュウリが好きな人とパズルが好きな人の間にいる。</a:t>
            </a:r>
          </a:p>
          <a:p>
            <a:pPr algn="l">
              <a:lnSpc>
                <a:spcPts val="192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タイ人の趣味は何か。答えを1語で、***X*** の形式で返す。Xには答えを入れる。</a:t>
            </a:r>
          </a:p>
        </p:txBody>
      </p:sp>
      <p:sp>
        <p:nvSpPr>
          <p:cNvPr id="6" name="source-bib"/>
          <p:cNvSpPr txBox="1"/>
          <p:nvPr/>
        </p:nvSpPr>
        <p:spPr>
          <a:xfrm>
            <a:off x="502920" y="4718304"/>
            <a:ext cx="8183879" cy="181736"/>
          </a:xfrm>
          <a:prstGeom prst="rect">
            <a:avLst/>
          </a:prstGeom>
          <a:noFill/>
        </p:spPr>
        <p:txBody>
          <a:bodyPr wrap="square" lIns="0" rIns="0" tIns="0" bIns="0">
            <a:noAutofit/>
          </a:bodyPr>
          <a:lstStyle/>
          <a:p>
            <a:pPr algn="l">
              <a:lnSpc>
                <a:spcPts val="97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LiveBench (2024), reasoning — public questions.</a:t>
            </a:r>
          </a:p>
        </p:txBody>
      </p:sp>
      <p:sp>
        <p:nvSpPr>
          <p:cNvPr id="7" name="source-url"/>
          <p:cNvSpPr txBox="1"/>
          <p:nvPr/>
        </p:nvSpPr>
        <p:spPr>
          <a:xfrm>
            <a:off x="502920" y="4850892"/>
            <a:ext cx="8183879" cy="201168"/>
          </a:xfrm>
          <a:prstGeom prst="rect">
            <a:avLst/>
          </a:prstGeom>
          <a:noFill/>
        </p:spPr>
        <p:txBody>
          <a:bodyPr wrap="square" lIns="0" rIns="0" tIns="0" bIns="0">
            <a:noAutofit/>
          </a:bodyPr>
          <a:lstStyle/>
          <a:p>
            <a:pPr algn="l">
              <a:lnSpc>
                <a:spcPts val="97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https://huggingface.co/datasets/livebench/reasoning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 三人の属性を推理する：答えの読み方</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公開問題で課題と正解を見る</a:t>
            </a:r>
          </a:p>
        </p:txBody>
      </p:sp>
      <p:sp>
        <p:nvSpPr>
          <p:cNvPr id="4" name="TextBox 3"/>
          <p:cNvSpPr txBox="1"/>
          <p:nvPr/>
        </p:nvSpPr>
        <p:spPr>
          <a:xfrm>
            <a:off x="594360" y="1554480"/>
            <a:ext cx="7955279" cy="587946"/>
          </a:xfrm>
          <a:prstGeom prst="rect">
            <a:avLst/>
          </a:prstGeom>
          <a:noFill/>
        </p:spPr>
        <p:txBody>
          <a:bodyPr wrap="square" lIns="0" rIns="0" tIns="0" bIns="0">
            <a:noAutofit/>
          </a:bodyPr>
          <a:lstStyle/>
          <a:p>
            <a:pPr algn="l">
              <a:lnSpc>
                <a:spcPts val="2429"/>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正解：filmmaking（映画制作）</a:t>
            </a:r>
          </a:p>
        </p:txBody>
      </p:sp>
      <p:graphicFrame>
        <p:nvGraphicFramePr>
          <p:cNvPr id="5" name="Table 3"/>
          <p:cNvGraphicFramePr>
            <a:graphicFrameLocks noGrp="1"/>
          </p:cNvGraphicFramePr>
          <p:nvPr/>
        </p:nvGraphicFramePr>
        <p:xfrm>
          <a:off x="548640" y="2057400"/>
          <a:ext cx="8046720" cy="1572768"/>
        </p:xfrm>
        <a:graphic>
          <a:graphicData uri="http://schemas.openxmlformats.org/drawingml/2006/table">
            <a:tbl>
              <a:tblPr firstRow="0" bandRow="0"/>
              <a:tblGrid>
                <a:gridCol w="731520"/>
                <a:gridCol w="2011680"/>
                <a:gridCol w="2011680"/>
                <a:gridCol w="3291840"/>
              </a:tblGrid>
              <a:tr h="393192">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位置</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食べ物</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国籍</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趣味</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93192">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1</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ニンニク</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日本人</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パズル</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93192">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2</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ネクタリン</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中国人</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手品</a:t>
                      </a:r>
                    </a:p>
                  </a:txBody>
                  <a:tcPr marL="63500" marR="63500" marT="38100" marB="38100" anchor="ctr">
                    <a:lnL w="7620">
                      <a:noFill/>
                    </a:lnL>
                    <a:lnR w="7620">
                      <a:noFill/>
                    </a:lnR>
                    <a:lnT w="7620">
                      <a:noFill/>
                    </a:lnT>
                    <a:lnB w="7620">
                      <a:noFill/>
                    </a:lnB>
                    <a:solidFill>
                      <a:srgbClr val="FFFEF8"/>
                    </a:solidFill>
                  </a:tcPr>
                </a:tc>
              </a:tr>
              <a:tr h="393192">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3</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キュウリ</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タイ人</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映画制作</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6" name="TextBox 5"/>
          <p:cNvSpPr txBox="1"/>
          <p:nvPr/>
        </p:nvSpPr>
        <p:spPr>
          <a:xfrm>
            <a:off x="594360" y="3858768"/>
            <a:ext cx="7955279" cy="1032827"/>
          </a:xfrm>
          <a:prstGeom prst="rect">
            <a:avLst/>
          </a:prstGeom>
          <a:noFill/>
        </p:spPr>
        <p:txBody>
          <a:bodyPr wrap="square" lIns="0" rIns="0" tIns="0" bIns="0">
            <a:noAutofit/>
          </a:bodyPr>
          <a:lstStyle/>
          <a:p>
            <a:pPr algn="l">
              <a:lnSpc>
                <a:spcPts val="197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中国人は2番にいる。ニンニクが1番なので、キュウリが3番、パズルが1番になる。タイ人は3番に入り、手品は2番に決まるため、3番の趣味は映画制作となる。</a:t>
            </a:r>
          </a:p>
        </p:txBody>
      </p:sp>
      <p:sp>
        <p:nvSpPr>
          <p:cNvPr id="7" name="source-bib"/>
          <p:cNvSpPr txBox="1"/>
          <p:nvPr/>
        </p:nvSpPr>
        <p:spPr>
          <a:xfrm>
            <a:off x="502920" y="4718304"/>
            <a:ext cx="8183879" cy="181736"/>
          </a:xfrm>
          <a:prstGeom prst="rect">
            <a:avLst/>
          </a:prstGeom>
          <a:noFill/>
        </p:spPr>
        <p:txBody>
          <a:bodyPr wrap="square" lIns="0" rIns="0" tIns="0" bIns="0">
            <a:noAutofit/>
          </a:bodyPr>
          <a:lstStyle/>
          <a:p>
            <a:pPr algn="l">
              <a:lnSpc>
                <a:spcPts val="97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LiveBench (2024), reasoning — public questions.</a:t>
            </a:r>
          </a:p>
        </p:txBody>
      </p:sp>
      <p:sp>
        <p:nvSpPr>
          <p:cNvPr id="8" name="source-url"/>
          <p:cNvSpPr txBox="1"/>
          <p:nvPr/>
        </p:nvSpPr>
        <p:spPr>
          <a:xfrm>
            <a:off x="502920" y="4850892"/>
            <a:ext cx="8183879" cy="201168"/>
          </a:xfrm>
          <a:prstGeom prst="rect">
            <a:avLst/>
          </a:prstGeom>
          <a:noFill/>
        </p:spPr>
        <p:txBody>
          <a:bodyPr wrap="square" lIns="0" rIns="0" tIns="0" bIns="0">
            <a:noAutofit/>
          </a:bodyPr>
          <a:lstStyle/>
          <a:p>
            <a:pPr algn="l">
              <a:lnSpc>
                <a:spcPts val="97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https://huggingface.co/datasets/livebench/reasoning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例2 結合できる列を対応付ける：原文</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公開問題で課題と正解を見る</a:t>
            </a:r>
          </a:p>
        </p:txBody>
      </p:sp>
      <p:sp>
        <p:nvSpPr>
          <p:cNvPr id="4" name="TextBox 3"/>
          <p:cNvSpPr txBox="1"/>
          <p:nvPr/>
        </p:nvSpPr>
        <p:spPr>
          <a:xfrm>
            <a:off x="548640" y="1234440"/>
            <a:ext cx="8046720" cy="208407"/>
          </a:xfrm>
          <a:prstGeom prst="rect">
            <a:avLst/>
          </a:prstGeom>
          <a:noFill/>
        </p:spPr>
        <p:txBody>
          <a:bodyPr wrap="square" lIns="0" rIns="0" tIns="0" bIns="0">
            <a:noAutofit/>
          </a:bodyPr>
          <a:lstStyle/>
          <a:p>
            <a:pPr algn="l">
              <a:lnSpc>
                <a:spcPts val="1140"/>
              </a:lnSpc>
              <a:spcBef>
                <a:spcPts val="0"/>
              </a:spcBef>
              <a:spcAft>
                <a:spcPts val="0"/>
              </a:spcAft>
              <a:buNone/>
              <a:defRPr sz="950" b="0">
                <a:solidFill>
                  <a:srgbClr val="303437"/>
                </a:solidFill>
                <a:latin typeface="Noto Sans"/>
              </a:defRPr>
            </a:pPr>
            <a:r>
              <a:rPr sz="950" b="0" lang="ja-JP" altLang="en-US">
                <a:solidFill>
                  <a:srgbClr val="626669"/>
                </a:solidFill>
                <a:latin typeface="Noto Sans"/>
                <a:ea typeface="Noto Sans CJK JP"/>
                <a:cs typeface="Noto Sans"/>
              </a:rPr>
              <a:t>依頼と二つの表の原文（全文）</a:t>
            </a:r>
          </a:p>
        </p:txBody>
      </p:sp>
      <p:sp>
        <p:nvSpPr>
          <p:cNvPr id="5" name="original-frame"/>
          <p:cNvSpPr/>
          <p:nvPr/>
        </p:nvSpPr>
        <p:spPr>
          <a:xfrm>
            <a:off x="365760" y="1389888"/>
            <a:ext cx="8412480" cy="80645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88900" bIns="127000">
            <a:noAutofit/>
          </a:bodyPr>
          <a:lstStyle/>
          <a:p>
            <a:pPr algn="l">
              <a:lnSpc>
                <a:spcPts val="1550"/>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Please create a valid join mapping between CSV Table A and CSV Table B. Each column in A maps to 0 or 1 columns in B. Return your response as a Python dictionary, formatted as {col_name_in_df_a : col_name_in_df_b}. Please return only the dictionary.</a:t>
            </a:r>
          </a:p>
        </p:txBody>
      </p:sp>
      <p:sp>
        <p:nvSpPr>
          <p:cNvPr id="6" name="TextBox 5"/>
          <p:cNvSpPr txBox="1"/>
          <p:nvPr/>
        </p:nvSpPr>
        <p:spPr>
          <a:xfrm>
            <a:off x="548640" y="2223769"/>
            <a:ext cx="3977639" cy="246507"/>
          </a:xfrm>
          <a:prstGeom prst="rect">
            <a:avLst/>
          </a:prstGeom>
          <a:noFill/>
        </p:spPr>
        <p:txBody>
          <a:bodyPr wrap="square" lIns="0" rIns="0" tIns="0" bIns="0">
            <a:noAutofit/>
          </a:bodyPr>
          <a:lstStyle/>
          <a:p>
            <a:pPr algn="l">
              <a:lnSpc>
                <a:spcPts val="1380"/>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CSV Table A:</a:t>
            </a:r>
          </a:p>
        </p:txBody>
      </p:sp>
      <p:sp>
        <p:nvSpPr>
          <p:cNvPr id="7" name="original-frame"/>
          <p:cNvSpPr/>
          <p:nvPr/>
        </p:nvSpPr>
        <p:spPr>
          <a:xfrm>
            <a:off x="548640" y="2388361"/>
            <a:ext cx="3977639" cy="210185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88900" bIns="127000">
            <a:noAutofit/>
          </a:bodyPr>
          <a:lstStyle/>
          <a:p>
            <a:pPr algn="l">
              <a:lnSpc>
                <a:spcPts val="1350"/>
              </a:lnSpc>
              <a:spcBef>
                <a:spcPts val="0"/>
              </a:spcBef>
              <a:spcAft>
                <a:spcPts val="0"/>
              </a:spcAft>
              <a:buNone/>
              <a:defRPr sz="1350" b="0">
                <a:solidFill>
                  <a:srgbClr val="303437"/>
                </a:solidFill>
                <a:latin typeface="Noto Sans"/>
              </a:defRPr>
            </a:pPr>
            <a:r>
              <a:rPr sz="1350" b="0" lang="ja-JP" altLang="en-US">
                <a:solidFill>
                  <a:srgbClr val="303437"/>
                </a:solidFill>
                <a:latin typeface="Liberation Mono"/>
                <a:ea typeface="Noto Sans CJK JP"/>
                <a:cs typeface="Liberation Mono"/>
              </a:rPr>
              <a:t>email,label</a:t>
            </a:r>
          </a:p>
          <a:p>
            <a:pPr algn="l">
              <a:lnSpc>
                <a:spcPts val="1350"/>
              </a:lnSpc>
              <a:spcBef>
                <a:spcPts val="0"/>
              </a:spcBef>
              <a:spcAft>
                <a:spcPts val="0"/>
              </a:spcAft>
              <a:buNone/>
              <a:defRPr sz="1350" b="0">
                <a:solidFill>
                  <a:srgbClr val="303437"/>
                </a:solidFill>
                <a:latin typeface="Noto Sans"/>
              </a:defRPr>
            </a:pPr>
            <a:r>
              <a:rPr sz="1350" b="0" lang="ja-JP" altLang="en-US">
                <a:solidFill>
                  <a:srgbClr val="303437"/>
                </a:solidFill>
                <a:latin typeface="Liberation Mono"/>
                <a:ea typeface="Noto Sans CJK JP"/>
                <a:cs typeface="Liberation Mono"/>
              </a:rPr>
              <a:t>Act now! Limited-tim,spam</a:t>
            </a:r>
          </a:p>
          <a:p>
            <a:pPr algn="l">
              <a:lnSpc>
                <a:spcPts val="1350"/>
              </a:lnSpc>
              <a:spcBef>
                <a:spcPts val="0"/>
              </a:spcBef>
              <a:spcAft>
                <a:spcPts val="0"/>
              </a:spcAft>
              <a:buNone/>
              <a:defRPr sz="1350" b="0">
                <a:solidFill>
                  <a:srgbClr val="303437"/>
                </a:solidFill>
                <a:latin typeface="Noto Sans"/>
              </a:defRPr>
            </a:pPr>
            <a:r>
              <a:rPr sz="1350" b="0" lang="ja-JP" altLang="en-US">
                <a:solidFill>
                  <a:srgbClr val="303437"/>
                </a:solidFill>
                <a:latin typeface="Liberation Mono"/>
                <a:ea typeface="Noto Sans CJK JP"/>
                <a:cs typeface="Liberation Mono"/>
              </a:rPr>
              <a:t>Upgrade to our premi,ham</a:t>
            </a:r>
          </a:p>
          <a:p>
            <a:pPr algn="l">
              <a:lnSpc>
                <a:spcPts val="1350"/>
              </a:lnSpc>
              <a:spcBef>
                <a:spcPts val="0"/>
              </a:spcBef>
              <a:spcAft>
                <a:spcPts val="0"/>
              </a:spcAft>
              <a:buNone/>
              <a:defRPr sz="1350" b="0">
                <a:solidFill>
                  <a:srgbClr val="303437"/>
                </a:solidFill>
                <a:latin typeface="Noto Sans"/>
              </a:defRPr>
            </a:pPr>
            <a:r>
              <a:rPr sz="1350" b="0" lang="ja-JP" altLang="en-US">
                <a:solidFill>
                  <a:srgbClr val="303437"/>
                </a:solidFill>
                <a:latin typeface="Liberation Mono"/>
                <a:ea typeface="Noto Sans CJK JP"/>
                <a:cs typeface="Liberation Mono"/>
              </a:rPr>
              <a:t>Thank you for subscr,ham</a:t>
            </a:r>
          </a:p>
          <a:p>
            <a:pPr algn="l">
              <a:lnSpc>
                <a:spcPts val="1350"/>
              </a:lnSpc>
              <a:spcBef>
                <a:spcPts val="0"/>
              </a:spcBef>
              <a:spcAft>
                <a:spcPts val="0"/>
              </a:spcAft>
              <a:buNone/>
              <a:defRPr sz="1350" b="0">
                <a:solidFill>
                  <a:srgbClr val="303437"/>
                </a:solidFill>
                <a:latin typeface="Noto Sans"/>
              </a:defRPr>
            </a:pPr>
            <a:r>
              <a:rPr sz="1350" b="0" lang="ja-JP" altLang="en-US">
                <a:solidFill>
                  <a:srgbClr val="303437"/>
                </a:solidFill>
                <a:latin typeface="Liberation Mono"/>
                <a:ea typeface="Noto Sans CJK JP"/>
                <a:cs typeface="Liberation Mono"/>
              </a:rPr>
              <a:t>Your order has been ,ham</a:t>
            </a:r>
          </a:p>
          <a:p>
            <a:pPr algn="l">
              <a:lnSpc>
                <a:spcPts val="1350"/>
              </a:lnSpc>
              <a:spcBef>
                <a:spcPts val="0"/>
              </a:spcBef>
              <a:spcAft>
                <a:spcPts val="0"/>
              </a:spcAft>
              <a:buNone/>
              <a:defRPr sz="1350" b="0">
                <a:solidFill>
                  <a:srgbClr val="303437"/>
                </a:solidFill>
                <a:latin typeface="Noto Sans"/>
              </a:defRPr>
            </a:pPr>
            <a:r>
              <a:rPr sz="1350" b="0" lang="ja-JP" altLang="en-US">
                <a:solidFill>
                  <a:srgbClr val="303437"/>
                </a:solidFill>
                <a:latin typeface="Liberation Mono"/>
                <a:ea typeface="Noto Sans CJK JP"/>
                <a:cs typeface="Liberation Mono"/>
              </a:rPr>
              <a:t>We're excited to sha,ham</a:t>
            </a:r>
          </a:p>
          <a:p>
            <a:pPr algn="l">
              <a:lnSpc>
                <a:spcPts val="1350"/>
              </a:lnSpc>
              <a:spcBef>
                <a:spcPts val="0"/>
              </a:spcBef>
              <a:spcAft>
                <a:spcPts val="0"/>
              </a:spcAft>
              <a:buNone/>
              <a:defRPr sz="1350" b="0">
                <a:solidFill>
                  <a:srgbClr val="303437"/>
                </a:solidFill>
                <a:latin typeface="Noto Sans"/>
              </a:defRPr>
            </a:pPr>
            <a:r>
              <a:rPr sz="1350" b="0" lang="ja-JP" altLang="en-US">
                <a:solidFill>
                  <a:srgbClr val="303437"/>
                </a:solidFill>
                <a:latin typeface="Liberation Mono"/>
                <a:ea typeface="Noto Sans CJK JP"/>
                <a:cs typeface="Liberation Mono"/>
              </a:rPr>
              <a:t>URGENT: Your account,spam</a:t>
            </a:r>
          </a:p>
          <a:p>
            <a:pPr algn="l">
              <a:lnSpc>
                <a:spcPts val="1350"/>
              </a:lnSpc>
              <a:spcBef>
                <a:spcPts val="0"/>
              </a:spcBef>
              <a:spcAft>
                <a:spcPts val="0"/>
              </a:spcAft>
              <a:buNone/>
              <a:defRPr sz="1350" b="0">
                <a:solidFill>
                  <a:srgbClr val="303437"/>
                </a:solidFill>
                <a:latin typeface="Noto Sans"/>
              </a:defRPr>
            </a:pPr>
            <a:r>
              <a:rPr sz="1350" b="0" lang="ja-JP" altLang="en-US">
                <a:solidFill>
                  <a:srgbClr val="303437"/>
                </a:solidFill>
                <a:latin typeface="Liberation Mono"/>
                <a:ea typeface="Noto Sans CJK JP"/>
                <a:cs typeface="Liberation Mono"/>
              </a:rPr>
              <a:t>We've extended our s,ham</a:t>
            </a:r>
          </a:p>
          <a:p>
            <a:pPr algn="l">
              <a:lnSpc>
                <a:spcPts val="1350"/>
              </a:lnSpc>
              <a:spcBef>
                <a:spcPts val="0"/>
              </a:spcBef>
              <a:spcAft>
                <a:spcPts val="0"/>
              </a:spcAft>
              <a:buNone/>
              <a:defRPr sz="1350" b="0">
                <a:solidFill>
                  <a:srgbClr val="303437"/>
                </a:solidFill>
                <a:latin typeface="Noto Sans"/>
              </a:defRPr>
            </a:pPr>
            <a:r>
              <a:rPr sz="1350" b="0" lang="ja-JP" altLang="en-US">
                <a:solidFill>
                  <a:srgbClr val="303437"/>
                </a:solidFill>
                <a:latin typeface="Liberation Mono"/>
                <a:ea typeface="Noto Sans CJK JP"/>
                <a:cs typeface="Liberation Mono"/>
              </a:rPr>
              <a:t>You've been selected,spam</a:t>
            </a:r>
          </a:p>
          <a:p>
            <a:pPr algn="l">
              <a:lnSpc>
                <a:spcPts val="1350"/>
              </a:lnSpc>
              <a:spcBef>
                <a:spcPts val="0"/>
              </a:spcBef>
              <a:spcAft>
                <a:spcPts val="0"/>
              </a:spcAft>
              <a:buNone/>
              <a:defRPr sz="1350" b="0">
                <a:solidFill>
                  <a:srgbClr val="303437"/>
                </a:solidFill>
                <a:latin typeface="Noto Sans"/>
              </a:defRPr>
            </a:pPr>
            <a:r>
              <a:rPr sz="1350" b="0" lang="ja-JP" altLang="en-US">
                <a:solidFill>
                  <a:srgbClr val="303437"/>
                </a:solidFill>
                <a:latin typeface="Liberation Mono"/>
                <a:ea typeface="Noto Sans CJK JP"/>
                <a:cs typeface="Liberation Mono"/>
              </a:rPr>
              <a:t>Your account has bee,spam</a:t>
            </a:r>
          </a:p>
          <a:p>
            <a:pPr algn="l">
              <a:lnSpc>
                <a:spcPts val="1350"/>
              </a:lnSpc>
              <a:spcBef>
                <a:spcPts val="0"/>
              </a:spcBef>
              <a:spcAft>
                <a:spcPts val="0"/>
              </a:spcAft>
              <a:buNone/>
              <a:defRPr sz="1350" b="0">
                <a:solidFill>
                  <a:srgbClr val="303437"/>
                </a:solidFill>
                <a:latin typeface="Noto Sans"/>
              </a:defRPr>
            </a:pPr>
            <a:r>
              <a:rPr sz="1350" b="0" lang="ja-JP" altLang="en-US">
                <a:solidFill>
                  <a:srgbClr val="303437"/>
                </a:solidFill>
                <a:latin typeface="Liberation Mono"/>
                <a:ea typeface="Noto Sans CJK JP"/>
                <a:cs typeface="Liberation Mono"/>
              </a:rPr>
              <a:t>Unlock exclusive dis,spam</a:t>
            </a:r>
          </a:p>
        </p:txBody>
      </p:sp>
      <p:sp>
        <p:nvSpPr>
          <p:cNvPr id="8" name="TextBox 7"/>
          <p:cNvSpPr txBox="1"/>
          <p:nvPr/>
        </p:nvSpPr>
        <p:spPr>
          <a:xfrm>
            <a:off x="4617720" y="2223769"/>
            <a:ext cx="3977639" cy="246507"/>
          </a:xfrm>
          <a:prstGeom prst="rect">
            <a:avLst/>
          </a:prstGeom>
          <a:noFill/>
        </p:spPr>
        <p:txBody>
          <a:bodyPr wrap="square" lIns="0" rIns="0" tIns="0" bIns="0">
            <a:noAutofit/>
          </a:bodyPr>
          <a:lstStyle/>
          <a:p>
            <a:pPr algn="l">
              <a:lnSpc>
                <a:spcPts val="1380"/>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CSV Table B:</a:t>
            </a:r>
          </a:p>
        </p:txBody>
      </p:sp>
      <p:sp>
        <p:nvSpPr>
          <p:cNvPr id="9" name="original-frame"/>
          <p:cNvSpPr/>
          <p:nvPr/>
        </p:nvSpPr>
        <p:spPr>
          <a:xfrm>
            <a:off x="4617720" y="2388361"/>
            <a:ext cx="3977639" cy="22733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88900" bIns="127000">
            <a:noAutofit/>
          </a:bodyPr>
          <a:lstStyle/>
          <a:p>
            <a:pPr algn="l">
              <a:lnSpc>
                <a:spcPts val="1350"/>
              </a:lnSpc>
              <a:spcBef>
                <a:spcPts val="0"/>
              </a:spcBef>
              <a:spcAft>
                <a:spcPts val="0"/>
              </a:spcAft>
              <a:buNone/>
              <a:defRPr sz="1350" b="0">
                <a:solidFill>
                  <a:srgbClr val="303437"/>
                </a:solidFill>
                <a:latin typeface="Noto Sans"/>
              </a:defRPr>
            </a:pPr>
            <a:r>
              <a:rPr sz="1350" b="0" lang="ja-JP" altLang="en-US">
                <a:solidFill>
                  <a:srgbClr val="303437"/>
                </a:solidFill>
                <a:latin typeface="Liberation Mono"/>
                <a:ea typeface="Noto Sans CJK JP"/>
                <a:cs typeface="Liberation Mono"/>
              </a:rPr>
              <a:t>lG1K/C5s5Ww,t8DtGa8xUVw</a:t>
            </a:r>
          </a:p>
          <a:p>
            <a:pPr algn="l">
              <a:lnSpc>
                <a:spcPts val="1350"/>
              </a:lnSpc>
              <a:spcBef>
                <a:spcPts val="0"/>
              </a:spcBef>
              <a:spcAft>
                <a:spcPts val="0"/>
              </a:spcAft>
              <a:buNone/>
              <a:defRPr sz="1350" b="0">
                <a:solidFill>
                  <a:srgbClr val="303437"/>
                </a:solidFill>
                <a:latin typeface="Noto Sans"/>
              </a:defRPr>
            </a:pPr>
            <a:r>
              <a:rPr sz="1350" b="0" lang="ja-JP" altLang="en-US">
                <a:solidFill>
                  <a:srgbClr val="303437"/>
                </a:solidFill>
                <a:latin typeface="Liberation Mono"/>
                <a:ea typeface="Noto Sans CJK JP"/>
                <a:cs typeface="Liberation Mono"/>
              </a:rPr>
              <a:t>ham,0</a:t>
            </a:r>
          </a:p>
          <a:p>
            <a:pPr algn="l">
              <a:lnSpc>
                <a:spcPts val="1350"/>
              </a:lnSpc>
              <a:spcBef>
                <a:spcPts val="0"/>
              </a:spcBef>
              <a:spcAft>
                <a:spcPts val="0"/>
              </a:spcAft>
              <a:buNone/>
              <a:defRPr sz="1350" b="0">
                <a:solidFill>
                  <a:srgbClr val="303437"/>
                </a:solidFill>
                <a:latin typeface="Noto Sans"/>
              </a:defRPr>
            </a:pPr>
            <a:r>
              <a:rPr sz="1350" b="0" lang="ja-JP" altLang="en-US">
                <a:solidFill>
                  <a:srgbClr val="303437"/>
                </a:solidFill>
                <a:latin typeface="Liberation Mono"/>
                <a:ea typeface="Noto Sans CJK JP"/>
                <a:cs typeface="Liberation Mono"/>
              </a:rPr>
              <a:t>ham,0</a:t>
            </a:r>
          </a:p>
          <a:p>
            <a:pPr algn="l">
              <a:lnSpc>
                <a:spcPts val="1350"/>
              </a:lnSpc>
              <a:spcBef>
                <a:spcPts val="0"/>
              </a:spcBef>
              <a:spcAft>
                <a:spcPts val="0"/>
              </a:spcAft>
              <a:buNone/>
              <a:defRPr sz="1350" b="0">
                <a:solidFill>
                  <a:srgbClr val="303437"/>
                </a:solidFill>
                <a:latin typeface="Noto Sans"/>
              </a:defRPr>
            </a:pPr>
            <a:r>
              <a:rPr sz="1350" b="0" lang="ja-JP" altLang="en-US">
                <a:solidFill>
                  <a:srgbClr val="303437"/>
                </a:solidFill>
                <a:latin typeface="Liberation Mono"/>
                <a:ea typeface="Noto Sans CJK JP"/>
                <a:cs typeface="Liberation Mono"/>
              </a:rPr>
              <a:t>ham,0</a:t>
            </a:r>
          </a:p>
          <a:p>
            <a:pPr algn="l">
              <a:lnSpc>
                <a:spcPts val="1350"/>
              </a:lnSpc>
              <a:spcBef>
                <a:spcPts val="0"/>
              </a:spcBef>
              <a:spcAft>
                <a:spcPts val="0"/>
              </a:spcAft>
              <a:buNone/>
              <a:defRPr sz="1350" b="0">
                <a:solidFill>
                  <a:srgbClr val="303437"/>
                </a:solidFill>
                <a:latin typeface="Noto Sans"/>
              </a:defRPr>
            </a:pPr>
            <a:r>
              <a:rPr sz="1350" b="0" lang="ja-JP" altLang="en-US">
                <a:solidFill>
                  <a:srgbClr val="303437"/>
                </a:solidFill>
                <a:latin typeface="Liberation Mono"/>
                <a:ea typeface="Noto Sans CJK JP"/>
                <a:cs typeface="Liberation Mono"/>
              </a:rPr>
              <a:t>ham,0</a:t>
            </a:r>
          </a:p>
          <a:p>
            <a:pPr algn="l">
              <a:lnSpc>
                <a:spcPts val="1350"/>
              </a:lnSpc>
              <a:spcBef>
                <a:spcPts val="0"/>
              </a:spcBef>
              <a:spcAft>
                <a:spcPts val="0"/>
              </a:spcAft>
              <a:buNone/>
              <a:defRPr sz="1350" b="0">
                <a:solidFill>
                  <a:srgbClr val="303437"/>
                </a:solidFill>
                <a:latin typeface="Noto Sans"/>
              </a:defRPr>
            </a:pPr>
            <a:r>
              <a:rPr sz="1350" b="0" lang="ja-JP" altLang="en-US">
                <a:solidFill>
                  <a:srgbClr val="303437"/>
                </a:solidFill>
                <a:latin typeface="Liberation Mono"/>
                <a:ea typeface="Noto Sans CJK JP"/>
                <a:cs typeface="Liberation Mono"/>
              </a:rPr>
              <a:t>ham,0</a:t>
            </a:r>
          </a:p>
          <a:p>
            <a:pPr algn="l">
              <a:lnSpc>
                <a:spcPts val="1350"/>
              </a:lnSpc>
              <a:spcBef>
                <a:spcPts val="0"/>
              </a:spcBef>
              <a:spcAft>
                <a:spcPts val="0"/>
              </a:spcAft>
              <a:buNone/>
              <a:defRPr sz="1350" b="0">
                <a:solidFill>
                  <a:srgbClr val="303437"/>
                </a:solidFill>
                <a:latin typeface="Noto Sans"/>
              </a:defRPr>
            </a:pPr>
            <a:r>
              <a:rPr sz="1350" b="0" lang="ja-JP" altLang="en-US">
                <a:solidFill>
                  <a:srgbClr val="303437"/>
                </a:solidFill>
                <a:latin typeface="Liberation Mono"/>
                <a:ea typeface="Noto Sans CJK JP"/>
                <a:cs typeface="Liberation Mono"/>
              </a:rPr>
              <a:t>ham,0</a:t>
            </a:r>
          </a:p>
          <a:p>
            <a:pPr algn="l">
              <a:lnSpc>
                <a:spcPts val="1350"/>
              </a:lnSpc>
              <a:spcBef>
                <a:spcPts val="0"/>
              </a:spcBef>
              <a:spcAft>
                <a:spcPts val="0"/>
              </a:spcAft>
              <a:buNone/>
              <a:defRPr sz="1350" b="0">
                <a:solidFill>
                  <a:srgbClr val="303437"/>
                </a:solidFill>
                <a:latin typeface="Noto Sans"/>
              </a:defRPr>
            </a:pPr>
            <a:r>
              <a:rPr sz="1350" b="0" lang="ja-JP" altLang="en-US">
                <a:solidFill>
                  <a:srgbClr val="303437"/>
                </a:solidFill>
                <a:latin typeface="Liberation Mono"/>
                <a:ea typeface="Noto Sans CJK JP"/>
                <a:cs typeface="Liberation Mono"/>
              </a:rPr>
              <a:t>spam,0</a:t>
            </a:r>
          </a:p>
          <a:p>
            <a:pPr algn="l">
              <a:lnSpc>
                <a:spcPts val="1350"/>
              </a:lnSpc>
              <a:spcBef>
                <a:spcPts val="0"/>
              </a:spcBef>
              <a:spcAft>
                <a:spcPts val="0"/>
              </a:spcAft>
              <a:buNone/>
              <a:defRPr sz="1350" b="0">
                <a:solidFill>
                  <a:srgbClr val="303437"/>
                </a:solidFill>
                <a:latin typeface="Noto Sans"/>
              </a:defRPr>
            </a:pPr>
            <a:r>
              <a:rPr sz="1350" b="0" lang="ja-JP" altLang="en-US">
                <a:solidFill>
                  <a:srgbClr val="303437"/>
                </a:solidFill>
                <a:latin typeface="Liberation Mono"/>
                <a:ea typeface="Noto Sans CJK JP"/>
                <a:cs typeface="Liberation Mono"/>
              </a:rPr>
              <a:t>ham,0</a:t>
            </a:r>
          </a:p>
          <a:p>
            <a:pPr algn="l">
              <a:lnSpc>
                <a:spcPts val="1350"/>
              </a:lnSpc>
              <a:spcBef>
                <a:spcPts val="0"/>
              </a:spcBef>
              <a:spcAft>
                <a:spcPts val="0"/>
              </a:spcAft>
              <a:buNone/>
              <a:defRPr sz="1350" b="0">
                <a:solidFill>
                  <a:srgbClr val="303437"/>
                </a:solidFill>
                <a:latin typeface="Noto Sans"/>
              </a:defRPr>
            </a:pPr>
            <a:r>
              <a:rPr sz="1350" b="0" lang="ja-JP" altLang="en-US">
                <a:solidFill>
                  <a:srgbClr val="303437"/>
                </a:solidFill>
                <a:latin typeface="Liberation Mono"/>
                <a:ea typeface="Noto Sans CJK JP"/>
                <a:cs typeface="Liberation Mono"/>
              </a:rPr>
              <a:t>ham,0</a:t>
            </a:r>
          </a:p>
          <a:p>
            <a:pPr algn="l">
              <a:lnSpc>
                <a:spcPts val="1350"/>
              </a:lnSpc>
              <a:spcBef>
                <a:spcPts val="0"/>
              </a:spcBef>
              <a:spcAft>
                <a:spcPts val="0"/>
              </a:spcAft>
              <a:buNone/>
              <a:defRPr sz="1350" b="0">
                <a:solidFill>
                  <a:srgbClr val="303437"/>
                </a:solidFill>
                <a:latin typeface="Noto Sans"/>
              </a:defRPr>
            </a:pPr>
            <a:r>
              <a:rPr sz="1350" b="0" lang="ja-JP" altLang="en-US">
                <a:solidFill>
                  <a:srgbClr val="303437"/>
                </a:solidFill>
                <a:latin typeface="Liberation Mono"/>
                <a:ea typeface="Noto Sans CJK JP"/>
                <a:cs typeface="Liberation Mono"/>
              </a:rPr>
              <a:t>ham,0</a:t>
            </a:r>
          </a:p>
          <a:p>
            <a:pPr algn="l">
              <a:lnSpc>
                <a:spcPts val="1350"/>
              </a:lnSpc>
              <a:spcBef>
                <a:spcPts val="0"/>
              </a:spcBef>
              <a:spcAft>
                <a:spcPts val="0"/>
              </a:spcAft>
              <a:buNone/>
              <a:defRPr sz="1350" b="0">
                <a:solidFill>
                  <a:srgbClr val="303437"/>
                </a:solidFill>
                <a:latin typeface="Noto Sans"/>
              </a:defRPr>
            </a:pPr>
            <a:r>
              <a:rPr sz="1350" b="0" lang="ja-JP" altLang="en-US">
                <a:solidFill>
                  <a:srgbClr val="303437"/>
                </a:solidFill>
                <a:latin typeface="Liberation Mono"/>
                <a:ea typeface="Noto Sans CJK JP"/>
                <a:cs typeface="Liberation Mono"/>
              </a:rPr>
              <a:t>ham,0</a:t>
            </a:r>
          </a:p>
        </p:txBody>
      </p:sp>
      <p:sp>
        <p:nvSpPr>
          <p:cNvPr id="10" name="TextBox 9"/>
          <p:cNvSpPr txBox="1"/>
          <p:nvPr/>
        </p:nvSpPr>
        <p:spPr>
          <a:xfrm>
            <a:off x="548640" y="4471416"/>
            <a:ext cx="8046720" cy="227457"/>
          </a:xfrm>
          <a:prstGeom prst="rect">
            <a:avLst/>
          </a:prstGeom>
          <a:noFill/>
        </p:spPr>
        <p:txBody>
          <a:bodyPr wrap="square" lIns="0" rIns="0" tIns="0" bIns="0">
            <a:noAutofit/>
          </a:bodyPr>
          <a:lstStyle/>
          <a:p>
            <a:pPr algn="l">
              <a:lnSpc>
                <a:spcPts val="1260"/>
              </a:lnSpc>
              <a:spcBef>
                <a:spcPts val="0"/>
              </a:spcBef>
              <a:spcAft>
                <a:spcPts val="0"/>
              </a:spcAft>
              <a:buNone/>
              <a:defRPr sz="1050" b="0">
                <a:solidFill>
                  <a:srgbClr val="303437"/>
                </a:solidFill>
                <a:latin typeface="Noto Sans"/>
              </a:defRPr>
            </a:pPr>
            <a:r>
              <a:rPr sz="1050" b="0" lang="ja-JP" altLang="en-US">
                <a:solidFill>
                  <a:srgbClr val="303437"/>
                </a:solidFill>
                <a:latin typeface="Noto Sans"/>
                <a:ea typeface="Noto Sans CJK JP"/>
                <a:cs typeface="Noto Sans"/>
              </a:rPr>
              <a:t>Output:</a:t>
            </a:r>
          </a:p>
        </p:txBody>
      </p:sp>
      <p:sp>
        <p:nvSpPr>
          <p:cNvPr id="11" name="source-bib"/>
          <p:cNvSpPr txBox="1"/>
          <p:nvPr/>
        </p:nvSpPr>
        <p:spPr>
          <a:xfrm>
            <a:off x="502920" y="4718304"/>
            <a:ext cx="8183879" cy="181736"/>
          </a:xfrm>
          <a:prstGeom prst="rect">
            <a:avLst/>
          </a:prstGeom>
          <a:noFill/>
        </p:spPr>
        <p:txBody>
          <a:bodyPr wrap="square" lIns="0" rIns="0" tIns="0" bIns="0">
            <a:noAutofit/>
          </a:bodyPr>
          <a:lstStyle/>
          <a:p>
            <a:pPr algn="l">
              <a:lnSpc>
                <a:spcPts val="97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LiveBench (2024), data_analysis — public questions.</a:t>
            </a:r>
          </a:p>
        </p:txBody>
      </p:sp>
      <p:sp>
        <p:nvSpPr>
          <p:cNvPr id="12" name="source-url"/>
          <p:cNvSpPr txBox="1"/>
          <p:nvPr/>
        </p:nvSpPr>
        <p:spPr>
          <a:xfrm>
            <a:off x="502920" y="4850892"/>
            <a:ext cx="8183879" cy="201168"/>
          </a:xfrm>
          <a:prstGeom prst="rect">
            <a:avLst/>
          </a:prstGeom>
          <a:noFill/>
        </p:spPr>
        <p:txBody>
          <a:bodyPr wrap="square" lIns="0" rIns="0" tIns="0" bIns="0">
            <a:noAutofit/>
          </a:bodyPr>
          <a:lstStyle/>
          <a:p>
            <a:pPr algn="l">
              <a:lnSpc>
                <a:spcPts val="97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https://huggingface.co/datasets/livebench/data_analysis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例2 結合できる列を対応付ける：日本語訳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公開問題で課題と正解を見る</a:t>
            </a:r>
          </a:p>
        </p:txBody>
      </p:sp>
      <p:sp>
        <p:nvSpPr>
          <p:cNvPr id="4" name="TextBox 3"/>
          <p:cNvSpPr txBox="1"/>
          <p:nvPr/>
        </p:nvSpPr>
        <p:spPr>
          <a:xfrm>
            <a:off x="548640" y="1344168"/>
            <a:ext cx="8046720" cy="246507"/>
          </a:xfrm>
          <a:prstGeom prst="rect">
            <a:avLst/>
          </a:prstGeom>
          <a:noFill/>
        </p:spPr>
        <p:txBody>
          <a:bodyPr wrap="square" lIns="0" rIns="0" tIns="0" bIns="0">
            <a:noAutofit/>
          </a:bodyPr>
          <a:lstStyle/>
          <a:p>
            <a:pPr algn="l">
              <a:lnSpc>
                <a:spcPts val="1380"/>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依頼の日本語訳（表の値は原文と共通）</a:t>
            </a:r>
          </a:p>
        </p:txBody>
      </p:sp>
      <p:sp>
        <p:nvSpPr>
          <p:cNvPr id="5" name="TextBox 4"/>
          <p:cNvSpPr txBox="1"/>
          <p:nvPr/>
        </p:nvSpPr>
        <p:spPr>
          <a:xfrm>
            <a:off x="594360" y="1618488"/>
            <a:ext cx="7955279" cy="1642745"/>
          </a:xfrm>
          <a:prstGeom prst="rect">
            <a:avLst/>
          </a:prstGeom>
          <a:noFill/>
        </p:spPr>
        <p:txBody>
          <a:bodyPr wrap="square" lIns="0" rIns="0" tIns="0" bIns="0">
            <a:noAutofit/>
          </a:bodyPr>
          <a:lstStyle/>
          <a:p>
            <a:pPr algn="l">
              <a:lnSpc>
                <a:spcPts val="2147"/>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CSV形式の表Aと表Bについて、有効な結合用の列の対応を作る。Aの各列に、Bの列を最大1列ずつ対応付ける。答えは {表Aの列名 : 表Bの列名} というPython辞書の形式にし、辞書だけを返す。</a:t>
            </a:r>
          </a:p>
          <a:p>
            <a:pPr algn="l">
              <a:lnSpc>
                <a:spcPts val="2147"/>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表Aには email と label がある。表Bでは列名が lG1K/C5s5Ww と t8DtGa8xUVw に置き換わっている。表の値は原文に示したとおり。</a:t>
            </a:r>
          </a:p>
        </p:txBody>
      </p:sp>
      <p:sp>
        <p:nvSpPr>
          <p:cNvPr id="6" name="source-bib"/>
          <p:cNvSpPr txBox="1"/>
          <p:nvPr/>
        </p:nvSpPr>
        <p:spPr>
          <a:xfrm>
            <a:off x="502920" y="4718304"/>
            <a:ext cx="8183879" cy="181736"/>
          </a:xfrm>
          <a:prstGeom prst="rect">
            <a:avLst/>
          </a:prstGeom>
          <a:noFill/>
        </p:spPr>
        <p:txBody>
          <a:bodyPr wrap="square" lIns="0" rIns="0" tIns="0" bIns="0">
            <a:noAutofit/>
          </a:bodyPr>
          <a:lstStyle/>
          <a:p>
            <a:pPr algn="l">
              <a:lnSpc>
                <a:spcPts val="97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LiveBench (2024), data_analysis — public questions.</a:t>
            </a:r>
          </a:p>
        </p:txBody>
      </p:sp>
      <p:sp>
        <p:nvSpPr>
          <p:cNvPr id="7" name="source-url"/>
          <p:cNvSpPr txBox="1"/>
          <p:nvPr/>
        </p:nvSpPr>
        <p:spPr>
          <a:xfrm>
            <a:off x="502920" y="4850892"/>
            <a:ext cx="8183879" cy="201168"/>
          </a:xfrm>
          <a:prstGeom prst="rect">
            <a:avLst/>
          </a:prstGeom>
          <a:noFill/>
        </p:spPr>
        <p:txBody>
          <a:bodyPr wrap="square" lIns="0" rIns="0" tIns="0" bIns="0">
            <a:noAutofit/>
          </a:bodyPr>
          <a:lstStyle/>
          <a:p>
            <a:pPr algn="l">
              <a:lnSpc>
                <a:spcPts val="97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https://huggingface.co/datasets/livebench/data_analysis</a:t>
            </a:r>
          </a:p>
        </p:txBody>
      </p:sp>
      <p:sp>
        <p:nvSpPr>
          <p:cNvPr id="8" name="TextBox 7"/>
          <p:cNvSpPr txBox="1"/>
          <p:nvPr/>
        </p:nvSpPr>
        <p:spPr>
          <a:xfrm>
            <a:off x="594360" y="3178937"/>
            <a:ext cx="7955279" cy="587946"/>
          </a:xfrm>
          <a:prstGeom prst="rect">
            <a:avLst/>
          </a:prstGeom>
          <a:noFill/>
        </p:spPr>
        <p:txBody>
          <a:bodyPr wrap="square" lIns="0" rIns="0" tIns="0" bIns="0">
            <a:noAutofit/>
          </a:bodyPr>
          <a:lstStyle/>
          <a:p>
            <a:pPr algn="l">
              <a:lnSpc>
                <a:spcPts val="2429"/>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正解：{"label": "lG1K/C5s5Ww"}</a:t>
            </a:r>
          </a:p>
        </p:txBody>
      </p:sp>
      <p:sp>
        <p:nvSpPr>
          <p:cNvPr id="9" name="TextBox 8"/>
          <p:cNvSpPr txBox="1"/>
          <p:nvPr/>
        </p:nvSpPr>
        <p:spPr>
          <a:xfrm>
            <a:off x="594360" y="3684651"/>
            <a:ext cx="7955279" cy="1054354"/>
          </a:xfrm>
          <a:prstGeom prst="rect">
            <a:avLst/>
          </a:prstGeom>
          <a:noFill/>
        </p:spPr>
        <p:txBody>
          <a:bodyPr wrap="square" lIns="0" rIns="0" tIns="0" bIns="0">
            <a:noAutofit/>
          </a:bodyPr>
          <a:lstStyle/>
          <a:p>
            <a:pPr algn="l">
              <a:lnSpc>
                <a:spcPts val="2033"/>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表Aのlabelにはhamとspamが入り、表BのlG1K/C5s5Wwにも同じ種類の値がある。もう一方の列は0だけなので、対応する列はlabelからlG1K/C5s5Wwへの一組となる。</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例3 引用符と五つの節を守る：原文</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公開問題で課題と正解を見る</a:t>
            </a:r>
          </a:p>
        </p:txBody>
      </p:sp>
      <p:sp>
        <p:nvSpPr>
          <p:cNvPr id="4" name="TextBox 3"/>
          <p:cNvSpPr txBox="1"/>
          <p:nvPr/>
        </p:nvSpPr>
        <p:spPr>
          <a:xfrm>
            <a:off x="365760" y="1298448"/>
            <a:ext cx="8412480" cy="227457"/>
          </a:xfrm>
          <a:prstGeom prst="rect">
            <a:avLst/>
          </a:prstGeom>
          <a:noFill/>
        </p:spPr>
        <p:txBody>
          <a:bodyPr wrap="square" lIns="0" rIns="0" tIns="0" bIns="0">
            <a:noAutofit/>
          </a:bodyPr>
          <a:lstStyle/>
          <a:p>
            <a:pPr algn="l">
              <a:lnSpc>
                <a:spcPts val="126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問題の原文（全文）</a:t>
            </a:r>
          </a:p>
        </p:txBody>
      </p:sp>
      <p:sp>
        <p:nvSpPr>
          <p:cNvPr id="5" name="original-frame"/>
          <p:cNvSpPr/>
          <p:nvPr/>
        </p:nvSpPr>
        <p:spPr>
          <a:xfrm>
            <a:off x="365760" y="1481328"/>
            <a:ext cx="8412480" cy="32385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88900" bIns="127000">
            <a:noAutofit/>
          </a:bodyPr>
          <a:lstStyle/>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The following are the beginning sentences of a news article from the Guardian.</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 Should I feel guilty about buying a Christmas tree? Millions are grown and cut each year, but is this an environmental plus or minus? Bill Green, Tring, Herts Post your answers – and new questions – below or email them to nq@theguardian.com</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Please paraphrase based on the sentences provided.  Wrap your entire response with double quotation marks. Your response must have 5 sections. Mark the beginning of each section with Section X, such as:</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Section 1</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[content of section 1]</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Section 2</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[content of section 2]</a:t>
            </a:r>
          </a:p>
        </p:txBody>
      </p:sp>
      <p:sp>
        <p:nvSpPr>
          <p:cNvPr id="6" name="source-bib"/>
          <p:cNvSpPr txBox="1"/>
          <p:nvPr/>
        </p:nvSpPr>
        <p:spPr>
          <a:xfrm>
            <a:off x="502920" y="4718304"/>
            <a:ext cx="8183879" cy="181736"/>
          </a:xfrm>
          <a:prstGeom prst="rect">
            <a:avLst/>
          </a:prstGeom>
          <a:noFill/>
        </p:spPr>
        <p:txBody>
          <a:bodyPr wrap="square" lIns="0" rIns="0" tIns="0" bIns="0">
            <a:noAutofit/>
          </a:bodyPr>
          <a:lstStyle/>
          <a:p>
            <a:pPr algn="l">
              <a:lnSpc>
                <a:spcPts val="97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LiveBench (2024), instruction_following — public questions.</a:t>
            </a:r>
          </a:p>
        </p:txBody>
      </p:sp>
      <p:sp>
        <p:nvSpPr>
          <p:cNvPr id="7" name="source-url"/>
          <p:cNvSpPr txBox="1"/>
          <p:nvPr/>
        </p:nvSpPr>
        <p:spPr>
          <a:xfrm>
            <a:off x="502920" y="4850892"/>
            <a:ext cx="8183879" cy="201168"/>
          </a:xfrm>
          <a:prstGeom prst="rect">
            <a:avLst/>
          </a:prstGeom>
          <a:noFill/>
        </p:spPr>
        <p:txBody>
          <a:bodyPr wrap="square" lIns="0" rIns="0" tIns="0" bIns="0">
            <a:noAutofit/>
          </a:bodyPr>
          <a:lstStyle/>
          <a:p>
            <a:pPr algn="l">
              <a:lnSpc>
                <a:spcPts val="97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https://huggingface.co/datasets/livebench/instruction_following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例3 引用符と五つの節を守る：日本語訳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公開問題で課題と正解を見る</a:t>
            </a:r>
          </a:p>
        </p:txBody>
      </p:sp>
      <p:sp>
        <p:nvSpPr>
          <p:cNvPr id="4" name="TextBox 3"/>
          <p:cNvSpPr txBox="1"/>
          <p:nvPr/>
        </p:nvSpPr>
        <p:spPr>
          <a:xfrm>
            <a:off x="548640" y="1344168"/>
            <a:ext cx="8046720" cy="246507"/>
          </a:xfrm>
          <a:prstGeom prst="rect">
            <a:avLst/>
          </a:prstGeom>
          <a:noFill/>
        </p:spPr>
        <p:txBody>
          <a:bodyPr wrap="square" lIns="0" rIns="0" tIns="0" bIns="0">
            <a:noAutofit/>
          </a:bodyPr>
          <a:lstStyle/>
          <a:p>
            <a:pPr algn="l">
              <a:lnSpc>
                <a:spcPts val="1380"/>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問題の日本語訳</a:t>
            </a:r>
          </a:p>
        </p:txBody>
      </p:sp>
      <p:sp>
        <p:nvSpPr>
          <p:cNvPr id="5" name="TextBox 4"/>
          <p:cNvSpPr txBox="1"/>
          <p:nvPr/>
        </p:nvSpPr>
        <p:spPr>
          <a:xfrm>
            <a:off x="365760" y="1572768"/>
            <a:ext cx="8412480" cy="3072892"/>
          </a:xfrm>
          <a:prstGeom prst="rect">
            <a:avLst/>
          </a:prstGeom>
          <a:noFill/>
        </p:spPr>
        <p:txBody>
          <a:bodyPr wrap="square" lIns="0" rIns="0" tIns="0" bIns="0">
            <a:noAutofit/>
          </a:bodyPr>
          <a:lstStyle/>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以下は、The Guardianの記事の冒頭の文である。</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クリスマスツリーを買うことに罪悪感を覚えるべきだろうか。毎年、何百万本もの木が育てられ、伐採されている。これは環境にとってプラスなのか、マイナスなのか。Bill Green、Tring、Herts。回答や新しい質問は下欄に投稿するか、nq@theguardian.comへメールで送ってください。</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示された文を言い換える。回答全体を二重引用符で囲む。回答は五つの節にする。各節の冒頭には、次の例のように Section X と記す。</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Section 1</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［第1節の内容］</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Section 2</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［第2節の内容］</a:t>
            </a:r>
          </a:p>
        </p:txBody>
      </p:sp>
      <p:sp>
        <p:nvSpPr>
          <p:cNvPr id="6" name="source-bib"/>
          <p:cNvSpPr txBox="1"/>
          <p:nvPr/>
        </p:nvSpPr>
        <p:spPr>
          <a:xfrm>
            <a:off x="502920" y="4718304"/>
            <a:ext cx="8183879" cy="181736"/>
          </a:xfrm>
          <a:prstGeom prst="rect">
            <a:avLst/>
          </a:prstGeom>
          <a:noFill/>
        </p:spPr>
        <p:txBody>
          <a:bodyPr wrap="square" lIns="0" rIns="0" tIns="0" bIns="0">
            <a:noAutofit/>
          </a:bodyPr>
          <a:lstStyle/>
          <a:p>
            <a:pPr algn="l">
              <a:lnSpc>
                <a:spcPts val="97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LiveBench (2024), instruction_following — public questions.</a:t>
            </a:r>
          </a:p>
        </p:txBody>
      </p:sp>
      <p:sp>
        <p:nvSpPr>
          <p:cNvPr id="7" name="source-url"/>
          <p:cNvSpPr txBox="1"/>
          <p:nvPr/>
        </p:nvSpPr>
        <p:spPr>
          <a:xfrm>
            <a:off x="502920" y="4850892"/>
            <a:ext cx="8183879" cy="201168"/>
          </a:xfrm>
          <a:prstGeom prst="rect">
            <a:avLst/>
          </a:prstGeom>
          <a:noFill/>
        </p:spPr>
        <p:txBody>
          <a:bodyPr wrap="square" lIns="0" rIns="0" tIns="0" bIns="0">
            <a:noAutofit/>
          </a:bodyPr>
          <a:lstStyle/>
          <a:p>
            <a:pPr algn="l">
              <a:lnSpc>
                <a:spcPts val="97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https://huggingface.co/datasets/livebench/instruction_following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例3 引用符と五つの節を守る：答えの読み方</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公開問題で課題と正解を見る</a:t>
            </a:r>
          </a:p>
        </p:txBody>
      </p:sp>
      <p:sp>
        <p:nvSpPr>
          <p:cNvPr id="4" name="TextBox 3"/>
          <p:cNvSpPr txBox="1"/>
          <p:nvPr/>
        </p:nvSpPr>
        <p:spPr>
          <a:xfrm>
            <a:off x="594360" y="1609344"/>
            <a:ext cx="7955279" cy="587946"/>
          </a:xfrm>
          <a:prstGeom prst="rect">
            <a:avLst/>
          </a:prstGeom>
          <a:noFill/>
        </p:spPr>
        <p:txBody>
          <a:bodyPr wrap="square" lIns="0" rIns="0" tIns="0" bIns="0">
            <a:noAutofit/>
          </a:bodyPr>
          <a:lstStyle/>
          <a:p>
            <a:pPr algn="l">
              <a:lnSpc>
                <a:spcPts val="2429"/>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要求する形式：全体を二重引用符で囲む／五つの節</a:t>
            </a:r>
          </a:p>
        </p:txBody>
      </p:sp>
      <p:sp>
        <p:nvSpPr>
          <p:cNvPr id="5" name="TextBox 4"/>
          <p:cNvSpPr txBox="1"/>
          <p:nvPr/>
        </p:nvSpPr>
        <p:spPr>
          <a:xfrm>
            <a:off x="594360" y="2151570"/>
            <a:ext cx="7955279" cy="1183513"/>
          </a:xfrm>
          <a:prstGeom prst="rect">
            <a:avLst/>
          </a:prstGeom>
          <a:noFill/>
        </p:spPr>
        <p:txBody>
          <a:bodyPr wrap="square" lIns="0" rIns="0" tIns="0" bIns="0">
            <a:noAutofit/>
          </a:bodyPr>
          <a:lstStyle/>
          <a:p>
            <a:pPr algn="l">
              <a:lnSpc>
                <a:spcPts val="2372"/>
              </a:lnSpc>
              <a:spcBef>
                <a:spcPts val="0"/>
              </a:spcBef>
              <a:spcAft>
                <a:spcPts val="0"/>
              </a:spcAft>
              <a:buNone/>
              <a:defRPr sz="2100" b="0">
                <a:solidFill>
                  <a:srgbClr val="303437"/>
                </a:solidFill>
                <a:latin typeface="Noto Sans"/>
              </a:defRPr>
            </a:pPr>
            <a:r>
              <a:rPr sz="2100" b="0" lang="ja-JP" altLang="en-US">
                <a:solidFill>
                  <a:srgbClr val="303437"/>
                </a:solidFill>
                <a:latin typeface="Noto Sans"/>
                <a:ea typeface="Noto Sans CJK JP"/>
                <a:cs typeface="Noto Sans"/>
              </a:rPr>
              <a:t>この例では、回答文は一つに定まらない。公開された機械判定は、回答全体の引用符と、Sectionに番号を付けた節見出しを確認する。</a:t>
            </a:r>
          </a:p>
        </p:txBody>
      </p:sp>
      <p:sp>
        <p:nvSpPr>
          <p:cNvPr id="6" name="source-bib"/>
          <p:cNvSpPr txBox="1"/>
          <p:nvPr/>
        </p:nvSpPr>
        <p:spPr>
          <a:xfrm>
            <a:off x="502920" y="4718304"/>
            <a:ext cx="8183879" cy="181736"/>
          </a:xfrm>
          <a:prstGeom prst="rect">
            <a:avLst/>
          </a:prstGeom>
          <a:noFill/>
        </p:spPr>
        <p:txBody>
          <a:bodyPr wrap="square" lIns="0" rIns="0" tIns="0" bIns="0">
            <a:noAutofit/>
          </a:bodyPr>
          <a:lstStyle/>
          <a:p>
            <a:pPr algn="l">
              <a:lnSpc>
                <a:spcPts val="97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LiveBench (2024), instruction_following — public questions.</a:t>
            </a:r>
          </a:p>
        </p:txBody>
      </p:sp>
      <p:sp>
        <p:nvSpPr>
          <p:cNvPr id="7" name="source-url"/>
          <p:cNvSpPr txBox="1"/>
          <p:nvPr/>
        </p:nvSpPr>
        <p:spPr>
          <a:xfrm>
            <a:off x="502920" y="4850892"/>
            <a:ext cx="8183879" cy="201168"/>
          </a:xfrm>
          <a:prstGeom prst="rect">
            <a:avLst/>
          </a:prstGeom>
          <a:noFill/>
        </p:spPr>
        <p:txBody>
          <a:bodyPr wrap="square" lIns="0" rIns="0" tIns="0" bIns="0">
            <a:noAutofit/>
          </a:bodyPr>
          <a:lstStyle/>
          <a:p>
            <a:pPr algn="l">
              <a:lnSpc>
                <a:spcPts val="97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https://huggingface.co/datasets/livebench/instruction_following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9923"/>
            <a:ext cx="8046720" cy="579120"/>
          </a:xfrm>
        </p:spPr>
        <p:txBody>
          <a:bodyPr wrap="square" lIns="0" rIns="0" tIns="0" bIns="0" anchor="ctr">
            <a:noAutofit/>
          </a:bodyPr>
          <a:lstStyle/>
          <a:p>
            <a:pPr algn="ctr">
              <a:lnSpc>
                <a:spcPct val="110000"/>
              </a:lnSpc>
              <a:buNone/>
              <a:defRPr sz="3200" b="0">
                <a:solidFill>
                  <a:srgbClr val="303437"/>
                </a:solidFill>
                <a:latin typeface="Noto Sans"/>
              </a:defRPr>
            </a:pPr>
            <a:r>
              <a:rPr sz="3200" b="1" lang="ja-JP" altLang="en-US">
                <a:solidFill>
                  <a:srgbClr val="303437"/>
                </a:solidFill>
                <a:latin typeface="Noto Sans"/>
                <a:ea typeface="Noto Sans CJK JP"/>
                <a:cs typeface="Noto Sans"/>
              </a:rPr>
              <a:t>2. 問題の構築と分野の広がり</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問題の構築と分野の広がり</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新しい素材と、既存課題の難化を組み合わせる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Colin Whiteらは、公開された評価問題がモデルの学習に入り、成績を押し上げる問題に対応するため、評価用の問題を入れ替える仕組みを作った。</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新しい数学競技、論文の要旨、ニュース記事、データ表を素材にする方法と、既存の推理・数式・指示追従課題を難しく作り直す方法を組み合わせた。</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問題の構築と分野の広がり</a:t>
            </a:r>
          </a:p>
        </p:txBody>
      </p:sp>
      <p:sp>
        <p:nvSpPr>
          <p:cNvPr id="5" name="source-bib"/>
          <p:cNvSpPr txBox="1"/>
          <p:nvPr/>
        </p:nvSpPr>
        <p:spPr>
          <a:xfrm>
            <a:off x="502920" y="4718304"/>
            <a:ext cx="8183879" cy="181736"/>
          </a:xfrm>
          <a:prstGeom prst="rect">
            <a:avLst/>
          </a:prstGeom>
          <a:noFill/>
        </p:spPr>
        <p:txBody>
          <a:bodyPr wrap="square" lIns="0" rIns="0" tIns="0" bIns="0">
            <a:noAutofit/>
          </a:bodyPr>
          <a:lstStyle/>
          <a:p>
            <a:pPr algn="l">
              <a:lnSpc>
                <a:spcPts val="97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White et al. (2025), LiveBench.</a:t>
            </a:r>
          </a:p>
        </p:txBody>
      </p:sp>
      <p:sp>
        <p:nvSpPr>
          <p:cNvPr id="6" name="source-url"/>
          <p:cNvSpPr txBox="1"/>
          <p:nvPr/>
        </p:nvSpPr>
        <p:spPr>
          <a:xfrm>
            <a:off x="502920" y="4850892"/>
            <a:ext cx="8183879" cy="201168"/>
          </a:xfrm>
          <a:prstGeom prst="rect">
            <a:avLst/>
          </a:prstGeom>
          <a:noFill/>
        </p:spPr>
        <p:txBody>
          <a:bodyPr wrap="square" lIns="0" rIns="0" tIns="0" bIns="0">
            <a:noAutofit/>
          </a:bodyPr>
          <a:lstStyle/>
          <a:p>
            <a:pPr algn="l">
              <a:lnSpc>
                <a:spcPts val="97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https://arxiv.org/abs/2406.19314</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登場時は六分野を含む</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問題の構築と分野の広がり</a:t>
            </a:r>
          </a:p>
        </p:txBody>
      </p:sp>
      <p:graphicFrame>
        <p:nvGraphicFramePr>
          <p:cNvPr id="4" name="Table 3"/>
          <p:cNvGraphicFramePr>
            <a:graphicFrameLocks noGrp="1"/>
          </p:cNvGraphicFramePr>
          <p:nvPr/>
        </p:nvGraphicFramePr>
        <p:xfrm>
          <a:off x="548640" y="1508760"/>
          <a:ext cx="8046720" cy="2816352"/>
        </p:xfrm>
        <a:graphic>
          <a:graphicData uri="http://schemas.openxmlformats.org/drawingml/2006/table">
            <a:tbl>
              <a:tblPr firstRow="0" bandRow="0"/>
              <a:tblGrid>
                <a:gridCol w="1828800"/>
                <a:gridCol w="6217920"/>
              </a:tblGrid>
              <a:tr h="402336">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分野</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代表的な課題</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02336">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数学</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競技問題、数式の穴埋め、式の計算</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02336">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コード</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プログラム生成、途中のコードの補完</a:t>
                      </a:r>
                    </a:p>
                  </a:txBody>
                  <a:tcPr marL="63500" marR="63500" marT="38100" marB="38100" anchor="ctr">
                    <a:lnL w="7620">
                      <a:noFill/>
                    </a:lnL>
                    <a:lnR w="7620">
                      <a:noFill/>
                    </a:lnR>
                    <a:lnT w="7620">
                      <a:noFill/>
                    </a:lnT>
                    <a:lnB w="7620">
                      <a:noFill/>
                    </a:lnB>
                    <a:solidFill>
                      <a:srgbClr val="FFFEF8"/>
                    </a:solidFill>
                  </a:tcPr>
                </a:tc>
              </a:tr>
              <a:tr h="402336">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推理</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属性推理、発言の真偽、空間関係</a:t>
                      </a:r>
                    </a:p>
                  </a:txBody>
                  <a:tcPr marL="63500" marR="63500" marT="38100" marB="38100" anchor="ctr">
                    <a:lnL w="7620">
                      <a:noFill/>
                    </a:lnL>
                    <a:lnR w="7620">
                      <a:noFill/>
                    </a:lnR>
                    <a:lnT w="7620">
                      <a:noFill/>
                    </a:lnT>
                    <a:lnB w="7620">
                      <a:noFill/>
                    </a:lnB>
                    <a:solidFill>
                      <a:srgbClr val="FFFEF8"/>
                    </a:solidFill>
                  </a:tcPr>
                </a:tc>
              </a:tr>
              <a:tr h="402336">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言語</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共通語の分類、誤字訂正、文の並べ替え</a:t>
                      </a:r>
                    </a:p>
                  </a:txBody>
                  <a:tcPr marL="63500" marR="63500" marT="38100" marB="38100" anchor="ctr">
                    <a:lnL w="7620">
                      <a:noFill/>
                    </a:lnL>
                    <a:lnR w="7620">
                      <a:noFill/>
                    </a:lnR>
                    <a:lnT w="7620">
                      <a:noFill/>
                    </a:lnT>
                    <a:lnB w="7620">
                      <a:noFill/>
                    </a:lnB>
                    <a:solidFill>
                      <a:srgbClr val="FFFEF8"/>
                    </a:solidFill>
                  </a:tcPr>
                </a:tc>
              </a:tr>
              <a:tr h="402336">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指示への対応</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言い換え・要約などに形式条件を付ける</a:t>
                      </a:r>
                    </a:p>
                  </a:txBody>
                  <a:tcPr marL="63500" marR="63500" marT="38100" marB="38100" anchor="ctr">
                    <a:lnL w="7620">
                      <a:noFill/>
                    </a:lnL>
                    <a:lnR w="7620">
                      <a:noFill/>
                    </a:lnR>
                    <a:lnT w="7620">
                      <a:noFill/>
                    </a:lnT>
                    <a:lnB w="7620">
                      <a:noFill/>
                    </a:lnB>
                    <a:solidFill>
                      <a:srgbClr val="FFFEF8"/>
                    </a:solidFill>
                  </a:tcPr>
                </a:tc>
              </a:tr>
              <a:tr h="402336">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データ分析</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表の変換、結合列の対応、列の分類</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source-bib"/>
          <p:cNvSpPr txBox="1"/>
          <p:nvPr/>
        </p:nvSpPr>
        <p:spPr>
          <a:xfrm>
            <a:off x="502920" y="4718304"/>
            <a:ext cx="8183879" cy="181736"/>
          </a:xfrm>
          <a:prstGeom prst="rect">
            <a:avLst/>
          </a:prstGeom>
          <a:noFill/>
        </p:spPr>
        <p:txBody>
          <a:bodyPr wrap="square" lIns="0" rIns="0" tIns="0" bIns="0">
            <a:noAutofit/>
          </a:bodyPr>
          <a:lstStyle/>
          <a:p>
            <a:pPr algn="l">
              <a:lnSpc>
                <a:spcPts val="97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White et al. (2025), LiveBench.</a:t>
            </a:r>
          </a:p>
        </p:txBody>
      </p:sp>
      <p:sp>
        <p:nvSpPr>
          <p:cNvPr id="6" name="source-url"/>
          <p:cNvSpPr txBox="1"/>
          <p:nvPr/>
        </p:nvSpPr>
        <p:spPr>
          <a:xfrm>
            <a:off x="502920" y="4850892"/>
            <a:ext cx="8183879" cy="201168"/>
          </a:xfrm>
          <a:prstGeom prst="rect">
            <a:avLst/>
          </a:prstGeom>
          <a:noFill/>
        </p:spPr>
        <p:txBody>
          <a:bodyPr wrap="square" lIns="0" rIns="0" tIns="0" bIns="0">
            <a:noAutofit/>
          </a:bodyPr>
          <a:lstStyle/>
          <a:p>
            <a:pPr algn="l">
              <a:lnSpc>
                <a:spcPts val="97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https://arxiv.org/abs/2406.19314</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課題ごとに、素材と正解の作り方が異なる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空間推理には人が書いた50問を用意した。属性推理や数式の計算では生成手順を使い、既存の課題より複雑な条件や数値を取り入れた。</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誤字訂正では論文要旨のつづりを崩し、表変換ではデータの形式を変える。元の文章や表を参照値として、出力を照合できるようにした。</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問題の構築と分野の広がり</a:t>
            </a:r>
          </a:p>
        </p:txBody>
      </p:sp>
      <p:sp>
        <p:nvSpPr>
          <p:cNvPr id="5" name="source-bib"/>
          <p:cNvSpPr txBox="1"/>
          <p:nvPr/>
        </p:nvSpPr>
        <p:spPr>
          <a:xfrm>
            <a:off x="502920" y="4718304"/>
            <a:ext cx="8183879" cy="181736"/>
          </a:xfrm>
          <a:prstGeom prst="rect">
            <a:avLst/>
          </a:prstGeom>
          <a:noFill/>
        </p:spPr>
        <p:txBody>
          <a:bodyPr wrap="square" lIns="0" rIns="0" tIns="0" bIns="0">
            <a:noAutofit/>
          </a:bodyPr>
          <a:lstStyle/>
          <a:p>
            <a:pPr algn="l">
              <a:lnSpc>
                <a:spcPts val="97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White et al. (2025), LiveBench.</a:t>
            </a:r>
          </a:p>
        </p:txBody>
      </p:sp>
      <p:sp>
        <p:nvSpPr>
          <p:cNvPr id="6" name="source-url"/>
          <p:cNvSpPr txBox="1"/>
          <p:nvPr/>
        </p:nvSpPr>
        <p:spPr>
          <a:xfrm>
            <a:off x="502920" y="4850892"/>
            <a:ext cx="8183879" cy="201168"/>
          </a:xfrm>
          <a:prstGeom prst="rect">
            <a:avLst/>
          </a:prstGeom>
          <a:noFill/>
        </p:spPr>
        <p:txBody>
          <a:bodyPr wrap="square" lIns="0" rIns="0" tIns="0" bIns="0">
            <a:noAutofit/>
          </a:bodyPr>
          <a:lstStyle/>
          <a:p>
            <a:pPr algn="l">
              <a:lnSpc>
                <a:spcPts val="97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https://arxiv.org/abs/2406.19314</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新しい問題を加え、古い問題を入れ替える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558"/>
              </a:lnSpc>
              <a:spcAft>
                <a:spcPts val="700"/>
              </a:spcAft>
              <a:buSzPct val="61860"/>
              <a:buFont typeface="Noto Sans CJK JP"/>
              <a:buChar char="●"/>
              <a:defRPr sz="2150" b="0">
                <a:solidFill>
                  <a:srgbClr val="303437"/>
                </a:solidFill>
                <a:latin typeface="Noto Sans"/>
              </a:defRPr>
            </a:pPr>
            <a:r>
              <a:rPr sz="2150" b="0" lang="ja-JP" altLang="en-US">
                <a:solidFill>
                  <a:srgbClr val="303437"/>
                </a:solidFill>
                <a:latin typeface="Noto Sans"/>
                <a:ea typeface="Noto Sans CJK JP"/>
                <a:cs typeface="Noto Sans"/>
              </a:rPr>
              <a:t>2024年6月の初期公開は960問。翌月までに課題の追加と除外を行い、全体を1,000問にした。</a:t>
            </a:r>
          </a:p>
          <a:p>
            <a:pPr marL="457200" indent="-355600">
              <a:lnSpc>
                <a:spcPts val="2558"/>
              </a:lnSpc>
              <a:spcAft>
                <a:spcPts val="0"/>
              </a:spcAft>
              <a:buSzPct val="61860"/>
              <a:buFont typeface="Noto Sans CJK JP"/>
              <a:buChar char="●"/>
              <a:defRPr sz="2150" b="0">
                <a:solidFill>
                  <a:srgbClr val="303437"/>
                </a:solidFill>
                <a:latin typeface="Noto Sans"/>
              </a:defRPr>
            </a:pPr>
            <a:r>
              <a:rPr sz="2150" b="0" lang="ja-JP" altLang="en-US">
                <a:solidFill>
                  <a:srgbClr val="303437"/>
                </a:solidFill>
                <a:latin typeface="Noto Sans"/>
                <a:ea typeface="Noto Sans CJK JP"/>
                <a:cs typeface="Noto Sans"/>
              </a:rPr>
              <a:t>当初は平均で約6分の1ずつを月ごとに入れ替え、約6か月で一巡させる運用を設計した。新しい問題は公開を1か月遅らせ、未公開の問題も使って評価した。</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問題の構築と分野の広がり</a:t>
            </a:r>
          </a:p>
        </p:txBody>
      </p:sp>
      <p:sp>
        <p:nvSpPr>
          <p:cNvPr id="5" name="source-bib"/>
          <p:cNvSpPr txBox="1"/>
          <p:nvPr/>
        </p:nvSpPr>
        <p:spPr>
          <a:xfrm>
            <a:off x="502920" y="4718304"/>
            <a:ext cx="8183879" cy="181736"/>
          </a:xfrm>
          <a:prstGeom prst="rect">
            <a:avLst/>
          </a:prstGeom>
          <a:noFill/>
        </p:spPr>
        <p:txBody>
          <a:bodyPr wrap="square" lIns="0" rIns="0" tIns="0" bIns="0">
            <a:noAutofit/>
          </a:bodyPr>
          <a:lstStyle/>
          <a:p>
            <a:pPr algn="l">
              <a:lnSpc>
                <a:spcPts val="97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White et al. (2025), LiveBench.</a:t>
            </a:r>
          </a:p>
        </p:txBody>
      </p:sp>
      <p:sp>
        <p:nvSpPr>
          <p:cNvPr id="6" name="source-url"/>
          <p:cNvSpPr txBox="1"/>
          <p:nvPr/>
        </p:nvSpPr>
        <p:spPr>
          <a:xfrm>
            <a:off x="502920" y="4850892"/>
            <a:ext cx="8183879" cy="201168"/>
          </a:xfrm>
          <a:prstGeom prst="rect">
            <a:avLst/>
          </a:prstGeom>
          <a:noFill/>
        </p:spPr>
        <p:txBody>
          <a:bodyPr wrap="square" lIns="0" rIns="0" tIns="0" bIns="0">
            <a:noAutofit/>
          </a:bodyPr>
          <a:lstStyle/>
          <a:p>
            <a:pPr algn="l">
              <a:lnSpc>
                <a:spcPts val="97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https://arxiv.org/abs/2406.19314</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9923"/>
            <a:ext cx="8046720" cy="579120"/>
          </a:xfrm>
        </p:spPr>
        <p:txBody>
          <a:bodyPr wrap="square" lIns="0" rIns="0" tIns="0" bIns="0" anchor="ctr">
            <a:noAutofit/>
          </a:bodyPr>
          <a:lstStyle/>
          <a:p>
            <a:pPr algn="ctr">
              <a:lnSpc>
                <a:spcPct val="110000"/>
              </a:lnSpc>
              <a:buNone/>
              <a:defRPr sz="3200" b="0">
                <a:solidFill>
                  <a:srgbClr val="303437"/>
                </a:solidFill>
                <a:latin typeface="Noto Sans"/>
              </a:defRPr>
            </a:pPr>
            <a:r>
              <a:rPr sz="3200" b="1" lang="ja-JP" altLang="en-US">
                <a:solidFill>
                  <a:srgbClr val="303437"/>
                </a:solidFill>
                <a:latin typeface="Noto Sans"/>
                <a:ea typeface="Noto Sans CJK JP"/>
                <a:cs typeface="Noto Sans"/>
              </a:rPr>
              <a:t>3. 採点方法とモデルの成績</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採点方法とモデルの成績</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正解照合と、課題に応じた部分点を使う</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単語や数値の答えは参照値と照合し、コードはテストで動作を確かめる。表の列対応は適合率と再現率からF1を計算し、語の組分けは正しく作れた組の割合を得点にする。</a:t>
            </a:r>
          </a:p>
          <a:p>
            <a:pPr marL="457200" indent="-355600">
              <a:lnSpc>
                <a:spcPts val="2499"/>
              </a:lnSpc>
              <a:spcAft>
                <a:spcPts val="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登場時の集計は、問題ごとの0〜1の得点を課題ごとに平均し、その平均を分野ごと、最後に六分野全体で平均する。問題の多い分野だけが総合点を支配しない設計である。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採点方法とモデルの成績</a:t>
            </a:r>
          </a:p>
        </p:txBody>
      </p:sp>
      <p:sp>
        <p:nvSpPr>
          <p:cNvPr id="5" name="source-inline"/>
          <p:cNvSpPr txBox="1"/>
          <p:nvPr/>
        </p:nvSpPr>
        <p:spPr>
          <a:xfrm>
            <a:off x="502920" y="4736592"/>
            <a:ext cx="8183879" cy="182880"/>
          </a:xfrm>
          <a:prstGeom prst="rect">
            <a:avLst/>
          </a:prstGeom>
          <a:noFill/>
        </p:spPr>
        <p:txBody>
          <a:bodyPr wrap="square" lIns="0" rIns="0" tIns="0" bIns="0">
            <a:noAutofit/>
          </a:bodyPr>
          <a:lstStyle/>
          <a:p>
            <a:pPr algn="l">
              <a:lnSpc>
                <a:spcPts val="936"/>
              </a:lnSpc>
              <a:spcBef>
                <a:spcPts val="0"/>
              </a:spcBef>
              <a:spcAft>
                <a:spcPts val="0"/>
              </a:spcAft>
              <a:buNone/>
              <a:defRPr sz="780" b="0">
                <a:solidFill>
                  <a:srgbClr val="303437"/>
                </a:solidFill>
                <a:latin typeface="Noto Sans"/>
              </a:defRPr>
            </a:pPr>
            <a:r>
              <a:rPr sz="780" b="0" lang="ja-JP" altLang="en-US">
                <a:solidFill>
                  <a:srgbClr val="626669"/>
                </a:solidFill>
                <a:latin typeface="Noto Sans"/>
                <a:ea typeface="Noto Sans CJK JP"/>
                <a:cs typeface="Noto Sans"/>
              </a:rPr>
              <a:t/>
            </a:r>
            <a:r>
              <a:rPr sz="780" b="0" lang="ja-JP" altLang="en-US">
                <a:solidFill>
                  <a:srgbClr val="626669"/>
                </a:solidFill>
                <a:latin typeface="Noto Sans"/>
                <a:ea typeface="Noto Sans CJK JP"/>
                <a:cs typeface="Noto Sans"/>
              </a:rPr>
              <a:t>[1] White et al. (2025), LiveBench. </a:t>
            </a:r>
            <a:r>
              <a:rPr sz="780" b="0" lang="ja-JP" altLang="en-US">
                <a:solidFill>
                  <a:srgbClr val="626669"/>
                </a:solidFill>
                <a:latin typeface="Noto Sans"/>
                <a:ea typeface="Noto Sans CJK JP"/>
                <a:cs typeface="Noto Sans"/>
                <a:hlinkClick r:id="rId2"/>
              </a:rPr>
              <a:t>https://arxiv.org/abs/2406.19314</a:t>
            </a:r>
          </a:p>
        </p:txBody>
      </p:sp>
      <p:sp>
        <p:nvSpPr>
          <p:cNvPr id="6" name="source-inline"/>
          <p:cNvSpPr txBox="1"/>
          <p:nvPr/>
        </p:nvSpPr>
        <p:spPr>
          <a:xfrm>
            <a:off x="502920" y="4873752"/>
            <a:ext cx="8183879" cy="182880"/>
          </a:xfrm>
          <a:prstGeom prst="rect">
            <a:avLst/>
          </a:prstGeom>
          <a:noFill/>
        </p:spPr>
        <p:txBody>
          <a:bodyPr wrap="square" lIns="0" rIns="0" tIns="0" bIns="0">
            <a:noAutofit/>
          </a:bodyPr>
          <a:lstStyle/>
          <a:p>
            <a:pPr algn="l">
              <a:lnSpc>
                <a:spcPts val="936"/>
              </a:lnSpc>
              <a:spcBef>
                <a:spcPts val="0"/>
              </a:spcBef>
              <a:spcAft>
                <a:spcPts val="0"/>
              </a:spcAft>
              <a:buNone/>
              <a:defRPr sz="780" b="0">
                <a:solidFill>
                  <a:srgbClr val="303437"/>
                </a:solidFill>
                <a:latin typeface="Noto Sans"/>
              </a:defRPr>
            </a:pPr>
            <a:r>
              <a:rPr sz="780" b="0" lang="ja-JP" altLang="en-US">
                <a:solidFill>
                  <a:srgbClr val="626669"/>
                </a:solidFill>
                <a:latin typeface="Noto Sans"/>
                <a:ea typeface="Noto Sans CJK JP"/>
                <a:cs typeface="Noto Sans"/>
              </a:rPr>
              <a:t/>
            </a:r>
            <a:r>
              <a:rPr sz="780" b="0" lang="ja-JP" altLang="en-US">
                <a:solidFill>
                  <a:srgbClr val="626669"/>
                </a:solidFill>
                <a:latin typeface="Noto Sans"/>
                <a:ea typeface="Noto Sans CJK JP"/>
                <a:cs typeface="Noto Sans"/>
              </a:rPr>
              <a:t>[2] LiveBench (2026-10-25参照), official repository. </a:t>
            </a:r>
            <a:r>
              <a:rPr sz="780" b="0" lang="ja-JP" altLang="en-US">
                <a:solidFill>
                  <a:srgbClr val="626669"/>
                </a:solidFill>
                <a:latin typeface="Noto Sans"/>
                <a:ea typeface="Noto Sans CJK JP"/>
                <a:cs typeface="Noto Sans"/>
                <a:hlinkClick r:id="rId3"/>
              </a:rPr>
              <a:t>https://github.com/LiveBench/LiveBench</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指示追従では、全条件と個別条件を評価する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採点方法とモデルの成績</a:t>
            </a:r>
          </a:p>
        </p:txBody>
      </p:sp>
      <p:graphicFrame>
        <p:nvGraphicFramePr>
          <p:cNvPr id="4" name="Table 3"/>
          <p:cNvGraphicFramePr>
            <a:graphicFrameLocks noGrp="1"/>
          </p:cNvGraphicFramePr>
          <p:nvPr/>
        </p:nvGraphicFramePr>
        <p:xfrm>
          <a:off x="548640" y="1508760"/>
          <a:ext cx="8046720" cy="1901952"/>
        </p:xfrm>
        <a:graphic>
          <a:graphicData uri="http://schemas.openxmlformats.org/drawingml/2006/table">
            <a:tbl>
              <a:tblPr firstRow="0" bandRow="0"/>
              <a:tblGrid>
                <a:gridCol w="2286000"/>
                <a:gridCol w="5760720"/>
              </a:tblGrid>
              <a:tr h="475488">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評価の観点</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例3で確認する内容</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75488">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回答全体の条件</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最初と最後を二重引用符で囲む</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75488">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節の形式</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Sectionと番号の見出しを付ける</a:t>
                      </a:r>
                    </a:p>
                  </a:txBody>
                  <a:tcPr marL="63500" marR="63500" marT="38100" marB="38100" anchor="ctr">
                    <a:lnL w="7620">
                      <a:noFill/>
                    </a:lnL>
                    <a:lnR w="7620">
                      <a:noFill/>
                    </a:lnR>
                    <a:lnT w="7620">
                      <a:noFill/>
                    </a:lnT>
                    <a:lnB w="7620">
                      <a:noFill/>
                    </a:lnB>
                    <a:solidFill>
                      <a:srgbClr val="FFFEF8"/>
                    </a:solidFill>
                  </a:tcPr>
                </a:tc>
              </a:tr>
              <a:tr h="475488">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集計</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全条件の成否と、満たした条件の割合を平均</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538728"/>
            <a:ext cx="7955279" cy="658368"/>
          </a:xfrm>
          <a:prstGeom prst="rect">
            <a:avLst/>
          </a:prstGeom>
          <a:noFill/>
        </p:spPr>
        <p:txBody>
          <a:bodyPr wrap="square" lIns="0" rIns="0" tIns="0" bIns="0">
            <a:noAutofit/>
          </a:bodyPr>
          <a:lstStyle/>
          <a:p>
            <a:pPr algn="l">
              <a:lnSpc>
                <a:spcPts val="1813"/>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問題の依頼は五つの節を指定する。採点実装では、Sectionに番号を付けた見出しを五つ以上検出できるかを調べる。</a:t>
            </a:r>
          </a:p>
        </p:txBody>
      </p:sp>
      <p:sp>
        <p:nvSpPr>
          <p:cNvPr id="6" name="source-bib"/>
          <p:cNvSpPr txBox="1"/>
          <p:nvPr/>
        </p:nvSpPr>
        <p:spPr>
          <a:xfrm>
            <a:off x="502920" y="4718304"/>
            <a:ext cx="8183879" cy="181736"/>
          </a:xfrm>
          <a:prstGeom prst="rect">
            <a:avLst/>
          </a:prstGeom>
          <a:noFill/>
        </p:spPr>
        <p:txBody>
          <a:bodyPr wrap="square" lIns="0" rIns="0" tIns="0" bIns="0">
            <a:noAutofit/>
          </a:bodyPr>
          <a:lstStyle/>
          <a:p>
            <a:pPr algn="l">
              <a:lnSpc>
                <a:spcPts val="97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LiveBench (2026-10-25参照), official repository.</a:t>
            </a:r>
          </a:p>
        </p:txBody>
      </p:sp>
      <p:sp>
        <p:nvSpPr>
          <p:cNvPr id="7" name="source-url"/>
          <p:cNvSpPr txBox="1"/>
          <p:nvPr/>
        </p:nvSpPr>
        <p:spPr>
          <a:xfrm>
            <a:off x="502920" y="4850892"/>
            <a:ext cx="8183879" cy="201168"/>
          </a:xfrm>
          <a:prstGeom prst="rect">
            <a:avLst/>
          </a:prstGeom>
          <a:noFill/>
        </p:spPr>
        <p:txBody>
          <a:bodyPr wrap="square" lIns="0" rIns="0" tIns="0" bIns="0">
            <a:noAutofit/>
          </a:bodyPr>
          <a:lstStyle/>
          <a:p>
            <a:pPr algn="l">
              <a:lnSpc>
                <a:spcPts val="97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https://github.com/LiveBench/LiveBench</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2025年の論文では、o1-previewが64.7点</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採点方法とモデルの成績</a:t>
            </a:r>
          </a:p>
        </p:txBody>
      </p:sp>
      <p:graphicFrame>
        <p:nvGraphicFramePr>
          <p:cNvPr id="4" name="Table 3"/>
          <p:cNvGraphicFramePr>
            <a:graphicFrameLocks noGrp="1"/>
          </p:cNvGraphicFramePr>
          <p:nvPr/>
        </p:nvGraphicFramePr>
        <p:xfrm>
          <a:off x="548640" y="1508760"/>
          <a:ext cx="8046720" cy="2148840"/>
        </p:xfrm>
        <a:graphic>
          <a:graphicData uri="http://schemas.openxmlformats.org/drawingml/2006/table">
            <a:tbl>
              <a:tblPr firstRow="0" bandRow="0"/>
              <a:tblGrid>
                <a:gridCol w="5760720"/>
                <a:gridCol w="2286000"/>
              </a:tblGrid>
              <a:tr h="429768">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モデル</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総合点</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29768">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o1-preview-2024-09-12</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64.7</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29768">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Claude 3.5 Sonnet-20241022</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58.5</a:t>
                      </a:r>
                    </a:p>
                  </a:txBody>
                  <a:tcPr marL="63500" marR="63500" marT="38100" marB="38100" anchor="ctr">
                    <a:lnL w="7620">
                      <a:noFill/>
                    </a:lnL>
                    <a:lnR w="7620">
                      <a:noFill/>
                    </a:lnR>
                    <a:lnT w="7620">
                      <a:noFill/>
                    </a:lnT>
                    <a:lnB w="7620">
                      <a:noFill/>
                    </a:lnB>
                    <a:solidFill>
                      <a:srgbClr val="FFFEF8"/>
                    </a:solidFill>
                  </a:tcPr>
                </a:tc>
              </a:tr>
              <a:tr h="429768">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Gemini exp-1114</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56.0</a:t>
                      </a:r>
                    </a:p>
                  </a:txBody>
                  <a:tcPr marL="63500" marR="63500" marT="38100" marB="38100" anchor="ctr">
                    <a:lnL w="7620">
                      <a:noFill/>
                    </a:lnL>
                    <a:lnR w="7620">
                      <a:noFill/>
                    </a:lnR>
                    <a:lnT w="7620">
                      <a:noFill/>
                    </a:lnT>
                    <a:lnB w="7620">
                      <a:noFill/>
                    </a:lnB>
                    <a:solidFill>
                      <a:srgbClr val="FFFEF8"/>
                    </a:solidFill>
                  </a:tcPr>
                </a:tc>
              </a:tr>
              <a:tr h="429768">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Llama 3.1 405B Instruct</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51.1</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785615"/>
            <a:ext cx="7955279" cy="658368"/>
          </a:xfrm>
          <a:prstGeom prst="rect">
            <a:avLst/>
          </a:prstGeom>
          <a:noFill/>
        </p:spPr>
        <p:txBody>
          <a:bodyPr wrap="square" lIns="0" rIns="0" tIns="0" bIns="0">
            <a:noAutofit/>
          </a:bodyPr>
          <a:lstStyle/>
          <a:p>
            <a:pPr algn="l">
              <a:lnSpc>
                <a:spcPts val="1813"/>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ICLR 2025掲載の1.0評価。6分野・18課題、得点は0〜100。単一ターン、原則temperature=0。</a:t>
            </a:r>
          </a:p>
        </p:txBody>
      </p:sp>
      <p:sp>
        <p:nvSpPr>
          <p:cNvPr id="6" name="source-bib"/>
          <p:cNvSpPr txBox="1"/>
          <p:nvPr/>
        </p:nvSpPr>
        <p:spPr>
          <a:xfrm>
            <a:off x="502920" y="4718304"/>
            <a:ext cx="8183879" cy="181736"/>
          </a:xfrm>
          <a:prstGeom prst="rect">
            <a:avLst/>
          </a:prstGeom>
          <a:noFill/>
        </p:spPr>
        <p:txBody>
          <a:bodyPr wrap="square" lIns="0" rIns="0" tIns="0" bIns="0">
            <a:noAutofit/>
          </a:bodyPr>
          <a:lstStyle/>
          <a:p>
            <a:pPr algn="l">
              <a:lnSpc>
                <a:spcPts val="97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White et al. (2025), LiveBench.</a:t>
            </a:r>
          </a:p>
        </p:txBody>
      </p:sp>
      <p:sp>
        <p:nvSpPr>
          <p:cNvPr id="7" name="source-url"/>
          <p:cNvSpPr txBox="1"/>
          <p:nvPr/>
        </p:nvSpPr>
        <p:spPr>
          <a:xfrm>
            <a:off x="502920" y="4850892"/>
            <a:ext cx="8183879" cy="201168"/>
          </a:xfrm>
          <a:prstGeom prst="rect">
            <a:avLst/>
          </a:prstGeom>
          <a:noFill/>
        </p:spPr>
        <p:txBody>
          <a:bodyPr wrap="square" lIns="0" rIns="0" tIns="0" bIns="0">
            <a:noAutofit/>
          </a:bodyPr>
          <a:lstStyle/>
          <a:p>
            <a:pPr algn="l">
              <a:lnSpc>
                <a:spcPts val="97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https://arxiv.org/abs/2406.19314</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同じ名前でも、公開時期で課題が変わる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558"/>
              </a:lnSpc>
              <a:spcAft>
                <a:spcPts val="700"/>
              </a:spcAft>
              <a:buSzPct val="61860"/>
              <a:buFont typeface="Noto Sans CJK JP"/>
              <a:buChar char="●"/>
              <a:defRPr sz="2150" b="0">
                <a:solidFill>
                  <a:srgbClr val="303437"/>
                </a:solidFill>
                <a:latin typeface="Noto Sans"/>
              </a:defRPr>
            </a:pPr>
            <a:r>
              <a:rPr sz="2150" b="0" lang="ja-JP" altLang="en-US">
                <a:solidFill>
                  <a:srgbClr val="303437"/>
                </a:solidFill>
                <a:latin typeface="Noto Sans"/>
                <a:ea typeface="Noto Sans CJK JP"/>
                <a:cs typeface="Noto Sans"/>
              </a:rPr>
              <a:t>2025年4月には、コード課題を競技プログラミング中心から実用ライブラリの利用へ更新し、表の列分類を終了した。5月には、実際のリポジトリを修正するエージェント型コード課題を追加した。</a:t>
            </a:r>
          </a:p>
          <a:p>
            <a:pPr marL="457200" indent="-355600">
              <a:lnSpc>
                <a:spcPts val="2558"/>
              </a:lnSpc>
              <a:spcAft>
                <a:spcPts val="0"/>
              </a:spcAft>
              <a:buSzPct val="61860"/>
              <a:buFont typeface="Noto Sans CJK JP"/>
              <a:buChar char="●"/>
              <a:defRPr sz="2150" b="0">
                <a:solidFill>
                  <a:srgbClr val="303437"/>
                </a:solidFill>
                <a:latin typeface="Noto Sans"/>
              </a:defRPr>
            </a:pPr>
            <a:r>
              <a:rPr sz="2150" b="0" lang="ja-JP" altLang="en-US">
                <a:solidFill>
                  <a:srgbClr val="303437"/>
                </a:solidFill>
                <a:latin typeface="Noto Sans"/>
                <a:ea typeface="Noto Sans CJK JP"/>
                <a:cs typeface="Noto Sans"/>
              </a:rPr>
              <a:t>その後も新しい推理やデータ分析を追加した。問題の公開日と除外日、評価に使うバージョンをそろえることで、対象となる問題集合を選べる。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採点方法とモデルの成績</a:t>
            </a:r>
          </a:p>
        </p:txBody>
      </p:sp>
      <p:sp>
        <p:nvSpPr>
          <p:cNvPr id="5" name="source-bib"/>
          <p:cNvSpPr txBox="1"/>
          <p:nvPr/>
        </p:nvSpPr>
        <p:spPr>
          <a:xfrm>
            <a:off x="502920" y="4718304"/>
            <a:ext cx="8183879" cy="181736"/>
          </a:xfrm>
          <a:prstGeom prst="rect">
            <a:avLst/>
          </a:prstGeom>
          <a:noFill/>
        </p:spPr>
        <p:txBody>
          <a:bodyPr wrap="square" lIns="0" rIns="0" tIns="0" bIns="0">
            <a:noAutofit/>
          </a:bodyPr>
          <a:lstStyle/>
          <a:p>
            <a:pPr algn="l">
              <a:lnSpc>
                <a:spcPts val="97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LiveBench (2026-10-25参照), Changelog.</a:t>
            </a:r>
          </a:p>
        </p:txBody>
      </p:sp>
      <p:sp>
        <p:nvSpPr>
          <p:cNvPr id="6" name="source-url"/>
          <p:cNvSpPr txBox="1"/>
          <p:nvPr/>
        </p:nvSpPr>
        <p:spPr>
          <a:xfrm>
            <a:off x="502920" y="4850892"/>
            <a:ext cx="8183879" cy="201168"/>
          </a:xfrm>
          <a:prstGeom prst="rect">
            <a:avLst/>
          </a:prstGeom>
          <a:noFill/>
        </p:spPr>
        <p:txBody>
          <a:bodyPr wrap="square" lIns="0" rIns="0" tIns="0" bIns="0">
            <a:noAutofit/>
          </a:bodyPr>
          <a:lstStyle/>
          <a:p>
            <a:pPr algn="l">
              <a:lnSpc>
                <a:spcPts val="97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https://github.com/LiveBench/LiveBench/blob/main/changelog.md</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17543"/>
            <a:ext cx="8046720" cy="563879"/>
          </a:xfrm>
        </p:spPr>
        <p:txBody>
          <a:bodyPr wrap="square" lIns="0" rIns="0" tIns="0" bIns="0" anchor="ctr">
            <a:noAutofit/>
          </a:bodyPr>
          <a:lstStyle/>
          <a:p>
            <a:pPr algn="ctr">
              <a:lnSpc>
                <a:spcPct val="110000"/>
              </a:lnSpc>
              <a:buNone/>
              <a:defRPr sz="3100" b="0">
                <a:solidFill>
                  <a:srgbClr val="303437"/>
                </a:solidFill>
                <a:latin typeface="Noto Sans"/>
              </a:defRPr>
            </a:pPr>
            <a:r>
              <a:rPr sz="3100" b="1" lang="ja-JP" altLang="en-US">
                <a:solidFill>
                  <a:srgbClr val="303437"/>
                </a:solidFill>
                <a:latin typeface="Noto Sans"/>
                <a:ea typeface="Noto Sans CJK JP"/>
                <a:cs typeface="Noto Sans"/>
              </a:rPr>
              <a:t>4. 長い実務課題への展開と入手方法</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長い実務課題への展開と入手方法</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2.0は、実行して成果物を作る能力へ広がった</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558"/>
              </a:lnSpc>
              <a:spcAft>
                <a:spcPts val="700"/>
              </a:spcAft>
              <a:buSzPct val="61860"/>
              <a:buFont typeface="Noto Sans CJK JP"/>
              <a:buChar char="●"/>
              <a:defRPr sz="2150" b="0">
                <a:solidFill>
                  <a:srgbClr val="303437"/>
                </a:solidFill>
                <a:latin typeface="Noto Sans"/>
              </a:defRPr>
            </a:pPr>
            <a:r>
              <a:rPr sz="2150" b="0" lang="ja-JP" altLang="en-US">
                <a:solidFill>
                  <a:srgbClr val="303437"/>
                </a:solidFill>
                <a:latin typeface="Noto Sans"/>
                <a:ea typeface="Noto Sans CJK JP"/>
                <a:cs typeface="Noto Sans"/>
              </a:rPr>
              <a:t>2026年10月14日公開の2.0は七つの評価区分を持つ。推理とデータ分析は短い問いへの回答、残る五区分はツールを使って進める課題である。</a:t>
            </a:r>
          </a:p>
          <a:p>
            <a:pPr marL="457200" indent="-355600">
              <a:lnSpc>
                <a:spcPts val="2558"/>
              </a:lnSpc>
              <a:spcAft>
                <a:spcPts val="0"/>
              </a:spcAft>
              <a:buSzPct val="61860"/>
              <a:buFont typeface="Noto Sans CJK JP"/>
              <a:buChar char="●"/>
              <a:defRPr sz="2150" b="0">
                <a:solidFill>
                  <a:srgbClr val="303437"/>
                </a:solidFill>
                <a:latin typeface="Noto Sans"/>
              </a:defRPr>
            </a:pPr>
            <a:r>
              <a:rPr sz="2150" b="0" lang="ja-JP" altLang="en-US">
                <a:solidFill>
                  <a:srgbClr val="303437"/>
                </a:solidFill>
                <a:latin typeface="Noto Sans"/>
                <a:ea typeface="Noto Sans CJK JP"/>
                <a:cs typeface="Noto Sans"/>
              </a:rPr>
              <a:t>アプリを変更後の要件に合わせて運用する、バグを直す、ブラウザーで仕事を終える、根拠付きの報告書を書く、文書やスライドを仕上げるといった成果を評価する。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長い実務課題への展開と入手方法</a:t>
            </a:r>
          </a:p>
        </p:txBody>
      </p:sp>
      <p:sp>
        <p:nvSpPr>
          <p:cNvPr id="5" name="source-bib"/>
          <p:cNvSpPr txBox="1"/>
          <p:nvPr/>
        </p:nvSpPr>
        <p:spPr>
          <a:xfrm>
            <a:off x="502920" y="4718304"/>
            <a:ext cx="8183879" cy="181736"/>
          </a:xfrm>
          <a:prstGeom prst="rect">
            <a:avLst/>
          </a:prstGeom>
          <a:noFill/>
        </p:spPr>
        <p:txBody>
          <a:bodyPr wrap="square" lIns="0" rIns="0" tIns="0" bIns="0">
            <a:noAutofit/>
          </a:bodyPr>
          <a:lstStyle/>
          <a:p>
            <a:pPr algn="l">
              <a:lnSpc>
                <a:spcPts val="97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LiveBench (2026-10-25参照), Methodology.</a:t>
            </a:r>
          </a:p>
        </p:txBody>
      </p:sp>
      <p:sp>
        <p:nvSpPr>
          <p:cNvPr id="6" name="source-url"/>
          <p:cNvSpPr txBox="1"/>
          <p:nvPr/>
        </p:nvSpPr>
        <p:spPr>
          <a:xfrm>
            <a:off x="502920" y="4850892"/>
            <a:ext cx="8183879" cy="201168"/>
          </a:xfrm>
          <a:prstGeom prst="rect">
            <a:avLst/>
          </a:prstGeom>
          <a:noFill/>
        </p:spPr>
        <p:txBody>
          <a:bodyPr wrap="square" lIns="0" rIns="0" tIns="0" bIns="0">
            <a:noAutofit/>
          </a:bodyPr>
          <a:lstStyle/>
          <a:p>
            <a:pPr algn="l">
              <a:lnSpc>
                <a:spcPts val="97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https://livebench.ai/#/methodology</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2.0は、119の実行課題と352問からなる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長い実務課題への展開と入手方法</a:t>
            </a:r>
          </a:p>
        </p:txBody>
      </p:sp>
      <p:graphicFrame>
        <p:nvGraphicFramePr>
          <p:cNvPr id="4" name="Table 3"/>
          <p:cNvGraphicFramePr>
            <a:graphicFrameLocks noGrp="1"/>
          </p:cNvGraphicFramePr>
          <p:nvPr/>
        </p:nvGraphicFramePr>
        <p:xfrm>
          <a:off x="548640" y="1508760"/>
          <a:ext cx="8046720" cy="2359152"/>
        </p:xfrm>
        <a:graphic>
          <a:graphicData uri="http://schemas.openxmlformats.org/drawingml/2006/table">
            <a:tbl>
              <a:tblPr firstRow="0" bandRow="0"/>
              <a:tblGrid>
                <a:gridCol w="2560320"/>
                <a:gridCol w="914400"/>
                <a:gridCol w="4572000"/>
              </a:tblGrid>
              <a:tr h="393192">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評価区分</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件数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入力・成果の例</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93192">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エージェント操作</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18</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変化する要件の下でアプリを運用</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93192">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コード修正</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29</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バグ報告とリポジトリから修正</a:t>
                      </a:r>
                    </a:p>
                  </a:txBody>
                  <a:tcPr marL="63500" marR="63500" marT="38100" marB="38100" anchor="ctr">
                    <a:lnL w="7620">
                      <a:noFill/>
                    </a:lnL>
                    <a:lnR w="7620">
                      <a:noFill/>
                    </a:lnR>
                    <a:lnT w="7620">
                      <a:noFill/>
                    </a:lnT>
                    <a:lnB w="7620">
                      <a:noFill/>
                    </a:lnB>
                    <a:solidFill>
                      <a:srgbClr val="FFFEF8"/>
                    </a:solidFill>
                  </a:tcPr>
                </a:tc>
              </a:tr>
              <a:tr h="393192">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ブラウザー操作</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25</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Webアプリ内の作業を完了</a:t>
                      </a:r>
                    </a:p>
                  </a:txBody>
                  <a:tcPr marL="63500" marR="63500" marT="38100" marB="38100" anchor="ctr">
                    <a:lnL w="7620">
                      <a:noFill/>
                    </a:lnL>
                    <a:lnR w="7620">
                      <a:noFill/>
                    </a:lnR>
                    <a:lnT w="7620">
                      <a:noFill/>
                    </a:lnT>
                    <a:lnB w="7620">
                      <a:noFill/>
                    </a:lnB>
                    <a:solidFill>
                      <a:srgbClr val="FFFEF8"/>
                    </a:solidFill>
                  </a:tcPr>
                </a:tc>
              </a:tr>
              <a:tr h="393192">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調査</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22</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出典付きの報告書を提出</a:t>
                      </a:r>
                    </a:p>
                  </a:txBody>
                  <a:tcPr marL="63500" marR="63500" marT="38100" marB="38100" anchor="ctr">
                    <a:lnL w="7620">
                      <a:noFill/>
                    </a:lnL>
                    <a:lnR w="7620">
                      <a:noFill/>
                    </a:lnR>
                    <a:lnT w="7620">
                      <a:noFill/>
                    </a:lnT>
                    <a:lnB w="7620">
                      <a:noFill/>
                    </a:lnB>
                    <a:solidFill>
                      <a:srgbClr val="FFFEF8"/>
                    </a:solidFill>
                  </a:tcPr>
                </a:tc>
              </a:tr>
              <a:tr h="393192">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デザイン</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25</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文書・PDF・スライドを作成</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995928"/>
            <a:ext cx="7955279" cy="658368"/>
          </a:xfrm>
          <a:prstGeom prst="rect">
            <a:avLst/>
          </a:prstGeom>
          <a:noFill/>
        </p:spPr>
        <p:txBody>
          <a:bodyPr wrap="square" lIns="0" rIns="0" tIns="0" bIns="0">
            <a:noAutofit/>
          </a:bodyPr>
          <a:lstStyle/>
          <a:p>
            <a:pPr algn="l">
              <a:lnSpc>
                <a:spcPts val="1813"/>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別に、推理202問とデータ分析150問を含む。2026-10-14公開分、2026-10-25参照。</a:t>
            </a:r>
          </a:p>
        </p:txBody>
      </p:sp>
      <p:sp>
        <p:nvSpPr>
          <p:cNvPr id="6" name="source-bib"/>
          <p:cNvSpPr txBox="1"/>
          <p:nvPr/>
        </p:nvSpPr>
        <p:spPr>
          <a:xfrm>
            <a:off x="502920" y="4718304"/>
            <a:ext cx="8183879" cy="181736"/>
          </a:xfrm>
          <a:prstGeom prst="rect">
            <a:avLst/>
          </a:prstGeom>
          <a:noFill/>
        </p:spPr>
        <p:txBody>
          <a:bodyPr wrap="square" lIns="0" rIns="0" tIns="0" bIns="0">
            <a:noAutofit/>
          </a:bodyPr>
          <a:lstStyle/>
          <a:p>
            <a:pPr algn="l">
              <a:lnSpc>
                <a:spcPts val="97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LiveBench (2026-10-25参照), Methodology.</a:t>
            </a:r>
          </a:p>
        </p:txBody>
      </p:sp>
      <p:sp>
        <p:nvSpPr>
          <p:cNvPr id="7" name="source-url"/>
          <p:cNvSpPr txBox="1"/>
          <p:nvPr/>
        </p:nvSpPr>
        <p:spPr>
          <a:xfrm>
            <a:off x="502920" y="4850892"/>
            <a:ext cx="8183879" cy="201168"/>
          </a:xfrm>
          <a:prstGeom prst="rect">
            <a:avLst/>
          </a:prstGeom>
          <a:noFill/>
        </p:spPr>
        <p:txBody>
          <a:bodyPr wrap="square" lIns="0" rIns="0" tIns="0" bIns="0">
            <a:noAutofit/>
          </a:bodyPr>
          <a:lstStyle/>
          <a:p>
            <a:pPr algn="l">
              <a:lnSpc>
                <a:spcPts val="97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https://livebench.ai/#/methodology</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2.0の総合点は、評価区分を等しく平均する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558"/>
              </a:lnSpc>
              <a:spcAft>
                <a:spcPts val="700"/>
              </a:spcAft>
              <a:buSzPct val="61860"/>
              <a:buFont typeface="Noto Sans CJK JP"/>
              <a:buChar char="●"/>
              <a:defRPr sz="2150" b="0">
                <a:solidFill>
                  <a:srgbClr val="303437"/>
                </a:solidFill>
                <a:latin typeface="Noto Sans"/>
              </a:defRPr>
            </a:pPr>
            <a:r>
              <a:rPr sz="2150" b="0" lang="ja-JP" altLang="en-US">
                <a:solidFill>
                  <a:srgbClr val="303437"/>
                </a:solidFill>
                <a:latin typeface="Noto Sans"/>
                <a:ea typeface="Noto Sans CJK JP"/>
                <a:cs typeface="Noto Sans"/>
              </a:rPr>
              <a:t>各区分をモデルごとに1回実行し、課題の成績を0〜100の得点にする。推理とデータ分析は、下位の課題群の平均を等しい重みでまとめる。</a:t>
            </a:r>
          </a:p>
          <a:p>
            <a:pPr marL="457200" indent="-355600">
              <a:lnSpc>
                <a:spcPts val="2558"/>
              </a:lnSpc>
              <a:spcAft>
                <a:spcPts val="0"/>
              </a:spcAft>
              <a:buSzPct val="61860"/>
              <a:buFont typeface="Noto Sans CJK JP"/>
              <a:buChar char="●"/>
              <a:defRPr sz="2150" b="0">
                <a:solidFill>
                  <a:srgbClr val="303437"/>
                </a:solidFill>
                <a:latin typeface="Noto Sans"/>
              </a:defRPr>
            </a:pPr>
            <a:r>
              <a:rPr sz="2150" b="0" lang="ja-JP" altLang="en-US">
                <a:solidFill>
                  <a:srgbClr val="303437"/>
                </a:solidFill>
                <a:latin typeface="Noto Sans"/>
                <a:ea typeface="Noto Sans CJK JP"/>
                <a:cs typeface="Noto Sans"/>
              </a:rPr>
              <a:t>総合点は、値のある評価区分の平均である。原則としてモデルが対応する最も高い推論設定を使い、例外の設定は公開表の詳細に示す。</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長い実務課題への展開と入手方法</a:t>
            </a:r>
          </a:p>
        </p:txBody>
      </p:sp>
      <p:sp>
        <p:nvSpPr>
          <p:cNvPr id="5" name="source-bib"/>
          <p:cNvSpPr txBox="1"/>
          <p:nvPr/>
        </p:nvSpPr>
        <p:spPr>
          <a:xfrm>
            <a:off x="502920" y="4718304"/>
            <a:ext cx="8183879" cy="181736"/>
          </a:xfrm>
          <a:prstGeom prst="rect">
            <a:avLst/>
          </a:prstGeom>
          <a:noFill/>
        </p:spPr>
        <p:txBody>
          <a:bodyPr wrap="square" lIns="0" rIns="0" tIns="0" bIns="0">
            <a:noAutofit/>
          </a:bodyPr>
          <a:lstStyle/>
          <a:p>
            <a:pPr algn="l">
              <a:lnSpc>
                <a:spcPts val="97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LiveBench (2026-10-25参照), Methodology.</a:t>
            </a:r>
          </a:p>
        </p:txBody>
      </p:sp>
      <p:sp>
        <p:nvSpPr>
          <p:cNvPr id="6" name="source-url"/>
          <p:cNvSpPr txBox="1"/>
          <p:nvPr/>
        </p:nvSpPr>
        <p:spPr>
          <a:xfrm>
            <a:off x="502920" y="4850892"/>
            <a:ext cx="8183879" cy="201168"/>
          </a:xfrm>
          <a:prstGeom prst="rect">
            <a:avLst/>
          </a:prstGeom>
          <a:noFill/>
        </p:spPr>
        <p:txBody>
          <a:bodyPr wrap="square" lIns="0" rIns="0" tIns="0" bIns="0">
            <a:noAutofit/>
          </a:bodyPr>
          <a:lstStyle/>
          <a:p>
            <a:pPr algn="l">
              <a:lnSpc>
                <a:spcPts val="97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https://livebench.ai/#/methodology</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2.0では、Fable 5.1の総合点が88.0</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長い実務課題への展開と入手方法</a:t>
            </a:r>
          </a:p>
        </p:txBody>
      </p:sp>
      <p:graphicFrame>
        <p:nvGraphicFramePr>
          <p:cNvPr id="4" name="Table 3"/>
          <p:cNvGraphicFramePr>
            <a:graphicFrameLocks noGrp="1"/>
          </p:cNvGraphicFramePr>
          <p:nvPr/>
        </p:nvGraphicFramePr>
        <p:xfrm>
          <a:off x="548640" y="1508760"/>
          <a:ext cx="8046720" cy="2240280"/>
        </p:xfrm>
        <a:graphic>
          <a:graphicData uri="http://schemas.openxmlformats.org/drawingml/2006/table">
            <a:tbl>
              <a:tblPr firstRow="0" bandRow="0"/>
              <a:tblGrid>
                <a:gridCol w="4480560"/>
                <a:gridCol w="1188720"/>
                <a:gridCol w="1188720"/>
                <a:gridCol w="1188720"/>
              </a:tblGrid>
              <a:tr h="448056">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モデル</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総合</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操作</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推理</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48056">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Claude Fable 5.1</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88.0</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80.8</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91.7</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48056">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Claude Opus 5.5</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86.5</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85.0</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92.2</a:t>
                      </a:r>
                    </a:p>
                  </a:txBody>
                  <a:tcPr marL="63500" marR="63500" marT="38100" marB="38100" anchor="ctr">
                    <a:lnL w="7620">
                      <a:noFill/>
                    </a:lnL>
                    <a:lnR w="7620">
                      <a:noFill/>
                    </a:lnR>
                    <a:lnT w="7620">
                      <a:noFill/>
                    </a:lnT>
                    <a:lnB w="7620">
                      <a:noFill/>
                    </a:lnB>
                    <a:solidFill>
                      <a:srgbClr val="FFFEF8"/>
                    </a:solidFill>
                  </a:tcPr>
                </a:tc>
              </a:tr>
              <a:tr h="448056">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GPT-6 Astra</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86.1</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82.4</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92.7</a:t>
                      </a:r>
                    </a:p>
                  </a:txBody>
                  <a:tcPr marL="63500" marR="63500" marT="38100" marB="38100" anchor="ctr">
                    <a:lnL w="7620">
                      <a:noFill/>
                    </a:lnL>
                    <a:lnR w="7620">
                      <a:noFill/>
                    </a:lnR>
                    <a:lnT w="7620">
                      <a:noFill/>
                    </a:lnT>
                    <a:lnB w="7620">
                      <a:noFill/>
                    </a:lnB>
                    <a:solidFill>
                      <a:srgbClr val="FFFEF8"/>
                    </a:solidFill>
                  </a:tcPr>
                </a:tc>
              </a:tr>
              <a:tr h="448056">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Gemini 4 Argon</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84.1</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69.9</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95.1</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877055"/>
            <a:ext cx="7955279" cy="658368"/>
          </a:xfrm>
          <a:prstGeom prst="rect">
            <a:avLst/>
          </a:prstGeom>
          <a:noFill/>
        </p:spPr>
        <p:txBody>
          <a:bodyPr wrap="square" lIns="0" rIns="0" tIns="0" bIns="0">
            <a:noAutofit/>
          </a:bodyPr>
          <a:lstStyle/>
          <a:p>
            <a:pPr algn="l">
              <a:lnSpc>
                <a:spcPts val="1813"/>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2026-10-14公開分、サイト更新表示2026-10-23、2026-10-25参照。各区分1回の評価。操作はエージェント操作の区分。</a:t>
            </a:r>
          </a:p>
        </p:txBody>
      </p:sp>
      <p:sp>
        <p:nvSpPr>
          <p:cNvPr id="6" name="source-bib"/>
          <p:cNvSpPr txBox="1"/>
          <p:nvPr/>
        </p:nvSpPr>
        <p:spPr>
          <a:xfrm>
            <a:off x="502920" y="4718304"/>
            <a:ext cx="8183879" cy="181736"/>
          </a:xfrm>
          <a:prstGeom prst="rect">
            <a:avLst/>
          </a:prstGeom>
          <a:noFill/>
        </p:spPr>
        <p:txBody>
          <a:bodyPr wrap="square" lIns="0" rIns="0" tIns="0" bIns="0">
            <a:noAutofit/>
          </a:bodyPr>
          <a:lstStyle/>
          <a:p>
            <a:pPr algn="l">
              <a:lnSpc>
                <a:spcPts val="97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LiveBench (2026-10-25参照), LiveBench 2.0.</a:t>
            </a:r>
          </a:p>
        </p:txBody>
      </p:sp>
      <p:sp>
        <p:nvSpPr>
          <p:cNvPr id="7" name="source-url"/>
          <p:cNvSpPr txBox="1"/>
          <p:nvPr/>
        </p:nvSpPr>
        <p:spPr>
          <a:xfrm>
            <a:off x="502920" y="4850892"/>
            <a:ext cx="8183879" cy="201168"/>
          </a:xfrm>
          <a:prstGeom prst="rect">
            <a:avLst/>
          </a:prstGeom>
          <a:noFill/>
        </p:spPr>
        <p:txBody>
          <a:bodyPr wrap="square" lIns="0" rIns="0" tIns="0" bIns="0">
            <a:noAutofit/>
          </a:bodyPr>
          <a:lstStyle/>
          <a:p>
            <a:pPr algn="l">
              <a:lnSpc>
                <a:spcPts val="97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https://livebench.ai/</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公開データで、入力と参照値を確認できる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39"/>
              </a:lnSpc>
              <a:spcAft>
                <a:spcPts val="700"/>
              </a:spcAft>
              <a:buSzPct val="64878"/>
              <a:buFont typeface="Noto Sans CJK JP"/>
              <a:buChar char="●"/>
              <a:defRPr sz="2050" b="0">
                <a:solidFill>
                  <a:srgbClr val="303437"/>
                </a:solidFill>
                <a:latin typeface="Noto Sans"/>
              </a:defRPr>
            </a:pPr>
            <a:r>
              <a:rPr sz="2050" b="0" lang="ja-JP" altLang="en-US">
                <a:solidFill>
                  <a:srgbClr val="303437"/>
                </a:solidFill>
                <a:latin typeface="Noto Sans"/>
                <a:ea typeface="Noto Sans CJK JP"/>
                <a:cs typeface="Noto Sans"/>
              </a:rPr>
              <a:t>1.0系列の問題は、分野別の公式配布から取得できる。設問、参照値、課題名、公開日・除外日などが入り、課題に応じて公開テストや形式条件も付く。</a:t>
            </a:r>
          </a:p>
          <a:p>
            <a:pPr marL="457200" indent="-355600">
              <a:lnSpc>
                <a:spcPts val="2439"/>
              </a:lnSpc>
              <a:spcAft>
                <a:spcPts val="0"/>
              </a:spcAft>
              <a:buSzPct val="64878"/>
              <a:buFont typeface="Noto Sans CJK JP"/>
              <a:buChar char="●"/>
              <a:defRPr sz="2050" b="0">
                <a:solidFill>
                  <a:srgbClr val="303437"/>
                </a:solidFill>
                <a:latin typeface="Noto Sans"/>
              </a:defRPr>
            </a:pPr>
            <a:r>
              <a:rPr sz="2050" b="0" lang="ja-JP" altLang="en-US">
                <a:solidFill>
                  <a:srgbClr val="303437"/>
                </a:solidFill>
                <a:latin typeface="Noto Sans"/>
                <a:ea typeface="Noto Sans CJK JP"/>
                <a:cs typeface="Noto Sans"/>
              </a:rPr>
              <a:t>配布物のライセンスはApache License 2.0。実装や出題元の帰属情報も確認する。公開コードには、一部の数式問題でモデルを補助判定に呼ぶ処理もある。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長い実務課題への展開と入手方法</a:t>
            </a:r>
          </a:p>
        </p:txBody>
      </p:sp>
      <p:sp>
        <p:nvSpPr>
          <p:cNvPr id="5" name="source-inline"/>
          <p:cNvSpPr txBox="1"/>
          <p:nvPr/>
        </p:nvSpPr>
        <p:spPr>
          <a:xfrm>
            <a:off x="502920" y="4736592"/>
            <a:ext cx="8183879" cy="182880"/>
          </a:xfrm>
          <a:prstGeom prst="rect">
            <a:avLst/>
          </a:prstGeom>
          <a:noFill/>
        </p:spPr>
        <p:txBody>
          <a:bodyPr wrap="square" lIns="0" rIns="0" tIns="0" bIns="0">
            <a:noAutofit/>
          </a:bodyPr>
          <a:lstStyle/>
          <a:p>
            <a:pPr algn="l">
              <a:lnSpc>
                <a:spcPts val="936"/>
              </a:lnSpc>
              <a:spcBef>
                <a:spcPts val="0"/>
              </a:spcBef>
              <a:spcAft>
                <a:spcPts val="0"/>
              </a:spcAft>
              <a:buNone/>
              <a:defRPr sz="780" b="0">
                <a:solidFill>
                  <a:srgbClr val="303437"/>
                </a:solidFill>
                <a:latin typeface="Noto Sans"/>
              </a:defRPr>
            </a:pPr>
            <a:r>
              <a:rPr sz="780" b="0" lang="ja-JP" altLang="en-US">
                <a:solidFill>
                  <a:srgbClr val="626669"/>
                </a:solidFill>
                <a:latin typeface="Noto Sans"/>
                <a:ea typeface="Noto Sans CJK JP"/>
                <a:cs typeface="Noto Sans"/>
              </a:rPr>
              <a:t/>
            </a:r>
            <a:r>
              <a:rPr sz="780" b="0" lang="ja-JP" altLang="en-US">
                <a:solidFill>
                  <a:srgbClr val="626669"/>
                </a:solidFill>
                <a:latin typeface="Noto Sans"/>
                <a:ea typeface="Noto Sans CJK JP"/>
                <a:cs typeface="Noto Sans"/>
              </a:rPr>
              <a:t>[1] LiveBench (2026-10-25参照), Dataset Documentation. </a:t>
            </a:r>
            <a:r>
              <a:rPr sz="780" b="0" lang="ja-JP" altLang="en-US">
                <a:solidFill>
                  <a:srgbClr val="626669"/>
                </a:solidFill>
                <a:latin typeface="Noto Sans"/>
                <a:ea typeface="Noto Sans CJK JP"/>
                <a:cs typeface="Noto Sans"/>
                <a:hlinkClick r:id="rId2"/>
              </a:rPr>
              <a:t>https://github.com/LiveBench/LiveBench/blob/main/docs/DATASHEET.md</a:t>
            </a:r>
          </a:p>
        </p:txBody>
      </p:sp>
      <p:sp>
        <p:nvSpPr>
          <p:cNvPr id="6" name="source-inline"/>
          <p:cNvSpPr txBox="1"/>
          <p:nvPr/>
        </p:nvSpPr>
        <p:spPr>
          <a:xfrm>
            <a:off x="502920" y="4873752"/>
            <a:ext cx="8183879" cy="182880"/>
          </a:xfrm>
          <a:prstGeom prst="rect">
            <a:avLst/>
          </a:prstGeom>
          <a:noFill/>
        </p:spPr>
        <p:txBody>
          <a:bodyPr wrap="square" lIns="0" rIns="0" tIns="0" bIns="0">
            <a:noAutofit/>
          </a:bodyPr>
          <a:lstStyle/>
          <a:p>
            <a:pPr algn="l">
              <a:lnSpc>
                <a:spcPts val="936"/>
              </a:lnSpc>
              <a:spcBef>
                <a:spcPts val="0"/>
              </a:spcBef>
              <a:spcAft>
                <a:spcPts val="0"/>
              </a:spcAft>
              <a:buNone/>
              <a:defRPr sz="780" b="0">
                <a:solidFill>
                  <a:srgbClr val="303437"/>
                </a:solidFill>
                <a:latin typeface="Noto Sans"/>
              </a:defRPr>
            </a:pPr>
            <a:r>
              <a:rPr sz="780" b="0" lang="ja-JP" altLang="en-US">
                <a:solidFill>
                  <a:srgbClr val="626669"/>
                </a:solidFill>
                <a:latin typeface="Noto Sans"/>
                <a:ea typeface="Noto Sans CJK JP"/>
                <a:cs typeface="Noto Sans"/>
              </a:rPr>
              <a:t/>
            </a:r>
            <a:r>
              <a:rPr sz="780" b="0" lang="ja-JP" altLang="en-US">
                <a:solidFill>
                  <a:srgbClr val="626669"/>
                </a:solidFill>
                <a:latin typeface="Noto Sans"/>
                <a:ea typeface="Noto Sans CJK JP"/>
                <a:cs typeface="Noto Sans"/>
              </a:rPr>
              <a:t>[2] LiveBench (2026-10-25参照), official repository. </a:t>
            </a:r>
            <a:r>
              <a:rPr sz="780" b="0" lang="ja-JP" altLang="en-US">
                <a:solidFill>
                  <a:srgbClr val="626669"/>
                </a:solidFill>
                <a:latin typeface="Noto Sans"/>
                <a:ea typeface="Noto Sans CJK JP"/>
                <a:cs typeface="Noto Sans"/>
                <a:hlinkClick r:id="rId3"/>
              </a:rPr>
              <a:t>https://github.com/LiveBench/LiveBench</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問題の原文と参照値を取り出す</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長い実務課題への展開と入手方法</a:t>
            </a:r>
          </a:p>
        </p:txBody>
      </p:sp>
      <p:sp>
        <p:nvSpPr>
          <p:cNvPr id="4" name="code-frame"/>
          <p:cNvSpPr/>
          <p:nvPr/>
        </p:nvSpPr>
        <p:spPr>
          <a:xfrm>
            <a:off x="548640" y="1508760"/>
            <a:ext cx="8046720" cy="1920875"/>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none" lIns="152400" rIns="152400" tIns="92710" bIns="127000"/>
          <a:lstStyle/>
          <a:p>
            <a:pPr algn="l">
              <a:lnSpc>
                <a:spcPts val="2187"/>
              </a:lnSpc>
              <a:spcBef>
                <a:spcPts val="0"/>
              </a:spcBef>
              <a:spcAft>
                <a:spcPts val="0"/>
              </a:spcAft>
              <a:buNone/>
              <a:defRPr sz="1750" b="0">
                <a:solidFill>
                  <a:srgbClr val="303437"/>
                </a:solidFill>
                <a:latin typeface="Noto Sans"/>
              </a:defRPr>
            </a:pPr>
            <a:r>
              <a:rPr sz="1750" b="0" lang="ja-JP" altLang="en-US">
                <a:solidFill>
                  <a:srgbClr val="303437"/>
                </a:solidFill>
                <a:latin typeface="Liberation Mono"/>
                <a:ea typeface="Noto Sans CJK JP"/>
                <a:cs typeface="Liberation Mono"/>
              </a:rPr>
              <a:t>from datasets import load_dataset</a:t>
            </a:r>
          </a:p>
          <a:p>
            <a:pPr algn="l">
              <a:lnSpc>
                <a:spcPts val="2187"/>
              </a:lnSpc>
              <a:spcBef>
                <a:spcPts val="0"/>
              </a:spcBef>
              <a:spcAft>
                <a:spcPts val="0"/>
              </a:spcAft>
              <a:buNone/>
              <a:defRPr sz="1750" b="0">
                <a:solidFill>
                  <a:srgbClr val="303437"/>
                </a:solidFill>
                <a:latin typeface="Noto Sans"/>
              </a:defRPr>
            </a:pPr>
            <a:r>
              <a:rPr sz="1750" b="0" lang="ja-JP" altLang="en-US">
                <a:solidFill>
                  <a:srgbClr val="303437"/>
                </a:solidFill>
                <a:latin typeface="Liberation Mono"/>
                <a:ea typeface="Noto Sans CJK JP"/>
                <a:cs typeface="Liberation Mono"/>
              </a:rPr>
              <a:t/>
            </a:r>
          </a:p>
          <a:p>
            <a:pPr algn="l">
              <a:lnSpc>
                <a:spcPts val="2187"/>
              </a:lnSpc>
              <a:spcBef>
                <a:spcPts val="0"/>
              </a:spcBef>
              <a:spcAft>
                <a:spcPts val="0"/>
              </a:spcAft>
              <a:buNone/>
              <a:defRPr sz="1750" b="0">
                <a:solidFill>
                  <a:srgbClr val="303437"/>
                </a:solidFill>
                <a:latin typeface="Noto Sans"/>
              </a:defRPr>
            </a:pPr>
            <a:r>
              <a:rPr sz="1750" b="0" lang="ja-JP" altLang="en-US">
                <a:solidFill>
                  <a:srgbClr val="303437"/>
                </a:solidFill>
                <a:latin typeface="Liberation Mono"/>
                <a:ea typeface="Noto Sans CJK JP"/>
                <a:cs typeface="Liberation Mono"/>
              </a:rPr>
              <a:t>data = load_dataset("livebench/reasoning", split="test")</a:t>
            </a:r>
          </a:p>
          <a:p>
            <a:pPr algn="l">
              <a:lnSpc>
                <a:spcPts val="2187"/>
              </a:lnSpc>
              <a:spcBef>
                <a:spcPts val="0"/>
              </a:spcBef>
              <a:spcAft>
                <a:spcPts val="0"/>
              </a:spcAft>
              <a:buNone/>
              <a:defRPr sz="1750" b="0">
                <a:solidFill>
                  <a:srgbClr val="303437"/>
                </a:solidFill>
                <a:latin typeface="Noto Sans"/>
              </a:defRPr>
            </a:pPr>
            <a:r>
              <a:rPr sz="1750" b="0" lang="ja-JP" altLang="en-US">
                <a:solidFill>
                  <a:srgbClr val="303437"/>
                </a:solidFill>
                <a:latin typeface="Liberation Mono"/>
                <a:ea typeface="Noto Sans CJK JP"/>
                <a:cs typeface="Liberation Mono"/>
              </a:rPr>
              <a:t>example = data[0]</a:t>
            </a:r>
          </a:p>
          <a:p>
            <a:pPr algn="l">
              <a:lnSpc>
                <a:spcPts val="2187"/>
              </a:lnSpc>
              <a:spcBef>
                <a:spcPts val="0"/>
              </a:spcBef>
              <a:spcAft>
                <a:spcPts val="0"/>
              </a:spcAft>
              <a:buNone/>
              <a:defRPr sz="1750" b="0">
                <a:solidFill>
                  <a:srgbClr val="303437"/>
                </a:solidFill>
                <a:latin typeface="Noto Sans"/>
              </a:defRPr>
            </a:pPr>
            <a:r>
              <a:rPr sz="1750" b="0" lang="ja-JP" altLang="en-US">
                <a:solidFill>
                  <a:srgbClr val="303437"/>
                </a:solidFill>
                <a:latin typeface="Liberation Mono"/>
                <a:ea typeface="Noto Sans CJK JP"/>
                <a:cs typeface="Liberation Mono"/>
              </a:rPr>
              <a:t>print(example["turns"][0])</a:t>
            </a:r>
          </a:p>
          <a:p>
            <a:pPr algn="l">
              <a:lnSpc>
                <a:spcPts val="2187"/>
              </a:lnSpc>
              <a:spcBef>
                <a:spcPts val="0"/>
              </a:spcBef>
              <a:spcAft>
                <a:spcPts val="0"/>
              </a:spcAft>
              <a:buNone/>
              <a:defRPr sz="1750" b="0">
                <a:solidFill>
                  <a:srgbClr val="303437"/>
                </a:solidFill>
                <a:latin typeface="Noto Sans"/>
              </a:defRPr>
            </a:pPr>
            <a:r>
              <a:rPr sz="1750" b="0" lang="ja-JP" altLang="en-US">
                <a:solidFill>
                  <a:srgbClr val="303437"/>
                </a:solidFill>
                <a:latin typeface="Liberation Mono"/>
                <a:ea typeface="Noto Sans CJK JP"/>
                <a:cs typeface="Liberation Mono"/>
              </a:rPr>
              <a:t>print(example["ground_truth"])</a:t>
            </a:r>
          </a:p>
        </p:txBody>
      </p:sp>
      <p:sp>
        <p:nvSpPr>
          <p:cNvPr id="5" name="TextBox 4"/>
          <p:cNvSpPr txBox="1"/>
          <p:nvPr/>
        </p:nvSpPr>
        <p:spPr>
          <a:xfrm>
            <a:off x="594360" y="3630803"/>
            <a:ext cx="7955279" cy="777240"/>
          </a:xfrm>
          <a:prstGeom prst="rect">
            <a:avLst/>
          </a:prstGeom>
          <a:noFill/>
        </p:spPr>
        <p:txBody>
          <a:bodyPr wrap="square" lIns="0" rIns="0" tIns="0" bIns="0">
            <a:noAutofit/>
          </a:bodyPr>
          <a:lstStyle/>
          <a:p>
            <a:pPr algn="l">
              <a:lnSpc>
                <a:spcPts val="2222"/>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公開問題を読む最小例。評価対象は、使う公開バージョンに合わせて選ぶ。</a:t>
            </a:r>
          </a:p>
        </p:txBody>
      </p:sp>
      <p:sp>
        <p:nvSpPr>
          <p:cNvPr id="6" name="source-bib"/>
          <p:cNvSpPr txBox="1"/>
          <p:nvPr/>
        </p:nvSpPr>
        <p:spPr>
          <a:xfrm>
            <a:off x="502920" y="4718304"/>
            <a:ext cx="8183879" cy="181736"/>
          </a:xfrm>
          <a:prstGeom prst="rect">
            <a:avLst/>
          </a:prstGeom>
          <a:noFill/>
        </p:spPr>
        <p:txBody>
          <a:bodyPr wrap="square" lIns="0" rIns="0" tIns="0" bIns="0">
            <a:noAutofit/>
          </a:bodyPr>
          <a:lstStyle/>
          <a:p>
            <a:pPr algn="l">
              <a:lnSpc>
                <a:spcPts val="97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LiveBench (2026-10-25参照), official repository.</a:t>
            </a:r>
          </a:p>
        </p:txBody>
      </p:sp>
      <p:sp>
        <p:nvSpPr>
          <p:cNvPr id="7" name="source-url"/>
          <p:cNvSpPr txBox="1"/>
          <p:nvPr/>
        </p:nvSpPr>
        <p:spPr>
          <a:xfrm>
            <a:off x="502920" y="4850892"/>
            <a:ext cx="8183879" cy="201168"/>
          </a:xfrm>
          <a:prstGeom prst="rect">
            <a:avLst/>
          </a:prstGeom>
          <a:noFill/>
        </p:spPr>
        <p:txBody>
          <a:bodyPr wrap="square" lIns="0" rIns="0" tIns="0" bIns="0">
            <a:noAutofit/>
          </a:bodyPr>
          <a:lstStyle/>
          <a:p>
            <a:pPr algn="l">
              <a:lnSpc>
                <a:spcPts val="97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https://github.com/LiveBench/LiveBench</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更新される課題と、正解の確かめ方を押さえる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LiveBenchは、入力・答えが明確な多分野の問題を更新し、学習への混入や採点の偏りを抑えるために作られた。形式条件や部分点も含めて、何を測るかを課題ごとに定める。</a:t>
            </a:r>
          </a:p>
          <a:p>
            <a:pPr marL="457200" indent="-355600">
              <a:lnSpc>
                <a:spcPts val="2499"/>
              </a:lnSpc>
              <a:spcAft>
                <a:spcPts val="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2.0では、短い質問に答える力と、ツールを使い成果物を完成させる力を同じ評価系列で扱うようになった。公開バージョンの課題構成と採点単位が、成績を読む前提になる。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長い実務課題への展開と入手方法</a:t>
            </a:r>
          </a:p>
        </p:txBody>
      </p:sp>
      <p:sp>
        <p:nvSpPr>
          <p:cNvPr id="5" name="source-inline"/>
          <p:cNvSpPr txBox="1"/>
          <p:nvPr/>
        </p:nvSpPr>
        <p:spPr>
          <a:xfrm>
            <a:off x="502920" y="4736592"/>
            <a:ext cx="8183879" cy="182880"/>
          </a:xfrm>
          <a:prstGeom prst="rect">
            <a:avLst/>
          </a:prstGeom>
          <a:noFill/>
        </p:spPr>
        <p:txBody>
          <a:bodyPr wrap="square" lIns="0" rIns="0" tIns="0" bIns="0">
            <a:noAutofit/>
          </a:bodyPr>
          <a:lstStyle/>
          <a:p>
            <a:pPr algn="l">
              <a:lnSpc>
                <a:spcPts val="936"/>
              </a:lnSpc>
              <a:spcBef>
                <a:spcPts val="0"/>
              </a:spcBef>
              <a:spcAft>
                <a:spcPts val="0"/>
              </a:spcAft>
              <a:buNone/>
              <a:defRPr sz="780" b="0">
                <a:solidFill>
                  <a:srgbClr val="303437"/>
                </a:solidFill>
                <a:latin typeface="Noto Sans"/>
              </a:defRPr>
            </a:pPr>
            <a:r>
              <a:rPr sz="780" b="0" lang="ja-JP" altLang="en-US">
                <a:solidFill>
                  <a:srgbClr val="626669"/>
                </a:solidFill>
                <a:latin typeface="Noto Sans"/>
                <a:ea typeface="Noto Sans CJK JP"/>
                <a:cs typeface="Noto Sans"/>
              </a:rPr>
              <a:t/>
            </a:r>
            <a:r>
              <a:rPr sz="780" b="0" lang="ja-JP" altLang="en-US">
                <a:solidFill>
                  <a:srgbClr val="626669"/>
                </a:solidFill>
                <a:latin typeface="Noto Sans"/>
                <a:ea typeface="Noto Sans CJK JP"/>
                <a:cs typeface="Noto Sans"/>
              </a:rPr>
              <a:t>[1] White et al. (2025), LiveBench. </a:t>
            </a:r>
            <a:r>
              <a:rPr sz="780" b="0" lang="ja-JP" altLang="en-US">
                <a:solidFill>
                  <a:srgbClr val="626669"/>
                </a:solidFill>
                <a:latin typeface="Noto Sans"/>
                <a:ea typeface="Noto Sans CJK JP"/>
                <a:cs typeface="Noto Sans"/>
                <a:hlinkClick r:id="rId2"/>
              </a:rPr>
              <a:t>https://arxiv.org/abs/2406.19314</a:t>
            </a:r>
          </a:p>
        </p:txBody>
      </p:sp>
      <p:sp>
        <p:nvSpPr>
          <p:cNvPr id="6" name="source-inline"/>
          <p:cNvSpPr txBox="1"/>
          <p:nvPr/>
        </p:nvSpPr>
        <p:spPr>
          <a:xfrm>
            <a:off x="502920" y="4873752"/>
            <a:ext cx="8183879" cy="182880"/>
          </a:xfrm>
          <a:prstGeom prst="rect">
            <a:avLst/>
          </a:prstGeom>
          <a:noFill/>
        </p:spPr>
        <p:txBody>
          <a:bodyPr wrap="square" lIns="0" rIns="0" tIns="0" bIns="0">
            <a:noAutofit/>
          </a:bodyPr>
          <a:lstStyle/>
          <a:p>
            <a:pPr algn="l">
              <a:lnSpc>
                <a:spcPts val="936"/>
              </a:lnSpc>
              <a:spcBef>
                <a:spcPts val="0"/>
              </a:spcBef>
              <a:spcAft>
                <a:spcPts val="0"/>
              </a:spcAft>
              <a:buNone/>
              <a:defRPr sz="780" b="0">
                <a:solidFill>
                  <a:srgbClr val="303437"/>
                </a:solidFill>
                <a:latin typeface="Noto Sans"/>
              </a:defRPr>
            </a:pPr>
            <a:r>
              <a:rPr sz="780" b="0" lang="ja-JP" altLang="en-US">
                <a:solidFill>
                  <a:srgbClr val="626669"/>
                </a:solidFill>
                <a:latin typeface="Noto Sans"/>
                <a:ea typeface="Noto Sans CJK JP"/>
                <a:cs typeface="Noto Sans"/>
              </a:rPr>
              <a:t/>
            </a:r>
            <a:r>
              <a:rPr sz="780" b="0" lang="ja-JP" altLang="en-US">
                <a:solidFill>
                  <a:srgbClr val="626669"/>
                </a:solidFill>
                <a:latin typeface="Noto Sans"/>
                <a:ea typeface="Noto Sans CJK JP"/>
                <a:cs typeface="Noto Sans"/>
              </a:rPr>
              <a:t>[2] LiveBench (2026-10-25参照), Methodology. </a:t>
            </a:r>
            <a:r>
              <a:rPr sz="780" b="0" lang="ja-JP" altLang="en-US">
                <a:solidFill>
                  <a:srgbClr val="626669"/>
                </a:solidFill>
                <a:latin typeface="Noto Sans"/>
                <a:ea typeface="Noto Sans CJK JP"/>
                <a:cs typeface="Noto Sans"/>
                <a:hlinkClick r:id="rId3"/>
              </a:rPr>
              <a:t>https://livebench.ai/#/methodology</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426923"/>
            <a:ext cx="8046720" cy="701040"/>
          </a:xfrm>
        </p:spPr>
        <p:txBody>
          <a:bodyPr wrap="square" lIns="0" rIns="0" tIns="0" bIns="0" anchor="ctr">
            <a:noAutofit/>
          </a:bodyPr>
          <a:lstStyle/>
          <a:p>
            <a:pPr algn="ctr">
              <a:lnSpc>
                <a:spcPct val="110000"/>
              </a:lnSpc>
              <a:buNone/>
              <a:defRPr sz="4000" b="0">
                <a:solidFill>
                  <a:srgbClr val="303437"/>
                </a:solidFill>
                <a:latin typeface="Noto Sans"/>
              </a:defRPr>
            </a:pPr>
            <a:r>
              <a:rPr sz="4000" b="1" lang="ja-JP" altLang="en-US">
                <a:solidFill>
                  <a:srgbClr val="303437"/>
                </a:solidFill>
                <a:latin typeface="Noto Sans"/>
                <a:ea typeface="Noto Sans CJK JP"/>
                <a:cs typeface="Noto Sans"/>
              </a:rPr>
              <a:t>Appendix</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
            </a:r>
          </a:p>
        </p:txBody>
      </p:sp>
      <p:sp>
        <p:nvSpPr>
          <p:cNvPr id="3" name="Text Placeholder 2"/>
          <p:cNvSpPr>
            <a:spLocks noGrp="1"/>
          </p:cNvSpPr>
          <p:nvPr>
            <p:ph type="body" idx="1"/>
          </p:nvPr>
        </p:nvSpPr>
        <p:spPr>
          <a:xfrm>
            <a:off x="640080" y="2281121"/>
            <a:ext cx="7863840" cy="1127760"/>
          </a:xfrm>
        </p:spPr>
        <p:txBody>
          <a:bodyPr lIns="0" rIns="0" tIns="0" bIns="0">
            <a:noAutofit/>
          </a:bodyPr>
          <a:lstStyle/>
          <a:p>
            <a:pPr marL="457200" indent="-457200">
              <a:lnSpc>
                <a:spcPts val="3660"/>
              </a:lnSpc>
              <a:spcAft>
                <a:spcPts val="1200"/>
              </a:spcAft>
              <a:buSzPct val="100000"/>
              <a:buFont typeface="Noto Sans CJK JP"/>
              <a:buAutoNum type="arabicPeriod" startAt="1"/>
              <a:defRPr sz="3000" b="1">
                <a:solidFill>
                  <a:srgbClr val="303437"/>
                </a:solidFill>
                <a:latin typeface="Noto Sans"/>
              </a:defRPr>
            </a:pPr>
            <a:r>
              <a:rPr sz="3000" b="1" lang="ja-JP" altLang="en-US">
                <a:solidFill>
                  <a:srgbClr val="303437"/>
                </a:solidFill>
                <a:latin typeface="Noto Sans"/>
                <a:ea typeface="Noto Sans CJK JP"/>
                <a:cs typeface="Noto Sans"/>
              </a:rPr>
              <a:t>公開問題の追加例</a:t>
            </a:r>
          </a:p>
          <a:p>
            <a:pPr marL="457200" indent="-457200">
              <a:lnSpc>
                <a:spcPts val="3660"/>
              </a:lnSpc>
              <a:spcAft>
                <a:spcPts val="0"/>
              </a:spcAft>
              <a:buSzPct val="100000"/>
              <a:buFont typeface="Noto Sans CJK JP"/>
              <a:buAutoNum type="arabicPeriod" startAt="2"/>
              <a:defRPr sz="3000" b="1">
                <a:solidFill>
                  <a:srgbClr val="303437"/>
                </a:solidFill>
                <a:latin typeface="Noto Sans"/>
              </a:defRPr>
            </a:pPr>
            <a:r>
              <a:rPr sz="3000" b="1" lang="ja-JP" altLang="en-US">
                <a:solidFill>
                  <a:srgbClr val="303437"/>
                </a:solidFill>
                <a:latin typeface="Noto Sans"/>
                <a:ea typeface="Noto Sans CJK JP"/>
                <a:cs typeface="Noto Sans"/>
              </a:rPr>
              <a:t>更新の変遷と参考文献</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目次</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494683"/>
            <a:ext cx="8046720" cy="609600"/>
          </a:xfrm>
        </p:spPr>
        <p:txBody>
          <a:bodyPr wrap="square" lIns="0" rIns="0" tIns="0" bIns="0" anchor="ctr">
            <a:noAutofit/>
          </a:bodyPr>
          <a:lstStyle/>
          <a:p>
            <a:pPr algn="ctr">
              <a:lnSpc>
                <a:spcPct val="110000"/>
              </a:lnSpc>
              <a:buNone/>
              <a:defRPr sz="3400" b="0">
                <a:solidFill>
                  <a:srgbClr val="303437"/>
                </a:solidFill>
                <a:latin typeface="Noto Sans"/>
              </a:defRPr>
            </a:pPr>
            <a:r>
              <a:rPr sz="3400" b="1" lang="ja-JP" altLang="en-US">
                <a:solidFill>
                  <a:srgbClr val="303437"/>
                </a:solidFill>
                <a:latin typeface="Noto Sans"/>
                <a:ea typeface="Noto Sans CJK JP"/>
                <a:cs typeface="Noto Sans"/>
              </a:rPr>
              <a:t>1. 公開問題の追加例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公開問題の追加例</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例4 数字NをN回並べる：問題文の原文</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公開問題の追加例</a:t>
            </a:r>
          </a:p>
        </p:txBody>
      </p:sp>
      <p:sp>
        <p:nvSpPr>
          <p:cNvPr id="4" name="TextBox 3"/>
          <p:cNvSpPr txBox="1"/>
          <p:nvPr/>
        </p:nvSpPr>
        <p:spPr>
          <a:xfrm>
            <a:off x="548640" y="1353312"/>
            <a:ext cx="8046720" cy="246507"/>
          </a:xfrm>
          <a:prstGeom prst="rect">
            <a:avLst/>
          </a:prstGeom>
          <a:noFill/>
        </p:spPr>
        <p:txBody>
          <a:bodyPr wrap="square" lIns="0" rIns="0" tIns="0" bIns="0">
            <a:noAutofit/>
          </a:bodyPr>
          <a:lstStyle/>
          <a:p>
            <a:pPr algn="l">
              <a:lnSpc>
                <a:spcPts val="1380"/>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問題文・入力・出力・制約・公開例の原文（全文）</a:t>
            </a:r>
          </a:p>
        </p:txBody>
      </p:sp>
      <p:sp>
        <p:nvSpPr>
          <p:cNvPr id="5" name="original-frame"/>
          <p:cNvSpPr/>
          <p:nvPr/>
        </p:nvSpPr>
        <p:spPr>
          <a:xfrm>
            <a:off x="548640" y="1609344"/>
            <a:ext cx="8046720" cy="21717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88900" bIns="127000">
            <a:noAutofit/>
          </a:bodyPr>
          <a:lstStyle/>
          <a:p>
            <a:pPr algn="l">
              <a:lnSpc>
                <a:spcPts val="1925"/>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You are given an integer N between 1 and 9, inclusive, as input.</a:t>
            </a:r>
          </a:p>
          <a:p>
            <a:pPr algn="l">
              <a:lnSpc>
                <a:spcPts val="1925"/>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Concatenate N copies of the digit N and print the resulting string.</a:t>
            </a:r>
          </a:p>
          <a:p>
            <a:pPr algn="l">
              <a:lnSpc>
                <a:spcPts val="1925"/>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Input: The input is given from Standard Input in the following format: N</a:t>
            </a:r>
          </a:p>
          <a:p>
            <a:pPr algn="l">
              <a:lnSpc>
                <a:spcPts val="1925"/>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Output: Print the answer.</a:t>
            </a:r>
          </a:p>
          <a:p>
            <a:pPr algn="l">
              <a:lnSpc>
                <a:spcPts val="1925"/>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Constraints: N is an integer between 1 and 9, inclusive.</a:t>
            </a:r>
          </a:p>
          <a:p>
            <a:pPr algn="l">
              <a:lnSpc>
                <a:spcPts val="1925"/>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Sample Input 1: 3   Sample Output 1: 333</a:t>
            </a:r>
          </a:p>
          <a:p>
            <a:pPr algn="l">
              <a:lnSpc>
                <a:spcPts val="1925"/>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Concatenate three copies of the digit 3 to yield the string 333.</a:t>
            </a:r>
          </a:p>
          <a:p>
            <a:pPr algn="l">
              <a:lnSpc>
                <a:spcPts val="1925"/>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Sample Input 2: 9   Sample Output 2: 999999999</a:t>
            </a:r>
          </a:p>
        </p:txBody>
      </p:sp>
      <p:sp>
        <p:nvSpPr>
          <p:cNvPr id="6" name="source-bib"/>
          <p:cNvSpPr txBox="1"/>
          <p:nvPr/>
        </p:nvSpPr>
        <p:spPr>
          <a:xfrm>
            <a:off x="502920" y="4718304"/>
            <a:ext cx="8183879" cy="181736"/>
          </a:xfrm>
          <a:prstGeom prst="rect">
            <a:avLst/>
          </a:prstGeom>
          <a:noFill/>
        </p:spPr>
        <p:txBody>
          <a:bodyPr wrap="square" lIns="0" rIns="0" tIns="0" bIns="0">
            <a:noAutofit/>
          </a:bodyPr>
          <a:lstStyle/>
          <a:p>
            <a:pPr algn="l">
              <a:lnSpc>
                <a:spcPts val="97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LiveBench (2024), coding — public questions.</a:t>
            </a:r>
          </a:p>
        </p:txBody>
      </p:sp>
      <p:sp>
        <p:nvSpPr>
          <p:cNvPr id="7" name="source-url"/>
          <p:cNvSpPr txBox="1"/>
          <p:nvPr/>
        </p:nvSpPr>
        <p:spPr>
          <a:xfrm>
            <a:off x="502920" y="4850892"/>
            <a:ext cx="8183879" cy="201168"/>
          </a:xfrm>
          <a:prstGeom prst="rect">
            <a:avLst/>
          </a:prstGeom>
          <a:noFill/>
        </p:spPr>
        <p:txBody>
          <a:bodyPr wrap="square" lIns="0" rIns="0" tIns="0" bIns="0">
            <a:noAutofit/>
          </a:bodyPr>
          <a:lstStyle/>
          <a:p>
            <a:pPr algn="l">
              <a:lnSpc>
                <a:spcPts val="97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https://huggingface.co/datasets/livebench/coding</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例4 数字NをN回並べる：出力指示の原文</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公開問題の追加例</a:t>
            </a:r>
          </a:p>
        </p:txBody>
      </p:sp>
      <p:sp>
        <p:nvSpPr>
          <p:cNvPr id="4" name="TextBox 3"/>
          <p:cNvSpPr txBox="1"/>
          <p:nvPr/>
        </p:nvSpPr>
        <p:spPr>
          <a:xfrm>
            <a:off x="548640" y="1353312"/>
            <a:ext cx="8046720" cy="246507"/>
          </a:xfrm>
          <a:prstGeom prst="rect">
            <a:avLst/>
          </a:prstGeom>
          <a:noFill/>
        </p:spPr>
        <p:txBody>
          <a:bodyPr wrap="square" lIns="0" rIns="0" tIns="0" bIns="0">
            <a:noAutofit/>
          </a:bodyPr>
          <a:lstStyle/>
          <a:p>
            <a:pPr algn="l">
              <a:lnSpc>
                <a:spcPts val="1380"/>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モデルに添える共通の生成・出力形式の指示（全文）</a:t>
            </a:r>
          </a:p>
        </p:txBody>
      </p:sp>
      <p:sp>
        <p:nvSpPr>
          <p:cNvPr id="5" name="original-frame"/>
          <p:cNvSpPr/>
          <p:nvPr/>
        </p:nvSpPr>
        <p:spPr>
          <a:xfrm>
            <a:off x="548640" y="1609344"/>
            <a:ext cx="8046720" cy="306578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88900" bIns="127000">
            <a:noAutofit/>
          </a:bodyPr>
          <a:lstStyle/>
          <a:p>
            <a:pPr algn="l">
              <a:lnSpc>
                <a:spcPts val="187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 Instructions: You are an expert Python programmer. You will be given a question (problem specification) and will generate a correct Python program that matches the specification and passes all tests. You will NOT return anything except for the program.</a:t>
            </a:r>
          </a:p>
          <a:p>
            <a:pPr algn="l">
              <a:lnSpc>
                <a:spcPts val="187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 Format: Read the inputs from stdin solve the problem and write the answer to stdout (do not directly test on the sample inputs). Enclose your code within delimiters as follows.</a:t>
            </a:r>
          </a:p>
          <a:p>
            <a:pPr algn="l">
              <a:lnSpc>
                <a:spcPts val="1870"/>
              </a:lnSpc>
              <a:spcBef>
                <a:spcPts val="0"/>
              </a:spcBef>
              <a:spcAft>
                <a:spcPts val="0"/>
              </a:spcAft>
              <a:buNone/>
              <a:defRPr sz="1700" b="0">
                <a:solidFill>
                  <a:srgbClr val="303437"/>
                </a:solidFill>
                <a:latin typeface="Noto Sans"/>
              </a:defRPr>
            </a:pPr>
            <a:r>
              <a:rPr sz="1700" b="0" lang="ja-JP" altLang="en-US">
                <a:solidFill>
                  <a:srgbClr val="303437"/>
                </a:solidFill>
                <a:latin typeface="Liberation Mono"/>
                <a:ea typeface="Noto Sans CJK JP"/>
                <a:cs typeface="Liberation Mono"/>
              </a:rPr>
              <a:t>```python</a:t>
            </a:r>
          </a:p>
          <a:p>
            <a:pPr algn="l">
              <a:lnSpc>
                <a:spcPts val="1870"/>
              </a:lnSpc>
              <a:spcBef>
                <a:spcPts val="0"/>
              </a:spcBef>
              <a:spcAft>
                <a:spcPts val="0"/>
              </a:spcAft>
              <a:buNone/>
              <a:defRPr sz="1700" b="0">
                <a:solidFill>
                  <a:srgbClr val="303437"/>
                </a:solidFill>
                <a:latin typeface="Noto Sans"/>
              </a:defRPr>
            </a:pPr>
            <a:r>
              <a:rPr sz="1700" b="0" lang="ja-JP" altLang="en-US">
                <a:solidFill>
                  <a:srgbClr val="303437"/>
                </a:solidFill>
                <a:latin typeface="Liberation Mono"/>
                <a:ea typeface="Noto Sans CJK JP"/>
                <a:cs typeface="Liberation Mono"/>
              </a:rPr>
              <a:t># YOUR CODE HERE</a:t>
            </a:r>
          </a:p>
          <a:p>
            <a:pPr algn="l">
              <a:lnSpc>
                <a:spcPts val="1870"/>
              </a:lnSpc>
              <a:spcBef>
                <a:spcPts val="0"/>
              </a:spcBef>
              <a:spcAft>
                <a:spcPts val="0"/>
              </a:spcAft>
              <a:buNone/>
              <a:defRPr sz="1700" b="0">
                <a:solidFill>
                  <a:srgbClr val="303437"/>
                </a:solidFill>
                <a:latin typeface="Noto Sans"/>
              </a:defRPr>
            </a:pPr>
            <a:r>
              <a:rPr sz="1700" b="0" lang="ja-JP" altLang="en-US">
                <a:solidFill>
                  <a:srgbClr val="303437"/>
                </a:solidFill>
                <a:latin typeface="Liberation Mono"/>
                <a:ea typeface="Noto Sans CJK JP"/>
                <a:cs typeface="Liberation Mono"/>
              </a:rPr>
              <a:t>```</a:t>
            </a:r>
          </a:p>
          <a:p>
            <a:pPr algn="l">
              <a:lnSpc>
                <a:spcPts val="187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
            </a:r>
          </a:p>
          <a:p>
            <a:pPr algn="l">
              <a:lnSpc>
                <a:spcPts val="187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 Answer: (use the provided format with backticks)</a:t>
            </a:r>
          </a:p>
        </p:txBody>
      </p:sp>
      <p:sp>
        <p:nvSpPr>
          <p:cNvPr id="6" name="source-bib"/>
          <p:cNvSpPr txBox="1"/>
          <p:nvPr/>
        </p:nvSpPr>
        <p:spPr>
          <a:xfrm>
            <a:off x="502920" y="4718304"/>
            <a:ext cx="8183879" cy="181736"/>
          </a:xfrm>
          <a:prstGeom prst="rect">
            <a:avLst/>
          </a:prstGeom>
          <a:noFill/>
        </p:spPr>
        <p:txBody>
          <a:bodyPr wrap="square" lIns="0" rIns="0" tIns="0" bIns="0">
            <a:noAutofit/>
          </a:bodyPr>
          <a:lstStyle/>
          <a:p>
            <a:pPr algn="l">
              <a:lnSpc>
                <a:spcPts val="97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LiveBench (2024), coding — public questions.</a:t>
            </a:r>
          </a:p>
        </p:txBody>
      </p:sp>
      <p:sp>
        <p:nvSpPr>
          <p:cNvPr id="7" name="source-url"/>
          <p:cNvSpPr txBox="1"/>
          <p:nvPr/>
        </p:nvSpPr>
        <p:spPr>
          <a:xfrm>
            <a:off x="502920" y="4850892"/>
            <a:ext cx="8183879" cy="201168"/>
          </a:xfrm>
          <a:prstGeom prst="rect">
            <a:avLst/>
          </a:prstGeom>
          <a:noFill/>
        </p:spPr>
        <p:txBody>
          <a:bodyPr wrap="square" lIns="0" rIns="0" tIns="0" bIns="0">
            <a:noAutofit/>
          </a:bodyPr>
          <a:lstStyle/>
          <a:p>
            <a:pPr algn="l">
              <a:lnSpc>
                <a:spcPts val="97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https://huggingface.co/datasets/livebench/coding</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例4 数字NをN回並べる：日本語訳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公開問題の追加例</a:t>
            </a:r>
          </a:p>
        </p:txBody>
      </p:sp>
      <p:sp>
        <p:nvSpPr>
          <p:cNvPr id="4" name="TextBox 3"/>
          <p:cNvSpPr txBox="1"/>
          <p:nvPr/>
        </p:nvSpPr>
        <p:spPr>
          <a:xfrm>
            <a:off x="548640" y="1344168"/>
            <a:ext cx="8046720" cy="246507"/>
          </a:xfrm>
          <a:prstGeom prst="rect">
            <a:avLst/>
          </a:prstGeom>
          <a:noFill/>
        </p:spPr>
        <p:txBody>
          <a:bodyPr wrap="square" lIns="0" rIns="0" tIns="0" bIns="0">
            <a:noAutofit/>
          </a:bodyPr>
          <a:lstStyle/>
          <a:p>
            <a:pPr algn="l">
              <a:lnSpc>
                <a:spcPts val="1380"/>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問題の日本語訳</a:t>
            </a:r>
          </a:p>
        </p:txBody>
      </p:sp>
      <p:sp>
        <p:nvSpPr>
          <p:cNvPr id="5" name="TextBox 4"/>
          <p:cNvSpPr txBox="1"/>
          <p:nvPr/>
        </p:nvSpPr>
        <p:spPr>
          <a:xfrm>
            <a:off x="365760" y="1572768"/>
            <a:ext cx="8412480" cy="3072892"/>
          </a:xfrm>
          <a:prstGeom prst="rect">
            <a:avLst/>
          </a:prstGeom>
          <a:noFill/>
        </p:spPr>
        <p:txBody>
          <a:bodyPr wrap="square" lIns="0" rIns="0" tIns="0" bIns="0">
            <a:noAutofit/>
          </a:bodyPr>
          <a:lstStyle/>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あなたはPythonに詳しいプログラマーである。問題の仕様を読み、すべてのテストに通る正しいPythonプログラムを作る。プログラム以外は返さない。</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1以上9以下の整数Nが入力される。数字NをN個つなげた文字列を出力する。</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入力は標準入力から、Nの形式で与えられる。答えを出力する。</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制約：Nは1以上9以下の整数。</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公開例1：入力3、出力333。数字3を三つつなげると333になる。</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公開例2：入力9、出力999999999。</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標準入力から値を読み、問題を解き、標準出力へ答えを書く。サンプル入力だけを直接試すプログラムにはしない。コードは次の形式の区切りで囲む。</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```python</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 YOUR CODE HERE</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回答には、指定されたバッククォートの形式を使う。</a:t>
            </a:r>
          </a:p>
        </p:txBody>
      </p:sp>
      <p:sp>
        <p:nvSpPr>
          <p:cNvPr id="6" name="source-bib"/>
          <p:cNvSpPr txBox="1"/>
          <p:nvPr/>
        </p:nvSpPr>
        <p:spPr>
          <a:xfrm>
            <a:off x="502920" y="4718304"/>
            <a:ext cx="8183879" cy="181736"/>
          </a:xfrm>
          <a:prstGeom prst="rect">
            <a:avLst/>
          </a:prstGeom>
          <a:noFill/>
        </p:spPr>
        <p:txBody>
          <a:bodyPr wrap="square" lIns="0" rIns="0" tIns="0" bIns="0">
            <a:noAutofit/>
          </a:bodyPr>
          <a:lstStyle/>
          <a:p>
            <a:pPr algn="l">
              <a:lnSpc>
                <a:spcPts val="97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LiveBench (2024), coding — public questions.</a:t>
            </a:r>
          </a:p>
        </p:txBody>
      </p:sp>
      <p:sp>
        <p:nvSpPr>
          <p:cNvPr id="7" name="source-url"/>
          <p:cNvSpPr txBox="1"/>
          <p:nvPr/>
        </p:nvSpPr>
        <p:spPr>
          <a:xfrm>
            <a:off x="502920" y="4850892"/>
            <a:ext cx="8183879" cy="201168"/>
          </a:xfrm>
          <a:prstGeom prst="rect">
            <a:avLst/>
          </a:prstGeom>
          <a:noFill/>
        </p:spPr>
        <p:txBody>
          <a:bodyPr wrap="square" lIns="0" rIns="0" tIns="0" bIns="0">
            <a:noAutofit/>
          </a:bodyPr>
          <a:lstStyle/>
          <a:p>
            <a:pPr algn="l">
              <a:lnSpc>
                <a:spcPts val="97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https://huggingface.co/datasets/livebench/coding</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例4 数字NをN回並べる：答えの読み方</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公開問題の追加例</a:t>
            </a:r>
          </a:p>
        </p:txBody>
      </p:sp>
      <p:sp>
        <p:nvSpPr>
          <p:cNvPr id="4" name="TextBox 3"/>
          <p:cNvSpPr txBox="1"/>
          <p:nvPr/>
        </p:nvSpPr>
        <p:spPr>
          <a:xfrm>
            <a:off x="594360" y="1609344"/>
            <a:ext cx="7955279" cy="587946"/>
          </a:xfrm>
          <a:prstGeom prst="rect">
            <a:avLst/>
          </a:prstGeom>
          <a:noFill/>
        </p:spPr>
        <p:txBody>
          <a:bodyPr wrap="square" lIns="0" rIns="0" tIns="0" bIns="0">
            <a:noAutofit/>
          </a:bodyPr>
          <a:lstStyle/>
          <a:p>
            <a:pPr algn="l">
              <a:lnSpc>
                <a:spcPts val="2429"/>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公開例の出力：3 → 333　／　9 → 999999999</a:t>
            </a:r>
          </a:p>
        </p:txBody>
      </p:sp>
      <p:sp>
        <p:nvSpPr>
          <p:cNvPr id="5" name="TextBox 4"/>
          <p:cNvSpPr txBox="1"/>
          <p:nvPr/>
        </p:nvSpPr>
        <p:spPr>
          <a:xfrm>
            <a:off x="594360" y="2151570"/>
            <a:ext cx="7955279" cy="882141"/>
          </a:xfrm>
          <a:prstGeom prst="rect">
            <a:avLst/>
          </a:prstGeom>
          <a:noFill/>
        </p:spPr>
        <p:txBody>
          <a:bodyPr wrap="square" lIns="0" rIns="0" tIns="0" bIns="0">
            <a:noAutofit/>
          </a:bodyPr>
          <a:lstStyle/>
          <a:p>
            <a:pPr algn="l">
              <a:lnSpc>
                <a:spcPts val="2372"/>
              </a:lnSpc>
              <a:spcBef>
                <a:spcPts val="0"/>
              </a:spcBef>
              <a:spcAft>
                <a:spcPts val="0"/>
              </a:spcAft>
              <a:buNone/>
              <a:defRPr sz="2100" b="0">
                <a:solidFill>
                  <a:srgbClr val="303437"/>
                </a:solidFill>
                <a:latin typeface="Noto Sans"/>
              </a:defRPr>
            </a:pPr>
            <a:r>
              <a:rPr sz="2100" b="0" lang="ja-JP" altLang="en-US">
                <a:solidFill>
                  <a:srgbClr val="303437"/>
                </a:solidFill>
                <a:latin typeface="Noto Sans"/>
                <a:ea typeface="Noto Sans CJK JP"/>
                <a:cs typeface="Noto Sans"/>
              </a:rPr>
              <a:t>文字列として数字NをN回繰り返す。公開例では3を三つ並べた333、9を九つ並べた999999999が期待される。</a:t>
            </a:r>
          </a:p>
        </p:txBody>
      </p:sp>
      <p:sp>
        <p:nvSpPr>
          <p:cNvPr id="6" name="source-bib"/>
          <p:cNvSpPr txBox="1"/>
          <p:nvPr/>
        </p:nvSpPr>
        <p:spPr>
          <a:xfrm>
            <a:off x="502920" y="4718304"/>
            <a:ext cx="8183879" cy="181736"/>
          </a:xfrm>
          <a:prstGeom prst="rect">
            <a:avLst/>
          </a:prstGeom>
          <a:noFill/>
        </p:spPr>
        <p:txBody>
          <a:bodyPr wrap="square" lIns="0" rIns="0" tIns="0" bIns="0">
            <a:noAutofit/>
          </a:bodyPr>
          <a:lstStyle/>
          <a:p>
            <a:pPr algn="l">
              <a:lnSpc>
                <a:spcPts val="97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LiveBench (2024), coding — public questions.</a:t>
            </a:r>
          </a:p>
        </p:txBody>
      </p:sp>
      <p:sp>
        <p:nvSpPr>
          <p:cNvPr id="7" name="source-url"/>
          <p:cNvSpPr txBox="1"/>
          <p:nvPr/>
        </p:nvSpPr>
        <p:spPr>
          <a:xfrm>
            <a:off x="502920" y="4850892"/>
            <a:ext cx="8183879" cy="201168"/>
          </a:xfrm>
          <a:prstGeom prst="rect">
            <a:avLst/>
          </a:prstGeom>
          <a:noFill/>
        </p:spPr>
        <p:txBody>
          <a:bodyPr wrap="square" lIns="0" rIns="0" tIns="0" bIns="0">
            <a:noAutofit/>
          </a:bodyPr>
          <a:lstStyle/>
          <a:p>
            <a:pPr algn="l">
              <a:lnSpc>
                <a:spcPts val="97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https://huggingface.co/datasets/livebench/coding</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例5 二数の幾何平均を求める：原文</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公開問題の追加例</a:t>
            </a:r>
          </a:p>
        </p:txBody>
      </p:sp>
      <p:sp>
        <p:nvSpPr>
          <p:cNvPr id="4" name="TextBox 3"/>
          <p:cNvSpPr txBox="1"/>
          <p:nvPr/>
        </p:nvSpPr>
        <p:spPr>
          <a:xfrm>
            <a:off x="548640" y="1353312"/>
            <a:ext cx="8046720" cy="246507"/>
          </a:xfrm>
          <a:prstGeom prst="rect">
            <a:avLst/>
          </a:prstGeom>
          <a:noFill/>
        </p:spPr>
        <p:txBody>
          <a:bodyPr wrap="square" lIns="0" rIns="0" tIns="0" bIns="0">
            <a:noAutofit/>
          </a:bodyPr>
          <a:lstStyle/>
          <a:p>
            <a:pPr algn="l">
              <a:lnSpc>
                <a:spcPts val="1380"/>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問題の原文（全文）</a:t>
            </a:r>
          </a:p>
        </p:txBody>
      </p:sp>
      <p:sp>
        <p:nvSpPr>
          <p:cNvPr id="5" name="original-frame"/>
          <p:cNvSpPr/>
          <p:nvPr/>
        </p:nvSpPr>
        <p:spPr>
          <a:xfrm>
            <a:off x="548640" y="1609344"/>
            <a:ext cx="8046720" cy="71882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88900" bIns="127000">
            <a:noAutofit/>
          </a:bodyPr>
          <a:lstStyle/>
          <a:p>
            <a:pPr algn="l">
              <a:lnSpc>
                <a:spcPts val="1980"/>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Compute the geometric mean of {1, 9}. Please put your final answer in a $\\boxed{}$.</a:t>
            </a:r>
          </a:p>
        </p:txBody>
      </p:sp>
      <p:sp>
        <p:nvSpPr>
          <p:cNvPr id="6" name="source-bib"/>
          <p:cNvSpPr txBox="1"/>
          <p:nvPr/>
        </p:nvSpPr>
        <p:spPr>
          <a:xfrm>
            <a:off x="502920" y="4718304"/>
            <a:ext cx="8183879" cy="181736"/>
          </a:xfrm>
          <a:prstGeom prst="rect">
            <a:avLst/>
          </a:prstGeom>
          <a:noFill/>
        </p:spPr>
        <p:txBody>
          <a:bodyPr wrap="square" lIns="0" rIns="0" tIns="0" bIns="0">
            <a:noAutofit/>
          </a:bodyPr>
          <a:lstStyle/>
          <a:p>
            <a:pPr algn="l">
              <a:lnSpc>
                <a:spcPts val="97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LiveBench (2024), math — public questions.</a:t>
            </a:r>
          </a:p>
        </p:txBody>
      </p:sp>
      <p:sp>
        <p:nvSpPr>
          <p:cNvPr id="7" name="source-url"/>
          <p:cNvSpPr txBox="1"/>
          <p:nvPr/>
        </p:nvSpPr>
        <p:spPr>
          <a:xfrm>
            <a:off x="502920" y="4850892"/>
            <a:ext cx="8183879" cy="201168"/>
          </a:xfrm>
          <a:prstGeom prst="rect">
            <a:avLst/>
          </a:prstGeom>
          <a:noFill/>
        </p:spPr>
        <p:txBody>
          <a:bodyPr wrap="square" lIns="0" rIns="0" tIns="0" bIns="0">
            <a:noAutofit/>
          </a:bodyPr>
          <a:lstStyle/>
          <a:p>
            <a:pPr algn="l">
              <a:lnSpc>
                <a:spcPts val="97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https://huggingface.co/datasets/livebench/math</a:t>
            </a:r>
          </a:p>
        </p:txBody>
      </p:sp>
      <p:sp>
        <p:nvSpPr>
          <p:cNvPr id="8" name="TextBox 7"/>
          <p:cNvSpPr txBox="1"/>
          <p:nvPr/>
        </p:nvSpPr>
        <p:spPr>
          <a:xfrm>
            <a:off x="594360" y="2447036"/>
            <a:ext cx="7955279" cy="530542"/>
          </a:xfrm>
          <a:prstGeom prst="rect">
            <a:avLst/>
          </a:prstGeom>
          <a:noFill/>
        </p:spPr>
        <p:txBody>
          <a:bodyPr wrap="square" lIns="0" rIns="0" tIns="0" bIns="0">
            <a:noAutofit/>
          </a:bodyPr>
          <a:lstStyle/>
          <a:p>
            <a:pPr algn="l">
              <a:lnSpc>
                <a:spcPts val="197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{1, 9}の幾何平均を求める。最終回答を \boxed{} で囲む。</a:t>
            </a:r>
          </a:p>
        </p:txBody>
      </p:sp>
      <p:sp>
        <p:nvSpPr>
          <p:cNvPr id="9" name="TextBox 8"/>
          <p:cNvSpPr txBox="1"/>
          <p:nvPr/>
        </p:nvSpPr>
        <p:spPr>
          <a:xfrm>
            <a:off x="594360" y="2833751"/>
            <a:ext cx="7955279" cy="587946"/>
          </a:xfrm>
          <a:prstGeom prst="rect">
            <a:avLst/>
          </a:prstGeom>
          <a:noFill/>
        </p:spPr>
        <p:txBody>
          <a:bodyPr wrap="square" lIns="0" rIns="0" tIns="0" bIns="0">
            <a:noAutofit/>
          </a:bodyPr>
          <a:lstStyle/>
          <a:p>
            <a:pPr algn="l">
              <a:lnSpc>
                <a:spcPts val="2429"/>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正解：3</a:t>
            </a:r>
          </a:p>
        </p:txBody>
      </p:sp>
      <p:sp>
        <p:nvSpPr>
          <p:cNvPr id="10" name="TextBox 9"/>
          <p:cNvSpPr txBox="1"/>
          <p:nvPr/>
        </p:nvSpPr>
        <p:spPr>
          <a:xfrm>
            <a:off x="594360" y="3321113"/>
            <a:ext cx="7955279" cy="537718"/>
          </a:xfrm>
          <a:prstGeom prst="rect">
            <a:avLst/>
          </a:prstGeom>
          <a:noFill/>
        </p:spPr>
        <p:txBody>
          <a:bodyPr wrap="square" lIns="0" rIns="0" tIns="0" bIns="0">
            <a:noAutofit/>
          </a:bodyPr>
          <a:lstStyle/>
          <a:p>
            <a:pPr algn="l">
              <a:lnSpc>
                <a:spcPts val="2033"/>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正の二数の幾何平均は積の平方根なので、√(1×9)=3となる。</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例6 数式の値と回答形式を確かめる：原文</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公開問題の追加例</a:t>
            </a:r>
          </a:p>
        </p:txBody>
      </p:sp>
      <p:sp>
        <p:nvSpPr>
          <p:cNvPr id="4" name="TextBox 3"/>
          <p:cNvSpPr txBox="1"/>
          <p:nvPr/>
        </p:nvSpPr>
        <p:spPr>
          <a:xfrm>
            <a:off x="548640" y="1353312"/>
            <a:ext cx="8046720" cy="246507"/>
          </a:xfrm>
          <a:prstGeom prst="rect">
            <a:avLst/>
          </a:prstGeom>
          <a:noFill/>
        </p:spPr>
        <p:txBody>
          <a:bodyPr wrap="square" lIns="0" rIns="0" tIns="0" bIns="0">
            <a:noAutofit/>
          </a:bodyPr>
          <a:lstStyle/>
          <a:p>
            <a:pPr algn="l">
              <a:lnSpc>
                <a:spcPts val="1380"/>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問題の原文（全文）</a:t>
            </a:r>
          </a:p>
        </p:txBody>
      </p:sp>
      <p:sp>
        <p:nvSpPr>
          <p:cNvPr id="5" name="original-frame"/>
          <p:cNvSpPr/>
          <p:nvPr/>
        </p:nvSpPr>
        <p:spPr>
          <a:xfrm>
            <a:off x="548640" y="1609344"/>
            <a:ext cx="8046720" cy="14732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88900" bIns="127000">
            <a:noAutofit/>
          </a:bodyPr>
          <a:lstStyle/>
          <a:p>
            <a:pPr algn="l">
              <a:lnSpc>
                <a:spcPts val="1980"/>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What is the value of √(2023/(2+0+2+3))? (A) 13   (B) 15   (C) 17   (D) 19   (E) 21 If you cannot determine the correct multiple-choice answer, take your best guess. Once you have your answer, please duplicate that letter five times in a single string. For example, if the answer is F, then write FFFFF.</a:t>
            </a:r>
          </a:p>
        </p:txBody>
      </p:sp>
      <p:sp>
        <p:nvSpPr>
          <p:cNvPr id="6" name="source-bib"/>
          <p:cNvSpPr txBox="1"/>
          <p:nvPr/>
        </p:nvSpPr>
        <p:spPr>
          <a:xfrm>
            <a:off x="502920" y="4718304"/>
            <a:ext cx="8183879" cy="181736"/>
          </a:xfrm>
          <a:prstGeom prst="rect">
            <a:avLst/>
          </a:prstGeom>
          <a:noFill/>
        </p:spPr>
        <p:txBody>
          <a:bodyPr wrap="square" lIns="0" rIns="0" tIns="0" bIns="0">
            <a:noAutofit/>
          </a:bodyPr>
          <a:lstStyle/>
          <a:p>
            <a:pPr algn="l">
              <a:lnSpc>
                <a:spcPts val="97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LiveBench (2024), math — public questions.</a:t>
            </a:r>
          </a:p>
        </p:txBody>
      </p:sp>
      <p:sp>
        <p:nvSpPr>
          <p:cNvPr id="7" name="source-url"/>
          <p:cNvSpPr txBox="1"/>
          <p:nvPr/>
        </p:nvSpPr>
        <p:spPr>
          <a:xfrm>
            <a:off x="502920" y="4850892"/>
            <a:ext cx="8183879" cy="201168"/>
          </a:xfrm>
          <a:prstGeom prst="rect">
            <a:avLst/>
          </a:prstGeom>
          <a:noFill/>
        </p:spPr>
        <p:txBody>
          <a:bodyPr wrap="square" lIns="0" rIns="0" tIns="0" bIns="0">
            <a:noAutofit/>
          </a:bodyPr>
          <a:lstStyle/>
          <a:p>
            <a:pPr algn="l">
              <a:lnSpc>
                <a:spcPts val="97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https://huggingface.co/datasets/livebench/math</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例6 数式の値と回答形式を確かめる：日本語訳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公開問題の追加例</a:t>
            </a:r>
          </a:p>
        </p:txBody>
      </p:sp>
      <p:sp>
        <p:nvSpPr>
          <p:cNvPr id="4" name="TextBox 3"/>
          <p:cNvSpPr txBox="1"/>
          <p:nvPr/>
        </p:nvSpPr>
        <p:spPr>
          <a:xfrm>
            <a:off x="548640" y="1344168"/>
            <a:ext cx="8046720" cy="246507"/>
          </a:xfrm>
          <a:prstGeom prst="rect">
            <a:avLst/>
          </a:prstGeom>
          <a:noFill/>
        </p:spPr>
        <p:txBody>
          <a:bodyPr wrap="square" lIns="0" rIns="0" tIns="0" bIns="0">
            <a:noAutofit/>
          </a:bodyPr>
          <a:lstStyle/>
          <a:p>
            <a:pPr algn="l">
              <a:lnSpc>
                <a:spcPts val="1380"/>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問題の日本語訳</a:t>
            </a:r>
          </a:p>
        </p:txBody>
      </p:sp>
      <p:sp>
        <p:nvSpPr>
          <p:cNvPr id="5" name="TextBox 4"/>
          <p:cNvSpPr txBox="1"/>
          <p:nvPr/>
        </p:nvSpPr>
        <p:spPr>
          <a:xfrm>
            <a:off x="594360" y="1618488"/>
            <a:ext cx="7955279" cy="1642745"/>
          </a:xfrm>
          <a:prstGeom prst="rect">
            <a:avLst/>
          </a:prstGeom>
          <a:noFill/>
        </p:spPr>
        <p:txBody>
          <a:bodyPr wrap="square" lIns="0" rIns="0" tIns="0" bIns="0">
            <a:noAutofit/>
          </a:bodyPr>
          <a:lstStyle/>
          <a:p>
            <a:pPr algn="l">
              <a:lnSpc>
                <a:spcPts val="2147"/>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√(2023 / (2+0+2+3)) の値はいくつか。</a:t>
            </a:r>
          </a:p>
          <a:p>
            <a:pPr algn="l">
              <a:lnSpc>
                <a:spcPts val="2147"/>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(A) 13　(B) 15　(C) 17　(D) 19　(E) 21</a:t>
            </a:r>
          </a:p>
          <a:p>
            <a:pPr algn="l">
              <a:lnSpc>
                <a:spcPts val="2147"/>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正しい選択肢を決められない場合は、最もよいと思う答えを選ぶ。答えが決まったら、その文字を五つ並べて一つの文字列にする。例えば、答えがFならFFFFFと書く。</a:t>
            </a:r>
          </a:p>
        </p:txBody>
      </p:sp>
      <p:sp>
        <p:nvSpPr>
          <p:cNvPr id="6" name="source-bib"/>
          <p:cNvSpPr txBox="1"/>
          <p:nvPr/>
        </p:nvSpPr>
        <p:spPr>
          <a:xfrm>
            <a:off x="502920" y="4718304"/>
            <a:ext cx="8183879" cy="181736"/>
          </a:xfrm>
          <a:prstGeom prst="rect">
            <a:avLst/>
          </a:prstGeom>
          <a:noFill/>
        </p:spPr>
        <p:txBody>
          <a:bodyPr wrap="square" lIns="0" rIns="0" tIns="0" bIns="0">
            <a:noAutofit/>
          </a:bodyPr>
          <a:lstStyle/>
          <a:p>
            <a:pPr algn="l">
              <a:lnSpc>
                <a:spcPts val="97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LiveBench (2024), math — public questions.</a:t>
            </a:r>
          </a:p>
        </p:txBody>
      </p:sp>
      <p:sp>
        <p:nvSpPr>
          <p:cNvPr id="7" name="source-url"/>
          <p:cNvSpPr txBox="1"/>
          <p:nvPr/>
        </p:nvSpPr>
        <p:spPr>
          <a:xfrm>
            <a:off x="502920" y="4850892"/>
            <a:ext cx="8183879" cy="201168"/>
          </a:xfrm>
          <a:prstGeom prst="rect">
            <a:avLst/>
          </a:prstGeom>
          <a:noFill/>
        </p:spPr>
        <p:txBody>
          <a:bodyPr wrap="square" lIns="0" rIns="0" tIns="0" bIns="0">
            <a:noAutofit/>
          </a:bodyPr>
          <a:lstStyle/>
          <a:p>
            <a:pPr algn="l">
              <a:lnSpc>
                <a:spcPts val="97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https://huggingface.co/datasets/livebench/math</a:t>
            </a:r>
          </a:p>
        </p:txBody>
      </p:sp>
      <p:sp>
        <p:nvSpPr>
          <p:cNvPr id="8" name="TextBox 7"/>
          <p:cNvSpPr txBox="1"/>
          <p:nvPr/>
        </p:nvSpPr>
        <p:spPr>
          <a:xfrm>
            <a:off x="594360" y="3178937"/>
            <a:ext cx="7955279" cy="587946"/>
          </a:xfrm>
          <a:prstGeom prst="rect">
            <a:avLst/>
          </a:prstGeom>
          <a:noFill/>
        </p:spPr>
        <p:txBody>
          <a:bodyPr wrap="square" lIns="0" rIns="0" tIns="0" bIns="0">
            <a:noAutofit/>
          </a:bodyPr>
          <a:lstStyle/>
          <a:p>
            <a:pPr algn="l">
              <a:lnSpc>
                <a:spcPts val="2429"/>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正解：C（出力はCCCCC）</a:t>
            </a:r>
          </a:p>
        </p:txBody>
      </p:sp>
      <p:sp>
        <p:nvSpPr>
          <p:cNvPr id="9" name="TextBox 8"/>
          <p:cNvSpPr txBox="1"/>
          <p:nvPr/>
        </p:nvSpPr>
        <p:spPr>
          <a:xfrm>
            <a:off x="594360" y="3684651"/>
            <a:ext cx="7955279" cy="796035"/>
          </a:xfrm>
          <a:prstGeom prst="rect">
            <a:avLst/>
          </a:prstGeom>
          <a:noFill/>
        </p:spPr>
        <p:txBody>
          <a:bodyPr wrap="square" lIns="0" rIns="0" tIns="0" bIns="0">
            <a:noAutofit/>
          </a:bodyPr>
          <a:lstStyle/>
          <a:p>
            <a:pPr algn="l">
              <a:lnSpc>
                <a:spcPts val="2033"/>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分母は2+0+2+3=7、2023÷7=289、√289=17である。正解の記号はCだが、要求される出力はCを五つ並べたCCCCCとなる。</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例7 正方形を対角線で切る：原文</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公開問題の追加例</a:t>
            </a:r>
          </a:p>
        </p:txBody>
      </p:sp>
      <p:sp>
        <p:nvSpPr>
          <p:cNvPr id="4" name="TextBox 3"/>
          <p:cNvSpPr txBox="1"/>
          <p:nvPr/>
        </p:nvSpPr>
        <p:spPr>
          <a:xfrm>
            <a:off x="548640" y="1353312"/>
            <a:ext cx="8046720" cy="246507"/>
          </a:xfrm>
          <a:prstGeom prst="rect">
            <a:avLst/>
          </a:prstGeom>
          <a:noFill/>
        </p:spPr>
        <p:txBody>
          <a:bodyPr wrap="square" lIns="0" rIns="0" tIns="0" bIns="0">
            <a:noAutofit/>
          </a:bodyPr>
          <a:lstStyle/>
          <a:p>
            <a:pPr algn="l">
              <a:lnSpc>
                <a:spcPts val="1380"/>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問題の原文（全文）</a:t>
            </a:r>
          </a:p>
        </p:txBody>
      </p:sp>
      <p:sp>
        <p:nvSpPr>
          <p:cNvPr id="5" name="original-frame"/>
          <p:cNvSpPr/>
          <p:nvPr/>
        </p:nvSpPr>
        <p:spPr>
          <a:xfrm>
            <a:off x="548640" y="1609344"/>
            <a:ext cx="8046720" cy="122174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88900" bIns="127000">
            <a:noAutofit/>
          </a:bodyPr>
          <a:lstStyle/>
          <a:p>
            <a:pPr algn="l">
              <a:lnSpc>
                <a:spcPts val="1980"/>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Suppose I have a physical, solid square with vertices ABCD, and I make two cuts through AC and BD. How many pieces are there after the cuts?  Think step by step, and then put your answer in **bold** as a single integer (for example, **0**). If you don't know, guess.</a:t>
            </a:r>
          </a:p>
        </p:txBody>
      </p:sp>
      <p:sp>
        <p:nvSpPr>
          <p:cNvPr id="6" name="source-bib"/>
          <p:cNvSpPr txBox="1"/>
          <p:nvPr/>
        </p:nvSpPr>
        <p:spPr>
          <a:xfrm>
            <a:off x="502920" y="4718304"/>
            <a:ext cx="8183879" cy="181736"/>
          </a:xfrm>
          <a:prstGeom prst="rect">
            <a:avLst/>
          </a:prstGeom>
          <a:noFill/>
        </p:spPr>
        <p:txBody>
          <a:bodyPr wrap="square" lIns="0" rIns="0" tIns="0" bIns="0">
            <a:noAutofit/>
          </a:bodyPr>
          <a:lstStyle/>
          <a:p>
            <a:pPr algn="l">
              <a:lnSpc>
                <a:spcPts val="97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LiveBench (2024), reasoning — public questions.</a:t>
            </a:r>
          </a:p>
        </p:txBody>
      </p:sp>
      <p:sp>
        <p:nvSpPr>
          <p:cNvPr id="7" name="source-url"/>
          <p:cNvSpPr txBox="1"/>
          <p:nvPr/>
        </p:nvSpPr>
        <p:spPr>
          <a:xfrm>
            <a:off x="502920" y="4850892"/>
            <a:ext cx="8183879" cy="201168"/>
          </a:xfrm>
          <a:prstGeom prst="rect">
            <a:avLst/>
          </a:prstGeom>
          <a:noFill/>
        </p:spPr>
        <p:txBody>
          <a:bodyPr wrap="square" lIns="0" rIns="0" tIns="0" bIns="0">
            <a:noAutofit/>
          </a:bodyPr>
          <a:lstStyle/>
          <a:p>
            <a:pPr algn="l">
              <a:lnSpc>
                <a:spcPts val="97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https://huggingface.co/datasets/livebench/reasoning</a:t>
            </a:r>
          </a:p>
        </p:txBody>
      </p:sp>
      <p:sp>
        <p:nvSpPr>
          <p:cNvPr id="8" name="TextBox 7"/>
          <p:cNvSpPr txBox="1"/>
          <p:nvPr/>
        </p:nvSpPr>
        <p:spPr>
          <a:xfrm>
            <a:off x="594360" y="2949956"/>
            <a:ext cx="7955279" cy="1032827"/>
          </a:xfrm>
          <a:prstGeom prst="rect">
            <a:avLst/>
          </a:prstGeom>
          <a:noFill/>
        </p:spPr>
        <p:txBody>
          <a:bodyPr wrap="square" lIns="0" rIns="0" tIns="0" bIns="0">
            <a:noAutofit/>
          </a:bodyPr>
          <a:lstStyle/>
          <a:p>
            <a:pPr algn="l">
              <a:lnSpc>
                <a:spcPts val="197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頂点をABCDとする正方形の板がある。対角線ACとBDに沿って二回切ると、何個の断片になるか。順を追って考え、答えを一つの整数として太字で示す（例：**0**）。分からない場合は推測する。</a:t>
            </a:r>
          </a:p>
        </p:txBody>
      </p:sp>
      <p:sp>
        <p:nvSpPr>
          <p:cNvPr id="9" name="TextBox 8"/>
          <p:cNvSpPr txBox="1"/>
          <p:nvPr/>
        </p:nvSpPr>
        <p:spPr>
          <a:xfrm>
            <a:off x="594360" y="3825621"/>
            <a:ext cx="7955279" cy="587946"/>
          </a:xfrm>
          <a:prstGeom prst="rect">
            <a:avLst/>
          </a:prstGeom>
          <a:noFill/>
        </p:spPr>
        <p:txBody>
          <a:bodyPr wrap="square" lIns="0" rIns="0" tIns="0" bIns="0">
            <a:noAutofit/>
          </a:bodyPr>
          <a:lstStyle/>
          <a:p>
            <a:pPr algn="l">
              <a:lnSpc>
                <a:spcPts val="2429"/>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正解：4</a:t>
            </a:r>
          </a:p>
        </p:txBody>
      </p:sp>
      <p:sp>
        <p:nvSpPr>
          <p:cNvPr id="10" name="TextBox 9"/>
          <p:cNvSpPr txBox="1"/>
          <p:nvPr/>
        </p:nvSpPr>
        <p:spPr>
          <a:xfrm>
            <a:off x="594360" y="4312983"/>
            <a:ext cx="7955279" cy="537718"/>
          </a:xfrm>
          <a:prstGeom prst="rect">
            <a:avLst/>
          </a:prstGeom>
          <a:noFill/>
        </p:spPr>
        <p:txBody>
          <a:bodyPr wrap="square" lIns="0" rIns="0" tIns="0" bIns="0">
            <a:noAutofit/>
          </a:bodyPr>
          <a:lstStyle/>
          <a:p>
            <a:pPr algn="l">
              <a:lnSpc>
                <a:spcPts val="2033"/>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二本の対角線が中心で交わり、四つの三角形ができる。</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例8 発言の真偽をたどる：原文</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公開問題の追加例</a:t>
            </a:r>
          </a:p>
        </p:txBody>
      </p:sp>
      <p:sp>
        <p:nvSpPr>
          <p:cNvPr id="4" name="TextBox 3"/>
          <p:cNvSpPr txBox="1"/>
          <p:nvPr/>
        </p:nvSpPr>
        <p:spPr>
          <a:xfrm>
            <a:off x="365760" y="1307592"/>
            <a:ext cx="8412480" cy="227457"/>
          </a:xfrm>
          <a:prstGeom prst="rect">
            <a:avLst/>
          </a:prstGeom>
          <a:noFill/>
        </p:spPr>
        <p:txBody>
          <a:bodyPr wrap="square" lIns="0" rIns="0" tIns="0" bIns="0">
            <a:noAutofit/>
          </a:bodyPr>
          <a:lstStyle/>
          <a:p>
            <a:pPr algn="l">
              <a:lnSpc>
                <a:spcPts val="126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問題の原文（全文）</a:t>
            </a:r>
          </a:p>
        </p:txBody>
      </p:sp>
      <p:sp>
        <p:nvSpPr>
          <p:cNvPr id="5" name="original-frame"/>
          <p:cNvSpPr/>
          <p:nvPr/>
        </p:nvSpPr>
        <p:spPr>
          <a:xfrm>
            <a:off x="365760" y="1490472"/>
            <a:ext cx="8412480" cy="32385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88900" bIns="127000">
            <a:noAutofit/>
          </a:bodyPr>
          <a:lstStyle/>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In this question, assume each person either always tells the truth or always lies. Ayaan is at the gym. Beatriz is at the museum. The person at the farm saw a firetruck. Mateo is at the barbershop. The person at the gym tells the truth. The person at the barbershop lies. The person at the restaurant thinks their neighbor is telling the truth. Kehinde is at the farm. The person at the museum says the person at the ice skating rink tells the truth. The person at the farm thinks their neighbor is telling the truth. The person at the museum says the person at the restaurant tells the truth. The person at the farm says the person at the gym tells the truth. Jaxon is at the ice skating rink. The person at the restaurant says the person at the farm tells the truth. Hiroshi is at the restaurant. Does the person at the museum tell the truth? Does the person at the restaurant tell the truth? Does the person at the farm tell the truth? Think step by step, and then put your answer in **bold** as a list of three words, yes or no (for example, **yes, no, yes**). If you don't know, guess.</a:t>
            </a:r>
          </a:p>
        </p:txBody>
      </p:sp>
      <p:sp>
        <p:nvSpPr>
          <p:cNvPr id="6" name="source-bib"/>
          <p:cNvSpPr txBox="1"/>
          <p:nvPr/>
        </p:nvSpPr>
        <p:spPr>
          <a:xfrm>
            <a:off x="502920" y="4718304"/>
            <a:ext cx="8183879" cy="181736"/>
          </a:xfrm>
          <a:prstGeom prst="rect">
            <a:avLst/>
          </a:prstGeom>
          <a:noFill/>
        </p:spPr>
        <p:txBody>
          <a:bodyPr wrap="square" lIns="0" rIns="0" tIns="0" bIns="0">
            <a:noAutofit/>
          </a:bodyPr>
          <a:lstStyle/>
          <a:p>
            <a:pPr algn="l">
              <a:lnSpc>
                <a:spcPts val="97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LiveBench (2024), reasoning — public questions.</a:t>
            </a:r>
          </a:p>
        </p:txBody>
      </p:sp>
      <p:sp>
        <p:nvSpPr>
          <p:cNvPr id="7" name="source-url"/>
          <p:cNvSpPr txBox="1"/>
          <p:nvPr/>
        </p:nvSpPr>
        <p:spPr>
          <a:xfrm>
            <a:off x="502920" y="4850892"/>
            <a:ext cx="8183879" cy="201168"/>
          </a:xfrm>
          <a:prstGeom prst="rect">
            <a:avLst/>
          </a:prstGeom>
          <a:noFill/>
        </p:spPr>
        <p:txBody>
          <a:bodyPr wrap="square" lIns="0" rIns="0" tIns="0" bIns="0">
            <a:noAutofit/>
          </a:bodyPr>
          <a:lstStyle/>
          <a:p>
            <a:pPr algn="l">
              <a:lnSpc>
                <a:spcPts val="97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https://huggingface.co/datasets/livebench/reasoning</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例8 発言の真偽をたどる：日本語訳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公開問題の追加例</a:t>
            </a:r>
          </a:p>
        </p:txBody>
      </p:sp>
      <p:sp>
        <p:nvSpPr>
          <p:cNvPr id="4" name="TextBox 3"/>
          <p:cNvSpPr txBox="1"/>
          <p:nvPr/>
        </p:nvSpPr>
        <p:spPr>
          <a:xfrm>
            <a:off x="548640" y="1344168"/>
            <a:ext cx="8046720" cy="246507"/>
          </a:xfrm>
          <a:prstGeom prst="rect">
            <a:avLst/>
          </a:prstGeom>
          <a:noFill/>
        </p:spPr>
        <p:txBody>
          <a:bodyPr wrap="square" lIns="0" rIns="0" tIns="0" bIns="0">
            <a:noAutofit/>
          </a:bodyPr>
          <a:lstStyle/>
          <a:p>
            <a:pPr algn="l">
              <a:lnSpc>
                <a:spcPts val="1380"/>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問題の日本語訳</a:t>
            </a:r>
          </a:p>
        </p:txBody>
      </p:sp>
      <p:sp>
        <p:nvSpPr>
          <p:cNvPr id="5" name="TextBox 4"/>
          <p:cNvSpPr txBox="1"/>
          <p:nvPr/>
        </p:nvSpPr>
        <p:spPr>
          <a:xfrm>
            <a:off x="594360" y="1618488"/>
            <a:ext cx="7955279" cy="3207004"/>
          </a:xfrm>
          <a:prstGeom prst="rect">
            <a:avLst/>
          </a:prstGeom>
          <a:noFill/>
        </p:spPr>
        <p:txBody>
          <a:bodyPr wrap="square" lIns="0" rIns="0" tIns="0" bIns="0">
            <a:noAutofit/>
          </a:bodyPr>
          <a:lstStyle/>
          <a:p>
            <a:pPr algn="l">
              <a:lnSpc>
                <a:spcPts val="192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各人は、常に真実を話すか、常にうそをつくかのどちらかだとする。Ayaanはジムにいる。Beatrizは博物館にいる。農場にいる人は消防車を見た。Mateoは理髪店にいる。ジムにいる人は真実を話す。理髪店にいる人はうそをつく。レストランにいる人は、隣人が真実を話していると思っている。Kehindeは農場にいる。博物館にいる人は、スケートリンクにいる人は真実を話すと言う。農場にいる人は、隣人が真実を話していると思っている。博物館にいる人は、レストランにいる人は真実を話すと言う。農場にいる人は、ジムにいる人は真実を話すと言う。Jaxonはスケートリンクにいる。レストランにいる人は、農場にいる人は真実を話すと言う。Hiroshiはレストランにいる。</a:t>
            </a:r>
          </a:p>
          <a:p>
            <a:pPr algn="l">
              <a:lnSpc>
                <a:spcPts val="192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博物館にいる人は真実を話すか。レストランにいる人は真実を話すか。農場にいる人は真実を話すか。順を追って考え、yesまたはnoを三つ並べ、太字で答える（例：**yes, no, yes**）。分からない場合は推測する。</a:t>
            </a:r>
          </a:p>
        </p:txBody>
      </p:sp>
      <p:sp>
        <p:nvSpPr>
          <p:cNvPr id="6" name="source-bib"/>
          <p:cNvSpPr txBox="1"/>
          <p:nvPr/>
        </p:nvSpPr>
        <p:spPr>
          <a:xfrm>
            <a:off x="502920" y="4718304"/>
            <a:ext cx="8183879" cy="181736"/>
          </a:xfrm>
          <a:prstGeom prst="rect">
            <a:avLst/>
          </a:prstGeom>
          <a:noFill/>
        </p:spPr>
        <p:txBody>
          <a:bodyPr wrap="square" lIns="0" rIns="0" tIns="0" bIns="0">
            <a:noAutofit/>
          </a:bodyPr>
          <a:lstStyle/>
          <a:p>
            <a:pPr algn="l">
              <a:lnSpc>
                <a:spcPts val="97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LiveBench (2024), reasoning — public questions.</a:t>
            </a:r>
          </a:p>
        </p:txBody>
      </p:sp>
      <p:sp>
        <p:nvSpPr>
          <p:cNvPr id="7" name="source-url"/>
          <p:cNvSpPr txBox="1"/>
          <p:nvPr/>
        </p:nvSpPr>
        <p:spPr>
          <a:xfrm>
            <a:off x="502920" y="4850892"/>
            <a:ext cx="8183879" cy="201168"/>
          </a:xfrm>
          <a:prstGeom prst="rect">
            <a:avLst/>
          </a:prstGeom>
          <a:noFill/>
        </p:spPr>
        <p:txBody>
          <a:bodyPr wrap="square" lIns="0" rIns="0" tIns="0" bIns="0">
            <a:noAutofit/>
          </a:bodyPr>
          <a:lstStyle/>
          <a:p>
            <a:pPr algn="l">
              <a:lnSpc>
                <a:spcPts val="97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https://huggingface.co/datasets/livebench/reasoning</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例8 発言の真偽をたどる：答えの読み方</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公開問題の追加例</a:t>
            </a:r>
          </a:p>
        </p:txBody>
      </p:sp>
      <p:sp>
        <p:nvSpPr>
          <p:cNvPr id="4" name="TextBox 3"/>
          <p:cNvSpPr txBox="1"/>
          <p:nvPr/>
        </p:nvSpPr>
        <p:spPr>
          <a:xfrm>
            <a:off x="594360" y="1609344"/>
            <a:ext cx="7955279" cy="587946"/>
          </a:xfrm>
          <a:prstGeom prst="rect">
            <a:avLst/>
          </a:prstGeom>
          <a:noFill/>
        </p:spPr>
        <p:txBody>
          <a:bodyPr wrap="square" lIns="0" rIns="0" tIns="0" bIns="0">
            <a:noAutofit/>
          </a:bodyPr>
          <a:lstStyle/>
          <a:p>
            <a:pPr algn="l">
              <a:lnSpc>
                <a:spcPts val="2429"/>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正解：yes, yes, yes</a:t>
            </a:r>
          </a:p>
        </p:txBody>
      </p:sp>
      <p:sp>
        <p:nvSpPr>
          <p:cNvPr id="5" name="TextBox 4"/>
          <p:cNvSpPr txBox="1"/>
          <p:nvPr/>
        </p:nvSpPr>
        <p:spPr>
          <a:xfrm>
            <a:off x="594360" y="2151570"/>
            <a:ext cx="7955279" cy="1484883"/>
          </a:xfrm>
          <a:prstGeom prst="rect">
            <a:avLst/>
          </a:prstGeom>
          <a:noFill/>
        </p:spPr>
        <p:txBody>
          <a:bodyPr wrap="square" lIns="0" rIns="0" tIns="0" bIns="0">
            <a:noAutofit/>
          </a:bodyPr>
          <a:lstStyle/>
          <a:p>
            <a:pPr algn="l">
              <a:lnSpc>
                <a:spcPts val="2372"/>
              </a:lnSpc>
              <a:spcBef>
                <a:spcPts val="0"/>
              </a:spcBef>
              <a:spcAft>
                <a:spcPts val="0"/>
              </a:spcAft>
              <a:buNone/>
              <a:defRPr sz="2100" b="0">
                <a:solidFill>
                  <a:srgbClr val="303437"/>
                </a:solidFill>
                <a:latin typeface="Noto Sans"/>
              </a:defRPr>
            </a:pPr>
            <a:r>
              <a:rPr sz="2100" b="0" lang="ja-JP" altLang="en-US">
                <a:solidFill>
                  <a:srgbClr val="303437"/>
                </a:solidFill>
                <a:latin typeface="Noto Sans"/>
                <a:ea typeface="Noto Sans CJK JP"/>
                <a:cs typeface="Noto Sans"/>
              </a:rPr>
              <a:t>農場の人は、真実を話すジムの人について正しい発言をしているため、真実を話す人だと分かる。同じように、農場の人について話すレストランの人、レストランの人について話す博物館の人も、真実を話す人だと分かる。</a:t>
            </a:r>
          </a:p>
        </p:txBody>
      </p:sp>
      <p:sp>
        <p:nvSpPr>
          <p:cNvPr id="6" name="source-bib"/>
          <p:cNvSpPr txBox="1"/>
          <p:nvPr/>
        </p:nvSpPr>
        <p:spPr>
          <a:xfrm>
            <a:off x="502920" y="4718304"/>
            <a:ext cx="8183879" cy="181736"/>
          </a:xfrm>
          <a:prstGeom prst="rect">
            <a:avLst/>
          </a:prstGeom>
          <a:noFill/>
        </p:spPr>
        <p:txBody>
          <a:bodyPr wrap="square" lIns="0" rIns="0" tIns="0" bIns="0">
            <a:noAutofit/>
          </a:bodyPr>
          <a:lstStyle/>
          <a:p>
            <a:pPr algn="l">
              <a:lnSpc>
                <a:spcPts val="97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LiveBench (2024), reasoning — public questions.</a:t>
            </a:r>
          </a:p>
        </p:txBody>
      </p:sp>
      <p:sp>
        <p:nvSpPr>
          <p:cNvPr id="7" name="source-url"/>
          <p:cNvSpPr txBox="1"/>
          <p:nvPr/>
        </p:nvSpPr>
        <p:spPr>
          <a:xfrm>
            <a:off x="502920" y="4850892"/>
            <a:ext cx="8183879" cy="201168"/>
          </a:xfrm>
          <a:prstGeom prst="rect">
            <a:avLst/>
          </a:prstGeom>
          <a:noFill/>
        </p:spPr>
        <p:txBody>
          <a:bodyPr wrap="square" lIns="0" rIns="0" tIns="0" bIns="0">
            <a:noAutofit/>
          </a:bodyPr>
          <a:lstStyle/>
          <a:p>
            <a:pPr algn="l">
              <a:lnSpc>
                <a:spcPts val="97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https://huggingface.co/datasets/livebench/reasoning</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例9 八つの語を二組に分ける：原文</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公開問題の追加例</a:t>
            </a:r>
          </a:p>
        </p:txBody>
      </p:sp>
      <p:sp>
        <p:nvSpPr>
          <p:cNvPr id="4" name="TextBox 3"/>
          <p:cNvSpPr txBox="1"/>
          <p:nvPr/>
        </p:nvSpPr>
        <p:spPr>
          <a:xfrm>
            <a:off x="548640" y="1353312"/>
            <a:ext cx="8046720" cy="246507"/>
          </a:xfrm>
          <a:prstGeom prst="rect">
            <a:avLst/>
          </a:prstGeom>
          <a:noFill/>
        </p:spPr>
        <p:txBody>
          <a:bodyPr wrap="square" lIns="0" rIns="0" tIns="0" bIns="0">
            <a:noAutofit/>
          </a:bodyPr>
          <a:lstStyle/>
          <a:p>
            <a:pPr algn="l">
              <a:lnSpc>
                <a:spcPts val="1380"/>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問題の原文（全文）</a:t>
            </a:r>
          </a:p>
        </p:txBody>
      </p:sp>
      <p:sp>
        <p:nvSpPr>
          <p:cNvPr id="5" name="original-frame"/>
          <p:cNvSpPr/>
          <p:nvPr/>
        </p:nvSpPr>
        <p:spPr>
          <a:xfrm>
            <a:off x="548640" y="1609344"/>
            <a:ext cx="8046720" cy="2905125"/>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88900" bIns="127000">
            <a:noAutofit/>
          </a:bodyPr>
          <a:lstStyle/>
          <a:p>
            <a:pPr algn="l">
              <a:lnSpc>
                <a:spcPts val="1925"/>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You are given 8 words/phrases below. Find two groups of four items that share something in common. Here are a few examples of groups: bass, flounder, salmon, trout (all four are fish); ant, drill, island, opal (all four are two-word phrases that start with 'fire'); are, why, bee, queue (all four are homophones of letters); sea, sister, sin, wonder (all four are members of a septet). Categories will be more specific than e.g., '5-letter-words', 'names', or 'verbs'. There is exactly one solution. Think step-by-step, and then give your answer in **bold** as a list of the 8 items separated by commas, ordered by group (for example, **bass, founder, salmon, trout, ant, drill, island, opal**). If you don't know the answer, make your best guess. The items are: push, sack, hair, raid, loot, bobby, safety, rob.</a:t>
            </a:r>
          </a:p>
        </p:txBody>
      </p:sp>
      <p:sp>
        <p:nvSpPr>
          <p:cNvPr id="6" name="source-bib"/>
          <p:cNvSpPr txBox="1"/>
          <p:nvPr/>
        </p:nvSpPr>
        <p:spPr>
          <a:xfrm>
            <a:off x="502920" y="4718304"/>
            <a:ext cx="8183879" cy="181736"/>
          </a:xfrm>
          <a:prstGeom prst="rect">
            <a:avLst/>
          </a:prstGeom>
          <a:noFill/>
        </p:spPr>
        <p:txBody>
          <a:bodyPr wrap="square" lIns="0" rIns="0" tIns="0" bIns="0">
            <a:noAutofit/>
          </a:bodyPr>
          <a:lstStyle/>
          <a:p>
            <a:pPr algn="l">
              <a:lnSpc>
                <a:spcPts val="97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LiveBench (2024), language — public questions.</a:t>
            </a:r>
          </a:p>
        </p:txBody>
      </p:sp>
      <p:sp>
        <p:nvSpPr>
          <p:cNvPr id="7" name="source-url"/>
          <p:cNvSpPr txBox="1"/>
          <p:nvPr/>
        </p:nvSpPr>
        <p:spPr>
          <a:xfrm>
            <a:off x="502920" y="4850892"/>
            <a:ext cx="8183879" cy="201168"/>
          </a:xfrm>
          <a:prstGeom prst="rect">
            <a:avLst/>
          </a:prstGeom>
          <a:noFill/>
        </p:spPr>
        <p:txBody>
          <a:bodyPr wrap="square" lIns="0" rIns="0" tIns="0" bIns="0">
            <a:noAutofit/>
          </a:bodyPr>
          <a:lstStyle/>
          <a:p>
            <a:pPr algn="l">
              <a:lnSpc>
                <a:spcPts val="97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https://huggingface.co/datasets/livebench/language</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例9 八つの語を二組に分ける：日本語訳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公開問題の追加例</a:t>
            </a:r>
          </a:p>
        </p:txBody>
      </p:sp>
      <p:sp>
        <p:nvSpPr>
          <p:cNvPr id="4" name="TextBox 3"/>
          <p:cNvSpPr txBox="1"/>
          <p:nvPr/>
        </p:nvSpPr>
        <p:spPr>
          <a:xfrm>
            <a:off x="548640" y="1344168"/>
            <a:ext cx="8046720" cy="246507"/>
          </a:xfrm>
          <a:prstGeom prst="rect">
            <a:avLst/>
          </a:prstGeom>
          <a:noFill/>
        </p:spPr>
        <p:txBody>
          <a:bodyPr wrap="square" lIns="0" rIns="0" tIns="0" bIns="0">
            <a:noAutofit/>
          </a:bodyPr>
          <a:lstStyle/>
          <a:p>
            <a:pPr algn="l">
              <a:lnSpc>
                <a:spcPts val="1380"/>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問題の日本語訳</a:t>
            </a:r>
          </a:p>
        </p:txBody>
      </p:sp>
      <p:sp>
        <p:nvSpPr>
          <p:cNvPr id="5" name="TextBox 4"/>
          <p:cNvSpPr txBox="1"/>
          <p:nvPr/>
        </p:nvSpPr>
        <p:spPr>
          <a:xfrm>
            <a:off x="594360" y="1618488"/>
            <a:ext cx="7955279" cy="3278758"/>
          </a:xfrm>
          <a:prstGeom prst="rect">
            <a:avLst/>
          </a:prstGeom>
          <a:noFill/>
        </p:spPr>
        <p:txBody>
          <a:bodyPr wrap="square" lIns="0" rIns="0" tIns="0" bIns="0">
            <a:noAutofit/>
          </a:bodyPr>
          <a:lstStyle/>
          <a:p>
            <a:pPr algn="l">
              <a:lnSpc>
                <a:spcPts val="2147"/>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次の八つの語句を、共通点を持つ四語ずつの二組に分ける。例として、bass・flounder・salmon・troutは魚、ant・drill・island・opalは前にfireを付けると二語の表現になる。are・why・bee・queueはアルファベットの文字名と同じ発音で、sea・sister・sin・wonderは、七つの海・七姉妹・七つの大罪・七不思議のように、七つで一組になるものを指す。「5文字の語」「名前」「動詞」といった分類より具体的な共通点を探す。解は一つだけである。</a:t>
            </a:r>
          </a:p>
          <a:p>
            <a:pPr algn="l">
              <a:lnSpc>
                <a:spcPts val="2147"/>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順を追って考え、八つの語を組ごとに並べ、カンマで区切って太字で答える。指定された例は **bass, founder, salmon, trout, ant, drill, island, opal**。分からない場合は最もよいと思う答えを選ぶ。</a:t>
            </a:r>
          </a:p>
          <a:p>
            <a:pPr algn="l">
              <a:lnSpc>
                <a:spcPts val="2147"/>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対象の語：push, sack, hair, raid, loot, bobby, safety, rob。</a:t>
            </a:r>
          </a:p>
        </p:txBody>
      </p:sp>
      <p:sp>
        <p:nvSpPr>
          <p:cNvPr id="6" name="source-bib"/>
          <p:cNvSpPr txBox="1"/>
          <p:nvPr/>
        </p:nvSpPr>
        <p:spPr>
          <a:xfrm>
            <a:off x="502920" y="4718304"/>
            <a:ext cx="8183879" cy="181736"/>
          </a:xfrm>
          <a:prstGeom prst="rect">
            <a:avLst/>
          </a:prstGeom>
          <a:noFill/>
        </p:spPr>
        <p:txBody>
          <a:bodyPr wrap="square" lIns="0" rIns="0" tIns="0" bIns="0">
            <a:noAutofit/>
          </a:bodyPr>
          <a:lstStyle/>
          <a:p>
            <a:pPr algn="l">
              <a:lnSpc>
                <a:spcPts val="97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LiveBench (2024), language — public questions.</a:t>
            </a:r>
          </a:p>
        </p:txBody>
      </p:sp>
      <p:sp>
        <p:nvSpPr>
          <p:cNvPr id="7" name="source-url"/>
          <p:cNvSpPr txBox="1"/>
          <p:nvPr/>
        </p:nvSpPr>
        <p:spPr>
          <a:xfrm>
            <a:off x="502920" y="4850892"/>
            <a:ext cx="8183879" cy="201168"/>
          </a:xfrm>
          <a:prstGeom prst="rect">
            <a:avLst/>
          </a:prstGeom>
          <a:noFill/>
        </p:spPr>
        <p:txBody>
          <a:bodyPr wrap="square" lIns="0" rIns="0" tIns="0" bIns="0">
            <a:noAutofit/>
          </a:bodyPr>
          <a:lstStyle/>
          <a:p>
            <a:pPr algn="l">
              <a:lnSpc>
                <a:spcPts val="97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https://huggingface.co/datasets/livebench/language</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例9 八つの語を二組に分ける：答えの読み方</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公開問題の追加例</a:t>
            </a:r>
          </a:p>
        </p:txBody>
      </p:sp>
      <p:sp>
        <p:nvSpPr>
          <p:cNvPr id="4" name="TextBox 3"/>
          <p:cNvSpPr txBox="1"/>
          <p:nvPr/>
        </p:nvSpPr>
        <p:spPr>
          <a:xfrm>
            <a:off x="594360" y="1609344"/>
            <a:ext cx="7955279" cy="896493"/>
          </a:xfrm>
          <a:prstGeom prst="rect">
            <a:avLst/>
          </a:prstGeom>
          <a:noFill/>
        </p:spPr>
        <p:txBody>
          <a:bodyPr wrap="square" lIns="0" rIns="0" tIns="0" bIns="0">
            <a:noAutofit/>
          </a:bodyPr>
          <a:lstStyle/>
          <a:p>
            <a:pPr algn="l">
              <a:lnSpc>
                <a:spcPts val="2429"/>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正解：loot, raid, rob, sack,</a:t>
            </a:r>
          </a:p>
          <a:p>
            <a:pPr algn="l">
              <a:lnSpc>
                <a:spcPts val="2429"/>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bobby, hair, push, safety</a:t>
            </a:r>
          </a:p>
        </p:txBody>
      </p:sp>
      <p:sp>
        <p:nvSpPr>
          <p:cNvPr id="5" name="TextBox 4"/>
          <p:cNvSpPr txBox="1"/>
          <p:nvPr/>
        </p:nvSpPr>
        <p:spPr>
          <a:xfrm>
            <a:off x="594360" y="2460117"/>
            <a:ext cx="7955279" cy="1484883"/>
          </a:xfrm>
          <a:prstGeom prst="rect">
            <a:avLst/>
          </a:prstGeom>
          <a:noFill/>
        </p:spPr>
        <p:txBody>
          <a:bodyPr wrap="square" lIns="0" rIns="0" tIns="0" bIns="0">
            <a:noAutofit/>
          </a:bodyPr>
          <a:lstStyle/>
          <a:p>
            <a:pPr algn="l">
              <a:lnSpc>
                <a:spcPts val="2372"/>
              </a:lnSpc>
              <a:spcBef>
                <a:spcPts val="0"/>
              </a:spcBef>
              <a:spcAft>
                <a:spcPts val="0"/>
              </a:spcAft>
              <a:buNone/>
              <a:defRPr sz="2100" b="0">
                <a:solidFill>
                  <a:srgbClr val="303437"/>
                </a:solidFill>
                <a:latin typeface="Noto Sans"/>
              </a:defRPr>
            </a:pPr>
            <a:r>
              <a:rPr sz="2100" b="0" lang="ja-JP" altLang="en-US">
                <a:solidFill>
                  <a:srgbClr val="303437"/>
                </a:solidFill>
                <a:latin typeface="Noto Sans"/>
                <a:ea typeface="Noto Sans CJK JP"/>
                <a:cs typeface="Noto Sans"/>
              </a:rPr>
              <a:t>loot・raid・rob・sackは略奪に関係する動詞。bobby・hair・push・safetyは後ろにpinを付けると、bobby pin・hairpin・pushpin・safety pinになる。語の意味だけでなく、別の語を補った共通点も扱う。</a:t>
            </a:r>
          </a:p>
        </p:txBody>
      </p:sp>
      <p:sp>
        <p:nvSpPr>
          <p:cNvPr id="6" name="source-bib"/>
          <p:cNvSpPr txBox="1"/>
          <p:nvPr/>
        </p:nvSpPr>
        <p:spPr>
          <a:xfrm>
            <a:off x="502920" y="4718304"/>
            <a:ext cx="8183879" cy="181736"/>
          </a:xfrm>
          <a:prstGeom prst="rect">
            <a:avLst/>
          </a:prstGeom>
          <a:noFill/>
        </p:spPr>
        <p:txBody>
          <a:bodyPr wrap="square" lIns="0" rIns="0" tIns="0" bIns="0">
            <a:noAutofit/>
          </a:bodyPr>
          <a:lstStyle/>
          <a:p>
            <a:pPr algn="l">
              <a:lnSpc>
                <a:spcPts val="97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LiveBench (2024), language — public questions.</a:t>
            </a:r>
          </a:p>
        </p:txBody>
      </p:sp>
      <p:sp>
        <p:nvSpPr>
          <p:cNvPr id="7" name="source-url"/>
          <p:cNvSpPr txBox="1"/>
          <p:nvPr/>
        </p:nvSpPr>
        <p:spPr>
          <a:xfrm>
            <a:off x="502920" y="4850892"/>
            <a:ext cx="8183879" cy="201168"/>
          </a:xfrm>
          <a:prstGeom prst="rect">
            <a:avLst/>
          </a:prstGeom>
          <a:noFill/>
        </p:spPr>
        <p:txBody>
          <a:bodyPr wrap="square" lIns="0" rIns="0" tIns="0" bIns="0">
            <a:noAutofit/>
          </a:bodyPr>
          <a:lstStyle/>
          <a:p>
            <a:pPr algn="l">
              <a:lnSpc>
                <a:spcPts val="97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https://huggingface.co/datasets/livebench/language</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例10 誤字だけを訂正する：原文</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公開問題の追加例</a:t>
            </a:r>
          </a:p>
        </p:txBody>
      </p:sp>
      <p:sp>
        <p:nvSpPr>
          <p:cNvPr id="4" name="TextBox 3"/>
          <p:cNvSpPr txBox="1"/>
          <p:nvPr/>
        </p:nvSpPr>
        <p:spPr>
          <a:xfrm>
            <a:off x="548640" y="1353312"/>
            <a:ext cx="8046720" cy="246507"/>
          </a:xfrm>
          <a:prstGeom prst="rect">
            <a:avLst/>
          </a:prstGeom>
          <a:noFill/>
        </p:spPr>
        <p:txBody>
          <a:bodyPr wrap="square" lIns="0" rIns="0" tIns="0" bIns="0">
            <a:noAutofit/>
          </a:bodyPr>
          <a:lstStyle/>
          <a:p>
            <a:pPr algn="l">
              <a:lnSpc>
                <a:spcPts val="1380"/>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問題の原文（全文）</a:t>
            </a:r>
          </a:p>
        </p:txBody>
      </p:sp>
      <p:sp>
        <p:nvSpPr>
          <p:cNvPr id="5" name="original-frame"/>
          <p:cNvSpPr/>
          <p:nvPr/>
        </p:nvSpPr>
        <p:spPr>
          <a:xfrm>
            <a:off x="548640" y="1609344"/>
            <a:ext cx="8046720" cy="197612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88900" bIns="127000">
            <a:noAutofit/>
          </a:bodyPr>
          <a:lstStyle/>
          <a:p>
            <a:pPr algn="l">
              <a:lnSpc>
                <a:spcPts val="1980"/>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Please output this exact text, with no changes at all except for fixing the misspellings. Please leave all other stylistic decisions like commas and US vs British spellings as in the original text.</a:t>
            </a:r>
          </a:p>
          <a:p>
            <a:pPr algn="l">
              <a:lnSpc>
                <a:spcPts val="1980"/>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In this artice, we establish nessecary anbd sufficient condidtions for a polynomial of degree $n$ to have exactly $n$ real roots. A complete study of polynomials of degree five is carried out. The results are compared with ethose obtained useing Sturm sequences.</a:t>
            </a:r>
          </a:p>
        </p:txBody>
      </p:sp>
      <p:sp>
        <p:nvSpPr>
          <p:cNvPr id="6" name="source-bib"/>
          <p:cNvSpPr txBox="1"/>
          <p:nvPr/>
        </p:nvSpPr>
        <p:spPr>
          <a:xfrm>
            <a:off x="502920" y="4718304"/>
            <a:ext cx="8183879" cy="181736"/>
          </a:xfrm>
          <a:prstGeom prst="rect">
            <a:avLst/>
          </a:prstGeom>
          <a:noFill/>
        </p:spPr>
        <p:txBody>
          <a:bodyPr wrap="square" lIns="0" rIns="0" tIns="0" bIns="0">
            <a:noAutofit/>
          </a:bodyPr>
          <a:lstStyle/>
          <a:p>
            <a:pPr algn="l">
              <a:lnSpc>
                <a:spcPts val="97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LiveBench (2024), language — public questions.</a:t>
            </a:r>
          </a:p>
        </p:txBody>
      </p:sp>
      <p:sp>
        <p:nvSpPr>
          <p:cNvPr id="7" name="source-url"/>
          <p:cNvSpPr txBox="1"/>
          <p:nvPr/>
        </p:nvSpPr>
        <p:spPr>
          <a:xfrm>
            <a:off x="502920" y="4850892"/>
            <a:ext cx="8183879" cy="201168"/>
          </a:xfrm>
          <a:prstGeom prst="rect">
            <a:avLst/>
          </a:prstGeom>
          <a:noFill/>
        </p:spPr>
        <p:txBody>
          <a:bodyPr wrap="square" lIns="0" rIns="0" tIns="0" bIns="0">
            <a:noAutofit/>
          </a:bodyPr>
          <a:lstStyle/>
          <a:p>
            <a:pPr algn="l">
              <a:lnSpc>
                <a:spcPts val="97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https://huggingface.co/datasets/livebench/language</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例10 誤字だけを訂正する：日本語訳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公開問題の追加例</a:t>
            </a:r>
          </a:p>
        </p:txBody>
      </p:sp>
      <p:sp>
        <p:nvSpPr>
          <p:cNvPr id="4" name="TextBox 3"/>
          <p:cNvSpPr txBox="1"/>
          <p:nvPr/>
        </p:nvSpPr>
        <p:spPr>
          <a:xfrm>
            <a:off x="548640" y="1344168"/>
            <a:ext cx="8046720" cy="246507"/>
          </a:xfrm>
          <a:prstGeom prst="rect">
            <a:avLst/>
          </a:prstGeom>
          <a:noFill/>
        </p:spPr>
        <p:txBody>
          <a:bodyPr wrap="square" lIns="0" rIns="0" tIns="0" bIns="0">
            <a:noAutofit/>
          </a:bodyPr>
          <a:lstStyle/>
          <a:p>
            <a:pPr algn="l">
              <a:lnSpc>
                <a:spcPts val="1380"/>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依頼の日本語訳と本文の意味</a:t>
            </a:r>
          </a:p>
        </p:txBody>
      </p:sp>
      <p:sp>
        <p:nvSpPr>
          <p:cNvPr id="5" name="TextBox 4"/>
          <p:cNvSpPr txBox="1"/>
          <p:nvPr/>
        </p:nvSpPr>
        <p:spPr>
          <a:xfrm>
            <a:off x="594360" y="1618488"/>
            <a:ext cx="7955279" cy="1915413"/>
          </a:xfrm>
          <a:prstGeom prst="rect">
            <a:avLst/>
          </a:prstGeom>
          <a:noFill/>
        </p:spPr>
        <p:txBody>
          <a:bodyPr wrap="square" lIns="0" rIns="0" tIns="0" bIns="0">
            <a:noAutofit/>
          </a:bodyPr>
          <a:lstStyle/>
          <a:p>
            <a:pPr algn="l">
              <a:lnSpc>
                <a:spcPts val="2147"/>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誤ったつづりだけを直し、それ以外は一切変えずに、次の文章をそのまま出力する。カンマや米国式・英国式のつづりなど、ほかの文体上の選択は原文どおりにする。</a:t>
            </a:r>
          </a:p>
          <a:p>
            <a:pPr algn="l">
              <a:lnSpc>
                <a:spcPts val="2147"/>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文章の意味：次数nの多項式がちょうどn個の実根を持つための必要十分条件を示す。5次多項式を詳しく調べ、その結果をSturm列による結果と比較する。</a:t>
            </a:r>
          </a:p>
        </p:txBody>
      </p:sp>
      <p:sp>
        <p:nvSpPr>
          <p:cNvPr id="6" name="source-bib"/>
          <p:cNvSpPr txBox="1"/>
          <p:nvPr/>
        </p:nvSpPr>
        <p:spPr>
          <a:xfrm>
            <a:off x="502920" y="4718304"/>
            <a:ext cx="8183879" cy="181736"/>
          </a:xfrm>
          <a:prstGeom prst="rect">
            <a:avLst/>
          </a:prstGeom>
          <a:noFill/>
        </p:spPr>
        <p:txBody>
          <a:bodyPr wrap="square" lIns="0" rIns="0" tIns="0" bIns="0">
            <a:noAutofit/>
          </a:bodyPr>
          <a:lstStyle/>
          <a:p>
            <a:pPr algn="l">
              <a:lnSpc>
                <a:spcPts val="97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LiveBench (2024), language — public questions.</a:t>
            </a:r>
          </a:p>
        </p:txBody>
      </p:sp>
      <p:sp>
        <p:nvSpPr>
          <p:cNvPr id="7" name="source-url"/>
          <p:cNvSpPr txBox="1"/>
          <p:nvPr/>
        </p:nvSpPr>
        <p:spPr>
          <a:xfrm>
            <a:off x="502920" y="4850892"/>
            <a:ext cx="8183879" cy="201168"/>
          </a:xfrm>
          <a:prstGeom prst="rect">
            <a:avLst/>
          </a:prstGeom>
          <a:noFill/>
        </p:spPr>
        <p:txBody>
          <a:bodyPr wrap="square" lIns="0" rIns="0" tIns="0" bIns="0">
            <a:noAutofit/>
          </a:bodyPr>
          <a:lstStyle/>
          <a:p>
            <a:pPr algn="l">
              <a:lnSpc>
                <a:spcPts val="97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https://huggingface.co/datasets/livebench/language</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例10 誤字だけを訂正する：答えの読み方</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公開問題の追加例</a:t>
            </a:r>
          </a:p>
        </p:txBody>
      </p:sp>
      <p:sp>
        <p:nvSpPr>
          <p:cNvPr id="4" name="TextBox 3"/>
          <p:cNvSpPr txBox="1"/>
          <p:nvPr/>
        </p:nvSpPr>
        <p:spPr>
          <a:xfrm>
            <a:off x="594360" y="1609344"/>
            <a:ext cx="7955279" cy="1822132"/>
          </a:xfrm>
          <a:prstGeom prst="rect">
            <a:avLst/>
          </a:prstGeom>
          <a:noFill/>
        </p:spPr>
        <p:txBody>
          <a:bodyPr wrap="square" lIns="0" rIns="0" tIns="0" bIns="0">
            <a:noAutofit/>
          </a:bodyPr>
          <a:lstStyle/>
          <a:p>
            <a:pPr algn="l">
              <a:lnSpc>
                <a:spcPts val="2429"/>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正解：In this article, we establish necessary and sufficient conditions for a polynomial of degree $n$ to have exactly $n$ real roots. A complete study of polynomials of degree five is carried out. The results are compared with those obtained using Sturm sequences.</a:t>
            </a:r>
          </a:p>
        </p:txBody>
      </p:sp>
      <p:sp>
        <p:nvSpPr>
          <p:cNvPr id="5" name="TextBox 4"/>
          <p:cNvSpPr txBox="1"/>
          <p:nvPr/>
        </p:nvSpPr>
        <p:spPr>
          <a:xfrm>
            <a:off x="594360" y="3376612"/>
            <a:ext cx="7955279" cy="1054354"/>
          </a:xfrm>
          <a:prstGeom prst="rect">
            <a:avLst/>
          </a:prstGeom>
          <a:noFill/>
        </p:spPr>
        <p:txBody>
          <a:bodyPr wrap="square" lIns="0" rIns="0" tIns="0" bIns="0">
            <a:noAutofit/>
          </a:bodyPr>
          <a:lstStyle/>
          <a:p>
            <a:pPr algn="l">
              <a:lnSpc>
                <a:spcPts val="2033"/>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直すのはartice→article、nessecary→necessary、anbd→and、condidtions→conditions、ethose→those、useing→usingの六か所。内容を書き換える校正ではなく、つづりの誤りだけを直す。</a:t>
            </a:r>
          </a:p>
        </p:txBody>
      </p:sp>
      <p:sp>
        <p:nvSpPr>
          <p:cNvPr id="6" name="source-bib"/>
          <p:cNvSpPr txBox="1"/>
          <p:nvPr/>
        </p:nvSpPr>
        <p:spPr>
          <a:xfrm>
            <a:off x="502920" y="4718304"/>
            <a:ext cx="8183879" cy="181736"/>
          </a:xfrm>
          <a:prstGeom prst="rect">
            <a:avLst/>
          </a:prstGeom>
          <a:noFill/>
        </p:spPr>
        <p:txBody>
          <a:bodyPr wrap="square" lIns="0" rIns="0" tIns="0" bIns="0">
            <a:noAutofit/>
          </a:bodyPr>
          <a:lstStyle/>
          <a:p>
            <a:pPr algn="l">
              <a:lnSpc>
                <a:spcPts val="97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LiveBench (2024), language — public questions.</a:t>
            </a:r>
          </a:p>
        </p:txBody>
      </p:sp>
      <p:sp>
        <p:nvSpPr>
          <p:cNvPr id="7" name="source-url"/>
          <p:cNvSpPr txBox="1"/>
          <p:nvPr/>
        </p:nvSpPr>
        <p:spPr>
          <a:xfrm>
            <a:off x="502920" y="4850892"/>
            <a:ext cx="8183879" cy="201168"/>
          </a:xfrm>
          <a:prstGeom prst="rect">
            <a:avLst/>
          </a:prstGeom>
          <a:noFill/>
        </p:spPr>
        <p:txBody>
          <a:bodyPr wrap="square" lIns="0" rIns="0" tIns="0" bIns="0">
            <a:noAutofit/>
          </a:bodyPr>
          <a:lstStyle/>
          <a:p>
            <a:pPr algn="l">
              <a:lnSpc>
                <a:spcPts val="97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https://huggingface.co/datasets/livebench/language</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例11 少量とお買い得を表す語を探す：原文</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公開問題の追加例</a:t>
            </a:r>
          </a:p>
        </p:txBody>
      </p:sp>
      <p:sp>
        <p:nvSpPr>
          <p:cNvPr id="4" name="TextBox 3"/>
          <p:cNvSpPr txBox="1"/>
          <p:nvPr/>
        </p:nvSpPr>
        <p:spPr>
          <a:xfrm>
            <a:off x="548640" y="1353312"/>
            <a:ext cx="8046720" cy="246507"/>
          </a:xfrm>
          <a:prstGeom prst="rect">
            <a:avLst/>
          </a:prstGeom>
          <a:noFill/>
        </p:spPr>
        <p:txBody>
          <a:bodyPr wrap="square" lIns="0" rIns="0" tIns="0" bIns="0">
            <a:noAutofit/>
          </a:bodyPr>
          <a:lstStyle/>
          <a:p>
            <a:pPr algn="l">
              <a:lnSpc>
                <a:spcPts val="1380"/>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問題の原文（全文）</a:t>
            </a:r>
          </a:p>
        </p:txBody>
      </p:sp>
      <p:sp>
        <p:nvSpPr>
          <p:cNvPr id="5" name="original-frame"/>
          <p:cNvSpPr/>
          <p:nvPr/>
        </p:nvSpPr>
        <p:spPr>
          <a:xfrm>
            <a:off x="548640" y="1609344"/>
            <a:ext cx="8046720" cy="2905125"/>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88900" bIns="127000">
            <a:noAutofit/>
          </a:bodyPr>
          <a:lstStyle/>
          <a:p>
            <a:pPr algn="l">
              <a:lnSpc>
                <a:spcPts val="1925"/>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You are given 8 words/phrases below. Find two groups of four items that share something in common. Here are a few examples of groups: bass, flounder, salmon, trout (all four are fish); ant, drill, island, opal (all four are two-word phrases that start with 'fire'); are, why, bee, queue (all four are homophones of letters); sea, sister, sin, wonder (all four are members of a septet). Categories will be more specific than e.g., '5-letter-words', 'names', or 'verbs'. There is exactly one solution. Think step-by-step, and then give your answer in **bold** as a list of the 8 items separated by commas, ordered by group (for example, **bass, founder, salmon, trout, ant, drill, island, opal**). If you don't know the answer, make your best guess. The items are: value, touch, bit, steal, deal, pinch, dash, buy.</a:t>
            </a:r>
          </a:p>
        </p:txBody>
      </p:sp>
      <p:sp>
        <p:nvSpPr>
          <p:cNvPr id="6" name="source-bib"/>
          <p:cNvSpPr txBox="1"/>
          <p:nvPr/>
        </p:nvSpPr>
        <p:spPr>
          <a:xfrm>
            <a:off x="502920" y="4718304"/>
            <a:ext cx="8183879" cy="181736"/>
          </a:xfrm>
          <a:prstGeom prst="rect">
            <a:avLst/>
          </a:prstGeom>
          <a:noFill/>
        </p:spPr>
        <p:txBody>
          <a:bodyPr wrap="square" lIns="0" rIns="0" tIns="0" bIns="0">
            <a:noAutofit/>
          </a:bodyPr>
          <a:lstStyle/>
          <a:p>
            <a:pPr algn="l">
              <a:lnSpc>
                <a:spcPts val="97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LiveBench (2024), language — public questions.</a:t>
            </a:r>
          </a:p>
        </p:txBody>
      </p:sp>
      <p:sp>
        <p:nvSpPr>
          <p:cNvPr id="7" name="source-url"/>
          <p:cNvSpPr txBox="1"/>
          <p:nvPr/>
        </p:nvSpPr>
        <p:spPr>
          <a:xfrm>
            <a:off x="502920" y="4850892"/>
            <a:ext cx="8183879" cy="201168"/>
          </a:xfrm>
          <a:prstGeom prst="rect">
            <a:avLst/>
          </a:prstGeom>
          <a:noFill/>
        </p:spPr>
        <p:txBody>
          <a:bodyPr wrap="square" lIns="0" rIns="0" tIns="0" bIns="0">
            <a:noAutofit/>
          </a:bodyPr>
          <a:lstStyle/>
          <a:p>
            <a:pPr algn="l">
              <a:lnSpc>
                <a:spcPts val="97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https://huggingface.co/datasets/livebench/language</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例11 少量とお買い得を表す語を探す：日本語訳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公開問題の追加例</a:t>
            </a:r>
          </a:p>
        </p:txBody>
      </p:sp>
      <p:sp>
        <p:nvSpPr>
          <p:cNvPr id="4" name="TextBox 3"/>
          <p:cNvSpPr txBox="1"/>
          <p:nvPr/>
        </p:nvSpPr>
        <p:spPr>
          <a:xfrm>
            <a:off x="548640" y="1344168"/>
            <a:ext cx="8046720" cy="246507"/>
          </a:xfrm>
          <a:prstGeom prst="rect">
            <a:avLst/>
          </a:prstGeom>
          <a:noFill/>
        </p:spPr>
        <p:txBody>
          <a:bodyPr wrap="square" lIns="0" rIns="0" tIns="0" bIns="0">
            <a:noAutofit/>
          </a:bodyPr>
          <a:lstStyle/>
          <a:p>
            <a:pPr algn="l">
              <a:lnSpc>
                <a:spcPts val="1380"/>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問題の日本語訳</a:t>
            </a:r>
          </a:p>
        </p:txBody>
      </p:sp>
      <p:sp>
        <p:nvSpPr>
          <p:cNvPr id="5" name="TextBox 4"/>
          <p:cNvSpPr txBox="1"/>
          <p:nvPr/>
        </p:nvSpPr>
        <p:spPr>
          <a:xfrm>
            <a:off x="594360" y="1618488"/>
            <a:ext cx="7955279" cy="3278758"/>
          </a:xfrm>
          <a:prstGeom prst="rect">
            <a:avLst/>
          </a:prstGeom>
          <a:noFill/>
        </p:spPr>
        <p:txBody>
          <a:bodyPr wrap="square" lIns="0" rIns="0" tIns="0" bIns="0">
            <a:noAutofit/>
          </a:bodyPr>
          <a:lstStyle/>
          <a:p>
            <a:pPr algn="l">
              <a:lnSpc>
                <a:spcPts val="2147"/>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次の八つの語句を、共通点を持つ四語ずつの二組に分ける。例として、bass・flounder・salmon・troutは魚、ant・drill・island・opalは前にfireを付けると二語の表現になる。are・why・bee・queueはアルファベットの文字名と同じ発音で、sea・sister・sin・wonderは、七つの海・七姉妹・七つの大罪・七不思議のように、七つで一組になるものを指す。「5文字の語」「名前」「動詞」といった分類より具体的な共通点を探す。解は一つだけである。</a:t>
            </a:r>
          </a:p>
          <a:p>
            <a:pPr algn="l">
              <a:lnSpc>
                <a:spcPts val="2147"/>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順を追って考え、八つの語を組ごとに並べ、カンマで区切って太字で答える。指定された例は **bass, founder, salmon, trout, ant, drill, island, opal**。分からない場合は最もよいと思う答えを選ぶ。</a:t>
            </a:r>
          </a:p>
          <a:p>
            <a:pPr algn="l">
              <a:lnSpc>
                <a:spcPts val="2147"/>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対象の語：value, touch, bit, steal, deal, pinch, dash, buy。</a:t>
            </a:r>
          </a:p>
        </p:txBody>
      </p:sp>
      <p:sp>
        <p:nvSpPr>
          <p:cNvPr id="6" name="source-bib"/>
          <p:cNvSpPr txBox="1"/>
          <p:nvPr/>
        </p:nvSpPr>
        <p:spPr>
          <a:xfrm>
            <a:off x="502920" y="4718304"/>
            <a:ext cx="8183879" cy="181736"/>
          </a:xfrm>
          <a:prstGeom prst="rect">
            <a:avLst/>
          </a:prstGeom>
          <a:noFill/>
        </p:spPr>
        <p:txBody>
          <a:bodyPr wrap="square" lIns="0" rIns="0" tIns="0" bIns="0">
            <a:noAutofit/>
          </a:bodyPr>
          <a:lstStyle/>
          <a:p>
            <a:pPr algn="l">
              <a:lnSpc>
                <a:spcPts val="97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LiveBench (2024), language — public questions.</a:t>
            </a:r>
          </a:p>
        </p:txBody>
      </p:sp>
      <p:sp>
        <p:nvSpPr>
          <p:cNvPr id="7" name="source-url"/>
          <p:cNvSpPr txBox="1"/>
          <p:nvPr/>
        </p:nvSpPr>
        <p:spPr>
          <a:xfrm>
            <a:off x="502920" y="4850892"/>
            <a:ext cx="8183879" cy="201168"/>
          </a:xfrm>
          <a:prstGeom prst="rect">
            <a:avLst/>
          </a:prstGeom>
          <a:noFill/>
        </p:spPr>
        <p:txBody>
          <a:bodyPr wrap="square" lIns="0" rIns="0" tIns="0" bIns="0">
            <a:noAutofit/>
          </a:bodyPr>
          <a:lstStyle/>
          <a:p>
            <a:pPr algn="l">
              <a:lnSpc>
                <a:spcPts val="97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https://huggingface.co/datasets/livebench/language</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700" b="0">
                <a:solidFill>
                  <a:srgbClr val="303437"/>
                </a:solidFill>
                <a:latin typeface="Noto Sans"/>
              </a:defRPr>
            </a:pPr>
            <a:r>
              <a:rPr sz="2700" b="1" lang="ja-JP" altLang="en-US">
                <a:solidFill>
                  <a:srgbClr val="303437"/>
                </a:solidFill>
                <a:latin typeface="Noto Sans"/>
                <a:ea typeface="Noto Sans CJK JP"/>
                <a:cs typeface="Noto Sans"/>
              </a:rPr>
              <a:t>例11 少量とお買い得を表す語を探す：答えの読み方</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公開問題の追加例</a:t>
            </a:r>
          </a:p>
        </p:txBody>
      </p:sp>
      <p:sp>
        <p:nvSpPr>
          <p:cNvPr id="4" name="TextBox 3"/>
          <p:cNvSpPr txBox="1"/>
          <p:nvPr/>
        </p:nvSpPr>
        <p:spPr>
          <a:xfrm>
            <a:off x="594360" y="1609344"/>
            <a:ext cx="7955279" cy="896493"/>
          </a:xfrm>
          <a:prstGeom prst="rect">
            <a:avLst/>
          </a:prstGeom>
          <a:noFill/>
        </p:spPr>
        <p:txBody>
          <a:bodyPr wrap="square" lIns="0" rIns="0" tIns="0" bIns="0">
            <a:noAutofit/>
          </a:bodyPr>
          <a:lstStyle/>
          <a:p>
            <a:pPr algn="l">
              <a:lnSpc>
                <a:spcPts val="2429"/>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正解：bit, dash, pinch, touch,</a:t>
            </a:r>
          </a:p>
          <a:p>
            <a:pPr algn="l">
              <a:lnSpc>
                <a:spcPts val="2429"/>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buy, deal, steal, value</a:t>
            </a:r>
          </a:p>
        </p:txBody>
      </p:sp>
      <p:sp>
        <p:nvSpPr>
          <p:cNvPr id="5" name="TextBox 4"/>
          <p:cNvSpPr txBox="1"/>
          <p:nvPr/>
        </p:nvSpPr>
        <p:spPr>
          <a:xfrm>
            <a:off x="594360" y="2460117"/>
            <a:ext cx="7955279" cy="1183513"/>
          </a:xfrm>
          <a:prstGeom prst="rect">
            <a:avLst/>
          </a:prstGeom>
          <a:noFill/>
        </p:spPr>
        <p:txBody>
          <a:bodyPr wrap="square" lIns="0" rIns="0" tIns="0" bIns="0">
            <a:noAutofit/>
          </a:bodyPr>
          <a:lstStyle/>
          <a:p>
            <a:pPr algn="l">
              <a:lnSpc>
                <a:spcPts val="2372"/>
              </a:lnSpc>
              <a:spcBef>
                <a:spcPts val="0"/>
              </a:spcBef>
              <a:spcAft>
                <a:spcPts val="0"/>
              </a:spcAft>
              <a:buNone/>
              <a:defRPr sz="2100" b="0">
                <a:solidFill>
                  <a:srgbClr val="303437"/>
                </a:solidFill>
                <a:latin typeface="Noto Sans"/>
              </a:defRPr>
            </a:pPr>
            <a:r>
              <a:rPr sz="2100" b="0" lang="ja-JP" altLang="en-US">
                <a:solidFill>
                  <a:srgbClr val="303437"/>
                </a:solidFill>
                <a:latin typeface="Noto Sans"/>
                <a:ea typeface="Noto Sans CJK JP"/>
                <a:cs typeface="Noto Sans"/>
              </a:rPr>
              <a:t>bit・dash・pinch・touchはいずれも少量を表す。buy・deal・steal・valueは、お買い得な商品や有利な取引を表す文脈で使われる。stealには「盗む」だけでなく「格安品」という意味もある。</a:t>
            </a:r>
          </a:p>
        </p:txBody>
      </p:sp>
      <p:sp>
        <p:nvSpPr>
          <p:cNvPr id="6" name="source-bib"/>
          <p:cNvSpPr txBox="1"/>
          <p:nvPr/>
        </p:nvSpPr>
        <p:spPr>
          <a:xfrm>
            <a:off x="502920" y="4718304"/>
            <a:ext cx="8183879" cy="181736"/>
          </a:xfrm>
          <a:prstGeom prst="rect">
            <a:avLst/>
          </a:prstGeom>
          <a:noFill/>
        </p:spPr>
        <p:txBody>
          <a:bodyPr wrap="square" lIns="0" rIns="0" tIns="0" bIns="0">
            <a:noAutofit/>
          </a:bodyPr>
          <a:lstStyle/>
          <a:p>
            <a:pPr algn="l">
              <a:lnSpc>
                <a:spcPts val="97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LiveBench (2024), language — public questions.</a:t>
            </a:r>
          </a:p>
        </p:txBody>
      </p:sp>
      <p:sp>
        <p:nvSpPr>
          <p:cNvPr id="7" name="source-url"/>
          <p:cNvSpPr txBox="1"/>
          <p:nvPr/>
        </p:nvSpPr>
        <p:spPr>
          <a:xfrm>
            <a:off x="502920" y="4850892"/>
            <a:ext cx="8183879" cy="201168"/>
          </a:xfrm>
          <a:prstGeom prst="rect">
            <a:avLst/>
          </a:prstGeom>
          <a:noFill/>
        </p:spPr>
        <p:txBody>
          <a:bodyPr wrap="square" lIns="0" rIns="0" tIns="0" bIns="0">
            <a:noAutofit/>
          </a:bodyPr>
          <a:lstStyle/>
          <a:p>
            <a:pPr algn="l">
              <a:lnSpc>
                <a:spcPts val="97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https://huggingface.co/datasets/livebench/language</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例12 TSV表をCSV表へ変換する：原文</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公開問題の追加例</a:t>
            </a:r>
          </a:p>
        </p:txBody>
      </p:sp>
      <p:sp>
        <p:nvSpPr>
          <p:cNvPr id="4" name="TextBox 3"/>
          <p:cNvSpPr txBox="1"/>
          <p:nvPr/>
        </p:nvSpPr>
        <p:spPr>
          <a:xfrm>
            <a:off x="548640" y="1307592"/>
            <a:ext cx="8046720" cy="227457"/>
          </a:xfrm>
          <a:prstGeom prst="rect">
            <a:avLst/>
          </a:prstGeom>
          <a:noFill/>
        </p:spPr>
        <p:txBody>
          <a:bodyPr wrap="square" lIns="0" rIns="0" tIns="0" bIns="0">
            <a:noAutofit/>
          </a:bodyPr>
          <a:lstStyle/>
          <a:p>
            <a:pPr algn="l">
              <a:lnSpc>
                <a:spcPts val="126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Input Table:（全14行、左から右へ続く。タブは空白で表示）</a:t>
            </a:r>
          </a:p>
        </p:txBody>
      </p:sp>
      <p:sp>
        <p:nvSpPr>
          <p:cNvPr id="5" name="original-frame"/>
          <p:cNvSpPr/>
          <p:nvPr/>
        </p:nvSpPr>
        <p:spPr>
          <a:xfrm>
            <a:off x="548640" y="1536192"/>
            <a:ext cx="8046720" cy="70485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88900" bIns="127000">
            <a:noAutofit/>
          </a:bodyPr>
          <a:lstStyle/>
          <a:p>
            <a:pPr algn="l">
              <a:lnSpc>
                <a:spcPts val="1925"/>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Please convert the Input Table from TSV format to CSV format. Please respond only with the table.</a:t>
            </a:r>
          </a:p>
        </p:txBody>
      </p:sp>
      <p:sp>
        <p:nvSpPr>
          <p:cNvPr id="6" name="original-frame"/>
          <p:cNvSpPr/>
          <p:nvPr/>
        </p:nvSpPr>
        <p:spPr>
          <a:xfrm>
            <a:off x="548640" y="2332482"/>
            <a:ext cx="3977639" cy="1977644"/>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88900" bIns="127000">
            <a:noAutofit/>
          </a:bodyPr>
          <a:lstStyle/>
          <a:p>
            <a:pPr algn="l">
              <a:lnSpc>
                <a:spcPts val="1734"/>
              </a:lnSpc>
              <a:spcBef>
                <a:spcPts val="0"/>
              </a:spcBef>
              <a:spcAft>
                <a:spcPts val="0"/>
              </a:spcAft>
              <a:buNone/>
              <a:defRPr sz="1700" b="0">
                <a:solidFill>
                  <a:srgbClr val="303437"/>
                </a:solidFill>
                <a:latin typeface="Noto Sans"/>
              </a:defRPr>
            </a:pPr>
            <a:r>
              <a:rPr sz="1700" b="0" lang="ja-JP" altLang="en-US">
                <a:solidFill>
                  <a:srgbClr val="303437"/>
                </a:solidFill>
                <a:latin typeface="Liberation Mono"/>
                <a:ea typeface="Noto Sans CJK JP"/>
                <a:cs typeface="Liberation Mono"/>
              </a:rPr>
              <a:t>species  quantity</a:t>
            </a:r>
          </a:p>
          <a:p>
            <a:pPr algn="l">
              <a:lnSpc>
                <a:spcPts val="1734"/>
              </a:lnSpc>
              <a:spcBef>
                <a:spcPts val="0"/>
              </a:spcBef>
              <a:spcAft>
                <a:spcPts val="0"/>
              </a:spcAft>
              <a:buNone/>
              <a:defRPr sz="1700" b="0">
                <a:solidFill>
                  <a:srgbClr val="303437"/>
                </a:solidFill>
                <a:latin typeface="Noto Sans"/>
              </a:defRPr>
            </a:pPr>
            <a:r>
              <a:rPr sz="1700" b="0" lang="ja-JP" altLang="en-US">
                <a:solidFill>
                  <a:srgbClr val="303437"/>
                </a:solidFill>
                <a:latin typeface="Liberation Mono"/>
                <a:ea typeface="Noto Sans CJK JP"/>
                <a:cs typeface="Liberation Mono"/>
              </a:rPr>
              <a:t>LAKE TROUT  2931</a:t>
            </a:r>
          </a:p>
          <a:p>
            <a:pPr algn="l">
              <a:lnSpc>
                <a:spcPts val="1734"/>
              </a:lnSpc>
              <a:spcBef>
                <a:spcPts val="0"/>
              </a:spcBef>
              <a:spcAft>
                <a:spcPts val="0"/>
              </a:spcAft>
              <a:buNone/>
              <a:defRPr sz="1700" b="0">
                <a:solidFill>
                  <a:srgbClr val="303437"/>
                </a:solidFill>
                <a:latin typeface="Noto Sans"/>
              </a:defRPr>
            </a:pPr>
            <a:r>
              <a:rPr sz="1700" b="0" lang="ja-JP" altLang="en-US">
                <a:solidFill>
                  <a:srgbClr val="303437"/>
                </a:solidFill>
                <a:latin typeface="Liberation Mono"/>
                <a:ea typeface="Noto Sans CJK JP"/>
                <a:cs typeface="Liberation Mono"/>
              </a:rPr>
              <a:t>KOKANEE  716220</a:t>
            </a:r>
          </a:p>
          <a:p>
            <a:pPr algn="l">
              <a:lnSpc>
                <a:spcPts val="1734"/>
              </a:lnSpc>
              <a:spcBef>
                <a:spcPts val="0"/>
              </a:spcBef>
              <a:spcAft>
                <a:spcPts val="0"/>
              </a:spcAft>
              <a:buNone/>
              <a:defRPr sz="1700" b="0">
                <a:solidFill>
                  <a:srgbClr val="303437"/>
                </a:solidFill>
                <a:latin typeface="Noto Sans"/>
              </a:defRPr>
            </a:pPr>
            <a:r>
              <a:rPr sz="1700" b="0" lang="ja-JP" altLang="en-US">
                <a:solidFill>
                  <a:srgbClr val="303437"/>
                </a:solidFill>
                <a:latin typeface="Liberation Mono"/>
                <a:ea typeface="Noto Sans CJK JP"/>
                <a:cs typeface="Liberation Mono"/>
              </a:rPr>
              <a:t>GRAYLING ARCTIC  84211</a:t>
            </a:r>
          </a:p>
          <a:p>
            <a:pPr algn="l">
              <a:lnSpc>
                <a:spcPts val="1734"/>
              </a:lnSpc>
              <a:spcBef>
                <a:spcPts val="0"/>
              </a:spcBef>
              <a:spcAft>
                <a:spcPts val="0"/>
              </a:spcAft>
              <a:buNone/>
              <a:defRPr sz="1700" b="0">
                <a:solidFill>
                  <a:srgbClr val="303437"/>
                </a:solidFill>
                <a:latin typeface="Noto Sans"/>
              </a:defRPr>
            </a:pPr>
            <a:r>
              <a:rPr sz="1700" b="0" lang="ja-JP" altLang="en-US">
                <a:solidFill>
                  <a:srgbClr val="303437"/>
                </a:solidFill>
                <a:latin typeface="Liberation Mono"/>
                <a:ea typeface="Noto Sans CJK JP"/>
                <a:cs typeface="Liberation Mono"/>
              </a:rPr>
              <a:t>SUNFISH BLUEGILL  47840</a:t>
            </a:r>
          </a:p>
          <a:p>
            <a:pPr algn="l">
              <a:lnSpc>
                <a:spcPts val="1734"/>
              </a:lnSpc>
              <a:spcBef>
                <a:spcPts val="0"/>
              </a:spcBef>
              <a:spcAft>
                <a:spcPts val="0"/>
              </a:spcAft>
              <a:buNone/>
              <a:defRPr sz="1700" b="0">
                <a:solidFill>
                  <a:srgbClr val="303437"/>
                </a:solidFill>
                <a:latin typeface="Noto Sans"/>
              </a:defRPr>
            </a:pPr>
            <a:r>
              <a:rPr sz="1700" b="0" lang="ja-JP" altLang="en-US">
                <a:solidFill>
                  <a:srgbClr val="303437"/>
                </a:solidFill>
                <a:latin typeface="Liberation Mono"/>
                <a:ea typeface="Noto Sans CJK JP"/>
                <a:cs typeface="Liberation Mono"/>
              </a:rPr>
              <a:t>WIPER  386460</a:t>
            </a:r>
          </a:p>
          <a:p>
            <a:pPr algn="l">
              <a:lnSpc>
                <a:spcPts val="1734"/>
              </a:lnSpc>
              <a:spcBef>
                <a:spcPts val="0"/>
              </a:spcBef>
              <a:spcAft>
                <a:spcPts val="0"/>
              </a:spcAft>
              <a:buNone/>
              <a:defRPr sz="1700" b="0">
                <a:solidFill>
                  <a:srgbClr val="303437"/>
                </a:solidFill>
                <a:latin typeface="Noto Sans"/>
              </a:defRPr>
            </a:pPr>
            <a:r>
              <a:rPr sz="1700" b="0" lang="ja-JP" altLang="en-US">
                <a:solidFill>
                  <a:srgbClr val="303437"/>
                </a:solidFill>
                <a:latin typeface="Liberation Mono"/>
                <a:ea typeface="Noto Sans CJK JP"/>
                <a:cs typeface="Liberation Mono"/>
              </a:rPr>
              <a:t>SUCKER JUNE  80510</a:t>
            </a:r>
          </a:p>
          <a:p>
            <a:pPr algn="l">
              <a:lnSpc>
                <a:spcPts val="1734"/>
              </a:lnSpc>
              <a:spcBef>
                <a:spcPts val="0"/>
              </a:spcBef>
              <a:spcAft>
                <a:spcPts val="0"/>
              </a:spcAft>
              <a:buNone/>
              <a:defRPr sz="1700" b="0">
                <a:solidFill>
                  <a:srgbClr val="303437"/>
                </a:solidFill>
                <a:latin typeface="Noto Sans"/>
              </a:defRPr>
            </a:pPr>
            <a:r>
              <a:rPr sz="1700" b="0" lang="ja-JP" altLang="en-US">
                <a:solidFill>
                  <a:srgbClr val="303437"/>
                </a:solidFill>
                <a:latin typeface="Liberation Mono"/>
                <a:ea typeface="Noto Sans CJK JP"/>
                <a:cs typeface="Liberation Mono"/>
              </a:rPr>
              <a:t>TIGER TROUT  401119</a:t>
            </a:r>
          </a:p>
        </p:txBody>
      </p:sp>
      <p:sp>
        <p:nvSpPr>
          <p:cNvPr id="7" name="original-frame"/>
          <p:cNvSpPr/>
          <p:nvPr/>
        </p:nvSpPr>
        <p:spPr>
          <a:xfrm>
            <a:off x="4617720" y="2332482"/>
            <a:ext cx="3977639" cy="1977644"/>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88900" bIns="127000">
            <a:noAutofit/>
          </a:bodyPr>
          <a:lstStyle/>
          <a:p>
            <a:pPr algn="l">
              <a:lnSpc>
                <a:spcPts val="1734"/>
              </a:lnSpc>
              <a:spcBef>
                <a:spcPts val="0"/>
              </a:spcBef>
              <a:spcAft>
                <a:spcPts val="0"/>
              </a:spcAft>
              <a:buNone/>
              <a:defRPr sz="1700" b="0">
                <a:solidFill>
                  <a:srgbClr val="303437"/>
                </a:solidFill>
                <a:latin typeface="Noto Sans"/>
              </a:defRPr>
            </a:pPr>
            <a:r>
              <a:rPr sz="1700" b="0" lang="ja-JP" altLang="en-US">
                <a:solidFill>
                  <a:srgbClr val="303437"/>
                </a:solidFill>
                <a:latin typeface="Liberation Mono"/>
                <a:ea typeface="Noto Sans CJK JP"/>
                <a:cs typeface="Liberation Mono"/>
              </a:rPr>
              <a:t>RAINBOW  3904196</a:t>
            </a:r>
          </a:p>
          <a:p>
            <a:pPr algn="l">
              <a:lnSpc>
                <a:spcPts val="1734"/>
              </a:lnSpc>
              <a:spcBef>
                <a:spcPts val="0"/>
              </a:spcBef>
              <a:spcAft>
                <a:spcPts val="0"/>
              </a:spcAft>
              <a:buNone/>
              <a:defRPr sz="1700" b="0">
                <a:solidFill>
                  <a:srgbClr val="303437"/>
                </a:solidFill>
                <a:latin typeface="Noto Sans"/>
              </a:defRPr>
            </a:pPr>
            <a:r>
              <a:rPr sz="1700" b="0" lang="ja-JP" altLang="en-US">
                <a:solidFill>
                  <a:srgbClr val="303437"/>
                </a:solidFill>
                <a:latin typeface="Liberation Mono"/>
                <a:ea typeface="Noto Sans CJK JP"/>
                <a:cs typeface="Liberation Mono"/>
              </a:rPr>
              <a:t>BROOK TROUT  232058</a:t>
            </a:r>
          </a:p>
          <a:p>
            <a:pPr algn="l">
              <a:lnSpc>
                <a:spcPts val="1734"/>
              </a:lnSpc>
              <a:spcBef>
                <a:spcPts val="0"/>
              </a:spcBef>
              <a:spcAft>
                <a:spcPts val="0"/>
              </a:spcAft>
              <a:buNone/>
              <a:defRPr sz="1700" b="0">
                <a:solidFill>
                  <a:srgbClr val="303437"/>
                </a:solidFill>
                <a:latin typeface="Noto Sans"/>
              </a:defRPr>
            </a:pPr>
            <a:r>
              <a:rPr sz="1700" b="0" lang="ja-JP" altLang="en-US">
                <a:solidFill>
                  <a:srgbClr val="303437"/>
                </a:solidFill>
                <a:latin typeface="Liberation Mono"/>
                <a:ea typeface="Noto Sans CJK JP"/>
                <a:cs typeface="Liberation Mono"/>
              </a:rPr>
              <a:t>CUTTHROAT  1506513</a:t>
            </a:r>
          </a:p>
          <a:p>
            <a:pPr algn="l">
              <a:lnSpc>
                <a:spcPts val="1734"/>
              </a:lnSpc>
              <a:spcBef>
                <a:spcPts val="0"/>
              </a:spcBef>
              <a:spcAft>
                <a:spcPts val="0"/>
              </a:spcAft>
              <a:buNone/>
              <a:defRPr sz="1700" b="0">
                <a:solidFill>
                  <a:srgbClr val="303437"/>
                </a:solidFill>
                <a:latin typeface="Noto Sans"/>
              </a:defRPr>
            </a:pPr>
            <a:r>
              <a:rPr sz="1700" b="0" lang="ja-JP" altLang="en-US">
                <a:solidFill>
                  <a:srgbClr val="303437"/>
                </a:solidFill>
                <a:latin typeface="Liberation Mono"/>
                <a:ea typeface="Noto Sans CJK JP"/>
                <a:cs typeface="Liberation Mono"/>
              </a:rPr>
              <a:t>CHUB  34740</a:t>
            </a:r>
          </a:p>
          <a:p>
            <a:pPr algn="l">
              <a:lnSpc>
                <a:spcPts val="1734"/>
              </a:lnSpc>
              <a:spcBef>
                <a:spcPts val="0"/>
              </a:spcBef>
              <a:spcAft>
                <a:spcPts val="0"/>
              </a:spcAft>
              <a:buNone/>
              <a:defRPr sz="1700" b="0">
                <a:solidFill>
                  <a:srgbClr val="303437"/>
                </a:solidFill>
                <a:latin typeface="Noto Sans"/>
              </a:defRPr>
            </a:pPr>
            <a:r>
              <a:rPr sz="1700" b="0" lang="ja-JP" altLang="en-US">
                <a:solidFill>
                  <a:srgbClr val="303437"/>
                </a:solidFill>
                <a:latin typeface="Liberation Mono"/>
                <a:ea typeface="Noto Sans CJK JP"/>
                <a:cs typeface="Liberation Mono"/>
              </a:rPr>
              <a:t>ALL TROUT  1650</a:t>
            </a:r>
          </a:p>
          <a:p>
            <a:pPr algn="l">
              <a:lnSpc>
                <a:spcPts val="1734"/>
              </a:lnSpc>
              <a:spcBef>
                <a:spcPts val="0"/>
              </a:spcBef>
              <a:spcAft>
                <a:spcPts val="0"/>
              </a:spcAft>
              <a:buNone/>
              <a:defRPr sz="1700" b="0">
                <a:solidFill>
                  <a:srgbClr val="303437"/>
                </a:solidFill>
                <a:latin typeface="Noto Sans"/>
              </a:defRPr>
            </a:pPr>
            <a:r>
              <a:rPr sz="1700" b="0" lang="ja-JP" altLang="en-US">
                <a:solidFill>
                  <a:srgbClr val="303437"/>
                </a:solidFill>
                <a:latin typeface="Liberation Mono"/>
                <a:ea typeface="Noto Sans CJK JP"/>
                <a:cs typeface="Liberation Mono"/>
              </a:rPr>
              <a:t>BROWN TROUT  245553</a:t>
            </a:r>
          </a:p>
          <a:p>
            <a:pPr algn="l">
              <a:lnSpc>
                <a:spcPts val="1734"/>
              </a:lnSpc>
              <a:spcBef>
                <a:spcPts val="0"/>
              </a:spcBef>
              <a:spcAft>
                <a:spcPts val="0"/>
              </a:spcAft>
              <a:buNone/>
              <a:defRPr sz="1700" b="0">
                <a:solidFill>
                  <a:srgbClr val="303437"/>
                </a:solidFill>
                <a:latin typeface="Noto Sans"/>
              </a:defRPr>
            </a:pPr>
            <a:r>
              <a:rPr sz="1700" b="0" lang="ja-JP" altLang="en-US">
                <a:solidFill>
                  <a:srgbClr val="303437"/>
                </a:solidFill>
                <a:latin typeface="Liberation Mono"/>
                <a:ea typeface="Noto Sans CJK JP"/>
                <a:cs typeface="Liberation Mono"/>
              </a:rPr>
              <a:t>GOLDEN TROUT  4581</a:t>
            </a:r>
          </a:p>
          <a:p>
            <a:pPr algn="l">
              <a:lnSpc>
                <a:spcPts val="1734"/>
              </a:lnSpc>
              <a:spcBef>
                <a:spcPts val="0"/>
              </a:spcBef>
              <a:spcAft>
                <a:spcPts val="0"/>
              </a:spcAft>
              <a:buNone/>
              <a:defRPr sz="1700" b="0">
                <a:solidFill>
                  <a:srgbClr val="303437"/>
                </a:solidFill>
                <a:latin typeface="Noto Sans"/>
              </a:defRPr>
            </a:pPr>
            <a:r>
              <a:rPr sz="1700" b="0" lang="ja-JP" altLang="en-US">
                <a:solidFill>
                  <a:srgbClr val="303437"/>
                </a:solidFill>
                <a:latin typeface="Liberation Mono"/>
                <a:ea typeface="Noto Sans CJK JP"/>
                <a:cs typeface="Liberation Mono"/>
              </a:rPr>
              <a:t>Output:</a:t>
            </a:r>
          </a:p>
        </p:txBody>
      </p:sp>
      <p:sp>
        <p:nvSpPr>
          <p:cNvPr id="8" name="source-bib"/>
          <p:cNvSpPr txBox="1"/>
          <p:nvPr/>
        </p:nvSpPr>
        <p:spPr>
          <a:xfrm>
            <a:off x="502920" y="4718304"/>
            <a:ext cx="8183879" cy="181736"/>
          </a:xfrm>
          <a:prstGeom prst="rect">
            <a:avLst/>
          </a:prstGeom>
          <a:noFill/>
        </p:spPr>
        <p:txBody>
          <a:bodyPr wrap="square" lIns="0" rIns="0" tIns="0" bIns="0">
            <a:noAutofit/>
          </a:bodyPr>
          <a:lstStyle/>
          <a:p>
            <a:pPr algn="l">
              <a:lnSpc>
                <a:spcPts val="97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LiveBench (2024), data_analysis — public questions.</a:t>
            </a:r>
          </a:p>
        </p:txBody>
      </p:sp>
      <p:sp>
        <p:nvSpPr>
          <p:cNvPr id="9" name="source-url"/>
          <p:cNvSpPr txBox="1"/>
          <p:nvPr/>
        </p:nvSpPr>
        <p:spPr>
          <a:xfrm>
            <a:off x="502920" y="4850892"/>
            <a:ext cx="8183879" cy="201168"/>
          </a:xfrm>
          <a:prstGeom prst="rect">
            <a:avLst/>
          </a:prstGeom>
          <a:noFill/>
        </p:spPr>
        <p:txBody>
          <a:bodyPr wrap="square" lIns="0" rIns="0" tIns="0" bIns="0">
            <a:noAutofit/>
          </a:bodyPr>
          <a:lstStyle/>
          <a:p>
            <a:pPr algn="l">
              <a:lnSpc>
                <a:spcPts val="97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https://huggingface.co/datasets/livebench/data_analysis</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例12 TSV表をCSV表へ変換する：日本語訳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公開問題の追加例</a:t>
            </a:r>
          </a:p>
        </p:txBody>
      </p:sp>
      <p:sp>
        <p:nvSpPr>
          <p:cNvPr id="4" name="TextBox 3"/>
          <p:cNvSpPr txBox="1"/>
          <p:nvPr/>
        </p:nvSpPr>
        <p:spPr>
          <a:xfrm>
            <a:off x="548640" y="1344168"/>
            <a:ext cx="8046720" cy="246507"/>
          </a:xfrm>
          <a:prstGeom prst="rect">
            <a:avLst/>
          </a:prstGeom>
          <a:noFill/>
        </p:spPr>
        <p:txBody>
          <a:bodyPr wrap="square" lIns="0" rIns="0" tIns="0" bIns="0">
            <a:noAutofit/>
          </a:bodyPr>
          <a:lstStyle/>
          <a:p>
            <a:pPr algn="l">
              <a:lnSpc>
                <a:spcPts val="1380"/>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依頼の日本語訳（表の値は原文と共通）</a:t>
            </a:r>
          </a:p>
        </p:txBody>
      </p:sp>
      <p:sp>
        <p:nvSpPr>
          <p:cNvPr id="5" name="TextBox 4"/>
          <p:cNvSpPr txBox="1"/>
          <p:nvPr/>
        </p:nvSpPr>
        <p:spPr>
          <a:xfrm>
            <a:off x="594360" y="1618488"/>
            <a:ext cx="7955279" cy="1097407"/>
          </a:xfrm>
          <a:prstGeom prst="rect">
            <a:avLst/>
          </a:prstGeom>
          <a:noFill/>
        </p:spPr>
        <p:txBody>
          <a:bodyPr wrap="square" lIns="0" rIns="0" tIns="0" bIns="0">
            <a:noAutofit/>
          </a:bodyPr>
          <a:lstStyle/>
          <a:p>
            <a:pPr algn="l">
              <a:lnSpc>
                <a:spcPts val="2147"/>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入力表をTSV形式からCSV形式へ変換する。表だけを返す。</a:t>
            </a:r>
          </a:p>
          <a:p>
            <a:pPr algn="l">
              <a:lnSpc>
                <a:spcPts val="2147"/>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入力表の列名は species と quantity。TSVはタブ、CSVはカンマで列を区切る。種名と数値は原文の全14行を保つ。</a:t>
            </a:r>
          </a:p>
        </p:txBody>
      </p:sp>
      <p:sp>
        <p:nvSpPr>
          <p:cNvPr id="6" name="source-bib"/>
          <p:cNvSpPr txBox="1"/>
          <p:nvPr/>
        </p:nvSpPr>
        <p:spPr>
          <a:xfrm>
            <a:off x="502920" y="4718304"/>
            <a:ext cx="8183879" cy="181736"/>
          </a:xfrm>
          <a:prstGeom prst="rect">
            <a:avLst/>
          </a:prstGeom>
          <a:noFill/>
        </p:spPr>
        <p:txBody>
          <a:bodyPr wrap="square" lIns="0" rIns="0" tIns="0" bIns="0">
            <a:noAutofit/>
          </a:bodyPr>
          <a:lstStyle/>
          <a:p>
            <a:pPr algn="l">
              <a:lnSpc>
                <a:spcPts val="97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LiveBench (2024), data_analysis — public questions.</a:t>
            </a:r>
          </a:p>
        </p:txBody>
      </p:sp>
      <p:sp>
        <p:nvSpPr>
          <p:cNvPr id="7" name="source-url"/>
          <p:cNvSpPr txBox="1"/>
          <p:nvPr/>
        </p:nvSpPr>
        <p:spPr>
          <a:xfrm>
            <a:off x="502920" y="4850892"/>
            <a:ext cx="8183879" cy="201168"/>
          </a:xfrm>
          <a:prstGeom prst="rect">
            <a:avLst/>
          </a:prstGeom>
          <a:noFill/>
        </p:spPr>
        <p:txBody>
          <a:bodyPr wrap="square" lIns="0" rIns="0" tIns="0" bIns="0">
            <a:noAutofit/>
          </a:bodyPr>
          <a:lstStyle/>
          <a:p>
            <a:pPr algn="l">
              <a:lnSpc>
                <a:spcPts val="97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https://huggingface.co/datasets/livebench/data_analysis</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例12 TSV表をCSV表へ変換する：答えの読み方</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公開問題の追加例</a:t>
            </a:r>
          </a:p>
        </p:txBody>
      </p:sp>
      <p:sp>
        <p:nvSpPr>
          <p:cNvPr id="4" name="TextBox 3"/>
          <p:cNvSpPr txBox="1"/>
          <p:nvPr/>
        </p:nvSpPr>
        <p:spPr>
          <a:xfrm>
            <a:off x="548640" y="1353312"/>
            <a:ext cx="8046720" cy="246507"/>
          </a:xfrm>
          <a:prstGeom prst="rect">
            <a:avLst/>
          </a:prstGeom>
          <a:noFill/>
        </p:spPr>
        <p:txBody>
          <a:bodyPr wrap="square" lIns="0" rIns="0" tIns="0" bIns="0">
            <a:noAutofit/>
          </a:bodyPr>
          <a:lstStyle/>
          <a:p>
            <a:pPr algn="l">
              <a:lnSpc>
                <a:spcPts val="1380"/>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参照出力（全14行）</a:t>
            </a:r>
          </a:p>
        </p:txBody>
      </p:sp>
      <p:sp>
        <p:nvSpPr>
          <p:cNvPr id="5" name="TextBox 4"/>
          <p:cNvSpPr txBox="1"/>
          <p:nvPr/>
        </p:nvSpPr>
        <p:spPr>
          <a:xfrm>
            <a:off x="594360" y="1627632"/>
            <a:ext cx="3977639" cy="2747772"/>
          </a:xfrm>
          <a:prstGeom prst="rect">
            <a:avLst/>
          </a:prstGeom>
          <a:noFill/>
        </p:spPr>
        <p:txBody>
          <a:bodyPr wrap="square" lIns="0" rIns="0" tIns="0" bIns="0">
            <a:noAutofit/>
          </a:bodyPr>
          <a:lstStyle/>
          <a:p>
            <a:pPr algn="l">
              <a:lnSpc>
                <a:spcPts val="2429"/>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species,quantity</a:t>
            </a:r>
          </a:p>
          <a:p>
            <a:pPr algn="l">
              <a:lnSpc>
                <a:spcPts val="2429"/>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LAKE TROUT,2931</a:t>
            </a:r>
          </a:p>
          <a:p>
            <a:pPr algn="l">
              <a:lnSpc>
                <a:spcPts val="2429"/>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KOKANEE,716220</a:t>
            </a:r>
          </a:p>
          <a:p>
            <a:pPr algn="l">
              <a:lnSpc>
                <a:spcPts val="2429"/>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GRAYLING ARCTIC,84211</a:t>
            </a:r>
          </a:p>
          <a:p>
            <a:pPr algn="l">
              <a:lnSpc>
                <a:spcPts val="2429"/>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SUNFISH BLUEGILL,47840</a:t>
            </a:r>
          </a:p>
          <a:p>
            <a:pPr algn="l">
              <a:lnSpc>
                <a:spcPts val="2429"/>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WIPER,386460</a:t>
            </a:r>
          </a:p>
          <a:p>
            <a:pPr algn="l">
              <a:lnSpc>
                <a:spcPts val="2429"/>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SUCKER JUNE,80510</a:t>
            </a:r>
          </a:p>
          <a:p>
            <a:pPr algn="l">
              <a:lnSpc>
                <a:spcPts val="2429"/>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TIGER TROUT,401119</a:t>
            </a:r>
          </a:p>
        </p:txBody>
      </p:sp>
      <p:sp>
        <p:nvSpPr>
          <p:cNvPr id="6" name="TextBox 5"/>
          <p:cNvSpPr txBox="1"/>
          <p:nvPr/>
        </p:nvSpPr>
        <p:spPr>
          <a:xfrm>
            <a:off x="4572000" y="1627632"/>
            <a:ext cx="3977639" cy="2439225"/>
          </a:xfrm>
          <a:prstGeom prst="rect">
            <a:avLst/>
          </a:prstGeom>
          <a:noFill/>
        </p:spPr>
        <p:txBody>
          <a:bodyPr wrap="square" lIns="0" rIns="0" tIns="0" bIns="0">
            <a:noAutofit/>
          </a:bodyPr>
          <a:lstStyle/>
          <a:p>
            <a:pPr algn="l">
              <a:lnSpc>
                <a:spcPts val="2429"/>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RAINBOW,3904196</a:t>
            </a:r>
          </a:p>
          <a:p>
            <a:pPr algn="l">
              <a:lnSpc>
                <a:spcPts val="2429"/>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BROOK TROUT,232058</a:t>
            </a:r>
          </a:p>
          <a:p>
            <a:pPr algn="l">
              <a:lnSpc>
                <a:spcPts val="2429"/>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CUTTHROAT,1506513</a:t>
            </a:r>
          </a:p>
          <a:p>
            <a:pPr algn="l">
              <a:lnSpc>
                <a:spcPts val="2429"/>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CHUB,34740</a:t>
            </a:r>
          </a:p>
          <a:p>
            <a:pPr algn="l">
              <a:lnSpc>
                <a:spcPts val="2429"/>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ALL TROUT,1650</a:t>
            </a:r>
          </a:p>
          <a:p>
            <a:pPr algn="l">
              <a:lnSpc>
                <a:spcPts val="2429"/>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BROWN TROUT,245553</a:t>
            </a:r>
          </a:p>
          <a:p>
            <a:pPr algn="l">
              <a:lnSpc>
                <a:spcPts val="2429"/>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GOLDEN TROUT,4581</a:t>
            </a:r>
          </a:p>
        </p:txBody>
      </p:sp>
      <p:sp>
        <p:nvSpPr>
          <p:cNvPr id="7" name="source-bib"/>
          <p:cNvSpPr txBox="1"/>
          <p:nvPr/>
        </p:nvSpPr>
        <p:spPr>
          <a:xfrm>
            <a:off x="502920" y="4718304"/>
            <a:ext cx="8183879" cy="181736"/>
          </a:xfrm>
          <a:prstGeom prst="rect">
            <a:avLst/>
          </a:prstGeom>
          <a:noFill/>
        </p:spPr>
        <p:txBody>
          <a:bodyPr wrap="square" lIns="0" rIns="0" tIns="0" bIns="0">
            <a:noAutofit/>
          </a:bodyPr>
          <a:lstStyle/>
          <a:p>
            <a:pPr algn="l">
              <a:lnSpc>
                <a:spcPts val="97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LiveBench (2024), data_analysis — public questions.</a:t>
            </a:r>
          </a:p>
        </p:txBody>
      </p:sp>
      <p:sp>
        <p:nvSpPr>
          <p:cNvPr id="8" name="source-url"/>
          <p:cNvSpPr txBox="1"/>
          <p:nvPr/>
        </p:nvSpPr>
        <p:spPr>
          <a:xfrm>
            <a:off x="502920" y="4850892"/>
            <a:ext cx="8183879" cy="201168"/>
          </a:xfrm>
          <a:prstGeom prst="rect">
            <a:avLst/>
          </a:prstGeom>
          <a:noFill/>
        </p:spPr>
        <p:txBody>
          <a:bodyPr wrap="square" lIns="0" rIns="0" tIns="0" bIns="0">
            <a:noAutofit/>
          </a:bodyPr>
          <a:lstStyle/>
          <a:p>
            <a:pPr algn="l">
              <a:lnSpc>
                <a:spcPts val="97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https://huggingface.co/datasets/livebench/data_analysis</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例13 列の内容から列名を選ぶ：原文</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公開問題の追加例</a:t>
            </a:r>
          </a:p>
        </p:txBody>
      </p:sp>
      <p:sp>
        <p:nvSpPr>
          <p:cNvPr id="4" name="TextBox 3"/>
          <p:cNvSpPr txBox="1"/>
          <p:nvPr/>
        </p:nvSpPr>
        <p:spPr>
          <a:xfrm>
            <a:off x="548640" y="1353312"/>
            <a:ext cx="8046720" cy="246507"/>
          </a:xfrm>
          <a:prstGeom prst="rect">
            <a:avLst/>
          </a:prstGeom>
          <a:noFill/>
        </p:spPr>
        <p:txBody>
          <a:bodyPr wrap="square" lIns="0" rIns="0" tIns="0" bIns="0">
            <a:noAutofit/>
          </a:bodyPr>
          <a:lstStyle/>
          <a:p>
            <a:pPr algn="l">
              <a:lnSpc>
                <a:spcPts val="1380"/>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問題の原文（全文）</a:t>
            </a:r>
          </a:p>
        </p:txBody>
      </p:sp>
      <p:sp>
        <p:nvSpPr>
          <p:cNvPr id="5" name="original-frame"/>
          <p:cNvSpPr/>
          <p:nvPr/>
        </p:nvSpPr>
        <p:spPr>
          <a:xfrm>
            <a:off x="548640" y="1609344"/>
            <a:ext cx="8046720" cy="15113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88900" bIns="127000">
            <a:noAutofit/>
          </a:bodyPr>
          <a:lstStyle/>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Pick the column's class based on the provided column sample. Choose exactly one of the listed classes. Please respond only with the name of the class. </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 Column sample: [['ham'], ['spam'], ['ham'], ['ham'], ['spam']] </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 Classes: ['email' 'label'] </a:t>
            </a:r>
          </a:p>
          <a:p>
            <a:pPr algn="l">
              <a:lnSpc>
                <a:spcPts val="1700"/>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 Output:</a:t>
            </a:r>
          </a:p>
        </p:txBody>
      </p:sp>
      <p:sp>
        <p:nvSpPr>
          <p:cNvPr id="6" name="source-bib"/>
          <p:cNvSpPr txBox="1"/>
          <p:nvPr/>
        </p:nvSpPr>
        <p:spPr>
          <a:xfrm>
            <a:off x="502920" y="4718304"/>
            <a:ext cx="8183879" cy="181736"/>
          </a:xfrm>
          <a:prstGeom prst="rect">
            <a:avLst/>
          </a:prstGeom>
          <a:noFill/>
        </p:spPr>
        <p:txBody>
          <a:bodyPr wrap="square" lIns="0" rIns="0" tIns="0" bIns="0">
            <a:noAutofit/>
          </a:bodyPr>
          <a:lstStyle/>
          <a:p>
            <a:pPr algn="l">
              <a:lnSpc>
                <a:spcPts val="97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LiveBench (2024), data_analysis — public questions.</a:t>
            </a:r>
          </a:p>
        </p:txBody>
      </p:sp>
      <p:sp>
        <p:nvSpPr>
          <p:cNvPr id="7" name="source-url"/>
          <p:cNvSpPr txBox="1"/>
          <p:nvPr/>
        </p:nvSpPr>
        <p:spPr>
          <a:xfrm>
            <a:off x="502920" y="4850892"/>
            <a:ext cx="8183879" cy="201168"/>
          </a:xfrm>
          <a:prstGeom prst="rect">
            <a:avLst/>
          </a:prstGeom>
          <a:noFill/>
        </p:spPr>
        <p:txBody>
          <a:bodyPr wrap="square" lIns="0" rIns="0" tIns="0" bIns="0">
            <a:noAutofit/>
          </a:bodyPr>
          <a:lstStyle/>
          <a:p>
            <a:pPr algn="l">
              <a:lnSpc>
                <a:spcPts val="97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https://huggingface.co/datasets/livebench/data_analysis</a:t>
            </a:r>
          </a:p>
        </p:txBody>
      </p:sp>
      <p:sp>
        <p:nvSpPr>
          <p:cNvPr id="8" name="TextBox 7"/>
          <p:cNvSpPr txBox="1"/>
          <p:nvPr/>
        </p:nvSpPr>
        <p:spPr>
          <a:xfrm>
            <a:off x="594360" y="3239515"/>
            <a:ext cx="7955279" cy="781685"/>
          </a:xfrm>
          <a:prstGeom prst="rect">
            <a:avLst/>
          </a:prstGeom>
          <a:noFill/>
        </p:spPr>
        <p:txBody>
          <a:bodyPr wrap="square" lIns="0" rIns="0" tIns="0" bIns="0">
            <a:noAutofit/>
          </a:bodyPr>
          <a:lstStyle/>
          <a:p>
            <a:pPr algn="l">
              <a:lnSpc>
                <a:spcPts val="197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列の値の例に基づいて、候補から分類を一つ選び、分類名だけを返す。列の値と候補は原文と共通。</a:t>
            </a:r>
          </a:p>
        </p:txBody>
      </p:sp>
      <p:sp>
        <p:nvSpPr>
          <p:cNvPr id="9" name="TextBox 8"/>
          <p:cNvSpPr txBox="1"/>
          <p:nvPr/>
        </p:nvSpPr>
        <p:spPr>
          <a:xfrm>
            <a:off x="594360" y="3870706"/>
            <a:ext cx="7955279" cy="587946"/>
          </a:xfrm>
          <a:prstGeom prst="rect">
            <a:avLst/>
          </a:prstGeom>
          <a:noFill/>
        </p:spPr>
        <p:txBody>
          <a:bodyPr wrap="square" lIns="0" rIns="0" tIns="0" bIns="0">
            <a:noAutofit/>
          </a:bodyPr>
          <a:lstStyle/>
          <a:p>
            <a:pPr algn="l">
              <a:lnSpc>
                <a:spcPts val="2429"/>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正解：label</a:t>
            </a:r>
          </a:p>
        </p:txBody>
      </p:sp>
      <p:sp>
        <p:nvSpPr>
          <p:cNvPr id="10" name="TextBox 9"/>
          <p:cNvSpPr txBox="1"/>
          <p:nvPr/>
        </p:nvSpPr>
        <p:spPr>
          <a:xfrm>
            <a:off x="594360" y="4312348"/>
            <a:ext cx="7955279" cy="537718"/>
          </a:xfrm>
          <a:prstGeom prst="rect">
            <a:avLst/>
          </a:prstGeom>
          <a:noFill/>
        </p:spPr>
        <p:txBody>
          <a:bodyPr wrap="square" lIns="0" rIns="0" tIns="0" bIns="0">
            <a:noAutofit/>
          </a:bodyPr>
          <a:lstStyle/>
          <a:p>
            <a:pPr algn="l">
              <a:lnSpc>
                <a:spcPts val="2033"/>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hamは通常メール、spamは迷惑メールを表す分類ラベル。</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494683"/>
            <a:ext cx="8046720" cy="609600"/>
          </a:xfrm>
        </p:spPr>
        <p:txBody>
          <a:bodyPr wrap="square" lIns="0" rIns="0" tIns="0" bIns="0" anchor="ctr">
            <a:noAutofit/>
          </a:bodyPr>
          <a:lstStyle/>
          <a:p>
            <a:pPr algn="ctr">
              <a:lnSpc>
                <a:spcPct val="110000"/>
              </a:lnSpc>
              <a:buNone/>
              <a:defRPr sz="3400" b="0">
                <a:solidFill>
                  <a:srgbClr val="303437"/>
                </a:solidFill>
                <a:latin typeface="Noto Sans"/>
              </a:defRPr>
            </a:pPr>
            <a:r>
              <a:rPr sz="3400" b="1" lang="ja-JP" altLang="en-US">
                <a:solidFill>
                  <a:srgbClr val="303437"/>
                </a:solidFill>
                <a:latin typeface="Noto Sans"/>
                <a:ea typeface="Noto Sans CJK JP"/>
                <a:cs typeface="Noto Sans"/>
              </a:rPr>
              <a:t>2. 更新の変遷と参考文献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更新の変遷と参考文献</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更新によって、課題そのものも変わる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更新の変遷と参考文献</a:t>
            </a:r>
          </a:p>
        </p:txBody>
      </p:sp>
      <p:graphicFrame>
        <p:nvGraphicFramePr>
          <p:cNvPr id="4" name="Table 3"/>
          <p:cNvGraphicFramePr>
            <a:graphicFrameLocks noGrp="1"/>
          </p:cNvGraphicFramePr>
          <p:nvPr/>
        </p:nvGraphicFramePr>
        <p:xfrm>
          <a:off x="548640" y="1508760"/>
          <a:ext cx="8046720" cy="2690241"/>
        </p:xfrm>
        <a:graphic>
          <a:graphicData uri="http://schemas.openxmlformats.org/drawingml/2006/table">
            <a:tbl>
              <a:tblPr firstRow="0" bandRow="0"/>
              <a:tblGrid>
                <a:gridCol w="2194560"/>
                <a:gridCol w="5852160"/>
              </a:tblGrid>
              <a:tr h="512064">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時期</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主な変更</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512064">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2024年6–8月</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初期公開、空間推理の追加、数学の更新</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512064">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2025年4–5月</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実用コードへ刷新、エージェント型修正を追加</a:t>
                      </a:r>
                    </a:p>
                  </a:txBody>
                  <a:tcPr marL="63500" marR="63500" marT="38100" marB="38100" anchor="ctr">
                    <a:lnL w="7620">
                      <a:noFill/>
                    </a:lnL>
                    <a:lnR w="7620">
                      <a:noFill/>
                    </a:lnR>
                    <a:lnT w="7620">
                      <a:noFill/>
                    </a:lnT>
                    <a:lnB w="7620">
                      <a:noFill/>
                    </a:lnB>
                    <a:solidFill>
                      <a:srgbClr val="FFFEF8"/>
                    </a:solidFill>
                  </a:tcPr>
                </a:tc>
              </a:tr>
              <a:tr h="641985">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2025年11月–2026年1月</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心の理論、移動を伴う論理、連続増加を追加</a:t>
                      </a:r>
                    </a:p>
                  </a:txBody>
                  <a:tcPr marL="63500" marR="63500" marT="38100" marB="38100" anchor="ctr">
                    <a:lnL w="7620">
                      <a:noFill/>
                    </a:lnL>
                    <a:lnR w="7620">
                      <a:noFill/>
                    </a:lnR>
                    <a:lnT w="7620">
                      <a:noFill/>
                    </a:lnT>
                    <a:lnB w="7620">
                      <a:noFill/>
                    </a:lnB>
                    <a:solidFill>
                      <a:srgbClr val="FFFEF8"/>
                    </a:solidFill>
                  </a:tcPr>
                </a:tc>
              </a:tr>
              <a:tr h="512064">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2026年10月</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2.0で長い実行課題と成果物の評価へ展開</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source-inline"/>
          <p:cNvSpPr txBox="1"/>
          <p:nvPr/>
        </p:nvSpPr>
        <p:spPr>
          <a:xfrm>
            <a:off x="502920" y="4736592"/>
            <a:ext cx="8183879" cy="182880"/>
          </a:xfrm>
          <a:prstGeom prst="rect">
            <a:avLst/>
          </a:prstGeom>
          <a:noFill/>
        </p:spPr>
        <p:txBody>
          <a:bodyPr wrap="square" lIns="0" rIns="0" tIns="0" bIns="0">
            <a:noAutofit/>
          </a:bodyPr>
          <a:lstStyle/>
          <a:p>
            <a:pPr algn="l">
              <a:lnSpc>
                <a:spcPts val="936"/>
              </a:lnSpc>
              <a:spcBef>
                <a:spcPts val="0"/>
              </a:spcBef>
              <a:spcAft>
                <a:spcPts val="0"/>
              </a:spcAft>
              <a:buNone/>
              <a:defRPr sz="780" b="0">
                <a:solidFill>
                  <a:srgbClr val="303437"/>
                </a:solidFill>
                <a:latin typeface="Noto Sans"/>
              </a:defRPr>
            </a:pPr>
            <a:r>
              <a:rPr sz="780" b="0" lang="ja-JP" altLang="en-US">
                <a:solidFill>
                  <a:srgbClr val="626669"/>
                </a:solidFill>
                <a:latin typeface="Noto Sans"/>
                <a:ea typeface="Noto Sans CJK JP"/>
                <a:cs typeface="Noto Sans"/>
              </a:rPr>
              <a:t/>
            </a:r>
            <a:r>
              <a:rPr sz="780" b="0" lang="ja-JP" altLang="en-US">
                <a:solidFill>
                  <a:srgbClr val="626669"/>
                </a:solidFill>
                <a:latin typeface="Noto Sans"/>
                <a:ea typeface="Noto Sans CJK JP"/>
                <a:cs typeface="Noto Sans"/>
              </a:rPr>
              <a:t>[1] LiveBench (2026-10-25参照), Changelog. </a:t>
            </a:r>
            <a:r>
              <a:rPr sz="780" b="0" lang="ja-JP" altLang="en-US">
                <a:solidFill>
                  <a:srgbClr val="626669"/>
                </a:solidFill>
                <a:latin typeface="Noto Sans"/>
                <a:ea typeface="Noto Sans CJK JP"/>
                <a:cs typeface="Noto Sans"/>
                <a:hlinkClick r:id="rId2"/>
              </a:rPr>
              <a:t>https://github.com/LiveBench/LiveBench/blob/main/changelog.md</a:t>
            </a:r>
          </a:p>
        </p:txBody>
      </p:sp>
      <p:sp>
        <p:nvSpPr>
          <p:cNvPr id="6" name="source-inline"/>
          <p:cNvSpPr txBox="1"/>
          <p:nvPr/>
        </p:nvSpPr>
        <p:spPr>
          <a:xfrm>
            <a:off x="502920" y="4873752"/>
            <a:ext cx="8183879" cy="182880"/>
          </a:xfrm>
          <a:prstGeom prst="rect">
            <a:avLst/>
          </a:prstGeom>
          <a:noFill/>
        </p:spPr>
        <p:txBody>
          <a:bodyPr wrap="square" lIns="0" rIns="0" tIns="0" bIns="0">
            <a:noAutofit/>
          </a:bodyPr>
          <a:lstStyle/>
          <a:p>
            <a:pPr algn="l">
              <a:lnSpc>
                <a:spcPts val="936"/>
              </a:lnSpc>
              <a:spcBef>
                <a:spcPts val="0"/>
              </a:spcBef>
              <a:spcAft>
                <a:spcPts val="0"/>
              </a:spcAft>
              <a:buNone/>
              <a:defRPr sz="780" b="0">
                <a:solidFill>
                  <a:srgbClr val="303437"/>
                </a:solidFill>
                <a:latin typeface="Noto Sans"/>
              </a:defRPr>
            </a:pPr>
            <a:r>
              <a:rPr sz="780" b="0" lang="ja-JP" altLang="en-US">
                <a:solidFill>
                  <a:srgbClr val="626669"/>
                </a:solidFill>
                <a:latin typeface="Noto Sans"/>
                <a:ea typeface="Noto Sans CJK JP"/>
                <a:cs typeface="Noto Sans"/>
              </a:rPr>
              <a:t/>
            </a:r>
            <a:r>
              <a:rPr sz="780" b="0" lang="ja-JP" altLang="en-US">
                <a:solidFill>
                  <a:srgbClr val="626669"/>
                </a:solidFill>
                <a:latin typeface="Noto Sans"/>
                <a:ea typeface="Noto Sans CJK JP"/>
                <a:cs typeface="Noto Sans"/>
              </a:rPr>
              <a:t>[2] LiveBench (2026-10-25参照), Methodology. </a:t>
            </a:r>
            <a:r>
              <a:rPr sz="780" b="0" lang="ja-JP" altLang="en-US">
                <a:solidFill>
                  <a:srgbClr val="626669"/>
                </a:solidFill>
                <a:latin typeface="Noto Sans"/>
                <a:ea typeface="Noto Sans CJK JP"/>
                <a:cs typeface="Noto Sans"/>
                <a:hlinkClick r:id="rId3"/>
              </a:rPr>
              <a:t>https://livebench.ai/#/methodology</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更新の変遷と参考文献</a:t>
            </a:r>
          </a:p>
        </p:txBody>
      </p:sp>
      <p:sp>
        <p:nvSpPr>
          <p:cNvPr id="4" name="文献1-20"/>
          <p:cNvSpPr txBox="1"/>
          <p:nvPr/>
        </p:nvSpPr>
        <p:spPr>
          <a:xfrm>
            <a:off x="548640" y="1417320"/>
            <a:ext cx="8046720" cy="701040"/>
          </a:xfrm>
          <a:prstGeom prst="rect">
            <a:avLst/>
          </a:prstGeom>
          <a:noFill/>
        </p:spPr>
        <p:txBody>
          <a:bodyPr wrap="square" lIns="0" rIns="0" tIns="0" bIns="0">
            <a:noAutofit/>
          </a:bodyPr>
          <a:lstStyle/>
          <a:p>
            <a:pPr algn="l">
              <a:lnSpc>
                <a:spcPts val="2379"/>
              </a:lnSpc>
              <a:spcBef>
                <a:spcPts val="0"/>
              </a:spcBef>
              <a:spcAft>
                <a:spcPts val="0"/>
              </a:spcAft>
              <a:buNone/>
              <a:defRPr sz="2000" b="0">
                <a:solidFill>
                  <a:srgbClr val="303437"/>
                </a:solidFill>
                <a:latin typeface="Noto Sans"/>
              </a:defRPr>
            </a:pPr>
            <a:r>
              <a:rPr sz="2000" b="1" lang="ja-JP" altLang="en-US">
                <a:solidFill>
                  <a:srgbClr val="303437"/>
                </a:solidFill>
                <a:latin typeface="Noto Sans"/>
                <a:ea typeface="Noto Sans CJK JP"/>
                <a:cs typeface="Noto Sans"/>
              </a:rPr>
              <a:t>LiveBench: A Challenging, Contamination-Limited LLM Benchmark</a:t>
            </a:r>
          </a:p>
        </p:txBody>
      </p:sp>
      <p:sp>
        <p:nvSpPr>
          <p:cNvPr id="5" name="文献1-12.5"/>
          <p:cNvSpPr txBox="1"/>
          <p:nvPr/>
        </p:nvSpPr>
        <p:spPr>
          <a:xfrm>
            <a:off x="548640" y="2123439"/>
            <a:ext cx="8046720" cy="285432"/>
          </a:xfrm>
          <a:prstGeom prst="rect">
            <a:avLst/>
          </a:prstGeom>
          <a:noFill/>
        </p:spPr>
        <p:txBody>
          <a:bodyPr wrap="square" lIns="0" rIns="0" tIns="0" bIns="0">
            <a:noAutofit/>
          </a:bodyPr>
          <a:lstStyle/>
          <a:p>
            <a:pPr algn="l">
              <a:lnSpc>
                <a:spcPts val="1500"/>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Colin White et al. (2025), ICLR 2025.</a:t>
            </a:r>
          </a:p>
        </p:txBody>
      </p:sp>
      <p:sp>
        <p:nvSpPr>
          <p:cNvPr id="6" name="文献1-17.5"/>
          <p:cNvSpPr txBox="1"/>
          <p:nvPr/>
        </p:nvSpPr>
        <p:spPr>
          <a:xfrm>
            <a:off x="548640" y="2426652"/>
            <a:ext cx="8046720" cy="360997"/>
          </a:xfrm>
          <a:prstGeom prst="rect">
            <a:avLst/>
          </a:prstGeom>
          <a:noFill/>
        </p:spPr>
        <p:txBody>
          <a:bodyPr wrap="square" lIns="0" rIns="0" tIns="0" bIns="0">
            <a:noAutofit/>
          </a:bodyPr>
          <a:lstStyle/>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新しい問題の継続的な投入と、正解照合に基づく多分野の評価を提案する。</a:t>
            </a:r>
          </a:p>
        </p:txBody>
      </p:sp>
      <p:sp>
        <p:nvSpPr>
          <p:cNvPr id="7" name="文献1-7.8"/>
          <p:cNvSpPr txBox="1"/>
          <p:nvPr/>
        </p:nvSpPr>
        <p:spPr>
          <a:xfrm>
            <a:off x="548640" y="2792729"/>
            <a:ext cx="8046720" cy="214401"/>
          </a:xfrm>
          <a:prstGeom prst="rect">
            <a:avLst/>
          </a:prstGeom>
          <a:noFill/>
        </p:spPr>
        <p:txBody>
          <a:bodyPr wrap="square" lIns="0" rIns="0" tIns="0" bIns="0">
            <a:noAutofit/>
          </a:bodyPr>
          <a:lstStyle/>
          <a:p>
            <a:pPr algn="l">
              <a:lnSpc>
                <a:spcPts val="936"/>
              </a:lnSpc>
              <a:spcBef>
                <a:spcPts val="0"/>
              </a:spcBef>
              <a:spcAft>
                <a:spcPts val="0"/>
              </a:spcAft>
              <a:buNone/>
              <a:defRPr sz="780" b="0">
                <a:solidFill>
                  <a:srgbClr val="303437"/>
                </a:solidFill>
                <a:latin typeface="Noto Sans"/>
              </a:defRPr>
            </a:pPr>
            <a:r>
              <a:rPr sz="780" b="0" lang="ja-JP" altLang="en-US">
                <a:solidFill>
                  <a:srgbClr val="626669"/>
                </a:solidFill>
                <a:latin typeface="Noto Sans"/>
                <a:ea typeface="Noto Sans CJK JP"/>
                <a:cs typeface="Noto Sans"/>
                <a:hlinkClick r:id="rId2"/>
              </a:rPr>
              <a:t>https://proceedings.iclr.cc/paper_files/paper/2025/file/e4a46394ba5378b3f9a186a5b4c650d1-Paper-Conference.pdf</a:t>
            </a:r>
          </a:p>
        </p:txBody>
      </p:sp>
      <p:sp>
        <p:nvSpPr>
          <p:cNvPr id="8" name="文献2-20"/>
          <p:cNvSpPr txBox="1"/>
          <p:nvPr/>
        </p:nvSpPr>
        <p:spPr>
          <a:xfrm>
            <a:off x="548640" y="3317011"/>
            <a:ext cx="8046720" cy="398779"/>
          </a:xfrm>
          <a:prstGeom prst="rect">
            <a:avLst/>
          </a:prstGeom>
          <a:noFill/>
        </p:spPr>
        <p:txBody>
          <a:bodyPr wrap="square" lIns="0" rIns="0" tIns="0" bIns="0">
            <a:noAutofit/>
          </a:bodyPr>
          <a:lstStyle/>
          <a:p>
            <a:pPr algn="l">
              <a:lnSpc>
                <a:spcPts val="2379"/>
              </a:lnSpc>
              <a:spcBef>
                <a:spcPts val="0"/>
              </a:spcBef>
              <a:spcAft>
                <a:spcPts val="0"/>
              </a:spcAft>
              <a:buNone/>
              <a:defRPr sz="2000" b="0">
                <a:solidFill>
                  <a:srgbClr val="303437"/>
                </a:solidFill>
                <a:latin typeface="Noto Sans"/>
              </a:defRPr>
            </a:pPr>
            <a:r>
              <a:rPr sz="2000" b="1" lang="ja-JP" altLang="en-US">
                <a:solidFill>
                  <a:srgbClr val="303437"/>
                </a:solidFill>
                <a:latin typeface="Noto Sans"/>
                <a:ea typeface="Noto Sans CJK JP"/>
                <a:cs typeface="Noto Sans"/>
              </a:rPr>
              <a:t>LiveBench 2.0 — Methodology</a:t>
            </a:r>
          </a:p>
        </p:txBody>
      </p:sp>
      <p:sp>
        <p:nvSpPr>
          <p:cNvPr id="9" name="文献2-12.5"/>
          <p:cNvSpPr txBox="1"/>
          <p:nvPr/>
        </p:nvSpPr>
        <p:spPr>
          <a:xfrm>
            <a:off x="548640" y="3720871"/>
            <a:ext cx="8046720" cy="285432"/>
          </a:xfrm>
          <a:prstGeom prst="rect">
            <a:avLst/>
          </a:prstGeom>
          <a:noFill/>
        </p:spPr>
        <p:txBody>
          <a:bodyPr wrap="square" lIns="0" rIns="0" tIns="0" bIns="0">
            <a:noAutofit/>
          </a:bodyPr>
          <a:lstStyle/>
          <a:p>
            <a:pPr algn="l">
              <a:lnSpc>
                <a:spcPts val="1500"/>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LiveBench / Abacus.AI (n.d.; 2026-10-25参照).</a:t>
            </a:r>
          </a:p>
        </p:txBody>
      </p:sp>
      <p:sp>
        <p:nvSpPr>
          <p:cNvPr id="10" name="文献2-17.5"/>
          <p:cNvSpPr txBox="1"/>
          <p:nvPr/>
        </p:nvSpPr>
        <p:spPr>
          <a:xfrm>
            <a:off x="548640" y="4024083"/>
            <a:ext cx="8046720" cy="360997"/>
          </a:xfrm>
          <a:prstGeom prst="rect">
            <a:avLst/>
          </a:prstGeom>
          <a:noFill/>
        </p:spPr>
        <p:txBody>
          <a:bodyPr wrap="square" lIns="0" rIns="0" tIns="0" bIns="0">
            <a:noAutofit/>
          </a:bodyPr>
          <a:lstStyle/>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七つの評価区分、各区分の採点と総合点の計算方法を示す。</a:t>
            </a:r>
          </a:p>
        </p:txBody>
      </p:sp>
      <p:sp>
        <p:nvSpPr>
          <p:cNvPr id="11" name="文献2-10.5"/>
          <p:cNvSpPr txBox="1"/>
          <p:nvPr/>
        </p:nvSpPr>
        <p:spPr>
          <a:xfrm>
            <a:off x="548640" y="4390161"/>
            <a:ext cx="8046720" cy="255206"/>
          </a:xfrm>
          <a:prstGeom prst="rect">
            <a:avLst/>
          </a:prstGeom>
          <a:noFill/>
        </p:spPr>
        <p:txBody>
          <a:bodyPr wrap="square" lIns="0" rIns="0" tIns="0" bIns="0">
            <a:noAutofit/>
          </a:bodyPr>
          <a:lstStyle/>
          <a:p>
            <a:pPr algn="l">
              <a:lnSpc>
                <a:spcPts val="126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hlinkClick r:id="rId3"/>
              </a:rPr>
              <a:t>https://livebench.ai/#/methodology</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更新の変遷と参考文献</a:t>
            </a:r>
          </a:p>
        </p:txBody>
      </p:sp>
      <p:sp>
        <p:nvSpPr>
          <p:cNvPr id="4" name="文献1-20"/>
          <p:cNvSpPr txBox="1"/>
          <p:nvPr/>
        </p:nvSpPr>
        <p:spPr>
          <a:xfrm>
            <a:off x="548640" y="1417320"/>
            <a:ext cx="8046720" cy="398779"/>
          </a:xfrm>
          <a:prstGeom prst="rect">
            <a:avLst/>
          </a:prstGeom>
          <a:noFill/>
        </p:spPr>
        <p:txBody>
          <a:bodyPr wrap="square" lIns="0" rIns="0" tIns="0" bIns="0">
            <a:noAutofit/>
          </a:bodyPr>
          <a:lstStyle/>
          <a:p>
            <a:pPr algn="l">
              <a:lnSpc>
                <a:spcPts val="2379"/>
              </a:lnSpc>
              <a:spcBef>
                <a:spcPts val="0"/>
              </a:spcBef>
              <a:spcAft>
                <a:spcPts val="0"/>
              </a:spcAft>
              <a:buNone/>
              <a:defRPr sz="2000" b="0">
                <a:solidFill>
                  <a:srgbClr val="303437"/>
                </a:solidFill>
                <a:latin typeface="Noto Sans"/>
              </a:defRPr>
            </a:pPr>
            <a:r>
              <a:rPr sz="2000" b="1" lang="ja-JP" altLang="en-US">
                <a:solidFill>
                  <a:srgbClr val="303437"/>
                </a:solidFill>
                <a:latin typeface="Noto Sans"/>
                <a:ea typeface="Noto Sans CJK JP"/>
                <a:cs typeface="Noto Sans"/>
              </a:rPr>
              <a:t>LiveBench: Code and Changelog</a:t>
            </a:r>
          </a:p>
        </p:txBody>
      </p:sp>
      <p:sp>
        <p:nvSpPr>
          <p:cNvPr id="5" name="文献1-12.5"/>
          <p:cNvSpPr txBox="1"/>
          <p:nvPr/>
        </p:nvSpPr>
        <p:spPr>
          <a:xfrm>
            <a:off x="548640" y="1821180"/>
            <a:ext cx="8046720" cy="285432"/>
          </a:xfrm>
          <a:prstGeom prst="rect">
            <a:avLst/>
          </a:prstGeom>
          <a:noFill/>
        </p:spPr>
        <p:txBody>
          <a:bodyPr wrap="square" lIns="0" rIns="0" tIns="0" bIns="0">
            <a:noAutofit/>
          </a:bodyPr>
          <a:lstStyle/>
          <a:p>
            <a:pPr algn="l">
              <a:lnSpc>
                <a:spcPts val="1500"/>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LiveBench (n.d.; 2026-10-25参照), GitHub.</a:t>
            </a:r>
          </a:p>
        </p:txBody>
      </p:sp>
      <p:sp>
        <p:nvSpPr>
          <p:cNvPr id="6" name="文献1-17.5"/>
          <p:cNvSpPr txBox="1"/>
          <p:nvPr/>
        </p:nvSpPr>
        <p:spPr>
          <a:xfrm>
            <a:off x="548640" y="2124392"/>
            <a:ext cx="8046720" cy="360997"/>
          </a:xfrm>
          <a:prstGeom prst="rect">
            <a:avLst/>
          </a:prstGeom>
          <a:noFill/>
        </p:spPr>
        <p:txBody>
          <a:bodyPr wrap="square" lIns="0" rIns="0" tIns="0" bIns="0">
            <a:noAutofit/>
          </a:bodyPr>
          <a:lstStyle/>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課題ごとの採点実装と、問題・実行環境の更新の履歴を公開する。</a:t>
            </a:r>
          </a:p>
        </p:txBody>
      </p:sp>
      <p:sp>
        <p:nvSpPr>
          <p:cNvPr id="7" name="文献1-10.5"/>
          <p:cNvSpPr txBox="1"/>
          <p:nvPr/>
        </p:nvSpPr>
        <p:spPr>
          <a:xfrm>
            <a:off x="548640" y="2490470"/>
            <a:ext cx="8046720" cy="255206"/>
          </a:xfrm>
          <a:prstGeom prst="rect">
            <a:avLst/>
          </a:prstGeom>
          <a:noFill/>
        </p:spPr>
        <p:txBody>
          <a:bodyPr wrap="square" lIns="0" rIns="0" tIns="0" bIns="0">
            <a:noAutofit/>
          </a:bodyPr>
          <a:lstStyle/>
          <a:p>
            <a:pPr algn="l">
              <a:lnSpc>
                <a:spcPts val="126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hlinkClick r:id="rId2"/>
              </a:rPr>
              <a:t>https://github.com/LiveBench/LiveBench</a:t>
            </a:r>
          </a:p>
        </p:txBody>
      </p:sp>
      <p:sp>
        <p:nvSpPr>
          <p:cNvPr id="8" name="文献2-20"/>
          <p:cNvSpPr txBox="1"/>
          <p:nvPr/>
        </p:nvSpPr>
        <p:spPr>
          <a:xfrm>
            <a:off x="548640" y="3055556"/>
            <a:ext cx="8046720" cy="398779"/>
          </a:xfrm>
          <a:prstGeom prst="rect">
            <a:avLst/>
          </a:prstGeom>
          <a:noFill/>
        </p:spPr>
        <p:txBody>
          <a:bodyPr wrap="square" lIns="0" rIns="0" tIns="0" bIns="0">
            <a:noAutofit/>
          </a:bodyPr>
          <a:lstStyle/>
          <a:p>
            <a:pPr algn="l">
              <a:lnSpc>
                <a:spcPts val="2379"/>
              </a:lnSpc>
              <a:spcBef>
                <a:spcPts val="0"/>
              </a:spcBef>
              <a:spcAft>
                <a:spcPts val="0"/>
              </a:spcAft>
              <a:buNone/>
              <a:defRPr sz="2000" b="0">
                <a:solidFill>
                  <a:srgbClr val="303437"/>
                </a:solidFill>
                <a:latin typeface="Noto Sans"/>
              </a:defRPr>
            </a:pPr>
            <a:r>
              <a:rPr sz="2000" b="1" lang="ja-JP" altLang="en-US">
                <a:solidFill>
                  <a:srgbClr val="303437"/>
                </a:solidFill>
                <a:latin typeface="Noto Sans"/>
                <a:ea typeface="Noto Sans CJK JP"/>
                <a:cs typeface="Noto Sans"/>
              </a:rPr>
              <a:t>Datasheet for LiveBench</a:t>
            </a:r>
          </a:p>
        </p:txBody>
      </p:sp>
      <p:sp>
        <p:nvSpPr>
          <p:cNvPr id="9" name="文献2-12.5"/>
          <p:cNvSpPr txBox="1"/>
          <p:nvPr/>
        </p:nvSpPr>
        <p:spPr>
          <a:xfrm>
            <a:off x="548640" y="3459416"/>
            <a:ext cx="8046720" cy="285432"/>
          </a:xfrm>
          <a:prstGeom prst="rect">
            <a:avLst/>
          </a:prstGeom>
          <a:noFill/>
        </p:spPr>
        <p:txBody>
          <a:bodyPr wrap="square" lIns="0" rIns="0" tIns="0" bIns="0">
            <a:noAutofit/>
          </a:bodyPr>
          <a:lstStyle/>
          <a:p>
            <a:pPr algn="l">
              <a:lnSpc>
                <a:spcPts val="1500"/>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LiveBench (n.d.; 2026-10-25参照), GitHub.</a:t>
            </a:r>
          </a:p>
        </p:txBody>
      </p:sp>
      <p:sp>
        <p:nvSpPr>
          <p:cNvPr id="10" name="文献2-17.5"/>
          <p:cNvSpPr txBox="1"/>
          <p:nvPr/>
        </p:nvSpPr>
        <p:spPr>
          <a:xfrm>
            <a:off x="548640" y="3762629"/>
            <a:ext cx="8046720" cy="360997"/>
          </a:xfrm>
          <a:prstGeom prst="rect">
            <a:avLst/>
          </a:prstGeom>
          <a:noFill/>
        </p:spPr>
        <p:txBody>
          <a:bodyPr wrap="square" lIns="0" rIns="0" tIns="0" bIns="0">
            <a:noAutofit/>
          </a:bodyPr>
          <a:lstStyle/>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データの構築・配布・保守とApache License 2.0での利用条件を記載する。</a:t>
            </a:r>
          </a:p>
        </p:txBody>
      </p:sp>
      <p:sp>
        <p:nvSpPr>
          <p:cNvPr id="11" name="文献2-10.5"/>
          <p:cNvSpPr txBox="1"/>
          <p:nvPr/>
        </p:nvSpPr>
        <p:spPr>
          <a:xfrm>
            <a:off x="548640" y="4128706"/>
            <a:ext cx="8046720" cy="255206"/>
          </a:xfrm>
          <a:prstGeom prst="rect">
            <a:avLst/>
          </a:prstGeom>
          <a:noFill/>
        </p:spPr>
        <p:txBody>
          <a:bodyPr wrap="square" lIns="0" rIns="0" tIns="0" bIns="0">
            <a:noAutofit/>
          </a:bodyPr>
          <a:lstStyle/>
          <a:p>
            <a:pPr algn="l">
              <a:lnSpc>
                <a:spcPts val="126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hlinkClick r:id="rId3"/>
              </a:rPr>
              <a:t>https://github.com/LiveBench/LiveBench/blob/main/docs/DATASHEET.md</a:t>
            </a:r>
          </a:p>
        </p:txBody>
      </p:sp>
    </p:spTree>
  </p:cSld>
  <p:clrMapOvr>
    <a:masterClrMapping/>
  </p:clrMapOvr>
</p:sld>
</file>

<file path=ppt/theme/theme1.xml><?xml version="1.0" encoding="utf-8"?>
<a:theme xmlns:a="http://schemas.openxmlformats.org/drawingml/2006/main" name="Simple Light">
  <a:themeElements>
    <a:clrScheme name="IARTEM Research Palette">
      <a:dk1>
        <a:srgbClr val="303437"/>
      </a:dk1>
      <a:lt1>
        <a:srgbClr val="FFFEF8"/>
      </a:lt1>
      <a:dk2>
        <a:srgbClr val="626669"/>
      </a:dk2>
      <a:lt2>
        <a:srgbClr val="EBEDEB"/>
      </a:lt2>
      <a:accent1>
        <a:srgbClr val="B13731"/>
      </a:accent1>
      <a:accent2>
        <a:srgbClr val="2C9100"/>
      </a:accent2>
      <a:accent3>
        <a:srgbClr val="2166AC"/>
      </a:accent3>
      <a:accent4>
        <a:srgbClr val="B84A00"/>
      </a:accent4>
      <a:accent5>
        <a:srgbClr val="007C91"/>
      </a:accent5>
      <a:accent6>
        <a:srgbClr val="763DA0"/>
      </a:accent6>
      <a:hlink>
        <a:srgbClr val="3F6F8F"/>
      </a:hlink>
      <a:folHlink>
        <a:srgbClr val="7A5C8E"/>
      </a:folHlink>
    </a:clrScheme>
    <a:fontScheme name="Office">
      <a:majorFont>
        <a:latin typeface="Noto Sans"/>
        <a:ea typeface="Noto Sans CJK JP"/>
        <a:cs typeface="Noto Sans"/>
        <a:font script="Jpan" typeface="Noto Sans CJK JP"/>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Noto Sans"/>
        <a:ea typeface="Noto Sans CJK JP"/>
        <a:cs typeface="Noto Sans"/>
        <a:font script="Jpan" typeface="Noto Sans CJK JP"/>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EA7E97F-3A5A-9342-98CB-7411DADE8916}">
  <we:reference id="wa200010215" version="2.0.0.0" store="ja-JP" storeType="OMEX"/>
  <we:alternateReferences>
    <we:reference id="WA200010215" version="2.0.0.0" store="WA200010215" storeType="OMEX"/>
  </we:alternateReferences>
  <we:properties>
    <we:property name="bps.codex_control.document_id" value="&quot;f3f6bd8f-7a20-4dbe-a71e-f9942711a911&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13685</TotalTime>
  <Words>14</Words>
  <Application>Microsoft Macintosh PowerPoint</Application>
  <PresentationFormat>画面に合わせる (16:9)</PresentationFormat>
  <Paragraphs>3</Paragraphs>
  <Slides>8</Slides>
  <Notes>0</Notes>
  <HiddenSlides>0</HiddenSlides>
  <MMClips>0</MMClips>
  <ScaleCrop>false</ScaleCrop>
  <HeadingPairs>
    <vt:vector size="6" baseType="variant">
      <vt:variant>
        <vt:lpstr>使用されているフォント</vt:lpstr>
      </vt:variant>
      <vt:variant>
        <vt:i4>1</vt:i4>
      </vt:variant>
      <vt:variant>
        <vt:lpstr>テーマ</vt:lpstr>
      </vt:variant>
      <vt:variant>
        <vt:i4>1</vt:i4>
      </vt:variant>
      <vt:variant>
        <vt:lpstr>スライド タイトル</vt:lpstr>
      </vt:variant>
      <vt:variant>
        <vt:i4>8</vt:i4>
      </vt:variant>
    </vt:vector>
  </HeadingPairs>
  <TitlesOfParts>
    <vt:vector size="10" baseType="lpstr">
      <vt:lpstr>Arial</vt:lpstr>
      <vt:lpstr>Simple Light</vt:lpstr>
      <vt:lpstr>Developing and Applying a Systematic Classification Framework</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Bottom-right caption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sasakiy84</cp:lastModifiedBy>
  <cp:revision>500</cp:revision>
  <dcterms:modified xsi:type="dcterms:W3CDTF">2026-10-25T06:53:00Z</dcterms:modified>
  <dc:title>livebench</dc:title>
  <dc:creator>sasakiy84</dc:creator>
  <dcterms:created xsi:type="dcterms:W3CDTF">2026-10-25T06:53:00Z</dcterms:created>
  <dc:language>ja-JP</dc:language>
</cp:coreProperties>
</file>