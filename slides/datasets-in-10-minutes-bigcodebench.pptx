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bigcode-bench.github.io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bigcode/bigcodebench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6.15877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6.15877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6.15877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6.15877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6.15877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6.15877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blog/terryyz/bigcodebench-hard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6.15877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6.15877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6.15877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-results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-hard-results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602.22303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bigcode/bigcodebench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bigcode-project/bigcodebench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6.15877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igcode/bigcodebench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6.15877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6.15877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6.15877" TargetMode="External"/><Relationship Id="rId3" Type="http://schemas.openxmlformats.org/officeDocument/2006/relationships/hyperlink" Target="https://huggingface.co/datasets/bigcode/bigcodebench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blog/terryyz/bigcodebench-hard" TargetMode="External"/><Relationship Id="rId3" Type="http://schemas.openxmlformats.org/officeDocument/2006/relationships/hyperlink" Target="https://github.com/bigcode-project/bigcodebench" TargetMode="Externa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602.22303" TargetMode="External"/><Relationship Id="rId3" Type="http://schemas.openxmlformats.org/officeDocument/2006/relationships/hyperlink" Target="https://bigcode-bench.github.io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888452"/>
            <a:ext cx="8046720" cy="953770"/>
          </a:xfrm>
        </p:spPr>
        <p:txBody>
          <a:bodyPr wrap="square" lIns="0" rIns="0" tIns="0" bIns="5080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BigCodeBench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898102"/>
            <a:ext cx="8046720" cy="48831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複数のPythonライブラリーを組み合わせるコード生成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(2026-10-22)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BigCodeBenchの公式リーダーボード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公式サイト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793" y="1344168"/>
            <a:ext cx="4674412" cy="3246120"/>
          </a:xfrm>
          <a:prstGeom prst="rect">
            <a:avLst/>
          </a:prstGeom>
        </p:spPr>
      </p:pic>
      <p:sp>
        <p:nvSpPr>
          <p:cNvPr id="5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Leaderboard.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https://bigcode-bench.github.io/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課題と三つの実例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構築方法と課題の広がり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採点方法とモデルの到達水準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継続利用と入手方法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79443"/>
            <a:ext cx="8046720" cy="64008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課題と三つの実例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課題と三つの実例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1,140課題で、関数を実装する力を測る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BigCodeBenchは、英語で書かれた要件からPythonの関数を実装する評価用データセットである。データ分析、ファイル操作、Web処理などを扱う。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入力は処理の説明と関数の書き出しで、出力は実装するコードである。必要なライブラリーの機能を組み合わせ、指定された戻り値や例外処理を満たす。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配布するテストを実行し、要求された動作ができるか採点する。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課題と三つの実例</a:t>
            </a:r>
          </a:p>
        </p:txBody>
      </p:sp>
      <p:sp>
        <p:nvSpPr>
          <p:cNvPr id="5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同じ処理を、二つの書き方で依頼する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Completeは、コード内の文書文字列docstringで、引数・戻り値・例外・利用例などを詳しく示す。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Instructは、自然言語の依頼文とコードの書き出しを示す。同じ機能を、より簡潔な指示から実装する。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ここではInstructの公開v0.1.4から、処理の異なる13課題を選ぶ。原文には指示とコード指定をすべて示し、日本語では自然言語の指示を訳す。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課題と三つの実例</a:t>
            </a:r>
          </a:p>
        </p:txBody>
      </p:sp>
      <p:sp>
        <p:nvSpPr>
          <p:cNvPr id="5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Zhuo et al. (2025), BigCodeBench. ICLR 2025.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https://arxiv.org/abs/2406.15877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例1：辞書を圧縮し、文字列へ変換する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課題と三つの実例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9304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buNone/>
              <a:defRPr sz="1270" b="0">
                <a:solidFill>
                  <a:srgbClr val="303437"/>
                </a:solidFill>
                <a:latin typeface="Noto Sans"/>
              </a:defRPr>
            </a:pPr>
            <a:r>
              <a:rPr sz="127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Instructの原文（全文・コード指定を含む）</a:t>
            </a:r>
          </a:p>
        </p:txBody>
      </p:sp>
      <p:sp>
        <p:nvSpPr>
          <p:cNvPr id="5" name="quote-background"/>
          <p:cNvSpPr/>
          <p:nvPr/>
        </p:nvSpPr>
        <p:spPr>
          <a:xfrm>
            <a:off x="457200" y="1499616"/>
            <a:ext cx="8229600" cy="275755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iginal-instruct"/>
          <p:cNvSpPr txBox="1"/>
          <p:nvPr/>
        </p:nvSpPr>
        <p:spPr>
          <a:xfrm>
            <a:off x="457200" y="1499616"/>
            <a:ext cx="8229600" cy="2757550"/>
          </a:xfrm>
          <a:prstGeom prst="rect">
            <a:avLst/>
          </a:prstGeom>
          <a:noFill/>
        </p:spPr>
        <p:txBody>
          <a:bodyPr wrap="square" lIns="152400" rIns="152400" tIns="88900" bIns="88900">
            <a:noAutofit/>
          </a:bodyPr>
          <a:lstStyle/>
          <a:p>
            <a:pPr algn="l"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Serializes a dictionary to a JSON string, compresses it using zlib, and then encodes the compressed data with base64.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function should output with: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   str: A base64 encoded string that represents the zlib-compressed JSON string of the dictionary.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You should write self-contained code starting with: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base64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json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zlib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def task_func(data_dict):</a:t>
            </a:r>
          </a:p>
        </p:txBody>
      </p:sp>
      <p:sp>
        <p:nvSpPr>
          <p:cNvPr id="7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 BigCodeBench/25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例1：日本語訳と期待する動作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課題と三つの実例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日本語訳（自然言語の指示）</a:t>
            </a:r>
          </a:p>
        </p:txBody>
      </p:sp>
      <p:sp>
        <p:nvSpPr>
          <p:cNvPr id="5" name="japanese-instruction"/>
          <p:cNvSpPr txBox="1"/>
          <p:nvPr/>
        </p:nvSpPr>
        <p:spPr>
          <a:xfrm>
            <a:off x="594360" y="1627632"/>
            <a:ext cx="7955279" cy="1321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4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辞書をJSON文字列に変換し、zlibで圧縮した後、base64で符号化する。出力は、圧縮したJSONを表すbase64の文字列である。指定された書き出しを使い、必要なコードをすべて含む実装を書く。</a:t>
            </a:r>
          </a:p>
        </p:txBody>
      </p:sp>
      <p:sp>
        <p:nvSpPr>
          <p:cNvPr id="6" name="expected-behavior"/>
          <p:cNvSpPr txBox="1"/>
          <p:nvPr/>
        </p:nvSpPr>
        <p:spPr>
          <a:xfrm>
            <a:off x="594360" y="3123184"/>
            <a:ext cx="7955279" cy="4385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2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期待する動作：復号・展開すると元の辞書に戻る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94360" y="3607435"/>
            <a:ext cx="7955279" cy="6090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配布テストは文字列型を確認したうえで、base64を復号し、zlibを展開してJSONを読み戻す。入れ子のリストや辞書も確かめる。</a:t>
            </a:r>
          </a:p>
        </p:txBody>
      </p:sp>
      <p:sp>
        <p:nvSpPr>
          <p:cNvPr id="8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 BigCodeBench/25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例2：指定した数値列を標準化する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課題と三つの実例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9304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buNone/>
              <a:defRPr sz="1270" b="0">
                <a:solidFill>
                  <a:srgbClr val="303437"/>
                </a:solidFill>
                <a:latin typeface="Noto Sans"/>
              </a:defRPr>
            </a:pPr>
            <a:r>
              <a:rPr sz="127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Instructの原文（全文・コード指定を含む）</a:t>
            </a:r>
          </a:p>
        </p:txBody>
      </p:sp>
      <p:sp>
        <p:nvSpPr>
          <p:cNvPr id="5" name="quote-background"/>
          <p:cNvSpPr/>
          <p:nvPr/>
        </p:nvSpPr>
        <p:spPr>
          <a:xfrm>
            <a:off x="457200" y="1499616"/>
            <a:ext cx="8229600" cy="250380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iginal-instruct"/>
          <p:cNvSpPr txBox="1"/>
          <p:nvPr/>
        </p:nvSpPr>
        <p:spPr>
          <a:xfrm>
            <a:off x="457200" y="1499616"/>
            <a:ext cx="8229600" cy="2503804"/>
          </a:xfrm>
          <a:prstGeom prst="rect">
            <a:avLst/>
          </a:prstGeom>
          <a:noFill/>
        </p:spPr>
        <p:txBody>
          <a:bodyPr wrap="square" lIns="152400" rIns="152400" tIns="88900" bIns="88900">
            <a:noAutofit/>
          </a:bodyPr>
          <a:lstStyle/>
          <a:p>
            <a:pPr algn="l"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Standardize specified numeric columns in a dataframe.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function should raise the exception for: ValueError: If 'df' is not a DataFrame, 'cols' is not a list, or columns in 'cols' don't exist in 'df'.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function should output with: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   DataFrame: The dataframe with standardized columns.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You should write self-contained code starting with: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pandas as pd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sklearn.preprocessing import StandardScaler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def task_func(df, cols):</a:t>
            </a:r>
          </a:p>
        </p:txBody>
      </p:sp>
      <p:sp>
        <p:nvSpPr>
          <p:cNvPr id="7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 BigCodeBench/140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例2：日本語訳と期待する動作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課題と三つの実例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日本語訳（自然言語の指示）</a:t>
            </a:r>
          </a:p>
        </p:txBody>
      </p:sp>
      <p:sp>
        <p:nvSpPr>
          <p:cNvPr id="5" name="japanese-instruction"/>
          <p:cNvSpPr txBox="1"/>
          <p:nvPr/>
        </p:nvSpPr>
        <p:spPr>
          <a:xfrm>
            <a:off x="594360" y="1627632"/>
            <a:ext cx="7955279" cy="16385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4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フレームの指定した数値列を標準化する。dfがDataFrameでない場合、colsがリストでない場合、指定した列が存在しない場合はValueErrorを送出する。標準化した列を含むデータフレームを返す。指定された書き出しを使い、必要なコードをすべて含む実装を書く。</a:t>
            </a:r>
          </a:p>
        </p:txBody>
      </p:sp>
      <p:sp>
        <p:nvSpPr>
          <p:cNvPr id="6" name="expected-behavior"/>
          <p:cNvSpPr txBox="1"/>
          <p:nvPr/>
        </p:nvSpPr>
        <p:spPr>
          <a:xfrm>
            <a:off x="594360" y="3439922"/>
            <a:ext cx="7955279" cy="4385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2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期待する動作：平均は約0、標準偏差は約1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94360" y="3924173"/>
            <a:ext cx="7955279" cy="6090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配布テストはA・B列の平均と標準偏差を確認し、列が存在しない場合などの例外も調べる。</a:t>
            </a:r>
          </a:p>
        </p:txBody>
      </p:sp>
      <p:sp>
        <p:nvSpPr>
          <p:cNvPr id="8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 BigCodeBench/140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例3：Webページから最初のタグを読む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課題と三つの実例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9304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buNone/>
              <a:defRPr sz="1270" b="0">
                <a:solidFill>
                  <a:srgbClr val="303437"/>
                </a:solidFill>
                <a:latin typeface="Noto Sans"/>
              </a:defRPr>
            </a:pPr>
            <a:r>
              <a:rPr sz="127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Instructの原文（全文・コード指定を含む）</a:t>
            </a:r>
          </a:p>
        </p:txBody>
      </p:sp>
      <p:sp>
        <p:nvSpPr>
          <p:cNvPr id="5" name="quote-background"/>
          <p:cNvSpPr/>
          <p:nvPr/>
        </p:nvSpPr>
        <p:spPr>
          <a:xfrm>
            <a:off x="457200" y="1499616"/>
            <a:ext cx="8229600" cy="250380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iginal-instruct"/>
          <p:cNvSpPr txBox="1"/>
          <p:nvPr/>
        </p:nvSpPr>
        <p:spPr>
          <a:xfrm>
            <a:off x="457200" y="1499616"/>
            <a:ext cx="8229600" cy="2503804"/>
          </a:xfrm>
          <a:prstGeom prst="rect">
            <a:avLst/>
          </a:prstGeom>
          <a:noFill/>
        </p:spPr>
        <p:txBody>
          <a:bodyPr wrap="square" lIns="152400" rIns="152400" tIns="88900" bIns="88900">
            <a:noAutofit/>
          </a:bodyPr>
          <a:lstStyle/>
          <a:p>
            <a:pPr algn="l"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Scrape a web page for the first occurrence of a specified HTML tag and return its text content.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function should output with: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   str: The text content of the specified HTML tag if found, otherwise returns None.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You should write self-contained code starting with: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requests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bs4 import BeautifulSoup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def task_func(url, tag):</a:t>
            </a:r>
          </a:p>
        </p:txBody>
      </p:sp>
      <p:sp>
        <p:nvSpPr>
          <p:cNvPr id="7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 BigCodeBench/32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例3：日本語訳と期待する動作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課題と三つの実例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日本語訳（自然言語の指示）</a:t>
            </a:r>
          </a:p>
        </p:txBody>
      </p:sp>
      <p:sp>
        <p:nvSpPr>
          <p:cNvPr id="5" name="japanese-instruction"/>
          <p:cNvSpPr txBox="1"/>
          <p:nvPr/>
        </p:nvSpPr>
        <p:spPr>
          <a:xfrm>
            <a:off x="594360" y="1627632"/>
            <a:ext cx="7955279" cy="1321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4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Webページから、指定したHTMLタグの最初の出現を探し、そのテキストを返す。タグが見つからなければNoneを返す。指定された書き出しを使い、必要なコードをすべて含む実装を書く。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123184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配布テストのHTML（title部分）</a:t>
            </a:r>
          </a:p>
        </p:txBody>
      </p:sp>
      <p:sp>
        <p:nvSpPr>
          <p:cNvPr id="7" name="actual-test-input"/>
          <p:cNvSpPr txBox="1"/>
          <p:nvPr/>
        </p:nvSpPr>
        <p:spPr>
          <a:xfrm>
            <a:off x="594360" y="3360928"/>
            <a:ext cx="7955279" cy="3017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4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&lt;title&gt;Test Page&lt;/title&gt;</a:t>
            </a:r>
          </a:p>
        </p:txBody>
      </p:sp>
      <p:sp>
        <p:nvSpPr>
          <p:cNvPr id="8" name="expected-behavior"/>
          <p:cNvSpPr txBox="1"/>
          <p:nvPr/>
        </p:nvSpPr>
        <p:spPr>
          <a:xfrm>
            <a:off x="594360" y="3827272"/>
            <a:ext cx="7955279" cy="4385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2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期待する動作：titleタグの文字列は "Test Page"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594360" y="4311523"/>
            <a:ext cx="7955279" cy="336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タグが存在しない場合にNoneを返すことも確かめる。</a:t>
            </a:r>
          </a:p>
        </p:txBody>
      </p:sp>
      <p:sp>
        <p:nvSpPr>
          <p:cNvPr id="10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 BigCodeBench/32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79443"/>
            <a:ext cx="8046720" cy="64008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構築方法と課題の広がり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構築方法と課題の広がり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モデルによる生成を、専門家が繰り返し点検した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2024年に公開され、ICLR 2025で発表された。短いアルゴリズムだけでなく、複数のライブラリーを使う実用的な処理を評価するために作られた。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ODEXのコード例を種にGPT-4で課題を拡張し、関数名の置換や説明の言い換えを行った。4,718件の候補から、コードとテストを整える。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人が生成を指導し、テストの不足や実装の不備を修正した。最終的に1,140課題を残した。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構築方法と課題の広がり</a:t>
            </a:r>
          </a:p>
        </p:txBody>
      </p:sp>
      <p:sp>
        <p:nvSpPr>
          <p:cNvPr id="5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Zhuo et al. (2025), BigCodeBench. ICLR 2025.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https://arxiv.org/abs/2406.15877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20人の作業で、説明・実装・テストをそろえた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構築には著者20人が計1年間にわたり参加し、75%はPythonの経験が5年以上あった。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説明と実装の一致、必要なインポート、例外処理、テストの安定性を人が確認した。別の担当者による相互点検も行った。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最終確認では11人が計33課題を解き、32課題で全テストを通過した。これは構築時の標本による確認である。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構築方法と課題の広がり</a:t>
            </a:r>
          </a:p>
        </p:txBody>
      </p:sp>
      <p:sp>
        <p:nvSpPr>
          <p:cNvPr id="5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Zhuo et al. (2025), BigCodeBench. ICLR 2025.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https://arxiv.org/abs/2406.15877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多くの処理で、複数のライブラリーを使う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構築方法と課題の広がり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414016"/>
        </p:xfrm>
        <a:graphic>
          <a:graphicData uri="http://schemas.openxmlformats.org/drawingml/2006/table">
            <a:tbl>
              <a:tblPr firstRow="0" bandRow="0"/>
              <a:tblGrid>
                <a:gridCol w="6035040"/>
                <a:gridCol w="2011680"/>
              </a:tblGrid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Pythonの課題数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1,140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利用するライブラリー数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参照実装1課題のライブラリー数の平均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2.8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1課題のテスト数の平均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5.6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参照実装の平均分岐網羅率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5079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分岐網羅率は、参照実装の条件分岐をテストがどれだけ通るかを表す。</a:t>
            </a:r>
          </a:p>
        </p:txBody>
      </p:sp>
      <p:sp>
        <p:nvSpPr>
          <p:cNvPr id="6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Zhuo et al. (2025), BigCodeBench. ICLR 2025.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https://arxiv.org/abs/2406.15877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計算・汎用処理・可視化が多い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構築方法と課題の広がり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14545"/>
        </p:xfrm>
        <a:graphic>
          <a:graphicData uri="http://schemas.openxmlformats.org/drawingml/2006/table">
            <a:tbl>
              <a:tblPr firstRow="0" bandRow="0"/>
              <a:tblGrid>
                <a:gridCol w="5120640"/>
                <a:gridCol w="2926080"/>
              </a:tblGrid>
              <a:tr h="42290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ライブラリーの分野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使用する課題(%)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290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計算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290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汎用処理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290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可視化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290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システム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5132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同じ課題を複数の分野に数える。</a:t>
            </a:r>
          </a:p>
        </p:txBody>
      </p:sp>
      <p:sp>
        <p:nvSpPr>
          <p:cNvPr id="6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Zhuo et al. (2025), BigCodeBench. ICLR 2025.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https://arxiv.org/abs/2406.15877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時間・ネットワーク・暗号処理も扱う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構築方法と課題の広がり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750060"/>
        </p:xfrm>
        <a:graphic>
          <a:graphicData uri="http://schemas.openxmlformats.org/drawingml/2006/table">
            <a:tbl>
              <a:tblPr firstRow="0" bandRow="0"/>
              <a:tblGrid>
                <a:gridCol w="5120640"/>
                <a:gridCol w="2926080"/>
              </a:tblGrid>
              <a:tr h="4375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ライブラリーの分野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使用する課題(%)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375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時間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75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ネットワーク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75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暗号・符号化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8683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公式のCryptographyには、base64などの符号化も含まれる。</a:t>
            </a:r>
          </a:p>
        </p:txBody>
      </p:sp>
      <p:sp>
        <p:nvSpPr>
          <p:cNvPr id="6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Zhuo et al. (2025), BigCodeBench. ICLR 2025.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https://arxiv.org/abs/2406.15877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Hardは、実用的で難しい148課題を選ぶ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Fullは1,140課題全体を指し、Hardはその中から選んだ148課題の部分集合である。どちらにもCompleteとInstructがある。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HardはStack Overflowの利用者の質問と似た課題を取り出し、使うライブラリーの数、参照解の長さ、モデルの解決率などで絞った。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限られた計算予算で、難しい課題を評価したい場合に使う。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構築方法と課題の広がり</a:t>
            </a:r>
          </a:p>
        </p:txBody>
      </p:sp>
      <p:sp>
        <p:nvSpPr>
          <p:cNvPr id="5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Zhuo (2024), Introducing BigCodeBench-Hard.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https://huggingface.co/blog/terryyz/bigcodebench-hard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79443"/>
            <a:ext cx="8046720" cy="64008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採点方法とモデルの到達水準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採点方法とモデルの到達水準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全テストを通る課題の割合をPass@1にする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各課題で一つの実装を作り、その課題に付いたテストをすべて通れば成功とする。成功した課題の割合がPass@1である。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配列の値だけでなく、生成ファイル、例外、グラフの情報、模擬した通信の結果などもテストする。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2024年の主な比較は、解答例を示さないzero-shotと、次のトークンごとに最も確率が高い候補を選ぶgreedy decodingを使った。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採点方法とモデルの到達水準</a:t>
            </a:r>
          </a:p>
        </p:txBody>
      </p:sp>
      <p:sp>
        <p:nvSpPr>
          <p:cNvPr id="5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Zhuo et al. (2025), BigCodeBench. ICLR 2025.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https://arxiv.org/abs/2406.15877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省いたインポートを補う採点も報告する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生成コードから必要な部分を取り出した後、そのまま実行する成績と、欠けた書き出しを補う成績を計算する。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calibrated Pass@1は、欠けたインポートや定数などを入力のコード指定から補った成績である。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公開表には、コードの書き出しを回答の先頭に事前投入するprefillingの設定もある。採点時に欠けた部分を補うcalibrationと、生成を始める設定を分けて示す。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採点方法とモデルの到達水準</a:t>
            </a:r>
          </a:p>
        </p:txBody>
      </p:sp>
      <p:sp>
        <p:nvSpPr>
          <p:cNvPr id="5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Zhuo et al. (2025), BigCodeBench. ICLR 2025.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https://arxiv.org/abs/2406.15877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初期評価でも、Instructの得点が低い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採点方法とモデルの到達水準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09344"/>
        </p:xfrm>
        <a:graphic>
          <a:graphicData uri="http://schemas.openxmlformats.org/drawingml/2006/table">
            <a:tbl>
              <a:tblPr firstRow="0" bandRow="0"/>
              <a:tblGrid>
                <a:gridCol w="4389120"/>
                <a:gridCol w="1828800"/>
                <a:gridCol w="1828800"/>
              </a:tblGrid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モデル（2024年）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Complete(%)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Instruct(%)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GPT-4o (05-13)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60.2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49.9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3 Opus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56.8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45.2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DeepSeek Chat V2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49.4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40.4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246120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Full 1,140課題、zero-shot・greedy。そのまま実行したPass@1。</a:t>
            </a:r>
          </a:p>
        </p:txBody>
      </p:sp>
      <p:sp>
        <p:nvSpPr>
          <p:cNvPr id="6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Zhuo et al. (2025), BigCodeBench. ICLR 2025.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https://arxiv.org/abs/2406.15877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公式公開表には、後続モデルの評価も残る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採点方法とモデルの到達水準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536192"/>
        </p:xfrm>
        <a:graphic>
          <a:graphicData uri="http://schemas.openxmlformats.org/drawingml/2006/table">
            <a:tbl>
              <a:tblPr firstRow="0" bandRow="0"/>
              <a:tblGrid>
                <a:gridCol w="3566160"/>
                <a:gridCol w="1188720"/>
                <a:gridCol w="1645920"/>
                <a:gridCol w="1645920"/>
              </a:tblGrid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事前投入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Complete(%)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Instruct(%)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GPT-4.1 Mini (2025)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なし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59.3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48.9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DeepSeek V3 (2024)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なし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62.2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Qwen2.5 Coder 32B (2024)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あり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58.0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49.0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17296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Full、calibrated Pass@1。2026-10-22取得の公開表。</a:t>
            </a:r>
          </a:p>
        </p:txBody>
      </p:sp>
      <p:sp>
        <p:nvSpPr>
          <p:cNvPr id="6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official BigCodeBench results.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https://huggingface.co/datasets/bigcode/bigcodebench-results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Hardでは、同じモデルも得点が下がる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採点方法とモデルの到達水準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536192"/>
        </p:xfrm>
        <a:graphic>
          <a:graphicData uri="http://schemas.openxmlformats.org/drawingml/2006/table">
            <a:tbl>
              <a:tblPr firstRow="0" bandRow="0"/>
              <a:tblGrid>
                <a:gridCol w="3566160"/>
                <a:gridCol w="1188720"/>
                <a:gridCol w="1645920"/>
                <a:gridCol w="1645920"/>
              </a:tblGrid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事前投入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Complete(%)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Instruct(%)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GPT-4.1 Mini (2025)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なし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33.8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31.8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DeepSeek V3 (2024)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なし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40.5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28.4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Qwen2.5 Coder 32B (2024)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あり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33.8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27.7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17296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Hard 148課題、calibrated Pass@1。</a:t>
            </a:r>
          </a:p>
        </p:txBody>
      </p:sp>
      <p:sp>
        <p:nvSpPr>
          <p:cNvPr id="6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official BigCodeBench-Hard results.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https://huggingface.co/datasets/bigcode/bigcodebench-hard-results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79443"/>
            <a:ext cx="8046720" cy="64008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継続利用と入手方法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継続利用と入手方法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2026年には、追加訓練後の能力確認にも使われる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Leeらは、エージェントに不正な振る舞いを自己申告させる訓練を行い、一般的な能力が保たれるか調べた。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七つの評価の一つに、BigCodeBenchの1,140課題を採用した。公開コードはComplete形式を使う。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GPT-4.1、GPT-4.1 mini、Gemini 2.0 Flashの訓練前後を比較する。ここではコード生成能力を保てるかを測る役割を持つ。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継続利用と入手方法</a:t>
            </a:r>
          </a:p>
        </p:txBody>
      </p:sp>
      <p:sp>
        <p:nvSpPr>
          <p:cNvPr id="5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Lee, Chen and Korbak (2026), Training Agents to Self-Report Misbehavior.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https://arxiv.org/abs/2602.22303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公式配布から、二つの提示文とテストを読める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Hugging Faceのbigcode/bigcodebenchで、1,140課題を申請なしで取得できる。ここで使ったv0.1.4には、依頼文、書き出し、参照実装、テストがそろっている。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CompleteとInstructの両方を同じ課題IDで確認できる。v0.1.4はデータの改訂版を示す。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公式GitHubには評価用の実装と環境の案内があり、FullとHard、提示形式を選べる。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継続利用と入手方法</a:t>
            </a:r>
          </a:p>
        </p:txBody>
      </p:sp>
      <p:sp>
        <p:nvSpPr>
          <p:cNvPr id="5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1件の依頼とテストを確認する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継続利用と入手方法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225425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datasets import load_dataset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ds = load_dataset("bigcode/bigcodebench",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          split="v0.1.4")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item = ds[25]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print(item["instruct_prompt"])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print(item["test"])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964177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依頼文とテストを同じレコードで読み、求められる動作を確かめる。</a:t>
            </a:r>
          </a:p>
        </p:txBody>
      </p:sp>
      <p:sp>
        <p:nvSpPr>
          <p:cNvPr id="6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データと評価コードはApache 2.0で配布される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公式データカードとコードはApache License 2.0を指定する。利用・改変・再配布ができ、再配布にはライセンス文や必要な帰属表示を保つ。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実行環境には、対象課題が使うPythonライブラリーも必要になる。公式に用意された評価環境から始めると、依存関係をそろえやすい。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継続利用と入手方法</a:t>
            </a:r>
          </a:p>
        </p:txBody>
      </p:sp>
      <p:sp>
        <p:nvSpPr>
          <p:cNvPr id="5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official repository.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https://github.com/bigcode-project/bigcodebench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750" b="0">
                <a:solidFill>
                  <a:srgbClr val="303437"/>
                </a:solidFill>
                <a:latin typeface="Noto Sans"/>
              </a:defRPr>
            </a:pPr>
            <a:r>
              <a:rPr sz="27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ライブラリーを組み合わせ、指定の動作を実装する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BigCodeBenchは、実用的なPython処理を関数単位で実装する1,140課題である。139ライブラリーにまたがる機能の組合せと、複数の要件への対応を評価する。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同じ課題の詳しいCompleteと簡潔なInstruct、全体のFullと難しいHardを目的に合わせて選ぶ。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戻り値だけでなく、ファイルや例外などを確認するテストから、何を実装できたかを具体的に調べられる。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継続利用と入手方法</a:t>
            </a:r>
          </a:p>
        </p:txBody>
      </p:sp>
      <p:sp>
        <p:nvSpPr>
          <p:cNvPr id="5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Zhuo et al. (2025), BigCodeBench. ICLR 2025.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https://arxiv.org/abs/2406.15877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57403"/>
            <a:ext cx="8046720" cy="64008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多様な処理を示す追加例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提示形式と利用条件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例4：ファイルをZIPへまとめる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多様な処理を示す追加例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9304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buNone/>
              <a:defRPr sz="1270" b="0">
                <a:solidFill>
                  <a:srgbClr val="303437"/>
                </a:solidFill>
                <a:latin typeface="Noto Sans"/>
              </a:defRPr>
            </a:pPr>
            <a:r>
              <a:rPr sz="127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Instructの原文（全文・コード指定を含む）</a:t>
            </a:r>
          </a:p>
        </p:txBody>
      </p:sp>
      <p:sp>
        <p:nvSpPr>
          <p:cNvPr id="5" name="quote-background"/>
          <p:cNvSpPr/>
          <p:nvPr/>
        </p:nvSpPr>
        <p:spPr>
          <a:xfrm>
            <a:off x="457200" y="1499616"/>
            <a:ext cx="8229600" cy="309816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iginal-instruct"/>
          <p:cNvSpPr txBox="1"/>
          <p:nvPr/>
        </p:nvSpPr>
        <p:spPr>
          <a:xfrm>
            <a:off x="457200" y="1499616"/>
            <a:ext cx="8229600" cy="3098164"/>
          </a:xfrm>
          <a:prstGeom prst="rect">
            <a:avLst/>
          </a:prstGeom>
          <a:noFill/>
        </p:spPr>
        <p:txBody>
          <a:bodyPr wrap="square" lIns="152400" rIns="152400" tIns="88900" bIns="88900">
            <a:noAutofit/>
          </a:bodyPr>
          <a:lstStyle/>
          <a:p>
            <a:pPr algn="l"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Zips all files (not including subdirectories) located in the specified directory and returns the path to the created zip file.</a:t>
            </a:r>
          </a:p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Note that: Notes: The zip name is always 'files.zip'</a:t>
            </a:r>
          </a:p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function should raise the exception for: FileNotFoundError: if the specified directory does not exist</a:t>
            </a:r>
          </a:p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function should output with:</a:t>
            </a:r>
          </a:p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   str: The path to the generated zip file. Returns None if the directory does not contain any files.</a:t>
            </a:r>
          </a:p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You should write self-contained code starting with:</a:t>
            </a:r>
          </a:p>
          <a:p>
            <a:pPr>
              <a:lnSpc>
                <a:spcPts val="173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os</a:t>
            </a:r>
          </a:p>
          <a:p>
            <a:pPr>
              <a:lnSpc>
                <a:spcPts val="173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glob</a:t>
            </a:r>
          </a:p>
          <a:p>
            <a:pPr>
              <a:lnSpc>
                <a:spcPts val="173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zipfile</a:t>
            </a:r>
          </a:p>
          <a:p>
            <a:pPr>
              <a:lnSpc>
                <a:spcPts val="173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def task_func(directory):</a:t>
            </a:r>
          </a:p>
        </p:txBody>
      </p:sp>
      <p:sp>
        <p:nvSpPr>
          <p:cNvPr id="7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 BigCodeBench/19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例4：日本語訳と期待する動作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多様な処理を示す追加例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日本語訳（自然言語の指示）</a:t>
            </a:r>
          </a:p>
        </p:txBody>
      </p:sp>
      <p:sp>
        <p:nvSpPr>
          <p:cNvPr id="5" name="japanese-instruction"/>
          <p:cNvSpPr txBox="1"/>
          <p:nvPr/>
        </p:nvSpPr>
        <p:spPr>
          <a:xfrm>
            <a:off x="594360" y="1627632"/>
            <a:ext cx="7955279" cy="18668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7"/>
              </a:lnSpc>
              <a:spcBef>
                <a:spcPts val="0"/>
              </a:spcBef>
              <a:spcAft>
                <a:spcPts val="0"/>
              </a:spcAft>
              <a:buNone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指定したディレクトリのファイルをZIPにまとめ、生成したZIPのパスを返す。サブディレクトリは含めない。ファイル名は常にfiles.zipとする。指定ディレクトリが存在しなければFileNotFoundErrorを送出し、ファイルが一つもなければNoneを返す。指定された書き出しを使い、必要なコードをすべて含む実装を書く。</a:t>
            </a:r>
          </a:p>
        </p:txBody>
      </p:sp>
      <p:sp>
        <p:nvSpPr>
          <p:cNvPr id="6" name="expected-behavior"/>
          <p:cNvSpPr txBox="1"/>
          <p:nvPr/>
        </p:nvSpPr>
        <p:spPr>
          <a:xfrm>
            <a:off x="594360" y="3549396"/>
            <a:ext cx="7955279" cy="4385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2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期待する動作：直下のファイルだけをZIPに含める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94360" y="4033647"/>
            <a:ext cx="7955279" cy="6090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配布テストは直下とサブディレクトリに各1ファイルを置き、ZIPに直下の1ファイルだけが入ることを確認する。</a:t>
            </a:r>
          </a:p>
        </p:txBody>
      </p:sp>
      <p:sp>
        <p:nvSpPr>
          <p:cNvPr id="8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 BigCodeBench/19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例5：指定語を除いて単語の頻度を数える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多様な処理を示す追加例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9304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buNone/>
              <a:defRPr sz="1270" b="0">
                <a:solidFill>
                  <a:srgbClr val="303437"/>
                </a:solidFill>
                <a:latin typeface="Noto Sans"/>
              </a:defRPr>
            </a:pPr>
            <a:r>
              <a:rPr sz="127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Instructの原文（全文・コード指定を含む）</a:t>
            </a:r>
          </a:p>
        </p:txBody>
      </p:sp>
      <p:sp>
        <p:nvSpPr>
          <p:cNvPr id="5" name="quote-background"/>
          <p:cNvSpPr/>
          <p:nvPr/>
        </p:nvSpPr>
        <p:spPr>
          <a:xfrm>
            <a:off x="457200" y="1499616"/>
            <a:ext cx="8229600" cy="301129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iginal-instruct"/>
          <p:cNvSpPr txBox="1"/>
          <p:nvPr/>
        </p:nvSpPr>
        <p:spPr>
          <a:xfrm>
            <a:off x="457200" y="1499616"/>
            <a:ext cx="8229600" cy="3011296"/>
          </a:xfrm>
          <a:prstGeom prst="rect">
            <a:avLst/>
          </a:prstGeom>
          <a:noFill/>
        </p:spPr>
        <p:txBody>
          <a:bodyPr wrap="square" lIns="152400" rIns="152400" tIns="88900" bIns="88900">
            <a:noAutofit/>
          </a:bodyPr>
          <a:lstStyle/>
          <a:p>
            <a:pPr algn="l"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Count the frequency of each word in a text after removing specific stopwords.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function should output with: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   Series: A pandas Series with word frequencies excluding the words in STOPWORDS list.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You should write self-contained code starting with: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pandas as pd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regex as re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# Constants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STOPWORDS = ["a", "an", "the", "in", "is", "are"]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def task_func(text):</a:t>
            </a:r>
          </a:p>
        </p:txBody>
      </p:sp>
      <p:sp>
        <p:nvSpPr>
          <p:cNvPr id="7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 BigCodeBench/52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例5：日本語訳と期待する動作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多様な処理を示す追加例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日本語訳（自然言語の指示）</a:t>
            </a:r>
          </a:p>
        </p:txBody>
      </p:sp>
      <p:sp>
        <p:nvSpPr>
          <p:cNvPr id="5" name="japanese-instruction"/>
          <p:cNvSpPr txBox="1"/>
          <p:nvPr/>
        </p:nvSpPr>
        <p:spPr>
          <a:xfrm>
            <a:off x="594360" y="1627632"/>
            <a:ext cx="7955279" cy="1321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4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テキストから指定された除外語を取り除き、各単語の出現頻度を数える。STOPWORDSの語を含まない、単語頻度のpandas Seriesを返す。指定された書き出しを使い、必要なコードをすべて含む実装を書く。</a:t>
            </a:r>
          </a:p>
        </p:txBody>
      </p:sp>
      <p:sp>
        <p:nvSpPr>
          <p:cNvPr id="6" name="expected-behavior"/>
          <p:cNvSpPr txBox="1"/>
          <p:nvPr/>
        </p:nvSpPr>
        <p:spPr>
          <a:xfrm>
            <a:off x="594360" y="3123184"/>
            <a:ext cx="7955279" cy="73990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2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期待する動作："Hello world Hello everyone" から hello は2回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94360" y="3908806"/>
            <a:ext cx="7955279" cy="6090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配布テストは大文字と小文字をそろえた数え上げを確認する。a・an・the・in・is・areだけの入力なら、結果は空になる。</a:t>
            </a:r>
          </a:p>
        </p:txBody>
      </p:sp>
      <p:sp>
        <p:nvSpPr>
          <p:cNvPr id="8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 BigCodeBench/52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例6：テキストから得点と科目を取り出す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多様な処理を示す追加例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9304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buNone/>
              <a:defRPr sz="1270" b="0">
                <a:solidFill>
                  <a:srgbClr val="303437"/>
                </a:solidFill>
                <a:latin typeface="Noto Sans"/>
              </a:defRPr>
            </a:pPr>
            <a:r>
              <a:rPr sz="127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Instructの原文（全文・コード指定を含む）</a:t>
            </a:r>
          </a:p>
        </p:txBody>
      </p:sp>
      <p:sp>
        <p:nvSpPr>
          <p:cNvPr id="5" name="quote-background"/>
          <p:cNvSpPr/>
          <p:nvPr/>
        </p:nvSpPr>
        <p:spPr>
          <a:xfrm>
            <a:off x="457200" y="1499616"/>
            <a:ext cx="8229600" cy="250380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iginal-instruct"/>
          <p:cNvSpPr txBox="1"/>
          <p:nvPr/>
        </p:nvSpPr>
        <p:spPr>
          <a:xfrm>
            <a:off x="457200" y="1499616"/>
            <a:ext cx="8229600" cy="2503804"/>
          </a:xfrm>
          <a:prstGeom prst="rect">
            <a:avLst/>
          </a:prstGeom>
          <a:noFill/>
        </p:spPr>
        <p:txBody>
          <a:bodyPr wrap="square" lIns="152400" rIns="152400" tIns="88900" bIns="88900">
            <a:noAutofit/>
          </a:bodyPr>
          <a:lstStyle/>
          <a:p>
            <a:pPr algn="l"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Extract data from a text and create a Pandas DataFrame. The text contains several lines, each formatted as 'Score: 85, Category: Math'. Make sure to convert the scores in integer.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function should output with: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   DataFrame: A pandas DataFrame with extracted data.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You should write self-contained code starting with: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pandas as pd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regex as re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def task_func(text):</a:t>
            </a:r>
          </a:p>
        </p:txBody>
      </p:sp>
      <p:sp>
        <p:nvSpPr>
          <p:cNvPr id="7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 BigCodeBench/56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例6：日本語訳と期待する動作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多様な処理を示す追加例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日本語訳（自然言語の指示）</a:t>
            </a:r>
          </a:p>
        </p:txBody>
      </p:sp>
      <p:sp>
        <p:nvSpPr>
          <p:cNvPr id="5" name="japanese-instruction"/>
          <p:cNvSpPr txBox="1"/>
          <p:nvPr/>
        </p:nvSpPr>
        <p:spPr>
          <a:xfrm>
            <a:off x="594360" y="1627632"/>
            <a:ext cx="7955279" cy="1321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4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テキストからデータを抽出し、pandas DataFrameを作る。各行は「Score: 85, Category: Math」の形式である。得点は整数に変換する。抽出したデータを含むデータフレームを返す。指定された書き出しを使い、必要なコードをすべて含む実装を書く。</a:t>
            </a:r>
          </a:p>
        </p:txBody>
      </p:sp>
      <p:sp>
        <p:nvSpPr>
          <p:cNvPr id="6" name="expected-behavior"/>
          <p:cNvSpPr txBox="1"/>
          <p:nvPr/>
        </p:nvSpPr>
        <p:spPr>
          <a:xfrm>
            <a:off x="594360" y="3123184"/>
            <a:ext cx="7955279" cy="73990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2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期待する動作：Score列に整数85、Category列にMathが入る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94360" y="3908806"/>
            <a:ext cx="7955279" cy="6090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配布テストは複数行を与え、各行の得点と科目を確認する。空のテキストからは0行のデータフレームを返す。</a:t>
            </a:r>
          </a:p>
        </p:txBody>
      </p:sp>
      <p:sp>
        <p:nvSpPr>
          <p:cNvPr id="8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 BigCodeBench/56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例7：辞書のリストをCSVとJSONに保存する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多様な処理を示す追加例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9304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buNone/>
              <a:defRPr sz="1270" b="0">
                <a:solidFill>
                  <a:srgbClr val="303437"/>
                </a:solidFill>
                <a:latin typeface="Noto Sans"/>
              </a:defRPr>
            </a:pPr>
            <a:r>
              <a:rPr sz="127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Instructの原文（全文・コード指定を含む）</a:t>
            </a:r>
          </a:p>
        </p:txBody>
      </p:sp>
      <p:sp>
        <p:nvSpPr>
          <p:cNvPr id="5" name="quote-background"/>
          <p:cNvSpPr/>
          <p:nvPr/>
        </p:nvSpPr>
        <p:spPr>
          <a:xfrm>
            <a:off x="457200" y="1499616"/>
            <a:ext cx="8229600" cy="249675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iginal-instruct"/>
          <p:cNvSpPr txBox="1"/>
          <p:nvPr/>
        </p:nvSpPr>
        <p:spPr>
          <a:xfrm>
            <a:off x="457200" y="1499616"/>
            <a:ext cx="8229600" cy="2496756"/>
          </a:xfrm>
          <a:prstGeom prst="rect">
            <a:avLst/>
          </a:prstGeom>
          <a:noFill/>
        </p:spPr>
        <p:txBody>
          <a:bodyPr wrap="square" lIns="152400" rIns="152400" tIns="88900" bIns="88900">
            <a:noAutofit/>
          </a:bodyPr>
          <a:lstStyle/>
          <a:p>
            <a:pPr algn="l"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Save the list of dictionaries provided in the 'result' parameter to a CSV file (without index) and a JSON file.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function should output with: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   None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You should write self-contained code starting with: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json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pandas as pd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def task_func(result, csv_file_path="test.csv", json_file_path="test.json"):</a:t>
            </a:r>
          </a:p>
        </p:txBody>
      </p:sp>
      <p:sp>
        <p:nvSpPr>
          <p:cNvPr id="7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 BigCodeBench/60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例7：日本語訳と期待する動作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多様な処理を示す追加例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日本語訳（自然言語の指示）</a:t>
            </a:r>
          </a:p>
        </p:txBody>
      </p:sp>
      <p:sp>
        <p:nvSpPr>
          <p:cNvPr id="5" name="japanese-instruction"/>
          <p:cNvSpPr txBox="1"/>
          <p:nvPr/>
        </p:nvSpPr>
        <p:spPr>
          <a:xfrm>
            <a:off x="594360" y="1627632"/>
            <a:ext cx="7955279" cy="1321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4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resultとして与えた辞書のリストを、インデックスを付けないCSVと、JSONの両方に保存する。戻り値はNoneとする。指定された書き出しを使い、必要なコードをすべて含む実装を書く。</a:t>
            </a:r>
          </a:p>
        </p:txBody>
      </p:sp>
      <p:sp>
        <p:nvSpPr>
          <p:cNvPr id="6" name="expected-behavior"/>
          <p:cNvSpPr txBox="1"/>
          <p:nvPr/>
        </p:nvSpPr>
        <p:spPr>
          <a:xfrm>
            <a:off x="594360" y="3123184"/>
            <a:ext cx="7955279" cy="4385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2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期待する動作：両方のファイルに元の値を保存する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94360" y="3607435"/>
            <a:ext cx="7955279" cy="6090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配布テストは、hi=7・bye=4・from_user=11を持つデータを保存し、CSVとJSONを読み戻して値を確認する。</a:t>
            </a:r>
          </a:p>
        </p:txBody>
      </p:sp>
      <p:sp>
        <p:nvSpPr>
          <p:cNvPr id="8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 BigCodeBench/60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例8：日別売上の折れ線グラフを返す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多様な処理を示す追加例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9304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buNone/>
              <a:defRPr sz="1270" b="0">
                <a:solidFill>
                  <a:srgbClr val="303437"/>
                </a:solidFill>
                <a:latin typeface="Noto Sans"/>
              </a:defRPr>
            </a:pPr>
            <a:r>
              <a:rPr sz="127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Instructの原文（全文・コード指定を含む）</a:t>
            </a:r>
          </a:p>
        </p:txBody>
      </p:sp>
      <p:sp>
        <p:nvSpPr>
          <p:cNvPr id="5" name="quote-background"/>
          <p:cNvSpPr/>
          <p:nvPr/>
        </p:nvSpPr>
        <p:spPr>
          <a:xfrm>
            <a:off x="457200" y="1499616"/>
            <a:ext cx="8229600" cy="27645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iginal-instruct"/>
          <p:cNvSpPr txBox="1"/>
          <p:nvPr/>
        </p:nvSpPr>
        <p:spPr>
          <a:xfrm>
            <a:off x="457200" y="1499616"/>
            <a:ext cx="8229600" cy="2764599"/>
          </a:xfrm>
          <a:prstGeom prst="rect">
            <a:avLst/>
          </a:prstGeom>
          <a:noFill/>
        </p:spPr>
        <p:txBody>
          <a:bodyPr wrap="square" lIns="152400" rIns="152400" tIns="88900" bIns="88900">
            <a:noAutofit/>
          </a:bodyPr>
          <a:lstStyle/>
          <a:p>
            <a:pPr algn="l"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Draw and return the daily turnover line chart from a pandas DataFrame.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function should raise the exception for: ValueError: If 'df' is not a DataFrame or lacks 'Date' or 'Sales' columns, or has no data to plot.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function should output with: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   Axes: Matplotlib Axes object with the line chart.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You should write self-contained code starting with: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pandas as pd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matplotlib.pyplot as plt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def task_func(df):</a:t>
            </a:r>
          </a:p>
        </p:txBody>
      </p:sp>
      <p:sp>
        <p:nvSpPr>
          <p:cNvPr id="7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 BigCodeBench/110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例8：日本語訳と期待する動作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多様な処理を示す追加例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日本語訳（自然言語の指示）</a:t>
            </a:r>
          </a:p>
        </p:txBody>
      </p:sp>
      <p:sp>
        <p:nvSpPr>
          <p:cNvPr id="5" name="japanese-instruction"/>
          <p:cNvSpPr txBox="1"/>
          <p:nvPr/>
        </p:nvSpPr>
        <p:spPr>
          <a:xfrm>
            <a:off x="594360" y="1627632"/>
            <a:ext cx="7955279" cy="16385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4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pandas DataFrameから日別売上の折れ線グラフを描いて返す。dfがDataFrameでない場合、Date列またはSales列がない場合、描くデータがない場合はValueErrorを送出する。MatplotlibのAxesオブジェクトを返す。指定された書き出しを使い、必要なコードをすべて含む実装を書く。</a:t>
            </a:r>
          </a:p>
        </p:txBody>
      </p:sp>
      <p:sp>
        <p:nvSpPr>
          <p:cNvPr id="6" name="expected-behavior"/>
          <p:cNvSpPr txBox="1"/>
          <p:nvPr/>
        </p:nvSpPr>
        <p:spPr>
          <a:xfrm>
            <a:off x="594360" y="3439922"/>
            <a:ext cx="7955279" cy="4385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2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期待する動作：タイトルはDaily Turnover、縦軸はSales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94360" y="3924173"/>
            <a:ext cx="7955279" cy="6090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Axesはグラフを描く領域を表す。配布テストは描画オブジェクトの型と、折れ線上の売上値、タイトル、縦軸ラベルを調べる。</a:t>
            </a:r>
          </a:p>
        </p:txBody>
      </p:sp>
      <p:sp>
        <p:nvSpPr>
          <p:cNvPr id="8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 BigCodeBench/110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例9：IPアドレスの一覧をCSVに保存する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多様な処理を示す追加例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9304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buNone/>
              <a:defRPr sz="1270" b="0">
                <a:solidFill>
                  <a:srgbClr val="303437"/>
                </a:solidFill>
                <a:latin typeface="Noto Sans"/>
              </a:defRPr>
            </a:pPr>
            <a:r>
              <a:rPr sz="127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Instructの原文（全文・コード指定を含む）</a:t>
            </a:r>
          </a:p>
        </p:txBody>
      </p:sp>
      <p:sp>
        <p:nvSpPr>
          <p:cNvPr id="5" name="quote-background"/>
          <p:cNvSpPr/>
          <p:nvPr/>
        </p:nvSpPr>
        <p:spPr>
          <a:xfrm>
            <a:off x="457200" y="1499616"/>
            <a:ext cx="8229600" cy="224301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iginal-instruct"/>
          <p:cNvSpPr txBox="1"/>
          <p:nvPr/>
        </p:nvSpPr>
        <p:spPr>
          <a:xfrm>
            <a:off x="457200" y="1499616"/>
            <a:ext cx="8229600" cy="2243010"/>
          </a:xfrm>
          <a:prstGeom prst="rect">
            <a:avLst/>
          </a:prstGeom>
          <a:noFill/>
        </p:spPr>
        <p:txBody>
          <a:bodyPr wrap="square" lIns="152400" rIns="152400" tIns="88900" bIns="88900">
            <a:noAutofit/>
          </a:bodyPr>
          <a:lstStyle/>
          <a:p>
            <a:pPr algn="l"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Generates a CSV file listing all IP addresses in the specified IP range. Each IP address is written as a row in the CSV file.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function should output with: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   str: The path to the generated CSV file.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You should write self-contained code starting with: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csv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ipaddress import IPv4Network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def task_func(ip_range, csv_path):</a:t>
            </a:r>
          </a:p>
        </p:txBody>
      </p:sp>
      <p:sp>
        <p:nvSpPr>
          <p:cNvPr id="7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 BigCodeBench/145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例9：日本語訳と期待する動作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多様な処理を示す追加例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日本語訳（自然言語の指示）</a:t>
            </a:r>
          </a:p>
        </p:txBody>
      </p:sp>
      <p:sp>
        <p:nvSpPr>
          <p:cNvPr id="5" name="japanese-instruction"/>
          <p:cNvSpPr txBox="1"/>
          <p:nvPr/>
        </p:nvSpPr>
        <p:spPr>
          <a:xfrm>
            <a:off x="594360" y="1627632"/>
            <a:ext cx="7955279" cy="1321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4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指定されたIPアドレスの範囲について、全アドレスの一覧をCSVに保存する。各アドレスを1行に書き、生成したCSVのパスを文字列として返す。指定された書き出しを使い、必要なコードをすべて含む実装を書く。</a:t>
            </a:r>
          </a:p>
        </p:txBody>
      </p:sp>
      <p:sp>
        <p:nvSpPr>
          <p:cNvPr id="6" name="expected-behavior"/>
          <p:cNvSpPr txBox="1"/>
          <p:nvPr/>
        </p:nvSpPr>
        <p:spPr>
          <a:xfrm>
            <a:off x="594360" y="3123184"/>
            <a:ext cx="7955279" cy="4385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2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期待する動作：見出しの後に、列挙された各アドレスを書き出す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94360" y="3607435"/>
            <a:ext cx="7955279" cy="6090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配布テストはアドレスの列挙を2件に置き換え、見出しを1回、データ行を2回書くことを確認する。ファイルの作成と戻り値の型も調べる。</a:t>
            </a:r>
          </a:p>
        </p:txBody>
      </p:sp>
      <p:sp>
        <p:nvSpPr>
          <p:cNvPr id="8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 BigCodeBench/145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例10：カテゴリ値を整数へ符号化する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多様な処理を示す追加例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9304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buNone/>
              <a:defRPr sz="1270" b="0">
                <a:solidFill>
                  <a:srgbClr val="303437"/>
                </a:solidFill>
                <a:latin typeface="Noto Sans"/>
              </a:defRPr>
            </a:pPr>
            <a:r>
              <a:rPr sz="127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Instructの原文（全文・コード指定を含む）</a:t>
            </a:r>
          </a:p>
        </p:txBody>
      </p:sp>
      <p:sp>
        <p:nvSpPr>
          <p:cNvPr id="5" name="quote-background"/>
          <p:cNvSpPr/>
          <p:nvPr/>
        </p:nvSpPr>
        <p:spPr>
          <a:xfrm>
            <a:off x="457200" y="1499616"/>
            <a:ext cx="8229600" cy="249675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iginal-instruct"/>
          <p:cNvSpPr txBox="1"/>
          <p:nvPr/>
        </p:nvSpPr>
        <p:spPr>
          <a:xfrm>
            <a:off x="457200" y="1499616"/>
            <a:ext cx="8229600" cy="2496756"/>
          </a:xfrm>
          <a:prstGeom prst="rect">
            <a:avLst/>
          </a:prstGeom>
          <a:noFill/>
        </p:spPr>
        <p:txBody>
          <a:bodyPr wrap="square" lIns="152400" rIns="152400" tIns="88900" bIns="88900">
            <a:noAutofit/>
          </a:bodyPr>
          <a:lstStyle/>
          <a:p>
            <a:pPr algn="l"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Encrypt the categorical data in a specific column of a DataFrame using LabelEncoder.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function should output with: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   pd.DataFrame: The DataFrame with the encoded column.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You should write self-contained code starting with: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pandas as pd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sklearn.preprocessing import LabelEncoder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def task_func(df: pd.DataFrame, column_name: str) -&gt; pd.DataFrame:</a:t>
            </a:r>
          </a:p>
        </p:txBody>
      </p:sp>
      <p:sp>
        <p:nvSpPr>
          <p:cNvPr id="7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 BigCodeBench/148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例10：日本語訳と期待する動作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多様な処理を示す追加例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日本語訳（自然言語の指示）</a:t>
            </a:r>
          </a:p>
        </p:txBody>
      </p:sp>
      <p:sp>
        <p:nvSpPr>
          <p:cNvPr id="5" name="japanese-instruction"/>
          <p:cNvSpPr txBox="1"/>
          <p:nvPr/>
        </p:nvSpPr>
        <p:spPr>
          <a:xfrm>
            <a:off x="594360" y="1627632"/>
            <a:ext cx="7955279" cy="1321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4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LabelEncoderを使い、DataFrameの指定した列にあるカテゴリ値を整数に符号化する。符号化した列を含むDataFrameを返す。指定された書き出しを使い、必要なコードをすべて含む実装を書く。</a:t>
            </a:r>
          </a:p>
        </p:txBody>
      </p:sp>
      <p:sp>
        <p:nvSpPr>
          <p:cNvPr id="6" name="expected-behavior"/>
          <p:cNvSpPr txBox="1"/>
          <p:nvPr/>
        </p:nvSpPr>
        <p:spPr>
          <a:xfrm>
            <a:off x="594360" y="3123184"/>
            <a:ext cx="7955279" cy="73990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2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期待する動作：apple・banana・cherryを0・1・2に対応させる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94360" y="3908806"/>
            <a:ext cx="7955279" cy="6090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配布テストのfruit列はapple, banana, cherry, apple, bananaであり、出力は0, 1, 2, 0, 1になる。</a:t>
            </a:r>
          </a:p>
        </p:txBody>
      </p:sp>
      <p:sp>
        <p:nvSpPr>
          <p:cNvPr id="8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 BigCodeBench/148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例11：SQLの検索結果をデータフレームにする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多様な処理を示す追加例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9304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buNone/>
              <a:defRPr sz="1270" b="0">
                <a:solidFill>
                  <a:srgbClr val="303437"/>
                </a:solidFill>
                <a:latin typeface="Noto Sans"/>
              </a:defRPr>
            </a:pPr>
            <a:r>
              <a:rPr sz="127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Instructの原文（全文・コード指定を含む）</a:t>
            </a:r>
          </a:p>
        </p:txBody>
      </p:sp>
      <p:sp>
        <p:nvSpPr>
          <p:cNvPr id="5" name="quote-background"/>
          <p:cNvSpPr/>
          <p:nvPr/>
        </p:nvSpPr>
        <p:spPr>
          <a:xfrm>
            <a:off x="457200" y="1499616"/>
            <a:ext cx="8229600" cy="27645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iginal-instruct"/>
          <p:cNvSpPr txBox="1"/>
          <p:nvPr/>
        </p:nvSpPr>
        <p:spPr>
          <a:xfrm>
            <a:off x="457200" y="1499616"/>
            <a:ext cx="8229600" cy="2764599"/>
          </a:xfrm>
          <a:prstGeom prst="rect">
            <a:avLst/>
          </a:prstGeom>
          <a:noFill/>
        </p:spPr>
        <p:txBody>
          <a:bodyPr wrap="square" lIns="152400" rIns="152400" tIns="88900" bIns="88900">
            <a:noAutofit/>
          </a:bodyPr>
          <a:lstStyle/>
          <a:p>
            <a:pPr algn="l"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Query an SQLite database and return the results. This function connects to a given SQLite database, executes a given SQL query, and returns the results as a pandas DataFrame.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function should output with: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   pd.DataFrame: A DataFrame containing the results of the executed query.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You should write self-contained code starting with: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sqlite3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pandas as pd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def task_func(db_file: str, query: str) -&gt; pd.DataFrame:</a:t>
            </a:r>
          </a:p>
        </p:txBody>
      </p:sp>
      <p:sp>
        <p:nvSpPr>
          <p:cNvPr id="7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 BigCodeBench/408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例11：日本語訳と期待する動作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多様な処理を示す追加例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日本語訳（自然言語の指示）</a:t>
            </a:r>
          </a:p>
        </p:txBody>
      </p:sp>
      <p:sp>
        <p:nvSpPr>
          <p:cNvPr id="5" name="japanese-instruction"/>
          <p:cNvSpPr txBox="1"/>
          <p:nvPr/>
        </p:nvSpPr>
        <p:spPr>
          <a:xfrm>
            <a:off x="594360" y="1627632"/>
            <a:ext cx="7955279" cy="10050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4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指定されたSQLiteデータベースに接続し、SQLの問い合わせを実行する。検索結果を含むpandas DataFrameを返す。指定された書き出しを使い、必要なコードをすべて含む実装を書く。</a:t>
            </a:r>
          </a:p>
        </p:txBody>
      </p:sp>
      <p:sp>
        <p:nvSpPr>
          <p:cNvPr id="6" name="expected-behavior"/>
          <p:cNvSpPr txBox="1"/>
          <p:nvPr/>
        </p:nvSpPr>
        <p:spPr>
          <a:xfrm>
            <a:off x="594360" y="2806446"/>
            <a:ext cx="7955279" cy="4385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2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期待する動作：年齢の条件と並び順を、検索結果へ反映する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94360" y="3290697"/>
            <a:ext cx="7955279" cy="6090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配布テストは年齢の上限を条件にし、年齢の降順に並べて問い合わせる。返る全行が年齢条件と降順の両方を満たすか確認する。</a:t>
            </a:r>
          </a:p>
        </p:txBody>
      </p:sp>
      <p:sp>
        <p:nvSpPr>
          <p:cNvPr id="8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 BigCodeBench/408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例12：SQLiteの表をCSVに書き出す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多様な処理を示す追加例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9304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buNone/>
              <a:defRPr sz="1270" b="0">
                <a:solidFill>
                  <a:srgbClr val="303437"/>
                </a:solidFill>
                <a:latin typeface="Noto Sans"/>
              </a:defRPr>
            </a:pPr>
            <a:r>
              <a:rPr sz="127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Instructの原文（全文・コード指定を含む）</a:t>
            </a:r>
          </a:p>
        </p:txBody>
      </p:sp>
      <p:sp>
        <p:nvSpPr>
          <p:cNvPr id="5" name="quote-background"/>
          <p:cNvSpPr/>
          <p:nvPr/>
        </p:nvSpPr>
        <p:spPr>
          <a:xfrm>
            <a:off x="457200" y="1499616"/>
            <a:ext cx="8229600" cy="212318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iginal-instruct"/>
          <p:cNvSpPr txBox="1"/>
          <p:nvPr/>
        </p:nvSpPr>
        <p:spPr>
          <a:xfrm>
            <a:off x="457200" y="1499616"/>
            <a:ext cx="8229600" cy="2123186"/>
          </a:xfrm>
          <a:prstGeom prst="rect">
            <a:avLst/>
          </a:prstGeom>
          <a:noFill/>
        </p:spPr>
        <p:txBody>
          <a:bodyPr wrap="square" lIns="152400" rIns="152400" tIns="88900" bIns="88900">
            <a:noAutofit/>
          </a:bodyPr>
          <a:lstStyle/>
          <a:p>
            <a:pPr algn="l">
              <a:lnSpc>
                <a:spcPts val="194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Read SQLite3 table via pandas and export to a CSV file.</a:t>
            </a:r>
          </a:p>
          <a:p>
            <a:pPr>
              <a:lnSpc>
                <a:spcPts val="194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function should output with:</a:t>
            </a:r>
          </a:p>
          <a:p>
            <a:pPr>
              <a:lnSpc>
                <a:spcPts val="194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   str: The absolute path of the exported CSV file.</a:t>
            </a:r>
          </a:p>
          <a:p>
            <a:pPr>
              <a:lnSpc>
                <a:spcPts val="194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You should write self-contained code starting with:</a:t>
            </a:r>
          </a:p>
          <a:p>
            <a:pPr>
              <a:lnSpc>
                <a:spcPts val="1887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sqlite3</a:t>
            </a:r>
          </a:p>
          <a:p>
            <a:pPr>
              <a:lnSpc>
                <a:spcPts val="1887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pandas as pd</a:t>
            </a:r>
          </a:p>
          <a:p>
            <a:pPr>
              <a:lnSpc>
                <a:spcPts val="1887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os</a:t>
            </a:r>
          </a:p>
          <a:p>
            <a:pPr>
              <a:lnSpc>
                <a:spcPts val="1887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def task_func(db_name, table_name, csv_path="data.csv"):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677666"/>
            <a:ext cx="79552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日本語訳（自然言語の指示）</a:t>
            </a:r>
          </a:p>
        </p:txBody>
      </p:sp>
      <p:sp>
        <p:nvSpPr>
          <p:cNvPr id="8" name="japanese-instruction"/>
          <p:cNvSpPr txBox="1"/>
          <p:nvPr/>
        </p:nvSpPr>
        <p:spPr>
          <a:xfrm>
            <a:off x="594360" y="388797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pandasを使ってSQLite3の表を読み込み、CSVファイルへ書き出す。書き出したCSVの絶対パスを文字列として返す。指定された書き出しを使い、必要なコードをすべて含む実装を書く。</a:t>
            </a:r>
          </a:p>
        </p:txBody>
      </p:sp>
      <p:sp>
        <p:nvSpPr>
          <p:cNvPr id="9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 BigCodeBench/536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例12：テストと期待する動作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多様な処理を示す追加例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配布テストで確かめること</a:t>
            </a:r>
          </a:p>
        </p:txBody>
      </p:sp>
      <p:sp>
        <p:nvSpPr>
          <p:cNvPr id="5" name="expected-behavior"/>
          <p:cNvSpPr txBox="1"/>
          <p:nvPr/>
        </p:nvSpPr>
        <p:spPr>
          <a:xfrm>
            <a:off x="594360" y="1673352"/>
            <a:ext cx="7955279" cy="4385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2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期待する動作：People表の3行をCSVへ保存する</a:t>
            </a:r>
          </a:p>
        </p:txBody>
      </p:sp>
      <p:sp>
        <p:nvSpPr>
          <p:cNvPr id="6" name="explanation"/>
          <p:cNvSpPr txBox="1"/>
          <p:nvPr/>
        </p:nvSpPr>
        <p:spPr>
          <a:xfrm>
            <a:off x="594360" y="2157603"/>
            <a:ext cx="7955279" cy="88163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配布テストのPeople表にはAlice・Bob・Charlieがいる。保存したCSVが3行でAliceを含むことと、指定した出力先の絶対パスを返すことを確認する。</a:t>
            </a:r>
          </a:p>
        </p:txBody>
      </p:sp>
      <p:sp>
        <p:nvSpPr>
          <p:cNvPr id="7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 BigCodeBench/536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例13：メッセージを暗号化して文字列にする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多様な処理を示す追加例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9304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buNone/>
              <a:defRPr sz="1270" b="0">
                <a:solidFill>
                  <a:srgbClr val="303437"/>
                </a:solidFill>
                <a:latin typeface="Noto Sans"/>
              </a:defRPr>
            </a:pPr>
            <a:r>
              <a:rPr sz="127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Instructの原文（全文・コード指定を含む）</a:t>
            </a:r>
          </a:p>
        </p:txBody>
      </p:sp>
      <p:sp>
        <p:nvSpPr>
          <p:cNvPr id="5" name="quote-background"/>
          <p:cNvSpPr/>
          <p:nvPr/>
        </p:nvSpPr>
        <p:spPr>
          <a:xfrm>
            <a:off x="457200" y="1499616"/>
            <a:ext cx="8229600" cy="27645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iginal-instruct"/>
          <p:cNvSpPr txBox="1"/>
          <p:nvPr/>
        </p:nvSpPr>
        <p:spPr>
          <a:xfrm>
            <a:off x="457200" y="1499616"/>
            <a:ext cx="8229600" cy="2764599"/>
          </a:xfrm>
          <a:prstGeom prst="rect">
            <a:avLst/>
          </a:prstGeom>
          <a:noFill/>
        </p:spPr>
        <p:txBody>
          <a:bodyPr wrap="square" lIns="152400" rIns="152400" tIns="88900" bIns="88900">
            <a:noAutofit/>
          </a:bodyPr>
          <a:lstStyle/>
          <a:p>
            <a:pPr algn="l"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Encrypts a message with a symmetric encryption key using Fernet encryption, and then encode the encrypted message using base64.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function should output with: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   str: The base64 encoded encrypted message. The message is first encrypted using Fernet encryption,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   then the result is base64 encoded.</a:t>
            </a:r>
          </a:p>
          <a:p>
            <a:pPr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You should write self-contained code starting with: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base64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cryptography.fernet import Fernet</a:t>
            </a:r>
          </a:p>
          <a:p>
            <a:pPr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def task_func(message, encryption_key):</a:t>
            </a:r>
          </a:p>
        </p:txBody>
      </p:sp>
      <p:sp>
        <p:nvSpPr>
          <p:cNvPr id="7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 BigCodeBench/26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例13：日本語訳と期待する動作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多様な処理を示す追加例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日本語訳（自然言語の指示）</a:t>
            </a:r>
          </a:p>
        </p:txBody>
      </p:sp>
      <p:sp>
        <p:nvSpPr>
          <p:cNvPr id="5" name="japanese-instruction"/>
          <p:cNvSpPr txBox="1"/>
          <p:nvPr/>
        </p:nvSpPr>
        <p:spPr>
          <a:xfrm>
            <a:off x="594360" y="1627632"/>
            <a:ext cx="7955279" cy="1321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4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称鍵暗号のFernetでメッセージを暗号化し、暗号化した結果をさらにbase64で符号化する。返す値はbase64で符号化した暗号文の文字列である。指定された書き出しを使い、必要なコードをすべて含む実装を書く。</a:t>
            </a:r>
          </a:p>
        </p:txBody>
      </p:sp>
      <p:sp>
        <p:nvSpPr>
          <p:cNvPr id="6" name="expected-behavior"/>
          <p:cNvSpPr txBox="1"/>
          <p:nvPr/>
        </p:nvSpPr>
        <p:spPr>
          <a:xfrm>
            <a:off x="594360" y="3123184"/>
            <a:ext cx="7955279" cy="73990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2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期待する動作：平文とは異なる文字列を返し、不正な鍵は拒否する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94360" y="3908806"/>
            <a:ext cx="7955279" cy="6090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配布テストはHello, World!などを与え、文字列型で平文と異なることを確認する。長さが不正な鍵では例外が起きる。</a:t>
            </a:r>
          </a:p>
        </p:txBody>
      </p:sp>
      <p:sp>
        <p:nvSpPr>
          <p:cNvPr id="8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BigCode Project (n.d.; 2026-10-22参照), BigCodeBench Dataset v0.1.4. BigCodeBench/26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79443"/>
            <a:ext cx="8046720" cy="64008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提示形式と利用条件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提示形式と利用条件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提示文を短くすると、使える手掛かりも変わる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提示形式と利用条件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20240"/>
        </p:xfrm>
        <a:graphic>
          <a:graphicData uri="http://schemas.openxmlformats.org/drawingml/2006/table">
            <a:tbl>
              <a:tblPr firstRow="0" bandRow="0"/>
              <a:tblGrid>
                <a:gridCol w="3291840"/>
                <a:gridCol w="2377440"/>
                <a:gridCol w="2377440"/>
              </a:tblGrid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Complete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Instruct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主な形式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docstring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自然言語の依頼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平均の文字数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1112.5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663.2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平均の行数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33.5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11.7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解く処理・テスト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同じ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同じ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Zhuo et al. (2025), BigCodeBench. ICLR 2025.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https://arxiv.org/abs/2406.15877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一つの関数を、実行できる環境で評価する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37640"/>
            <a:ext cx="7955279" cy="32481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HumanEvalは短く自己完結した関数の実装を中心にし、DS-1000はデータサイエンスの処理を扱う。BigCodeBenchは用途を広げ、複数のライブラリーを使う処理を問う。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SWE-benchのようなリポジトリ全体の修正とは異なり、必要な機能を一つの関数として実装する。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依存ライブラリーのバージョンや実行環境はテストの動作に関わる。比較では、使った課題集合と提示形式、コードを補う処理をそろえる。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提示形式と利用条件</a:t>
            </a:r>
          </a:p>
        </p:txBody>
      </p:sp>
      <p:sp>
        <p:nvSpPr>
          <p:cNvPr id="5" name="source-bib"/>
          <p:cNvSpPr txBox="1"/>
          <p:nvPr/>
        </p:nvSpPr>
        <p:spPr>
          <a:xfrm>
            <a:off x="502920" y="4692904"/>
            <a:ext cx="8183879" cy="189992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91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Zhuo et al. (2025), BigCodeBench. ICLR 2025.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https://arxiv.org/abs/2406.15877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参考文献</a:t>
            </a:r>
          </a:p>
        </p:txBody>
      </p:sp>
      <p:sp>
        <p:nvSpPr>
          <p:cNvPr id="4" name="reference-entry"/>
          <p:cNvSpPr txBox="1"/>
          <p:nvPr/>
        </p:nvSpPr>
        <p:spPr>
          <a:xfrm>
            <a:off x="548640" y="1335024"/>
            <a:ext cx="8046720" cy="18595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BigCodeBench: Benchmarking Code Generation with Diverse Function Calls and Complex Instructions</a:t>
            </a:r>
          </a:p>
          <a:p>
            <a:pPr>
              <a:lnSpc>
                <a:spcPts val="1400"/>
              </a:lnSpc>
              <a:spcAft>
                <a:spcPts val="4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Terry Yue Zhuo et al. (2025). ICLR 2025.</a:t>
            </a:r>
          </a:p>
          <a:p>
            <a:pPr>
              <a:lnSpc>
                <a:spcPts val="196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課題の構築、ライブラリーの広がり、提示形式と採点方法、初期のモデル比較を報告する。</a:t>
            </a:r>
          </a:p>
          <a:p>
            <a:pPr>
              <a:lnSpc>
                <a:spcPts val="1142"/>
              </a:lnSpc>
              <a:spcAft>
                <a:spcPts val="0"/>
              </a:spcAft>
              <a:buNone/>
              <a:defRPr sz="1019" b="0">
                <a:solidFill>
                  <a:srgbClr val="303437"/>
                </a:solidFill>
                <a:latin typeface="Noto Sans"/>
              </a:defRPr>
            </a:pPr>
            <a:r>
              <a:rPr sz="1019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https://arxiv.org/abs/2406.15877</a:t>
            </a:r>
          </a:p>
        </p:txBody>
      </p:sp>
      <p:sp>
        <p:nvSpPr>
          <p:cNvPr id="5" name="reference-entry"/>
          <p:cNvSpPr txBox="1"/>
          <p:nvPr/>
        </p:nvSpPr>
        <p:spPr>
          <a:xfrm>
            <a:off x="548640" y="3321608"/>
            <a:ext cx="8046720" cy="1575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BigCodeBench Dataset</a:t>
            </a:r>
          </a:p>
          <a:p>
            <a:pPr>
              <a:lnSpc>
                <a:spcPts val="1400"/>
              </a:lnSpc>
              <a:spcAft>
                <a:spcPts val="4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BigCode Project (n.d.). Hugging Face. Apache 2.0. 2026-10-22参照。</a:t>
            </a:r>
          </a:p>
          <a:p>
            <a:pPr>
              <a:lnSpc>
                <a:spcPts val="196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1,140課題の指示文・書き出し・参照実装・テストを、データの改訂ごとに配布する。</a:t>
            </a:r>
          </a:p>
          <a:p>
            <a:pPr>
              <a:lnSpc>
                <a:spcPts val="1142"/>
              </a:lnSpc>
              <a:spcAft>
                <a:spcPts val="0"/>
              </a:spcAft>
              <a:buNone/>
              <a:defRPr sz="1019" b="0">
                <a:solidFill>
                  <a:srgbClr val="303437"/>
                </a:solidFill>
                <a:latin typeface="Noto Sans"/>
              </a:defRPr>
            </a:pPr>
            <a:r>
              <a:rPr sz="1019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https://huggingface.co/datasets/bigcode/bigcodebench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参考文献</a:t>
            </a:r>
          </a:p>
        </p:txBody>
      </p:sp>
      <p:sp>
        <p:nvSpPr>
          <p:cNvPr id="4" name="reference-entry"/>
          <p:cNvSpPr txBox="1"/>
          <p:nvPr/>
        </p:nvSpPr>
        <p:spPr>
          <a:xfrm>
            <a:off x="548640" y="1335024"/>
            <a:ext cx="8046720" cy="1575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Introducing BigCodeBench-Hard</a:t>
            </a:r>
          </a:p>
          <a:p>
            <a:pPr>
              <a:lnSpc>
                <a:spcPts val="1400"/>
              </a:lnSpc>
              <a:spcAft>
                <a:spcPts val="4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Terry Yue Zhuo (2024). Hugging Face Blog.</a:t>
            </a:r>
          </a:p>
          <a:p>
            <a:pPr>
              <a:lnSpc>
                <a:spcPts val="196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Stack Overflowの質問との対応と難しさに基づき、148課題の部分集合を選ぶ方法を説明する。</a:t>
            </a:r>
          </a:p>
          <a:p>
            <a:pPr>
              <a:lnSpc>
                <a:spcPts val="1142"/>
              </a:lnSpc>
              <a:spcAft>
                <a:spcPts val="0"/>
              </a:spcAft>
              <a:buNone/>
              <a:defRPr sz="1019" b="0">
                <a:solidFill>
                  <a:srgbClr val="303437"/>
                </a:solidFill>
                <a:latin typeface="Noto Sans"/>
              </a:defRPr>
            </a:pPr>
            <a:r>
              <a:rPr sz="1019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https://huggingface.co/blog/terryyz/bigcodebench-hard</a:t>
            </a:r>
          </a:p>
        </p:txBody>
      </p:sp>
      <p:sp>
        <p:nvSpPr>
          <p:cNvPr id="5" name="reference-entry"/>
          <p:cNvSpPr txBox="1"/>
          <p:nvPr/>
        </p:nvSpPr>
        <p:spPr>
          <a:xfrm>
            <a:off x="548640" y="3037128"/>
            <a:ext cx="8046720" cy="1575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BigCodeBench official repository</a:t>
            </a:r>
          </a:p>
          <a:p>
            <a:pPr>
              <a:lnSpc>
                <a:spcPts val="1400"/>
              </a:lnSpc>
              <a:spcAft>
                <a:spcPts val="4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BigCode Project (n.d.). GitHub. Apache 2.0. 2026-10-22参照。</a:t>
            </a:r>
          </a:p>
          <a:p>
            <a:pPr>
              <a:lnSpc>
                <a:spcPts val="196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コード生成、出力の整形と補完、実行テスト、環境の準備に使う実装を公開する。</a:t>
            </a:r>
          </a:p>
          <a:p>
            <a:pPr>
              <a:lnSpc>
                <a:spcPts val="1142"/>
              </a:lnSpc>
              <a:spcAft>
                <a:spcPts val="0"/>
              </a:spcAft>
              <a:buNone/>
              <a:defRPr sz="1019" b="0">
                <a:solidFill>
                  <a:srgbClr val="303437"/>
                </a:solidFill>
                <a:latin typeface="Noto Sans"/>
              </a:defRPr>
            </a:pPr>
            <a:r>
              <a:rPr sz="1019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https://github.com/bigcode-project/bigcodebench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参考文献</a:t>
            </a:r>
          </a:p>
        </p:txBody>
      </p:sp>
      <p:sp>
        <p:nvSpPr>
          <p:cNvPr id="4" name="reference-entry"/>
          <p:cNvSpPr txBox="1"/>
          <p:nvPr/>
        </p:nvSpPr>
        <p:spPr>
          <a:xfrm>
            <a:off x="548640" y="1335024"/>
            <a:ext cx="8046720" cy="1575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Training Agents to Self-Report Misbehavior</a:t>
            </a:r>
          </a:p>
          <a:p>
            <a:pPr>
              <a:lnSpc>
                <a:spcPts val="1400"/>
              </a:lnSpc>
              <a:spcAft>
                <a:spcPts val="4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Bruce W. Lee, Chen Yueh-Han and Tomek Korbak (2026). arXiv.</a:t>
            </a:r>
          </a:p>
          <a:p>
            <a:pPr>
              <a:lnSpc>
                <a:spcPts val="196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自己申告を訓練したモデルの一般能力を調べ、BigCodeBenchを含む七つの評価で比較する。</a:t>
            </a:r>
          </a:p>
          <a:p>
            <a:pPr>
              <a:lnSpc>
                <a:spcPts val="1142"/>
              </a:lnSpc>
              <a:spcAft>
                <a:spcPts val="0"/>
              </a:spcAft>
              <a:buNone/>
              <a:defRPr sz="1019" b="0">
                <a:solidFill>
                  <a:srgbClr val="303437"/>
                </a:solidFill>
                <a:latin typeface="Noto Sans"/>
              </a:defRPr>
            </a:pPr>
            <a:r>
              <a:rPr sz="1019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https://arxiv.org/abs/2602.22303</a:t>
            </a:r>
          </a:p>
        </p:txBody>
      </p:sp>
      <p:sp>
        <p:nvSpPr>
          <p:cNvPr id="5" name="reference-entry"/>
          <p:cNvSpPr txBox="1"/>
          <p:nvPr/>
        </p:nvSpPr>
        <p:spPr>
          <a:xfrm>
            <a:off x="548640" y="3037128"/>
            <a:ext cx="8046720" cy="1326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BigCodeBench Leaderboard</a:t>
            </a:r>
          </a:p>
          <a:p>
            <a:pPr>
              <a:lnSpc>
                <a:spcPts val="1400"/>
              </a:lnSpc>
              <a:spcAft>
                <a:spcPts val="4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BigCode Project (n.d.). 2026-10-22参照。</a:t>
            </a:r>
          </a:p>
          <a:p>
            <a:pPr>
              <a:lnSpc>
                <a:spcPts val="196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FullとHard、CompleteとInstructを切り替えて公開モデルの成績を比較する。</a:t>
            </a:r>
          </a:p>
          <a:p>
            <a:pPr>
              <a:lnSpc>
                <a:spcPts val="1142"/>
              </a:lnSpc>
              <a:spcAft>
                <a:spcPts val="0"/>
              </a:spcAft>
              <a:buNone/>
              <a:defRPr sz="1019" b="0">
                <a:solidFill>
                  <a:srgbClr val="303437"/>
                </a:solidFill>
                <a:latin typeface="Noto Sans"/>
              </a:defRPr>
            </a:pPr>
            <a:r>
              <a:rPr sz="1019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https://bigcode-bench.github.io/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2026-10-22T09:08:03Z</dcterms:modified>
  <dc:title>bigcodebench</dc:title>
  <dc:creator>sasakiy84</dc:creator>
  <dcterms:created xsi:type="dcterms:W3CDTF">2026-10-22T09:08:03Z</dcterms:created>
  <dc:language>ja-JP</dc:language>
</cp:coreProperties>
</file>