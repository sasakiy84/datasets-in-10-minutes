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meta.wikimedia.org/wiki/Research:Wikipedia_clickstrea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ta.wikimedia.org/wiki/Research:Wikipedia_clickstream" TargetMode="External"/><Relationship Id="rId3" Type="http://schemas.openxmlformats.org/officeDocument/2006/relationships/hyperlink" Target="https://dumps.wikimedia.org/other/clickstream/2026-09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Relationship Id="rId3" Type="http://schemas.openxmlformats.org/officeDocument/2006/relationships/hyperlink" Target="https://github.com/wikimedia/analytics-refinery-sourc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Relationship Id="rId3" Type="http://schemas.openxmlformats.org/officeDocument/2006/relationships/hyperlink" Target="https://meta.wikimedia.org/wiki/Research:Wikipedia_clickstrea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Relationship Id="rId3" Type="http://schemas.openxmlformats.org/officeDocument/2006/relationships/hyperlink" Target="https://github.com/wikimedia/analytics-refinery-source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ikimedia/analytics-refinery-source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Relationship Id="rId3" Type="http://schemas.openxmlformats.org/officeDocument/2006/relationships/hyperlink" Target="https://github.com/wikimedia/analytics-refinery-source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ta.wikimedia.org/wiki/Research:Wikipedia_clickstrea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Relationship Id="rId3" Type="http://schemas.openxmlformats.org/officeDocument/2006/relationships/hyperlink" Target="https://meta.wikimedia.org/wiki/Research:Wikipedia_clickstrea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2026-09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clickstream/readme.html" TargetMode="External"/><Relationship Id="rId3" Type="http://schemas.openxmlformats.org/officeDocument/2006/relationships/hyperlink" Target="https://creativecommons.org/publicdomain/zero/1.0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ta.wikimedia.org/wiki/Research:Wikipedia_clickstream" TargetMode="External"/><Relationship Id="rId3" Type="http://schemas.openxmlformats.org/officeDocument/2006/relationships/hyperlink" Target="https://dumps.wikimedia.org/other/clickstream/2026-09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2026-09/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ta.wikimedia.org/wiki/Research:Wikipedia_clickstream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meta.wikimedia.org/wiki/Research:Wikipedia_clickstream" TargetMode="External"/><Relationship Id="rId3" Type="http://schemas.openxmlformats.org/officeDocument/2006/relationships/hyperlink" Target="https://wikinav.toolforge.org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6084/m9.figshare.1305770" TargetMode="External"/><Relationship Id="rId3" Type="http://schemas.openxmlformats.org/officeDocument/2006/relationships/hyperlink" Target="https://meta.wikimedia.org/wiki/Research:Wikipedia_clickstream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clickstream/readme.html" TargetMode="External"/><Relationship Id="rId3" Type="http://schemas.openxmlformats.org/officeDocument/2006/relationships/hyperlink" Target="https://github.com/wikimedia/analytics-refinery-sourc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1920240"/>
            <a:ext cx="8412480" cy="886968"/>
          </a:xfrm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  <a:buNone/>
              <a:defRPr sz="4800" b="0">
                <a:solidFill>
                  <a:srgbClr val="303437"/>
                </a:solidFill>
                <a:latin typeface="Noto Sans"/>
              </a:defRPr>
            </a:pPr>
            <a:r>
              <a:rPr sz="4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Clickstream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944368"/>
            <a:ext cx="8046720" cy="54864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Wikipediaの記事への流入と記事間遷移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記事間の移動を集計する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ファイルとデータの作り方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利用方法と公開範囲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Clickstream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どの記事から、どの記事へ移ったか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Wikipediaへのアクセスを、参照元と移動先の記事の組ごとに月単位で集計した公式データである。</a:t>
            </a:r>
          </a:p>
          <a:p>
            <a:pPr marL="457200" indent="-355600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記事間のつながりに、その月の遷移回数が付く。検索エンジンなどからの記事への流入も含む。</a:t>
            </a:r>
          </a:p>
          <a:p>
            <a:pPr marL="457200" indent="-355600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以下では、日本語版の2026年9月の配布データを使う。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https://meta.wikimedia.org/wiki/Research:Wikipedia_clickstream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「富士山」への流入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other-search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13,798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other-empty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4,047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メインページ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858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other-external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other-internal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検索からの流入と記事間の移動が分かる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「富士山」には、検索エンジンを参照元とするアクセスが13,798回ある。検索サイト名や検索語は公開されない。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other-emptyは参照元が空または解析できないアクセスで、4,047回ある。ブックマークや直接入力だけとは特定できない。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記事名が入る行では、どのWikipedia記事を参照して到達したかを読める。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Wikimedia, ClickstreamBuilder.scala. analytics-refinery-source.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https://github.com/wikimedia/analytics-refinery-source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「富士山」からの移動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富士山-信仰の対象と芸術の源泉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玉山_(台湾)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富士登山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剣ヶ峰_(富士山)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富士山の噴火史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「人工知能」からの移動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人工知能の歴史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1,413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AIがもたらす未来のシナリオ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生成的人工知能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フィクションにおける人工知能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ジョン・マッカーシー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「ネコ」と「イヌ」の移動は方向ごとに数える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91640"/>
          <a:ext cx="6949440" cy="178308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2468880"/>
                <a:gridCol w="2011680"/>
              </a:tblGrid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ネコ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943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ネコ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94760"/>
            <a:ext cx="7955279" cy="3722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同じ2記事でも、移動する方向ごとに別の行になる。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「富士山」からどの記事へ移ったか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記事間の移動を集計する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509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194560" y="1645920"/>
            <a:ext cx="1554479" cy="914400"/>
          </a:xfrm>
          <a:prstGeom prst="line">
            <a:avLst/>
          </a:prstGeom>
          <a:ln w="51435">
            <a:solidFill>
              <a:srgbClr val="2C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31920" y="1463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富士山-信仰の対象と芸術の源泉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63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405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194560" y="2377440"/>
            <a:ext cx="1554479" cy="182880"/>
          </a:xfrm>
          <a:prstGeom prst="line">
            <a:avLst/>
          </a:prstGeom>
          <a:ln w="30607">
            <a:solidFill>
              <a:srgbClr val="2C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319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玉山 (台湾)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945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241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560320"/>
            <a:ext cx="1554479" cy="548640"/>
          </a:xfrm>
          <a:prstGeom prst="line">
            <a:avLst/>
          </a:prstGeom>
          <a:ln w="29463">
            <a:solidFill>
              <a:srgbClr val="2C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319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富士登山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26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232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4560" y="2560320"/>
            <a:ext cx="1554479" cy="1280160"/>
          </a:xfrm>
          <a:prstGeom prst="line">
            <a:avLst/>
          </a:prstGeom>
          <a:ln w="29083">
            <a:solidFill>
              <a:srgbClr val="2C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3192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06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剣ヶ峰 (富士山)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229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795527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日本語版・2026年9月。移動先の上位4件、線の太さは回数に対応。</a:t>
            </a:r>
          </a:p>
        </p:txBody>
      </p:sp>
      <p:sp>
        <p:nvSpPr>
          <p:cNvPr id="18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1行は参照元と移動先の組を表す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1か月分が言語ごとのgzip圧縮TSVで配布される。区切り文字はタブで、先頭に列名の行はない。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列はprev、curr、type、nの4つ。記事名では空白がアンダースコアで表される。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nはその組に該当するアクセスの回数である。人数や読者数ではない。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TSVには4つの列がある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032000"/>
        </p:xfrm>
        <a:graphic>
          <a:graphicData uri="http://schemas.openxmlformats.org/drawingml/2006/table">
            <a:tbl>
              <a:tblPr firstRow="0" bandRow="0"/>
              <a:tblGrid>
                <a:gridCol w="1097280"/>
                <a:gridCol w="2834640"/>
                <a:gridCol w="411480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富士山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curr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富士登山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月間の回数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687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この行は「富士山」から「富士登山」への遷移が232回あったことを示す。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typeは参照元と移動先の関係を示す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7752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66751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同じ言語版の記事間で、参照元に移動先へのリンクがある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記事名の組だが、参照元にそのリンクが確認されない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参照元をother-*の区分へ集約した行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Wikimedia, ClickstreamBuilder.scala. analytics-refinery-source.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https://github.com/wikimedia/analytics-refinery-source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記事名以外の参照元を5区分へまとめる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9152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prevの値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参照元の区分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other-search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検索エンジン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other-external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その他の外部サイト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other-internal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Wikimedia内部のその他のページ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other-empty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空または解析できない参照元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other-other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その他の参照元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ClickstreamBuilder.scala. analytics-refinery-source.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https://github.com/wikimedia/analytics-refinery-source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アクセスの記録を加工して公開する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Wikimediaのアクセス記録から、ページ閲覧と判定されたものを選び、既知のボットなどの自動アクセスを除いて集計する。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記事を収録する標準名前空間を対象とし、リダイレクト先へまとめる。記事のリンク情報を使ってtypeを付ける。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2026年9月の日本語版には10回以上の組が含まれる。回数が少ない組や同じ記事への遷移は省かれる。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Wikimedia, ClickstreamBuilder.scala. analytics-refinery-source.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https://github.com/wikimedia/analytics-refinery-source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日本語版は約627万組を収録する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42440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2743200"/>
                <a:gridCol w="338328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組の数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回数の合計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link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4,026,660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232,736,382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113,762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4,750,122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external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2,129,084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591,995,780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2026年9月の日本語版を全件集計。全6,269,506組、合計829,482,284回。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集計の対象月と言語を選べる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2026年9月の配布先には40言語版がある。日本語版、英語版のほか、アラビア語版や中国語版なども含む。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月ごとに独立したファイルを提供する。記事名やリンク構造も変わるため、複数月を比べるときは対象記事の改名などを確認する。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今回の日本語版は圧縮約94.9 MBである。1言語・1か月単位で取得できる。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ファイルとデータの作り方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流入、回遊、記事間の関連を調べる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特定の記事へ、検索や他の記事からどの程度アクセスがあるかを調べられる。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ある記事から読まれている関連記事を取り出し、記事間の移動を重み付きのネットワークとして扱える。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リンクの有無と、参照元の記事から移動先の記事への遷移回数を対応させられる。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個々の読者の閲覧履歴は含まない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公開ファイルには、ユーザーID、IPアドレス、各アクセスの時刻、検索語は含まれない。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公開されるのは月間の組と回数である。記事AからBへの行と、BからCへの行があっても、それらが同じ読者による一連の移動だったかは分からない。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少数の組が省かれるため、公開行の合計は元のアクセス記録全体を表すものではない。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ファイルを取得して4列として読む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公式配布先で対象月を開き、言語版のTSV.gzを取得する。今回のファイル名はclickstream-jawiki-2026-09.tsv.gzである。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Pythonのgzipとcsvで展開しながら読める。数値のnは文字列から整数へ変換する。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記事名には引用符も現れるので、TSVの引用符解釈を無効にして読み込む。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「富士山」から「富士登山」への行を読む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413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csv, gzip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path = "clickstream-jawiki-2026-09.tsv.gz"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gzip.open(path, "rt", encoding="utf-8") as f: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rows = csv.reader(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f, delimiter="\t", quoting=csv.QUOTE_NONE)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for prev, curr, kind, n in rows: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if prev == "富士山" and curr == "富士登山":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print(prev, curr, kind, int(n))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22927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　富士山 富士登山 link 232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公開データはCC0で提供される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配布先の説明では、Analyticsの公開データにCC0を適用している。データの加工・再配布にも利用できる。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Wikipediaの記事本文を別途転載する場合は、本文側のライセンス条件を確認する。ClickstreamのCC0が記事本文へそのまま適用されるわけではない。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分析や図には、対象の言語版と月、Wikipedia Clickstreamを使ったことを示すと出所が伝わる。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Analytics Datasets: Clickstream.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https://dumps.wikimedia.org/other/clickstream/readme.html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Creative Commons, CC0 1.0 Universal.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https://creativecommons.org/publicdomain/zero/1.0/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記事間の移動を月次の表として使う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Clickstreamは、記事間遷移と集約された流入元を、4列のTSVとして提供する公式データである。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参照元と移動先の組に月間回数が付き、リンクの有無との関係も分かる。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記事本文、ページごとの閲覧数、個別の編集履歴とは異なる。読まれ方を記事間の関係から調べるためのデータである。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利用方法と公開範囲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https://meta.wikimedia.org/wiki/Research:Wikipedia_clickstream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8483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追加の遷移例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関連データと参考文献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追加の遷移例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「京都市」からの移動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京都府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京都市出身の人物一覧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宇治市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神戸市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左京区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「太陽系」からの移動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金星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水星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木星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海王星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火星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「村上春樹」からの移動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68097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1Q84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夏帆_The_Tale_of_KAHO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ノルウェイの森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街とその不確かな壁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世界の終りとハードボイルド・ワンダーランド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「北海道」からの移動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札幌市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1,250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北海道出身の人物一覧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道_(行政区画)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旭川市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青森県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「国際連合」からの移動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追加の遷移例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508760"/>
          <a:ext cx="6858000" cy="241401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554480"/>
              </a:tblGrid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移動先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国際連盟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連合国_(第二次世界大戦)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国際連合加盟国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アントニオ・グテーレス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233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国際連合本部ビル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343400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日本語版・2026年9月。公開された組の上位を表示。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Wikimedia, Clickstream September 2026. 日本語版を集計。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https://dumps.wikimedia.org/other/clickstream/2026-09/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関連データと参考文献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関連データと参考文献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2015年の研究公開から月次配布へ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Ellery WulczynとDario Taraborelliが2015年にWikipedia Clickstreamを公開した。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初期の2015年1月・2月はデスクトップのみだったが、その後はモバイルWebとアプリのアクセスも対象になった。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2017年11月から自動的な月次配布となった。現行ファイルの列と対象言語は、利用する月の配布先で確認できる。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関連データと参考文献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WikiNavは記事の流入と移動先を表示する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ResearchのWikiNavは、Clickstreamを使って記事への流入元と記事からの移動先を表示するツールである。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Pageviewsは記事ごとの閲覧数、Clickstreamは参照元と記事の組を提供する。個別記事の時系列と、記事間の移動では調べる対象が異なる。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関連データと参考文献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Wulczyn &amp; Taraborelli (2015), Wikipedia Clickstream. Meta-Wiki.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https://meta.wikimedia.org/wiki/Research:Wikipedia_clickstream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Research, WikiNav.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https://wikinav.toolforge.org/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関連データと参考文献</a:t>
            </a:r>
          </a:p>
        </p:txBody>
      </p:sp>
      <p:sp>
        <p:nvSpPr>
          <p:cNvPr id="4" name="文献 1: Wikipedia Clickstream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Clickstream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Ellery Wulczyn and Dario Taraborelli, 2015. figshare.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Wikipediaの参照元と移動先を集計したデータの初期公開。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https://doi.org/10.6084/m9.figshare.1305770</a:t>
            </a:r>
          </a:p>
        </p:txBody>
      </p:sp>
      <p:sp>
        <p:nvSpPr>
          <p:cNvPr id="5" name="文献 2: Research:Wikipedia clickstream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Research:Wikipedia clickstream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contributors, n.d. Meta-Wiki.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データの目的、4列の定義、初期の公開履歴と利用例をまとめる。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https://meta.wikimedia.org/wiki/Research:Wikipedia_clickstream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関連データと参考文献</a:t>
            </a:r>
          </a:p>
        </p:txBody>
      </p:sp>
      <p:sp>
        <p:nvSpPr>
          <p:cNvPr id="4" name="文献 1: Analytics Datasets: Clickstream"/>
          <p:cNvSpPr txBox="1"/>
          <p:nvPr/>
        </p:nvSpPr>
        <p:spPr>
          <a:xfrm>
            <a:off x="548640" y="1463040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Analytics Datasets: Clickstream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月次配布への入口と、公開データのCC0の案内。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https://dumps.wikimedia.org/other/clickstream/readme.html</a:t>
            </a:r>
          </a:p>
        </p:txBody>
      </p:sp>
      <p:sp>
        <p:nvSpPr>
          <p:cNvPr id="5" name="文献 2: analytics-refinery-source"/>
          <p:cNvSpPr txBox="1"/>
          <p:nvPr/>
        </p:nvSpPr>
        <p:spPr>
          <a:xfrm>
            <a:off x="548640" y="2999359"/>
            <a:ext cx="8046720" cy="12696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analytics-refinery-source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Foundation, n.d. GitHub. 参照2026-10-28.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アクセスの選別、参照元の分類、リンク判定と集計処理を含む実装。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https://github.com/wikimedia/analytics-refinery-source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2026-10-27T19:32:26Z</dcterms:modified>
  <dc:title>wikipedia-clickstream</dc:title>
  <dc:creator>sasakiy84</dc:creator>
  <dcterms:created xsi:type="dcterms:W3CDTF">2026-10-27T19:32:26Z</dcterms:created>
  <dc:language>ja-JP</dc:language>
</cp:coreProperties>
</file>