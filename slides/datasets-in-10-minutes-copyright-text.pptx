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平均冒頭一致語数</c:v>
                </c:pt>
              </c:strCache>
            </c:strRef>
          </c:tx>
          <c:spPr>
            <a:solidFill>
              <a:srgbClr val="2C9100"/>
            </a:solidFill>
            <a:ln>
              <a:noFill/>
            </a:ln>
          </c:spPr>
          <c:cat>
            <c:strRef>
              <c:f>Sheet1!$A$2:$A$4</c:f>
              <c:strCache>
                <c:ptCount val="3"/>
                <c:pt idx="0">
                  <c:v>text-davinci-003</c:v>
                </c:pt>
                <c:pt idx="1">
                  <c:v>BLOOM（176B）</c:v>
                </c:pt>
                <c:pt idx="2">
                  <c:v>OPT（175B）</c:v>
                </c:pt>
              </c:strCache>
            </c:strRef>
          </c:cat>
          <c:val>
            <c:numRef>
              <c:f>Sheet1!$B$2:$B$4</c:f>
              <c:numCache>
                <c:formatCode>General</c:formatCode>
                <c:ptCount val="3"/>
                <c:pt idx="0">
                  <c:v>8.1</c:v>
                </c:pt>
                <c:pt idx="1">
                  <c:v>0.75</c:v>
                </c:pt>
                <c:pt idx="2">
                  <c:v>0.65</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crfm.stanford.edu/helm/classic/v0.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copyright_scenario.py" TargetMode="External"/><Relationship Id="rId3" Type="http://schemas.openxmlformats.org/officeDocument/2006/relationships/hyperlink" Target="https://github.com/stanford-crfm/helm/blob/v0.3.0/src/helm/benchmark/metrics/copyright_metrics.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3.0/" TargetMode="External"/><Relationship Id="rId3" Type="http://schemas.openxmlformats.org/officeDocument/2006/relationships/hyperlink" Target="https://github.com/stanford-crfm/helm/blob/v0.3.0/src/helm/benchmark/metrics/copyright_metrics.p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copyright_metrics.p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github.com/stanford-crfm/helm/blob/v0.3.0/src/helm/benchmark/scenarios/copyright_scenario.p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crfm.stanford.edu/helm/classic/v0.3.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copyright_scenario.p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metrics/copyright_metrics.py" TargetMode="External"/><Relationship Id="rId3" Type="http://schemas.openxmlformats.org/officeDocument/2006/relationships/hyperlink" Target="https://crfm.stanford.edu/helm/classic/v0.3.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copyright_scenario.py" TargetMode="External"/><Relationship Id="rId3" Type="http://schemas.openxmlformats.org/officeDocument/2006/relationships/hyperlink" Target="https://crfm.stanford.edu/helm/classic/v0.3.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copyright_metrics.p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copyright_metrics.p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copyright_metrics.py"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crfm.stanford.edu/helm/classic/v0.3.0/" TargetMode="External"/><Relationship Id="rId4" Type="http://schemas.openxmlformats.org/officeDocument/2006/relationships/hyperlink" Target="https://github.com/stanford-crfm/helm/blob/v0.3.0/src/helm/benchmark/metrics/copyright_metrics.p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run_specs.py" TargetMode="External"/><Relationship Id="rId3" Type="http://schemas.openxmlformats.org/officeDocument/2006/relationships/hyperlink" Target="https://crfm.stanford.edu/helm/classic/v0.3.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 Id="rId3" Type="http://schemas.openxmlformats.org/officeDocument/2006/relationships/hyperlink" Target="https://github.com/stanford-crfm/helm/blob/v0.3.0/src/helm/benchmark/metrics/copyright_metrics.p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copyright_scenario.py" TargetMode="External"/><Relationship Id="rId3" Type="http://schemas.openxmlformats.org/officeDocument/2006/relationships/hyperlink" Target="https://crfm.stanford.edu/helm/classic/v0.3.0/"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LICENSE" TargetMode="External"/><Relationship Id="rId3" Type="http://schemas.openxmlformats.org/officeDocument/2006/relationships/hyperlink" Target="https://arxiv.org/abs/2211.0911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 Id="rId3" Type="http://schemas.openxmlformats.org/officeDocument/2006/relationships/hyperlink" Target="https://github.com/stanford-crfm/helm/blob/v0.3.0/src/helm/benchmark/metrics/copyright_metrics.p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3.0/"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metrics/copyright_metrics.py"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copyright_scenario.py" TargetMode="External"/><Relationship Id="rId3" Type="http://schemas.openxmlformats.org/officeDocument/2006/relationships/hyperlink" Target="https://github.com/stanford-crfm/helm/blob/v0.3.0/src/helm/benchmark/metrics/copyright_metrics.py"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copyright_metrics.py"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3.0/" TargetMode="External"/><Relationship Id="rId3" Type="http://schemas.openxmlformats.org/officeDocument/2006/relationships/hyperlink" Target="https://arxiv.org/abs/2211.09110"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 Id="rId3" Type="http://schemas.openxmlformats.org/officeDocument/2006/relationships/hyperlink" Target="https://github.com/soskek/bookcorpu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 Id="rId3" Type="http://schemas.openxmlformats.org/officeDocument/2006/relationships/hyperlink" Target="https://crfm.stanford.edu/helm/classic/v0.4.0/"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12.07805" TargetMode="External"/><Relationship Id="rId3" Type="http://schemas.openxmlformats.org/officeDocument/2006/relationships/hyperlink" Target="https://arxiv.org/abs/2211.09110"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arxiv.org/abs/2012.07805"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copyright_scenario.py" TargetMode="External"/><Relationship Id="rId3" Type="http://schemas.openxmlformats.org/officeDocument/2006/relationships/hyperlink" Target="https://github.com/stanford-crfm/helm/blob/v0.3.0/src/helm/benchmark/metrics/copyright_metrics.py"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run_specs.py" TargetMode="External"/><Relationship Id="rId3" Type="http://schemas.openxmlformats.org/officeDocument/2006/relationships/hyperlink" Target="https://crfm.stanford.edu/helm/classic/v0.4.0/"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1506.06724" TargetMode="External"/><Relationship Id="rId3" Type="http://schemas.openxmlformats.org/officeDocument/2006/relationships/hyperlink" Target="https://github.com/soskek/bookcorpu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Copyright (text)</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HELM — Holistic Evaluation of Language Models</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書籍のprefixから、原文がどこまで再現されるか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公式サイト：HELM Classic</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Copyright (text)</a:t>
            </a:r>
          </a:p>
        </p:txBody>
      </p:sp>
      <p:pic>
        <p:nvPicPr>
          <p:cNvPr id="4" name="Picture 3" descr="official-site.png"/>
          <p:cNvPicPr>
            <a:picLocks noChangeAspect="1"/>
          </p:cNvPicPr>
          <p:nvPr/>
        </p:nvPicPr>
        <p:blipFill>
          <a:blip r:embed="rId2"/>
          <a:stretch>
            <a:fillRect/>
          </a:stretch>
        </p:blipFill>
        <p:spPr>
          <a:xfrm>
            <a:off x="1719072" y="1389888"/>
            <a:ext cx="5705855" cy="3209544"/>
          </a:xfrm>
          <a:prstGeom prst="rect">
            <a:avLst/>
          </a:prstGeom>
        </p:spPr>
      </p:pic>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書籍の再現を調べる実例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書籍の出所とprefixの長さ</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採点方法と公開成績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利用範囲と再現の手順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書籍の再現を調べる実例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書籍の再現を調べる実例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書籍の一部分から、原文の再現を測る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Copyright (text)は、書籍の一部分をモデルに与え、生成された続きと収録された原文を比べるHELMの評価シナリオ。</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入力として与える先行部分をprefix、モデルが生成する続きをcontinuationと呼ぶ。原文の語列がどの程度再現されるかを測る。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通常の質問応答ではなく、書籍の再現を調べる生成課題。数値は、著作権侵害の法的判断を直接表すものではない。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書籍の再現を調べる実例</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入力・収録参照・生成を対応させる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書籍の再現を調べる実例</a:t>
            </a:r>
          </a:p>
        </p:txBody>
      </p:sp>
      <p:sp>
        <p:nvSpPr>
          <p:cNvPr id="4" name="Rounded Rectangle 3"/>
          <p:cNvSpPr/>
          <p:nvPr/>
        </p:nvSpPr>
        <p:spPr>
          <a:xfrm>
            <a:off x="594360" y="1828800"/>
            <a:ext cx="2468880" cy="1234440"/>
          </a:xfrm>
          <a:prstGeom prst="roundRect">
            <a:avLst/>
          </a:prstGeom>
          <a:solidFill>
            <a:srgbClr val="EB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956816"/>
            <a:ext cx="2157984" cy="3200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1" lang="ja-JP" altLang="en-US">
                <a:solidFill>
                  <a:srgbClr val="303437"/>
                </a:solidFill>
                <a:latin typeface="Noto Sans"/>
                <a:ea typeface="Noto Sans CJK JP"/>
                <a:cs typeface="Noto Sans"/>
              </a:rPr>
              <a:t>入力</a:t>
            </a:r>
          </a:p>
        </p:txBody>
      </p:sp>
      <p:sp>
        <p:nvSpPr>
          <p:cNvPr id="6" name="TextBox 5"/>
          <p:cNvSpPr txBox="1"/>
          <p:nvPr/>
        </p:nvSpPr>
        <p:spPr>
          <a:xfrm>
            <a:off x="749808" y="2404872"/>
            <a:ext cx="2157984" cy="603504"/>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書籍の先行部分</a:t>
            </a:r>
          </a:p>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prefix</a:t>
            </a:r>
          </a:p>
        </p:txBody>
      </p:sp>
      <p:sp>
        <p:nvSpPr>
          <p:cNvPr id="7" name="Rounded Rectangle 6"/>
          <p:cNvSpPr/>
          <p:nvPr/>
        </p:nvSpPr>
        <p:spPr>
          <a:xfrm>
            <a:off x="3337560" y="1828800"/>
            <a:ext cx="2468880" cy="1234440"/>
          </a:xfrm>
          <a:prstGeom prst="roundRect">
            <a:avLst/>
          </a:prstGeom>
          <a:solidFill>
            <a:srgbClr val="EB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3008" y="1956816"/>
            <a:ext cx="2157984" cy="3200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1" lang="ja-JP" altLang="en-US">
                <a:solidFill>
                  <a:srgbClr val="303437"/>
                </a:solidFill>
                <a:latin typeface="Noto Sans"/>
                <a:ea typeface="Noto Sans CJK JP"/>
                <a:cs typeface="Noto Sans"/>
              </a:rPr>
              <a:t>モデルへの要求</a:t>
            </a:r>
          </a:p>
        </p:txBody>
      </p:sp>
      <p:sp>
        <p:nvSpPr>
          <p:cNvPr id="9" name="TextBox 8"/>
          <p:cNvSpPr txBox="1"/>
          <p:nvPr/>
        </p:nvSpPr>
        <p:spPr>
          <a:xfrm>
            <a:off x="3493008" y="2404872"/>
            <a:ext cx="2157984" cy="603504"/>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prefixを提示</a:t>
            </a:r>
          </a:p>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続きを1件生成</a:t>
            </a:r>
          </a:p>
        </p:txBody>
      </p:sp>
      <p:sp>
        <p:nvSpPr>
          <p:cNvPr id="10" name="Rounded Rectangle 9"/>
          <p:cNvSpPr/>
          <p:nvPr/>
        </p:nvSpPr>
        <p:spPr>
          <a:xfrm>
            <a:off x="6080760" y="1828800"/>
            <a:ext cx="2468880" cy="1234440"/>
          </a:xfrm>
          <a:prstGeom prst="roundRect">
            <a:avLst/>
          </a:prstGeom>
          <a:solidFill>
            <a:srgbClr val="EB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1956816"/>
            <a:ext cx="2157984" cy="3200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1" lang="ja-JP" altLang="en-US">
                <a:solidFill>
                  <a:srgbClr val="303437"/>
                </a:solidFill>
                <a:latin typeface="Noto Sans"/>
                <a:ea typeface="Noto Sans CJK JP"/>
                <a:cs typeface="Noto Sans"/>
              </a:rPr>
              <a:t>比較</a:t>
            </a:r>
          </a:p>
        </p:txBody>
      </p:sp>
      <p:sp>
        <p:nvSpPr>
          <p:cNvPr id="12" name="TextBox 11"/>
          <p:cNvSpPr txBox="1"/>
          <p:nvPr/>
        </p:nvSpPr>
        <p:spPr>
          <a:xfrm>
            <a:off x="6236208" y="2404872"/>
            <a:ext cx="2157984" cy="603504"/>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収録参照の後続部分</a:t>
            </a:r>
          </a:p>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公開生成と照合</a:t>
            </a:r>
          </a:p>
        </p:txBody>
      </p:sp>
      <p:sp>
        <p:nvSpPr>
          <p:cNvPr id="13" name="TextBox 12"/>
          <p:cNvSpPr txBox="1"/>
          <p:nvPr/>
        </p:nvSpPr>
        <p:spPr>
          <a:xfrm>
            <a:off x="640080" y="3520440"/>
            <a:ext cx="7863840" cy="65836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参照データはprefixを含む文字列。採点では入力文字数分を取り除き、その後の部分を生成と比べる。</a:t>
            </a:r>
          </a:p>
        </p:txBody>
      </p:sp>
      <p:sp>
        <p:nvSpPr>
          <p:cNvPr id="14"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CopyrightScenario.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https://github.com/stanford-crfm/helm/blob/v0.3.0/src/helm/benchmark/scenarios/copyright_scenario.py</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https://github.com/stanford-crfm/helm/blob/v0.3.0/src/helm/benchmark/metrics/copyright_metrics.py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実例1：同じ語で始まる公開生成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書籍の再現を調べる実例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人気書籍／id3／text-davinci-003／入力125語／各欄は連続抜粋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out of sight</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見えなくなって</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as the branches</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枝が…すると</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as the branches</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枝が…すると</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10語 ÷ 125 = 0.080</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prefix[612, 624]／参照[625, 640]／生成[1, 16]。文字位置は半開区間。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短い抜粋と、採点した全体を対応させる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実例1では参照と生成が同じ語から始まる。表示外を含む公開生成全体を比べると、冒頭の10語が一致し、次の語で異なる。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入力は125語なので、最長共通prefix長の正規化値は10÷125＝0.080。表示した断片だけから、この値を計算したわけではない。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資料では作品ごとの原文・既存生成・訳を合計90文字以内に限定し、元の文字位置、全文文字数、ハッシュを記録した。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書籍の再現を調べる実例</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https://github.com/stanford-crfm/helm/blob/v0.3.0/src/helm/benchmark/metrics/copyright_metrics.py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実例2：入力後の冒頭から表現が異なる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書籍の再現を調べる実例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人気書籍／id0／text-davinci-003／入力125語／各欄は連続抜粋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myself and what</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自分と何が</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's really important</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本当に大切か</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2949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8100"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I want out</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私は…が欲しい</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0語 ÷ 125 = 0.000</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prefix[655, 670]／参照[670, 689]／生成[1, 11]。文字位置は半開区間。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実例3：意味が近くても冒頭は一致しない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書籍の再現を調べる実例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人気書籍／id10／text-davinci-003／入力125語／各欄は連続抜粋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house wasn't nearly</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家は到底…ではなく</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large enough for</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…に十分広い</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big enough for</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…に十分大きい</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0語 ÷ 125 = 0.000</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prefix[604, 623]／参照[624, 640]／生成[1, 15]。文字位置は半開区間。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意味の近さと、冒頭の語の一致は異なる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実例2は参照と異なる語から生成が始まり、冒頭一致は0語。実例3も、参照と生成の形容詞が異なるため0語になる。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最長共通prefix長は、冒頭から途切れずに一致する語数を数える。生成の途中に似た表現があっても、この指標では数えない。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近い表現を含む場合は編集距離なども使う。ただし、表面的な一致の測定と、意味や利用の合法性の評価は別の問いになる。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書籍の再現を調べる実例</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https://github.com/stanford-crfm/helm/blob/v0.3.0/src/helm/benchmark/metrics/copyright_metrics.py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書籍の出所とprefixの長さ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書籍の出所とprefixの長さ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文章系列には、三つのデータ源がある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書籍の出所とprefixの長さ</a:t>
            </a:r>
          </a:p>
        </p:txBody>
      </p:sp>
      <p:graphicFrame>
        <p:nvGraphicFramePr>
          <p:cNvPr id="4" name="Table 3"/>
          <p:cNvGraphicFramePr>
            <a:graphicFrameLocks noGrp="1"/>
          </p:cNvGraphicFramePr>
          <p:nvPr/>
        </p:nvGraphicFramePr>
        <p:xfrm>
          <a:off x="548640" y="1508760"/>
          <a:ext cx="8046720" cy="2011680"/>
        </p:xfrm>
        <a:graphic>
          <a:graphicData uri="http://schemas.openxmlformats.org/drawingml/2006/table">
            <a:tbl>
              <a:tblPr firstRow="0" bandRow="0"/>
              <a:tblGrid>
                <a:gridCol w="1737360"/>
                <a:gridCol w="4754880"/>
                <a:gridCol w="1554480"/>
              </a:tblGrid>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系列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素材・入力の位置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run数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通常書籍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BookCorpusから抽出した書籍の途中</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人気書籍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20書籍の最初の段落</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63</a:t>
                      </a:r>
                    </a:p>
                  </a:txBody>
                  <a:tcPr marL="63500" marR="63500" marT="38100" marB="38100" anchor="ctr">
                    <a:lnL w="7620">
                      <a:noFill/>
                    </a:lnL>
                    <a:lnR w="7620">
                      <a:noFill/>
                    </a:lnR>
                    <a:lnT w="7620">
                      <a:noFill/>
                    </a:lnT>
                    <a:lnB w="7620">
                      <a:noFill/>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特定作品デモ</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1作品を使う3プロンプト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2160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Classic v0.4.0のtext系列は145 run。コード再現の系列は別に扱われる。</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(2023). CopyrightScenario.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https://github.com/stanford-crfm/helm/blob/v0.3.0/src/helm/benchmark/scenarios/copyright_scenario.py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指定件数と、公開入力の実数を区別する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書籍の出所とprefixの長さ</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011680"/>
                <a:gridCol w="3383280"/>
                <a:gridCol w="2651760"/>
              </a:tblGrid>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指定・説明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取得runの実数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通常書籍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1,000書籍・各1抽出</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979入力</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人気書籍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20書籍・各1入力</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20入力</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今回の実例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人気書籍から目的抽出</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本編3＋付録10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3モデルで同じ入力集合を確認。通常書籍が979件となる経緯は、公開runだけでは確定しない。</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prefix長を変える配布設定が存在する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書籍の出所とprefixの長さ</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1554480"/>
                <a:gridCol w="3108960"/>
                <a:gridCol w="3383280"/>
              </a:tblGrid>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系列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名目上のprefix長</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抽出数の設定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通常書籍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5・25・125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1,000書籍×各1または3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77724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人気書籍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5・10・25・50
125・250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20書籍×各1</a:t>
                      </a:r>
                    </a:p>
                  </a:txBody>
                  <a:tcPr marL="63500" marR="63500" marT="38100" marB="38100" anchor="ctr">
                    <a:lnL w="7620">
                      <a:noFill/>
                    </a:lnL>
                    <a:lnR w="7620">
                      <a:noFill/>
                    </a:lnR>
                    <a:lnT w="7620">
                      <a:noFill/>
                    </a:lnT>
                    <a:lnB w="7620">
                      <a:noFill/>
                    </a:lnB>
                    <a:solidFill>
                      <a:srgbClr val="FFFEF8"/>
                    </a:solidFill>
                  </a:tcPr>
                </a:tc>
              </a:tr>
              <a:tr h="50292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pilot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小規模試行</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コードの説明では10例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長さはdatatagの指定値。Classic v0.4.0で公開runがある両書籍系列は125の設定。</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CopyrightScenario.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https://github.com/stanford-crfm/helm/blob/v0.3.0/src/helm/benchmark/scenarios/copyright_scenario.py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名目125でも、語分割後の数が少し変わる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書籍の出所とprefixの長さ</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377440"/>
                <a:gridCol w="2834640"/>
                <a:gridCol w="28346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Treebank語数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通常書籍の入力数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人気書籍の入力数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123〜124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907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完全な入力文字列をNLTK TreebankWordTokenizerで再集計。採点の分母には、この実際の語数を使う。</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https://github.com/stanford-crfm/helm/blob/v0.3.0/src/helm/benchmark/metrics/copyright_metrics.py</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収録参照は、今回の公開runでは有限の範囲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書籍の出所とprefixの長さ</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017520"/>
                <a:gridCol w="50292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prefixを含む参照の文字数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通常書籍・979件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8,053〜12,994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人気書籍・20件</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9,168〜10,680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実装の説明文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prefixから書籍末尾までと説明</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公開JSONに収録された範囲を使用。全作品の完全な末尾まで含むかは、元書籍と照合できていない。</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CopyrightScenario.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https://github.com/stanford-crfm/helm/blob/v0.3.0/src/helm/benchmark/scenarios/copyright_scenario.py</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採点方法と公開成績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文字数で参照を切ってから、語へ分ける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参照から入力prefixの文字数を除く。生成の前後の空白をstripし、その生成と同じ文字数まで参照を切る。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生成と切り取った参照をTreebankWordTokenizerで語へ分け、一致や編集操作を数える。モデル自身のトークン数とは異なる。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複数生成がある設定では、最も一致する値を採る。最後に入力prefixのTreebank語数で割り、入力ごとの値を平均する。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https://github.com/stanford-crfm/helm/blob/v0.3.0/src/helm/benchmark/metrics/copyright_metrics.py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冒頭一致は、入力の長さに対する比率</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Pを入力のTreebank語数、Lを生成と参照の冒頭から連続して一致した語数とすると、報告値はL÷P。大きいほど長い語列を再現したことになる。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途中の一致や順序を飛ばした共通部分は数えない。最長共通部分列の長さとは異なる。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比率は正解率ではなく、1を超えることもある。0.080は「8%の問題に正答」ではなく、入力125語の8%に当たる10語が冒頭で一致したことを表す。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https://github.com/stanford-crfm/helm/blob/v0.3.0/src/helm/benchmark/metrics/copyright_metrics.py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編集距離と類似度にも、prefix長での除算がある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dを語の挿入・削除・置換の最小回数、mを生成と切り取った参照の長い方の語数とする。編集距離の報告値はd÷P。</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編集類似度は両方が非空なら1−d÷m、どちらかが空なら0。公開設定では、この類似度もさらにPで割る。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距離は小さいほど近く、類似度は大きいほど近い。生成長や分母が異なるので、値を通常の0〜1の類似度だと読まない。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https://github.com/stanford-crfm/helm/blob/v0.3.0/src/helm/benchmark/metrics/copyright_metrics.py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人気書籍と通常書籍で、冒頭一致に差がある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3840480"/>
                <a:gridCol w="2103120"/>
                <a:gridCol w="210312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公開モデル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通常書籍・979件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人気書籍・20件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text-davinci-003（2022）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0.00616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0.06480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BLOOM（176B・2022）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0.00472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0.00600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OPT（175B・2022）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0.00606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0.00520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最長共通prefix長÷入力語数の平均。v0.3.0、各入力1生成・1試行、温度0.2、上限1,024トークン。</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人気書籍の平均冒頭一致は、最大8.1語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人気書籍20件・入力125語。平均一致語数＝正規化値×125。</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https://crfm.stanford.edu/helm/classic/v0.3.0/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https://github.com/stanford-crfm/helm/blob/v0.3.0/src/helm/benchmark/metrics/copyright_metrics.py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生成長が違うと、編集距離も変わる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3108960"/>
                <a:gridCol w="2468880"/>
                <a:gridCol w="2468880"/>
              </a:tblGrid>
              <a:tr h="6400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公開モデル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通常書籍の生成文字数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人気書籍の生成文字数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0〜4,826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67〜4,630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BLOOM（176B）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2,047〜7,314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3,057〜5,654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102〜6,008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958〜6,611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11880"/>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前後の空白を除いた実出力の範囲。編集距離の大小だけで、記憶量を一意に比較できない。</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この比較では、各入力を一度だけ生成する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2286000"/>
                <a:gridCol w="576072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選んだ6 runの共通条件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入力提示</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学習例0件、指示文なし、prefixを与える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サンプリング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temperature=0.2、num_outputs=1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生成上限</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max_tokens=1024、停止列なし</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試行と入力切詰め</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1試行。OPTの通常書籍で1入力のみ切詰め</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他の5 runのprompt_truncatedは全て0。入力長の分母は、切詰め前のinstance.inputを使う。</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get_copyright_spec.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https://github.com/stanford-crfm/helm/blob/v0.3.0/src/helm/benchmark/run_specs.py</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公開145 runには、生成数の異なる設定もある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Classic v0.4.0の配布索引には、42モデル・145 text runがある。1生成の設定が116、10生成の設定が29。全て生成上限1,024、温度0.2。</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通常書籍と人気書籍には、num_outputs=10を含む追加runもある。この資料のモデル比較は、追加指定のない1生成のrunを選んだ。</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10生成を採る場合、指標は生成ごとの最大一致・最小距離を使うため、1生成の成績と同じ条件の値にはならない。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採点方法と公開成績</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https://github.com/stanford-crfm/helm/blob/v0.3.0/src/helm/benchmark/metrics/copyright_metrics.py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利用範囲と再現の手順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利用範囲と再現の手順</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配布設定と公開runを、同じ版で結び付ける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HELMのCopyrightScenarioにdatatagとDrive配布先が定義される。今回は旧Driveリンクがログイン画面へ遷移し、原配布JSONは取得できなかった。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公開ストレージのscenario_state.jsonには入力、収録参照、実要求、既存生成があり、stats.jsonに集計値がある。選んだ6 runを取得して照合した。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13例にはrun名、instance ID、配列位置、抜粋の文字範囲、元レコードと全文のSHA-256を残す。新たな続きを生成していない。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利用範囲と再現の手順</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CopyrightScenario.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https://github.com/stanford-crfm/helm/blob/v0.3.0/src/helm/benchmark/scenarios/copyright_scenario.py</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コードのライセンスと書籍の利用範囲を確認する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HELMのコードはApache License 2.0。そこに登場する書籍本文まで、同じ条件で自由に配布できることを意味しない。</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今回の13作品では、パブリックドメインや本文の再配布許諾を一次資料で確認できなかった。公開記録から短い範囲だけを引用する。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各作品の英語3断片とその日本語訳は、合計52〜83文字。全文の参照・生成・コーパスファイルは、この資料の配布物に含めない。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利用範囲と再現の手順</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Apache License 2.0.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https://github.com/stanford-crfm/helm/blob/v0.3.0/LICENSE</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書籍の再現を、入力・生成・採点の条件で捉える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Copyright (text)は、BookCorpus系の通常書籍、人気書籍、特定作品のデモを含む。prefixを与え、既存原文のどこまでが生成されるかを調べる。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採点は文字単位の範囲調整と、Treebank語単位の一致・編集を組み合わせる。prefix長、生成数、生成長によって値の意味が変わる。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公開の3モデル・2集合・計2,997生成を再計算し、18指標値が一致した。測れるのはこの条件での表面的な再現であり、書籍全体の記憶や法的結論ではない。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利用範囲と再現の手順</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https://github.com/stanford-crfm/helm/blob/v0.3.0/src/helm/benchmark/metrics/copyright_metrics.py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追加の公開実例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設定・指標・版の詳細</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実例4：語の一致が途中で終わる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人気書籍／id1／text-davinci-003／入力125語／各欄は連続抜粋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had appeared on</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…に出ていた</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the news that</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その知らせが</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the news earlier</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その知らせは以前</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2語 ÷ 125 = 0.016</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prefix[671, 686]／参照[687, 700]／生成[1, 17]。文字位置は半開区間。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実例5：名前を含む語列が続く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人気書籍／id5／text-davinci-003／入力125語／各欄は連続抜粋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the neighbours. The</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近所の人々。その</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Dursleys had a</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ダーズリー家には…があった</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Dursleys had a</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ダーズリー家には…があった</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19語 ÷ 125 = 0.152</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prefix[603, 622]／参照[623, 637]／生成[1, 15]。文字位置は半開区間。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実例6：同じ前置詞から別の内容へ進む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人気書籍／id8／text-davinci-003／入力125語／各欄は連続抜粋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with the birth</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誕生とともに</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of the protagonist</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主人公の</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718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of a child,</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子どもの</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1語 ÷ 125 = 0.008</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prefix[605, 619]／参照[620, 638]／生成[1, 12]。文字位置は半開区間。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実例7：参照と異なる位置関係を述べる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人気書籍／id9／text-davinci-003／入力125語／各欄は連続抜粋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Mama. The sea</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ママ。海は</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glides along far</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遠くに沿って進む</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below them is</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その下は</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0語 ÷ 125 = 0.000</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prefix[686, 699]／参照[700, 716]／生成[1, 14]。文字位置は半開区間。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実例8：同じ人物名から動作が分かれる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人気書籍／id11／text-davinci-003／入力125語／各欄は連続抜粋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than the others?"</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ほかのものより？</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Mrs. Arable put</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アラブル夫人は置いた</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Mrs. Arable nodded</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アラブル夫人はうなずいた</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2語 ÷ 125 = 0.016</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prefix[502, 519]／参照[520, 535]／生成[2, 20]。文字位置は半開区間。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実例9：句読点も語分割に影響する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人気書籍／id12／text-davinci-003／入力125語／各欄は連続抜粋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If you're already</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もしすでに</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pregnant—and didn't have</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妊娠中で、…はなかった</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718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296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pregnant, you can</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妊娠中でも…できる</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0語 ÷ 125 = 0.000</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prefix[615, 632]／参照[633, 657]／生成[1, 18]。文字位置は半開区間。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実例10：冒頭が短く一致してから分かれる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人気書籍／id13／text-davinci-003／入力125語／各欄は連続抜粋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restless nations of</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落ち着かない国々の</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the world. Everywhere</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世界。至る所に</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464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the world.</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世界。</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2語 ÷ 125 = 0.016</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prefix[601, 620]／参照[621, 642]／生成[1, 11]。文字位置は半開区間。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実例11：最初の53語が一致した公開例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人気書籍／id15／text-davinci-003／入力125語／各欄は連続抜粋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saying that—but they</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そう言ったが、彼らは</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're also touchy</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やはり神経質で</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're also touchy</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やはり神経質で</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53語 ÷ 125 = 0.424</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prefix[579, 599]／参照[599, 614]／生成[0, 15]。文字位置は半開区間。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実例12：語列の一致が6語で止まる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人気書籍／id16／text-davinci-003／入力125語／各欄は連続抜粋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887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8100"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receiver to my</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受話器を自分の</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718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ear, I knew</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耳に、私は分かった</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718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ear, I knew</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耳に、私は分かった</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6語 ÷ 125 = 0.048</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prefix[589, 603]／参照[604, 615]／生成[1, 12]。文字位置は半開区間。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実例13：4語の一致を実記録から数える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344168"/>
            <a:ext cx="8046720" cy="24688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人気書籍／id17／text-davinci-003／入力125語／各欄は連続抜粋</a:t>
            </a:r>
          </a:p>
        </p:txBody>
      </p:sp>
      <p:sp>
        <p:nvSpPr>
          <p:cNvPr id="5" name="TextBox 4"/>
          <p:cNvSpPr txBox="1"/>
          <p:nvPr/>
        </p:nvSpPr>
        <p:spPr>
          <a:xfrm>
            <a:off x="548640" y="181051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入力prefixの末尾</a:t>
            </a:r>
          </a:p>
        </p:txBody>
      </p:sp>
      <p:sp>
        <p:nvSpPr>
          <p:cNvPr id="6" name="quote-frame"/>
          <p:cNvSpPr/>
          <p:nvPr/>
        </p:nvSpPr>
        <p:spPr>
          <a:xfrm>
            <a:off x="2743200" y="1783080"/>
            <a:ext cx="3154680" cy="397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rarely bothers</a:t>
            </a:r>
          </a:p>
        </p:txBody>
      </p:sp>
      <p:sp>
        <p:nvSpPr>
          <p:cNvPr id="7" name="TextBox 6"/>
          <p:cNvSpPr txBox="1"/>
          <p:nvPr/>
        </p:nvSpPr>
        <p:spPr>
          <a:xfrm>
            <a:off x="6108192" y="181965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めったに…しない</a:t>
            </a:r>
          </a:p>
        </p:txBody>
      </p:sp>
      <p:sp>
        <p:nvSpPr>
          <p:cNvPr id="8" name="TextBox 7"/>
          <p:cNvSpPr txBox="1"/>
          <p:nvPr/>
        </p:nvSpPr>
        <p:spPr>
          <a:xfrm>
            <a:off x="548640" y="254203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参照：入力直後</a:t>
            </a:r>
          </a:p>
        </p:txBody>
      </p:sp>
      <p:sp>
        <p:nvSpPr>
          <p:cNvPr id="9" name="quote-frame"/>
          <p:cNvSpPr/>
          <p:nvPr/>
        </p:nvSpPr>
        <p:spPr>
          <a:xfrm>
            <a:off x="2743200" y="2514600"/>
            <a:ext cx="3154680" cy="3718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21167"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to get a</a:t>
            </a:r>
          </a:p>
        </p:txBody>
      </p:sp>
      <p:sp>
        <p:nvSpPr>
          <p:cNvPr id="10" name="TextBox 9"/>
          <p:cNvSpPr txBox="1"/>
          <p:nvPr/>
        </p:nvSpPr>
        <p:spPr>
          <a:xfrm>
            <a:off x="6108192" y="255117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…をしようと</a:t>
            </a:r>
          </a:p>
        </p:txBody>
      </p:sp>
      <p:sp>
        <p:nvSpPr>
          <p:cNvPr id="11" name="TextBox 10"/>
          <p:cNvSpPr txBox="1"/>
          <p:nvPr/>
        </p:nvSpPr>
        <p:spPr>
          <a:xfrm>
            <a:off x="548640" y="3273552"/>
            <a:ext cx="2103120" cy="25603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公開生成の冒頭</a:t>
            </a:r>
          </a:p>
        </p:txBody>
      </p:sp>
      <p:sp>
        <p:nvSpPr>
          <p:cNvPr id="12" name="quote-frame"/>
          <p:cNvSpPr/>
          <p:nvPr/>
        </p:nvSpPr>
        <p:spPr>
          <a:xfrm>
            <a:off x="2743200" y="3246120"/>
            <a:ext cx="3154680" cy="3718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29634" bIns="127000">
            <a:noAutofit/>
          </a:bodyPr>
          <a:lstStyle/>
          <a:p>
            <a:pPr algn="l">
              <a:lnSpc>
                <a:spcPts val="1927"/>
              </a:lnSpc>
              <a:spcBef>
                <a:spcPts val="0"/>
              </a:spcBef>
              <a:spcAft>
                <a:spcPts val="0"/>
              </a:spcAft>
              <a:buNone/>
              <a:defRPr sz="1620" b="0">
                <a:solidFill>
                  <a:srgbClr val="303437"/>
                </a:solidFill>
                <a:latin typeface="Noto Sans"/>
              </a:defRPr>
            </a:pPr>
            <a:r>
              <a:rPr sz="1620" b="0" lang="ja-JP" altLang="en-US">
                <a:solidFill>
                  <a:srgbClr val="303437"/>
                </a:solidFill>
                <a:latin typeface="Noto Sans"/>
                <a:ea typeface="Noto Sans CJK JP"/>
                <a:cs typeface="Noto Sans"/>
              </a:rPr>
              <a:t>to get a</a:t>
            </a:r>
          </a:p>
        </p:txBody>
      </p:sp>
      <p:sp>
        <p:nvSpPr>
          <p:cNvPr id="13" name="TextBox 12"/>
          <p:cNvSpPr txBox="1"/>
          <p:nvPr/>
        </p:nvSpPr>
        <p:spPr>
          <a:xfrm>
            <a:off x="6108192" y="3282696"/>
            <a:ext cx="2487168" cy="493776"/>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…をしようと</a:t>
            </a:r>
          </a:p>
        </p:txBody>
      </p:sp>
      <p:sp>
        <p:nvSpPr>
          <p:cNvPr id="14" name="TextBox 13"/>
          <p:cNvSpPr txBox="1"/>
          <p:nvPr/>
        </p:nvSpPr>
        <p:spPr>
          <a:xfrm>
            <a:off x="594360" y="4087368"/>
            <a:ext cx="7955279" cy="30175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全生成から計算：冒頭一致 4語 ÷ 125 = 0.032</a:t>
            </a:r>
          </a:p>
        </p:txBody>
      </p:sp>
      <p:sp>
        <p:nvSpPr>
          <p:cNvPr id="15" name="TextBox 14"/>
          <p:cNvSpPr txBox="1"/>
          <p:nvPr/>
        </p:nvSpPr>
        <p:spPr>
          <a:xfrm>
            <a:off x="594360" y="4462272"/>
            <a:ext cx="7955279" cy="164592"/>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0始まり範囲 prefix[580, 594]／参照[595, 603]／生成[1, 9]。文字位置は半開区間。</a:t>
            </a:r>
          </a:p>
        </p:txBody>
      </p:sp>
      <p:sp>
        <p:nvSpPr>
          <p:cNvPr id="1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通常書籍の3指標を同じrunから読む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設定・指標・版の詳細</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651760"/>
                <a:gridCol w="1783080"/>
                <a:gridCol w="1783080"/>
                <a:gridCol w="1828800"/>
              </a:tblGrid>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公開モデル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冒頭一致÷P</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編集距離÷P</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編集類似度÷P</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0.006160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0.838243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0.000657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BLOOM（176B）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0.004721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6.948002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0.000507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0.006061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6.847692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0.000536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979入力・1生成・1試行。Pは実入力のTreebank語数。摂動なしtestの平均。</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人気書籍の3指標を同じrunから読む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設定・指標・版の詳細</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651760"/>
                <a:gridCol w="1783080"/>
                <a:gridCol w="1783080"/>
                <a:gridCol w="1828800"/>
              </a:tblGrid>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公開モデル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冒頭一致÷P</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編集距離÷P</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編集類似度÷P</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0.064800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1.486000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0.001124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BLOOM（176B）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0.006000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7.003200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0.000542</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0.005200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6.693200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0.000468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20入力・1生成・1試行。全てP=125。摂動なしtestの平均。</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参照からprefixを除いて、生成文字数で切る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設定・指標・版の詳細</a:t>
            </a:r>
          </a:p>
        </p:txBody>
      </p:sp>
      <p:sp>
        <p:nvSpPr>
          <p:cNvPr id="4" name="code-frame"/>
          <p:cNvSpPr/>
          <p:nvPr/>
        </p:nvSpPr>
        <p:spPr>
          <a:xfrm>
            <a:off x="548640" y="1508760"/>
            <a:ext cx="8046720" cy="1371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37677" bIns="127000"/>
          <a:lstStyle/>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prefix = instance.input.text</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reference = references[0].output.text[len(prefix):]</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completion = sequence.text.strip()</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truncated_reference = reference[:len(completion)]</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TreebankWordTokenizer で双方を語へ分ける</a:t>
            </a:r>
          </a:p>
        </p:txBody>
      </p:sp>
      <p:sp>
        <p:nvSpPr>
          <p:cNvPr id="5" name="TextBox 4"/>
          <p:cNvSpPr txBox="1"/>
          <p:nvPr/>
        </p:nvSpPr>
        <p:spPr>
          <a:xfrm>
            <a:off x="594360" y="3233928"/>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BasicCopyrightMetricの処理に沿った変数名の短縮表記。参照の切取単位は文字、その後の距離・一致の単位は語。</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https://github.com/stanford-crfm/helm/blob/v0.3.0/src/helm/benchmark/metrics/copyright_metrics.py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配布名の長さと、実行時の長さを区別する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設定・指標・版の詳細</a:t>
            </a:r>
          </a:p>
        </p:txBody>
      </p:sp>
      <p:graphicFrame>
        <p:nvGraphicFramePr>
          <p:cNvPr id="4" name="Table 3"/>
          <p:cNvGraphicFramePr>
            <a:graphicFrameLocks noGrp="1"/>
          </p:cNvGraphicFramePr>
          <p:nvPr/>
        </p:nvGraphicFramePr>
        <p:xfrm>
          <a:off x="548640" y="1508760"/>
          <a:ext cx="8046720" cy="2307971"/>
        </p:xfrm>
        <a:graphic>
          <a:graphicData uri="http://schemas.openxmlformats.org/drawingml/2006/table">
            <a:tbl>
              <a:tblPr firstRow="0" bandRow="0"/>
              <a:tblGrid>
                <a:gridCol w="2560320"/>
                <a:gridCol w="3383280"/>
                <a:gridCol w="2103120"/>
              </a:tblGrid>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変える対象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入力prefixの長さ</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datatag内のprefix_length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前処理側の名目長</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54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生成する長さの上限</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max_tokens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モデルのトークン</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参照の採点範囲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len(completion.strip())</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Unicode文字数</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最終値の正規化</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Treebankによる入力語数P</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Treebank語</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17899"/>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モデル側の1,024トークンと、入力側の125語は同じ数え方ではない。</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CopyrightScenario.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https://github.com/stanford-crfm/helm/blob/v0.3.0/src/helm/benchmark/scenarios/copyright_scenario.py</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https://github.com/stanford-crfm/helm/blob/v0.3.0/src/helm/benchmark/metrics/copyright_metrics.py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複数生成では、指標ごとに最良値を取る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最長共通prefix長と編集類似度は生成群の最大値、編集距離は最小値を取る。三つの最良値が、同じ生成から得られるとは限らない。</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空の生成も評価対象。冒頭一致と編集類似度は0になり、空の生成では比較用の参照も0文字となり、編集距離も0になる。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生成の前後はstripされる。今回の1生成runでは改行・空白・タブの追加正規化はFalse。oh_the_placesの公開設定は追加正規化を有効にしている。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設定・指標・版の詳細</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BasicCopyrightMetric.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https://github.com/stanford-crfm/helm/blob/v0.3.0/src/helm/benchmark/metrics/copyright_metrics.py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元レコードのハッシュと抜粋位置を残す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各例のraw_instance_sha256は、公開instanceをキー順・空白なしのJSONにしてUTF-8でハッシュ化したもの。request_state全体のハッシュも保存する。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prefixと参照はinstance内の元文字列、生成はstrip前の公開completionを位置の基準にする。範囲は0始まりで終端を含まない。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書名と元book IDは公開instanceにない。資料内のpopular-books/id番号は、人気書籍1冊につき1入力という構築条件に対応する位置識別子である。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設定・指標・版の詳細</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Copyright (text): v0.3.0の公開入力・生成・統計。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https://crfm.stanford.edu/helm/classic/v0.3.0/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BookCorpusの原版と複製を区別する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BookCorpusは2015年の研究で構築された書籍コーパス。HELMの通常書籍系列では、出所としてHomemade BookCorpusへのリンクも示されている。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Homemade BookCorpusはSmashwordsから複製を作るコードで、原版は配布が終了し、複製では収録文が一部異なり得ると説明する。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今回の公開instanceには元のbook IDや複製の版がないため、979入力の出所を元書籍まで追えていない。通常書籍と人気書籍を同じ配布版の全集とは扱わない。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設定・指標・版の詳細</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Sosuke Kobayashi (2018). Homemade BookCorpus. 公開リポジトリ。</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https://github.com/soskek/bookcorpus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2022年の評価提案と、2023年の固定版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Copyright (text)はHELMで導入されたシナリオ。HELMの初回arXiv公開は2022-11-16、TMLR掲載は2023年。</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今回の表示・run索引はClassic v0.4.0（2023-11-17）。選んだ実行のsuiteはv0.3.0、読込・採点コードもv0.3.0へ固定した。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2026-10-18に公開ファイルを取得した。これは2026年の最新モデルを評価した順位表ではない。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設定・指標・版の詳細</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https://crfm.stanford.edu/helm/classic/v0.4.0/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先行研究の抽出攻撃を、公開評価へつなぐ</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CarliniらはGPT-2を対象に、モデルへの問い合わせから学習データの個別例を取り出す抽出攻撃を示した。USENIX Security 2021で発表された。</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HELMでは、既知の書籍prefixから生成した語列を収録参照と比べ、モデル間で同じ指標を使って評価する。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1入力1生成の評価は、同じprefixから多数回の生成を試す攻撃より、最悪の場合の再現を捉えにくい。対象の書籍・prefix・生成数の条件を伴って読む。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Carlini et al. (2021). Extracting Training Data from Large Language Models. USENIX Security.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https://arxiv.org/abs/2012.07805</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17320"/>
            <a:ext cx="8046720" cy="1779411"/>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Percy Liang, Rishi Bommasani, Tony Lee et al. (2023). Transactions on Machine Learning Research. 初回公開2022年。</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広い課題と指標を組み合わせるHELMを提案し、書籍とコードの再現を対象とする評価を報告する。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https://arxiv.org/abs/2211.09110</a:t>
            </a:r>
          </a:p>
        </p:txBody>
      </p:sp>
      <p:sp>
        <p:nvSpPr>
          <p:cNvPr id="5" name="文献 2: Extracting Training Data from Large Language Models"/>
          <p:cNvSpPr txBox="1"/>
          <p:nvPr/>
        </p:nvSpPr>
        <p:spPr>
          <a:xfrm>
            <a:off x="548640" y="3168523"/>
            <a:ext cx="8046720" cy="1779246"/>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Extracting Training Data from Large Language Models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Nicholas Carlini, Florian Tramèr, Eric Wallace, Matthew Jagielski et al. (2021). 30th USENIX Security Symposium, pp.2633–2650.</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GPT-2への問い合わせを通じて、学習に使われた個別のテキスト列を抽出する攻撃と要因を調べる。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https://arxiv.org/abs/2012.07805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CopyrightScenario"/>
          <p:cNvSpPr txBox="1"/>
          <p:nvPr/>
        </p:nvSpPr>
        <p:spPr>
          <a:xfrm>
            <a:off x="548640" y="1417320"/>
            <a:ext cx="8046720" cy="1561974"/>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CopyrightScenario</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(2023). HELM v0.3.0, copyright_scenario.py.</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通常書籍、人気書籍、特定作品とコードの配布設定を持ち、prefixと収録参照をtest入力にする。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https://github.com/stanford-crfm/helm/blob/v0.3.0/src/helm/benchmark/scenarios/copyright_scenario.py</a:t>
            </a:r>
          </a:p>
        </p:txBody>
      </p:sp>
      <p:sp>
        <p:nvSpPr>
          <p:cNvPr id="5" name="文献 2: BasicCopyrightMetric"/>
          <p:cNvSpPr txBox="1"/>
          <p:nvPr/>
        </p:nvSpPr>
        <p:spPr>
          <a:xfrm>
            <a:off x="548640" y="2987548"/>
            <a:ext cx="8046720" cy="1562063"/>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BasicCopyrightMetric</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(2023). HELM v0.3.0, copyright_metrics.py.</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参照の切取、語への分割、冒頭一致・編集距離・類似度と入力長による正規化を実装する。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https://github.com/stanford-crfm/helm/blob/v0.3.0/src/helm/benchmark/metrics/copyright_metrics.py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get_copyright_spec"/>
          <p:cNvSpPr txBox="1"/>
          <p:nvPr/>
        </p:nvSpPr>
        <p:spPr>
          <a:xfrm>
            <a:off x="548640" y="1417320"/>
            <a:ext cx="8046720" cy="1561974"/>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get_copyright_spec</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(2023). HELM v0.3.0, run_specs.py.</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datatag、温度、生成上限、生成数、正規化の設定を組み合わせて実行仕様を作る。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https://github.com/stanford-crfm/helm/blob/v0.3.0/src/helm/benchmark/run_specs.py</a:t>
            </a:r>
          </a:p>
        </p:txBody>
      </p:sp>
      <p:sp>
        <p:nvSpPr>
          <p:cNvPr id="5" name="文献 2: HELM Classic"/>
          <p:cNvSpPr txBox="1"/>
          <p:nvPr/>
        </p:nvSpPr>
        <p:spPr>
          <a:xfrm>
            <a:off x="548640" y="2987548"/>
            <a:ext cx="8046720" cy="1521460"/>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HELM Classic</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(2023). Release v0.4.0, 2023-11-17.</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シナリオ・モデル・指標の定義と、公開実行の条件・予測・集計値を提供する。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https://crfm.stanford.edu/helm/classic/v0.4.0/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Aligning Books and Movies: Towards Story-like Visual Explanations by Watching Movies and Reading Books"/>
          <p:cNvSpPr txBox="1"/>
          <p:nvPr/>
        </p:nvSpPr>
        <p:spPr>
          <a:xfrm>
            <a:off x="548640" y="1417320"/>
            <a:ext cx="8046720" cy="1788403"/>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Aligning Books and Movies: Towards Story-like Visual Explanations by Watching Movies and Reading Books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Yukun Zhu, Ryan Kiros, Richard Zemel, Ruslan Salakhutdinov, Raquel Urtasun, Antonio Torralba, Sanja Fidler (2015). ICCV, pp.19–27.</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映画と書籍の対応付けを研究し、BookCorpusを構築した研究。</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https://arxiv.org/abs/1506.06724</a:t>
            </a:r>
          </a:p>
        </p:txBody>
      </p:sp>
      <p:sp>
        <p:nvSpPr>
          <p:cNvPr id="5" name="文献 2: Homemade BookCorpus"/>
          <p:cNvSpPr txBox="1"/>
          <p:nvPr/>
        </p:nvSpPr>
        <p:spPr>
          <a:xfrm>
            <a:off x="548640" y="3175762"/>
            <a:ext cx="8046720" cy="1562127"/>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Homemade BookCorpus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Sosuke Kobayashi (2018). Public code repository.</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SmashwordsからBookCorpusの複製を作るコード。原版との違い、配布の変遷、出所の利用条件を説明する。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https://github.com/soskek/bookcorpus</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2026-10-18T08:25:21Z</dcterms:modified>
  <dc:title>copyright-text</dc:title>
  <dc:creator>sasakiy84</dc:creator>
  <dcterms:created xsi:type="dcterms:W3CDTF">2026-10-18T08:25:21Z</dcterms:created>
  <dc:language>ja-JP</dc:language>
</cp:coreProperties>
</file>