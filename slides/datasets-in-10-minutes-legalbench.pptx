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5" r:id="rId25"/>
    <p:sldId id="277" r:id="rId27"/>
    <p:sldId id="278" r:id="rId28"/>
    <p:sldId id="279" r:id="rId29"/>
    <p:sldId id="280" r:id="rId30"/>
    <p:sldId id="281" r:id="rId31"/>
    <p:sldId id="282" r:id="rId32"/>
    <p:sldId id="283" r:id="rId33"/>
    <p:sldId id="284" r:id="rId34"/>
    <p:sldId id="285" r:id="rId35"/>
    <p:sldId id="286" r:id="rId36"/>
    <p:sldId id="288" r:id="rId38"/>
    <p:sldId id="289" r:id="rId39"/>
    <p:sldId id="290" r:id="rId40"/>
    <p:sldId id="291" r:id="rId41"/>
    <p:sldId id="292" r:id="rId42"/>
    <p:sldId id="293" r:id="rId43"/>
    <p:sldId id="294" r:id="rId44"/>
    <p:sldId id="295" r:id="rId45"/>
    <p:sldId id="297" r:id="rId47"/>
    <p:sldId id="299" r:id="rId49"/>
    <p:sldId id="301" r:id="rId51"/>
    <p:sldId id="303" r:id="rId53"/>
    <p:sldId id="305" r:id="rId55"/>
    <p:sldId id="307" r:id="rId57"/>
    <p:sldId id="308" r:id="rId58"/>
    <p:sldId id="309" r:id="rId59"/>
    <p:sldId id="311" r:id="rId61"/>
    <p:sldId id="312" r:id="rId62"/>
    <p:sldId id="314" r:id="rId64"/>
    <p:sldId id="316" r:id="rId66"/>
    <p:sldId id="317" r:id="rId67"/>
    <p:sldId id="335" r:id="rId85"/>
    <p:sldId id="336" r:id="rId86"/>
    <p:sldId id="337" r:id="rId87"/>
    <p:sldId id="338" r:id="rId8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7" Type="http://schemas.openxmlformats.org/officeDocument/2006/relationships/slide" Target="slides/slide38.xml"/><Relationship Id="rId49" Type="http://schemas.openxmlformats.org/officeDocument/2006/relationships/slide" Target="slides/slide39.xml"/><Relationship Id="rId51" Type="http://schemas.openxmlformats.org/officeDocument/2006/relationships/slide" Target="slides/slide40.xml"/><Relationship Id="rId53" Type="http://schemas.openxmlformats.org/officeDocument/2006/relationships/slide" Target="slides/slide41.xml"/><Relationship Id="rId55" Type="http://schemas.openxmlformats.org/officeDocument/2006/relationships/slide" Target="slides/slide42.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4"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50.xml"/><Relationship Id="rId85" Type="http://schemas.openxmlformats.org/officeDocument/2006/relationships/slide" Target="slides/slide51.xml"/><Relationship Id="rId86" Type="http://schemas.openxmlformats.org/officeDocument/2006/relationships/slide" Target="slides/slide52.xml"/><Relationship Id="rId87" Type="http://schemas.openxmlformats.org/officeDocument/2006/relationships/slide" Target="slides/slide53.xml"/><Relationship Id="rId88"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azyresearch.stanford.edu/legalbench/"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abercrombi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hearsa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pro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blob/main/evaluation.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blob/main/CHANGELOG.md"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definition_extraction"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diversity_1"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international_citizenship_questions"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function_of_decision_secti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citation_prediction_classificati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contract_q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personal_jurisdicti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successor_liability"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azyResearch/legalbench"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ucc_v_common_law"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tree/main/tasks" TargetMode="External"/><Relationship Id="rId3" Type="http://schemas.openxmlformats.org/officeDocument/2006/relationships/hyperlink" Target="https://github.com/HazyResearch/legalbench/tree/main/tasks/telemarketing_sales_rul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8.11462"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8.11462" TargetMode="External"/><Relationship Id="rId3" Type="http://schemas.openxmlformats.org/officeDocument/2006/relationships/hyperlink" Target="https://hazyresearch.stanford.edu/legalbench/" TargetMode="External"/><Relationship Id="rId4" Type="http://schemas.openxmlformats.org/officeDocument/2006/relationships/hyperlink" Target="https://proceedings.neurips.cc/paper_files/paper/2023/hash/89e44582fd28ddfea1ea4dcb0ebbf4b0-Abstract-Datasets_and_Benchmarks.html"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azyResearch/legalbench" TargetMode="External"/><Relationship Id="rId3" Type="http://schemas.openxmlformats.org/officeDocument/2006/relationships/hyperlink" Target="https://github.com/HazyResearch/legalbench/blob/main/CHANGELOG.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1004570"/>
          </a:xfrm>
        </p:spPr>
        <p:txBody>
          <a:bodyPr wrap="square" lIns="0" rIns="0" tIns="0" bIns="10160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LegalBench</a:t>
            </a:r>
          </a:p>
        </p:txBody>
      </p:sp>
      <p:sp>
        <p:nvSpPr>
          <p:cNvPr id="3" name="Subtitle 2"/>
          <p:cNvSpPr>
            <a:spLocks noGrp="1"/>
          </p:cNvSpPr>
          <p:nvPr>
            <p:ph type="subTitle" idx="1"/>
          </p:nvPr>
        </p:nvSpPr>
        <p:spPr>
          <a:xfrm>
            <a:off x="548640" y="2472652"/>
            <a:ext cx="8046720" cy="144081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Collaboratively Built Benchmark for
Measuring Legal Reasoning in Large Language Models</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法律の推論を162の課題で評価する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LegalBench</a:t>
            </a:r>
          </a:p>
        </p:txBody>
      </p:sp>
      <p:pic>
        <p:nvPicPr>
          <p:cNvPr id="4" name="Picture 3" descr="official-site.png"/>
          <p:cNvPicPr>
            <a:picLocks noChangeAspect="1"/>
          </p:cNvPicPr>
          <p:nvPr/>
        </p:nvPicPr>
        <p:blipFill>
          <a:blip r:embed="rId2"/>
          <a:stretch>
            <a:fillRect/>
          </a:stretch>
        </p:blipFill>
        <p:spPr>
          <a:xfrm>
            <a:off x="1815084" y="1481328"/>
            <a:ext cx="5513832"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Official site.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https://hazyresearch.stanford.edu/legalbench/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実例から見る法律課題</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162課題の構成と作成方法</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採点と2023年の到達水準</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データの入手と使い方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実例から見る法律課題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一つの試験ではなく、法律課題の集合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LegalBenchは、英語の法律課題ごとに入力と参照出力をそろえたベンチマーク。法律家と研究者が共同で構築した。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商標、契約、証拠、裁判手続など、異なる分野の162課題を含む。課題によって、ラベル・用語・説明文など出力の形が変わる。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2023年に公開され、20モデルを評価した。以下では実例から、何を読み、何を答え、どう採点するかを見る。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公開された提示例から、入力と答えを見る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実例は、異なる13課題の公開trainから1件ずつ示す。trainは、モデルへ与える提示例を作るための集合である。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各例では原レコードの入力欄全文に、課題の問いを添える。実際のプロンプトは、課題ごとのルール説明や提示例と組み合わせて作る。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商標は、語と商品の関係で分類する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377440"/>
                <a:gridCol w="56692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語と商品の関係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generic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その商品そのものの一般名称</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descriptive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商品の性質を直接表す</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suggestive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性質を間接的に示唆する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arbitrary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商品と関係のない既存語</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fanciful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新しく作った語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実例1：パンの商標は何を表すか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3931920" cy="68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mark "Tasty" for bread. What is the type of mark?</a:t>
            </a:r>
          </a:p>
        </p:txBody>
      </p:sp>
      <p:sp>
        <p:nvSpPr>
          <p:cNvPr id="6" name="TextBox 5"/>
          <p:cNvSpPr txBox="1"/>
          <p:nvPr/>
        </p:nvSpPr>
        <p:spPr>
          <a:xfrm>
            <a:off x="548640" y="2428061"/>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descriptive</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66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パンに使う商標「Tasty（おいしい）」。この商標はどの種類か。</a:t>
            </a:r>
          </a:p>
        </p:txBody>
      </p:sp>
      <p:sp>
        <p:nvSpPr>
          <p:cNvPr id="9" name="TextBox 8"/>
          <p:cNvSpPr txBox="1"/>
          <p:nvPr/>
        </p:nvSpPr>
        <p:spPr>
          <a:xfrm>
            <a:off x="4663440" y="2409985"/>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descriptive（記述的）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https://github.com/HazyResearch/legalbench/tree/main/tasks/abercrombie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同じ語でも、何の商品かで判断が変わる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Tastyはパンの性質を直接表す。一般名称でも、商品と無関係な既存語でもない。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abercrombieでは、五つの分類名のいずれかを答える。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伝聞の判定は、発言を使う目的も含む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hearsayでは、法廷外の発言を、その発言内容が真実だと示すために使う場合を伝聞とする。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入力には争点と、提出しようとする証拠がある。発言があったかだけでなく、何を立証するために使うかを判断する。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実例2：法廷外の発言を証拠にする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3931920" cy="121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On the issue of whether Rebecca was ill, the fact that Rebecca told Ronald that she was unwell. Is there hearsay?</a:t>
            </a:r>
          </a:p>
        </p:txBody>
      </p:sp>
      <p:sp>
        <p:nvSpPr>
          <p:cNvPr id="6" name="TextBox 5"/>
          <p:cNvSpPr txBox="1"/>
          <p:nvPr/>
        </p:nvSpPr>
        <p:spPr>
          <a:xfrm>
            <a:off x="548640" y="2940879"/>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1193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レベッカが病気だったかが争われている。レベッカがロナルドに、体調が悪かったと話したという事実。この証拠は伝聞に当たるか。</a:t>
            </a:r>
          </a:p>
        </p:txBody>
      </p:sp>
      <p:sp>
        <p:nvSpPr>
          <p:cNvPr id="9" name="TextBox 8"/>
          <p:cNvSpPr txBox="1"/>
          <p:nvPr/>
        </p:nvSpPr>
        <p:spPr>
          <a:xfrm>
            <a:off x="4663440" y="2914335"/>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Yes（当たる）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https://github.com/HazyResearch/legalbench/tree/main/tasks/hearsay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実例3：期限の規定は提訴権を与えるか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3931920" cy="172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Does the clause specify a private right of action?</a:t>
            </a:r>
          </a:p>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Clause: Amendments to pleadings must be filed within 15 days of the filing of the initial pleading.</a:t>
            </a:r>
          </a:p>
        </p:txBody>
      </p:sp>
      <p:sp>
        <p:nvSpPr>
          <p:cNvPr id="6" name="TextBox 5"/>
          <p:cNvSpPr txBox="1"/>
          <p:nvPr/>
        </p:nvSpPr>
        <p:spPr>
          <a:xfrm>
            <a:off x="548640" y="3470261"/>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1193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訴答書面の修正は、最初の訴答書面を提出してから15日以内に提出しなければならない。この条項は私人の訴権を明記しているか。</a:t>
            </a:r>
          </a:p>
        </p:txBody>
      </p:sp>
      <p:sp>
        <p:nvSpPr>
          <p:cNvPr id="9" name="TextBox 8"/>
          <p:cNvSpPr txBox="1"/>
          <p:nvPr/>
        </p:nvSpPr>
        <p:spPr>
          <a:xfrm>
            <a:off x="4663440" y="2914335"/>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No（明記しない）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https://github.com/HazyResearch/legalbench/tree/main/tasks/proa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出力形式に合わせて、法律上の区別を読む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商標では分類名、伝聞と私人の訴権ではYes／Noが答えになる。入力の語だけでなく、問われた法律上の条件を対応させる。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proaの期限規定は15日という具体的な条件を持つが、私人が提訴できるという規定ではない。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同じ法律分野でも、結論を選ぶ課題と、その理由を説明する課題は採点方法が異なる。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実例から見る法律課題</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162課題の構成と作成方法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法律家が、実務や教育の問いを持ち寄った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40人の寄稿者が、実務で役立つ処理や、法律家が測る価値があると考える推論を課題にした。36のデータ源を利用した。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既存の注釈データを変換した課題と、法律の教科書・演習に着想を得て人手で作った課題がある。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判決、契約、合併契約、法令、日常的な法律相談など、文体も入力の長さも異なる。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法律推論を六つの形式で捉える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468880"/>
                <a:gridCol w="55778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モデルに求めること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争点の発見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事実が、どの法律上の問題を含むか見つける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法規範の想起</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関連する法や判例についての知識を答える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法規範の適用</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規範を事実に当てはめ、理由を説明する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解釈や文章の役割も推論の対象にする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graphicFrame>
        <p:nvGraphicFramePr>
          <p:cNvPr id="4" name="Table 3"/>
          <p:cNvGraphicFramePr>
            <a:graphicFrameLocks noGrp="1"/>
          </p:cNvGraphicFramePr>
          <p:nvPr/>
        </p:nvGraphicFramePr>
        <p:xfrm>
          <a:off x="548640" y="1508760"/>
          <a:ext cx="8046720" cy="2070100"/>
        </p:xfrm>
        <a:graphic>
          <a:graphicData uri="http://schemas.openxmlformats.org/drawingml/2006/table">
            <a:tbl>
              <a:tblPr firstRow="0" bandRow="0"/>
              <a:tblGrid>
                <a:gridCol w="2468880"/>
                <a:gridCol w="55778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モデルに求めること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結論の導出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規範を事実に当てはめた結論を選ぶ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文書の解釈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契約や条文が、ある内容を含むか判断する</a:t>
                      </a:r>
                    </a:p>
                  </a:txBody>
                  <a:tcPr marL="63500" marR="63500" marT="38100" marB="38100" anchor="ctr">
                    <a:lnL w="7620">
                      <a:noFill/>
                    </a:lnL>
                    <a:lnR w="7620">
                      <a:noFill/>
                    </a:lnR>
                    <a:lnT w="7620">
                      <a:noFill/>
                    </a:lnT>
                    <a:lnB w="7620">
                      <a:noFill/>
                    </a:lnB>
                    <a:solidFill>
                      <a:srgbClr val="FFFEF8"/>
                    </a:solidFill>
                  </a:tcPr>
                </a:tc>
              </a:tr>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修辞的な理解</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判決の段落の役割や、定義された用語を捉える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課題の大半は、文書の解釈を扱う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graphicFrame>
        <p:nvGraphicFramePr>
          <p:cNvPr id="4" name="Table 3"/>
          <p:cNvGraphicFramePr>
            <a:graphicFrameLocks noGrp="1"/>
          </p:cNvGraphicFramePr>
          <p:nvPr/>
        </p:nvGraphicFramePr>
        <p:xfrm>
          <a:off x="548640" y="1508760"/>
          <a:ext cx="8046720" cy="2590800"/>
        </p:xfrm>
        <a:graphic>
          <a:graphicData uri="http://schemas.openxmlformats.org/drawingml/2006/table">
            <a:tbl>
              <a:tblPr firstRow="0" bandRow="0"/>
              <a:tblGrid>
                <a:gridCol w="5486400"/>
                <a:gridCol w="2560320"/>
              </a:tblGrid>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推論の形式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争点の発見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法規範の想起</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結論の導出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文書の解釈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118</a:t>
                      </a:r>
                    </a:p>
                  </a:txBody>
                  <a:tcPr marL="63500" marR="63500" marT="38100" marB="38100" anchor="ctr">
                    <a:lnL w="7620">
                      <a:noFill/>
                    </a:lnL>
                    <a:lnR w="7620">
                      <a:noFill/>
                    </a:lnR>
                    <a:lnT w="7620">
                      <a:noFill/>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修辞的な理解</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4249420"/>
            <a:ext cx="7955279" cy="462280"/>
          </a:xfrm>
          <a:prstGeom prst="rect">
            <a:avLst/>
          </a:prstGeom>
          <a:noFill/>
        </p:spPr>
        <p:txBody>
          <a:bodyPr wrap="square" lIns="0" rIns="0" tIns="5080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結論を選ぶ12課題には、同じ入力から理由も説明する評価形式がある。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一つの元データが、多数の課題になる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graphicFrame>
        <p:nvGraphicFramePr>
          <p:cNvPr id="4" name="Table 3"/>
          <p:cNvGraphicFramePr>
            <a:graphicFrameLocks noGrp="1"/>
          </p:cNvGraphicFramePr>
          <p:nvPr/>
        </p:nvGraphicFramePr>
        <p:xfrm>
          <a:off x="548640" y="1508760"/>
          <a:ext cx="8046720" cy="2590800"/>
        </p:xfrm>
        <a:graphic>
          <a:graphicData uri="http://schemas.openxmlformats.org/drawingml/2006/table">
            <a:tbl>
              <a:tblPr firstRow="0" bandRow="0"/>
              <a:tblGrid>
                <a:gridCol w="5577840"/>
                <a:gridCol w="2468880"/>
              </a:tblGrid>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元データ・系列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CUAD：契約条項の分類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MAUD：合併契約の理解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Learned Hands：法律相談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ContractNLI：秘密保持契約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31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Supply Chain Disclosure：企業開示</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4249420"/>
            <a:ext cx="7955279" cy="462280"/>
          </a:xfrm>
          <a:prstGeom prst="rect">
            <a:avLst/>
          </a:prstGeom>
          <a:noFill/>
        </p:spPr>
        <p:txBody>
          <a:bodyPr wrap="square" lIns="0" rIns="0" tIns="5080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OPP-115の9課題など、ほかにも複数の系列がある。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提示例用とテスト用を課題ごとに分ける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多くの課題はtrain.tsvとtest.tsvを持つ。trainでモデルへ示す入力・参照回答を用意し、testで回答を採点する。入力欄と答えの形式は課題ごとに異なる。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abercrombieやhearsayは、人が種類ごとの問題を作り、各種類から1例を提示例用に選んだ。</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rule_qaとscalrは、提示例を使わないゼロショット用で、testを公開している。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162課題の構成と作成方法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採点と2023年の到達水準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分類では、各ラベルの正解率を均等に扱う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分類の出力を小文字化し、句読点を除き、前後の空白を取り除いて参照ラベルと照合する。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ラベルごとの再現率を平均したbalanced accuracyを使う。少数派のラベルを含め、各ラベルを同じ重みで評価する。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Task-specific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https://github.com/HazyResearch/legalbench/blob/main/evaluation.py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抽出・複数回答・説明は採点が異なる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definition_extractionは、語幹化も使って参照用語と照合する。successor_liabilityは、選んだ例外の集合をF1で採点する。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理由を説明する課題は、法律の訓練を受けた人が「結論の正しさ」と「理由付け」を別々に評価した。rule_qaも人が採点した。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2023年：争点・規範・結論の成績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657600"/>
                <a:gridCol w="1463040"/>
                <a:gridCol w="1463040"/>
                <a:gridCol w="1463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争点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規範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 (2023)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Claude-1 v1.3 (2023)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58.1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Flan-T5-XXL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66.0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63.3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各推論群の課題得点の平均（%）。2023年5〜8月の評価。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2023年：文書解釈と文章の役割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657600"/>
                <a:gridCol w="219456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修辞的理解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 (2023)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72.6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66.7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Claude-1 v1.3 (2023)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68.9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Flan-T5-XXL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同じ2023年評価の群別平均（%）。分類・抽出など課題別の指標を含む。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理由付けは、正しい結論より得点が低い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657600"/>
                <a:gridCol w="219456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結論の正しさ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理由付け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 (2023)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Claude-1 v1.3 (2023)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rule-applicationの人手評価（%）。法律の訓練を受けた1人が採点。</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提示例を与え、課題ごとに回答を評価する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分類や抽出などは20モデルを評価した。課題別の指示に0〜8件の提示例を添えて、回答させた。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理由の説明は、GPT-4、text-davinci-003、Claude-1の3モデルを人手で評価した。州籍相違に関する6課題は各30例、ほかの課題は全例を採点した。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モデルの得意分野は、課題ごとに変わる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GPT-4は広い群で高いが、法規範の想起ではClaude-1に近い。文書の解釈でも、長い企業開示や合併契約では得点が下がる。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同じ群に多数の契約課題があるため、群平均と、扱いたい分野・文書の個別成績を併せて見る。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英語の課題で、米国法や契約分野に比重がある。成績は2023年のモデル・データ・採点条件による。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採点と2023年の到達水準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データの入手と使い方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TSVから、商標の入力と参照回答を読む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code-frame"/>
          <p:cNvSpPr/>
          <p:nvPr/>
        </p:nvSpPr>
        <p:spPr>
          <a:xfrm>
            <a:off x="548640" y="1566333"/>
            <a:ext cx="8046720" cy="2082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402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import csv</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with open("tasks/abercrombie/train.tsv",</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encoding="utf-8") as f:</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rows = list(csv.DictReader(f, delimiter="\t"))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row = rows[1]</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print(row["text"])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print(row["answer"])</a:t>
            </a:r>
          </a:p>
        </p:txBody>
      </p:sp>
      <p:sp>
        <p:nvSpPr>
          <p:cNvPr id="6" name="TextBox 5"/>
          <p:cNvSpPr txBox="1"/>
          <p:nvPr/>
        </p:nvSpPr>
        <p:spPr>
          <a:xfrm>
            <a:off x="594360" y="4069080"/>
            <a:ext cx="7955279" cy="54864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公式リポジトリのtasksフォルダを使う。textが入力、answerが参照回答で、課題ごとに列の構成が異なる。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2026年に、一部の入力データが修正された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2026-03-29、MAUDの7課題で、問いと異なる箇所の文章を結び付けていた問題が修正された。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OPP-115の9課題は、短い注釈スパンから、文脈を含む段落全体を入力にする方式へ変更された。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2023年の公表成績は、これらの入力修正前のデータで得た結果である。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Data changelog (2024–2026).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https://github.com/HazyResearch/legalbench/blob/main/CHANGELOG.md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課題ごとの出所と条件を確認して使う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公式サイトから課題の説明、プロンプト、Hugging Faceの公開データへ進める。各課題のREADMEに出所とライセンスがある。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実例のdefinition_extractionはCC BY-SA 4.0。ほかの手作り課題などはCC BY 4.0で、課題によって利用条件が異なる。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READMEとサンプルには、入力欄と答えの形式が示されている。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法律のどの推論を、どの出力で測るか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LegalBenchは、法律の多様な入力・出力を162課題にまとめ、法律家とモデル研究者が共同で構築したベンチマーク。</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分類名を選ぶ、文書を解釈する、用語を抽出する、理由を説明するなど、複数の形で法律の推論を測る。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扱いたい法律分野や文書に応じて、課題ごとの得点と採点方法を読む。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課題形式の補足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実例4：定義される用語を取り出す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3931920" cy="1930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1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Sentence: "But even petitioner concedes, with its preferred dictionary in hand, that the word “decision” can also mean *306 “something short of a statement of reasons explaining a determination.” </a:t>
            </a:r>
          </a:p>
        </p:txBody>
      </p:sp>
      <p:sp>
        <p:nvSpPr>
          <p:cNvPr id="6" name="TextBox 5"/>
          <p:cNvSpPr txBox="1"/>
          <p:nvPr/>
        </p:nvSpPr>
        <p:spPr>
          <a:xfrm>
            <a:off x="548640" y="3663170"/>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decision</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「しかし、申立人でさえ、自ら好む辞書を手に、『decision』という語が、判断の理由を説明する記述とまではいえないものを意味することもあると認めている。」*306</a:t>
            </a:r>
          </a:p>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定義されている用語を抽出する。</a:t>
            </a:r>
          </a:p>
        </p:txBody>
      </p:sp>
      <p:sp>
        <p:nvSpPr>
          <p:cNvPr id="9" name="TextBox 8"/>
          <p:cNvSpPr txBox="1"/>
          <p:nvPr/>
        </p:nvSpPr>
        <p:spPr>
          <a:xfrm>
            <a:off x="4663440" y="3748518"/>
            <a:ext cx="3931920" cy="4536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decision</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https://github.com/HazyResearch/legalbench/tree/main/tasks/definition_extraction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実例5：州が異なっても金額条件がある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3931920" cy="121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Ava is from Alaska. Mia is from Missouri. Ava sues Mia for wrongful eviction for $61,000. Is there diversity jurisdiction?</a:t>
            </a:r>
          </a:p>
        </p:txBody>
      </p:sp>
      <p:sp>
        <p:nvSpPr>
          <p:cNvPr id="6" name="TextBox 5"/>
          <p:cNvSpPr txBox="1"/>
          <p:nvPr/>
        </p:nvSpPr>
        <p:spPr>
          <a:xfrm>
            <a:off x="548640" y="2940879"/>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25600"/>
            <a:ext cx="3931920" cy="1701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9088"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エイヴァはアラスカ州、ミアはミズーリ州の住民である。エイヴァは不当な立退きを理由に、ミアへ61,000ドルを請求して訴える。州籍相違による連邦裁判所の管轄はあるか。</a:t>
            </a:r>
          </a:p>
        </p:txBody>
      </p:sp>
      <p:sp>
        <p:nvSpPr>
          <p:cNvPr id="9" name="TextBox 8"/>
          <p:cNvSpPr txBox="1"/>
          <p:nvPr/>
        </p:nvSpPr>
        <p:spPr>
          <a:xfrm>
            <a:off x="4663440" y="3443718"/>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No（ない）</a:t>
            </a:r>
          </a:p>
        </p:txBody>
      </p:sp>
      <p:sp>
        <p:nvSpPr>
          <p:cNvPr id="11" name="TextBox 10"/>
          <p:cNvSpPr txBox="1"/>
          <p:nvPr/>
        </p:nvSpPr>
        <p:spPr>
          <a:xfrm>
            <a:off x="594360" y="4050791"/>
            <a:ext cx="7955279" cy="530352"/>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課題の規則では、州籍が完全に異なり、請求額が75,000ドルを超える必要がある。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https://github.com/HazyResearch/legalbench/tree/main/tasks/diversity_1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実例6：国籍取得の居住条件を尋ねる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448056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448056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Answer the following questions considering the state of international law on January 1st, 2020.</a:t>
            </a:r>
          </a:p>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Question: Consider the country of Bolivia. Does the country provide for period of residence in a residence-based acquisition? Answer Yes or No.</a:t>
            </a:r>
          </a:p>
        </p:txBody>
      </p:sp>
      <p:sp>
        <p:nvSpPr>
          <p:cNvPr id="6" name="TextBox 5"/>
          <p:cNvSpPr txBox="1"/>
          <p:nvPr/>
        </p:nvSpPr>
        <p:spPr>
          <a:xfrm>
            <a:off x="548640" y="3671581"/>
            <a:ext cx="448056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a:t>
            </a:r>
          </a:p>
        </p:txBody>
      </p:sp>
      <p:sp>
        <p:nvSpPr>
          <p:cNvPr id="7" name="TextBox 6"/>
          <p:cNvSpPr txBox="1"/>
          <p:nvPr/>
        </p:nvSpPr>
        <p:spPr>
          <a:xfrm>
            <a:off x="5212080" y="1316736"/>
            <a:ext cx="3383279"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5212080" y="1617133"/>
            <a:ext cx="3383279" cy="1913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2020年1月1日時点の国際法を前提とする。ボリビアを考える。居住に基づく国籍取得について、同国は居住期間の条件を定めているか。はい、または、いいえで答える。</a:t>
            </a:r>
          </a:p>
        </p:txBody>
      </p:sp>
      <p:sp>
        <p:nvSpPr>
          <p:cNvPr id="9" name="TextBox 8"/>
          <p:cNvSpPr txBox="1"/>
          <p:nvPr/>
        </p:nvSpPr>
        <p:spPr>
          <a:xfrm>
            <a:off x="5212080" y="3704896"/>
            <a:ext cx="3383279" cy="4536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Yes（定めている）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https://github.com/HazyResearch/legalbench/tree/main/tasks/international_citizenship_questions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実例7：判決末尾の文の役割を分類する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25600"/>
            <a:ext cx="3931920" cy="62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155"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Text: For these reasons, we AFFIRM.</a:t>
            </a:r>
          </a:p>
        </p:txBody>
      </p:sp>
      <p:sp>
        <p:nvSpPr>
          <p:cNvPr id="6" name="TextBox 5"/>
          <p:cNvSpPr txBox="1"/>
          <p:nvPr/>
        </p:nvSpPr>
        <p:spPr>
          <a:xfrm>
            <a:off x="548640" y="2368795"/>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Decree</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93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これらの理由により、原判断を維持する。</a:t>
            </a:r>
          </a:p>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この文の役割を分類する。</a:t>
            </a:r>
          </a:p>
        </p:txBody>
      </p:sp>
      <p:sp>
        <p:nvSpPr>
          <p:cNvPr id="9" name="TextBox 8"/>
          <p:cNvSpPr txBox="1"/>
          <p:nvPr/>
        </p:nvSpPr>
        <p:spPr>
          <a:xfrm>
            <a:off x="4663440" y="2662160"/>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Decree（主文）</a:t>
            </a:r>
          </a:p>
        </p:txBody>
      </p:sp>
      <p:sp>
        <p:nvSpPr>
          <p:cNvPr id="11" name="TextBox 10"/>
          <p:cNvSpPr txBox="1"/>
          <p:nvPr/>
        </p:nvSpPr>
        <p:spPr>
          <a:xfrm>
            <a:off x="594360" y="3429000"/>
            <a:ext cx="7955279" cy="530352"/>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判決の文を、事実・手続・争点・法規範・分析・結論・主文の7種類に分類する。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https://github.com/HazyResearch/legalbench/tree/main/tasks/function_of_decision_section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実例8：引用文と判例名が対応するか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08666"/>
            <a:ext cx="3931920" cy="2091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9088" bIns="12700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Text: [T]he law is settled that as a general matter the First Amendment prohibits government officials from subjecting an individual to retaliatory actions . . . for speaking out.</a:t>
            </a:r>
          </a:p>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Citation: Feist v. La., Dep't of Justice, Off. of the Att'y Gen.</a:t>
            </a:r>
          </a:p>
        </p:txBody>
      </p:sp>
      <p:sp>
        <p:nvSpPr>
          <p:cNvPr id="6" name="TextBox 5"/>
          <p:cNvSpPr txBox="1"/>
          <p:nvPr/>
        </p:nvSpPr>
        <p:spPr>
          <a:xfrm>
            <a:off x="548640" y="3805760"/>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08666"/>
            <a:ext cx="3931920" cy="2065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6021" bIns="12700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「一般に、公務員が発言への報復として個人に措置を取ることは、合衆国憲法修正第1条で禁じられている。この法理は確立している。」</a:t>
            </a:r>
          </a:p>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候補判例：Feist v. La., Dep’t of Justice, Off. of the Att’y Gen.</a:t>
            </a:r>
          </a:p>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この判例名は引用の出所として正しいか。</a:t>
            </a:r>
          </a:p>
        </p:txBody>
      </p:sp>
      <p:sp>
        <p:nvSpPr>
          <p:cNvPr id="9" name="TextBox 8"/>
          <p:cNvSpPr txBox="1"/>
          <p:nvPr/>
        </p:nvSpPr>
        <p:spPr>
          <a:xfrm>
            <a:off x="4663440" y="3787778"/>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No（正しくない）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https://github.com/HazyResearch/legalbench/tree/main/tasks/citation_prediction_classification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実例9：準拠法の条項と秘密保持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25600"/>
            <a:ext cx="393192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155"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Clause: This Agreement shall be governed by and construed in accordance with the laws of the State of California</a:t>
            </a:r>
          </a:p>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Does the clause waive confidentiality?</a:t>
            </a:r>
          </a:p>
        </p:txBody>
      </p:sp>
      <p:sp>
        <p:nvSpPr>
          <p:cNvPr id="6" name="TextBox 5"/>
          <p:cNvSpPr txBox="1"/>
          <p:nvPr/>
        </p:nvSpPr>
        <p:spPr>
          <a:xfrm>
            <a:off x="548640" y="3470261"/>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1193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本契約はカリフォルニア州法に準拠し、同法に従って解釈される。</a:t>
            </a:r>
          </a:p>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質問：この条項は秘密保持義務を免除しているか。</a:t>
            </a:r>
          </a:p>
        </p:txBody>
      </p:sp>
      <p:sp>
        <p:nvSpPr>
          <p:cNvPr id="9" name="TextBox 8"/>
          <p:cNvSpPr txBox="1"/>
          <p:nvPr/>
        </p:nvSpPr>
        <p:spPr>
          <a:xfrm>
            <a:off x="4663440" y="2914335"/>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No（免除していない）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https://github.com/HazyResearch/legalbench/tree/main/tasks/contract_qa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実例10：被告の住所地で訴える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420624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08666"/>
            <a:ext cx="420624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9088" bIns="127000">
            <a:noAutofit/>
          </a:bodyPr>
          <a:lstStyle/>
          <a:p>
            <a:pPr algn="l">
              <a:lnSpc>
                <a:spcPts val="176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Dustin is a repairman who lives in Arizona and repairs computers in California, Oregon, and Washington. While traveling to repair a computer in Washington, Dustin is involved in a car crash in Oregon with Laura, a citizen of Oregon. After the accident, Dustin returns to Arizona. Laura sues him in Arizona.  Is there personal jurisdiction?</a:t>
            </a:r>
          </a:p>
        </p:txBody>
      </p:sp>
      <p:sp>
        <p:nvSpPr>
          <p:cNvPr id="6" name="TextBox 5"/>
          <p:cNvSpPr txBox="1"/>
          <p:nvPr/>
        </p:nvSpPr>
        <p:spPr>
          <a:xfrm>
            <a:off x="548640" y="3914031"/>
            <a:ext cx="420624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a:t>
            </a:r>
          </a:p>
        </p:txBody>
      </p:sp>
      <p:sp>
        <p:nvSpPr>
          <p:cNvPr id="7" name="TextBox 6"/>
          <p:cNvSpPr txBox="1"/>
          <p:nvPr/>
        </p:nvSpPr>
        <p:spPr>
          <a:xfrm>
            <a:off x="4937759" y="1316736"/>
            <a:ext cx="365760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937759" y="1617133"/>
            <a:ext cx="3657600" cy="2184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6020" bIns="127000">
            <a:noAutofit/>
          </a:bodyPr>
          <a:lstStyle/>
          <a:p>
            <a:pPr algn="l">
              <a:lnSpc>
                <a:spcPts val="176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ダスティンはアリゾナ州に住む修理業者で、カリフォルニア、オレゴン、ワシントン各州でコンピューターを修理している。ワシントン州へ修理に向かう途中、オレゴン州で同州住民のローラと自動車事故を起こす。事故後、ダスティンはアリゾナ州へ戻る。ローラは同州で彼を訴える。人的管轄はあるか。</a:t>
            </a:r>
          </a:p>
        </p:txBody>
      </p:sp>
      <p:sp>
        <p:nvSpPr>
          <p:cNvPr id="9" name="TextBox 8"/>
          <p:cNvSpPr txBox="1"/>
          <p:nvPr/>
        </p:nvSpPr>
        <p:spPr>
          <a:xfrm>
            <a:off x="4937759" y="3904580"/>
            <a:ext cx="365760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Yes（ある）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https://github.com/HazyResearch/legalbench/tree/main/tasks/personal_jurisdiction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実例10の読み方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被告に対する人的管轄の有無を判定する。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課題に示すルールでは、被告が住所を置く州には、その被告に対する人的管轄がある。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実例11：資産を買った会社の責任</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8" name="TextBox 7"/>
          <p:cNvSpPr txBox="1"/>
          <p:nvPr/>
        </p:nvSpPr>
        <p:spPr>
          <a:xfrm>
            <a:off x="548640" y="1298448"/>
            <a:ext cx="4114800" cy="201168"/>
          </a:xfrm>
          <a:prstGeom prst="rect">
            <a:avLst/>
          </a:prstGeom>
          <a:noFill/>
        </p:spPr>
        <p:txBody>
          <a:bodyPr wrap="square" lIns="0" rIns="0" tIns="0" bIns="0">
            <a:noAutofit/>
          </a:bodyPr>
          <a:lstStyle/>
          <a:p>
            <a:pPr algn="l">
              <a:lnSpc>
                <a:spcPts val="1170"/>
              </a:lnSpc>
              <a:spcBef>
                <a:spcPts val="0"/>
              </a:spcBef>
              <a:spcAft>
                <a:spcPts val="0"/>
              </a:spcAft>
              <a:buNone/>
              <a:defRPr sz="1000" b="0">
                <a:solidFill>
                  <a:srgbClr val="303437"/>
                </a:solidFill>
                <a:latin typeface="Noto Sans"/>
              </a:defRPr>
            </a:pPr>
            <a:r>
              <a:rPr sz="1000" b="0" lang="ja-JP" altLang="en-US">
                <a:solidFill>
                  <a:srgbClr val="626669"/>
                </a:solidFill>
                <a:latin typeface="Noto Sans"/>
                <a:ea typeface="Noto Sans CJK JP"/>
                <a:cs typeface="Noto Sans"/>
              </a:rPr>
              <a:t>原入力・課題の問い</a:t>
            </a:r>
          </a:p>
        </p:txBody>
      </p:sp>
      <p:sp>
        <p:nvSpPr>
          <p:cNvPr id="9" name="quote-frame"/>
          <p:cNvSpPr/>
          <p:nvPr/>
        </p:nvSpPr>
        <p:spPr>
          <a:xfrm>
            <a:off x="548640" y="1600200"/>
            <a:ext cx="4114800" cy="2650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881"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Facts: "Mediocre Corp purchased all of Special Corp's assets. The purchase agreement provides for assumption of all of Special Corp's liabilities. Following the asset purchase, Special Corp dissolved. However, Mediocre Corp now holds itself out as Special Corp. Purchasers of Special Corp's speical television remote controls have alleged a mass tort under a theory of products liability and have brough suit against Mediocre Corp. "</a:t>
            </a:r>
          </a:p>
        </p:txBody>
      </p:sp>
      <p:sp>
        <p:nvSpPr>
          <p:cNvPr id="10" name="TextBox 9"/>
          <p:cNvSpPr txBox="1"/>
          <p:nvPr/>
        </p:nvSpPr>
        <p:spPr>
          <a:xfrm>
            <a:off x="548640" y="4262966"/>
            <a:ext cx="4114800" cy="39370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express agreement</a:t>
            </a:r>
          </a:p>
        </p:txBody>
      </p:sp>
      <p:sp>
        <p:nvSpPr>
          <p:cNvPr id="11" name="TextBox 10"/>
          <p:cNvSpPr txBox="1"/>
          <p:nvPr/>
        </p:nvSpPr>
        <p:spPr>
          <a:xfrm>
            <a:off x="4846320" y="1298448"/>
            <a:ext cx="3749039" cy="201168"/>
          </a:xfrm>
          <a:prstGeom prst="rect">
            <a:avLst/>
          </a:prstGeom>
          <a:noFill/>
        </p:spPr>
        <p:txBody>
          <a:bodyPr wrap="square" lIns="0" rIns="0" tIns="0" bIns="0">
            <a:noAutofit/>
          </a:bodyPr>
          <a:lstStyle/>
          <a:p>
            <a:pPr algn="l">
              <a:lnSpc>
                <a:spcPts val="1170"/>
              </a:lnSpc>
              <a:spcBef>
                <a:spcPts val="0"/>
              </a:spcBef>
              <a:spcAft>
                <a:spcPts val="0"/>
              </a:spcAft>
              <a:buNone/>
              <a:defRPr sz="1000" b="0">
                <a:solidFill>
                  <a:srgbClr val="303437"/>
                </a:solidFill>
                <a:latin typeface="Noto Sans"/>
              </a:defRPr>
            </a:pPr>
            <a:r>
              <a:rPr sz="1000" b="0" lang="ja-JP" altLang="en-US">
                <a:solidFill>
                  <a:srgbClr val="626669"/>
                </a:solidFill>
                <a:latin typeface="Noto Sans"/>
                <a:ea typeface="Noto Sans CJK JP"/>
                <a:cs typeface="Noto Sans"/>
              </a:rPr>
              <a:t>日本語訳・課題</a:t>
            </a:r>
          </a:p>
        </p:txBody>
      </p:sp>
      <p:sp>
        <p:nvSpPr>
          <p:cNvPr id="12" name="quote-frame"/>
          <p:cNvSpPr/>
          <p:nvPr/>
        </p:nvSpPr>
        <p:spPr>
          <a:xfrm>
            <a:off x="4846320" y="1583266"/>
            <a:ext cx="3749039" cy="2641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81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ミディオカー社はスペシャル社の全資産を買い取った。売買契約では、スペシャル社の全責任を引き受けると定めている。資産売却後、スペシャル社は解散した。しかし、ミディオカー社は今や自社をスペシャル社として対外的に示している。スペシャル社の特殊なテレビ用リモコンの購入者らは、製造物責任を根拠に多数の被害を伴う不法行為を主張し、ミディオカー社を訴えた。どの例外が当たるか。</a:t>
            </a:r>
          </a:p>
        </p:txBody>
      </p:sp>
      <p:sp>
        <p:nvSpPr>
          <p:cNvPr id="13" name="TextBox 12"/>
          <p:cNvSpPr txBox="1"/>
          <p:nvPr/>
        </p:nvSpPr>
        <p:spPr>
          <a:xfrm>
            <a:off x="4846320" y="4237566"/>
            <a:ext cx="3749039" cy="39370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明示の合意</a:t>
            </a:r>
          </a:p>
        </p:txBody>
      </p:sp>
      <p:sp>
        <p:nvSpPr>
          <p:cNvPr id="1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https://github.com/HazyResearch/legalbench/tree/main/tasks/successor_liability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資産の譲受人が責任を負う例外を答える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参照回答は契約による責任の明示的な引受け。課題全体では複数の例外を答える例もあり、F1で採点する。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(n.d.). Tasks, prompts, and evaluation.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https://github.com/HazyResearch/legalbench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実例12：農場を売買する契約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3931920" cy="1159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Ava buys James' farm for $50,000. Is this contract governed by the UCC or the common law?</a:t>
            </a:r>
          </a:p>
        </p:txBody>
      </p:sp>
      <p:sp>
        <p:nvSpPr>
          <p:cNvPr id="6" name="TextBox 5"/>
          <p:cNvSpPr txBox="1"/>
          <p:nvPr/>
        </p:nvSpPr>
        <p:spPr>
          <a:xfrm>
            <a:off x="548640" y="2881611"/>
            <a:ext cx="393192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Common Law</a:t>
            </a:r>
          </a:p>
        </p:txBody>
      </p:sp>
      <p:sp>
        <p:nvSpPr>
          <p:cNvPr id="7" name="TextBox 6"/>
          <p:cNvSpPr txBox="1"/>
          <p:nvPr/>
        </p:nvSpPr>
        <p:spPr>
          <a:xfrm>
            <a:off x="4663440" y="1316736"/>
            <a:ext cx="393192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4663440" y="1617133"/>
            <a:ext cx="3931920" cy="1193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エイヴァはジェームズの農場を50,000ドルで買う。この契約に適用されるのはUCCか、コモン・ローか。</a:t>
            </a:r>
          </a:p>
        </p:txBody>
      </p:sp>
      <p:sp>
        <p:nvSpPr>
          <p:cNvPr id="9" name="TextBox 8"/>
          <p:cNvSpPr txBox="1"/>
          <p:nvPr/>
        </p:nvSpPr>
        <p:spPr>
          <a:xfrm>
            <a:off x="4663440" y="2914335"/>
            <a:ext cx="3931920" cy="68884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Common Law（コモン・ロー）</a:t>
            </a:r>
          </a:p>
        </p:txBody>
      </p:sp>
      <p:sp>
        <p:nvSpPr>
          <p:cNvPr id="11" name="TextBox 10"/>
          <p:cNvSpPr txBox="1"/>
          <p:nvPr/>
        </p:nvSpPr>
        <p:spPr>
          <a:xfrm>
            <a:off x="594360" y="3822191"/>
            <a:ext cx="7955279" cy="530352"/>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UCC（統一商事法典）は動産売買、コモン・ローは不動産やサービスの契約を扱う規則で判定する。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https://github.com/HazyResearch/legalbench/tree/main/tasks/ucc_v_common_law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実例13：告知した価格と請求額が異なる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4480560"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原入力・課題の問い</a:t>
            </a:r>
          </a:p>
        </p:txBody>
      </p:sp>
      <p:sp>
        <p:nvSpPr>
          <p:cNvPr id="5" name="quote-frame"/>
          <p:cNvSpPr/>
          <p:nvPr/>
        </p:nvSpPr>
        <p:spPr>
          <a:xfrm>
            <a:off x="548640" y="1617133"/>
            <a:ext cx="4480560" cy="2142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621"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Acme Toys is a telemarketer subject to the Telemarketing Sales Rule. Acme Toys told a customer that its frisbees cost $10 each, when in fact the frisbees cost $12 each. The customer agreed to the sale and was charged $12. Is this a violation of the Telemarketing Sales Rule?</a:t>
            </a:r>
          </a:p>
        </p:txBody>
      </p:sp>
      <p:sp>
        <p:nvSpPr>
          <p:cNvPr id="6" name="TextBox 5"/>
          <p:cNvSpPr txBox="1"/>
          <p:nvPr/>
        </p:nvSpPr>
        <p:spPr>
          <a:xfrm>
            <a:off x="548640" y="3874577"/>
            <a:ext cx="4480560"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a:t>
            </a:r>
          </a:p>
        </p:txBody>
      </p:sp>
      <p:sp>
        <p:nvSpPr>
          <p:cNvPr id="7" name="TextBox 6"/>
          <p:cNvSpPr txBox="1"/>
          <p:nvPr/>
        </p:nvSpPr>
        <p:spPr>
          <a:xfrm>
            <a:off x="5212080" y="1316736"/>
            <a:ext cx="3383279" cy="237744"/>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日本語訳・課題</a:t>
            </a:r>
          </a:p>
        </p:txBody>
      </p:sp>
      <p:sp>
        <p:nvSpPr>
          <p:cNvPr id="8" name="quote-frame"/>
          <p:cNvSpPr/>
          <p:nvPr/>
        </p:nvSpPr>
        <p:spPr>
          <a:xfrm>
            <a:off x="5212080" y="1617133"/>
            <a:ext cx="3383279" cy="2175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554"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アクミー・トイズ社は電話勧誘販売ルールの対象である。同社は客にフリスビー1枚が10ドルだと伝えたが、実際の価格は12ドルだった。客は売買に同意し、12ドルを請求された。これは電話勧誘販売ルールへの違反か。</a:t>
            </a:r>
          </a:p>
        </p:txBody>
      </p:sp>
      <p:sp>
        <p:nvSpPr>
          <p:cNvPr id="9" name="TextBox 8"/>
          <p:cNvSpPr txBox="1"/>
          <p:nvPr/>
        </p:nvSpPr>
        <p:spPr>
          <a:xfrm>
            <a:off x="5212080" y="3907332"/>
            <a:ext cx="3383279" cy="390144"/>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Yes（違反）</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LegalBench. 公開入力と参照回答。</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https://github.com/HazyResearch/legalbench/tree/main/tasks/telemarketing_sales_rule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課題形式の補足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課題形式の補足</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2023年の入力・出力形式の内訳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課題形式の補足</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486400"/>
                <a:gridCol w="256032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選択式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自由生成</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二値分類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多クラス・複数ラベル</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2023年の公表分類。合計162課題。推論形式の分類とは別の軸。</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法学と機械学習の共同研究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Neel Guhaらによる、法学・法律実務と機械学習の共同研究。スタンフォード大学をはじめ、多くの研究機関や実務家が参加した。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法律の推論を表す共通の語彙を使い、法律家が作った課題を、言語モデルの評価に生かすことを目指した。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NeurIPS 2023で162課題と20モデルの評価を報告。公式サイトは40人の寄稿者を紹介している。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Guha et al. (2023). LegalBench.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https://arxiv.org/abs/2308.11462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LegalBench: A Collaboratively Built Benchmark for Measuring Legal Reasoning in Large Language Models"/>
          <p:cNvSpPr txBox="1"/>
          <p:nvPr/>
        </p:nvSpPr>
        <p:spPr>
          <a:xfrm>
            <a:off x="548640" y="1417320"/>
            <a:ext cx="8046720" cy="182880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LegalBench: A Collaboratively Built Benchmark for Measuring Legal Reasoning in Large Language Models</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Guha et al. · 2023 · NeurIPS 36, pp.44123–44279</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法律家と研究者が共同構築した162課題と、20モデルの評価を報告する。</a:t>
            </a:r>
          </a:p>
          <a:p>
            <a:pPr>
              <a:lnSpc>
                <a:spcPct val="116000"/>
              </a:lnSpc>
              <a:spcAft>
                <a:spcPts val="0"/>
              </a:spcAft>
              <a:buNone/>
              <a:defRPr sz="1050" b="0">
                <a:solidFill>
                  <a:srgbClr val="303437"/>
                </a:solidFill>
                <a:latin typeface="Noto Sans"/>
              </a:defRPr>
            </a:pPr>
            <a:r>
              <a:rPr sz="950" b="0" lang="ja-JP" altLang="en-US">
                <a:solidFill>
                  <a:srgbClr val="2166AC"/>
                </a:solidFill>
                <a:latin typeface="Noto Sans"/>
                <a:ea typeface="Noto Sans CJK JP"/>
                <a:cs typeface="Noto Sans"/>
                <a:hlinkClick r:id="rId4"/>
              </a:rPr>
              <a:t>https://proceedings.neurips.cc/paper_files/paper/2023/hash/89e44582fd28ddfea1ea4dcb0ebbf4b0-Abstract-Datasets_and_Benchmarks.html</a:t>
            </a:r>
          </a:p>
        </p:txBody>
      </p:sp>
      <p:sp>
        <p:nvSpPr>
          <p:cNvPr id="5" name="文献: LegalBench — official site"/>
          <p:cNvSpPr txBox="1"/>
          <p:nvPr/>
        </p:nvSpPr>
        <p:spPr>
          <a:xfrm>
            <a:off x="548640" y="333756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LegalBench — official site</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LegalBench contributors (n.d.). 公式サイト。参照2026-10-19。</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課題の説明、寄稿者、参加方法と公開データを案内する。</a:t>
            </a:r>
          </a:p>
          <a:p>
            <a:pPr>
              <a:lnSpc>
                <a:spcPct val="116000"/>
              </a:lnSpc>
              <a:spcAft>
                <a:spcPts val="0"/>
              </a:spcAft>
              <a:buNone/>
              <a:defRPr sz="1050" b="0">
                <a:solidFill>
                  <a:srgbClr val="303437"/>
                </a:solidFill>
                <a:latin typeface="Noto Sans"/>
              </a:defRPr>
            </a:pPr>
            <a:r>
              <a:rPr sz="1050" b="0" lang="ja-JP" altLang="en-US">
                <a:solidFill>
                  <a:srgbClr val="2166AC"/>
                </a:solidFill>
                <a:latin typeface="Noto Sans"/>
                <a:ea typeface="Noto Sans CJK JP"/>
                <a:cs typeface="Noto Sans"/>
                <a:hlinkClick r:id="rId3"/>
              </a:rPr>
              <a:t>https://hazyresearch.stanford.edu/legalbench/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LegalBench: Tasks, prompts, and evaluation"/>
          <p:cNvSpPr txBox="1"/>
          <p:nvPr/>
        </p:nvSpPr>
        <p:spPr>
          <a:xfrm>
            <a:off x="548640" y="141732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LegalBench: Tasks, prompts, and evaluation</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LegalBench contributors (n.d.). 公式リポジトリ。参照2026-10-19。</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課題ごとのREADME、提示例、プロンプトと採点実装を公開する。</a:t>
            </a:r>
          </a:p>
          <a:p>
            <a:pPr>
              <a:lnSpc>
                <a:spcPct val="116000"/>
              </a:lnSpc>
              <a:spcAft>
                <a:spcPts val="0"/>
              </a:spcAft>
              <a:buNone/>
              <a:defRPr sz="1050" b="0">
                <a:solidFill>
                  <a:srgbClr val="303437"/>
                </a:solidFill>
                <a:latin typeface="Noto Sans"/>
              </a:defRPr>
            </a:pPr>
            <a:r>
              <a:rPr sz="1050" b="0" lang="ja-JP" altLang="en-US">
                <a:solidFill>
                  <a:srgbClr val="2166AC"/>
                </a:solidFill>
                <a:latin typeface="Noto Sans"/>
                <a:ea typeface="Noto Sans CJK JP"/>
                <a:cs typeface="Noto Sans"/>
                <a:hlinkClick r:id="rId2"/>
              </a:rPr>
              <a:t>https://github.com/HazyResearch/legalbench</a:t>
            </a:r>
          </a:p>
        </p:txBody>
      </p:sp>
      <p:sp>
        <p:nvSpPr>
          <p:cNvPr id="5" name="文献: LegalBench data changelog"/>
          <p:cNvSpPr txBox="1"/>
          <p:nvPr/>
        </p:nvSpPr>
        <p:spPr>
          <a:xfrm>
            <a:off x="548640" y="333756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LegalBench data changelog</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LegalBench contributors · 2024–2026 · 更新履歴。参照2026-10-19。</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MAUDとOPP-115の入力修正、ラベル修正などの変更内容を記録する。</a:t>
            </a:r>
          </a:p>
          <a:p>
            <a:pPr>
              <a:lnSpc>
                <a:spcPct val="116000"/>
              </a:lnSpc>
              <a:spcAft>
                <a:spcPts val="0"/>
              </a:spcAft>
              <a:buNone/>
              <a:defRPr sz="1050" b="0">
                <a:solidFill>
                  <a:srgbClr val="303437"/>
                </a:solidFill>
                <a:latin typeface="Noto Sans"/>
              </a:defRPr>
            </a:pPr>
            <a:r>
              <a:rPr sz="1050" b="0" lang="ja-JP" altLang="en-US">
                <a:solidFill>
                  <a:srgbClr val="2166AC"/>
                </a:solidFill>
                <a:latin typeface="Noto Sans"/>
                <a:ea typeface="Noto Sans CJK JP"/>
                <a:cs typeface="Noto Sans"/>
                <a:hlinkClick r:id="rId3"/>
              </a:rPr>
              <a:t>https://github.com/HazyResearch/legalbench/blob/main/CHANGELOG.md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2026-10-18T07:09:34Z</dcterms:modified>
  <dc:title>legalbench</dc:title>
  <dc:creator>sasakiy84</dc:creator>
  <dcterms:created xsi:type="dcterms:W3CDTF">2026-10-18T07:09:34Z</dcterms:created>
  <dc:language>ja-JP</dc:language>
</cp:coreProperties>
</file>