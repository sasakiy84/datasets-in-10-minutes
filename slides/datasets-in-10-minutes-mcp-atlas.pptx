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 Id="rId4" Type="http://schemas.openxmlformats.org/officeDocument/2006/relationships/image" Target="../media/image2.png"/><Relationship Id="rId5" Type="http://schemas.openxmlformats.org/officeDocument/2006/relationships/hyperlink" Target="https://labs.scale.com/papers/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36991"/>
            <a:ext cx="8229600" cy="8636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457200" y="2998279"/>
            <a:ext cx="8229600" cy="8128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MCP-Atlasの公式サイト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MCP-Atlas: 公式サイト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0000"/>
              </a:lnSpc>
              <a:spcBef>
                <a:spcPts val="0"/>
              </a:spcBef>
              <a:spcAft>
                <a:spcPts val="0"/>
              </a:spcAft>
              <a:buNone/>
              <a:defRPr sz="810" b="0">
                <a:solidFill>
                  <a:srgbClr val="303437"/>
                </a:solidFill>
                <a:latin typeface="Noto Sans"/>
              </a:defRPr>
            </a:pPr>
            <a:r>
              <a:rPr sz="1000">
                <a:solidFill>
                  <a:srgbClr val="626669"/>
                </a:solidFill>
                <a:latin typeface="Noto Sans"/>
                <a:hlinkClick r:id="rId5"/>
              </a:rPr>
              <a:t>https://labs.scale.com/papers/mcp-atlas</a:t>
            </a:r>
          </a:p>
        </p:txBody>
      </p:sp>
      <p:pic>
        <p:nvPicPr>
          <p:cNvPr id="6" name="公式サイトの画面" descr="image.png"/>
          <p:cNvPicPr>
            <a:picLocks noChangeAspect="1"/>
          </p:cNvPicPr>
          <p:nvPr/>
        </p:nvPicPr>
        <p:blipFill>
          <a:blip r:embed="rId4"/>
          <a:stretch>
            <a:fillRect/>
          </a:stretch>
        </p:blipFill>
        <p:spPr>
          <a:xfrm>
            <a:off x="2274570" y="1481328"/>
            <a:ext cx="4594858" cy="306323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MCPは、モデルが外部のデータや機能へアクセスするための共通の接続方式。サーバーは検索・ファイル・データベースなどのツールを提供する。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53453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82435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64858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参照履歴ではGitHubで対象リポジトリを確認し、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53453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82435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64858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外部の出来事を、社内データの期間指定に使う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661286"/>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51105"/>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論文バージョン3では、上位モデルの合格率は約8割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表の評価データはGemini 3.1 Proの公式比較に掲載。</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専門家が、外部データが必要な課題を作る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参照用の操作履歴と、ツールの返した情報に基づく最終回答を用意する。1課題の作成・検証・文書化は平均4.6時間。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検証内容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別担当者によるレビュー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全1,000課題の必要サーバー数の割合（%）。平均2.55サーバー。</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公開500課題では、依頼と正解条件を配布する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入手不可（運営側で保持する評価用課題）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バージョンを固定したMCPサーバーを動かす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実装・動作内容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Atlasは、自然な依頼に対して、必要なツールを探し、複数サーバーの結果をつないで回答を作る能力を評価する。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参照履歴では、ローカルのディレクトリや複数ファイルを読み、端末コマンドでコード量と依存情報を確認している。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2028094"/>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317913"/>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155022"/>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参照履歴では、Slackのチャンネルとメッセージを検索した後、ローカルのディレクトリを探して該当ファイルを読んでいる。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9050"/>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869"/>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484067"/>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参照履歴では、メモリーサーバーの組織グラフを読み、Notionで満足度調査のデータベースを検索・照会している。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8415"/>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234"/>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483431"/>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二つの日付を特定し、その期間の価格を比べる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配布正解の価格変化率は約47.03%の上昇。参照履歴ではWeb検索で日付を確認し、AlchemyでEthereumの価格履歴を取得してコードで計算している。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2025年8月11日の日最高気温は30.6℃。参照履歴では、公園情報と案内所を検索してから、その地点の気象履歴を取得している。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参照履歴では、Metの所蔵品検索で作品を見つけて詳細を読み、DuckDuckGoで工房の歴史を検索している。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863572"/>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2153391"/>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319545"/>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家族の映画鑑賞会は2025年7月29日、20:00〜22:00（ET）。参照履歴では、ローカルの映画ファイルを読み、Google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699050"/>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988869"/>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484067"/>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参照履歴では、端末でローカルファイルを探し、コード実行サーバーでCSVを集計する。依頼の対象でないBarber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500" b="0">
                <a:solidFill>
                  <a:srgbClr val="303437"/>
                </a:solidFill>
                <a:latin typeface="Noto Sans"/>
              </a:defRPr>
            </a:pPr>
            <a:r>
              <a:rPr sz="2500" b="1" lang="ja-JP" altLang="en-US">
                <a:solidFill>
                  <a:srgbClr val="303437"/>
                </a:solidFill>
                <a:latin typeface="Noto Sans"/>
                <a:ea typeface="Noto Sans CJK JP"/>
                <a:cs typeface="Noto Sans"/>
              </a:rPr>
              <a:t>36サーバーのうち、検索系は多くの課題で使われる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参照の操作履歴におけるツール呼び出しは、1課題あたり平均9.8回。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依頼に対応できないツールを選ぶ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