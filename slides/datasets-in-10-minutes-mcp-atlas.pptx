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課題数</c:v>
                </c:pt>
              </c:strCache>
            </c:strRef>
          </c:tx>
          <c:spPr>
            <a:solidFill>
              <a:srgbClr val="2C9100"/>
            </a:solidFill>
            <a:ln>
              <a:noFill/>
            </a:ln>
          </c:spPr>
          <c:cat>
            <c:strRef>
              <c:f>Sheet1!$A$2:$A$6</c:f>
              <c:strCache>
                <c:ptCount val="5"/>
                <c:pt idx="0">
                  <c:v>金融</c:v>
                </c:pt>
                <c:pt idx="1">
                  <c:v>データ分析</c:v>
                </c:pt>
                <c:pt idx="2">
                  <c:v>コーディング</c:v>
                </c:pt>
                <c:pt idx="3">
                  <c:v>業務アプリ</c:v>
                </c:pt>
                <c:pt idx="4">
                  <c:v>検索など</c:v>
                </c:pt>
              </c:strCache>
            </c:strRef>
          </c:cat>
          <c:val>
            <c:numRef>
              <c:f>Sheet1!$B$2:$B$6</c:f>
              <c:numCache>
                <c:formatCode>General</c:formatCode>
                <c:ptCount val="5"/>
                <c:pt idx="0">
                  <c:v>12</c:v>
                </c:pt>
                <c:pt idx="1">
                  <c:v>12</c:v>
                </c:pt>
                <c:pt idx="2">
                  <c:v>22</c:v>
                </c:pt>
                <c:pt idx="3">
                  <c:v>22</c:v>
                </c:pt>
                <c:pt idx="4">
                  <c:v>32</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l"/>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b"/>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課題数</c:v>
                </c:pt>
              </c:strCache>
            </c:strRef>
          </c:tx>
          <c:spPr>
            <a:solidFill>
              <a:srgbClr val="2C9100"/>
            </a:solidFill>
            <a:ln>
              <a:noFill/>
            </a:ln>
          </c:spPr>
          <c:cat>
            <c:strRef>
              <c:f>Sheet1!$A$2:$A$5</c:f>
              <c:strCache>
                <c:ptCount val="4"/>
                <c:pt idx="0">
                  <c:v>1サーバー</c:v>
                </c:pt>
                <c:pt idx="1">
                  <c:v>2サーバー</c:v>
                </c:pt>
                <c:pt idx="2">
                  <c:v>3サーバー</c:v>
                </c:pt>
                <c:pt idx="3">
                  <c:v>4以上</c:v>
                </c:pt>
              </c:strCache>
            </c:strRef>
          </c:cat>
          <c:val>
            <c:numRef>
              <c:f>Sheet1!$B$2:$B$5</c:f>
              <c:numCache>
                <c:formatCode>General</c:formatCode>
                <c:ptCount val="4"/>
                <c:pt idx="0">
                  <c:v>1.4</c:v>
                </c:pt>
                <c:pt idx="1">
                  <c:v>51.7</c:v>
                </c:pt>
                <c:pt idx="2">
                  <c:v>38.2</c:v>
                </c:pt>
                <c:pt idx="3">
                  <c:v>8.7</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課題数</c:v>
                </c:pt>
              </c:strCache>
            </c:strRef>
          </c:tx>
          <c:spPr>
            <a:solidFill>
              <a:srgbClr val="2C9100"/>
            </a:solidFill>
            <a:ln>
              <a:noFill/>
            </a:ln>
          </c:spPr>
          <c:cat>
            <c:strRef>
              <c:f>Sheet1!$A$2:$A$7</c:f>
              <c:strCache>
                <c:ptCount val="6"/>
                <c:pt idx="0">
                  <c:v>airtable</c:v>
                </c:pt>
                <c:pt idx="1">
                  <c:v>mongodb</c:v>
                </c:pt>
                <c:pt idx="2">
                  <c:v>wikipedia</c:v>
                </c:pt>
                <c:pt idx="3">
                  <c:v>exa</c:v>
                </c:pt>
                <c:pt idx="4">
                  <c:v>filesystem</c:v>
                </c:pt>
                <c:pt idx="5">
                  <c:v>oxylabs</c:v>
                </c:pt>
              </c:strCache>
            </c:strRef>
          </c:cat>
          <c:val>
            <c:numRef>
              <c:f>Sheet1!$B$2:$B$7</c:f>
              <c:numCache>
                <c:formatCode>General</c:formatCode>
                <c:ptCount val="6"/>
                <c:pt idx="0">
                  <c:v>96</c:v>
                </c:pt>
                <c:pt idx="1">
                  <c:v>98</c:v>
                </c:pt>
                <c:pt idx="2">
                  <c:v>99</c:v>
                </c:pt>
                <c:pt idx="3">
                  <c:v>108</c:v>
                </c:pt>
                <c:pt idx="4">
                  <c:v>133</c:v>
                </c:pt>
                <c:pt idx="5">
                  <c:v>155</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l"/>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b"/>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huggingface.co/datasets/ScaleAI/MCP-Atla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2.00933v3"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2.00933v3"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ScaleAI/MCP-Atla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CP-Atlas/viewer/default/train?row=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CP-Atlas/viewer/default/train?row=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CP-Atlas/viewer/default/train?row=2"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CP-Atlas/viewer/default/train?row=2"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ScaleAI/MCP-Atlas/viewer/default/train?row=1"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ScaleAI/MCP-Atlas/viewer/default/train?row=1"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2.00933v3"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2.00933v3"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2.00933v3"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2.00933v3"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eepmind.google/models/gemini/pro/"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2.00933v3"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2.00933v3"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2.00933v3"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2.00933v3"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arxiv.org/abs/2602.00933v3"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 Id="rId3" Type="http://schemas.openxmlformats.org/officeDocument/2006/relationships/hyperlink" Target="https://arxiv.org/abs/2602.00933v3"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2.00933v3"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mcp-atla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mcp-atlas/blob/5c11ac4/CHANGELOG.md"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mcp-atla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2.00933v3"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2.00933v3"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2.00933v3"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 Id="rId3" Type="http://schemas.openxmlformats.org/officeDocument/2006/relationships/hyperlink" Target="https://arxiv.org/abs/2602.00933v3"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2.00933v3"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2.00933v3"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2.00933v3"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2.00933v3"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2.00933v3"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mcp-atlas"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2.00933v3"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2.00933v3" TargetMode="External"/><Relationship Id="rId3" Type="http://schemas.openxmlformats.org/officeDocument/2006/relationships/hyperlink" Target="https://huggingface.co/datasets/ScaleAI/MCP-Atlas"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mcp-atlas" TargetMode="External"/><Relationship Id="rId3" Type="http://schemas.openxmlformats.org/officeDocument/2006/relationships/hyperlink" Target="https://github.com/scaleapi/mcp-atlas/blob/5c11ac4/services/scoring/score_claims.py"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mcp-atlas/blob/5c11ac4/CHANGELOG.md" TargetMode="External"/><Relationship Id="rId3" Type="http://schemas.openxmlformats.org/officeDocument/2006/relationships/hyperlink" Target="https://deepmind.google/models/gemini/pro/"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2066543"/>
            <a:ext cx="8046720" cy="685800"/>
          </a:xfrm>
        </p:spPr>
        <p:txBody>
          <a:bodyPr wrap="square" lIns="0" rIns="0" tIns="0" bIns="0">
            <a:noAutofit/>
          </a:bodyPr>
          <a:lstStyle/>
          <a:p>
            <a:pPr algn="ctr">
              <a:lnSpc>
                <a:spcPct val="110000"/>
              </a:lnSpc>
              <a:buNone/>
              <a:defRPr sz="5200" b="0">
                <a:solidFill>
                  <a:srgbClr val="303437"/>
                </a:solidFill>
                <a:latin typeface="Noto Sans"/>
              </a:defRPr>
            </a:pPr>
            <a:r>
              <a:rPr sz="5200" b="1" lang="ja-JP" altLang="en-US">
                <a:solidFill>
                  <a:srgbClr val="303437"/>
                </a:solidFill>
                <a:latin typeface="Noto Sans"/>
                <a:ea typeface="Noto Sans CJK JP"/>
                <a:cs typeface="Noto Sans"/>
              </a:rPr>
              <a:t>MCP Atlas</a:t>
            </a:r>
          </a:p>
        </p:txBody>
      </p:sp>
      <p:sp>
        <p:nvSpPr>
          <p:cNvPr id="3" name="Subtitle 2"/>
          <p:cNvSpPr>
            <a:spLocks noGrp="1"/>
          </p:cNvSpPr>
          <p:nvPr>
            <p:ph type="subTitle" idx="1"/>
          </p:nvPr>
        </p:nvSpPr>
        <p:spPr>
          <a:xfrm>
            <a:off x="640080" y="2944368"/>
            <a:ext cx="7863840" cy="822960"/>
          </a:xfrm>
        </p:spPr>
        <p:txBody>
          <a:bodyPr wrap="square" lIns="0" rIns="0" tIns="0" bIns="0">
            <a:noAutofit/>
          </a:bodyPr>
          <a:lstStyle/>
          <a:p>
            <a:pPr algn="ctr">
              <a:lnSpc>
                <a:spcPct val="110000"/>
              </a:lnSpc>
              <a:buNone/>
              <a:defRPr sz="2300" b="0">
                <a:solidFill>
                  <a:srgbClr val="303437"/>
                </a:solidFill>
                <a:latin typeface="Noto Sans"/>
              </a:defRPr>
            </a:pPr>
            <a:r>
              <a:rPr sz="2300" b="0" lang="ja-JP" altLang="en-US">
                <a:solidFill>
                  <a:srgbClr val="303437"/>
                </a:solidFill>
                <a:latin typeface="Noto Sans"/>
                <a:ea typeface="Noto Sans CJK JP"/>
                <a:cs typeface="Noto Sans"/>
              </a:rPr>
              <a:t>外部ツールを組み合わせ、必要な事実をそろえる
実際のMCPサーバーで仕事を進めるエージェント評価</a:t>
            </a:r>
          </a:p>
        </p:txBody>
      </p:sp>
      <p:sp>
        <p:nvSpPr>
          <p:cNvPr id="5" name="Text Placeholder 4"/>
          <p:cNvSpPr>
            <a:spLocks noGrp="1"/>
          </p:cNvSpPr>
          <p:nvPr>
            <p:ph type="body" idx="11"/>
          </p:nvPr>
        </p:nvSpPr>
        <p:spPr>
          <a:xfrm>
            <a:off x="6766560" y="4489704"/>
            <a:ext cx="1828800" cy="365760"/>
          </a:xfrm>
        </p:spPr>
        <p:txBody>
          <a:bodyPr wrap="square" lIns="0" rIns="0" tIns="0" bIns="0">
            <a:noAutofit/>
          </a:bodyPr>
          <a:lstStyle/>
          <a:p>
            <a:pPr algn="l">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658368" y="274320"/>
            <a:ext cx="7772400" cy="36576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MCP Atlasの公式配布ページ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MCP Atlas: 公開データ</a:t>
            </a:r>
          </a:p>
        </p:txBody>
      </p:sp>
      <p:pic>
        <p:nvPicPr>
          <p:cNvPr id="4" name="Picture 3" descr="dataset-page.png"/>
          <p:cNvPicPr>
            <a:picLocks noChangeAspect="1"/>
          </p:cNvPicPr>
          <p:nvPr/>
        </p:nvPicPr>
        <p:blipFill>
          <a:blip r:embed="rId2"/>
          <a:stretch>
            <a:fillRect/>
          </a:stretch>
        </p:blipFill>
        <p:spPr>
          <a:xfrm>
            <a:off x="2274570" y="1481328"/>
            <a:ext cx="4594859" cy="3063240"/>
          </a:xfrm>
          <a:prstGeom prst="rect">
            <a:avLst/>
          </a:prstGeom>
        </p:spPr>
      </p:pic>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MCP-Atlas. CC BY 4.0。改訂8c563b5。2026-10-16参照。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https://huggingface.co/datasets/ScaleAI/MCP-Atlas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777240" y="1226434"/>
            <a:ext cx="7772400" cy="2846324"/>
          </a:xfrm>
        </p:spPr>
        <p:txBody>
          <a:bodyPr lIns="0" rIns="0" tIns="0" bIns="0" wrap="square">
            <a:noAutofit/>
          </a:bodyPr>
          <a:lstStyle/>
          <a:p>
            <a:pPr marL="457200" indent="-457200">
              <a:lnSpc>
                <a:spcPct val="128000"/>
              </a:lnSpc>
              <a:spcAft>
                <a:spcPts val="1700"/>
              </a:spcAft>
              <a:buSzPct val="100000"/>
              <a:buFont typeface="Noto Sans CJK JP"/>
              <a:buAutoNum type="arabicPeriod" startAt="1"/>
              <a:defRPr sz="3100" b="1">
                <a:solidFill>
                  <a:srgbClr val="303437"/>
                </a:solidFill>
                <a:latin typeface="Noto Sans"/>
              </a:defRPr>
            </a:pPr>
            <a:r>
              <a:rPr sz="3100" b="1" lang="ja-JP" altLang="en-US">
                <a:solidFill>
                  <a:srgbClr val="303437"/>
                </a:solidFill>
                <a:latin typeface="Noto Sans"/>
                <a:ea typeface="Noto Sans CJK JP"/>
                <a:cs typeface="Noto Sans"/>
              </a:rPr>
              <a:t>複数ツールを使う仕事と実例</a:t>
            </a:r>
          </a:p>
          <a:p>
            <a:pPr marL="457200" indent="-457200">
              <a:lnSpc>
                <a:spcPct val="128000"/>
              </a:lnSpc>
              <a:spcAft>
                <a:spcPts val="1700"/>
              </a:spcAft>
              <a:buSzPct val="100000"/>
              <a:buFont typeface="Noto Sans CJK JP"/>
              <a:buAutoNum type="arabicPeriod" startAt="2"/>
              <a:defRPr sz="3100" b="1">
                <a:solidFill>
                  <a:srgbClr val="303437"/>
                </a:solidFill>
                <a:latin typeface="Noto Sans"/>
              </a:defRPr>
            </a:pPr>
            <a:r>
              <a:rPr sz="3100" b="1" lang="ja-JP" altLang="en-US">
                <a:solidFill>
                  <a:srgbClr val="303437"/>
                </a:solidFill>
                <a:latin typeface="Noto Sans"/>
                <a:ea typeface="Noto Sans CJK JP"/>
                <a:cs typeface="Noto Sans"/>
              </a:rPr>
              <a:t>正解条件による採点とモデル評価</a:t>
            </a:r>
          </a:p>
          <a:p>
            <a:pPr marL="457200" indent="-457200">
              <a:lnSpc>
                <a:spcPct val="128000"/>
              </a:lnSpc>
              <a:spcAft>
                <a:spcPts val="1700"/>
              </a:spcAft>
              <a:buSzPct val="100000"/>
              <a:buFont typeface="Noto Sans CJK JP"/>
              <a:buAutoNum type="arabicPeriod" startAt="3"/>
              <a:defRPr sz="3100" b="1">
                <a:solidFill>
                  <a:srgbClr val="303437"/>
                </a:solidFill>
                <a:latin typeface="Noto Sans"/>
              </a:defRPr>
            </a:pPr>
            <a:r>
              <a:rPr sz="3100" b="1" lang="ja-JP" altLang="en-US">
                <a:solidFill>
                  <a:srgbClr val="303437"/>
                </a:solidFill>
                <a:latin typeface="Noto Sans"/>
                <a:ea typeface="Noto Sans CJK JP"/>
                <a:cs typeface="Noto Sans"/>
              </a:rPr>
              <a:t>専門家による作成とデータの構成</a:t>
            </a:r>
          </a:p>
          <a:p>
            <a:pPr marL="457200" indent="-457200">
              <a:lnSpc>
                <a:spcPct val="128000"/>
              </a:lnSpc>
              <a:spcAft>
                <a:spcPts val="1700"/>
              </a:spcAft>
              <a:buSzPct val="100000"/>
              <a:buFont typeface="Noto Sans CJK JP"/>
              <a:buAutoNum type="arabicPeriod" startAt="4"/>
              <a:defRPr sz="3100" b="1">
                <a:solidFill>
                  <a:srgbClr val="303437"/>
                </a:solidFill>
                <a:latin typeface="Noto Sans"/>
              </a:defRPr>
            </a:pPr>
            <a:r>
              <a:rPr sz="3100" b="1" lang="ja-JP" altLang="en-US">
                <a:solidFill>
                  <a:srgbClr val="303437"/>
                </a:solidFill>
                <a:latin typeface="Noto Sans"/>
                <a:ea typeface="Noto Sans CJK JP"/>
                <a:cs typeface="Noto Sans"/>
              </a:rPr>
              <a:t>複数サーバーの連携と利用方法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100" b="0">
                <a:solidFill>
                  <a:srgbClr val="303437"/>
                </a:solidFill>
                <a:latin typeface="Noto Sans"/>
              </a:defRPr>
            </a:pPr>
            <a:r>
              <a:rPr sz="3100" b="1" lang="ja-JP" altLang="en-US">
                <a:solidFill>
                  <a:srgbClr val="303437"/>
                </a:solidFill>
                <a:latin typeface="Noto Sans"/>
                <a:ea typeface="Noto Sans CJK JP"/>
                <a:cs typeface="Noto Sans"/>
              </a:rPr>
              <a:t>1. 複数ツールを使う仕事と実例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複数ツールを使う仕事と実例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仕事に必要なツールを選び、結果をつなぐ</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460"/>
              </a:lnSpc>
              <a:spcAft>
                <a:spcPts val="8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MCP Atlasは、自然言語で頼まれた仕事を、外部ツールを使って完了できるかを評価する。</a:t>
            </a:r>
          </a:p>
          <a:p>
            <a:pPr marL="457200" indent="-355600">
              <a:lnSpc>
                <a:spcPts val="2460"/>
              </a:lnSpc>
              <a:spcAft>
                <a:spcPts val="8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MCP（Model Context Protocol）は、モデルが外部のデータや機能へアクセスするための共通の接続方式。サーバーは検索・ファイル・データベースなどのツールを提供する。</a:t>
            </a:r>
          </a:p>
          <a:p>
            <a:pPr marL="457200" indent="-355600">
              <a:lnSpc>
                <a:spcPts val="2460"/>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全1,000課題は36サーバー・220ツールにまたがる。問題文を読み、関連するツールを選んで呼び出し、回答をまとめる。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複数ツールを使う仕事と実例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一つの依頼から、ツールを使って回答を作る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複数ツールを使う仕事と実例</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1280160"/>
                <a:gridCol w="6766560"/>
              </a:tblGrid>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段階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エージェントが扱うもの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入力</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利用者の依頼と、使えるツールの説明</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実行</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ツール名・引数を選び、返った情報を次の操作に使う</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出力</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依頼に必要な事実を含む最終回答</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各課題には6〜37のツールを提示する。</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正解に必要なものは2〜8で、似た用途の候補も混ぜる。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実例は公開されている課題と正解条件を使う</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全体は公開500課題・非公開500課題に分かれる。公開側には問題文、使えるツール、回答に必要な事実、参照の操作履歴がある。</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ここでは、公式配布ページで全文を確認できた公開課題から、ゲームの履歴、製品の売上、医学論文の3件を紹介する。</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入力は英語の依頼。採点には、回答が満たすべき事実を列挙した正解条件を使う。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複数ツールを使う仕事と実例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MCP-Atlas. CC BY 4.0。改訂8c563b5。2026-10-16参照。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https://huggingface.co/datasets/ScaleAI/MCP-Atlas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実例1：ゲーム開発と公式サイトの年差を調べる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複数ツールを使う仕事と実例</a:t>
            </a:r>
          </a:p>
        </p:txBody>
      </p:sp>
      <p:sp>
        <p:nvSpPr>
          <p:cNvPr id="4" name="TextBox 3"/>
          <p:cNvSpPr txBox="1"/>
          <p:nvPr/>
        </p:nvSpPr>
        <p:spPr>
          <a:xfrm>
            <a:off x="594360" y="1389888"/>
            <a:ext cx="7955279" cy="228600"/>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公開課題（原文）</a:t>
            </a:r>
          </a:p>
        </p:txBody>
      </p:sp>
      <p:sp>
        <p:nvSpPr>
          <p:cNvPr id="5" name="TextBox 4"/>
          <p:cNvSpPr txBox="1"/>
          <p:nvPr/>
        </p:nvSpPr>
        <p:spPr>
          <a:xfrm>
            <a:off x="594360" y="1737360"/>
            <a:ext cx="7955279" cy="1691640"/>
          </a:xfrm>
          <a:prstGeom prst="rect">
            <a:avLst/>
          </a:prstGeom>
          <a:noFill/>
        </p:spPr>
        <p:txBody>
          <a:bodyPr wrap="square" lIns="0" rIns="0" tIns="0" bIns="0">
            <a:noAutofit/>
          </a:bodyPr>
          <a:lstStyle/>
          <a:p>
            <a:pPr algn="l">
              <a:lnSpc>
                <a:spcPct val="120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I've been looking into contributions in open source videogames and I'm curious about the longevity of this one open source project. Can you get me the year difference between the creation of the repository of the shooter game assaultcube and the domain registration date of the game's official site</a:t>
            </a:r>
          </a:p>
        </p:txBody>
      </p:sp>
      <p:sp>
        <p:nvSpPr>
          <p:cNvPr id="6" name="TextBox 5"/>
          <p:cNvSpPr txBox="1"/>
          <p:nvPr/>
        </p:nvSpPr>
        <p:spPr>
          <a:xfrm>
            <a:off x="594360" y="3712463"/>
            <a:ext cx="7955279" cy="777240"/>
          </a:xfrm>
          <a:prstGeom prst="rect">
            <a:avLst/>
          </a:prstGeom>
          <a:noFill/>
        </p:spPr>
        <p:txBody>
          <a:bodyPr wrap="square" lIns="0" rIns="0" tIns="0" bIns="0">
            <a:noAutofit/>
          </a:bodyPr>
          <a:lstStyle/>
          <a:p>
            <a:pPr algn="l">
              <a:lnSpc>
                <a:spcPct val="120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AssaultCubeのリポジトリ作成年と、公式サイトのドメイン登録年を調べ、その年差を答える。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MCP-Atlas / 公開train。課題689f4d693e212e8ef3390731。CC BY 4.0。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https://huggingface.co/datasets/ScaleAI/MCP-Atlas/viewer/default/train?row=0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二つの年を取得し、差を計算する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複数ツールを使う仕事と実例</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4389120"/>
                <a:gridCol w="3657600"/>
              </a:tblGrid>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正解条件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配布データが示す答え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リポジトリの作成年</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2013年</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公式サイトのドメイン登録年</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2006年</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年差</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7年</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参照履歴はGitHubで対象リポジトリを確認し、</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ドメイン情報をWHOISで調べ、年差を計算する。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MCP-Atlas / 公開train。課題689f4d693e212e8ef3390731。CC BY 4.0。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https://huggingface.co/datasets/ScaleAI/MCP-Atlas/viewer/default/train?row=0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実例2：宇宙の出来事から売上データをたどる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複数ツールを使う仕事と実例</a:t>
            </a:r>
          </a:p>
        </p:txBody>
      </p:sp>
      <p:sp>
        <p:nvSpPr>
          <p:cNvPr id="4" name="TextBox 3"/>
          <p:cNvSpPr txBox="1"/>
          <p:nvPr/>
        </p:nvSpPr>
        <p:spPr>
          <a:xfrm>
            <a:off x="594360" y="1389888"/>
            <a:ext cx="7955279" cy="228600"/>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公開課題（原文）</a:t>
            </a:r>
          </a:p>
        </p:txBody>
      </p:sp>
      <p:sp>
        <p:nvSpPr>
          <p:cNvPr id="5" name="TextBox 4"/>
          <p:cNvSpPr txBox="1"/>
          <p:nvPr/>
        </p:nvSpPr>
        <p:spPr>
          <a:xfrm>
            <a:off x="594360" y="1737360"/>
            <a:ext cx="7955279" cy="1691640"/>
          </a:xfrm>
          <a:prstGeom prst="rect">
            <a:avLst/>
          </a:prstGeom>
          <a:noFill/>
        </p:spPr>
        <p:txBody>
          <a:bodyPr wrap="square" lIns="0" rIns="0" tIns="0" bIns="0">
            <a:noAutofit/>
          </a:bodyPr>
          <a:lstStyle/>
          <a:p>
            <a:pPr algn="l">
              <a:lnSpc>
                <a:spcPct val="120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was exploring product trends using the cloud database. In the same year and month that SpaceX launched the first car into space, which was the leading product type in commercial performance data? Which was the most sold vehicle in the world for that category in the same year that SpaceX launched the first car into space?</a:t>
            </a:r>
          </a:p>
        </p:txBody>
      </p:sp>
      <p:sp>
        <p:nvSpPr>
          <p:cNvPr id="6" name="TextBox 5"/>
          <p:cNvSpPr txBox="1"/>
          <p:nvPr/>
        </p:nvSpPr>
        <p:spPr>
          <a:xfrm>
            <a:off x="594360" y="3712463"/>
            <a:ext cx="7955279" cy="777240"/>
          </a:xfrm>
          <a:prstGeom prst="rect">
            <a:avLst/>
          </a:prstGeom>
          <a:noFill/>
        </p:spPr>
        <p:txBody>
          <a:bodyPr wrap="square" lIns="0" rIns="0" tIns="0" bIns="0">
            <a:noAutofit/>
          </a:bodyPr>
          <a:lstStyle/>
          <a:p>
            <a:pPr algn="l">
              <a:lnSpc>
                <a:spcPct val="120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SpaceXが車を宇宙へ打ち上げた年月を調べ、同月の社内売上首位カテゴリと、その年の世界の販売首位車種を答える。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MCP-Atlas / 公開train。課題68925f01db31fe35560e3e97。CC BY 4.0。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https://huggingface.co/datasets/ScaleAI/MCP-Atlas/viewer/default/train?row=2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外部の出来事を、社内データの期間指定へ使う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複数ツールを使う仕事と実例</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5029200"/>
                <a:gridCol w="3017520"/>
              </a:tblGrid>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正解条件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配布データが示す答え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最初の車を宇宙へ打ち上げた年月</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2018年2月</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同月の売上首位カテゴリ</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Electric（電気自動車）</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2018年の同カテゴリの世界首位車種</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Tesla Model 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検索で年月を特定 → Airtableの売上を集計 →</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検索でその年の販売首位車種を確認する。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MCP-Atlas / 公開train。課題68925f01db31fe35560e3e97。CC BY 4.0。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https://huggingface.co/datasets/ScaleAI/MCP-Atlas/viewer/default/train?row=2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実例3：医学論文・翻訳・文献史をまとめる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複数ツールを使う仕事と実例</a:t>
            </a:r>
          </a:p>
        </p:txBody>
      </p:sp>
      <p:sp>
        <p:nvSpPr>
          <p:cNvPr id="4" name="TextBox 3"/>
          <p:cNvSpPr txBox="1"/>
          <p:nvPr/>
        </p:nvSpPr>
        <p:spPr>
          <a:xfrm>
            <a:off x="594360" y="1389888"/>
            <a:ext cx="7955279" cy="228600"/>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公開課題（原文）</a:t>
            </a:r>
          </a:p>
        </p:txBody>
      </p:sp>
      <p:sp>
        <p:nvSpPr>
          <p:cNvPr id="5" name="TextBox 4"/>
          <p:cNvSpPr txBox="1"/>
          <p:nvPr/>
        </p:nvSpPr>
        <p:spPr>
          <a:xfrm>
            <a:off x="594360" y="1737360"/>
            <a:ext cx="7955279" cy="1691640"/>
          </a:xfrm>
          <a:prstGeom prst="rect">
            <a:avLst/>
          </a:prstGeom>
          <a:noFill/>
        </p:spPr>
        <p:txBody>
          <a:bodyPr wrap="square" lIns="0" rIns="0" tIns="0" bIns="0">
            <a:noAutofit/>
          </a:bodyPr>
          <a:lstStyle/>
          <a:p>
            <a:pPr algn="l">
              <a:lnSpc>
                <a:spcPct val="120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For a report I have to prepare on oncology with machine learning, help me identify the last related study published on november 2024 containing the word cancer in its title and retrieve the abstract of the article. Translate only the title of the study into spanish while keeping the abstract of the study in its original language. Find the type of cancer discussed in the article and tell me who published the first literature and in which year.</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MCP-Atlas / 公開train。課題688a441c1a0d2e5c93853e76。CC BY 4.0。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https://huggingface.co/datasets/ScaleAI/MCP-Atlas/viewer/default/train?row=1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論文・翻訳・医学史を正解条件にする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対象論文は「xCG: Explainable Cell Graphs for Survival Prediction in Non-Small Cell Lung Cancer」。非小細胞肺がんの生存予測を扱う。</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正解条件は、対象論文の特定、題名のスペイン語訳、原語の要旨、肺がんの初期文献に関する4項目。</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配布正解では、肺がんの最初の文献レビューをIsaac Adlerが1912年に発表したとしている。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複数ツールを使う仕事と実例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MCP-Atlas / 公開train。課題688a441c1a0d2e5c93853e76。CC BY 4.0。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https://huggingface.co/datasets/ScaleAI/MCP-Atlas/viewer/default/train?row=1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100" b="0">
                <a:solidFill>
                  <a:srgbClr val="303437"/>
                </a:solidFill>
                <a:latin typeface="Noto Sans"/>
              </a:defRPr>
            </a:pPr>
            <a:r>
              <a:rPr sz="3100" b="1" lang="ja-JP" altLang="en-US">
                <a:solidFill>
                  <a:srgbClr val="303437"/>
                </a:solidFill>
                <a:latin typeface="Noto Sans"/>
                <a:ea typeface="Noto Sans CJK JP"/>
                <a:cs typeface="Noto Sans"/>
              </a:rPr>
              <a:t>2. 正解条件による採点とモデル評価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正解条件による採点とモデル評価</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回答を、満たすべき事実ごとに採点する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正解条件による採点とモデル評価</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6217920"/>
                <a:gridCol w="1828800"/>
              </a:tblGrid>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各正解条件の判定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得点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満たしている（fulfilled）</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一部を満たす（partially fulfilled）</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0.5</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満たしていない（not fulfilled）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0.0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LLM判定器が、最終回答と各正解条件を照合する。</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得点の平均をcoverage（正解条件の充足率）とする。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ゲームの例なら、3条件の平均を取る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正解条件による採点とモデル評価</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4480560"/>
                <a:gridCol w="2194560"/>
                <a:gridCol w="1371600"/>
              </a:tblGrid>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説明用の判定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得点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2013年のリポジトリ作成</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満たす</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2006年のドメイン登録</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満たす</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7年の差</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満たさない</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coverage = (1 + 1 + 0) / 3 ≈ 0.667。</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本論文では0.75以上を、その課題の合格とする。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合格率と、正解条件の充足率を集計する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課題ごとのcoverageを計算し、0.75以上になった課題の割合を合格率として報告する。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平均coverageは、全課題のcoverageの平均。部分的に回答できた項目も反映する。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参照の操作履歴は、解けることの検証や失敗の分析に使う。合否は、最終回答が正解条件をどれだけ満たすかで決まる。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正解条件による採点とモデル評価</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論文バージョン3では、上位モデルは約8割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正解条件による採点とモデル評価</a:t>
            </a:r>
          </a:p>
        </p:txBody>
      </p:sp>
      <p:graphicFrame>
        <p:nvGraphicFramePr>
          <p:cNvPr id="4" name="Table 3"/>
          <p:cNvGraphicFramePr>
            <a:graphicFrameLocks noGrp="1"/>
          </p:cNvGraphicFramePr>
          <p:nvPr/>
        </p:nvGraphicFramePr>
        <p:xfrm>
          <a:off x="548640" y="1508760"/>
          <a:ext cx="8046720" cy="2304285"/>
        </p:xfrm>
        <a:graphic>
          <a:graphicData uri="http://schemas.openxmlformats.org/drawingml/2006/table">
            <a:tbl>
              <a:tblPr firstRow="0" bandRow="0"/>
              <a:tblGrid>
                <a:gridCol w="6309360"/>
                <a:gridCol w="1737360"/>
              </a:tblGrid>
              <a:tr h="460857">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モデル／推論設定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合格率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60857">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Muse Spark / max</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82.2%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60857">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Opus 4.7 / max</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79.1%</a:t>
                      </a:r>
                    </a:p>
                  </a:txBody>
                  <a:tcPr marL="63500" marR="63500" marT="38100" marB="38100" anchor="ctr">
                    <a:lnL w="7620">
                      <a:noFill/>
                    </a:lnL>
                    <a:lnR w="7620">
                      <a:noFill/>
                    </a:lnR>
                    <a:lnT w="7620">
                      <a:noFill/>
                    </a:lnT>
                    <a:lnB w="7620">
                      <a:noFill/>
                    </a:lnB>
                    <a:solidFill>
                      <a:srgbClr val="FFFEF8"/>
                    </a:solidFill>
                  </a:tcPr>
                </a:tc>
              </a:tr>
              <a:tr h="460857">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Gemini 3.1 Pro Preview / high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78.2%</a:t>
                      </a:r>
                    </a:p>
                  </a:txBody>
                  <a:tcPr marL="63500" marR="63500" marT="38100" marB="38100" anchor="ctr">
                    <a:lnL w="7620">
                      <a:noFill/>
                    </a:lnL>
                    <a:lnR w="7620">
                      <a:noFill/>
                    </a:lnR>
                    <a:lnT w="7620">
                      <a:noFill/>
                    </a:lnT>
                    <a:lnB w="7620">
                      <a:noFill/>
                    </a:lnB>
                    <a:solidFill>
                      <a:srgbClr val="FFFEF8"/>
                    </a:solidFill>
                  </a:tcPr>
                </a:tc>
              </a:tr>
              <a:tr h="460857">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GPT-5.5 / xhigh</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75.3%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05072"/>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論文v3（2026年5月）、全1,000課題、coverage ≥ 0.75。</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主判定器はGemini 3.1 Pro Preview、1課題100ツール呼び出し。</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公式モデル比較では、ツール連携を測る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正解条件による採点とモデル評価</a:t>
            </a:r>
          </a:p>
        </p:txBody>
      </p:sp>
      <p:graphicFrame>
        <p:nvGraphicFramePr>
          <p:cNvPr id="4" name="Table 3"/>
          <p:cNvGraphicFramePr>
            <a:graphicFrameLocks noGrp="1"/>
          </p:cNvGraphicFramePr>
          <p:nvPr/>
        </p:nvGraphicFramePr>
        <p:xfrm>
          <a:off x="548640" y="1508760"/>
          <a:ext cx="8046720" cy="2304285"/>
        </p:xfrm>
        <a:graphic>
          <a:graphicData uri="http://schemas.openxmlformats.org/drawingml/2006/table">
            <a:tbl>
              <a:tblPr firstRow="0" bandRow="0"/>
              <a:tblGrid>
                <a:gridCol w="3383280"/>
                <a:gridCol w="4663440"/>
              </a:tblGrid>
              <a:tr h="460857">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評価データ</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扱う仕事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60857">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MCP Atlas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複数のMCPサーバーを組み合わせる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60857">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τ²-bench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顧客との対話とツール操作</a:t>
                      </a:r>
                    </a:p>
                  </a:txBody>
                  <a:tcPr marL="63500" marR="63500" marT="38100" marB="38100" anchor="ctr">
                    <a:lnL w="7620">
                      <a:noFill/>
                    </a:lnL>
                    <a:lnR w="7620">
                      <a:noFill/>
                    </a:lnR>
                    <a:lnT w="7620">
                      <a:noFill/>
                    </a:lnT>
                    <a:lnB w="7620">
                      <a:noFill/>
                    </a:lnB>
                    <a:solidFill>
                      <a:srgbClr val="FFFEF8"/>
                    </a:solidFill>
                  </a:tcPr>
                </a:tc>
              </a:tr>
              <a:tr h="460857">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Terminal-Bench 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端末上の作業を進める</a:t>
                      </a:r>
                    </a:p>
                  </a:txBody>
                  <a:tcPr marL="63500" marR="63500" marT="38100" marB="38100" anchor="ctr">
                    <a:lnL w="7620">
                      <a:noFill/>
                    </a:lnL>
                    <a:lnR w="7620">
                      <a:noFill/>
                    </a:lnR>
                    <a:lnT w="7620">
                      <a:noFill/>
                    </a:lnT>
                    <a:lnB w="7620">
                      <a:noFill/>
                    </a:lnB>
                    <a:solidFill>
                      <a:srgbClr val="FFFEF8"/>
                    </a:solidFill>
                  </a:tcPr>
                </a:tc>
              </a:tr>
              <a:tr h="460857">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SWE-bench Verified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GitHubの不具合をコード修正で解く</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05072"/>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Gemini 3.1 Proの公式Performance表で採用。</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MCP Atlasは「Multi-step workflows using MCP」と位置付けられている。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DeepMind (2026). Gemini 3.1 Pro. Performance: MCP Atlas. 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https://deepmind.google/models/gemini/pro/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失敗の中心は、得た情報の使い方へ移る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論文v3では、診断した約6,900件の失敗の63.3%を、課題理解・情報統合・途中終了などの認知側の失敗に分類した。</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ツール呼び出し側の失敗は36.7%。引数の誤り、ツール選択、ツールを使わないこと、エラーからの復帰が含まれる。</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情報を取得できても、必要な証拠をそろえる前に終えたり、結果を取り違えて回答したりする課題が残る。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正解条件による採点とモデル評価</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100" b="0">
                <a:solidFill>
                  <a:srgbClr val="303437"/>
                </a:solidFill>
                <a:latin typeface="Noto Sans"/>
              </a:defRPr>
            </a:pPr>
            <a:r>
              <a:rPr sz="3100" b="1" lang="ja-JP" altLang="en-US">
                <a:solidFill>
                  <a:srgbClr val="303437"/>
                </a:solidFill>
                <a:latin typeface="Noto Sans"/>
                <a:ea typeface="Noto Sans CJK JP"/>
                <a:cs typeface="Noto Sans"/>
              </a:rPr>
              <a:t>3. 専門家による作成とデータの構成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専門家による作成とデータの構成</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専門家が、外部データの必要な仕事を作る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課題作成者は、検索・業務アプリ・コード・分析・金融などの実際のMCPサーバーを使い、複数段階で解く依頼を作る。</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問題文は自然な依頼として書き、意図したサーバー名やツール名、引数を直接指定しない。</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参照の操作履歴と、ツールの返した情報に基づく最終回答を用意する。1課題の作成・検証・文書化は平均4.6時間。</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専門家による作成とデータの構成</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回答に必要な事実を、独立した条件へ分ける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正解条件は、個別に確かめられる事実へ分ける。全体では1課題平均4.7項目で、範囲は1〜23項目。</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専門家による作成と、自動生成した条件の候補の人手レビューを組み合わせて、条件の完全性と根拠を確かめる。</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各課題の提示ツールには、必要な機能に加え、用途が似ている候補を混ぜる。ツールの説明から適切なものを選ぶ能力も調べる。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専門家による作成とデータの構成</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実行・専門家レビュー・自動検証を重ねる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専門家による作成とデータの構成</a:t>
            </a:r>
          </a:p>
        </p:txBody>
      </p:sp>
      <p:graphicFrame>
        <p:nvGraphicFramePr>
          <p:cNvPr id="4" name="Table 3"/>
          <p:cNvGraphicFramePr>
            <a:graphicFrameLocks noGrp="1"/>
          </p:cNvGraphicFramePr>
          <p:nvPr/>
        </p:nvGraphicFramePr>
        <p:xfrm>
          <a:off x="548640" y="1508760"/>
          <a:ext cx="8046720" cy="2697480"/>
        </p:xfrm>
        <a:graphic>
          <a:graphicData uri="http://schemas.openxmlformats.org/drawingml/2006/table">
            <a:tbl>
              <a:tblPr firstRow="0" bandRow="0"/>
              <a:tblGrid>
                <a:gridCol w="3383280"/>
                <a:gridCol w="4663440"/>
              </a:tblGrid>
              <a:tr h="41148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品質確認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確かめる内容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作成者が参照履歴を実行</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設定した環境で課題が解けるか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分野の専門家がレビュー</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正解と解決可能性</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別のレビュー</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依頼文にツール名などが漏れていないか</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LLMによる確認</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正解条件の完全性と操作履歴との対応</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無作為な標本の人手監査</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課題と正解条件の品質</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課題は検索・業務・コード・分析・金融に広がる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専門家による作成とデータの構成</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全1,000課題の分野別割合（%）。論文v3の分類。</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https://arxiv.org/abs/2602.00933v3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98.6%の課題で、複数のサーバーを使う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専門家による作成とデータの構成</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全1,000課題の必要サーバー数の割合（%）。平均2.55。</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https://arxiv.org/abs/2602.00933v3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公開500課題には、依頼と正解条件を配布する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専門家による作成とデータの構成</a:t>
            </a:r>
          </a:p>
        </p:txBody>
      </p:sp>
      <p:graphicFrame>
        <p:nvGraphicFramePr>
          <p:cNvPr id="4" name="Table 3"/>
          <p:cNvGraphicFramePr>
            <a:graphicFrameLocks noGrp="1"/>
          </p:cNvGraphicFramePr>
          <p:nvPr/>
        </p:nvGraphicFramePr>
        <p:xfrm>
          <a:off x="548640" y="1508760"/>
          <a:ext cx="8046720" cy="1426464"/>
        </p:xfrm>
        <a:graphic>
          <a:graphicData uri="http://schemas.openxmlformats.org/drawingml/2006/table">
            <a:tbl>
              <a:tblPr firstRow="0" bandRow="0"/>
              <a:tblGrid>
                <a:gridCol w="1645920"/>
                <a:gridCol w="1280160"/>
                <a:gridCol w="5120640"/>
              </a:tblGrid>
              <a:tr h="475488">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分割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入手できるもの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公開</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500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依頼・提示ツール・正解条件・参照履歴</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非公開</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500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運営側で保持する評価用の課題</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127248"/>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全1,000課題を無作為に500 / 500へ分割。</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Hugging Faceでは公開500課題をtrainというsplit名で配布。</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100" b="0">
                <a:solidFill>
                  <a:srgbClr val="303437"/>
                </a:solidFill>
                <a:latin typeface="Noto Sans"/>
              </a:defRPr>
            </a:pPr>
            <a:r>
              <a:rPr sz="3100" b="1" lang="ja-JP" altLang="en-US">
                <a:solidFill>
                  <a:srgbClr val="303437"/>
                </a:solidFill>
                <a:latin typeface="Noto Sans"/>
                <a:ea typeface="Noto Sans CJK JP"/>
                <a:cs typeface="Noto Sans"/>
              </a:rPr>
              <a:t>4. 複数サーバーの連携と利用方法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複数サーバーの連携と利用方法</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MCPサーバーを固定したコンテナーで動かす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複数サーバーの連携と利用方法</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3017520"/>
                <a:gridCol w="5029200"/>
              </a:tblGrid>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役割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使うもの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ツールの実行環境</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36サーバーをDocker内に用意</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モデルの実行</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モデルとツールの間で操作を繰り返す</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採点プログラム</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最終回答と正解条件をLLMで照合する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検索や外部APIにはライブ接続を使う。</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サーバーの実装・依存関係はバージョンを固定し、実行条件を記録する。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MCP-Atlas: evaluation harness and instructions. 改訂5c11ac4。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https://github.com/scaleapi/mcp-atlas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データ公開と、論文・実行環境の更新が続く</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2025年12月、Hugging Faceに500課題のParquetを登録。2026年に論文を公開し、5月の論文v3では20モデルを比較した。</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公開リポジトリのエージェント実行プログラムは、バージョン2.0.0でPythonからTypeScriptへ移行した。採点・診断はPythonで提供する。</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データの改訂、論文の改訂、実行プログラムのバージョンを指定して、同じ構成で評価を再実行する。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複数サーバーの連携と利用方法</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MCP-Atlas: Changelog, agent harness v2.0.0. 改訂5c11ac4。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https://github.com/scaleapi/mcp-atlas/blob/5c11ac4/CHANGELOG.md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公開課題を実行し、回答を保存する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複数サーバーの連携と利用方法</a:t>
            </a:r>
          </a:p>
        </p:txBody>
      </p:sp>
      <p:sp>
        <p:nvSpPr>
          <p:cNvPr id="4" name="Rectangle 3"/>
          <p:cNvSpPr/>
          <p:nvPr/>
        </p:nvSpPr>
        <p:spPr>
          <a:xfrm>
            <a:off x="548640" y="1508760"/>
            <a:ext cx="8046720" cy="1397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python run_eval.py \</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--model "provider/model-name" \</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--num-tasks 1 \</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--output runs/model/outputs.csv</a:t>
            </a:r>
          </a:p>
        </p:txBody>
      </p:sp>
      <p:sp>
        <p:nvSpPr>
          <p:cNvPr id="5" name="TextBox 4"/>
          <p:cNvSpPr txBox="1"/>
          <p:nvPr/>
        </p:nvSpPr>
        <p:spPr>
          <a:xfrm>
            <a:off x="594360" y="3106928"/>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公式バッチ実行の例。接続するモデルを指定し、最初の1課題を実行する。モデルと必要な外部サービスのAPIキーを設定し、MCP環境と実行プログラムを起動して使う。</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MCP-Atlas: evaluation harness and instructions. 改訂5c11ac4。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https://github.com/scaleapi/mcp-atlas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ツール選択と、回答をそろえる完了判断を測る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MCP Atlasは、自然な依頼に対して、必要なツールを探し、複数サーバーの結果をつないで回答を作る評価。</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専門家が用意した正解条件により、最終回答を事実ごとに採点する。課題の合否と部分的な充足率を集計できる。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公開500課題と実行・採点コードを配布し、20モデルの比較では上位モデルが約8割の課題に合格した。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複数サーバーの連携と利用方法</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59895"/>
            <a:ext cx="8046720" cy="822960"/>
          </a:xfrm>
        </p:spPr>
        <p:txBody>
          <a:bodyPr wrap="square" lIns="0" rIns="0" tIns="0" bIns="0" anchor="ctr">
            <a:noAutofit/>
          </a:bodyPr>
          <a:lstStyle/>
          <a:p>
            <a:pPr algn="ctr">
              <a:lnSpc>
                <a:spcPct val="110000"/>
              </a:lnSpc>
              <a:buNone/>
              <a:defRPr sz="4200" b="0">
                <a:solidFill>
                  <a:srgbClr val="303437"/>
                </a:solidFill>
                <a:latin typeface="Noto Sans"/>
              </a:defRPr>
            </a:pPr>
            <a:r>
              <a:rPr sz="42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777240" y="1668081"/>
            <a:ext cx="7772400" cy="2077720"/>
          </a:xfrm>
        </p:spPr>
        <p:txBody>
          <a:bodyPr lIns="0" rIns="0" tIns="0" bIns="0" wrap="square">
            <a:noAutofit/>
          </a:bodyPr>
          <a:lstStyle/>
          <a:p>
            <a:pPr marL="457200" indent="-457200">
              <a:lnSpc>
                <a:spcPct val="128000"/>
              </a:lnSpc>
              <a:spcAft>
                <a:spcPts val="17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追加の課題と分布</a:t>
            </a:r>
          </a:p>
          <a:p>
            <a:pPr marL="457200" indent="-457200">
              <a:lnSpc>
                <a:spcPct val="128000"/>
              </a:lnSpc>
              <a:spcAft>
                <a:spcPts val="17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バージョン・実装と評価条件</a:t>
            </a:r>
          </a:p>
          <a:p>
            <a:pPr marL="457200" indent="-457200">
              <a:lnSpc>
                <a:spcPct val="128000"/>
              </a:lnSpc>
              <a:spcAft>
                <a:spcPts val="17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著者と参考文献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目次</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200" b="0">
                <a:solidFill>
                  <a:srgbClr val="303437"/>
                </a:solidFill>
                <a:latin typeface="Noto Sans"/>
              </a:defRPr>
            </a:pPr>
            <a:r>
              <a:rPr sz="3200" b="1" lang="ja-JP" altLang="en-US">
                <a:solidFill>
                  <a:srgbClr val="303437"/>
                </a:solidFill>
                <a:latin typeface="Noto Sans"/>
                <a:ea typeface="Noto Sans CJK JP"/>
                <a:cs typeface="Noto Sans"/>
              </a:rPr>
              <a:t>1. 追加の課題と分布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追加の課題と分布</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広告の論文と、社内キャンペーンを照合する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論文の追加例は、広告の効果に関する2024年のJane Castlemanの論文の要旨を探し、社内の広告データと照合する依頼。</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2015〜2023年に始まったキャンペーンから、反応率が最大のものの日付と地域を答える。</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arXivで論文を検索し、Notionで広告データベースを探して照会する。正解条件には、論文、要旨、最大値、該当日、地域を含む。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追加の課題と分布</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最高の反応率は3件で同率になっている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追加の課題と分布</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2468880"/>
                <a:gridCol w="5577840"/>
              </a:tblGrid>
              <a:tr h="47548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正解条件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論文が示した内容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最大の反応率</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15%（3キャンペーンで同率）</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開始日</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2022-06-24 / 2019-09-20 / 2017-09-09</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地域</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National / International / International</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Jane Castlemanの広告研究と社内データを照合する公開例。</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日付と地域は同じ順に対応する。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36サーバーのうち、検索系は多くの課題で使う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追加の課題と分布</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論文v3、全1,000課題の必要サーバー上位6件（課題数）。</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https://arxiv.org/abs/2602.00933v3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1課題あたりのツールと正解条件の数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追加の課題と分布</a:t>
            </a:r>
          </a:p>
        </p:txBody>
      </p:sp>
      <p:graphicFrame>
        <p:nvGraphicFramePr>
          <p:cNvPr id="4" name="Table 3"/>
          <p:cNvGraphicFramePr>
            <a:graphicFrameLocks noGrp="1"/>
          </p:cNvGraphicFramePr>
          <p:nvPr/>
        </p:nvGraphicFramePr>
        <p:xfrm>
          <a:off x="548640" y="1938528"/>
          <a:ext cx="8046720" cy="1719072"/>
        </p:xfrm>
        <a:graphic>
          <a:graphicData uri="http://schemas.openxmlformats.org/drawingml/2006/table">
            <a:tbl>
              <a:tblPr firstRow="0" bandRow="0"/>
              <a:tblGrid>
                <a:gridCol w="4023360"/>
                <a:gridCol w="1737360"/>
                <a:gridCol w="2286000"/>
              </a:tblGrid>
              <a:tr h="429768">
                <a:tc>
                  <a:txBody>
                    <a:bodyPr wrap="square">
                      <a:noAutofit/>
                    </a:bodyPr>
                    <a:lstStyle/>
                    <a:p>
                      <a:pPr algn="l">
                        <a:lnSpc>
                          <a:spcPts val="2200"/>
                        </a:lnSpc>
                        <a:buNone/>
                        <a:defRPr sz="1850" b="0">
                          <a:solidFill>
                            <a:srgbClr val="303437"/>
                          </a:solidFill>
                          <a:latin typeface="Noto Sans"/>
                        </a:defRPr>
                      </a:pPr>
                      <a:r>
                        <a:rPr sz="1850" b="0" lang="ja-JP" altLang="en-US">
                          <a:solidFill>
                            <a:srgbClr val="303437"/>
                          </a:solidFill>
                          <a:latin typeface="Noto Sans"/>
                          <a:ea typeface="Noto Sans CJK JP"/>
                          <a:cs typeface="Noto Sans"/>
                        </a:rPr>
                        <a:t>数える対象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200"/>
                        </a:lnSpc>
                        <a:buNone/>
                        <a:defRPr sz="1850" b="0">
                          <a:solidFill>
                            <a:srgbClr val="303437"/>
                          </a:solidFill>
                          <a:latin typeface="Noto Sans"/>
                        </a:defRPr>
                      </a:pPr>
                      <a:r>
                        <a:rPr sz="1850" b="0" lang="ja-JP" altLang="en-US">
                          <a:solidFill>
                            <a:srgbClr val="303437"/>
                          </a:solidFill>
                          <a:latin typeface="Noto Sans"/>
                          <a:ea typeface="Noto Sans CJK JP"/>
                          <a:cs typeface="Noto Sans"/>
                        </a:rPr>
                        <a:t>1課題の平均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200"/>
                        </a:lnSpc>
                        <a:buNone/>
                        <a:defRPr sz="1850" b="0">
                          <a:solidFill>
                            <a:srgbClr val="303437"/>
                          </a:solidFill>
                          <a:latin typeface="Noto Sans"/>
                        </a:defRPr>
                      </a:pPr>
                      <a:r>
                        <a:rPr sz="1850" b="0" lang="ja-JP" altLang="en-US">
                          <a:solidFill>
                            <a:srgbClr val="303437"/>
                          </a:solidFill>
                          <a:latin typeface="Noto Sans"/>
                          <a:ea typeface="Noto Sans CJK JP"/>
                          <a:cs typeface="Noto Sans"/>
                        </a:rPr>
                        <a:t>最小〜最大</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9768">
                <a:tc>
                  <a:txBody>
                    <a:bodyPr wrap="square">
                      <a:noAutofit/>
                    </a:bodyPr>
                    <a:lstStyle/>
                    <a:p>
                      <a:pPr algn="l">
                        <a:lnSpc>
                          <a:spcPts val="2200"/>
                        </a:lnSpc>
                        <a:buNone/>
                        <a:defRPr sz="1850" b="0">
                          <a:solidFill>
                            <a:srgbClr val="303437"/>
                          </a:solidFill>
                          <a:latin typeface="Noto Sans"/>
                        </a:defRPr>
                      </a:pPr>
                      <a:r>
                        <a:rPr sz="1850" b="0" lang="ja-JP" altLang="en-US">
                          <a:solidFill>
                            <a:srgbClr val="303437"/>
                          </a:solidFill>
                          <a:latin typeface="Noto Sans"/>
                          <a:ea typeface="Noto Sans CJK JP"/>
                          <a:cs typeface="Noto Sans"/>
                        </a:rPr>
                        <a:t>提示するツールの種類数</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200"/>
                        </a:lnSpc>
                        <a:buNone/>
                        <a:defRPr sz="1850" b="0">
                          <a:solidFill>
                            <a:srgbClr val="303437"/>
                          </a:solidFill>
                          <a:latin typeface="Noto Sans"/>
                        </a:defRPr>
                      </a:pPr>
                      <a:r>
                        <a:rPr sz="1850" b="0" lang="ja-JP" altLang="en-US">
                          <a:solidFill>
                            <a:srgbClr val="303437"/>
                          </a:solidFill>
                          <a:latin typeface="Noto Sans"/>
                          <a:ea typeface="Noto Sans CJK JP"/>
                          <a:cs typeface="Noto Sans"/>
                        </a:rPr>
                        <a:t>15.2種類</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200"/>
                        </a:lnSpc>
                        <a:buNone/>
                        <a:defRPr sz="1850" b="0">
                          <a:solidFill>
                            <a:srgbClr val="303437"/>
                          </a:solidFill>
                          <a:latin typeface="Noto Sans"/>
                        </a:defRPr>
                      </a:pPr>
                      <a:r>
                        <a:rPr sz="1850" b="0" lang="ja-JP" altLang="en-US">
                          <a:solidFill>
                            <a:srgbClr val="303437"/>
                          </a:solidFill>
                          <a:latin typeface="Noto Sans"/>
                          <a:ea typeface="Noto Sans CJK JP"/>
                          <a:cs typeface="Noto Sans"/>
                        </a:rPr>
                        <a:t>6〜37種類</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9768">
                <a:tc>
                  <a:txBody>
                    <a:bodyPr wrap="square">
                      <a:noAutofit/>
                    </a:bodyPr>
                    <a:lstStyle/>
                    <a:p>
                      <a:pPr algn="l">
                        <a:lnSpc>
                          <a:spcPts val="2200"/>
                        </a:lnSpc>
                        <a:buNone/>
                        <a:defRPr sz="1850" b="0">
                          <a:solidFill>
                            <a:srgbClr val="303437"/>
                          </a:solidFill>
                          <a:latin typeface="Noto Sans"/>
                        </a:defRPr>
                      </a:pPr>
                      <a:r>
                        <a:rPr sz="1850" b="0" lang="ja-JP" altLang="en-US">
                          <a:solidFill>
                            <a:srgbClr val="303437"/>
                          </a:solidFill>
                          <a:latin typeface="Noto Sans"/>
                          <a:ea typeface="Noto Sans CJK JP"/>
                          <a:cs typeface="Noto Sans"/>
                        </a:rPr>
                        <a:t>解答に必要なツールの種類数</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00"/>
                        </a:lnSpc>
                        <a:buNone/>
                        <a:defRPr sz="1850" b="0">
                          <a:solidFill>
                            <a:srgbClr val="303437"/>
                          </a:solidFill>
                          <a:latin typeface="Noto Sans"/>
                        </a:defRPr>
                      </a:pPr>
                      <a:r>
                        <a:rPr sz="1850" b="0" lang="ja-JP" altLang="en-US">
                          <a:solidFill>
                            <a:srgbClr val="303437"/>
                          </a:solidFill>
                          <a:latin typeface="Noto Sans"/>
                          <a:ea typeface="Noto Sans CJK JP"/>
                          <a:cs typeface="Noto Sans"/>
                        </a:rPr>
                        <a:t>4.1種類</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00"/>
                        </a:lnSpc>
                        <a:buNone/>
                        <a:defRPr sz="1850" b="0">
                          <a:solidFill>
                            <a:srgbClr val="303437"/>
                          </a:solidFill>
                          <a:latin typeface="Noto Sans"/>
                        </a:defRPr>
                      </a:pPr>
                      <a:r>
                        <a:rPr sz="1850" b="0" lang="ja-JP" altLang="en-US">
                          <a:solidFill>
                            <a:srgbClr val="303437"/>
                          </a:solidFill>
                          <a:latin typeface="Noto Sans"/>
                          <a:ea typeface="Noto Sans CJK JP"/>
                          <a:cs typeface="Noto Sans"/>
                        </a:rPr>
                        <a:t>2〜8種類</a:t>
                      </a:r>
                    </a:p>
                  </a:txBody>
                  <a:tcPr marL="63500" marR="63500" marT="38100" marB="38100" anchor="ctr">
                    <a:lnL w="7620">
                      <a:noFill/>
                    </a:lnL>
                    <a:lnR w="7620">
                      <a:noFill/>
                    </a:lnR>
                    <a:lnT w="7620">
                      <a:noFill/>
                    </a:lnT>
                    <a:lnB w="7620">
                      <a:noFill/>
                    </a:lnB>
                    <a:solidFill>
                      <a:srgbClr val="FFFEF8"/>
                    </a:solidFill>
                  </a:tcPr>
                </a:tc>
              </a:tr>
              <a:tr h="429768">
                <a:tc>
                  <a:txBody>
                    <a:bodyPr wrap="square">
                      <a:noAutofit/>
                    </a:bodyPr>
                    <a:lstStyle/>
                    <a:p>
                      <a:pPr algn="l">
                        <a:lnSpc>
                          <a:spcPts val="2200"/>
                        </a:lnSpc>
                        <a:buNone/>
                        <a:defRPr sz="1850" b="0">
                          <a:solidFill>
                            <a:srgbClr val="303437"/>
                          </a:solidFill>
                          <a:latin typeface="Noto Sans"/>
                        </a:defRPr>
                      </a:pPr>
                      <a:r>
                        <a:rPr sz="1850" b="0" lang="ja-JP" altLang="en-US">
                          <a:solidFill>
                            <a:srgbClr val="303437"/>
                          </a:solidFill>
                          <a:latin typeface="Noto Sans"/>
                          <a:ea typeface="Noto Sans CJK JP"/>
                          <a:cs typeface="Noto Sans"/>
                        </a:rPr>
                        <a:t>回答の正解条件の数</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200"/>
                        </a:lnSpc>
                        <a:buNone/>
                        <a:defRPr sz="1850" b="0">
                          <a:solidFill>
                            <a:srgbClr val="303437"/>
                          </a:solidFill>
                          <a:latin typeface="Noto Sans"/>
                        </a:defRPr>
                      </a:pPr>
                      <a:r>
                        <a:rPr sz="1850" b="0" lang="ja-JP" altLang="en-US">
                          <a:solidFill>
                            <a:srgbClr val="303437"/>
                          </a:solidFill>
                          <a:latin typeface="Noto Sans"/>
                          <a:ea typeface="Noto Sans CJK JP"/>
                          <a:cs typeface="Noto Sans"/>
                        </a:rPr>
                        <a:t>4.7項目</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200"/>
                        </a:lnSpc>
                        <a:buNone/>
                        <a:defRPr sz="1850" b="0">
                          <a:solidFill>
                            <a:srgbClr val="303437"/>
                          </a:solidFill>
                          <a:latin typeface="Noto Sans"/>
                        </a:defRPr>
                      </a:pPr>
                      <a:r>
                        <a:rPr sz="1850" b="0" lang="ja-JP" altLang="en-US">
                          <a:solidFill>
                            <a:srgbClr val="303437"/>
                          </a:solidFill>
                          <a:latin typeface="Noto Sans"/>
                          <a:ea typeface="Noto Sans CJK JP"/>
                          <a:cs typeface="Noto Sans"/>
                        </a:rPr>
                        <a:t>1〜23項目</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58768"/>
            <a:ext cx="7955279" cy="667512"/>
          </a:xfrm>
          <a:prstGeom prst="rect">
            <a:avLst/>
          </a:prstGeom>
          <a:noFill/>
        </p:spPr>
        <p:txBody>
          <a:bodyPr wrap="square" lIns="0" rIns="0" tIns="0" bIns="0">
            <a:noAutofit/>
          </a:bodyPr>
          <a:lstStyle/>
          <a:p>
            <a:pPr algn="l">
              <a:lnSpc>
                <a:spcPts val="23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種類数はツールの機能の数。同じ機能を繰り返し呼ぶこともある。</a:t>
            </a:r>
          </a:p>
          <a:p>
            <a:pPr algn="l">
              <a:lnSpc>
                <a:spcPts val="23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参照の操作履歴は、1課題あたり平均9.8回のツール呼び出し。</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
        <p:nvSpPr>
          <p:cNvPr id="7" name="TextBox 6"/>
          <p:cNvSpPr txBox="1"/>
          <p:nvPr/>
        </p:nvSpPr>
        <p:spPr>
          <a:xfrm>
            <a:off x="594360" y="1417320"/>
            <a:ext cx="7955279" cy="320040"/>
          </a:xfrm>
          <a:prstGeom prst="rect">
            <a:avLst/>
          </a:prstGeom>
          <a:noFill/>
        </p:spPr>
        <p:txBody>
          <a:bodyPr wrap="none" lIns="0" rIns="0" tIns="0" bIns="0">
            <a:spAutoFit/>
          </a:bodyPr>
          <a:lstStyle/>
          <a:p>
            <a:pPr>
              <a:lnSpc>
                <a:spcPts val="2300"/>
              </a:lnSpc>
            </a:pPr>
            <a:r>
              <a:rPr sz="1800" b="0" lang="ja-JP" altLang="en-US">
                <a:solidFill>
                  <a:srgbClr val="303437"/>
                </a:solidFill>
                <a:latin typeface="Noto Sans"/>
                <a:ea typeface="Noto Sans CJK JP"/>
                <a:cs typeface="Noto Sans"/>
              </a:rPr>
              <a:t>全1,000課題を集計。平均は1課題あたり、範囲は最小〜最大。</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ツール呼び出しの失敗を4種類に分ける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追加の課題と分布</a:t>
            </a:r>
          </a:p>
        </p:txBody>
      </p:sp>
      <p:graphicFrame>
        <p:nvGraphicFramePr>
          <p:cNvPr id="4" name="Table 3"/>
          <p:cNvGraphicFramePr>
            <a:graphicFrameLocks noGrp="1"/>
          </p:cNvGraphicFramePr>
          <p:nvPr/>
        </p:nvGraphicFramePr>
        <p:xfrm>
          <a:off x="548640" y="1508760"/>
          <a:ext cx="8046720" cy="2377440"/>
        </p:xfrm>
        <a:graphic>
          <a:graphicData uri="http://schemas.openxmlformats.org/drawingml/2006/table">
            <a:tbl>
              <a:tblPr firstRow="0" bandRow="0"/>
              <a:tblGrid>
                <a:gridCol w="3291840"/>
                <a:gridCol w="4754880"/>
              </a:tblGrid>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失敗の種類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何が起きたか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引数の誤り</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不正な形式や値で呼び出す</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ツールの選択違い</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依頼を解けないツールを選ぶ</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ツールを使わない</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必要な外部データを取得しない</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エラーから復帰できない</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呼び出し失敗の後、修正や代替を試さない</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理解・情報統合・完了判断の失敗は7種類</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追加の課題と分布</a:t>
            </a:r>
          </a:p>
        </p:txBody>
      </p:sp>
      <p:graphicFrame>
        <p:nvGraphicFramePr>
          <p:cNvPr id="4" name="Table 3"/>
          <p:cNvGraphicFramePr>
            <a:graphicFrameLocks noGrp="1"/>
          </p:cNvGraphicFramePr>
          <p:nvPr/>
        </p:nvGraphicFramePr>
        <p:xfrm>
          <a:off x="548640" y="1508760"/>
          <a:ext cx="8046720" cy="2926080"/>
        </p:xfrm>
        <a:graphic>
          <a:graphicData uri="http://schemas.openxmlformats.org/drawingml/2006/table">
            <a:tbl>
              <a:tblPr firstRow="0" bandRow="0"/>
              <a:tblGrid>
                <a:gridCol w="3291840"/>
                <a:gridCol w="4754880"/>
              </a:tblGrid>
              <a:tr h="365760">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失敗の種類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何が起きたか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5760">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課題の取り違え</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依頼とは異なる質問に答える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5760">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情報の統合ミス</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取得した事実を誤って組み合わせる</a:t>
                      </a:r>
                    </a:p>
                  </a:txBody>
                  <a:tcPr marL="63500" marR="63500" marT="38100" marB="38100" anchor="ctr">
                    <a:lnL w="7620">
                      <a:noFill/>
                    </a:lnL>
                    <a:lnR w="7620">
                      <a:noFill/>
                    </a:lnR>
                    <a:lnT w="7620">
                      <a:noFill/>
                    </a:lnT>
                    <a:lnB w="7620">
                      <a:noFill/>
                    </a:lnB>
                    <a:solidFill>
                      <a:srgbClr val="FFFEF8"/>
                    </a:solidFill>
                  </a:tcPr>
                </a:tc>
              </a:tr>
              <a:tr h="365760">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結果の読み違い</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別の行やフィールドを読み取る</a:t>
                      </a:r>
                    </a:p>
                  </a:txBody>
                  <a:tcPr marL="63500" marR="63500" marT="38100" marB="38100" anchor="ctr">
                    <a:lnL w="7620">
                      <a:noFill/>
                    </a:lnL>
                    <a:lnR w="7620">
                      <a:noFill/>
                    </a:lnR>
                    <a:lnT w="7620">
                      <a:noFill/>
                    </a:lnT>
                    <a:lnB w="7620">
                      <a:noFill/>
                    </a:lnB>
                    <a:solidFill>
                      <a:srgbClr val="FFFEF8"/>
                    </a:solidFill>
                  </a:tcPr>
                </a:tc>
              </a:tr>
              <a:tr h="365760">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途中終了</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必要な証拠がそろう前に回答する</a:t>
                      </a:r>
                    </a:p>
                  </a:txBody>
                  <a:tcPr marL="63500" marR="63500" marT="38100" marB="38100" anchor="ctr">
                    <a:lnL w="7620">
                      <a:noFill/>
                    </a:lnL>
                    <a:lnR w="7620">
                      <a:noFill/>
                    </a:lnR>
                    <a:lnT w="7620">
                      <a:noFill/>
                    </a:lnT>
                    <a:lnB w="7620">
                      <a:noFill/>
                    </a:lnB>
                    <a:solidFill>
                      <a:srgbClr val="FFFEF8"/>
                    </a:solidFill>
                  </a:tcPr>
                </a:tc>
              </a:tr>
              <a:tr h="365760">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事実の捏造</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得ていない事実を回答に含める</a:t>
                      </a:r>
                    </a:p>
                  </a:txBody>
                  <a:tcPr marL="63500" marR="63500" marT="38100" marB="38100" anchor="ctr">
                    <a:lnL w="7620">
                      <a:noFill/>
                    </a:lnL>
                    <a:lnR w="7620">
                      <a:noFill/>
                    </a:lnR>
                    <a:lnT w="7620">
                      <a:noFill/>
                    </a:lnT>
                    <a:lnB w="7620">
                      <a:noFill/>
                    </a:lnB>
                    <a:solidFill>
                      <a:srgbClr val="FFFEF8"/>
                    </a:solidFill>
                  </a:tcPr>
                </a:tc>
              </a:tr>
              <a:tr h="365760">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論理の誤り</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計算や推論を間違える</a:t>
                      </a:r>
                    </a:p>
                  </a:txBody>
                  <a:tcPr marL="63500" marR="63500" marT="38100" marB="38100" anchor="ctr">
                    <a:lnL w="7620">
                      <a:noFill/>
                    </a:lnL>
                    <a:lnR w="7620">
                      <a:noFill/>
                    </a:lnR>
                    <a:lnT w="7620">
                      <a:noFill/>
                    </a:lnT>
                    <a:lnB w="7620">
                      <a:noFill/>
                    </a:lnB>
                    <a:solidFill>
                      <a:srgbClr val="FFFEF8"/>
                    </a:solidFill>
                  </a:tcPr>
                </a:tc>
              </a:tr>
              <a:tr h="365760">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制約違反</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期間・形式などの指定を守らない</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200" b="0">
                <a:solidFill>
                  <a:srgbClr val="303437"/>
                </a:solidFill>
                <a:latin typeface="Noto Sans"/>
              </a:defRPr>
            </a:pPr>
            <a:r>
              <a:rPr sz="3200" b="1" lang="ja-JP" altLang="en-US">
                <a:solidFill>
                  <a:srgbClr val="303437"/>
                </a:solidFill>
                <a:latin typeface="Noto Sans"/>
                <a:ea typeface="Noto Sans CJK JP"/>
                <a:cs typeface="Noto Sans"/>
              </a:rPr>
              <a:t>2. バージョン・実装と評価条件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バージョン・実装と評価条件</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論文バージョン3は、判定器も比較する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バージョン・実装と評価条件</a:t>
            </a:r>
          </a:p>
        </p:txBody>
      </p:sp>
      <p:graphicFrame>
        <p:nvGraphicFramePr>
          <p:cNvPr id="4" name="Table 3"/>
          <p:cNvGraphicFramePr>
            <a:graphicFrameLocks noGrp="1"/>
          </p:cNvGraphicFramePr>
          <p:nvPr/>
        </p:nvGraphicFramePr>
        <p:xfrm>
          <a:off x="548640" y="1508760"/>
          <a:ext cx="8046719" cy="1901952"/>
        </p:xfrm>
        <a:graphic>
          <a:graphicData uri="http://schemas.openxmlformats.org/drawingml/2006/table">
            <a:tbl>
              <a:tblPr firstRow="0" bandRow="0"/>
              <a:tblGrid>
                <a:gridCol w="3749039"/>
                <a:gridCol w="1463040"/>
                <a:gridCol w="1371600"/>
                <a:gridCol w="1463040"/>
              </a:tblGrid>
              <a:tr h="47548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評価対象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Gemini判定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GPT判定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Claude判定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Muse Spark</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82.2%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79.1%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79.6%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Claude Opus 4.7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79.1%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75.1%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74.5%</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Gemini 3.1 Pro Preview</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78.2%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75.8%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76.4%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論文v3、全1,000課題、coverage ≥ 0.75。判定器は順に</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Gemini 3.1 Pro Preview / GPT-5.4 / Claude Opus 4.6。</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合格の閾値を変えると、合格率も変わる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バージョン・実装と評価条件</a:t>
            </a:r>
          </a:p>
        </p:txBody>
      </p:sp>
      <p:graphicFrame>
        <p:nvGraphicFramePr>
          <p:cNvPr id="4" name="Table 3"/>
          <p:cNvGraphicFramePr>
            <a:graphicFrameLocks noGrp="1"/>
          </p:cNvGraphicFramePr>
          <p:nvPr/>
        </p:nvGraphicFramePr>
        <p:xfrm>
          <a:off x="548640" y="1508760"/>
          <a:ext cx="8046719" cy="1901952"/>
        </p:xfrm>
        <a:graphic>
          <a:graphicData uri="http://schemas.openxmlformats.org/drawingml/2006/table">
            <a:tbl>
              <a:tblPr firstRow="0" bandRow="0"/>
              <a:tblGrid>
                <a:gridCol w="3749039"/>
                <a:gridCol w="1463040"/>
                <a:gridCol w="1371600"/>
                <a:gridCol w="1463040"/>
              </a:tblGrid>
              <a:tr h="47548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0.50以上</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0.75以上</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0.90以上</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Muse Spark</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89.6%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82.2%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71.2%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Claude Opus 4.7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89.5%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79.1%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63.2%</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Gemini 3.1 Pro Preview</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90.6%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78.2%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61.8%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論文v3、全1,000課題。各列はcoverageの合格閾値。</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主結果では0.75を使う。</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データと実行環境の利用条件を確認する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問題文・正解条件・参照履歴などの配布データはCC BY 4.0。転載・翻訳では出典と変更内容を示す。</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取得した公開コードのLICENSEはMIT。論文v3のApache 2.0という説明に対し、コードの利用条件は当該リポジトリの実ファイルを確認する。</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実際のMCPサーバーは、それぞれのライセンスと外部APIの利用条件に従う。公開環境では20サーバーが鍵不要、残りはAPIキーやデータ設定が必要。</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バージョン・実装と評価条件</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MCP-Atlas: evaluation harness and instructions. 改訂5c11ac4。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https://github.com/scaleapi/mcp-atlas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200" b="0">
                <a:solidFill>
                  <a:srgbClr val="303437"/>
                </a:solidFill>
                <a:latin typeface="Noto Sans"/>
              </a:defRPr>
            </a:pPr>
            <a:r>
              <a:rPr sz="3200" b="1" lang="ja-JP" altLang="en-US">
                <a:solidFill>
                  <a:srgbClr val="303437"/>
                </a:solidFill>
                <a:latin typeface="Noto Sans"/>
                <a:ea typeface="Noto Sans CJK JP"/>
                <a:cs typeface="Noto Sans"/>
              </a:rPr>
              <a:t>3. 著者と参考文献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著者と参考文献</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Scale AIと研究者が、課題と採点方式を設計した</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共同第一著者はChaithanya BandiとRazvan-Gabriel Dumitru。論文ではBandiの所属をNational University of Singapore、他の著者をScale AIと記載する。</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最終著者はBing Liu。課題、実際のMCPサーバーを使う実行環境、正解条件による評価と失敗診断をまとめて公開した。</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本資料の論文結果は2026年5月19日のv3に基づく。データ配布は2025年12月からの改訂履歴を確認した。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著者と参考文献</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Bandi, Dumitru et al. (2026). MCP-Atlas: A Large-Scale Benchmark for Tool-Use Competency with Real MCP Servers. 論文v3。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https://arxiv.org/abs/2602.00933v3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著者と参考文献</a:t>
            </a:r>
          </a:p>
        </p:txBody>
      </p:sp>
      <p:sp>
        <p:nvSpPr>
          <p:cNvPr id="4" name="文献 1: MCP-Atlas: A Large-Scale Benchmark for Tool-Use Competency with Real MCP Servers"/>
          <p:cNvSpPr txBox="1"/>
          <p:nvPr/>
        </p:nvSpPr>
        <p:spPr>
          <a:xfrm>
            <a:off x="548640" y="1371600"/>
            <a:ext cx="8046720" cy="173736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MCP-Atlas: A Large-Scale Benchmark for Tool-Use Competency with Real MCP Servers</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Chaithanya Bandi, Razvan-Gabriel Dumitru et al. / 2026 / v3</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課題の設計、専門家による検証、正解条件の採点と20モデルの比較。</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https://arxiv.org/abs/2602.00933v3</a:t>
            </a:r>
          </a:p>
        </p:txBody>
      </p:sp>
      <p:sp>
        <p:nvSpPr>
          <p:cNvPr id="5" name="文献 2: MCP-Atlas"/>
          <p:cNvSpPr txBox="1"/>
          <p:nvPr/>
        </p:nvSpPr>
        <p:spPr>
          <a:xfrm>
            <a:off x="548640" y="3337560"/>
            <a:ext cx="8046720" cy="173736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MCP-Atlas</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Scale AI / Hugging Face Datasets / CC BY 4.0 / 改訂8c563b5</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公開500課題の依頼文、ツール、正解条件、参照の操作履歴を配布する。</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https://huggingface.co/datasets/ScaleAI/MCP-Atlas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著者と参考文献</a:t>
            </a:r>
          </a:p>
        </p:txBody>
      </p:sp>
      <p:sp>
        <p:nvSpPr>
          <p:cNvPr id="4" name="文献 1: MCP-Atlas: evaluation harness and instructions"/>
          <p:cNvSpPr txBox="1"/>
          <p:nvPr/>
        </p:nvSpPr>
        <p:spPr>
          <a:xfrm>
            <a:off x="548640" y="1371600"/>
            <a:ext cx="8046720" cy="173736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MCP-Atlas: evaluation harness and instructions</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Scale AI / GitHub / 改訂5c11ac4</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サーバーの設定と、モデル実行・採点・失敗診断の手順を提供する。</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https://github.com/scaleapi/mcp-atlas</a:t>
            </a:r>
          </a:p>
        </p:txBody>
      </p:sp>
      <p:sp>
        <p:nvSpPr>
          <p:cNvPr id="5" name="文献 2: MCP-Atlas: claim-coverage scoring"/>
          <p:cNvSpPr txBox="1"/>
          <p:nvPr/>
        </p:nvSpPr>
        <p:spPr>
          <a:xfrm>
            <a:off x="548640" y="3337560"/>
            <a:ext cx="8046720" cy="173736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MCP-Atlas: claim-coverage scoring</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Scale AI / GitHub / 改訂5c11ac4</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各正解条件の判定を0・0.5・1へ対応させ、充足率と合格率を計算する。</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https://github.com/scaleapi/mcp-atlas/blob/5c11ac4/services/scoring/score_claims.py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著者と参考文献</a:t>
            </a:r>
          </a:p>
        </p:txBody>
      </p:sp>
      <p:sp>
        <p:nvSpPr>
          <p:cNvPr id="4" name="文献 1: MCP-Atlas: Changelog"/>
          <p:cNvSpPr txBox="1"/>
          <p:nvPr/>
        </p:nvSpPr>
        <p:spPr>
          <a:xfrm>
            <a:off x="548640" y="1371600"/>
            <a:ext cx="8046720" cy="173736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MCP-Atlas: Changelog</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Scale AI / Agent harness v2.0.0 / 改訂5c11ac4</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実行プログラムのTypeScriptへの移行と、採点・診断機能を説明する。</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https://github.com/scaleapi/mcp-atlas/blob/5c11ac4/CHANGELOG.md</a:t>
            </a:r>
          </a:p>
        </p:txBody>
      </p:sp>
      <p:sp>
        <p:nvSpPr>
          <p:cNvPr id="5" name="文献 2: Gemini 3.1 Pro"/>
          <p:cNvSpPr txBox="1"/>
          <p:nvPr/>
        </p:nvSpPr>
        <p:spPr>
          <a:xfrm>
            <a:off x="548640" y="3337560"/>
            <a:ext cx="8046720" cy="173736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Gemini 3.1 Pro</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Google DeepMind / 2026 / Model performance</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MCP Atlasを含む、現行モデルの公式比較と推論設定を掲載する。</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https://deepmind.google/models/gemini/pro/</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佐々木　悠太</cp:lastModifiedBy>
  <cp:revision>500</cp:revision>
  <dcterms:modified xsi:type="dcterms:W3CDTF">2026-10-13T12:49:59Z</dcterms:modified>
  <dc:title>MCP Atlas — datasets in 10 minutes</dc:title>
  <dc:creator>sasakiy84</dc:creator>
  <dc:subject>複数ツールの選択、MCPサーバー連携、正解条件による採点</dc:subject>
  <cp:keywords>MCP Atlas,MCP,tool use,dataset</cp:keywords>
</cp:coreProperties>
</file>