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7"/>
    <p:sldId id="308" r:id="rId59"/>
    <p:sldId id="309" r:id="rId60"/>
    <p:sldId id="257" r:id="rId8"/>
    <p:sldId id="258" r:id="rId9"/>
    <p:sldId id="259" r:id="rId6"/>
    <p:sldId id="260" r:id="rId5"/>
    <p:sldId id="261" r:id="rId4"/>
    <p:sldId id="262" r:id="rId3"/>
    <p:sldId id="310" r:id="rId61"/>
    <p:sldId id="263" r:id="rId2"/>
    <p:sldId id="264" r:id="rId15"/>
    <p:sldId id="265" r:id="rId16"/>
    <p:sldId id="266" r:id="rId17"/>
    <p:sldId id="267" r:id="rId18"/>
    <p:sldId id="268" r:id="rId19"/>
    <p:sldId id="320" r:id="rId70"/>
    <p:sldId id="314" r:id="rId10"/>
    <p:sldId id="311" r:id="rId62"/>
    <p:sldId id="269" r:id="rId20"/>
    <p:sldId id="270" r:id="rId21"/>
    <p:sldId id="299" r:id="rId50"/>
    <p:sldId id="271" r:id="rId22"/>
    <p:sldId id="312" r:id="rId63"/>
    <p:sldId id="272" r:id="rId23"/>
    <p:sldId id="273" r:id="rId24"/>
    <p:sldId id="274" r:id="rId25"/>
    <p:sldId id="313" r:id="rId64"/>
    <p:sldId id="275" r:id="rId26"/>
    <p:sldId id="276" r:id="rId27"/>
    <p:sldId id="277" r:id="rId28"/>
    <p:sldId id="278" r:id="rId29"/>
    <p:sldId id="315" r:id="rId65"/>
    <p:sldId id="316" r:id="rId66"/>
    <p:sldId id="317" r:id="rId67"/>
    <p:sldId id="318" r:id="rId68"/>
    <p:sldId id="319" r:id="rId6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321" r:id="rId7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22" r:id="rId7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9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18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3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9.xml"/><Relationship Id="rId27" Type="http://schemas.openxmlformats.org/officeDocument/2006/relationships/slide" Target="slides/slide30.xml"/><Relationship Id="rId28" Type="http://schemas.openxmlformats.org/officeDocument/2006/relationships/slide" Target="slides/slide31.xml"/><Relationship Id="rId29" Type="http://schemas.openxmlformats.org/officeDocument/2006/relationships/slide" Target="slides/slide32.xml"/><Relationship Id="rId30" Type="http://schemas.openxmlformats.org/officeDocument/2006/relationships/slide" Target="slides/slide38.xml"/><Relationship Id="rId31" Type="http://schemas.openxmlformats.org/officeDocument/2006/relationships/slide" Target="slides/slide39.xml"/><Relationship Id="rId32" Type="http://schemas.openxmlformats.org/officeDocument/2006/relationships/slide" Target="slides/slide40.xml"/><Relationship Id="rId33" Type="http://schemas.openxmlformats.org/officeDocument/2006/relationships/slide" Target="slides/slide41.xml"/><Relationship Id="rId34" Type="http://schemas.openxmlformats.org/officeDocument/2006/relationships/slide" Target="slides/slide42.xml"/><Relationship Id="rId35" Type="http://schemas.openxmlformats.org/officeDocument/2006/relationships/slide" Target="slides/slide43.xml"/><Relationship Id="rId36" Type="http://schemas.openxmlformats.org/officeDocument/2006/relationships/slide" Target="slides/slide44.xml"/><Relationship Id="rId37" Type="http://schemas.openxmlformats.org/officeDocument/2006/relationships/slide" Target="slides/slide45.xml"/><Relationship Id="rId38" Type="http://schemas.openxmlformats.org/officeDocument/2006/relationships/slide" Target="slides/slide46.xml"/><Relationship Id="rId39" Type="http://schemas.openxmlformats.org/officeDocument/2006/relationships/slide" Target="slides/slide47.xml"/><Relationship Id="rId40" Type="http://schemas.openxmlformats.org/officeDocument/2006/relationships/slide" Target="slides/slide48.xml"/><Relationship Id="rId41" Type="http://schemas.openxmlformats.org/officeDocument/2006/relationships/slide" Target="slides/slide49.xml"/><Relationship Id="rId42" Type="http://schemas.openxmlformats.org/officeDocument/2006/relationships/slide" Target="slides/slide51.xml"/><Relationship Id="rId43" Type="http://schemas.openxmlformats.org/officeDocument/2006/relationships/slide" Target="slides/slide52.xml"/><Relationship Id="rId44" Type="http://schemas.openxmlformats.org/officeDocument/2006/relationships/slide" Target="slides/slide53.xml"/><Relationship Id="rId45" Type="http://schemas.openxmlformats.org/officeDocument/2006/relationships/slide" Target="slides/slide54.xml"/><Relationship Id="rId46" Type="http://schemas.openxmlformats.org/officeDocument/2006/relationships/slide" Target="slides/slide55.xml"/><Relationship Id="rId47" Type="http://schemas.openxmlformats.org/officeDocument/2006/relationships/slide" Target="slides/slide56.xml"/><Relationship Id="rId48" Type="http://schemas.openxmlformats.org/officeDocument/2006/relationships/slide" Target="slides/slide57.xml"/><Relationship Id="rId49" Type="http://schemas.openxmlformats.org/officeDocument/2006/relationships/slide" Target="slides/slide58.xml"/><Relationship Id="rId50" Type="http://schemas.openxmlformats.org/officeDocument/2006/relationships/slide" Target="slides/slide22.xml"/><Relationship Id="rId51" Type="http://schemas.openxmlformats.org/officeDocument/2006/relationships/slide" Target="slides/slide59.xml"/><Relationship Id="rId52" Type="http://schemas.openxmlformats.org/officeDocument/2006/relationships/slide" Target="slides/slide60.xml"/><Relationship Id="rId53" Type="http://schemas.openxmlformats.org/officeDocument/2006/relationships/slide" Target="slides/slide61.xml"/><Relationship Id="rId54" Type="http://schemas.openxmlformats.org/officeDocument/2006/relationships/slide" Target="slides/slide62.xml"/><Relationship Id="rId55" Type="http://schemas.openxmlformats.org/officeDocument/2006/relationships/slide" Target="slides/slide63.xml"/><Relationship Id="rId56" Type="http://schemas.openxmlformats.org/officeDocument/2006/relationships/slide" Target="slides/slide64.xml"/><Relationship Id="rId57" Type="http://schemas.openxmlformats.org/officeDocument/2006/relationships/slide" Target="slides/slide65.xml"/><Relationship Id="rId58" Type="http://schemas.openxmlformats.org/officeDocument/2006/relationships/slide" Target="slides/slide66.xml"/><Relationship Id="rId59" Type="http://schemas.openxmlformats.org/officeDocument/2006/relationships/slide" Target="slides/slide2.xml"/><Relationship Id="rId60" Type="http://schemas.openxmlformats.org/officeDocument/2006/relationships/slide" Target="slides/slide3.xml"/><Relationship Id="rId61" Type="http://schemas.openxmlformats.org/officeDocument/2006/relationships/slide" Target="slides/slide10.xml"/><Relationship Id="rId62" Type="http://schemas.openxmlformats.org/officeDocument/2006/relationships/slide" Target="slides/slide19.xml"/><Relationship Id="rId63" Type="http://schemas.openxmlformats.org/officeDocument/2006/relationships/slide" Target="slides/slide24.xml"/><Relationship Id="rId64" Type="http://schemas.openxmlformats.org/officeDocument/2006/relationships/slide" Target="slides/slide28.xml"/><Relationship Id="rId65" Type="http://schemas.openxmlformats.org/officeDocument/2006/relationships/slide" Target="slides/slide33.xml"/><Relationship Id="rId66" Type="http://schemas.openxmlformats.org/officeDocument/2006/relationships/slide" Target="slides/slide34.xml"/><Relationship Id="rId67" Type="http://schemas.openxmlformats.org/officeDocument/2006/relationships/slide" Target="slides/slide35.xml"/><Relationship Id="rId68" Type="http://schemas.openxmlformats.org/officeDocument/2006/relationships/slide" Target="slides/slide36.xml"/><Relationship Id="rId69" Type="http://schemas.openxmlformats.org/officeDocument/2006/relationships/slide" Target="slides/slide37.xml"/><Relationship Id="rId70" Type="http://schemas.openxmlformats.org/officeDocument/2006/relationships/slide" Target="slides/slide17.xml"/><Relationship Id="rId71" Type="http://schemas.openxmlformats.org/officeDocument/2006/relationships/slide" Target="slides/slide50.xml"/><Relationship Id="rId72" Type="http://schemas.openxmlformats.org/officeDocument/2006/relationships/slide" Target="slides/slide6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•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•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■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ts val="2200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■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■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18.png"/><Relationship Id="rId4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image" Target="../media/image19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20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Relationship Id="rId3" Type="http://schemas.openxmlformats.org/officeDocument/2006/relationships/image" Target="../media/image2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097280"/>
            <a:ext cx="8229600" cy="2240280"/>
          </a:xfrm>
        </p:spPr>
        <p:txBody>
          <a:bodyPr wrap="none" lIns="0" rIns="0" tIns="0" bIns="0" anchor="ctr"/>
          <a:lstStyle/>
          <a:p>
            <a:pPr algn="ctr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defRPr sz="3400" b="0" lang="ja-JP">
                <a:latin typeface="Noto Sans"/>
                <a:ea typeface="Noto Sans CJK JP"/>
                <a:cs typeface="Noto Sans"/>
              </a:defRPr>
            </a:pPr>
            <a:r>
              <a:rPr sz="3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画像認識用データセット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ts val="7800"/>
              </a:lnSpc>
              <a:spcBef>
                <a:spcPts val="0"/>
              </a:spcBef>
              <a:spcAft>
                <a:spcPts val="0"/>
              </a:spcAft>
              <a:defRPr sz="5800" b="0" lang="ja-JP">
                <a:latin typeface="Noto Sans"/>
                <a:ea typeface="Noto Sans CJK JP"/>
                <a:cs typeface="Noto Sans"/>
              </a:defRPr>
            </a:pPr>
            <a:r>
              <a:rPr sz="6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ImageNet-1k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b="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本編の構成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ImageNetの構成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1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概要とタスク</a:t>
            </a:r>
            <a:endParaRPr sz="28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2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作成方法と規模</a:t>
            </a:r>
            <a:endParaRPr sz="28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3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評価と性能</a:t>
            </a:r>
            <a:endParaRPr sz="28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4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利用の変遷と現在</a:t>
            </a:r>
            <a:endParaRPr sz="28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5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入手方法とまとめ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概要とタスク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ImageNetの公式サイト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ImageNetの概要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official-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6172"/>
            <a:ext cx="8046720" cy="2779776"/>
          </a:xfrm>
          <a:prstGeom prst="rect">
            <a:avLst/>
          </a:prstGeom>
        </p:spPr>
      </p:pic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ImageNet公式サイト. https://www.image-net.org/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ImageNet全体と1,000クラス版を区別する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ImageNetの概要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ImageNetは、物体の概念に画像を対応させたデータである。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2009年に、画像認識の国際会議CVPRで発表された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2014年時点で14,197,122枚・21,841カテゴリだった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画像認識の評価大会であるILSVRCでは一部を利用する。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2012年の画像分類用データは1,000クラスである。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Deng et al. (2009), CVPR. https://image-net.org/static_files/papers/imagenet_cvpr09.pdf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Russakovsky et al. (2015), §1.1. https://arxiv.org/abs/1409.0575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画像から物体のクラスを予測する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画像分類の実例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ILSVRC2012_val_0000911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正解はテンチ（淡水魚）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tench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釣り具や袋も写る画像から、魚の種類を分類する。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Imagenette. https://github.com/fastai/imagenette　画像ID ILSVRC2012_val_00009111.JPEG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1,000カテゴリには生物と人工物が含まれる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ImageNetのカテゴリの見取り図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26464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800" lang="ja-JP">
                <a:latin typeface="Noto Sans"/>
                <a:ea typeface="Noto Sans CJK JP"/>
                <a:cs typeface="Noto Sans"/>
              </a:defRPr>
            </a:pPr>
            <a:r>
              <a:rPr sz="1800" lang="ja-JP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哺乳類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1700784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ミーアキャット・アシカ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800" lang="ja-JP">
                <a:latin typeface="Noto Sans"/>
                <a:ea typeface="Noto Sans CJK JP"/>
                <a:cs typeface="Noto Sans"/>
              </a:defRPr>
            </a:pPr>
            <a:r>
              <a:rPr sz="1800" lang="ja-JP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鳥類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4360" y="2286000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クジャク・フラミンゴ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596896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800" lang="ja-JP">
                <a:latin typeface="Noto Sans"/>
                <a:ea typeface="Noto Sans CJK JP"/>
                <a:cs typeface="Noto Sans"/>
              </a:defRPr>
            </a:pPr>
            <a:r>
              <a:rPr sz="1800" lang="ja-JP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爬虫類と両生類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2871215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アマガエル・アホロートル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3182112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800" lang="ja-JP">
                <a:latin typeface="Noto Sans"/>
                <a:ea typeface="Noto Sans CJK JP"/>
                <a:cs typeface="Noto Sans"/>
              </a:defRPr>
            </a:pPr>
            <a:r>
              <a:rPr sz="1800" lang="ja-JP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魚類と水生無脊椎動物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3456432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ウニ・ナマコ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3767328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800" lang="ja-JP">
                <a:latin typeface="Noto Sans"/>
                <a:ea typeface="Noto Sans CJK JP"/>
                <a:cs typeface="Noto Sans"/>
              </a:defRPr>
            </a:pPr>
            <a:r>
              <a:rPr sz="1800" lang="ja-JP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昆虫と陸生節足動物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" y="4041648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オオカバマダラ・サソリ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754880" y="1426464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800" lang="ja-JP">
                <a:latin typeface="Noto Sans"/>
                <a:ea typeface="Noto Sans CJK JP"/>
                <a:cs typeface="Noto Sans"/>
              </a:defRPr>
            </a:pPr>
            <a:r>
              <a:rPr sz="1800" lang="ja-JP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乗り物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754880" y="1700784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新幹線・コンテナ船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754880" y="2011680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800" lang="ja-JP">
                <a:latin typeface="Noto Sans"/>
                <a:ea typeface="Noto Sans CJK JP"/>
                <a:cs typeface="Noto Sans"/>
              </a:defRPr>
            </a:pPr>
            <a:r>
              <a:rPr sz="1800" lang="ja-JP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電子機器と機械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754880" y="2286000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カセットプレーヤー・ミシン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54880" y="2596896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800" lang="ja-JP">
                <a:latin typeface="Noto Sans"/>
                <a:ea typeface="Noto Sans CJK JP"/>
                <a:cs typeface="Noto Sans"/>
              </a:defRPr>
            </a:pPr>
            <a:r>
              <a:rPr sz="1800" lang="ja-JP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衣類と生活用品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754880" y="2871215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マグカップ・フライパン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3182112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800" lang="ja-JP">
                <a:latin typeface="Noto Sans"/>
                <a:ea typeface="Noto Sans CJK JP"/>
                <a:cs typeface="Noto Sans"/>
              </a:defRPr>
            </a:pPr>
            <a:r>
              <a:rPr sz="1800" lang="ja-JP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建物と構造物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754880" y="3456432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ダム・温室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3767328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800" lang="ja-JP">
                <a:latin typeface="Noto Sans"/>
                <a:ea typeface="Noto Sans CJK JP"/>
                <a:cs typeface="Noto Sans"/>
              </a:defRPr>
            </a:pPr>
            <a:r>
              <a:rPr sz="1800" lang="ja-JP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食品と農作物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754880" y="4041648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キュウリ・パプリカ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ILSVRC 2012公式devkit. https://image-net.org/challenges/LSVRC/2012/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1,000カテゴリから100カテゴリを選び、説明用の10分野へ整理。日本語名は英語ラベルの訳。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正解の物体が小さく写る場合もある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画像分類の実例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ILSVRC2012_val_0000816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正解はゴルフボール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golf ball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芝や旗が大きく写り、対象のボールは画面の一部を占める。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Imagenette. https://github.com/fastai/imagenette　画像ID ILSVRC2012_val_00008161.JPEG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大量の画像を学習と評価に使うために作られた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ImageNetの開発背景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当時は学習に使える注釈画像が不足していた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画像分類用のCaltech 101は101クラスだった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それに対し、2009年のImageNetは約320万枚・5,247カテゴリだった。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原著は、規模・多様性・正確さ・階層構造を特徴とした。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ImageNetの更新説明 (2021). https://www.image-net.org/update-mar-11-2021.php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Deng et al. (2009), §1–2. https://image-net.org/static_files/papers/imagenet_cvpr09.pdf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 作成方法と規模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同義語の集合を単位にカテゴリを作る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ImageNetのカテゴリ設計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英語の概念を階層化したWordNetを利用する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同じ概念を表す語の集合であるsynsetがカテゴリの単位となる。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tenchとTinca tincaは同じ淡水魚のカテゴリを表す。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カテゴリにはn01440764のようなWordNet IDがある。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ImageNet-1kには120種類の犬も含まれる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Deng et al. (2009), CVPR. https://image-net.org/static_files/papers/imagenet_cvpr09.pdf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Russakovsky et al. (2015), §3.1. https://arxiv.org/abs/1409.0575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検索語を広げて候補画像を収集した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ImageNetの収集方法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200" b="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画像検索では、カテゴリの同義語を検索語に使った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上位概念を検索語に加え、意味の曖昧さを減らした。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犬種名のwhippetだけでなく、whippet dogも使った。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中国語・スペイン語・オランダ語・イタリア語にも検索語を広げた。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重複除去後も、候補はカテゴリ当たり平均1万枚を超えた。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Deng et al. (2009), CVPR. https://image-net.org/static_files/papers/imagenet_cvpr09.pdf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作業者は対象の物体が写っているかを判定した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ImageNetの注釈方法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200" b="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有償作業のAmazon Mechanical Turkを使った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候補画像とカテゴリの定義を作業者に提示した。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対象物を含む画像を選ぶよう指示した。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遮蔽・複数物体・混雑した背景も対象に含めた。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見やすい単独物体だけに限定しなかった。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Deng et al. (2009), CVPR. https://image-net.org/static_files/papers/imagenet_cvpr09.pdf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カテゴリごとに必要な合意数を調整した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ImageNetの品質確認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200" b="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初期サンプルでは、各画像を10人以上が判定した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投票結果から、対象物が含まれる確からしさの表を作った。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その後の画像は、カテゴリごとの確信度の閾値に達するまで判定した。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一般的なcatとBurmese catでは、必要な合意数が異なる。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Deng et al. (2009), CVPR. https://image-net.org/static_files/papers/imagenet_cvpr09.pdf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ILSVRC 2012の画像分類用データ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ImageNet-1kの規模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743200"/>
                <a:gridCol w="237744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4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クラス数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1,281,167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検証用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50,000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大会テスト用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100,000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97960"/>
            <a:ext cx="7955279" cy="6289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検証用は各クラス50枚、大会テスト用は各クラス100枚。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Russakovsky et al. (2015), IJCV. https://arxiv.org/abs/1409.0575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1,300枚の学習画像があるカテゴリは895種類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ImageNet-1kの規模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imagenet-cou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全1,000カテゴリのうち、105カテゴリは1,300枚未満 [1]。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ILSVRC 2012公式devkit, meta.mat. https://image-net.org/challenges/LSVRC/2012/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学習画像が800枚未満のカテゴリは5種類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ImageNet-1kの規模</a:t>
            </a:r>
          </a:p>
        </p:txBody>
      </p:sp>
      <p:pic>
        <p:nvPicPr>
          <p:cNvPr id="4" name="Picture 3" descr="imagenet-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1,300枚未満の105カテゴリを表示。1,000枚未満は19カテゴリ [1]。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ILSVRC 2012公式devkit, meta.mat. https://image-net.org/challenges/LSVRC/2012/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学習画像が1,000枚未満のカテゴリは19種類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ImageNetの少数カテゴリ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7920"/>
                <a:gridCol w="1828800"/>
              </a:tblGrid>
              <a:tr h="56007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最少側の3カテゴリ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学習画像数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6007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black-and-tan coonhound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732枚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007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otterhound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738枚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007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English foxhound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754枚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>
            <p:ph type="body" idx="1"/>
          </p:nvPr>
        </p:nvSpPr>
        <p:spPr>
          <a:xfrm>
            <a:off x="594360" y="3931920"/>
            <a:ext cx="7955279" cy="59436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最小732枚は、最大1,300枚の約56%となる。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学習枚数とカテゴリ別正解率を対応させて、少数側の性能を確認する。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ILSVRC 2012公式devkitのmeta.mat全1,000カテゴリを集計. https://image-net.org/challenges/LSVRC/2012/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評価と性能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評価にはTop-1とTop-5の正解率を使う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ImageNetの評価方法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200" b="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Top-1は最上位の予測が正解と一致した割合である。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Top-5は上位5予測に正解が含まれた割合である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正解がtenchで2位なら、Top-1は0、Top-5は1となる。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画像ごとの0・1を平均し、正解率を百分率で示す。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誤り率は100%から正解率を引く。大会では誤り率も使った。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ILSVRC 2012, Task 1. https://image-net.org/challenges/LSVRC/2012/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2012年は畳み込みネットワークが成績を伸ばした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ImageNetと認識モデルの発展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560320"/>
                <a:gridCol w="25146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大会の提出システム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追加学習データ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Top-5誤り率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ISI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なし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26.2%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SuperVision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なし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16.4%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SuperVision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Fall 2011版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15.3%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32200"/>
            <a:ext cx="7955279" cy="994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SuperVisionは、畳み込みネットワークAlexNetを用いたシステム [1]。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Russakovsky et al. (2015), Table 5. https://arxiv.org/abs/1409.0575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2016年のResNet原著の評価結果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ImageNetの評価と性能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377440"/>
                <a:gridCol w="237744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 </a:t>
                      </a:r>
                      <a:r>
                        <a:rPr sz="24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Top-1誤り率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Top-5誤り率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ResNet-50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22.85%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6.71%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ResNet-101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21.75%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6.05%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ResNet-152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21.43%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5.71%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97960"/>
            <a:ext cx="7955279" cy="6289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残差接続を用いるResNetの、10クロップ評価による値。同じ画像から10領域を切り出し、予測をまとめる。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He et al. (2016), CVPR, Table 3. https://arxiv.org/abs/1512.03385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2025年もImageNetで画像特徴を評価している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近年のImageNetの利用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880360"/>
                <a:gridCol w="242316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特徴モデル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学習方式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DINOv3 7B/16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自己教師あり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88.4%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SigLIP 2 g/16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画像とテキスト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PEcore G/14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画像とテキスト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32200"/>
            <a:ext cx="7955279" cy="994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特徴モデルを固定し、ImageNetの学習用で線形分類器を学習する。検証用で条件を選び、同じ検証用で評価する。入力解像度は異なる。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Siméoni et al. (2025), DINOv3, Table 7. https://arxiv.org/abs/2508.10104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 利用の変遷と現在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分類の高い正解率だけでは汎用性を示せない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ImageNetの限界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1,000クラス分類は、画像の意味全体を説明しない。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対象物より背景の手がかりを使う可能性がある。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複数物体が写っても、通常の正解は1クラスである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そこでImageNet-ReaLは正解ラベルを見直した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既存の検証画像に、複数の妥当なラベルを付け直す。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別の画像集合や撮影条件では、成績が変わる。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ILSVRC 2012, Task 1. https://image-net.org/challenges/LSVRC/2012/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Beyer et al. (2020). https://arxiv.org/abs/2006.07159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後続データは分類以外の認識にも広がった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関連データセットの動向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先行する物体認識データPASCAL VOCがあった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。2012年版は20クラスを扱った。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それに対しILSVRC 2012は1,000クラスで、50倍だった。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その後、複数物体を注釈するCOCOが登場した。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検出・領域分割のために、物体の位置と画素の領域を示す。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一方、場面を分類するPlacesは屋内外の認識を目的とした。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Russakovsky et al. (2015), IJCV. https://arxiv.org/abs/1409.0575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別の画像や描画で頑健性を調べる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ImageNetを補う評価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ImageNetV2は同じ1,000クラスで画像を再収集した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ts val="2000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別に集めた画像で、既存の検証画像への適合を調べる。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その後、絵画のImageNet-Rや、画像を劣化させたImageNet-Cも作られた [2]。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2025年のDINOv3論文も、これらで汎化性能を調べている。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2026年も公開実装に、ImageNetでの評価手順がある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Recht et al. (2019). https://github.com/modestyachts/ImageNetV2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DINOv3の論文・公開実装. https://github.com/facebookresearch/dinov3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 入手方法とまとめ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公式サイトから必要な版を入手する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ImageNetの入手方法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200" b="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画像認識大会ILSVRCの2012年・1,000クラス分類用データは、Kaggleで入手できる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ImageNet全体とその他のサブセットには、ログインと利用条件への同意が必要となる。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入手する版、ラベルとクラス順序、利用条件を確認する。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小規模な10クラス版Imagenetteも使える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ImageNet Download. https://www.image-net.org/download.php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Imagenette. https://github.com/fastai/imagenette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ImageNetは画像認識の学習と評価を支えてきた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ImageNetのまとめ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500" b="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ImageNetは物体認識用の画像データベースである。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2009年に発表され、多数の画像を人手で確認した。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ImageNet-1kはILSVRCの1,000クラス分類用である。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Top-1・Top-5と、学習・評価条件を区別する。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現在は特徴評価にも使い、汎化は別画像で調べる。</a:t>
            </a:r>
            <a:endParaRPr sz="25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Appendixの目次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補足資料の構成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7955279" cy="3337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AutoNum type="arabicPeriod" startAt="1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著者と発表先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marL="533400" indent="-3810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AutoNum type="arabicPeriod" startAt="2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カテゴリの見取り図</a:t>
            </a:r>
          </a:p>
          <a:p>
            <a:pPr marL="533400" indent="-3810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AutoNum type="arabicPeriod" startAt="3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画像の追加例</a:t>
            </a:r>
          </a:p>
          <a:p>
            <a:pPr marL="533400" indent="-3810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AutoNum type="arabicPeriod" startAt="4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ImageNet-1kの学習画像数</a:t>
            </a:r>
          </a:p>
          <a:p>
            <a:pPr marL="533400" indent="-3810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AutoNum type="arabicPeriod" startAt="5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Imagenetteの画像サイズ</a:t>
            </a:r>
          </a:p>
          <a:p>
            <a:pPr marL="533400" indent="-3810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AutoNum type="arabicPeriod" startAt="6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モデル評価と前処理</a:t>
            </a:r>
          </a:p>
          <a:p>
            <a:pPr marL="533400" indent="-3810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AutoNum type="arabicPeriod" startAt="7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入手コードと参考文献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ImageNetを発表した著者と発表先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 著者と発表先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原著は2009年のCVPRで発表された [1]。</a:t>
            </a:r>
            <a:endParaRPr sz="1900" lang="ja-JP">
              <a:latin typeface="Noto Sans"/>
              <a:ea typeface="Noto Sans CJK JP"/>
              <a:cs typeface="Noto Sans"/>
            </a:endParaRPr>
          </a:p>
          <a:p>
            <a:pPr lvl="0" marL="457200" indent="-355600">
              <a:buSzPts val="2000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第一著者のJia Dengは、画像認識とImageNet・ILSVRCを研究した。</a:t>
            </a:r>
          </a:p>
          <a:p>
            <a:pPr lvl="0" marL="457200" indent="-355600">
              <a:buSzPts val="2000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最終著者のLi Fei-Feiは、物体認識とCaltech 101を研究した。</a:t>
            </a:r>
          </a:p>
          <a:p>
            <a:pPr lvl="0" marL="457200" indent="-355600">
              <a:buSzPts val="2000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発表当時の所属はPrinceton大学だった。原著は2019年にPAMI Longuet-Higgins Prizeを受賞した [2]。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Deng et al. (2009), CVPR. https://image-net.org/static_files/papers/imagenet_cvpr09.pdf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ImageNet About. https://www.image-net.org/about.php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哺乳類と鳥類のカテゴリ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カテゴリの見取り図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哺乳類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シベリアンハスキー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436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グレートデーン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ペルシャネコ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エジプシャンマウ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アフリカゾウ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9436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ガゼル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9436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シマウマ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9436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ジャイアントパンダ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9436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ミーアキャット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9436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アシカ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75488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鳥類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ダチョウ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ゴシキヒワ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メキシコマシコ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ユキヒメドリ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コマツグミ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カササギ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ハクトウワシ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488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ハゲワシ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5488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クジャク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75488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フラミンゴ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ILSVRC 2012公式devkit. https://image-net.org/challenges/LSVRC/2012/
日本語名は英語ラベルの訳。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94360" y="4315968"/>
            <a:ext cx="7955279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各グループから選んだカテゴリの例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787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爬虫類と両生類と魚類と水生無脊椎動物のカテゴリ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カテゴリの見取り図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爬虫類と両生類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アカウミガメ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436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オサガメ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ハコガメ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イグアナ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コモドオオトカゲ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9436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ミシシッピワニ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9436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ボアコンストリクター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9436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インドコブラ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9436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アマガエル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9436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アホロートル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75488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魚類と水生無脊椎動物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テンチ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キンギョ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ホホジロザメ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イタチザメ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シュモクザメ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アカエイ類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クラゲ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488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イソギンチャク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5488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ウニ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75488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ナマコ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ILSVRC 2012公式devkit. https://image-net.org/challenges/LSVRC/2012/
日本語名は英語ラベルの訳。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94360" y="4315968"/>
            <a:ext cx="7955279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各グループから選んだカテゴリの例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昆虫と陸生節足動物と乗り物のカテゴリ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カテゴリの見取り図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昆虫と陸生節足動物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テントウムシ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436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カブトムシ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ハチ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バッタ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コオロギ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9436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カマキリ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9436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セミ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9436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トンボ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9436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オオカバマダラ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9436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サソリ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75488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乗り物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旅客機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軍用機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飛行船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タンデム自転車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マウンテンバイク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スポーツカー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ミニバン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488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スクールバス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5488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新幹線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75488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コンテナ船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ILSVRC 2012公式devkit. https://image-net.org/challenges/LSVRC/2012/
日本語名は英語ラベルの訳。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94360" y="4315968"/>
            <a:ext cx="7955279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各グループから選んだカテゴリの例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電子機器と機械と衣類と生活用品のカテゴリ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カテゴリの見取り図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電子機器と機械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デスクトップPC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436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ノートPC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キーボード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マウス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モニター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9436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携帯電話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9436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テレビ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9436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ラジオ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9436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カセットプレーヤー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9436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ミシン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75488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衣類と生活用品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着物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ジーンズ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カーディガン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スウェットシャツ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ランニングシューズ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リュックサック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傘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488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枕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5488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マグカップ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75488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フライパン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ILSVRC 2012公式devkit. https://image-net.org/challenges/LSVRC/2012/
日本語名は英語ラベルの訳。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94360" y="4315968"/>
            <a:ext cx="7955279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各グループから選んだカテゴリの例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建物と構造物と食品と農作物のカテゴリ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カテゴリの見取り図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建物と構造物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教会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436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モスク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宮殿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城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図書館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9436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プラネタリウム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9436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灯台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9436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吊り橋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9436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ダム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9436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温室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75488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食品と農作物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ピザ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チーズバーガー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ホットドッグ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ブリトー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ベーグル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プレッツェル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アイスクリーム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488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ブロッコリー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5488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キュウリ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75488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パプリカ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ILSVRC 2012公式devkit. https://image-net.org/challenges/LSVRC/2012/
日本語名は英語ラベルの訳。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94360" y="4315968"/>
            <a:ext cx="7955279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各グループから選んだカテゴリの例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オオカバマダラの画像例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画像の追加例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200" b="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正解はオオカバマダラ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900" b="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monarch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花に止まるチョウを分類する。植物も写るが、正解はチョウの種類である。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9" name="Picture 8" descr="n02279972_monarch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96141"/>
            <a:ext cx="3474720" cy="2439253"/>
          </a:xfrm>
          <a:prstGeom prst="rect">
            <a:avLst/>
          </a:prstGeom>
        </p:spPr>
      </p:pic>
      <p:sp>
        <p:nvSpPr>
          <p:cNvPr id="10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ImageNetカテゴリの画像例. https://github.com/EliSchwartz/imagenet-sample-images
画像ID n02279972_monarch.JPEG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イングリッシュ・スプリンガーの画像例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画像の追加例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ILSVRC2012_val_0000465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正解はスプリンガー犬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English springer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犬種を表すクラスである。犬という上位概念より、細かな区別を求める。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Imagenette. https://github.com/fastai/imagenette　画像ID ILSVRC2012_val_00004650.JPEG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カセットプレーヤーの画像例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画像の追加例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ILSVRC2012_val_000086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正解はカセットプレーヤー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cassette player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装置の正面だけでなく、周囲の構造も写っている。ラベルはcassette playerである。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Imagenette. https://github.com/fastai/imagenette　画像ID ILSVRC2012_val_00008651.JPEG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チェーンソーの画像例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画像の追加例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ILSVRC2012_val_0000426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828" y="1426464"/>
            <a:ext cx="3153822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正解はチェーンソー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chain saw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作業者と樹木が写る画像で、chain sawを正解とする。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Imagenette. https://github.com/fastai/imagenette　画像ID ILSVRC2012_val_00004262.JPEG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教会の画像例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画像の追加例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ILSVRC2012_val_000033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690" y="1426464"/>
            <a:ext cx="262009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正解は教会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church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低い照度の画像も含む。写真全体の明るさと、建造物のクラスは別の特徴である。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Imagenette. https://github.com/fastai/imagenette　画像ID ILSVRC2012_val_00003351.JPEG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フレンチホルンの画像例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画像の追加例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ILSVRC2012_val_0000149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568" y="1426464"/>
            <a:ext cx="3202343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正解はフレンチホルン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French horn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楽器の一部分が大きく写る。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Imagenette. https://github.com/fastai/imagenette　画像ID ILSVRC2012_val_00001492.JPEG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ごみ収集車の画像例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画像の追加例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ILSVRC2012_val_0000221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正解はごみ収集車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garbage truck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車両と周囲の道路が写る。車両の役割を表す細かなクラス名が付いている。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Imagenette. https://github.com/fastai/imagenette　画像ID ILSVRC2012_val_00002210.JPEG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ガソリンポンプの画像例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画像の追加例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ILSVRC2012_val_0000073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9814" y="1426464"/>
            <a:ext cx="1943851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正解はガソリンポンプ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gas pump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入力には縦長の写真も含まれる。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Imagenette. https://github.com/fastai/imagenette　画像ID ILSVRC2012_val_00000732.JPEG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プラネタリウムの画像例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画像の追加例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200" b="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正解はプラネタリウム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900" b="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planetarium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建物の外観に加えて、室内の投影機が写る画像もこのカテゴリに含まれる。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9" name="Picture 8" descr="n03956157_planetarium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426464"/>
            <a:ext cx="3438144" cy="2578608"/>
          </a:xfrm>
          <a:prstGeom prst="rect">
            <a:avLst/>
          </a:prstGeom>
        </p:spPr>
      </p:pic>
      <p:sp>
        <p:nvSpPr>
          <p:cNvPr id="10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ImageNetカテゴリの画像例. https://github.com/EliSchwartz/imagenet-sample-images
画像ID n03956157_planetarium.JPEG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パラシュートの画像例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画像の追加例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ILSVRC2012_val_0000144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正解はパラシュート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parachute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人も写るが、クラスはparachuteである。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Imagenette. https://github.com/fastai/imagenette　画像ID ILSVRC2012_val_00001440.JPEG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1,000クラスの学習画像数を集計した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ImageNet-1kの学習画像数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17320"/>
                <a:gridCol w="1051560"/>
                <a:gridCol w="1371600"/>
                <a:gridCol w="1097280"/>
                <a:gridCol w="128016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SD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中央値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1,000クラス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1,281.2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70.2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626360"/>
            <a:ext cx="7955279" cy="20005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600" b="0" lang="ja-JP">
                <a:latin typeface="Noto Sans"/>
                <a:ea typeface="Noto Sans CJK JP"/>
                <a:cs typeface="Noto Sans"/>
              </a:defRPr>
            </a:pPr>
            <a:r>
              <a:rPr sz="16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単位はクラス当たりの画像枚数。SDは母標準偏差。</a:t>
            </a:r>
            <a:endParaRPr sz="16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600" b="0" lang="ja-JP">
                <a:latin typeface="Noto Sans"/>
                <a:ea typeface="Noto Sans CJK JP"/>
                <a:cs typeface="Noto Sans"/>
              </a:defRPr>
            </a:pPr>
            <a:r>
              <a:rPr sz="16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公式devkitのmeta.matで各クラスを1回ずつ数えた。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ILSVRC 2012公式devkit. https://image-net.org/challenges/LSVRC/2012/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学習画像数が最少のカテゴリは732枚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ImageNet-1kの学習画像数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327" y="1417320"/>
            <a:ext cx="2624865" cy="2788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92040" y="169164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ブラック・アンド・タン・クーンハウンド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269748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black-and-tan coonhound
学習画像は732枚 [1]。</a:t>
            </a:r>
          </a:p>
        </p:txBody>
      </p:sp>
      <p:sp>
        <p:nvSpPr>
          <p:cNvPr id="7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ILSVRC 2012公式devkit. https://image-net.org/challenges/LSVRC/2012/
[2] カテゴリの画像例. https://github.com/EliSchwartz/imagenet-sample-images　n02089078_black-and-tan_coonhound.JPEG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1,300枚あるカテゴリの例はキットギツネ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ImageNet-1kの学習画像数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915" y="1417320"/>
            <a:ext cx="2091689" cy="2788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92040" y="169164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キットギツネ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269748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kit fox
学習画像は1,300枚 [1]。</a:t>
            </a:r>
          </a:p>
        </p:txBody>
      </p:sp>
      <p:sp>
        <p:nvSpPr>
          <p:cNvPr id="7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ILSVRC 2012公式devkit. https://image-net.org/challenges/LSVRC/2012/
[2] カテゴリの画像例. https://github.com/EliSchwartz/imagenet-sample-images　n02119789_kit_fox.JPEG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画像サイズは小規模なImagenetteで調べる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Imagenetteの画像サイズ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400" b="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ImageNet-1kの学習用は約128万枚ある。そこで、画像サイズの実測には10クラス・13,394枚のImagenetteを使う [1, 2]。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lvl="0" marL="457200" indent="-355600">
              <a:buSzPts val="2000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ここからは、短辺を160 pxにリサイズしたImagenetteの画像を扱う。</a:t>
            </a:r>
          </a:p>
          <a:p>
            <a:pPr lvl="0" marL="457200" indent="-355600">
              <a:buSzPts val="2000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学習用9,469枚、検証用3,925枚。分割はImagenette独自のものである。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ILSVRC 2012. https://image-net.org/challenges/LSVRC/2012/
[2] Imagenette. https://github.com/fastai/imagenette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Imagenetteの動物・装置・建造物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Imagenetteの画像サイズ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344168"/>
          <a:ext cx="8046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1417320"/>
                <a:gridCol w="1417320"/>
                <a:gridCol w="141732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クラス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検証用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テンチ（淡水魚）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387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スプリンガー犬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955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395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カセットプレーヤー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993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357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チェーンソー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858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1,244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教会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941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315968"/>
            <a:ext cx="7955279" cy="336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Imagenette 160 px版。各画像のフォルダ名でクラスと分割を数えた。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Imagenette 160 px版. https://github.com/fastai/imagenette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Imagenetteの楽器・車両・道具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Imagenetteの画像サイズ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344168"/>
          <a:ext cx="8046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1417320"/>
                <a:gridCol w="1417320"/>
                <a:gridCol w="141732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クラス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検証用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フレンチホルン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394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ごみ収集車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ガソリンポンプ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931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ゴルフボール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399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パラシュート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390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315968"/>
            <a:ext cx="7955279" cy="336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Imagenette 160 px版。各画像のフォルダ名でクラスと分割を数えた。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Imagenette 160 px版. https://github.com/fastai/imagenette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Imagenetteの画像には縦横比のばらつきがある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Imagenetteの画像サイズ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imagenette-rat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全13,394枚。幅 ÷ 高さが1なら正方形、1より大きいと横長になる。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Imagenette. https://github.com/fastai/imagenette
棒1本は縦横比0.5の区間を表す。短辺を160 pxにリサイズした画像を集計した。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幅・高さ・長辺の記述統計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Imagenetteの画像サイズ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280160"/>
                <a:gridCol w="1371600"/>
                <a:gridCol w="1371600"/>
                <a:gridCol w="128016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測定値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SD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中央値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幅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204.9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41.4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213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249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802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高さ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175.5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30.2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160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240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707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長辺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220.4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35.1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213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258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802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32200"/>
            <a:ext cx="7955279" cy="994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単位はpx。Imagenette 160 px版の全13,394枚 [1]。SDは母標準偏差、95%点は線形補間による95パーセンタイル。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Imagenette 160 px版. https://github.com/fastai/imagenette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長辺が最大の802 pxとなる画像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Imagenetteの画像サイズ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n02979186_299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2689"/>
            <a:ext cx="3886200" cy="7753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正解はカセットプレーヤー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cassette player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幅802 px・高さ160 px。縦横比は5.0125。横に細長くてもラベルはcassette playerである。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Imagenette. https://github.com/fastai/imagenette　画像ID n02979186_2993.JPEG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高さが最大の707 pxとなる画像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Imagenetteの画像サイズ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n03425413_1313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8925" y="1426464"/>
            <a:ext cx="585629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正解はガソリンポンプ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gas pump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幅160 px・高さ707 px。縦横比は0.2263で、全画像中の最小値である。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Imagenette. https://github.com/fastai/imagenette　画像ID n03425413_13133.JPEG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順位に応じてTop-1とTop-5が変わる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 モデル評価と前処理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194560"/>
                <a:gridCol w="219456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正解のtenchの順位 </a:t>
                      </a:r>
                      <a:r>
                        <a:rPr sz="24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Top-1の得点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Top-5の得点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1位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2位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6位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97960"/>
            <a:ext cx="7955279" cy="6289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3枚のTop-1正解率は33.3%、Top-5正解率は66.7%となる。画像ごとの得点を、評価対象の画像全体で平均する。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ILSVRC 2012, Task 1. https://image-net.org/challenges/LSVRC/2012/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公開済み重みの結果は実装の条件にも依存する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 モデル評価と前処理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37744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Torchvisionの重み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Top-5正解率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AlexNet V1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56.522%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79.066%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ResNet-50 V1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76.130%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92.862%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ViT-B/16 V1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81.072%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95.318%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32200"/>
            <a:ext cx="7955279" cy="994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いずれもImageNet-1k検証用。学習レシピはモデルごとに異なる。画像のパッチを処理するViTも、同じ分類用データで評価する。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Torchvision models, weight metadata. https://github.com/pytorch/vision/tree/main/torchvision/models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線形分類器でも評価画像が変わると得点が変わる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 モデル評価と前処理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737360"/>
                <a:gridCol w="1737360"/>
                <a:gridCol w="182880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特徴モデル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元の検証用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ImageNetV2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ImageNet-R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DINOv3 7B/16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91.1%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SigLIP 2 g/16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89.1%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81.6%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PEcore G/14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89.3%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81.6%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474720"/>
            <a:ext cx="7955279" cy="11775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元の検証用は1,000クラス、ImageNet-Rはそのうち200クラス。クラス数と画像集合が異なるため、列同士を同じ難易度とはみなせない。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Siméoni et al. (2025), Table 7. https://arxiv.org/abs/2508.10104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分類用データとプライバシーへの対応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 モデル評価と前処理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ts val="2000"/>
              <a:buChar char="●"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2021年に、ImageNet全体のperson下位カテゴリ2,702種類を除去した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この更新は、ILSVRCの1,000カテゴリには影響しない。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ただし物体の画像にも偶然写り込む人物がいる。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そこで顔を注釈し、顔をぼかした、ILSVRC大会の1,000クラス分類用データを検討した。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ts val="2000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公式トップの1,420万枚という表示だけで、更新後の収録範囲を判断しない。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ImageNetの更新説明 (2021). https://www.image-net.org/update-mar-11-2021.php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公式devkitでクラス別の件数を確認する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 入手コードと参考文献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8046720" cy="212725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2127250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b="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scipy.io import loadmat</a:t>
            </a:r>
            <a:endParaRPr sz="13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meta = loadmat(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"ILSVRC2012_devkit_t12/data/meta.mat",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squeeze_me=True, struct_as_record=False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)["synsets"]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classes = [x for x in meta if x.num_children == 0]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[int(x.num_train_images) for x in classes]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print(len(classes), sum(counts))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# 1000 1281167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13454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devkitを取得・展開した後に実行する。scipyを利用する。WordNet IDとモデルのクラス番号を同一視しない。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ILSVRC 2012公式devkit. https://image-net.org/challenges/LSVRC/2012/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Imagenetteを取得して画像とラベルを読む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 入手コードと参考文献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シェルで取得する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1655064"/>
            <a:ext cx="8046720" cy="7981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55064"/>
            <a:ext cx="8046720" cy="798194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b="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imagenette.tgz \</a:t>
            </a:r>
            <a:endParaRPr sz="13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https://s3.amazonaws.com/fast-ai-imageclas/imagenette2-160.tgz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tar -xzf imagenette.tgz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88336"/>
            <a:ext cx="80467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Pythonで画像とラベルを読む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2971800"/>
            <a:ext cx="8046720" cy="98806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971800"/>
            <a:ext cx="8046720" cy="988060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b="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torchvision.datasets import ImageFolder</a:t>
            </a:r>
            <a:endParaRPr sz="13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data = ImageFolder("imagenette2-160/train")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image, label = data[0]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print(data.classes[label], image.size)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242816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10クラスのImagenetteを読み、classesでクラス名を確認する。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Imagenette 160 px版. https://github.com/fastai/imagenette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モデルに合う前処理を指定する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 入手コードと参考文献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8046720" cy="174752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747520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b="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PIL import Image</a:t>
            </a:r>
            <a:endParaRPr sz="13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torchvision.models import resnet50, ResNet50_Weights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weights = ResNet50_Weights.IMAGENET1K_V1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model = resnet50(weights=weights).eval()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image = Image.open("example.JPEG").convert("RGB")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batch = weights.transforms()(image).unsqueeze(0)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# batch.shape == [1, 3, 224, 224]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584194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700" b="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重みに対応したリサイズ・クロップ・正規化を使う。10クラス版とモデルの1,000クラス出力は、クラス名で対応させる。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Torchvision ResNet. https://github.com/pytorch/vision/blob/main/torchvision/models/resnet.py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参考文献と参照した内容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 入手コードと参考文献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Deng et al. (2009). ImageNet. CVPR.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大規模画像データベースの目的、階層、収集方法を示す原著。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https://image-net.org/static_files/papers/imagenet_cvpr09.pdf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Russakovsky et al. (2015). ILSVRC. IJCV.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ImageNetを使う大会の課題、規模、評価法、初期の性能。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https://arxiv.org/abs/1409.0575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ImageNet公式サイトとDownload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4290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データの種類、入手先、利用条件の案内。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8404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https://www.image-net.org/download.php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233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ImageNetの2021年の更新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434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person配下のカテゴリに関するプライバシー対応の根拠。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https://www.image-net.org/update-mar-11-2021.php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参考文献と参照した内容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 入手コードと参考文献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Imagenetteの公開リポジトリ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10クラスの画像例と、画像サイズの実測に使った配布元。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https://github.com/fastai/imagenette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ILSVRC 2012公式devkit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1,000クラスの定義と学習画像数の全件集計に使用。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https://image-net.org/data/ILSVRC/2012/ILSVRC2012_devkit_t12.tar.gz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 et al. (2016). Deep Residual Learning. CVPR.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4290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ResNetのImageNet分類性能を示す原著。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8404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https://arxiv.org/abs/1512.03385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233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Siméoni et al. (2025). DINOv3.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434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近年の画像特徴の評価と線形分類性能の比較。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https://arxiv.org/abs/2508.10104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参考文献と参照した内容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 入手コードと参考文献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Beyer et al. (2020). Are we done with ImageNet?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複数の物体に対応して検証ラベルを見直したReaLの根拠。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https://arxiv.org/abs/2006.07159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Recht et al. (2019). ImageNetV2. ICML.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新しい画像集合で分類性能の汎化を調べる後続評価。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https://github.com/modestyachts/ImageNetV2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Torchvisionのモデルと公開重み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4290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公開重みの性能と前処理条件を比較するための実装。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8404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https://github.com/pytorch/vision/tree/main/torchvision/models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233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ImageNetカテゴリ別の画像例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434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Imagenetteにないカテゴリの画像例の取得元。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https://github.com/EliSchwartz/imagenet-sample-images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