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08" r:id="rId59"/>
    <p:sldId id="309" r:id="rId60"/>
    <p:sldId id="257" r:id="rId8"/>
    <p:sldId id="327" r:id="rId75"/>
    <p:sldId id="258" r:id="rId9"/>
    <p:sldId id="259" r:id="rId6"/>
    <p:sldId id="263" r:id="rId2"/>
    <p:sldId id="260" r:id="rId5"/>
    <p:sldId id="261" r:id="rId4"/>
    <p:sldId id="280" r:id="rId31"/>
    <p:sldId id="310" r:id="rId61"/>
    <p:sldId id="328" r:id="rId76"/>
    <p:sldId id="262" r:id="rId3"/>
    <p:sldId id="264" r:id="rId15"/>
    <p:sldId id="265" r:id="rId16"/>
    <p:sldId id="266" r:id="rId17"/>
    <p:sldId id="267" r:id="rId18"/>
    <p:sldId id="290" r:id="rId41"/>
    <p:sldId id="321" r:id="rId71"/>
    <p:sldId id="268" r:id="rId19"/>
    <p:sldId id="320" r:id="rId70"/>
    <p:sldId id="314" r:id="rId10"/>
    <p:sldId id="311" r:id="rId62"/>
    <p:sldId id="298" r:id="rId49"/>
    <p:sldId id="269" r:id="rId20"/>
    <p:sldId id="270" r:id="rId21"/>
    <p:sldId id="299" r:id="rId50"/>
    <p:sldId id="271" r:id="rId22"/>
    <p:sldId id="329" r:id="rId77"/>
    <p:sldId id="330" r:id="rId78"/>
    <p:sldId id="312" r:id="rId63"/>
    <p:sldId id="272" r:id="rId23"/>
    <p:sldId id="273" r:id="rId24"/>
    <p:sldId id="274" r:id="rId25"/>
    <p:sldId id="313" r:id="rId64"/>
    <p:sldId id="275" r:id="rId26"/>
    <p:sldId id="276" r:id="rId27"/>
    <p:sldId id="331" r:id="rId79"/>
    <p:sldId id="277" r:id="rId28"/>
    <p:sldId id="278" r:id="rId29"/>
    <p:sldId id="315" r:id="rId65"/>
    <p:sldId id="316" r:id="rId66"/>
    <p:sldId id="317" r:id="rId67"/>
    <p:sldId id="318" r:id="rId68"/>
    <p:sldId id="319" r:id="rId69"/>
    <p:sldId id="279" r:id="rId30"/>
    <p:sldId id="281" r:id="rId32"/>
    <p:sldId id="282" r:id="rId33"/>
    <p:sldId id="283" r:id="rId34"/>
    <p:sldId id="284" r:id="rId35"/>
    <p:sldId id="285" r:id="rId36"/>
    <p:sldId id="286" r:id="rId37"/>
    <p:sldId id="287" r:id="rId38"/>
    <p:sldId id="288" r:id="rId39"/>
    <p:sldId id="289" r:id="rId40"/>
    <p:sldId id="291" r:id="rId42"/>
    <p:sldId id="292" r:id="rId43"/>
    <p:sldId id="293" r:id="rId44"/>
    <p:sldId id="296" r:id="rId47"/>
    <p:sldId id="297" r:id="rId48"/>
    <p:sldId id="294" r:id="rId45"/>
    <p:sldId id="295" r:id="rId46"/>
    <p:sldId id="300" r:id="rId51"/>
    <p:sldId id="301" r:id="rId52"/>
    <p:sldId id="302" r:id="rId53"/>
    <p:sldId id="303" r:id="rId54"/>
    <p:sldId id="304" r:id="rId55"/>
    <p:sldId id="305" r:id="rId56"/>
    <p:sldId id="322" r:id="rId58"/>
    <p:sldId id="323" r:id="rId57"/>
    <p:sldId id="324" r:id="rId72"/>
    <p:sldId id="325" r:id="rId73"/>
    <p:sldId id="326" r:id="rId7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8.xml"/><Relationship Id="rId3" Type="http://schemas.openxmlformats.org/officeDocument/2006/relationships/slide" Target="slides/slide14.xml"/><Relationship Id="rId4" Type="http://schemas.openxmlformats.org/officeDocument/2006/relationships/slide" Target="slides/slide10.xml"/><Relationship Id="rId5" Type="http://schemas.openxmlformats.org/officeDocument/2006/relationships/slide" Target="slides/slide9.xml"/><Relationship Id="rId6" Type="http://schemas.openxmlformats.org/officeDocument/2006/relationships/slide" Target="slides/slide7.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6.xml"/><Relationship Id="rId10" Type="http://schemas.openxmlformats.org/officeDocument/2006/relationships/slide" Target="slides/slide23.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21.xml"/><Relationship Id="rId20" Type="http://schemas.openxmlformats.org/officeDocument/2006/relationships/slide" Target="slides/slide26.xml"/><Relationship Id="rId21" Type="http://schemas.openxmlformats.org/officeDocument/2006/relationships/slide" Target="slides/slide27.xml"/><Relationship Id="rId22" Type="http://schemas.openxmlformats.org/officeDocument/2006/relationships/slide" Target="slides/slide29.xml"/><Relationship Id="rId23" Type="http://schemas.openxmlformats.org/officeDocument/2006/relationships/slide" Target="slides/slide33.xml"/><Relationship Id="rId24" Type="http://schemas.openxmlformats.org/officeDocument/2006/relationships/slide" Target="slides/slide34.xml"/><Relationship Id="rId25" Type="http://schemas.openxmlformats.org/officeDocument/2006/relationships/slide" Target="slides/slide35.xml"/><Relationship Id="rId26" Type="http://schemas.openxmlformats.org/officeDocument/2006/relationships/slide" Target="slides/slide37.xml"/><Relationship Id="rId27" Type="http://schemas.openxmlformats.org/officeDocument/2006/relationships/slide" Target="slides/slide38.xml"/><Relationship Id="rId28" Type="http://schemas.openxmlformats.org/officeDocument/2006/relationships/slide" Target="slides/slide40.xml"/><Relationship Id="rId29" Type="http://schemas.openxmlformats.org/officeDocument/2006/relationships/slide" Target="slides/slide41.xml"/><Relationship Id="rId30" Type="http://schemas.openxmlformats.org/officeDocument/2006/relationships/slide" Target="slides/slide47.xml"/><Relationship Id="rId31" Type="http://schemas.openxmlformats.org/officeDocument/2006/relationships/slide" Target="slides/slide11.xml"/><Relationship Id="rId32" Type="http://schemas.openxmlformats.org/officeDocument/2006/relationships/slide" Target="slides/slide48.xml"/><Relationship Id="rId33" Type="http://schemas.openxmlformats.org/officeDocument/2006/relationships/slide" Target="slides/slide49.xml"/><Relationship Id="rId34" Type="http://schemas.openxmlformats.org/officeDocument/2006/relationships/slide" Target="slides/slide50.xml"/><Relationship Id="rId35" Type="http://schemas.openxmlformats.org/officeDocument/2006/relationships/slide" Target="slides/slide51.xml"/><Relationship Id="rId36" Type="http://schemas.openxmlformats.org/officeDocument/2006/relationships/slide" Target="slides/slide52.xml"/><Relationship Id="rId37" Type="http://schemas.openxmlformats.org/officeDocument/2006/relationships/slide" Target="slides/slide53.xml"/><Relationship Id="rId38" Type="http://schemas.openxmlformats.org/officeDocument/2006/relationships/slide" Target="slides/slide54.xml"/><Relationship Id="rId39" Type="http://schemas.openxmlformats.org/officeDocument/2006/relationships/slide" Target="slides/slide55.xml"/><Relationship Id="rId40" Type="http://schemas.openxmlformats.org/officeDocument/2006/relationships/slide" Target="slides/slide56.xml"/><Relationship Id="rId41" Type="http://schemas.openxmlformats.org/officeDocument/2006/relationships/slide" Target="slides/slide19.xml"/><Relationship Id="rId42" Type="http://schemas.openxmlformats.org/officeDocument/2006/relationships/slide" Target="slides/slide57.xml"/><Relationship Id="rId43" Type="http://schemas.openxmlformats.org/officeDocument/2006/relationships/slide" Target="slides/slide58.xml"/><Relationship Id="rId44" Type="http://schemas.openxmlformats.org/officeDocument/2006/relationships/slide" Target="slides/slide59.xml"/><Relationship Id="rId45" Type="http://schemas.openxmlformats.org/officeDocument/2006/relationships/slide" Target="slides/slide62.xml"/><Relationship Id="rId46" Type="http://schemas.openxmlformats.org/officeDocument/2006/relationships/slide" Target="slides/slide63.xml"/><Relationship Id="rId47" Type="http://schemas.openxmlformats.org/officeDocument/2006/relationships/slide" Target="slides/slide60.xml"/><Relationship Id="rId48" Type="http://schemas.openxmlformats.org/officeDocument/2006/relationships/slide" Target="slides/slide61.xml"/><Relationship Id="rId49" Type="http://schemas.openxmlformats.org/officeDocument/2006/relationships/slide" Target="slides/slide25.xml"/><Relationship Id="rId50" Type="http://schemas.openxmlformats.org/officeDocument/2006/relationships/slide" Target="slides/slide28.xml"/><Relationship Id="rId51" Type="http://schemas.openxmlformats.org/officeDocument/2006/relationships/slide" Target="slides/slide64.xml"/><Relationship Id="rId52" Type="http://schemas.openxmlformats.org/officeDocument/2006/relationships/slide" Target="slides/slide65.xml"/><Relationship Id="rId53" Type="http://schemas.openxmlformats.org/officeDocument/2006/relationships/slide" Target="slides/slide66.xml"/><Relationship Id="rId54" Type="http://schemas.openxmlformats.org/officeDocument/2006/relationships/slide" Target="slides/slide67.xml"/><Relationship Id="rId55" Type="http://schemas.openxmlformats.org/officeDocument/2006/relationships/slide" Target="slides/slide68.xml"/><Relationship Id="rId56" Type="http://schemas.openxmlformats.org/officeDocument/2006/relationships/slide" Target="slides/slide69.xml"/><Relationship Id="rId57" Type="http://schemas.openxmlformats.org/officeDocument/2006/relationships/slide" Target="slides/slide71.xml"/><Relationship Id="rId58" Type="http://schemas.openxmlformats.org/officeDocument/2006/relationships/slide" Target="slides/slide70.xml"/><Relationship Id="rId59" Type="http://schemas.openxmlformats.org/officeDocument/2006/relationships/slide" Target="slides/slide2.xml"/><Relationship Id="rId60" Type="http://schemas.openxmlformats.org/officeDocument/2006/relationships/slide" Target="slides/slide3.xml"/><Relationship Id="rId61" Type="http://schemas.openxmlformats.org/officeDocument/2006/relationships/slide" Target="slides/slide12.xml"/><Relationship Id="rId62" Type="http://schemas.openxmlformats.org/officeDocument/2006/relationships/slide" Target="slides/slide24.xml"/><Relationship Id="rId63" Type="http://schemas.openxmlformats.org/officeDocument/2006/relationships/slide" Target="slides/slide32.xml"/><Relationship Id="rId64" Type="http://schemas.openxmlformats.org/officeDocument/2006/relationships/slide" Target="slides/slide36.xml"/><Relationship Id="rId65" Type="http://schemas.openxmlformats.org/officeDocument/2006/relationships/slide" Target="slides/slide42.xml"/><Relationship Id="rId66" Type="http://schemas.openxmlformats.org/officeDocument/2006/relationships/slide" Target="slides/slide43.xml"/><Relationship Id="rId67" Type="http://schemas.openxmlformats.org/officeDocument/2006/relationships/slide" Target="slides/slide44.xml"/><Relationship Id="rId68" Type="http://schemas.openxmlformats.org/officeDocument/2006/relationships/slide" Target="slides/slide45.xml"/><Relationship Id="rId69" Type="http://schemas.openxmlformats.org/officeDocument/2006/relationships/slide" Target="slides/slide46.xml"/><Relationship Id="rId70" Type="http://schemas.openxmlformats.org/officeDocument/2006/relationships/slide" Target="slides/slide22.xml"/><Relationship Id="rId71" Type="http://schemas.openxmlformats.org/officeDocument/2006/relationships/slide" Target="slides/slide20.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5.xml"/><Relationship Id="rId76" Type="http://schemas.openxmlformats.org/officeDocument/2006/relationships/slide" Target="slides/slide13.xml"/><Relationship Id="rId77" Type="http://schemas.openxmlformats.org/officeDocument/2006/relationships/slide" Target="slides/slide30.xml"/><Relationship Id="rId78" Type="http://schemas.openxmlformats.org/officeDocument/2006/relationships/slide" Target="slides/slide31.xml"/><Relationship Id="rId79"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solidFill>
                  <a:schemeClr val="lt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www.image-net.org/"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 Id="rId3" Type="http://schemas.openxmlformats.org/officeDocument/2006/relationships/hyperlink" Target="https://github.com/fastai/imagenette"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hyperlink" Target="https://image-net.org/challenges/LSVRC/2012/"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 Id="rId3" Type="http://schemas.openxmlformats.org/officeDocument/2006/relationships/hyperlink" Target="https://github.com/fastai/imagenett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jpg"/><Relationship Id="rId3" Type="http://schemas.openxmlformats.org/officeDocument/2006/relationships/hyperlink" Target="https://github.com/fastai/imagenette"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409.0575"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hyperlink" Target="https://image-net.org/challenges/LSVRC/2012/" TargetMode="External"/><Relationship Id="rId5" Type="http://schemas.openxmlformats.org/officeDocument/2006/relationships/hyperlink" Target="https://github.com/EliSchwartz/imagenet-sample-image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jpg"/><Relationship Id="rId3" Type="http://schemas.openxmlformats.org/officeDocument/2006/relationships/hyperlink" Target="https://image-net.org/challenges/LSVRC/2012/" TargetMode="External"/><Relationship Id="rId4" Type="http://schemas.openxmlformats.org/officeDocument/2006/relationships/hyperlink" Target="https://github.com/EliSchwartz/imagenet-sample-imag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image" Target="../media/image18.png"/><Relationship Id="rId4" Type="http://schemas.openxmlformats.org/officeDocument/2006/relationships/image" Target="../media/image21.png"/><Relationship Id="rId5" Type="http://schemas.openxmlformats.org/officeDocument/2006/relationships/hyperlink" Target="https://image-net.org/challenges/LSVRC/2012/"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2.png"/><Relationship Id="rId3" Type="http://schemas.openxmlformats.org/officeDocument/2006/relationships/hyperlink" Target="https://image-net.org/challenges/LSVRC/2012/"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409.057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512.03385"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8.10104"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512.03385"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8.10104"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 Id="rId3" Type="http://schemas.openxmlformats.org/officeDocument/2006/relationships/hyperlink" Target="https://arxiv.org/abs/2006.07159"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odestyachts/ImageNetV2" TargetMode="External"/><Relationship Id="rId3" Type="http://schemas.openxmlformats.org/officeDocument/2006/relationships/hyperlink" Target="https://github.com/facebookresearch/dinov3"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mage-net.org/download.php" TargetMode="External"/><Relationship Id="rId3" Type="http://schemas.openxmlformats.org/officeDocument/2006/relationships/hyperlink" Target="https://github.com/fastai/imagenette"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www.image-net.org/about.php"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 Id="rId3" Type="http://schemas.openxmlformats.org/officeDocument/2006/relationships/image" Target="../media/image19.jpg"/><Relationship Id="rId4" Type="http://schemas.openxmlformats.org/officeDocument/2006/relationships/hyperlink" Target="https://github.com/EliSchwartz/imagenet-sample-images"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jpg"/><Relationship Id="rId3" Type="http://schemas.openxmlformats.org/officeDocument/2006/relationships/hyperlink" Target="https://github.com/fastai/imagenette"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jpg"/><Relationship Id="rId3" Type="http://schemas.openxmlformats.org/officeDocument/2006/relationships/hyperlink" Target="https://github.com/fastai/imagenette"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hyperlink" Target="https://github.com/fastai/imagenette"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jpg"/><Relationship Id="rId3" Type="http://schemas.openxmlformats.org/officeDocument/2006/relationships/hyperlink" Target="https://github.com/fastai/imagenette"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jpg"/><Relationship Id="rId3" Type="http://schemas.openxmlformats.org/officeDocument/2006/relationships/hyperlink" Target="https://github.com/fastai/imagenette"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jpg"/><Relationship Id="rId3" Type="http://schemas.openxmlformats.org/officeDocument/2006/relationships/hyperlink" Target="https://github.com/fastai/imagenette"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 Id="rId3" Type="http://schemas.openxmlformats.org/officeDocument/2006/relationships/image" Target="../media/image20.jpg"/><Relationship Id="rId4" Type="http://schemas.openxmlformats.org/officeDocument/2006/relationships/hyperlink" Target="https://github.com/EliSchwartz/imagenet-sample-images"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jpg"/><Relationship Id="rId3" Type="http://schemas.openxmlformats.org/officeDocument/2006/relationships/hyperlink" Target="https://github.com/fastai/imagenett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 Id="rId3" Type="http://schemas.openxmlformats.org/officeDocument/2006/relationships/hyperlink" Target="https://github.com/fastai/imagenette"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jpg"/><Relationship Id="rId3" Type="http://schemas.openxmlformats.org/officeDocument/2006/relationships/hyperlink" Target="https://github.com/fastai/imagenette"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jpg"/><Relationship Id="rId3" Type="http://schemas.openxmlformats.org/officeDocument/2006/relationships/hyperlink" Target="https://github.com/fastai/imagenette"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23.png"/><Relationship Id="rId4" Type="http://schemas.openxmlformats.org/officeDocument/2006/relationships/hyperlink" Target="https://github.com/fastai/imagenette"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tree/main/torchvision/models"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8.10104"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mage-net.org/update-mar-11-2021.php"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 Id="rId3" Type="http://schemas.openxmlformats.org/officeDocument/2006/relationships/hyperlink" Target="https://s3.amazonaws.com/fast-ai-imageclas/imagenette2-160.tgz"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blob/main/torchvision/models/resnet.py"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512.03385" TargetMode="External"/><Relationship Id="rId3" Type="http://schemas.openxmlformats.org/officeDocument/2006/relationships/hyperlink" Target="https://github.com/pytorch/tutorials/blob/main/beginner_source/transfer_learning_tutorial.py"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blob/main/docs/source/models.rst" TargetMode="External"/><Relationship Id="rId3" Type="http://schemas.openxmlformats.org/officeDocument/2006/relationships/hyperlink" Target="https://github.com/fastai/imagenette"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2.10811" TargetMode="External"/><Relationship Id="rId3" Type="http://schemas.openxmlformats.org/officeDocument/2006/relationships/hyperlink" Target="https://arxiv.org/abs/2006.07159"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3.12261"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44078"/>
            <a:ext cx="8229600" cy="2926080"/>
          </a:xfrm>
        </p:spPr>
        <p:txBody>
          <a:bodyPr wrap="square" lIns="0" rIns="0" tIns="0" bIns="0" anchor="ctr"/>
          <a:lstStyle/>
          <a:p>
            <a:pPr algn="ctr">
              <a:lnSpc>
                <a:spcPct val="100000"/>
              </a:lnSpc>
              <a:spcBef>
                <a:spcPts val="0"/>
              </a:spcBef>
              <a:spcAft>
                <a:spcPts val="1000"/>
              </a:spcAft>
              <a:defRPr sz="3400" b="0" lang="ja-JP">
                <a:latin typeface="Noto Sans"/>
                <a:ea typeface="Noto Sans CJK JP"/>
                <a:cs typeface="Noto Sans"/>
              </a:defRPr>
            </a:pPr>
            <a:r>
              <a:rPr sz="2800" b="0" lang="ja-JP">
                <a:solidFill>
                  <a:srgbClr val="303437"/>
                </a:solidFill>
                <a:latin typeface="Noto Sans"/>
                <a:ea typeface="Noto Sans CJK JP"/>
              </a:rPr>
              <a:t>画像認識用データセット</a:t>
            </a:r>
            <a:endParaRPr sz="2300" lang="ja-JP">
              <a:latin typeface="Noto Sans"/>
              <a:ea typeface="Noto Sans CJK JP"/>
              <a:cs typeface="Noto Sans"/>
            </a:endParaRPr>
          </a:p>
          <a:p>
            <a:pPr algn="ctr">
              <a:lnSpc>
                <a:spcPct val="100000"/>
              </a:lnSpc>
              <a:spcBef>
                <a:spcPts val="0"/>
              </a:spcBef>
              <a:spcAft>
                <a:spcPts val="0"/>
              </a:spcAft>
            </a:pPr>
            <a:r>
              <a:rPr sz="5600" b="1" lang="ja-JP">
                <a:solidFill>
                  <a:srgbClr val="303437"/>
                </a:solidFill>
                <a:latin typeface="Noto Sans"/>
                <a:ea typeface="Noto Sans CJK JP"/>
              </a:rPr>
              <a:t>ImageNet-1k</a:t>
            </a:r>
          </a:p>
        </p:txBody>
      </p:sp>
      <p:sp>
        <p:nvSpPr>
          <p:cNvPr id="3" name="Subtitle 2"/>
          <p:cNvSpPr>
            <a:spLocks noGrp="1"/>
          </p:cNvSpPr>
          <p:nvPr>
            <p:ph type="subTitle" idx="1"/>
          </p:nvPr>
        </p:nvSpPr>
        <p:spPr/>
        <p:txBody>
          <a:bodyPr/>
          <a:lstStyle/>
          <a:p>
            <a:pPr/>
          </a:p>
        </p:txBody>
      </p:sp>
      <p:sp>
        <p:nvSpPr>
          <p:cNvPr id="5" name="Text Placeholder 4"/>
          <p:cNvSpPr>
            <a:spLocks noGrp="1"/>
          </p:cNvSpPr>
          <p:nvPr>
            <p:ph type="body" idx="11"/>
          </p:nvPr>
        </p:nvSpPr>
        <p:spPr>
          <a:xfrm>
            <a:off x="5486400" y="4416552"/>
            <a:ext cx="3108960" cy="402336"/>
          </a:xfrm>
        </p:spPr>
        <p:txBody>
          <a:bodyPr wrap="square" lIns="0" rIns="0" tIns="0" bIns="0" anchor="t"/>
          <a:lstStyle/>
          <a:p>
            <a:pPr algn="r" marL="0" indent="0">
              <a:lnSpc>
                <a:spcPct val="110000"/>
              </a:lnSpc>
              <a:spcBef>
                <a:spcPts val="0"/>
              </a:spcBef>
              <a:spcAft>
                <a:spcPts val="60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sasakiy84</a:t>
            </a:r>
            <a:endParaRPr sz="1400" lang="ja-JP">
              <a:latin typeface="Noto Sans"/>
              <a:ea typeface="Noto Sans CJK JP"/>
              <a:cs typeface="Noto Sans"/>
            </a:endParaRPr>
          </a:p>
        </p:txBody>
      </p:sp>
      <p:sp>
        <p:nvSpPr>
          <p:cNvPr id="6" name="Text Placeholder 5"/>
          <p:cNvSpPr>
            <a:spLocks noGrp="1"/>
          </p:cNvSpPr>
          <p:nvPr>
            <p:ph type="body" idx="12"/>
          </p:nvPr>
        </p:nvSpPr>
        <p:spPr>
          <a:xfrm>
            <a:off x="457200" y="274320"/>
            <a:ext cx="8046720" cy="274320"/>
          </a:xfrm>
        </p:spPr>
        <p:txBody>
          <a:bodyPr wrap="square" lIns="0" rIns="0" tIns="0" bIns="0" anchor="ctr"/>
          <a:lstStyle/>
          <a:p>
            <a:pPr algn="l" marL="0" indent="0">
              <a:lnSpc>
                <a:spcPct val="110000"/>
              </a:lnSpc>
              <a:spcBef>
                <a:spcPts val="0"/>
              </a:spcBef>
              <a:spcAft>
                <a:spcPts val="0"/>
              </a:spcAft>
              <a:buNone/>
              <a:defRPr sz="1400" b="0" lang="ja-JP">
                <a:latin typeface="Noto Sans"/>
                <a:ea typeface="Noto Sans CJK JP"/>
                <a:cs typeface="Noto Sans"/>
              </a:defRPr>
            </a:pPr>
            <a:r>
              <a:rPr sz="1400" lang="ja-JP">
                <a:solidFill>
                  <a:srgbClr val="626669"/>
                </a:solidFill>
                <a:latin typeface="Noto Sans"/>
                <a:ea typeface="Noto Sans CJK JP"/>
                <a:cs typeface="Noto Sans"/>
              </a:rPr>
              <a:t>datasets in 10 minutes (2026-10-15)</a:t>
            </a:r>
            <a:endParaRPr sz="1400" lang="ja-JP">
              <a:latin typeface="Noto Sans"/>
              <a:ea typeface="Noto Sans CJK JP"/>
              <a:cs typeface="Noto Sans"/>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目次</a:t>
            </a:r>
            <a:endParaRPr sz="1400" lang="ja-JP">
              <a:latin typeface="Noto Sans"/>
              <a:ea typeface="Noto Sans CJK JP"/>
              <a:cs typeface="Noto Sans"/>
            </a:endParaRPr>
          </a:p>
        </p:txBody>
      </p:sp>
      <p:sp>
        <p:nvSpPr>
          <p:cNvPr id="4" name="body"/>
          <p:cNvSpPr/>
          <p:nvPr>
            <p:ph type="body" idx="1"/>
          </p:nvPr>
        </p:nvSpPr>
        <p:spPr>
          <a:xfrm>
            <a:off x="594360" y="1479613"/>
            <a:ext cx="7955279" cy="3749039"/>
          </a:xfrm>
          <a:prstGeom prst="rect">
            <a:avLst/>
          </a:prstGeom>
          <a:noFill/>
        </p:spPr>
        <p:txBody>
          <a:bodyPr wrap="square" lIns="0" rIns="0" tIns="0" bIns="0">
            <a:spAutoFit/>
          </a:bodyPr>
          <a:lstStyle/>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ImageNet-1kの画像分類とカテゴリ</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ImageNetの収集方法と画像数</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画像分類の評価指標とモデル性能</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ImageNetの利用動向と後続データ</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配布画像の入手方法と利用条件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1. ImageNet-1kの画像分類とカテゴリ</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ImageNet-1kの画像分類とカテゴリ</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ImageNetの公式サイト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official-homepage.png"/>
          <p:cNvPicPr>
            <a:picLocks noChangeAspect="1"/>
          </p:cNvPicPr>
          <p:nvPr/>
        </p:nvPicPr>
        <p:blipFill>
          <a:blip r:embed="rId2"/>
          <a:stretch>
            <a:fillRect/>
          </a:stretch>
        </p:blipFill>
        <p:spPr>
          <a:xfrm>
            <a:off x="548640" y="1376172"/>
            <a:ext cx="8046720" cy="2779776"/>
          </a:xfrm>
          <a:prstGeom prst="rect">
            <a:avLst/>
          </a:prstGeom>
        </p:spPr>
      </p:pic>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ImageNet公式サイト. </a:t>
            </a:r>
            <a:r>
              <a:rPr sz="800" b="0" lang="ja-JP">
                <a:solidFill>
                  <a:srgbClr val="626669"/>
                </a:solidFill>
                <a:latin typeface="Noto Sans"/>
                <a:ea typeface="Noto Sans CJK JP"/>
                <a:cs typeface="Noto Sans"/>
                <a:hlinkClick r:id="rId3"/>
              </a:rPr>
              <a:t>https://www.image-net.org/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画像分類は画像にカテゴリを割り当てる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ImageNet-1kの画像分類とカテゴリ</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画像認識には、画像のカテゴリを決める分類、物体の位置を示す検出、画素ごとの領域を求める分割がある。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この資料で扱うImageNet-1kの課題は画像分類であり、1枚の画像から1,000候補のカテゴリを予測する。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カテゴリとクラスは、いずれも正解ラベルの種類を指す。</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ImageNet全体の一部を1,000クラス分類に使う</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body"/>
          <p:cNvSpPr/>
          <p:nvPr>
            <p:ph type="body" idx="1"/>
          </p:nvPr>
        </p:nvSpPr>
        <p:spPr>
          <a:xfrm>
            <a:off x="594360" y="128668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ImageNetは、物体の概念と画像を対応付けたデータベースで、2009年にCVPRで発表された。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画像認識の評価大会ImageNet Large Scale Visual Recognition Challenge（ILSVRC）は、その一部を利用した。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この資料では主に、ILSVRC 2012の画像分類用1,000クラス版を扱う。ImageNet全体は2014年時点で約1,420万枚・21,841カテゴリだった。</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361713"/>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Russakovsky et al. (2015). International Journal of Computer Vision, 115, pp. 211–252. ImageNet Large Scale Visual Recognition Challenge.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https://arxiv.org/abs/1409.0575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画像から物体のクラスを予測する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9111.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正解はテンチ（淡水魚）</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tench</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釣り具や袋も写る画像から、魚の種類を分類する。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ILSVRC2012_val_00009111.JPEG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同じ魚を指す語を1つのカテゴリにまとめる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body"/>
          <p:cNvSpPr/>
          <p:nvPr>
            <p:ph type="body" idx="1"/>
          </p:nvPr>
        </p:nvSpPr>
        <p:spPr>
          <a:xfrm>
            <a:off x="594360" y="1339985"/>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魚の名前tenchと学名Tinca tincaは、同じ概念を表すため1つのカテゴリとなる。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このような同義語の集合をsynsetと呼ぶ。英語の概念を階層化した辞書WordNetをカテゴリ設計に利用した。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各カテゴリにはn01440764のようなWordNet IDが付く。上位の「犬」だけでなく、120種類の犬を区別する。</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361713"/>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Russakovsky et al. (2015). International Journal of Computer Vision, 115, pp. 211–252. ImageNet Large Scale Visual Recognition Challenge.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https://arxiv.org/abs/1409.0575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1,000カテゴリには生物と人工物が含まれる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TextBox 3"/>
          <p:cNvSpPr txBox="1"/>
          <p:nvPr/>
        </p:nvSpPr>
        <p:spPr>
          <a:xfrm>
            <a:off x="594360" y="1426464"/>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哺乳類</a:t>
            </a:r>
            <a:endParaRPr sz="1800" lang="ja-JP">
              <a:latin typeface="Noto Sans"/>
              <a:ea typeface="Noto Sans CJK JP"/>
              <a:cs typeface="Noto Sans"/>
            </a:endParaRPr>
          </a:p>
        </p:txBody>
      </p:sp>
      <p:sp>
        <p:nvSpPr>
          <p:cNvPr id="5" name="TextBox 4"/>
          <p:cNvSpPr txBox="1"/>
          <p:nvPr/>
        </p:nvSpPr>
        <p:spPr>
          <a:xfrm>
            <a:off x="594360" y="1700784"/>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ミーアキャット・アシカ</a:t>
            </a:r>
            <a:endParaRPr sz="1600" lang="ja-JP">
              <a:latin typeface="Noto Sans"/>
              <a:ea typeface="Noto Sans CJK JP"/>
              <a:cs typeface="Noto Sans"/>
            </a:endParaRPr>
          </a:p>
        </p:txBody>
      </p:sp>
      <p:sp>
        <p:nvSpPr>
          <p:cNvPr id="6" name="TextBox 5"/>
          <p:cNvSpPr txBox="1"/>
          <p:nvPr/>
        </p:nvSpPr>
        <p:spPr>
          <a:xfrm>
            <a:off x="594360" y="2011680"/>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鳥類</a:t>
            </a:r>
            <a:endParaRPr sz="1800" lang="ja-JP">
              <a:latin typeface="Noto Sans"/>
              <a:ea typeface="Noto Sans CJK JP"/>
              <a:cs typeface="Noto Sans"/>
            </a:endParaRPr>
          </a:p>
        </p:txBody>
      </p:sp>
      <p:sp>
        <p:nvSpPr>
          <p:cNvPr id="7" name="TextBox 6"/>
          <p:cNvSpPr txBox="1"/>
          <p:nvPr/>
        </p:nvSpPr>
        <p:spPr>
          <a:xfrm>
            <a:off x="594360" y="2286000"/>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クジャク・フラミンゴ</a:t>
            </a:r>
            <a:endParaRPr sz="1600" lang="ja-JP">
              <a:latin typeface="Noto Sans"/>
              <a:ea typeface="Noto Sans CJK JP"/>
              <a:cs typeface="Noto Sans"/>
            </a:endParaRPr>
          </a:p>
        </p:txBody>
      </p:sp>
      <p:sp>
        <p:nvSpPr>
          <p:cNvPr id="8" name="TextBox 7"/>
          <p:cNvSpPr txBox="1"/>
          <p:nvPr/>
        </p:nvSpPr>
        <p:spPr>
          <a:xfrm>
            <a:off x="594360" y="2596896"/>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爬虫類と両生類</a:t>
            </a:r>
            <a:endParaRPr sz="1800" lang="ja-JP">
              <a:latin typeface="Noto Sans"/>
              <a:ea typeface="Noto Sans CJK JP"/>
              <a:cs typeface="Noto Sans"/>
            </a:endParaRPr>
          </a:p>
        </p:txBody>
      </p:sp>
      <p:sp>
        <p:nvSpPr>
          <p:cNvPr id="9" name="TextBox 8"/>
          <p:cNvSpPr txBox="1"/>
          <p:nvPr/>
        </p:nvSpPr>
        <p:spPr>
          <a:xfrm>
            <a:off x="594360" y="2871215"/>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アマガエル・アホロートル</a:t>
            </a:r>
            <a:endParaRPr sz="1600" lang="ja-JP">
              <a:latin typeface="Noto Sans"/>
              <a:ea typeface="Noto Sans CJK JP"/>
              <a:cs typeface="Noto Sans"/>
            </a:endParaRPr>
          </a:p>
        </p:txBody>
      </p:sp>
      <p:sp>
        <p:nvSpPr>
          <p:cNvPr id="10" name="TextBox 9"/>
          <p:cNvSpPr txBox="1"/>
          <p:nvPr/>
        </p:nvSpPr>
        <p:spPr>
          <a:xfrm>
            <a:off x="594360" y="3182112"/>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魚類と水生無脊椎動物</a:t>
            </a:r>
            <a:endParaRPr sz="1800" lang="ja-JP">
              <a:latin typeface="Noto Sans"/>
              <a:ea typeface="Noto Sans CJK JP"/>
              <a:cs typeface="Noto Sans"/>
            </a:endParaRPr>
          </a:p>
        </p:txBody>
      </p:sp>
      <p:sp>
        <p:nvSpPr>
          <p:cNvPr id="11" name="TextBox 10"/>
          <p:cNvSpPr txBox="1"/>
          <p:nvPr/>
        </p:nvSpPr>
        <p:spPr>
          <a:xfrm>
            <a:off x="594360" y="3456432"/>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ウニ・ナマコ</a:t>
            </a:r>
            <a:endParaRPr sz="1600" lang="ja-JP">
              <a:latin typeface="Noto Sans"/>
              <a:ea typeface="Noto Sans CJK JP"/>
              <a:cs typeface="Noto Sans"/>
            </a:endParaRPr>
          </a:p>
        </p:txBody>
      </p:sp>
      <p:sp>
        <p:nvSpPr>
          <p:cNvPr id="12" name="TextBox 11"/>
          <p:cNvSpPr txBox="1"/>
          <p:nvPr/>
        </p:nvSpPr>
        <p:spPr>
          <a:xfrm>
            <a:off x="594360" y="3767328"/>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昆虫と陸生節足動物</a:t>
            </a:r>
            <a:endParaRPr sz="1800" lang="ja-JP">
              <a:latin typeface="Noto Sans"/>
              <a:ea typeface="Noto Sans CJK JP"/>
              <a:cs typeface="Noto Sans"/>
            </a:endParaRPr>
          </a:p>
        </p:txBody>
      </p:sp>
      <p:sp>
        <p:nvSpPr>
          <p:cNvPr id="13" name="TextBox 12"/>
          <p:cNvSpPr txBox="1"/>
          <p:nvPr/>
        </p:nvSpPr>
        <p:spPr>
          <a:xfrm>
            <a:off x="594360" y="4041648"/>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オオカバマダラ・サソリ</a:t>
            </a:r>
            <a:endParaRPr sz="1600" lang="ja-JP">
              <a:latin typeface="Noto Sans"/>
              <a:ea typeface="Noto Sans CJK JP"/>
              <a:cs typeface="Noto Sans"/>
            </a:endParaRPr>
          </a:p>
        </p:txBody>
      </p:sp>
      <p:sp>
        <p:nvSpPr>
          <p:cNvPr id="14" name="TextBox 13"/>
          <p:cNvSpPr txBox="1"/>
          <p:nvPr/>
        </p:nvSpPr>
        <p:spPr>
          <a:xfrm>
            <a:off x="4754880" y="1426464"/>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乗り物</a:t>
            </a:r>
            <a:endParaRPr sz="1800" lang="ja-JP">
              <a:latin typeface="Noto Sans"/>
              <a:ea typeface="Noto Sans CJK JP"/>
              <a:cs typeface="Noto Sans"/>
            </a:endParaRPr>
          </a:p>
        </p:txBody>
      </p:sp>
      <p:sp>
        <p:nvSpPr>
          <p:cNvPr id="15" name="TextBox 14"/>
          <p:cNvSpPr txBox="1"/>
          <p:nvPr/>
        </p:nvSpPr>
        <p:spPr>
          <a:xfrm>
            <a:off x="4754880" y="1700784"/>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新幹線・コンテナ船</a:t>
            </a:r>
            <a:endParaRPr sz="1600" lang="ja-JP">
              <a:latin typeface="Noto Sans"/>
              <a:ea typeface="Noto Sans CJK JP"/>
              <a:cs typeface="Noto Sans"/>
            </a:endParaRPr>
          </a:p>
        </p:txBody>
      </p:sp>
      <p:sp>
        <p:nvSpPr>
          <p:cNvPr id="16" name="TextBox 15"/>
          <p:cNvSpPr txBox="1"/>
          <p:nvPr/>
        </p:nvSpPr>
        <p:spPr>
          <a:xfrm>
            <a:off x="4754880" y="2011680"/>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電子機器と機械</a:t>
            </a:r>
            <a:endParaRPr sz="1800" lang="ja-JP">
              <a:latin typeface="Noto Sans"/>
              <a:ea typeface="Noto Sans CJK JP"/>
              <a:cs typeface="Noto Sans"/>
            </a:endParaRPr>
          </a:p>
        </p:txBody>
      </p:sp>
      <p:sp>
        <p:nvSpPr>
          <p:cNvPr id="17" name="TextBox 16"/>
          <p:cNvSpPr txBox="1"/>
          <p:nvPr/>
        </p:nvSpPr>
        <p:spPr>
          <a:xfrm>
            <a:off x="4754880" y="2286000"/>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カセットプレーヤー・ミシン</a:t>
            </a:r>
            <a:endParaRPr sz="1600" lang="ja-JP">
              <a:latin typeface="Noto Sans"/>
              <a:ea typeface="Noto Sans CJK JP"/>
              <a:cs typeface="Noto Sans"/>
            </a:endParaRPr>
          </a:p>
        </p:txBody>
      </p:sp>
      <p:sp>
        <p:nvSpPr>
          <p:cNvPr id="18" name="TextBox 17"/>
          <p:cNvSpPr txBox="1"/>
          <p:nvPr/>
        </p:nvSpPr>
        <p:spPr>
          <a:xfrm>
            <a:off x="4754880" y="2596896"/>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衣類と生活用品</a:t>
            </a:r>
            <a:endParaRPr sz="1800" lang="ja-JP">
              <a:latin typeface="Noto Sans"/>
              <a:ea typeface="Noto Sans CJK JP"/>
              <a:cs typeface="Noto Sans"/>
            </a:endParaRPr>
          </a:p>
        </p:txBody>
      </p:sp>
      <p:sp>
        <p:nvSpPr>
          <p:cNvPr id="19" name="TextBox 18"/>
          <p:cNvSpPr txBox="1"/>
          <p:nvPr/>
        </p:nvSpPr>
        <p:spPr>
          <a:xfrm>
            <a:off x="4754880" y="2871215"/>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マグカップ・フライパン</a:t>
            </a:r>
            <a:endParaRPr sz="1600" lang="ja-JP">
              <a:latin typeface="Noto Sans"/>
              <a:ea typeface="Noto Sans CJK JP"/>
              <a:cs typeface="Noto Sans"/>
            </a:endParaRPr>
          </a:p>
        </p:txBody>
      </p:sp>
      <p:sp>
        <p:nvSpPr>
          <p:cNvPr id="20" name="TextBox 19"/>
          <p:cNvSpPr txBox="1"/>
          <p:nvPr/>
        </p:nvSpPr>
        <p:spPr>
          <a:xfrm>
            <a:off x="4754880" y="3182112"/>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建物と構造物</a:t>
            </a:r>
            <a:endParaRPr sz="1800" lang="ja-JP">
              <a:latin typeface="Noto Sans"/>
              <a:ea typeface="Noto Sans CJK JP"/>
              <a:cs typeface="Noto Sans"/>
            </a:endParaRPr>
          </a:p>
        </p:txBody>
      </p:sp>
      <p:sp>
        <p:nvSpPr>
          <p:cNvPr id="21" name="TextBox 20"/>
          <p:cNvSpPr txBox="1"/>
          <p:nvPr/>
        </p:nvSpPr>
        <p:spPr>
          <a:xfrm>
            <a:off x="4754880" y="3456432"/>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ダム・温室</a:t>
            </a:r>
            <a:endParaRPr sz="1600" lang="ja-JP">
              <a:latin typeface="Noto Sans"/>
              <a:ea typeface="Noto Sans CJK JP"/>
              <a:cs typeface="Noto Sans"/>
            </a:endParaRPr>
          </a:p>
        </p:txBody>
      </p:sp>
      <p:sp>
        <p:nvSpPr>
          <p:cNvPr id="22" name="TextBox 21"/>
          <p:cNvSpPr txBox="1"/>
          <p:nvPr/>
        </p:nvSpPr>
        <p:spPr>
          <a:xfrm>
            <a:off x="4754880" y="3767328"/>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食品と農作物</a:t>
            </a:r>
            <a:endParaRPr sz="1800" lang="ja-JP">
              <a:latin typeface="Noto Sans"/>
              <a:ea typeface="Noto Sans CJK JP"/>
              <a:cs typeface="Noto Sans"/>
            </a:endParaRPr>
          </a:p>
        </p:txBody>
      </p:sp>
      <p:sp>
        <p:nvSpPr>
          <p:cNvPr id="23" name="TextBox 22"/>
          <p:cNvSpPr txBox="1"/>
          <p:nvPr/>
        </p:nvSpPr>
        <p:spPr>
          <a:xfrm>
            <a:off x="4754880" y="4041648"/>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キュウリ・パプリカ</a:t>
            </a:r>
            <a:endParaRPr sz="1600" lang="ja-JP">
              <a:latin typeface="Noto Sans"/>
              <a:ea typeface="Noto Sans CJK JP"/>
              <a:cs typeface="Noto Sans"/>
            </a:endParaRPr>
          </a:p>
        </p:txBody>
      </p:sp>
      <p:sp>
        <p:nvSpPr>
          <p:cNvPr id="24"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3"/>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1,000カテゴリから100カテゴリを選び、説明用の10分野へ整理。日本語名は英語ラベルの訳。</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正解の物体が小さく写る場合もある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8161.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正解はゴルフボール</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golf ball</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芝や旗が大きく写り、対象のボールは画面の一部を占める。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ILSVRC2012_val_00008161.JPEG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550" b="1" lang="ja-JP">
                <a:solidFill>
                  <a:srgbClr val="303437"/>
                </a:solidFill>
                <a:latin typeface="Noto Sans"/>
                <a:ea typeface="Noto Sans CJK JP"/>
                <a:cs typeface="Noto Sans"/>
              </a:rPr>
              <a:t>イングリッシュ・スプリンガー（English springer）</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465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犬種を表すクラスである。犬という上位概念より、細かな区別を求める。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ILSVRC2012_val_00004650.JPEG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2. ImageNetの収集方法と画像数</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ImageNetの収集方法と画像数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先行するCaltech 101より対象と画像数を広げた</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ImageNetの収集方法と画像数</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先行する画像分類データCaltech 101は、101種類の物体を扱った。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これに対し、2009年のImageNet原著は約320万枚・5,247カテゴリを報告した。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ImageNetはカテゴリ数だけでなく、多様な画像を集め、人手で対象物を確認することを重視した。</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7" name="TextBox 6"/>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大量の注釈画像を学習と評価に使う</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当時は、多くのカテゴリを学習・評価できる注釈画像が不足していた。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そこで、カテゴリの設計、候補画像の検索、人手による選別、合意に基づく品質確認を組み合わせた。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カテゴリの階層・画像数・多様性・正確さを備えることが、ImageNetの設計上の目的だった。</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検索語を広げて候補画像を収集した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00928"/>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画像検索では、カテゴリの同義語を検索語に使った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上位概念を検索語に加え、意味の曖昧さを減らした。</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犬種名のwhippetだけでなく、whippet dogも使った。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中国語・スペイン語・オランダ語・イタリア語にも検索語を広げた。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重複除去後も、候補はカテゴリ当たり平均1万枚を超えた。</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作業者は対象の物体が写っているかを判定した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有償作業のAmazon Mechanical Turkを使った </a:t>
            </a:r>
            <a:r>
              <a:rPr sz="2400" lang="ja-JP">
                <a:solidFill>
                  <a:srgbClr val="303437"/>
                </a:solidFill>
                <a:latin typeface="Noto Sans"/>
                <a:ea typeface="Noto Sans CJK JP"/>
                <a:cs typeface="Noto Sans"/>
              </a:rPr>
              <a:t>[1]</a:t>
            </a:r>
            <a:r>
              <a:rPr sz="2400" lang="ja-JP">
                <a:solidFill>
                  <a:srgbClr val="303437"/>
                </a:solidFill>
                <a:latin typeface="Noto Sans"/>
                <a:ea typeface="Noto Sans CJK JP"/>
                <a:cs typeface="Noto Sans"/>
              </a:rPr>
              <a:t>。</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候補画像とカテゴリの定義を作業者に提示した。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対象物を含む画像を選ぶよう指示した。</a:t>
            </a:r>
            <a:endParaRPr sz="2400" lang="ja-JP">
              <a:latin typeface="Noto Sans"/>
              <a:ea typeface="Noto Sans CJK JP"/>
              <a:cs typeface="Noto Sans"/>
            </a:endParaRPr>
          </a:p>
          <a:p>
            <a:pPr algn="l" lvl="1" marL="9144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遮蔽・複数物体・混雑した背景も対象に含めた。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見やすい単独物体だけに限定しなかった。</a:t>
            </a:r>
            <a:endParaRPr sz="24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カテゴリごとに必要な合意数を調整した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初期サンプルでは、各画像を10人以上が判定した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投票結果から、対象物が含まれる確からしさの表を作った。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その後の画像は、カテゴリごとの確信度の閾値に達するまで判定した。</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一般的なcatとBurmese catでは、必要な合意数が異なる。</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ILSVRC 2012の画像分類用データ</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377440"/>
        </p:xfrm>
        <a:graphic>
          <a:graphicData uri="http://schemas.openxmlformats.org/drawingml/2006/table">
            <a:tbl>
              <a:tblPr firstRow="1" bandRow="1">
                <a:tableStyleId>{5C22544A-7EE6-4342-B048-85BDC9FD1C3A}</a:tableStyleId>
              </a:tblPr>
              <a:tblGrid>
                <a:gridCol w="2926080"/>
                <a:gridCol w="2743200"/>
                <a:gridCol w="237744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分割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画像数</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クラス数</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学習用</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1,281,167</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検証用</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50,000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大会テスト用</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100,000</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997960"/>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検証用は各クラス50枚、大会テスト用は各クラス100枚。</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学習画像数が最少のカテゴリは732枚</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pic>
        <p:nvPicPr>
          <p:cNvPr id="4" name="Picture 3" descr="image.jpg"/>
          <p:cNvPicPr>
            <a:picLocks noChangeAspect="1"/>
          </p:cNvPicPr>
          <p:nvPr/>
        </p:nvPicPr>
        <p:blipFill>
          <a:blip r:embed="rId2"/>
          <a:stretch>
            <a:fillRect/>
          </a:stretch>
        </p:blipFill>
        <p:spPr>
          <a:xfrm>
            <a:off x="1339327" y="1417320"/>
            <a:ext cx="2624865" cy="2788920"/>
          </a:xfrm>
          <a:prstGeom prst="rect">
            <a:avLst/>
          </a:prstGeom>
        </p:spPr>
      </p:pic>
      <p:sp>
        <p:nvSpPr>
          <p:cNvPr id="5" name="TextBox 4"/>
          <p:cNvSpPr txBox="1"/>
          <p:nvPr/>
        </p:nvSpPr>
        <p:spPr>
          <a:xfrm>
            <a:off x="4892040" y="1691640"/>
            <a:ext cx="3657600" cy="777240"/>
          </a:xfrm>
          <a:prstGeom prst="rect">
            <a:avLst/>
          </a:prstGeom>
          <a:noFill/>
        </p:spPr>
        <p:txBody>
          <a:bodyPr wrap="square" lIns="0" rIns="0" tIns="0" bIns="0">
            <a:spAutoFit/>
          </a:bodyPr>
          <a:lstStyle/>
          <a:p>
            <a:pPr marL="0" indent="0">
              <a:lnSpc>
                <a:spcPct val="110000"/>
              </a:lnSpc>
              <a:spcBef>
                <a:spcPts val="0"/>
              </a:spcBef>
              <a:spcAft>
                <a:spcPts val="700"/>
              </a:spcAft>
              <a:buNone/>
              <a:defRPr sz="2600" lang="ja-JP">
                <a:latin typeface="Noto Sans"/>
                <a:ea typeface="Noto Sans CJK JP"/>
                <a:cs typeface="Noto Sans"/>
              </a:defRPr>
            </a:pPr>
            <a:r>
              <a:rPr sz="2600" lang="ja-JP">
                <a:solidFill>
                  <a:srgbClr val="303437"/>
                </a:solidFill>
                <a:latin typeface="Noto Sans"/>
                <a:ea typeface="Noto Sans CJK JP"/>
                <a:cs typeface="Noto Sans"/>
              </a:rPr>
              <a:t>ブラック・アンド・タン・クーンハウンド</a:t>
            </a:r>
          </a:p>
        </p:txBody>
      </p:sp>
      <p:sp>
        <p:nvSpPr>
          <p:cNvPr id="6" name="TextBox 5"/>
          <p:cNvSpPr txBox="1"/>
          <p:nvPr/>
        </p:nvSpPr>
        <p:spPr>
          <a:xfrm>
            <a:off x="4892040" y="2697480"/>
            <a:ext cx="3657600" cy="1188720"/>
          </a:xfrm>
          <a:prstGeom prst="rect">
            <a:avLst/>
          </a:prstGeom>
          <a:noFill/>
        </p:spPr>
        <p:txBody>
          <a:bodyPr wrap="square" lIns="0" rIns="0" tIns="0" bIns="0">
            <a:spAutoFit/>
          </a:bodyPr>
          <a:lstStyle/>
          <a:p>
            <a:pPr marL="0" indent="0">
              <a:lnSpc>
                <a:spcPct val="110000"/>
              </a:lnSpc>
              <a:spcBef>
                <a:spcPts val="0"/>
              </a:spcBef>
              <a:spcAft>
                <a:spcPts val="700"/>
              </a:spcAft>
              <a:buNone/>
              <a:defRPr sz="2300" lang="ja-JP">
                <a:latin typeface="Noto Sans"/>
                <a:ea typeface="Noto Sans CJK JP"/>
                <a:cs typeface="Noto Sans"/>
              </a:defRPr>
            </a:pPr>
            <a:r>
              <a:rPr sz="2300" lang="ja-JP">
                <a:solidFill>
                  <a:srgbClr val="303437"/>
                </a:solidFill>
                <a:latin typeface="Noto Sans"/>
                <a:ea typeface="Noto Sans CJK JP"/>
                <a:cs typeface="Noto Sans"/>
              </a:rPr>
              <a:t>black-and-tan coonhound
学習画像は732枚 [1]。</a:t>
            </a:r>
          </a:p>
        </p:txBody>
      </p:sp>
      <p:sp>
        <p:nvSpPr>
          <p:cNvPr id="7" name="lookup-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4"/>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カテゴリの画像例. </a:t>
            </a:r>
            <a:r>
              <a:rPr sz="800" b="0" lang="ja-JP">
                <a:solidFill>
                  <a:srgbClr val="626669"/>
                </a:solidFill>
                <a:latin typeface="Noto Sans"/>
                <a:ea typeface="Noto Sans CJK JP"/>
                <a:cs typeface="Noto Sans"/>
                <a:hlinkClick r:id="rId5"/>
              </a:rPr>
              <a:t>https://github.com/EliSchwartz/imagenet-sample-images</a:t>
            </a:r>
            <a:r>
              <a:rPr sz="800" b="0" lang="ja-JP">
                <a:solidFill>
                  <a:srgbClr val="626669"/>
                </a:solidFill>
                <a:latin typeface="Noto Sans"/>
                <a:ea typeface="Noto Sans CJK JP"/>
                <a:cs typeface="Noto Sans"/>
              </a:rPr>
              <a:t>　n02089078_black-and-tan_coonhound.JPEG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marL="0" indent="0" algn="l">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1,300枚あるカテゴリの例はキットギツネ</a:t>
            </a:r>
          </a:p>
        </p:txBody>
      </p:sp>
      <p:sp>
        <p:nvSpPr>
          <p:cNvPr id="3" name="Title 2"/>
          <p:cNvSpPr>
            <a:spLocks noGrp="1"/>
          </p:cNvSpPr>
          <p:nvPr>
            <p:ph type="title" idx="2"/>
          </p:nvPr>
        </p:nvSpPr>
        <p:spPr/>
        <p:txBody>
          <a:bodyPr wrap="square" lIns="0" rIns="0" tIns="0" bIns="0" anchor="ctr"/>
          <a:lstStyle/>
          <a:p>
            <a:pPr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p>
        </p:txBody>
      </p:sp>
      <p:pic>
        <p:nvPicPr>
          <p:cNvPr id="4" name="Picture 3" descr="image.jpg"/>
          <p:cNvPicPr>
            <a:picLocks noChangeAspect="1"/>
          </p:cNvPicPr>
          <p:nvPr/>
        </p:nvPicPr>
        <p:blipFill>
          <a:blip r:embed="rId2"/>
          <a:stretch>
            <a:fillRect/>
          </a:stretch>
        </p:blipFill>
        <p:spPr>
          <a:xfrm>
            <a:off x="1605915" y="1417320"/>
            <a:ext cx="2091689" cy="2788920"/>
          </a:xfrm>
          <a:prstGeom prst="rect">
            <a:avLst/>
          </a:prstGeom>
        </p:spPr>
      </p:pic>
      <p:sp>
        <p:nvSpPr>
          <p:cNvPr id="5" name="TextBox 4"/>
          <p:cNvSpPr txBox="1"/>
          <p:nvPr/>
        </p:nvSpPr>
        <p:spPr>
          <a:xfrm>
            <a:off x="4892040" y="1691640"/>
            <a:ext cx="3657600" cy="777240"/>
          </a:xfrm>
          <a:prstGeom prst="rect">
            <a:avLst/>
          </a:prstGeom>
          <a:noFill/>
        </p:spPr>
        <p:txBody>
          <a:bodyPr wrap="square" lIns="0" rIns="0" tIns="0" bIns="0">
            <a:spAutoFit/>
          </a:bodyPr>
          <a:lstStyle/>
          <a:p>
            <a:pPr marL="0" indent="0">
              <a:lnSpc>
                <a:spcPct val="110000"/>
              </a:lnSpc>
              <a:spcBef>
                <a:spcPts val="0"/>
              </a:spcBef>
              <a:spcAft>
                <a:spcPts val="700"/>
              </a:spcAft>
              <a:buNone/>
              <a:defRPr sz="2600" lang="ja-JP">
                <a:latin typeface="Noto Sans"/>
                <a:ea typeface="Noto Sans CJK JP"/>
                <a:cs typeface="Noto Sans"/>
              </a:defRPr>
            </a:pPr>
            <a:r>
              <a:rPr sz="2600" lang="ja-JP">
                <a:solidFill>
                  <a:srgbClr val="303437"/>
                </a:solidFill>
                <a:latin typeface="Noto Sans"/>
                <a:ea typeface="Noto Sans CJK JP"/>
                <a:cs typeface="Noto Sans"/>
              </a:rPr>
              <a:t>キットギツネ</a:t>
            </a:r>
          </a:p>
        </p:txBody>
      </p:sp>
      <p:sp>
        <p:nvSpPr>
          <p:cNvPr id="6" name="TextBox 5"/>
          <p:cNvSpPr txBox="1"/>
          <p:nvPr/>
        </p:nvSpPr>
        <p:spPr>
          <a:xfrm>
            <a:off x="4892040" y="2697480"/>
            <a:ext cx="3657600" cy="1188720"/>
          </a:xfrm>
          <a:prstGeom prst="rect">
            <a:avLst/>
          </a:prstGeom>
          <a:noFill/>
        </p:spPr>
        <p:txBody>
          <a:bodyPr wrap="square" lIns="0" rIns="0" tIns="0" bIns="0">
            <a:spAutoFit/>
          </a:bodyPr>
          <a:lstStyle/>
          <a:p>
            <a:pPr marL="0" indent="0">
              <a:lnSpc>
                <a:spcPct val="110000"/>
              </a:lnSpc>
              <a:spcBef>
                <a:spcPts val="0"/>
              </a:spcBef>
              <a:spcAft>
                <a:spcPts val="700"/>
              </a:spcAft>
              <a:buNone/>
              <a:defRPr sz="2300" lang="ja-JP">
                <a:latin typeface="Noto Sans"/>
                <a:ea typeface="Noto Sans CJK JP"/>
                <a:cs typeface="Noto Sans"/>
              </a:defRPr>
            </a:pPr>
            <a:r>
              <a:rPr sz="2300" lang="ja-JP">
                <a:solidFill>
                  <a:srgbClr val="303437"/>
                </a:solidFill>
                <a:latin typeface="Noto Sans"/>
                <a:ea typeface="Noto Sans CJK JP"/>
                <a:cs typeface="Noto Sans"/>
              </a:rPr>
              <a:t>kit fox
学習画像は1,300枚 [1]。</a:t>
            </a:r>
          </a:p>
        </p:txBody>
      </p:sp>
      <p:sp>
        <p:nvSpPr>
          <p:cNvPr id="7" name="lookup-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3"/>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カテゴリの画像例. </a:t>
            </a:r>
            <a:r>
              <a:rPr sz="800" b="0" lang="ja-JP">
                <a:solidFill>
                  <a:srgbClr val="626669"/>
                </a:solidFill>
                <a:latin typeface="Noto Sans"/>
                <a:ea typeface="Noto Sans CJK JP"/>
                <a:cs typeface="Noto Sans"/>
                <a:hlinkClick r:id="rId4"/>
              </a:rPr>
              <a:t>https://github.com/EliSchwartz/imagenet-sample-images</a:t>
            </a:r>
            <a:r>
              <a:rPr sz="800" b="0" lang="ja-JP">
                <a:solidFill>
                  <a:srgbClr val="626669"/>
                </a:solidFill>
                <a:latin typeface="Noto Sans"/>
                <a:ea typeface="Noto Sans CJK JP"/>
                <a:cs typeface="Noto Sans"/>
              </a:rPr>
              <a:t>　n02119789_kit_fox.JPEG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1,300枚の学習画像があるカテゴリは895種類</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pic>
        <p:nvPicPr>
          <p:cNvPr id="4" name="Picture 3" descr="imagenet-counts.png"/>
          <p:cNvPicPr>
            <a:picLocks noChangeAspect="1"/>
          </p:cNvPicPr>
          <p:nvPr/>
        </p:nvPicPr>
        <p:blipFill>
          <a:blip r:embed="rId4"/>
          <a:stretch>
            <a:fillRect/>
          </a:stretch>
        </p:blipFill>
        <p:spPr>
          <a:xfrm>
            <a:off x="548640" y="1371600"/>
            <a:ext cx="8046720" cy="2743200"/>
          </a:xfrm>
          <a:prstGeom prst="rect">
            <a:avLst/>
          </a:prstGeom>
        </p:spPr>
      </p:pic>
      <p:sp>
        <p:nvSpPr>
          <p:cNvPr id="5" name="TextBox 4"/>
          <p:cNvSpPr txBox="1"/>
          <p:nvPr/>
        </p:nvSpPr>
        <p:spPr>
          <a:xfrm>
            <a:off x="594360" y="4169663"/>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全1,000カテゴリのうち、105カテゴリは1,300枚未満 [1]。</a:t>
            </a:r>
          </a:p>
        </p:txBody>
      </p:sp>
      <p:sp>
        <p:nvSpPr>
          <p:cNvPr id="6" name="lookup-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meta.mat. </a:t>
            </a:r>
            <a:r>
              <a:rPr sz="800" b="0" lang="ja-JP">
                <a:solidFill>
                  <a:srgbClr val="626669"/>
                </a:solidFill>
                <a:latin typeface="Noto Sans"/>
                <a:ea typeface="Noto Sans CJK JP"/>
                <a:cs typeface="Noto Sans"/>
                <a:hlinkClick r:id="rId5"/>
              </a:rPr>
              <a:t>https://image-net.org/challenges/LSVRC/2012/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marL="0" indent="0" algn="l">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学習画像が800枚未満のカテゴリは5種類</a:t>
            </a:r>
          </a:p>
        </p:txBody>
      </p:sp>
      <p:sp>
        <p:nvSpPr>
          <p:cNvPr id="3" name="Title 2"/>
          <p:cNvSpPr>
            <a:spLocks noGrp="1"/>
          </p:cNvSpPr>
          <p:nvPr>
            <p:ph type="title" idx="2"/>
          </p:nvPr>
        </p:nvSpPr>
        <p:spPr/>
        <p:txBody>
          <a:bodyPr wrap="square" lIns="0" rIns="0" tIns="0" bIns="0" anchor="ctr"/>
          <a:lstStyle/>
          <a:p>
            <a:pPr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p>
        </p:txBody>
      </p:sp>
      <p:pic>
        <p:nvPicPr>
          <p:cNvPr id="4" name="Picture 3" descr="imagenet-tail.png"/>
          <p:cNvPicPr>
            <a:picLocks noChangeAspect="1"/>
          </p:cNvPicPr>
          <p:nvPr/>
        </p:nvPicPr>
        <p:blipFill>
          <a:blip r:embed="rId2"/>
          <a:stretch>
            <a:fillRect/>
          </a:stretch>
        </p:blipFill>
        <p:spPr>
          <a:xfrm>
            <a:off x="548640" y="1371600"/>
            <a:ext cx="8046720" cy="2743200"/>
          </a:xfrm>
          <a:prstGeom prst="rect">
            <a:avLst/>
          </a:prstGeom>
        </p:spPr>
      </p:pic>
      <p:sp>
        <p:nvSpPr>
          <p:cNvPr id="5" name="TextBox 4"/>
          <p:cNvSpPr txBox="1"/>
          <p:nvPr/>
        </p:nvSpPr>
        <p:spPr>
          <a:xfrm>
            <a:off x="594360" y="3991863"/>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1,300枚未満の105カテゴリを表示。1,000枚未満は19カテゴリ [1]。</a:t>
            </a:r>
          </a:p>
        </p:txBody>
      </p:sp>
      <p:sp>
        <p:nvSpPr>
          <p:cNvPr id="6" name="lookup-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meta.mat. </a:t>
            </a:r>
            <a:r>
              <a:rPr sz="800" b="0" lang="ja-JP">
                <a:solidFill>
                  <a:srgbClr val="626669"/>
                </a:solidFill>
                <a:latin typeface="Noto Sans"/>
                <a:ea typeface="Noto Sans CJK JP"/>
                <a:cs typeface="Noto Sans"/>
                <a:hlinkClick r:id="rId3"/>
              </a:rPr>
              <a:t>https://image-net.org/challenges/LSVRC/2012/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学習画像が少ないカテゴリの枚数</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44752"/>
          <a:ext cx="8046720" cy="2240280"/>
        </p:xfrm>
        <a:graphic>
          <a:graphicData uri="http://schemas.openxmlformats.org/drawingml/2006/table">
            <a:tbl>
              <a:tblPr firstRow="1" bandRow="1">
                <a:tableStyleId>{5C22544A-7EE6-4342-B048-85BDC9FD1C3A}</a:tableStyleId>
              </a:tblPr>
              <a:tblGrid>
                <a:gridCol w="6217920"/>
                <a:gridCol w="1828800"/>
              </a:tblGrid>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最少側の3カテゴリ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学習画像数</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black-and-tan coonhound</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732枚</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otterhound</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738枚</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English foxhound</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754枚</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r>
            </a:tbl>
          </a:graphicData>
        </a:graphic>
      </p:graphicFrame>
      <p:sp>
        <p:nvSpPr>
          <p:cNvPr id="5" name="TextBox 4"/>
          <p:cNvSpPr/>
          <p:nvPr>
            <p:ph type="body" idx="1"/>
          </p:nvPr>
        </p:nvSpPr>
        <p:spPr>
          <a:xfrm>
            <a:off x="594360" y="3931920"/>
            <a:ext cx="7955279" cy="594360"/>
          </a:xfrm>
          <a:prstGeom prst="rect">
            <a:avLst/>
          </a:prstGeom>
          <a:noFill/>
        </p:spPr>
        <p:txBody>
          <a:bodyPr wrap="square" lIns="91425" rIns="91425" tIns="91425" bIns="91425" anchor="t">
            <a:spAutoFit/>
          </a:bodyPr>
          <a:lstStyle/>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最小732枚は、最大1,300枚の約56%である。全体では1,300枚のカテゴリが多いが、少数側には画像枚数の差がある。</a:t>
            </a:r>
            <a:endParaRPr sz="17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2012公式devkitのmeta.mat全1,000カテゴリを集計.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3. 画像分類の評価指標とモデル性能</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順位に応じてTop-1とTop-5が変わる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377440"/>
        </p:xfrm>
        <a:graphic>
          <a:graphicData uri="http://schemas.openxmlformats.org/drawingml/2006/table">
            <a:tbl>
              <a:tblPr firstRow="1" bandRow="1">
                <a:tableStyleId>{5C22544A-7EE6-4342-B048-85BDC9FD1C3A}</a:tableStyleId>
              </a:tblPr>
              <a:tblGrid>
                <a:gridCol w="3657600"/>
                <a:gridCol w="2194560"/>
                <a:gridCol w="219456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正解のtenchの順位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Top-1の得点</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Top-5の得点</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1位</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2位</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6位</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997960"/>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3枚のTop-1正解率は33.3%、Top-5正解率は66.7%となる。画像ごとの得点を、評価対象の画像全体で平均する。</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 Task 1.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予測の順位からTop-1・Top-5正解率を求める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最上位の予測が正解と一致すればTop-1の得点は1となる。上位5予測に正解が含まれればTop-5の得点は1となる。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画像ごとの0・1を評価画像全体で平均し、百分率で正解率を報告する。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大会の結果には誤り率も使われる。誤り率は100%から正解率を引いた値で、小さいほどよい。</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750" b="1" lang="ja-JP">
                <a:solidFill>
                  <a:srgbClr val="303437"/>
                </a:solidFill>
                <a:latin typeface="Noto Sans"/>
                <a:ea typeface="Noto Sans CJK JP"/>
                <a:cs typeface="Noto Sans"/>
              </a:rPr>
              <a:t>2012年は畳み込みネットワークが成績を伸ばした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2971800"/>
                <a:gridCol w="2560320"/>
                <a:gridCol w="2514600"/>
              </a:tblGrid>
              <a:tr h="502920">
                <a:tc>
                  <a:txBody>
                    <a:bodyPr wrap="square" lIns="38100" rIns="38100" tIns="38100" bIns="38100" anchor="ct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大会の提出システム</a:t>
                      </a:r>
                      <a:r>
                        <a:rPr sz="2100" lang="ja-JP">
                          <a:solidFill>
                            <a:srgbClr val="303437"/>
                          </a:solidFill>
                          <a:latin typeface="Noto Sans"/>
                          <a:ea typeface="Noto Sans CJK JP"/>
                          <a:cs typeface="Noto Sans"/>
                        </a:rPr>
                        <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追加学習データ</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Top-5誤り率</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ISI</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なし</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26.2%</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SuperVision</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なし</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16.4%</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SuperVision</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Fall 2011版</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15.3%</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SuperVisionは、畳み込みネットワークAlexNetを用いたシステム [1]。</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 Table 5</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2016年のResNet原著の評価結果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381478"/>
          <a:ext cx="8046720" cy="2377440"/>
        </p:xfrm>
        <a:graphic>
          <a:graphicData uri="http://schemas.openxmlformats.org/drawingml/2006/table">
            <a:tbl>
              <a:tblPr firstRow="1" bandRow="1">
                <a:tableStyleId>{5C22544A-7EE6-4342-B048-85BDC9FD1C3A}</a:tableStyleId>
              </a:tblPr>
              <a:tblGrid>
                <a:gridCol w="3291840"/>
                <a:gridCol w="2377440"/>
                <a:gridCol w="237744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モデル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Top-1誤り率</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Top-5誤り率</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ResNet-50</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22.85%</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6.71%</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ResNet-101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21.75%</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6.05%</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ResNet-152</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21.43%</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5.71%</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962118"/>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残差接続を用いるResNetの、10クロップ評価による値。同じ画像から10領域を切り出し、予測をまとめる。</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He et al. (2016). CVPR, pp. 770–778. Deep Residual Learning for Image Recognition. Table 3</a:t>
            </a:r>
          </a:p>
        </p:txBody>
      </p:sp>
      <p:sp>
        <p:nvSpPr>
          <p:cNvPr id="7" name="TextBox 6"/>
          <p:cNvSpPr txBox="1"/>
          <p:nvPr/>
        </p:nvSpPr>
        <p:spPr>
          <a:xfrm>
            <a:off x="5027673" y="4717326"/>
            <a:ext cx="3659126"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https://arxiv.org/abs/1512.03385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2025年の固定特徴による画像分類の正解率</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2743200"/>
                <a:gridCol w="2880360"/>
                <a:gridCol w="242316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特徴モデル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学習方式</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Top-1正解率</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DINOv3 7B/16</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自己教師あり</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88.4%</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SigLIP 2 g/16</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画像とテキスト</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89.1%</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PEcore G/14</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画像とテキスト</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89.3%</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特徴モデルを固定し、ImageNetの学習用で線形分類器を学習する。検証用で条件を選び、同じ検証用で評価する。入力解像度は異なる。</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 Table 7</a:t>
            </a:r>
          </a:p>
        </p:txBody>
      </p:sp>
      <p:sp>
        <p:nvSpPr>
          <p:cNvPr id="7" name="TextBox 6"/>
          <p:cNvSpPr txBox="1"/>
          <p:nvPr/>
        </p:nvSpPr>
        <p:spPr>
          <a:xfrm>
            <a:off x="3358012" y="4717326"/>
            <a:ext cx="532878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画像から特徴を取り出して分類する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
        <p:nvSpPr>
          <p:cNvPr id="5" name="body"/>
          <p:cNvSpPr/>
          <p:nvPr>
            <p:ph type="body" idx="1"/>
          </p:nvPr>
        </p:nvSpPr>
        <p:spPr>
          <a:xfrm>
            <a:off x="594360" y="130901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畳み込みニューラルネットワークは、画像の局所的な模様を段階的に組み合わせて特徴を得る。AlexNetやResNetはこの方式を使う。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ResNetは層の入力を後段へ加える残差接続を使い、深いネットワークを学習する。50・101・152は層数を表す。</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これらの特徴からクラスの得点を出し、その順位でTop-1・Top-5を評価する。</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He et al. (2016). CVPR, pp. 770–778. Deep Residual Learning for Image Recognition.</a:t>
            </a:r>
          </a:p>
        </p:txBody>
      </p:sp>
      <p:sp>
        <p:nvSpPr>
          <p:cNvPr id="7" name="TextBox 6"/>
          <p:cNvSpPr txBox="1"/>
          <p:nvPr/>
        </p:nvSpPr>
        <p:spPr>
          <a:xfrm>
            <a:off x="4664725" y="4717326"/>
            <a:ext cx="4022074"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https://arxiv.org/abs/1512.03385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画像特徴の事前学習と線形分類による評価</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事前学習は、分類に利用する画像特徴を先に学ぶ工程である。自己教師あり学習は画像自体から、画像・テキスト学習は対応する組から学ぶ。</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微調整では、事前学習した特徴モデルも更新する。一方、線形分類では特徴モデルを固定し、その出力からクラスを選ぶ分類器だけを学習する。</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線形分類の正解率は、固定した画像特徴が1,000クラスの区別にどの程度使えるかを示す。</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a:t>
            </a:r>
          </a:p>
        </p:txBody>
      </p:sp>
      <p:sp>
        <p:nvSpPr>
          <p:cNvPr id="7" name="TextBox 6"/>
          <p:cNvSpPr txBox="1"/>
          <p:nvPr/>
        </p:nvSpPr>
        <p:spPr>
          <a:xfrm>
            <a:off x="2994861" y="4717326"/>
            <a:ext cx="5691938"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4. ImageNetの利用動向と後続データ</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ImageNetの利用動向と後続データ</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ImageNet-ReaLは複数の正解ラベルを付ける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複数物体が写っても、通常の正解は1クラスである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そこでImageNet-ReaLは正解ラベルを見直した </a:t>
            </a:r>
            <a:r>
              <a:rPr sz="2200" lang="ja-JP">
                <a:solidFill>
                  <a:srgbClr val="303437"/>
                </a:solidFill>
                <a:latin typeface="Noto Sans"/>
                <a:ea typeface="Noto Sans CJK JP"/>
                <a:cs typeface="Noto Sans"/>
              </a:rPr>
              <a:t>[2]</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既存の検証画像に、複数の妥当なラベルを付け直す。</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Beyer et al. (2020). arXiv:2006.07159. Are we done with ImageNet?.</a:t>
            </a:r>
          </a:p>
        </p:txBody>
      </p:sp>
      <p:sp>
        <p:nvSpPr>
          <p:cNvPr id="6" name="TextBox 5"/>
          <p:cNvSpPr txBox="1"/>
          <p:nvPr/>
        </p:nvSpPr>
        <p:spPr>
          <a:xfrm>
            <a:off x="3886850" y="4717326"/>
            <a:ext cx="4799949"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https://arxiv.org/abs/2006.07159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物体分類から複数物体や場面の認識へ広がった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28814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先行する物体認識データPASCAL VOCは、2012年版で20クラスの分類・検出・領域分割を扱った。ILSVRC 2012の分類は1,000クラスで50倍である。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その後、COCO（2014）は日常場面の複数物体に位置と領域を注釈し、物体検出・領域分割を評価した。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一方、場面分類データPlaces（2014）は屋内外の場所を分類する。ImageNetの物体カテゴリとは対象が異なる。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別の画像や描画で頑健性を調べる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3333"/>
              <a:buFont typeface="Noto Sans CJK JP"/>
              <a:buChar char="●"/>
              <a:defRPr sz="2100" b="0" lang="ja-JP">
                <a:latin typeface="Noto Sans"/>
                <a:ea typeface="Noto Sans CJK JP"/>
                <a:cs typeface="Noto Sans"/>
              </a:defRPr>
            </a:pPr>
            <a:r>
              <a:rPr sz="2100" lang="ja-JP">
                <a:solidFill>
                  <a:srgbClr val="303437"/>
                </a:solidFill>
                <a:latin typeface="Noto Sans"/>
                <a:ea typeface="Noto Sans CJK JP"/>
                <a:cs typeface="Noto Sans"/>
              </a:rPr>
              <a:t>ImageNetV2は同じ1,000クラスで画像を再収集した </a:t>
            </a:r>
            <a:r>
              <a:rPr sz="2100" lang="ja-JP">
                <a:solidFill>
                  <a:srgbClr val="303437"/>
                </a:solidFill>
                <a:latin typeface="Noto Sans"/>
                <a:ea typeface="Noto Sans CJK JP"/>
                <a:cs typeface="Noto Sans"/>
              </a:rPr>
              <a:t>[1]</a:t>
            </a:r>
            <a:r>
              <a:rPr sz="2100" lang="ja-JP">
                <a:solidFill>
                  <a:srgbClr val="303437"/>
                </a:solidFill>
                <a:latin typeface="Noto Sans"/>
                <a:ea typeface="Noto Sans CJK JP"/>
                <a:cs typeface="Noto Sans"/>
              </a:rPr>
              <a:t>。</a:t>
            </a:r>
            <a:endParaRPr sz="2100" lang="ja-JP">
              <a:latin typeface="Noto Sans"/>
              <a:ea typeface="Noto Sans CJK JP"/>
              <a:cs typeface="Noto Sans"/>
            </a:endParaRPr>
          </a:p>
          <a:p>
            <a:pPr algn="l" lvl="1" marL="9144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別に集めた画像で、既存の検証画像への適合を調べる。</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その後、絵画のImageNet-Rや、画像を劣化させたImageNet-Cも作られた [2]。</a:t>
            </a:r>
            <a:r>
              <a:rPr sz="2100" lang="ja-JP">
                <a:solidFill>
                  <a:srgbClr val="303437"/>
                </a:solidFill>
                <a:latin typeface="Noto Sans"/>
                <a:ea typeface="Noto Sans CJK JP"/>
                <a:cs typeface="Noto Sans"/>
              </a:rPr>
              <a:t/>
            </a:r>
            <a:r>
              <a:rPr sz="2100" lang="ja-JP">
                <a:solidFill>
                  <a:srgbClr val="303437"/>
                </a:solidFill>
                <a:latin typeface="Noto Sans"/>
                <a:ea typeface="Noto Sans CJK JP"/>
                <a:cs typeface="Noto Sans"/>
              </a:rPr>
              <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2025年のDINOv3論文も、これらで汎化性能を調べている。</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2026年も公開実装に、ImageNetでの評価手順がある </a:t>
            </a:r>
            <a:r>
              <a:rPr sz="2100" lang="ja-JP">
                <a:solidFill>
                  <a:srgbClr val="303437"/>
                </a:solidFill>
                <a:latin typeface="Noto Sans"/>
                <a:ea typeface="Noto Sans CJK JP"/>
                <a:cs typeface="Noto Sans"/>
              </a:rPr>
              <a:t>[2]</a:t>
            </a:r>
            <a:r>
              <a:rPr sz="2100" lang="ja-JP">
                <a:solidFill>
                  <a:srgbClr val="303437"/>
                </a:solidFill>
                <a:latin typeface="Noto Sans"/>
                <a:ea typeface="Noto Sans CJK JP"/>
                <a:cs typeface="Noto Sans"/>
              </a:rPr>
              <a:t>。</a:t>
            </a:r>
            <a:endParaRPr sz="2100" lang="ja-JP">
              <a:latin typeface="Noto Sans"/>
              <a:ea typeface="Noto Sans CJK JP"/>
              <a:cs typeface="Noto Sans"/>
            </a:endParaRPr>
          </a:p>
        </p:txBody>
      </p:sp>
      <p:sp>
        <p:nvSpPr>
          <p:cNvPr id="5"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Recht et al. (2019). </a:t>
            </a:r>
            <a:r>
              <a:rPr sz="800" b="0" lang="ja-JP">
                <a:solidFill>
                  <a:srgbClr val="626669"/>
                </a:solidFill>
                <a:latin typeface="Noto Sans"/>
                <a:ea typeface="Noto Sans CJK JP"/>
                <a:cs typeface="Noto Sans"/>
                <a:hlinkClick r:id="rId2"/>
              </a:rPr>
              <a:t>https://github.com/modestyachts/ImageNetV2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DINOv3の論文・公開実装. </a:t>
            </a:r>
            <a:r>
              <a:rPr sz="800" b="0" lang="ja-JP">
                <a:solidFill>
                  <a:srgbClr val="626669"/>
                </a:solidFill>
                <a:latin typeface="Noto Sans"/>
                <a:ea typeface="Noto Sans CJK JP"/>
                <a:cs typeface="Noto Sans"/>
                <a:hlinkClick r:id="rId3"/>
              </a:rPr>
              <a:t>https://github.com/facebookresearch/dinov3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5. 配布画像の入手方法と利用条件</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5. 配布画像の入手方法と利用条件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1,000クラス版と小規模版を配布先から入手する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5. 配布画像の入手方法と利用条件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ILSVRC 2012の1,000クラス分類用データは、公式ダウンロードページが案内するKaggleから入手できる。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ImageNet全体とその他の部分集合には、ログインと利用条件への同意が必要となる。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小規模版ImagenetteはImageNetの10クラスを抜き出したデータである。画像フォルダのWordNet IDとモデルのクラス番号を対応付けて使う。</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6" name="TextBox 5"/>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ImageNetの目的・収録範囲と評価への利用</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5. 配布画像の入手方法と利用条件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ImageNetは物体認識用の画像データベースである。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2009年に発表され、多数の画像を人手で確認した。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ImageNet-1kはILSVRCの1,000クラス分類用である。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現在は特徴評価にも使い、汎化は別画像で調べる。</a:t>
            </a:r>
            <a:endParaRPr sz="2400" lang="ja-JP">
              <a:latin typeface="Noto Sans"/>
              <a:ea typeface="Noto Sans CJK JP"/>
              <a:cs typeface="Noto Sans"/>
            </a:endParaRP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41359"/>
            <a:ext cx="8046720" cy="731520"/>
          </a:xfrm>
        </p:spPr>
        <p:txBody>
          <a:bodyPr tIns="0" bIns="0" anchor="ctr" wrap="square" lIns="0" rIns="0"/>
          <a:lstStyle/>
          <a:p>
            <a:pPr algn="ctr">
              <a:lnSpc>
                <a:spcPct val="100000"/>
              </a:lnSpc>
              <a:spcBef>
                <a:spcPts val="0"/>
              </a:spcBef>
              <a:spcAft>
                <a:spcPts val="0"/>
              </a:spcAft>
              <a:defRPr sz="48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Appendix</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Appendix: 目次</a:t>
            </a:r>
            <a:endParaRPr sz="1400" lang="ja-JP">
              <a:latin typeface="Noto Sans"/>
              <a:ea typeface="Noto Sans CJK JP"/>
              <a:cs typeface="Noto Sans"/>
            </a:endParaRPr>
          </a:p>
        </p:txBody>
      </p:sp>
      <p:sp>
        <p:nvSpPr>
          <p:cNvPr id="4" name="body"/>
          <p:cNvSpPr/>
          <p:nvPr>
            <p:ph type="body" idx="1"/>
          </p:nvPr>
        </p:nvSpPr>
        <p:spPr>
          <a:xfrm>
            <a:off x="594360" y="1073169"/>
            <a:ext cx="7955279" cy="3749039"/>
          </a:xfrm>
          <a:prstGeom prst="rect">
            <a:avLst/>
          </a:prstGeom>
          <a:noFill/>
        </p:spPr>
        <p:txBody>
          <a:bodyPr wrap="square" lIns="0" rIns="0" tIns="0" bIns="0">
            <a:spAutoFit/>
          </a:bodyPr>
          <a:lstStyle/>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開発者の研究と発表先</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生物・人工物のカテゴリの例</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画像と正解カテゴリの追加例</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1,000クラスの学習画像数の統計</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小規模版Imagenetteの画像サイズ</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分類モデルの評価条件と前処理</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画像の読込コードと関連文献</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ImageNetを発表した著者と発表先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7826"/>
              <a:buFont typeface="Noto Sans CJK JP"/>
              <a:buChar char="●"/>
              <a:defRPr sz="2300" b="0" lang="ja-JP">
                <a:latin typeface="Noto Sans"/>
                <a:ea typeface="Noto Sans CJK JP"/>
                <a:cs typeface="Noto Sans"/>
              </a:defRPr>
            </a:pPr>
            <a:r>
              <a:rPr sz="2300" lang="ja-JP">
                <a:solidFill>
                  <a:srgbClr val="303437"/>
                </a:solidFill>
                <a:latin typeface="Noto Sans"/>
                <a:ea typeface="Noto Sans CJK JP"/>
                <a:cs typeface="Noto Sans"/>
              </a:rPr>
              <a:t>原著は2009年のCVPRで発表された [1]。</a:t>
            </a:r>
            <a:endParaRPr sz="2300" lang="ja-JP">
              <a:latin typeface="Noto Sans"/>
              <a:ea typeface="Noto Sans CJK JP"/>
              <a:cs typeface="Noto Sans"/>
            </a:endParaRP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第一著者のJia Dengは、画像認識とImageNet・ILSVRCを研究した。</a:t>
            </a: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最終著者のLi Fei-Feiは、物体認識とCaltech 101を研究した。</a:t>
            </a: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発表当時の所属はPrinceton大学だった。原著は2019年にPAMI Longuet-Higgins Prizeを受賞した [2]。</a:t>
            </a:r>
          </a:p>
        </p:txBody>
      </p:sp>
      <p:sp>
        <p:nvSpPr>
          <p:cNvPr id="5" name="TextBox 4"/>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5395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ImageNet About. </a:t>
            </a:r>
            <a:r>
              <a:rPr sz="800" lang="ja-JP">
                <a:solidFill>
                  <a:srgbClr val="626669"/>
                </a:solidFill>
                <a:latin typeface="Noto Sans"/>
                <a:ea typeface="Noto Sans CJK JP"/>
                <a:cs typeface="Noto Sans"/>
                <a:hlinkClick r:id="rId3"/>
              </a:rPr>
              <a:t>https://www.image-net.org/about.php</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哺乳類と鳥類のカテゴリ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哺乳類</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シベリアンハスキー</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グレートデーン</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ペルシャネコ</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エジプシャンマウ</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アフリカゾウ</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ガゼル</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シマウマ</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ジャイアントパンダ</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ミーアキャット</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アシカ</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鳥類</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ダチョウ</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ゴシキヒワ</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メキシコマシコ</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ユキヒメドリ</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コマツグミ</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カササギ</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ハクトウワシ</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ハゲワシ</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クジャク</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フラミンゴ</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650" b="1" lang="ja-JP">
                <a:solidFill>
                  <a:srgbClr val="303437"/>
                </a:solidFill>
                <a:latin typeface="Noto Sans"/>
                <a:ea typeface="Noto Sans CJK JP"/>
                <a:cs typeface="Noto Sans"/>
              </a:rPr>
              <a:t>爬虫類と両生類と魚類と水生無脊椎動物のカテゴリ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爬虫類と両生類</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アカウミガメ</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オサガメ</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ハコガメ</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イグアナ</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コモドオオトカゲ</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ミシシッピワニ</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ボアコンストリクター</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インドコブラ</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アマガエル</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アホロートル</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魚類と水生無脊椎動物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テンチ</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キンギョ</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ホホジロザメ</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イタチザメ</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シュモクザメ</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アカエイ類</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クラゲ</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イソギンチャク</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ウニ</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ナマコ</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昆虫と陸生節足動物と乗り物のカテゴリ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昆虫と陸生節足動物</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テントウムシ</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カブトムシ</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ハチ</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バッタ</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コオロギ</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カマキリ</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セミ</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トンボ</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オオカバマダラ</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サソリ</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乗り物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旅客機</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軍用機</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飛行船</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タンデム自転車</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マウンテンバイク</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スポーツカー</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ミニバン</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スクールバス</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新幹線</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コンテナ船</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電子機器と機械と衣類と生活用品のカテゴリ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電子機器と機械</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デスクトップPC</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ノートPC</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キーボード</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マウス</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モニター</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携帯電話</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テレビ</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ラジオ</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カセットプレーヤー</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ミシン</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衣類と生活用品</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着物</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ジーンズ</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カーディガン</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スウェットシャツ</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ランニングシューズ</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リュックサック</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傘</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枕</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マグカップ</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フライパン</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建物と構造物と食品と農作物のカテゴリ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建物と構造物</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教会</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モスク</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宮殿</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城</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図書館</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プラネタリウム</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灯台</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吊り橋</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ダム</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温室</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食品と農作物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ピザ</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チーズバーガー</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ホットドッグ</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ブリトー</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ベーグル</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プレッツェル</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アイスクリーム</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ブロッコリー</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キュウリ</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パプリカ</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オオカバマダラ（monarch）</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花に止まるチョウを分類する。植物も写るが、正解はチョウの種類である。</a:t>
            </a:r>
            <a:endParaRPr sz="2100" lang="ja-JP">
              <a:latin typeface="Noto Sans"/>
              <a:ea typeface="Noto Sans CJK JP"/>
              <a:cs typeface="Noto Sans"/>
            </a:endParaRPr>
          </a:p>
        </p:txBody>
      </p:sp>
      <p:pic>
        <p:nvPicPr>
          <p:cNvPr id="9" name="Picture 8" descr="n02279972_monarch.JPEG"/>
          <p:cNvPicPr>
            <a:picLocks noChangeAspect="1"/>
          </p:cNvPicPr>
          <p:nvPr/>
        </p:nvPicPr>
        <p:blipFill>
          <a:blip r:embed="rId3"/>
          <a:stretch>
            <a:fillRect/>
          </a:stretch>
        </p:blipFill>
        <p:spPr>
          <a:xfrm>
            <a:off x="731520" y="1496141"/>
            <a:ext cx="3474720" cy="2439253"/>
          </a:xfrm>
          <a:prstGeom prst="rect">
            <a:avLst/>
          </a:prstGeom>
        </p:spPr>
      </p:pic>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ImageNetカテゴリの画像例. </a:t>
            </a:r>
            <a:r>
              <a:rPr sz="800" b="0" lang="ja-JP">
                <a:solidFill>
                  <a:srgbClr val="626669"/>
                </a:solidFill>
                <a:latin typeface="Noto Sans"/>
                <a:ea typeface="Noto Sans CJK JP"/>
                <a:cs typeface="Noto Sans"/>
                <a:hlinkClick r:id="rId4"/>
              </a:rPr>
              <a:t>https://github.com/EliSchwartz/imagenet-sample-images</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画像ID n02279972_monarch.JPEG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カセットプレーヤー（cassette player）</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8651.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装置の正面だけでなく、周囲の構造も写っている。ラベルはcassette playerである。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ILSVRC2012_val_00008651.JPEG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チェーンソー（chain saw）</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4262.JPEG"/>
          <p:cNvPicPr>
            <a:picLocks noChangeAspect="1"/>
          </p:cNvPicPr>
          <p:nvPr/>
        </p:nvPicPr>
        <p:blipFill>
          <a:blip r:embed="rId2"/>
          <a:stretch>
            <a:fillRect/>
          </a:stretch>
        </p:blipFill>
        <p:spPr>
          <a:xfrm>
            <a:off x="914828" y="1426464"/>
            <a:ext cx="3153822"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作業者と樹木が写る画像で、chain sawを正解とする。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ILSVRC2012_val_00004262.JPEG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教会（church）</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3351.JPEG"/>
          <p:cNvPicPr>
            <a:picLocks noChangeAspect="1"/>
          </p:cNvPicPr>
          <p:nvPr/>
        </p:nvPicPr>
        <p:blipFill>
          <a:blip r:embed="rId2"/>
          <a:stretch>
            <a:fillRect/>
          </a:stretch>
        </p:blipFill>
        <p:spPr>
          <a:xfrm>
            <a:off x="1181690" y="1426464"/>
            <a:ext cx="2620098"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低い照度の画像も含む。</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ILSVRC2012_val_00003351.JPEG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フレンチホルン（French horn）</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1492.JPEG"/>
          <p:cNvPicPr>
            <a:picLocks noChangeAspect="1"/>
          </p:cNvPicPr>
          <p:nvPr/>
        </p:nvPicPr>
        <p:blipFill>
          <a:blip r:embed="rId2"/>
          <a:stretch>
            <a:fillRect/>
          </a:stretch>
        </p:blipFill>
        <p:spPr>
          <a:xfrm>
            <a:off x="890568" y="1426464"/>
            <a:ext cx="3202343"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楽器の一部分が大きく写る。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ILSVRC2012_val_00001492.JPEG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ごみ収集車（garbage truck）</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221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車両と周囲の道路が写る。車両の役割を表す細かなクラス名が付いている。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ILSVRC2012_val_00002210.JPEG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ガソリンポンプ（gas pump）</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0732.JPEG"/>
          <p:cNvPicPr>
            <a:picLocks noChangeAspect="1"/>
          </p:cNvPicPr>
          <p:nvPr/>
        </p:nvPicPr>
        <p:blipFill>
          <a:blip r:embed="rId2"/>
          <a:stretch>
            <a:fillRect/>
          </a:stretch>
        </p:blipFill>
        <p:spPr>
          <a:xfrm>
            <a:off x="1519814" y="1426464"/>
            <a:ext cx="1943851"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入力には縦長の写真も含まれる。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ILSVRC2012_val_00000732.JPEG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プラネタリウム（planetarium）</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建物の外観に加えて、室内の投影機が写る画像もこのカテゴリに含まれる。</a:t>
            </a:r>
            <a:endParaRPr sz="2100" lang="ja-JP">
              <a:latin typeface="Noto Sans"/>
              <a:ea typeface="Noto Sans CJK JP"/>
              <a:cs typeface="Noto Sans"/>
            </a:endParaRPr>
          </a:p>
        </p:txBody>
      </p:sp>
      <p:pic>
        <p:nvPicPr>
          <p:cNvPr id="9" name="Picture 8" descr="n03956157_planetarium.JPEG"/>
          <p:cNvPicPr>
            <a:picLocks noChangeAspect="1"/>
          </p:cNvPicPr>
          <p:nvPr/>
        </p:nvPicPr>
        <p:blipFill>
          <a:blip r:embed="rId3"/>
          <a:stretch>
            <a:fillRect/>
          </a:stretch>
        </p:blipFill>
        <p:spPr>
          <a:xfrm>
            <a:off x="749808" y="1426464"/>
            <a:ext cx="3438144" cy="2578608"/>
          </a:xfrm>
          <a:prstGeom prst="rect">
            <a:avLst/>
          </a:prstGeom>
        </p:spPr>
      </p:pic>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ImageNetカテゴリの画像例. </a:t>
            </a:r>
            <a:r>
              <a:rPr sz="800" b="0" lang="ja-JP">
                <a:solidFill>
                  <a:srgbClr val="626669"/>
                </a:solidFill>
                <a:latin typeface="Noto Sans"/>
                <a:ea typeface="Noto Sans CJK JP"/>
                <a:cs typeface="Noto Sans"/>
                <a:hlinkClick r:id="rId4"/>
              </a:rPr>
              <a:t>https://github.com/EliSchwartz/imagenet-sample-images</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画像ID n03956157_planetarium.JPEG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パラシュート（parachute）</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144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人も写るが、クラスはparachuteである。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ILSVRC2012_val_00001440.JPEG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1,000クラスの学習画像数の記述統計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4. 1,000クラスの学習画像数の統計</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1005840"/>
        </p:xfrm>
        <a:graphic>
          <a:graphicData uri="http://schemas.openxmlformats.org/drawingml/2006/table">
            <a:tbl>
              <a:tblPr firstRow="1" bandRow="1">
                <a:tableStyleId>{5C22544A-7EE6-4342-B048-85BDC9FD1C3A}</a:tableStyleId>
              </a:tblPr>
              <a:tblGrid>
                <a:gridCol w="1828800"/>
                <a:gridCol w="1417320"/>
                <a:gridCol w="1051560"/>
                <a:gridCol w="1371600"/>
                <a:gridCol w="1097280"/>
                <a:gridCol w="128016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対象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平均</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SD</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中央値</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最小</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最大</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1,000クラス</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1,281.2</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70.2</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1,300</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732</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1,300</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r>
            </a:tbl>
          </a:graphicData>
        </a:graphic>
      </p:graphicFrame>
      <p:sp>
        <p:nvSpPr>
          <p:cNvPr id="5" name="table-caption"/>
          <p:cNvSpPr txBox="1"/>
          <p:nvPr/>
        </p:nvSpPr>
        <p:spPr>
          <a:xfrm>
            <a:off x="594360" y="2626360"/>
            <a:ext cx="7955279" cy="2000503"/>
          </a:xfrm>
          <a:prstGeom prst="rect">
            <a:avLst/>
          </a:prstGeom>
          <a:noFill/>
        </p:spPr>
        <p:txBody>
          <a:bodyPr wrap="none" lIns="0" rIns="0" tIns="0" bIns="0" anchor="t">
            <a:spAutoFit/>
          </a:bodyPr>
          <a:lstStyle/>
          <a:p>
            <a:pPr algn="l">
              <a:lnSpc>
                <a:spcPct val="110000"/>
              </a:lnSpc>
              <a:spcBef>
                <a:spcPts val="0"/>
              </a:spcBef>
              <a:spcAft>
                <a:spcPts val="300"/>
              </a:spcAft>
              <a:defRPr sz="1600" b="0" lang="ja-JP">
                <a:latin typeface="Noto Sans"/>
                <a:ea typeface="Noto Sans CJK JP"/>
                <a:cs typeface="Noto Sans"/>
              </a:defRPr>
            </a:pPr>
            <a:r>
              <a:rPr sz="1900" b="0" lang="ja-JP">
                <a:solidFill>
                  <a:srgbClr val="303437"/>
                </a:solidFill>
                <a:latin typeface="Noto Sans"/>
                <a:ea typeface="Noto Sans CJK JP"/>
                <a:cs typeface="Noto Sans"/>
              </a:rPr>
              <a:t>単位はクラス当たりの画像枚数。SDは母標準偏差。</a:t>
            </a:r>
            <a:endParaRPr sz="1600" lang="ja-JP">
              <a:latin typeface="Noto Sans"/>
              <a:ea typeface="Noto Sans CJK JP"/>
              <a:cs typeface="Noto Sans"/>
            </a:endParaRPr>
          </a:p>
          <a:p>
            <a:pPr algn="l">
              <a:lnSpc>
                <a:spcPct val="110000"/>
              </a:lnSpc>
              <a:spcBef>
                <a:spcPts val="0"/>
              </a:spcBef>
              <a:spcAft>
                <a:spcPts val="300"/>
              </a:spcAft>
              <a:defRPr sz="1600" b="0" lang="ja-JP">
                <a:latin typeface="Noto Sans"/>
                <a:ea typeface="Noto Sans CJK JP"/>
                <a:cs typeface="Noto Sans"/>
              </a:defRPr>
            </a:pPr>
            <a:r>
              <a:rPr sz="1900" b="0" lang="ja-JP">
                <a:solidFill>
                  <a:srgbClr val="303437"/>
                </a:solidFill>
                <a:latin typeface="Noto Sans"/>
                <a:ea typeface="Noto Sans CJK JP"/>
                <a:cs typeface="Noto Sans"/>
              </a:rPr>
              <a:t>公式devkitのmeta.matで各クラスを1回ずつ数えた。</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1306789"/>
            <a:ext cx="8206740" cy="594360"/>
          </a:xfrm>
        </p:spPr>
        <p:txBody>
          <a:bodyPr wrap="square" lIns="0" rIns="0" tIns="0" bIns="0" anchor="t"/>
          <a:lstStyle/>
          <a:p>
            <a:pPr algn="ctr" marL="0" indent="0">
              <a:lnSpc>
                <a:spcPct val="100000"/>
              </a:lnSpc>
              <a:spcBef>
                <a:spcPts val="0"/>
              </a:spcBef>
              <a:spcAft>
                <a:spcPts val="0"/>
              </a:spcAft>
              <a:buNone/>
              <a:defRPr sz="2800" b="1" lang="ja-JP">
                <a:latin typeface="Noto Sans"/>
                <a:ea typeface="Noto Sans CJK JP"/>
                <a:cs typeface="Noto Sans"/>
              </a:defRPr>
            </a:pPr>
            <a:r>
              <a:rPr sz="3000" b="1" lang="ja-JP">
                <a:solidFill>
                  <a:srgbClr val="303437"/>
                </a:solidFill>
                <a:latin typeface="Noto Sans"/>
                <a:ea typeface="Noto Sans CJK JP"/>
                <a:cs typeface="Noto Sans"/>
              </a:rPr>
              <a:t>画像サイズの分析対象とするImagenette</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sp>
        <p:nvSpPr>
          <p:cNvPr id="4" name="body"/>
          <p:cNvSpPr/>
          <p:nvPr>
            <p:ph type="body" idx="1"/>
          </p:nvPr>
        </p:nvSpPr>
        <p:spPr>
          <a:xfrm>
            <a:off x="594360" y="2221189"/>
            <a:ext cx="7955279" cy="1737360"/>
          </a:xfrm>
          <a:prstGeom prst="rect">
            <a:avLst/>
          </a:prstGeom>
          <a:noFill/>
        </p:spPr>
        <p:txBody>
          <a:bodyPr wrap="square" lIns="0" rIns="0" tIns="0" bIns="0" anchor="t">
            <a:spAutoFit/>
          </a:bodyPr>
          <a:lstStyle/>
          <a:p>
            <a:pPr algn="ctr" lvl="0" marL="0" indent="0">
              <a:lnSpc>
                <a:spcPct val="100000"/>
              </a:lnSpc>
              <a:spcBef>
                <a:spcPts val="0"/>
              </a:spcBef>
              <a:spcAft>
                <a:spcPts val="1200"/>
              </a:spcAft>
              <a:buNone/>
              <a:defRPr sz="2400" b="0" lang="ja-JP">
                <a:latin typeface="Noto Sans"/>
                <a:ea typeface="Noto Sans CJK JP"/>
                <a:cs typeface="Noto Sans"/>
              </a:defRPr>
            </a:pPr>
            <a:r>
              <a:rPr sz="2000" b="0" lang="ja-JP">
                <a:solidFill>
                  <a:srgbClr val="303437"/>
                </a:solidFill>
                <a:latin typeface="Noto Sans"/>
                <a:ea typeface="Noto Sans CJK JP"/>
                <a:cs typeface="Noto Sans"/>
              </a:rPr>
              <a:t>ImageNet-1kの学習用は約128万枚ある。そこで、画像サイズの実測には10クラス・13,394枚のImagenetteを使う [1, 2]。</a:t>
            </a:r>
            <a:endParaRPr sz="2400" lang="ja-JP">
              <a:latin typeface="Noto Sans"/>
              <a:ea typeface="Noto Sans CJK JP"/>
              <a:cs typeface="Noto Sans"/>
            </a:endParaRPr>
          </a:p>
          <a:p>
            <a:pPr algn="ctr" marL="0" indent="0">
              <a:lnSpc>
                <a:spcPct val="100000"/>
              </a:lnSpc>
              <a:spcBef>
                <a:spcPts val="0"/>
              </a:spcBef>
              <a:spcAft>
                <a:spcPts val="1200"/>
              </a:spcAft>
              <a:buNone/>
            </a:pPr>
            <a:r>
              <a:rPr sz="2000" b="0" lang="ja-JP">
                <a:solidFill>
                  <a:srgbClr val="303437"/>
                </a:solidFill>
                <a:latin typeface="Noto Sans"/>
                <a:ea typeface="Noto Sans CJK JP"/>
                <a:cs typeface="Noto Sans"/>
              </a:rPr>
              <a:t>分析には、短辺160 pxへリサイズしたImagenetteの画像を使用する。</a:t>
            </a:r>
          </a:p>
          <a:p>
            <a:pPr algn="ctr" marL="0" indent="0">
              <a:lnSpc>
                <a:spcPct val="100000"/>
              </a:lnSpc>
              <a:spcBef>
                <a:spcPts val="0"/>
              </a:spcBef>
              <a:spcAft>
                <a:spcPts val="1200"/>
              </a:spcAft>
              <a:buNone/>
            </a:pPr>
            <a:r>
              <a:rPr sz="2000" b="0" lang="ja-JP">
                <a:solidFill>
                  <a:srgbClr val="303437"/>
                </a:solidFill>
                <a:latin typeface="Noto Sans"/>
                <a:ea typeface="Noto Sans CJK JP"/>
                <a:cs typeface="Noto Sans"/>
              </a:rPr>
              <a:t>学習用9,469枚、検証用3,925枚。分割はImagenette独自のものである。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6" name="TextBox 5"/>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Imagenetteの動物・装置・建造物</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299456"/>
          <a:ext cx="8046720" cy="2743200"/>
        </p:xfrm>
        <a:graphic>
          <a:graphicData uri="http://schemas.openxmlformats.org/drawingml/2006/table">
            <a:tbl>
              <a:tblPr firstRow="1" bandRow="1">
                <a:tableStyleId>{5C22544A-7EE6-4342-B048-85BDC9FD1C3A}</a:tableStyleId>
              </a:tblPr>
              <a:tblGrid>
                <a:gridCol w="3794760"/>
                <a:gridCol w="1417320"/>
                <a:gridCol w="1417320"/>
                <a:gridCol w="141732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クラス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学習用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検証用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合計</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テンチ（淡水魚）</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963</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387</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スプリンガー犬</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955</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395</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カセットプレーヤー</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993</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357</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チェーンソー</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858</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1,244</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教会</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941</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409</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4271256"/>
            <a:ext cx="7955279" cy="349885"/>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Imagenette 160 px版。各画像のフォルダ名でクラスと分割を数えた。</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Imagenetteの楽器・車両・道具</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299456"/>
          <a:ext cx="8046720" cy="2743200"/>
        </p:xfrm>
        <a:graphic>
          <a:graphicData uri="http://schemas.openxmlformats.org/drawingml/2006/table">
            <a:tbl>
              <a:tblPr firstRow="1" bandRow="1">
                <a:tableStyleId>{5C22544A-7EE6-4342-B048-85BDC9FD1C3A}</a:tableStyleId>
              </a:tblPr>
              <a:tblGrid>
                <a:gridCol w="3794760"/>
                <a:gridCol w="1417320"/>
                <a:gridCol w="1417320"/>
                <a:gridCol w="141732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クラス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学習用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検証用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合計</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フレンチホルン</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956</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394</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ごみ収集車</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ガソリンポンプ</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931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419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ゴルフボール</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パラシュート</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960</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390</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4271256"/>
            <a:ext cx="7955279" cy="349885"/>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Imagenette 160 px版。各画像のフォルダ名でクラスと分割を数えた。</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長辺が最大の802 pxとなる画像</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n02979186_2993.JPEG"/>
          <p:cNvPicPr>
            <a:picLocks noChangeAspect="1"/>
          </p:cNvPicPr>
          <p:nvPr/>
        </p:nvPicPr>
        <p:blipFill>
          <a:blip r:embed="rId2"/>
          <a:stretch>
            <a:fillRect/>
          </a:stretch>
        </p:blipFill>
        <p:spPr>
          <a:xfrm>
            <a:off x="548640" y="2332689"/>
            <a:ext cx="3886200" cy="775301"/>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正解はカセットプレーヤー</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cassette player</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幅802 px・高さ160 px。縦横比は5.0125。</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n02979186_2993.JPEG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高さが最大の707 pxとなる画像</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n03425413_13133.JPEG"/>
          <p:cNvPicPr>
            <a:picLocks noChangeAspect="1"/>
          </p:cNvPicPr>
          <p:nvPr/>
        </p:nvPicPr>
        <p:blipFill>
          <a:blip r:embed="rId2"/>
          <a:stretch>
            <a:fillRect/>
          </a:stretch>
        </p:blipFill>
        <p:spPr>
          <a:xfrm>
            <a:off x="2198925" y="1426464"/>
            <a:ext cx="585629"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正解はガソリンポンプ</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gas pump</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幅160 px・高さ707 px。縦横比は0.2263で、全画像中の最小値である。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n03425413_13133.JPEG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Imagenetteの画像には縦横比のばらつきがある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imagenette-ratio.png"/>
          <p:cNvPicPr>
            <a:picLocks noChangeAspect="1"/>
          </p:cNvPicPr>
          <p:nvPr/>
        </p:nvPicPr>
        <p:blipFill>
          <a:blip r:embed="rId3"/>
          <a:stretch>
            <a:fillRect/>
          </a:stretch>
        </p:blipFill>
        <p:spPr>
          <a:xfrm>
            <a:off x="548640" y="1121227"/>
            <a:ext cx="8046720" cy="2743200"/>
          </a:xfrm>
          <a:prstGeom prst="rect">
            <a:avLst/>
          </a:prstGeom>
        </p:spPr>
      </p:pic>
      <p:sp>
        <p:nvSpPr>
          <p:cNvPr id="5" name="TextBox 4"/>
          <p:cNvSpPr txBox="1"/>
          <p:nvPr/>
        </p:nvSpPr>
        <p:spPr>
          <a:xfrm>
            <a:off x="594360" y="3741490"/>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全13,394枚。幅 ÷ 高さが1なら正方形、1より大きいと横長になる。</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4"/>
              </a:rPr>
              <a:t>https://github.com/fastai/imagenette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棒1本は縦横比0.5の区間を表す。短辺を160 pxにリサイズした画像を集計した。</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Imagenetteの幅・高さ・長辺の記述統計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1371600"/>
                <a:gridCol w="1371600"/>
                <a:gridCol w="1280160"/>
                <a:gridCol w="1371600"/>
                <a:gridCol w="1371600"/>
                <a:gridCol w="1280160"/>
              </a:tblGrid>
              <a:tr h="502920">
                <a:tc>
                  <a:txBody>
                    <a:bodyPr wrap="square" lIns="38100" rIns="38100" tIns="38100" bIns="38100" anchor="ct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測定値</a:t>
                      </a:r>
                      <a:r>
                        <a:rPr sz="2100" lang="ja-JP">
                          <a:solidFill>
                            <a:srgbClr val="303437"/>
                          </a:solidFill>
                          <a:latin typeface="Noto Sans"/>
                          <a:ea typeface="Noto Sans CJK JP"/>
                          <a:cs typeface="Noto Sans"/>
                        </a:rPr>
                        <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平均</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SD</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中央値</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95%点</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最大</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幅</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204.9</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41.4</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213</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249</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802</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高さ</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175.5</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30.2</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160</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240</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707</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長辺</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220.4</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35.1</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213</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258</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802</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単位はpx。Imagenette 160 px版の全13,394枚 [1]。SDは母標準偏差、95%点は線形補間による95パーセンタイル。</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画像分類用の公開済み重みと評価結果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3291840"/>
                <a:gridCol w="2377440"/>
                <a:gridCol w="237744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Torchvisionの重み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Top-1正解率</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Top-5正解率</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AlexNet（2012）V1</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56.522%</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79.066%</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ResNet-50（2016）V1</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76.130%</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92.862%</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ViT-B/16（2020）V1</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81.072%</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95.318%</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ImageNet-1k検証用で評価 [1]。</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Torchvision models, weight metadata. </a:t>
            </a:r>
            <a:r>
              <a:rPr sz="800" b="0" lang="ja-JP">
                <a:solidFill>
                  <a:srgbClr val="626669"/>
                </a:solidFill>
                <a:latin typeface="Noto Sans"/>
                <a:ea typeface="Noto Sans CJK JP"/>
                <a:cs typeface="Noto Sans"/>
                <a:hlinkClick r:id="rId2"/>
              </a:rPr>
              <a:t>https://github.com/pytorch/vision/tree/main/torchvision/models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線形分類器でも評価画像が変わると得点が変わる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1828800"/>
        </p:xfrm>
        <a:graphic>
          <a:graphicData uri="http://schemas.openxmlformats.org/drawingml/2006/table">
            <a:tbl>
              <a:tblPr firstRow="1" bandRow="1">
                <a:tableStyleId>{5C22544A-7EE6-4342-B048-85BDC9FD1C3A}</a:tableStyleId>
              </a:tblPr>
              <a:tblGrid>
                <a:gridCol w="2743200"/>
                <a:gridCol w="1737360"/>
                <a:gridCol w="1737360"/>
                <a:gridCol w="182880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特徴モデル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元の検証用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ImageNetV2</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ImageNet-R</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DINOv3 7B/16</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88.4%</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81.4%</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91.1%</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SigLIP 2 g/16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89.1%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92.2%</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PEcore G/14</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89.3%</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81.6%</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92.2%</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474720"/>
            <a:ext cx="7955279" cy="117754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元の検証用は1,000クラス、ImageNet-Rはそのうち200クラス。</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 Table 7</a:t>
            </a:r>
          </a:p>
        </p:txBody>
      </p:sp>
      <p:sp>
        <p:nvSpPr>
          <p:cNvPr id="7" name="TextBox 6"/>
          <p:cNvSpPr txBox="1"/>
          <p:nvPr/>
        </p:nvSpPr>
        <p:spPr>
          <a:xfrm>
            <a:off x="3358012" y="4717326"/>
            <a:ext cx="532878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分類用データとプライバシーへの対応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2021年に、ImageNet全体のperson下位カテゴリ2,702種類を除去した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この更新は、ILSVRCの1,000カテゴリには影響しない。</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ただし物体の画像にも偶然写り込む人物がいる。</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そこで顔を注釈し、顔をぼかした、ILSVRC大会の1,000クラス分類用データを検討した。</a:t>
            </a:r>
            <a:endParaRPr sz="22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ImageNetの更新説明 (2021). </a:t>
            </a:r>
            <a:r>
              <a:rPr sz="800" b="0" lang="ja-JP">
                <a:solidFill>
                  <a:srgbClr val="626669"/>
                </a:solidFill>
                <a:latin typeface="Noto Sans"/>
                <a:ea typeface="Noto Sans CJK JP"/>
                <a:cs typeface="Noto Sans"/>
                <a:hlinkClick r:id="rId2"/>
              </a:rPr>
              <a:t>https://www.image-net.org/update-mar-11-2021.php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公式devkitでクラス別の件数を確認する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8" name="code-background"/>
          <p:cNvSpPr/>
          <p:nvPr/>
        </p:nvSpPr>
        <p:spPr>
          <a:xfrm>
            <a:off x="548640" y="1488008"/>
            <a:ext cx="8046720" cy="2148528"/>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48640" y="1481328"/>
            <a:ext cx="8046720" cy="212725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scipy.io import loadmat</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meta = loadmat(</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"ILSVRC2012_devkit_t12/data/meta.mat",</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squeeze_me=True, struct_as_record=False</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)["synsets"]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classes = [x for x in meta if x.num_children == 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counts = [int(x.num_train_images) for x in classes]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print(len(classes), sum(counts))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1000 1281167</a:t>
            </a:r>
          </a:p>
        </p:txBody>
      </p:sp>
      <p:sp>
        <p:nvSpPr>
          <p:cNvPr id="6" name="TextBox 5"/>
          <p:cNvSpPr txBox="1"/>
          <p:nvPr/>
        </p:nvSpPr>
        <p:spPr>
          <a:xfrm>
            <a:off x="594360" y="4013454"/>
            <a:ext cx="7955279" cy="64008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700" b="0" lang="ja-JP">
                <a:latin typeface="Noto Sans"/>
                <a:ea typeface="Noto Sans CJK JP"/>
                <a:cs typeface="Noto Sans"/>
              </a:defRPr>
            </a:pPr>
            <a:r>
              <a:rPr sz="2000" lang="ja-JP">
                <a:solidFill>
                  <a:srgbClr val="303437"/>
                </a:solidFill>
                <a:latin typeface="Noto Sans"/>
                <a:ea typeface="Noto Sans CJK JP"/>
                <a:cs typeface="Noto Sans"/>
              </a:rPr>
              <a:t>devkitを取得・展開した後に実行する。scipyを利用する。</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Imagenetteを取得して画像とラベルを読む</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4" name="TextBox 3"/>
          <p:cNvSpPr txBox="1"/>
          <p:nvPr/>
        </p:nvSpPr>
        <p:spPr>
          <a:xfrm>
            <a:off x="548640" y="1371600"/>
            <a:ext cx="8046720" cy="256032"/>
          </a:xfrm>
          <a:prstGeom prst="rect">
            <a:avLst/>
          </a:prstGeom>
          <a:noFill/>
        </p:spPr>
        <p:txBody>
          <a:bodyPr wrap="none" lIns="0" rIns="0" tIns="0" bIns="0" anchor="t">
            <a:spAutoFit/>
          </a:bodyPr>
          <a:lstStyle/>
          <a:p>
            <a:pPr algn="l">
              <a:lnSpc>
                <a:spcPct val="110000"/>
              </a:lnSpc>
              <a:spcBef>
                <a:spcPts val="0"/>
              </a:spcBef>
              <a:spcAft>
                <a:spcPts val="0"/>
              </a:spcAft>
              <a:defRPr sz="1400" b="0" lang="ja-JP">
                <a:latin typeface="Noto Sans"/>
                <a:ea typeface="Noto Sans CJK JP"/>
                <a:cs typeface="Noto Sans"/>
              </a:defRPr>
            </a:pPr>
            <a:r>
              <a:rPr sz="1400" b="0" lang="ja-JP">
                <a:solidFill>
                  <a:srgbClr val="626669"/>
                </a:solidFill>
                <a:latin typeface="Noto Sans"/>
                <a:ea typeface="Noto Sans CJK JP"/>
                <a:cs typeface="Noto Sans"/>
              </a:rPr>
              <a:t>シェルで取得する</a:t>
            </a:r>
            <a:endParaRPr sz="1400" lang="ja-JP">
              <a:latin typeface="Noto Sans"/>
              <a:ea typeface="Noto Sans CJK JP"/>
              <a:cs typeface="Noto Sans"/>
            </a:endParaRPr>
          </a:p>
        </p:txBody>
      </p:sp>
      <p:sp>
        <p:nvSpPr>
          <p:cNvPr id="12" name="code-background"/>
          <p:cNvSpPr/>
          <p:nvPr/>
        </p:nvSpPr>
        <p:spPr>
          <a:xfrm>
            <a:off x="548640" y="1661528"/>
            <a:ext cx="8046720" cy="820489"/>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48640" y="1655064"/>
            <a:ext cx="8046720" cy="798194"/>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curl -L --fail -o imagenette.tgz \</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t>
            </a:r>
            <a:r>
              <a:rPr sz="1300" lang="ja-JP">
                <a:solidFill>
                  <a:srgbClr val="303437"/>
                </a:solidFill>
                <a:latin typeface="Liberation Mono"/>
                <a:ea typeface="Noto Sans CJK JP"/>
                <a:cs typeface="Noto Sans"/>
                <a:hlinkClick r:id="rId3"/>
              </a:rPr>
              <a:t>https://s3.amazonaws.com/fast-ai-imageclas/imagenette2-160.tgz</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tar -xzf imagenette.tgz</a:t>
            </a:r>
          </a:p>
        </p:txBody>
      </p:sp>
      <p:sp>
        <p:nvSpPr>
          <p:cNvPr id="7" name="TextBox 6"/>
          <p:cNvSpPr txBox="1"/>
          <p:nvPr/>
        </p:nvSpPr>
        <p:spPr>
          <a:xfrm>
            <a:off x="548640" y="2688336"/>
            <a:ext cx="8046720" cy="256032"/>
          </a:xfrm>
          <a:prstGeom prst="rect">
            <a:avLst/>
          </a:prstGeom>
          <a:noFill/>
        </p:spPr>
        <p:txBody>
          <a:bodyPr wrap="none" lIns="0" rIns="0" tIns="0" bIns="0" anchor="t">
            <a:spAutoFit/>
          </a:bodyPr>
          <a:lstStyle/>
          <a:p>
            <a:pPr algn="l">
              <a:lnSpc>
                <a:spcPct val="110000"/>
              </a:lnSpc>
              <a:spcBef>
                <a:spcPts val="0"/>
              </a:spcBef>
              <a:spcAft>
                <a:spcPts val="0"/>
              </a:spcAft>
              <a:defRPr sz="1400" b="0" lang="ja-JP">
                <a:latin typeface="Noto Sans"/>
                <a:ea typeface="Noto Sans CJK JP"/>
                <a:cs typeface="Noto Sans"/>
              </a:defRPr>
            </a:pPr>
            <a:r>
              <a:rPr sz="1400" b="0" lang="ja-JP">
                <a:solidFill>
                  <a:srgbClr val="626669"/>
                </a:solidFill>
                <a:latin typeface="Noto Sans"/>
                <a:ea typeface="Noto Sans CJK JP"/>
                <a:cs typeface="Noto Sans"/>
              </a:rPr>
              <a:t>Pythonで画像とラベルを読む</a:t>
            </a:r>
            <a:endParaRPr sz="1400" lang="ja-JP">
              <a:latin typeface="Noto Sans"/>
              <a:ea typeface="Noto Sans CJK JP"/>
              <a:cs typeface="Noto Sans"/>
            </a:endParaRPr>
          </a:p>
        </p:txBody>
      </p:sp>
      <p:sp>
        <p:nvSpPr>
          <p:cNvPr id="13" name="code-background"/>
          <p:cNvSpPr/>
          <p:nvPr/>
        </p:nvSpPr>
        <p:spPr>
          <a:xfrm>
            <a:off x="548640" y="2978404"/>
            <a:ext cx="8046720" cy="1010214"/>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48640" y="2971800"/>
            <a:ext cx="8046720" cy="98806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torchvision.datasets import ImageFolder</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data = ImageFolder("imagenette2-160/train")</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image, label = data[0]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print(data.classes[label], image.size)</a:t>
            </a:r>
          </a:p>
        </p:txBody>
      </p:sp>
      <p:sp>
        <p:nvSpPr>
          <p:cNvPr id="10" name="TextBox 9"/>
          <p:cNvSpPr txBox="1"/>
          <p:nvPr/>
        </p:nvSpPr>
        <p:spPr>
          <a:xfrm>
            <a:off x="594360" y="4242816"/>
            <a:ext cx="7955279" cy="36576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10クラスのImagenetteを読み、classesでクラス名を確認する。</a:t>
            </a:r>
            <a:endParaRPr sz="1600" lang="ja-JP">
              <a:latin typeface="Noto Sans"/>
              <a:ea typeface="Noto Sans CJK JP"/>
              <a:cs typeface="Noto Sans"/>
            </a:endParaRPr>
          </a:p>
        </p:txBody>
      </p:sp>
      <p:sp>
        <p:nvSpPr>
          <p:cNvPr id="14" name="TextBox 13"/>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15" name="TextBox 14"/>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モデルに合う前処理を指定する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8" name="code-background"/>
          <p:cNvSpPr/>
          <p:nvPr/>
        </p:nvSpPr>
        <p:spPr>
          <a:xfrm>
            <a:off x="548640" y="1487640"/>
            <a:ext cx="8046720" cy="1769090"/>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48640" y="1481328"/>
            <a:ext cx="8046720" cy="174752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PIL import Image</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from torchvision.models import resnet50, ResNet50_Weights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weights = ResNet50_Weights.IMAGENET1K_V1</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model = resnet50(weights=weights).eval()</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image = Image.open("example.JPEG").convert("RGB")</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batch = weights.transforms()(image).unsqueeze(0)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batch.shape == [1, 3, 224, 224]</a:t>
            </a:r>
          </a:p>
        </p:txBody>
      </p:sp>
      <p:sp>
        <p:nvSpPr>
          <p:cNvPr id="6" name="TextBox 5"/>
          <p:cNvSpPr txBox="1"/>
          <p:nvPr/>
        </p:nvSpPr>
        <p:spPr>
          <a:xfrm>
            <a:off x="594360" y="3584194"/>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700" b="0" lang="ja-JP">
                <a:latin typeface="Noto Sans"/>
                <a:ea typeface="Noto Sans CJK JP"/>
                <a:cs typeface="Noto Sans"/>
              </a:defRPr>
            </a:pPr>
            <a:r>
              <a:rPr sz="2000" lang="ja-JP">
                <a:solidFill>
                  <a:srgbClr val="303437"/>
                </a:solidFill>
                <a:latin typeface="Noto Sans"/>
                <a:ea typeface="Noto Sans CJK JP"/>
                <a:cs typeface="Noto Sans"/>
              </a:rPr>
              <a:t>重みに対応したリサイズ・クロップ・正規化を使う。10クラス版とモデルの1,000クラス出力は、クラス名で対応させる。</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Torchvision ResNet. </a:t>
            </a:r>
            <a:r>
              <a:rPr sz="800" b="0" lang="ja-JP">
                <a:solidFill>
                  <a:srgbClr val="626669"/>
                </a:solidFill>
                <a:latin typeface="Noto Sans"/>
                <a:ea typeface="Noto Sans CJK JP"/>
                <a:cs typeface="Noto Sans"/>
                <a:hlinkClick r:id="rId2"/>
              </a:rPr>
              <a:t>https://github.com/pytorch/vision/blob/main/torchvision/models/resnet.py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 A Large-Scale Hierarchical Image Database</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Deng, J., Dong, W., Socher, R., Li, L.-J., Li, K., &amp; Fei-Fei, L. (2009). CVPR, pp. 248–255.</a:t>
            </a:r>
          </a:p>
        </p:txBody>
      </p:sp>
      <p:sp>
        <p:nvSpPr>
          <p:cNvPr id="6" name="TextBox 5"/>
          <p:cNvSpPr txBox="1"/>
          <p:nvPr/>
        </p:nvSpPr>
        <p:spPr>
          <a:xfrm>
            <a:off x="548640" y="15286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ImageNetの原著論文。WordNet階層に沿う画像収集と人手による注釈を報告する。</a:t>
            </a:r>
          </a:p>
        </p:txBody>
      </p:sp>
      <p:sp>
        <p:nvSpPr>
          <p:cNvPr id="7" name="TextBox 6"/>
          <p:cNvSpPr txBox="1"/>
          <p:nvPr/>
        </p:nvSpPr>
        <p:spPr>
          <a:xfrm>
            <a:off x="548640" y="2151392"/>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https://image-net.org/static_files/papers/imagenet_cvpr09.pdf</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 Large Scale Visual Recognition Challenge</a:t>
            </a:r>
          </a:p>
        </p:txBody>
      </p:sp>
      <p:sp>
        <p:nvSpPr>
          <p:cNvPr id="9" name="TextBox 8"/>
          <p:cNvSpPr txBox="1"/>
          <p:nvPr/>
        </p:nvSpPr>
        <p:spPr>
          <a:xfrm>
            <a:off x="548640" y="347358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Russakovsky, O., et al. (2015). International Journal of Computer Vision, 115, pp. 211–252.</a:t>
            </a:r>
          </a:p>
        </p:txBody>
      </p:sp>
      <p:sp>
        <p:nvSpPr>
          <p:cNvPr id="10" name="TextBox 9"/>
          <p:cNvSpPr txBox="1"/>
          <p:nvPr/>
        </p:nvSpPr>
        <p:spPr>
          <a:xfrm>
            <a:off x="548640" y="3789620"/>
            <a:ext cx="8046720" cy="622777"/>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ILSVRCの総括論文。画像分類・検出・位置推定の課題と評価結果をまとめている。</a:t>
            </a:r>
          </a:p>
        </p:txBody>
      </p:sp>
      <p:sp>
        <p:nvSpPr>
          <p:cNvPr id="11" name="TextBox 10"/>
          <p:cNvSpPr txBox="1"/>
          <p:nvPr/>
        </p:nvSpPr>
        <p:spPr>
          <a:xfrm>
            <a:off x="548640" y="441178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https://arxiv.org/abs/1409.0575</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Deep Residual Learning for Image Recognition</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He, K., Zhang, X., Ren, S., &amp; Sun, J. (2016). CVPR, pp. 770–778.</a:t>
            </a:r>
          </a:p>
        </p:txBody>
      </p:sp>
      <p:sp>
        <p:nvSpPr>
          <p:cNvPr id="6" name="TextBox 5"/>
          <p:cNvSpPr txBox="1"/>
          <p:nvPr/>
        </p:nvSpPr>
        <p:spPr>
          <a:xfrm>
            <a:off x="548640" y="15286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ResNetの原著論文。残差接続による深いネットワークの学習とImageNet評価を示す。</a:t>
            </a:r>
          </a:p>
        </p:txBody>
      </p:sp>
      <p:sp>
        <p:nvSpPr>
          <p:cNvPr id="7" name="TextBox 6"/>
          <p:cNvSpPr txBox="1"/>
          <p:nvPr/>
        </p:nvSpPr>
        <p:spPr>
          <a:xfrm>
            <a:off x="548640" y="2151392"/>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https://arxiv.org/abs/1512.03385</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Transfer Learning for Computer Vision Tutorial</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Chilamkurthy, S. (n.d.). PyTorch Tutorials.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PyTorchの公式教材。事前学習済みモデルの微調整と固定特徴による分類を実装している。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https://github.com/pytorch/tutorials/blob/main/beginner_source/transfer_learning_tutorial.py</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Models and pre-trained weights</a:t>
            </a:r>
          </a:p>
        </p:txBody>
      </p:sp>
      <p:sp>
        <p:nvSpPr>
          <p:cNvPr id="5" name="TextBox 4"/>
          <p:cNvSpPr txBox="1"/>
          <p:nvPr/>
        </p:nvSpPr>
        <p:spPr>
          <a:xfrm>
            <a:off x="548640" y="1227427"/>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Torchvision contributors (n.d.). Torchvision documentation. 参照 2026-10-15.</a:t>
            </a:r>
          </a:p>
        </p:txBody>
      </p:sp>
      <p:sp>
        <p:nvSpPr>
          <p:cNvPr id="6" name="TextBox 5"/>
          <p:cNvSpPr txBox="1"/>
          <p:nvPr/>
        </p:nvSpPr>
        <p:spPr>
          <a:xfrm>
            <a:off x="548640" y="15430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Torchvisionの公式リファレンス。公開重みの評価値・クラス定義・前処理を記載する。</a:t>
            </a:r>
          </a:p>
        </p:txBody>
      </p:sp>
      <p:sp>
        <p:nvSpPr>
          <p:cNvPr id="7" name="TextBox 6"/>
          <p:cNvSpPr txBox="1"/>
          <p:nvPr/>
        </p:nvSpPr>
        <p:spPr>
          <a:xfrm>
            <a:off x="548640" y="2165840"/>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https://github.com/pytorch/vision/blob/main/docs/source/models.rst</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Imagenette</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fastai (n.d.). GitHub repository.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ImageNetの10クラスを抜き出した小規模データセット。配布物とベンチマークを公開する。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https://github.com/fastai/imagenette</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Do ImageNet Classifiers Generalize to ImageNet?</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Recht, B., Roelofs, R., Schmidt, L., &amp; Shankar, V. (2019). ICML, Proceedings of Machine Learning Research, 97.</a:t>
            </a:r>
          </a:p>
        </p:txBody>
      </p:sp>
      <p:sp>
        <p:nvSpPr>
          <p:cNvPr id="6" name="TextBox 5"/>
          <p:cNvSpPr txBox="1"/>
          <p:nvPr/>
        </p:nvSpPr>
        <p:spPr>
          <a:xfrm>
            <a:off x="548640" y="152836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ImageNetV2の原著論文。新たに収集した画像で既存分類器の汎化性能を検証する。</a:t>
            </a:r>
          </a:p>
        </p:txBody>
      </p:sp>
      <p:sp>
        <p:nvSpPr>
          <p:cNvPr id="7" name="TextBox 6"/>
          <p:cNvSpPr txBox="1"/>
          <p:nvPr/>
        </p:nvSpPr>
        <p:spPr>
          <a:xfrm>
            <a:off x="548640" y="215108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https://arxiv.org/abs/1902.10811</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Are we done with ImageNet?</a:t>
            </a:r>
          </a:p>
        </p:txBody>
      </p:sp>
      <p:sp>
        <p:nvSpPr>
          <p:cNvPr id="9" name="TextBox 8"/>
          <p:cNvSpPr txBox="1"/>
          <p:nvPr/>
        </p:nvSpPr>
        <p:spPr>
          <a:xfrm>
            <a:off x="548640" y="347358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Beyer, L., Hénaff, O. J., Kolesnikov, A., Zhai, X., &amp; van den Oord, A. (2020). arXiv:2006.07159.</a:t>
            </a:r>
          </a:p>
        </p:txBody>
      </p:sp>
      <p:sp>
        <p:nvSpPr>
          <p:cNvPr id="10" name="TextBox 9"/>
          <p:cNvSpPr txBox="1"/>
          <p:nvPr/>
        </p:nvSpPr>
        <p:spPr>
          <a:xfrm>
            <a:off x="548640" y="37892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検証画像の正解を再注釈した研究。複数の物体を正解とするReaLラベルを提案する。</a:t>
            </a:r>
          </a:p>
        </p:txBody>
      </p:sp>
      <p:sp>
        <p:nvSpPr>
          <p:cNvPr id="11" name="TextBox 10"/>
          <p:cNvSpPr txBox="1"/>
          <p:nvPr/>
        </p:nvSpPr>
        <p:spPr>
          <a:xfrm>
            <a:off x="548640" y="4411993"/>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https://arxiv.org/abs/2006.07159</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9331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Benchmarking Neural Network Robustness to Common Corruptions and Perturbations</a:t>
            </a:r>
          </a:p>
        </p:txBody>
      </p:sp>
      <p:sp>
        <p:nvSpPr>
          <p:cNvPr id="5" name="TextBox 4"/>
          <p:cNvSpPr txBox="1"/>
          <p:nvPr/>
        </p:nvSpPr>
        <p:spPr>
          <a:xfrm>
            <a:off x="548640" y="168541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Hendrycks, D., &amp; Dietterich, T. (2019). ICLR.</a:t>
            </a:r>
          </a:p>
        </p:txBody>
      </p:sp>
      <p:sp>
        <p:nvSpPr>
          <p:cNvPr id="6" name="TextBox 5"/>
          <p:cNvSpPr txBox="1"/>
          <p:nvPr/>
        </p:nvSpPr>
        <p:spPr>
          <a:xfrm>
            <a:off x="548640" y="20010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ImageNet-CとImageNet-Pの提案論文。汚損や連続的な変化に対する頑健性を評価する。</a:t>
            </a:r>
          </a:p>
        </p:txBody>
      </p:sp>
      <p:sp>
        <p:nvSpPr>
          <p:cNvPr id="7" name="TextBox 6"/>
          <p:cNvSpPr txBox="1"/>
          <p:nvPr/>
        </p:nvSpPr>
        <p:spPr>
          <a:xfrm>
            <a:off x="548640" y="2623818"/>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https://arxiv.org/abs/1903.12261</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cp:coreProperties>
</file>