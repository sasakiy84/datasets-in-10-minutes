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329" r:id="rId77"/>
    <p:sldId id="270" r:id="rId21"/>
    <p:sldId id="299" r:id="rId50"/>
    <p:sldId id="330" r:id="rId78"/>
    <p:sldId id="271" r:id="rId22"/>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8.xml"/><Relationship Id="rId22" Type="http://schemas.openxmlformats.org/officeDocument/2006/relationships/slide" Target="slides/slide31.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9.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27.xml"/><Relationship Id="rId78" Type="http://schemas.openxmlformats.org/officeDocument/2006/relationships/slide" Target="slides/slide30.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097280"/>
            <a:ext cx="8229600" cy="2240280"/>
          </a:xfrm>
        </p:spPr>
        <p:txBody>
          <a:bodyPr wrap="none" lIns="0" rIns="0" tIns="0" bIns="0" anchor="ctr"/>
          <a:lstStyle/>
          <a:p>
            <a:pPr algn="ctr">
              <a:lnSpc>
                <a:spcPts val="4800"/>
              </a:lnSpc>
              <a:spcBef>
                <a:spcPts val="0"/>
              </a:spcBef>
              <a:spcAft>
                <a:spcPts val="0"/>
              </a:spcAft>
              <a:defRPr sz="3400" b="0" lang="ja-JP">
                <a:latin typeface="Noto Sans"/>
                <a:ea typeface="Noto Sans CJK JP"/>
                <a:cs typeface="Noto Sans"/>
              </a:defRPr>
            </a:pPr>
            <a:r>
              <a:rPr sz="3400" b="0" lang="ja-JP">
                <a:solidFill>
                  <a:srgbClr val="303437"/>
                </a:solidFill>
                <a:latin typeface="Noto Sans"/>
                <a:ea typeface="Noto Sans CJK JP"/>
                <a:cs typeface="Noto Sans"/>
              </a:rPr>
              <a:t>画像認識用データセット</a:t>
            </a:r>
            <a:endParaRPr sz="2300" lang="ja-JP">
              <a:latin typeface="Noto Sans"/>
              <a:ea typeface="Noto Sans CJK JP"/>
              <a:cs typeface="Noto Sans"/>
            </a:endParaRPr>
          </a:p>
          <a:p>
            <a:pPr algn="ctr">
              <a:lnSpc>
                <a:spcPts val="7800"/>
              </a:lnSpc>
              <a:spcBef>
                <a:spcPts val="0"/>
              </a:spcBef>
              <a:spcAft>
                <a:spcPts val="0"/>
              </a:spcAft>
              <a:defRPr sz="5800" b="0" lang="ja-JP">
                <a:latin typeface="Noto Sans"/>
                <a:ea typeface="Noto Sans CJK JP"/>
                <a:cs typeface="Noto Sans"/>
              </a:defRPr>
            </a:pPr>
            <a:r>
              <a:rPr sz="6400" b="1" lang="ja-JP">
                <a:solidFill>
                  <a:srgbClr val="303437"/>
                </a:solidFill>
                <a:latin typeface="Noto Sans"/>
                <a:ea typeface="Noto Sans CJK JP"/>
                <a:cs typeface="Noto Sans"/>
              </a:rPr>
              <a:t>ImageNet-1k</a:t>
            </a:r>
            <a:endParaRPr sz="2300" lang="ja-JP">
              <a:latin typeface="Noto Sans"/>
              <a:ea typeface="Noto Sans CJK JP"/>
              <a:cs typeface="Noto Sans"/>
            </a:endParaRP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23444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画像分類とデータの範囲</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成立の背景と収集・規模</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評価方法とモデル</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利用の変遷と関連データ</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入手方法とまとめ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1 画像分類とデータの範囲</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r>
              <a:t>1 画像分類とデータの範囲</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画像分類とデータの範囲</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lstStyle/>
          <a:p>
            <a:pPr/>
            <a:r>
              <a:t>1 画像分類とデータの範囲</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この資料で扱うImageNet-1kの課題は画像分類であり、1枚の画像から1,000候補のカテゴリを予測する。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カテゴリとクラスは、いずれも正解ラベルの種類を指す。物体の位置や輪郭は、この分類課題の出力には含まれない。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画像分類とデータの範囲</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https://image-net.org/static_files/papers/imagenet_cvpr09.pdf</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画像分類とデータの範囲</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画像分類とデータの範囲</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https://image-net.org/static_files/papers/imagenet_cvpr09.pdf</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1 画像分類とデータの範囲</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画像分類とデータの範囲</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イングリッシュ・スプリンガーの画像例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1 画像分類とデータの範囲</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正解はスプリンガー犬</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English springer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犬種を表すクラスである。犬という上位概念より、細かな区別を求める。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2 成立の背景と収集・規模</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r>
              <a:t>2 成立の背景と収集・規模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lstStyle/>
          <a:p>
            <a:pPr/>
            <a:r>
              <a:t>2 成立の背景と収集・規模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これに対し、2009年のImageNet原著は約320万枚・5,247カテゴリを報告した。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Deng et al. (2009), CVPR. </a:t>
            </a:r>
            <a:r>
              <a:rPr sz="800" b="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有償作業のAmazon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見やすい単独物体だけに限定しなかった。</a:t>
            </a:r>
            <a:endParaRPr sz="24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Deng et al. (2009), CVPR. </a:t>
            </a:r>
            <a:r>
              <a:rPr sz="800" b="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Deng et al. (2009), CVPR. </a:t>
            </a:r>
            <a:r>
              <a:rPr sz="800" b="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Russakovsky et al. (2015), IJCV. </a:t>
            </a:r>
            <a:r>
              <a:rPr sz="800" b="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chor="t"/>
          <a:lstStyle/>
          <a:p>
            <a:pPr algn="l" marL="0" indent="0">
              <a:lnSpc>
                <a:spcPct val="110000"/>
              </a:lnSpc>
              <a:spcBef>
                <a:spcPts val="0"/>
              </a:spcBef>
              <a:spcAft>
                <a:spcPts val="70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0" rIns="0" tIns="0" bIns="0"/>
          <a:lstStyle/>
          <a:p>
            <a:pPr marL="0" indent="0">
              <a:lnSpc>
                <a:spcPct val="110000"/>
              </a:lnSpc>
              <a:spcBef>
                <a:spcPts val="0"/>
              </a:spcBef>
              <a:spcAft>
                <a:spcPts val="70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1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chor="t"/>
          <a:lstStyle/>
          <a:p>
            <a:pPr algn="l" marL="0" indent="0">
              <a:lnSpc>
                <a:spcPct val="110000"/>
              </a:lnSpc>
              <a:spcBef>
                <a:spcPts val="0"/>
              </a:spcBef>
              <a:spcAft>
                <a:spcPts val="70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0" rIns="0" tIns="0" bIns="0"/>
          <a:lstStyle/>
          <a:p>
            <a:pPr marL="0" indent="0">
              <a:lnSpc>
                <a:spcPct val="110000"/>
              </a:lnSpc>
              <a:spcBef>
                <a:spcPts val="0"/>
              </a:spcBef>
              <a:spcAft>
                <a:spcPts val="70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1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学習画像が1,000枚未満のカテゴリは19種類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3 評価方法とモデル</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r>
              <a:t>3 評価方法とモデル</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順位に応じてTop-1とTop-5が変わる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評価方法とモデル</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評価方法とモデル</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lstStyle/>
          <a:p>
            <a:pPr/>
            <a:r>
              <a:t>3 評価方法とモデル</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評価方法とモデル</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Russakovsky et al. (2015), Table 5. </a:t>
            </a:r>
            <a:r>
              <a:rPr sz="800" b="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2016年のResNet原著の評価結果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3 評価方法とモデル</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残差接続を用いるResNetの、10クロップ評価による値。同じ画像から10領域を切り出し、予測をまとめる。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He et al. (2016), CVPR, Table 3. </a:t>
            </a:r>
            <a:r>
              <a:rPr sz="800" b="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事前学習の方法と特徴の評価を分ける</a:t>
            </a:r>
          </a:p>
        </p:txBody>
      </p:sp>
      <p:sp>
        <p:nvSpPr>
          <p:cNvPr id="4" name="Title 3"/>
          <p:cNvSpPr>
            <a:spLocks noGrp="1"/>
          </p:cNvSpPr>
          <p:nvPr>
            <p:ph type="title" idx="2"/>
          </p:nvPr>
        </p:nvSpPr>
        <p:spPr/>
        <p:txBody>
          <a:bodyPr/>
          <a:lstStyle/>
          <a:p>
            <a:pPr/>
            <a:r>
              <a:t>3 評価方法とモデル</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2025年もImageNetで画像特徴を評価している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評価方法とモデル</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特徴モデルを固定し、ImageNetの学習用で線形分類器を学習する。検証用で条件を選び、同じ検証用で評価する。入力解像度は異なる。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Siméoni et al. (2025), DINOv3, Table 7. </a:t>
            </a:r>
            <a:r>
              <a:rPr sz="800" b="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4 利用の変遷と関連データ</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r>
              <a:t>4 利用の変遷と関連データ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分類の高い正解率だけでは汎用性を示せない</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利用の変遷と関連データ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1,000クラス分類は、画像の意味全体を説明しない。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対象物より背景の手がかりを使う可能性がある。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別の画像集合や撮影条件では、成績が変わる。</a:t>
            </a:r>
            <a:endParaRPr sz="22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Beyer et al. (2020). </a:t>
            </a:r>
            <a:r>
              <a:rPr sz="800" b="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利用の変遷と関連データ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利用の変遷と関連データ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その後、絵画のImageNet-Rや、画像を劣化させたImageNet-Cも作られた [2]。</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2026年も公開実装に、ImageNetでの評価手順がある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5 入手方法とまとめ</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r>
              <a:t>5 入手方法とまとめ</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入手方法とまとめ</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https://www.image-net.org/download.php</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ImageNetは画像認識の学習と評価を支えてきた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入手方法とまとめ</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2009年に発表され、多数の画像を人手で確認した。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Top-1・Top-5と、学習・評価条件を区別する。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現在は特徴評価にも使い、汎化は別画像で調べる。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438848"/>
            <a:ext cx="8229600" cy="731520"/>
          </a:xfrm>
        </p:spPr>
        <p:txBody>
          <a:bodyPr tIns="0" bIns="0" anchor="ctr"/>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48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lstStyle/>
          <a:p>
            <a:pPr/>
            <a: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91440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4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著者と発表先</a:t>
            </a:r>
          </a:p>
          <a:p>
            <a:pPr lvl="0" marL="457200" indent="-355600">
              <a:lnSpc>
                <a:spcPct val="100000"/>
              </a:lnSpc>
              <a:spcBef>
                <a:spcPts val="0"/>
              </a:spcBef>
              <a:spcAft>
                <a:spcPts val="4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カテゴリの見取り図</a:t>
            </a:r>
          </a:p>
          <a:p>
            <a:pPr lvl="0" marL="457200" indent="-355600">
              <a:lnSpc>
                <a:spcPct val="100000"/>
              </a:lnSpc>
              <a:spcBef>
                <a:spcPts val="0"/>
              </a:spcBef>
              <a:spcAft>
                <a:spcPts val="4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画像の追加例</a:t>
            </a:r>
          </a:p>
          <a:p>
            <a:pPr lvl="0" marL="457200" indent="-355600">
              <a:lnSpc>
                <a:spcPct val="100000"/>
              </a:lnSpc>
              <a:spcBef>
                <a:spcPts val="0"/>
              </a:spcBef>
              <a:spcAft>
                <a:spcPts val="4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ImageNet-1kの学習画像数</a:t>
            </a:r>
          </a:p>
          <a:p>
            <a:pPr lvl="0" marL="457200" indent="-355600">
              <a:lnSpc>
                <a:spcPct val="100000"/>
              </a:lnSpc>
              <a:spcBef>
                <a:spcPts val="0"/>
              </a:spcBef>
              <a:spcAft>
                <a:spcPts val="4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Imagenetteの画像サイズ</a:t>
            </a:r>
          </a:p>
          <a:p>
            <a:pPr lvl="0" marL="457200" indent="-355600">
              <a:lnSpc>
                <a:spcPct val="100000"/>
              </a:lnSpc>
              <a:spcBef>
                <a:spcPts val="0"/>
              </a:spcBef>
              <a:spcAft>
                <a:spcPts val="4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モデル評価と前処理</a:t>
            </a:r>
          </a:p>
          <a:p>
            <a:pPr lvl="0" marL="457200" indent="-355600">
              <a:lnSpc>
                <a:spcPct val="100000"/>
              </a:lnSpc>
              <a:spcBef>
                <a:spcPts val="0"/>
              </a:spcBef>
              <a:spcAft>
                <a:spcPts val="4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入手コードと参考文献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著者と発表先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原著は2009年のCVPRで発表された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発表当時の所属はPrinceton大学だった。原著は2019年にPAMI Longuet-Higgins Prizeを受賞した [2]。</a:t>
            </a: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Deng et al. (2009), CVPR. </a:t>
            </a:r>
            <a:r>
              <a:rPr sz="800" b="0" lang="ja-JP">
                <a:solidFill>
                  <a:srgbClr val="626669"/>
                </a:solidFill>
                <a:latin typeface="Noto Sans"/>
                <a:ea typeface="Noto Sans CJK JP"/>
                <a:cs typeface="Noto Sans"/>
                <a:hlinkClick r:id="rId2"/>
              </a:rPr>
              <a:t>https://image-net.org/static_files/papers/imagenet_cvpr09.pdf</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ImageNet About. </a:t>
            </a:r>
            <a:r>
              <a:rPr sz="800" b="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カテゴリの見取り図</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787" lang="ja-JP" b="1">
                <a:solidFill>
                  <a:srgbClr val="303437"/>
                </a:solidFill>
                <a:latin typeface="Noto Sans"/>
                <a:ea typeface="Noto Sans CJK JP"/>
                <a:cs typeface="Noto Sans"/>
              </a:rPr>
              <a:t>爬虫類と両生類と魚類と水生無脊椎動物のカテゴリ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カテゴリの見取り図</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昆虫と陸生節足動物と乗り物のカテゴリ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カテゴリの見取り図</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電子機器と機械と衣類と生活用品のカテゴリ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カテゴリの見取り図</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建物と構造物と食品と農作物のカテゴリ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カテゴリの見取り図</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オオカバマダラの画像例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200" b="0" lang="ja-JP">
                <a:latin typeface="Noto Sans"/>
                <a:ea typeface="Noto Sans CJK JP"/>
                <a:cs typeface="Noto Sans"/>
              </a:defRPr>
            </a:pPr>
            <a:r>
              <a:rPr sz="2200" lang="ja-JP">
                <a:solidFill>
                  <a:srgbClr val="B13731"/>
                </a:solidFill>
                <a:latin typeface="Noto Sans"/>
                <a:ea typeface="Noto Sans CJK JP"/>
                <a:cs typeface="Noto Sans"/>
              </a:rPr>
              <a:t>正解はオオカバマダラ</a:t>
            </a:r>
            <a:endParaRPr sz="22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900" b="0" lang="ja-JP">
                <a:latin typeface="Noto Sans"/>
                <a:ea typeface="Noto Sans CJK JP"/>
                <a:cs typeface="Noto Sans"/>
              </a:defRPr>
            </a:pPr>
            <a:r>
              <a:rPr sz="1900" lang="ja-JP">
                <a:solidFill>
                  <a:srgbClr val="303437"/>
                </a:solidFill>
                <a:latin typeface="Noto Sans"/>
                <a:ea typeface="Noto Sans CJK JP"/>
                <a:cs typeface="Noto Sans"/>
              </a:rPr>
              <a:t>monarch</a:t>
            </a:r>
            <a:endParaRPr sz="19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カセットプレーヤーの画像例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チェーンソーの画像例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正解はチェーンソー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chain saw</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教会の画像例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正解は教会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church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低い照度の画像も含む。写真全体の明るさと、建造物のクラスは別の特徴である。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フレンチホルンの画像例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正解はフレンチホルン</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French horn</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ごみ収集車の画像例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正解はごみ収集車</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garbage truck</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ガソリンポンプの画像例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プラネタリウムの画像例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200" b="0" lang="ja-JP">
                <a:latin typeface="Noto Sans"/>
                <a:ea typeface="Noto Sans CJK JP"/>
                <a:cs typeface="Noto Sans"/>
              </a:defRPr>
            </a:pPr>
            <a:r>
              <a:rPr sz="2200" lang="ja-JP">
                <a:solidFill>
                  <a:srgbClr val="B13731"/>
                </a:solidFill>
                <a:latin typeface="Noto Sans"/>
                <a:ea typeface="Noto Sans CJK JP"/>
                <a:cs typeface="Noto Sans"/>
              </a:rPr>
              <a:t>正解はプラネタリウム</a:t>
            </a:r>
            <a:endParaRPr sz="22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900" b="0" lang="ja-JP">
                <a:latin typeface="Noto Sans"/>
                <a:ea typeface="Noto Sans CJK JP"/>
                <a:cs typeface="Noto Sans"/>
              </a:defRPr>
            </a:pPr>
            <a:r>
              <a:rPr sz="1900" lang="ja-JP">
                <a:solidFill>
                  <a:srgbClr val="303437"/>
                </a:solidFill>
                <a:latin typeface="Noto Sans"/>
                <a:ea typeface="Noto Sans CJK JP"/>
                <a:cs typeface="Noto Sans"/>
              </a:rPr>
              <a:t>planetarium</a:t>
            </a:r>
            <a:endParaRPr sz="19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パラシュートの画像例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正解はパラシュート</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parachute</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1,000クラスの学習画像数を集計した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ImageNet-1kの学習画像数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chor="t"/>
          <a:lstStyle/>
          <a:p>
            <a:pPr algn="l" marL="0" indent="0">
              <a:lnSpc>
                <a:spcPct val="110000"/>
              </a:lnSpc>
              <a:spcBef>
                <a:spcPts val="0"/>
              </a:spcBef>
              <a:spcAft>
                <a:spcPts val="70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画像サイズは小規模なImagenetteで調べる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ImageNet-1kの学習用は約128万枚ある。そこで、画像サイズの実測には10クラス・13,394枚のImagenetteを使う [1, 2]。</a:t>
            </a:r>
            <a:endParaRPr sz="2400" lang="ja-JP">
              <a:latin typeface="Noto Sans"/>
              <a:ea typeface="Noto Sans CJK JP"/>
              <a:cs typeface="Noto Sans"/>
            </a:endParaRPr>
          </a:p>
          <a:p>
            <a:pPr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ここからは、短辺を160 pxにリサイズしたImagenetteの画像を扱う。</a:t>
            </a:r>
          </a:p>
          <a:p>
            <a:pPr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学習用9,469枚、検証用3,925枚。分割はImagenette独自のものである。</a:t>
            </a: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a:t>
            </a:r>
            <a:r>
              <a:rPr sz="800" b="0" lang="ja-JP">
                <a:solidFill>
                  <a:srgbClr val="626669"/>
                </a:solidFill>
                <a:latin typeface="Noto Sans"/>
                <a:ea typeface="Noto Sans CJK JP"/>
                <a:cs typeface="Noto Sans"/>
                <a:hlinkClick r:id="rId2"/>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Imagenette. </a:t>
            </a:r>
            <a:r>
              <a:rPr sz="800" b="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44168"/>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4315968"/>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160 px版. </a:t>
            </a:r>
            <a:r>
              <a:rPr sz="800" b="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44168"/>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4315968"/>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160 px版. </a:t>
            </a:r>
            <a:r>
              <a:rPr sz="800" b="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px。縦横比は5.0125。横に細長くてもラベルはcassette playerである。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3"/>
              </a:rPr>
              <a:t>https://github.com/fastai/imagenette</a:t>
            </a:r>
            <a:r>
              <a:rPr sz="800" b="0" lang="ja-JP">
                <a:solidFill>
                  <a:srgbClr val="626669"/>
                </a:solidFill>
                <a:latin typeface="Noto Sans"/>
                <a:ea typeface="Noto Sans CJK JP"/>
                <a:cs typeface="Noto Sans"/>
              </a:rPr>
              <a:t>　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chor="t"/>
          <a:lstStyle/>
          <a:p>
            <a:pPr algn="l" marL="0" indent="0">
              <a:lnSpc>
                <a:spcPct val="110000"/>
              </a:lnSpc>
              <a:spcBef>
                <a:spcPts val="0"/>
              </a:spcBef>
              <a:spcAft>
                <a:spcPts val="70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a:t>
            </a:r>
            <a:r>
              <a:rPr sz="800" b="0" lang="ja-JP">
                <a:solidFill>
                  <a:srgbClr val="626669"/>
                </a:solidFill>
                <a:latin typeface="Noto Sans"/>
                <a:ea typeface="Noto Sans CJK JP"/>
                <a:cs typeface="Noto Sans"/>
                <a:hlinkClick r:id="rId4"/>
              </a:rPr>
              <a:t>https://github.com/fastai/imagenette</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160 px版. </a:t>
            </a:r>
            <a:r>
              <a:rPr sz="800" b="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公開済み重みの結果は実装の条件にも依存する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モデル評価と前処理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いずれもImageNet-1k検証用。学習レシピはモデルごとに異なる。画像のパッチを処理するViTも、同じ分類用データで評価する。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モデル評価と前処理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元の検証用は1,000クラス、ImageNet-Rはそのうち200クラス。クラス数と画像集合が異なるため、列同士を同じ難易度とはみなせない。</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Siméoni et al. (2025), Table 7. </a:t>
            </a:r>
            <a:r>
              <a:rPr sz="800" b="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モデル評価と前処理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公式トップの1,420万枚という表示だけで、更新後の収録範囲を判断しない。</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入手コードと参考文献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devkitを取得・展開した後に実行する。scipyを利用する。WordNet IDとモデルのクラス番号を同一視しない。</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入手コードと参考文献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1"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Imagenette 160 px版. </a:t>
            </a:r>
            <a:r>
              <a:rPr sz="800" b="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入手コードと参考文献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7 参考文献</a:t>
            </a:r>
          </a:p>
        </p:txBody>
      </p:sp>
      <p:sp>
        <p:nvSpPr>
          <p:cNvPr id="4" name="TextBox 3"/>
          <p:cNvSpPr txBox="1"/>
          <p:nvPr/>
        </p:nvSpPr>
        <p:spPr>
          <a:xfrm>
            <a:off x="594360" y="1005840"/>
            <a:ext cx="7955279" cy="841247"/>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94360" y="1773936"/>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94360" y="2048255"/>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ImageNetの原著論文。WordNet階層に沿う画像収集と人手による注釈を報告する。</a:t>
            </a:r>
          </a:p>
        </p:txBody>
      </p:sp>
      <p:sp>
        <p:nvSpPr>
          <p:cNvPr id="7" name="TextBox 6"/>
          <p:cNvSpPr txBox="1"/>
          <p:nvPr/>
        </p:nvSpPr>
        <p:spPr>
          <a:xfrm>
            <a:off x="594360" y="2665475"/>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2"/>
              </a:rPr>
              <a:t>https://image-net.org/static_files/papers/imagenet_cvpr09.pdf</a:t>
            </a:r>
          </a:p>
        </p:txBody>
      </p:sp>
      <p:sp>
        <p:nvSpPr>
          <p:cNvPr id="8" name="TextBox 7"/>
          <p:cNvSpPr txBox="1"/>
          <p:nvPr/>
        </p:nvSpPr>
        <p:spPr>
          <a:xfrm>
            <a:off x="594360" y="3145536"/>
            <a:ext cx="7955279" cy="475488"/>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94360" y="3547872"/>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94360" y="3822191"/>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94360" y="4439412"/>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3"/>
              </a:rPr>
              <a:t>https://arxiv.org/abs/1409.0575</a:t>
            </a:r>
          </a:p>
        </p:txBody>
      </p:sp>
      <p:sp>
        <p:nvSpPr>
          <p:cNvPr id="12" name="Rectangle 11"/>
          <p:cNvSpPr/>
          <p:nvPr/>
        </p:nvSpPr>
        <p:spPr>
          <a:xfrm>
            <a:off x="594360" y="3008376"/>
            <a:ext cx="7955279" cy="8890"/>
          </a:xfrm>
          <a:prstGeom prst="rect">
            <a:avLst/>
          </a:prstGeom>
          <a:solidFill>
            <a:srgbClr val="A9ABA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7 参考文献</a:t>
            </a:r>
          </a:p>
        </p:txBody>
      </p:sp>
      <p:sp>
        <p:nvSpPr>
          <p:cNvPr id="4" name="TextBox 3"/>
          <p:cNvSpPr txBox="1"/>
          <p:nvPr/>
        </p:nvSpPr>
        <p:spPr>
          <a:xfrm>
            <a:off x="594360" y="1005840"/>
            <a:ext cx="7955279" cy="475488"/>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94360" y="1408176"/>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94360" y="1682496"/>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ResNetの原著論文。残差接続による深いネットワークの学習とImageNet評価を示す。</a:t>
            </a:r>
          </a:p>
        </p:txBody>
      </p:sp>
      <p:sp>
        <p:nvSpPr>
          <p:cNvPr id="7" name="TextBox 6"/>
          <p:cNvSpPr txBox="1"/>
          <p:nvPr/>
        </p:nvSpPr>
        <p:spPr>
          <a:xfrm>
            <a:off x="594360" y="2299716"/>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2"/>
              </a:rPr>
              <a:t>https://arxiv.org/abs/1512.03385</a:t>
            </a:r>
          </a:p>
        </p:txBody>
      </p:sp>
      <p:sp>
        <p:nvSpPr>
          <p:cNvPr id="8" name="TextBox 7"/>
          <p:cNvSpPr txBox="1"/>
          <p:nvPr/>
        </p:nvSpPr>
        <p:spPr>
          <a:xfrm>
            <a:off x="594360" y="3145536"/>
            <a:ext cx="7955279" cy="475488"/>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94360" y="3547872"/>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94360" y="3822191"/>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94360" y="4439412"/>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94360" y="3008376"/>
            <a:ext cx="7955279" cy="8890"/>
          </a:xfrm>
          <a:prstGeom prst="rect">
            <a:avLst/>
          </a:prstGeom>
          <a:solidFill>
            <a:srgbClr val="A9ABA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7 参考文献</a:t>
            </a:r>
          </a:p>
        </p:txBody>
      </p:sp>
      <p:sp>
        <p:nvSpPr>
          <p:cNvPr id="4" name="TextBox 3"/>
          <p:cNvSpPr txBox="1"/>
          <p:nvPr/>
        </p:nvSpPr>
        <p:spPr>
          <a:xfrm>
            <a:off x="594360" y="1005840"/>
            <a:ext cx="7955279" cy="475488"/>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Models and pre-trained weights</a:t>
            </a:r>
          </a:p>
        </p:txBody>
      </p:sp>
      <p:sp>
        <p:nvSpPr>
          <p:cNvPr id="5" name="TextBox 4"/>
          <p:cNvSpPr txBox="1"/>
          <p:nvPr/>
        </p:nvSpPr>
        <p:spPr>
          <a:xfrm>
            <a:off x="594360" y="1408176"/>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94360" y="1682496"/>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94360" y="2299716"/>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2"/>
              </a:rPr>
              <a:t>https://github.com/pytorch/vision/blob/main/docs/source/models.rst</a:t>
            </a:r>
          </a:p>
        </p:txBody>
      </p:sp>
      <p:sp>
        <p:nvSpPr>
          <p:cNvPr id="8" name="TextBox 7"/>
          <p:cNvSpPr txBox="1"/>
          <p:nvPr/>
        </p:nvSpPr>
        <p:spPr>
          <a:xfrm>
            <a:off x="594360" y="3145536"/>
            <a:ext cx="7955279" cy="475488"/>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Imagenette</a:t>
            </a:r>
          </a:p>
        </p:txBody>
      </p:sp>
      <p:sp>
        <p:nvSpPr>
          <p:cNvPr id="9" name="TextBox 8"/>
          <p:cNvSpPr txBox="1"/>
          <p:nvPr/>
        </p:nvSpPr>
        <p:spPr>
          <a:xfrm>
            <a:off x="594360" y="3547872"/>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94360" y="3822191"/>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94360" y="4439412"/>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3"/>
              </a:rPr>
              <a:t>https://github.com/fastai/imagenette</a:t>
            </a:r>
          </a:p>
        </p:txBody>
      </p:sp>
      <p:sp>
        <p:nvSpPr>
          <p:cNvPr id="12" name="Rectangle 11"/>
          <p:cNvSpPr/>
          <p:nvPr/>
        </p:nvSpPr>
        <p:spPr>
          <a:xfrm>
            <a:off x="594360" y="3008376"/>
            <a:ext cx="7955279" cy="8890"/>
          </a:xfrm>
          <a:prstGeom prst="rect">
            <a:avLst/>
          </a:prstGeom>
          <a:solidFill>
            <a:srgbClr val="A9ABA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7 参考文献</a:t>
            </a:r>
          </a:p>
        </p:txBody>
      </p:sp>
      <p:sp>
        <p:nvSpPr>
          <p:cNvPr id="4" name="TextBox 3"/>
          <p:cNvSpPr txBox="1"/>
          <p:nvPr/>
        </p:nvSpPr>
        <p:spPr>
          <a:xfrm>
            <a:off x="594360" y="1005840"/>
            <a:ext cx="7955279" cy="475488"/>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94360" y="1408176"/>
            <a:ext cx="7955279" cy="521207"/>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94360" y="1888236"/>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ImageNetV2の原著論文。新たに収集した画像で既存分類器の汎化性能を検証する。</a:t>
            </a:r>
          </a:p>
        </p:txBody>
      </p:sp>
      <p:sp>
        <p:nvSpPr>
          <p:cNvPr id="7" name="TextBox 6"/>
          <p:cNvSpPr txBox="1"/>
          <p:nvPr/>
        </p:nvSpPr>
        <p:spPr>
          <a:xfrm>
            <a:off x="594360" y="2505456"/>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2"/>
              </a:rPr>
              <a:t>https://arxiv.org/abs/1902.10811</a:t>
            </a:r>
          </a:p>
        </p:txBody>
      </p:sp>
      <p:sp>
        <p:nvSpPr>
          <p:cNvPr id="8" name="TextBox 7"/>
          <p:cNvSpPr txBox="1"/>
          <p:nvPr/>
        </p:nvSpPr>
        <p:spPr>
          <a:xfrm>
            <a:off x="594360" y="3145536"/>
            <a:ext cx="7955279" cy="475488"/>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Are we done with ImageNet?</a:t>
            </a:r>
          </a:p>
        </p:txBody>
      </p:sp>
      <p:sp>
        <p:nvSpPr>
          <p:cNvPr id="9" name="TextBox 8"/>
          <p:cNvSpPr txBox="1"/>
          <p:nvPr/>
        </p:nvSpPr>
        <p:spPr>
          <a:xfrm>
            <a:off x="594360" y="3547872"/>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94360" y="3822191"/>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94360" y="4439412"/>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3"/>
              </a:rPr>
              <a:t>https://arxiv.org/abs/2006.07159</a:t>
            </a:r>
          </a:p>
        </p:txBody>
      </p:sp>
      <p:sp>
        <p:nvSpPr>
          <p:cNvPr id="12" name="Rectangle 11"/>
          <p:cNvSpPr/>
          <p:nvPr/>
        </p:nvSpPr>
        <p:spPr>
          <a:xfrm>
            <a:off x="594360" y="3008376"/>
            <a:ext cx="7955279" cy="8890"/>
          </a:xfrm>
          <a:prstGeom prst="rect">
            <a:avLst/>
          </a:prstGeom>
          <a:solidFill>
            <a:srgbClr val="A9ABA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7 参考文献</a:t>
            </a:r>
          </a:p>
        </p:txBody>
      </p:sp>
      <p:sp>
        <p:nvSpPr>
          <p:cNvPr id="4" name="TextBox 3"/>
          <p:cNvSpPr txBox="1"/>
          <p:nvPr/>
        </p:nvSpPr>
        <p:spPr>
          <a:xfrm>
            <a:off x="594360" y="1005840"/>
            <a:ext cx="7955279" cy="734567"/>
          </a:xfrm>
          <a:prstGeom prst="rect">
            <a:avLst/>
          </a:prstGeom>
          <a:noFill/>
        </p:spPr>
        <p:txBody>
          <a:bodyPr wrap="square" lIns="0" rIns="0" tIns="0" bIns="0">
            <a:spAutoFit/>
          </a:bodyPr>
          <a:lstStyle/>
          <a:p>
            <a:pPr>
              <a:lnSpc>
                <a:spcPct val="100000"/>
              </a:lnSpc>
              <a:spcBef>
                <a:spcPts val="0"/>
              </a:spcBef>
              <a:spcAft>
                <a:spcPts val="0"/>
              </a:spcAft>
              <a:buNone/>
              <a:defRPr sz="2050" b="1" lang="ja-JP">
                <a:solidFill>
                  <a:srgbClr val="303437"/>
                </a:solidFill>
                <a:latin typeface="Noto Sans"/>
                <a:ea typeface="Noto Sans CJK JP"/>
                <a:cs typeface="Noto Sans"/>
              </a:defRPr>
            </a:pPr>
            <a:r>
              <a:rPr sz="205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94360" y="1667256"/>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94360" y="1941575"/>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94360" y="2558795"/>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