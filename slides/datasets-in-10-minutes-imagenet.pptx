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7"/>
    <p:sldId id="308" r:id="rId59"/>
    <p:sldId id="309" r:id="rId60"/>
    <p:sldId id="257" r:id="rId8"/>
    <p:sldId id="258" r:id="rId9"/>
    <p:sldId id="259" r:id="rId6"/>
    <p:sldId id="260" r:id="rId5"/>
    <p:sldId id="261" r:id="rId4"/>
    <p:sldId id="262" r:id="rId3"/>
    <p:sldId id="310" r:id="rId61"/>
    <p:sldId id="263" r:id="rId2"/>
    <p:sldId id="264" r:id="rId15"/>
    <p:sldId id="265" r:id="rId16"/>
    <p:sldId id="266" r:id="rId17"/>
    <p:sldId id="267" r:id="rId18"/>
    <p:sldId id="268" r:id="rId19"/>
    <p:sldId id="320" r:id="rId70"/>
    <p:sldId id="314" r:id="rId10"/>
    <p:sldId id="311" r:id="rId62"/>
    <p:sldId id="269" r:id="rId20"/>
    <p:sldId id="270" r:id="rId21"/>
    <p:sldId id="299" r:id="rId50"/>
    <p:sldId id="271" r:id="rId22"/>
    <p:sldId id="312" r:id="rId63"/>
    <p:sldId id="272" r:id="rId23"/>
    <p:sldId id="273" r:id="rId24"/>
    <p:sldId id="274" r:id="rId25"/>
    <p:sldId id="313" r:id="rId64"/>
    <p:sldId id="275" r:id="rId26"/>
    <p:sldId id="276" r:id="rId27"/>
    <p:sldId id="277" r:id="rId28"/>
    <p:sldId id="278" r:id="rId29"/>
    <p:sldId id="315" r:id="rId65"/>
    <p:sldId id="316" r:id="rId66"/>
    <p:sldId id="317" r:id="rId67"/>
    <p:sldId id="318" r:id="rId68"/>
    <p:sldId id="319" r:id="rId69"/>
    <p:sldId id="279" r:id="rId30"/>
    <p:sldId id="280" r:id="rId31"/>
    <p:sldId id="281" r:id="rId32"/>
    <p:sldId id="282" r:id="rId33"/>
    <p:sldId id="283" r:id="rId34"/>
    <p:sldId id="284" r:id="rId35"/>
    <p:sldId id="285" r:id="rId36"/>
    <p:sldId id="286" r:id="rId37"/>
    <p:sldId id="287" r:id="rId38"/>
    <p:sldId id="288" r:id="rId39"/>
    <p:sldId id="289" r:id="rId40"/>
    <p:sldId id="290" r:id="rId41"/>
    <p:sldId id="321" r:id="rId71"/>
    <p:sldId id="291" r:id="rId42"/>
    <p:sldId id="292" r:id="rId43"/>
    <p:sldId id="293" r:id="rId44"/>
    <p:sldId id="294" r:id="rId45"/>
    <p:sldId id="295" r:id="rId46"/>
    <p:sldId id="296" r:id="rId47"/>
    <p:sldId id="297" r:id="rId48"/>
    <p:sldId id="298" r:id="rId49"/>
    <p:sldId id="300" r:id="rId51"/>
    <p:sldId id="301" r:id="rId52"/>
    <p:sldId id="302" r:id="rId53"/>
    <p:sldId id="303" r:id="rId54"/>
    <p:sldId id="304" r:id="rId55"/>
    <p:sldId id="305" r:id="rId56"/>
    <p:sldId id="322" r:id="rId58"/>
    <p:sldId id="323" r:id="rId57"/>
    <p:sldId id="324" r:id="rId72"/>
    <p:sldId id="325" r:id="rId73"/>
    <p:sldId id="326" r:id="rId7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1.xml"/><Relationship Id="rId3" Type="http://schemas.openxmlformats.org/officeDocument/2006/relationships/slide" Target="slides/slide9.xml"/><Relationship Id="rId4" Type="http://schemas.openxmlformats.org/officeDocument/2006/relationships/slide" Target="slides/slide8.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1.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18.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3.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9.xml"/><Relationship Id="rId27" Type="http://schemas.openxmlformats.org/officeDocument/2006/relationships/slide" Target="slides/slide30.xml"/><Relationship Id="rId28" Type="http://schemas.openxmlformats.org/officeDocument/2006/relationships/slide" Target="slides/slide31.xml"/><Relationship Id="rId29" Type="http://schemas.openxmlformats.org/officeDocument/2006/relationships/slide" Target="slides/slide32.xml"/><Relationship Id="rId30" Type="http://schemas.openxmlformats.org/officeDocument/2006/relationships/slide" Target="slides/slide38.xml"/><Relationship Id="rId31" Type="http://schemas.openxmlformats.org/officeDocument/2006/relationships/slide" Target="slides/slide39.xml"/><Relationship Id="rId32" Type="http://schemas.openxmlformats.org/officeDocument/2006/relationships/slide" Target="slides/slide40.xml"/><Relationship Id="rId33" Type="http://schemas.openxmlformats.org/officeDocument/2006/relationships/slide" Target="slides/slide41.xml"/><Relationship Id="rId34" Type="http://schemas.openxmlformats.org/officeDocument/2006/relationships/slide" Target="slides/slide42.xml"/><Relationship Id="rId35" Type="http://schemas.openxmlformats.org/officeDocument/2006/relationships/slide" Target="slides/slide43.xml"/><Relationship Id="rId36" Type="http://schemas.openxmlformats.org/officeDocument/2006/relationships/slide" Target="slides/slide44.xml"/><Relationship Id="rId37" Type="http://schemas.openxmlformats.org/officeDocument/2006/relationships/slide" Target="slides/slide45.xml"/><Relationship Id="rId38" Type="http://schemas.openxmlformats.org/officeDocument/2006/relationships/slide" Target="slides/slide46.xml"/><Relationship Id="rId39" Type="http://schemas.openxmlformats.org/officeDocument/2006/relationships/slide" Target="slides/slide47.xml"/><Relationship Id="rId40" Type="http://schemas.openxmlformats.org/officeDocument/2006/relationships/slide" Target="slides/slide48.xml"/><Relationship Id="rId41" Type="http://schemas.openxmlformats.org/officeDocument/2006/relationships/slide" Target="slides/slide49.xml"/><Relationship Id="rId42" Type="http://schemas.openxmlformats.org/officeDocument/2006/relationships/slide" Target="slides/slide51.xml"/><Relationship Id="rId43" Type="http://schemas.openxmlformats.org/officeDocument/2006/relationships/slide" Target="slides/slide52.xml"/><Relationship Id="rId44" Type="http://schemas.openxmlformats.org/officeDocument/2006/relationships/slide" Target="slides/slide53.xml"/><Relationship Id="rId45" Type="http://schemas.openxmlformats.org/officeDocument/2006/relationships/slide" Target="slides/slide54.xml"/><Relationship Id="rId46" Type="http://schemas.openxmlformats.org/officeDocument/2006/relationships/slide" Target="slides/slide55.xml"/><Relationship Id="rId47" Type="http://schemas.openxmlformats.org/officeDocument/2006/relationships/slide" Target="slides/slide56.xml"/><Relationship Id="rId48" Type="http://schemas.openxmlformats.org/officeDocument/2006/relationships/slide" Target="slides/slide57.xml"/><Relationship Id="rId49" Type="http://schemas.openxmlformats.org/officeDocument/2006/relationships/slide" Target="slides/slide58.xml"/><Relationship Id="rId50" Type="http://schemas.openxmlformats.org/officeDocument/2006/relationships/slide" Target="slides/slide22.xml"/><Relationship Id="rId51" Type="http://schemas.openxmlformats.org/officeDocument/2006/relationships/slide" Target="slides/slide59.xml"/><Relationship Id="rId52" Type="http://schemas.openxmlformats.org/officeDocument/2006/relationships/slide" Target="slides/slide60.xml"/><Relationship Id="rId53" Type="http://schemas.openxmlformats.org/officeDocument/2006/relationships/slide" Target="slides/slide61.xml"/><Relationship Id="rId54" Type="http://schemas.openxmlformats.org/officeDocument/2006/relationships/slide" Target="slides/slide62.xml"/><Relationship Id="rId55" Type="http://schemas.openxmlformats.org/officeDocument/2006/relationships/slide" Target="slides/slide63.xml"/><Relationship Id="rId56" Type="http://schemas.openxmlformats.org/officeDocument/2006/relationships/slide" Target="slides/slide64.xml"/><Relationship Id="rId57" Type="http://schemas.openxmlformats.org/officeDocument/2006/relationships/slide" Target="slides/slide66.xml"/><Relationship Id="rId58" Type="http://schemas.openxmlformats.org/officeDocument/2006/relationships/slide" Target="slides/slide65.xml"/><Relationship Id="rId59" Type="http://schemas.openxmlformats.org/officeDocument/2006/relationships/slide" Target="slides/slide2.xml"/><Relationship Id="rId60" Type="http://schemas.openxmlformats.org/officeDocument/2006/relationships/slide" Target="slides/slide3.xml"/><Relationship Id="rId61" Type="http://schemas.openxmlformats.org/officeDocument/2006/relationships/slide" Target="slides/slide10.xml"/><Relationship Id="rId62" Type="http://schemas.openxmlformats.org/officeDocument/2006/relationships/slide" Target="slides/slide19.xml"/><Relationship Id="rId63" Type="http://schemas.openxmlformats.org/officeDocument/2006/relationships/slide" Target="slides/slide24.xml"/><Relationship Id="rId64" Type="http://schemas.openxmlformats.org/officeDocument/2006/relationships/slide" Target="slides/slide28.xml"/><Relationship Id="rId65" Type="http://schemas.openxmlformats.org/officeDocument/2006/relationships/slide" Target="slides/slide33.xml"/><Relationship Id="rId66" Type="http://schemas.openxmlformats.org/officeDocument/2006/relationships/slide" Target="slides/slide34.xml"/><Relationship Id="rId67" Type="http://schemas.openxmlformats.org/officeDocument/2006/relationships/slide" Target="slides/slide35.xml"/><Relationship Id="rId68" Type="http://schemas.openxmlformats.org/officeDocument/2006/relationships/slide" Target="slides/slide36.xml"/><Relationship Id="rId69" Type="http://schemas.openxmlformats.org/officeDocument/2006/relationships/slide" Target="slides/slide37.xml"/><Relationship Id="rId70" Type="http://schemas.openxmlformats.org/officeDocument/2006/relationships/slide" Target="slides/slide17.xml"/><Relationship Id="rId71" Type="http://schemas.openxmlformats.org/officeDocument/2006/relationships/slide" Target="slides/slide50.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607898" y="-10450"/>
            <a:ext cx="548701" cy="479700"/>
          </a:xfrm>
          <a:prstGeom prst="rect">
            <a:avLst/>
          </a:prstGeom>
          <a:noFill/>
          <a:ln>
            <a:noFill/>
          </a:ln>
        </p:spPr>
        <p:txBody>
          <a:bodyPr anchor="ctr"/>
          <a:lstStyle/>
          <a:p>
            <a:pPr algn="ct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ja-JP" altLang="ja" b="1" dirty="0">
                <a:solidFill>
                  <a:schemeClr val="lt1"/>
                </a:solidFill>
                <a:latin typeface="Noto Sans"/>
                <a:ea typeface="Noto Sans CJK JP"/>
                <a:cs typeface="Noto Sans"/>
              </a:rPr>
              <a:t>T</a:t>
            </a:r>
            <a:r>
              <a:rPr lang="ja-JP" b="1" dirty="0">
                <a:solidFill>
                  <a:schemeClr val="lt1"/>
                </a:solidFill>
                <a:latin typeface="Noto Sans"/>
                <a:ea typeface="Noto Sans CJK JP"/>
                <a:cs typeface="Noto Sans"/>
              </a:rPr>
              <a:t>able of </a:t>
            </a:r>
            <a:r>
              <a:rPr lang="ja-JP" altLang="ja" b="1" dirty="0">
                <a:solidFill>
                  <a:schemeClr val="lt1"/>
                </a:solidFill>
                <a:latin typeface="Noto Sans"/>
                <a:ea typeface="Noto Sans CJK JP"/>
                <a:cs typeface="Noto Sans"/>
              </a:rPr>
              <a:t>C</a:t>
            </a:r>
            <a:r>
              <a:rPr lang="ja-JP" b="1" dirty="0">
                <a:solidFill>
                  <a:schemeClr val="lt1"/>
                </a:solidFill>
                <a:latin typeface="Noto Sans"/>
                <a:ea typeface="Noto Sans CJK JP"/>
                <a:cs typeface="Noto Sans"/>
              </a:rPr>
              <a:t>ontents</a:t>
            </a:r>
            <a:endParaRPr b="1" dirty="0" lang="ja-JP">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squar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solidFill>
                  <a:schemeClr val="lt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72458" y="28683"/>
            <a:ext cx="548700" cy="393600"/>
          </a:xfrm>
          <a:prstGeom prst="rect">
            <a:avLst/>
          </a:prstGeom>
          <a:noFill/>
          <a:ln>
            <a:noFill/>
          </a:ln>
        </p:spPr>
        <p:txBody>
          <a:bodyPr anchor="ctr"/>
          <a:lstStyle/>
          <a:p>
            <a:pPr algn="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image" Target="../media/image18.png"/><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jpg"/><Relationship Id="rId3" Type="http://schemas.openxmlformats.org/officeDocument/2006/relationships/image" Target="../media/image19.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jpg"/><Relationship Id="rId3" Type="http://schemas.openxmlformats.org/officeDocument/2006/relationships/image" Target="../media/image20.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jpg"/><Relationship Id="rId3" Type="http://schemas.openxmlformats.org/officeDocument/2006/relationships/image" Target="../media/image14.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23.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jp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512.03385" TargetMode="External"/><Relationship Id="rId3" Type="http://schemas.openxmlformats.org/officeDocument/2006/relationships/hyperlink" Target="https://github.com/pytorch/tutorials/blob/main/beginner_source/transfer_learning_tutorial.py"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blob/main/docs/source/models.rst" TargetMode="External"/><Relationship Id="rId3" Type="http://schemas.openxmlformats.org/officeDocument/2006/relationships/hyperlink" Target="https://github.com/fastai/imagenette"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902.10811" TargetMode="External"/><Relationship Id="rId3" Type="http://schemas.openxmlformats.org/officeDocument/2006/relationships/hyperlink" Target="https://arxiv.org/abs/2006.07159"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903.12261"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097280"/>
            <a:ext cx="8229600" cy="2240280"/>
          </a:xfrm>
        </p:spPr>
        <p:txBody>
          <a:bodyPr wrap="none" lIns="0" rIns="0" tIns="0" bIns="0" anchor="ctr"/>
          <a:lstStyle/>
          <a:p>
            <a:pPr algn="ctr">
              <a:lnSpc>
                <a:spcPts val="4800"/>
              </a:lnSpc>
              <a:spcBef>
                <a:spcPts val="0"/>
              </a:spcBef>
              <a:spcAft>
                <a:spcPts val="0"/>
              </a:spcAft>
              <a:defRPr sz="3400" b="0" lang="ja-JP">
                <a:latin typeface="Noto Sans"/>
                <a:ea typeface="Noto Sans CJK JP"/>
                <a:cs typeface="Noto Sans"/>
              </a:defRPr>
            </a:pPr>
            <a:r>
              <a:rPr sz="3400" b="0" lang="ja-JP">
                <a:solidFill>
                  <a:srgbClr val="303437"/>
                </a:solidFill>
                <a:latin typeface="Noto Sans"/>
                <a:ea typeface="Noto Sans CJK JP"/>
                <a:cs typeface="Noto Sans"/>
              </a:rPr>
              <a:t>画像認識用データセット</a:t>
            </a:r>
            <a:endParaRPr sz="2300" lang="ja-JP">
              <a:latin typeface="Noto Sans"/>
              <a:ea typeface="Noto Sans CJK JP"/>
              <a:cs typeface="Noto Sans"/>
            </a:endParaRPr>
          </a:p>
          <a:p>
            <a:pPr algn="ctr">
              <a:lnSpc>
                <a:spcPts val="7800"/>
              </a:lnSpc>
              <a:spcBef>
                <a:spcPts val="0"/>
              </a:spcBef>
              <a:spcAft>
                <a:spcPts val="0"/>
              </a:spcAft>
              <a:defRPr sz="5800" b="0" lang="ja-JP">
                <a:latin typeface="Noto Sans"/>
                <a:ea typeface="Noto Sans CJK JP"/>
                <a:cs typeface="Noto Sans"/>
              </a:defRPr>
            </a:pPr>
            <a:r>
              <a:rPr sz="6400" b="1" lang="ja-JP">
                <a:solidFill>
                  <a:srgbClr val="303437"/>
                </a:solidFill>
                <a:latin typeface="Noto Sans"/>
                <a:ea typeface="Noto Sans CJK JP"/>
                <a:cs typeface="Noto Sans"/>
              </a:rPr>
              <a:t>ImageNet-1k</a:t>
            </a:r>
            <a:endParaRPr sz="2300" lang="ja-JP">
              <a:latin typeface="Noto Sans"/>
              <a:ea typeface="Noto Sans CJK JP"/>
              <a:cs typeface="Noto Sans"/>
            </a:endParaRPr>
          </a:p>
        </p:txBody>
      </p:sp>
      <p:sp>
        <p:nvSpPr>
          <p:cNvPr id="3" name="Subtitle 2"/>
          <p:cNvSpPr>
            <a:spLocks noGrp="1"/>
          </p:cNvSpPr>
          <p:nvPr>
            <p:ph type="subTitle" idx="1"/>
          </p:nvPr>
        </p:nvSpPr>
        <p:spPr/>
        <p:txBody>
          <a:bodyPr/>
          <a:lstStyle/>
          <a:p>
            <a:pPr/>
          </a:p>
        </p:txBody>
      </p:sp>
      <p:sp>
        <p:nvSpPr>
          <p:cNvPr id="5" name="Text Placeholder 4"/>
          <p:cNvSpPr>
            <a:spLocks noGrp="1"/>
          </p:cNvSpPr>
          <p:nvPr>
            <p:ph type="body" idx="11"/>
          </p:nvPr>
        </p:nvSpPr>
        <p:spPr>
          <a:xfrm>
            <a:off x="5486400" y="4416552"/>
            <a:ext cx="3108960" cy="402336"/>
          </a:xfrm>
        </p:spPr>
        <p:txBody>
          <a:bodyPr wrap="square" lIns="0" rIns="0" tIns="0" bIns="0" anchor="t"/>
          <a:lstStyle/>
          <a:p>
            <a:pPr algn="r" marL="0" indent="0">
              <a:lnSpc>
                <a:spcPct val="110000"/>
              </a:lnSpc>
              <a:spcBef>
                <a:spcPts val="0"/>
              </a:spcBef>
              <a:spcAft>
                <a:spcPts val="60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sasakiy84</a:t>
            </a:r>
            <a:endParaRPr sz="1400" lang="ja-JP">
              <a:latin typeface="Noto Sans"/>
              <a:ea typeface="Noto Sans CJK JP"/>
              <a:cs typeface="Noto Sans"/>
            </a:endParaRPr>
          </a:p>
        </p:txBody>
      </p:sp>
      <p:sp>
        <p:nvSpPr>
          <p:cNvPr id="6" name="Text Placeholder 5"/>
          <p:cNvSpPr>
            <a:spLocks noGrp="1"/>
          </p:cNvSpPr>
          <p:nvPr>
            <p:ph type="body" idx="12"/>
          </p:nvPr>
        </p:nvSpPr>
        <p:spPr>
          <a:xfrm>
            <a:off x="457200" y="274320"/>
            <a:ext cx="8046720" cy="274320"/>
          </a:xfrm>
        </p:spPr>
        <p:txBody>
          <a:bodyPr wrap="square" lIns="0" rIns="0" tIns="0" bIns="0" anchor="ctr"/>
          <a:lstStyle/>
          <a:p>
            <a:pPr algn="l" marL="0" indent="0">
              <a:lnSpc>
                <a:spcPct val="110000"/>
              </a:lnSpc>
              <a:spcBef>
                <a:spcPts val="0"/>
              </a:spcBef>
              <a:spcAft>
                <a:spcPts val="0"/>
              </a:spcAft>
              <a:buNone/>
              <a:defRPr sz="1400" b="0" lang="ja-JP">
                <a:latin typeface="Noto Sans"/>
                <a:ea typeface="Noto Sans CJK JP"/>
                <a:cs typeface="Noto Sans"/>
              </a:defRPr>
            </a:pPr>
            <a:r>
              <a:rPr sz="1400" lang="ja-JP">
                <a:solidFill>
                  <a:srgbClr val="626669"/>
                </a:solidFill>
                <a:latin typeface="Noto Sans"/>
                <a:ea typeface="Noto Sans CJK JP"/>
                <a:cs typeface="Noto Sans"/>
              </a:rPr>
              <a:t>datasets in 10 minutes (2026-10-15)</a:t>
            </a:r>
            <a:endParaRPr sz="1400" lang="ja-JP">
              <a:latin typeface="Noto Sans"/>
              <a:ea typeface="Noto Sans CJK JP"/>
              <a:cs typeface="Noto Sans"/>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本編の構成</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ImageNetの構成</a:t>
            </a:r>
            <a:endParaRPr sz="1400" lang="ja-JP">
              <a:latin typeface="Noto Sans"/>
              <a:ea typeface="Noto Sans CJK JP"/>
              <a:cs typeface="Noto Sans"/>
            </a:endParaRPr>
          </a:p>
        </p:txBody>
      </p:sp>
      <p:sp>
        <p:nvSpPr>
          <p:cNvPr id="4" name="TextBox 3"/>
          <p:cNvSpPr txBox="1"/>
          <p:nvPr/>
        </p:nvSpPr>
        <p:spPr>
          <a:xfrm>
            <a:off x="594360" y="1463040"/>
            <a:ext cx="7955279" cy="3383280"/>
          </a:xfrm>
          <a:prstGeom prst="rect">
            <a:avLst/>
          </a:prstGeom>
          <a:noFill/>
        </p:spPr>
        <p:txBody>
          <a:bodyPr wrap="square" lIns="0" rIns="0" tIns="0" bIns="0" anchor="t">
            <a:spAutoFit/>
          </a:bodyPr>
          <a:lstStyle/>
          <a:p>
            <a:pPr algn="l" marL="533400" indent="-381000">
              <a:lnSpc>
                <a:spcPct val="110000"/>
              </a:lnSpc>
              <a:spcBef>
                <a:spcPts val="0"/>
              </a:spcBef>
              <a:spcAft>
                <a:spcPts val="1100"/>
              </a:spcAft>
              <a:buAutoNum type="arabicPeriod" startAt="1"/>
              <a:defRPr sz="2800" lang="ja-JP">
                <a:latin typeface="Noto Sans"/>
                <a:ea typeface="Noto Sans CJK JP"/>
                <a:cs typeface="Noto Sans"/>
              </a:defRPr>
            </a:pPr>
            <a:r>
              <a:rPr sz="2800" lang="ja-JP">
                <a:solidFill>
                  <a:srgbClr val="303437"/>
                </a:solidFill>
                <a:latin typeface="Noto Sans"/>
                <a:ea typeface="Noto Sans CJK JP"/>
                <a:cs typeface="Noto Sans"/>
              </a:rPr>
              <a:t>概要とタスク</a:t>
            </a:r>
            <a:endParaRPr sz="2800" lang="ja-JP">
              <a:latin typeface="Noto Sans"/>
              <a:ea typeface="Noto Sans CJK JP"/>
              <a:cs typeface="Noto Sans"/>
            </a:endParaRPr>
          </a:p>
          <a:p>
            <a:pPr algn="l" marL="533400" indent="-381000">
              <a:lnSpc>
                <a:spcPct val="110000"/>
              </a:lnSpc>
              <a:spcBef>
                <a:spcPts val="0"/>
              </a:spcBef>
              <a:spcAft>
                <a:spcPts val="1100"/>
              </a:spcAft>
              <a:buAutoNum type="arabicPeriod" startAt="2"/>
              <a:defRPr sz="2800" lang="ja-JP">
                <a:latin typeface="Noto Sans"/>
                <a:ea typeface="Noto Sans CJK JP"/>
                <a:cs typeface="Noto Sans"/>
              </a:defRPr>
            </a:pPr>
            <a:r>
              <a:rPr sz="2800" lang="ja-JP">
                <a:solidFill>
                  <a:srgbClr val="303437"/>
                </a:solidFill>
                <a:latin typeface="Noto Sans"/>
                <a:ea typeface="Noto Sans CJK JP"/>
                <a:cs typeface="Noto Sans"/>
              </a:rPr>
              <a:t>作成方法と規模</a:t>
            </a:r>
            <a:endParaRPr sz="2800" lang="ja-JP">
              <a:latin typeface="Noto Sans"/>
              <a:ea typeface="Noto Sans CJK JP"/>
              <a:cs typeface="Noto Sans"/>
            </a:endParaRPr>
          </a:p>
          <a:p>
            <a:pPr algn="l" marL="533400" indent="-381000">
              <a:lnSpc>
                <a:spcPct val="110000"/>
              </a:lnSpc>
              <a:spcBef>
                <a:spcPts val="0"/>
              </a:spcBef>
              <a:spcAft>
                <a:spcPts val="1100"/>
              </a:spcAft>
              <a:buAutoNum type="arabicPeriod" startAt="3"/>
              <a:defRPr sz="2800" lang="ja-JP">
                <a:latin typeface="Noto Sans"/>
                <a:ea typeface="Noto Sans CJK JP"/>
                <a:cs typeface="Noto Sans"/>
              </a:defRPr>
            </a:pPr>
            <a:r>
              <a:rPr sz="2800" lang="ja-JP">
                <a:solidFill>
                  <a:srgbClr val="303437"/>
                </a:solidFill>
                <a:latin typeface="Noto Sans"/>
                <a:ea typeface="Noto Sans CJK JP"/>
                <a:cs typeface="Noto Sans"/>
              </a:rPr>
              <a:t>評価と性能</a:t>
            </a:r>
            <a:endParaRPr sz="2800" lang="ja-JP">
              <a:latin typeface="Noto Sans"/>
              <a:ea typeface="Noto Sans CJK JP"/>
              <a:cs typeface="Noto Sans"/>
            </a:endParaRPr>
          </a:p>
          <a:p>
            <a:pPr algn="l" marL="533400" indent="-381000">
              <a:lnSpc>
                <a:spcPct val="110000"/>
              </a:lnSpc>
              <a:spcBef>
                <a:spcPts val="0"/>
              </a:spcBef>
              <a:spcAft>
                <a:spcPts val="1100"/>
              </a:spcAft>
              <a:buAutoNum type="arabicPeriod" startAt="4"/>
              <a:defRPr sz="2800" lang="ja-JP">
                <a:latin typeface="Noto Sans"/>
                <a:ea typeface="Noto Sans CJK JP"/>
                <a:cs typeface="Noto Sans"/>
              </a:defRPr>
            </a:pPr>
            <a:r>
              <a:rPr sz="2800" lang="ja-JP">
                <a:solidFill>
                  <a:srgbClr val="303437"/>
                </a:solidFill>
                <a:latin typeface="Noto Sans"/>
                <a:ea typeface="Noto Sans CJK JP"/>
                <a:cs typeface="Noto Sans"/>
              </a:rPr>
              <a:t>利用の変遷と現在</a:t>
            </a:r>
            <a:endParaRPr sz="2800" lang="ja-JP">
              <a:latin typeface="Noto Sans"/>
              <a:ea typeface="Noto Sans CJK JP"/>
              <a:cs typeface="Noto Sans"/>
            </a:endParaRPr>
          </a:p>
          <a:p>
            <a:pPr algn="l" marL="533400" indent="-381000">
              <a:lnSpc>
                <a:spcPct val="110000"/>
              </a:lnSpc>
              <a:spcBef>
                <a:spcPts val="0"/>
              </a:spcBef>
              <a:spcAft>
                <a:spcPts val="1100"/>
              </a:spcAft>
              <a:buAutoNum type="arabicPeriod" startAt="5"/>
              <a:defRPr sz="2800" lang="ja-JP">
                <a:latin typeface="Noto Sans"/>
                <a:ea typeface="Noto Sans CJK JP"/>
                <a:cs typeface="Noto Sans"/>
              </a:defRPr>
            </a:pPr>
            <a:r>
              <a:rPr sz="2800" lang="ja-JP">
                <a:solidFill>
                  <a:srgbClr val="303437"/>
                </a:solidFill>
                <a:latin typeface="Noto Sans"/>
                <a:ea typeface="Noto Sans CJK JP"/>
                <a:cs typeface="Noto Sans"/>
              </a:rPr>
              <a:t>入手方法とまとめ</a:t>
            </a:r>
            <a:endParaRPr sz="2800" lang="ja-JP">
              <a:latin typeface="Noto Sans"/>
              <a:ea typeface="Noto Sans CJK JP"/>
              <a:cs typeface="Noto Sans"/>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Noto Sans"/>
                <a:ea typeface="Noto Sans CJK JP"/>
                <a:cs typeface="Noto Sans"/>
              </a:defRPr>
            </a:pPr>
            <a:r>
              <a:rPr sz="4000" lang="ja-JP" b="1">
                <a:solidFill>
                  <a:srgbClr val="303437"/>
                </a:solidFill>
                <a:latin typeface="Noto Sans"/>
                <a:ea typeface="Noto Sans CJK JP"/>
                <a:cs typeface="Noto Sans"/>
              </a:rPr>
              <a:t>1 概要とタスク</a:t>
            </a:r>
            <a:endParaRPr sz="4000" lang="ja-JP">
              <a:latin typeface="Noto Sans"/>
              <a:ea typeface="Noto Sans CJK JP"/>
              <a:cs typeface="Noto Sans"/>
            </a:endParaRPr>
          </a:p>
        </p:txBody>
      </p:sp>
      <p:sp>
        <p:nvSpPr>
          <p:cNvPr id="3" name="Title 2"/>
          <p:cNvSpPr>
            <a:spLocks noGrp="1"/>
          </p:cNvSpPr>
          <p:nvPr>
            <p:ph type="title" idx="2"/>
          </p:nvPr>
        </p:nvSpPr>
        <p:spPr/>
        <p:txBody>
          <a:bodyPr/>
          <a:lstStyle/>
          <a:p>
            <a:p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ImageNetの公式サイト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ImageNetの概要</a:t>
            </a:r>
            <a:endParaRPr sz="1400" lang="ja-JP">
              <a:latin typeface="Noto Sans"/>
              <a:ea typeface="Noto Sans CJK JP"/>
              <a:cs typeface="Noto Sans"/>
            </a:endParaRPr>
          </a:p>
        </p:txBody>
      </p:sp>
      <p:pic>
        <p:nvPicPr>
          <p:cNvPr id="4" name="Picture 3" descr="official-homepage.png"/>
          <p:cNvPicPr>
            <a:picLocks noChangeAspect="1"/>
          </p:cNvPicPr>
          <p:nvPr/>
        </p:nvPicPr>
        <p:blipFill>
          <a:blip r:embed="rId2"/>
          <a:stretch>
            <a:fillRect/>
          </a:stretch>
        </p:blipFill>
        <p:spPr>
          <a:xfrm>
            <a:off x="548640" y="1376172"/>
            <a:ext cx="8046720" cy="2779776"/>
          </a:xfrm>
          <a:prstGeom prst="rect">
            <a:avLst/>
          </a:prstGeom>
        </p:spPr>
      </p:pic>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ImageNet公式サイト. https://www.image-net.org/</a:t>
            </a:r>
            <a:endParaRPr sz="850" lang="ja-JP">
              <a:latin typeface="Noto Sans"/>
              <a:ea typeface="Noto Sans CJK JP"/>
              <a:cs typeface="Noto Sans"/>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ImageNet全体と1,000クラス版を区別する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ImageNetの概要</a:t>
            </a:r>
            <a:endParaRPr sz="1400" lang="ja-JP">
              <a:latin typeface="Noto Sans"/>
              <a:ea typeface="Noto Sans CJK JP"/>
              <a:cs typeface="Noto Sans"/>
            </a:endParaRPr>
          </a:p>
        </p:txBody>
      </p:sp>
      <p:sp>
        <p:nvSpPr>
          <p:cNvPr id="4" name="body"/>
          <p:cNvSpPr txBox="1"/>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3333"/>
              <a:buFont typeface="Noto Sans CJK JP"/>
              <a:buChar char="●"/>
              <a:defRPr sz="2100" b="0" lang="ja-JP">
                <a:latin typeface="Noto Sans"/>
                <a:ea typeface="Noto Sans CJK JP"/>
                <a:cs typeface="Noto Sans"/>
              </a:defRPr>
            </a:pPr>
            <a:r>
              <a:rPr sz="2100" lang="ja-JP">
                <a:solidFill>
                  <a:srgbClr val="303437"/>
                </a:solidFill>
                <a:latin typeface="Noto Sans"/>
                <a:ea typeface="Noto Sans CJK JP"/>
                <a:cs typeface="Noto Sans"/>
              </a:rPr>
              <a:t>ImageNetは、物体の概念に画像を対応させたデータである。</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2009年に、画像認識の国際会議CVPRで発表された </a:t>
            </a:r>
            <a:r>
              <a:rPr sz="2100" lang="ja-JP">
                <a:solidFill>
                  <a:srgbClr val="303437"/>
                </a:solidFill>
                <a:latin typeface="Noto Sans"/>
                <a:ea typeface="Noto Sans CJK JP"/>
                <a:cs typeface="Noto Sans"/>
              </a:rPr>
              <a:t>[1]</a:t>
            </a:r>
            <a:r>
              <a:rPr sz="210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2014年時点で14,197,122枚・21,841カテゴリだった </a:t>
            </a:r>
            <a:r>
              <a:rPr sz="2100" lang="ja-JP">
                <a:solidFill>
                  <a:srgbClr val="303437"/>
                </a:solidFill>
                <a:latin typeface="Noto Sans"/>
                <a:ea typeface="Noto Sans CJK JP"/>
                <a:cs typeface="Noto Sans"/>
              </a:rPr>
              <a:t>[2]</a:t>
            </a:r>
            <a:r>
              <a:rPr sz="210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画像認識の評価大会であるILSVRCでは一部を利用する。</a:t>
            </a:r>
            <a:endParaRPr sz="2100" lang="ja-JP">
              <a:latin typeface="Noto Sans"/>
              <a:ea typeface="Noto Sans CJK JP"/>
              <a:cs typeface="Noto Sans"/>
            </a:endParaRPr>
          </a:p>
          <a:p>
            <a:pPr algn="l" lvl="1" marL="9144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2012年の画像分類用データは1,000クラスである。</a:t>
            </a:r>
            <a:endParaRPr sz="2100" lang="ja-JP">
              <a:latin typeface="Noto Sans"/>
              <a:ea typeface="Noto Sans CJK JP"/>
              <a:cs typeface="Noto Sans"/>
            </a:endParaRPr>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Deng et al. (2009), CVPR. https://image-net.org/static_files/papers/imagenet_cvpr09.pdf</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[2]</a:t>
            </a:r>
            <a:r>
              <a:rPr sz="850" lang="ja-JP">
                <a:solidFill>
                  <a:srgbClr val="626669"/>
                </a:solidFill>
                <a:latin typeface="Noto Sans"/>
                <a:ea typeface="Noto Sans CJK JP"/>
                <a:cs typeface="Noto Sans"/>
              </a:rPr>
              <a:t> Russakovsky et al. (2015), §1.1. https://arxiv.org/abs/1409.0575</a:t>
            </a:r>
            <a:endParaRPr sz="850" lang="ja-JP">
              <a:latin typeface="Noto Sans"/>
              <a:ea typeface="Noto Sans CJK JP"/>
              <a:cs typeface="Noto Sans"/>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画像から物体のクラスを予測する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画像分類の実例</a:t>
            </a:r>
            <a:endParaRPr sz="1400" lang="ja-JP">
              <a:latin typeface="Noto Sans"/>
              <a:ea typeface="Noto Sans CJK JP"/>
              <a:cs typeface="Noto Sans"/>
            </a:endParaRPr>
          </a:p>
        </p:txBody>
      </p:sp>
      <p:pic>
        <p:nvPicPr>
          <p:cNvPr id="4" name="Picture 3" descr="ILSVRC2012_val_00009111.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正解はテンチ（淡水魚）</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tench</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釣り具や袋も写る画像から、魚の種類を分類する。</a:t>
            </a:r>
            <a:endParaRPr sz="2100" lang="ja-JP">
              <a:latin typeface="Noto Sans"/>
              <a:ea typeface="Noto Sans CJK JP"/>
              <a:cs typeface="Noto Sans"/>
            </a:endParaRPr>
          </a:p>
        </p:txBody>
      </p:sp>
      <p:sp>
        <p:nvSpPr>
          <p:cNvPr id="8"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850" lang="ja-JP">
                <a:latin typeface="Noto Sans"/>
                <a:ea typeface="Noto Sans CJK JP"/>
                <a:cs typeface="Noto Sans"/>
              </a:defRPr>
            </a:pPr>
            <a:r>
              <a:rPr sz="850" lang="ja-JP">
                <a:solidFill>
                  <a:srgbClr val="303437"/>
                </a:solidFill>
                <a:latin typeface="Noto Sans"/>
                <a:ea typeface="Noto Sans CJK JP"/>
                <a:cs typeface="Noto Sans"/>
              </a:rPr>
              <a:t>[1] Imagenette. https://github.com/fastai/imagenette　画像ID ILSVRC2012_val_00009111.JPEG</a:t>
            </a:r>
            <a:endParaRPr sz="850" lang="ja-JP">
              <a:latin typeface="Noto Sans"/>
              <a:ea typeface="Noto Sans CJK JP"/>
              <a:cs typeface="Noto San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1,000カテゴリには生物と人工物が含まれる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a:solidFill>
                  <a:srgbClr val="FFFEF8"/>
                </a:solidFill>
                <a:latin typeface="Noto Sans"/>
                <a:ea typeface="Noto Sans CJK JP"/>
                <a:cs typeface="Noto Sans"/>
              </a:rPr>
              <a:t>ImageNetのカテゴリの見取り図</a:t>
            </a:r>
            <a:endParaRPr sz="1400" lang="ja-JP">
              <a:latin typeface="Noto Sans"/>
              <a:ea typeface="Noto Sans CJK JP"/>
              <a:cs typeface="Noto Sans"/>
            </a:endParaRPr>
          </a:p>
        </p:txBody>
      </p:sp>
      <p:sp>
        <p:nvSpPr>
          <p:cNvPr id="4" name="TextBox 3"/>
          <p:cNvSpPr txBox="1"/>
          <p:nvPr/>
        </p:nvSpPr>
        <p:spPr>
          <a:xfrm>
            <a:off x="594360" y="1426464"/>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哺乳類</a:t>
            </a:r>
            <a:endParaRPr sz="1800" lang="ja-JP">
              <a:latin typeface="Noto Sans"/>
              <a:ea typeface="Noto Sans CJK JP"/>
              <a:cs typeface="Noto Sans"/>
            </a:endParaRPr>
          </a:p>
        </p:txBody>
      </p:sp>
      <p:sp>
        <p:nvSpPr>
          <p:cNvPr id="5" name="TextBox 4"/>
          <p:cNvSpPr txBox="1"/>
          <p:nvPr/>
        </p:nvSpPr>
        <p:spPr>
          <a:xfrm>
            <a:off x="594360" y="1700784"/>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ミーアキャット・アシカ</a:t>
            </a:r>
            <a:endParaRPr sz="1600" lang="ja-JP">
              <a:latin typeface="Noto Sans"/>
              <a:ea typeface="Noto Sans CJK JP"/>
              <a:cs typeface="Noto Sans"/>
            </a:endParaRPr>
          </a:p>
        </p:txBody>
      </p:sp>
      <p:sp>
        <p:nvSpPr>
          <p:cNvPr id="6" name="TextBox 5"/>
          <p:cNvSpPr txBox="1"/>
          <p:nvPr/>
        </p:nvSpPr>
        <p:spPr>
          <a:xfrm>
            <a:off x="594360" y="2011680"/>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鳥類</a:t>
            </a:r>
            <a:endParaRPr sz="1800" lang="ja-JP">
              <a:latin typeface="Noto Sans"/>
              <a:ea typeface="Noto Sans CJK JP"/>
              <a:cs typeface="Noto Sans"/>
            </a:endParaRPr>
          </a:p>
        </p:txBody>
      </p:sp>
      <p:sp>
        <p:nvSpPr>
          <p:cNvPr id="7" name="TextBox 6"/>
          <p:cNvSpPr txBox="1"/>
          <p:nvPr/>
        </p:nvSpPr>
        <p:spPr>
          <a:xfrm>
            <a:off x="594360" y="2286000"/>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クジャク・フラミンゴ</a:t>
            </a:r>
            <a:endParaRPr sz="1600" lang="ja-JP">
              <a:latin typeface="Noto Sans"/>
              <a:ea typeface="Noto Sans CJK JP"/>
              <a:cs typeface="Noto Sans"/>
            </a:endParaRPr>
          </a:p>
        </p:txBody>
      </p:sp>
      <p:sp>
        <p:nvSpPr>
          <p:cNvPr id="8" name="TextBox 7"/>
          <p:cNvSpPr txBox="1"/>
          <p:nvPr/>
        </p:nvSpPr>
        <p:spPr>
          <a:xfrm>
            <a:off x="594360" y="2596896"/>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爬虫類と両生類</a:t>
            </a:r>
            <a:endParaRPr sz="1800" lang="ja-JP">
              <a:latin typeface="Noto Sans"/>
              <a:ea typeface="Noto Sans CJK JP"/>
              <a:cs typeface="Noto Sans"/>
            </a:endParaRPr>
          </a:p>
        </p:txBody>
      </p:sp>
      <p:sp>
        <p:nvSpPr>
          <p:cNvPr id="9" name="TextBox 8"/>
          <p:cNvSpPr txBox="1"/>
          <p:nvPr/>
        </p:nvSpPr>
        <p:spPr>
          <a:xfrm>
            <a:off x="594360" y="2871215"/>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アマガエル・アホロートル</a:t>
            </a:r>
            <a:endParaRPr sz="1600" lang="ja-JP">
              <a:latin typeface="Noto Sans"/>
              <a:ea typeface="Noto Sans CJK JP"/>
              <a:cs typeface="Noto Sans"/>
            </a:endParaRPr>
          </a:p>
        </p:txBody>
      </p:sp>
      <p:sp>
        <p:nvSpPr>
          <p:cNvPr id="10" name="TextBox 9"/>
          <p:cNvSpPr txBox="1"/>
          <p:nvPr/>
        </p:nvSpPr>
        <p:spPr>
          <a:xfrm>
            <a:off x="594360" y="3182112"/>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魚類と水生無脊椎動物</a:t>
            </a:r>
            <a:endParaRPr sz="1800" lang="ja-JP">
              <a:latin typeface="Noto Sans"/>
              <a:ea typeface="Noto Sans CJK JP"/>
              <a:cs typeface="Noto Sans"/>
            </a:endParaRPr>
          </a:p>
        </p:txBody>
      </p:sp>
      <p:sp>
        <p:nvSpPr>
          <p:cNvPr id="11" name="TextBox 10"/>
          <p:cNvSpPr txBox="1"/>
          <p:nvPr/>
        </p:nvSpPr>
        <p:spPr>
          <a:xfrm>
            <a:off x="594360" y="3456432"/>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ウニ・ナマコ</a:t>
            </a:r>
            <a:endParaRPr sz="1600" lang="ja-JP">
              <a:latin typeface="Noto Sans"/>
              <a:ea typeface="Noto Sans CJK JP"/>
              <a:cs typeface="Noto Sans"/>
            </a:endParaRPr>
          </a:p>
        </p:txBody>
      </p:sp>
      <p:sp>
        <p:nvSpPr>
          <p:cNvPr id="12" name="TextBox 11"/>
          <p:cNvSpPr txBox="1"/>
          <p:nvPr/>
        </p:nvSpPr>
        <p:spPr>
          <a:xfrm>
            <a:off x="594360" y="3767328"/>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昆虫と陸生節足動物</a:t>
            </a:r>
            <a:endParaRPr sz="1800" lang="ja-JP">
              <a:latin typeface="Noto Sans"/>
              <a:ea typeface="Noto Sans CJK JP"/>
              <a:cs typeface="Noto Sans"/>
            </a:endParaRPr>
          </a:p>
        </p:txBody>
      </p:sp>
      <p:sp>
        <p:nvSpPr>
          <p:cNvPr id="13" name="TextBox 12"/>
          <p:cNvSpPr txBox="1"/>
          <p:nvPr/>
        </p:nvSpPr>
        <p:spPr>
          <a:xfrm>
            <a:off x="594360" y="4041648"/>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オオカバマダラ・サソリ</a:t>
            </a:r>
            <a:endParaRPr sz="1600" lang="ja-JP">
              <a:latin typeface="Noto Sans"/>
              <a:ea typeface="Noto Sans CJK JP"/>
              <a:cs typeface="Noto Sans"/>
            </a:endParaRPr>
          </a:p>
        </p:txBody>
      </p:sp>
      <p:sp>
        <p:nvSpPr>
          <p:cNvPr id="14" name="TextBox 13"/>
          <p:cNvSpPr txBox="1"/>
          <p:nvPr/>
        </p:nvSpPr>
        <p:spPr>
          <a:xfrm>
            <a:off x="4754880" y="1426464"/>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乗り物</a:t>
            </a:r>
            <a:endParaRPr sz="1800" lang="ja-JP">
              <a:latin typeface="Noto Sans"/>
              <a:ea typeface="Noto Sans CJK JP"/>
              <a:cs typeface="Noto Sans"/>
            </a:endParaRPr>
          </a:p>
        </p:txBody>
      </p:sp>
      <p:sp>
        <p:nvSpPr>
          <p:cNvPr id="15" name="TextBox 14"/>
          <p:cNvSpPr txBox="1"/>
          <p:nvPr/>
        </p:nvSpPr>
        <p:spPr>
          <a:xfrm>
            <a:off x="4754880" y="1700784"/>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新幹線・コンテナ船</a:t>
            </a:r>
            <a:endParaRPr sz="1600" lang="ja-JP">
              <a:latin typeface="Noto Sans"/>
              <a:ea typeface="Noto Sans CJK JP"/>
              <a:cs typeface="Noto Sans"/>
            </a:endParaRPr>
          </a:p>
        </p:txBody>
      </p:sp>
      <p:sp>
        <p:nvSpPr>
          <p:cNvPr id="16" name="TextBox 15"/>
          <p:cNvSpPr txBox="1"/>
          <p:nvPr/>
        </p:nvSpPr>
        <p:spPr>
          <a:xfrm>
            <a:off x="4754880" y="2011680"/>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電子機器と機械</a:t>
            </a:r>
            <a:endParaRPr sz="1800" lang="ja-JP">
              <a:latin typeface="Noto Sans"/>
              <a:ea typeface="Noto Sans CJK JP"/>
              <a:cs typeface="Noto Sans"/>
            </a:endParaRPr>
          </a:p>
        </p:txBody>
      </p:sp>
      <p:sp>
        <p:nvSpPr>
          <p:cNvPr id="17" name="TextBox 16"/>
          <p:cNvSpPr txBox="1"/>
          <p:nvPr/>
        </p:nvSpPr>
        <p:spPr>
          <a:xfrm>
            <a:off x="4754880" y="2286000"/>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カセットプレーヤー・ミシン</a:t>
            </a:r>
            <a:endParaRPr sz="1600" lang="ja-JP">
              <a:latin typeface="Noto Sans"/>
              <a:ea typeface="Noto Sans CJK JP"/>
              <a:cs typeface="Noto Sans"/>
            </a:endParaRPr>
          </a:p>
        </p:txBody>
      </p:sp>
      <p:sp>
        <p:nvSpPr>
          <p:cNvPr id="18" name="TextBox 17"/>
          <p:cNvSpPr txBox="1"/>
          <p:nvPr/>
        </p:nvSpPr>
        <p:spPr>
          <a:xfrm>
            <a:off x="4754880" y="2596896"/>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衣類と生活用品</a:t>
            </a:r>
            <a:endParaRPr sz="1800" lang="ja-JP">
              <a:latin typeface="Noto Sans"/>
              <a:ea typeface="Noto Sans CJK JP"/>
              <a:cs typeface="Noto Sans"/>
            </a:endParaRPr>
          </a:p>
        </p:txBody>
      </p:sp>
      <p:sp>
        <p:nvSpPr>
          <p:cNvPr id="19" name="TextBox 18"/>
          <p:cNvSpPr txBox="1"/>
          <p:nvPr/>
        </p:nvSpPr>
        <p:spPr>
          <a:xfrm>
            <a:off x="4754880" y="2871215"/>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マグカップ・フライパン</a:t>
            </a:r>
            <a:endParaRPr sz="1600" lang="ja-JP">
              <a:latin typeface="Noto Sans"/>
              <a:ea typeface="Noto Sans CJK JP"/>
              <a:cs typeface="Noto Sans"/>
            </a:endParaRPr>
          </a:p>
        </p:txBody>
      </p:sp>
      <p:sp>
        <p:nvSpPr>
          <p:cNvPr id="20" name="TextBox 19"/>
          <p:cNvSpPr txBox="1"/>
          <p:nvPr/>
        </p:nvSpPr>
        <p:spPr>
          <a:xfrm>
            <a:off x="4754880" y="3182112"/>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建物と構造物</a:t>
            </a:r>
            <a:endParaRPr sz="1800" lang="ja-JP">
              <a:latin typeface="Noto Sans"/>
              <a:ea typeface="Noto Sans CJK JP"/>
              <a:cs typeface="Noto Sans"/>
            </a:endParaRPr>
          </a:p>
        </p:txBody>
      </p:sp>
      <p:sp>
        <p:nvSpPr>
          <p:cNvPr id="21" name="TextBox 20"/>
          <p:cNvSpPr txBox="1"/>
          <p:nvPr/>
        </p:nvSpPr>
        <p:spPr>
          <a:xfrm>
            <a:off x="4754880" y="3456432"/>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ダム・温室</a:t>
            </a:r>
            <a:endParaRPr sz="1600" lang="ja-JP">
              <a:latin typeface="Noto Sans"/>
              <a:ea typeface="Noto Sans CJK JP"/>
              <a:cs typeface="Noto Sans"/>
            </a:endParaRPr>
          </a:p>
        </p:txBody>
      </p:sp>
      <p:sp>
        <p:nvSpPr>
          <p:cNvPr id="22" name="TextBox 21"/>
          <p:cNvSpPr txBox="1"/>
          <p:nvPr/>
        </p:nvSpPr>
        <p:spPr>
          <a:xfrm>
            <a:off x="4754880" y="3767328"/>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食品と農作物</a:t>
            </a:r>
            <a:endParaRPr sz="1800" lang="ja-JP">
              <a:latin typeface="Noto Sans"/>
              <a:ea typeface="Noto Sans CJK JP"/>
              <a:cs typeface="Noto Sans"/>
            </a:endParaRPr>
          </a:p>
        </p:txBody>
      </p:sp>
      <p:sp>
        <p:nvSpPr>
          <p:cNvPr id="23" name="TextBox 22"/>
          <p:cNvSpPr txBox="1"/>
          <p:nvPr/>
        </p:nvSpPr>
        <p:spPr>
          <a:xfrm>
            <a:off x="4754880" y="4041648"/>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キュウリ・パプリカ</a:t>
            </a:r>
            <a:endParaRPr sz="1600" lang="ja-JP">
              <a:latin typeface="Noto Sans"/>
              <a:ea typeface="Noto Sans CJK JP"/>
              <a:cs typeface="Noto Sans"/>
            </a:endParaRPr>
          </a:p>
        </p:txBody>
      </p:sp>
      <p:sp>
        <p:nvSpPr>
          <p:cNvPr id="24"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ILSVRC 2012公式devkit. https://image-net.org/challenges/LSVRC/2012/</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1,000カテゴリから100カテゴリを選び、説明用の10分野へ整理。日本語名は英語ラベルの訳。</a:t>
            </a:r>
            <a:endParaRPr sz="850" lang="ja-JP">
              <a:latin typeface="Noto Sans"/>
              <a:ea typeface="Noto Sans CJK JP"/>
              <a:cs typeface="Noto Sans"/>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正解の物体が小さく写る場合もある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画像分類の実例</a:t>
            </a:r>
            <a:endParaRPr sz="1400" lang="ja-JP">
              <a:latin typeface="Noto Sans"/>
              <a:ea typeface="Noto Sans CJK JP"/>
              <a:cs typeface="Noto Sans"/>
            </a:endParaRPr>
          </a:p>
        </p:txBody>
      </p:sp>
      <p:pic>
        <p:nvPicPr>
          <p:cNvPr id="4" name="Picture 3" descr="ILSVRC2012_val_00008161.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正解はゴルフボール</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golf ball</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芝や旗が大きく写り、対象のボールは画面の一部を占める。</a:t>
            </a:r>
            <a:endParaRPr sz="2100" lang="ja-JP">
              <a:latin typeface="Noto Sans"/>
              <a:ea typeface="Noto Sans CJK JP"/>
              <a:cs typeface="Noto Sans"/>
            </a:endParaRPr>
          </a:p>
        </p:txBody>
      </p:sp>
      <p:sp>
        <p:nvSpPr>
          <p:cNvPr id="8"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850" lang="ja-JP">
                <a:latin typeface="Noto Sans"/>
                <a:ea typeface="Noto Sans CJK JP"/>
                <a:cs typeface="Noto Sans"/>
              </a:defRPr>
            </a:pPr>
            <a:r>
              <a:rPr sz="850" lang="ja-JP">
                <a:solidFill>
                  <a:srgbClr val="303437"/>
                </a:solidFill>
                <a:latin typeface="Noto Sans"/>
                <a:ea typeface="Noto Sans CJK JP"/>
                <a:cs typeface="Noto Sans"/>
              </a:rPr>
              <a:t>[1] Imagenette. https://github.com/fastai/imagenette　画像ID ILSVRC2012_val_00008161.JPEG</a:t>
            </a:r>
            <a:endParaRPr sz="850" lang="ja-JP">
              <a:latin typeface="Noto Sans"/>
              <a:ea typeface="Noto Sans CJK JP"/>
              <a:cs typeface="Noto Sans"/>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大量の画像を学習と評価に使うために作られた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ImageNetの開発背景</a:t>
            </a:r>
            <a:endParaRPr sz="1400" lang="ja-JP">
              <a:latin typeface="Noto Sans"/>
              <a:ea typeface="Noto Sans CJK JP"/>
              <a:cs typeface="Noto Sans"/>
            </a:endParaRPr>
          </a:p>
        </p:txBody>
      </p:sp>
      <p:sp>
        <p:nvSpPr>
          <p:cNvPr id="4" name="body"/>
          <p:cNvSpPr txBox="1"/>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55417"/>
              <a:buFont typeface="Noto Sans CJK JP"/>
              <a:buChar char="●"/>
              <a:defRPr sz="2400" b="0" lang="ja-JP">
                <a:latin typeface="Noto Sans"/>
                <a:ea typeface="Noto Sans CJK JP"/>
                <a:cs typeface="Noto Sans"/>
              </a:defRPr>
            </a:pPr>
            <a:r>
              <a:rPr sz="2400" lang="ja-JP">
                <a:solidFill>
                  <a:srgbClr val="303437"/>
                </a:solidFill>
                <a:latin typeface="Noto Sans"/>
                <a:ea typeface="Noto Sans CJK JP"/>
                <a:cs typeface="Noto Sans"/>
              </a:rPr>
              <a:t>当時は学習に使える注釈画像が不足していた </a:t>
            </a:r>
            <a:r>
              <a:rPr sz="2400" lang="ja-JP">
                <a:solidFill>
                  <a:srgbClr val="303437"/>
                </a:solidFill>
                <a:latin typeface="Noto Sans"/>
                <a:ea typeface="Noto Sans CJK JP"/>
                <a:cs typeface="Noto Sans"/>
              </a:rPr>
              <a:t>[1]</a:t>
            </a:r>
            <a:r>
              <a:rPr sz="2400" lang="ja-JP">
                <a:solidFill>
                  <a:srgbClr val="303437"/>
                </a:solidFill>
                <a:latin typeface="Noto Sans"/>
                <a:ea typeface="Noto Sans CJK JP"/>
                <a:cs typeface="Noto Sans"/>
              </a:rPr>
              <a:t>。</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画像分類用のCaltech 101は101クラスだった </a:t>
            </a:r>
            <a:r>
              <a:rPr sz="2400" lang="ja-JP">
                <a:solidFill>
                  <a:srgbClr val="303437"/>
                </a:solidFill>
                <a:latin typeface="Noto Sans"/>
                <a:ea typeface="Noto Sans CJK JP"/>
                <a:cs typeface="Noto Sans"/>
              </a:rPr>
              <a:t>[2]</a:t>
            </a:r>
            <a:r>
              <a:rPr sz="2400" lang="ja-JP">
                <a:solidFill>
                  <a:srgbClr val="303437"/>
                </a:solidFill>
                <a:latin typeface="Noto Sans"/>
                <a:ea typeface="Noto Sans CJK JP"/>
                <a:cs typeface="Noto Sans"/>
              </a:rPr>
              <a:t>。</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それに対し、2009年のImageNetは約320万枚・5,247カテゴリだった。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原著は、規模・多様性・正確さ・階層構造を特徴とした。</a:t>
            </a:r>
            <a:endParaRPr sz="2400" lang="ja-JP">
              <a:latin typeface="Noto Sans"/>
              <a:ea typeface="Noto Sans CJK JP"/>
              <a:cs typeface="Noto Sans"/>
            </a:endParaRPr>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ImageNetの更新説明 (2021). https://www.image-net.org/update-mar-11-2021.php</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[2]</a:t>
            </a:r>
            <a:r>
              <a:rPr sz="850" lang="ja-JP">
                <a:solidFill>
                  <a:srgbClr val="626669"/>
                </a:solidFill>
                <a:latin typeface="Noto Sans"/>
                <a:ea typeface="Noto Sans CJK JP"/>
                <a:cs typeface="Noto Sans"/>
              </a:rPr>
              <a:t> Deng et al. (2009), §1–2. https://image-net.org/static_files/papers/imagenet_cvpr09.pdf</a:t>
            </a:r>
            <a:endParaRPr sz="850" lang="ja-JP">
              <a:latin typeface="Noto Sans"/>
              <a:ea typeface="Noto Sans CJK JP"/>
              <a:cs typeface="Noto San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Noto Sans"/>
                <a:ea typeface="Noto Sans CJK JP"/>
                <a:cs typeface="Noto Sans"/>
              </a:defRPr>
            </a:pPr>
            <a:r>
              <a:rPr sz="4000" lang="ja-JP" b="1">
                <a:solidFill>
                  <a:srgbClr val="303437"/>
                </a:solidFill>
                <a:latin typeface="Noto Sans"/>
                <a:ea typeface="Noto Sans CJK JP"/>
                <a:cs typeface="Noto Sans"/>
              </a:rPr>
              <a:t>2 作成方法と規模</a:t>
            </a:r>
            <a:endParaRPr sz="4000" lang="ja-JP">
              <a:latin typeface="Noto Sans"/>
              <a:ea typeface="Noto Sans CJK JP"/>
              <a:cs typeface="Noto Sans"/>
            </a:endParaRPr>
          </a:p>
        </p:txBody>
      </p:sp>
      <p:sp>
        <p:nvSpPr>
          <p:cNvPr id="3" name="Title 2"/>
          <p:cNvSpPr>
            <a:spLocks noGrp="1"/>
          </p:cNvSpPr>
          <p:nvPr>
            <p:ph type="title" idx="2"/>
          </p:nvPr>
        </p:nvSpPr>
        <p:spPr/>
        <p:txBody>
          <a:bodyPr/>
          <a:lstStyle/>
          <a:p>
            <a:p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同義語の集合を単位にカテゴリを作る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ImageNetのカテゴリ設計</a:t>
            </a:r>
            <a:endParaRPr sz="1400" lang="ja-JP">
              <a:latin typeface="Noto Sans"/>
              <a:ea typeface="Noto Sans CJK JP"/>
              <a:cs typeface="Noto Sans"/>
            </a:endParaRPr>
          </a:p>
        </p:txBody>
      </p:sp>
      <p:sp>
        <p:nvSpPr>
          <p:cNvPr id="4" name="body"/>
          <p:cNvSpPr txBox="1"/>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英語の概念を階層化したWordNetを利用する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同じ概念を表す語の集合であるsynsetがカテゴリの単位となる。</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tenchとTinca tincaは同じ淡水魚のカテゴリを表す。</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カテゴリにはn01440764のようなWordNet IDがある。</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ImageNet-1kには120種類の犬も含まれる </a:t>
            </a:r>
            <a:r>
              <a:rPr sz="2200" lang="ja-JP">
                <a:solidFill>
                  <a:srgbClr val="303437"/>
                </a:solidFill>
                <a:latin typeface="Noto Sans"/>
                <a:ea typeface="Noto Sans CJK JP"/>
                <a:cs typeface="Noto Sans"/>
              </a:rPr>
              <a:t>[2]</a:t>
            </a:r>
            <a:r>
              <a:rPr sz="2200" lang="ja-JP">
                <a:solidFill>
                  <a:srgbClr val="303437"/>
                </a:solidFill>
                <a:latin typeface="Noto Sans"/>
                <a:ea typeface="Noto Sans CJK JP"/>
                <a:cs typeface="Noto Sans"/>
              </a:rPr>
              <a:t>。</a:t>
            </a:r>
            <a:endParaRPr sz="2200" lang="ja-JP">
              <a:latin typeface="Noto Sans"/>
              <a:ea typeface="Noto Sans CJK JP"/>
              <a:cs typeface="Noto Sans"/>
            </a:endParaRPr>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Deng et al. (2009), CVPR. https://image-net.org/static_files/papers/imagenet_cvpr09.pdf</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[2]</a:t>
            </a:r>
            <a:r>
              <a:rPr sz="850" lang="ja-JP">
                <a:solidFill>
                  <a:srgbClr val="626669"/>
                </a:solidFill>
                <a:latin typeface="Noto Sans"/>
                <a:ea typeface="Noto Sans CJK JP"/>
                <a:cs typeface="Noto Sans"/>
              </a:rPr>
              <a:t> Russakovsky et al. (2015), §3.1. https://arxiv.org/abs/1409.0575</a:t>
            </a:r>
            <a:endParaRPr sz="850" lang="ja-JP">
              <a:latin typeface="Noto Sans"/>
              <a:ea typeface="Noto Sans CJK JP"/>
              <a:cs typeface="Noto Sans"/>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検索語を広げて候補画像を収集した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ImageNetの収集方法</a:t>
            </a:r>
            <a:endParaRPr sz="1400" lang="ja-JP">
              <a:latin typeface="Noto Sans"/>
              <a:ea typeface="Noto Sans CJK JP"/>
              <a:cs typeface="Noto Sans"/>
            </a:endParaRPr>
          </a:p>
        </p:txBody>
      </p:sp>
      <p:sp>
        <p:nvSpPr>
          <p:cNvPr id="4" name="body"/>
          <p:cNvSpPr txBox="1"/>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画像検索では、カテゴリの同義語を検索語に使った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上位概念を検索語に加え、意味の曖昧さを減らした。</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犬種名のwhippetだけでなく、whippet dogも使った。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中国語・スペイン語・オランダ語・イタリア語にも検索語を広げた。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重複除去後も、候補はカテゴリ当たり平均1万枚を超えた。</a:t>
            </a:r>
            <a:endParaRPr sz="22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Deng et al. (2009), CVPR. https://image-net.org/static_files/papers/imagenet_cvpr09.pdf</a:t>
            </a:r>
            <a:endParaRPr sz="850" lang="ja-JP">
              <a:latin typeface="Noto Sans"/>
              <a:ea typeface="Noto Sans CJK JP"/>
              <a:cs typeface="Noto San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作業者は対象の物体が写っているかを判定した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ImageNetの注釈方法</a:t>
            </a:r>
            <a:endParaRPr sz="1400" lang="ja-JP">
              <a:latin typeface="Noto Sans"/>
              <a:ea typeface="Noto Sans CJK JP"/>
              <a:cs typeface="Noto Sans"/>
            </a:endParaRPr>
          </a:p>
        </p:txBody>
      </p:sp>
      <p:sp>
        <p:nvSpPr>
          <p:cNvPr id="4" name="body"/>
          <p:cNvSpPr txBox="1"/>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55417"/>
              <a:buFont typeface="Noto Sans CJK JP"/>
              <a:buChar char="●"/>
              <a:defRPr sz="2400" b="0" lang="ja-JP">
                <a:latin typeface="Noto Sans"/>
                <a:ea typeface="Noto Sans CJK JP"/>
                <a:cs typeface="Noto Sans"/>
              </a:defRPr>
            </a:pPr>
            <a:r>
              <a:rPr sz="2400" lang="ja-JP">
                <a:solidFill>
                  <a:srgbClr val="303437"/>
                </a:solidFill>
                <a:latin typeface="Noto Sans"/>
                <a:ea typeface="Noto Sans CJK JP"/>
                <a:cs typeface="Noto Sans"/>
              </a:rPr>
              <a:t>有償作業のAmazon Mechanical Turkを使った </a:t>
            </a:r>
            <a:r>
              <a:rPr sz="2400" lang="ja-JP">
                <a:solidFill>
                  <a:srgbClr val="303437"/>
                </a:solidFill>
                <a:latin typeface="Noto Sans"/>
                <a:ea typeface="Noto Sans CJK JP"/>
                <a:cs typeface="Noto Sans"/>
              </a:rPr>
              <a:t>[1]</a:t>
            </a:r>
            <a:r>
              <a:rPr sz="2400" lang="ja-JP">
                <a:solidFill>
                  <a:srgbClr val="303437"/>
                </a:solidFill>
                <a:latin typeface="Noto Sans"/>
                <a:ea typeface="Noto Sans CJK JP"/>
                <a:cs typeface="Noto Sans"/>
              </a:rPr>
              <a:t>。</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候補画像とカテゴリの定義を作業者に提示した。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対象物を含む画像を選ぶよう指示した。</a:t>
            </a:r>
            <a:endParaRPr sz="2400" lang="ja-JP">
              <a:latin typeface="Noto Sans"/>
              <a:ea typeface="Noto Sans CJK JP"/>
              <a:cs typeface="Noto Sans"/>
            </a:endParaRPr>
          </a:p>
          <a:p>
            <a:pPr algn="l" lvl="1" marL="9144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遮蔽・複数物体・混雑した背景も対象に含めた。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見やすい単独物体だけに限定しなかった。</a:t>
            </a:r>
            <a:endParaRPr sz="24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Deng et al. (2009), CVPR. https://image-net.org/static_files/papers/imagenet_cvpr09.pdf</a:t>
            </a:r>
            <a:endParaRPr sz="850" lang="ja-JP">
              <a:latin typeface="Noto Sans"/>
              <a:ea typeface="Noto Sans CJK JP"/>
              <a:cs typeface="Noto Sans"/>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カテゴリごとに必要な合意数を調整した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ImageNetの品質確認</a:t>
            </a:r>
            <a:endParaRPr sz="1400" lang="ja-JP">
              <a:latin typeface="Noto Sans"/>
              <a:ea typeface="Noto Sans CJK JP"/>
              <a:cs typeface="Noto Sans"/>
            </a:endParaRPr>
          </a:p>
        </p:txBody>
      </p:sp>
      <p:sp>
        <p:nvSpPr>
          <p:cNvPr id="4" name="body"/>
          <p:cNvSpPr txBox="1"/>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初期サンプルでは、各画像を10人以上が判定した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投票結果から、対象物が含まれる確からしさの表を作った。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その後の画像は、カテゴリごとの確信度の閾値に達するまで判定した。</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一般的なcatとBurmese catでは、必要な合意数が異なる。</a:t>
            </a:r>
            <a:endParaRPr sz="22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Deng et al. (2009), CVPR. https://image-net.org/static_files/papers/imagenet_cvpr09.pdf</a:t>
            </a:r>
            <a:endParaRPr sz="850" lang="ja-JP">
              <a:latin typeface="Noto Sans"/>
              <a:ea typeface="Noto Sans CJK JP"/>
              <a:cs typeface="Noto San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ILSVRC 2012の画像分類用データ</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ImageNet-1kの規模</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377440"/>
        </p:xfrm>
        <a:graphic>
          <a:graphicData uri="http://schemas.openxmlformats.org/drawingml/2006/table">
            <a:tbl>
              <a:tblPr firstRow="1" bandRow="1">
                <a:tableStyleId>{5C22544A-7EE6-4342-B048-85BDC9FD1C3A}</a:tableStyleId>
              </a:tblPr>
              <a:tblGrid>
                <a:gridCol w="2926080"/>
                <a:gridCol w="2743200"/>
                <a:gridCol w="237744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分割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画像数</a:t>
                      </a:r>
                      <a:endParaRPr sz="24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クラス数</a:t>
                      </a:r>
                      <a:endParaRPr sz="24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学習用</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1,281,167</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検証用</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50,000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大会テスト用</a:t>
                      </a:r>
                      <a:endParaRPr sz="24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100,000</a:t>
                      </a:r>
                      <a:endParaRPr sz="24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r>
            </a:tbl>
          </a:graphicData>
        </a:graphic>
      </p:graphicFrame>
      <p:sp>
        <p:nvSpPr>
          <p:cNvPr id="5" name="table-caption"/>
          <p:cNvSpPr txBox="1"/>
          <p:nvPr/>
        </p:nvSpPr>
        <p:spPr>
          <a:xfrm>
            <a:off x="594360" y="3997960"/>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検証用は各クラス50枚、大会テスト用は各クラス100枚。</a:t>
            </a:r>
            <a:endParaRPr sz="1600" lang="ja-JP">
              <a:latin typeface="Noto Sans"/>
              <a:ea typeface="Noto Sans CJK JP"/>
              <a:cs typeface="Noto Sans"/>
            </a:endParaRPr>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Russakovsky et al. (2015), IJCV. https://arxiv.org/abs/1409.0575</a:t>
            </a:r>
            <a:endParaRPr sz="850" lang="ja-JP">
              <a:latin typeface="Noto Sans"/>
              <a:ea typeface="Noto Sans CJK JP"/>
              <a:cs typeface="Noto San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chor="t"/>
          <a:lstStyle/>
          <a:p>
            <a:pPr algn="l" marL="0" indent="0">
              <a:lnSpc>
                <a:spcPct val="110000"/>
              </a:lnSpc>
              <a:spcBef>
                <a:spcPts val="0"/>
              </a:spcBef>
              <a:spcAft>
                <a:spcPts val="70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1,300枚の学習画像があるカテゴリは895種類</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ImageNet-1kの規模</a:t>
            </a:r>
            <a:endParaRPr sz="1400" lang="ja-JP">
              <a:latin typeface="Noto Sans"/>
              <a:ea typeface="Noto Sans CJK JP"/>
              <a:cs typeface="Noto Sans"/>
            </a:endParaRPr>
          </a:p>
        </p:txBody>
      </p:sp>
      <p:pic>
        <p:nvPicPr>
          <p:cNvPr id="4" name="Picture 3" descr="imagenet-counts.png"/>
          <p:cNvPicPr>
            <a:picLocks noChangeAspect="1"/>
          </p:cNvPicPr>
          <p:nvPr/>
        </p:nvPicPr>
        <p:blipFill>
          <a:blip r:embed="rId4"/>
          <a:stretch>
            <a:fillRect/>
          </a:stretch>
        </p:blipFill>
        <p:spPr>
          <a:xfrm>
            <a:off x="548640" y="1371600"/>
            <a:ext cx="8046720" cy="2743200"/>
          </a:xfrm>
          <a:prstGeom prst="rect">
            <a:avLst/>
          </a:prstGeom>
        </p:spPr>
      </p:pic>
      <p:sp>
        <p:nvSpPr>
          <p:cNvPr id="5" name="TextBox 4"/>
          <p:cNvSpPr txBox="1"/>
          <p:nvPr/>
        </p:nvSpPr>
        <p:spPr>
          <a:xfrm>
            <a:off x="594360" y="4169663"/>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全1,000カテゴリのうち、105カテゴリは1,300枚未満 [1]。</a:t>
            </a:r>
          </a:p>
        </p:txBody>
      </p:sp>
      <p:sp>
        <p:nvSpPr>
          <p:cNvPr id="6" name="lookup-sources"/>
          <p:cNvSpPr txBox="1"/>
          <p:nvPr/>
        </p:nvSpPr>
        <p:spPr>
          <a:xfrm>
            <a:off x="502920" y="4773168"/>
            <a:ext cx="8183879" cy="310896"/>
          </a:xfrm>
          <a:prstGeom prst="rect">
            <a:avLst/>
          </a:prstGeom>
          <a:noFill/>
        </p:spPr>
        <p:txBody>
          <a:bodyPr wrap="square" lIns="0" rIns="0" tIns="0" bIns="0">
            <a:spAutoFit/>
          </a:bodyPr>
          <a:lstStyle/>
          <a:p>
            <a:pPr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 ILSVRC 2012公式devkit, meta.mat. https://image-net.org/challenges/LSVRC/2012/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0" rIns="0" tIns="0" bIns="0"/>
          <a:lstStyle/>
          <a:p>
            <a:pPr marL="0" indent="0">
              <a:lnSpc>
                <a:spcPct val="110000"/>
              </a:lnSpc>
              <a:spcBef>
                <a:spcPts val="0"/>
              </a:spcBef>
              <a:spcAft>
                <a:spcPts val="70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学習画像が800枚未満のカテゴリは5種類</a:t>
            </a:r>
          </a:p>
        </p:txBody>
      </p:sp>
      <p:sp>
        <p:nvSpPr>
          <p:cNvPr id="3" name="Title 2"/>
          <p:cNvSpPr>
            <a:spLocks noGrp="1"/>
          </p:cNvSpPr>
          <p:nvPr>
            <p:ph type="title" idx="2"/>
          </p:nvPr>
        </p:nvSpPr>
        <p:spPr/>
        <p:txBody>
          <a:bodyPr wrap="square" lIns="0" rIns="0" tIns="0" bIns="0" anchor="ctr"/>
          <a:lstStyle/>
          <a:p>
            <a:pPr marL="0" indent="0">
              <a:lnSpc>
                <a:spcPct val="11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ImageNet-1kの規模</a:t>
            </a:r>
          </a:p>
        </p:txBody>
      </p:sp>
      <p:pic>
        <p:nvPicPr>
          <p:cNvPr id="4" name="Picture 3" descr="imagenet-tail.png"/>
          <p:cNvPicPr>
            <a:picLocks noChangeAspect="1"/>
          </p:cNvPicPr>
          <p:nvPr/>
        </p:nvPicPr>
        <p:blipFill>
          <a:blip r:embed="rId2"/>
          <a:stretch>
            <a:fillRect/>
          </a:stretch>
        </p:blipFill>
        <p:spPr>
          <a:xfrm>
            <a:off x="548640" y="1371600"/>
            <a:ext cx="8046720" cy="2743200"/>
          </a:xfrm>
          <a:prstGeom prst="rect">
            <a:avLst/>
          </a:prstGeom>
        </p:spPr>
      </p:pic>
      <p:sp>
        <p:nvSpPr>
          <p:cNvPr id="5" name="TextBox 4"/>
          <p:cNvSpPr txBox="1"/>
          <p:nvPr/>
        </p:nvSpPr>
        <p:spPr>
          <a:xfrm>
            <a:off x="594360" y="3991863"/>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1,300枚未満の105カテゴリを表示。1,000枚未満は19カテゴリ [1]。</a:t>
            </a:r>
          </a:p>
        </p:txBody>
      </p:sp>
      <p:sp>
        <p:nvSpPr>
          <p:cNvPr id="6" name="lookup-sources"/>
          <p:cNvSpPr txBox="1"/>
          <p:nvPr/>
        </p:nvSpPr>
        <p:spPr>
          <a:xfrm>
            <a:off x="502920" y="4773168"/>
            <a:ext cx="8183879" cy="310896"/>
          </a:xfrm>
          <a:prstGeom prst="rect">
            <a:avLst/>
          </a:prstGeom>
          <a:noFill/>
        </p:spPr>
        <p:txBody>
          <a:bodyPr wrap="square" lIns="0" rIns="0" tIns="0" bIns="0">
            <a:spAutoFit/>
          </a:bodyPr>
          <a:lstStyle/>
          <a:p>
            <a:pPr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 ILSVRC 2012公式devkit, meta.mat. https://image-net.org/challenges/LSVRC/2012/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50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学習画像が1,000枚未満のカテゴリは19種類</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ImageNetの少数カテゴリ</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44752"/>
          <a:ext cx="8046720" cy="2240280"/>
        </p:xfrm>
        <a:graphic>
          <a:graphicData uri="http://schemas.openxmlformats.org/drawingml/2006/table">
            <a:tbl>
              <a:tblPr firstRow="1" bandRow="1">
                <a:tableStyleId>{5C22544A-7EE6-4342-B048-85BDC9FD1C3A}</a:tableStyleId>
              </a:tblPr>
              <a:tblGrid>
                <a:gridCol w="6217920"/>
                <a:gridCol w="1828800"/>
              </a:tblGrid>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最少側の3カテゴリ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a:lnL w="0">
                      <a:noFill/>
                    </a:lnL>
                    <a:lnR w="0">
                      <a:noFill/>
                    </a:lnR>
                    <a:lnT w="10160">
                      <a:solidFill>
                        <a:srgbClr val="626669"/>
                      </a:solidFill>
                    </a:lnT>
                    <a:lnB w="10160">
                      <a:solidFill>
                        <a:srgbClr val="626669"/>
                      </a:solid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学習画像数</a:t>
                      </a:r>
                      <a:endParaRPr sz="2200" lang="ja-JP">
                        <a:latin typeface="Noto Sans"/>
                        <a:ea typeface="Noto Sans CJK JP"/>
                        <a:cs typeface="Noto Sans"/>
                      </a:endParaRPr>
                    </a:p>
                  </a:txBody>
                  <a:tcPr>
                    <a:lnL w="0">
                      <a:noFill/>
                    </a:lnL>
                    <a:lnR w="0">
                      <a:noFill/>
                    </a:lnR>
                    <a:lnT w="10160">
                      <a:solidFill>
                        <a:srgbClr val="626669"/>
                      </a:solidFill>
                    </a:lnT>
                    <a:lnB w="10160">
                      <a:solidFill>
                        <a:srgbClr val="626669"/>
                      </a:solidFill>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black-and-tan coonhound</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732枚</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otterhound</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738枚</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English foxhound</a:t>
                      </a:r>
                      <a:endParaRPr sz="2200" lang="ja-JP">
                        <a:latin typeface="Noto Sans"/>
                        <a:ea typeface="Noto Sans CJK JP"/>
                        <a:cs typeface="Noto Sans"/>
                      </a:endParaRPr>
                    </a:p>
                  </a:txBody>
                  <a:tcPr>
                    <a:lnL w="0">
                      <a:noFill/>
                    </a:lnL>
                    <a:lnR w="0">
                      <a:noFill/>
                    </a:lnR>
                    <a:lnT w="0">
                      <a:noFill/>
                    </a:lnT>
                    <a:lnB w="10160">
                      <a:solidFill>
                        <a:srgbClr val="626669"/>
                      </a:solid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754枚</a:t>
                      </a:r>
                      <a:endParaRPr sz="2200" lang="ja-JP">
                        <a:latin typeface="Noto Sans"/>
                        <a:ea typeface="Noto Sans CJK JP"/>
                        <a:cs typeface="Noto Sans"/>
                      </a:endParaRPr>
                    </a:p>
                  </a:txBody>
                  <a:tcPr>
                    <a:lnL w="0">
                      <a:noFill/>
                    </a:lnL>
                    <a:lnR w="0">
                      <a:noFill/>
                    </a:lnR>
                    <a:lnT w="0">
                      <a:noFill/>
                    </a:lnT>
                    <a:lnB w="10160">
                      <a:solidFill>
                        <a:srgbClr val="626669"/>
                      </a:solidFill>
                    </a:lnB>
                    <a:solidFill>
                      <a:srgbClr val="FFFEF8"/>
                    </a:solidFill>
                  </a:tcPr>
                </a:tc>
              </a:tr>
            </a:tbl>
          </a:graphicData>
        </a:graphic>
      </p:graphicFrame>
      <p:sp>
        <p:nvSpPr>
          <p:cNvPr id="5" name="TextBox 4"/>
          <p:cNvSpPr txBox="1"/>
          <p:nvPr>
            <p:ph type="body" idx="1"/>
          </p:nvPr>
        </p:nvSpPr>
        <p:spPr>
          <a:xfrm>
            <a:off x="594360" y="3931920"/>
            <a:ext cx="7955279" cy="594360"/>
          </a:xfrm>
          <a:prstGeom prst="rect">
            <a:avLst/>
          </a:prstGeom>
          <a:noFill/>
        </p:spPr>
        <p:txBody>
          <a:bodyPr wrap="square" lIns="91425" rIns="91425" tIns="91425" bIns="91425" anchor="t">
            <a:spAutoFit/>
          </a:bodyPr>
          <a:lstStyle/>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最小732枚は、最大1,300枚の約56%となる。</a:t>
            </a:r>
            <a:endParaRPr sz="1700" lang="ja-JP">
              <a:latin typeface="Noto Sans"/>
              <a:ea typeface="Noto Sans CJK JP"/>
              <a:cs typeface="Noto Sans"/>
            </a:endParaRPr>
          </a:p>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学習枚数とカテゴリ別正解率を対応させて、少数側の性能を確認する。</a:t>
            </a:r>
            <a:endParaRPr sz="1700" lang="ja-JP">
              <a:latin typeface="Noto Sans"/>
              <a:ea typeface="Noto Sans CJK JP"/>
              <a:cs typeface="Noto Sans"/>
            </a:endParaRPr>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ILSVRC 2012公式devkitのmeta.mat全1,000カテゴリを集計. https://image-net.org/challenges/LSVRC/2012/</a:t>
            </a:r>
            <a:endParaRPr sz="850" lang="ja-JP">
              <a:latin typeface="Noto Sans"/>
              <a:ea typeface="Noto Sans CJK JP"/>
              <a:cs typeface="Noto San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Noto Sans"/>
                <a:ea typeface="Noto Sans CJK JP"/>
                <a:cs typeface="Noto Sans"/>
              </a:defRPr>
            </a:pPr>
            <a:r>
              <a:rPr sz="4000" lang="ja-JP" b="1">
                <a:solidFill>
                  <a:srgbClr val="303437"/>
                </a:solidFill>
                <a:latin typeface="Noto Sans"/>
                <a:ea typeface="Noto Sans CJK JP"/>
                <a:cs typeface="Noto Sans"/>
              </a:rPr>
              <a:t>3 評価と性能</a:t>
            </a:r>
            <a:endParaRPr sz="4000" lang="ja-JP">
              <a:latin typeface="Noto Sans"/>
              <a:ea typeface="Noto Sans CJK JP"/>
              <a:cs typeface="Noto Sans"/>
            </a:endParaRPr>
          </a:p>
        </p:txBody>
      </p:sp>
      <p:sp>
        <p:nvSpPr>
          <p:cNvPr id="3" name="Title 2"/>
          <p:cNvSpPr>
            <a:spLocks noGrp="1"/>
          </p:cNvSpPr>
          <p:nvPr>
            <p:ph type="title" idx="2"/>
          </p:nvPr>
        </p:nvSpPr>
        <p:spPr/>
        <p:txBody>
          <a:bodyPr/>
          <a:lstStyle/>
          <a:p>
            <a:p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評価にはTop-1とTop-5の正解率を使う</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ImageNetの評価方法</a:t>
            </a:r>
            <a:endParaRPr sz="1400" lang="ja-JP">
              <a:latin typeface="Noto Sans"/>
              <a:ea typeface="Noto Sans CJK JP"/>
              <a:cs typeface="Noto Sans"/>
            </a:endParaRPr>
          </a:p>
        </p:txBody>
      </p:sp>
      <p:sp>
        <p:nvSpPr>
          <p:cNvPr id="4" name="body"/>
          <p:cNvSpPr txBox="1"/>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57826"/>
              <a:buFont typeface="Noto Sans CJK JP"/>
              <a:buChar char="●"/>
              <a:defRPr sz="2300" b="0" lang="ja-JP">
                <a:latin typeface="Noto Sans"/>
                <a:ea typeface="Noto Sans CJK JP"/>
                <a:cs typeface="Noto Sans"/>
              </a:defRPr>
            </a:pPr>
            <a:r>
              <a:rPr sz="2300" lang="ja-JP">
                <a:solidFill>
                  <a:srgbClr val="303437"/>
                </a:solidFill>
                <a:latin typeface="Noto Sans"/>
                <a:ea typeface="Noto Sans CJK JP"/>
                <a:cs typeface="Noto Sans"/>
              </a:rPr>
              <a:t>Top-1は最上位の予測が正解と一致した割合である。</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Top-5は上位5予測に正解が含まれた割合である </a:t>
            </a:r>
            <a:r>
              <a:rPr sz="2300" lang="ja-JP">
                <a:solidFill>
                  <a:srgbClr val="303437"/>
                </a:solidFill>
                <a:latin typeface="Noto Sans"/>
                <a:ea typeface="Noto Sans CJK JP"/>
                <a:cs typeface="Noto Sans"/>
              </a:rPr>
              <a:t>[1]</a:t>
            </a:r>
            <a:r>
              <a:rPr sz="2300" lang="ja-JP">
                <a:solidFill>
                  <a:srgbClr val="303437"/>
                </a:solidFill>
                <a:latin typeface="Noto Sans"/>
                <a:ea typeface="Noto Sans CJK JP"/>
                <a:cs typeface="Noto Sans"/>
              </a:rPr>
              <a:t>。</a:t>
            </a:r>
            <a:endParaRPr sz="2300" lang="ja-JP">
              <a:latin typeface="Noto Sans"/>
              <a:ea typeface="Noto Sans CJK JP"/>
              <a:cs typeface="Noto Sans"/>
            </a:endParaRPr>
          </a:p>
          <a:p>
            <a:pPr algn="l" lvl="1" marL="9144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正解がtenchで2位なら、Top-1は0、Top-5は1となる。</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画像ごとの0・1を平均し、正解率を百分率で示す。</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誤り率は100%から正解率を引く。大会では誤り率も使った。</a:t>
            </a:r>
            <a:endParaRPr sz="23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ILSVRC 2012, Task 1. https://image-net.org/challenges/LSVRC/2012/</a:t>
            </a:r>
            <a:endParaRPr sz="850" lang="ja-JP">
              <a:latin typeface="Noto Sans"/>
              <a:ea typeface="Noto Sans CJK JP"/>
              <a:cs typeface="Noto Sans"/>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2012年は畳み込みネットワークが成績を伸ばした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ImageNetと認識モデルの発展</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2971800"/>
                <a:gridCol w="2560320"/>
                <a:gridCol w="2514600"/>
              </a:tblGrid>
              <a:tr h="502920">
                <a:tc>
                  <a:txBody>
                    <a:bodyPr wrap="square" lIns="38100" rIns="38100" tIns="38100" bIns="38100" anchor="ct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大会の提出システム</a:t>
                      </a:r>
                      <a:r>
                        <a:rPr sz="2100" lang="ja-JP">
                          <a:solidFill>
                            <a:srgbClr val="303437"/>
                          </a:solidFill>
                          <a:latin typeface="Noto Sans"/>
                          <a:ea typeface="Noto Sans CJK JP"/>
                          <a:cs typeface="Noto Sans"/>
                        </a:rPr>
                        <a:t/>
                      </a:r>
                      <a:endParaRPr sz="21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追加学習データ</a:t>
                      </a:r>
                      <a:endParaRPr sz="21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Top-5誤り率</a:t>
                      </a:r>
                      <a:endParaRPr sz="21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ISI</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なし</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26.2%</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SuperVision</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なし</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16.4%</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SuperVision</a:t>
                      </a:r>
                      <a:endParaRPr sz="21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Fall 2011版</a:t>
                      </a:r>
                      <a:endParaRPr sz="21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15.3%</a:t>
                      </a:r>
                      <a:endParaRPr sz="21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SuperVisionは、畳み込みネットワークAlexNetを用いたシステム [1]。</a:t>
            </a:r>
            <a:endParaRPr sz="1600" lang="ja-JP">
              <a:latin typeface="Noto Sans"/>
              <a:ea typeface="Noto Sans CJK JP"/>
              <a:cs typeface="Noto Sans"/>
            </a:endParaRPr>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Russakovsky et al. (2015), Table 5. https://arxiv.org/abs/1409.0575</a:t>
            </a:r>
            <a:endParaRPr sz="850" lang="ja-JP">
              <a:latin typeface="Noto Sans"/>
              <a:ea typeface="Noto Sans CJK JP"/>
              <a:cs typeface="Noto San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2016年のResNet原著の評価結果</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lang="ja-JP">
                <a:solidFill>
                  <a:srgbClr val="FFFEF8"/>
                </a:solidFill>
                <a:latin typeface="Noto Sans"/>
                <a:ea typeface="Noto Sans CJK JP"/>
                <a:cs typeface="Noto Sans"/>
              </a:rPr>
              <a:t>ImageNetの評価と性能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377440"/>
        </p:xfrm>
        <a:graphic>
          <a:graphicData uri="http://schemas.openxmlformats.org/drawingml/2006/table">
            <a:tbl>
              <a:tblPr firstRow="1" bandRow="1">
                <a:tableStyleId>{5C22544A-7EE6-4342-B048-85BDC9FD1C3A}</a:tableStyleId>
              </a:tblPr>
              <a:tblGrid>
                <a:gridCol w="3291840"/>
                <a:gridCol w="2377440"/>
                <a:gridCol w="237744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モデル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Top-1誤り率</a:t>
                      </a:r>
                      <a:endParaRPr sz="24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Top-5誤り率</a:t>
                      </a:r>
                      <a:endParaRPr sz="24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ResNet-50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22.85%</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6.71%</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ResNet-101</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21.75%</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6.05%</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ResNet-152</a:t>
                      </a:r>
                      <a:endParaRPr sz="24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21.43%</a:t>
                      </a:r>
                      <a:endParaRPr sz="24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5.71%</a:t>
                      </a:r>
                      <a:endParaRPr sz="24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r>
            </a:tbl>
          </a:graphicData>
        </a:graphic>
      </p:graphicFrame>
      <p:sp>
        <p:nvSpPr>
          <p:cNvPr id="5" name="table-caption"/>
          <p:cNvSpPr txBox="1"/>
          <p:nvPr/>
        </p:nvSpPr>
        <p:spPr>
          <a:xfrm>
            <a:off x="594360" y="3997960"/>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残差接続を用いるResNetの、10クロップ評価による値。同じ画像から10領域を切り出し、予測をまとめる。</a:t>
            </a:r>
            <a:endParaRPr sz="1600" lang="ja-JP">
              <a:latin typeface="Noto Sans"/>
              <a:ea typeface="Noto Sans CJK JP"/>
              <a:cs typeface="Noto Sans"/>
            </a:endParaRPr>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He et al. (2016), CVPR, Table 3. https://arxiv.org/abs/1512.03385</a:t>
            </a:r>
            <a:endParaRPr sz="850" lang="ja-JP">
              <a:latin typeface="Noto Sans"/>
              <a:ea typeface="Noto Sans CJK JP"/>
              <a:cs typeface="Noto Sans"/>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2025年もImageNetで画像特徴を評価している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近年のImageNetの利用</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2743200"/>
                <a:gridCol w="2880360"/>
                <a:gridCol w="242316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特徴モデル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学習方式</a:t>
                      </a:r>
                      <a:endParaRPr sz="22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Top-1正解率</a:t>
                      </a:r>
                      <a:endParaRPr sz="22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DINOv3 7B/16</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自己教師あり</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88.4%</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SigLIP 2 g/16</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画像とテキスト</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89.1%</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PEcore G/14</a:t>
                      </a:r>
                      <a:endParaRPr sz="22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画像とテキスト</a:t>
                      </a:r>
                      <a:endParaRPr sz="22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89.3%</a:t>
                      </a:r>
                      <a:endParaRPr sz="22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特徴モデルを固定し、ImageNetの学習用で線形分類器を学習する。検証用で条件を選び、同じ検証用で評価する。入力解像度は異なる。</a:t>
            </a:r>
            <a:endParaRPr sz="1600" lang="ja-JP">
              <a:latin typeface="Noto Sans"/>
              <a:ea typeface="Noto Sans CJK JP"/>
              <a:cs typeface="Noto Sans"/>
            </a:endParaRPr>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Siméoni et al. (2025), DINOv3, Table 7. https://arxiv.org/abs/2508.10104</a:t>
            </a:r>
            <a:endParaRPr sz="850" lang="ja-JP">
              <a:latin typeface="Noto Sans"/>
              <a:ea typeface="Noto Sans CJK JP"/>
              <a:cs typeface="Noto Sans"/>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Noto Sans"/>
                <a:ea typeface="Noto Sans CJK JP"/>
                <a:cs typeface="Noto Sans"/>
              </a:defRPr>
            </a:pPr>
            <a:r>
              <a:rPr sz="4000" lang="ja-JP" b="1">
                <a:solidFill>
                  <a:srgbClr val="303437"/>
                </a:solidFill>
                <a:latin typeface="Noto Sans"/>
                <a:ea typeface="Noto Sans CJK JP"/>
                <a:cs typeface="Noto Sans"/>
              </a:rPr>
              <a:t>4 利用の変遷と現在</a:t>
            </a:r>
            <a:endParaRPr sz="4000" lang="ja-JP">
              <a:latin typeface="Noto Sans"/>
              <a:ea typeface="Noto Sans CJK JP"/>
              <a:cs typeface="Noto Sans"/>
            </a:endParaRPr>
          </a:p>
        </p:txBody>
      </p:sp>
      <p:sp>
        <p:nvSpPr>
          <p:cNvPr id="3" name="Title 2"/>
          <p:cNvSpPr>
            <a:spLocks noGrp="1"/>
          </p:cNvSpPr>
          <p:nvPr>
            <p:ph type="title" idx="2"/>
          </p:nvPr>
        </p:nvSpPr>
        <p:spPr/>
        <p:txBody>
          <a:bodyPr/>
          <a:lstStyle/>
          <a:p>
            <a:p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分類の高い正解率だけでは汎用性を示せない</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ImageNetの限界</a:t>
            </a:r>
            <a:endParaRPr sz="1400" lang="ja-JP">
              <a:latin typeface="Noto Sans"/>
              <a:ea typeface="Noto Sans CJK JP"/>
              <a:cs typeface="Noto Sans"/>
            </a:endParaRPr>
          </a:p>
        </p:txBody>
      </p:sp>
      <p:sp>
        <p:nvSpPr>
          <p:cNvPr id="4" name="body"/>
          <p:cNvSpPr txBox="1"/>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1,000クラス分類は、画像の意味全体を説明しない。</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対象物より背景の手がかりを使う可能性がある。</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複数物体が写っても、通常の正解は1クラスである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そこでImageNet-ReaLは正解ラベルを見直した </a:t>
            </a:r>
            <a:r>
              <a:rPr sz="2200" lang="ja-JP">
                <a:solidFill>
                  <a:srgbClr val="303437"/>
                </a:solidFill>
                <a:latin typeface="Noto Sans"/>
                <a:ea typeface="Noto Sans CJK JP"/>
                <a:cs typeface="Noto Sans"/>
              </a:rPr>
              <a:t>[2]</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既存の検証画像に、複数の妥当なラベルを付け直す。</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別の画像集合や撮影条件では、成績が変わる。</a:t>
            </a:r>
            <a:endParaRPr sz="2200" lang="ja-JP">
              <a:latin typeface="Noto Sans"/>
              <a:ea typeface="Noto Sans CJK JP"/>
              <a:cs typeface="Noto Sans"/>
            </a:endParaRPr>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ILSVRC 2012, Task 1. https://image-net.org/challenges/LSVRC/2012/</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[2]</a:t>
            </a:r>
            <a:r>
              <a:rPr sz="850" lang="ja-JP">
                <a:solidFill>
                  <a:srgbClr val="626669"/>
                </a:solidFill>
                <a:latin typeface="Noto Sans"/>
                <a:ea typeface="Noto Sans CJK JP"/>
                <a:cs typeface="Noto Sans"/>
              </a:rPr>
              <a:t> Beyer et al. (2020). https://arxiv.org/abs/2006.07159</a:t>
            </a:r>
            <a:endParaRPr sz="850" lang="ja-JP">
              <a:latin typeface="Noto Sans"/>
              <a:ea typeface="Noto Sans CJK JP"/>
              <a:cs typeface="Noto Sans"/>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後続データは分類以外の認識にも広がった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関連データセットの動向</a:t>
            </a:r>
            <a:endParaRPr sz="1400" lang="ja-JP">
              <a:latin typeface="Noto Sans"/>
              <a:ea typeface="Noto Sans CJK JP"/>
              <a:cs typeface="Noto Sans"/>
            </a:endParaRPr>
          </a:p>
        </p:txBody>
      </p:sp>
      <p:sp>
        <p:nvSpPr>
          <p:cNvPr id="4" name="body"/>
          <p:cNvSpPr txBox="1"/>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3333"/>
              <a:buFont typeface="Noto Sans CJK JP"/>
              <a:buChar char="●"/>
              <a:defRPr sz="2100" b="0" lang="ja-JP">
                <a:latin typeface="Noto Sans"/>
                <a:ea typeface="Noto Sans CJK JP"/>
                <a:cs typeface="Noto Sans"/>
              </a:defRPr>
            </a:pPr>
            <a:r>
              <a:rPr sz="2100" lang="ja-JP">
                <a:solidFill>
                  <a:srgbClr val="303437"/>
                </a:solidFill>
                <a:latin typeface="Noto Sans"/>
                <a:ea typeface="Noto Sans CJK JP"/>
                <a:cs typeface="Noto Sans"/>
              </a:rPr>
              <a:t>先行する物体認識データPASCAL VOCがあった </a:t>
            </a:r>
            <a:r>
              <a:rPr sz="2100" lang="ja-JP">
                <a:solidFill>
                  <a:srgbClr val="303437"/>
                </a:solidFill>
                <a:latin typeface="Noto Sans"/>
                <a:ea typeface="Noto Sans CJK JP"/>
                <a:cs typeface="Noto Sans"/>
              </a:rPr>
              <a:t>[1]</a:t>
            </a:r>
            <a:r>
              <a:rPr sz="2100" lang="ja-JP">
                <a:solidFill>
                  <a:srgbClr val="303437"/>
                </a:solidFill>
                <a:latin typeface="Noto Sans"/>
                <a:ea typeface="Noto Sans CJK JP"/>
                <a:cs typeface="Noto Sans"/>
              </a:rPr>
              <a:t>。2012年版は20クラスを扱った。</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それに対しILSVRC 2012は1,000クラスで、50倍だった。</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その後、複数物体を注釈するCOCOが登場した。</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検出・領域分割のために、物体の位置と画素の領域を示す。</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一方、場面を分類するPlacesは屋内外の認識を目的とした。</a:t>
            </a:r>
            <a:endParaRPr sz="21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Russakovsky et al. (2015), IJCV. https://arxiv.org/abs/1409.0575</a:t>
            </a:r>
            <a:endParaRPr sz="850" lang="ja-JP">
              <a:latin typeface="Noto Sans"/>
              <a:ea typeface="Noto Sans CJK JP"/>
              <a:cs typeface="Noto San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別の画像や描画で頑健性を調べる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ImageNetを補う評価</a:t>
            </a:r>
            <a:endParaRPr sz="1400" lang="ja-JP">
              <a:latin typeface="Noto Sans"/>
              <a:ea typeface="Noto Sans CJK JP"/>
              <a:cs typeface="Noto Sans"/>
            </a:endParaRPr>
          </a:p>
        </p:txBody>
      </p:sp>
      <p:sp>
        <p:nvSpPr>
          <p:cNvPr id="4" name="body"/>
          <p:cNvSpPr txBox="1"/>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3333"/>
              <a:buFont typeface="Noto Sans CJK JP"/>
              <a:buChar char="●"/>
              <a:defRPr sz="2100" b="0" lang="ja-JP">
                <a:latin typeface="Noto Sans"/>
                <a:ea typeface="Noto Sans CJK JP"/>
                <a:cs typeface="Noto Sans"/>
              </a:defRPr>
            </a:pPr>
            <a:r>
              <a:rPr sz="2100" lang="ja-JP">
                <a:solidFill>
                  <a:srgbClr val="303437"/>
                </a:solidFill>
                <a:latin typeface="Noto Sans"/>
                <a:ea typeface="Noto Sans CJK JP"/>
                <a:cs typeface="Noto Sans"/>
              </a:rPr>
              <a:t>ImageNetV2は同じ1,000クラスで画像を再収集した </a:t>
            </a:r>
            <a:r>
              <a:rPr sz="2100" lang="ja-JP">
                <a:solidFill>
                  <a:srgbClr val="303437"/>
                </a:solidFill>
                <a:latin typeface="Noto Sans"/>
                <a:ea typeface="Noto Sans CJK JP"/>
                <a:cs typeface="Noto Sans"/>
              </a:rPr>
              <a:t>[1]</a:t>
            </a:r>
            <a:r>
              <a:rPr sz="2100" lang="ja-JP">
                <a:solidFill>
                  <a:srgbClr val="303437"/>
                </a:solidFill>
                <a:latin typeface="Noto Sans"/>
                <a:ea typeface="Noto Sans CJK JP"/>
                <a:cs typeface="Noto Sans"/>
              </a:rPr>
              <a:t>。</a:t>
            </a:r>
            <a:endParaRPr sz="2100" lang="ja-JP">
              <a:latin typeface="Noto Sans"/>
              <a:ea typeface="Noto Sans CJK JP"/>
              <a:cs typeface="Noto Sans"/>
            </a:endParaRPr>
          </a:p>
          <a:p>
            <a:pPr algn="l" lvl="1" marL="9144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別に集めた画像で、既存の検証画像への適合を調べる。</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その後、絵画のImageNet-Rや、画像を劣化させたImageNet-Cも作られた [2]。</a:t>
            </a:r>
            <a:r>
              <a:rPr sz="2100" lang="ja-JP">
                <a:solidFill>
                  <a:srgbClr val="303437"/>
                </a:solidFill>
                <a:latin typeface="Noto Sans"/>
                <a:ea typeface="Noto Sans CJK JP"/>
                <a:cs typeface="Noto Sans"/>
              </a:rPr>
              <a:t/>
            </a:r>
            <a:r>
              <a:rPr sz="2100" lang="ja-JP">
                <a:solidFill>
                  <a:srgbClr val="303437"/>
                </a:solidFill>
                <a:latin typeface="Noto Sans"/>
                <a:ea typeface="Noto Sans CJK JP"/>
                <a:cs typeface="Noto Sans"/>
              </a:rPr>
              <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2025年のDINOv3論文も、これらで汎化性能を調べている。</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2026年も公開実装に、ImageNetでの評価手順がある </a:t>
            </a:r>
            <a:r>
              <a:rPr sz="2100" lang="ja-JP">
                <a:solidFill>
                  <a:srgbClr val="303437"/>
                </a:solidFill>
                <a:latin typeface="Noto Sans"/>
                <a:ea typeface="Noto Sans CJK JP"/>
                <a:cs typeface="Noto Sans"/>
              </a:rPr>
              <a:t>[2]</a:t>
            </a:r>
            <a:r>
              <a:rPr sz="2100" lang="ja-JP">
                <a:solidFill>
                  <a:srgbClr val="303437"/>
                </a:solidFill>
                <a:latin typeface="Noto Sans"/>
                <a:ea typeface="Noto Sans CJK JP"/>
                <a:cs typeface="Noto Sans"/>
              </a:rPr>
              <a:t>。</a:t>
            </a:r>
            <a:endParaRPr sz="2100" lang="ja-JP">
              <a:latin typeface="Noto Sans"/>
              <a:ea typeface="Noto Sans CJK JP"/>
              <a:cs typeface="Noto Sans"/>
            </a:endParaRPr>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Recht et al. (2019). https://github.com/modestyachts/ImageNetV2</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[2]</a:t>
            </a:r>
            <a:r>
              <a:rPr sz="850" lang="ja-JP">
                <a:solidFill>
                  <a:srgbClr val="626669"/>
                </a:solidFill>
                <a:latin typeface="Noto Sans"/>
                <a:ea typeface="Noto Sans CJK JP"/>
                <a:cs typeface="Noto Sans"/>
              </a:rPr>
              <a:t> DINOv3の論文・公開実装. https://github.com/facebookresearch/dinov3</a:t>
            </a:r>
            <a:endParaRPr sz="850" lang="ja-JP">
              <a:latin typeface="Noto Sans"/>
              <a:ea typeface="Noto Sans CJK JP"/>
              <a:cs typeface="Noto Sans"/>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Noto Sans"/>
                <a:ea typeface="Noto Sans CJK JP"/>
                <a:cs typeface="Noto Sans"/>
              </a:defRPr>
            </a:pPr>
            <a:r>
              <a:rPr sz="4000" lang="ja-JP" b="1">
                <a:solidFill>
                  <a:srgbClr val="303437"/>
                </a:solidFill>
                <a:latin typeface="Noto Sans"/>
                <a:ea typeface="Noto Sans CJK JP"/>
                <a:cs typeface="Noto Sans"/>
              </a:rPr>
              <a:t>5 入手方法とまとめ</a:t>
            </a:r>
            <a:endParaRPr sz="4000" lang="ja-JP">
              <a:latin typeface="Noto Sans"/>
              <a:ea typeface="Noto Sans CJK JP"/>
              <a:cs typeface="Noto Sans"/>
            </a:endParaRPr>
          </a:p>
        </p:txBody>
      </p:sp>
      <p:sp>
        <p:nvSpPr>
          <p:cNvPr id="3" name="Title 2"/>
          <p:cNvSpPr>
            <a:spLocks noGrp="1"/>
          </p:cNvSpPr>
          <p:nvPr>
            <p:ph type="title" idx="2"/>
          </p:nvPr>
        </p:nvSpPr>
        <p:spPr/>
        <p:txBody>
          <a:bodyPr/>
          <a:lstStyle/>
          <a:p>
            <a:p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公式サイトから必要な版を入手する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ImageNetの入手方法</a:t>
            </a:r>
            <a:endParaRPr sz="1400" lang="ja-JP">
              <a:latin typeface="Noto Sans"/>
              <a:ea typeface="Noto Sans CJK JP"/>
              <a:cs typeface="Noto Sans"/>
            </a:endParaRPr>
          </a:p>
        </p:txBody>
      </p:sp>
      <p:sp>
        <p:nvSpPr>
          <p:cNvPr id="4" name="body"/>
          <p:cNvSpPr txBox="1"/>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55417"/>
              <a:buFont typeface="Noto Sans CJK JP"/>
              <a:buChar char="●"/>
              <a:defRPr sz="2400" b="0" lang="ja-JP">
                <a:latin typeface="Noto Sans"/>
                <a:ea typeface="Noto Sans CJK JP"/>
                <a:cs typeface="Noto Sans"/>
              </a:defRPr>
            </a:pPr>
            <a:r>
              <a:rPr sz="2400" lang="ja-JP">
                <a:solidFill>
                  <a:srgbClr val="303437"/>
                </a:solidFill>
                <a:latin typeface="Noto Sans"/>
                <a:ea typeface="Noto Sans CJK JP"/>
                <a:cs typeface="Noto Sans"/>
              </a:rPr>
              <a:t>画像認識大会ILSVRCの2012年・1,000クラス分類用データは、Kaggleで入手できる </a:t>
            </a:r>
            <a:r>
              <a:rPr sz="2400" lang="ja-JP">
                <a:solidFill>
                  <a:srgbClr val="303437"/>
                </a:solidFill>
                <a:latin typeface="Noto Sans"/>
                <a:ea typeface="Noto Sans CJK JP"/>
                <a:cs typeface="Noto Sans"/>
              </a:rPr>
              <a:t>[1]</a:t>
            </a:r>
            <a:r>
              <a:rPr sz="2400" lang="ja-JP">
                <a:solidFill>
                  <a:srgbClr val="303437"/>
                </a:solidFill>
                <a:latin typeface="Noto Sans"/>
                <a:ea typeface="Noto Sans CJK JP"/>
                <a:cs typeface="Noto Sans"/>
              </a:rPr>
              <a:t>。</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ImageNet全体とその他のサブセットには、ログインと利用条件への同意が必要となる。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入手する版、ラベルとクラス順序、利用条件を確認する。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小規模な10クラス版Imagenetteも使える </a:t>
            </a:r>
            <a:r>
              <a:rPr sz="2400" lang="ja-JP">
                <a:solidFill>
                  <a:srgbClr val="303437"/>
                </a:solidFill>
                <a:latin typeface="Noto Sans"/>
                <a:ea typeface="Noto Sans CJK JP"/>
                <a:cs typeface="Noto Sans"/>
              </a:rPr>
              <a:t>[2]</a:t>
            </a:r>
            <a:r>
              <a:rPr sz="2400" lang="ja-JP">
                <a:solidFill>
                  <a:srgbClr val="303437"/>
                </a:solidFill>
                <a:latin typeface="Noto Sans"/>
                <a:ea typeface="Noto Sans CJK JP"/>
                <a:cs typeface="Noto Sans"/>
              </a:rPr>
              <a:t>。</a:t>
            </a:r>
            <a:endParaRPr sz="2400" lang="ja-JP">
              <a:latin typeface="Noto Sans"/>
              <a:ea typeface="Noto Sans CJK JP"/>
              <a:cs typeface="Noto Sans"/>
            </a:endParaRPr>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ImageNet Download. https://www.image-net.org/download.php</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[2]</a:t>
            </a:r>
            <a:r>
              <a:rPr sz="850" lang="ja-JP">
                <a:solidFill>
                  <a:srgbClr val="626669"/>
                </a:solidFill>
                <a:latin typeface="Noto Sans"/>
                <a:ea typeface="Noto Sans CJK JP"/>
                <a:cs typeface="Noto Sans"/>
              </a:rPr>
              <a:t> Imagenette. https://github.com/fastai/imagenette</a:t>
            </a:r>
            <a:endParaRPr sz="850" lang="ja-JP">
              <a:latin typeface="Noto Sans"/>
              <a:ea typeface="Noto Sans CJK JP"/>
              <a:cs typeface="Noto Sans"/>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ImageNetは画像認識の学習と評価を支えてきた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ImageNetのまとめ</a:t>
            </a:r>
            <a:endParaRPr sz="1400" lang="ja-JP">
              <a:latin typeface="Noto Sans"/>
              <a:ea typeface="Noto Sans CJK JP"/>
              <a:cs typeface="Noto Sans"/>
            </a:endParaRPr>
          </a:p>
        </p:txBody>
      </p:sp>
      <p:sp>
        <p:nvSpPr>
          <p:cNvPr id="4" name="body"/>
          <p:cNvSpPr txBox="1"/>
          <p:nvPr>
            <p:ph type="body" idx="1"/>
          </p:nvPr>
        </p:nvSpPr>
        <p:spPr>
          <a:xfrm>
            <a:off x="594360" y="1371600"/>
            <a:ext cx="7955279" cy="3090672"/>
          </a:xfrm>
          <a:prstGeom prst="rect">
            <a:avLst/>
          </a:prstGeom>
          <a:noFill/>
        </p:spPr>
        <p:txBody>
          <a:bodyPr wrap="square" lIns="91425" rIns="91425" tIns="91425" bIns="91425" anchor="t">
            <a:spAutoFit/>
          </a:bodyPr>
          <a:lstStyle/>
          <a:p>
            <a:pPr algn="l" lvl="0" marL="457200" indent="-355600">
              <a:buSzPct val="55417"/>
              <a:buFont typeface="Noto Sans CJK JP"/>
              <a:buChar char="●"/>
              <a:defRPr sz="2400" b="0" lang="ja-JP">
                <a:latin typeface="Noto Sans"/>
                <a:ea typeface="Noto Sans CJK JP"/>
                <a:cs typeface="Noto Sans"/>
              </a:defRPr>
            </a:pPr>
            <a:r>
              <a:rPr sz="2400" lang="ja-JP">
                <a:solidFill>
                  <a:srgbClr val="303437"/>
                </a:solidFill>
                <a:latin typeface="Noto Sans"/>
                <a:ea typeface="Noto Sans CJK JP"/>
                <a:cs typeface="Noto Sans"/>
              </a:rPr>
              <a:t>ImageNetは物体認識用の画像データベースである。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2009年に発表され、多数の画像を人手で確認した。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ImageNet-1kはILSVRCの1,000クラス分類用である。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Top-1・Top-5と、学習・評価条件を区別する。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現在は特徴評価にも使い、汎化は別画像で調べる。</a:t>
            </a:r>
            <a:endParaRPr sz="2400" lang="ja-JP">
              <a:latin typeface="Noto Sans"/>
              <a:ea typeface="Noto Sans CJK JP"/>
              <a:cs typeface="Noto Sans"/>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Appendixの目次</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Appendix: 補足資料の構成</a:t>
            </a:r>
            <a:endParaRPr sz="1400" lang="ja-JP">
              <a:latin typeface="Noto Sans"/>
              <a:ea typeface="Noto Sans CJK JP"/>
              <a:cs typeface="Noto Sans"/>
            </a:endParaRPr>
          </a:p>
        </p:txBody>
      </p:sp>
      <p:sp>
        <p:nvSpPr>
          <p:cNvPr id="4" name="TextBox 3"/>
          <p:cNvSpPr txBox="1"/>
          <p:nvPr/>
        </p:nvSpPr>
        <p:spPr>
          <a:xfrm>
            <a:off x="594360" y="1353312"/>
            <a:ext cx="7955279" cy="3291840"/>
          </a:xfrm>
          <a:prstGeom prst="rect">
            <a:avLst/>
          </a:prstGeom>
          <a:noFill/>
        </p:spPr>
        <p:txBody>
          <a:bodyPr wrap="square" lIns="0" rIns="0" tIns="0" bIns="0" anchor="t">
            <a:spAutoFit/>
          </a:bodyPr>
          <a:lstStyle/>
          <a:p>
            <a:pPr algn="l" marL="533400" indent="-381000">
              <a:lnSpc>
                <a:spcPct val="105000"/>
              </a:lnSpc>
              <a:spcBef>
                <a:spcPts val="0"/>
              </a:spcBef>
              <a:spcAft>
                <a:spcPts val="0"/>
              </a:spcAft>
              <a:buAutoNum type="arabicPeriod" startAt="1"/>
              <a:defRPr sz="2500" lang="ja-JP">
                <a:latin typeface="Noto Sans"/>
                <a:ea typeface="Noto Sans CJK JP"/>
                <a:cs typeface="Noto Sans"/>
              </a:defRPr>
            </a:pPr>
            <a:r>
              <a:rPr sz="2500" lang="ja-JP">
                <a:solidFill>
                  <a:srgbClr val="303437"/>
                </a:solidFill>
                <a:latin typeface="Noto Sans"/>
                <a:ea typeface="Noto Sans CJK JP"/>
                <a:cs typeface="Noto Sans"/>
              </a:rPr>
              <a:t>著者と発表先</a:t>
            </a:r>
            <a:endParaRPr sz="2500" lang="ja-JP">
              <a:latin typeface="Noto Sans"/>
              <a:ea typeface="Noto Sans CJK JP"/>
              <a:cs typeface="Noto Sans"/>
            </a:endParaRPr>
          </a:p>
          <a:p>
            <a:pPr marL="533400" indent="-381000">
              <a:lnSpc>
                <a:spcPct val="105000"/>
              </a:lnSpc>
              <a:spcBef>
                <a:spcPts val="0"/>
              </a:spcBef>
              <a:spcAft>
                <a:spcPts val="0"/>
              </a:spcAft>
              <a:buAutoNum type="arabicPeriod" startAt="2"/>
              <a:defRPr sz="2500" lang="ja-JP">
                <a:latin typeface="Noto Sans"/>
                <a:ea typeface="Noto Sans CJK JP"/>
                <a:cs typeface="Noto Sans"/>
              </a:defRPr>
            </a:pPr>
            <a:r>
              <a:rPr sz="2500" lang="ja-JP">
                <a:solidFill>
                  <a:srgbClr val="303437"/>
                </a:solidFill>
                <a:latin typeface="Noto Sans"/>
                <a:ea typeface="Noto Sans CJK JP"/>
                <a:cs typeface="Noto Sans"/>
              </a:rPr>
              <a:t>カテゴリの見取り図</a:t>
            </a:r>
          </a:p>
          <a:p>
            <a:pPr marL="533400" indent="-381000">
              <a:lnSpc>
                <a:spcPct val="105000"/>
              </a:lnSpc>
              <a:spcBef>
                <a:spcPts val="0"/>
              </a:spcBef>
              <a:spcAft>
                <a:spcPts val="0"/>
              </a:spcAft>
              <a:buAutoNum type="arabicPeriod" startAt="3"/>
              <a:defRPr sz="2500" lang="ja-JP">
                <a:latin typeface="Noto Sans"/>
                <a:ea typeface="Noto Sans CJK JP"/>
                <a:cs typeface="Noto Sans"/>
              </a:defRPr>
            </a:pPr>
            <a:r>
              <a:rPr sz="2500" lang="ja-JP">
                <a:solidFill>
                  <a:srgbClr val="303437"/>
                </a:solidFill>
                <a:latin typeface="Noto Sans"/>
                <a:ea typeface="Noto Sans CJK JP"/>
                <a:cs typeface="Noto Sans"/>
              </a:rPr>
              <a:t>画像の追加例</a:t>
            </a:r>
          </a:p>
          <a:p>
            <a:pPr marL="533400" indent="-381000">
              <a:lnSpc>
                <a:spcPct val="105000"/>
              </a:lnSpc>
              <a:spcBef>
                <a:spcPts val="0"/>
              </a:spcBef>
              <a:spcAft>
                <a:spcPts val="0"/>
              </a:spcAft>
              <a:buAutoNum type="arabicPeriod" startAt="4"/>
              <a:defRPr sz="2500" lang="ja-JP">
                <a:latin typeface="Noto Sans"/>
                <a:ea typeface="Noto Sans CJK JP"/>
                <a:cs typeface="Noto Sans"/>
              </a:defRPr>
            </a:pPr>
            <a:r>
              <a:rPr sz="2500" lang="ja-JP">
                <a:solidFill>
                  <a:srgbClr val="303437"/>
                </a:solidFill>
                <a:latin typeface="Noto Sans"/>
                <a:ea typeface="Noto Sans CJK JP"/>
                <a:cs typeface="Noto Sans"/>
              </a:rPr>
              <a:t>ImageNet-1kの学習画像数</a:t>
            </a:r>
          </a:p>
          <a:p>
            <a:pPr marL="533400" indent="-381000">
              <a:lnSpc>
                <a:spcPct val="105000"/>
              </a:lnSpc>
              <a:spcBef>
                <a:spcPts val="0"/>
              </a:spcBef>
              <a:spcAft>
                <a:spcPts val="0"/>
              </a:spcAft>
              <a:buAutoNum type="arabicPeriod" startAt="5"/>
              <a:defRPr sz="2500" lang="ja-JP">
                <a:latin typeface="Noto Sans"/>
                <a:ea typeface="Noto Sans CJK JP"/>
                <a:cs typeface="Noto Sans"/>
              </a:defRPr>
            </a:pPr>
            <a:r>
              <a:rPr sz="2500" lang="ja-JP">
                <a:solidFill>
                  <a:srgbClr val="303437"/>
                </a:solidFill>
                <a:latin typeface="Noto Sans"/>
                <a:ea typeface="Noto Sans CJK JP"/>
                <a:cs typeface="Noto Sans"/>
              </a:rPr>
              <a:t>Imagenetteの画像サイズ</a:t>
            </a:r>
          </a:p>
          <a:p>
            <a:pPr marL="533400" indent="-381000">
              <a:lnSpc>
                <a:spcPct val="105000"/>
              </a:lnSpc>
              <a:spcBef>
                <a:spcPts val="0"/>
              </a:spcBef>
              <a:spcAft>
                <a:spcPts val="0"/>
              </a:spcAft>
              <a:buAutoNum type="arabicPeriod" startAt="6"/>
              <a:defRPr sz="2500" lang="ja-JP">
                <a:latin typeface="Noto Sans"/>
                <a:ea typeface="Noto Sans CJK JP"/>
                <a:cs typeface="Noto Sans"/>
              </a:defRPr>
            </a:pPr>
            <a:r>
              <a:rPr sz="2500" lang="ja-JP">
                <a:solidFill>
                  <a:srgbClr val="303437"/>
                </a:solidFill>
                <a:latin typeface="Noto Sans"/>
                <a:ea typeface="Noto Sans CJK JP"/>
                <a:cs typeface="Noto Sans"/>
              </a:rPr>
              <a:t>モデル評価と前処理</a:t>
            </a:r>
          </a:p>
          <a:p>
            <a:pPr marL="533400" indent="-381000">
              <a:lnSpc>
                <a:spcPct val="105000"/>
              </a:lnSpc>
              <a:spcBef>
                <a:spcPts val="0"/>
              </a:spcBef>
              <a:spcAft>
                <a:spcPts val="0"/>
              </a:spcAft>
              <a:buAutoNum type="arabicPeriod" startAt="7"/>
              <a:defRPr sz="2500" lang="ja-JP">
                <a:latin typeface="Noto Sans"/>
                <a:ea typeface="Noto Sans CJK JP"/>
                <a:cs typeface="Noto Sans"/>
              </a:defRPr>
            </a:pPr>
            <a:r>
              <a:rPr sz="2500" lang="ja-JP">
                <a:solidFill>
                  <a:srgbClr val="303437"/>
                </a:solidFill>
                <a:latin typeface="Noto Sans"/>
                <a:ea typeface="Noto Sans CJK JP"/>
                <a:cs typeface="Noto Sans"/>
              </a:rPr>
              <a:t>入手コードと参考文献</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ImageNetを発表した著者と発表先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Appendix: 1 著者と発表先</a:t>
            </a:r>
            <a:endParaRPr sz="1400" lang="ja-JP">
              <a:latin typeface="Noto Sans"/>
              <a:ea typeface="Noto Sans CJK JP"/>
              <a:cs typeface="Noto Sans"/>
            </a:endParaRPr>
          </a:p>
        </p:txBody>
      </p:sp>
      <p:sp>
        <p:nvSpPr>
          <p:cNvPr id="4" name="body"/>
          <p:cNvSpPr txBox="1"/>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57826"/>
              <a:buFont typeface="Noto Sans CJK JP"/>
              <a:buChar char="●"/>
              <a:defRPr sz="2300" b="0" lang="ja-JP">
                <a:latin typeface="Noto Sans"/>
                <a:ea typeface="Noto Sans CJK JP"/>
                <a:cs typeface="Noto Sans"/>
              </a:defRPr>
            </a:pPr>
            <a:r>
              <a:rPr sz="2300" lang="ja-JP">
                <a:solidFill>
                  <a:srgbClr val="303437"/>
                </a:solidFill>
                <a:latin typeface="Noto Sans"/>
                <a:ea typeface="Noto Sans CJK JP"/>
                <a:cs typeface="Noto Sans"/>
              </a:rPr>
              <a:t>原著は2009年のCVPRで発表された [1]。</a:t>
            </a:r>
            <a:endParaRPr sz="2300" lang="ja-JP">
              <a:latin typeface="Noto Sans"/>
              <a:ea typeface="Noto Sans CJK JP"/>
              <a:cs typeface="Noto Sans"/>
            </a:endParaRP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第一著者のJia Dengは、画像認識とImageNet・ILSVRCを研究した。</a:t>
            </a: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最終著者のLi Fei-Feiは、物体認識とCaltech 101を研究した。</a:t>
            </a: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発表当時の所属はPrinceton大学だった。原著は2019年にPAMI Longuet-Higgins Prizeを受賞した [2]。</a:t>
            </a:r>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Deng et al. (2009), CVPR. https://image-net.org/static_files/papers/imagenet_cvpr09.pdf</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[2]</a:t>
            </a:r>
            <a:r>
              <a:rPr sz="850" lang="ja-JP">
                <a:solidFill>
                  <a:srgbClr val="626669"/>
                </a:solidFill>
                <a:latin typeface="Noto Sans"/>
                <a:ea typeface="Noto Sans CJK JP"/>
                <a:cs typeface="Noto Sans"/>
              </a:rPr>
              <a:t> ImageNet About. https://www.image-net.org/about.php</a:t>
            </a:r>
            <a:endParaRPr sz="850" lang="ja-JP">
              <a:latin typeface="Noto Sans"/>
              <a:ea typeface="Noto Sans CJK JP"/>
              <a:cs typeface="Noto Sans"/>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50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哺乳類と鳥類のカテゴリ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カテゴリの見取り図</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哺乳類</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シベリアンハスキー</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グレートデーン</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ペルシャネコ</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エジプシャンマウ</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アフリカゾウ</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ガゼル</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シマウマ</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ジャイアントパンダ</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ミーアキャット</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アシカ</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鳥類</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ダチョウ</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ゴシキヒワ</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メキシコマシコ</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ユキヒメドリ</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コマツグミ</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カササギ</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ハクトウワシ</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ハゲワシ</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クジャク</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フラミンゴ</a:t>
            </a:r>
            <a:endParaRPr sz="1650" lang="ja-JP">
              <a:latin typeface="Noto Sans"/>
              <a:ea typeface="Noto Sans CJK JP"/>
              <a:cs typeface="Noto Sans"/>
            </a:endParaRPr>
          </a:p>
        </p:txBody>
      </p:sp>
      <p:sp>
        <p:nvSpPr>
          <p:cNvPr id="46" name="lookup-sources"/>
          <p:cNvSpPr txBox="1"/>
          <p:nvPr/>
        </p:nvSpPr>
        <p:spPr>
          <a:xfrm>
            <a:off x="502920" y="4876495"/>
            <a:ext cx="8183879" cy="207568"/>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 ILSVRC 2012公式devkit. https://image-net.org/challenges/LSVRC/2012/ 日本語名は英語ラベルの訳。</a:t>
            </a:r>
            <a:endParaRPr sz="850" lang="ja-JP">
              <a:latin typeface="Noto Sans"/>
              <a:ea typeface="Noto Sans CJK JP"/>
              <a:cs typeface="Noto Sans"/>
            </a:endParaRP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500"/>
              </a:spcAft>
              <a:buNone/>
              <a:defRPr sz="2800" lang="ja-JP">
                <a:latin typeface="Noto Sans"/>
                <a:ea typeface="Noto Sans CJK JP"/>
                <a:cs typeface="Noto Sans"/>
              </a:defRPr>
            </a:pPr>
            <a:r>
              <a:rPr sz="2787" lang="ja-JP" b="1">
                <a:solidFill>
                  <a:srgbClr val="303437"/>
                </a:solidFill>
                <a:latin typeface="Noto Sans"/>
                <a:ea typeface="Noto Sans CJK JP"/>
                <a:cs typeface="Noto Sans"/>
              </a:rPr>
              <a:t>爬虫類と両生類と魚類と水生無脊椎動物のカテゴリ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カテゴリの見取り図</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爬虫類と両生類</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アカウミガメ</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オサガメ</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ハコガメ</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イグアナ</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コモドオオトカゲ</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ミシシッピワニ</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ボアコンストリクター</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インドコブラ</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アマガエル</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アホロートル</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魚類と水生無脊椎動物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テンチ</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キンギョ</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ホホジロザメ</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イタチザメ</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シュモクザメ</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アカエイ類</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クラゲ</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イソギンチャク</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ウニ</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ナマコ</a:t>
            </a:r>
            <a:endParaRPr sz="1650" lang="ja-JP">
              <a:latin typeface="Noto Sans"/>
              <a:ea typeface="Noto Sans CJK JP"/>
              <a:cs typeface="Noto Sans"/>
            </a:endParaRPr>
          </a:p>
        </p:txBody>
      </p:sp>
      <p:sp>
        <p:nvSpPr>
          <p:cNvPr id="46" name="lookup-sources"/>
          <p:cNvSpPr txBox="1"/>
          <p:nvPr/>
        </p:nvSpPr>
        <p:spPr>
          <a:xfrm>
            <a:off x="502920" y="4876495"/>
            <a:ext cx="8183879" cy="207568"/>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 ILSVRC 2012公式devkit. https://image-net.org/challenges/LSVRC/2012/ 日本語名は英語ラベルの訳。</a:t>
            </a:r>
            <a:endParaRPr sz="850" lang="ja-JP">
              <a:latin typeface="Noto Sans"/>
              <a:ea typeface="Noto Sans CJK JP"/>
              <a:cs typeface="Noto Sans"/>
            </a:endParaRP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50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昆虫と陸生節足動物と乗り物のカテゴリ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カテゴリの見取り図</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昆虫と陸生節足動物</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テントウムシ</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カブトムシ</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ハチ</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バッタ</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コオロギ</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カマキリ</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セミ</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トンボ</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オオカバマダラ</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サソリ</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乗り物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旅客機</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軍用機</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飛行船</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タンデム自転車</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マウンテンバイク</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スポーツカー</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ミニバン</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スクールバス</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新幹線</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コンテナ船</a:t>
            </a:r>
            <a:endParaRPr sz="1650" lang="ja-JP">
              <a:latin typeface="Noto Sans"/>
              <a:ea typeface="Noto Sans CJK JP"/>
              <a:cs typeface="Noto Sans"/>
            </a:endParaRPr>
          </a:p>
        </p:txBody>
      </p:sp>
      <p:sp>
        <p:nvSpPr>
          <p:cNvPr id="46" name="lookup-sources"/>
          <p:cNvSpPr txBox="1"/>
          <p:nvPr/>
        </p:nvSpPr>
        <p:spPr>
          <a:xfrm>
            <a:off x="502920" y="4876495"/>
            <a:ext cx="8183879" cy="207568"/>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 ILSVRC 2012公式devkit. https://image-net.org/challenges/LSVRC/2012/ 日本語名は英語ラベルの訳。</a:t>
            </a:r>
            <a:endParaRPr sz="850" lang="ja-JP">
              <a:latin typeface="Noto Sans"/>
              <a:ea typeface="Noto Sans CJK JP"/>
              <a:cs typeface="Noto Sans"/>
            </a:endParaRP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50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電子機器と機械と衣類と生活用品のカテゴリ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カテゴリの見取り図</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電子機器と機械</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デスクトップPC</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ノートPC</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キーボード</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マウス</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モニター</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携帯電話</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テレビ</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ラジオ</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カセットプレーヤー</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ミシン</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衣類と生活用品</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着物</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ジーンズ</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カーディガン</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スウェットシャツ</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ランニングシューズ</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リュックサック</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傘</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枕</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マグカップ</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フライパン</a:t>
            </a:r>
            <a:endParaRPr sz="1650" lang="ja-JP">
              <a:latin typeface="Noto Sans"/>
              <a:ea typeface="Noto Sans CJK JP"/>
              <a:cs typeface="Noto Sans"/>
            </a:endParaRPr>
          </a:p>
        </p:txBody>
      </p:sp>
      <p:sp>
        <p:nvSpPr>
          <p:cNvPr id="46" name="lookup-sources"/>
          <p:cNvSpPr txBox="1"/>
          <p:nvPr/>
        </p:nvSpPr>
        <p:spPr>
          <a:xfrm>
            <a:off x="502920" y="4876495"/>
            <a:ext cx="8183879" cy="207568"/>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 ILSVRC 2012公式devkit. https://image-net.org/challenges/LSVRC/2012/ 日本語名は英語ラベルの訳。</a:t>
            </a:r>
            <a:endParaRPr sz="850" lang="ja-JP">
              <a:latin typeface="Noto Sans"/>
              <a:ea typeface="Noto Sans CJK JP"/>
              <a:cs typeface="Noto Sans"/>
            </a:endParaRP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50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建物と構造物と食品と農作物のカテゴリ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カテゴリの見取り図</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建物と構造物</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教会</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モスク</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宮殿</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城</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図書館</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プラネタリウム</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灯台</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吊り橋</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ダム</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温室</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食品と農作物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ピザ</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チーズバーガー</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ホットドッグ</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ブリトー</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ベーグル</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プレッツェル</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アイスクリーム</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ブロッコリー</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キュウリ</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パプリカ</a:t>
            </a:r>
            <a:endParaRPr sz="1650" lang="ja-JP">
              <a:latin typeface="Noto Sans"/>
              <a:ea typeface="Noto Sans CJK JP"/>
              <a:cs typeface="Noto Sans"/>
            </a:endParaRPr>
          </a:p>
        </p:txBody>
      </p:sp>
      <p:sp>
        <p:nvSpPr>
          <p:cNvPr id="46" name="lookup-sources"/>
          <p:cNvSpPr txBox="1"/>
          <p:nvPr/>
        </p:nvSpPr>
        <p:spPr>
          <a:xfrm>
            <a:off x="502920" y="4876495"/>
            <a:ext cx="8183879" cy="207568"/>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 ILSVRC 2012公式devkit. https://image-net.org/challenges/LSVRC/2012/ 日本語名は英語ラベルの訳。</a:t>
            </a:r>
            <a:endParaRPr sz="850" lang="ja-JP">
              <a:latin typeface="Noto Sans"/>
              <a:ea typeface="Noto Sans CJK JP"/>
              <a:cs typeface="Noto Sans"/>
            </a:endParaRP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オオカバマダラの画像例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a:solidFill>
                  <a:srgbClr val="FFFEF8"/>
                </a:solidFill>
                <a:latin typeface="Noto Sans"/>
                <a:ea typeface="Noto Sans CJK JP"/>
                <a:cs typeface="Noto Sans"/>
              </a:rPr>
              <a:t>Appendix: 3 画像の追加例</a:t>
            </a:r>
            <a:endParaRPr sz="1400" lang="ja-JP">
              <a:latin typeface="Noto Sans"/>
              <a:ea typeface="Noto Sans CJK JP"/>
              <a:cs typeface="Noto Sans"/>
            </a:endParaRPr>
          </a:p>
        </p:txBody>
      </p:sp>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200" b="0" lang="ja-JP">
                <a:latin typeface="Noto Sans"/>
                <a:ea typeface="Noto Sans CJK JP"/>
                <a:cs typeface="Noto Sans"/>
              </a:defRPr>
            </a:pPr>
            <a:r>
              <a:rPr sz="2200" lang="ja-JP">
                <a:solidFill>
                  <a:srgbClr val="B13731"/>
                </a:solidFill>
                <a:latin typeface="Noto Sans"/>
                <a:ea typeface="Noto Sans CJK JP"/>
                <a:cs typeface="Noto Sans"/>
              </a:rPr>
              <a:t>正解はオオカバマダラ</a:t>
            </a:r>
            <a:endParaRPr sz="22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900" b="0" lang="ja-JP">
                <a:latin typeface="Noto Sans"/>
                <a:ea typeface="Noto Sans CJK JP"/>
                <a:cs typeface="Noto Sans"/>
              </a:defRPr>
            </a:pPr>
            <a:r>
              <a:rPr sz="1900" lang="ja-JP">
                <a:solidFill>
                  <a:srgbClr val="303437"/>
                </a:solidFill>
                <a:latin typeface="Noto Sans"/>
                <a:ea typeface="Noto Sans CJK JP"/>
                <a:cs typeface="Noto Sans"/>
              </a:rPr>
              <a:t>monarch</a:t>
            </a:r>
            <a:endParaRPr sz="19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花に止まるチョウを分類する。植物も写るが、正解はチョウの種類である。</a:t>
            </a:r>
            <a:endParaRPr sz="2100" lang="ja-JP">
              <a:latin typeface="Noto Sans"/>
              <a:ea typeface="Noto Sans CJK JP"/>
              <a:cs typeface="Noto Sans"/>
            </a:endParaRPr>
          </a:p>
        </p:txBody>
      </p:sp>
      <p:pic>
        <p:nvPicPr>
          <p:cNvPr id="9" name="Picture 8" descr="n02279972_monarch.JPEG"/>
          <p:cNvPicPr>
            <a:picLocks noChangeAspect="1"/>
          </p:cNvPicPr>
          <p:nvPr/>
        </p:nvPicPr>
        <p:blipFill>
          <a:blip r:embed="rId3"/>
          <a:stretch>
            <a:fillRect/>
          </a:stretch>
        </p:blipFill>
        <p:spPr>
          <a:xfrm>
            <a:off x="731520" y="1496141"/>
            <a:ext cx="3474720" cy="2439253"/>
          </a:xfrm>
          <a:prstGeom prst="rect">
            <a:avLst/>
          </a:prstGeom>
        </p:spPr>
      </p:pic>
      <p:sp>
        <p:nvSpPr>
          <p:cNvPr id="10"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850" lang="ja-JP">
                <a:latin typeface="Noto Sans"/>
                <a:ea typeface="Noto Sans CJK JP"/>
                <a:cs typeface="Noto Sans"/>
              </a:defRPr>
            </a:pPr>
            <a:r>
              <a:rPr sz="850" lang="ja-JP">
                <a:solidFill>
                  <a:srgbClr val="303437"/>
                </a:solidFill>
                <a:latin typeface="Noto Sans"/>
                <a:ea typeface="Noto Sans CJK JP"/>
                <a:cs typeface="Noto Sans"/>
              </a:rPr>
              <a:t>[1] ImageNetカテゴリの画像例. https://github.com/EliSchwartz/imagenet-sample-images
画像ID n02279972_monarch.JPEG</a:t>
            </a:r>
            <a:endParaRPr sz="850" lang="ja-JP">
              <a:latin typeface="Noto Sans"/>
              <a:ea typeface="Noto Sans CJK JP"/>
              <a:cs typeface="Noto Sans"/>
            </a:endParaRP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イングリッシュ・スプリンガーの画像例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a:solidFill>
                  <a:srgbClr val="FFFEF8"/>
                </a:solidFill>
                <a:latin typeface="Noto Sans"/>
                <a:ea typeface="Noto Sans CJK JP"/>
                <a:cs typeface="Noto Sans"/>
              </a:rPr>
              <a:t>Appendix: 3 画像の追加例</a:t>
            </a:r>
            <a:endParaRPr sz="1400" lang="ja-JP">
              <a:latin typeface="Noto Sans"/>
              <a:ea typeface="Noto Sans CJK JP"/>
              <a:cs typeface="Noto Sans"/>
            </a:endParaRPr>
          </a:p>
        </p:txBody>
      </p:sp>
      <p:pic>
        <p:nvPicPr>
          <p:cNvPr id="4" name="Picture 3" descr="ILSVRC2012_val_00004650.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正解はスプリンガー犬</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English springer</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犬種を表すクラスである。犬という上位概念より、細かな区別を求める。</a:t>
            </a:r>
            <a:endParaRPr sz="2100" lang="ja-JP">
              <a:latin typeface="Noto Sans"/>
              <a:ea typeface="Noto Sans CJK JP"/>
              <a:cs typeface="Noto Sans"/>
            </a:endParaRPr>
          </a:p>
        </p:txBody>
      </p:sp>
      <p:sp>
        <p:nvSpPr>
          <p:cNvPr id="8"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850" lang="ja-JP">
                <a:latin typeface="Noto Sans"/>
                <a:ea typeface="Noto Sans CJK JP"/>
                <a:cs typeface="Noto Sans"/>
              </a:defRPr>
            </a:pPr>
            <a:r>
              <a:rPr sz="850" lang="ja-JP">
                <a:solidFill>
                  <a:srgbClr val="303437"/>
                </a:solidFill>
                <a:latin typeface="Noto Sans"/>
                <a:ea typeface="Noto Sans CJK JP"/>
                <a:cs typeface="Noto Sans"/>
              </a:rPr>
              <a:t>[1] Imagenette. https://github.com/fastai/imagenette　画像ID ILSVRC2012_val_00004650.JPEG</a:t>
            </a:r>
            <a:endParaRPr sz="850" lang="ja-JP">
              <a:latin typeface="Noto Sans"/>
              <a:ea typeface="Noto Sans CJK JP"/>
              <a:cs typeface="Noto Sans"/>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カセットプレーヤーの画像例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a:solidFill>
                  <a:srgbClr val="FFFEF8"/>
                </a:solidFill>
                <a:latin typeface="Noto Sans"/>
                <a:ea typeface="Noto Sans CJK JP"/>
                <a:cs typeface="Noto Sans"/>
              </a:rPr>
              <a:t>Appendix: 3 画像の追加例</a:t>
            </a:r>
            <a:endParaRPr sz="1400" lang="ja-JP">
              <a:latin typeface="Noto Sans"/>
              <a:ea typeface="Noto Sans CJK JP"/>
              <a:cs typeface="Noto Sans"/>
            </a:endParaRPr>
          </a:p>
        </p:txBody>
      </p:sp>
      <p:pic>
        <p:nvPicPr>
          <p:cNvPr id="4" name="Picture 3" descr="ILSVRC2012_val_00008651.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正解はカセットプレーヤー</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cassette player</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装置の正面だけでなく、周囲の構造も写っている。ラベルはcassette playerである。</a:t>
            </a:r>
            <a:endParaRPr sz="2100" lang="ja-JP">
              <a:latin typeface="Noto Sans"/>
              <a:ea typeface="Noto Sans CJK JP"/>
              <a:cs typeface="Noto Sans"/>
            </a:endParaRPr>
          </a:p>
        </p:txBody>
      </p:sp>
      <p:sp>
        <p:nvSpPr>
          <p:cNvPr id="8"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850" lang="ja-JP">
                <a:latin typeface="Noto Sans"/>
                <a:ea typeface="Noto Sans CJK JP"/>
                <a:cs typeface="Noto Sans"/>
              </a:defRPr>
            </a:pPr>
            <a:r>
              <a:rPr sz="850" lang="ja-JP">
                <a:solidFill>
                  <a:srgbClr val="303437"/>
                </a:solidFill>
                <a:latin typeface="Noto Sans"/>
                <a:ea typeface="Noto Sans CJK JP"/>
                <a:cs typeface="Noto Sans"/>
              </a:rPr>
              <a:t>[1] Imagenette. https://github.com/fastai/imagenette　画像ID ILSVRC2012_val_00008651.JPEG</a:t>
            </a:r>
            <a:endParaRPr sz="850" lang="ja-JP">
              <a:latin typeface="Noto Sans"/>
              <a:ea typeface="Noto Sans CJK JP"/>
              <a:cs typeface="Noto Sans"/>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チェーンソーの画像例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a:solidFill>
                  <a:srgbClr val="FFFEF8"/>
                </a:solidFill>
                <a:latin typeface="Noto Sans"/>
                <a:ea typeface="Noto Sans CJK JP"/>
                <a:cs typeface="Noto Sans"/>
              </a:rPr>
              <a:t>Appendix: 3 画像の追加例</a:t>
            </a:r>
            <a:endParaRPr sz="1400" lang="ja-JP">
              <a:latin typeface="Noto Sans"/>
              <a:ea typeface="Noto Sans CJK JP"/>
              <a:cs typeface="Noto Sans"/>
            </a:endParaRPr>
          </a:p>
        </p:txBody>
      </p:sp>
      <p:pic>
        <p:nvPicPr>
          <p:cNvPr id="4" name="Picture 3" descr="ILSVRC2012_val_00004262.JPEG"/>
          <p:cNvPicPr>
            <a:picLocks noChangeAspect="1"/>
          </p:cNvPicPr>
          <p:nvPr/>
        </p:nvPicPr>
        <p:blipFill>
          <a:blip r:embed="rId2"/>
          <a:stretch>
            <a:fillRect/>
          </a:stretch>
        </p:blipFill>
        <p:spPr>
          <a:xfrm>
            <a:off x="914828" y="1426464"/>
            <a:ext cx="3153822"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正解はチェーンソー</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chain saw</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作業者と樹木が写る画像で、chain sawを正解とする。</a:t>
            </a:r>
            <a:endParaRPr sz="2100" lang="ja-JP">
              <a:latin typeface="Noto Sans"/>
              <a:ea typeface="Noto Sans CJK JP"/>
              <a:cs typeface="Noto Sans"/>
            </a:endParaRPr>
          </a:p>
        </p:txBody>
      </p:sp>
      <p:sp>
        <p:nvSpPr>
          <p:cNvPr id="8"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850" lang="ja-JP">
                <a:latin typeface="Noto Sans"/>
                <a:ea typeface="Noto Sans CJK JP"/>
                <a:cs typeface="Noto Sans"/>
              </a:defRPr>
            </a:pPr>
            <a:r>
              <a:rPr sz="850" lang="ja-JP">
                <a:solidFill>
                  <a:srgbClr val="303437"/>
                </a:solidFill>
                <a:latin typeface="Noto Sans"/>
                <a:ea typeface="Noto Sans CJK JP"/>
                <a:cs typeface="Noto Sans"/>
              </a:rPr>
              <a:t>[1] Imagenette. https://github.com/fastai/imagenette　画像ID ILSVRC2012_val_00004262.JPEG</a:t>
            </a:r>
            <a:endParaRPr sz="850" lang="ja-JP">
              <a:latin typeface="Noto Sans"/>
              <a:ea typeface="Noto Sans CJK JP"/>
              <a:cs typeface="Noto Sans"/>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教会の画像例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a:solidFill>
                  <a:srgbClr val="FFFEF8"/>
                </a:solidFill>
                <a:latin typeface="Noto Sans"/>
                <a:ea typeface="Noto Sans CJK JP"/>
                <a:cs typeface="Noto Sans"/>
              </a:rPr>
              <a:t>Appendix: 3 画像の追加例</a:t>
            </a:r>
            <a:endParaRPr sz="1400" lang="ja-JP">
              <a:latin typeface="Noto Sans"/>
              <a:ea typeface="Noto Sans CJK JP"/>
              <a:cs typeface="Noto Sans"/>
            </a:endParaRPr>
          </a:p>
        </p:txBody>
      </p:sp>
      <p:pic>
        <p:nvPicPr>
          <p:cNvPr id="4" name="Picture 3" descr="ILSVRC2012_val_00003351.JPEG"/>
          <p:cNvPicPr>
            <a:picLocks noChangeAspect="1"/>
          </p:cNvPicPr>
          <p:nvPr/>
        </p:nvPicPr>
        <p:blipFill>
          <a:blip r:embed="rId2"/>
          <a:stretch>
            <a:fillRect/>
          </a:stretch>
        </p:blipFill>
        <p:spPr>
          <a:xfrm>
            <a:off x="1181690" y="1426464"/>
            <a:ext cx="2620098"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正解は教会</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church</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低い照度の画像も含む。写真全体の明るさと、建造物のクラスは別の特徴である。</a:t>
            </a:r>
            <a:endParaRPr sz="2100" lang="ja-JP">
              <a:latin typeface="Noto Sans"/>
              <a:ea typeface="Noto Sans CJK JP"/>
              <a:cs typeface="Noto Sans"/>
            </a:endParaRPr>
          </a:p>
        </p:txBody>
      </p:sp>
      <p:sp>
        <p:nvSpPr>
          <p:cNvPr id="8"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850" lang="ja-JP">
                <a:latin typeface="Noto Sans"/>
                <a:ea typeface="Noto Sans CJK JP"/>
                <a:cs typeface="Noto Sans"/>
              </a:defRPr>
            </a:pPr>
            <a:r>
              <a:rPr sz="850" lang="ja-JP">
                <a:solidFill>
                  <a:srgbClr val="303437"/>
                </a:solidFill>
                <a:latin typeface="Noto Sans"/>
                <a:ea typeface="Noto Sans CJK JP"/>
                <a:cs typeface="Noto Sans"/>
              </a:rPr>
              <a:t>[1] Imagenette. https://github.com/fastai/imagenette　画像ID ILSVRC2012_val_00003351.JPEG</a:t>
            </a:r>
            <a:endParaRPr sz="850" lang="ja-JP">
              <a:latin typeface="Noto Sans"/>
              <a:ea typeface="Noto Sans CJK JP"/>
              <a:cs typeface="Noto Sans"/>
            </a:endParaRP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フレンチホルンの画像例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a:solidFill>
                  <a:srgbClr val="FFFEF8"/>
                </a:solidFill>
                <a:latin typeface="Noto Sans"/>
                <a:ea typeface="Noto Sans CJK JP"/>
                <a:cs typeface="Noto Sans"/>
              </a:rPr>
              <a:t>Appendix: 3 画像の追加例</a:t>
            </a:r>
            <a:endParaRPr sz="1400" lang="ja-JP">
              <a:latin typeface="Noto Sans"/>
              <a:ea typeface="Noto Sans CJK JP"/>
              <a:cs typeface="Noto Sans"/>
            </a:endParaRPr>
          </a:p>
        </p:txBody>
      </p:sp>
      <p:pic>
        <p:nvPicPr>
          <p:cNvPr id="4" name="Picture 3" descr="ILSVRC2012_val_00001492.JPEG"/>
          <p:cNvPicPr>
            <a:picLocks noChangeAspect="1"/>
          </p:cNvPicPr>
          <p:nvPr/>
        </p:nvPicPr>
        <p:blipFill>
          <a:blip r:embed="rId2"/>
          <a:stretch>
            <a:fillRect/>
          </a:stretch>
        </p:blipFill>
        <p:spPr>
          <a:xfrm>
            <a:off x="890568" y="1426464"/>
            <a:ext cx="3202343"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正解はフレンチホルン</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French horn</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楽器の一部分が大きく写る。</a:t>
            </a:r>
            <a:endParaRPr sz="2100" lang="ja-JP">
              <a:latin typeface="Noto Sans"/>
              <a:ea typeface="Noto Sans CJK JP"/>
              <a:cs typeface="Noto Sans"/>
            </a:endParaRPr>
          </a:p>
        </p:txBody>
      </p:sp>
      <p:sp>
        <p:nvSpPr>
          <p:cNvPr id="8"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850" lang="ja-JP">
                <a:latin typeface="Noto Sans"/>
                <a:ea typeface="Noto Sans CJK JP"/>
                <a:cs typeface="Noto Sans"/>
              </a:defRPr>
            </a:pPr>
            <a:r>
              <a:rPr sz="850" lang="ja-JP">
                <a:solidFill>
                  <a:srgbClr val="303437"/>
                </a:solidFill>
                <a:latin typeface="Noto Sans"/>
                <a:ea typeface="Noto Sans CJK JP"/>
                <a:cs typeface="Noto Sans"/>
              </a:rPr>
              <a:t>[1] Imagenette. https://github.com/fastai/imagenette　画像ID ILSVRC2012_val_00001492.JPEG</a:t>
            </a:r>
            <a:endParaRPr sz="850" lang="ja-JP">
              <a:latin typeface="Noto Sans"/>
              <a:ea typeface="Noto Sans CJK JP"/>
              <a:cs typeface="Noto Sans"/>
            </a:endParaRP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ごみ収集車の画像例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a:solidFill>
                  <a:srgbClr val="FFFEF8"/>
                </a:solidFill>
                <a:latin typeface="Noto Sans"/>
                <a:ea typeface="Noto Sans CJK JP"/>
                <a:cs typeface="Noto Sans"/>
              </a:rPr>
              <a:t>Appendix: 3 画像の追加例</a:t>
            </a:r>
            <a:endParaRPr sz="1400" lang="ja-JP">
              <a:latin typeface="Noto Sans"/>
              <a:ea typeface="Noto Sans CJK JP"/>
              <a:cs typeface="Noto Sans"/>
            </a:endParaRPr>
          </a:p>
        </p:txBody>
      </p:sp>
      <p:pic>
        <p:nvPicPr>
          <p:cNvPr id="4" name="Picture 3" descr="ILSVRC2012_val_00002210.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正解はごみ収集車</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garbage truck</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車両と周囲の道路が写る。車両の役割を表す細かなクラス名が付いている。</a:t>
            </a:r>
            <a:endParaRPr sz="2100" lang="ja-JP">
              <a:latin typeface="Noto Sans"/>
              <a:ea typeface="Noto Sans CJK JP"/>
              <a:cs typeface="Noto Sans"/>
            </a:endParaRPr>
          </a:p>
        </p:txBody>
      </p:sp>
      <p:sp>
        <p:nvSpPr>
          <p:cNvPr id="8"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850" lang="ja-JP">
                <a:latin typeface="Noto Sans"/>
                <a:ea typeface="Noto Sans CJK JP"/>
                <a:cs typeface="Noto Sans"/>
              </a:defRPr>
            </a:pPr>
            <a:r>
              <a:rPr sz="850" lang="ja-JP">
                <a:solidFill>
                  <a:srgbClr val="303437"/>
                </a:solidFill>
                <a:latin typeface="Noto Sans"/>
                <a:ea typeface="Noto Sans CJK JP"/>
                <a:cs typeface="Noto Sans"/>
              </a:rPr>
              <a:t>[1] Imagenette. https://github.com/fastai/imagenette　画像ID ILSVRC2012_val_00002210.JPEG</a:t>
            </a:r>
            <a:endParaRPr sz="850" lang="ja-JP">
              <a:latin typeface="Noto Sans"/>
              <a:ea typeface="Noto Sans CJK JP"/>
              <a:cs typeface="Noto Sans"/>
            </a:endParaRP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ガソリンポンプの画像例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a:solidFill>
                  <a:srgbClr val="FFFEF8"/>
                </a:solidFill>
                <a:latin typeface="Noto Sans"/>
                <a:ea typeface="Noto Sans CJK JP"/>
                <a:cs typeface="Noto Sans"/>
              </a:rPr>
              <a:t>Appendix: 3 画像の追加例</a:t>
            </a:r>
            <a:endParaRPr sz="1400" lang="ja-JP">
              <a:latin typeface="Noto Sans"/>
              <a:ea typeface="Noto Sans CJK JP"/>
              <a:cs typeface="Noto Sans"/>
            </a:endParaRPr>
          </a:p>
        </p:txBody>
      </p:sp>
      <p:pic>
        <p:nvPicPr>
          <p:cNvPr id="4" name="Picture 3" descr="ILSVRC2012_val_00000732.JPEG"/>
          <p:cNvPicPr>
            <a:picLocks noChangeAspect="1"/>
          </p:cNvPicPr>
          <p:nvPr/>
        </p:nvPicPr>
        <p:blipFill>
          <a:blip r:embed="rId2"/>
          <a:stretch>
            <a:fillRect/>
          </a:stretch>
        </p:blipFill>
        <p:spPr>
          <a:xfrm>
            <a:off x="1519814" y="1426464"/>
            <a:ext cx="1943851"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正解はガソリンポンプ</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gas pump</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入力には縦長の写真も含まれる。</a:t>
            </a:r>
            <a:endParaRPr sz="2100" lang="ja-JP">
              <a:latin typeface="Noto Sans"/>
              <a:ea typeface="Noto Sans CJK JP"/>
              <a:cs typeface="Noto Sans"/>
            </a:endParaRPr>
          </a:p>
        </p:txBody>
      </p:sp>
      <p:sp>
        <p:nvSpPr>
          <p:cNvPr id="8"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850" lang="ja-JP">
                <a:latin typeface="Noto Sans"/>
                <a:ea typeface="Noto Sans CJK JP"/>
                <a:cs typeface="Noto Sans"/>
              </a:defRPr>
            </a:pPr>
            <a:r>
              <a:rPr sz="850" lang="ja-JP">
                <a:solidFill>
                  <a:srgbClr val="303437"/>
                </a:solidFill>
                <a:latin typeface="Noto Sans"/>
                <a:ea typeface="Noto Sans CJK JP"/>
                <a:cs typeface="Noto Sans"/>
              </a:rPr>
              <a:t>[1] Imagenette. https://github.com/fastai/imagenette　画像ID ILSVRC2012_val_00000732.JPEG</a:t>
            </a:r>
            <a:endParaRPr sz="850" lang="ja-JP">
              <a:latin typeface="Noto Sans"/>
              <a:ea typeface="Noto Sans CJK JP"/>
              <a:cs typeface="Noto Sans"/>
            </a:endParaRP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プラネタリウムの画像例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a:solidFill>
                  <a:srgbClr val="FFFEF8"/>
                </a:solidFill>
                <a:latin typeface="Noto Sans"/>
                <a:ea typeface="Noto Sans CJK JP"/>
                <a:cs typeface="Noto Sans"/>
              </a:rPr>
              <a:t>Appendix: 3 画像の追加例</a:t>
            </a:r>
            <a:endParaRPr sz="1400" lang="ja-JP">
              <a:latin typeface="Noto Sans"/>
              <a:ea typeface="Noto Sans CJK JP"/>
              <a:cs typeface="Noto Sans"/>
            </a:endParaRPr>
          </a:p>
        </p:txBody>
      </p:sp>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200" b="0" lang="ja-JP">
                <a:latin typeface="Noto Sans"/>
                <a:ea typeface="Noto Sans CJK JP"/>
                <a:cs typeface="Noto Sans"/>
              </a:defRPr>
            </a:pPr>
            <a:r>
              <a:rPr sz="2200" lang="ja-JP">
                <a:solidFill>
                  <a:srgbClr val="B13731"/>
                </a:solidFill>
                <a:latin typeface="Noto Sans"/>
                <a:ea typeface="Noto Sans CJK JP"/>
                <a:cs typeface="Noto Sans"/>
              </a:rPr>
              <a:t>正解はプラネタリウム</a:t>
            </a:r>
            <a:endParaRPr sz="22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900" b="0" lang="ja-JP">
                <a:latin typeface="Noto Sans"/>
                <a:ea typeface="Noto Sans CJK JP"/>
                <a:cs typeface="Noto Sans"/>
              </a:defRPr>
            </a:pPr>
            <a:r>
              <a:rPr sz="1900" lang="ja-JP">
                <a:solidFill>
                  <a:srgbClr val="303437"/>
                </a:solidFill>
                <a:latin typeface="Noto Sans"/>
                <a:ea typeface="Noto Sans CJK JP"/>
                <a:cs typeface="Noto Sans"/>
              </a:rPr>
              <a:t>planetarium</a:t>
            </a:r>
            <a:endParaRPr sz="19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建物の外観に加えて、室内の投影機が写る画像もこのカテゴリに含まれる。</a:t>
            </a:r>
            <a:endParaRPr sz="2100" lang="ja-JP">
              <a:latin typeface="Noto Sans"/>
              <a:ea typeface="Noto Sans CJK JP"/>
              <a:cs typeface="Noto Sans"/>
            </a:endParaRPr>
          </a:p>
        </p:txBody>
      </p:sp>
      <p:pic>
        <p:nvPicPr>
          <p:cNvPr id="9" name="Picture 8" descr="n03956157_planetarium.JPEG"/>
          <p:cNvPicPr>
            <a:picLocks noChangeAspect="1"/>
          </p:cNvPicPr>
          <p:nvPr/>
        </p:nvPicPr>
        <p:blipFill>
          <a:blip r:embed="rId3"/>
          <a:stretch>
            <a:fillRect/>
          </a:stretch>
        </p:blipFill>
        <p:spPr>
          <a:xfrm>
            <a:off x="749808" y="1426464"/>
            <a:ext cx="3438144" cy="2578608"/>
          </a:xfrm>
          <a:prstGeom prst="rect">
            <a:avLst/>
          </a:prstGeom>
        </p:spPr>
      </p:pic>
      <p:sp>
        <p:nvSpPr>
          <p:cNvPr id="10"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850" lang="ja-JP">
                <a:latin typeface="Noto Sans"/>
                <a:ea typeface="Noto Sans CJK JP"/>
                <a:cs typeface="Noto Sans"/>
              </a:defRPr>
            </a:pPr>
            <a:r>
              <a:rPr sz="850" lang="ja-JP">
                <a:solidFill>
                  <a:srgbClr val="303437"/>
                </a:solidFill>
                <a:latin typeface="Noto Sans"/>
                <a:ea typeface="Noto Sans CJK JP"/>
                <a:cs typeface="Noto Sans"/>
              </a:rPr>
              <a:t>[1] ImageNetカテゴリの画像例. https://github.com/EliSchwartz/imagenet-sample-images
画像ID n03956157_planetarium.JPEG</a:t>
            </a:r>
            <a:endParaRPr sz="850" lang="ja-JP">
              <a:latin typeface="Noto Sans"/>
              <a:ea typeface="Noto Sans CJK JP"/>
              <a:cs typeface="Noto Sans"/>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パラシュートの画像例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a:solidFill>
                  <a:srgbClr val="FFFEF8"/>
                </a:solidFill>
                <a:latin typeface="Noto Sans"/>
                <a:ea typeface="Noto Sans CJK JP"/>
                <a:cs typeface="Noto Sans"/>
              </a:rPr>
              <a:t>Appendix: 3 画像の追加例</a:t>
            </a:r>
            <a:endParaRPr sz="1400" lang="ja-JP">
              <a:latin typeface="Noto Sans"/>
              <a:ea typeface="Noto Sans CJK JP"/>
              <a:cs typeface="Noto Sans"/>
            </a:endParaRPr>
          </a:p>
        </p:txBody>
      </p:sp>
      <p:pic>
        <p:nvPicPr>
          <p:cNvPr id="4" name="Picture 3" descr="ILSVRC2012_val_00001440.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正解はパラシュート</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parachute</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人も写るが、クラスはparachuteである。</a:t>
            </a:r>
            <a:endParaRPr sz="2100" lang="ja-JP">
              <a:latin typeface="Noto Sans"/>
              <a:ea typeface="Noto Sans CJK JP"/>
              <a:cs typeface="Noto Sans"/>
            </a:endParaRPr>
          </a:p>
        </p:txBody>
      </p:sp>
      <p:sp>
        <p:nvSpPr>
          <p:cNvPr id="8"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850" lang="ja-JP">
                <a:latin typeface="Noto Sans"/>
                <a:ea typeface="Noto Sans CJK JP"/>
                <a:cs typeface="Noto Sans"/>
              </a:defRPr>
            </a:pPr>
            <a:r>
              <a:rPr sz="850" lang="ja-JP">
                <a:solidFill>
                  <a:srgbClr val="303437"/>
                </a:solidFill>
                <a:latin typeface="Noto Sans"/>
                <a:ea typeface="Noto Sans CJK JP"/>
                <a:cs typeface="Noto Sans"/>
              </a:rPr>
              <a:t>[1] Imagenette. https://github.com/fastai/imagenette　画像ID ILSVRC2012_val_00001440.JPEG</a:t>
            </a:r>
            <a:endParaRPr sz="850" lang="ja-JP">
              <a:latin typeface="Noto Sans"/>
              <a:ea typeface="Noto Sans CJK JP"/>
              <a:cs typeface="Noto Sans"/>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1,000クラスの学習画像数を集計した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4 ImageNet-1kの学習画像数</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1005840"/>
        </p:xfrm>
        <a:graphic>
          <a:graphicData uri="http://schemas.openxmlformats.org/drawingml/2006/table">
            <a:tbl>
              <a:tblPr firstRow="1" bandRow="1">
                <a:tableStyleId>{5C22544A-7EE6-4342-B048-85BDC9FD1C3A}</a:tableStyleId>
              </a:tblPr>
              <a:tblGrid>
                <a:gridCol w="1828800"/>
                <a:gridCol w="1417320"/>
                <a:gridCol w="1051560"/>
                <a:gridCol w="1371600"/>
                <a:gridCol w="1097280"/>
                <a:gridCol w="128016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対象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平均</a:t>
                      </a:r>
                      <a:endParaRPr sz="22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SD</a:t>
                      </a:r>
                      <a:endParaRPr sz="22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中央値</a:t>
                      </a:r>
                      <a:endParaRPr sz="22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最小</a:t>
                      </a:r>
                      <a:endParaRPr sz="22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最大</a:t>
                      </a:r>
                      <a:endParaRPr sz="22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1,000クラス</a:t>
                      </a:r>
                      <a:endParaRPr sz="22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1,281.2</a:t>
                      </a:r>
                      <a:endParaRPr sz="22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70.2</a:t>
                      </a:r>
                      <a:endParaRPr sz="22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1,300</a:t>
                      </a:r>
                      <a:endParaRPr sz="22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732</a:t>
                      </a:r>
                      <a:endParaRPr sz="22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1,300</a:t>
                      </a:r>
                      <a:endParaRPr sz="22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r>
            </a:tbl>
          </a:graphicData>
        </a:graphic>
      </p:graphicFrame>
      <p:sp>
        <p:nvSpPr>
          <p:cNvPr id="5" name="table-caption"/>
          <p:cNvSpPr txBox="1"/>
          <p:nvPr/>
        </p:nvSpPr>
        <p:spPr>
          <a:xfrm>
            <a:off x="594360" y="2626360"/>
            <a:ext cx="7955279" cy="2000503"/>
          </a:xfrm>
          <a:prstGeom prst="rect">
            <a:avLst/>
          </a:prstGeom>
          <a:noFill/>
        </p:spPr>
        <p:txBody>
          <a:bodyPr wrap="none" lIns="0" rIns="0" tIns="0" bIns="0" anchor="t">
            <a:spAutoFit/>
          </a:bodyPr>
          <a:lstStyle/>
          <a:p>
            <a:pPr algn="l">
              <a:lnSpc>
                <a:spcPct val="110000"/>
              </a:lnSpc>
              <a:spcBef>
                <a:spcPts val="0"/>
              </a:spcBef>
              <a:spcAft>
                <a:spcPts val="300"/>
              </a:spcAft>
              <a:defRPr sz="1600" b="0" lang="ja-JP">
                <a:latin typeface="Noto Sans"/>
                <a:ea typeface="Noto Sans CJK JP"/>
                <a:cs typeface="Noto Sans"/>
              </a:defRPr>
            </a:pPr>
            <a:r>
              <a:rPr sz="1900" b="0" lang="ja-JP">
                <a:solidFill>
                  <a:srgbClr val="303437"/>
                </a:solidFill>
                <a:latin typeface="Noto Sans"/>
                <a:ea typeface="Noto Sans CJK JP"/>
                <a:cs typeface="Noto Sans"/>
              </a:rPr>
              <a:t>単位はクラス当たりの画像枚数。SDは母標準偏差。</a:t>
            </a:r>
            <a:endParaRPr sz="1600" lang="ja-JP">
              <a:latin typeface="Noto Sans"/>
              <a:ea typeface="Noto Sans CJK JP"/>
              <a:cs typeface="Noto Sans"/>
            </a:endParaRPr>
          </a:p>
          <a:p>
            <a:pPr algn="l">
              <a:lnSpc>
                <a:spcPct val="110000"/>
              </a:lnSpc>
              <a:spcBef>
                <a:spcPts val="0"/>
              </a:spcBef>
              <a:spcAft>
                <a:spcPts val="300"/>
              </a:spcAft>
              <a:defRPr sz="1600" b="0" lang="ja-JP">
                <a:latin typeface="Noto Sans"/>
                <a:ea typeface="Noto Sans CJK JP"/>
                <a:cs typeface="Noto Sans"/>
              </a:defRPr>
            </a:pPr>
            <a:r>
              <a:rPr sz="1900" b="0" lang="ja-JP">
                <a:solidFill>
                  <a:srgbClr val="303437"/>
                </a:solidFill>
                <a:latin typeface="Noto Sans"/>
                <a:ea typeface="Noto Sans CJK JP"/>
                <a:cs typeface="Noto Sans"/>
              </a:rPr>
              <a:t>公式devkitのmeta.matで各クラスを1回ずつ数えた。</a:t>
            </a:r>
            <a:endParaRPr sz="1600" lang="ja-JP">
              <a:latin typeface="Noto Sans"/>
              <a:ea typeface="Noto Sans CJK JP"/>
              <a:cs typeface="Noto Sans"/>
            </a:endParaRPr>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ILSVRC 2012公式devkit. https://image-net.org/challenges/LSVRC/2012/</a:t>
            </a:r>
            <a:endParaRPr sz="850" lang="ja-JP">
              <a:latin typeface="Noto Sans"/>
              <a:ea typeface="Noto Sans CJK JP"/>
              <a:cs typeface="Noto Sans"/>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chor="t"/>
          <a:lstStyle/>
          <a:p>
            <a:pPr algn="l" marL="0" indent="0">
              <a:lnSpc>
                <a:spcPct val="110000"/>
              </a:lnSpc>
              <a:spcBef>
                <a:spcPts val="0"/>
              </a:spcBef>
              <a:spcAft>
                <a:spcPts val="70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学習画像数が最少のカテゴリは732枚</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4 ImageNet-1kの学習画像数</a:t>
            </a:r>
            <a:endParaRPr sz="1400" lang="ja-JP">
              <a:latin typeface="Noto Sans"/>
              <a:ea typeface="Noto Sans CJK JP"/>
              <a:cs typeface="Noto Sans"/>
            </a:endParaRPr>
          </a:p>
        </p:txBody>
      </p:sp>
      <p:pic>
        <p:nvPicPr>
          <p:cNvPr id="4" name="Picture 3" descr="image.jpg"/>
          <p:cNvPicPr>
            <a:picLocks noChangeAspect="1"/>
          </p:cNvPicPr>
          <p:nvPr/>
        </p:nvPicPr>
        <p:blipFill>
          <a:blip r:embed="rId2"/>
          <a:stretch>
            <a:fillRect/>
          </a:stretch>
        </p:blipFill>
        <p:spPr>
          <a:xfrm>
            <a:off x="1339327" y="1417320"/>
            <a:ext cx="2624865" cy="2788920"/>
          </a:xfrm>
          <a:prstGeom prst="rect">
            <a:avLst/>
          </a:prstGeom>
        </p:spPr>
      </p:pic>
      <p:sp>
        <p:nvSpPr>
          <p:cNvPr id="5" name="TextBox 4"/>
          <p:cNvSpPr txBox="1"/>
          <p:nvPr/>
        </p:nvSpPr>
        <p:spPr>
          <a:xfrm>
            <a:off x="4892040" y="1691640"/>
            <a:ext cx="3657600" cy="777240"/>
          </a:xfrm>
          <a:prstGeom prst="rect">
            <a:avLst/>
          </a:prstGeom>
          <a:noFill/>
        </p:spPr>
        <p:txBody>
          <a:bodyPr wrap="square" lIns="0" rIns="0" tIns="0" bIns="0">
            <a:spAutoFit/>
          </a:bodyPr>
          <a:lstStyle/>
          <a:p>
            <a:pPr marL="0" indent="0">
              <a:lnSpc>
                <a:spcPct val="110000"/>
              </a:lnSpc>
              <a:spcBef>
                <a:spcPts val="0"/>
              </a:spcBef>
              <a:spcAft>
                <a:spcPts val="700"/>
              </a:spcAft>
              <a:buNone/>
              <a:defRPr sz="2600" lang="ja-JP">
                <a:latin typeface="Noto Sans"/>
                <a:ea typeface="Noto Sans CJK JP"/>
                <a:cs typeface="Noto Sans"/>
              </a:defRPr>
            </a:pPr>
            <a:r>
              <a:rPr sz="2600" lang="ja-JP">
                <a:solidFill>
                  <a:srgbClr val="303437"/>
                </a:solidFill>
                <a:latin typeface="Noto Sans"/>
                <a:ea typeface="Noto Sans CJK JP"/>
                <a:cs typeface="Noto Sans"/>
              </a:rPr>
              <a:t>ブラック・アンド・タン・クーンハウンド</a:t>
            </a:r>
          </a:p>
        </p:txBody>
      </p:sp>
      <p:sp>
        <p:nvSpPr>
          <p:cNvPr id="6" name="TextBox 5"/>
          <p:cNvSpPr txBox="1"/>
          <p:nvPr/>
        </p:nvSpPr>
        <p:spPr>
          <a:xfrm>
            <a:off x="4892040" y="2697480"/>
            <a:ext cx="3657600" cy="1188720"/>
          </a:xfrm>
          <a:prstGeom prst="rect">
            <a:avLst/>
          </a:prstGeom>
          <a:noFill/>
        </p:spPr>
        <p:txBody>
          <a:bodyPr wrap="square" lIns="0" rIns="0" tIns="0" bIns="0">
            <a:spAutoFit/>
          </a:bodyPr>
          <a:lstStyle/>
          <a:p>
            <a:pPr marL="0" indent="0">
              <a:lnSpc>
                <a:spcPct val="110000"/>
              </a:lnSpc>
              <a:spcBef>
                <a:spcPts val="0"/>
              </a:spcBef>
              <a:spcAft>
                <a:spcPts val="700"/>
              </a:spcAft>
              <a:buNone/>
              <a:defRPr sz="2300" lang="ja-JP">
                <a:latin typeface="Noto Sans"/>
                <a:ea typeface="Noto Sans CJK JP"/>
                <a:cs typeface="Noto Sans"/>
              </a:defRPr>
            </a:pPr>
            <a:r>
              <a:rPr sz="2300" lang="ja-JP">
                <a:solidFill>
                  <a:srgbClr val="303437"/>
                </a:solidFill>
                <a:latin typeface="Noto Sans"/>
                <a:ea typeface="Noto Sans CJK JP"/>
                <a:cs typeface="Noto Sans"/>
              </a:rPr>
              <a:t>black-and-tan coonhound
学習画像は732枚 [1]。</a:t>
            </a:r>
          </a:p>
        </p:txBody>
      </p:sp>
      <p:sp>
        <p:nvSpPr>
          <p:cNvPr id="7" name="lookup-sources"/>
          <p:cNvSpPr txBox="1"/>
          <p:nvPr/>
        </p:nvSpPr>
        <p:spPr>
          <a:xfrm>
            <a:off x="502920" y="4773168"/>
            <a:ext cx="8183879" cy="310896"/>
          </a:xfrm>
          <a:prstGeom prst="rect">
            <a:avLst/>
          </a:prstGeom>
          <a:noFill/>
        </p:spPr>
        <p:txBody>
          <a:bodyPr wrap="square" lIns="0" rIns="0" tIns="0" bIns="0">
            <a:spAutoFit/>
          </a:bodyPr>
          <a:lstStyle/>
          <a:p>
            <a:pPr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 ILSVRC 2012公式devkit. https://image-net.org/challenges/LSVRC/2012/
[2] カテゴリの画像例. https://github.com/EliSchwartz/imagenet-sample-images　n02089078_black-and-tan_coonhound.JPEG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0" rIns="0" tIns="0" bIns="0"/>
          <a:lstStyle/>
          <a:p>
            <a:pPr marL="0" indent="0">
              <a:lnSpc>
                <a:spcPct val="110000"/>
              </a:lnSpc>
              <a:spcBef>
                <a:spcPts val="0"/>
              </a:spcBef>
              <a:spcAft>
                <a:spcPts val="70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1,300枚あるカテゴリの例はキットギツネ</a:t>
            </a:r>
          </a:p>
        </p:txBody>
      </p:sp>
      <p:sp>
        <p:nvSpPr>
          <p:cNvPr id="3" name="Title 2"/>
          <p:cNvSpPr>
            <a:spLocks noGrp="1"/>
          </p:cNvSpPr>
          <p:nvPr>
            <p:ph type="title" idx="2"/>
          </p:nvPr>
        </p:nvSpPr>
        <p:spPr/>
        <p:txBody>
          <a:bodyPr wrap="square" lIns="0" rIns="0" tIns="0" bIns="0" anchor="ctr"/>
          <a:lstStyle/>
          <a:p>
            <a:pPr marL="0" indent="0">
              <a:lnSpc>
                <a:spcPct val="11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Appendix: 4 ImageNet-1kの学習画像数</a:t>
            </a:r>
          </a:p>
        </p:txBody>
      </p:sp>
      <p:pic>
        <p:nvPicPr>
          <p:cNvPr id="4" name="Picture 3" descr="image.jpg"/>
          <p:cNvPicPr>
            <a:picLocks noChangeAspect="1"/>
          </p:cNvPicPr>
          <p:nvPr/>
        </p:nvPicPr>
        <p:blipFill>
          <a:blip r:embed="rId2"/>
          <a:stretch>
            <a:fillRect/>
          </a:stretch>
        </p:blipFill>
        <p:spPr>
          <a:xfrm>
            <a:off x="1605915" y="1417320"/>
            <a:ext cx="2091689" cy="2788920"/>
          </a:xfrm>
          <a:prstGeom prst="rect">
            <a:avLst/>
          </a:prstGeom>
        </p:spPr>
      </p:pic>
      <p:sp>
        <p:nvSpPr>
          <p:cNvPr id="5" name="TextBox 4"/>
          <p:cNvSpPr txBox="1"/>
          <p:nvPr/>
        </p:nvSpPr>
        <p:spPr>
          <a:xfrm>
            <a:off x="4892040" y="1691640"/>
            <a:ext cx="3657600" cy="777240"/>
          </a:xfrm>
          <a:prstGeom prst="rect">
            <a:avLst/>
          </a:prstGeom>
          <a:noFill/>
        </p:spPr>
        <p:txBody>
          <a:bodyPr wrap="square" lIns="0" rIns="0" tIns="0" bIns="0">
            <a:spAutoFit/>
          </a:bodyPr>
          <a:lstStyle/>
          <a:p>
            <a:pPr marL="0" indent="0">
              <a:lnSpc>
                <a:spcPct val="110000"/>
              </a:lnSpc>
              <a:spcBef>
                <a:spcPts val="0"/>
              </a:spcBef>
              <a:spcAft>
                <a:spcPts val="700"/>
              </a:spcAft>
              <a:buNone/>
              <a:defRPr sz="2600" lang="ja-JP">
                <a:latin typeface="Noto Sans"/>
                <a:ea typeface="Noto Sans CJK JP"/>
                <a:cs typeface="Noto Sans"/>
              </a:defRPr>
            </a:pPr>
            <a:r>
              <a:rPr sz="2600" lang="ja-JP">
                <a:solidFill>
                  <a:srgbClr val="303437"/>
                </a:solidFill>
                <a:latin typeface="Noto Sans"/>
                <a:ea typeface="Noto Sans CJK JP"/>
                <a:cs typeface="Noto Sans"/>
              </a:rPr>
              <a:t>キットギツネ</a:t>
            </a:r>
          </a:p>
        </p:txBody>
      </p:sp>
      <p:sp>
        <p:nvSpPr>
          <p:cNvPr id="6" name="TextBox 5"/>
          <p:cNvSpPr txBox="1"/>
          <p:nvPr/>
        </p:nvSpPr>
        <p:spPr>
          <a:xfrm>
            <a:off x="4892040" y="2697480"/>
            <a:ext cx="3657600" cy="1188720"/>
          </a:xfrm>
          <a:prstGeom prst="rect">
            <a:avLst/>
          </a:prstGeom>
          <a:noFill/>
        </p:spPr>
        <p:txBody>
          <a:bodyPr wrap="square" lIns="0" rIns="0" tIns="0" bIns="0">
            <a:spAutoFit/>
          </a:bodyPr>
          <a:lstStyle/>
          <a:p>
            <a:pPr marL="0" indent="0">
              <a:lnSpc>
                <a:spcPct val="110000"/>
              </a:lnSpc>
              <a:spcBef>
                <a:spcPts val="0"/>
              </a:spcBef>
              <a:spcAft>
                <a:spcPts val="700"/>
              </a:spcAft>
              <a:buNone/>
              <a:defRPr sz="2300" lang="ja-JP">
                <a:latin typeface="Noto Sans"/>
                <a:ea typeface="Noto Sans CJK JP"/>
                <a:cs typeface="Noto Sans"/>
              </a:defRPr>
            </a:pPr>
            <a:r>
              <a:rPr sz="2300" lang="ja-JP">
                <a:solidFill>
                  <a:srgbClr val="303437"/>
                </a:solidFill>
                <a:latin typeface="Noto Sans"/>
                <a:ea typeface="Noto Sans CJK JP"/>
                <a:cs typeface="Noto Sans"/>
              </a:rPr>
              <a:t>kit fox
学習画像は1,300枚 [1]。</a:t>
            </a:r>
          </a:p>
        </p:txBody>
      </p:sp>
      <p:sp>
        <p:nvSpPr>
          <p:cNvPr id="7" name="lookup-sources"/>
          <p:cNvSpPr txBox="1"/>
          <p:nvPr/>
        </p:nvSpPr>
        <p:spPr>
          <a:xfrm>
            <a:off x="502920" y="4773168"/>
            <a:ext cx="8183879" cy="310896"/>
          </a:xfrm>
          <a:prstGeom prst="rect">
            <a:avLst/>
          </a:prstGeom>
          <a:noFill/>
        </p:spPr>
        <p:txBody>
          <a:bodyPr wrap="square" lIns="0" rIns="0" tIns="0" bIns="0">
            <a:spAutoFit/>
          </a:bodyPr>
          <a:lstStyle/>
          <a:p>
            <a:pPr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 ILSVRC 2012公式devkit. https://image-net.org/challenges/LSVRC/2012/
[2] カテゴリの画像例. https://github.com/EliSchwartz/imagenet-sample-images　n02119789_kit_fox.JPEG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chor="t"/>
          <a:lstStyle/>
          <a:p>
            <a:pPr algn="l" marL="0" indent="0">
              <a:lnSpc>
                <a:spcPct val="110000"/>
              </a:lnSpc>
              <a:spcBef>
                <a:spcPts val="0"/>
              </a:spcBef>
              <a:spcAft>
                <a:spcPts val="70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画像サイズは小規模なImagenetteで調べる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Imagenetteの画像サイズ</a:t>
            </a:r>
            <a:endParaRPr sz="1400" lang="ja-JP">
              <a:latin typeface="Noto Sans"/>
              <a:ea typeface="Noto Sans CJK JP"/>
              <a:cs typeface="Noto Sans"/>
            </a:endParaRPr>
          </a:p>
        </p:txBody>
      </p:sp>
      <p:sp>
        <p:nvSpPr>
          <p:cNvPr id="4" name="body"/>
          <p:cNvSpPr txBox="1"/>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55417"/>
              <a:buFont typeface="Noto Sans CJK JP"/>
              <a:buChar char="●"/>
              <a:defRPr sz="2400" b="0" lang="ja-JP">
                <a:latin typeface="Noto Sans"/>
                <a:ea typeface="Noto Sans CJK JP"/>
                <a:cs typeface="Noto Sans"/>
              </a:defRPr>
            </a:pPr>
            <a:r>
              <a:rPr sz="2400" lang="ja-JP">
                <a:solidFill>
                  <a:srgbClr val="303437"/>
                </a:solidFill>
                <a:latin typeface="Noto Sans"/>
                <a:ea typeface="Noto Sans CJK JP"/>
                <a:cs typeface="Noto Sans"/>
              </a:rPr>
              <a:t>ImageNet-1kの学習用は約128万枚ある。そこで、画像サイズの実測には10クラス・13,394枚のImagenetteを使う [1, 2]。</a:t>
            </a:r>
            <a:endParaRPr sz="2400" lang="ja-JP">
              <a:latin typeface="Noto Sans"/>
              <a:ea typeface="Noto Sans CJK JP"/>
              <a:cs typeface="Noto Sans"/>
            </a:endParaRPr>
          </a:p>
          <a:p>
            <a:pPr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ここからは、短辺を160 pxにリサイズしたImagenetteの画像を扱う。</a:t>
            </a:r>
          </a:p>
          <a:p>
            <a:pPr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学習用9,469枚、検証用3,925枚。分割はImagenette独自のものである。</a:t>
            </a: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 ILSVRC 2012. https://image-net.org/challenges/LSVRC/2012/
[2] Imagenette. https://github.com/fastai/imagenette</a:t>
            </a:r>
            <a:endParaRPr sz="850" lang="ja-JP">
              <a:latin typeface="Noto Sans"/>
              <a:ea typeface="Noto Sans CJK JP"/>
              <a:cs typeface="Noto Sans"/>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Imagenetteの動物・装置・建造物</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344168"/>
          <a:ext cx="8046720" cy="2743200"/>
        </p:xfrm>
        <a:graphic>
          <a:graphicData uri="http://schemas.openxmlformats.org/drawingml/2006/table">
            <a:tbl>
              <a:tblPr firstRow="1" bandRow="1">
                <a:tableStyleId>{5C22544A-7EE6-4342-B048-85BDC9FD1C3A}</a:tableStyleId>
              </a:tblPr>
              <a:tblGrid>
                <a:gridCol w="3794760"/>
                <a:gridCol w="1417320"/>
                <a:gridCol w="1417320"/>
                <a:gridCol w="141732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クラス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学習用</a:t>
                      </a:r>
                      <a:endParaRPr sz="20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検証用</a:t>
                      </a:r>
                      <a:endParaRPr sz="20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合計</a:t>
                      </a:r>
                      <a:endParaRPr sz="20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テンチ（淡水魚）</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963</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387</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スプリンガー犬</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955</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395</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カセットプレーヤー</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993</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357</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チェーンソー</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858</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1,244</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教会</a:t>
                      </a:r>
                      <a:endParaRPr sz="20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941</a:t>
                      </a:r>
                      <a:endParaRPr sz="20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409</a:t>
                      </a:r>
                      <a:endParaRPr sz="20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r>
            </a:tbl>
          </a:graphicData>
        </a:graphic>
      </p:graphicFrame>
      <p:sp>
        <p:nvSpPr>
          <p:cNvPr id="5" name="table-caption"/>
          <p:cNvSpPr txBox="1"/>
          <p:nvPr/>
        </p:nvSpPr>
        <p:spPr>
          <a:xfrm>
            <a:off x="594360" y="4315968"/>
            <a:ext cx="7955279" cy="349885"/>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Imagenette 160 px版。各画像のフォルダ名でクラスと分割を数えた。</a:t>
            </a:r>
            <a:endParaRPr sz="1600" lang="ja-JP">
              <a:latin typeface="Noto Sans"/>
              <a:ea typeface="Noto Sans CJK JP"/>
              <a:cs typeface="Noto Sans"/>
            </a:endParaRPr>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Imagenette 160 px版. https://github.com/fastai/imagenette</a:t>
            </a:r>
            <a:endParaRPr sz="850" lang="ja-JP">
              <a:latin typeface="Noto Sans"/>
              <a:ea typeface="Noto Sans CJK JP"/>
              <a:cs typeface="Noto Sans"/>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Imagenetteの楽器・車両・道具</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344168"/>
          <a:ext cx="8046720" cy="2743200"/>
        </p:xfrm>
        <a:graphic>
          <a:graphicData uri="http://schemas.openxmlformats.org/drawingml/2006/table">
            <a:tbl>
              <a:tblPr firstRow="1" bandRow="1">
                <a:tableStyleId>{5C22544A-7EE6-4342-B048-85BDC9FD1C3A}</a:tableStyleId>
              </a:tblPr>
              <a:tblGrid>
                <a:gridCol w="3794760"/>
                <a:gridCol w="1417320"/>
                <a:gridCol w="1417320"/>
                <a:gridCol w="141732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クラス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学習用</a:t>
                      </a:r>
                      <a:endParaRPr sz="20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検証用</a:t>
                      </a:r>
                      <a:endParaRPr sz="20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合計</a:t>
                      </a:r>
                      <a:endParaRPr sz="20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フレンチホルン</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394</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ごみ収集車</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ガソリンポンプ</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931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419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ゴルフボール</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パラシュート</a:t>
                      </a:r>
                      <a:endParaRPr sz="20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960</a:t>
                      </a:r>
                      <a:endParaRPr sz="20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390</a:t>
                      </a:r>
                      <a:endParaRPr sz="20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r>
            </a:tbl>
          </a:graphicData>
        </a:graphic>
      </p:graphicFrame>
      <p:sp>
        <p:nvSpPr>
          <p:cNvPr id="5" name="table-caption"/>
          <p:cNvSpPr txBox="1"/>
          <p:nvPr/>
        </p:nvSpPr>
        <p:spPr>
          <a:xfrm>
            <a:off x="594360" y="4315968"/>
            <a:ext cx="7955279" cy="349885"/>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Imagenette 160 px版。各画像のフォルダ名でクラスと分割を数えた。</a:t>
            </a:r>
            <a:endParaRPr sz="1600" lang="ja-JP">
              <a:latin typeface="Noto Sans"/>
              <a:ea typeface="Noto Sans CJK JP"/>
              <a:cs typeface="Noto Sans"/>
            </a:endParaRPr>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Imagenette 160 px版. https://github.com/fastai/imagenette</a:t>
            </a:r>
            <a:endParaRPr sz="850" lang="ja-JP">
              <a:latin typeface="Noto Sans"/>
              <a:ea typeface="Noto Sans CJK JP"/>
              <a:cs typeface="Noto Sans"/>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chor="t"/>
          <a:lstStyle/>
          <a:p>
            <a:pPr algn="l" marL="0" indent="0">
              <a:lnSpc>
                <a:spcPct val="110000"/>
              </a:lnSpc>
              <a:spcBef>
                <a:spcPts val="0"/>
              </a:spcBef>
              <a:spcAft>
                <a:spcPts val="70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Imagenetteの画像には縦横比のばらつきがある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Imagenetteの画像サイズ</a:t>
            </a:r>
            <a:endParaRPr sz="1400" lang="ja-JP">
              <a:latin typeface="Noto Sans"/>
              <a:ea typeface="Noto Sans CJK JP"/>
              <a:cs typeface="Noto Sans"/>
            </a:endParaRPr>
          </a:p>
        </p:txBody>
      </p:sp>
      <p:pic>
        <p:nvPicPr>
          <p:cNvPr id="4" name="Picture 3" descr="imagenette-ratio.png"/>
          <p:cNvPicPr>
            <a:picLocks noChangeAspect="1"/>
          </p:cNvPicPr>
          <p:nvPr/>
        </p:nvPicPr>
        <p:blipFill>
          <a:blip r:embed="rId3"/>
          <a:stretch>
            <a:fillRect/>
          </a:stretch>
        </p:blipFill>
        <p:spPr>
          <a:xfrm>
            <a:off x="548640" y="1371600"/>
            <a:ext cx="8046720" cy="2743200"/>
          </a:xfrm>
          <a:prstGeom prst="rect">
            <a:avLst/>
          </a:prstGeom>
        </p:spPr>
      </p:pic>
      <p:sp>
        <p:nvSpPr>
          <p:cNvPr id="5" name="TextBox 4"/>
          <p:cNvSpPr txBox="1"/>
          <p:nvPr/>
        </p:nvSpPr>
        <p:spPr>
          <a:xfrm>
            <a:off x="594360" y="3991863"/>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全13,394枚。幅 ÷ 高さが1なら正方形、1より大きいと横長になる。</a:t>
            </a:r>
          </a:p>
        </p:txBody>
      </p:sp>
      <p:sp>
        <p:nvSpPr>
          <p:cNvPr id="6" name="lookup-sources"/>
          <p:cNvSpPr txBox="1"/>
          <p:nvPr/>
        </p:nvSpPr>
        <p:spPr>
          <a:xfrm>
            <a:off x="502920" y="4773168"/>
            <a:ext cx="8183879" cy="310896"/>
          </a:xfrm>
          <a:prstGeom prst="rect">
            <a:avLst/>
          </a:prstGeom>
          <a:noFill/>
        </p:spPr>
        <p:txBody>
          <a:bodyPr wrap="square" lIns="0" rIns="0" tIns="0" bIns="0">
            <a:spAutoFit/>
          </a:bodyPr>
          <a:lstStyle/>
          <a:p>
            <a:pPr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 Imagenette. https://github.com/fastai/imagenette
棒1本は縦横比0.5の区間を表す。短辺を160 pxにリサイズした画像を集計した。</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幅・高さ・長辺の記述統計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1371600"/>
                <a:gridCol w="1371600"/>
                <a:gridCol w="1280160"/>
                <a:gridCol w="1371600"/>
                <a:gridCol w="1371600"/>
                <a:gridCol w="1280160"/>
              </a:tblGrid>
              <a:tr h="502920">
                <a:tc>
                  <a:txBody>
                    <a:bodyPr wrap="square" lIns="38100" rIns="38100" tIns="38100" bIns="38100" anchor="ct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測定値</a:t>
                      </a:r>
                      <a:r>
                        <a:rPr sz="2100" lang="ja-JP">
                          <a:solidFill>
                            <a:srgbClr val="303437"/>
                          </a:solidFill>
                          <a:latin typeface="Noto Sans"/>
                          <a:ea typeface="Noto Sans CJK JP"/>
                          <a:cs typeface="Noto Sans"/>
                        </a:rPr>
                        <a:t/>
                      </a:r>
                      <a:endParaRPr sz="21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平均</a:t>
                      </a:r>
                      <a:endParaRPr sz="21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SD</a:t>
                      </a:r>
                      <a:endParaRPr sz="21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中央値</a:t>
                      </a:r>
                      <a:endParaRPr sz="21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95%点</a:t>
                      </a:r>
                      <a:endParaRPr sz="21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最大</a:t>
                      </a:r>
                      <a:endParaRPr sz="21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幅</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204.9</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41.4</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213</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249</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802</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高さ</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175.5</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30.2</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160</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240</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707</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長辺</a:t>
                      </a:r>
                      <a:endParaRPr sz="21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220.4</a:t>
                      </a:r>
                      <a:endParaRPr sz="21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35.1</a:t>
                      </a:r>
                      <a:endParaRPr sz="21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213</a:t>
                      </a:r>
                      <a:endParaRPr sz="21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258</a:t>
                      </a:r>
                      <a:endParaRPr sz="21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802</a:t>
                      </a:r>
                      <a:endParaRPr sz="21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単位はpx。Imagenette 160 px版の全13,394枚 [1]。SDは母標準偏差、95%点は線形補間による95パーセンタイル。</a:t>
            </a:r>
            <a:endParaRPr sz="1600" lang="ja-JP">
              <a:latin typeface="Noto Sans"/>
              <a:ea typeface="Noto Sans CJK JP"/>
              <a:cs typeface="Noto Sans"/>
            </a:endParaRPr>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Imagenette 160 px版. https://github.com/fastai/imagenette</a:t>
            </a:r>
            <a:endParaRPr sz="850" lang="ja-JP">
              <a:latin typeface="Noto Sans"/>
              <a:ea typeface="Noto Sans CJK JP"/>
              <a:cs typeface="Noto Sans"/>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長辺が最大の802 pxとなる画像</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Imagenetteの画像サイズ</a:t>
            </a:r>
            <a:endParaRPr sz="1400" lang="ja-JP">
              <a:latin typeface="Noto Sans"/>
              <a:ea typeface="Noto Sans CJK JP"/>
              <a:cs typeface="Noto Sans"/>
            </a:endParaRPr>
          </a:p>
        </p:txBody>
      </p:sp>
      <p:pic>
        <p:nvPicPr>
          <p:cNvPr id="4" name="Picture 3" descr="n02979186_2993.JPEG"/>
          <p:cNvPicPr>
            <a:picLocks noChangeAspect="1"/>
          </p:cNvPicPr>
          <p:nvPr/>
        </p:nvPicPr>
        <p:blipFill>
          <a:blip r:embed="rId2"/>
          <a:stretch>
            <a:fillRect/>
          </a:stretch>
        </p:blipFill>
        <p:spPr>
          <a:xfrm>
            <a:off x="548640" y="2332689"/>
            <a:ext cx="3886200" cy="775301"/>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正解はカセットプレーヤー</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cassette player</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幅802 px・高さ160 px。縦横比は5.0125。横に細長くてもラベルはcassette playerである。</a:t>
            </a:r>
            <a:endParaRPr sz="2100" lang="ja-JP">
              <a:latin typeface="Noto Sans"/>
              <a:ea typeface="Noto Sans CJK JP"/>
              <a:cs typeface="Noto Sans"/>
            </a:endParaRPr>
          </a:p>
        </p:txBody>
      </p:sp>
      <p:sp>
        <p:nvSpPr>
          <p:cNvPr id="8"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850" lang="ja-JP">
                <a:latin typeface="Noto Sans"/>
                <a:ea typeface="Noto Sans CJK JP"/>
                <a:cs typeface="Noto Sans"/>
              </a:defRPr>
            </a:pPr>
            <a:r>
              <a:rPr sz="850" lang="ja-JP">
                <a:solidFill>
                  <a:srgbClr val="303437"/>
                </a:solidFill>
                <a:latin typeface="Noto Sans"/>
                <a:ea typeface="Noto Sans CJK JP"/>
                <a:cs typeface="Noto Sans"/>
              </a:rPr>
              <a:t>[1] Imagenette. https://github.com/fastai/imagenette　画像ID n02979186_2993.JPEG</a:t>
            </a:r>
            <a:endParaRPr sz="850" lang="ja-JP">
              <a:latin typeface="Noto Sans"/>
              <a:ea typeface="Noto Sans CJK JP"/>
              <a:cs typeface="Noto Sans"/>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高さが最大の707 pxとなる画像</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Imagenetteの画像サイズ</a:t>
            </a:r>
            <a:endParaRPr sz="1400" lang="ja-JP">
              <a:latin typeface="Noto Sans"/>
              <a:ea typeface="Noto Sans CJK JP"/>
              <a:cs typeface="Noto Sans"/>
            </a:endParaRPr>
          </a:p>
        </p:txBody>
      </p:sp>
      <p:pic>
        <p:nvPicPr>
          <p:cNvPr id="4" name="Picture 3" descr="n03425413_13133.JPEG"/>
          <p:cNvPicPr>
            <a:picLocks noChangeAspect="1"/>
          </p:cNvPicPr>
          <p:nvPr/>
        </p:nvPicPr>
        <p:blipFill>
          <a:blip r:embed="rId2"/>
          <a:stretch>
            <a:fillRect/>
          </a:stretch>
        </p:blipFill>
        <p:spPr>
          <a:xfrm>
            <a:off x="2198925" y="1426464"/>
            <a:ext cx="585629"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正解はガソリンポンプ</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gas pump</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幅160 px・高さ707 px。縦横比は0.2263で、全画像中の最小値である。</a:t>
            </a:r>
            <a:endParaRPr sz="2100" lang="ja-JP">
              <a:latin typeface="Noto Sans"/>
              <a:ea typeface="Noto Sans CJK JP"/>
              <a:cs typeface="Noto Sans"/>
            </a:endParaRPr>
          </a:p>
        </p:txBody>
      </p:sp>
      <p:sp>
        <p:nvSpPr>
          <p:cNvPr id="8"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850" lang="ja-JP">
                <a:latin typeface="Noto Sans"/>
                <a:ea typeface="Noto Sans CJK JP"/>
                <a:cs typeface="Noto Sans"/>
              </a:defRPr>
            </a:pPr>
            <a:r>
              <a:rPr sz="850" lang="ja-JP">
                <a:solidFill>
                  <a:srgbClr val="303437"/>
                </a:solidFill>
                <a:latin typeface="Noto Sans"/>
                <a:ea typeface="Noto Sans CJK JP"/>
                <a:cs typeface="Noto Sans"/>
              </a:rPr>
              <a:t>[1] Imagenette. https://github.com/fastai/imagenette　画像ID n03425413_13133.JPEG</a:t>
            </a:r>
            <a:endParaRPr sz="850" lang="ja-JP">
              <a:latin typeface="Noto Sans"/>
              <a:ea typeface="Noto Sans CJK JP"/>
              <a:cs typeface="Noto Sans"/>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順位に応じてTop-1とTop-5が変わる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モデル評価と前処理</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377440"/>
        </p:xfrm>
        <a:graphic>
          <a:graphicData uri="http://schemas.openxmlformats.org/drawingml/2006/table">
            <a:tbl>
              <a:tblPr firstRow="1" bandRow="1">
                <a:tableStyleId>{5C22544A-7EE6-4342-B048-85BDC9FD1C3A}</a:tableStyleId>
              </a:tblPr>
              <a:tblGrid>
                <a:gridCol w="3657600"/>
                <a:gridCol w="2194560"/>
                <a:gridCol w="219456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正解のtenchの順位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Top-1の得点</a:t>
                      </a:r>
                      <a:endParaRPr sz="24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Top-5の得点</a:t>
                      </a:r>
                      <a:endParaRPr sz="24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1位</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2位</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6位</a:t>
                      </a:r>
                      <a:endParaRPr sz="24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r>
            </a:tbl>
          </a:graphicData>
        </a:graphic>
      </p:graphicFrame>
      <p:sp>
        <p:nvSpPr>
          <p:cNvPr id="5" name="table-caption"/>
          <p:cNvSpPr txBox="1"/>
          <p:nvPr/>
        </p:nvSpPr>
        <p:spPr>
          <a:xfrm>
            <a:off x="594360" y="3997960"/>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3枚のTop-1正解率は33.3%、Top-5正解率は66.7%となる。画像ごとの得点を、評価対象の画像全体で平均する。</a:t>
            </a:r>
            <a:endParaRPr sz="1600" lang="ja-JP">
              <a:latin typeface="Noto Sans"/>
              <a:ea typeface="Noto Sans CJK JP"/>
              <a:cs typeface="Noto Sans"/>
            </a:endParaRPr>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ILSVRC 2012, Task 1. https://image-net.org/challenges/LSVRC/2012/</a:t>
            </a:r>
            <a:endParaRPr sz="850" lang="ja-JP">
              <a:latin typeface="Noto Sans"/>
              <a:ea typeface="Noto Sans CJK JP"/>
              <a:cs typeface="Noto Sans"/>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公開済み重みの結果は実装の条件にも依存する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モデル評価と前処理</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3291840"/>
                <a:gridCol w="2377440"/>
                <a:gridCol w="237744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Torchvisionの重み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Top-1正解率</a:t>
                      </a:r>
                      <a:endParaRPr sz="22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Top-5正解率</a:t>
                      </a:r>
                      <a:endParaRPr sz="22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AlexNet V1</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56.522%</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79.066%</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ResNet-50 V1</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76.130%</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92.862%</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ViT-B/16 V1</a:t>
                      </a:r>
                      <a:endParaRPr sz="22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81.072%</a:t>
                      </a:r>
                      <a:endParaRPr sz="22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95.318%</a:t>
                      </a:r>
                      <a:endParaRPr sz="22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いずれもImageNet-1k検証用。学習レシピはモデルごとに異なる。画像のパッチを処理するViTも、同じ分類用データで評価する。</a:t>
            </a:r>
            <a:endParaRPr sz="1600" lang="ja-JP">
              <a:latin typeface="Noto Sans"/>
              <a:ea typeface="Noto Sans CJK JP"/>
              <a:cs typeface="Noto Sans"/>
            </a:endParaRPr>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Torchvision models, weight metadata. https://github.com/pytorch/vision/tree/main/torchvision/models</a:t>
            </a:r>
            <a:endParaRPr sz="850" lang="ja-JP">
              <a:latin typeface="Noto Sans"/>
              <a:ea typeface="Noto Sans CJK JP"/>
              <a:cs typeface="Noto Sans"/>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線形分類器でも評価画像が変わると得点が変わる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モデル評価と前処理</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1828800"/>
        </p:xfrm>
        <a:graphic>
          <a:graphicData uri="http://schemas.openxmlformats.org/drawingml/2006/table">
            <a:tbl>
              <a:tblPr firstRow="1" bandRow="1">
                <a:tableStyleId>{5C22544A-7EE6-4342-B048-85BDC9FD1C3A}</a:tableStyleId>
              </a:tblPr>
              <a:tblGrid>
                <a:gridCol w="2743200"/>
                <a:gridCol w="1737360"/>
                <a:gridCol w="1737360"/>
                <a:gridCol w="182880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特徴モデル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元の検証用</a:t>
                      </a:r>
                      <a:endParaRPr sz="20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ImageNetV2</a:t>
                      </a:r>
                      <a:endParaRPr sz="20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ImageNet-R</a:t>
                      </a:r>
                      <a:endParaRPr sz="2000" lang="ja-JP">
                        <a:latin typeface="Noto Sans"/>
                        <a:ea typeface="Noto Sans CJK JP"/>
                        <a:cs typeface="Noto Sans"/>
                      </a:endParaRPr>
                    </a:p>
                  </a:txBody>
                  <a:tcPr marL="76200" marR="76200">
                    <a:lnL w="0">
                      <a:noFill/>
                    </a:lnL>
                    <a:lnR w="0">
                      <a:noFill/>
                    </a:lnR>
                    <a:lnT w="10160">
                      <a:solidFill>
                        <a:srgbClr val="626669"/>
                      </a:solidFill>
                    </a:lnT>
                    <a:lnB w="10160">
                      <a:solidFill>
                        <a:srgbClr val="626669"/>
                      </a:solid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DINOv3 7B/16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88.4%</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81.4%</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91.1%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SigLIP 2 g/16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89.1%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92.2%</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PEcore G/14</a:t>
                      </a:r>
                      <a:endParaRPr sz="20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89.3%</a:t>
                      </a:r>
                      <a:endParaRPr sz="20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81.6%</a:t>
                      </a:r>
                      <a:endParaRPr sz="20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92.2%</a:t>
                      </a:r>
                      <a:endParaRPr sz="2000" lang="ja-JP">
                        <a:latin typeface="Noto Sans"/>
                        <a:ea typeface="Noto Sans CJK JP"/>
                        <a:cs typeface="Noto Sans"/>
                      </a:endParaRPr>
                    </a:p>
                  </a:txBody>
                  <a:tcPr marL="76200" marR="76200">
                    <a:lnL w="0">
                      <a:noFill/>
                    </a:lnL>
                    <a:lnR w="0">
                      <a:noFill/>
                    </a:lnR>
                    <a:lnT w="0">
                      <a:noFill/>
                    </a:lnT>
                    <a:lnB w="10160">
                      <a:solidFill>
                        <a:srgbClr val="626669"/>
                      </a:solidFill>
                    </a:lnB>
                    <a:solidFill>
                      <a:srgbClr val="FFFEF8"/>
                    </a:solidFill>
                  </a:tcPr>
                </a:tc>
              </a:tr>
            </a:tbl>
          </a:graphicData>
        </a:graphic>
      </p:graphicFrame>
      <p:sp>
        <p:nvSpPr>
          <p:cNvPr id="5" name="table-caption"/>
          <p:cNvSpPr txBox="1"/>
          <p:nvPr/>
        </p:nvSpPr>
        <p:spPr>
          <a:xfrm>
            <a:off x="594360" y="3474720"/>
            <a:ext cx="7955279" cy="117754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元の検証用は1,000クラス、ImageNet-Rはそのうち200クラス。クラス数と画像集合が異なるため、列同士を同じ難易度とはみなせない。</a:t>
            </a:r>
            <a:endParaRPr sz="1600" lang="ja-JP">
              <a:latin typeface="Noto Sans"/>
              <a:ea typeface="Noto Sans CJK JP"/>
              <a:cs typeface="Noto Sans"/>
            </a:endParaRPr>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Siméoni et al. (2025), Table 7. https://arxiv.org/abs/2508.10104</a:t>
            </a:r>
            <a:endParaRPr sz="850" lang="ja-JP">
              <a:latin typeface="Noto Sans"/>
              <a:ea typeface="Noto Sans CJK JP"/>
              <a:cs typeface="Noto Sans"/>
            </a:endParaRP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分類用データとプライバシーへの対応</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モデル評価と前処理</a:t>
            </a:r>
            <a:endParaRPr sz="1400" lang="ja-JP">
              <a:latin typeface="Noto Sans"/>
              <a:ea typeface="Noto Sans CJK JP"/>
              <a:cs typeface="Noto Sans"/>
            </a:endParaRPr>
          </a:p>
        </p:txBody>
      </p:sp>
      <p:sp>
        <p:nvSpPr>
          <p:cNvPr id="4" name="body"/>
          <p:cNvSpPr txBox="1"/>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2021年に、ImageNet全体のperson下位カテゴリ2,702種類を除去した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この更新は、ILSVRCの1,000カテゴリには影響しない。</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ただし物体の画像にも偶然写り込む人物がいる。</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そこで顔を注釈し、顔をぼかした、ILSVRC大会の1,000クラス分類用データを検討した。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公式トップの1,420万枚という表示だけで、更新後の収録範囲を判断しない。</a:t>
            </a:r>
            <a:endParaRPr sz="22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ImageNetの更新説明 (2021). https://www.image-net.org/update-mar-11-2021.php</a:t>
            </a:r>
            <a:endParaRPr sz="850" lang="ja-JP">
              <a:latin typeface="Noto Sans"/>
              <a:ea typeface="Noto Sans CJK JP"/>
              <a:cs typeface="Noto Sans"/>
            </a:endParaRP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公式devkitでクラス別の件数を確認する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入手コードと参考文献</a:t>
            </a:r>
            <a:endParaRPr sz="1400" lang="ja-JP">
              <a:latin typeface="Noto Sans"/>
              <a:ea typeface="Noto Sans CJK JP"/>
              <a:cs typeface="Noto Sans"/>
            </a:endParaRPr>
          </a:p>
        </p:txBody>
      </p:sp>
      <p:sp>
        <p:nvSpPr>
          <p:cNvPr id="4" name="Rectangle 3"/>
          <p:cNvSpPr/>
          <p:nvPr/>
        </p:nvSpPr>
        <p:spPr>
          <a:xfrm>
            <a:off x="548640" y="1481328"/>
            <a:ext cx="8046720" cy="21272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48640" y="1481328"/>
            <a:ext cx="8046720" cy="212725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scipy.io import loadmat</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meta = loadmat(</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"ILSVRC2012_devkit_t12/data/meta.mat",</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squeeze_me=True, struct_as_record=False</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)["synsets"]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classes = [x for x in meta if x.num_children == 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counts = [int(x.num_train_images) for x in classes]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print(len(classes), sum(counts))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1000 1281167</a:t>
            </a:r>
          </a:p>
        </p:txBody>
      </p:sp>
      <p:sp>
        <p:nvSpPr>
          <p:cNvPr id="6" name="TextBox 5"/>
          <p:cNvSpPr txBox="1"/>
          <p:nvPr/>
        </p:nvSpPr>
        <p:spPr>
          <a:xfrm>
            <a:off x="594360" y="4013454"/>
            <a:ext cx="7955279" cy="64008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700" b="0" lang="ja-JP">
                <a:latin typeface="Noto Sans"/>
                <a:ea typeface="Noto Sans CJK JP"/>
                <a:cs typeface="Noto Sans"/>
              </a:defRPr>
            </a:pPr>
            <a:r>
              <a:rPr sz="2000" lang="ja-JP">
                <a:solidFill>
                  <a:srgbClr val="303437"/>
                </a:solidFill>
                <a:latin typeface="Noto Sans"/>
                <a:ea typeface="Noto Sans CJK JP"/>
                <a:cs typeface="Noto Sans"/>
              </a:rPr>
              <a:t>devkitを取得・展開した後に実行する。scipyを利用する。WordNet IDとモデルのクラス番号を同一視しない。</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ILSVRC 2012公式devkit. https://image-net.org/challenges/LSVRC/2012/</a:t>
            </a:r>
            <a:endParaRPr sz="850" lang="ja-JP">
              <a:latin typeface="Noto Sans"/>
              <a:ea typeface="Noto Sans CJK JP"/>
              <a:cs typeface="Noto Sans"/>
            </a:endParaRP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Imagenetteを取得して画像とラベルを読む</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入手コードと参考文献</a:t>
            </a:r>
            <a:endParaRPr sz="1400" lang="ja-JP">
              <a:latin typeface="Noto Sans"/>
              <a:ea typeface="Noto Sans CJK JP"/>
              <a:cs typeface="Noto Sans"/>
            </a:endParaRPr>
          </a:p>
        </p:txBody>
      </p:sp>
      <p:sp>
        <p:nvSpPr>
          <p:cNvPr id="4" name="TextBox 3"/>
          <p:cNvSpPr txBox="1"/>
          <p:nvPr/>
        </p:nvSpPr>
        <p:spPr>
          <a:xfrm>
            <a:off x="548640" y="1371600"/>
            <a:ext cx="8046720" cy="256032"/>
          </a:xfrm>
          <a:prstGeom prst="rect">
            <a:avLst/>
          </a:prstGeom>
          <a:noFill/>
        </p:spPr>
        <p:txBody>
          <a:bodyPr wrap="none" lIns="0" rIns="0" tIns="0" bIns="0" anchor="t">
            <a:spAutoFit/>
          </a:bodyPr>
          <a:lstStyle/>
          <a:p>
            <a:pPr algn="l">
              <a:lnSpc>
                <a:spcPct val="110000"/>
              </a:lnSpc>
              <a:spcBef>
                <a:spcPts val="0"/>
              </a:spcBef>
              <a:spcAft>
                <a:spcPts val="0"/>
              </a:spcAft>
              <a:defRPr sz="1400" b="0" lang="ja-JP">
                <a:latin typeface="Noto Sans"/>
                <a:ea typeface="Noto Sans CJK JP"/>
                <a:cs typeface="Noto Sans"/>
              </a:defRPr>
            </a:pPr>
            <a:r>
              <a:rPr sz="1400" b="0" lang="ja-JP">
                <a:solidFill>
                  <a:srgbClr val="626669"/>
                </a:solidFill>
                <a:latin typeface="Noto Sans"/>
                <a:ea typeface="Noto Sans CJK JP"/>
                <a:cs typeface="Noto Sans"/>
              </a:rPr>
              <a:t>シェルで取得する</a:t>
            </a:r>
            <a:endParaRPr sz="1400" lang="ja-JP">
              <a:latin typeface="Noto Sans"/>
              <a:ea typeface="Noto Sans CJK JP"/>
              <a:cs typeface="Noto Sans"/>
            </a:endParaRPr>
          </a:p>
        </p:txBody>
      </p:sp>
      <p:sp>
        <p:nvSpPr>
          <p:cNvPr id="5" name="Rectangle 4"/>
          <p:cNvSpPr/>
          <p:nvPr/>
        </p:nvSpPr>
        <p:spPr>
          <a:xfrm>
            <a:off x="548640" y="1655064"/>
            <a:ext cx="8046720" cy="79819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48640" y="1655064"/>
            <a:ext cx="8046720" cy="798194"/>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curl -L --fail -o imagenette.tgz \</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https://s3.amazonaws.com/fast-ai-imageclas/imagenette2-160.tgz</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tar -xzf imagenette.tgz</a:t>
            </a:r>
          </a:p>
        </p:txBody>
      </p:sp>
      <p:sp>
        <p:nvSpPr>
          <p:cNvPr id="7" name="TextBox 6"/>
          <p:cNvSpPr txBox="1"/>
          <p:nvPr/>
        </p:nvSpPr>
        <p:spPr>
          <a:xfrm>
            <a:off x="548640" y="2688336"/>
            <a:ext cx="8046720" cy="256032"/>
          </a:xfrm>
          <a:prstGeom prst="rect">
            <a:avLst/>
          </a:prstGeom>
          <a:noFill/>
        </p:spPr>
        <p:txBody>
          <a:bodyPr wrap="none" lIns="0" rIns="0" tIns="0" bIns="0" anchor="t">
            <a:spAutoFit/>
          </a:bodyPr>
          <a:lstStyle/>
          <a:p>
            <a:pPr algn="l">
              <a:lnSpc>
                <a:spcPct val="110000"/>
              </a:lnSpc>
              <a:spcBef>
                <a:spcPts val="0"/>
              </a:spcBef>
              <a:spcAft>
                <a:spcPts val="0"/>
              </a:spcAft>
              <a:defRPr sz="1400" b="0" lang="ja-JP">
                <a:latin typeface="Noto Sans"/>
                <a:ea typeface="Noto Sans CJK JP"/>
                <a:cs typeface="Noto Sans"/>
              </a:defRPr>
            </a:pPr>
            <a:r>
              <a:rPr sz="1400" b="0" lang="ja-JP">
                <a:solidFill>
                  <a:srgbClr val="626669"/>
                </a:solidFill>
                <a:latin typeface="Noto Sans"/>
                <a:ea typeface="Noto Sans CJK JP"/>
                <a:cs typeface="Noto Sans"/>
              </a:rPr>
              <a:t>Pythonで画像とラベルを読む</a:t>
            </a:r>
            <a:endParaRPr sz="1400" lang="ja-JP">
              <a:latin typeface="Noto Sans"/>
              <a:ea typeface="Noto Sans CJK JP"/>
              <a:cs typeface="Noto Sans"/>
            </a:endParaRPr>
          </a:p>
        </p:txBody>
      </p:sp>
      <p:sp>
        <p:nvSpPr>
          <p:cNvPr id="8" name="Rectangle 7"/>
          <p:cNvSpPr/>
          <p:nvPr/>
        </p:nvSpPr>
        <p:spPr>
          <a:xfrm>
            <a:off x="548640" y="2971800"/>
            <a:ext cx="8046720" cy="98806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48640" y="2971800"/>
            <a:ext cx="8046720" cy="98806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torchvision.datasets import ImageFolder</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data = ImageFolder("imagenette2-160/train")</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image, label = data[0]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print(data.classes[label], image.size)</a:t>
            </a:r>
          </a:p>
        </p:txBody>
      </p:sp>
      <p:sp>
        <p:nvSpPr>
          <p:cNvPr id="10" name="TextBox 9"/>
          <p:cNvSpPr txBox="1"/>
          <p:nvPr/>
        </p:nvSpPr>
        <p:spPr>
          <a:xfrm>
            <a:off x="594360" y="4242816"/>
            <a:ext cx="7955279" cy="36576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10クラスのImagenetteを読み、classesでクラス名を確認する。</a:t>
            </a:r>
            <a:endParaRPr sz="1600" lang="ja-JP">
              <a:latin typeface="Noto Sans"/>
              <a:ea typeface="Noto Sans CJK JP"/>
              <a:cs typeface="Noto Sans"/>
            </a:endParaRPr>
          </a:p>
        </p:txBody>
      </p:sp>
      <p:sp>
        <p:nvSpPr>
          <p:cNvPr id="11"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Imagenette 160 px版. https://github.com/fastai/imagenette</a:t>
            </a:r>
            <a:endParaRPr sz="850" lang="ja-JP">
              <a:latin typeface="Noto Sans"/>
              <a:ea typeface="Noto Sans CJK JP"/>
              <a:cs typeface="Noto Sans"/>
            </a:endParaRP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モデルに合う前処理を指定する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入手コードと参考文献</a:t>
            </a:r>
            <a:endParaRPr sz="1400" lang="ja-JP">
              <a:latin typeface="Noto Sans"/>
              <a:ea typeface="Noto Sans CJK JP"/>
              <a:cs typeface="Noto Sans"/>
            </a:endParaRPr>
          </a:p>
        </p:txBody>
      </p:sp>
      <p:sp>
        <p:nvSpPr>
          <p:cNvPr id="4" name="Rectangle 3"/>
          <p:cNvSpPr/>
          <p:nvPr/>
        </p:nvSpPr>
        <p:spPr>
          <a:xfrm>
            <a:off x="548640" y="1481328"/>
            <a:ext cx="8046720" cy="174752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48640" y="1481328"/>
            <a:ext cx="8046720" cy="174752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PIL import Image</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from torchvision.models import resnet50, ResNet50_Weights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weights = ResNet50_Weights.IMAGENET1K_V1</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model = resnet50(weights=weights).eval()</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image = Image.open("example.JPEG").convert("RGB")</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batch = weights.transforms()(image).unsqueeze(0)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batch.shape == [1, 3, 224, 224]</a:t>
            </a:r>
          </a:p>
        </p:txBody>
      </p:sp>
      <p:sp>
        <p:nvSpPr>
          <p:cNvPr id="6" name="TextBox 5"/>
          <p:cNvSpPr txBox="1"/>
          <p:nvPr/>
        </p:nvSpPr>
        <p:spPr>
          <a:xfrm>
            <a:off x="594360" y="3584194"/>
            <a:ext cx="7955279" cy="64008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700" b="0" lang="ja-JP">
                <a:latin typeface="Noto Sans"/>
                <a:ea typeface="Noto Sans CJK JP"/>
                <a:cs typeface="Noto Sans"/>
              </a:defRPr>
            </a:pPr>
            <a:r>
              <a:rPr sz="2000" lang="ja-JP">
                <a:solidFill>
                  <a:srgbClr val="303437"/>
                </a:solidFill>
                <a:latin typeface="Noto Sans"/>
                <a:ea typeface="Noto Sans CJK JP"/>
                <a:cs typeface="Noto Sans"/>
              </a:rPr>
              <a:t>重みに対応したリサイズ・クロップ・正規化を使う。10クラス版とモデルの1,000クラス出力は、クラス名で対応させる。</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Torchvision ResNet. https://github.com/pytorch/vision/blob/main/torchvision/models/resnet.py</a:t>
            </a:r>
            <a:endParaRPr sz="850" lang="ja-JP">
              <a:latin typeface="Noto Sans"/>
              <a:ea typeface="Noto Sans CJK JP"/>
              <a:cs typeface="Noto Sans"/>
            </a:endParaRP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latin typeface="Noto Sans"/>
              </a:rPr>
              <a:t>参考文献</a:t>
            </a:r>
          </a:p>
        </p:txBody>
      </p:sp>
      <p:sp>
        <p:nvSpPr>
          <p:cNvPr id="3" name="Title 2"/>
          <p:cNvSpPr>
            <a:spLocks noGrp="1"/>
          </p:cNvSpPr>
          <p:nvPr>
            <p:ph type="title" idx="2"/>
          </p:nvPr>
        </p:nvSpPr>
        <p:spPr/>
        <p:txBody>
          <a:bodyPr/>
          <a:lstStyle/>
          <a:p>
            <a:r>
              <a:rPr sz="1400" b="1">
                <a:solidFill>
                  <a:srgbClr val="FFFEF8"/>
                </a:solidFill>
                <a:latin typeface="Noto Sans"/>
                <a:ea typeface="Noto Sans CJK JP"/>
              </a:rPr>
              <a:t>Appendix: 7 参考文献</a:t>
            </a:r>
          </a:p>
        </p:txBody>
      </p:sp>
      <p:sp>
        <p:nvSpPr>
          <p:cNvPr id="4" name="TextBox 3"/>
          <p:cNvSpPr txBox="1"/>
          <p:nvPr/>
        </p:nvSpPr>
        <p:spPr>
          <a:xfrm>
            <a:off x="594360" y="1325058"/>
            <a:ext cx="7955279" cy="455512"/>
          </a:xfrm>
          <a:prstGeom prst="rect">
            <a:avLst/>
          </a:prstGeom>
          <a:noFill/>
        </p:spPr>
        <p:txBody>
          <a:bodyPr wrap="square" anchor="t" lIns="0" rIns="0" tIns="0" bIns="0">
            <a:spAutoFit/>
          </a:bodyPr>
          <a:lstStyle/>
          <a:p>
            <a:pPr>
              <a:lnSpc>
                <a:spcPct val="100000"/>
              </a:lnSpc>
              <a:spcBef>
                <a:spcPts val="0"/>
              </a:spcBef>
              <a:spcAft>
                <a:spcPts val="0"/>
              </a:spcAft>
              <a:buNone/>
            </a:pPr>
            <a:r>
              <a:rPr sz="1900" b="1" lang="ja-JP">
                <a:solidFill>
                  <a:srgbClr val="303437"/>
                </a:solidFill>
                <a:latin typeface="Noto Sans"/>
                <a:ea typeface="Noto Sans CJK JP"/>
              </a:rPr>
              <a:t>ImageNet: A Large-Scale Hierarchical Image Database</a:t>
            </a:r>
          </a:p>
        </p:txBody>
      </p:sp>
      <p:sp>
        <p:nvSpPr>
          <p:cNvPr id="5" name="TextBox 4"/>
          <p:cNvSpPr txBox="1"/>
          <p:nvPr/>
        </p:nvSpPr>
        <p:spPr>
          <a:xfrm>
            <a:off x="594360" y="1711857"/>
            <a:ext cx="7955279" cy="360393"/>
          </a:xfrm>
          <a:prstGeom prst="rect">
            <a:avLst/>
          </a:prstGeom>
          <a:noFill/>
        </p:spPr>
        <p:txBody>
          <a:bodyPr wrap="square" anchor="t" lIns="0" rIns="0" tIns="0" bIns="0">
            <a:spAutoFit/>
          </a:bodyPr>
          <a:lstStyle/>
          <a:p>
            <a:pPr>
              <a:lnSpc>
                <a:spcPct val="100000"/>
              </a:lnSpc>
              <a:spcBef>
                <a:spcPts val="0"/>
              </a:spcBef>
              <a:spcAft>
                <a:spcPts val="0"/>
              </a:spcAft>
              <a:buNone/>
            </a:pPr>
            <a:r>
              <a:rPr sz="1350" b="0" lang="ja-JP">
                <a:solidFill>
                  <a:srgbClr val="303437"/>
                </a:solidFill>
                <a:latin typeface="Noto Sans"/>
                <a:ea typeface="Noto Sans CJK JP"/>
              </a:rPr>
              <a:t>Deng, J., Dong, W., Socher, R., Li, L.-J., Li, K., &amp; Fei-Fei, L. (2009). CVPR, pp. 248–255.</a:t>
            </a:r>
          </a:p>
        </p:txBody>
      </p:sp>
      <p:sp>
        <p:nvSpPr>
          <p:cNvPr id="6" name="TextBox 5"/>
          <p:cNvSpPr txBox="1"/>
          <p:nvPr/>
        </p:nvSpPr>
        <p:spPr>
          <a:xfrm>
            <a:off x="594360" y="2059475"/>
            <a:ext cx="7955279" cy="732332"/>
          </a:xfrm>
          <a:prstGeom prst="rect">
            <a:avLst/>
          </a:prstGeom>
          <a:noFill/>
        </p:spPr>
        <p:txBody>
          <a:bodyPr wrap="square" anchor="t" lIns="0" rIns="0" tIns="0" bIns="0">
            <a:spAutoFit/>
          </a:bodyPr>
          <a:lstStyle/>
          <a:p>
            <a:pPr>
              <a:lnSpc>
                <a:spcPct val="100000"/>
              </a:lnSpc>
              <a:spcBef>
                <a:spcPts val="0"/>
              </a:spcBef>
              <a:spcAft>
                <a:spcPts val="0"/>
              </a:spcAft>
              <a:buNone/>
            </a:pPr>
            <a:r>
              <a:rPr sz="1800" b="0" lang="ja-JP">
                <a:solidFill>
                  <a:srgbClr val="303437"/>
                </a:solidFill>
                <a:latin typeface="Noto Sans"/>
                <a:ea typeface="Noto Sans CJK JP"/>
              </a:rPr>
              <a:t>ImageNetの原著論文。WordNet階層に沿う画像収集と人手による注釈を報告する。</a:t>
            </a:r>
          </a:p>
        </p:txBody>
      </p:sp>
      <p:sp>
        <p:nvSpPr>
          <p:cNvPr id="7" name="TextBox 6"/>
          <p:cNvSpPr txBox="1"/>
          <p:nvPr/>
        </p:nvSpPr>
        <p:spPr>
          <a:xfrm>
            <a:off x="594360" y="2700922"/>
            <a:ext cx="7955279" cy="308415"/>
          </a:xfrm>
          <a:prstGeom prst="rect">
            <a:avLst/>
          </a:prstGeom>
          <a:noFill/>
        </p:spPr>
        <p:txBody>
          <a:bodyPr wrap="square" anchor="t" lIns="0" rIns="0" tIns="0" bIns="0">
            <a:spAutoFit/>
          </a:bodyPr>
          <a:lstStyle/>
          <a:p>
            <a:pPr>
              <a:lnSpc>
                <a:spcPct val="100000"/>
              </a:lnSpc>
              <a:spcBef>
                <a:spcPts val="0"/>
              </a:spcBef>
              <a:spcAft>
                <a:spcPts val="0"/>
              </a:spcAft>
              <a:buNone/>
            </a:pPr>
            <a:r>
              <a:rPr sz="1050" b="0" lang="ja-JP">
                <a:solidFill>
                  <a:srgbClr val="626669"/>
                </a:solidFill>
                <a:latin typeface="Noto Sans"/>
                <a:ea typeface="Noto Sans CJK JP"/>
                <a:hlinkClick r:id="rId2"/>
              </a:rPr>
              <a:t>https://image-net.org/static_files/papers/imagenet_cvpr09.pdf</a:t>
            </a:r>
          </a:p>
        </p:txBody>
      </p:sp>
      <p:sp>
        <p:nvSpPr>
          <p:cNvPr id="8" name="TextBox 7"/>
          <p:cNvSpPr txBox="1"/>
          <p:nvPr/>
        </p:nvSpPr>
        <p:spPr>
          <a:xfrm>
            <a:off x="594360" y="3118211"/>
            <a:ext cx="7955279" cy="455512"/>
          </a:xfrm>
          <a:prstGeom prst="rect">
            <a:avLst/>
          </a:prstGeom>
          <a:noFill/>
        </p:spPr>
        <p:txBody>
          <a:bodyPr wrap="square" anchor="t" lIns="0" rIns="0" tIns="0" bIns="0">
            <a:spAutoFit/>
          </a:bodyPr>
          <a:lstStyle/>
          <a:p>
            <a:pPr>
              <a:lnSpc>
                <a:spcPct val="100000"/>
              </a:lnSpc>
              <a:spcBef>
                <a:spcPts val="0"/>
              </a:spcBef>
              <a:spcAft>
                <a:spcPts val="0"/>
              </a:spcAft>
              <a:buNone/>
            </a:pPr>
            <a:r>
              <a:rPr sz="1900" b="1" lang="ja-JP">
                <a:solidFill>
                  <a:srgbClr val="303437"/>
                </a:solidFill>
                <a:latin typeface="Noto Sans"/>
                <a:ea typeface="Noto Sans CJK JP"/>
              </a:rPr>
              <a:t>ImageNet Large Scale Visual Recognition Challenge</a:t>
            </a:r>
          </a:p>
        </p:txBody>
      </p:sp>
      <p:sp>
        <p:nvSpPr>
          <p:cNvPr id="9" name="TextBox 8"/>
          <p:cNvSpPr txBox="1"/>
          <p:nvPr/>
        </p:nvSpPr>
        <p:spPr>
          <a:xfrm>
            <a:off x="594360" y="3505011"/>
            <a:ext cx="7955279" cy="360393"/>
          </a:xfrm>
          <a:prstGeom prst="rect">
            <a:avLst/>
          </a:prstGeom>
          <a:noFill/>
        </p:spPr>
        <p:txBody>
          <a:bodyPr wrap="square" anchor="t" lIns="0" rIns="0" tIns="0" bIns="0">
            <a:spAutoFit/>
          </a:bodyPr>
          <a:lstStyle/>
          <a:p>
            <a:pPr>
              <a:lnSpc>
                <a:spcPct val="100000"/>
              </a:lnSpc>
              <a:spcBef>
                <a:spcPts val="0"/>
              </a:spcBef>
              <a:spcAft>
                <a:spcPts val="0"/>
              </a:spcAft>
              <a:buNone/>
            </a:pPr>
            <a:r>
              <a:rPr sz="1350" b="0" lang="ja-JP">
                <a:solidFill>
                  <a:srgbClr val="303437"/>
                </a:solidFill>
                <a:latin typeface="Noto Sans"/>
                <a:ea typeface="Noto Sans CJK JP"/>
              </a:rPr>
              <a:t>Russakovsky, O., et al. (2015). International Journal of Computer Vision, 115, pp. 211–252.</a:t>
            </a:r>
          </a:p>
        </p:txBody>
      </p:sp>
      <p:sp>
        <p:nvSpPr>
          <p:cNvPr id="10" name="TextBox 9"/>
          <p:cNvSpPr txBox="1"/>
          <p:nvPr/>
        </p:nvSpPr>
        <p:spPr>
          <a:xfrm>
            <a:off x="594360" y="3852629"/>
            <a:ext cx="7955279" cy="732332"/>
          </a:xfrm>
          <a:prstGeom prst="rect">
            <a:avLst/>
          </a:prstGeom>
          <a:noFill/>
        </p:spPr>
        <p:txBody>
          <a:bodyPr wrap="square" anchor="t" lIns="0" rIns="0" tIns="0" bIns="0">
            <a:spAutoFit/>
          </a:bodyPr>
          <a:lstStyle/>
          <a:p>
            <a:pPr>
              <a:lnSpc>
                <a:spcPct val="100000"/>
              </a:lnSpc>
              <a:spcBef>
                <a:spcPts val="0"/>
              </a:spcBef>
              <a:spcAft>
                <a:spcPts val="0"/>
              </a:spcAft>
              <a:buNone/>
            </a:pPr>
            <a:r>
              <a:rPr sz="1800" b="0" lang="ja-JP">
                <a:solidFill>
                  <a:srgbClr val="303437"/>
                </a:solidFill>
                <a:latin typeface="Noto Sans"/>
                <a:ea typeface="Noto Sans CJK JP"/>
              </a:rPr>
              <a:t>ILSVRCの総括論文。画像分類・検出・位置推定の課題と評価結果をまとめている。</a:t>
            </a:r>
          </a:p>
        </p:txBody>
      </p:sp>
      <p:sp>
        <p:nvSpPr>
          <p:cNvPr id="11" name="TextBox 10"/>
          <p:cNvSpPr txBox="1"/>
          <p:nvPr/>
        </p:nvSpPr>
        <p:spPr>
          <a:xfrm>
            <a:off x="594360" y="4494076"/>
            <a:ext cx="7955279" cy="308415"/>
          </a:xfrm>
          <a:prstGeom prst="rect">
            <a:avLst/>
          </a:prstGeom>
          <a:noFill/>
        </p:spPr>
        <p:txBody>
          <a:bodyPr wrap="square" anchor="t" lIns="0" rIns="0" tIns="0" bIns="0">
            <a:spAutoFit/>
          </a:bodyPr>
          <a:lstStyle/>
          <a:p>
            <a:pPr>
              <a:lnSpc>
                <a:spcPct val="100000"/>
              </a:lnSpc>
              <a:spcBef>
                <a:spcPts val="0"/>
              </a:spcBef>
              <a:spcAft>
                <a:spcPts val="0"/>
              </a:spcAft>
              <a:buNone/>
            </a:pPr>
            <a:r>
              <a:rPr sz="1050" b="0" lang="ja-JP">
                <a:solidFill>
                  <a:srgbClr val="626669"/>
                </a:solidFill>
                <a:latin typeface="Noto Sans"/>
                <a:ea typeface="Noto Sans CJK JP"/>
                <a:hlinkClick r:id="rId3"/>
              </a:rPr>
              <a:t>https://arxiv.org/abs/1409.0575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latin typeface="Noto Sans"/>
              </a:rPr>
              <a:t>参考文献</a:t>
            </a:r>
          </a:p>
        </p:txBody>
      </p:sp>
      <p:sp>
        <p:nvSpPr>
          <p:cNvPr id="3" name="Title 2"/>
          <p:cNvSpPr>
            <a:spLocks noGrp="1"/>
          </p:cNvSpPr>
          <p:nvPr>
            <p:ph type="title" idx="2"/>
          </p:nvPr>
        </p:nvSpPr>
        <p:spPr/>
        <p:txBody>
          <a:bodyPr/>
          <a:lstStyle/>
          <a:p>
            <a:r>
              <a:rPr sz="1400" b="1">
                <a:solidFill>
                  <a:srgbClr val="FFFEF8"/>
                </a:solidFill>
                <a:latin typeface="Noto Sans"/>
                <a:ea typeface="Noto Sans CJK JP"/>
              </a:rPr>
              <a:t>Appendix: 7 参考文献</a:t>
            </a:r>
          </a:p>
        </p:txBody>
      </p:sp>
      <p:sp>
        <p:nvSpPr>
          <p:cNvPr id="4" name="TextBox 3"/>
          <p:cNvSpPr txBox="1"/>
          <p:nvPr/>
        </p:nvSpPr>
        <p:spPr>
          <a:xfrm>
            <a:off x="594360" y="1325058"/>
            <a:ext cx="7955279" cy="455512"/>
          </a:xfrm>
          <a:prstGeom prst="rect">
            <a:avLst/>
          </a:prstGeom>
          <a:noFill/>
        </p:spPr>
        <p:txBody>
          <a:bodyPr wrap="square" anchor="t" lIns="0" rIns="0" tIns="0" bIns="0">
            <a:spAutoFit/>
          </a:bodyPr>
          <a:lstStyle/>
          <a:p>
            <a:pPr>
              <a:lnSpc>
                <a:spcPct val="100000"/>
              </a:lnSpc>
              <a:spcBef>
                <a:spcPts val="0"/>
              </a:spcBef>
              <a:spcAft>
                <a:spcPts val="0"/>
              </a:spcAft>
              <a:buNone/>
            </a:pPr>
            <a:r>
              <a:rPr sz="1900" b="1" lang="ja-JP">
                <a:solidFill>
                  <a:srgbClr val="303437"/>
                </a:solidFill>
                <a:latin typeface="Noto Sans"/>
                <a:ea typeface="Noto Sans CJK JP"/>
              </a:rPr>
              <a:t>Deep Residual Learning for Image Recognition</a:t>
            </a:r>
          </a:p>
        </p:txBody>
      </p:sp>
      <p:sp>
        <p:nvSpPr>
          <p:cNvPr id="5" name="TextBox 4"/>
          <p:cNvSpPr txBox="1"/>
          <p:nvPr/>
        </p:nvSpPr>
        <p:spPr>
          <a:xfrm>
            <a:off x="594360" y="1711857"/>
            <a:ext cx="7955279" cy="360393"/>
          </a:xfrm>
          <a:prstGeom prst="rect">
            <a:avLst/>
          </a:prstGeom>
          <a:noFill/>
        </p:spPr>
        <p:txBody>
          <a:bodyPr wrap="square" anchor="t" lIns="0" rIns="0" tIns="0" bIns="0">
            <a:spAutoFit/>
          </a:bodyPr>
          <a:lstStyle/>
          <a:p>
            <a:pPr>
              <a:lnSpc>
                <a:spcPct val="100000"/>
              </a:lnSpc>
              <a:spcBef>
                <a:spcPts val="0"/>
              </a:spcBef>
              <a:spcAft>
                <a:spcPts val="0"/>
              </a:spcAft>
              <a:buNone/>
            </a:pPr>
            <a:r>
              <a:rPr sz="1350" b="0" lang="ja-JP">
                <a:solidFill>
                  <a:srgbClr val="303437"/>
                </a:solidFill>
                <a:latin typeface="Noto Sans"/>
                <a:ea typeface="Noto Sans CJK JP"/>
              </a:rPr>
              <a:t>He, K., Zhang, X., Ren, S., &amp; Sun, J. (2016). CVPR, pp. 770–778.</a:t>
            </a:r>
          </a:p>
        </p:txBody>
      </p:sp>
      <p:sp>
        <p:nvSpPr>
          <p:cNvPr id="6" name="TextBox 5"/>
          <p:cNvSpPr txBox="1"/>
          <p:nvPr/>
        </p:nvSpPr>
        <p:spPr>
          <a:xfrm>
            <a:off x="594360" y="2059475"/>
            <a:ext cx="7955279" cy="732332"/>
          </a:xfrm>
          <a:prstGeom prst="rect">
            <a:avLst/>
          </a:prstGeom>
          <a:noFill/>
        </p:spPr>
        <p:txBody>
          <a:bodyPr wrap="square" anchor="t" lIns="0" rIns="0" tIns="0" bIns="0">
            <a:spAutoFit/>
          </a:bodyPr>
          <a:lstStyle/>
          <a:p>
            <a:pPr>
              <a:lnSpc>
                <a:spcPct val="100000"/>
              </a:lnSpc>
              <a:spcBef>
                <a:spcPts val="0"/>
              </a:spcBef>
              <a:spcAft>
                <a:spcPts val="0"/>
              </a:spcAft>
              <a:buNone/>
            </a:pPr>
            <a:r>
              <a:rPr sz="1800" b="0" lang="ja-JP">
                <a:solidFill>
                  <a:srgbClr val="303437"/>
                </a:solidFill>
                <a:latin typeface="Noto Sans"/>
                <a:ea typeface="Noto Sans CJK JP"/>
              </a:rPr>
              <a:t>ResNetの原著論文。残差接続による深いネットワークの学習とImageNet評価を示す。</a:t>
            </a:r>
          </a:p>
        </p:txBody>
      </p:sp>
      <p:sp>
        <p:nvSpPr>
          <p:cNvPr id="7" name="TextBox 6"/>
          <p:cNvSpPr txBox="1"/>
          <p:nvPr/>
        </p:nvSpPr>
        <p:spPr>
          <a:xfrm>
            <a:off x="594360" y="2700922"/>
            <a:ext cx="7955279" cy="308415"/>
          </a:xfrm>
          <a:prstGeom prst="rect">
            <a:avLst/>
          </a:prstGeom>
          <a:noFill/>
        </p:spPr>
        <p:txBody>
          <a:bodyPr wrap="square" anchor="t" lIns="0" rIns="0" tIns="0" bIns="0">
            <a:spAutoFit/>
          </a:bodyPr>
          <a:lstStyle/>
          <a:p>
            <a:pPr>
              <a:lnSpc>
                <a:spcPct val="100000"/>
              </a:lnSpc>
              <a:spcBef>
                <a:spcPts val="0"/>
              </a:spcBef>
              <a:spcAft>
                <a:spcPts val="0"/>
              </a:spcAft>
              <a:buNone/>
            </a:pPr>
            <a:r>
              <a:rPr sz="1050" b="0" lang="ja-JP">
                <a:solidFill>
                  <a:srgbClr val="626669"/>
                </a:solidFill>
                <a:latin typeface="Noto Sans"/>
                <a:ea typeface="Noto Sans CJK JP"/>
                <a:hlinkClick r:id="rId2"/>
              </a:rPr>
              <a:t>https://arxiv.org/abs/1512.03385</a:t>
            </a:r>
          </a:p>
        </p:txBody>
      </p:sp>
      <p:sp>
        <p:nvSpPr>
          <p:cNvPr id="8" name="TextBox 7"/>
          <p:cNvSpPr txBox="1"/>
          <p:nvPr/>
        </p:nvSpPr>
        <p:spPr>
          <a:xfrm>
            <a:off x="594360" y="3118211"/>
            <a:ext cx="7955279" cy="455512"/>
          </a:xfrm>
          <a:prstGeom prst="rect">
            <a:avLst/>
          </a:prstGeom>
          <a:noFill/>
        </p:spPr>
        <p:txBody>
          <a:bodyPr wrap="square" anchor="t" lIns="0" rIns="0" tIns="0" bIns="0">
            <a:spAutoFit/>
          </a:bodyPr>
          <a:lstStyle/>
          <a:p>
            <a:pPr>
              <a:lnSpc>
                <a:spcPct val="100000"/>
              </a:lnSpc>
              <a:spcBef>
                <a:spcPts val="0"/>
              </a:spcBef>
              <a:spcAft>
                <a:spcPts val="0"/>
              </a:spcAft>
              <a:buNone/>
            </a:pPr>
            <a:r>
              <a:rPr sz="1900" b="1" lang="ja-JP">
                <a:solidFill>
                  <a:srgbClr val="303437"/>
                </a:solidFill>
                <a:latin typeface="Noto Sans"/>
                <a:ea typeface="Noto Sans CJK JP"/>
              </a:rPr>
              <a:t>Transfer Learning for Computer Vision Tutorial</a:t>
            </a:r>
          </a:p>
        </p:txBody>
      </p:sp>
      <p:sp>
        <p:nvSpPr>
          <p:cNvPr id="9" name="TextBox 8"/>
          <p:cNvSpPr txBox="1"/>
          <p:nvPr/>
        </p:nvSpPr>
        <p:spPr>
          <a:xfrm>
            <a:off x="594360" y="3520605"/>
            <a:ext cx="7955279" cy="375987"/>
          </a:xfrm>
          <a:prstGeom prst="rect">
            <a:avLst/>
          </a:prstGeom>
          <a:noFill/>
        </p:spPr>
        <p:txBody>
          <a:bodyPr wrap="square" anchor="t" lIns="0" rIns="0" tIns="0" bIns="0">
            <a:spAutoFit/>
          </a:bodyPr>
          <a:lstStyle/>
          <a:p>
            <a:pPr>
              <a:lnSpc>
                <a:spcPct val="100000"/>
              </a:lnSpc>
              <a:spcBef>
                <a:spcPts val="0"/>
              </a:spcBef>
              <a:spcAft>
                <a:spcPts val="0"/>
              </a:spcAft>
              <a:buNone/>
            </a:pPr>
            <a:r>
              <a:rPr sz="1350" b="0" lang="ja-JP">
                <a:solidFill>
                  <a:srgbClr val="303437"/>
                </a:solidFill>
                <a:latin typeface="Noto Sans"/>
                <a:ea typeface="Noto Sans CJK JP"/>
              </a:rPr>
              <a:t>Chilamkurthy, S. (n.d.). PyTorch Tutorials. 参照 2026-10-15.</a:t>
            </a:r>
          </a:p>
        </p:txBody>
      </p:sp>
      <p:sp>
        <p:nvSpPr>
          <p:cNvPr id="10" name="TextBox 9"/>
          <p:cNvSpPr txBox="1"/>
          <p:nvPr/>
        </p:nvSpPr>
        <p:spPr>
          <a:xfrm>
            <a:off x="594360" y="3868223"/>
            <a:ext cx="7955279" cy="732332"/>
          </a:xfrm>
          <a:prstGeom prst="rect">
            <a:avLst/>
          </a:prstGeom>
          <a:noFill/>
        </p:spPr>
        <p:txBody>
          <a:bodyPr wrap="square" anchor="t" lIns="0" rIns="0" tIns="0" bIns="0">
            <a:spAutoFit/>
          </a:bodyPr>
          <a:lstStyle/>
          <a:p>
            <a:pPr>
              <a:lnSpc>
                <a:spcPct val="100000"/>
              </a:lnSpc>
              <a:spcBef>
                <a:spcPts val="0"/>
              </a:spcBef>
              <a:spcAft>
                <a:spcPts val="0"/>
              </a:spcAft>
              <a:buNone/>
            </a:pPr>
            <a:r>
              <a:rPr sz="1800" b="0" lang="ja-JP">
                <a:solidFill>
                  <a:srgbClr val="303437"/>
                </a:solidFill>
                <a:latin typeface="Noto Sans"/>
                <a:ea typeface="Noto Sans CJK JP"/>
              </a:rPr>
              <a:t>PyTorchの公式教材。事前学習済みモデルの微調整と固定特徴による分類を実装している。</a:t>
            </a:r>
          </a:p>
        </p:txBody>
      </p:sp>
      <p:sp>
        <p:nvSpPr>
          <p:cNvPr id="11" name="TextBox 10"/>
          <p:cNvSpPr txBox="1"/>
          <p:nvPr/>
        </p:nvSpPr>
        <p:spPr>
          <a:xfrm>
            <a:off x="594360" y="4509670"/>
            <a:ext cx="7955279" cy="308415"/>
          </a:xfrm>
          <a:prstGeom prst="rect">
            <a:avLst/>
          </a:prstGeom>
          <a:noFill/>
        </p:spPr>
        <p:txBody>
          <a:bodyPr wrap="square" anchor="t" lIns="0" rIns="0" tIns="0" bIns="0">
            <a:spAutoFit/>
          </a:bodyPr>
          <a:lstStyle/>
          <a:p>
            <a:pPr>
              <a:lnSpc>
                <a:spcPct val="100000"/>
              </a:lnSpc>
              <a:spcBef>
                <a:spcPts val="0"/>
              </a:spcBef>
              <a:spcAft>
                <a:spcPts val="0"/>
              </a:spcAft>
              <a:buNone/>
            </a:pPr>
            <a:r>
              <a:rPr sz="1050" b="0" lang="ja-JP">
                <a:solidFill>
                  <a:srgbClr val="626669"/>
                </a:solidFill>
                <a:latin typeface="Noto Sans"/>
                <a:ea typeface="Noto Sans CJK JP"/>
                <a:hlinkClick r:id="rId3"/>
              </a:rPr>
              <a:t>https://github.com/pytorch/tutorials/blob/main/beginner_source/transfer_learning_tutorial.py</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latin typeface="Noto Sans"/>
              </a:rPr>
              <a:t>参考文献</a:t>
            </a:r>
          </a:p>
        </p:txBody>
      </p:sp>
      <p:sp>
        <p:nvSpPr>
          <p:cNvPr id="3" name="Title 2"/>
          <p:cNvSpPr>
            <a:spLocks noGrp="1"/>
          </p:cNvSpPr>
          <p:nvPr>
            <p:ph type="title" idx="2"/>
          </p:nvPr>
        </p:nvSpPr>
        <p:spPr/>
        <p:txBody>
          <a:bodyPr/>
          <a:lstStyle/>
          <a:p>
            <a:r>
              <a:rPr sz="1400" b="1">
                <a:solidFill>
                  <a:srgbClr val="FFFEF8"/>
                </a:solidFill>
                <a:latin typeface="Noto Sans"/>
                <a:ea typeface="Noto Sans CJK JP"/>
              </a:rPr>
              <a:t>Appendix: 7 参考文献</a:t>
            </a:r>
          </a:p>
        </p:txBody>
      </p:sp>
      <p:sp>
        <p:nvSpPr>
          <p:cNvPr id="4" name="TextBox 3"/>
          <p:cNvSpPr txBox="1"/>
          <p:nvPr/>
        </p:nvSpPr>
        <p:spPr>
          <a:xfrm>
            <a:off x="594360" y="1325058"/>
            <a:ext cx="7955279" cy="455512"/>
          </a:xfrm>
          <a:prstGeom prst="rect">
            <a:avLst/>
          </a:prstGeom>
          <a:noFill/>
        </p:spPr>
        <p:txBody>
          <a:bodyPr wrap="square" anchor="t" lIns="0" rIns="0" tIns="0" bIns="0">
            <a:spAutoFit/>
          </a:bodyPr>
          <a:lstStyle/>
          <a:p>
            <a:pPr>
              <a:lnSpc>
                <a:spcPct val="100000"/>
              </a:lnSpc>
              <a:spcBef>
                <a:spcPts val="0"/>
              </a:spcBef>
              <a:spcAft>
                <a:spcPts val="0"/>
              </a:spcAft>
              <a:buNone/>
            </a:pPr>
            <a:r>
              <a:rPr sz="1900" b="1" lang="ja-JP">
                <a:solidFill>
                  <a:srgbClr val="303437"/>
                </a:solidFill>
                <a:latin typeface="Noto Sans"/>
                <a:ea typeface="Noto Sans CJK JP"/>
              </a:rPr>
              <a:t>Models and pre-trained weights</a:t>
            </a:r>
          </a:p>
        </p:txBody>
      </p:sp>
      <p:sp>
        <p:nvSpPr>
          <p:cNvPr id="5" name="TextBox 4"/>
          <p:cNvSpPr txBox="1"/>
          <p:nvPr/>
        </p:nvSpPr>
        <p:spPr>
          <a:xfrm>
            <a:off x="594360" y="1727451"/>
            <a:ext cx="7955279" cy="375987"/>
          </a:xfrm>
          <a:prstGeom prst="rect">
            <a:avLst/>
          </a:prstGeom>
          <a:noFill/>
        </p:spPr>
        <p:txBody>
          <a:bodyPr wrap="square" anchor="t" lIns="0" rIns="0" tIns="0" bIns="0">
            <a:spAutoFit/>
          </a:bodyPr>
          <a:lstStyle/>
          <a:p>
            <a:pPr>
              <a:lnSpc>
                <a:spcPct val="100000"/>
              </a:lnSpc>
              <a:spcBef>
                <a:spcPts val="0"/>
              </a:spcBef>
              <a:spcAft>
                <a:spcPts val="0"/>
              </a:spcAft>
              <a:buNone/>
            </a:pPr>
            <a:r>
              <a:rPr sz="1350" b="0" lang="ja-JP">
                <a:solidFill>
                  <a:srgbClr val="303437"/>
                </a:solidFill>
                <a:latin typeface="Noto Sans"/>
                <a:ea typeface="Noto Sans CJK JP"/>
              </a:rPr>
              <a:t>Torchvision contributors (n.d.). Torchvision documentation. 参照 2026-10-15.</a:t>
            </a:r>
          </a:p>
        </p:txBody>
      </p:sp>
      <p:sp>
        <p:nvSpPr>
          <p:cNvPr id="6" name="TextBox 5"/>
          <p:cNvSpPr txBox="1"/>
          <p:nvPr/>
        </p:nvSpPr>
        <p:spPr>
          <a:xfrm>
            <a:off x="594360" y="2075069"/>
            <a:ext cx="7955279" cy="732332"/>
          </a:xfrm>
          <a:prstGeom prst="rect">
            <a:avLst/>
          </a:prstGeom>
          <a:noFill/>
        </p:spPr>
        <p:txBody>
          <a:bodyPr wrap="square" anchor="t" lIns="0" rIns="0" tIns="0" bIns="0">
            <a:spAutoFit/>
          </a:bodyPr>
          <a:lstStyle/>
          <a:p>
            <a:pPr>
              <a:lnSpc>
                <a:spcPct val="100000"/>
              </a:lnSpc>
              <a:spcBef>
                <a:spcPts val="0"/>
              </a:spcBef>
              <a:spcAft>
                <a:spcPts val="0"/>
              </a:spcAft>
              <a:buNone/>
            </a:pPr>
            <a:r>
              <a:rPr sz="1800" b="0" lang="ja-JP">
                <a:solidFill>
                  <a:srgbClr val="303437"/>
                </a:solidFill>
                <a:latin typeface="Noto Sans"/>
                <a:ea typeface="Noto Sans CJK JP"/>
              </a:rPr>
              <a:t>Torchvisionの公式リファレンス。公開重みの評価値・クラス定義・前処理を記載する。</a:t>
            </a:r>
          </a:p>
        </p:txBody>
      </p:sp>
      <p:sp>
        <p:nvSpPr>
          <p:cNvPr id="7" name="TextBox 6"/>
          <p:cNvSpPr txBox="1"/>
          <p:nvPr/>
        </p:nvSpPr>
        <p:spPr>
          <a:xfrm>
            <a:off x="594360" y="2716516"/>
            <a:ext cx="7955279" cy="308415"/>
          </a:xfrm>
          <a:prstGeom prst="rect">
            <a:avLst/>
          </a:prstGeom>
          <a:noFill/>
        </p:spPr>
        <p:txBody>
          <a:bodyPr wrap="square" anchor="t" lIns="0" rIns="0" tIns="0" bIns="0">
            <a:spAutoFit/>
          </a:bodyPr>
          <a:lstStyle/>
          <a:p>
            <a:pPr>
              <a:lnSpc>
                <a:spcPct val="100000"/>
              </a:lnSpc>
              <a:spcBef>
                <a:spcPts val="0"/>
              </a:spcBef>
              <a:spcAft>
                <a:spcPts val="0"/>
              </a:spcAft>
              <a:buNone/>
            </a:pPr>
            <a:r>
              <a:rPr sz="1050" b="0" lang="ja-JP">
                <a:solidFill>
                  <a:srgbClr val="626669"/>
                </a:solidFill>
                <a:latin typeface="Noto Sans"/>
                <a:ea typeface="Noto Sans CJK JP"/>
                <a:hlinkClick r:id="rId2"/>
              </a:rPr>
              <a:t>https://github.com/pytorch/vision/blob/main/docs/source/models.rst</a:t>
            </a:r>
          </a:p>
        </p:txBody>
      </p:sp>
      <p:sp>
        <p:nvSpPr>
          <p:cNvPr id="8" name="TextBox 7"/>
          <p:cNvSpPr txBox="1"/>
          <p:nvPr/>
        </p:nvSpPr>
        <p:spPr>
          <a:xfrm>
            <a:off x="594360" y="3133806"/>
            <a:ext cx="7955279" cy="455512"/>
          </a:xfrm>
          <a:prstGeom prst="rect">
            <a:avLst/>
          </a:prstGeom>
          <a:noFill/>
        </p:spPr>
        <p:txBody>
          <a:bodyPr wrap="square" anchor="t" lIns="0" rIns="0" tIns="0" bIns="0">
            <a:spAutoFit/>
          </a:bodyPr>
          <a:lstStyle/>
          <a:p>
            <a:pPr>
              <a:lnSpc>
                <a:spcPct val="100000"/>
              </a:lnSpc>
              <a:spcBef>
                <a:spcPts val="0"/>
              </a:spcBef>
              <a:spcAft>
                <a:spcPts val="0"/>
              </a:spcAft>
              <a:buNone/>
            </a:pPr>
            <a:r>
              <a:rPr sz="1900" b="1" lang="ja-JP">
                <a:solidFill>
                  <a:srgbClr val="303437"/>
                </a:solidFill>
                <a:latin typeface="Noto Sans"/>
                <a:ea typeface="Noto Sans CJK JP"/>
              </a:rPr>
              <a:t>Imagenette</a:t>
            </a:r>
          </a:p>
        </p:txBody>
      </p:sp>
      <p:sp>
        <p:nvSpPr>
          <p:cNvPr id="9" name="TextBox 8"/>
          <p:cNvSpPr txBox="1"/>
          <p:nvPr/>
        </p:nvSpPr>
        <p:spPr>
          <a:xfrm>
            <a:off x="594360" y="3536199"/>
            <a:ext cx="7955279" cy="375987"/>
          </a:xfrm>
          <a:prstGeom prst="rect">
            <a:avLst/>
          </a:prstGeom>
          <a:noFill/>
        </p:spPr>
        <p:txBody>
          <a:bodyPr wrap="square" anchor="t" lIns="0" rIns="0" tIns="0" bIns="0">
            <a:spAutoFit/>
          </a:bodyPr>
          <a:lstStyle/>
          <a:p>
            <a:pPr>
              <a:lnSpc>
                <a:spcPct val="100000"/>
              </a:lnSpc>
              <a:spcBef>
                <a:spcPts val="0"/>
              </a:spcBef>
              <a:spcAft>
                <a:spcPts val="0"/>
              </a:spcAft>
              <a:buNone/>
            </a:pPr>
            <a:r>
              <a:rPr sz="1350" b="0" lang="ja-JP">
                <a:solidFill>
                  <a:srgbClr val="303437"/>
                </a:solidFill>
                <a:latin typeface="Noto Sans"/>
                <a:ea typeface="Noto Sans CJK JP"/>
              </a:rPr>
              <a:t>fastai (n.d.). GitHub repository. 参照 2026-10-15.</a:t>
            </a:r>
          </a:p>
        </p:txBody>
      </p:sp>
      <p:sp>
        <p:nvSpPr>
          <p:cNvPr id="10" name="TextBox 9"/>
          <p:cNvSpPr txBox="1"/>
          <p:nvPr/>
        </p:nvSpPr>
        <p:spPr>
          <a:xfrm>
            <a:off x="594360" y="3883817"/>
            <a:ext cx="7955279" cy="732332"/>
          </a:xfrm>
          <a:prstGeom prst="rect">
            <a:avLst/>
          </a:prstGeom>
          <a:noFill/>
        </p:spPr>
        <p:txBody>
          <a:bodyPr wrap="square" anchor="t" lIns="0" rIns="0" tIns="0" bIns="0">
            <a:spAutoFit/>
          </a:bodyPr>
          <a:lstStyle/>
          <a:p>
            <a:pPr>
              <a:lnSpc>
                <a:spcPct val="100000"/>
              </a:lnSpc>
              <a:spcBef>
                <a:spcPts val="0"/>
              </a:spcBef>
              <a:spcAft>
                <a:spcPts val="0"/>
              </a:spcAft>
              <a:buNone/>
            </a:pPr>
            <a:r>
              <a:rPr sz="1800" b="0" lang="ja-JP">
                <a:solidFill>
                  <a:srgbClr val="303437"/>
                </a:solidFill>
                <a:latin typeface="Noto Sans"/>
                <a:ea typeface="Noto Sans CJK JP"/>
              </a:rPr>
              <a:t>ImageNetの10クラスを抜き出した小規模データセット。配布物とベンチマークを公開する。</a:t>
            </a:r>
          </a:p>
        </p:txBody>
      </p:sp>
      <p:sp>
        <p:nvSpPr>
          <p:cNvPr id="11" name="TextBox 10"/>
          <p:cNvSpPr txBox="1"/>
          <p:nvPr/>
        </p:nvSpPr>
        <p:spPr>
          <a:xfrm>
            <a:off x="594360" y="4525264"/>
            <a:ext cx="7955279" cy="308415"/>
          </a:xfrm>
          <a:prstGeom prst="rect">
            <a:avLst/>
          </a:prstGeom>
          <a:noFill/>
        </p:spPr>
        <p:txBody>
          <a:bodyPr wrap="square" anchor="t" lIns="0" rIns="0" tIns="0" bIns="0">
            <a:spAutoFit/>
          </a:bodyPr>
          <a:lstStyle/>
          <a:p>
            <a:pPr>
              <a:lnSpc>
                <a:spcPct val="100000"/>
              </a:lnSpc>
              <a:spcBef>
                <a:spcPts val="0"/>
              </a:spcBef>
              <a:spcAft>
                <a:spcPts val="0"/>
              </a:spcAft>
              <a:buNone/>
            </a:pPr>
            <a:r>
              <a:rPr sz="1050" b="0" lang="ja-JP">
                <a:solidFill>
                  <a:srgbClr val="626669"/>
                </a:solidFill>
                <a:latin typeface="Noto Sans"/>
                <a:ea typeface="Noto Sans CJK JP"/>
                <a:hlinkClick r:id="rId3"/>
              </a:rPr>
              <a:t>https://github.com/fastai/imagenette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latin typeface="Noto Sans"/>
              </a:rPr>
              <a:t>参考文献</a:t>
            </a:r>
          </a:p>
        </p:txBody>
      </p:sp>
      <p:sp>
        <p:nvSpPr>
          <p:cNvPr id="3" name="Title 2"/>
          <p:cNvSpPr>
            <a:spLocks noGrp="1"/>
          </p:cNvSpPr>
          <p:nvPr>
            <p:ph type="title" idx="2"/>
          </p:nvPr>
        </p:nvSpPr>
        <p:spPr/>
        <p:txBody>
          <a:bodyPr/>
          <a:lstStyle/>
          <a:p>
            <a:r>
              <a:rPr sz="1400" b="1">
                <a:solidFill>
                  <a:srgbClr val="FFFEF8"/>
                </a:solidFill>
                <a:latin typeface="Noto Sans"/>
                <a:ea typeface="Noto Sans CJK JP"/>
              </a:rPr>
              <a:t>Appendix: 7 参考文献</a:t>
            </a:r>
          </a:p>
        </p:txBody>
      </p:sp>
      <p:sp>
        <p:nvSpPr>
          <p:cNvPr id="4" name="TextBox 3"/>
          <p:cNvSpPr txBox="1"/>
          <p:nvPr/>
        </p:nvSpPr>
        <p:spPr>
          <a:xfrm>
            <a:off x="594360" y="1325058"/>
            <a:ext cx="7955279" cy="455512"/>
          </a:xfrm>
          <a:prstGeom prst="rect">
            <a:avLst/>
          </a:prstGeom>
          <a:noFill/>
        </p:spPr>
        <p:txBody>
          <a:bodyPr wrap="square" anchor="t" lIns="0" rIns="0" tIns="0" bIns="0">
            <a:spAutoFit/>
          </a:bodyPr>
          <a:lstStyle/>
          <a:p>
            <a:pPr>
              <a:lnSpc>
                <a:spcPct val="100000"/>
              </a:lnSpc>
              <a:spcBef>
                <a:spcPts val="0"/>
              </a:spcBef>
              <a:spcAft>
                <a:spcPts val="0"/>
              </a:spcAft>
              <a:buNone/>
            </a:pPr>
            <a:r>
              <a:rPr sz="1900" b="1" lang="ja-JP">
                <a:solidFill>
                  <a:srgbClr val="303437"/>
                </a:solidFill>
                <a:latin typeface="Noto Sans"/>
                <a:ea typeface="Noto Sans CJK JP"/>
              </a:rPr>
              <a:t>Do ImageNet Classifiers Generalize to ImageNet?</a:t>
            </a:r>
          </a:p>
        </p:txBody>
      </p:sp>
      <p:sp>
        <p:nvSpPr>
          <p:cNvPr id="5" name="TextBox 4"/>
          <p:cNvSpPr txBox="1"/>
          <p:nvPr/>
        </p:nvSpPr>
        <p:spPr>
          <a:xfrm>
            <a:off x="594360" y="1711857"/>
            <a:ext cx="7955279" cy="565955"/>
          </a:xfrm>
          <a:prstGeom prst="rect">
            <a:avLst/>
          </a:prstGeom>
          <a:noFill/>
        </p:spPr>
        <p:txBody>
          <a:bodyPr wrap="square" anchor="t" lIns="0" rIns="0" tIns="0" bIns="0">
            <a:spAutoFit/>
          </a:bodyPr>
          <a:lstStyle/>
          <a:p>
            <a:pPr>
              <a:lnSpc>
                <a:spcPct val="100000"/>
              </a:lnSpc>
              <a:spcBef>
                <a:spcPts val="0"/>
              </a:spcBef>
              <a:spcAft>
                <a:spcPts val="0"/>
              </a:spcAft>
              <a:buNone/>
            </a:pPr>
            <a:r>
              <a:rPr sz="1350" b="0" lang="ja-JP">
                <a:solidFill>
                  <a:srgbClr val="303437"/>
                </a:solidFill>
                <a:latin typeface="Noto Sans"/>
                <a:ea typeface="Noto Sans CJK JP"/>
              </a:rPr>
              <a:t>Recht, B., Roelofs, R., Schmidt, L., &amp; Shankar, V. (2019). ICML, Proceedings of Machine Learning Research, 97.</a:t>
            </a:r>
          </a:p>
        </p:txBody>
      </p:sp>
      <p:sp>
        <p:nvSpPr>
          <p:cNvPr id="6" name="TextBox 5"/>
          <p:cNvSpPr txBox="1"/>
          <p:nvPr/>
        </p:nvSpPr>
        <p:spPr>
          <a:xfrm>
            <a:off x="594360" y="2265037"/>
            <a:ext cx="7955279" cy="732332"/>
          </a:xfrm>
          <a:prstGeom prst="rect">
            <a:avLst/>
          </a:prstGeom>
          <a:noFill/>
        </p:spPr>
        <p:txBody>
          <a:bodyPr wrap="square" anchor="t" lIns="0" rIns="0" tIns="0" bIns="0">
            <a:spAutoFit/>
          </a:bodyPr>
          <a:lstStyle/>
          <a:p>
            <a:pPr>
              <a:lnSpc>
                <a:spcPct val="100000"/>
              </a:lnSpc>
              <a:spcBef>
                <a:spcPts val="0"/>
              </a:spcBef>
              <a:spcAft>
                <a:spcPts val="0"/>
              </a:spcAft>
              <a:buNone/>
            </a:pPr>
            <a:r>
              <a:rPr sz="1800" b="0" lang="ja-JP">
                <a:solidFill>
                  <a:srgbClr val="303437"/>
                </a:solidFill>
                <a:latin typeface="Noto Sans"/>
                <a:ea typeface="Noto Sans CJK JP"/>
              </a:rPr>
              <a:t>ImageNetV2の原著論文。新たに収集した画像で既存分類器の汎化性能を検証する。</a:t>
            </a:r>
          </a:p>
        </p:txBody>
      </p:sp>
      <p:sp>
        <p:nvSpPr>
          <p:cNvPr id="7" name="TextBox 6"/>
          <p:cNvSpPr txBox="1"/>
          <p:nvPr/>
        </p:nvSpPr>
        <p:spPr>
          <a:xfrm>
            <a:off x="594360" y="2906484"/>
            <a:ext cx="7955279" cy="308415"/>
          </a:xfrm>
          <a:prstGeom prst="rect">
            <a:avLst/>
          </a:prstGeom>
          <a:noFill/>
        </p:spPr>
        <p:txBody>
          <a:bodyPr wrap="square" anchor="t" lIns="0" rIns="0" tIns="0" bIns="0">
            <a:spAutoFit/>
          </a:bodyPr>
          <a:lstStyle/>
          <a:p>
            <a:pPr>
              <a:lnSpc>
                <a:spcPct val="100000"/>
              </a:lnSpc>
              <a:spcBef>
                <a:spcPts val="0"/>
              </a:spcBef>
              <a:spcAft>
                <a:spcPts val="0"/>
              </a:spcAft>
              <a:buNone/>
            </a:pPr>
            <a:r>
              <a:rPr sz="1050" b="0" lang="ja-JP">
                <a:solidFill>
                  <a:srgbClr val="626669"/>
                </a:solidFill>
                <a:latin typeface="Noto Sans"/>
                <a:ea typeface="Noto Sans CJK JP"/>
                <a:hlinkClick r:id="rId2"/>
              </a:rPr>
              <a:t>https://arxiv.org/abs/1902.10811</a:t>
            </a:r>
          </a:p>
        </p:txBody>
      </p:sp>
      <p:sp>
        <p:nvSpPr>
          <p:cNvPr id="8" name="TextBox 7"/>
          <p:cNvSpPr txBox="1"/>
          <p:nvPr/>
        </p:nvSpPr>
        <p:spPr>
          <a:xfrm>
            <a:off x="594360" y="3323774"/>
            <a:ext cx="7955279" cy="455512"/>
          </a:xfrm>
          <a:prstGeom prst="rect">
            <a:avLst/>
          </a:prstGeom>
          <a:noFill/>
        </p:spPr>
        <p:txBody>
          <a:bodyPr wrap="square" anchor="t" lIns="0" rIns="0" tIns="0" bIns="0">
            <a:spAutoFit/>
          </a:bodyPr>
          <a:lstStyle/>
          <a:p>
            <a:pPr>
              <a:lnSpc>
                <a:spcPct val="100000"/>
              </a:lnSpc>
              <a:spcBef>
                <a:spcPts val="0"/>
              </a:spcBef>
              <a:spcAft>
                <a:spcPts val="0"/>
              </a:spcAft>
              <a:buNone/>
            </a:pPr>
            <a:r>
              <a:rPr sz="1900" b="1" lang="ja-JP">
                <a:solidFill>
                  <a:srgbClr val="303437"/>
                </a:solidFill>
                <a:latin typeface="Noto Sans"/>
                <a:ea typeface="Noto Sans CJK JP"/>
              </a:rPr>
              <a:t>Are we done with ImageNet?</a:t>
            </a:r>
          </a:p>
        </p:txBody>
      </p:sp>
      <p:sp>
        <p:nvSpPr>
          <p:cNvPr id="9" name="TextBox 8"/>
          <p:cNvSpPr txBox="1"/>
          <p:nvPr/>
        </p:nvSpPr>
        <p:spPr>
          <a:xfrm>
            <a:off x="594360" y="3710573"/>
            <a:ext cx="7955279" cy="360393"/>
          </a:xfrm>
          <a:prstGeom prst="rect">
            <a:avLst/>
          </a:prstGeom>
          <a:noFill/>
        </p:spPr>
        <p:txBody>
          <a:bodyPr wrap="square" anchor="t" lIns="0" rIns="0" tIns="0" bIns="0">
            <a:spAutoFit/>
          </a:bodyPr>
          <a:lstStyle/>
          <a:p>
            <a:pPr>
              <a:lnSpc>
                <a:spcPct val="100000"/>
              </a:lnSpc>
              <a:spcBef>
                <a:spcPts val="0"/>
              </a:spcBef>
              <a:spcAft>
                <a:spcPts val="0"/>
              </a:spcAft>
              <a:buNone/>
            </a:pPr>
            <a:r>
              <a:rPr sz="1350" b="0" lang="ja-JP">
                <a:solidFill>
                  <a:srgbClr val="303437"/>
                </a:solidFill>
                <a:latin typeface="Noto Sans"/>
                <a:ea typeface="Noto Sans CJK JP"/>
              </a:rPr>
              <a:t>Beyer, L., Hénaff, O. J., Kolesnikov, A., Zhai, X., &amp; van den Oord, A. (2020). arXiv:2006.07159.</a:t>
            </a:r>
          </a:p>
        </p:txBody>
      </p:sp>
      <p:sp>
        <p:nvSpPr>
          <p:cNvPr id="10" name="TextBox 9"/>
          <p:cNvSpPr txBox="1"/>
          <p:nvPr/>
        </p:nvSpPr>
        <p:spPr>
          <a:xfrm>
            <a:off x="594360" y="4058191"/>
            <a:ext cx="7955279" cy="732332"/>
          </a:xfrm>
          <a:prstGeom prst="rect">
            <a:avLst/>
          </a:prstGeom>
          <a:noFill/>
        </p:spPr>
        <p:txBody>
          <a:bodyPr wrap="square" anchor="t" lIns="0" rIns="0" tIns="0" bIns="0">
            <a:spAutoFit/>
          </a:bodyPr>
          <a:lstStyle/>
          <a:p>
            <a:pPr>
              <a:lnSpc>
                <a:spcPct val="100000"/>
              </a:lnSpc>
              <a:spcBef>
                <a:spcPts val="0"/>
              </a:spcBef>
              <a:spcAft>
                <a:spcPts val="0"/>
              </a:spcAft>
              <a:buNone/>
            </a:pPr>
            <a:r>
              <a:rPr sz="1800" b="0" lang="ja-JP">
                <a:solidFill>
                  <a:srgbClr val="303437"/>
                </a:solidFill>
                <a:latin typeface="Noto Sans"/>
                <a:ea typeface="Noto Sans CJK JP"/>
              </a:rPr>
              <a:t>検証画像の正解を再注釈した研究。複数の物体を正解とするReaLラベルを提案する。</a:t>
            </a:r>
          </a:p>
        </p:txBody>
      </p:sp>
      <p:sp>
        <p:nvSpPr>
          <p:cNvPr id="11" name="TextBox 10"/>
          <p:cNvSpPr txBox="1"/>
          <p:nvPr/>
        </p:nvSpPr>
        <p:spPr>
          <a:xfrm>
            <a:off x="594360" y="4699638"/>
            <a:ext cx="7955279" cy="308415"/>
          </a:xfrm>
          <a:prstGeom prst="rect">
            <a:avLst/>
          </a:prstGeom>
          <a:noFill/>
        </p:spPr>
        <p:txBody>
          <a:bodyPr wrap="square" anchor="t" lIns="0" rIns="0" tIns="0" bIns="0">
            <a:spAutoFit/>
          </a:bodyPr>
          <a:lstStyle/>
          <a:p>
            <a:pPr>
              <a:lnSpc>
                <a:spcPct val="100000"/>
              </a:lnSpc>
              <a:spcBef>
                <a:spcPts val="0"/>
              </a:spcBef>
              <a:spcAft>
                <a:spcPts val="0"/>
              </a:spcAft>
              <a:buNone/>
            </a:pPr>
            <a:r>
              <a:rPr sz="1050" b="0" lang="ja-JP">
                <a:solidFill>
                  <a:srgbClr val="626669"/>
                </a:solidFill>
                <a:latin typeface="Noto Sans"/>
                <a:ea typeface="Noto Sans CJK JP"/>
                <a:hlinkClick r:id="rId3"/>
              </a:rPr>
              <a:t>https://arxiv.org/abs/2006.07159</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latin typeface="Noto Sans"/>
              </a:rPr>
              <a:t>参考文献</a:t>
            </a:r>
          </a:p>
        </p:txBody>
      </p:sp>
      <p:sp>
        <p:nvSpPr>
          <p:cNvPr id="3" name="Title 2"/>
          <p:cNvSpPr>
            <a:spLocks noGrp="1"/>
          </p:cNvSpPr>
          <p:nvPr>
            <p:ph type="title" idx="2"/>
          </p:nvPr>
        </p:nvSpPr>
        <p:spPr/>
        <p:txBody>
          <a:bodyPr/>
          <a:lstStyle/>
          <a:p>
            <a:r>
              <a:rPr sz="1400" b="1">
                <a:solidFill>
                  <a:srgbClr val="FFFEF8"/>
                </a:solidFill>
                <a:latin typeface="Noto Sans"/>
                <a:ea typeface="Noto Sans CJK JP"/>
              </a:rPr>
              <a:t>Appendix: 7 参考文献</a:t>
            </a:r>
          </a:p>
        </p:txBody>
      </p:sp>
      <p:sp>
        <p:nvSpPr>
          <p:cNvPr id="4" name="TextBox 3"/>
          <p:cNvSpPr txBox="1"/>
          <p:nvPr/>
        </p:nvSpPr>
        <p:spPr>
          <a:xfrm>
            <a:off x="594360" y="1327691"/>
            <a:ext cx="7955279" cy="842643"/>
          </a:xfrm>
          <a:prstGeom prst="rect">
            <a:avLst/>
          </a:prstGeom>
          <a:noFill/>
        </p:spPr>
        <p:txBody>
          <a:bodyPr wrap="square" anchor="t" lIns="0" rIns="0" tIns="0" bIns="0">
            <a:spAutoFit/>
          </a:bodyPr>
          <a:lstStyle/>
          <a:p>
            <a:pPr>
              <a:lnSpc>
                <a:spcPct val="100000"/>
              </a:lnSpc>
              <a:spcBef>
                <a:spcPts val="0"/>
              </a:spcBef>
              <a:spcAft>
                <a:spcPts val="0"/>
              </a:spcAft>
              <a:buNone/>
            </a:pPr>
            <a:r>
              <a:rPr sz="2200" b="1" lang="ja-JP">
                <a:solidFill>
                  <a:srgbClr val="303437"/>
                </a:solidFill>
                <a:latin typeface="Noto Sans"/>
                <a:ea typeface="Noto Sans CJK JP"/>
              </a:rPr>
              <a:t>Benchmarking Neural Network Robustness to Common Corruptions and Perturbations</a:t>
            </a:r>
          </a:p>
        </p:txBody>
      </p:sp>
      <p:sp>
        <p:nvSpPr>
          <p:cNvPr id="5" name="TextBox 4"/>
          <p:cNvSpPr txBox="1"/>
          <p:nvPr/>
        </p:nvSpPr>
        <p:spPr>
          <a:xfrm>
            <a:off x="594360" y="2100753"/>
            <a:ext cx="7955279" cy="395213"/>
          </a:xfrm>
          <a:prstGeom prst="rect">
            <a:avLst/>
          </a:prstGeom>
          <a:noFill/>
        </p:spPr>
        <p:txBody>
          <a:bodyPr wrap="square" anchor="t" lIns="0" rIns="0" tIns="0" bIns="0">
            <a:spAutoFit/>
          </a:bodyPr>
          <a:lstStyle/>
          <a:p>
            <a:pPr>
              <a:lnSpc>
                <a:spcPct val="100000"/>
              </a:lnSpc>
              <a:spcBef>
                <a:spcPts val="0"/>
              </a:spcBef>
              <a:spcAft>
                <a:spcPts val="0"/>
              </a:spcAft>
              <a:buNone/>
            </a:pPr>
            <a:r>
              <a:rPr sz="1550" b="0" lang="ja-JP">
                <a:solidFill>
                  <a:srgbClr val="303437"/>
                </a:solidFill>
                <a:latin typeface="Noto Sans"/>
                <a:ea typeface="Noto Sans CJK JP"/>
              </a:rPr>
              <a:t>Hendrycks, D., &amp; Dietterich, T. (2019). ICLR.</a:t>
            </a:r>
          </a:p>
        </p:txBody>
      </p:sp>
      <p:sp>
        <p:nvSpPr>
          <p:cNvPr id="6" name="TextBox 5"/>
          <p:cNvSpPr txBox="1"/>
          <p:nvPr/>
        </p:nvSpPr>
        <p:spPr>
          <a:xfrm>
            <a:off x="594360" y="2485529"/>
            <a:ext cx="7955279" cy="799958"/>
          </a:xfrm>
          <a:prstGeom prst="rect">
            <a:avLst/>
          </a:prstGeom>
          <a:noFill/>
        </p:spPr>
        <p:txBody>
          <a:bodyPr wrap="square" anchor="t" lIns="0" rIns="0" tIns="0" bIns="0">
            <a:spAutoFit/>
          </a:bodyPr>
          <a:lstStyle/>
          <a:p>
            <a:pPr>
              <a:lnSpc>
                <a:spcPct val="100000"/>
              </a:lnSpc>
              <a:spcBef>
                <a:spcPts val="0"/>
              </a:spcBef>
              <a:spcAft>
                <a:spcPts val="0"/>
              </a:spcAft>
              <a:buNone/>
            </a:pPr>
            <a:r>
              <a:rPr sz="2000" b="0" lang="ja-JP">
                <a:solidFill>
                  <a:srgbClr val="303437"/>
                </a:solidFill>
                <a:latin typeface="Noto Sans"/>
                <a:ea typeface="Noto Sans CJK JP"/>
              </a:rPr>
              <a:t>ImageNet-CとImageNet-Pの提案論文。汚損や連続的な変化に対する頑健性を評価する。</a:t>
            </a:r>
          </a:p>
        </p:txBody>
      </p:sp>
      <p:sp>
        <p:nvSpPr>
          <p:cNvPr id="7" name="TextBox 6"/>
          <p:cNvSpPr txBox="1"/>
          <p:nvPr/>
        </p:nvSpPr>
        <p:spPr>
          <a:xfrm>
            <a:off x="594360" y="3190946"/>
            <a:ext cx="7955279" cy="317236"/>
          </a:xfrm>
          <a:prstGeom prst="rect">
            <a:avLst/>
          </a:prstGeom>
          <a:noFill/>
        </p:spPr>
        <p:txBody>
          <a:bodyPr wrap="square" anchor="t" lIns="0" rIns="0" tIns="0" bIns="0">
            <a:spAutoFit/>
          </a:bodyPr>
          <a:lstStyle/>
          <a:p>
            <a:pPr>
              <a:lnSpc>
                <a:spcPct val="100000"/>
              </a:lnSpc>
              <a:spcBef>
                <a:spcPts val="0"/>
              </a:spcBef>
              <a:spcAft>
                <a:spcPts val="0"/>
              </a:spcAft>
              <a:buNone/>
            </a:pPr>
            <a:r>
              <a:rPr sz="1100" b="0" lang="ja-JP">
                <a:solidFill>
                  <a:srgbClr val="626669"/>
                </a:solidFill>
                <a:latin typeface="Noto Sans"/>
                <a:ea typeface="Noto Sans CJK JP"/>
                <a:hlinkClick r:id="rId2"/>
              </a:rPr>
              <a:t>https://arxiv.org/abs/1903.12261</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cp:coreProperties>
</file>