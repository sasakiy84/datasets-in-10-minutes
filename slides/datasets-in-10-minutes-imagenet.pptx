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7"/>
    <p:sldId id="308" r:id="rId59"/>
    <p:sldId id="309" r:id="rId60"/>
    <p:sldId id="257" r:id="rId8"/>
    <p:sldId id="258" r:id="rId9"/>
    <p:sldId id="259" r:id="rId6"/>
    <p:sldId id="260" r:id="rId5"/>
    <p:sldId id="261" r:id="rId4"/>
    <p:sldId id="262" r:id="rId3"/>
    <p:sldId id="310" r:id="rId61"/>
    <p:sldId id="263" r:id="rId2"/>
    <p:sldId id="264" r:id="rId15"/>
    <p:sldId id="265" r:id="rId16"/>
    <p:sldId id="266" r:id="rId17"/>
    <p:sldId id="267" r:id="rId18"/>
    <p:sldId id="268" r:id="rId19"/>
    <p:sldId id="314" r:id="rId10"/>
    <p:sldId id="311" r:id="rId62"/>
    <p:sldId id="269" r:id="rId20"/>
    <p:sldId id="270" r:id="rId21"/>
    <p:sldId id="299" r:id="rId50"/>
    <p:sldId id="271" r:id="rId22"/>
    <p:sldId id="312" r:id="rId63"/>
    <p:sldId id="272" r:id="rId23"/>
    <p:sldId id="273" r:id="rId24"/>
    <p:sldId id="274" r:id="rId25"/>
    <p:sldId id="313" r:id="rId64"/>
    <p:sldId id="275" r:id="rId26"/>
    <p:sldId id="276" r:id="rId27"/>
    <p:sldId id="277" r:id="rId28"/>
    <p:sldId id="278" r:id="rId29"/>
    <p:sldId id="315" r:id="rId65"/>
    <p:sldId id="316" r:id="rId66"/>
    <p:sldId id="317" r:id="rId67"/>
    <p:sldId id="318" r:id="rId68"/>
    <p:sldId id="319" r:id="rId6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1.xml"/><Relationship Id="rId3" Type="http://schemas.openxmlformats.org/officeDocument/2006/relationships/slide" Target="slides/slide9.xml"/><Relationship Id="rId4" Type="http://schemas.openxmlformats.org/officeDocument/2006/relationships/slide" Target="slides/slide8.xml"/><Relationship Id="rId5" Type="http://schemas.openxmlformats.org/officeDocument/2006/relationships/slide" Target="slides/slide7.xml"/><Relationship Id="rId6" Type="http://schemas.openxmlformats.org/officeDocument/2006/relationships/slide" Target="slides/slide6.xml"/><Relationship Id="rId7" Type="http://schemas.openxmlformats.org/officeDocument/2006/relationships/slide" Target="slides/slide1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17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2.xml"/><Relationship Id="rId23" Type="http://schemas.openxmlformats.org/officeDocument/2006/relationships/slide" Target="slides/slide24.xml"/><Relationship Id="rId24" Type="http://schemas.openxmlformats.org/officeDocument/2006/relationships/slide" Target="slides/slide25.xml"/><Relationship Id="rId25" Type="http://schemas.openxmlformats.org/officeDocument/2006/relationships/slide" Target="slides/slide26.xml"/><Relationship Id="rId26" Type="http://schemas.openxmlformats.org/officeDocument/2006/relationships/slide" Target="slides/slide28.xml"/><Relationship Id="rId27" Type="http://schemas.openxmlformats.org/officeDocument/2006/relationships/slide" Target="slides/slide29.xml"/><Relationship Id="rId28" Type="http://schemas.openxmlformats.org/officeDocument/2006/relationships/slide" Target="slides/slide30.xml"/><Relationship Id="rId29" Type="http://schemas.openxmlformats.org/officeDocument/2006/relationships/slide" Target="slides/slide31.xml"/><Relationship Id="rId30" Type="http://schemas.openxmlformats.org/officeDocument/2006/relationships/slide" Target="slides/slide37.xml"/><Relationship Id="rId31" Type="http://schemas.openxmlformats.org/officeDocument/2006/relationships/slide" Target="slides/slide38.xml"/><Relationship Id="rId32" Type="http://schemas.openxmlformats.org/officeDocument/2006/relationships/slide" Target="slides/slide39.xml"/><Relationship Id="rId33" Type="http://schemas.openxmlformats.org/officeDocument/2006/relationships/slide" Target="slides/slide40.xml"/><Relationship Id="rId34" Type="http://schemas.openxmlformats.org/officeDocument/2006/relationships/slide" Target="slides/slide41.xml"/><Relationship Id="rId35" Type="http://schemas.openxmlformats.org/officeDocument/2006/relationships/slide" Target="slides/slide42.xml"/><Relationship Id="rId36" Type="http://schemas.openxmlformats.org/officeDocument/2006/relationships/slide" Target="slides/slide43.xml"/><Relationship Id="rId37" Type="http://schemas.openxmlformats.org/officeDocument/2006/relationships/slide" Target="slides/slide44.xml"/><Relationship Id="rId38" Type="http://schemas.openxmlformats.org/officeDocument/2006/relationships/slide" Target="slides/slide45.xml"/><Relationship Id="rId39" Type="http://schemas.openxmlformats.org/officeDocument/2006/relationships/slide" Target="slides/slide46.xml"/><Relationship Id="rId40" Type="http://schemas.openxmlformats.org/officeDocument/2006/relationships/slide" Target="slides/slide47.xml"/><Relationship Id="rId41" Type="http://schemas.openxmlformats.org/officeDocument/2006/relationships/slide" Target="slides/slide48.xml"/><Relationship Id="rId42" Type="http://schemas.openxmlformats.org/officeDocument/2006/relationships/slide" Target="slides/slide49.xml"/><Relationship Id="rId43" Type="http://schemas.openxmlformats.org/officeDocument/2006/relationships/slide" Target="slides/slide50.xml"/><Relationship Id="rId44" Type="http://schemas.openxmlformats.org/officeDocument/2006/relationships/slide" Target="slides/slide51.xml"/><Relationship Id="rId45" Type="http://schemas.openxmlformats.org/officeDocument/2006/relationships/slide" Target="slides/slide52.xml"/><Relationship Id="rId46" Type="http://schemas.openxmlformats.org/officeDocument/2006/relationships/slide" Target="slides/slide53.xml"/><Relationship Id="rId47" Type="http://schemas.openxmlformats.org/officeDocument/2006/relationships/slide" Target="slides/slide54.xml"/><Relationship Id="rId48" Type="http://schemas.openxmlformats.org/officeDocument/2006/relationships/slide" Target="slides/slide55.xml"/><Relationship Id="rId49" Type="http://schemas.openxmlformats.org/officeDocument/2006/relationships/slide" Target="slides/slide56.xml"/><Relationship Id="rId50" Type="http://schemas.openxmlformats.org/officeDocument/2006/relationships/slide" Target="slides/slide21.xml"/><Relationship Id="rId51" Type="http://schemas.openxmlformats.org/officeDocument/2006/relationships/slide" Target="slides/slide57.xml"/><Relationship Id="rId52" Type="http://schemas.openxmlformats.org/officeDocument/2006/relationships/slide" Target="slides/slide58.xml"/><Relationship Id="rId53" Type="http://schemas.openxmlformats.org/officeDocument/2006/relationships/slide" Target="slides/slide59.xml"/><Relationship Id="rId54" Type="http://schemas.openxmlformats.org/officeDocument/2006/relationships/slide" Target="slides/slide60.xml"/><Relationship Id="rId55" Type="http://schemas.openxmlformats.org/officeDocument/2006/relationships/slide" Target="slides/slide61.xml"/><Relationship Id="rId56" Type="http://schemas.openxmlformats.org/officeDocument/2006/relationships/slide" Target="slides/slide62.xml"/><Relationship Id="rId57" Type="http://schemas.openxmlformats.org/officeDocument/2006/relationships/slide" Target="slides/slide63.xml"/><Relationship Id="rId58" Type="http://schemas.openxmlformats.org/officeDocument/2006/relationships/slide" Target="slides/slide64.xml"/><Relationship Id="rId59" Type="http://schemas.openxmlformats.org/officeDocument/2006/relationships/slide" Target="slides/slide2.xml"/><Relationship Id="rId60" Type="http://schemas.openxmlformats.org/officeDocument/2006/relationships/slide" Target="slides/slide3.xml"/><Relationship Id="rId61" Type="http://schemas.openxmlformats.org/officeDocument/2006/relationships/slide" Target="slides/slide10.xml"/><Relationship Id="rId62" Type="http://schemas.openxmlformats.org/officeDocument/2006/relationships/slide" Target="slides/slide18.xml"/><Relationship Id="rId63" Type="http://schemas.openxmlformats.org/officeDocument/2006/relationships/slide" Target="slides/slide23.xml"/><Relationship Id="rId64" Type="http://schemas.openxmlformats.org/officeDocument/2006/relationships/slide" Target="slides/slide27.xml"/><Relationship Id="rId65" Type="http://schemas.openxmlformats.org/officeDocument/2006/relationships/slide" Target="slides/slide32.xml"/><Relationship Id="rId66" Type="http://schemas.openxmlformats.org/officeDocument/2006/relationships/slide" Target="slides/slide33.xml"/><Relationship Id="rId67" Type="http://schemas.openxmlformats.org/officeDocument/2006/relationships/slide" Target="slides/slide34.xml"/><Relationship Id="rId68" Type="http://schemas.openxmlformats.org/officeDocument/2006/relationships/slide" Target="slides/slide35.xml"/><Relationship Id="rId69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 b="1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>
              <a:defRPr sz="2200"/>
            </a:pPr>
            <a:endParaRPr/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pPr algn="ctr"/>
              <a:t>‹#›</a:t>
            </a:fld>
            <a:endParaRPr lang="en-US" sz="1800" b="1" dirty="0"/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98848"/>
            <a:ext cx="3108960" cy="22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ja" b="1" dirty="0">
                <a:solidFill>
                  <a:schemeClr val="lt1"/>
                </a:solidFill>
              </a:rPr>
              <a:t>T</a:t>
            </a:r>
            <a:r>
              <a:rPr lang="ja" b="1" dirty="0">
                <a:solidFill>
                  <a:schemeClr val="lt1"/>
                </a:solidFill>
              </a:rPr>
              <a:t>able of </a:t>
            </a:r>
            <a:r>
              <a:rPr lang="en-US" altLang="ja" b="1" dirty="0">
                <a:solidFill>
                  <a:schemeClr val="lt1"/>
                </a:solidFill>
              </a:rPr>
              <a:t>C</a:t>
            </a:r>
            <a:r>
              <a:rPr lang="ja" b="1" dirty="0">
                <a:solidFill>
                  <a:schemeClr val="lt1"/>
                </a:solidFill>
              </a:rPr>
              <a:t>ontents</a:t>
            </a:r>
            <a:endParaRPr b="1" dirty="0">
              <a:solidFill>
                <a:schemeClr val="lt1"/>
              </a:solidFill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1.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Background &amp; Purpose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2.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Methodology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3.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Classification Framework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4.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Results &amp; Analysis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>
              <a:solidFill>
                <a:schemeClr val="dk1"/>
              </a:solidFill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5.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Conclusions and future work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●"/>
              <a:defRPr sz="2000">
                <a:solidFill>
                  <a:schemeClr val="dk2"/>
                </a:solidFill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200"/>
              <a:buChar char="●"/>
              <a:defRPr sz="2200">
                <a:solidFill>
                  <a:schemeClr val="dk2"/>
                </a:solidFill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●"/>
              <a:defRPr sz="2000">
                <a:solidFill>
                  <a:schemeClr val="dk2"/>
                </a:solidFill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●"/>
              <a:defRPr sz="2000">
                <a:solidFill>
                  <a:schemeClr val="dk2"/>
                </a:solidFill>
              </a:defRPr>
            </a:lvl1pPr>
            <a:lvl2pPr marL="914400" lvl="1" indent="-3556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2pPr>
            <a:lvl3pPr marL="1371600" lvl="2" indent="-3556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3pPr>
            <a:lvl4pPr marL="1828800" lvl="3" indent="-3683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200"/>
              <a:buChar char="●"/>
              <a:defRPr sz="2200">
                <a:solidFill>
                  <a:schemeClr val="dk2"/>
                </a:solidFill>
              </a:defRPr>
            </a:lvl4pPr>
            <a:lvl5pPr marL="2286000" lvl="4" indent="-3556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5pPr>
            <a:lvl6pPr marL="2743200" lvl="5" indent="-3556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6pPr>
            <a:lvl7pPr marL="3200400" lvl="6" indent="-3556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●"/>
              <a:defRPr sz="2000">
                <a:solidFill>
                  <a:schemeClr val="dk2"/>
                </a:solidFill>
              </a:defRPr>
            </a:lvl7pPr>
            <a:lvl8pPr marL="3657600" lvl="7" indent="-3556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8pPr>
            <a:lvl9pPr marL="4114800" lvl="8" indent="-3556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dirty="0"/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en-US" sz="1800" b="0">
                <a:solidFill>
                  <a:schemeClr val="dk2"/>
                </a:solidFill>
              </a:rPr>
              <a:t>Insert chart</a:t>
            </a:r>
            <a:endParaRPr lang="en-US"/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>
            <a:lvl1pPr>
              <a:buNone/>
              <a:defRPr/>
            </a:lvl1pPr>
          </a:lstStyle>
          <a:p>
            <a:endParaRPr lang="en-US" dirty="0"/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>
            <a:lvl1pPr>
              <a:buNone/>
              <a:defRPr/>
            </a:lvl1pPr>
          </a:lstStyle>
          <a:p>
            <a:endParaRPr lang="en-US"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9pPr>
          </a:lstStyle>
          <a:p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47245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dk2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image" Target="../media/image19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image" Target="../media/image20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097280"/>
            <a:ext cx="8229600" cy="2240280"/>
          </a:xfrm>
        </p:spPr>
        <p:txBody>
          <a:bodyPr wrap="none" lIns="0" rIns="0" tIns="0" bIns="0" anchor="ctr"/>
          <a:lstStyle/>
          <a:p>
            <a:pPr algn="ctr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defRPr sz="3400" b="0">
                <a:latin typeface="Noto Sans CJK JP"/>
              </a:defRPr>
            </a:pPr>
            <a:r>
              <a:rPr sz="3400" b="0" lang="ja-JP">
                <a:solidFill>
                  <a:srgbClr val="303437"/>
                </a:solidFill>
                <a:latin typeface="Noto Sans CJK JP"/>
                <a:ea typeface="Noto Sans CJK JP"/>
              </a:rPr>
              <a:t>画像認識用データセット</a:t>
            </a:r>
            <a:endParaRPr sz="2300"/>
          </a:p>
          <a:p>
            <a:pPr algn="ctr">
              <a:lnSpc>
                <a:spcPts val="7800"/>
              </a:lnSpc>
              <a:spcBef>
                <a:spcPts val="0"/>
              </a:spcBef>
              <a:spcAft>
                <a:spcPts val="0"/>
              </a:spcAft>
              <a:defRPr sz="5800" b="0">
                <a:latin typeface="Liberation Sans"/>
              </a:defRPr>
            </a:pPr>
            <a:r>
              <a:rPr sz="5800" b="0" lang="ja-JP">
                <a:solidFill>
                  <a:srgbClr val="303437"/>
                </a:solidFill>
                <a:latin typeface="Liberation Sans"/>
                <a:ea typeface="Liberation Sans"/>
              </a:rPr>
              <a:t>ImageNet</a:t>
            </a:r>
            <a:endParaRPr sz="2300"/>
          </a:p>
          <a:p>
            <a:pPr algn="ctr"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2800" b="0">
                <a:latin typeface="Noto Sans CJK JP"/>
              </a:defRPr>
            </a:pPr>
            <a:r>
              <a:rPr sz="2800" b="0" lang="ja-JP">
                <a:solidFill>
                  <a:srgbClr val="303437"/>
                </a:solidFill>
                <a:latin typeface="Noto Sans CJK JP"/>
                <a:ea typeface="Noto Sans CJK JP"/>
              </a:rPr>
              <a:t>ImageNet-1k と ILSVRC</a:t>
            </a:r>
            <a:endParaRPr sz="230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98848"/>
            <a:ext cx="3108960" cy="22860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latin typeface="Noto Sans CJK JP"/>
              </a:defRPr>
              <a:buNone/>
            </a:pPr>
            <a:r>
              <a:rPr sz="1400" lang="ja-JP">
                <a:solidFill>
                  <a:srgbClr val="626669"/>
                </a:solidFill>
                <a:latin typeface="Noto Sans CJK JP"/>
                <a:ea typeface="Noto Sans CJK JP"/>
              </a:rPr>
              <a:t>sasakiy84</a:t>
            </a:r>
            <a:endParaRPr sz="1400"/>
            <a:endParaRPr sz="1400"/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046720" cy="27432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400" b="0">
                <a:latin typeface="Noto Sans CJK JP"/>
              </a:defRPr>
              <a:spcAft>
                <a:spcPts val="0"/>
              </a:spcAft>
              <a:buNone/>
            </a:pPr>
            <a:r>
              <a:rPr sz="1400" lang="ja-JP">
                <a:solidFill>
                  <a:srgbClr val="626669"/>
                </a:solidFill>
                <a:latin typeface="Noto Sans CJK JP"/>
                <a:ea typeface="Noto Sans CJK JP"/>
              </a:rPr>
              <a:t>datasets in 10 minutes (2026-10-15)</a:t>
            </a:r>
            <a:endParaRPr sz="1400"/>
            <a:endParaRPr sz="1400"/>
            <a:endParaRPr sz="14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800">
                <a:latin typeface="Noto Sans CJK JP"/>
              </a:defRPr>
              <a:spcAft>
                <a:spcPts val="0"/>
              </a:spcAft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本編の構成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ImageNetの構成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>
                <a:latin typeface="Noto Sans CJK JP"/>
              </a:defRPr>
              <a:buAutoNum type="arabicPeriod" startAt="1"/>
            </a:pPr>
            <a:r>
              <a:rPr sz="2400">
                <a:solidFill>
                  <a:srgbClr val="303437"/>
                </a:solidFill>
                <a:latin typeface="Noto Sans CJK JP"/>
              </a:rPr>
              <a:t>概要とタスク</a:t>
            </a:r>
            <a:endParaRPr sz="2400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>
                <a:latin typeface="Noto Sans CJK JP"/>
              </a:defRPr>
              <a:buAutoNum type="arabicPeriod" startAt="2"/>
            </a:pPr>
            <a:r>
              <a:rPr sz="2400">
                <a:solidFill>
                  <a:srgbClr val="303437"/>
                </a:solidFill>
                <a:latin typeface="Noto Sans CJK JP"/>
              </a:rPr>
              <a:t>作成方法と規模</a:t>
            </a:r>
            <a:endParaRPr sz="2400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>
                <a:latin typeface="Noto Sans CJK JP"/>
              </a:defRPr>
              <a:buAutoNum type="arabicPeriod" startAt="3"/>
            </a:pPr>
            <a:r>
              <a:rPr sz="2400">
                <a:solidFill>
                  <a:srgbClr val="303437"/>
                </a:solidFill>
                <a:latin typeface="Noto Sans CJK JP"/>
              </a:rPr>
              <a:t>評価と性能</a:t>
            </a:r>
            <a:endParaRPr sz="2400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>
                <a:latin typeface="Noto Sans CJK JP"/>
              </a:defRPr>
              <a:buAutoNum type="arabicPeriod" startAt="4"/>
            </a:pPr>
            <a:r>
              <a:rPr sz="2400">
                <a:solidFill>
                  <a:srgbClr val="303437"/>
                </a:solidFill>
                <a:latin typeface="Noto Sans CJK JP"/>
              </a:rPr>
              <a:t>利用の変遷と現在</a:t>
            </a:r>
            <a:endParaRPr sz="2400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>
                <a:latin typeface="Noto Sans CJK JP"/>
              </a:defRPr>
              <a:buAutoNum type="arabicPeriod" startAt="5"/>
            </a:pPr>
            <a:r>
              <a:rPr sz="2400">
                <a:solidFill>
                  <a:srgbClr val="303437"/>
                </a:solidFill>
                <a:latin typeface="Noto Sans CJK JP"/>
              </a:rPr>
              <a:t>入手方法とまとめ</a:t>
            </a:r>
            <a:endParaRPr sz="2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defRPr sz="4000">
                <a:latin typeface="Noto Sans CJK JP"/>
              </a:defR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lang="ja-JP" b="1">
                <a:solidFill>
                  <a:srgbClr val="303437"/>
                </a:solidFill>
                <a:latin typeface="Noto Sans CJK JP"/>
                <a:ea typeface="Noto Sans CJK JP"/>
              </a:rPr>
              <a:t>1 概要とタスク</a:t>
            </a:r>
            <a:endParaRPr sz="4000"/>
            <a:endParaRPr sz="4000"/>
            <a:endParaRPr sz="40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ImageNetの公式サイト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ImageNetの概要</a:t>
            </a:r>
            <a:endParaRPr sz="1400"/>
          </a:p>
        </p:txBody>
      </p:sp>
      <p:pic>
        <p:nvPicPr>
          <p:cNvPr id="4" name="Picture 3" descr="official-home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6172"/>
            <a:ext cx="8046720" cy="2779776"/>
          </a:xfrm>
          <a:prstGeom prst="rect">
            <a:avLst/>
          </a:prstGeom>
        </p:spPr>
      </p:pic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ImageNet公式サイト. https://www.image-net.org/</a:t>
            </a:r>
            <a:endParaRPr sz="85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ImageNet全体と1,000クラス版を区別する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ImageNetの概要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ImageNetは、物体の概念に画像を対応させたデータである。</a:t>
            </a:r>
            <a:endParaRPr sz="2100"/>
            <a:endParaRPr sz="2100"/>
          </a:p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2009年に、画像認識の国際会議CVPRで発表された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</a:p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2014年時点で14,197,122枚・21,841カテゴリだった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</a:p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画像認識の評価大会であるILSVRCでは一部を利用する。</a:t>
            </a:r>
            <a:endParaRPr sz="2100"/>
          </a:p>
          <a:p>
            <a:pPr algn="l" lvl="1" marL="42672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–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2012年の画像分類用データは1,000クラスである。</a:t>
            </a:r>
            <a:endParaRPr sz="21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Deng et al. (2009), CVPR. https://image-net.org/static_files/papers/imagenet_cvpr09.pdf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Russakovsky et al. (2015), §1.1. https://arxiv.org/abs/1409.0575</a:t>
            </a:r>
            <a:endParaRPr sz="85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画像から物体のクラスを予測する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画像分類の実例</a:t>
            </a:r>
            <a:endParaRPr sz="1400"/>
          </a:p>
        </p:txBody>
      </p:sp>
      <p:pic>
        <p:nvPicPr>
          <p:cNvPr id="4" name="Picture 3" descr="ILSVRC2012_val_0000911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267" y="1426464"/>
            <a:ext cx="3444944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300" b="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正解はテンチ（淡水魚）</a:t>
            </a:r>
            <a:endParaRPr sz="2300"/>
            <a:endParaRPr sz="2300"/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tench</a:t>
            </a:r>
            <a:endParaRPr sz="1800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釣り具や袋も写る画像から、魚の種類を分類する。</a:t>
            </a:r>
            <a:endParaRPr sz="2100"/>
            <a:endParaRPr sz="2100"/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Imagenette 160 px版. https://github.com/fastai/imagenette　画像ID ILSVRC2012_val_00009111.JPEG / n01440764 / ImageNetの10クラス版Imagenetteの検証用</a:t>
            </a:r>
            <a:endParaRPr sz="85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800" b="1">
                <a:latin typeface="Noto Sans CJK JP"/>
              </a:defRPr>
              <a:spcAft>
                <a:spcPts val="0"/>
              </a:spcAft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1,000カテゴリには生物と人工物が含まれる</a:t>
            </a:r>
            <a:endParaRPr sz="2800"/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ImageNetのカテゴリの見取り図</a:t>
            </a:r>
            <a:endParaRPr sz="1400"/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26464"/>
            <a:ext cx="385876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>
                <a:latin typeface="Noto Sans CJK JP"/>
              </a:defRPr>
              <a:buNone/>
            </a:pPr>
            <a:r>
              <a:rPr sz="1800" lang="ja-JP" b="1">
                <a:solidFill>
                  <a:srgbClr val="2C9100"/>
                </a:solidFill>
                <a:latin typeface="Noto Sans CJK JP"/>
                <a:ea typeface="Noto Sans CJK JP"/>
              </a:rPr>
              <a:t>哺乳類</a:t>
            </a:r>
            <a:endParaRPr sz="1800"/>
          </a:p>
        </p:txBody>
      </p:sp>
      <p:sp>
        <p:nvSpPr>
          <p:cNvPr id="5" name="TextBox 4"/>
          <p:cNvSpPr txBox="1"/>
          <p:nvPr/>
        </p:nvSpPr>
        <p:spPr>
          <a:xfrm>
            <a:off x="594360" y="1700784"/>
            <a:ext cx="3858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ミーアキャット・アシカ</a:t>
            </a:r>
            <a:endParaRPr sz="1600"/>
          </a:p>
        </p:txBody>
      </p:sp>
      <p:sp>
        <p:nvSpPr>
          <p:cNvPr id="6" name="TextBox 5"/>
          <p:cNvSpPr txBox="1"/>
          <p:nvPr/>
        </p:nvSpPr>
        <p:spPr>
          <a:xfrm>
            <a:off x="594360" y="2011680"/>
            <a:ext cx="385876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>
                <a:latin typeface="Noto Sans CJK JP"/>
              </a:defRPr>
              <a:buNone/>
            </a:pPr>
            <a:r>
              <a:rPr sz="1800" lang="ja-JP" b="1">
                <a:solidFill>
                  <a:srgbClr val="2C9100"/>
                </a:solidFill>
                <a:latin typeface="Noto Sans CJK JP"/>
                <a:ea typeface="Noto Sans CJK JP"/>
              </a:rPr>
              <a:t>鳥類</a:t>
            </a:r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94360" y="2286000"/>
            <a:ext cx="3858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クジャク・フラミンゴ</a:t>
            </a:r>
            <a:endParaRPr sz="1600"/>
          </a:p>
        </p:txBody>
      </p:sp>
      <p:sp>
        <p:nvSpPr>
          <p:cNvPr id="8" name="TextBox 7"/>
          <p:cNvSpPr txBox="1"/>
          <p:nvPr/>
        </p:nvSpPr>
        <p:spPr>
          <a:xfrm>
            <a:off x="594360" y="2596896"/>
            <a:ext cx="385876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>
                <a:latin typeface="Noto Sans CJK JP"/>
              </a:defRPr>
              <a:buNone/>
            </a:pPr>
            <a:r>
              <a:rPr sz="1800" lang="ja-JP" b="1">
                <a:solidFill>
                  <a:srgbClr val="2C9100"/>
                </a:solidFill>
                <a:latin typeface="Noto Sans CJK JP"/>
                <a:ea typeface="Noto Sans CJK JP"/>
              </a:rPr>
              <a:t>爬虫類と両生類</a:t>
            </a:r>
            <a:endParaRPr sz="1800"/>
          </a:p>
        </p:txBody>
      </p:sp>
      <p:sp>
        <p:nvSpPr>
          <p:cNvPr id="9" name="TextBox 8"/>
          <p:cNvSpPr txBox="1"/>
          <p:nvPr/>
        </p:nvSpPr>
        <p:spPr>
          <a:xfrm>
            <a:off x="594360" y="2871215"/>
            <a:ext cx="3858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アマガエル・アホロートル</a:t>
            </a:r>
            <a:endParaRPr sz="1600"/>
          </a:p>
        </p:txBody>
      </p:sp>
      <p:sp>
        <p:nvSpPr>
          <p:cNvPr id="10" name="TextBox 9"/>
          <p:cNvSpPr txBox="1"/>
          <p:nvPr/>
        </p:nvSpPr>
        <p:spPr>
          <a:xfrm>
            <a:off x="594360" y="3182112"/>
            <a:ext cx="385876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>
                <a:latin typeface="Noto Sans CJK JP"/>
              </a:defRPr>
              <a:buNone/>
            </a:pPr>
            <a:r>
              <a:rPr sz="1800" lang="ja-JP" b="1">
                <a:solidFill>
                  <a:srgbClr val="2C9100"/>
                </a:solidFill>
                <a:latin typeface="Noto Sans CJK JP"/>
                <a:ea typeface="Noto Sans CJK JP"/>
              </a:rPr>
              <a:t>魚類と水生無脊椎動物</a:t>
            </a:r>
            <a:endParaRPr sz="1800"/>
          </a:p>
        </p:txBody>
      </p:sp>
      <p:sp>
        <p:nvSpPr>
          <p:cNvPr id="11" name="TextBox 10"/>
          <p:cNvSpPr txBox="1"/>
          <p:nvPr/>
        </p:nvSpPr>
        <p:spPr>
          <a:xfrm>
            <a:off x="594360" y="3456432"/>
            <a:ext cx="3858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ウニ・ナマコ</a:t>
            </a:r>
            <a:endParaRPr sz="1600"/>
          </a:p>
        </p:txBody>
      </p:sp>
      <p:sp>
        <p:nvSpPr>
          <p:cNvPr id="12" name="TextBox 11"/>
          <p:cNvSpPr txBox="1"/>
          <p:nvPr/>
        </p:nvSpPr>
        <p:spPr>
          <a:xfrm>
            <a:off x="594360" y="3767328"/>
            <a:ext cx="385876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>
                <a:latin typeface="Noto Sans CJK JP"/>
              </a:defRPr>
              <a:buNone/>
            </a:pPr>
            <a:r>
              <a:rPr sz="1800" lang="ja-JP" b="1">
                <a:solidFill>
                  <a:srgbClr val="2C9100"/>
                </a:solidFill>
                <a:latin typeface="Noto Sans CJK JP"/>
                <a:ea typeface="Noto Sans CJK JP"/>
              </a:rPr>
              <a:t>昆虫と陸生節足動物</a:t>
            </a:r>
            <a:endParaRPr sz="1800"/>
          </a:p>
        </p:txBody>
      </p:sp>
      <p:sp>
        <p:nvSpPr>
          <p:cNvPr id="13" name="TextBox 12"/>
          <p:cNvSpPr txBox="1"/>
          <p:nvPr/>
        </p:nvSpPr>
        <p:spPr>
          <a:xfrm>
            <a:off x="594360" y="4041648"/>
            <a:ext cx="3858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オオカバマダラ・サソリ</a:t>
            </a:r>
            <a:endParaRPr sz="1600"/>
          </a:p>
        </p:txBody>
      </p:sp>
      <p:sp>
        <p:nvSpPr>
          <p:cNvPr id="14" name="TextBox 13"/>
          <p:cNvSpPr txBox="1"/>
          <p:nvPr/>
        </p:nvSpPr>
        <p:spPr>
          <a:xfrm>
            <a:off x="4754880" y="1426464"/>
            <a:ext cx="385876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>
                <a:latin typeface="Noto Sans CJK JP"/>
              </a:defRPr>
              <a:buNone/>
            </a:pPr>
            <a:r>
              <a:rPr sz="1800" lang="ja-JP" b="1">
                <a:solidFill>
                  <a:srgbClr val="2C9100"/>
                </a:solidFill>
                <a:latin typeface="Noto Sans CJK JP"/>
                <a:ea typeface="Noto Sans CJK JP"/>
              </a:rPr>
              <a:t>乗り物</a:t>
            </a:r>
            <a:endParaRPr sz="1800"/>
          </a:p>
        </p:txBody>
      </p:sp>
      <p:sp>
        <p:nvSpPr>
          <p:cNvPr id="15" name="TextBox 14"/>
          <p:cNvSpPr txBox="1"/>
          <p:nvPr/>
        </p:nvSpPr>
        <p:spPr>
          <a:xfrm>
            <a:off x="4754880" y="1700784"/>
            <a:ext cx="3858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新幹線・コンテナ船</a:t>
            </a:r>
            <a:endParaRPr sz="1600"/>
          </a:p>
        </p:txBody>
      </p:sp>
      <p:sp>
        <p:nvSpPr>
          <p:cNvPr id="16" name="TextBox 15"/>
          <p:cNvSpPr txBox="1"/>
          <p:nvPr/>
        </p:nvSpPr>
        <p:spPr>
          <a:xfrm>
            <a:off x="4754880" y="2011680"/>
            <a:ext cx="385876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>
                <a:latin typeface="Noto Sans CJK JP"/>
              </a:defRPr>
              <a:buNone/>
            </a:pPr>
            <a:r>
              <a:rPr sz="1800" lang="ja-JP" b="1">
                <a:solidFill>
                  <a:srgbClr val="2C9100"/>
                </a:solidFill>
                <a:latin typeface="Noto Sans CJK JP"/>
                <a:ea typeface="Noto Sans CJK JP"/>
              </a:rPr>
              <a:t>電子機器と機械</a:t>
            </a:r>
            <a:endParaRPr sz="1800"/>
          </a:p>
        </p:txBody>
      </p:sp>
      <p:sp>
        <p:nvSpPr>
          <p:cNvPr id="17" name="TextBox 16"/>
          <p:cNvSpPr txBox="1"/>
          <p:nvPr/>
        </p:nvSpPr>
        <p:spPr>
          <a:xfrm>
            <a:off x="4754880" y="2286000"/>
            <a:ext cx="3858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カセットプレーヤー・ミシン</a:t>
            </a:r>
            <a:endParaRPr sz="1600"/>
          </a:p>
        </p:txBody>
      </p:sp>
      <p:sp>
        <p:nvSpPr>
          <p:cNvPr id="18" name="TextBox 17"/>
          <p:cNvSpPr txBox="1"/>
          <p:nvPr/>
        </p:nvSpPr>
        <p:spPr>
          <a:xfrm>
            <a:off x="4754880" y="2596896"/>
            <a:ext cx="385876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>
                <a:latin typeface="Noto Sans CJK JP"/>
              </a:defRPr>
              <a:buNone/>
            </a:pPr>
            <a:r>
              <a:rPr sz="1800" lang="ja-JP" b="1">
                <a:solidFill>
                  <a:srgbClr val="2C9100"/>
                </a:solidFill>
                <a:latin typeface="Noto Sans CJK JP"/>
                <a:ea typeface="Noto Sans CJK JP"/>
              </a:rPr>
              <a:t>衣類と生活用品</a:t>
            </a:r>
            <a:endParaRPr sz="1800"/>
          </a:p>
        </p:txBody>
      </p:sp>
      <p:sp>
        <p:nvSpPr>
          <p:cNvPr id="19" name="TextBox 18"/>
          <p:cNvSpPr txBox="1"/>
          <p:nvPr/>
        </p:nvSpPr>
        <p:spPr>
          <a:xfrm>
            <a:off x="4754880" y="2871215"/>
            <a:ext cx="3858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マグカップ・フライパン</a:t>
            </a:r>
            <a:endParaRPr sz="1600"/>
          </a:p>
        </p:txBody>
      </p:sp>
      <p:sp>
        <p:nvSpPr>
          <p:cNvPr id="20" name="TextBox 19"/>
          <p:cNvSpPr txBox="1"/>
          <p:nvPr/>
        </p:nvSpPr>
        <p:spPr>
          <a:xfrm>
            <a:off x="4754880" y="3182112"/>
            <a:ext cx="385876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>
                <a:latin typeface="Noto Sans CJK JP"/>
              </a:defRPr>
              <a:buNone/>
            </a:pPr>
            <a:r>
              <a:rPr sz="1800" lang="ja-JP" b="1">
                <a:solidFill>
                  <a:srgbClr val="2C9100"/>
                </a:solidFill>
                <a:latin typeface="Noto Sans CJK JP"/>
                <a:ea typeface="Noto Sans CJK JP"/>
              </a:rPr>
              <a:t>建物と構造物</a:t>
            </a:r>
            <a:endParaRPr sz="1800"/>
          </a:p>
        </p:txBody>
      </p:sp>
      <p:sp>
        <p:nvSpPr>
          <p:cNvPr id="21" name="TextBox 20"/>
          <p:cNvSpPr txBox="1"/>
          <p:nvPr/>
        </p:nvSpPr>
        <p:spPr>
          <a:xfrm>
            <a:off x="4754880" y="3456432"/>
            <a:ext cx="3858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ダム・温室</a:t>
            </a:r>
            <a:endParaRPr sz="1600"/>
          </a:p>
        </p:txBody>
      </p:sp>
      <p:sp>
        <p:nvSpPr>
          <p:cNvPr id="22" name="TextBox 21"/>
          <p:cNvSpPr txBox="1"/>
          <p:nvPr/>
        </p:nvSpPr>
        <p:spPr>
          <a:xfrm>
            <a:off x="4754880" y="3767328"/>
            <a:ext cx="385876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>
                <a:latin typeface="Noto Sans CJK JP"/>
              </a:defRPr>
              <a:buNone/>
            </a:pPr>
            <a:r>
              <a:rPr sz="1800" lang="ja-JP" b="1">
                <a:solidFill>
                  <a:srgbClr val="2C9100"/>
                </a:solidFill>
                <a:latin typeface="Noto Sans CJK JP"/>
                <a:ea typeface="Noto Sans CJK JP"/>
              </a:rPr>
              <a:t>食品と農作物</a:t>
            </a:r>
            <a:endParaRPr sz="1800"/>
          </a:p>
        </p:txBody>
      </p:sp>
      <p:sp>
        <p:nvSpPr>
          <p:cNvPr id="23" name="TextBox 22"/>
          <p:cNvSpPr txBox="1"/>
          <p:nvPr/>
        </p:nvSpPr>
        <p:spPr>
          <a:xfrm>
            <a:off x="4754880" y="4041648"/>
            <a:ext cx="3858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0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キュウリ・パプリカ</a:t>
            </a:r>
            <a:endParaRPr sz="1600"/>
          </a:p>
        </p:txBody>
      </p:sp>
      <p:sp>
        <p:nvSpPr>
          <p:cNvPr id="24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ILSVRC 2012公式devkit. https://image-net.org/challenges/LSVRC/2012/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1,000カテゴリから100カテゴリを選び、説明用の10分野へ整理。日本語名は英語ラベルの訳。</a:t>
            </a:r>
            <a:endParaRPr sz="85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正解の物体が小さく写る場合もある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画像分類の実例</a:t>
            </a:r>
            <a:endParaRPr sz="1400"/>
          </a:p>
        </p:txBody>
      </p:sp>
      <p:pic>
        <p:nvPicPr>
          <p:cNvPr id="4" name="Picture 3" descr="ILSVRC2012_val_0000816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267" y="1426464"/>
            <a:ext cx="3444944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300" b="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正解はゴルフボール</a:t>
            </a:r>
            <a:endParaRPr sz="2300"/>
            <a:endParaRPr sz="2300"/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golf ball</a:t>
            </a:r>
            <a:endParaRPr sz="1800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芝や旗が大きく写り、対象のボールは画面の一部を占める。</a:t>
            </a:r>
            <a:endParaRPr sz="2100"/>
            <a:endParaRPr sz="2100"/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Imagenette 160 px版. https://github.com/fastai/imagenette　画像ID ILSVRC2012_val_00008161.JPEG / n03445777 / Imagenetteの検証用</a:t>
            </a:r>
            <a:endParaRPr sz="85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大量の画像を学習と評価に使うために作られた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ImageNetの開発背景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4469" indent="-189865">
              <a:defRPr sz="2300" b="0">
                <a:latin typeface="Noto Sans CJK JP"/>
              </a:defRPr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当時は、モデルの学習に十分な注釈画像がなかった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200"/>
            <a:endParaRPr sz="2200"/>
            <a:endParaRPr sz="2300"/>
            <a:endParaRPr sz="2300"/>
          </a:p>
          <a:p>
            <a:pPr algn="l" marL="204469" indent="-18986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画像分類用のCaltech 101は101クラスだった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300"/>
          </a:p>
          <a:p>
            <a:pPr algn="l" marL="204469" indent="-18986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それに対し、2009年のImageNetは約320万枚・5,247カテゴリだった。</a:t>
            </a:r>
            <a:endParaRPr sz="2300"/>
          </a:p>
          <a:p>
            <a:pPr algn="l" marL="204469" indent="-18986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Char char="•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原著は、規模・多様性・正確さ・階層構造を特徴とした。</a:t>
            </a:r>
            <a:endParaRPr sz="23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ImageNetの更新説明 (2021). https://www.image-net.org/update-mar-11-2021.php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Deng et al. (2009), §1–2. https://image-net.org/static_files/papers/imagenet_cvpr09.pdf</a:t>
            </a:r>
            <a:endParaRPr sz="85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defRPr sz="4000">
                <a:latin typeface="Noto Sans CJK JP"/>
              </a:defR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lang="ja-JP" b="1">
                <a:solidFill>
                  <a:srgbClr val="303437"/>
                </a:solidFill>
                <a:latin typeface="Noto Sans CJK JP"/>
                <a:ea typeface="Noto Sans CJK JP"/>
              </a:rPr>
              <a:t>2 作成方法と規模</a:t>
            </a:r>
            <a:endParaRPr sz="4000"/>
            <a:endParaRPr sz="4000"/>
            <a:endParaRPr sz="40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同義語の集合を単位にカテゴリを作る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ImageNetのカテゴリ設計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英語の語彙を概念の階層に整理したWordNetを利用する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  <a:endParaRPr sz="2100"/>
          </a:p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同じ概念を表す語の集合であるsynsetがカテゴリの単位となる。</a:t>
            </a:r>
            <a:endParaRPr sz="2100"/>
          </a:p>
          <a:p>
            <a:pPr algn="l" lvl="1" marL="42672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–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tenchとTinca tincaは同じ淡水魚のカテゴリを表す。</a:t>
            </a:r>
            <a:endParaRPr sz="2100"/>
          </a:p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カテゴリにはn01440764のようなWordNet IDがある。</a:t>
            </a:r>
            <a:endParaRPr sz="2100"/>
          </a:p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ILSVRC 2012の1,000クラスには120種類の犬も含まれる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Deng et al. (2009), CVPR. https://image-net.org/static_files/papers/imagenet_cvpr09.pdf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Russakovsky et al. (2015), §3.1. https://arxiv.org/abs/1409.0575</a:t>
            </a:r>
            <a:endParaRPr sz="85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検索語を広げて候補画像を収集した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ImageNetの収集方法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複数の画像検索で、カテゴリの同義語を検索語に使った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200"/>
            <a:endParaRPr sz="2200"/>
          </a:p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上位概念を検索語に加え、意味の曖昧さを減らした。</a:t>
            </a:r>
            <a:endParaRPr sz="2200"/>
          </a:p>
          <a:p>
            <a:pPr algn="l" lvl="1" marL="447040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–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犬種名のwhippetだけでなく、whippet dogも使った。</a:t>
            </a:r>
            <a:endParaRPr sz="2200"/>
          </a:p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中国語・スペイン語・オランダ語・イタリア語にも検索語を広げた。</a:t>
            </a:r>
            <a:endParaRPr sz="2200"/>
          </a:p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重複除去後も、候補はカテゴリ当たり平均1万枚を超えた。</a:t>
            </a:r>
            <a:endParaRPr sz="22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Deng et al. (2009), CVPR. https://image-net.org/static_files/papers/imagenet_cvpr09.pdf</a:t>
            </a:r>
            <a:endParaRPr sz="85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作業者は対象の物体が写っているかを判定した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ImageNetの注釈方法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有償作業を依頼するAmazon Mechanical Turkを使った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200"/>
            <a:endParaRPr sz="2200"/>
          </a:p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候補画像とカテゴリの定義を作業者に提示した。</a:t>
            </a:r>
            <a:endParaRPr sz="2200"/>
          </a:p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対象物を含む画像を選ぶよう指示した。</a:t>
            </a:r>
            <a:endParaRPr sz="2200"/>
          </a:p>
          <a:p>
            <a:pPr algn="l" lvl="1" marL="447040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–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遮蔽・複数物体・混雑した背景も対象に含めた。</a:t>
            </a:r>
            <a:endParaRPr sz="2200"/>
          </a:p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見やすい単独物体だけに限定しなかった。</a:t>
            </a:r>
            <a:endParaRPr sz="22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Deng et al. (2009), CVPR. https://image-net.org/static_files/papers/imagenet_cvpr09.pdf</a:t>
            </a:r>
            <a:endParaRPr sz="85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カテゴリごとに必要な合意数を調整した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ImageNetの品質確認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初期サンプルは、画像ごとに少なくとも10人が判定した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200"/>
            <a:endParaRPr sz="2200"/>
          </a:p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投票結果から、対象物が含まれる確からしさの表を作った。</a:t>
            </a:r>
            <a:endParaRPr sz="2200"/>
          </a:p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その後の画像は、カテゴリごとの確信度の閾値に達するまで判定した。</a:t>
            </a:r>
            <a:endParaRPr sz="2200"/>
          </a:p>
          <a:p>
            <a:pPr algn="l" lvl="1" marL="447040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–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一般的なcatとBurmese catでは、必要な合意数が異なる。</a:t>
            </a:r>
            <a:endParaRPr sz="22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Deng et al. (2009), CVPR. https://image-net.org/static_files/papers/imagenet_cvpr09.pdf</a:t>
            </a:r>
            <a:endParaRPr sz="85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ILSVRC 2012の画像分類用データ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ImageNet-1kの規模</a:t>
            </a:r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743200"/>
                <a:gridCol w="2377440"/>
              </a:tblGrid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  <a:buNone/>
                      </a:pPr>
                      <a:r>
                        <a:rPr sz="24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分割 </a:t>
                      </a:r>
                      <a:r>
                        <a:rPr sz="950" lang="ja-JP">
                          <a:solidFill>
                            <a:srgbClr val="626669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400"/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画像数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クラス数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9436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学習用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1,281,167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1,000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59436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検証用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50,000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1,000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59436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大会テスト用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100,000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1,000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97960"/>
            <a:ext cx="7955279" cy="6289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検証用は各クラス50枚、大会テスト用は各クラス100枚。</a:t>
            </a:r>
            <a:endParaRPr sz="1600"/>
            <a:endParaRPr sz="16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Russakovsky et al. (2015), IJCV. https://arxiv.org/abs/1409.0575</a:t>
            </a:r>
            <a:endParaRPr sz="85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学習画像数はクラスごとに異なる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ImageNet-1kの規模</a:t>
            </a:r>
            <a:endParaRPr sz="1400"/>
          </a:p>
        </p:txBody>
      </p:sp>
      <p:sp>
        <p:nvSpPr>
          <p:cNvPr id="7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ILSVRC 2012公式devkitのmeta.mat. https://image-net.org/challenges/LSVRC/2012/　全1,000クラスの学習画像数。50枚幅で集計する。</a:t>
            </a:r>
            <a:endParaRPr sz="850"/>
          </a:p>
        </p:txBody>
      </p:sp>
      <p:pic>
        <p:nvPicPr>
          <p:cNvPr id="8" name="Picture 7" descr="tail-histo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16736"/>
            <a:ext cx="804672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" y="4096512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defRPr sz="1800">
                <a:latin typeface="Noto Sans CJK JP"/>
              </a:defRPr>
              <a:spcAft>
                <a:spcPts val="200"/>
              </a:spcAft>
              <a:buNone/>
            </a:pPr>
            <a:r>
              <a:rPr sz="1800" lang="ja-JP">
                <a:solidFill>
                  <a:srgbClr val="303437"/>
                </a:solidFill>
                <a:latin typeface="Noto Sans CJK JP"/>
                <a:ea typeface="Noto Sans CJK JP"/>
              </a:rPr>
              <a:t>1,300枚が895カテゴリ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18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1800"/>
            <a:endParaRPr sz="180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 sz="1800">
                <a:latin typeface="Noto Sans CJK JP"/>
              </a:defRPr>
              <a:buNone/>
            </a:pPr>
            <a:r>
              <a:rPr sz="1800" lang="ja-JP">
                <a:solidFill>
                  <a:srgbClr val="303437"/>
                </a:solidFill>
                <a:latin typeface="Noto Sans CJK JP"/>
                <a:ea typeface="Noto Sans CJK JP"/>
              </a:rPr>
              <a:t>1,000枚未満は19カテゴリ、800枚未満は5カテゴリ。</a:t>
            </a:r>
            <a:endParaRPr sz="18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学習画像が1,000枚未満のカテゴリは19種類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ImageNetの少数カテゴリ</a:t>
            </a:r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17920"/>
                <a:gridCol w="1828800"/>
              </a:tblGrid>
              <a:tr h="56007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最少側の3カテゴリ </a:t>
                      </a:r>
                      <a:r>
                        <a:rPr sz="950" lang="ja-JP">
                          <a:solidFill>
                            <a:srgbClr val="626669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学習画像数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6007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black-and-tan coonhound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732枚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6007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otterhound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738枚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6007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English foxhound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754枚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31920"/>
            <a:ext cx="7955279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51129" indent="-140335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>
                <a:latin typeface="Noto Sans CJK JP"/>
              </a:defRPr>
              <a:buChar char="•"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最小732枚は、最大1,300枚の約56%となる。</a:t>
            </a:r>
            <a:endParaRPr sz="1700"/>
          </a:p>
          <a:p>
            <a:pPr algn="l" marL="151129" indent="-140335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>
                <a:latin typeface="Noto Sans CJK JP"/>
              </a:defRPr>
              <a:buChar char="•"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学習枚数とカテゴリ別正解率を対応させて、少数側の性能を確認する。</a:t>
            </a:r>
            <a:endParaRPr sz="17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ILSVRC 2012公式devkitのmeta.mat全1,000カテゴリを集計. https://image-net.org/challenges/LSVRC/2012/</a:t>
            </a:r>
            <a:endParaRPr sz="85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defRPr sz="4000">
                <a:latin typeface="Noto Sans CJK JP"/>
              </a:defR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lang="ja-JP" b="1">
                <a:solidFill>
                  <a:srgbClr val="303437"/>
                </a:solidFill>
                <a:latin typeface="Noto Sans CJK JP"/>
                <a:ea typeface="Noto Sans CJK JP"/>
              </a:rPr>
              <a:t>3 評価と性能</a:t>
            </a:r>
            <a:endParaRPr sz="4000"/>
            <a:endParaRPr sz="4000"/>
            <a:endParaRPr sz="40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評価にはTop-1とTop-5の正解率を使う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ImageNetの評価方法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 b="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Top-1は最上位の予測が正解と一致した割合である。</a:t>
            </a:r>
            <a:endParaRPr sz="2200"/>
            <a:endParaRPr sz="2200"/>
          </a:p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Top-5は上位5予測に正解が含まれた割合である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200"/>
          </a:p>
          <a:p>
            <a:pPr algn="l" lvl="1" marL="447040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–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正解がtenchで2位なら、Top-1は0、Top-5は1となる。</a:t>
            </a:r>
            <a:endParaRPr sz="2200"/>
          </a:p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画像ごとの0・1を平均し、正解率を百分率で示す。</a:t>
            </a:r>
            <a:endParaRPr sz="2200"/>
          </a:p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誤り率は100%から正解率を引く。大会では誤り率も使った。</a:t>
            </a:r>
            <a:endParaRPr sz="22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ILSVRC 2012, Task 1. https://image-net.org/challenges/LSVRC/2012/</a:t>
            </a:r>
            <a:endParaRPr sz="85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2012年は畳み込みネットワークが成績を伸ばした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ImageNetと認識モデルの発展</a:t>
            </a:r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17320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/>
                <a:gridCol w="2560320"/>
                <a:gridCol w="251460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  <a:buNone/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大会の提出システム </a:t>
                      </a:r>
                      <a:r>
                        <a:rPr sz="950" lang="ja-JP">
                          <a:solidFill>
                            <a:srgbClr val="626669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100"/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追加学習データ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Top-5誤り率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ISI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なし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26.2%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SuperVision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なし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16.4%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SuperVision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Fall 2011版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15.3%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32200"/>
            <a:ext cx="7955279" cy="9946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SuperVisionは、畳み込みネットワークAlexNetを用いたシステム。</a:t>
            </a:r>
            <a:endParaRPr sz="1600"/>
            <a:endParaRPr sz="16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Russakovsky et al. (2015), Table 5. https://arxiv.org/abs/1409.0575</a:t>
            </a:r>
            <a:endParaRPr sz="85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800" b="1">
                <a:latin typeface="Noto Sans CJK JP"/>
              </a:defRPr>
              <a:spcAft>
                <a:spcPts val="0"/>
              </a:spcAft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2016年のResNet原著の評価結果</a:t>
            </a:r>
            <a:endParaRPr sz="2800"/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ImageNetの評価と性能</a:t>
            </a:r>
            <a:endParaRPr sz="1400"/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377440"/>
                <a:gridCol w="2377440"/>
              </a:tblGrid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  <a:buNone/>
                      </a:pPr>
                      <a:r>
                        <a:rPr sz="24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モデル </a:t>
                      </a:r>
                      <a:r>
                        <a:rPr sz="950" lang="ja-JP">
                          <a:solidFill>
                            <a:srgbClr val="626669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400"/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Top-1誤り率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Top-5誤り率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9436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ResNet-50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22.85%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6.71%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59436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ResNet-101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21.75%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6.05%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59436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ResNet-152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21.43%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5.71%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97960"/>
            <a:ext cx="7955279" cy="6289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残差接続を用いるResNetの、10クロップ評価による値。同じ画像から10領域を切り出し、予測をまとめる。</a:t>
            </a:r>
            <a:endParaRPr sz="1600"/>
            <a:endParaRPr sz="16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He et al. (2016), CVPR, Table 3. https://arxiv.org/abs/1512.03385</a:t>
            </a:r>
            <a:endParaRPr sz="85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2025年もImageNetで画像特徴を評価している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近年のImageNetの利用</a:t>
            </a:r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17320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880360"/>
                <a:gridCol w="242316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特徴モデル </a:t>
                      </a:r>
                      <a:r>
                        <a:rPr sz="950" lang="ja-JP">
                          <a:solidFill>
                            <a:srgbClr val="626669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200"/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学習方式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Top-1正解率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DINOv3 7B/16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自己教師あり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88.4%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SigLIP 2 g/16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画像とテキスト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89.1%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PEcore G/14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画像とテキスト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89.3%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32200"/>
            <a:ext cx="7955279" cy="9946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特徴モデルを固定し、ImageNetの学習用で線形分類器を学習する。検証用で条件を選び、同じ検証用で評価する。入力解像度は異なる。</a:t>
            </a:r>
            <a:endParaRPr sz="1600"/>
            <a:endParaRPr sz="16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Siméoni et al. (2025), DINOv3, Table 7. https://arxiv.org/abs/2508.10104</a:t>
            </a:r>
            <a:endParaRPr sz="85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defRPr sz="4000">
                <a:latin typeface="Noto Sans CJK JP"/>
              </a:defR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lang="ja-JP" b="1">
                <a:solidFill>
                  <a:srgbClr val="303437"/>
                </a:solidFill>
                <a:latin typeface="Noto Sans CJK JP"/>
                <a:ea typeface="Noto Sans CJK JP"/>
              </a:rPr>
              <a:t>4 利用の変遷と現在</a:t>
            </a:r>
            <a:endParaRPr sz="4000"/>
            <a:endParaRPr sz="4000"/>
            <a:endParaRPr sz="40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分類の高い正解率だけでは汎用性を示せない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ImageNetの限界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1,000クラス分類は、画像の意味全体を説明しない。</a:t>
            </a:r>
            <a:endParaRPr sz="2100"/>
            <a:endParaRPr sz="2100"/>
          </a:p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対象物より背景の手がかりを使う可能性がある。</a:t>
            </a:r>
            <a:endParaRPr sz="2100"/>
          </a:p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複数物体が写っても、通常の正解は1クラスである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</a:p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そこでImageNet-ReaLは正解ラベルを見直した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</a:p>
          <a:p>
            <a:pPr algn="l" lvl="1" marL="42672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–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既存の検証画像に、複数の妥当なラベルを付け直す。</a:t>
            </a:r>
            <a:endParaRPr sz="2100"/>
          </a:p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別の画像集合や撮影条件では、成績が変わる。</a:t>
            </a:r>
            <a:endParaRPr sz="21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ILSVRC 2012, Task 1. https://image-net.org/challenges/LSVRC/2012/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Beyer et al. (2020). https://arxiv.org/abs/2006.07159</a:t>
            </a:r>
            <a:endParaRPr sz="85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後続データは分類以外の認識にも広がった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関連データセットの動向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6690" indent="-173355">
              <a:lnSpc>
                <a:spcPct val="110000"/>
              </a:lnSpc>
              <a:spcBef>
                <a:spcPts val="0"/>
              </a:spcBef>
              <a:defRPr sz="2100" b="0">
                <a:latin typeface="Noto Sans CJK JP"/>
              </a:defRPr>
              <a:spcAft>
                <a:spcPts val="500"/>
              </a:spcAft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先行する物体認識データPASCAL VOCがあった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。2012年版は20クラスを扱った。</a:t>
            </a:r>
            <a:endParaRPr sz="2100"/>
            <a:endParaRPr sz="2100"/>
            <a:endParaRPr sz="2100"/>
          </a:p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それに対しILSVRC 2012は1,000クラスで、50倍だった。</a:t>
            </a:r>
            <a:endParaRPr sz="2100"/>
          </a:p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その後、複数物体を注釈するCOCOが登場した。</a:t>
            </a:r>
            <a:endParaRPr sz="2100"/>
          </a:p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検出・領域分割のために、物体の位置と画素の領域を示す。</a:t>
            </a:r>
            <a:endParaRPr sz="2100"/>
          </a:p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一方、場面を分類するPlacesは屋内外の認識を目的とした。</a:t>
            </a:r>
            <a:endParaRPr sz="21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Russakovsky et al. (2015), IJCV. https://arxiv.org/abs/1409.0575</a:t>
            </a:r>
            <a:endParaRPr sz="85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別の画像や描画で頑健性を調べる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ImageNetを補う評価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同じ1,000クラスの新たな画像を使うImageNetV2がある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  <a:endParaRPr sz="2100"/>
          </a:p>
          <a:p>
            <a:pPr algn="l" lvl="1" marL="42672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–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既存の検証画像だけへの適合を、別の画像集合で調べる。</a:t>
            </a:r>
            <a:endParaRPr sz="2100"/>
          </a:p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その後、絵画を扱うImageNet-Rや、画像を劣化させるImageNet-Cも作られた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</a:p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2025年のDINOv3論文も、これらで汎化性能を調べている。</a:t>
            </a:r>
            <a:endParaRPr sz="2100"/>
          </a:p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2026年も公開実装に、ImageNetでの評価手順がある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Recht et al. (2019). https://github.com/modestyachts/ImageNetV2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DINOv3の論文・公開実装. https://github.com/facebookresearch/dinov3</a:t>
            </a:r>
            <a:endParaRPr sz="85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defRPr sz="4000">
                <a:latin typeface="Noto Sans CJK JP"/>
              </a:defR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lang="ja-JP" b="1">
                <a:solidFill>
                  <a:srgbClr val="303437"/>
                </a:solidFill>
                <a:latin typeface="Noto Sans CJK JP"/>
                <a:ea typeface="Noto Sans CJK JP"/>
              </a:rPr>
              <a:t>5 入手方法とまとめ</a:t>
            </a:r>
            <a:endParaRPr sz="4000"/>
            <a:endParaRPr sz="4000"/>
            <a:endParaRPr sz="40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公式サイトから必要な版を入手する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ImageNetの入手方法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95579" indent="-181610">
              <a:lnSpc>
                <a:spcPct val="110000"/>
              </a:lnSpc>
              <a:spcBef>
                <a:spcPts val="0"/>
              </a:spcBef>
              <a:defRPr sz="2200" b="0">
                <a:latin typeface="Noto Sans CJK JP"/>
              </a:defRPr>
              <a:spcAft>
                <a:spcPts val="500"/>
              </a:spcAft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画像認識大会ILSVRCの2012年・1,000クラス分類用データは、Kaggleで入手できる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300"/>
            <a:endParaRPr sz="2300"/>
            <a:endParaRPr sz="2200"/>
          </a:p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ImageNet全体とその他のサブセットには、ログインと利用条件への同意が必要となる。</a:t>
            </a:r>
            <a:endParaRPr sz="2200"/>
          </a:p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入手する版、ラベルとクラス順序、利用条件を確認する。</a:t>
            </a:r>
            <a:endParaRPr sz="2200"/>
          </a:p>
          <a:p>
            <a:pPr algn="l" marL="195579" indent="-18161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200">
                <a:latin typeface="Noto Sans CJK JP"/>
              </a:defRPr>
              <a:buChar char="•"/>
            </a:pP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小規模に試すなら、10クラス版Imagenetteを使える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22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2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ImageNet Download. https://www.image-net.org/download.php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Imagenette. https://github.com/fastai/imagenette</a:t>
            </a:r>
            <a:endParaRPr sz="85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ImageNetは画像認識の学習と評価を支えてきた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ImageNetのまとめ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2250" indent="-20637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 b="0">
                <a:latin typeface="Noto Sans CJK JP"/>
              </a:defRPr>
              <a:buChar char="•"/>
            </a:pPr>
            <a:r>
              <a:rPr sz="2500" lang="ja-JP">
                <a:solidFill>
                  <a:srgbClr val="303437"/>
                </a:solidFill>
                <a:latin typeface="Noto Sans CJK JP"/>
                <a:ea typeface="Noto Sans CJK JP"/>
              </a:rPr>
              <a:t>ImageNetは物体認識用の画像データベースである。</a:t>
            </a:r>
            <a:endParaRPr sz="2500"/>
            <a:endParaRPr sz="2500"/>
          </a:p>
          <a:p>
            <a:pPr algn="l" marL="222250" indent="-20637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>
                <a:latin typeface="Noto Sans CJK JP"/>
              </a:defRPr>
              <a:buChar char="•"/>
            </a:pPr>
            <a:r>
              <a:rPr sz="2500" lang="ja-JP">
                <a:solidFill>
                  <a:srgbClr val="303437"/>
                </a:solidFill>
                <a:latin typeface="Noto Sans CJK JP"/>
                <a:ea typeface="Noto Sans CJK JP"/>
              </a:rPr>
              <a:t>2009年に発表され、多数の画像を人手で確認した。</a:t>
            </a:r>
            <a:endParaRPr sz="2500"/>
          </a:p>
          <a:p>
            <a:pPr algn="l" marL="222250" indent="-20637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>
                <a:latin typeface="Noto Sans CJK JP"/>
              </a:defRPr>
              <a:buChar char="•"/>
            </a:pPr>
            <a:r>
              <a:rPr sz="2500" lang="ja-JP">
                <a:solidFill>
                  <a:srgbClr val="303437"/>
                </a:solidFill>
                <a:latin typeface="Noto Sans CJK JP"/>
                <a:ea typeface="Noto Sans CJK JP"/>
              </a:rPr>
              <a:t>ImageNet-1kはILSVRCの1,000クラス分類用である。</a:t>
            </a:r>
            <a:endParaRPr sz="2500"/>
          </a:p>
          <a:p>
            <a:pPr algn="l" marL="222250" indent="-20637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>
                <a:latin typeface="Noto Sans CJK JP"/>
              </a:defRPr>
              <a:buChar char="•"/>
            </a:pPr>
            <a:r>
              <a:rPr sz="2500" lang="ja-JP">
                <a:solidFill>
                  <a:srgbClr val="303437"/>
                </a:solidFill>
                <a:latin typeface="Noto Sans CJK JP"/>
                <a:ea typeface="Noto Sans CJK JP"/>
              </a:rPr>
              <a:t>Top-1・Top-5と、学習・評価条件を区別する。</a:t>
            </a:r>
            <a:endParaRPr sz="2500"/>
          </a:p>
          <a:p>
            <a:pPr algn="l" marL="222250" indent="-20637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>
                <a:latin typeface="Noto Sans CJK JP"/>
              </a:defRPr>
              <a:buChar char="•"/>
            </a:pPr>
            <a:r>
              <a:rPr sz="2500" lang="ja-JP">
                <a:solidFill>
                  <a:srgbClr val="303437"/>
                </a:solidFill>
                <a:latin typeface="Noto Sans CJK JP"/>
                <a:ea typeface="Noto Sans CJK JP"/>
              </a:rPr>
              <a:t>現在は特徴評価にも使い、汎化は別画像で調べる。</a:t>
            </a:r>
            <a:endParaRPr sz="25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Appendixの目次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補足資料の構成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44752"/>
            <a:ext cx="7955279" cy="3337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defRPr sz="2300">
                <a:latin typeface="Noto Sans CJK JP"/>
              </a:defRPr>
              <a:buAutoNum type="arabicPeriod" startAt="1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著者と発表先</a:t>
            </a:r>
            <a:endParaRPr sz="2300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defRPr sz="2300">
                <a:latin typeface="Noto Sans CJK JP"/>
              </a:defRPr>
              <a:buAutoNum type="arabicPeriod" startAt="2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カテゴリの見取り図</a:t>
            </a:r>
            <a:endParaRPr sz="2300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defRPr sz="2300">
                <a:latin typeface="Noto Sans CJK JP"/>
              </a:defRPr>
              <a:buAutoNum type="arabicPeriod" startAt="3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画像の追加例</a:t>
            </a:r>
            <a:endParaRPr sz="2300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defRPr sz="2300">
                <a:latin typeface="Noto Sans CJK JP"/>
              </a:defRPr>
              <a:buAutoNum type="arabicPeriod" startAt="4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規模と画像サイズの統計</a:t>
            </a:r>
            <a:endParaRPr sz="2300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defRPr sz="2300">
                <a:latin typeface="Noto Sans CJK JP"/>
              </a:defRPr>
              <a:buAutoNum type="arabicPeriod" startAt="5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モデル評価と前処理</a:t>
            </a:r>
            <a:endParaRPr sz="2300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defRPr sz="2300">
                <a:latin typeface="Noto Sans CJK JP"/>
              </a:defRPr>
              <a:buAutoNum type="arabicPeriod" startAt="6"/>
            </a:pPr>
            <a:r>
              <a:rPr sz="2300" lang="ja-JP">
                <a:solidFill>
                  <a:srgbClr val="303437"/>
                </a:solidFill>
                <a:latin typeface="Noto Sans CJK JP"/>
                <a:ea typeface="Noto Sans CJK JP"/>
              </a:rPr>
              <a:t>入手コードと参考文献</a:t>
            </a:r>
            <a:endParaRPr sz="23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ImageNetを発表した著者と発表先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1 著者と発表先</a:t>
            </a:r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68910" indent="-15684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 b="0">
                <a:latin typeface="Noto Sans CJK JP"/>
              </a:defRPr>
              <a:buChar char="•"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原著はImageNet: A Large-Scale Hierarchical Image Database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1900"/>
            <a:endParaRPr sz="1900"/>
          </a:p>
          <a:p>
            <a:pPr algn="l" marL="168910" indent="-15684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>
                <a:latin typeface="Noto Sans CJK JP"/>
              </a:defRPr>
              <a:buChar char="•"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2009年のCVPRで発表され、所属はPrinceton大学だった。</a:t>
            </a:r>
            <a:endParaRPr sz="1900"/>
          </a:p>
          <a:p>
            <a:pPr algn="l" marL="168910" indent="-15684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>
                <a:latin typeface="Noto Sans CJK JP"/>
              </a:defRPr>
              <a:buChar char="•"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第一著者のJia Dengは、画像認識とImageNet・ILSVRCを研究した。</a:t>
            </a:r>
            <a:endParaRPr sz="1900"/>
          </a:p>
          <a:p>
            <a:pPr algn="l" marL="168910" indent="-15684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>
                <a:latin typeface="Noto Sans CJK JP"/>
              </a:defRPr>
              <a:buChar char="•"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最終著者のLi Fei-Feiは、物体認識とCaltech 101を研究した。</a:t>
            </a:r>
            <a:endParaRPr sz="1900"/>
          </a:p>
          <a:p>
            <a:pPr algn="l" marL="168910" indent="-15684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>
                <a:latin typeface="Noto Sans CJK JP"/>
              </a:defRPr>
              <a:buChar char="•"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2019年に原著がPAMI Longuet-Higgins Prizeを受賞した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19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Deng et al. (2009), CVPR. https://image-net.org/static_files/papers/imagenet_cvpr09.pdf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ImageNet About. https://www.image-net.org/about.php</a:t>
            </a:r>
            <a:endParaRPr sz="85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哺乳類と鳥類のカテゴリ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カテゴリの見取り図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44752"/>
            <a:ext cx="3858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2C9100"/>
                </a:solidFill>
                <a:latin typeface="Noto Sans CJK JP"/>
                <a:ea typeface="Noto Sans CJK JP"/>
              </a:rPr>
              <a:t>哺乳類</a:t>
            </a:r>
            <a:endParaRPr sz="2300"/>
          </a:p>
        </p:txBody>
      </p:sp>
      <p:sp>
        <p:nvSpPr>
          <p:cNvPr id="5" name="TextBox 4"/>
          <p:cNvSpPr txBox="1"/>
          <p:nvPr/>
        </p:nvSpPr>
        <p:spPr>
          <a:xfrm>
            <a:off x="594360" y="1883664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シベリアンハスキー</a:t>
            </a:r>
            <a:endParaRPr sz="1650"/>
          </a:p>
        </p:txBody>
      </p:sp>
      <p:sp>
        <p:nvSpPr>
          <p:cNvPr id="6" name="TextBox 5"/>
          <p:cNvSpPr txBox="1"/>
          <p:nvPr/>
        </p:nvSpPr>
        <p:spPr>
          <a:xfrm>
            <a:off x="2971800" y="1924812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n02110185</a:t>
            </a:r>
            <a:endParaRPr sz="850"/>
          </a:p>
        </p:txBody>
      </p:sp>
      <p:sp>
        <p:nvSpPr>
          <p:cNvPr id="7" name="TextBox 6"/>
          <p:cNvSpPr txBox="1"/>
          <p:nvPr/>
        </p:nvSpPr>
        <p:spPr>
          <a:xfrm>
            <a:off x="594360" y="2125980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グレートデーン</a:t>
            </a:r>
            <a:endParaRPr sz="1650"/>
          </a:p>
        </p:txBody>
      </p:sp>
      <p:sp>
        <p:nvSpPr>
          <p:cNvPr id="8" name="TextBox 7"/>
          <p:cNvSpPr txBox="1"/>
          <p:nvPr/>
        </p:nvSpPr>
        <p:spPr>
          <a:xfrm>
            <a:off x="2971800" y="2167128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n02109047</a:t>
            </a:r>
            <a:endParaRPr sz="850"/>
          </a:p>
        </p:txBody>
      </p:sp>
      <p:sp>
        <p:nvSpPr>
          <p:cNvPr id="9" name="TextBox 8"/>
          <p:cNvSpPr txBox="1"/>
          <p:nvPr/>
        </p:nvSpPr>
        <p:spPr>
          <a:xfrm>
            <a:off x="594360" y="2368296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ペルシャネコ</a:t>
            </a:r>
            <a:endParaRPr sz="1650"/>
          </a:p>
        </p:txBody>
      </p:sp>
      <p:sp>
        <p:nvSpPr>
          <p:cNvPr id="10" name="TextBox 9"/>
          <p:cNvSpPr txBox="1"/>
          <p:nvPr/>
        </p:nvSpPr>
        <p:spPr>
          <a:xfrm>
            <a:off x="2971800" y="2409444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n02123394</a:t>
            </a:r>
            <a:endParaRPr sz="850"/>
          </a:p>
        </p:txBody>
      </p:sp>
      <p:sp>
        <p:nvSpPr>
          <p:cNvPr id="11" name="TextBox 10"/>
          <p:cNvSpPr txBox="1"/>
          <p:nvPr/>
        </p:nvSpPr>
        <p:spPr>
          <a:xfrm>
            <a:off x="594360" y="2610612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エジプシャンマウ</a:t>
            </a:r>
            <a:endParaRPr sz="1650"/>
          </a:p>
        </p:txBody>
      </p:sp>
      <p:sp>
        <p:nvSpPr>
          <p:cNvPr id="12" name="TextBox 11"/>
          <p:cNvSpPr txBox="1"/>
          <p:nvPr/>
        </p:nvSpPr>
        <p:spPr>
          <a:xfrm>
            <a:off x="2971800" y="2651760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n02124075</a:t>
            </a:r>
            <a:endParaRPr sz="850"/>
          </a:p>
        </p:txBody>
      </p:sp>
      <p:sp>
        <p:nvSpPr>
          <p:cNvPr id="13" name="TextBox 12"/>
          <p:cNvSpPr txBox="1"/>
          <p:nvPr/>
        </p:nvSpPr>
        <p:spPr>
          <a:xfrm>
            <a:off x="594360" y="2852928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アフリカゾウ</a:t>
            </a:r>
            <a:endParaRPr sz="1650"/>
          </a:p>
        </p:txBody>
      </p:sp>
      <p:sp>
        <p:nvSpPr>
          <p:cNvPr id="14" name="TextBox 13"/>
          <p:cNvSpPr txBox="1"/>
          <p:nvPr/>
        </p:nvSpPr>
        <p:spPr>
          <a:xfrm>
            <a:off x="2971800" y="2894076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n02504458</a:t>
            </a:r>
            <a:endParaRPr sz="850"/>
          </a:p>
        </p:txBody>
      </p:sp>
      <p:sp>
        <p:nvSpPr>
          <p:cNvPr id="15" name="TextBox 14"/>
          <p:cNvSpPr txBox="1"/>
          <p:nvPr/>
        </p:nvSpPr>
        <p:spPr>
          <a:xfrm>
            <a:off x="594360" y="3095244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ガゼル</a:t>
            </a:r>
            <a:endParaRPr sz="1650"/>
          </a:p>
        </p:txBody>
      </p:sp>
      <p:sp>
        <p:nvSpPr>
          <p:cNvPr id="16" name="TextBox 15"/>
          <p:cNvSpPr txBox="1"/>
          <p:nvPr/>
        </p:nvSpPr>
        <p:spPr>
          <a:xfrm>
            <a:off x="2971800" y="3136392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n02423022</a:t>
            </a:r>
            <a:endParaRPr sz="850"/>
          </a:p>
        </p:txBody>
      </p:sp>
      <p:sp>
        <p:nvSpPr>
          <p:cNvPr id="17" name="TextBox 16"/>
          <p:cNvSpPr txBox="1"/>
          <p:nvPr/>
        </p:nvSpPr>
        <p:spPr>
          <a:xfrm>
            <a:off x="594360" y="3337560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シマウマ</a:t>
            </a:r>
            <a:endParaRPr sz="1650"/>
          </a:p>
        </p:txBody>
      </p:sp>
      <p:sp>
        <p:nvSpPr>
          <p:cNvPr id="18" name="TextBox 17"/>
          <p:cNvSpPr txBox="1"/>
          <p:nvPr/>
        </p:nvSpPr>
        <p:spPr>
          <a:xfrm>
            <a:off x="2971800" y="3378708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n02391049</a:t>
            </a:r>
            <a:endParaRPr sz="850"/>
          </a:p>
        </p:txBody>
      </p:sp>
      <p:sp>
        <p:nvSpPr>
          <p:cNvPr id="19" name="TextBox 18"/>
          <p:cNvSpPr txBox="1"/>
          <p:nvPr/>
        </p:nvSpPr>
        <p:spPr>
          <a:xfrm>
            <a:off x="594360" y="3579876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ジャイアントパンダ</a:t>
            </a:r>
            <a:endParaRPr sz="1650"/>
          </a:p>
        </p:txBody>
      </p:sp>
      <p:sp>
        <p:nvSpPr>
          <p:cNvPr id="20" name="TextBox 19"/>
          <p:cNvSpPr txBox="1"/>
          <p:nvPr/>
        </p:nvSpPr>
        <p:spPr>
          <a:xfrm>
            <a:off x="2971800" y="3621024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n02510455</a:t>
            </a:r>
            <a:endParaRPr sz="850"/>
          </a:p>
        </p:txBody>
      </p:sp>
      <p:sp>
        <p:nvSpPr>
          <p:cNvPr id="21" name="TextBox 20"/>
          <p:cNvSpPr txBox="1"/>
          <p:nvPr/>
        </p:nvSpPr>
        <p:spPr>
          <a:xfrm>
            <a:off x="594360" y="3822191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ミーアキャット</a:t>
            </a:r>
            <a:endParaRPr sz="1650"/>
          </a:p>
        </p:txBody>
      </p:sp>
      <p:sp>
        <p:nvSpPr>
          <p:cNvPr id="22" name="TextBox 21"/>
          <p:cNvSpPr txBox="1"/>
          <p:nvPr/>
        </p:nvSpPr>
        <p:spPr>
          <a:xfrm>
            <a:off x="2971800" y="3863339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n02138441</a:t>
            </a:r>
            <a:endParaRPr sz="850"/>
          </a:p>
        </p:txBody>
      </p:sp>
      <p:sp>
        <p:nvSpPr>
          <p:cNvPr id="23" name="TextBox 22"/>
          <p:cNvSpPr txBox="1"/>
          <p:nvPr/>
        </p:nvSpPr>
        <p:spPr>
          <a:xfrm>
            <a:off x="594360" y="4064508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アシカ</a:t>
            </a:r>
            <a:endParaRPr sz="1650"/>
          </a:p>
        </p:txBody>
      </p:sp>
      <p:sp>
        <p:nvSpPr>
          <p:cNvPr id="24" name="TextBox 23"/>
          <p:cNvSpPr txBox="1"/>
          <p:nvPr/>
        </p:nvSpPr>
        <p:spPr>
          <a:xfrm>
            <a:off x="2971800" y="4105656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n02077923</a:t>
            </a:r>
            <a:endParaRPr sz="850"/>
          </a:p>
        </p:txBody>
      </p:sp>
      <p:sp>
        <p:nvSpPr>
          <p:cNvPr id="25" name="TextBox 24"/>
          <p:cNvSpPr txBox="1"/>
          <p:nvPr/>
        </p:nvSpPr>
        <p:spPr>
          <a:xfrm>
            <a:off x="4754880" y="1444752"/>
            <a:ext cx="3858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2C9100"/>
                </a:solidFill>
                <a:latin typeface="Noto Sans CJK JP"/>
                <a:ea typeface="Noto Sans CJK JP"/>
              </a:rPr>
              <a:t>鳥類</a:t>
            </a:r>
            <a:endParaRPr sz="2300"/>
          </a:p>
        </p:txBody>
      </p:sp>
      <p:sp>
        <p:nvSpPr>
          <p:cNvPr id="26" name="TextBox 25"/>
          <p:cNvSpPr txBox="1"/>
          <p:nvPr/>
        </p:nvSpPr>
        <p:spPr>
          <a:xfrm>
            <a:off x="4754880" y="1883664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ダチョウ</a:t>
            </a:r>
            <a:endParaRPr sz="1650"/>
          </a:p>
        </p:txBody>
      </p:sp>
      <p:sp>
        <p:nvSpPr>
          <p:cNvPr id="27" name="TextBox 26"/>
          <p:cNvSpPr txBox="1"/>
          <p:nvPr/>
        </p:nvSpPr>
        <p:spPr>
          <a:xfrm>
            <a:off x="7132320" y="1924812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n01518878</a:t>
            </a:r>
            <a:endParaRPr sz="850"/>
          </a:p>
        </p:txBody>
      </p:sp>
      <p:sp>
        <p:nvSpPr>
          <p:cNvPr id="28" name="TextBox 27"/>
          <p:cNvSpPr txBox="1"/>
          <p:nvPr/>
        </p:nvSpPr>
        <p:spPr>
          <a:xfrm>
            <a:off x="4754880" y="2125980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ゴシキヒワ</a:t>
            </a:r>
            <a:endParaRPr sz="1650"/>
          </a:p>
        </p:txBody>
      </p:sp>
      <p:sp>
        <p:nvSpPr>
          <p:cNvPr id="29" name="TextBox 28"/>
          <p:cNvSpPr txBox="1"/>
          <p:nvPr/>
        </p:nvSpPr>
        <p:spPr>
          <a:xfrm>
            <a:off x="7132320" y="2167128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n01531178</a:t>
            </a:r>
            <a:endParaRPr sz="850"/>
          </a:p>
        </p:txBody>
      </p:sp>
      <p:sp>
        <p:nvSpPr>
          <p:cNvPr id="30" name="TextBox 29"/>
          <p:cNvSpPr txBox="1"/>
          <p:nvPr/>
        </p:nvSpPr>
        <p:spPr>
          <a:xfrm>
            <a:off x="4754880" y="2368296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メキシコマシコ</a:t>
            </a:r>
            <a:endParaRPr sz="1650"/>
          </a:p>
        </p:txBody>
      </p:sp>
      <p:sp>
        <p:nvSpPr>
          <p:cNvPr id="31" name="TextBox 30"/>
          <p:cNvSpPr txBox="1"/>
          <p:nvPr/>
        </p:nvSpPr>
        <p:spPr>
          <a:xfrm>
            <a:off x="7132320" y="2409444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n01532829</a:t>
            </a:r>
            <a:endParaRPr sz="850"/>
          </a:p>
        </p:txBody>
      </p:sp>
      <p:sp>
        <p:nvSpPr>
          <p:cNvPr id="32" name="TextBox 31"/>
          <p:cNvSpPr txBox="1"/>
          <p:nvPr/>
        </p:nvSpPr>
        <p:spPr>
          <a:xfrm>
            <a:off x="4754880" y="2610612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ユキヒメドリ</a:t>
            </a:r>
            <a:endParaRPr sz="1650"/>
          </a:p>
        </p:txBody>
      </p:sp>
      <p:sp>
        <p:nvSpPr>
          <p:cNvPr id="33" name="TextBox 32"/>
          <p:cNvSpPr txBox="1"/>
          <p:nvPr/>
        </p:nvSpPr>
        <p:spPr>
          <a:xfrm>
            <a:off x="7132320" y="2651760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n01534433</a:t>
            </a:r>
            <a:endParaRPr sz="850"/>
          </a:p>
        </p:txBody>
      </p:sp>
      <p:sp>
        <p:nvSpPr>
          <p:cNvPr id="34" name="TextBox 33"/>
          <p:cNvSpPr txBox="1"/>
          <p:nvPr/>
        </p:nvSpPr>
        <p:spPr>
          <a:xfrm>
            <a:off x="4754880" y="2852928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コマツグミ</a:t>
            </a:r>
            <a:endParaRPr sz="1650"/>
          </a:p>
        </p:txBody>
      </p:sp>
      <p:sp>
        <p:nvSpPr>
          <p:cNvPr id="35" name="TextBox 34"/>
          <p:cNvSpPr txBox="1"/>
          <p:nvPr/>
        </p:nvSpPr>
        <p:spPr>
          <a:xfrm>
            <a:off x="7132320" y="2894076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n01558993</a:t>
            </a:r>
            <a:endParaRPr sz="850"/>
          </a:p>
        </p:txBody>
      </p:sp>
      <p:sp>
        <p:nvSpPr>
          <p:cNvPr id="36" name="TextBox 35"/>
          <p:cNvSpPr txBox="1"/>
          <p:nvPr/>
        </p:nvSpPr>
        <p:spPr>
          <a:xfrm>
            <a:off x="4754880" y="3095244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カササギ</a:t>
            </a:r>
            <a:endParaRPr sz="1650"/>
          </a:p>
        </p:txBody>
      </p:sp>
      <p:sp>
        <p:nvSpPr>
          <p:cNvPr id="37" name="TextBox 36"/>
          <p:cNvSpPr txBox="1"/>
          <p:nvPr/>
        </p:nvSpPr>
        <p:spPr>
          <a:xfrm>
            <a:off x="7132320" y="3136392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n01582220</a:t>
            </a:r>
            <a:endParaRPr sz="850"/>
          </a:p>
        </p:txBody>
      </p:sp>
      <p:sp>
        <p:nvSpPr>
          <p:cNvPr id="38" name="TextBox 37"/>
          <p:cNvSpPr txBox="1"/>
          <p:nvPr/>
        </p:nvSpPr>
        <p:spPr>
          <a:xfrm>
            <a:off x="4754880" y="3337560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ハクトウワシ</a:t>
            </a:r>
            <a:endParaRPr sz="1650"/>
          </a:p>
        </p:txBody>
      </p:sp>
      <p:sp>
        <p:nvSpPr>
          <p:cNvPr id="39" name="TextBox 38"/>
          <p:cNvSpPr txBox="1"/>
          <p:nvPr/>
        </p:nvSpPr>
        <p:spPr>
          <a:xfrm>
            <a:off x="7132320" y="3378708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n01614925</a:t>
            </a:r>
            <a:endParaRPr sz="850"/>
          </a:p>
        </p:txBody>
      </p:sp>
      <p:sp>
        <p:nvSpPr>
          <p:cNvPr id="40" name="TextBox 39"/>
          <p:cNvSpPr txBox="1"/>
          <p:nvPr/>
        </p:nvSpPr>
        <p:spPr>
          <a:xfrm>
            <a:off x="4754880" y="3579876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ハゲワシ</a:t>
            </a:r>
            <a:endParaRPr sz="1650"/>
          </a:p>
        </p:txBody>
      </p:sp>
      <p:sp>
        <p:nvSpPr>
          <p:cNvPr id="41" name="TextBox 40"/>
          <p:cNvSpPr txBox="1"/>
          <p:nvPr/>
        </p:nvSpPr>
        <p:spPr>
          <a:xfrm>
            <a:off x="7132320" y="3621024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n01616318</a:t>
            </a:r>
            <a:endParaRPr sz="850"/>
          </a:p>
        </p:txBody>
      </p:sp>
      <p:sp>
        <p:nvSpPr>
          <p:cNvPr id="42" name="TextBox 41"/>
          <p:cNvSpPr txBox="1"/>
          <p:nvPr/>
        </p:nvSpPr>
        <p:spPr>
          <a:xfrm>
            <a:off x="4754880" y="3822191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クジャク</a:t>
            </a:r>
            <a:endParaRPr sz="1650"/>
          </a:p>
        </p:txBody>
      </p:sp>
      <p:sp>
        <p:nvSpPr>
          <p:cNvPr id="43" name="TextBox 42"/>
          <p:cNvSpPr txBox="1"/>
          <p:nvPr/>
        </p:nvSpPr>
        <p:spPr>
          <a:xfrm>
            <a:off x="7132320" y="3863339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n01806143</a:t>
            </a:r>
            <a:endParaRPr sz="850"/>
          </a:p>
        </p:txBody>
      </p:sp>
      <p:sp>
        <p:nvSpPr>
          <p:cNvPr id="44" name="TextBox 43"/>
          <p:cNvSpPr txBox="1"/>
          <p:nvPr/>
        </p:nvSpPr>
        <p:spPr>
          <a:xfrm>
            <a:off x="4754880" y="4064508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フラミンゴ</a:t>
            </a:r>
            <a:endParaRPr sz="1650"/>
          </a:p>
        </p:txBody>
      </p:sp>
      <p:sp>
        <p:nvSpPr>
          <p:cNvPr id="45" name="TextBox 44"/>
          <p:cNvSpPr txBox="1"/>
          <p:nvPr/>
        </p:nvSpPr>
        <p:spPr>
          <a:xfrm>
            <a:off x="7132320" y="4105656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n02007558</a:t>
            </a:r>
            <a:endParaRPr sz="850"/>
          </a:p>
        </p:txBody>
      </p:sp>
      <p:sp>
        <p:nvSpPr>
          <p:cNvPr id="46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ILSVRC 2012公式devkit. https://image-net.org/challenges/LSVRC/2012/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日本語名は英語ラベルの訳。右側に照合用のWordNet IDを示す。</a:t>
            </a:r>
            <a:endParaRPr sz="85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787" lang="ja-JP" b="1">
                <a:solidFill>
                  <a:srgbClr val="303437"/>
                </a:solidFill>
                <a:latin typeface="Noto Sans CJK JP"/>
                <a:ea typeface="Noto Sans CJK JP"/>
              </a:rPr>
              <a:t>爬虫類と両生類と魚類と水生無脊椎動物のカテゴリ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カテゴリの見取り図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44752"/>
            <a:ext cx="3858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2C9100"/>
                </a:solidFill>
                <a:latin typeface="Noto Sans CJK JP"/>
                <a:ea typeface="Noto Sans CJK JP"/>
              </a:rPr>
              <a:t>爬虫類と両生類</a:t>
            </a:r>
            <a:endParaRPr sz="2300"/>
          </a:p>
        </p:txBody>
      </p:sp>
      <p:sp>
        <p:nvSpPr>
          <p:cNvPr id="5" name="TextBox 4"/>
          <p:cNvSpPr txBox="1"/>
          <p:nvPr/>
        </p:nvSpPr>
        <p:spPr>
          <a:xfrm>
            <a:off x="594360" y="1883664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アカウミガメ</a:t>
            </a:r>
            <a:endParaRPr sz="1650"/>
          </a:p>
        </p:txBody>
      </p:sp>
      <p:sp>
        <p:nvSpPr>
          <p:cNvPr id="6" name="TextBox 5"/>
          <p:cNvSpPr txBox="1"/>
          <p:nvPr/>
        </p:nvSpPr>
        <p:spPr>
          <a:xfrm>
            <a:off x="2971800" y="1924812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n01664065</a:t>
            </a:r>
            <a:endParaRPr sz="850"/>
          </a:p>
        </p:txBody>
      </p:sp>
      <p:sp>
        <p:nvSpPr>
          <p:cNvPr id="7" name="TextBox 6"/>
          <p:cNvSpPr txBox="1"/>
          <p:nvPr/>
        </p:nvSpPr>
        <p:spPr>
          <a:xfrm>
            <a:off x="594360" y="2125980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オサガメ</a:t>
            </a:r>
            <a:endParaRPr sz="1650"/>
          </a:p>
        </p:txBody>
      </p:sp>
      <p:sp>
        <p:nvSpPr>
          <p:cNvPr id="8" name="TextBox 7"/>
          <p:cNvSpPr txBox="1"/>
          <p:nvPr/>
        </p:nvSpPr>
        <p:spPr>
          <a:xfrm>
            <a:off x="2971800" y="2167128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n01665541</a:t>
            </a:r>
            <a:endParaRPr sz="850"/>
          </a:p>
        </p:txBody>
      </p:sp>
      <p:sp>
        <p:nvSpPr>
          <p:cNvPr id="9" name="TextBox 8"/>
          <p:cNvSpPr txBox="1"/>
          <p:nvPr/>
        </p:nvSpPr>
        <p:spPr>
          <a:xfrm>
            <a:off x="594360" y="2368296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ハコガメ</a:t>
            </a:r>
            <a:endParaRPr sz="1650"/>
          </a:p>
        </p:txBody>
      </p:sp>
      <p:sp>
        <p:nvSpPr>
          <p:cNvPr id="10" name="TextBox 9"/>
          <p:cNvSpPr txBox="1"/>
          <p:nvPr/>
        </p:nvSpPr>
        <p:spPr>
          <a:xfrm>
            <a:off x="2971800" y="2409444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n01669191</a:t>
            </a:r>
            <a:endParaRPr sz="850"/>
          </a:p>
        </p:txBody>
      </p:sp>
      <p:sp>
        <p:nvSpPr>
          <p:cNvPr id="11" name="TextBox 10"/>
          <p:cNvSpPr txBox="1"/>
          <p:nvPr/>
        </p:nvSpPr>
        <p:spPr>
          <a:xfrm>
            <a:off x="594360" y="2610612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イグアナ</a:t>
            </a:r>
            <a:endParaRPr sz="1650"/>
          </a:p>
        </p:txBody>
      </p:sp>
      <p:sp>
        <p:nvSpPr>
          <p:cNvPr id="12" name="TextBox 11"/>
          <p:cNvSpPr txBox="1"/>
          <p:nvPr/>
        </p:nvSpPr>
        <p:spPr>
          <a:xfrm>
            <a:off x="2971800" y="2651760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n01677366</a:t>
            </a:r>
            <a:endParaRPr sz="850"/>
          </a:p>
        </p:txBody>
      </p:sp>
      <p:sp>
        <p:nvSpPr>
          <p:cNvPr id="13" name="TextBox 12"/>
          <p:cNvSpPr txBox="1"/>
          <p:nvPr/>
        </p:nvSpPr>
        <p:spPr>
          <a:xfrm>
            <a:off x="594360" y="2852928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コモドオオトカゲ</a:t>
            </a:r>
            <a:endParaRPr sz="1650"/>
          </a:p>
        </p:txBody>
      </p:sp>
      <p:sp>
        <p:nvSpPr>
          <p:cNvPr id="14" name="TextBox 13"/>
          <p:cNvSpPr txBox="1"/>
          <p:nvPr/>
        </p:nvSpPr>
        <p:spPr>
          <a:xfrm>
            <a:off x="2971800" y="2894076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n01695060</a:t>
            </a:r>
            <a:endParaRPr sz="850"/>
          </a:p>
        </p:txBody>
      </p:sp>
      <p:sp>
        <p:nvSpPr>
          <p:cNvPr id="15" name="TextBox 14"/>
          <p:cNvSpPr txBox="1"/>
          <p:nvPr/>
        </p:nvSpPr>
        <p:spPr>
          <a:xfrm>
            <a:off x="594360" y="3095244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ミシシッピワニ</a:t>
            </a:r>
            <a:endParaRPr sz="1650"/>
          </a:p>
        </p:txBody>
      </p:sp>
      <p:sp>
        <p:nvSpPr>
          <p:cNvPr id="16" name="TextBox 15"/>
          <p:cNvSpPr txBox="1"/>
          <p:nvPr/>
        </p:nvSpPr>
        <p:spPr>
          <a:xfrm>
            <a:off x="2971800" y="3136392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n01698640</a:t>
            </a:r>
            <a:endParaRPr sz="850"/>
          </a:p>
        </p:txBody>
      </p:sp>
      <p:sp>
        <p:nvSpPr>
          <p:cNvPr id="17" name="TextBox 16"/>
          <p:cNvSpPr txBox="1"/>
          <p:nvPr/>
        </p:nvSpPr>
        <p:spPr>
          <a:xfrm>
            <a:off x="594360" y="3337560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ボアコンストリクター</a:t>
            </a:r>
            <a:endParaRPr sz="1650"/>
          </a:p>
        </p:txBody>
      </p:sp>
      <p:sp>
        <p:nvSpPr>
          <p:cNvPr id="18" name="TextBox 17"/>
          <p:cNvSpPr txBox="1"/>
          <p:nvPr/>
        </p:nvSpPr>
        <p:spPr>
          <a:xfrm>
            <a:off x="2971800" y="3378708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n01742172</a:t>
            </a:r>
            <a:endParaRPr sz="850"/>
          </a:p>
        </p:txBody>
      </p:sp>
      <p:sp>
        <p:nvSpPr>
          <p:cNvPr id="19" name="TextBox 18"/>
          <p:cNvSpPr txBox="1"/>
          <p:nvPr/>
        </p:nvSpPr>
        <p:spPr>
          <a:xfrm>
            <a:off x="594360" y="3579876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インドコブラ</a:t>
            </a:r>
            <a:endParaRPr sz="1650"/>
          </a:p>
        </p:txBody>
      </p:sp>
      <p:sp>
        <p:nvSpPr>
          <p:cNvPr id="20" name="TextBox 19"/>
          <p:cNvSpPr txBox="1"/>
          <p:nvPr/>
        </p:nvSpPr>
        <p:spPr>
          <a:xfrm>
            <a:off x="2971800" y="3621024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n01748264</a:t>
            </a:r>
            <a:endParaRPr sz="850"/>
          </a:p>
        </p:txBody>
      </p:sp>
      <p:sp>
        <p:nvSpPr>
          <p:cNvPr id="21" name="TextBox 20"/>
          <p:cNvSpPr txBox="1"/>
          <p:nvPr/>
        </p:nvSpPr>
        <p:spPr>
          <a:xfrm>
            <a:off x="594360" y="3822191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アマガエル</a:t>
            </a:r>
            <a:endParaRPr sz="1650"/>
          </a:p>
        </p:txBody>
      </p:sp>
      <p:sp>
        <p:nvSpPr>
          <p:cNvPr id="22" name="TextBox 21"/>
          <p:cNvSpPr txBox="1"/>
          <p:nvPr/>
        </p:nvSpPr>
        <p:spPr>
          <a:xfrm>
            <a:off x="2971800" y="3863339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n01644373</a:t>
            </a:r>
            <a:endParaRPr sz="850"/>
          </a:p>
        </p:txBody>
      </p:sp>
      <p:sp>
        <p:nvSpPr>
          <p:cNvPr id="23" name="TextBox 22"/>
          <p:cNvSpPr txBox="1"/>
          <p:nvPr/>
        </p:nvSpPr>
        <p:spPr>
          <a:xfrm>
            <a:off x="594360" y="4064508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アホロートル</a:t>
            </a:r>
            <a:endParaRPr sz="1650"/>
          </a:p>
        </p:txBody>
      </p:sp>
      <p:sp>
        <p:nvSpPr>
          <p:cNvPr id="24" name="TextBox 23"/>
          <p:cNvSpPr txBox="1"/>
          <p:nvPr/>
        </p:nvSpPr>
        <p:spPr>
          <a:xfrm>
            <a:off x="2971800" y="4105656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n01632777</a:t>
            </a:r>
            <a:endParaRPr sz="850"/>
          </a:p>
        </p:txBody>
      </p:sp>
      <p:sp>
        <p:nvSpPr>
          <p:cNvPr id="25" name="TextBox 24"/>
          <p:cNvSpPr txBox="1"/>
          <p:nvPr/>
        </p:nvSpPr>
        <p:spPr>
          <a:xfrm>
            <a:off x="4754880" y="1444752"/>
            <a:ext cx="3858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2C9100"/>
                </a:solidFill>
                <a:latin typeface="Noto Sans CJK JP"/>
                <a:ea typeface="Noto Sans CJK JP"/>
              </a:rPr>
              <a:t>魚類と水生無脊椎動物</a:t>
            </a:r>
            <a:endParaRPr sz="2300"/>
          </a:p>
        </p:txBody>
      </p:sp>
      <p:sp>
        <p:nvSpPr>
          <p:cNvPr id="26" name="TextBox 25"/>
          <p:cNvSpPr txBox="1"/>
          <p:nvPr/>
        </p:nvSpPr>
        <p:spPr>
          <a:xfrm>
            <a:off x="4754880" y="1883664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テンチ</a:t>
            </a:r>
            <a:endParaRPr sz="1650"/>
          </a:p>
        </p:txBody>
      </p:sp>
      <p:sp>
        <p:nvSpPr>
          <p:cNvPr id="27" name="TextBox 26"/>
          <p:cNvSpPr txBox="1"/>
          <p:nvPr/>
        </p:nvSpPr>
        <p:spPr>
          <a:xfrm>
            <a:off x="7132320" y="1924812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n01440764</a:t>
            </a:r>
            <a:endParaRPr sz="850"/>
          </a:p>
        </p:txBody>
      </p:sp>
      <p:sp>
        <p:nvSpPr>
          <p:cNvPr id="28" name="TextBox 27"/>
          <p:cNvSpPr txBox="1"/>
          <p:nvPr/>
        </p:nvSpPr>
        <p:spPr>
          <a:xfrm>
            <a:off x="4754880" y="2125980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キンギョ</a:t>
            </a:r>
            <a:endParaRPr sz="1650"/>
          </a:p>
        </p:txBody>
      </p:sp>
      <p:sp>
        <p:nvSpPr>
          <p:cNvPr id="29" name="TextBox 28"/>
          <p:cNvSpPr txBox="1"/>
          <p:nvPr/>
        </p:nvSpPr>
        <p:spPr>
          <a:xfrm>
            <a:off x="7132320" y="2167128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n01443537</a:t>
            </a:r>
            <a:endParaRPr sz="850"/>
          </a:p>
        </p:txBody>
      </p:sp>
      <p:sp>
        <p:nvSpPr>
          <p:cNvPr id="30" name="TextBox 29"/>
          <p:cNvSpPr txBox="1"/>
          <p:nvPr/>
        </p:nvSpPr>
        <p:spPr>
          <a:xfrm>
            <a:off x="4754880" y="2368296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ホホジロザメ</a:t>
            </a:r>
            <a:endParaRPr sz="1650"/>
          </a:p>
        </p:txBody>
      </p:sp>
      <p:sp>
        <p:nvSpPr>
          <p:cNvPr id="31" name="TextBox 30"/>
          <p:cNvSpPr txBox="1"/>
          <p:nvPr/>
        </p:nvSpPr>
        <p:spPr>
          <a:xfrm>
            <a:off x="7132320" y="2409444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n01484850</a:t>
            </a:r>
            <a:endParaRPr sz="850"/>
          </a:p>
        </p:txBody>
      </p:sp>
      <p:sp>
        <p:nvSpPr>
          <p:cNvPr id="32" name="TextBox 31"/>
          <p:cNvSpPr txBox="1"/>
          <p:nvPr/>
        </p:nvSpPr>
        <p:spPr>
          <a:xfrm>
            <a:off x="4754880" y="2610612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イタチザメ</a:t>
            </a:r>
            <a:endParaRPr sz="1650"/>
          </a:p>
        </p:txBody>
      </p:sp>
      <p:sp>
        <p:nvSpPr>
          <p:cNvPr id="33" name="TextBox 32"/>
          <p:cNvSpPr txBox="1"/>
          <p:nvPr/>
        </p:nvSpPr>
        <p:spPr>
          <a:xfrm>
            <a:off x="7132320" y="2651760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n01491361</a:t>
            </a:r>
            <a:endParaRPr sz="850"/>
          </a:p>
        </p:txBody>
      </p:sp>
      <p:sp>
        <p:nvSpPr>
          <p:cNvPr id="34" name="TextBox 33"/>
          <p:cNvSpPr txBox="1"/>
          <p:nvPr/>
        </p:nvSpPr>
        <p:spPr>
          <a:xfrm>
            <a:off x="4754880" y="2852928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シュモクザメ</a:t>
            </a:r>
            <a:endParaRPr sz="1650"/>
          </a:p>
        </p:txBody>
      </p:sp>
      <p:sp>
        <p:nvSpPr>
          <p:cNvPr id="35" name="TextBox 34"/>
          <p:cNvSpPr txBox="1"/>
          <p:nvPr/>
        </p:nvSpPr>
        <p:spPr>
          <a:xfrm>
            <a:off x="7132320" y="2894076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n01494475</a:t>
            </a:r>
            <a:endParaRPr sz="850"/>
          </a:p>
        </p:txBody>
      </p:sp>
      <p:sp>
        <p:nvSpPr>
          <p:cNvPr id="36" name="TextBox 35"/>
          <p:cNvSpPr txBox="1"/>
          <p:nvPr/>
        </p:nvSpPr>
        <p:spPr>
          <a:xfrm>
            <a:off x="4754880" y="3095244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アカエイ類</a:t>
            </a:r>
            <a:endParaRPr sz="1650"/>
          </a:p>
        </p:txBody>
      </p:sp>
      <p:sp>
        <p:nvSpPr>
          <p:cNvPr id="37" name="TextBox 36"/>
          <p:cNvSpPr txBox="1"/>
          <p:nvPr/>
        </p:nvSpPr>
        <p:spPr>
          <a:xfrm>
            <a:off x="7132320" y="3136392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n01498041</a:t>
            </a:r>
            <a:endParaRPr sz="850"/>
          </a:p>
        </p:txBody>
      </p:sp>
      <p:sp>
        <p:nvSpPr>
          <p:cNvPr id="38" name="TextBox 37"/>
          <p:cNvSpPr txBox="1"/>
          <p:nvPr/>
        </p:nvSpPr>
        <p:spPr>
          <a:xfrm>
            <a:off x="4754880" y="3337560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クラゲ</a:t>
            </a:r>
            <a:endParaRPr sz="1650"/>
          </a:p>
        </p:txBody>
      </p:sp>
      <p:sp>
        <p:nvSpPr>
          <p:cNvPr id="39" name="TextBox 38"/>
          <p:cNvSpPr txBox="1"/>
          <p:nvPr/>
        </p:nvSpPr>
        <p:spPr>
          <a:xfrm>
            <a:off x="7132320" y="3378708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n01910747</a:t>
            </a:r>
            <a:endParaRPr sz="850"/>
          </a:p>
        </p:txBody>
      </p:sp>
      <p:sp>
        <p:nvSpPr>
          <p:cNvPr id="40" name="TextBox 39"/>
          <p:cNvSpPr txBox="1"/>
          <p:nvPr/>
        </p:nvSpPr>
        <p:spPr>
          <a:xfrm>
            <a:off x="4754880" y="3579876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イソギンチャク</a:t>
            </a:r>
            <a:endParaRPr sz="1650"/>
          </a:p>
        </p:txBody>
      </p:sp>
      <p:sp>
        <p:nvSpPr>
          <p:cNvPr id="41" name="TextBox 40"/>
          <p:cNvSpPr txBox="1"/>
          <p:nvPr/>
        </p:nvSpPr>
        <p:spPr>
          <a:xfrm>
            <a:off x="7132320" y="3621024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n01914609</a:t>
            </a:r>
            <a:endParaRPr sz="850"/>
          </a:p>
        </p:txBody>
      </p:sp>
      <p:sp>
        <p:nvSpPr>
          <p:cNvPr id="42" name="TextBox 41"/>
          <p:cNvSpPr txBox="1"/>
          <p:nvPr/>
        </p:nvSpPr>
        <p:spPr>
          <a:xfrm>
            <a:off x="4754880" y="3822191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ウニ</a:t>
            </a:r>
            <a:endParaRPr sz="1650"/>
          </a:p>
        </p:txBody>
      </p:sp>
      <p:sp>
        <p:nvSpPr>
          <p:cNvPr id="43" name="TextBox 42"/>
          <p:cNvSpPr txBox="1"/>
          <p:nvPr/>
        </p:nvSpPr>
        <p:spPr>
          <a:xfrm>
            <a:off x="7132320" y="3863339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n02319095</a:t>
            </a:r>
            <a:endParaRPr sz="850"/>
          </a:p>
        </p:txBody>
      </p:sp>
      <p:sp>
        <p:nvSpPr>
          <p:cNvPr id="44" name="TextBox 43"/>
          <p:cNvSpPr txBox="1"/>
          <p:nvPr/>
        </p:nvSpPr>
        <p:spPr>
          <a:xfrm>
            <a:off x="4754880" y="4064508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ナマコ</a:t>
            </a:r>
            <a:endParaRPr sz="1650"/>
          </a:p>
        </p:txBody>
      </p:sp>
      <p:sp>
        <p:nvSpPr>
          <p:cNvPr id="45" name="TextBox 44"/>
          <p:cNvSpPr txBox="1"/>
          <p:nvPr/>
        </p:nvSpPr>
        <p:spPr>
          <a:xfrm>
            <a:off x="7132320" y="4105656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n02321529</a:t>
            </a:r>
            <a:endParaRPr sz="850"/>
          </a:p>
        </p:txBody>
      </p:sp>
      <p:sp>
        <p:nvSpPr>
          <p:cNvPr id="46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ILSVRC 2012公式devkit. https://image-net.org/challenges/LSVRC/2012/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日本語名は英語ラベルの訳。右側に照合用のWordNet IDを示す。</a:t>
            </a:r>
            <a:endParaRPr sz="85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昆虫と陸生節足動物と乗り物のカテゴリ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カテゴリの見取り図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44752"/>
            <a:ext cx="3858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2C9100"/>
                </a:solidFill>
                <a:latin typeface="Noto Sans CJK JP"/>
                <a:ea typeface="Noto Sans CJK JP"/>
              </a:rPr>
              <a:t>昆虫と陸生節足動物</a:t>
            </a:r>
            <a:endParaRPr sz="2300"/>
          </a:p>
        </p:txBody>
      </p:sp>
      <p:sp>
        <p:nvSpPr>
          <p:cNvPr id="5" name="TextBox 4"/>
          <p:cNvSpPr txBox="1"/>
          <p:nvPr/>
        </p:nvSpPr>
        <p:spPr>
          <a:xfrm>
            <a:off x="594360" y="1883664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テントウムシ</a:t>
            </a:r>
            <a:endParaRPr sz="1650"/>
          </a:p>
        </p:txBody>
      </p:sp>
      <p:sp>
        <p:nvSpPr>
          <p:cNvPr id="6" name="TextBox 5"/>
          <p:cNvSpPr txBox="1"/>
          <p:nvPr/>
        </p:nvSpPr>
        <p:spPr>
          <a:xfrm>
            <a:off x="2971800" y="1924812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n02165456</a:t>
            </a:r>
            <a:endParaRPr sz="850"/>
          </a:p>
        </p:txBody>
      </p:sp>
      <p:sp>
        <p:nvSpPr>
          <p:cNvPr id="7" name="TextBox 6"/>
          <p:cNvSpPr txBox="1"/>
          <p:nvPr/>
        </p:nvSpPr>
        <p:spPr>
          <a:xfrm>
            <a:off x="594360" y="2125980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カブトムシ</a:t>
            </a:r>
            <a:endParaRPr sz="1650"/>
          </a:p>
        </p:txBody>
      </p:sp>
      <p:sp>
        <p:nvSpPr>
          <p:cNvPr id="8" name="TextBox 7"/>
          <p:cNvSpPr txBox="1"/>
          <p:nvPr/>
        </p:nvSpPr>
        <p:spPr>
          <a:xfrm>
            <a:off x="2971800" y="2167128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n02174001</a:t>
            </a:r>
            <a:endParaRPr sz="850"/>
          </a:p>
        </p:txBody>
      </p:sp>
      <p:sp>
        <p:nvSpPr>
          <p:cNvPr id="9" name="TextBox 8"/>
          <p:cNvSpPr txBox="1"/>
          <p:nvPr/>
        </p:nvSpPr>
        <p:spPr>
          <a:xfrm>
            <a:off x="594360" y="2368296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ハチ</a:t>
            </a:r>
            <a:endParaRPr sz="1650"/>
          </a:p>
        </p:txBody>
      </p:sp>
      <p:sp>
        <p:nvSpPr>
          <p:cNvPr id="10" name="TextBox 9"/>
          <p:cNvSpPr txBox="1"/>
          <p:nvPr/>
        </p:nvSpPr>
        <p:spPr>
          <a:xfrm>
            <a:off x="2971800" y="2409444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n02206856</a:t>
            </a:r>
            <a:endParaRPr sz="850"/>
          </a:p>
        </p:txBody>
      </p:sp>
      <p:sp>
        <p:nvSpPr>
          <p:cNvPr id="11" name="TextBox 10"/>
          <p:cNvSpPr txBox="1"/>
          <p:nvPr/>
        </p:nvSpPr>
        <p:spPr>
          <a:xfrm>
            <a:off x="594360" y="2610612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バッタ</a:t>
            </a:r>
            <a:endParaRPr sz="1650"/>
          </a:p>
        </p:txBody>
      </p:sp>
      <p:sp>
        <p:nvSpPr>
          <p:cNvPr id="12" name="TextBox 11"/>
          <p:cNvSpPr txBox="1"/>
          <p:nvPr/>
        </p:nvSpPr>
        <p:spPr>
          <a:xfrm>
            <a:off x="2971800" y="2651760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n02226429</a:t>
            </a:r>
            <a:endParaRPr sz="850"/>
          </a:p>
        </p:txBody>
      </p:sp>
      <p:sp>
        <p:nvSpPr>
          <p:cNvPr id="13" name="TextBox 12"/>
          <p:cNvSpPr txBox="1"/>
          <p:nvPr/>
        </p:nvSpPr>
        <p:spPr>
          <a:xfrm>
            <a:off x="594360" y="2852928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コオロギ</a:t>
            </a:r>
            <a:endParaRPr sz="1650"/>
          </a:p>
        </p:txBody>
      </p:sp>
      <p:sp>
        <p:nvSpPr>
          <p:cNvPr id="14" name="TextBox 13"/>
          <p:cNvSpPr txBox="1"/>
          <p:nvPr/>
        </p:nvSpPr>
        <p:spPr>
          <a:xfrm>
            <a:off x="2971800" y="2894076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n02229544</a:t>
            </a:r>
            <a:endParaRPr sz="850"/>
          </a:p>
        </p:txBody>
      </p:sp>
      <p:sp>
        <p:nvSpPr>
          <p:cNvPr id="15" name="TextBox 14"/>
          <p:cNvSpPr txBox="1"/>
          <p:nvPr/>
        </p:nvSpPr>
        <p:spPr>
          <a:xfrm>
            <a:off x="594360" y="3095244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カマキリ</a:t>
            </a:r>
            <a:endParaRPr sz="1650"/>
          </a:p>
        </p:txBody>
      </p:sp>
      <p:sp>
        <p:nvSpPr>
          <p:cNvPr id="16" name="TextBox 15"/>
          <p:cNvSpPr txBox="1"/>
          <p:nvPr/>
        </p:nvSpPr>
        <p:spPr>
          <a:xfrm>
            <a:off x="2971800" y="3136392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n02236044</a:t>
            </a:r>
            <a:endParaRPr sz="850"/>
          </a:p>
        </p:txBody>
      </p:sp>
      <p:sp>
        <p:nvSpPr>
          <p:cNvPr id="17" name="TextBox 16"/>
          <p:cNvSpPr txBox="1"/>
          <p:nvPr/>
        </p:nvSpPr>
        <p:spPr>
          <a:xfrm>
            <a:off x="594360" y="3337560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セミ</a:t>
            </a:r>
            <a:endParaRPr sz="1650"/>
          </a:p>
        </p:txBody>
      </p:sp>
      <p:sp>
        <p:nvSpPr>
          <p:cNvPr id="18" name="TextBox 17"/>
          <p:cNvSpPr txBox="1"/>
          <p:nvPr/>
        </p:nvSpPr>
        <p:spPr>
          <a:xfrm>
            <a:off x="2971800" y="3378708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n02256656</a:t>
            </a:r>
            <a:endParaRPr sz="850"/>
          </a:p>
        </p:txBody>
      </p:sp>
      <p:sp>
        <p:nvSpPr>
          <p:cNvPr id="19" name="TextBox 18"/>
          <p:cNvSpPr txBox="1"/>
          <p:nvPr/>
        </p:nvSpPr>
        <p:spPr>
          <a:xfrm>
            <a:off x="594360" y="3579876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トンボ</a:t>
            </a:r>
            <a:endParaRPr sz="1650"/>
          </a:p>
        </p:txBody>
      </p:sp>
      <p:sp>
        <p:nvSpPr>
          <p:cNvPr id="20" name="TextBox 19"/>
          <p:cNvSpPr txBox="1"/>
          <p:nvPr/>
        </p:nvSpPr>
        <p:spPr>
          <a:xfrm>
            <a:off x="2971800" y="3621024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n02268443</a:t>
            </a:r>
            <a:endParaRPr sz="850"/>
          </a:p>
        </p:txBody>
      </p:sp>
      <p:sp>
        <p:nvSpPr>
          <p:cNvPr id="21" name="TextBox 20"/>
          <p:cNvSpPr txBox="1"/>
          <p:nvPr/>
        </p:nvSpPr>
        <p:spPr>
          <a:xfrm>
            <a:off x="594360" y="3822191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オオカバマダラ</a:t>
            </a:r>
            <a:endParaRPr sz="1650"/>
          </a:p>
        </p:txBody>
      </p:sp>
      <p:sp>
        <p:nvSpPr>
          <p:cNvPr id="22" name="TextBox 21"/>
          <p:cNvSpPr txBox="1"/>
          <p:nvPr/>
        </p:nvSpPr>
        <p:spPr>
          <a:xfrm>
            <a:off x="2971800" y="3863339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n02279972</a:t>
            </a:r>
            <a:endParaRPr sz="850"/>
          </a:p>
        </p:txBody>
      </p:sp>
      <p:sp>
        <p:nvSpPr>
          <p:cNvPr id="23" name="TextBox 22"/>
          <p:cNvSpPr txBox="1"/>
          <p:nvPr/>
        </p:nvSpPr>
        <p:spPr>
          <a:xfrm>
            <a:off x="594360" y="4064508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サソリ</a:t>
            </a:r>
            <a:endParaRPr sz="1650"/>
          </a:p>
        </p:txBody>
      </p:sp>
      <p:sp>
        <p:nvSpPr>
          <p:cNvPr id="24" name="TextBox 23"/>
          <p:cNvSpPr txBox="1"/>
          <p:nvPr/>
        </p:nvSpPr>
        <p:spPr>
          <a:xfrm>
            <a:off x="2971800" y="4105656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n01770393</a:t>
            </a:r>
            <a:endParaRPr sz="850"/>
          </a:p>
        </p:txBody>
      </p:sp>
      <p:sp>
        <p:nvSpPr>
          <p:cNvPr id="25" name="TextBox 24"/>
          <p:cNvSpPr txBox="1"/>
          <p:nvPr/>
        </p:nvSpPr>
        <p:spPr>
          <a:xfrm>
            <a:off x="4754880" y="1444752"/>
            <a:ext cx="3858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2C9100"/>
                </a:solidFill>
                <a:latin typeface="Noto Sans CJK JP"/>
                <a:ea typeface="Noto Sans CJK JP"/>
              </a:rPr>
              <a:t>乗り物</a:t>
            </a:r>
            <a:endParaRPr sz="2300"/>
          </a:p>
        </p:txBody>
      </p:sp>
      <p:sp>
        <p:nvSpPr>
          <p:cNvPr id="26" name="TextBox 25"/>
          <p:cNvSpPr txBox="1"/>
          <p:nvPr/>
        </p:nvSpPr>
        <p:spPr>
          <a:xfrm>
            <a:off x="4754880" y="1883664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旅客機</a:t>
            </a:r>
            <a:endParaRPr sz="1650"/>
          </a:p>
        </p:txBody>
      </p:sp>
      <p:sp>
        <p:nvSpPr>
          <p:cNvPr id="27" name="TextBox 26"/>
          <p:cNvSpPr txBox="1"/>
          <p:nvPr/>
        </p:nvSpPr>
        <p:spPr>
          <a:xfrm>
            <a:off x="7132320" y="1924812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n02690373</a:t>
            </a:r>
            <a:endParaRPr sz="850"/>
          </a:p>
        </p:txBody>
      </p:sp>
      <p:sp>
        <p:nvSpPr>
          <p:cNvPr id="28" name="TextBox 27"/>
          <p:cNvSpPr txBox="1"/>
          <p:nvPr/>
        </p:nvSpPr>
        <p:spPr>
          <a:xfrm>
            <a:off x="4754880" y="2125980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軍用機</a:t>
            </a:r>
            <a:endParaRPr sz="1650"/>
          </a:p>
        </p:txBody>
      </p:sp>
      <p:sp>
        <p:nvSpPr>
          <p:cNvPr id="29" name="TextBox 28"/>
          <p:cNvSpPr txBox="1"/>
          <p:nvPr/>
        </p:nvSpPr>
        <p:spPr>
          <a:xfrm>
            <a:off x="7132320" y="2167128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n04552348</a:t>
            </a:r>
            <a:endParaRPr sz="850"/>
          </a:p>
        </p:txBody>
      </p:sp>
      <p:sp>
        <p:nvSpPr>
          <p:cNvPr id="30" name="TextBox 29"/>
          <p:cNvSpPr txBox="1"/>
          <p:nvPr/>
        </p:nvSpPr>
        <p:spPr>
          <a:xfrm>
            <a:off x="4754880" y="2368296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飛行船</a:t>
            </a:r>
            <a:endParaRPr sz="1650"/>
          </a:p>
        </p:txBody>
      </p:sp>
      <p:sp>
        <p:nvSpPr>
          <p:cNvPr id="31" name="TextBox 30"/>
          <p:cNvSpPr txBox="1"/>
          <p:nvPr/>
        </p:nvSpPr>
        <p:spPr>
          <a:xfrm>
            <a:off x="7132320" y="2409444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n02692877</a:t>
            </a:r>
            <a:endParaRPr sz="850"/>
          </a:p>
        </p:txBody>
      </p:sp>
      <p:sp>
        <p:nvSpPr>
          <p:cNvPr id="32" name="TextBox 31"/>
          <p:cNvSpPr txBox="1"/>
          <p:nvPr/>
        </p:nvSpPr>
        <p:spPr>
          <a:xfrm>
            <a:off x="4754880" y="2610612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タンデム自転車</a:t>
            </a:r>
            <a:endParaRPr sz="1650"/>
          </a:p>
        </p:txBody>
      </p:sp>
      <p:sp>
        <p:nvSpPr>
          <p:cNvPr id="33" name="TextBox 32"/>
          <p:cNvSpPr txBox="1"/>
          <p:nvPr/>
        </p:nvSpPr>
        <p:spPr>
          <a:xfrm>
            <a:off x="7132320" y="2651760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n02835271</a:t>
            </a:r>
            <a:endParaRPr sz="850"/>
          </a:p>
        </p:txBody>
      </p:sp>
      <p:sp>
        <p:nvSpPr>
          <p:cNvPr id="34" name="TextBox 33"/>
          <p:cNvSpPr txBox="1"/>
          <p:nvPr/>
        </p:nvSpPr>
        <p:spPr>
          <a:xfrm>
            <a:off x="4754880" y="2852928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マウンテンバイク</a:t>
            </a:r>
            <a:endParaRPr sz="1650"/>
          </a:p>
        </p:txBody>
      </p:sp>
      <p:sp>
        <p:nvSpPr>
          <p:cNvPr id="35" name="TextBox 34"/>
          <p:cNvSpPr txBox="1"/>
          <p:nvPr/>
        </p:nvSpPr>
        <p:spPr>
          <a:xfrm>
            <a:off x="7132320" y="2894076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n03792782</a:t>
            </a:r>
            <a:endParaRPr sz="850"/>
          </a:p>
        </p:txBody>
      </p:sp>
      <p:sp>
        <p:nvSpPr>
          <p:cNvPr id="36" name="TextBox 35"/>
          <p:cNvSpPr txBox="1"/>
          <p:nvPr/>
        </p:nvSpPr>
        <p:spPr>
          <a:xfrm>
            <a:off x="4754880" y="3095244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スポーツカー</a:t>
            </a:r>
            <a:endParaRPr sz="1650"/>
          </a:p>
        </p:txBody>
      </p:sp>
      <p:sp>
        <p:nvSpPr>
          <p:cNvPr id="37" name="TextBox 36"/>
          <p:cNvSpPr txBox="1"/>
          <p:nvPr/>
        </p:nvSpPr>
        <p:spPr>
          <a:xfrm>
            <a:off x="7132320" y="3136392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n04285008</a:t>
            </a:r>
            <a:endParaRPr sz="850"/>
          </a:p>
        </p:txBody>
      </p:sp>
      <p:sp>
        <p:nvSpPr>
          <p:cNvPr id="38" name="TextBox 37"/>
          <p:cNvSpPr txBox="1"/>
          <p:nvPr/>
        </p:nvSpPr>
        <p:spPr>
          <a:xfrm>
            <a:off x="4754880" y="3337560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ミニバン</a:t>
            </a:r>
            <a:endParaRPr sz="1650"/>
          </a:p>
        </p:txBody>
      </p:sp>
      <p:sp>
        <p:nvSpPr>
          <p:cNvPr id="39" name="TextBox 38"/>
          <p:cNvSpPr txBox="1"/>
          <p:nvPr/>
        </p:nvSpPr>
        <p:spPr>
          <a:xfrm>
            <a:off x="7132320" y="3378708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n03770679</a:t>
            </a:r>
            <a:endParaRPr sz="850"/>
          </a:p>
        </p:txBody>
      </p:sp>
      <p:sp>
        <p:nvSpPr>
          <p:cNvPr id="40" name="TextBox 39"/>
          <p:cNvSpPr txBox="1"/>
          <p:nvPr/>
        </p:nvSpPr>
        <p:spPr>
          <a:xfrm>
            <a:off x="4754880" y="3579876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スクールバス</a:t>
            </a:r>
            <a:endParaRPr sz="1650"/>
          </a:p>
        </p:txBody>
      </p:sp>
      <p:sp>
        <p:nvSpPr>
          <p:cNvPr id="41" name="TextBox 40"/>
          <p:cNvSpPr txBox="1"/>
          <p:nvPr/>
        </p:nvSpPr>
        <p:spPr>
          <a:xfrm>
            <a:off x="7132320" y="3621024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n04146614</a:t>
            </a:r>
            <a:endParaRPr sz="850"/>
          </a:p>
        </p:txBody>
      </p:sp>
      <p:sp>
        <p:nvSpPr>
          <p:cNvPr id="42" name="TextBox 41"/>
          <p:cNvSpPr txBox="1"/>
          <p:nvPr/>
        </p:nvSpPr>
        <p:spPr>
          <a:xfrm>
            <a:off x="4754880" y="3822191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新幹線</a:t>
            </a:r>
            <a:endParaRPr sz="1650"/>
          </a:p>
        </p:txBody>
      </p:sp>
      <p:sp>
        <p:nvSpPr>
          <p:cNvPr id="43" name="TextBox 42"/>
          <p:cNvSpPr txBox="1"/>
          <p:nvPr/>
        </p:nvSpPr>
        <p:spPr>
          <a:xfrm>
            <a:off x="7132320" y="3863339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n02917067</a:t>
            </a:r>
            <a:endParaRPr sz="850"/>
          </a:p>
        </p:txBody>
      </p:sp>
      <p:sp>
        <p:nvSpPr>
          <p:cNvPr id="44" name="TextBox 43"/>
          <p:cNvSpPr txBox="1"/>
          <p:nvPr/>
        </p:nvSpPr>
        <p:spPr>
          <a:xfrm>
            <a:off x="4754880" y="4064508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コンテナ船</a:t>
            </a:r>
            <a:endParaRPr sz="1650"/>
          </a:p>
        </p:txBody>
      </p:sp>
      <p:sp>
        <p:nvSpPr>
          <p:cNvPr id="45" name="TextBox 44"/>
          <p:cNvSpPr txBox="1"/>
          <p:nvPr/>
        </p:nvSpPr>
        <p:spPr>
          <a:xfrm>
            <a:off x="7132320" y="4105656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n03095699</a:t>
            </a:r>
            <a:endParaRPr sz="850"/>
          </a:p>
        </p:txBody>
      </p:sp>
      <p:sp>
        <p:nvSpPr>
          <p:cNvPr id="46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ILSVRC 2012公式devkit. https://image-net.org/challenges/LSVRC/2012/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日本語名は英語ラベルの訳。右側に照合用のWordNet IDを示す。</a:t>
            </a:r>
            <a:endParaRPr sz="85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電子機器と機械と衣類と生活用品のカテゴリ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カテゴリの見取り図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44752"/>
            <a:ext cx="3858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2C9100"/>
                </a:solidFill>
                <a:latin typeface="Noto Sans CJK JP"/>
                <a:ea typeface="Noto Sans CJK JP"/>
              </a:rPr>
              <a:t>電子機器と機械</a:t>
            </a:r>
            <a:endParaRPr sz="2300"/>
          </a:p>
        </p:txBody>
      </p:sp>
      <p:sp>
        <p:nvSpPr>
          <p:cNvPr id="5" name="TextBox 4"/>
          <p:cNvSpPr txBox="1"/>
          <p:nvPr/>
        </p:nvSpPr>
        <p:spPr>
          <a:xfrm>
            <a:off x="594360" y="1883664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デスクトップPC</a:t>
            </a:r>
            <a:endParaRPr sz="1650"/>
          </a:p>
        </p:txBody>
      </p:sp>
      <p:sp>
        <p:nvSpPr>
          <p:cNvPr id="6" name="TextBox 5"/>
          <p:cNvSpPr txBox="1"/>
          <p:nvPr/>
        </p:nvSpPr>
        <p:spPr>
          <a:xfrm>
            <a:off x="2971800" y="1924812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n03180011</a:t>
            </a:r>
            <a:endParaRPr sz="850"/>
          </a:p>
        </p:txBody>
      </p:sp>
      <p:sp>
        <p:nvSpPr>
          <p:cNvPr id="7" name="TextBox 6"/>
          <p:cNvSpPr txBox="1"/>
          <p:nvPr/>
        </p:nvSpPr>
        <p:spPr>
          <a:xfrm>
            <a:off x="594360" y="2125980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ノートPC</a:t>
            </a:r>
            <a:endParaRPr sz="1650"/>
          </a:p>
        </p:txBody>
      </p:sp>
      <p:sp>
        <p:nvSpPr>
          <p:cNvPr id="8" name="TextBox 7"/>
          <p:cNvSpPr txBox="1"/>
          <p:nvPr/>
        </p:nvSpPr>
        <p:spPr>
          <a:xfrm>
            <a:off x="2971800" y="2167128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n03832673</a:t>
            </a:r>
            <a:endParaRPr sz="850"/>
          </a:p>
        </p:txBody>
      </p:sp>
      <p:sp>
        <p:nvSpPr>
          <p:cNvPr id="9" name="TextBox 8"/>
          <p:cNvSpPr txBox="1"/>
          <p:nvPr/>
        </p:nvSpPr>
        <p:spPr>
          <a:xfrm>
            <a:off x="594360" y="2368296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キーボード</a:t>
            </a:r>
            <a:endParaRPr sz="1650"/>
          </a:p>
        </p:txBody>
      </p:sp>
      <p:sp>
        <p:nvSpPr>
          <p:cNvPr id="10" name="TextBox 9"/>
          <p:cNvSpPr txBox="1"/>
          <p:nvPr/>
        </p:nvSpPr>
        <p:spPr>
          <a:xfrm>
            <a:off x="2971800" y="2409444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n03085013</a:t>
            </a:r>
            <a:endParaRPr sz="850"/>
          </a:p>
        </p:txBody>
      </p:sp>
      <p:sp>
        <p:nvSpPr>
          <p:cNvPr id="11" name="TextBox 10"/>
          <p:cNvSpPr txBox="1"/>
          <p:nvPr/>
        </p:nvSpPr>
        <p:spPr>
          <a:xfrm>
            <a:off x="594360" y="2610612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マウス</a:t>
            </a:r>
            <a:endParaRPr sz="1650"/>
          </a:p>
        </p:txBody>
      </p:sp>
      <p:sp>
        <p:nvSpPr>
          <p:cNvPr id="12" name="TextBox 11"/>
          <p:cNvSpPr txBox="1"/>
          <p:nvPr/>
        </p:nvSpPr>
        <p:spPr>
          <a:xfrm>
            <a:off x="2971800" y="2651760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n03793489</a:t>
            </a:r>
            <a:endParaRPr sz="850"/>
          </a:p>
        </p:txBody>
      </p:sp>
      <p:sp>
        <p:nvSpPr>
          <p:cNvPr id="13" name="TextBox 12"/>
          <p:cNvSpPr txBox="1"/>
          <p:nvPr/>
        </p:nvSpPr>
        <p:spPr>
          <a:xfrm>
            <a:off x="594360" y="2852928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モニター</a:t>
            </a:r>
            <a:endParaRPr sz="1650"/>
          </a:p>
        </p:txBody>
      </p:sp>
      <p:sp>
        <p:nvSpPr>
          <p:cNvPr id="14" name="TextBox 13"/>
          <p:cNvSpPr txBox="1"/>
          <p:nvPr/>
        </p:nvSpPr>
        <p:spPr>
          <a:xfrm>
            <a:off x="2971800" y="2894076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n03782006</a:t>
            </a:r>
            <a:endParaRPr sz="850"/>
          </a:p>
        </p:txBody>
      </p:sp>
      <p:sp>
        <p:nvSpPr>
          <p:cNvPr id="15" name="TextBox 14"/>
          <p:cNvSpPr txBox="1"/>
          <p:nvPr/>
        </p:nvSpPr>
        <p:spPr>
          <a:xfrm>
            <a:off x="594360" y="3095244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携帯電話</a:t>
            </a:r>
            <a:endParaRPr sz="1650"/>
          </a:p>
        </p:txBody>
      </p:sp>
      <p:sp>
        <p:nvSpPr>
          <p:cNvPr id="16" name="TextBox 15"/>
          <p:cNvSpPr txBox="1"/>
          <p:nvPr/>
        </p:nvSpPr>
        <p:spPr>
          <a:xfrm>
            <a:off x="2971800" y="3136392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n02992529</a:t>
            </a:r>
            <a:endParaRPr sz="850"/>
          </a:p>
        </p:txBody>
      </p:sp>
      <p:sp>
        <p:nvSpPr>
          <p:cNvPr id="17" name="TextBox 16"/>
          <p:cNvSpPr txBox="1"/>
          <p:nvPr/>
        </p:nvSpPr>
        <p:spPr>
          <a:xfrm>
            <a:off x="594360" y="3337560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テレビ</a:t>
            </a:r>
            <a:endParaRPr sz="1650"/>
          </a:p>
        </p:txBody>
      </p:sp>
      <p:sp>
        <p:nvSpPr>
          <p:cNvPr id="18" name="TextBox 17"/>
          <p:cNvSpPr txBox="1"/>
          <p:nvPr/>
        </p:nvSpPr>
        <p:spPr>
          <a:xfrm>
            <a:off x="2971800" y="3378708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n04404412</a:t>
            </a:r>
            <a:endParaRPr sz="850"/>
          </a:p>
        </p:txBody>
      </p:sp>
      <p:sp>
        <p:nvSpPr>
          <p:cNvPr id="19" name="TextBox 18"/>
          <p:cNvSpPr txBox="1"/>
          <p:nvPr/>
        </p:nvSpPr>
        <p:spPr>
          <a:xfrm>
            <a:off x="594360" y="3579876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ラジオ</a:t>
            </a:r>
            <a:endParaRPr sz="1650"/>
          </a:p>
        </p:txBody>
      </p:sp>
      <p:sp>
        <p:nvSpPr>
          <p:cNvPr id="20" name="TextBox 19"/>
          <p:cNvSpPr txBox="1"/>
          <p:nvPr/>
        </p:nvSpPr>
        <p:spPr>
          <a:xfrm>
            <a:off x="2971800" y="3621024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n04041544</a:t>
            </a:r>
            <a:endParaRPr sz="850"/>
          </a:p>
        </p:txBody>
      </p:sp>
      <p:sp>
        <p:nvSpPr>
          <p:cNvPr id="21" name="TextBox 20"/>
          <p:cNvSpPr txBox="1"/>
          <p:nvPr/>
        </p:nvSpPr>
        <p:spPr>
          <a:xfrm>
            <a:off x="594360" y="3822191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カセットプレーヤー</a:t>
            </a:r>
            <a:endParaRPr sz="1650"/>
          </a:p>
        </p:txBody>
      </p:sp>
      <p:sp>
        <p:nvSpPr>
          <p:cNvPr id="22" name="TextBox 21"/>
          <p:cNvSpPr txBox="1"/>
          <p:nvPr/>
        </p:nvSpPr>
        <p:spPr>
          <a:xfrm>
            <a:off x="2971800" y="3863339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n02979186</a:t>
            </a:r>
            <a:endParaRPr sz="850"/>
          </a:p>
        </p:txBody>
      </p:sp>
      <p:sp>
        <p:nvSpPr>
          <p:cNvPr id="23" name="TextBox 22"/>
          <p:cNvSpPr txBox="1"/>
          <p:nvPr/>
        </p:nvSpPr>
        <p:spPr>
          <a:xfrm>
            <a:off x="594360" y="4064508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ミシン</a:t>
            </a:r>
            <a:endParaRPr sz="1650"/>
          </a:p>
        </p:txBody>
      </p:sp>
      <p:sp>
        <p:nvSpPr>
          <p:cNvPr id="24" name="TextBox 23"/>
          <p:cNvSpPr txBox="1"/>
          <p:nvPr/>
        </p:nvSpPr>
        <p:spPr>
          <a:xfrm>
            <a:off x="2971800" y="4105656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n04179913</a:t>
            </a:r>
            <a:endParaRPr sz="850"/>
          </a:p>
        </p:txBody>
      </p:sp>
      <p:sp>
        <p:nvSpPr>
          <p:cNvPr id="25" name="TextBox 24"/>
          <p:cNvSpPr txBox="1"/>
          <p:nvPr/>
        </p:nvSpPr>
        <p:spPr>
          <a:xfrm>
            <a:off x="4754880" y="1444752"/>
            <a:ext cx="3858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2C9100"/>
                </a:solidFill>
                <a:latin typeface="Noto Sans CJK JP"/>
                <a:ea typeface="Noto Sans CJK JP"/>
              </a:rPr>
              <a:t>衣類と生活用品</a:t>
            </a:r>
            <a:endParaRPr sz="2300"/>
          </a:p>
        </p:txBody>
      </p:sp>
      <p:sp>
        <p:nvSpPr>
          <p:cNvPr id="26" name="TextBox 25"/>
          <p:cNvSpPr txBox="1"/>
          <p:nvPr/>
        </p:nvSpPr>
        <p:spPr>
          <a:xfrm>
            <a:off x="4754880" y="1883664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着物</a:t>
            </a:r>
            <a:endParaRPr sz="1650"/>
          </a:p>
        </p:txBody>
      </p:sp>
      <p:sp>
        <p:nvSpPr>
          <p:cNvPr id="27" name="TextBox 26"/>
          <p:cNvSpPr txBox="1"/>
          <p:nvPr/>
        </p:nvSpPr>
        <p:spPr>
          <a:xfrm>
            <a:off x="7132320" y="1924812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n03617480</a:t>
            </a:r>
            <a:endParaRPr sz="850"/>
          </a:p>
        </p:txBody>
      </p:sp>
      <p:sp>
        <p:nvSpPr>
          <p:cNvPr id="28" name="TextBox 27"/>
          <p:cNvSpPr txBox="1"/>
          <p:nvPr/>
        </p:nvSpPr>
        <p:spPr>
          <a:xfrm>
            <a:off x="4754880" y="2125980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ジーンズ</a:t>
            </a:r>
            <a:endParaRPr sz="1650"/>
          </a:p>
        </p:txBody>
      </p:sp>
      <p:sp>
        <p:nvSpPr>
          <p:cNvPr id="29" name="TextBox 28"/>
          <p:cNvSpPr txBox="1"/>
          <p:nvPr/>
        </p:nvSpPr>
        <p:spPr>
          <a:xfrm>
            <a:off x="7132320" y="2167128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n03594734</a:t>
            </a:r>
            <a:endParaRPr sz="850"/>
          </a:p>
        </p:txBody>
      </p:sp>
      <p:sp>
        <p:nvSpPr>
          <p:cNvPr id="30" name="TextBox 29"/>
          <p:cNvSpPr txBox="1"/>
          <p:nvPr/>
        </p:nvSpPr>
        <p:spPr>
          <a:xfrm>
            <a:off x="4754880" y="2368296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カーディガン</a:t>
            </a:r>
            <a:endParaRPr sz="1650"/>
          </a:p>
        </p:txBody>
      </p:sp>
      <p:sp>
        <p:nvSpPr>
          <p:cNvPr id="31" name="TextBox 30"/>
          <p:cNvSpPr txBox="1"/>
          <p:nvPr/>
        </p:nvSpPr>
        <p:spPr>
          <a:xfrm>
            <a:off x="7132320" y="2409444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n02963159</a:t>
            </a:r>
            <a:endParaRPr sz="850"/>
          </a:p>
        </p:txBody>
      </p:sp>
      <p:sp>
        <p:nvSpPr>
          <p:cNvPr id="32" name="TextBox 31"/>
          <p:cNvSpPr txBox="1"/>
          <p:nvPr/>
        </p:nvSpPr>
        <p:spPr>
          <a:xfrm>
            <a:off x="4754880" y="2610612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スウェットシャツ</a:t>
            </a:r>
            <a:endParaRPr sz="1650"/>
          </a:p>
        </p:txBody>
      </p:sp>
      <p:sp>
        <p:nvSpPr>
          <p:cNvPr id="33" name="TextBox 32"/>
          <p:cNvSpPr txBox="1"/>
          <p:nvPr/>
        </p:nvSpPr>
        <p:spPr>
          <a:xfrm>
            <a:off x="7132320" y="2651760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n04370456</a:t>
            </a:r>
            <a:endParaRPr sz="850"/>
          </a:p>
        </p:txBody>
      </p:sp>
      <p:sp>
        <p:nvSpPr>
          <p:cNvPr id="34" name="TextBox 33"/>
          <p:cNvSpPr txBox="1"/>
          <p:nvPr/>
        </p:nvSpPr>
        <p:spPr>
          <a:xfrm>
            <a:off x="4754880" y="2852928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ランニングシューズ</a:t>
            </a:r>
            <a:endParaRPr sz="1650"/>
          </a:p>
        </p:txBody>
      </p:sp>
      <p:sp>
        <p:nvSpPr>
          <p:cNvPr id="35" name="TextBox 34"/>
          <p:cNvSpPr txBox="1"/>
          <p:nvPr/>
        </p:nvSpPr>
        <p:spPr>
          <a:xfrm>
            <a:off x="7132320" y="2894076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n04120489</a:t>
            </a:r>
            <a:endParaRPr sz="850"/>
          </a:p>
        </p:txBody>
      </p:sp>
      <p:sp>
        <p:nvSpPr>
          <p:cNvPr id="36" name="TextBox 35"/>
          <p:cNvSpPr txBox="1"/>
          <p:nvPr/>
        </p:nvSpPr>
        <p:spPr>
          <a:xfrm>
            <a:off x="4754880" y="3095244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リュックサック</a:t>
            </a:r>
            <a:endParaRPr sz="1650"/>
          </a:p>
        </p:txBody>
      </p:sp>
      <p:sp>
        <p:nvSpPr>
          <p:cNvPr id="37" name="TextBox 36"/>
          <p:cNvSpPr txBox="1"/>
          <p:nvPr/>
        </p:nvSpPr>
        <p:spPr>
          <a:xfrm>
            <a:off x="7132320" y="3136392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n02769748</a:t>
            </a:r>
            <a:endParaRPr sz="850"/>
          </a:p>
        </p:txBody>
      </p:sp>
      <p:sp>
        <p:nvSpPr>
          <p:cNvPr id="38" name="TextBox 37"/>
          <p:cNvSpPr txBox="1"/>
          <p:nvPr/>
        </p:nvSpPr>
        <p:spPr>
          <a:xfrm>
            <a:off x="4754880" y="3337560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傘</a:t>
            </a:r>
            <a:endParaRPr sz="1650"/>
          </a:p>
        </p:txBody>
      </p:sp>
      <p:sp>
        <p:nvSpPr>
          <p:cNvPr id="39" name="TextBox 38"/>
          <p:cNvSpPr txBox="1"/>
          <p:nvPr/>
        </p:nvSpPr>
        <p:spPr>
          <a:xfrm>
            <a:off x="7132320" y="3378708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n04507155</a:t>
            </a:r>
            <a:endParaRPr sz="850"/>
          </a:p>
        </p:txBody>
      </p:sp>
      <p:sp>
        <p:nvSpPr>
          <p:cNvPr id="40" name="TextBox 39"/>
          <p:cNvSpPr txBox="1"/>
          <p:nvPr/>
        </p:nvSpPr>
        <p:spPr>
          <a:xfrm>
            <a:off x="4754880" y="3579876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枕</a:t>
            </a:r>
            <a:endParaRPr sz="1650"/>
          </a:p>
        </p:txBody>
      </p:sp>
      <p:sp>
        <p:nvSpPr>
          <p:cNvPr id="41" name="TextBox 40"/>
          <p:cNvSpPr txBox="1"/>
          <p:nvPr/>
        </p:nvSpPr>
        <p:spPr>
          <a:xfrm>
            <a:off x="7132320" y="3621024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n03938244</a:t>
            </a:r>
            <a:endParaRPr sz="850"/>
          </a:p>
        </p:txBody>
      </p:sp>
      <p:sp>
        <p:nvSpPr>
          <p:cNvPr id="42" name="TextBox 41"/>
          <p:cNvSpPr txBox="1"/>
          <p:nvPr/>
        </p:nvSpPr>
        <p:spPr>
          <a:xfrm>
            <a:off x="4754880" y="3822191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マグカップ</a:t>
            </a:r>
            <a:endParaRPr sz="1650"/>
          </a:p>
        </p:txBody>
      </p:sp>
      <p:sp>
        <p:nvSpPr>
          <p:cNvPr id="43" name="TextBox 42"/>
          <p:cNvSpPr txBox="1"/>
          <p:nvPr/>
        </p:nvSpPr>
        <p:spPr>
          <a:xfrm>
            <a:off x="7132320" y="3863339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n03063599</a:t>
            </a:r>
            <a:endParaRPr sz="850"/>
          </a:p>
        </p:txBody>
      </p:sp>
      <p:sp>
        <p:nvSpPr>
          <p:cNvPr id="44" name="TextBox 43"/>
          <p:cNvSpPr txBox="1"/>
          <p:nvPr/>
        </p:nvSpPr>
        <p:spPr>
          <a:xfrm>
            <a:off x="4754880" y="4064508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フライパン</a:t>
            </a:r>
            <a:endParaRPr sz="1650"/>
          </a:p>
        </p:txBody>
      </p:sp>
      <p:sp>
        <p:nvSpPr>
          <p:cNvPr id="45" name="TextBox 44"/>
          <p:cNvSpPr txBox="1"/>
          <p:nvPr/>
        </p:nvSpPr>
        <p:spPr>
          <a:xfrm>
            <a:off x="7132320" y="4105656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n03400231</a:t>
            </a:r>
            <a:endParaRPr sz="850"/>
          </a:p>
        </p:txBody>
      </p:sp>
      <p:sp>
        <p:nvSpPr>
          <p:cNvPr id="46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ILSVRC 2012公式devkit. https://image-net.org/challenges/LSVRC/2012/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日本語名は英語ラベルの訳。右側に照合用のWordNet IDを示す。</a:t>
            </a:r>
            <a:endParaRPr sz="85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800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建物と構造物と食品と農作物のカテゴリ</a:t>
            </a:r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カテゴリの見取り図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44752"/>
            <a:ext cx="3858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2C9100"/>
                </a:solidFill>
                <a:latin typeface="Noto Sans CJK JP"/>
                <a:ea typeface="Noto Sans CJK JP"/>
              </a:rPr>
              <a:t>建物と構造物</a:t>
            </a:r>
            <a:endParaRPr sz="2300"/>
          </a:p>
        </p:txBody>
      </p:sp>
      <p:sp>
        <p:nvSpPr>
          <p:cNvPr id="5" name="TextBox 4"/>
          <p:cNvSpPr txBox="1"/>
          <p:nvPr/>
        </p:nvSpPr>
        <p:spPr>
          <a:xfrm>
            <a:off x="594360" y="1883664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教会</a:t>
            </a:r>
            <a:endParaRPr sz="1650"/>
          </a:p>
        </p:txBody>
      </p:sp>
      <p:sp>
        <p:nvSpPr>
          <p:cNvPr id="6" name="TextBox 5"/>
          <p:cNvSpPr txBox="1"/>
          <p:nvPr/>
        </p:nvSpPr>
        <p:spPr>
          <a:xfrm>
            <a:off x="2971800" y="1924812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n03028079</a:t>
            </a:r>
            <a:endParaRPr sz="850"/>
          </a:p>
        </p:txBody>
      </p:sp>
      <p:sp>
        <p:nvSpPr>
          <p:cNvPr id="7" name="TextBox 6"/>
          <p:cNvSpPr txBox="1"/>
          <p:nvPr/>
        </p:nvSpPr>
        <p:spPr>
          <a:xfrm>
            <a:off x="594360" y="2125980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モスク</a:t>
            </a:r>
            <a:endParaRPr sz="1650"/>
          </a:p>
        </p:txBody>
      </p:sp>
      <p:sp>
        <p:nvSpPr>
          <p:cNvPr id="8" name="TextBox 7"/>
          <p:cNvSpPr txBox="1"/>
          <p:nvPr/>
        </p:nvSpPr>
        <p:spPr>
          <a:xfrm>
            <a:off x="2971800" y="2167128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n03788195</a:t>
            </a:r>
            <a:endParaRPr sz="850"/>
          </a:p>
        </p:txBody>
      </p:sp>
      <p:sp>
        <p:nvSpPr>
          <p:cNvPr id="9" name="TextBox 8"/>
          <p:cNvSpPr txBox="1"/>
          <p:nvPr/>
        </p:nvSpPr>
        <p:spPr>
          <a:xfrm>
            <a:off x="594360" y="2368296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宮殿</a:t>
            </a:r>
            <a:endParaRPr sz="1650"/>
          </a:p>
        </p:txBody>
      </p:sp>
      <p:sp>
        <p:nvSpPr>
          <p:cNvPr id="10" name="TextBox 9"/>
          <p:cNvSpPr txBox="1"/>
          <p:nvPr/>
        </p:nvSpPr>
        <p:spPr>
          <a:xfrm>
            <a:off x="2971800" y="2409444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n03877845</a:t>
            </a:r>
            <a:endParaRPr sz="850"/>
          </a:p>
        </p:txBody>
      </p:sp>
      <p:sp>
        <p:nvSpPr>
          <p:cNvPr id="11" name="TextBox 10"/>
          <p:cNvSpPr txBox="1"/>
          <p:nvPr/>
        </p:nvSpPr>
        <p:spPr>
          <a:xfrm>
            <a:off x="594360" y="2610612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城</a:t>
            </a:r>
            <a:endParaRPr sz="1650"/>
          </a:p>
        </p:txBody>
      </p:sp>
      <p:sp>
        <p:nvSpPr>
          <p:cNvPr id="12" name="TextBox 11"/>
          <p:cNvSpPr txBox="1"/>
          <p:nvPr/>
        </p:nvSpPr>
        <p:spPr>
          <a:xfrm>
            <a:off x="2971800" y="2651760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n02980441</a:t>
            </a:r>
            <a:endParaRPr sz="850"/>
          </a:p>
        </p:txBody>
      </p:sp>
      <p:sp>
        <p:nvSpPr>
          <p:cNvPr id="13" name="TextBox 12"/>
          <p:cNvSpPr txBox="1"/>
          <p:nvPr/>
        </p:nvSpPr>
        <p:spPr>
          <a:xfrm>
            <a:off x="594360" y="2852928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図書館</a:t>
            </a:r>
            <a:endParaRPr sz="1650"/>
          </a:p>
        </p:txBody>
      </p:sp>
      <p:sp>
        <p:nvSpPr>
          <p:cNvPr id="14" name="TextBox 13"/>
          <p:cNvSpPr txBox="1"/>
          <p:nvPr/>
        </p:nvSpPr>
        <p:spPr>
          <a:xfrm>
            <a:off x="2971800" y="2894076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n03661043</a:t>
            </a:r>
            <a:endParaRPr sz="850"/>
          </a:p>
        </p:txBody>
      </p:sp>
      <p:sp>
        <p:nvSpPr>
          <p:cNvPr id="15" name="TextBox 14"/>
          <p:cNvSpPr txBox="1"/>
          <p:nvPr/>
        </p:nvSpPr>
        <p:spPr>
          <a:xfrm>
            <a:off x="594360" y="3095244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プラネタリウム</a:t>
            </a:r>
            <a:endParaRPr sz="1650"/>
          </a:p>
        </p:txBody>
      </p:sp>
      <p:sp>
        <p:nvSpPr>
          <p:cNvPr id="16" name="TextBox 15"/>
          <p:cNvSpPr txBox="1"/>
          <p:nvPr/>
        </p:nvSpPr>
        <p:spPr>
          <a:xfrm>
            <a:off x="2971800" y="3136392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n03956157</a:t>
            </a:r>
            <a:endParaRPr sz="850"/>
          </a:p>
        </p:txBody>
      </p:sp>
      <p:sp>
        <p:nvSpPr>
          <p:cNvPr id="17" name="TextBox 16"/>
          <p:cNvSpPr txBox="1"/>
          <p:nvPr/>
        </p:nvSpPr>
        <p:spPr>
          <a:xfrm>
            <a:off x="594360" y="3337560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灯台</a:t>
            </a:r>
            <a:endParaRPr sz="1650"/>
          </a:p>
        </p:txBody>
      </p:sp>
      <p:sp>
        <p:nvSpPr>
          <p:cNvPr id="18" name="TextBox 17"/>
          <p:cNvSpPr txBox="1"/>
          <p:nvPr/>
        </p:nvSpPr>
        <p:spPr>
          <a:xfrm>
            <a:off x="2971800" y="3378708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n02814860</a:t>
            </a:r>
            <a:endParaRPr sz="850"/>
          </a:p>
        </p:txBody>
      </p:sp>
      <p:sp>
        <p:nvSpPr>
          <p:cNvPr id="19" name="TextBox 18"/>
          <p:cNvSpPr txBox="1"/>
          <p:nvPr/>
        </p:nvSpPr>
        <p:spPr>
          <a:xfrm>
            <a:off x="594360" y="3579876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吊り橋</a:t>
            </a:r>
            <a:endParaRPr sz="1650"/>
          </a:p>
        </p:txBody>
      </p:sp>
      <p:sp>
        <p:nvSpPr>
          <p:cNvPr id="20" name="TextBox 19"/>
          <p:cNvSpPr txBox="1"/>
          <p:nvPr/>
        </p:nvSpPr>
        <p:spPr>
          <a:xfrm>
            <a:off x="2971800" y="3621024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n04366367</a:t>
            </a:r>
            <a:endParaRPr sz="850"/>
          </a:p>
        </p:txBody>
      </p:sp>
      <p:sp>
        <p:nvSpPr>
          <p:cNvPr id="21" name="TextBox 20"/>
          <p:cNvSpPr txBox="1"/>
          <p:nvPr/>
        </p:nvSpPr>
        <p:spPr>
          <a:xfrm>
            <a:off x="594360" y="3822191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ダム</a:t>
            </a:r>
            <a:endParaRPr sz="1650"/>
          </a:p>
        </p:txBody>
      </p:sp>
      <p:sp>
        <p:nvSpPr>
          <p:cNvPr id="22" name="TextBox 21"/>
          <p:cNvSpPr txBox="1"/>
          <p:nvPr/>
        </p:nvSpPr>
        <p:spPr>
          <a:xfrm>
            <a:off x="2971800" y="3863339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n03160309</a:t>
            </a:r>
            <a:endParaRPr sz="850"/>
          </a:p>
        </p:txBody>
      </p:sp>
      <p:sp>
        <p:nvSpPr>
          <p:cNvPr id="23" name="TextBox 22"/>
          <p:cNvSpPr txBox="1"/>
          <p:nvPr/>
        </p:nvSpPr>
        <p:spPr>
          <a:xfrm>
            <a:off x="594360" y="4064508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温室</a:t>
            </a:r>
            <a:endParaRPr sz="1650"/>
          </a:p>
        </p:txBody>
      </p:sp>
      <p:sp>
        <p:nvSpPr>
          <p:cNvPr id="24" name="TextBox 23"/>
          <p:cNvSpPr txBox="1"/>
          <p:nvPr/>
        </p:nvSpPr>
        <p:spPr>
          <a:xfrm>
            <a:off x="2971800" y="4105656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n03457902</a:t>
            </a:r>
            <a:endParaRPr sz="850"/>
          </a:p>
        </p:txBody>
      </p:sp>
      <p:sp>
        <p:nvSpPr>
          <p:cNvPr id="25" name="TextBox 24"/>
          <p:cNvSpPr txBox="1"/>
          <p:nvPr/>
        </p:nvSpPr>
        <p:spPr>
          <a:xfrm>
            <a:off x="4754880" y="1444752"/>
            <a:ext cx="3858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300">
                <a:latin typeface="Noto Sans CJK JP"/>
              </a:defRPr>
              <a:buNone/>
            </a:pPr>
            <a:r>
              <a:rPr sz="2300" lang="ja-JP">
                <a:solidFill>
                  <a:srgbClr val="2C9100"/>
                </a:solidFill>
                <a:latin typeface="Noto Sans CJK JP"/>
                <a:ea typeface="Noto Sans CJK JP"/>
              </a:rPr>
              <a:t>食品と農作物</a:t>
            </a:r>
            <a:endParaRPr sz="2300"/>
          </a:p>
        </p:txBody>
      </p:sp>
      <p:sp>
        <p:nvSpPr>
          <p:cNvPr id="26" name="TextBox 25"/>
          <p:cNvSpPr txBox="1"/>
          <p:nvPr/>
        </p:nvSpPr>
        <p:spPr>
          <a:xfrm>
            <a:off x="4754880" y="1883664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ピザ</a:t>
            </a:r>
            <a:endParaRPr sz="1650"/>
          </a:p>
        </p:txBody>
      </p:sp>
      <p:sp>
        <p:nvSpPr>
          <p:cNvPr id="27" name="TextBox 26"/>
          <p:cNvSpPr txBox="1"/>
          <p:nvPr/>
        </p:nvSpPr>
        <p:spPr>
          <a:xfrm>
            <a:off x="7132320" y="1924812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n07873807</a:t>
            </a:r>
            <a:endParaRPr sz="850"/>
          </a:p>
        </p:txBody>
      </p:sp>
      <p:sp>
        <p:nvSpPr>
          <p:cNvPr id="28" name="TextBox 27"/>
          <p:cNvSpPr txBox="1"/>
          <p:nvPr/>
        </p:nvSpPr>
        <p:spPr>
          <a:xfrm>
            <a:off x="4754880" y="2125980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チーズバーガー</a:t>
            </a:r>
            <a:endParaRPr sz="1650"/>
          </a:p>
        </p:txBody>
      </p:sp>
      <p:sp>
        <p:nvSpPr>
          <p:cNvPr id="29" name="TextBox 28"/>
          <p:cNvSpPr txBox="1"/>
          <p:nvPr/>
        </p:nvSpPr>
        <p:spPr>
          <a:xfrm>
            <a:off x="7132320" y="2167128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n07697313</a:t>
            </a:r>
            <a:endParaRPr sz="850"/>
          </a:p>
        </p:txBody>
      </p:sp>
      <p:sp>
        <p:nvSpPr>
          <p:cNvPr id="30" name="TextBox 29"/>
          <p:cNvSpPr txBox="1"/>
          <p:nvPr/>
        </p:nvSpPr>
        <p:spPr>
          <a:xfrm>
            <a:off x="4754880" y="2368296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ホットドッグ</a:t>
            </a:r>
            <a:endParaRPr sz="1650"/>
          </a:p>
        </p:txBody>
      </p:sp>
      <p:sp>
        <p:nvSpPr>
          <p:cNvPr id="31" name="TextBox 30"/>
          <p:cNvSpPr txBox="1"/>
          <p:nvPr/>
        </p:nvSpPr>
        <p:spPr>
          <a:xfrm>
            <a:off x="7132320" y="2409444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n07697537</a:t>
            </a:r>
            <a:endParaRPr sz="850"/>
          </a:p>
        </p:txBody>
      </p:sp>
      <p:sp>
        <p:nvSpPr>
          <p:cNvPr id="32" name="TextBox 31"/>
          <p:cNvSpPr txBox="1"/>
          <p:nvPr/>
        </p:nvSpPr>
        <p:spPr>
          <a:xfrm>
            <a:off x="4754880" y="2610612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ブリトー</a:t>
            </a:r>
            <a:endParaRPr sz="1650"/>
          </a:p>
        </p:txBody>
      </p:sp>
      <p:sp>
        <p:nvSpPr>
          <p:cNvPr id="33" name="TextBox 32"/>
          <p:cNvSpPr txBox="1"/>
          <p:nvPr/>
        </p:nvSpPr>
        <p:spPr>
          <a:xfrm>
            <a:off x="7132320" y="2651760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n07880968</a:t>
            </a:r>
            <a:endParaRPr sz="850"/>
          </a:p>
        </p:txBody>
      </p:sp>
      <p:sp>
        <p:nvSpPr>
          <p:cNvPr id="34" name="TextBox 33"/>
          <p:cNvSpPr txBox="1"/>
          <p:nvPr/>
        </p:nvSpPr>
        <p:spPr>
          <a:xfrm>
            <a:off x="4754880" y="2852928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ベーグル</a:t>
            </a:r>
            <a:endParaRPr sz="1650"/>
          </a:p>
        </p:txBody>
      </p:sp>
      <p:sp>
        <p:nvSpPr>
          <p:cNvPr id="35" name="TextBox 34"/>
          <p:cNvSpPr txBox="1"/>
          <p:nvPr/>
        </p:nvSpPr>
        <p:spPr>
          <a:xfrm>
            <a:off x="7132320" y="2894076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n07693725</a:t>
            </a:r>
            <a:endParaRPr sz="850"/>
          </a:p>
        </p:txBody>
      </p:sp>
      <p:sp>
        <p:nvSpPr>
          <p:cNvPr id="36" name="TextBox 35"/>
          <p:cNvSpPr txBox="1"/>
          <p:nvPr/>
        </p:nvSpPr>
        <p:spPr>
          <a:xfrm>
            <a:off x="4754880" y="3095244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プレッツェル</a:t>
            </a:r>
            <a:endParaRPr sz="1650"/>
          </a:p>
        </p:txBody>
      </p:sp>
      <p:sp>
        <p:nvSpPr>
          <p:cNvPr id="37" name="TextBox 36"/>
          <p:cNvSpPr txBox="1"/>
          <p:nvPr/>
        </p:nvSpPr>
        <p:spPr>
          <a:xfrm>
            <a:off x="7132320" y="3136392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n07695742</a:t>
            </a:r>
            <a:endParaRPr sz="850"/>
          </a:p>
        </p:txBody>
      </p:sp>
      <p:sp>
        <p:nvSpPr>
          <p:cNvPr id="38" name="TextBox 37"/>
          <p:cNvSpPr txBox="1"/>
          <p:nvPr/>
        </p:nvSpPr>
        <p:spPr>
          <a:xfrm>
            <a:off x="4754880" y="3337560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アイスクリーム</a:t>
            </a:r>
            <a:endParaRPr sz="1650"/>
          </a:p>
        </p:txBody>
      </p:sp>
      <p:sp>
        <p:nvSpPr>
          <p:cNvPr id="39" name="TextBox 38"/>
          <p:cNvSpPr txBox="1"/>
          <p:nvPr/>
        </p:nvSpPr>
        <p:spPr>
          <a:xfrm>
            <a:off x="7132320" y="3378708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n07614500</a:t>
            </a:r>
            <a:endParaRPr sz="850"/>
          </a:p>
        </p:txBody>
      </p:sp>
      <p:sp>
        <p:nvSpPr>
          <p:cNvPr id="40" name="TextBox 39"/>
          <p:cNvSpPr txBox="1"/>
          <p:nvPr/>
        </p:nvSpPr>
        <p:spPr>
          <a:xfrm>
            <a:off x="4754880" y="3579876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ブロッコリー</a:t>
            </a:r>
            <a:endParaRPr sz="1650"/>
          </a:p>
        </p:txBody>
      </p:sp>
      <p:sp>
        <p:nvSpPr>
          <p:cNvPr id="41" name="TextBox 40"/>
          <p:cNvSpPr txBox="1"/>
          <p:nvPr/>
        </p:nvSpPr>
        <p:spPr>
          <a:xfrm>
            <a:off x="7132320" y="3621024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n07714990</a:t>
            </a:r>
            <a:endParaRPr sz="850"/>
          </a:p>
        </p:txBody>
      </p:sp>
      <p:sp>
        <p:nvSpPr>
          <p:cNvPr id="42" name="TextBox 41"/>
          <p:cNvSpPr txBox="1"/>
          <p:nvPr/>
        </p:nvSpPr>
        <p:spPr>
          <a:xfrm>
            <a:off x="4754880" y="3822191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キュウリ</a:t>
            </a:r>
            <a:endParaRPr sz="1650"/>
          </a:p>
        </p:txBody>
      </p:sp>
      <p:sp>
        <p:nvSpPr>
          <p:cNvPr id="43" name="TextBox 42"/>
          <p:cNvSpPr txBox="1"/>
          <p:nvPr/>
        </p:nvSpPr>
        <p:spPr>
          <a:xfrm>
            <a:off x="7132320" y="3863339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n07718472</a:t>
            </a:r>
            <a:endParaRPr sz="850"/>
          </a:p>
        </p:txBody>
      </p:sp>
      <p:sp>
        <p:nvSpPr>
          <p:cNvPr id="44" name="TextBox 43"/>
          <p:cNvSpPr txBox="1"/>
          <p:nvPr/>
        </p:nvSpPr>
        <p:spPr>
          <a:xfrm>
            <a:off x="4754880" y="4064508"/>
            <a:ext cx="2267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650">
                <a:latin typeface="Noto Sans CJK JP"/>
              </a:defRPr>
              <a:buNone/>
            </a:pPr>
            <a:r>
              <a:rPr sz="1650" lang="ja-JP">
                <a:solidFill>
                  <a:srgbClr val="303437"/>
                </a:solidFill>
                <a:latin typeface="Noto Sans CJK JP"/>
                <a:ea typeface="Noto Sans CJK JP"/>
              </a:rPr>
              <a:t>パプリカ</a:t>
            </a:r>
            <a:endParaRPr sz="1650"/>
          </a:p>
        </p:txBody>
      </p:sp>
      <p:sp>
        <p:nvSpPr>
          <p:cNvPr id="45" name="TextBox 44"/>
          <p:cNvSpPr txBox="1"/>
          <p:nvPr/>
        </p:nvSpPr>
        <p:spPr>
          <a:xfrm>
            <a:off x="7132320" y="4105656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n07720875</a:t>
            </a:r>
            <a:endParaRPr sz="850"/>
          </a:p>
        </p:txBody>
      </p:sp>
      <p:sp>
        <p:nvSpPr>
          <p:cNvPr id="46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ILSVRC 2012公式devkit. https://image-net.org/challenges/LSVRC/2012/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日本語名は英語ラベルの訳。右側に照合用のWordNet IDを示す。</a:t>
            </a:r>
            <a:endParaRPr sz="85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800" b="1">
                <a:latin typeface="Noto Sans CJK JP"/>
              </a:defRPr>
              <a:spcAft>
                <a:spcPts val="0"/>
              </a:spcAft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オオカバマダラの画像例</a:t>
            </a:r>
            <a:endParaRPr sz="2800"/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画像の追加例</a:t>
            </a:r>
            <a:endParaRPr sz="1400"/>
            <a:endParaRPr sz="1400"/>
          </a:p>
        </p:txBody>
      </p:sp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200" b="0">
                <a:latin typeface="Noto Sans CJK JP"/>
              </a:defRPr>
              <a:spcAft>
                <a:spcPts val="500"/>
              </a:spcAft>
              <a:buNone/>
            </a:pPr>
            <a:r>
              <a:rPr sz="22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正解はオオカバマダラ</a:t>
            </a:r>
            <a:endParaRPr sz="2300"/>
            <a:endParaRPr sz="2300"/>
            <a:endParaRPr sz="2200"/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 b="0">
                <a:latin typeface="Liberation Sans"/>
              </a:defRPr>
              <a:spcAft>
                <a:spcPts val="500"/>
              </a:spcAft>
              <a:buNone/>
            </a:pPr>
            <a:r>
              <a:rPr sz="1900" lang="en-US">
                <a:solidFill>
                  <a:srgbClr val="303437"/>
                </a:solidFill>
                <a:latin typeface="Liberation Sans"/>
                <a:ea typeface="Liberation Sans"/>
              </a:rPr>
              <a:t>monarch</a:t>
            </a:r>
            <a:endParaRPr sz="1800"/>
            <a:endParaRPr sz="1800"/>
            <a:endParaRPr sz="1900"/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100" b="0">
                <a:latin typeface="Noto Sans CJK JP"/>
              </a:defRPr>
              <a:spcAft>
                <a:spcPts val="500"/>
              </a:spcAft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花に止まるチョウを分類する。植物も写るが、正解はチョウの種類である。</a:t>
            </a:r>
            <a:endParaRPr sz="2100"/>
            <a:endParaRPr sz="2100"/>
            <a:endParaRPr sz="2100"/>
          </a:p>
        </p:txBody>
      </p:sp>
      <p:pic>
        <p:nvPicPr>
          <p:cNvPr id="9" name="Picture 8" descr="n02279972_monarch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496141"/>
            <a:ext cx="3474720" cy="2439253"/>
          </a:xfrm>
          <a:prstGeom prst="rect">
            <a:avLst/>
          </a:prstGeom>
        </p:spPr>
      </p:pic>
      <p:sp>
        <p:nvSpPr>
          <p:cNvPr id="10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ImageNetカテゴリの画像例. https://github.com/EliSchwartz/imagenet-sample-images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画像ID n02279972_monarch.JPEG / n02279972</a:t>
            </a:r>
            <a:endParaRPr sz="85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イングリッシュ・スプリンガーの画像例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画像の追加例</a:t>
            </a:r>
            <a:endParaRPr sz="1400"/>
            <a:endParaRPr sz="1400"/>
          </a:p>
        </p:txBody>
      </p:sp>
      <p:pic>
        <p:nvPicPr>
          <p:cNvPr id="4" name="Picture 3" descr="ILSVRC2012_val_0000465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267" y="1426464"/>
            <a:ext cx="3444944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300" b="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正解はスプリンガー犬</a:t>
            </a:r>
            <a:endParaRPr sz="2300"/>
            <a:endParaRPr sz="2300"/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English springer</a:t>
            </a:r>
            <a:endParaRPr sz="1800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犬種を表すクラスである。犬という上位概念より、細かな区別を求める。</a:t>
            </a:r>
            <a:endParaRPr sz="2100"/>
            <a:endParaRPr sz="2100"/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Imagenette 160 px版. https://github.com/fastai/imagenette　画像ID ILSVRC2012_val_00004650.JPEG / n02102040 / Imagenetteの検証用</a:t>
            </a:r>
            <a:endParaRPr sz="85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カセットプレーヤーの画像例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画像の追加例</a:t>
            </a:r>
            <a:endParaRPr sz="1400"/>
            <a:endParaRPr sz="1400"/>
          </a:p>
        </p:txBody>
      </p:sp>
      <p:pic>
        <p:nvPicPr>
          <p:cNvPr id="4" name="Picture 3" descr="ILSVRC2012_val_0000865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267" y="1426464"/>
            <a:ext cx="3444944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300" b="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正解はカセットプレーヤー</a:t>
            </a:r>
            <a:endParaRPr sz="2300"/>
            <a:endParaRPr sz="2300"/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cassette player</a:t>
            </a:r>
            <a:endParaRPr sz="1800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装置の正面だけでなく、周囲の構造も写っている。ラベルはcassette playerである。</a:t>
            </a:r>
            <a:endParaRPr sz="2100"/>
            <a:endParaRPr sz="2100"/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Imagenette 160 px版. https://github.com/fastai/imagenette　画像ID ILSVRC2012_val_00008651.JPEG / n02979186 / Imagenetteの検証用</a:t>
            </a:r>
            <a:endParaRPr sz="85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チェーンソーの画像例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画像の追加例</a:t>
            </a:r>
            <a:endParaRPr sz="1400"/>
            <a:endParaRPr sz="1400"/>
          </a:p>
        </p:txBody>
      </p:sp>
      <p:pic>
        <p:nvPicPr>
          <p:cNvPr id="4" name="Picture 3" descr="ILSVRC2012_val_0000426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828" y="1426464"/>
            <a:ext cx="3153822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300" b="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正解はチェーンソー</a:t>
            </a:r>
            <a:endParaRPr sz="2300"/>
            <a:endParaRPr sz="2300"/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chain saw</a:t>
            </a:r>
            <a:endParaRPr sz="1800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作業者と樹木が写る画像で、chain sawを正解とする。</a:t>
            </a:r>
            <a:endParaRPr sz="2100"/>
            <a:endParaRPr sz="2100"/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Imagenette 160 px版. https://github.com/fastai/imagenette　画像ID ILSVRC2012_val_00004262.JPEG / n03000684 / Imagenetteの検証用</a:t>
            </a:r>
            <a:endParaRPr sz="85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教会の画像例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画像の追加例</a:t>
            </a:r>
            <a:endParaRPr sz="1400"/>
            <a:endParaRPr sz="1400"/>
          </a:p>
        </p:txBody>
      </p:sp>
      <p:pic>
        <p:nvPicPr>
          <p:cNvPr id="4" name="Picture 3" descr="ILSVRC2012_val_0000335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690" y="1426464"/>
            <a:ext cx="2620098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300" b="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正解は教会</a:t>
            </a:r>
            <a:endParaRPr sz="2300"/>
            <a:endParaRPr sz="2300"/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church</a:t>
            </a:r>
            <a:endParaRPr sz="1800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低い照度の画像も含む。写真全体の明るさと、建造物のクラスは別の特徴である。</a:t>
            </a:r>
            <a:endParaRPr sz="2100"/>
            <a:endParaRPr sz="2100"/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Imagenette 160 px版. https://github.com/fastai/imagenette　画像ID ILSVRC2012_val_00003351.JPEG / n03028079 / Imagenetteの検証用</a:t>
            </a:r>
            <a:endParaRPr sz="85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フレンチホルンの画像例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画像の追加例</a:t>
            </a:r>
            <a:endParaRPr sz="1400"/>
            <a:endParaRPr sz="1400"/>
          </a:p>
        </p:txBody>
      </p:sp>
      <p:pic>
        <p:nvPicPr>
          <p:cNvPr id="4" name="Picture 3" descr="ILSVRC2012_val_0000149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568" y="1426464"/>
            <a:ext cx="3202343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300" b="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正解はフレンチホルン</a:t>
            </a:r>
            <a:endParaRPr sz="2300"/>
            <a:endParaRPr sz="2300"/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French horn</a:t>
            </a:r>
            <a:endParaRPr sz="1800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100" b="0">
                <a:latin typeface="Noto Sans CJK JP"/>
              </a:defRPr>
              <a:spcAft>
                <a:spcPts val="500"/>
              </a:spcAft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楽器の一部分が大きく写る。</a:t>
            </a:r>
            <a:endParaRPr sz="2100"/>
            <a:endParaRPr sz="2100"/>
            <a:endParaRPr sz="2100"/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Imagenette 160 px版. https://github.com/fastai/imagenette　画像ID ILSVRC2012_val_00001492.JPEG / n03394916 / Imagenetteの検証用</a:t>
            </a:r>
            <a:endParaRPr sz="85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ごみ収集車の画像例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画像の追加例</a:t>
            </a:r>
            <a:endParaRPr sz="1400"/>
            <a:endParaRPr sz="1400"/>
          </a:p>
        </p:txBody>
      </p:sp>
      <p:pic>
        <p:nvPicPr>
          <p:cNvPr id="4" name="Picture 3" descr="ILSVRC2012_val_0000221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267" y="1426464"/>
            <a:ext cx="3444944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300" b="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正解はごみ収集車</a:t>
            </a:r>
            <a:endParaRPr sz="2300"/>
            <a:endParaRPr sz="2300"/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garbage truck</a:t>
            </a:r>
            <a:endParaRPr sz="1800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車両と周囲の道路が写る。車両の役割を表す細かなクラス名が付いている。</a:t>
            </a:r>
            <a:endParaRPr sz="2100"/>
            <a:endParaRPr sz="2100"/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Imagenette 160 px版. https://github.com/fastai/imagenette　画像ID ILSVRC2012_val_00002210.JPEG / n03417042 / Imagenetteの検証用</a:t>
            </a:r>
            <a:endParaRPr sz="85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ガソリンポンプの画像例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画像の追加例</a:t>
            </a:r>
            <a:endParaRPr sz="1400"/>
            <a:endParaRPr sz="1400"/>
          </a:p>
        </p:txBody>
      </p:sp>
      <p:pic>
        <p:nvPicPr>
          <p:cNvPr id="4" name="Picture 3" descr="ILSVRC2012_val_0000073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9814" y="1426464"/>
            <a:ext cx="1943851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300" b="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正解はガソリンポンプ</a:t>
            </a:r>
            <a:endParaRPr sz="2300"/>
            <a:endParaRPr sz="2300"/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gas pump</a:t>
            </a:r>
            <a:endParaRPr sz="1800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入力には縦長の写真も含まれる。</a:t>
            </a:r>
            <a:endParaRPr sz="2100"/>
            <a:endParaRPr sz="2100"/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Imagenette 160 px版. https://github.com/fastai/imagenette　画像ID ILSVRC2012_val_00000732.JPEG / n03425413 / Imagenetteの検証用</a:t>
            </a:r>
            <a:endParaRPr sz="85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800" b="1">
                <a:latin typeface="Noto Sans CJK JP"/>
              </a:defRPr>
              <a:spcAft>
                <a:spcPts val="0"/>
              </a:spcAft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プラネタリウムの画像例</a:t>
            </a:r>
            <a:endParaRPr sz="2800"/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画像の追加例</a:t>
            </a:r>
            <a:endParaRPr sz="1400"/>
            <a:endParaRPr sz="1400"/>
          </a:p>
        </p:txBody>
      </p:sp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200" b="0">
                <a:latin typeface="Noto Sans CJK JP"/>
              </a:defRPr>
              <a:spcAft>
                <a:spcPts val="500"/>
              </a:spcAft>
              <a:buNone/>
            </a:pPr>
            <a:r>
              <a:rPr sz="22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正解はプラネタリウム</a:t>
            </a:r>
            <a:endParaRPr sz="2300"/>
            <a:endParaRPr sz="2300"/>
            <a:endParaRPr sz="2200"/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900" b="0">
                <a:latin typeface="Liberation Sans"/>
              </a:defRPr>
              <a:spcAft>
                <a:spcPts val="500"/>
              </a:spcAft>
              <a:buNone/>
            </a:pPr>
            <a:r>
              <a:rPr sz="1900" lang="en-US">
                <a:solidFill>
                  <a:srgbClr val="303437"/>
                </a:solidFill>
                <a:latin typeface="Liberation Sans"/>
                <a:ea typeface="Liberation Sans"/>
              </a:rPr>
              <a:t>planetarium</a:t>
            </a:r>
            <a:endParaRPr sz="1800"/>
            <a:endParaRPr sz="1800"/>
            <a:endParaRPr sz="1900"/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100" b="0">
                <a:latin typeface="Noto Sans CJK JP"/>
              </a:defRPr>
              <a:spcAft>
                <a:spcPts val="500"/>
              </a:spcAft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建物の外観に加えて、室内の投影機が写る画像もこのカテゴリに含まれる。</a:t>
            </a:r>
            <a:endParaRPr sz="2100"/>
            <a:endParaRPr sz="2100"/>
            <a:endParaRPr sz="2100"/>
          </a:p>
        </p:txBody>
      </p:sp>
      <p:pic>
        <p:nvPicPr>
          <p:cNvPr id="9" name="Picture 8" descr="n03956157_planetarium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426464"/>
            <a:ext cx="3438144" cy="2578608"/>
          </a:xfrm>
          <a:prstGeom prst="rect">
            <a:avLst/>
          </a:prstGeom>
        </p:spPr>
      </p:pic>
      <p:sp>
        <p:nvSpPr>
          <p:cNvPr id="10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ImageNetカテゴリの画像例. https://github.com/EliSchwartz/imagenet-sample-images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画像ID n03956157_planetarium.JPEG / n03956157</a:t>
            </a:r>
            <a:endParaRPr sz="85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パラシュートの画像例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画像の追加例</a:t>
            </a:r>
            <a:endParaRPr sz="1400"/>
            <a:endParaRPr sz="1400"/>
          </a:p>
        </p:txBody>
      </p:sp>
      <p:pic>
        <p:nvPicPr>
          <p:cNvPr id="4" name="Picture 3" descr="ILSVRC2012_val_0000144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267" y="1426464"/>
            <a:ext cx="3444944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300" b="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正解はパラシュート</a:t>
            </a:r>
            <a:endParaRPr sz="2300"/>
            <a:endParaRPr sz="2300"/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parachute</a:t>
            </a:r>
            <a:endParaRPr sz="1800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人も写るが、クラスはparachuteである。</a:t>
            </a:r>
            <a:endParaRPr sz="2100"/>
            <a:endParaRPr sz="2100"/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Imagenette 160 px版. https://github.com/fastai/imagenette　画像ID ILSVRC2012_val_00001440.JPEG / n03888257 / Imagenetteの検証用</a:t>
            </a:r>
            <a:endParaRPr sz="85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1,000クラスの学習画像数を集計した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4 規模と画像サイズの統計</a:t>
            </a:r>
            <a:endParaRPr sz="1400"/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17320"/>
          <a:ext cx="804672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417320"/>
                <a:gridCol w="1051560"/>
                <a:gridCol w="1371600"/>
                <a:gridCol w="1097280"/>
                <a:gridCol w="128016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対象 </a:t>
                      </a:r>
                      <a:r>
                        <a:rPr sz="950" lang="ja-JP">
                          <a:solidFill>
                            <a:srgbClr val="626669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200"/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平均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SD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中央値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最小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最大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1,000クラス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1,281.2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70.2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1,300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732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1,300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626360"/>
            <a:ext cx="7955279" cy="20005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600" b="0">
                <a:latin typeface="Noto Sans CJK JP"/>
              </a:defRPr>
            </a:pPr>
            <a:r>
              <a:rPr sz="1600" b="0" lang="ja-JP">
                <a:solidFill>
                  <a:srgbClr val="303437"/>
                </a:solidFill>
                <a:latin typeface="Noto Sans CJK JP"/>
                <a:ea typeface="Noto Sans CJK JP"/>
              </a:rPr>
              <a:t>単位はクラス当たりの画像枚数。SDは母標準偏差。</a:t>
            </a:r>
            <a:endParaRPr sz="1600"/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600" b="0">
                <a:latin typeface="Noto Sans CJK JP"/>
              </a:defRPr>
            </a:pPr>
            <a:r>
              <a:rPr sz="1600" b="0" lang="ja-JP">
                <a:solidFill>
                  <a:srgbClr val="303437"/>
                </a:solidFill>
                <a:latin typeface="Noto Sans CJK JP"/>
                <a:ea typeface="Noto Sans CJK JP"/>
              </a:rPr>
              <a:t>公式devkitのmeta.matで各クラスを1回ずつ数えた。</a:t>
            </a:r>
            <a:endParaRPr sz="16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ILSVRC 2012公式devkit. https://image-net.org/challenges/LSVRC/2012/</a:t>
            </a:r>
            <a:endParaRPr sz="85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最小と最大の学習画像数のカテゴリ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4 規模と画像サイズの統計</a:t>
            </a:r>
            <a:endParaRPr sz="1400"/>
            <a:endParaRPr sz="1400"/>
          </a:p>
        </p:txBody>
      </p:sp>
      <p:pic>
        <p:nvPicPr>
          <p:cNvPr id="4" name="Picture 3" descr="n02089078_black-and-tan_coonhound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1128" y="1371600"/>
            <a:ext cx="1721223" cy="1828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310128"/>
            <a:ext cx="3886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000" b="0">
                <a:latin typeface="Liberation Sans"/>
              </a:defRPr>
            </a:pPr>
            <a:r>
              <a:rPr sz="2000" b="0" lang="en-US">
                <a:solidFill>
                  <a:srgbClr val="303437"/>
                </a:solidFill>
                <a:latin typeface="Liberation Sans"/>
                <a:ea typeface="Liberation Sans"/>
              </a:rPr>
              <a:t>black-and-tan coonhound</a:t>
            </a:r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548640" y="3703320"/>
            <a:ext cx="3886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latin typeface="Noto Sans CJK JP"/>
              </a:defRPr>
              <a:buNone/>
            </a:pPr>
            <a:r>
              <a:rPr sz="1800" lang="ja-JP">
                <a:solidFill>
                  <a:srgbClr val="303437"/>
                </a:solidFill>
                <a:latin typeface="Noto Sans CJK JP"/>
                <a:ea typeface="Noto Sans CJK JP"/>
              </a:rPr>
              <a:t>学習用732枚（最小）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endParaRPr sz="1800"/>
            <a:endParaRPr sz="1800"/>
          </a:p>
        </p:txBody>
      </p:sp>
      <p:pic>
        <p:nvPicPr>
          <p:cNvPr id="8" name="Picture 7" descr="n02119789_kit_fox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0740" y="1371600"/>
            <a:ext cx="1371600" cy="1828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663440" y="3310128"/>
            <a:ext cx="3886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000" b="0">
                <a:latin typeface="Liberation Sans"/>
              </a:defRPr>
            </a:pPr>
            <a:r>
              <a:rPr sz="2000" b="0" lang="en-US">
                <a:solidFill>
                  <a:srgbClr val="303437"/>
                </a:solidFill>
                <a:latin typeface="Liberation Sans"/>
                <a:ea typeface="Liberation Sans"/>
              </a:rPr>
              <a:t>kit fox</a:t>
            </a:r>
            <a:endParaRPr sz="2000"/>
          </a:p>
        </p:txBody>
      </p:sp>
      <p:sp>
        <p:nvSpPr>
          <p:cNvPr id="10" name="TextBox 9"/>
          <p:cNvSpPr txBox="1"/>
          <p:nvPr/>
        </p:nvSpPr>
        <p:spPr>
          <a:xfrm>
            <a:off x="4663440" y="3703320"/>
            <a:ext cx="3886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800" b="0">
                <a:latin typeface="Noto Sans CJK JP"/>
              </a:defRPr>
              <a:buNone/>
            </a:pPr>
            <a:r>
              <a:rPr sz="1800" lang="ja-JP">
                <a:solidFill>
                  <a:srgbClr val="303437"/>
                </a:solidFill>
                <a:latin typeface="Noto Sans CJK JP"/>
                <a:ea typeface="Noto Sans CJK JP"/>
              </a:rPr>
              <a:t>学習用1,300枚（最大と同数）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endParaRPr sz="1800"/>
            <a:endParaRPr sz="1800"/>
          </a:p>
        </p:txBody>
      </p:sp>
      <p:sp>
        <p:nvSpPr>
          <p:cNvPr id="11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ILSVRC 2012公式devkit. https://image-net.org/challenges/LSVRC/2012/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カテゴリの画像例. https://github.com/EliSchwartz/imagenet-sample-images　n02089078_black-and-tan_coonhound.JPEG; n02119789_kit_fox.JPEG</a:t>
            </a:r>
            <a:endParaRPr sz="85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画像サイズの統計はImagenetteを対象とする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4 規模と画像サイズの統計</a:t>
            </a:r>
            <a:endParaRPr sz="1400"/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Imagenetteは、ImageNetの10クラスからなる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  <a:endParaRPr sz="2100"/>
          </a:p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160 px版の学習用9,469枚と検証用3,925枚を集計する。</a:t>
            </a:r>
            <a:endParaRPr sz="2100"/>
          </a:p>
          <a:p>
            <a:pPr algn="l" lvl="1" marL="42672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–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分割はImagenetteの分割で、元のImageNetとは異なる。</a:t>
            </a:r>
            <a:endParaRPr sz="2100"/>
          </a:p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全13,394枚のJPEGの幅と高さを、画像ごとに1回測る。</a:t>
            </a:r>
            <a:endParaRPr sz="2100"/>
          </a:p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短辺はすべて160 pxで、元画像の解像度ではない。</a:t>
            </a:r>
            <a:endParaRPr sz="21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Imagenette 160 px版. https://github.com/fastai/imagenette</a:t>
            </a:r>
            <a:endParaRPr sz="85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Imagenetteの動物・装置・建造物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4 規模と画像サイズの統計</a:t>
            </a:r>
            <a:endParaRPr sz="1400"/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344168"/>
          <a:ext cx="80467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1417320"/>
                <a:gridCol w="1417320"/>
                <a:gridCol w="1417320"/>
              </a:tblGrid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クラス </a:t>
                      </a:r>
                      <a:r>
                        <a:rPr sz="950" lang="ja-JP">
                          <a:solidFill>
                            <a:srgbClr val="626669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000"/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学習用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検証用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合計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テンチ（淡水魚）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963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387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1,350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スプリンガー犬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955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395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1,350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カセットプレーヤー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993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357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1,350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チェーンソー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858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386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1,244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教会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941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409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1,350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315968"/>
            <a:ext cx="7955279" cy="3362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Imagenette 160 px版。各画像のフォルダ名でクラスと分割を数えた。</a:t>
            </a:r>
            <a:endParaRPr sz="1600"/>
            <a:endParaRPr sz="16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Imagenette 160 px版. https://github.com/fastai/imagenette</a:t>
            </a:r>
            <a:endParaRPr sz="85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Imagenetteの楽器・車両・道具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4 規模と画像サイズの統計</a:t>
            </a:r>
            <a:endParaRPr sz="1400"/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344168"/>
          <a:ext cx="80467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1417320"/>
                <a:gridCol w="1417320"/>
                <a:gridCol w="1417320"/>
              </a:tblGrid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クラス </a:t>
                      </a:r>
                      <a:r>
                        <a:rPr sz="950" lang="ja-JP">
                          <a:solidFill>
                            <a:srgbClr val="626669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000"/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学習用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検証用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合計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フレンチホルン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956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394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1,350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ごみ収集車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961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389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1,350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ガソリンポンプ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931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419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1,350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ゴルフボール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951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399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1,350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パラシュート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960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390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1,350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315968"/>
            <a:ext cx="7955279" cy="3362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Imagenette 160 px版。各画像のフォルダ名でクラスと分割を数えた。</a:t>
            </a:r>
            <a:endParaRPr sz="1600"/>
            <a:endParaRPr sz="16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Imagenette 160 px版. https://github.com/fastai/imagenette</a:t>
            </a:r>
            <a:endParaRPr sz="85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縮小画像にも縦横比のばらつきがある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4 規模と画像サイズの統計</a:t>
            </a:r>
            <a:endParaRPr sz="1400"/>
            <a:endParaRPr sz="1400"/>
          </a:p>
        </p:txBody>
      </p:sp>
      <p:pic>
        <p:nvPicPr>
          <p:cNvPr id="4" name="Picture 3" descr="image-size-histogr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7493"/>
            <a:ext cx="8046720" cy="2996004"/>
          </a:xfrm>
          <a:prstGeom prst="rect">
            <a:avLst/>
          </a:prstGeom>
        </p:spPr>
      </p:pic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Imagenette 160 px版. https://github.com/fastai/imagenette　全13,394枚。長辺は80 px幅、幅÷高さは0.5幅で集計する。全範囲を含む。</a:t>
            </a:r>
            <a:endParaRPr sz="85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幅・高さ・長辺の記述統計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4 規模と画像サイズの統計</a:t>
            </a:r>
            <a:endParaRPr sz="1400"/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17320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280160"/>
                <a:gridCol w="1371600"/>
                <a:gridCol w="1371600"/>
                <a:gridCol w="128016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  <a:buNone/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測定値 </a:t>
                      </a:r>
                      <a:r>
                        <a:rPr sz="950" lang="ja-JP">
                          <a:solidFill>
                            <a:srgbClr val="626669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100"/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平均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SD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中央値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95%点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最大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幅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204.9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41.4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213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249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802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高さ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175.5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30.2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160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240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707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長辺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220.4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35.1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213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258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802</a:t>
                      </a:r>
                      <a:endParaRPr sz="21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32200"/>
            <a:ext cx="7955279" cy="9946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単位はpx。Imagenette 160 px版の全13,394枚。SDは母標準偏差、95%点は線形補間による95パーセンタイル。</a:t>
            </a:r>
            <a:endParaRPr sz="1600"/>
            <a:endParaRPr sz="16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Imagenette 160 px版. https://github.com/fastai/imagenette</a:t>
            </a:r>
            <a:endParaRPr sz="85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長辺が最大の802 pxとなる画像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4 規模と画像サイズの統計</a:t>
            </a:r>
            <a:endParaRPr sz="1400"/>
            <a:endParaRPr sz="1400"/>
          </a:p>
        </p:txBody>
      </p:sp>
      <p:pic>
        <p:nvPicPr>
          <p:cNvPr id="4" name="Picture 3" descr="n02979186_299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2689"/>
            <a:ext cx="3886200" cy="7753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300" b="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正解はカセットプレーヤー</a:t>
            </a:r>
            <a:endParaRPr sz="2300"/>
            <a:endParaRPr sz="2300"/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cassette player</a:t>
            </a:r>
            <a:endParaRPr sz="1800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幅802 px・高さ160 px。縦横比は5.0125。横に細長くてもラベルはcassette playerである。</a:t>
            </a:r>
            <a:endParaRPr sz="2100"/>
            <a:endParaRPr sz="2100"/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Imagenette 160 px版. https://github.com/fastai/imagenette　画像ID n02979186_2993.JPEG / n02979186 / Imagenetteの学習用</a:t>
            </a:r>
            <a:endParaRPr sz="85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高さが最大の707 pxとなる画像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4 規模と画像サイズの統計</a:t>
            </a:r>
            <a:endParaRPr sz="1400"/>
            <a:endParaRPr sz="1400"/>
          </a:p>
        </p:txBody>
      </p:sp>
      <p:pic>
        <p:nvPicPr>
          <p:cNvPr id="4" name="Picture 3" descr="n03425413_1313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8925" y="1426464"/>
            <a:ext cx="585629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617720" y="1463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300" b="0">
                <a:latin typeface="Noto Sans CJK JP"/>
              </a:defRPr>
              <a:buNone/>
            </a:pPr>
            <a:r>
              <a:rPr sz="230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正解はガソリンポンプ</a:t>
            </a:r>
            <a:endParaRPr sz="2300"/>
            <a:endParaRPr sz="2300"/>
          </a:p>
        </p:txBody>
      </p:sp>
      <p:sp>
        <p:nvSpPr>
          <p:cNvPr id="6" name="TextBox 5"/>
          <p:cNvSpPr txBox="1"/>
          <p:nvPr/>
        </p:nvSpPr>
        <p:spPr>
          <a:xfrm>
            <a:off x="4617720" y="2240280"/>
            <a:ext cx="393192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gas pump</a:t>
            </a:r>
            <a:endParaRPr sz="1800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4617720" y="2944368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latin typeface="Noto Sans CJK JP"/>
              </a:defRPr>
              <a:buNone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幅160 px・高さ707 px。縦横比は0.2263で、全画像中の最小値である。</a:t>
            </a:r>
            <a:endParaRPr sz="2100"/>
            <a:endParaRPr sz="2100"/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Imagenette 160 px版. https://github.com/fastai/imagenette　画像ID n03425413_13133.JPEG / n03425413 / Imagenetteの学習用</a:t>
            </a:r>
            <a:endParaRPr sz="85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順位に応じてTop-1とTop-5が変わる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5 モデル評価と前処理</a:t>
            </a:r>
            <a:endParaRPr sz="1400"/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194560"/>
                <a:gridCol w="2194560"/>
              </a:tblGrid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  <a:buNone/>
                      </a:pPr>
                      <a:r>
                        <a:rPr sz="24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正解のtenchの順位 </a:t>
                      </a:r>
                      <a:r>
                        <a:rPr sz="950" lang="ja-JP">
                          <a:solidFill>
                            <a:srgbClr val="626669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400"/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Top-1の得点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Top-5の得点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9436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1位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59436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2位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0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59436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6位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0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0</a:t>
                      </a:r>
                      <a:endParaRPr sz="24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97960"/>
            <a:ext cx="7955279" cy="6289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3枚のTop-1正解率は33.3%、Top-5正解率は66.7%となる。画像ごとの得点を、評価対象の画像全体で平均する。</a:t>
            </a:r>
            <a:endParaRPr sz="1600"/>
            <a:endParaRPr sz="16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ILSVRC 2012, Task 1. https://image-net.org/challenges/LSVRC/2012/</a:t>
            </a:r>
            <a:endParaRPr sz="85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公開済み重みの結果は実装の条件にも依存する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5 モデル評価と前処理</a:t>
            </a:r>
            <a:endParaRPr sz="1400"/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17320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37744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Torchvisionの重み </a:t>
                      </a:r>
                      <a:r>
                        <a:rPr sz="950" lang="ja-JP">
                          <a:solidFill>
                            <a:srgbClr val="626669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200"/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Top-1正解率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Top-5正解率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AlexNet V1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56.522%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79.066%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ResNet-50 V1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76.130%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92.862%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50292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ViT-B/16 V1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81.072%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95.318%</a:t>
                      </a:r>
                      <a:endParaRPr sz="22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32200"/>
            <a:ext cx="7955279" cy="9946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いずれもImageNet-1k検証用。学習レシピはモデルごとに異なる。画像のパッチを処理するViTも、同じ分類用データで評価する。</a:t>
            </a:r>
            <a:endParaRPr sz="1600"/>
            <a:endParaRPr sz="16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Torchvision models, weight metadata. https://github.com/pytorch/vision/tree/main/torchvision/models</a:t>
            </a:r>
            <a:endParaRPr sz="85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線形分類器でも評価画像が変わると得点が変わる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5 モデル評価と前処理</a:t>
            </a:r>
            <a:endParaRPr sz="1400"/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17320"/>
          <a:ext cx="80467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737360"/>
                <a:gridCol w="1737360"/>
                <a:gridCol w="1828800"/>
              </a:tblGrid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  <a:buNone/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特徴モデル </a:t>
                      </a:r>
                      <a:r>
                        <a:rPr sz="950" lang="ja-JP">
                          <a:solidFill>
                            <a:srgbClr val="626669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000"/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元の検証用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ImageNetV2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ImageNet-R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DINOv3 7B/16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88.4%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81.4%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91.1%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SigLIP 2 g/16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89.1%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81.6%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92.2%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B w="0">
                      <a:noFill/>
                    </a:lnB>
                    <a:lnL w="0">
                      <a:noFill/>
                    </a:lnL>
                    <a:lnR w="0">
                      <a:noFill/>
                    </a:lnR>
                  </a:tcPr>
                </a:tc>
              </a:tr>
              <a:tr h="457200">
                <a:tc>
                  <a:txBody>
                    <a:bodyPr wrap="non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PEcore G/14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89.3%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81.6%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non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92.2%</a:t>
                      </a:r>
                      <a:endParaRPr sz="2000"/>
                    </a:p>
                  </a:txBody>
                  <a:tcPr marL="76200" marR="76200">
                    <a:solidFill>
                      <a:srgbClr val="FFFEF8"/>
                    </a:solidFill>
                    <a:lnT w="0">
                      <a:noFill/>
                    </a:lnT>
                    <a:lnL w="0">
                      <a:noFill/>
                    </a:lnL>
                    <a:lnR w="0">
                      <a:noFill/>
                    </a:lnR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474720"/>
            <a:ext cx="7955279" cy="11775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元の検証用は1,000クラス、ImageNet-Rはそのうち200クラス。クラス数と画像集合が異なるため、列同士を同じ難易度とはみなせない。</a:t>
            </a:r>
            <a:endParaRPr sz="1600"/>
            <a:endParaRPr sz="16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Siméoni et al. (2025), Table 7. https://arxiv.org/abs/2508.10104</a:t>
            </a:r>
            <a:endParaRPr sz="85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分類用データとプライバシーへの対応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5 モデル評価と前処理</a:t>
            </a:r>
            <a:endParaRPr sz="1400"/>
            <a:endParaRPr sz="1400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86690" indent="-173355">
              <a:lnSpc>
                <a:spcPct val="110000"/>
              </a:lnSpc>
              <a:spcBef>
                <a:spcPts val="0"/>
              </a:spcBef>
              <a:defRPr sz="2100" b="0">
                <a:latin typeface="Noto Sans CJK JP"/>
              </a:defRPr>
              <a:spcAft>
                <a:spcPts val="500"/>
              </a:spcAft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2021年に、ImageNet全体のperson下位カテゴリ2,702種類を除去した </a:t>
            </a:r>
            <a:r>
              <a:rPr sz="9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  <a:endParaRPr sz="2100"/>
            <a:endParaRPr sz="2100"/>
          </a:p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この更新は、ILSVRCの1,000カテゴリには影響しない。</a:t>
            </a:r>
            <a:endParaRPr sz="2100"/>
          </a:p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ただし物体の画像にも偶然写り込む人物がいる。</a:t>
            </a:r>
            <a:endParaRPr sz="2100"/>
          </a:p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そこで顔を注釈し、顔をぼかした、ILSVRC大会の1,000クラス分類用データを検討した。</a:t>
            </a:r>
            <a:endParaRPr sz="2100"/>
          </a:p>
          <a:p>
            <a:pPr algn="l" marL="186690" indent="-173355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公式トップの1,420万枚という表示だけで、更新後の収録範囲を判断しない。</a:t>
            </a:r>
            <a:endParaRPr sz="21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ImageNetの更新説明 (2021). https://www.image-net.org/update-mar-11-2021.php</a:t>
            </a:r>
            <a:endParaRPr sz="85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公式devkitでクラス別の件数を確認する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6 入手コードと参考文献</a:t>
            </a:r>
            <a:endParaRPr sz="1400"/>
            <a:endParaRPr sz="1400"/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8046720" cy="238582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9344"/>
            <a:ext cx="7772400" cy="21297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latin typeface="Liberation Mono"/>
              </a:defRPr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Liberation Mono"/>
              </a:rPr>
              <a:t>from scipy.io import loadmat</a:t>
            </a:r>
            <a:endParaRPr sz="1300"/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latin typeface="Liberation Mono"/>
              </a:defRPr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Liberation Mono"/>
              </a:rPr>
              <a:t/>
            </a:r>
            <a:endParaRPr sz="1300"/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latin typeface="Liberation Mono"/>
              </a:defRPr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Liberation Mono"/>
              </a:rPr>
              <a:t>meta = loadmat(</a:t>
            </a:r>
            <a:endParaRPr sz="1300"/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latin typeface="Liberation Mono"/>
              </a:defRPr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Liberation Mono"/>
              </a:rPr>
              <a:t>    "ILSVRC2012_devkit_t12/data/meta.mat",</a:t>
            </a:r>
            <a:endParaRPr sz="1300"/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latin typeface="Liberation Mono"/>
              </a:defRPr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Liberation Mono"/>
              </a:rPr>
              <a:t>    squeeze_me=True, struct_as_record=False</a:t>
            </a:r>
            <a:endParaRPr sz="1300"/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latin typeface="Liberation Mono"/>
              </a:defRPr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Liberation Mono"/>
              </a:rPr>
              <a:t>)["synsets"]</a:t>
            </a:r>
            <a:endParaRPr sz="1300"/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latin typeface="Liberation Mono"/>
              </a:defRPr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Liberation Mono"/>
              </a:rPr>
              <a:t>classes = [x for x in meta if x.num_children == 0]</a:t>
            </a:r>
            <a:endParaRPr sz="1300"/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latin typeface="Liberation Mono"/>
              </a:defRPr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Liberation Mono"/>
              </a:rPr>
              <a:t>counts = [int(x.num_train_images) for x in classes]</a:t>
            </a:r>
            <a:endParaRPr sz="1300"/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latin typeface="Liberation Mono"/>
              </a:defRPr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Liberation Mono"/>
              </a:rPr>
              <a:t>print(len(classes), sum(counts))</a:t>
            </a:r>
            <a:endParaRPr sz="1300"/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latin typeface="Liberation Mono"/>
              </a:defRPr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Liberation Mono"/>
              </a:rPr>
              <a:t># 1000 1281167</a:t>
            </a:r>
            <a:endParaRPr sz="1300"/>
          </a:p>
        </p:txBody>
      </p:sp>
      <p:sp>
        <p:nvSpPr>
          <p:cNvPr id="6" name="TextBox 5"/>
          <p:cNvSpPr txBox="1"/>
          <p:nvPr/>
        </p:nvSpPr>
        <p:spPr>
          <a:xfrm>
            <a:off x="594360" y="4013454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devkitを取得・展開した後に実行する。scipyを利用する。WordNet IDとモデルのクラス番号を同一視しない。</a:t>
            </a:r>
            <a:endParaRPr sz="1700"/>
            <a:endParaRPr sz="1700"/>
          </a:p>
        </p:txBody>
      </p:sp>
      <p:sp>
        <p:nvSpPr>
          <p:cNvPr id="7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ILSVRC 2012公式devkit. https://image-net.org/challenges/LSVRC/2012/</a:t>
            </a:r>
            <a:endParaRPr sz="85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Imagenetteを取得して画像とラベルを読む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6 入手コードと参考文献</a:t>
            </a:r>
            <a:endParaRPr sz="1400"/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シェルで取得する</a:t>
            </a:r>
            <a:endParaRPr sz="1400"/>
          </a:p>
        </p:txBody>
      </p:sp>
      <p:sp>
        <p:nvSpPr>
          <p:cNvPr id="5" name="Rectangle 4"/>
          <p:cNvSpPr/>
          <p:nvPr/>
        </p:nvSpPr>
        <p:spPr>
          <a:xfrm>
            <a:off x="548640" y="1655064"/>
            <a:ext cx="8046720" cy="85598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764792"/>
            <a:ext cx="7772400" cy="7462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latin typeface="Liberation Mono"/>
              </a:defRPr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Liberation Mono"/>
              </a:rPr>
              <a:t>curl -L --fail -o imagenette.tgz \</a:t>
            </a:r>
            <a:endParaRPr sz="1300"/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latin typeface="Liberation Mono"/>
              </a:defRPr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Liberation Mono"/>
              </a:rPr>
              <a:t>  https://s3.amazonaws.com/fast-ai-imageclas/imagenette2-160.tgz</a:t>
            </a:r>
            <a:endParaRPr sz="1300"/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latin typeface="Liberation Mono"/>
              </a:defRPr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Liberation Mono"/>
              </a:rPr>
              <a:t>tar -xzf imagenette.tgz</a:t>
            </a:r>
            <a:endParaRPr sz="1300"/>
          </a:p>
        </p:txBody>
      </p:sp>
      <p:sp>
        <p:nvSpPr>
          <p:cNvPr id="7" name="TextBox 6"/>
          <p:cNvSpPr txBox="1"/>
          <p:nvPr/>
        </p:nvSpPr>
        <p:spPr>
          <a:xfrm>
            <a:off x="548640" y="2688336"/>
            <a:ext cx="80467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Pythonで画像とラベルを読む</a:t>
            </a:r>
            <a:endParaRPr sz="1400"/>
          </a:p>
        </p:txBody>
      </p:sp>
      <p:sp>
        <p:nvSpPr>
          <p:cNvPr id="8" name="Rectangle 7"/>
          <p:cNvSpPr/>
          <p:nvPr/>
        </p:nvSpPr>
        <p:spPr>
          <a:xfrm>
            <a:off x="548640" y="2971800"/>
            <a:ext cx="8046720" cy="107061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081528"/>
            <a:ext cx="7772400" cy="9608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latin typeface="Liberation Mono"/>
              </a:defRPr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Liberation Mono"/>
              </a:rPr>
              <a:t>from torchvision.datasets import ImageFolder</a:t>
            </a:r>
            <a:endParaRPr sz="1300"/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latin typeface="Liberation Mono"/>
              </a:defRPr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Liberation Mono"/>
              </a:rPr>
              <a:t>data = ImageFolder("imagenette2-160/train")</a:t>
            </a:r>
            <a:endParaRPr sz="1300"/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latin typeface="Liberation Mono"/>
              </a:defRPr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Liberation Mono"/>
              </a:rPr>
              <a:t>image, label = data[0]</a:t>
            </a:r>
            <a:endParaRPr sz="1300"/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latin typeface="Liberation Mono"/>
              </a:defRPr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Liberation Mono"/>
              </a:rPr>
              <a:t>print(data.classes[label], image.size)</a:t>
            </a:r>
            <a:endParaRPr sz="1300"/>
          </a:p>
        </p:txBody>
      </p:sp>
      <p:sp>
        <p:nvSpPr>
          <p:cNvPr id="10" name="TextBox 9"/>
          <p:cNvSpPr txBox="1"/>
          <p:nvPr/>
        </p:nvSpPr>
        <p:spPr>
          <a:xfrm>
            <a:off x="594360" y="4242816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600" b="0">
                <a:latin typeface="Noto Sans CJK JP"/>
              </a:defRPr>
              <a:buNone/>
            </a:pPr>
            <a:r>
              <a:rPr sz="1600" lang="ja-JP">
                <a:solidFill>
                  <a:srgbClr val="303437"/>
                </a:solidFill>
                <a:latin typeface="Noto Sans CJK JP"/>
                <a:ea typeface="Noto Sans CJK JP"/>
              </a:rPr>
              <a:t>10クラスのImagenetteを読み、classesでクラス名を確認する。</a:t>
            </a:r>
            <a:endParaRPr sz="1600"/>
            <a:endParaRPr sz="1600"/>
          </a:p>
        </p:txBody>
      </p:sp>
      <p:sp>
        <p:nvSpPr>
          <p:cNvPr id="11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Imagenette 160 px版. https://github.com/fastai/imagenette</a:t>
            </a:r>
            <a:endParaRPr sz="85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モデルに合う前処理を指定する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6 入手コードと参考文献</a:t>
            </a:r>
            <a:endParaRPr sz="1400"/>
            <a:endParaRPr sz="1400"/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8046720" cy="195656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9344"/>
            <a:ext cx="7772400" cy="17005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latin typeface="Liberation Mono"/>
              </a:defRPr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Liberation Mono"/>
              </a:rPr>
              <a:t>from PIL import Image</a:t>
            </a:r>
            <a:endParaRPr sz="1300"/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latin typeface="Liberation Mono"/>
              </a:defRPr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Liberation Mono"/>
              </a:rPr>
              <a:t>from torchvision.models import resnet50, ResNet50_Weights</a:t>
            </a:r>
            <a:endParaRPr sz="1300"/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latin typeface="Liberation Mono"/>
              </a:defRPr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Liberation Mono"/>
              </a:rPr>
              <a:t/>
            </a:r>
            <a:endParaRPr sz="1300"/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latin typeface="Liberation Mono"/>
              </a:defRPr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Liberation Mono"/>
              </a:rPr>
              <a:t>weights = ResNet50_Weights.IMAGENET1K_V1</a:t>
            </a:r>
            <a:endParaRPr sz="1300"/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latin typeface="Liberation Mono"/>
              </a:defRPr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Liberation Mono"/>
              </a:rPr>
              <a:t>model = resnet50(weights=weights).eval()</a:t>
            </a:r>
            <a:endParaRPr sz="1300"/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latin typeface="Liberation Mono"/>
              </a:defRPr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Liberation Mono"/>
              </a:rPr>
              <a:t>image = Image.open("example.JPEG").convert("RGB")</a:t>
            </a:r>
            <a:endParaRPr sz="1300"/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latin typeface="Liberation Mono"/>
              </a:defRPr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Liberation Mono"/>
              </a:rPr>
              <a:t>batch = weights.transforms()(image).unsqueeze(0)</a:t>
            </a:r>
            <a:endParaRPr sz="1300"/>
          </a:p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latin typeface="Liberation Mono"/>
              </a:defRPr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Liberation Mono"/>
              </a:rPr>
              <a:t># batch.shape == [1, 3, 224, 224]</a:t>
            </a:r>
            <a:endParaRPr sz="1300"/>
          </a:p>
        </p:txBody>
      </p:sp>
      <p:sp>
        <p:nvSpPr>
          <p:cNvPr id="6" name="TextBox 5"/>
          <p:cNvSpPr txBox="1"/>
          <p:nvPr/>
        </p:nvSpPr>
        <p:spPr>
          <a:xfrm>
            <a:off x="594360" y="3584194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700" b="0">
                <a:latin typeface="Noto Sans CJK JP"/>
              </a:defRPr>
              <a:spcAft>
                <a:spcPts val="500"/>
              </a:spcAft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重みに対応したリサイズ・クロップ・正規化を使う。10クラス版とモデルの1,000クラス出力は、クラス名で対応させる。</a:t>
            </a:r>
            <a:endParaRPr sz="1700"/>
            <a:endParaRPr sz="1700"/>
            <a:endParaRPr sz="1700"/>
          </a:p>
        </p:txBody>
      </p:sp>
      <p:sp>
        <p:nvSpPr>
          <p:cNvPr id="7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Torchvision ResNet. https://github.com/pytorch/vision/blob/main/torchvision/models/resnet.py</a:t>
            </a:r>
            <a:endParaRPr sz="85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データと作成方法の参考文献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6 入手コードと参考文献</a:t>
            </a:r>
            <a:endParaRPr sz="1400"/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Noto Sans CJK JP"/>
              </a:defRPr>
            </a:pPr>
            <a:r>
              <a:rPr sz="1800" b="0" lang="ja-JP">
                <a:solidFill>
                  <a:srgbClr val="303437"/>
                </a:solidFill>
                <a:latin typeface="Noto Sans CJK JP"/>
                <a:ea typeface="Noto Sans CJK JP"/>
              </a:rPr>
              <a:t>Deng et al. (2009). ImageNet. CVPR.</a:t>
            </a:r>
            <a:endParaRPr sz="1800"/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80467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latin typeface="Liberation Sans"/>
              </a:defRPr>
            </a:pPr>
            <a:r>
              <a:rPr sz="1000" b="0" lang="en-US">
                <a:solidFill>
                  <a:srgbClr val="626669"/>
                </a:solidFill>
                <a:latin typeface="Liberation Sans"/>
                <a:ea typeface="Liberation Sans"/>
              </a:rPr>
              <a:t>https://image-net.org/static_files/papers/imagenet_cvpr09.pdf</a:t>
            </a:r>
            <a:endParaRPr sz="1000"/>
          </a:p>
        </p:txBody>
      </p:sp>
      <p:sp>
        <p:nvSpPr>
          <p:cNvPr id="6" name="TextBox 5"/>
          <p:cNvSpPr txBox="1"/>
          <p:nvPr/>
        </p:nvSpPr>
        <p:spPr>
          <a:xfrm>
            <a:off x="548640" y="1984248"/>
            <a:ext cx="804672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Noto Sans CJK JP"/>
              </a:defRPr>
            </a:pPr>
            <a:r>
              <a:rPr sz="1800" b="0" lang="ja-JP">
                <a:solidFill>
                  <a:srgbClr val="303437"/>
                </a:solidFill>
                <a:latin typeface="Noto Sans CJK JP"/>
                <a:ea typeface="Noto Sans CJK JP"/>
              </a:rPr>
              <a:t>Russakovsky et al. (2015). ILSVRC. IJCV.</a:t>
            </a:r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48640" y="2386584"/>
            <a:ext cx="80467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latin typeface="Liberation Sans"/>
              </a:defRPr>
            </a:pPr>
            <a:r>
              <a:rPr sz="1000" b="0" lang="en-US">
                <a:solidFill>
                  <a:srgbClr val="626669"/>
                </a:solidFill>
                <a:latin typeface="Liberation Sans"/>
                <a:ea typeface="Liberation Sans"/>
              </a:rPr>
              <a:t>https://arxiv.org/abs/1409.0575</a:t>
            </a:r>
            <a:endParaRPr sz="1000"/>
          </a:p>
        </p:txBody>
      </p:sp>
      <p:sp>
        <p:nvSpPr>
          <p:cNvPr id="8" name="TextBox 7"/>
          <p:cNvSpPr txBox="1"/>
          <p:nvPr/>
        </p:nvSpPr>
        <p:spPr>
          <a:xfrm>
            <a:off x="548640" y="2596896"/>
            <a:ext cx="804672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Noto Sans CJK JP"/>
              </a:defRPr>
            </a:pPr>
            <a:r>
              <a:rPr sz="1800" b="0" lang="ja-JP">
                <a:solidFill>
                  <a:srgbClr val="303437"/>
                </a:solidFill>
                <a:latin typeface="Noto Sans CJK JP"/>
                <a:ea typeface="Noto Sans CJK JP"/>
              </a:rPr>
              <a:t>ImageNet公式サイトとDownload</a:t>
            </a:r>
            <a:endParaRPr sz="1800"/>
          </a:p>
        </p:txBody>
      </p:sp>
      <p:sp>
        <p:nvSpPr>
          <p:cNvPr id="9" name="TextBox 8"/>
          <p:cNvSpPr txBox="1"/>
          <p:nvPr/>
        </p:nvSpPr>
        <p:spPr>
          <a:xfrm>
            <a:off x="548640" y="2999232"/>
            <a:ext cx="80467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latin typeface="Liberation Sans"/>
              </a:defRPr>
            </a:pPr>
            <a:r>
              <a:rPr sz="1000" b="0" lang="en-US">
                <a:solidFill>
                  <a:srgbClr val="626669"/>
                </a:solidFill>
                <a:latin typeface="Liberation Sans"/>
                <a:ea typeface="Liberation Sans"/>
              </a:rPr>
              <a:t>https://www.image-net.org/download.php</a:t>
            </a:r>
            <a:endParaRPr sz="1000"/>
          </a:p>
        </p:txBody>
      </p:sp>
      <p:sp>
        <p:nvSpPr>
          <p:cNvPr id="10" name="TextBox 9"/>
          <p:cNvSpPr txBox="1"/>
          <p:nvPr/>
        </p:nvSpPr>
        <p:spPr>
          <a:xfrm>
            <a:off x="548640" y="3209544"/>
            <a:ext cx="804672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Noto Sans CJK JP"/>
              </a:defRPr>
            </a:pPr>
            <a:r>
              <a:rPr sz="1800" b="0" lang="ja-JP">
                <a:solidFill>
                  <a:srgbClr val="303437"/>
                </a:solidFill>
                <a:latin typeface="Noto Sans CJK JP"/>
                <a:ea typeface="Noto Sans CJK JP"/>
              </a:rPr>
              <a:t>ImageNetの2021年の更新</a:t>
            </a:r>
            <a:endParaRPr sz="1800"/>
          </a:p>
        </p:txBody>
      </p:sp>
      <p:sp>
        <p:nvSpPr>
          <p:cNvPr id="11" name="TextBox 10"/>
          <p:cNvSpPr txBox="1"/>
          <p:nvPr/>
        </p:nvSpPr>
        <p:spPr>
          <a:xfrm>
            <a:off x="548640" y="3611880"/>
            <a:ext cx="80467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latin typeface="Liberation Sans"/>
              </a:defRPr>
            </a:pPr>
            <a:r>
              <a:rPr sz="1000" b="0" lang="en-US">
                <a:solidFill>
                  <a:srgbClr val="626669"/>
                </a:solidFill>
                <a:latin typeface="Liberation Sans"/>
                <a:ea typeface="Liberation Sans"/>
              </a:rPr>
              <a:t>https://www.image-net.org/update-mar-11-2021.php</a:t>
            </a:r>
            <a:endParaRPr sz="1000"/>
          </a:p>
        </p:txBody>
      </p:sp>
      <p:sp>
        <p:nvSpPr>
          <p:cNvPr id="12" name="TextBox 11"/>
          <p:cNvSpPr txBox="1"/>
          <p:nvPr/>
        </p:nvSpPr>
        <p:spPr>
          <a:xfrm>
            <a:off x="548640" y="3822191"/>
            <a:ext cx="804672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Noto Sans CJK JP"/>
              </a:defRPr>
            </a:pPr>
            <a:r>
              <a:rPr sz="1800" b="0" lang="ja-JP">
                <a:solidFill>
                  <a:srgbClr val="303437"/>
                </a:solidFill>
                <a:latin typeface="Noto Sans CJK JP"/>
                <a:ea typeface="Noto Sans CJK JP"/>
              </a:rPr>
              <a:t>Imagenetteの公開リポジトリ</a:t>
            </a:r>
            <a:endParaRPr sz="1800"/>
          </a:p>
        </p:txBody>
      </p:sp>
      <p:sp>
        <p:nvSpPr>
          <p:cNvPr id="13" name="TextBox 12"/>
          <p:cNvSpPr txBox="1"/>
          <p:nvPr/>
        </p:nvSpPr>
        <p:spPr>
          <a:xfrm>
            <a:off x="548640" y="4224528"/>
            <a:ext cx="80467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latin typeface="Liberation Sans"/>
              </a:defRPr>
            </a:pPr>
            <a:r>
              <a:rPr sz="1000" b="0" lang="en-US">
                <a:solidFill>
                  <a:srgbClr val="626669"/>
                </a:solidFill>
                <a:latin typeface="Liberation Sans"/>
                <a:ea typeface="Liberation Sans"/>
              </a:rPr>
              <a:t>https://github.com/fastai/imagenette</a:t>
            </a:r>
            <a:endParaRPr sz="1000"/>
          </a:p>
        </p:txBody>
      </p:sp>
      <p:sp>
        <p:nvSpPr>
          <p:cNvPr id="14" name="TextBox 13"/>
          <p:cNvSpPr txBox="1"/>
          <p:nvPr/>
        </p:nvSpPr>
        <p:spPr>
          <a:xfrm>
            <a:off x="548640" y="4434840"/>
            <a:ext cx="804672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Noto Sans CJK JP"/>
              </a:defRPr>
            </a:pPr>
            <a:r>
              <a:rPr sz="1800" b="0" lang="ja-JP">
                <a:solidFill>
                  <a:srgbClr val="303437"/>
                </a:solidFill>
                <a:latin typeface="Noto Sans CJK JP"/>
                <a:ea typeface="Noto Sans CJK JP"/>
              </a:rPr>
              <a:t>ILSVRC 2012公式devkit</a:t>
            </a:r>
            <a:endParaRPr sz="1800"/>
          </a:p>
        </p:txBody>
      </p:sp>
      <p:sp>
        <p:nvSpPr>
          <p:cNvPr id="15" name="TextBox 14"/>
          <p:cNvSpPr txBox="1"/>
          <p:nvPr/>
        </p:nvSpPr>
        <p:spPr>
          <a:xfrm>
            <a:off x="548640" y="4837176"/>
            <a:ext cx="80467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latin typeface="Liberation Sans"/>
              </a:defRPr>
            </a:pPr>
            <a:r>
              <a:rPr sz="1000" b="0" lang="en-US">
                <a:solidFill>
                  <a:srgbClr val="626669"/>
                </a:solidFill>
                <a:latin typeface="Liberation Sans"/>
                <a:ea typeface="Liberation Sans"/>
              </a:rPr>
              <a:t>https://image-net.org/data/ILSVRC/2012/ILSVRC2012_devkit_t12.tar.gz</a:t>
            </a:r>
            <a:endParaRPr sz="100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モデルと関連評価の参考文献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6 入手コードと参考文献</a:t>
            </a:r>
            <a:endParaRPr sz="1400"/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Noto Sans CJK JP"/>
              </a:defRPr>
            </a:pPr>
            <a:r>
              <a:rPr sz="1800" b="0" lang="ja-JP">
                <a:solidFill>
                  <a:srgbClr val="303437"/>
                </a:solidFill>
                <a:latin typeface="Noto Sans CJK JP"/>
                <a:ea typeface="Noto Sans CJK JP"/>
              </a:rPr>
              <a:t>He et al. (2016). Deep Residual Learning. CVPR.</a:t>
            </a:r>
            <a:endParaRPr sz="1800"/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80467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latin typeface="Liberation Sans"/>
              </a:defRPr>
            </a:pPr>
            <a:r>
              <a:rPr sz="1000" b="0" lang="en-US">
                <a:solidFill>
                  <a:srgbClr val="626669"/>
                </a:solidFill>
                <a:latin typeface="Liberation Sans"/>
                <a:ea typeface="Liberation Sans"/>
              </a:rPr>
              <a:t>https://arxiv.org/abs/1512.03385</a:t>
            </a:r>
            <a:endParaRPr sz="1000"/>
          </a:p>
        </p:txBody>
      </p:sp>
      <p:sp>
        <p:nvSpPr>
          <p:cNvPr id="6" name="TextBox 5"/>
          <p:cNvSpPr txBox="1"/>
          <p:nvPr/>
        </p:nvSpPr>
        <p:spPr>
          <a:xfrm>
            <a:off x="548640" y="1984248"/>
            <a:ext cx="804672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Noto Sans CJK JP"/>
              </a:defRPr>
            </a:pPr>
            <a:r>
              <a:rPr sz="1800" b="0" lang="ja-JP">
                <a:solidFill>
                  <a:srgbClr val="303437"/>
                </a:solidFill>
                <a:latin typeface="Noto Sans CJK JP"/>
                <a:ea typeface="Noto Sans CJK JP"/>
              </a:rPr>
              <a:t>Siméoni et al. (2025). DINOv3.</a:t>
            </a:r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48640" y="2386584"/>
            <a:ext cx="80467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latin typeface="Liberation Sans"/>
              </a:defRPr>
            </a:pPr>
            <a:r>
              <a:rPr sz="1000" b="0" lang="en-US">
                <a:solidFill>
                  <a:srgbClr val="626669"/>
                </a:solidFill>
                <a:latin typeface="Liberation Sans"/>
                <a:ea typeface="Liberation Sans"/>
              </a:rPr>
              <a:t>https://arxiv.org/abs/2508.10104</a:t>
            </a:r>
            <a:endParaRPr sz="1000"/>
          </a:p>
        </p:txBody>
      </p:sp>
      <p:sp>
        <p:nvSpPr>
          <p:cNvPr id="8" name="TextBox 7"/>
          <p:cNvSpPr txBox="1"/>
          <p:nvPr/>
        </p:nvSpPr>
        <p:spPr>
          <a:xfrm>
            <a:off x="548640" y="2596896"/>
            <a:ext cx="804672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Noto Sans CJK JP"/>
              </a:defRPr>
            </a:pPr>
            <a:r>
              <a:rPr sz="1800" b="0" lang="ja-JP">
                <a:solidFill>
                  <a:srgbClr val="303437"/>
                </a:solidFill>
                <a:latin typeface="Noto Sans CJK JP"/>
                <a:ea typeface="Noto Sans CJK JP"/>
              </a:rPr>
              <a:t>Beyer et al. (2020). Are we done with ImageNet?</a:t>
            </a:r>
            <a:endParaRPr sz="1800"/>
          </a:p>
        </p:txBody>
      </p:sp>
      <p:sp>
        <p:nvSpPr>
          <p:cNvPr id="9" name="TextBox 8"/>
          <p:cNvSpPr txBox="1"/>
          <p:nvPr/>
        </p:nvSpPr>
        <p:spPr>
          <a:xfrm>
            <a:off x="548640" y="2999232"/>
            <a:ext cx="80467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latin typeface="Liberation Sans"/>
              </a:defRPr>
            </a:pPr>
            <a:r>
              <a:rPr sz="1000" b="0" lang="en-US">
                <a:solidFill>
                  <a:srgbClr val="626669"/>
                </a:solidFill>
                <a:latin typeface="Liberation Sans"/>
                <a:ea typeface="Liberation Sans"/>
              </a:rPr>
              <a:t>https://arxiv.org/abs/2006.07159</a:t>
            </a:r>
            <a:endParaRPr sz="1000"/>
          </a:p>
        </p:txBody>
      </p:sp>
      <p:sp>
        <p:nvSpPr>
          <p:cNvPr id="10" name="TextBox 9"/>
          <p:cNvSpPr txBox="1"/>
          <p:nvPr/>
        </p:nvSpPr>
        <p:spPr>
          <a:xfrm>
            <a:off x="548640" y="3209544"/>
            <a:ext cx="804672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Noto Sans CJK JP"/>
              </a:defRPr>
            </a:pPr>
            <a:r>
              <a:rPr sz="1800" b="0" lang="ja-JP">
                <a:solidFill>
                  <a:srgbClr val="303437"/>
                </a:solidFill>
                <a:latin typeface="Noto Sans CJK JP"/>
                <a:ea typeface="Noto Sans CJK JP"/>
              </a:rPr>
              <a:t>Recht et al. (2019). ImageNetV2. ICML.</a:t>
            </a:r>
            <a:endParaRPr sz="1800"/>
          </a:p>
        </p:txBody>
      </p:sp>
      <p:sp>
        <p:nvSpPr>
          <p:cNvPr id="11" name="TextBox 10"/>
          <p:cNvSpPr txBox="1"/>
          <p:nvPr/>
        </p:nvSpPr>
        <p:spPr>
          <a:xfrm>
            <a:off x="548640" y="3611880"/>
            <a:ext cx="80467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latin typeface="Liberation Sans"/>
              </a:defRPr>
            </a:pPr>
            <a:r>
              <a:rPr sz="1000" b="0" lang="en-US">
                <a:solidFill>
                  <a:srgbClr val="626669"/>
                </a:solidFill>
                <a:latin typeface="Liberation Sans"/>
                <a:ea typeface="Liberation Sans"/>
              </a:rPr>
              <a:t>https://github.com/modestyachts/ImageNetV2</a:t>
            </a:r>
            <a:endParaRPr sz="1000"/>
          </a:p>
        </p:txBody>
      </p:sp>
      <p:sp>
        <p:nvSpPr>
          <p:cNvPr id="12" name="TextBox 11"/>
          <p:cNvSpPr txBox="1"/>
          <p:nvPr/>
        </p:nvSpPr>
        <p:spPr>
          <a:xfrm>
            <a:off x="548640" y="3822191"/>
            <a:ext cx="804672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Noto Sans CJK JP"/>
              </a:defRPr>
            </a:pPr>
            <a:r>
              <a:rPr sz="1800" b="0" lang="ja-JP">
                <a:solidFill>
                  <a:srgbClr val="303437"/>
                </a:solidFill>
                <a:latin typeface="Noto Sans CJK JP"/>
                <a:ea typeface="Noto Sans CJK JP"/>
              </a:rPr>
              <a:t>Torchvisionのモデルと公開重み</a:t>
            </a:r>
            <a:endParaRPr sz="1800"/>
          </a:p>
        </p:txBody>
      </p:sp>
      <p:sp>
        <p:nvSpPr>
          <p:cNvPr id="13" name="TextBox 12"/>
          <p:cNvSpPr txBox="1"/>
          <p:nvPr/>
        </p:nvSpPr>
        <p:spPr>
          <a:xfrm>
            <a:off x="548640" y="4224528"/>
            <a:ext cx="80467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latin typeface="Liberation Sans"/>
              </a:defRPr>
            </a:pPr>
            <a:r>
              <a:rPr sz="1000" b="0" lang="en-US">
                <a:solidFill>
                  <a:srgbClr val="626669"/>
                </a:solidFill>
                <a:latin typeface="Liberation Sans"/>
                <a:ea typeface="Liberation Sans"/>
              </a:rPr>
              <a:t>https://github.com/pytorch/vision/tree/main/torchvision/models</a:t>
            </a:r>
            <a:endParaRPr sz="1000"/>
          </a:p>
        </p:txBody>
      </p:sp>
      <p:sp>
        <p:nvSpPr>
          <p:cNvPr id="14" name="TextBox 13"/>
          <p:cNvSpPr txBox="1"/>
          <p:nvPr/>
        </p:nvSpPr>
        <p:spPr>
          <a:xfrm>
            <a:off x="548640" y="4434840"/>
            <a:ext cx="804672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latin typeface="Noto Sans CJK JP"/>
              </a:defRPr>
            </a:pPr>
            <a:r>
              <a:rPr sz="1800" b="0" lang="ja-JP">
                <a:solidFill>
                  <a:srgbClr val="303437"/>
                </a:solidFill>
                <a:latin typeface="Noto Sans CJK JP"/>
                <a:ea typeface="Noto Sans CJK JP"/>
              </a:rPr>
              <a:t>カテゴリ別の画像例</a:t>
            </a:r>
            <a:endParaRPr sz="1800"/>
          </a:p>
        </p:txBody>
      </p:sp>
      <p:sp>
        <p:nvSpPr>
          <p:cNvPr id="15" name="TextBox 14"/>
          <p:cNvSpPr txBox="1"/>
          <p:nvPr/>
        </p:nvSpPr>
        <p:spPr>
          <a:xfrm>
            <a:off x="548640" y="4837176"/>
            <a:ext cx="80467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latin typeface="Liberation Sans"/>
              </a:defRPr>
            </a:pPr>
            <a:r>
              <a:rPr sz="1000" b="0" lang="en-US">
                <a:solidFill>
                  <a:srgbClr val="626669"/>
                </a:solidFill>
                <a:latin typeface="Liberation Sans"/>
                <a:ea typeface="Liberation Sans"/>
              </a:rPr>
              <a:t>https://github.com/EliSchwartz/imagenet-sample-images</a:t>
            </a:r>
            <a:endParaRPr sz="1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