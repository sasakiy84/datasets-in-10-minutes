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80" r:id="rId30"/>
    <p:sldId id="281" r:id="rId31"/>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2" r:id="rId52"/>
    <p:sldId id="304" r:id="rId54"/>
    <p:sldId id="305" r:id="rId55"/>
    <p:sldId id="306" r:id="rId56"/>
    <p:sldId id="308" r:id="rId58"/>
    <p:sldId id="309" r:id="rId59"/>
    <p:sldId id="310" r:id="rId6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2"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joelniklaus/lextrem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3.findings-emnlp.200/" TargetMode="External"/><Relationship Id="rId3" Type="http://schemas.openxmlformats.org/officeDocument/2006/relationships/hyperlink" Target="https://github.com/stanford-crfm/helm/blob/v0.3.0/src/helm/benchmark/scenarios/lextreme_scenario.py"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3.findings-emnlp.200/"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joelniklaus/german_argument_mining/tree/576b52004ed7" TargetMode="External"/><Relationship Id="rId3" Type="http://schemas.openxmlformats.org/officeDocument/2006/relationships/hyperlink" Target="https://huggingface.co/datasets/joelniklaus/german_argument_minin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joelniklaus/online_terms_of_service/tree/448c5caa985b" TargetMode="External"/><Relationship Id="rId3" Type="http://schemas.openxmlformats.org/officeDocument/2006/relationships/hyperlink" Target="https://huggingface.co/datasets/joelniklaus/online_terms_of_servi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joelniklaus/legalnero/tree/a072e8508049" TargetMode="External"/><Relationship Id="rId3" Type="http://schemas.openxmlformats.org/officeDocument/2006/relationships/hyperlink" Target="https://huggingface.co/datasets/joelniklaus/legalnero"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scenarios/lextreme_scenario.py" TargetMode="External"/><Relationship Id="rId3" Type="http://schemas.openxmlformats.org/officeDocument/2006/relationships/hyperlink" Target="https://huggingface.co/datasets/joelniklaus/legalnero/tree/a072e8508049" TargetMode="External"/><Relationship Id="rId4" Type="http://schemas.openxmlformats.org/officeDocument/2006/relationships/hyperlink" Target="https://huggingface.co/datasets/joelniklaus/lextrem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3.findings-emnlp.200/" TargetMode="External"/><Relationship Id="rId3" Type="http://schemas.openxmlformats.org/officeDocument/2006/relationships/hyperlink" Target="https://huggingface.co/datasets/joelniklaus/lextreme/blob/65f6046b8083/lextreme.py"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3.findings-emnlp.20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3.findings-emnlp.200/"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3.findings-emnlp.200/"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3.findings-emnlp.200/" TargetMode="External"/><Relationship Id="rId3" Type="http://schemas.openxmlformats.org/officeDocument/2006/relationships/hyperlink" Target="https://huggingface.co/datasets/joelniklaus/lextreme/blob/65f6046b8083/lextreme.p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3.findings-emnlp.200/"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3.findings-emnlp.200/"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3.findings-emnlp.200/"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joelniklaus/lextreme/blob/65f6046b8083/lextreme.py" TargetMode="External"/><Relationship Id="rId3" Type="http://schemas.openxmlformats.org/officeDocument/2006/relationships/hyperlink" Target="https://huggingface.co/datasets/joelniklaus/lextreme"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joelniklaus/lextreme" TargetMode="External"/><Relationship Id="rId3" Type="http://schemas.openxmlformats.org/officeDocument/2006/relationships/hyperlink" Target="https://github.com/stanford-crfm/helm/blob/v0.3.0/LICENSE"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joelniklaus/lextreme" TargetMode="External"/><Relationship Id="rId3" Type="http://schemas.openxmlformats.org/officeDocument/2006/relationships/hyperlink" Target="https://github.com/stanford-crfm/helm/blob/v0.3.0/src/helm/benchmark/scenarios/lextreme_scenario.py"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3.findings-emnlp.200/" TargetMode="External"/><Relationship Id="rId3" Type="http://schemas.openxmlformats.org/officeDocument/2006/relationships/hyperlink" Target="https://crfm.stanford.edu/helm/classic/v0.4.0/#/groups/lextreme"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joelniklaus/german_argument_mining/tree/576b52004ed7" TargetMode="External"/><Relationship Id="rId3" Type="http://schemas.openxmlformats.org/officeDocument/2006/relationships/hyperlink" Target="https://huggingface.co/datasets/joelniklaus/german_argument_mining"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joelniklaus/german_argument_mining/tree/576b52004ed7" TargetMode="External"/><Relationship Id="rId3" Type="http://schemas.openxmlformats.org/officeDocument/2006/relationships/hyperlink" Target="https://huggingface.co/datasets/joelniklaus/german_argument_mining"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joelniklaus/online_terms_of_service/tree/448c5caa985b" TargetMode="External"/><Relationship Id="rId3" Type="http://schemas.openxmlformats.org/officeDocument/2006/relationships/hyperlink" Target="https://huggingface.co/datasets/joelniklaus/online_terms_of_service"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joelniklaus/online_terms_of_service/tree/448c5caa985b" TargetMode="External"/><Relationship Id="rId3" Type="http://schemas.openxmlformats.org/officeDocument/2006/relationships/hyperlink" Target="https://huggingface.co/datasets/joelniklaus/online_terms_of_service"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joelniklaus/covid19_emergency_event/tree/bba0491bc1ba" TargetMode="External"/><Relationship Id="rId3" Type="http://schemas.openxmlformats.org/officeDocument/2006/relationships/hyperlink" Target="https://huggingface.co/datasets/joelniklaus/covid19_emergency_event"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joelniklaus/covid19_emergency_event/tree/bba0491bc1ba" TargetMode="External"/><Relationship Id="rId3" Type="http://schemas.openxmlformats.org/officeDocument/2006/relationships/hyperlink" Target="https://huggingface.co/datasets/joelniklaus/covid19_emergency_event"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joelniklaus/covid19_emergency_event/tree/bba0491bc1ba" TargetMode="External"/><Relationship Id="rId3" Type="http://schemas.openxmlformats.org/officeDocument/2006/relationships/hyperlink" Target="https://huggingface.co/datasets/joelniklaus/covid19_emergency_event"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joelniklaus/greek_legal_ner/tree/e2bc5fd22217" TargetMode="External"/><Relationship Id="rId3" Type="http://schemas.openxmlformats.org/officeDocument/2006/relationships/hyperlink" Target="https://huggingface.co/datasets/joelniklaus/greek_legal_ner"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joelniklaus/brazilian_court_decisions/tree/e937c2db8eab" TargetMode="External"/><Relationship Id="rId3" Type="http://schemas.openxmlformats.org/officeDocument/2006/relationships/hyperlink" Target="https://huggingface.co/datasets/joelniklaus/brazilian_court_decisions"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joelniklaus/brazilian_court_decisions/tree/e937c2db8eab" TargetMode="External"/><Relationship Id="rId3" Type="http://schemas.openxmlformats.org/officeDocument/2006/relationships/hyperlink" Target="https://huggingface.co/datasets/joelniklaus/brazilian_court_decisions"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3.findings-emnlp.200/"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3.findings-emnlp.200/"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3.findings-emnlp.200/"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joelniklaus/lextreme/blob/65f6046b8083/lextreme.py" TargetMode="External"/><Relationship Id="rId3" Type="http://schemas.openxmlformats.org/officeDocument/2006/relationships/hyperlink" Target="https://github.com/stanford-crfm/helm/blob/v0.3.0/src/helm/benchmark/scenarios/lextreme_scenario.py" TargetMode="External"/><Relationship Id="rId4" Type="http://schemas.openxmlformats.org/officeDocument/2006/relationships/hyperlink" Target="https://huggingface.co/datasets/joelniklaus/lextreme"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joelniklaus/lextreme/blob/65f6046b8083/lextreme.py" TargetMode="External"/><Relationship Id="rId3" Type="http://schemas.openxmlformats.org/officeDocument/2006/relationships/hyperlink" Target="https://github.com/stanford-crfm/helm/blob/v0.3.0/src/helm/benchmark/scenarios/lextreme_scenario.py" TargetMode="External"/><Relationship Id="rId4" Type="http://schemas.openxmlformats.org/officeDocument/2006/relationships/hyperlink" Target="https://huggingface.co/datasets/joelniklaus/lextreme"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3.findings-emnlp.200/" TargetMode="External"/><Relationship Id="rId3" Type="http://schemas.openxmlformats.org/officeDocument/2006/relationships/hyperlink" Target="https://github.com/stanford-crfm/helm/blob/v0.3.0/src/helm/benchmark/scenarios/lextreme_scenario.py"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3.findings-emnlp.200/" TargetMode="External"/><Relationship Id="rId3" Type="http://schemas.openxmlformats.org/officeDocument/2006/relationships/hyperlink" Target="https://huggingface.co/datasets/joelniklaus/lextreme"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i.org/10.5220/0010187305150521" TargetMode="External"/><Relationship Id="rId3" Type="http://schemas.openxmlformats.org/officeDocument/2006/relationships/hyperlink" Target="https://aclanthology.org/2021.nllp-1.1/"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1.nllp-1.5/" TargetMode="External"/><Relationship Id="rId3" Type="http://schemas.openxmlformats.org/officeDocument/2006/relationships/hyperlink" Target="https://doi.org/10.5281/zenodo.4922385"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joelniklaus/greek_legal_ner" TargetMode="External"/><Relationship Id="rId3" Type="http://schemas.openxmlformats.org/officeDocument/2006/relationships/hyperlink" Target="https://doi.org/10.7717/peerj-cs.904"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544536"/>
            <a:ext cx="8046720" cy="1004570"/>
          </a:xfrm>
        </p:spPr>
        <p:txBody>
          <a:bodyPr wrap="square" lIns="0" rIns="0" tIns="0" bIns="10160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LEXTREME</a:t>
            </a:r>
          </a:p>
        </p:txBody>
      </p:sp>
      <p:sp>
        <p:nvSpPr>
          <p:cNvPr id="3" name="Subtitle 2"/>
          <p:cNvSpPr>
            <a:spLocks noGrp="1"/>
          </p:cNvSpPr>
          <p:nvPr>
            <p:ph type="subTitle" idx="1"/>
          </p:nvPr>
        </p:nvSpPr>
        <p:spPr>
          <a:xfrm>
            <a:off x="548640" y="2554186"/>
            <a:ext cx="8046720" cy="1370965"/>
          </a:xfrm>
        </p:spPr>
        <p:txBody>
          <a:bodyPr lIns="0" rIns="0" tIns="0" bIns="381000">
            <a:noAutofit/>
          </a:bodyPr>
          <a:lstStyle/>
          <a:p>
            <a:pPr algn="ctr">
              <a:lnSpc>
                <a:spcPts val="3400"/>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A Multi-Lingual and Multi-Task Benchmark</a:t>
            </a:r>
          </a:p>
          <a:p>
            <a:pPr algn="ctr">
              <a:lnSpc>
                <a:spcPts val="3400"/>
              </a:lnSpc>
              <a:spcBef>
                <a:spcPts val="0"/>
              </a:spcBef>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for the Legal Domain</a:t>
            </a:r>
          </a:p>
          <a:p>
            <a:pPr algn="ctr">
              <a:lnSpc>
                <a:spcPts val="3400"/>
              </a:lnSpc>
              <a:spcBef>
                <a:spcPts val="0"/>
              </a:spcBef>
              <a:spcAft>
                <a:spcPts val="0"/>
              </a:spcAft>
              <a:buNone/>
              <a:defRPr sz="2200" b="0">
                <a:solidFill>
                  <a:srgbClr val="303437"/>
                </a:solidFill>
                <a:latin typeface="Noto Sans"/>
              </a:defRPr>
            </a:pPr>
            <a:r>
              <a:rPr sz="2200" b="0" lang="ja-JP" altLang="en-US">
                <a:solidFill>
                  <a:srgbClr val="303437"/>
                </a:solidFill>
                <a:latin typeface="Noto Sans"/>
                <a:ea typeface="Noto Sans CJK JP"/>
                <a:cs typeface="Noto Sans"/>
              </a:rPr>
              <a:t>多言語の法律文書を、分類と固有表現認識で読み取る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公式配布ページ：LEXTREME</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LEXTREME</a:t>
            </a:r>
          </a:p>
        </p:txBody>
      </p:sp>
      <p:pic>
        <p:nvPicPr>
          <p:cNvPr id="4" name="Picture 3" descr="official-site.png"/>
          <p:cNvPicPr>
            <a:picLocks noChangeAspect="1"/>
          </p:cNvPicPr>
          <p:nvPr/>
        </p:nvPicPr>
        <p:blipFill>
          <a:blip r:embed="rId2"/>
          <a:stretch>
            <a:fillRect/>
          </a:stretch>
        </p:blipFill>
        <p:spPr>
          <a:xfrm>
            <a:off x="1977255" y="1481328"/>
            <a:ext cx="5189488" cy="3063240"/>
          </a:xfrm>
          <a:prstGeom prst="rect">
            <a:avLst/>
          </a:prstGeom>
        </p:spPr>
      </p:pic>
      <p:sp>
        <p:nvSpPr>
          <p:cNvPr id="5"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(n.d.). LEXTREME dataset card. 参照2026-10-19。</a:t>
            </a:r>
          </a:p>
          <a:p>
            <a:pPr>
              <a:lnSpc>
                <a:spcPts val="1200"/>
              </a:lnSpc>
              <a:spcBef>
                <a:spcPts val="0"/>
              </a:spcBef>
              <a:spcAft>
                <a:spcPts val="0"/>
              </a:spcAft>
            </a:pPr>
            <a:r>
              <a:rPr sz="830">
                <a:latin typeface="Noto Sans CJK JP"/>
                <a:hlinkClick r:id="rId3"/>
              </a:rPr>
              <a:t>https://huggingface.co/datasets/joelniklaus/lextreme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法律文書の三つの読み取り方</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データ・言語・法域の広がり</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評価方法とモデルの成績</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入手方法と利用条件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法律文書の三つの読み取り方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法律文書の三つの読み取り方</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法律文書の理解を多言語で測る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LEXTREMEは、既存の裁判例・法令・利用規約などを共通の形式で利用できるようにした、多言語のデータセット群。Niklausらが2023年に公開した。</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2023年版は11データセットを18設定に分けて評価する。単一ラベル分類8設定、複数ラベル分類5設定、固有表現認識5設定からなる。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判決の結果、条項の話題、日付や法令名など、異なる粒度の情報を扱う。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法律文書の三つの読み取り方</a:t>
            </a:r>
          </a:p>
        </p:txBody>
      </p:sp>
      <p:sp>
        <p:nvSpPr>
          <p:cNvPr id="5"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(2023). LEXTREME: A Multi-Lingual and Multi-Task Benchmark for the Legal Domain. Findings of EMNLP.</a:t>
            </a:r>
          </a:p>
          <a:p>
            <a:pPr>
              <a:lnSpc>
                <a:spcPts val="1200"/>
              </a:lnSpc>
              <a:spcBef>
                <a:spcPts val="0"/>
              </a:spcBef>
              <a:spcAft>
                <a:spcPts val="0"/>
              </a:spcAft>
            </a:pPr>
            <a:r>
              <a:rPr sz="830">
                <a:latin typeface="Noto Sans CJK JP"/>
                <a:hlinkClick r:id="rId2"/>
              </a:rPr>
              <a:t>https://aclanthology.org/2023.findings-emnlp.200/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何を答えるかで三つに分かれる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法律文書の三つの読み取り方</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2194560"/>
                <a:gridCol w="2743200"/>
                <a:gridCol w="31089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入力</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求める答え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単一ラベル分類</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判決や規約の文章</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カテゴリ一つ</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複数ラベル分類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規約や法令の文章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該当するカテゴリの集合</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固有表現認識</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文を分けたトークン列</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各トークンの種類</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以下では、ドイツ語の判決、英語の利用規約、ルーマニア語の法令から、三つの答え方を見る。</a:t>
            </a:r>
          </a:p>
        </p:txBody>
      </p:sp>
      <p:sp>
        <p:nvSpPr>
          <p:cNvPr id="6"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(2023). LEXTREME: A Multi-Lingual and Multi-Task Benchmark for the Legal Domain. Findings of EMNLP.</a:t>
            </a:r>
          </a:p>
          <a:p>
            <a:pPr>
              <a:lnSpc>
                <a:spcPts val="1200"/>
              </a:lnSpc>
              <a:spcBef>
                <a:spcPts val="0"/>
              </a:spcBef>
              <a:spcAft>
                <a:spcPts val="0"/>
              </a:spcAft>
            </a:pPr>
            <a:r>
              <a:rPr sz="830">
                <a:latin typeface="Noto Sans CJK JP"/>
                <a:hlinkClick r:id="rId2"/>
              </a:rPr>
              <a:t>https://aclanthology.org/2023.findings-emnlp.200/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実例1：文の結論を識別する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法律文書の三つの読み取り方</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80"/>
              </a:lnSpc>
              <a:spcBef>
                <a:spcPts val="0"/>
              </a:spcBef>
              <a:spcAft>
                <a:spcPts val="0"/>
              </a:spcAft>
              <a:buNone/>
              <a:defRPr sz="1180" b="0">
                <a:solidFill>
                  <a:srgbClr val="303437"/>
                </a:solidFill>
                <a:latin typeface="Noto Sans"/>
              </a:defRPr>
            </a:pPr>
            <a:r>
              <a:rPr sz="1180" b="0" lang="ja-JP" altLang="en-US">
                <a:solidFill>
                  <a:srgbClr val="626669"/>
                </a:solidFill>
                <a:latin typeface="Noto Sans"/>
                <a:ea typeface="Noto Sans CJK JP"/>
                <a:cs typeface="Noto Sans"/>
              </a:rPr>
              <a:t>ドイツ語 / german_argument_mining</a:t>
            </a:r>
          </a:p>
        </p:txBody>
      </p:sp>
      <p:sp>
        <p:nvSpPr>
          <p:cNvPr id="5" name="TextBox 4"/>
          <p:cNvSpPr txBox="1"/>
          <p:nvPr/>
        </p:nvSpPr>
        <p:spPr>
          <a:xfrm>
            <a:off x="548640" y="1627632"/>
            <a:ext cx="443484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入力原文（全文）</a:t>
            </a:r>
          </a:p>
        </p:txBody>
      </p:sp>
      <p:sp>
        <p:nvSpPr>
          <p:cNvPr id="6" name="TextBox 5"/>
          <p:cNvSpPr txBox="1"/>
          <p:nvPr/>
        </p:nvSpPr>
        <p:spPr>
          <a:xfrm>
            <a:off x="5166360" y="1627632"/>
            <a:ext cx="342900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日本語訳（意味）</a:t>
            </a:r>
          </a:p>
        </p:txBody>
      </p:sp>
      <p:sp>
        <p:nvSpPr>
          <p:cNvPr id="7" name="quote-frame"/>
          <p:cNvSpPr/>
          <p:nvPr/>
        </p:nvSpPr>
        <p:spPr>
          <a:xfrm>
            <a:off x="548640" y="1920240"/>
            <a:ext cx="4434840" cy="104369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386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1. Der erstmals im Berufungsverfahren gestellte Antrag zu 3. ist zulässig .</a:t>
            </a:r>
          </a:p>
        </p:txBody>
      </p:sp>
      <p:sp>
        <p:nvSpPr>
          <p:cNvPr id="8" name="quote-frame"/>
          <p:cNvSpPr/>
          <p:nvPr/>
        </p:nvSpPr>
        <p:spPr>
          <a:xfrm>
            <a:off x="5166360" y="1920240"/>
            <a:ext cx="3429000" cy="95591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1. 控訴審で初めて提出された第3の申立ては適法である。</a:t>
            </a:r>
          </a:p>
        </p:txBody>
      </p:sp>
      <p:sp>
        <p:nvSpPr>
          <p:cNvPr id="9" name="TextBox 8"/>
          <p:cNvSpPr txBox="1"/>
          <p:nvPr/>
        </p:nvSpPr>
        <p:spPr>
          <a:xfrm>
            <a:off x="594360" y="3209036"/>
            <a:ext cx="434340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正解ラベル</a:t>
            </a:r>
          </a:p>
        </p:txBody>
      </p:sp>
      <p:sp>
        <p:nvSpPr>
          <p:cNvPr id="10" name="TextBox 9"/>
          <p:cNvSpPr txBox="1"/>
          <p:nvPr/>
        </p:nvSpPr>
        <p:spPr>
          <a:xfrm>
            <a:off x="594360" y="3426219"/>
            <a:ext cx="4343400" cy="411480"/>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conclusion</a:t>
            </a:r>
          </a:p>
        </p:txBody>
      </p:sp>
      <p:sp>
        <p:nvSpPr>
          <p:cNvPr id="11" name="TextBox 10"/>
          <p:cNvSpPr txBox="1"/>
          <p:nvPr/>
        </p:nvSpPr>
        <p:spPr>
          <a:xfrm>
            <a:off x="5212080" y="3108479"/>
            <a:ext cx="3337560" cy="86868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conclusion：結論</a:t>
            </a:r>
          </a:p>
        </p:txBody>
      </p:sp>
      <p:sp>
        <p:nvSpPr>
          <p:cNvPr id="12" name="TextBox 11"/>
          <p:cNvSpPr txBox="1"/>
          <p:nvPr/>
        </p:nvSpPr>
        <p:spPr>
          <a:xfrm>
            <a:off x="594360" y="4178808"/>
            <a:ext cx="7955279" cy="402336"/>
          </a:xfrm>
          <a:prstGeom prst="rect">
            <a:avLst/>
          </a:prstGeom>
          <a:noFill/>
        </p:spPr>
        <p:txBody>
          <a:bodyPr wrap="square" lIns="0" rIns="0" tIns="0" bIns="0">
            <a:noAutofit/>
          </a:bodyPr>
          <a:lstStyle/>
          <a:p>
            <a:pPr algn="l">
              <a:lnSpc>
                <a:spcPts val="1918"/>
              </a:lnSpc>
              <a:spcBef>
                <a:spcPts val="0"/>
              </a:spcBef>
              <a:spcAft>
                <a:spcPts val="0"/>
              </a:spcAft>
              <a:buNone/>
              <a:defRPr sz="1639" b="0">
                <a:solidFill>
                  <a:srgbClr val="303437"/>
                </a:solidFill>
                <a:latin typeface="Noto Sans"/>
              </a:defRPr>
            </a:pPr>
            <a:r>
              <a:rPr sz="1639" b="0" lang="ja-JP" altLang="en-US">
                <a:solidFill>
                  <a:srgbClr val="303437"/>
                </a:solidFill>
                <a:latin typeface="Noto Sans"/>
                <a:ea typeface="Noto Sans CJK JP"/>
                <a:cs typeface="Noto Sans"/>
              </a:rPr>
              <a:t>各文が判決の議論で果たす役割を分類する。</a:t>
            </a:r>
          </a:p>
        </p:txBody>
      </p:sp>
      <p:sp>
        <p:nvSpPr>
          <p:cNvPr id="13"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(n.d.). german_argument_mining 配布データ. 参照2026-10-19。</a:t>
            </a:r>
          </a:p>
          <a:p>
            <a:pPr>
              <a:lnSpc>
                <a:spcPts val="1200"/>
              </a:lnSpc>
              <a:spcBef>
                <a:spcPts val="0"/>
              </a:spcBef>
              <a:spcAft>
                <a:spcPts val="0"/>
              </a:spcAft>
            </a:pPr>
            <a:r>
              <a:rPr sz="830">
                <a:latin typeface="Noto Sans CJK JP"/>
                <a:hlinkClick r:id="rId3"/>
              </a:rPr>
              <a:t>https://huggingface.co/datasets/joelniklaus/german_argument_mining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実例2：一つの条項に二つの話題を付ける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法律文書の三つの読み取り方</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80"/>
              </a:lnSpc>
              <a:spcBef>
                <a:spcPts val="0"/>
              </a:spcBef>
              <a:spcAft>
                <a:spcPts val="0"/>
              </a:spcAft>
              <a:buNone/>
              <a:defRPr sz="1180" b="0">
                <a:solidFill>
                  <a:srgbClr val="303437"/>
                </a:solidFill>
                <a:latin typeface="Noto Sans"/>
              </a:defRPr>
            </a:pPr>
            <a:r>
              <a:rPr sz="1180" b="0" lang="ja-JP" altLang="en-US">
                <a:solidFill>
                  <a:srgbClr val="626669"/>
                </a:solidFill>
                <a:latin typeface="Noto Sans"/>
                <a:ea typeface="Noto Sans CJK JP"/>
                <a:cs typeface="Noto Sans"/>
              </a:rPr>
              <a:t>英語 / online_terms_of_service_clause_topics</a:t>
            </a:r>
          </a:p>
        </p:txBody>
      </p:sp>
      <p:sp>
        <p:nvSpPr>
          <p:cNvPr id="5" name="TextBox 4"/>
          <p:cNvSpPr txBox="1"/>
          <p:nvPr/>
        </p:nvSpPr>
        <p:spPr>
          <a:xfrm>
            <a:off x="548640" y="1627632"/>
            <a:ext cx="443484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入力原文（全文）</a:t>
            </a:r>
          </a:p>
        </p:txBody>
      </p:sp>
      <p:sp>
        <p:nvSpPr>
          <p:cNvPr id="6" name="TextBox 5"/>
          <p:cNvSpPr txBox="1"/>
          <p:nvPr/>
        </p:nvSpPr>
        <p:spPr>
          <a:xfrm>
            <a:off x="5166360" y="1627632"/>
            <a:ext cx="342900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日本語訳（意味）</a:t>
            </a:r>
          </a:p>
        </p:txBody>
      </p:sp>
      <p:sp>
        <p:nvSpPr>
          <p:cNvPr id="7" name="quote-frame"/>
          <p:cNvSpPr/>
          <p:nvPr/>
        </p:nvSpPr>
        <p:spPr>
          <a:xfrm>
            <a:off x="548640" y="1920240"/>
            <a:ext cx="4434840" cy="16477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386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By using the Service in any way, you agree to and accept these Terms, our Privacy Notice, and any other legal notices or guidelines posted on the Site.</a:t>
            </a:r>
          </a:p>
        </p:txBody>
      </p:sp>
      <p:sp>
        <p:nvSpPr>
          <p:cNvPr id="8" name="quote-frame"/>
          <p:cNvSpPr/>
          <p:nvPr/>
        </p:nvSpPr>
        <p:spPr>
          <a:xfrm>
            <a:off x="5166360" y="1920240"/>
            <a:ext cx="3429000" cy="179398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本サービスをどのように利用した場合も、本規約、当社のプライバシー通知、本サイト上のその他の法的通知・指針に同意し、受け入れるものとします。</a:t>
            </a:r>
          </a:p>
        </p:txBody>
      </p:sp>
      <p:sp>
        <p:nvSpPr>
          <p:cNvPr id="9" name="TextBox 8"/>
          <p:cNvSpPr txBox="1"/>
          <p:nvPr/>
        </p:nvSpPr>
        <p:spPr>
          <a:xfrm>
            <a:off x="594360" y="3813556"/>
            <a:ext cx="434340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正解ラベル</a:t>
            </a:r>
          </a:p>
        </p:txBody>
      </p:sp>
      <p:sp>
        <p:nvSpPr>
          <p:cNvPr id="10" name="TextBox 9"/>
          <p:cNvSpPr txBox="1"/>
          <p:nvPr/>
        </p:nvSpPr>
        <p:spPr>
          <a:xfrm>
            <a:off x="594360" y="4030293"/>
            <a:ext cx="4343400" cy="411480"/>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7, 8</a:t>
            </a:r>
          </a:p>
        </p:txBody>
      </p:sp>
      <p:sp>
        <p:nvSpPr>
          <p:cNvPr id="11" name="TextBox 10"/>
          <p:cNvSpPr txBox="1"/>
          <p:nvPr/>
        </p:nvSpPr>
        <p:spPr>
          <a:xfrm>
            <a:off x="5212080" y="3946550"/>
            <a:ext cx="3337560" cy="86868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7：利用による契約成立／8：プライバシーを含む</a:t>
            </a:r>
          </a:p>
        </p:txBody>
      </p:sp>
      <p:sp>
        <p:nvSpPr>
          <p:cNvPr id="12"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(n.d.). online_terms_of_service 配布データ. 参照2026-10-19。</a:t>
            </a:r>
          </a:p>
          <a:p>
            <a:pPr>
              <a:lnSpc>
                <a:spcPts val="1200"/>
              </a:lnSpc>
              <a:spcBef>
                <a:spcPts val="0"/>
              </a:spcBef>
              <a:spcAft>
                <a:spcPts val="0"/>
              </a:spcAft>
            </a:pPr>
            <a:r>
              <a:rPr sz="830">
                <a:latin typeface="Noto Sans CJK JP"/>
                <a:hlinkClick r:id="rId3"/>
              </a:rPr>
              <a:t>https://huggingface.co/datasets/joelniklaus/online_terms_of_service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実例3：日付に対応するトークンを見つける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法律文書の三つの読み取り方</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80"/>
              </a:lnSpc>
              <a:spcBef>
                <a:spcPts val="0"/>
              </a:spcBef>
              <a:spcAft>
                <a:spcPts val="0"/>
              </a:spcAft>
              <a:buNone/>
              <a:defRPr sz="1180" b="0">
                <a:solidFill>
                  <a:srgbClr val="303437"/>
                </a:solidFill>
                <a:latin typeface="Noto Sans"/>
              </a:defRPr>
            </a:pPr>
            <a:r>
              <a:rPr sz="1180" b="0" lang="ja-JP" altLang="en-US">
                <a:solidFill>
                  <a:srgbClr val="626669"/>
                </a:solidFill>
                <a:latin typeface="Noto Sans"/>
                <a:ea typeface="Noto Sans CJK JP"/>
                <a:cs typeface="Noto Sans"/>
              </a:rPr>
              <a:t>ルーマニア語 / legalnero</a:t>
            </a:r>
          </a:p>
        </p:txBody>
      </p:sp>
      <p:sp>
        <p:nvSpPr>
          <p:cNvPr id="5" name="TextBox 4"/>
          <p:cNvSpPr txBox="1"/>
          <p:nvPr/>
        </p:nvSpPr>
        <p:spPr>
          <a:xfrm>
            <a:off x="548640" y="1627632"/>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入力原文：トークン列（全文）</a:t>
            </a:r>
          </a:p>
        </p:txBody>
      </p:sp>
      <p:sp>
        <p:nvSpPr>
          <p:cNvPr id="6" name="quote-frame"/>
          <p:cNvSpPr/>
          <p:nvPr/>
        </p:nvSpPr>
        <p:spPr>
          <a:xfrm>
            <a:off x="548640" y="1920240"/>
            <a:ext cx="8046720" cy="37313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3867"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"MONITORUL" "OFICIAL" "nr." "959" "din" "28" "noiembrie" "2019"</a:t>
            </a:r>
          </a:p>
        </p:txBody>
      </p:sp>
      <p:sp>
        <p:nvSpPr>
          <p:cNvPr id="7" name="TextBox 6"/>
          <p:cNvSpPr txBox="1"/>
          <p:nvPr/>
        </p:nvSpPr>
        <p:spPr>
          <a:xfrm>
            <a:off x="594360" y="2589403"/>
            <a:ext cx="7955279"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正解：対応するBIOラベル列（全文）</a:t>
            </a:r>
          </a:p>
        </p:txBody>
      </p:sp>
      <p:sp>
        <p:nvSpPr>
          <p:cNvPr id="8" name="TextBox 7"/>
          <p:cNvSpPr txBox="1"/>
          <p:nvPr/>
        </p:nvSpPr>
        <p:spPr>
          <a:xfrm>
            <a:off x="594360" y="2815601"/>
            <a:ext cx="7955279" cy="38785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"O" "O" "O" "O" "B-TIME" "I-TIME" "I-TIME" "I-TIME"</a:t>
            </a:r>
          </a:p>
        </p:txBody>
      </p:sp>
      <p:sp>
        <p:nvSpPr>
          <p:cNvPr id="9" name="TextBox 8"/>
          <p:cNvSpPr txBox="1"/>
          <p:nvPr/>
        </p:nvSpPr>
        <p:spPr>
          <a:xfrm>
            <a:off x="594360" y="3416173"/>
            <a:ext cx="7955279" cy="365760"/>
          </a:xfrm>
          <a:prstGeom prst="rect">
            <a:avLst/>
          </a:prstGeom>
          <a:noFill/>
        </p:spPr>
        <p:txBody>
          <a:bodyPr wrap="square" lIns="0" rIns="0" tIns="0" bIns="0">
            <a:noAutofit/>
          </a:bodyPr>
          <a:lstStyle/>
          <a:p>
            <a:pPr algn="l">
              <a:lnSpc>
                <a:spcPts val="2164"/>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意味：官報 第959号、2019年11月28日付。</a:t>
            </a:r>
          </a:p>
        </p:txBody>
      </p:sp>
      <p:sp>
        <p:nvSpPr>
          <p:cNvPr id="10" name="TextBox 9"/>
          <p:cNvSpPr txBox="1"/>
          <p:nvPr/>
        </p:nvSpPr>
        <p:spPr>
          <a:xfrm>
            <a:off x="594360" y="3864229"/>
            <a:ext cx="7955279" cy="384048"/>
          </a:xfrm>
          <a:prstGeom prst="rect">
            <a:avLst/>
          </a:prstGeom>
          <a:noFill/>
        </p:spPr>
        <p:txBody>
          <a:bodyPr wrap="square" lIns="0" rIns="0" tIns="0" bIns="0">
            <a:noAutofit/>
          </a:bodyPr>
          <a:lstStyle/>
          <a:p>
            <a:pPr algn="l">
              <a:lnSpc>
                <a:spcPts val="1965"/>
              </a:lnSpc>
              <a:spcBef>
                <a:spcPts val="0"/>
              </a:spcBef>
              <a:spcAft>
                <a:spcPts val="0"/>
              </a:spcAft>
              <a:buNone/>
              <a:defRPr sz="1680" b="0">
                <a:solidFill>
                  <a:srgbClr val="303437"/>
                </a:solidFill>
                <a:latin typeface="Noto Sans"/>
              </a:defRPr>
            </a:pPr>
            <a:r>
              <a:rPr sz="1680" b="0" lang="ja-JP" altLang="en-US">
                <a:solidFill>
                  <a:srgbClr val="303437"/>
                </a:solidFill>
                <a:latin typeface="Noto Sans"/>
                <a:ea typeface="Noto Sans CJK JP"/>
                <a:cs typeface="Noto Sans"/>
              </a:rPr>
              <a:t>原注釈では「din」から日付末尾までが時間表現。Oは対象外を表す。</a:t>
            </a:r>
          </a:p>
        </p:txBody>
      </p:sp>
      <p:sp>
        <p:nvSpPr>
          <p:cNvPr id="11"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(n.d.). legalnero 配布データ. 参照2026-10-19。</a:t>
            </a:r>
          </a:p>
          <a:p>
            <a:pPr>
              <a:lnSpc>
                <a:spcPts val="1200"/>
              </a:lnSpc>
              <a:spcBef>
                <a:spcPts val="0"/>
              </a:spcBef>
              <a:spcAft>
                <a:spcPts val="0"/>
              </a:spcAft>
            </a:pPr>
            <a:r>
              <a:rPr sz="830">
                <a:latin typeface="Noto Sans CJK JP"/>
                <a:hlinkClick r:id="rId3"/>
              </a:rPr>
              <a:t>https://huggingface.co/datasets/joelniklaus/legalnero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日付を構成する語と、注釈を対応させる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固有表現認識では、トークンごとに種類を付ける。BIO形式のB-は表現の開始、I-は継続、Oは対象外を表す。</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実例3では、日付を導く前置詞din（「〜の」）から日付の末尾までがTIMEと注釈されている。日付の数字だけでなく、前置詞も同じ表現に含める。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日本語訳は文の意味を示す。トークンとBIOラベルは、対応するルーマニア語の語順で読む。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法律文書の三つの読み取り方</a:t>
            </a:r>
          </a:p>
        </p:txBody>
      </p:sp>
      <p:sp>
        <p:nvSpPr>
          <p:cNvPr id="5"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(n.d.). LEXTREME dataset card and loader. 参照2026-10-19。</a:t>
            </a:r>
          </a:p>
          <a:p>
            <a:pPr>
              <a:lnSpc>
                <a:spcPts val="1200"/>
              </a:lnSpc>
              <a:spcBef>
                <a:spcPts val="0"/>
              </a:spcBef>
              <a:spcAft>
                <a:spcPts val="0"/>
              </a:spcAft>
            </a:pPr>
            <a:r>
              <a:rPr sz="830">
                <a:latin typeface="Noto Sans CJK JP"/>
                <a:hlinkClick r:id="rId4"/>
              </a:rPr>
              <a:t>https://huggingface.co/datasets/joelniklaus/lextreme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データ・言語・法域の広がり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データ・言語・法域の広がり</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既存データを選び、共通形式にそろえる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法律分野の言語処理に関する108件の論文を調べ、公開・再配布の条件、注釈の作り方、法的課題との関係から11データセットを選んだ。3人の著者が候補を調べ、意見の違いは話合いと多数決で解決した。</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元の文章、ラベル、言語情報を共通の形式にそろえ、train・validation・testとして利用できるようにする。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一つのデータから、判決の結果と全員一致、法典の大分類と小分類などを予測する設定を用意した。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データ・言語・法域の広がり</a:t>
            </a:r>
          </a:p>
        </p:txBody>
      </p:sp>
      <p:sp>
        <p:nvSpPr>
          <p:cNvPr id="5"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(2023). LEXTREME: A Multi-Lingual and Multi-Task Benchmark for the Legal Domain. Findings of EMNLP.</a:t>
            </a:r>
          </a:p>
          <a:p>
            <a:pPr>
              <a:lnSpc>
                <a:spcPts val="1200"/>
              </a:lnSpc>
              <a:spcBef>
                <a:spcPts val="0"/>
              </a:spcBef>
              <a:spcAft>
                <a:spcPts val="0"/>
              </a:spcAft>
            </a:pPr>
            <a:r>
              <a:rPr sz="830">
                <a:latin typeface="Noto Sans CJK JP"/>
                <a:hlinkClick r:id="rId2"/>
              </a:rPr>
              <a:t>https://aclanthology.org/2023.findings-emnlp.200/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分類で使う文書と予測対象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データ・言語・法域の広がり</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3246120"/>
                <a:gridCol w="2103120"/>
                <a:gridCol w="2697480"/>
              </a:tblGrid>
              <a:tr h="420624">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構成データ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文書・法域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予測対象／設定数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Brazilian Court Decisions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ブラジルの裁判例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判決結果・全員一致／2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German Argument Mining</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ドイツの裁判例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文の議論上の役割／1</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Greek Legal Code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ギリシャの法令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法典の3階層／3</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Swiss Judgment Prediction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スイスの裁判例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上訴の認容・棄却／1</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Online Terms of Service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EUの利用規約</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不公正さ・条項の話題／2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Niklaus et al. (2023). LEXTREME: A Multi-Lingual and Multi-Task Benchmark for the Legal Domain. Findings of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https://aclanthology.org/2023.findings-emnlp.200/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政策措置・EU法・固有表現も含む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データ・言語・法域の広がり</a:t>
            </a:r>
          </a:p>
        </p:txBody>
      </p:sp>
      <p:graphicFrame>
        <p:nvGraphicFramePr>
          <p:cNvPr id="4" name="Table 3"/>
          <p:cNvGraphicFramePr>
            <a:graphicFrameLocks noGrp="1"/>
          </p:cNvGraphicFramePr>
          <p:nvPr/>
        </p:nvGraphicFramePr>
        <p:xfrm>
          <a:off x="548640" y="1508760"/>
          <a:ext cx="8046720" cy="2688336"/>
        </p:xfrm>
        <a:graphic>
          <a:graphicData uri="http://schemas.openxmlformats.org/drawingml/2006/table">
            <a:tbl>
              <a:tblPr firstRow="0" bandRow="0"/>
              <a:tblGrid>
                <a:gridCol w="3063240"/>
                <a:gridCol w="3794760"/>
                <a:gridCol w="1188720"/>
              </a:tblGrid>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構成データ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文書・範囲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設定数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COVID-19 Emergency Event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各国のCOVID-19対策文書</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MultiEURLEX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EU法のEUROVOC概念</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Greek Legal NER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ギリシャの法令・固有表現</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LegalNERo</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ルーマニアの法令・固有表現</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LeNER-Br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ブラジルの法律文書・固有表現</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MAPA</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EU法・粗い／細かい固有表現</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Niklaus et al. (2023). LEXTREME: A Multi-Lingual and Multi-Task Benchmark for the Legal Domain. Findings of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https://aclanthology.org/2023.findings-emnlp.200/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複数の言語と法域を横断する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スイスの判決はドイツ語・フランス語・イタリア語を含む。一つの法域に複数の言語があり、同じ言語が複数の法域で使われる。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MultiEURLEXとMAPAは複数のEU公用語を含む。法律分野のモデルを、英語以外にも広げて評価できる。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2023年版の言語別総合得点は24のEU言語を対象とする。COVID-19対策データには、それに加えてノルウェー語の文書も含まれる。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データ・言語・法域の広がり</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Niklaus et al. (2023). LEXTREME: A Multi-Lingual and Multi-Task Benchmark for the Legal Domain. Findings of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https://aclanthology.org/2023.findings-emnlp.200/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同じ文書を、異なる観点から分類する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Greek Legal Codeでは、法令をvolume・chapter・subjectという3階層のカテゴリに分類する。細かい階層ほどラベルの候補が多くなる。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Online Terms of Serviceでは、条項の不公正さの程度を一つ選ぶ設定と、該当する話題をすべて選ぶ設定がある。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同じ入力でも、予測するラベルの種類や数によって、調べられる能力が変わる。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データ・言語・法域の広がり</a:t>
            </a:r>
          </a:p>
        </p:txBody>
      </p:sp>
      <p:sp>
        <p:nvSpPr>
          <p:cNvPr id="5"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(2023). LEXTREME: A Multi-Lingual and Multi-Task Benchmark for the Legal Domain. Findings of EMNLP.</a:t>
            </a:r>
          </a:p>
          <a:p>
            <a:pPr>
              <a:lnSpc>
                <a:spcPts val="1200"/>
              </a:lnSpc>
              <a:spcBef>
                <a:spcPts val="0"/>
              </a:spcBef>
              <a:spcAft>
                <a:spcPts val="0"/>
              </a:spcAft>
            </a:pPr>
            <a:r>
              <a:rPr sz="830">
                <a:latin typeface="Noto Sans CJK JP"/>
                <a:hlinkClick r:id="rId2"/>
              </a:rPr>
              <a:t>https://aclanthology.org/2023.findings-emnlp.200/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評価方法とモデルの成績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評価方法とモデルの成績</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各課題で学習し、macro-F1で評価する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2023年の基準実験は、事前学習済みモデルを各設定の学習データで追加学習し、testのmacro-F1で評価した。3試行の結果をまとめている。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macro-F1は、ラベルごとに求めたF1を平均する。件数の少ないラベルにも、同じ重みを与える。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単一ラベル分類ではGreek Legal Codeを除き、少数クラスの学習例を繰り返し使う。長い文書は短い区間に分けて読み、区間の情報をまとめる階層型モデルで処理する。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評価方法とモデルの成績</a:t>
            </a:r>
          </a:p>
        </p:txBody>
      </p:sp>
      <p:sp>
        <p:nvSpPr>
          <p:cNvPr id="5"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(2023). LEXTREME: A Multi-Lingual and Multi-Task Benchmark for the Legal Domain. Findings of EMNLP.</a:t>
            </a:r>
          </a:p>
          <a:p>
            <a:pPr>
              <a:lnSpc>
                <a:spcPts val="1200"/>
              </a:lnSpc>
              <a:spcBef>
                <a:spcPts val="0"/>
              </a:spcBef>
              <a:spcAft>
                <a:spcPts val="0"/>
              </a:spcAft>
            </a:pPr>
            <a:r>
              <a:rPr sz="830">
                <a:latin typeface="Noto Sans CJK JP"/>
                <a:hlinkClick r:id="rId2"/>
              </a:rPr>
              <a:t>https://aclanthology.org/2023.findings-emnlp.200/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データ別と、言語別の得点をまとめる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データ別の集約では、各設定に含まれる言語、データセット内の設定、11データセットの順に得点をまとめる。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言語別の集約では、各言語について設定とデータセットをまとめ、その後に24言語を集約する。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いずれも低い得点を重く捉える調和平均を使う。最終LEXTREME得点は二つの集約得点の調和平均で、データの規模と使用言語の偏りを抑えて比較する。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評価方法とモデルの成績</a:t>
            </a:r>
          </a:p>
        </p:txBody>
      </p:sp>
      <p:sp>
        <p:nvSpPr>
          <p:cNvPr id="5"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(2023). LEXTREME: A Multi-Lingual and Multi-Task Benchmark for the Legal Domain. Findings of EMNLP.</a:t>
            </a:r>
          </a:p>
          <a:p>
            <a:pPr>
              <a:lnSpc>
                <a:spcPts val="1200"/>
              </a:lnSpc>
              <a:spcBef>
                <a:spcPts val="0"/>
              </a:spcBef>
              <a:spcAft>
                <a:spcPts val="0"/>
              </a:spcAft>
            </a:pPr>
            <a:r>
              <a:rPr sz="830">
                <a:latin typeface="Noto Sans CJK JP"/>
                <a:hlinkClick r:id="rId2"/>
              </a:rPr>
              <a:t>https://aclanthology.org/2023.findings-emnlp.200/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多言語モデルの成績には、改善の余地が残る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評価方法とモデルの成績</a:t>
            </a:r>
          </a:p>
        </p:txBody>
      </p:sp>
      <p:graphicFrame>
        <p:nvGraphicFramePr>
          <p:cNvPr id="4" name="Table 3"/>
          <p:cNvGraphicFramePr>
            <a:graphicFrameLocks noGrp="1"/>
          </p:cNvGraphicFramePr>
          <p:nvPr/>
        </p:nvGraphicFramePr>
        <p:xfrm>
          <a:off x="548640" y="1305560"/>
          <a:ext cx="8046720" cy="2523744"/>
        </p:xfrm>
        <a:graphic>
          <a:graphicData uri="http://schemas.openxmlformats.org/drawingml/2006/table">
            <a:tbl>
              <a:tblPr firstRow="0" bandRow="0"/>
              <a:tblGrid>
                <a:gridCol w="3657600"/>
                <a:gridCol w="2194560"/>
                <a:gridCol w="219456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多言語モデル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データ別の集約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言語別の集約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MiniLM</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19.9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18.1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DistilBERT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43.2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31.9</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mDeBERTa v3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44.1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34.8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XLM-R base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36.8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19.7</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XLM-R large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48.5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36.0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2023年の基準実験。各設定で追加学習した3試行のmacro-F1を集約し、0〜100で表示する。</a:t>
            </a:r>
          </a:p>
        </p:txBody>
      </p:sp>
      <p:sp>
        <p:nvSpPr>
          <p:cNvPr id="6"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(2023). LEXTREME: A Multi-Lingual and Multi-Task Benchmark for the Legal Domain. Findings of EMNLP.</a:t>
            </a:r>
          </a:p>
          <a:p>
            <a:pPr>
              <a:lnSpc>
                <a:spcPts val="1200"/>
              </a:lnSpc>
              <a:spcBef>
                <a:spcPts val="0"/>
              </a:spcBef>
              <a:spcAft>
                <a:spcPts val="0"/>
              </a:spcAft>
            </a:pPr>
            <a:r>
              <a:rPr sz="830">
                <a:latin typeface="Noto Sans CJK JP"/>
                <a:hlinkClick r:id="rId2"/>
              </a:rPr>
              <a:t>https://aclanthology.org/2023.findings-emnlp.200/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入手方法と利用条件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入手方法と利用条件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公開JSONLから、文章とラベルを読む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入手方法と利用条件</a:t>
            </a:r>
          </a:p>
        </p:txBody>
      </p:sp>
      <p:sp>
        <p:nvSpPr>
          <p:cNvPr id="4" name="code-frame"/>
          <p:cNvSpPr/>
          <p:nvPr/>
        </p:nvSpPr>
        <p:spPr>
          <a:xfrm>
            <a:off x="548640" y="1394460"/>
            <a:ext cx="8046720" cy="236368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254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Liberation Mono"/>
                <a:ea typeface="Noto Sans CJK JP"/>
                <a:cs typeface="Liberation Mono"/>
              </a:rPr>
              <a:t>import json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Liberation Mono"/>
                <a:ea typeface="Noto Sans CJK JP"/>
                <a:cs typeface="Liberation Mono"/>
              </a:rPr>
              <a:t>from urllib.request import urlopen</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Liberation Mono"/>
                <a:ea typeface="Noto Sans CJK JP"/>
                <a:cs typeface="Liberation Mono"/>
              </a:rPr>
              <a:t>base = "https://huggingface.co/datasets/"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Liberation Mono"/>
                <a:ea typeface="Noto Sans CJK JP"/>
                <a:cs typeface="Liberation Mono"/>
              </a:rPr>
              <a:t>path = "joelniklaus/german_argument_mining/resolve/"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Liberation Mono"/>
                <a:ea typeface="Noto Sans CJK JP"/>
                <a:cs typeface="Liberation Mono"/>
              </a:rPr>
              <a:t>with urlopen(base + path + "main/test.jsonl") as f:</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Liberation Mono"/>
                <a:ea typeface="Noto Sans CJK JP"/>
                <a:cs typeface="Liberation Mono"/>
              </a:rPr>
              <a:t>    row = json.loads(next(f))</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Liberation Mono"/>
                <a:ea typeface="Noto Sans CJK JP"/>
                <a:cs typeface="Liberation Mono"/>
              </a:rPr>
              <a:t>print(row["input_sentence"])</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Liberation Mono"/>
                <a:ea typeface="Noto Sans CJK JP"/>
                <a:cs typeface="Liberation Mono"/>
              </a:rPr>
              <a:t>print(row["label"])</a:t>
            </a:r>
          </a:p>
        </p:txBody>
      </p:sp>
      <p:sp>
        <p:nvSpPr>
          <p:cNvPr id="5" name="TextBox 4"/>
          <p:cNvSpPr txBox="1"/>
          <p:nvPr/>
        </p:nvSpPr>
        <p:spPr>
          <a:xfrm>
            <a:off x="594360" y="3962400"/>
            <a:ext cx="7955279" cy="60960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German Argument Miningのtestから、最初の一文と議論上の役割ラベルを表示する。</a:t>
            </a:r>
          </a:p>
        </p:txBody>
      </p:sp>
      <p:sp>
        <p:nvSpPr>
          <p:cNvPr id="6"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(n.d.). LEXTREME dataset card and loader. 参照2026-10-19。</a:t>
            </a:r>
          </a:p>
          <a:p>
            <a:pPr>
              <a:lnSpc>
                <a:spcPts val="1200"/>
              </a:lnSpc>
              <a:spcBef>
                <a:spcPts val="0"/>
              </a:spcBef>
              <a:spcAft>
                <a:spcPts val="0"/>
              </a:spcAft>
            </a:pPr>
            <a:r>
              <a:rPr sz="830">
                <a:latin typeface="Noto Sans CJK JP"/>
                <a:hlinkClick r:id="rId3"/>
              </a:rPr>
              <a:t>https://huggingface.co/datasets/joelniklaus/lextreme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構成データごとに、利用条件が付く</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LEXTREMEの配布カードはCC BY 4.0を案内している。収録元の文章と注釈には、それぞれのデータセットの条件が付く。</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実例に使ったドイツ語の議論データはCC BY 4.0、COVID-19対策データはCC0。利用規約はCC BY-NC 2.5、LegalNERoはCC BY-NC-ND 4.0、Greek Legal NERはCC BY-NC-SA 4.0である。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非営利、改変、再配布に関する条件が異なる。Brazilian Court Decisionsの配布カードはライセンス情報を示していないため、利用範囲を配布元に確認する。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入手方法と利用条件</a:t>
            </a:r>
          </a:p>
        </p:txBody>
      </p:sp>
      <p:sp>
        <p:nvSpPr>
          <p:cNvPr id="5"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(n.d.). LEXTREME dataset card. 参照2026-10-19。</a:t>
            </a:r>
          </a:p>
          <a:p>
            <a:pPr>
              <a:lnSpc>
                <a:spcPts val="1200"/>
              </a:lnSpc>
              <a:spcBef>
                <a:spcPts val="0"/>
              </a:spcBef>
              <a:spcAft>
                <a:spcPts val="0"/>
              </a:spcAft>
            </a:pPr>
            <a:r>
              <a:rPr sz="830">
                <a:latin typeface="Noto Sans CJK JP"/>
                <a:hlinkClick r:id="rId2"/>
              </a:rPr>
              <a:t>https://huggingface.co/datasets/joelniklaus/lextreme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2023年版の後も、収録範囲が広がっている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この資料で紹介した構成と基準実験は、2023年の論文にある11データセット・18設定である。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現在の配布カードは、ウクライナの裁判例を3時期に分けて追加し、12データセット・21設定・25言語を案内している。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配布コードには、さらにトルコやスイスの追加設定もある。利用する課題の名称と、含まれる言語・分割は配布ページで確認できる。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入手方法と利用条件</a:t>
            </a:r>
          </a:p>
        </p:txBody>
      </p:sp>
      <p:sp>
        <p:nvSpPr>
          <p:cNvPr id="5"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(n.d.). LEXTREME dataset card. 参照2026-10-19。</a:t>
            </a:r>
          </a:p>
          <a:p>
            <a:pPr>
              <a:lnSpc>
                <a:spcPts val="1200"/>
              </a:lnSpc>
              <a:spcBef>
                <a:spcPts val="0"/>
              </a:spcBef>
              <a:spcAft>
                <a:spcPts val="0"/>
              </a:spcAft>
            </a:pPr>
            <a:r>
              <a:rPr sz="830">
                <a:latin typeface="Noto Sans CJK JP"/>
                <a:hlinkClick r:id="rId2"/>
              </a:rPr>
              <a:t>https://huggingface.co/datasets/joelniklaus/lextreme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多言語の法律文書を、共通の課題で比較する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LEXTREMEは、判決・法令・利用規約を集め、分類と固有表現認識を多言語で調べるデータセット群。</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2023年版は11データセット・18設定を用意し、ラベルごとのmacro-F1をデータ別・言語別に集約する。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公開された文章とラベルから各課題を試せる。利用する課題は、対象の言語と法域、予測するラベルに応じて選べる。構成データの利用条件は、配布元が案内している。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入手方法と利用条件</a:t>
            </a:r>
          </a:p>
        </p:txBody>
      </p:sp>
      <p:sp>
        <p:nvSpPr>
          <p:cNvPr id="5"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(2023). LEXTREME: A Multi-Lingual and Multi-Task Benchmark for the Legal Domain. Findings of EMNLP.</a:t>
            </a:r>
          </a:p>
          <a:p>
            <a:pPr>
              <a:lnSpc>
                <a:spcPts val="1200"/>
              </a:lnSpc>
              <a:spcBef>
                <a:spcPts val="0"/>
              </a:spcBef>
              <a:spcAft>
                <a:spcPts val="0"/>
              </a:spcAft>
            </a:pPr>
            <a:r>
              <a:rPr sz="830">
                <a:latin typeface="Noto Sans CJK JP"/>
                <a:hlinkClick r:id="rId2"/>
              </a:rPr>
              <a:t>https://aclanthology.org/2023.findings-emnlp.200/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686816"/>
          </a:xfrm>
        </p:spPr>
        <p:txBody>
          <a:bodyPr wrap="square" lIns="0" rIns="0" tIns="0" bIns="1016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構成データの件数とラベル</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実例4：一般的な法的判断基準を識別する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80"/>
              </a:lnSpc>
              <a:spcBef>
                <a:spcPts val="0"/>
              </a:spcBef>
              <a:spcAft>
                <a:spcPts val="0"/>
              </a:spcAft>
              <a:buNone/>
              <a:defRPr sz="1180" b="0">
                <a:solidFill>
                  <a:srgbClr val="303437"/>
                </a:solidFill>
                <a:latin typeface="Noto Sans"/>
              </a:defRPr>
            </a:pPr>
            <a:r>
              <a:rPr sz="1180" b="0" lang="ja-JP" altLang="en-US">
                <a:solidFill>
                  <a:srgbClr val="626669"/>
                </a:solidFill>
                <a:latin typeface="Noto Sans"/>
                <a:ea typeface="Noto Sans CJK JP"/>
                <a:cs typeface="Noto Sans"/>
              </a:rPr>
              <a:t>ドイツ語 / german_argument_mining</a:t>
            </a:r>
          </a:p>
        </p:txBody>
      </p:sp>
      <p:sp>
        <p:nvSpPr>
          <p:cNvPr id="5" name="TextBox 4"/>
          <p:cNvSpPr txBox="1"/>
          <p:nvPr/>
        </p:nvSpPr>
        <p:spPr>
          <a:xfrm>
            <a:off x="548640" y="1627632"/>
            <a:ext cx="443484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入力原文（全文）</a:t>
            </a:r>
          </a:p>
        </p:txBody>
      </p:sp>
      <p:sp>
        <p:nvSpPr>
          <p:cNvPr id="6" name="TextBox 5"/>
          <p:cNvSpPr txBox="1"/>
          <p:nvPr/>
        </p:nvSpPr>
        <p:spPr>
          <a:xfrm>
            <a:off x="5166360" y="1627632"/>
            <a:ext cx="342900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日本語訳（意味）</a:t>
            </a:r>
          </a:p>
        </p:txBody>
      </p:sp>
      <p:sp>
        <p:nvSpPr>
          <p:cNvPr id="7" name="quote-frame"/>
          <p:cNvSpPr/>
          <p:nvPr/>
        </p:nvSpPr>
        <p:spPr>
          <a:xfrm>
            <a:off x="548640" y="1920240"/>
            <a:ext cx="4434840" cy="99289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386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Ob eine überraschende Klausel vorliegt , ist durch Auslegung zu ermitteln .</a:t>
            </a:r>
          </a:p>
        </p:txBody>
      </p:sp>
      <p:sp>
        <p:nvSpPr>
          <p:cNvPr id="8" name="quote-frame"/>
          <p:cNvSpPr/>
          <p:nvPr/>
        </p:nvSpPr>
        <p:spPr>
          <a:xfrm>
            <a:off x="5166360" y="1920240"/>
            <a:ext cx="3429000" cy="95555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予期しない内容の条項があるかどうかは、解釈によって判断しなければならない。</a:t>
            </a:r>
          </a:p>
        </p:txBody>
      </p:sp>
      <p:sp>
        <p:nvSpPr>
          <p:cNvPr id="9" name="TextBox 8"/>
          <p:cNvSpPr txBox="1"/>
          <p:nvPr/>
        </p:nvSpPr>
        <p:spPr>
          <a:xfrm>
            <a:off x="594360" y="3209036"/>
            <a:ext cx="434340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正解ラベル</a:t>
            </a:r>
          </a:p>
        </p:txBody>
      </p:sp>
      <p:sp>
        <p:nvSpPr>
          <p:cNvPr id="10" name="TextBox 9"/>
          <p:cNvSpPr txBox="1"/>
          <p:nvPr/>
        </p:nvSpPr>
        <p:spPr>
          <a:xfrm>
            <a:off x="594360" y="3426219"/>
            <a:ext cx="4343400" cy="411480"/>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definition</a:t>
            </a:r>
          </a:p>
        </p:txBody>
      </p:sp>
      <p:sp>
        <p:nvSpPr>
          <p:cNvPr id="11" name="TextBox 10"/>
          <p:cNvSpPr txBox="1"/>
          <p:nvPr/>
        </p:nvSpPr>
        <p:spPr>
          <a:xfrm>
            <a:off x="5212080" y="3108123"/>
            <a:ext cx="3337560" cy="86868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definition：定義・抽象的な判断基準</a:t>
            </a:r>
          </a:p>
        </p:txBody>
      </p:sp>
      <p:sp>
        <p:nvSpPr>
          <p:cNvPr id="12" name="TextBox 11"/>
          <p:cNvSpPr txBox="1"/>
          <p:nvPr/>
        </p:nvSpPr>
        <p:spPr>
          <a:xfrm>
            <a:off x="594360" y="4178808"/>
            <a:ext cx="7955279" cy="402336"/>
          </a:xfrm>
          <a:prstGeom prst="rect">
            <a:avLst/>
          </a:prstGeom>
          <a:noFill/>
        </p:spPr>
        <p:txBody>
          <a:bodyPr wrap="square" lIns="0" rIns="0" tIns="0" bIns="0">
            <a:noAutofit/>
          </a:bodyPr>
          <a:lstStyle/>
          <a:p>
            <a:pPr algn="l">
              <a:lnSpc>
                <a:spcPts val="1918"/>
              </a:lnSpc>
              <a:spcBef>
                <a:spcPts val="0"/>
              </a:spcBef>
              <a:spcAft>
                <a:spcPts val="0"/>
              </a:spcAft>
              <a:buNone/>
              <a:defRPr sz="1639" b="0">
                <a:solidFill>
                  <a:srgbClr val="303437"/>
                </a:solidFill>
                <a:latin typeface="Noto Sans"/>
              </a:defRPr>
            </a:pPr>
            <a:r>
              <a:rPr sz="1639" b="0" lang="ja-JP" altLang="en-US">
                <a:solidFill>
                  <a:srgbClr val="303437"/>
                </a:solidFill>
                <a:latin typeface="Noto Sans"/>
                <a:ea typeface="Noto Sans CJK JP"/>
                <a:cs typeface="Noto Sans"/>
              </a:rPr>
              <a:t>具体的事件への当てはめではなく、判断基準を述べる文。</a:t>
            </a:r>
          </a:p>
        </p:txBody>
      </p:sp>
      <p:sp>
        <p:nvSpPr>
          <p:cNvPr id="13"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(n.d.). german_argument_mining 配布データ. 参照2026-10-19。</a:t>
            </a:r>
          </a:p>
          <a:p>
            <a:pPr>
              <a:lnSpc>
                <a:spcPts val="1200"/>
              </a:lnSpc>
              <a:spcBef>
                <a:spcPts val="0"/>
              </a:spcBef>
              <a:spcAft>
                <a:spcPts val="0"/>
              </a:spcAft>
            </a:pPr>
            <a:r>
              <a:rPr sz="830">
                <a:latin typeface="Noto Sans CJK JP"/>
                <a:hlinkClick r:id="rId3"/>
              </a:rPr>
              <a:t>https://huggingface.co/datasets/joelniklaus/german_argument_mining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実例5：具体的な事件への当てはめを識別する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80"/>
              </a:lnSpc>
              <a:spcBef>
                <a:spcPts val="0"/>
              </a:spcBef>
              <a:spcAft>
                <a:spcPts val="0"/>
              </a:spcAft>
              <a:buNone/>
              <a:defRPr sz="1180" b="0">
                <a:solidFill>
                  <a:srgbClr val="303437"/>
                </a:solidFill>
                <a:latin typeface="Noto Sans"/>
              </a:defRPr>
            </a:pPr>
            <a:r>
              <a:rPr sz="1180" b="0" lang="ja-JP" altLang="en-US">
                <a:solidFill>
                  <a:srgbClr val="626669"/>
                </a:solidFill>
                <a:latin typeface="Noto Sans"/>
                <a:ea typeface="Noto Sans CJK JP"/>
                <a:cs typeface="Noto Sans"/>
              </a:rPr>
              <a:t>ドイツ語 / german_argument_mining</a:t>
            </a:r>
          </a:p>
        </p:txBody>
      </p:sp>
      <p:sp>
        <p:nvSpPr>
          <p:cNvPr id="5" name="TextBox 4"/>
          <p:cNvSpPr txBox="1"/>
          <p:nvPr/>
        </p:nvSpPr>
        <p:spPr>
          <a:xfrm>
            <a:off x="548640" y="1627632"/>
            <a:ext cx="443484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入力原文（全文）</a:t>
            </a:r>
          </a:p>
        </p:txBody>
      </p:sp>
      <p:sp>
        <p:nvSpPr>
          <p:cNvPr id="6" name="TextBox 5"/>
          <p:cNvSpPr txBox="1"/>
          <p:nvPr/>
        </p:nvSpPr>
        <p:spPr>
          <a:xfrm>
            <a:off x="5166360" y="1627632"/>
            <a:ext cx="342900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日本語訳（意味）</a:t>
            </a:r>
          </a:p>
        </p:txBody>
      </p:sp>
      <p:sp>
        <p:nvSpPr>
          <p:cNvPr id="7" name="quote-frame"/>
          <p:cNvSpPr/>
          <p:nvPr/>
        </p:nvSpPr>
        <p:spPr>
          <a:xfrm>
            <a:off x="548640" y="1920240"/>
            <a:ext cx="4434840" cy="99289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386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Die ergänzende Darlegung der Nettovorteile ist gem. § 264 Nr. 1 ZPO unschädlich .</a:t>
            </a:r>
          </a:p>
        </p:txBody>
      </p:sp>
      <p:sp>
        <p:nvSpPr>
          <p:cNvPr id="8" name="quote-frame"/>
          <p:cNvSpPr/>
          <p:nvPr/>
        </p:nvSpPr>
        <p:spPr>
          <a:xfrm>
            <a:off x="5166360" y="1920240"/>
            <a:ext cx="3429000" cy="12349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正味の利益についての補充的な説明は、民事訴訟法第264条第1号により支障を生じさせない。</a:t>
            </a:r>
          </a:p>
        </p:txBody>
      </p:sp>
      <p:sp>
        <p:nvSpPr>
          <p:cNvPr id="9" name="TextBox 8"/>
          <p:cNvSpPr txBox="1"/>
          <p:nvPr/>
        </p:nvSpPr>
        <p:spPr>
          <a:xfrm>
            <a:off x="594360" y="3209036"/>
            <a:ext cx="434340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正解ラベル</a:t>
            </a:r>
          </a:p>
        </p:txBody>
      </p:sp>
      <p:sp>
        <p:nvSpPr>
          <p:cNvPr id="10" name="TextBox 9"/>
          <p:cNvSpPr txBox="1"/>
          <p:nvPr/>
        </p:nvSpPr>
        <p:spPr>
          <a:xfrm>
            <a:off x="594360" y="3426219"/>
            <a:ext cx="4343400" cy="411480"/>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subsumption</a:t>
            </a:r>
          </a:p>
        </p:txBody>
      </p:sp>
      <p:sp>
        <p:nvSpPr>
          <p:cNvPr id="11" name="TextBox 10"/>
          <p:cNvSpPr txBox="1"/>
          <p:nvPr/>
        </p:nvSpPr>
        <p:spPr>
          <a:xfrm>
            <a:off x="5212080" y="3387472"/>
            <a:ext cx="3337560" cy="86868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subsumption：具体的事実への当てはめ</a:t>
            </a:r>
          </a:p>
        </p:txBody>
      </p:sp>
      <p:sp>
        <p:nvSpPr>
          <p:cNvPr id="12" name="TextBox 11"/>
          <p:cNvSpPr txBox="1"/>
          <p:nvPr/>
        </p:nvSpPr>
        <p:spPr>
          <a:xfrm>
            <a:off x="594360" y="4077208"/>
            <a:ext cx="7955279" cy="503936"/>
          </a:xfrm>
          <a:prstGeom prst="rect">
            <a:avLst/>
          </a:prstGeom>
          <a:noFill/>
        </p:spPr>
        <p:txBody>
          <a:bodyPr wrap="square" lIns="0" rIns="0" tIns="0" bIns="0">
            <a:noAutofit/>
          </a:bodyPr>
          <a:lstStyle/>
          <a:p>
            <a:pPr algn="l">
              <a:lnSpc>
                <a:spcPts val="1918"/>
              </a:lnSpc>
              <a:spcBef>
                <a:spcPts val="0"/>
              </a:spcBef>
              <a:spcAft>
                <a:spcPts val="0"/>
              </a:spcAft>
              <a:buNone/>
              <a:defRPr sz="1639" b="0">
                <a:solidFill>
                  <a:srgbClr val="303437"/>
                </a:solidFill>
                <a:latin typeface="Noto Sans"/>
              </a:defRPr>
            </a:pPr>
            <a:r>
              <a:rPr sz="1639" b="0" lang="ja-JP" altLang="en-US">
                <a:solidFill>
                  <a:srgbClr val="303437"/>
                </a:solidFill>
                <a:latin typeface="Noto Sans"/>
                <a:ea typeface="Noto Sans CJK JP"/>
                <a:cs typeface="Noto Sans"/>
              </a:rPr>
              <a:t>この文は、民事訴訟法の規定を、補充的な説明が許されるかという具体的な判断に当てはめている。</a:t>
            </a:r>
          </a:p>
        </p:txBody>
      </p:sp>
      <p:sp>
        <p:nvSpPr>
          <p:cNvPr id="13"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(n.d.). german_argument_mining 配布データ. 参照2026-10-19。</a:t>
            </a:r>
          </a:p>
          <a:p>
            <a:pPr>
              <a:lnSpc>
                <a:spcPts val="1200"/>
              </a:lnSpc>
              <a:spcBef>
                <a:spcPts val="0"/>
              </a:spcBef>
              <a:spcAft>
                <a:spcPts val="0"/>
              </a:spcAft>
            </a:pPr>
            <a:r>
              <a:rPr sz="830">
                <a:latin typeface="Noto Sans CJK JP"/>
                <a:hlinkClick r:id="rId3"/>
              </a:rPr>
              <a:t>https://huggingface.co/datasets/joelniklaus/german_argument_mining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実例6：ドイツ語の免責条項を分類する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80"/>
              </a:lnSpc>
              <a:spcBef>
                <a:spcPts val="0"/>
              </a:spcBef>
              <a:spcAft>
                <a:spcPts val="0"/>
              </a:spcAft>
              <a:buNone/>
              <a:defRPr sz="1180" b="0">
                <a:solidFill>
                  <a:srgbClr val="303437"/>
                </a:solidFill>
                <a:latin typeface="Noto Sans"/>
              </a:defRPr>
            </a:pPr>
            <a:r>
              <a:rPr sz="1180" b="0" lang="ja-JP" altLang="en-US">
                <a:solidFill>
                  <a:srgbClr val="626669"/>
                </a:solidFill>
                <a:latin typeface="Noto Sans"/>
                <a:ea typeface="Noto Sans CJK JP"/>
                <a:cs typeface="Noto Sans"/>
              </a:rPr>
              <a:t>ドイツ語 / online_terms_of_service_unfairness_levels</a:t>
            </a:r>
          </a:p>
        </p:txBody>
      </p:sp>
      <p:sp>
        <p:nvSpPr>
          <p:cNvPr id="5" name="TextBox 4"/>
          <p:cNvSpPr txBox="1"/>
          <p:nvPr/>
        </p:nvSpPr>
        <p:spPr>
          <a:xfrm>
            <a:off x="548640" y="1627632"/>
            <a:ext cx="443484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入力原文（全文）</a:t>
            </a:r>
          </a:p>
        </p:txBody>
      </p:sp>
      <p:sp>
        <p:nvSpPr>
          <p:cNvPr id="6" name="TextBox 5"/>
          <p:cNvSpPr txBox="1"/>
          <p:nvPr/>
        </p:nvSpPr>
        <p:spPr>
          <a:xfrm>
            <a:off x="5166360" y="1627632"/>
            <a:ext cx="342900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日本語訳（意味）</a:t>
            </a:r>
          </a:p>
        </p:txBody>
      </p:sp>
      <p:sp>
        <p:nvSpPr>
          <p:cNvPr id="7" name="quote-frame"/>
          <p:cNvSpPr/>
          <p:nvPr/>
        </p:nvSpPr>
        <p:spPr>
          <a:xfrm>
            <a:off x="548640" y="1920240"/>
            <a:ext cx="4434840" cy="134572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386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Wir haften nicht für Verluste oder Schäden, die durch Ihre Verletzung dieser Sicherungspflicht entstehen.</a:t>
            </a:r>
          </a:p>
        </p:txBody>
      </p:sp>
      <p:sp>
        <p:nvSpPr>
          <p:cNvPr id="8" name="quote-frame"/>
          <p:cNvSpPr/>
          <p:nvPr/>
        </p:nvSpPr>
        <p:spPr>
          <a:xfrm>
            <a:off x="5166360" y="1920240"/>
            <a:ext cx="3429000" cy="12349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この安全確保義務に対するあなたの違反によって生じる損失や損害について、当社は責任を負いません。</a:t>
            </a:r>
          </a:p>
        </p:txBody>
      </p:sp>
      <p:sp>
        <p:nvSpPr>
          <p:cNvPr id="9" name="TextBox 8"/>
          <p:cNvSpPr txBox="1"/>
          <p:nvPr/>
        </p:nvSpPr>
        <p:spPr>
          <a:xfrm>
            <a:off x="594360" y="3511296"/>
            <a:ext cx="434340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正解ラベル</a:t>
            </a:r>
          </a:p>
        </p:txBody>
      </p:sp>
      <p:sp>
        <p:nvSpPr>
          <p:cNvPr id="10" name="TextBox 9"/>
          <p:cNvSpPr txBox="1"/>
          <p:nvPr/>
        </p:nvSpPr>
        <p:spPr>
          <a:xfrm>
            <a:off x="594360" y="3728251"/>
            <a:ext cx="4343400" cy="411480"/>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potentially_unfair</a:t>
            </a:r>
          </a:p>
        </p:txBody>
      </p:sp>
      <p:sp>
        <p:nvSpPr>
          <p:cNvPr id="11" name="TextBox 10"/>
          <p:cNvSpPr txBox="1"/>
          <p:nvPr/>
        </p:nvSpPr>
        <p:spPr>
          <a:xfrm>
            <a:off x="5212080" y="3387472"/>
            <a:ext cx="3337560" cy="86868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potentially_unfair：不公正の可能性がある</a:t>
            </a:r>
          </a:p>
        </p:txBody>
      </p:sp>
      <p:sp>
        <p:nvSpPr>
          <p:cNvPr id="12" name="TextBox 11"/>
          <p:cNvSpPr txBox="1"/>
          <p:nvPr/>
        </p:nvSpPr>
        <p:spPr>
          <a:xfrm>
            <a:off x="594360" y="4178808"/>
            <a:ext cx="7955279" cy="402336"/>
          </a:xfrm>
          <a:prstGeom prst="rect">
            <a:avLst/>
          </a:prstGeom>
          <a:noFill/>
        </p:spPr>
        <p:txBody>
          <a:bodyPr wrap="square" lIns="0" rIns="0" tIns="0" bIns="0">
            <a:noAutofit/>
          </a:bodyPr>
          <a:lstStyle/>
          <a:p>
            <a:pPr algn="l">
              <a:lnSpc>
                <a:spcPts val="1918"/>
              </a:lnSpc>
              <a:spcBef>
                <a:spcPts val="0"/>
              </a:spcBef>
              <a:spcAft>
                <a:spcPts val="0"/>
              </a:spcAft>
              <a:buNone/>
              <a:defRPr sz="1639" b="0">
                <a:solidFill>
                  <a:srgbClr val="303437"/>
                </a:solidFill>
                <a:latin typeface="Noto Sans"/>
              </a:defRPr>
            </a:pPr>
            <a:r>
              <a:rPr sz="1639" b="0" lang="ja-JP" altLang="en-US">
                <a:solidFill>
                  <a:srgbClr val="303437"/>
                </a:solidFill>
                <a:latin typeface="Noto Sans"/>
                <a:ea typeface="Noto Sans CJK JP"/>
                <a:cs typeface="Noto Sans"/>
              </a:rPr>
              <a:t>利用者の義務違反による損害について、サービス側の責任を除外する条項。</a:t>
            </a:r>
          </a:p>
        </p:txBody>
      </p:sp>
      <p:sp>
        <p:nvSpPr>
          <p:cNvPr id="13"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(n.d.). online_terms_of_service 配布データ. 参照2026-10-19。</a:t>
            </a:r>
          </a:p>
          <a:p>
            <a:pPr>
              <a:lnSpc>
                <a:spcPts val="1200"/>
              </a:lnSpc>
              <a:spcBef>
                <a:spcPts val="0"/>
              </a:spcBef>
              <a:spcAft>
                <a:spcPts val="0"/>
              </a:spcAft>
            </a:pPr>
            <a:r>
              <a:rPr sz="830">
                <a:latin typeface="Noto Sans CJK JP"/>
                <a:hlinkClick r:id="rId3"/>
              </a:rPr>
              <a:t>https://huggingface.co/datasets/joelniklaus/online_terms_of_service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実例7：イタリア語の削除条項を分類する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80"/>
              </a:lnSpc>
              <a:spcBef>
                <a:spcPts val="0"/>
              </a:spcBef>
              <a:spcAft>
                <a:spcPts val="0"/>
              </a:spcAft>
              <a:buNone/>
              <a:defRPr sz="1180" b="0">
                <a:solidFill>
                  <a:srgbClr val="303437"/>
                </a:solidFill>
                <a:latin typeface="Noto Sans"/>
              </a:defRPr>
            </a:pPr>
            <a:r>
              <a:rPr sz="1180" b="0" lang="ja-JP" altLang="en-US">
                <a:solidFill>
                  <a:srgbClr val="626669"/>
                </a:solidFill>
                <a:latin typeface="Noto Sans"/>
                <a:ea typeface="Noto Sans CJK JP"/>
                <a:cs typeface="Noto Sans"/>
              </a:rPr>
              <a:t>イタリア語 / online_terms_of_service_clause_topics</a:t>
            </a:r>
          </a:p>
        </p:txBody>
      </p:sp>
      <p:sp>
        <p:nvSpPr>
          <p:cNvPr id="5" name="TextBox 4"/>
          <p:cNvSpPr txBox="1"/>
          <p:nvPr/>
        </p:nvSpPr>
        <p:spPr>
          <a:xfrm>
            <a:off x="548640" y="1627632"/>
            <a:ext cx="443484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入力原文（全文）</a:t>
            </a:r>
          </a:p>
        </p:txBody>
      </p:sp>
      <p:sp>
        <p:nvSpPr>
          <p:cNvPr id="6" name="TextBox 5"/>
          <p:cNvSpPr txBox="1"/>
          <p:nvPr/>
        </p:nvSpPr>
        <p:spPr>
          <a:xfrm>
            <a:off x="5166360" y="1627632"/>
            <a:ext cx="342900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日本語訳（意味）</a:t>
            </a:r>
          </a:p>
        </p:txBody>
      </p:sp>
      <p:sp>
        <p:nvSpPr>
          <p:cNvPr id="7" name="quote-frame"/>
          <p:cNvSpPr/>
          <p:nvPr/>
        </p:nvSpPr>
        <p:spPr>
          <a:xfrm>
            <a:off x="548640" y="1920240"/>
            <a:ext cx="4434840" cy="194170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386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Avremo altresì diritto a rimuovere ogni Contenuto che violi le presenti Condizioni o che, a nostra assoluta discrezione, riteniamo comunque non appropriato.</a:t>
            </a:r>
          </a:p>
        </p:txBody>
      </p:sp>
      <p:sp>
        <p:nvSpPr>
          <p:cNvPr id="8" name="quote-frame"/>
          <p:cNvSpPr/>
          <p:nvPr/>
        </p:nvSpPr>
        <p:spPr>
          <a:xfrm>
            <a:off x="5166360" y="1920240"/>
            <a:ext cx="3429000" cy="179403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当社はまた、本規約に違反する、または当社の全面的な裁量によりその他の点で不適切と判断するあらゆるコンテンツを削除する権利を有します。</a:t>
            </a:r>
          </a:p>
        </p:txBody>
      </p:sp>
      <p:sp>
        <p:nvSpPr>
          <p:cNvPr id="9" name="TextBox 8"/>
          <p:cNvSpPr txBox="1"/>
          <p:nvPr/>
        </p:nvSpPr>
        <p:spPr>
          <a:xfrm>
            <a:off x="594360" y="4115815"/>
            <a:ext cx="434340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正解ラベル</a:t>
            </a:r>
          </a:p>
        </p:txBody>
      </p:sp>
      <p:sp>
        <p:nvSpPr>
          <p:cNvPr id="10" name="TextBox 9"/>
          <p:cNvSpPr txBox="1"/>
          <p:nvPr/>
        </p:nvSpPr>
        <p:spPr>
          <a:xfrm>
            <a:off x="594360" y="4332693"/>
            <a:ext cx="4343400" cy="411480"/>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2</a:t>
            </a:r>
          </a:p>
        </p:txBody>
      </p:sp>
      <p:sp>
        <p:nvSpPr>
          <p:cNvPr id="11" name="TextBox 10"/>
          <p:cNvSpPr txBox="1"/>
          <p:nvPr/>
        </p:nvSpPr>
        <p:spPr>
          <a:xfrm>
            <a:off x="5212080" y="3870401"/>
            <a:ext cx="3337560" cy="57150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2：コンテンツの削除</a:t>
            </a:r>
          </a:p>
        </p:txBody>
      </p:sp>
      <p:sp>
        <p:nvSpPr>
          <p:cNvPr id="12"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(n.d.). online_terms_of_service 配布データ. 参照2026-10-19。</a:t>
            </a:r>
          </a:p>
          <a:p>
            <a:pPr>
              <a:lnSpc>
                <a:spcPts val="1200"/>
              </a:lnSpc>
              <a:spcBef>
                <a:spcPts val="0"/>
              </a:spcBef>
              <a:spcAft>
                <a:spcPts val="0"/>
              </a:spcAft>
            </a:pPr>
            <a:r>
              <a:rPr sz="830">
                <a:latin typeface="Noto Sans CJK JP"/>
                <a:hlinkClick r:id="rId3"/>
              </a:rPr>
              <a:t>https://huggingface.co/datasets/joelniklaus/online_terms_of_service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実例8：フランス語の学校閉鎖措置を読む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80"/>
              </a:lnSpc>
              <a:spcBef>
                <a:spcPts val="0"/>
              </a:spcBef>
              <a:spcAft>
                <a:spcPts val="0"/>
              </a:spcAft>
              <a:buNone/>
              <a:defRPr sz="1180" b="0">
                <a:solidFill>
                  <a:srgbClr val="303437"/>
                </a:solidFill>
                <a:latin typeface="Noto Sans"/>
              </a:defRPr>
            </a:pPr>
            <a:r>
              <a:rPr sz="1180" b="0" lang="ja-JP" altLang="en-US">
                <a:solidFill>
                  <a:srgbClr val="626669"/>
                </a:solidFill>
                <a:latin typeface="Noto Sans"/>
                <a:ea typeface="Noto Sans CJK JP"/>
                <a:cs typeface="Noto Sans"/>
              </a:rPr>
              <a:t>フランス語 / covid19_emergency_event</a:t>
            </a:r>
          </a:p>
        </p:txBody>
      </p:sp>
      <p:sp>
        <p:nvSpPr>
          <p:cNvPr id="5" name="TextBox 4"/>
          <p:cNvSpPr txBox="1"/>
          <p:nvPr/>
        </p:nvSpPr>
        <p:spPr>
          <a:xfrm>
            <a:off x="548640" y="1627632"/>
            <a:ext cx="443484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入力原文（全文）</a:t>
            </a:r>
          </a:p>
        </p:txBody>
      </p:sp>
      <p:sp>
        <p:nvSpPr>
          <p:cNvPr id="6" name="TextBox 5"/>
          <p:cNvSpPr txBox="1"/>
          <p:nvPr/>
        </p:nvSpPr>
        <p:spPr>
          <a:xfrm>
            <a:off x="5166360" y="1627632"/>
            <a:ext cx="342900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日本語訳（意味）</a:t>
            </a:r>
          </a:p>
        </p:txBody>
      </p:sp>
      <p:sp>
        <p:nvSpPr>
          <p:cNvPr id="7" name="quote-frame"/>
          <p:cNvSpPr/>
          <p:nvPr/>
        </p:nvSpPr>
        <p:spPr>
          <a:xfrm>
            <a:off x="548640" y="1920240"/>
            <a:ext cx="4434840" cy="104369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386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Les leçons et activités sont suspendues dans l'enseignement maternel, primaire et secondaire.</a:t>
            </a:r>
          </a:p>
        </p:txBody>
      </p:sp>
      <p:sp>
        <p:nvSpPr>
          <p:cNvPr id="8" name="quote-frame"/>
          <p:cNvSpPr/>
          <p:nvPr/>
        </p:nvSpPr>
        <p:spPr>
          <a:xfrm>
            <a:off x="5166360" y="1920240"/>
            <a:ext cx="3429000" cy="95591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就学前教育、初等教育および中等教育では、授業と活動を停止する。</a:t>
            </a:r>
          </a:p>
        </p:txBody>
      </p:sp>
      <p:sp>
        <p:nvSpPr>
          <p:cNvPr id="9" name="TextBox 8"/>
          <p:cNvSpPr txBox="1"/>
          <p:nvPr/>
        </p:nvSpPr>
        <p:spPr>
          <a:xfrm>
            <a:off x="594360" y="3209036"/>
            <a:ext cx="434340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正解ラベル</a:t>
            </a:r>
          </a:p>
        </p:txBody>
      </p:sp>
      <p:sp>
        <p:nvSpPr>
          <p:cNvPr id="10" name="TextBox 9"/>
          <p:cNvSpPr txBox="1"/>
          <p:nvPr/>
        </p:nvSpPr>
        <p:spPr>
          <a:xfrm>
            <a:off x="594360" y="3426219"/>
            <a:ext cx="4343400" cy="411480"/>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3</a:t>
            </a:r>
          </a:p>
        </p:txBody>
      </p:sp>
      <p:sp>
        <p:nvSpPr>
          <p:cNvPr id="11" name="TextBox 10"/>
          <p:cNvSpPr txBox="1"/>
          <p:nvPr/>
        </p:nvSpPr>
        <p:spPr>
          <a:xfrm>
            <a:off x="5212080" y="3108479"/>
            <a:ext cx="3337560" cy="86868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3：閉鎖・ロックダウン</a:t>
            </a:r>
          </a:p>
        </p:txBody>
      </p:sp>
      <p:sp>
        <p:nvSpPr>
          <p:cNvPr id="12" name="TextBox 11"/>
          <p:cNvSpPr txBox="1"/>
          <p:nvPr/>
        </p:nvSpPr>
        <p:spPr>
          <a:xfrm>
            <a:off x="594360" y="4178808"/>
            <a:ext cx="7955279" cy="402336"/>
          </a:xfrm>
          <a:prstGeom prst="rect">
            <a:avLst/>
          </a:prstGeom>
          <a:noFill/>
        </p:spPr>
        <p:txBody>
          <a:bodyPr wrap="square" lIns="0" rIns="0" tIns="0" bIns="0">
            <a:noAutofit/>
          </a:bodyPr>
          <a:lstStyle/>
          <a:p>
            <a:pPr algn="l">
              <a:lnSpc>
                <a:spcPts val="1918"/>
              </a:lnSpc>
              <a:spcBef>
                <a:spcPts val="0"/>
              </a:spcBef>
              <a:spcAft>
                <a:spcPts val="0"/>
              </a:spcAft>
              <a:buNone/>
              <a:defRPr sz="1639" b="0">
                <a:solidFill>
                  <a:srgbClr val="303437"/>
                </a:solidFill>
                <a:latin typeface="Noto Sans"/>
              </a:defRPr>
            </a:pPr>
            <a:r>
              <a:rPr sz="1639" b="0" lang="ja-JP" altLang="en-US">
                <a:solidFill>
                  <a:srgbClr val="303437"/>
                </a:solidFill>
                <a:latin typeface="Noto Sans"/>
                <a:ea typeface="Noto Sans CJK JP"/>
                <a:cs typeface="Noto Sans"/>
              </a:rPr>
              <a:t>ベルギーの対策文書にある、学校の授業・活動を止める措置。</a:t>
            </a:r>
          </a:p>
        </p:txBody>
      </p:sp>
      <p:sp>
        <p:nvSpPr>
          <p:cNvPr id="13"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(n.d.). covid19_emergency_event 配布データ. 参照2026-10-19。</a:t>
            </a:r>
          </a:p>
          <a:p>
            <a:pPr>
              <a:lnSpc>
                <a:spcPts val="1200"/>
              </a:lnSpc>
              <a:spcBef>
                <a:spcPts val="0"/>
              </a:spcBef>
              <a:spcAft>
                <a:spcPts val="0"/>
              </a:spcAft>
            </a:pPr>
            <a:r>
              <a:rPr sz="830">
                <a:latin typeface="Noto Sans CJK JP"/>
                <a:hlinkClick r:id="rId3"/>
              </a:rPr>
              <a:t>https://huggingface.co/datasets/joelniklaus/covid19_emergency_event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実例9：ノルウェー語の人数制限を読む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80"/>
              </a:lnSpc>
              <a:spcBef>
                <a:spcPts val="0"/>
              </a:spcBef>
              <a:spcAft>
                <a:spcPts val="0"/>
              </a:spcAft>
              <a:buNone/>
              <a:defRPr sz="1180" b="0">
                <a:solidFill>
                  <a:srgbClr val="303437"/>
                </a:solidFill>
                <a:latin typeface="Noto Sans"/>
              </a:defRPr>
            </a:pPr>
            <a:r>
              <a:rPr sz="1180" b="0" lang="ja-JP" altLang="en-US">
                <a:solidFill>
                  <a:srgbClr val="626669"/>
                </a:solidFill>
                <a:latin typeface="Noto Sans"/>
                <a:ea typeface="Noto Sans CJK JP"/>
                <a:cs typeface="Noto Sans"/>
              </a:rPr>
              <a:t>ノルウェー語 / covid19_emergency_event</a:t>
            </a:r>
          </a:p>
        </p:txBody>
      </p:sp>
      <p:sp>
        <p:nvSpPr>
          <p:cNvPr id="5" name="TextBox 4"/>
          <p:cNvSpPr txBox="1"/>
          <p:nvPr/>
        </p:nvSpPr>
        <p:spPr>
          <a:xfrm>
            <a:off x="548640" y="1627632"/>
            <a:ext cx="443484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入力原文（全文）</a:t>
            </a:r>
          </a:p>
        </p:txBody>
      </p:sp>
      <p:sp>
        <p:nvSpPr>
          <p:cNvPr id="6" name="TextBox 5"/>
          <p:cNvSpPr txBox="1"/>
          <p:nvPr/>
        </p:nvSpPr>
        <p:spPr>
          <a:xfrm>
            <a:off x="5166360" y="1627632"/>
            <a:ext cx="342900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日本語訳（意味）</a:t>
            </a:r>
          </a:p>
        </p:txBody>
      </p:sp>
      <p:sp>
        <p:nvSpPr>
          <p:cNvPr id="7" name="quote-frame"/>
          <p:cNvSpPr/>
          <p:nvPr/>
        </p:nvSpPr>
        <p:spPr>
          <a:xfrm>
            <a:off x="548640" y="1920240"/>
            <a:ext cx="4434840" cy="160544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Dette innebærer også at treninger og annen organisert idrettsaktivitet kan gjennomføres for inntil 20 personer som holder minst én meter avstand.</a:t>
            </a:r>
          </a:p>
        </p:txBody>
      </p:sp>
      <p:sp>
        <p:nvSpPr>
          <p:cNvPr id="8" name="quote-frame"/>
          <p:cNvSpPr/>
          <p:nvPr/>
        </p:nvSpPr>
        <p:spPr>
          <a:xfrm>
            <a:off x="5166360" y="1920240"/>
            <a:ext cx="3429000" cy="151463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これは、少なくとも1メートルの距離を保つ最大20人で、練習やその他の組織的なスポーツ活動を実施できることも意味する。</a:t>
            </a:r>
          </a:p>
        </p:txBody>
      </p:sp>
      <p:sp>
        <p:nvSpPr>
          <p:cNvPr id="9" name="TextBox 8"/>
          <p:cNvSpPr txBox="1"/>
          <p:nvPr/>
        </p:nvSpPr>
        <p:spPr>
          <a:xfrm>
            <a:off x="594360" y="3813556"/>
            <a:ext cx="434340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正解ラベル</a:t>
            </a:r>
          </a:p>
        </p:txBody>
      </p:sp>
      <p:sp>
        <p:nvSpPr>
          <p:cNvPr id="10" name="TextBox 9"/>
          <p:cNvSpPr txBox="1"/>
          <p:nvPr/>
        </p:nvSpPr>
        <p:spPr>
          <a:xfrm>
            <a:off x="594360" y="4030293"/>
            <a:ext cx="4343400" cy="411480"/>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2</a:t>
            </a:r>
          </a:p>
        </p:txBody>
      </p:sp>
      <p:sp>
        <p:nvSpPr>
          <p:cNvPr id="11" name="TextBox 10"/>
          <p:cNvSpPr txBox="1"/>
          <p:nvPr/>
        </p:nvSpPr>
        <p:spPr>
          <a:xfrm>
            <a:off x="5212080" y="3667202"/>
            <a:ext cx="3337560" cy="86868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2：日常生活上の自由の制限</a:t>
            </a:r>
          </a:p>
        </p:txBody>
      </p:sp>
      <p:sp>
        <p:nvSpPr>
          <p:cNvPr id="12"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(n.d.). covid19_emergency_event 配布データ. 参照2026-10-19。</a:t>
            </a:r>
          </a:p>
          <a:p>
            <a:pPr>
              <a:lnSpc>
                <a:spcPts val="1200"/>
              </a:lnSpc>
              <a:spcBef>
                <a:spcPts val="0"/>
              </a:spcBef>
              <a:spcAft>
                <a:spcPts val="0"/>
              </a:spcAft>
            </a:pPr>
            <a:r>
              <a:rPr sz="830">
                <a:latin typeface="Noto Sans CJK JP"/>
                <a:hlinkClick r:id="rId3"/>
              </a:rPr>
              <a:t>https://huggingface.co/datasets/joelniklaus/covid19_emergency_event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実例10：イタリア語の義務に複数ラベルを付ける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80"/>
              </a:lnSpc>
              <a:spcBef>
                <a:spcPts val="0"/>
              </a:spcBef>
              <a:spcAft>
                <a:spcPts val="0"/>
              </a:spcAft>
              <a:buNone/>
              <a:defRPr sz="1180" b="0">
                <a:solidFill>
                  <a:srgbClr val="303437"/>
                </a:solidFill>
                <a:latin typeface="Noto Sans"/>
              </a:defRPr>
            </a:pPr>
            <a:r>
              <a:rPr sz="1180" b="0" lang="ja-JP" altLang="en-US">
                <a:solidFill>
                  <a:srgbClr val="626669"/>
                </a:solidFill>
                <a:latin typeface="Noto Sans"/>
                <a:ea typeface="Noto Sans CJK JP"/>
                <a:cs typeface="Noto Sans"/>
              </a:rPr>
              <a:t>イタリア語 / covid19_emergency_event</a:t>
            </a:r>
          </a:p>
        </p:txBody>
      </p:sp>
      <p:sp>
        <p:nvSpPr>
          <p:cNvPr id="5" name="TextBox 4"/>
          <p:cNvSpPr txBox="1"/>
          <p:nvPr/>
        </p:nvSpPr>
        <p:spPr>
          <a:xfrm>
            <a:off x="548640" y="1627632"/>
            <a:ext cx="443484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入力原文（全文）</a:t>
            </a:r>
          </a:p>
        </p:txBody>
      </p:sp>
      <p:sp>
        <p:nvSpPr>
          <p:cNvPr id="6" name="TextBox 5"/>
          <p:cNvSpPr txBox="1"/>
          <p:nvPr/>
        </p:nvSpPr>
        <p:spPr>
          <a:xfrm>
            <a:off x="5166360" y="1627632"/>
            <a:ext cx="342900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日本語訳（意味）</a:t>
            </a:r>
          </a:p>
        </p:txBody>
      </p:sp>
      <p:sp>
        <p:nvSpPr>
          <p:cNvPr id="7" name="quote-frame"/>
          <p:cNvSpPr/>
          <p:nvPr/>
        </p:nvSpPr>
        <p:spPr>
          <a:xfrm>
            <a:off x="548640" y="1920240"/>
            <a:ext cx="4434840" cy="74200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33867"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obbligo di rimanere raggiungibile per le attività di sorveglianza;</a:t>
            </a:r>
          </a:p>
        </p:txBody>
      </p:sp>
      <p:sp>
        <p:nvSpPr>
          <p:cNvPr id="8" name="quote-frame"/>
          <p:cNvSpPr/>
          <p:nvPr/>
        </p:nvSpPr>
        <p:spPr>
          <a:xfrm>
            <a:off x="5166360" y="1920240"/>
            <a:ext cx="3429000" cy="6765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監視活動のために連絡が取れる状態を保つ義務。</a:t>
            </a:r>
          </a:p>
        </p:txBody>
      </p:sp>
      <p:sp>
        <p:nvSpPr>
          <p:cNvPr id="9" name="TextBox 8"/>
          <p:cNvSpPr txBox="1"/>
          <p:nvPr/>
        </p:nvSpPr>
        <p:spPr>
          <a:xfrm>
            <a:off x="594360" y="2906776"/>
            <a:ext cx="434340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正解ラベル</a:t>
            </a:r>
          </a:p>
        </p:txBody>
      </p:sp>
      <p:sp>
        <p:nvSpPr>
          <p:cNvPr id="10" name="TextBox 9"/>
          <p:cNvSpPr txBox="1"/>
          <p:nvPr/>
        </p:nvSpPr>
        <p:spPr>
          <a:xfrm>
            <a:off x="594360" y="3124531"/>
            <a:ext cx="4343400" cy="411480"/>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1, 2</a:t>
            </a:r>
          </a:p>
        </p:txBody>
      </p:sp>
      <p:sp>
        <p:nvSpPr>
          <p:cNvPr id="11" name="TextBox 10"/>
          <p:cNvSpPr txBox="1"/>
          <p:nvPr/>
        </p:nvSpPr>
        <p:spPr>
          <a:xfrm>
            <a:off x="5212080" y="2829117"/>
            <a:ext cx="3337560" cy="86868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1：基本権・市民的自由の制限／2：日常生活上の自由の制限</a:t>
            </a:r>
          </a:p>
        </p:txBody>
      </p:sp>
      <p:sp>
        <p:nvSpPr>
          <p:cNvPr id="12" name="TextBox 11"/>
          <p:cNvSpPr txBox="1"/>
          <p:nvPr/>
        </p:nvSpPr>
        <p:spPr>
          <a:xfrm>
            <a:off x="594360" y="4178808"/>
            <a:ext cx="7955279" cy="402336"/>
          </a:xfrm>
          <a:prstGeom prst="rect">
            <a:avLst/>
          </a:prstGeom>
          <a:noFill/>
        </p:spPr>
        <p:txBody>
          <a:bodyPr wrap="square" lIns="0" rIns="0" tIns="0" bIns="0">
            <a:noAutofit/>
          </a:bodyPr>
          <a:lstStyle/>
          <a:p>
            <a:pPr algn="l">
              <a:lnSpc>
                <a:spcPts val="1918"/>
              </a:lnSpc>
              <a:spcBef>
                <a:spcPts val="0"/>
              </a:spcBef>
              <a:spcAft>
                <a:spcPts val="0"/>
              </a:spcAft>
              <a:buNone/>
              <a:defRPr sz="1639" b="0">
                <a:solidFill>
                  <a:srgbClr val="303437"/>
                </a:solidFill>
                <a:latin typeface="Noto Sans"/>
              </a:defRPr>
            </a:pPr>
            <a:r>
              <a:rPr sz="1639" b="0" lang="ja-JP" altLang="en-US">
                <a:solidFill>
                  <a:srgbClr val="303437"/>
                </a:solidFill>
                <a:latin typeface="Noto Sans"/>
                <a:ea typeface="Noto Sans CJK JP"/>
                <a:cs typeface="Noto Sans"/>
              </a:rPr>
              <a:t>連絡可能な状態を保つ義務に、二種類の措置ラベルが付く。</a:t>
            </a:r>
          </a:p>
        </p:txBody>
      </p:sp>
      <p:sp>
        <p:nvSpPr>
          <p:cNvPr id="13"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(n.d.). covid19_emergency_event 配布データ. 参照2026-10-19。</a:t>
            </a:r>
          </a:p>
          <a:p>
            <a:pPr>
              <a:lnSpc>
                <a:spcPts val="1200"/>
              </a:lnSpc>
              <a:spcBef>
                <a:spcPts val="0"/>
              </a:spcBef>
              <a:spcAft>
                <a:spcPts val="0"/>
              </a:spcAft>
            </a:pPr>
            <a:r>
              <a:rPr sz="830">
                <a:latin typeface="Noto Sans CJK JP"/>
                <a:hlinkClick r:id="rId3"/>
              </a:rPr>
              <a:t>https://huggingface.co/datasets/joelniklaus/covid19_emergency_event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実例11：ギリシャ語の法令参照を見つける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80"/>
              </a:lnSpc>
              <a:spcBef>
                <a:spcPts val="0"/>
              </a:spcBef>
              <a:spcAft>
                <a:spcPts val="0"/>
              </a:spcAft>
              <a:buNone/>
              <a:defRPr sz="1180" b="0">
                <a:solidFill>
                  <a:srgbClr val="303437"/>
                </a:solidFill>
                <a:latin typeface="Noto Sans"/>
              </a:defRPr>
            </a:pPr>
            <a:r>
              <a:rPr sz="1180" b="0" lang="ja-JP" altLang="en-US">
                <a:solidFill>
                  <a:srgbClr val="626669"/>
                </a:solidFill>
                <a:latin typeface="Noto Sans"/>
                <a:ea typeface="Noto Sans CJK JP"/>
                <a:cs typeface="Noto Sans"/>
              </a:rPr>
              <a:t>ギリシャ語 / greek_legal_ner</a:t>
            </a:r>
          </a:p>
        </p:txBody>
      </p:sp>
      <p:sp>
        <p:nvSpPr>
          <p:cNvPr id="5" name="TextBox 4"/>
          <p:cNvSpPr txBox="1"/>
          <p:nvPr/>
        </p:nvSpPr>
        <p:spPr>
          <a:xfrm>
            <a:off x="548640" y="1627632"/>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入力原文：トークン列（全文）</a:t>
            </a:r>
          </a:p>
        </p:txBody>
      </p:sp>
      <p:sp>
        <p:nvSpPr>
          <p:cNvPr id="6" name="quote-frame"/>
          <p:cNvSpPr/>
          <p:nvPr/>
        </p:nvSpPr>
        <p:spPr>
          <a:xfrm>
            <a:off x="548640" y="1920240"/>
            <a:ext cx="8046720" cy="3646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25400"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"ΠΡΟΕΔΡΙΚΟ" "ΔΙΑΤΑΓΜΑ" "ΥΠ" "’" "ΑΡΙΘΜ" "." "133"</a:t>
            </a:r>
          </a:p>
        </p:txBody>
      </p:sp>
      <p:sp>
        <p:nvSpPr>
          <p:cNvPr id="7" name="TextBox 6"/>
          <p:cNvSpPr txBox="1"/>
          <p:nvPr/>
        </p:nvSpPr>
        <p:spPr>
          <a:xfrm>
            <a:off x="594360" y="2589403"/>
            <a:ext cx="7955279"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正解：対応するBIOラベル列（全文）</a:t>
            </a:r>
          </a:p>
        </p:txBody>
      </p:sp>
      <p:sp>
        <p:nvSpPr>
          <p:cNvPr id="8" name="TextBox 7"/>
          <p:cNvSpPr txBox="1"/>
          <p:nvPr/>
        </p:nvSpPr>
        <p:spPr>
          <a:xfrm>
            <a:off x="594360" y="2815601"/>
            <a:ext cx="7955279" cy="702563"/>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"B-LEG-REFS" "I-LEG-REFS" "I-LEG-REFS"</a:t>
            </a:r>
          </a:p>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"I-LEG-REFS" "I-LEG-REFS" "I-LEG-REFS" "I-LEG-REFS"</a:t>
            </a:r>
          </a:p>
        </p:txBody>
      </p:sp>
      <p:sp>
        <p:nvSpPr>
          <p:cNvPr id="9" name="TextBox 8"/>
          <p:cNvSpPr txBox="1"/>
          <p:nvPr/>
        </p:nvSpPr>
        <p:spPr>
          <a:xfrm>
            <a:off x="594360" y="3730879"/>
            <a:ext cx="7955279" cy="365760"/>
          </a:xfrm>
          <a:prstGeom prst="rect">
            <a:avLst/>
          </a:prstGeom>
          <a:noFill/>
        </p:spPr>
        <p:txBody>
          <a:bodyPr wrap="square" lIns="0" rIns="0" tIns="0" bIns="0">
            <a:noAutofit/>
          </a:bodyPr>
          <a:lstStyle/>
          <a:p>
            <a:pPr algn="l">
              <a:lnSpc>
                <a:spcPts val="2164"/>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意味：大統領令 第133号。</a:t>
            </a:r>
          </a:p>
        </p:txBody>
      </p:sp>
      <p:sp>
        <p:nvSpPr>
          <p:cNvPr id="10" name="TextBox 9"/>
          <p:cNvSpPr txBox="1"/>
          <p:nvPr/>
        </p:nvSpPr>
        <p:spPr>
          <a:xfrm>
            <a:off x="594360" y="4178935"/>
            <a:ext cx="7955279" cy="384048"/>
          </a:xfrm>
          <a:prstGeom prst="rect">
            <a:avLst/>
          </a:prstGeom>
          <a:noFill/>
        </p:spPr>
        <p:txBody>
          <a:bodyPr wrap="square" lIns="0" rIns="0" tIns="0" bIns="0">
            <a:noAutofit/>
          </a:bodyPr>
          <a:lstStyle/>
          <a:p>
            <a:pPr algn="l">
              <a:lnSpc>
                <a:spcPts val="1965"/>
              </a:lnSpc>
              <a:spcBef>
                <a:spcPts val="0"/>
              </a:spcBef>
              <a:spcAft>
                <a:spcPts val="0"/>
              </a:spcAft>
              <a:buNone/>
              <a:defRPr sz="1680" b="0">
                <a:solidFill>
                  <a:srgbClr val="303437"/>
                </a:solidFill>
                <a:latin typeface="Noto Sans"/>
              </a:defRPr>
            </a:pPr>
            <a:r>
              <a:rPr sz="1680" b="0" lang="ja-JP" altLang="en-US">
                <a:solidFill>
                  <a:srgbClr val="303437"/>
                </a:solidFill>
                <a:latin typeface="Noto Sans"/>
                <a:ea typeface="Noto Sans CJK JP"/>
                <a:cs typeface="Noto Sans"/>
              </a:rPr>
              <a:t>原注釈では7トークン全体が一つの法令参照。句読点も含む。</a:t>
            </a:r>
          </a:p>
        </p:txBody>
      </p:sp>
      <p:sp>
        <p:nvSpPr>
          <p:cNvPr id="11"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(n.d.). greek_legal_ner 配布データ. 参照2026-10-19。</a:t>
            </a:r>
          </a:p>
          <a:p>
            <a:pPr>
              <a:lnSpc>
                <a:spcPts val="1200"/>
              </a:lnSpc>
              <a:spcBef>
                <a:spcPts val="0"/>
              </a:spcBef>
              <a:spcAft>
                <a:spcPts val="0"/>
              </a:spcAft>
            </a:pPr>
            <a:r>
              <a:rPr sz="830">
                <a:latin typeface="Noto Sans CJK JP"/>
                <a:hlinkClick r:id="rId3"/>
              </a:rPr>
              <a:t>https://huggingface.co/datasets/joelniklaus/greek_legal_ner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実例12：ブラジルの異議申立ての結果を予測する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80"/>
              </a:lnSpc>
              <a:spcBef>
                <a:spcPts val="0"/>
              </a:spcBef>
              <a:spcAft>
                <a:spcPts val="0"/>
              </a:spcAft>
              <a:buNone/>
              <a:defRPr sz="1180" b="0">
                <a:solidFill>
                  <a:srgbClr val="303437"/>
                </a:solidFill>
                <a:latin typeface="Noto Sans"/>
              </a:defRPr>
            </a:pPr>
            <a:r>
              <a:rPr sz="1180" b="0" lang="ja-JP" altLang="en-US">
                <a:solidFill>
                  <a:srgbClr val="626669"/>
                </a:solidFill>
                <a:latin typeface="Noto Sans"/>
                <a:ea typeface="Noto Sans CJK JP"/>
                <a:cs typeface="Noto Sans"/>
              </a:rPr>
              <a:t>ポルトガル語 / brazilian_court_decisions_judgment</a:t>
            </a:r>
          </a:p>
        </p:txBody>
      </p:sp>
      <p:sp>
        <p:nvSpPr>
          <p:cNvPr id="5" name="TextBox 4"/>
          <p:cNvSpPr txBox="1"/>
          <p:nvPr/>
        </p:nvSpPr>
        <p:spPr>
          <a:xfrm>
            <a:off x="548640" y="1627632"/>
            <a:ext cx="443484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入力原文（全文）</a:t>
            </a:r>
          </a:p>
        </p:txBody>
      </p:sp>
      <p:sp>
        <p:nvSpPr>
          <p:cNvPr id="6" name="TextBox 5"/>
          <p:cNvSpPr txBox="1"/>
          <p:nvPr/>
        </p:nvSpPr>
        <p:spPr>
          <a:xfrm>
            <a:off x="5166360" y="1627632"/>
            <a:ext cx="342900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日本語訳（意味）</a:t>
            </a:r>
          </a:p>
        </p:txBody>
      </p:sp>
      <p:sp>
        <p:nvSpPr>
          <p:cNvPr id="7" name="quote-frame"/>
          <p:cNvSpPr/>
          <p:nvPr/>
        </p:nvSpPr>
        <p:spPr>
          <a:xfrm>
            <a:off x="548640" y="1920240"/>
            <a:ext cx="4434840" cy="163084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620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EMBARGOS DE DECLARAÇÃO. ALEGAÇÃO DE OMISSÃO NO JULGADO. HONORÁRIOS RECURSAIS. DESCABIMENTO. INEXISTÊNCIA DE VÍCIO.</a:t>
            </a:r>
          </a:p>
        </p:txBody>
      </p:sp>
      <p:sp>
        <p:nvSpPr>
          <p:cNvPr id="8" name="quote-frame"/>
          <p:cNvSpPr/>
          <p:nvPr/>
        </p:nvSpPr>
        <p:spPr>
          <a:xfrm>
            <a:off x="5166360" y="1920240"/>
            <a:ext cx="3429000" cy="151463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判決の明確化を求める異議申立て。判決に判断の欠落があるとの主張。上訴審の弁護士報酬。認められない。瑕疵は存在しない。</a:t>
            </a:r>
          </a:p>
        </p:txBody>
      </p:sp>
      <p:sp>
        <p:nvSpPr>
          <p:cNvPr id="9" name="TextBox 8"/>
          <p:cNvSpPr txBox="1"/>
          <p:nvPr/>
        </p:nvSpPr>
        <p:spPr>
          <a:xfrm>
            <a:off x="594360" y="3813556"/>
            <a:ext cx="434340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正解ラベル</a:t>
            </a:r>
          </a:p>
        </p:txBody>
      </p:sp>
      <p:sp>
        <p:nvSpPr>
          <p:cNvPr id="10" name="TextBox 9"/>
          <p:cNvSpPr txBox="1"/>
          <p:nvPr/>
        </p:nvSpPr>
        <p:spPr>
          <a:xfrm>
            <a:off x="594360" y="4030293"/>
            <a:ext cx="4343400" cy="411480"/>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no</a:t>
            </a:r>
          </a:p>
        </p:txBody>
      </p:sp>
      <p:sp>
        <p:nvSpPr>
          <p:cNvPr id="11" name="TextBox 10"/>
          <p:cNvSpPr txBox="1"/>
          <p:nvPr/>
        </p:nvSpPr>
        <p:spPr>
          <a:xfrm>
            <a:off x="5212080" y="3667202"/>
            <a:ext cx="3337560" cy="86868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no：申立てを退けた</a:t>
            </a:r>
          </a:p>
        </p:txBody>
      </p:sp>
      <p:sp>
        <p:nvSpPr>
          <p:cNvPr id="12"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(n.d.). brazilian_court_decisions 配布データ. 参照2026-10-19。</a:t>
            </a:r>
          </a:p>
          <a:p>
            <a:pPr>
              <a:lnSpc>
                <a:spcPts val="1200"/>
              </a:lnSpc>
              <a:spcBef>
                <a:spcPts val="0"/>
              </a:spcBef>
              <a:spcAft>
                <a:spcPts val="0"/>
              </a:spcAft>
            </a:pPr>
            <a:r>
              <a:rPr sz="830">
                <a:latin typeface="Noto Sans CJK JP"/>
                <a:hlinkClick r:id="rId3"/>
              </a:rPr>
              <a:t>https://huggingface.co/datasets/joelniklaus/brazilian_court_decisions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実例13：ブラジルの判決が全員一致かを予測する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307592"/>
            <a:ext cx="8046720" cy="210312"/>
          </a:xfrm>
          <a:prstGeom prst="rect">
            <a:avLst/>
          </a:prstGeom>
          <a:noFill/>
        </p:spPr>
        <p:txBody>
          <a:bodyPr wrap="square" lIns="0" rIns="0" tIns="0" bIns="0">
            <a:noAutofit/>
          </a:bodyPr>
          <a:lstStyle/>
          <a:p>
            <a:pPr algn="l">
              <a:lnSpc>
                <a:spcPts val="1380"/>
              </a:lnSpc>
              <a:spcBef>
                <a:spcPts val="0"/>
              </a:spcBef>
              <a:spcAft>
                <a:spcPts val="0"/>
              </a:spcAft>
              <a:buNone/>
              <a:defRPr sz="1180" b="0">
                <a:solidFill>
                  <a:srgbClr val="303437"/>
                </a:solidFill>
                <a:latin typeface="Noto Sans"/>
              </a:defRPr>
            </a:pPr>
            <a:r>
              <a:rPr sz="1180" b="0" lang="ja-JP" altLang="en-US">
                <a:solidFill>
                  <a:srgbClr val="626669"/>
                </a:solidFill>
                <a:latin typeface="Noto Sans"/>
                <a:ea typeface="Noto Sans CJK JP"/>
                <a:cs typeface="Noto Sans"/>
              </a:rPr>
              <a:t>ポルトガル語 / brazilian_court_decisions_unanimity</a:t>
            </a:r>
          </a:p>
        </p:txBody>
      </p:sp>
      <p:sp>
        <p:nvSpPr>
          <p:cNvPr id="5" name="TextBox 4"/>
          <p:cNvSpPr txBox="1"/>
          <p:nvPr/>
        </p:nvSpPr>
        <p:spPr>
          <a:xfrm>
            <a:off x="548640" y="1627632"/>
            <a:ext cx="443484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入力原文（全文）</a:t>
            </a:r>
          </a:p>
        </p:txBody>
      </p:sp>
      <p:sp>
        <p:nvSpPr>
          <p:cNvPr id="6" name="TextBox 5"/>
          <p:cNvSpPr txBox="1"/>
          <p:nvPr/>
        </p:nvSpPr>
        <p:spPr>
          <a:xfrm>
            <a:off x="5166360" y="1627632"/>
            <a:ext cx="342900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日本語訳（意味）</a:t>
            </a:r>
          </a:p>
        </p:txBody>
      </p:sp>
      <p:sp>
        <p:nvSpPr>
          <p:cNvPr id="7" name="quote-frame"/>
          <p:cNvSpPr/>
          <p:nvPr/>
        </p:nvSpPr>
        <p:spPr>
          <a:xfrm>
            <a:off x="548640" y="1831340"/>
            <a:ext cx="4434840" cy="20913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4666"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APELAÇÃO CÍVEL. JUSTIÇA GRATUITA. DECISÃO INTERLOCUTÓRIA DE INDEFERIMENTO QUE NÃO FOI IMPUGNADA NO PRAZO LEGAL. PRECLUSÃO. IMPOSSIBILIDADE DE REDISCUSSÃO EM SEDE DE APELAÇÃO. SENTENÇA MANTIDA.</a:t>
            </a:r>
          </a:p>
        </p:txBody>
      </p:sp>
      <p:sp>
        <p:nvSpPr>
          <p:cNvPr id="8" name="quote-frame"/>
          <p:cNvSpPr/>
          <p:nvPr/>
        </p:nvSpPr>
        <p:spPr>
          <a:xfrm>
            <a:off x="5166360" y="1920240"/>
            <a:ext cx="3429000" cy="151463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民事上訴。訴訟費用の免除。法定期間内に争われなかった却下の中間決定。失権。上訴段階で再び争うことはできない。原判決を維持する。</a:t>
            </a:r>
          </a:p>
        </p:txBody>
      </p:sp>
      <p:sp>
        <p:nvSpPr>
          <p:cNvPr id="9" name="TextBox 8"/>
          <p:cNvSpPr txBox="1"/>
          <p:nvPr/>
        </p:nvSpPr>
        <p:spPr>
          <a:xfrm>
            <a:off x="594360" y="4015994"/>
            <a:ext cx="434340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正解ラベル</a:t>
            </a:r>
          </a:p>
        </p:txBody>
      </p:sp>
      <p:sp>
        <p:nvSpPr>
          <p:cNvPr id="10" name="TextBox 9"/>
          <p:cNvSpPr txBox="1"/>
          <p:nvPr/>
        </p:nvSpPr>
        <p:spPr>
          <a:xfrm>
            <a:off x="594360" y="4232619"/>
            <a:ext cx="4343400" cy="411480"/>
          </a:xfrm>
          <a:prstGeom prst="rect">
            <a:avLst/>
          </a:prstGeom>
          <a:noFill/>
        </p:spPr>
        <p:txBody>
          <a:bodyPr wrap="square" lIns="0" rIns="0" tIns="0" bIns="0">
            <a:noAutofit/>
          </a:bodyPr>
          <a:lstStyle/>
          <a:p>
            <a:pPr algn="l">
              <a:lnSpc>
                <a:spcPts val="2574"/>
              </a:lnSpc>
              <a:spcBef>
                <a:spcPts val="0"/>
              </a:spcBef>
              <a:spcAft>
                <a:spcPts val="0"/>
              </a:spcAft>
              <a:buNone/>
              <a:defRPr sz="2200" b="0">
                <a:solidFill>
                  <a:srgbClr val="303437"/>
                </a:solidFill>
                <a:latin typeface="Noto Sans"/>
              </a:defRPr>
            </a:pPr>
            <a:r>
              <a:rPr sz="2200" b="1" lang="ja-JP" altLang="en-US">
                <a:solidFill>
                  <a:srgbClr val="B13731"/>
                </a:solidFill>
                <a:latin typeface="Noto Sans"/>
                <a:ea typeface="Noto Sans CJK JP"/>
                <a:cs typeface="Noto Sans"/>
              </a:rPr>
              <a:t>unanimity</a:t>
            </a:r>
          </a:p>
        </p:txBody>
      </p:sp>
      <p:sp>
        <p:nvSpPr>
          <p:cNvPr id="11" name="TextBox 10"/>
          <p:cNvSpPr txBox="1"/>
          <p:nvPr/>
        </p:nvSpPr>
        <p:spPr>
          <a:xfrm>
            <a:off x="5212080" y="3667201"/>
            <a:ext cx="3337560" cy="868680"/>
          </a:xfrm>
          <a:prstGeom prst="rect">
            <a:avLst/>
          </a:prstGeom>
          <a:noFill/>
        </p:spPr>
        <p:txBody>
          <a:bodyPr wrap="square" lIns="0" rIns="0" tIns="0" bIns="0">
            <a:noAutofit/>
          </a:bodyPr>
          <a:lstStyle/>
          <a:p>
            <a:pPr algn="l">
              <a:lnSpc>
                <a:spcPts val="2340"/>
              </a:lnSpc>
              <a:spcBef>
                <a:spcPts val="0"/>
              </a:spcBef>
              <a:spcAft>
                <a:spcPts val="0"/>
              </a:spcAft>
              <a:buNone/>
              <a:defRPr sz="2000" b="0">
                <a:solidFill>
                  <a:srgbClr val="303437"/>
                </a:solidFill>
                <a:latin typeface="Noto Sans"/>
              </a:defRPr>
            </a:pPr>
            <a:r>
              <a:rPr sz="2000" b="1" lang="ja-JP" altLang="en-US">
                <a:solidFill>
                  <a:srgbClr val="B13731"/>
                </a:solidFill>
                <a:latin typeface="Noto Sans"/>
                <a:ea typeface="Noto Sans CJK JP"/>
                <a:cs typeface="Noto Sans"/>
              </a:rPr>
              <a:t>unanimity：全員一致</a:t>
            </a:r>
          </a:p>
        </p:txBody>
      </p:sp>
      <p:sp>
        <p:nvSpPr>
          <p:cNvPr id="12"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(n.d.). brazilian_court_decisions 配布データ. 参照2026-10-19。</a:t>
            </a:r>
          </a:p>
          <a:p>
            <a:pPr>
              <a:lnSpc>
                <a:spcPts val="1200"/>
              </a:lnSpc>
              <a:spcBef>
                <a:spcPts val="0"/>
              </a:spcBef>
              <a:spcAft>
                <a:spcPts val="0"/>
              </a:spcAft>
            </a:pPr>
            <a:r>
              <a:rPr sz="830">
                <a:latin typeface="Noto Sans CJK JP"/>
                <a:hlinkClick r:id="rId3"/>
              </a:rPr>
              <a:t>https://huggingface.co/datasets/joelniklaus/brazilian_court_decisions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代表的な分類設定の分割件数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構成データの件数とラベル</a:t>
            </a:r>
          </a:p>
        </p:txBody>
      </p:sp>
      <p:graphicFrame>
        <p:nvGraphicFramePr>
          <p:cNvPr id="4" name="Table 3"/>
          <p:cNvGraphicFramePr>
            <a:graphicFrameLocks noGrp="1"/>
          </p:cNvGraphicFramePr>
          <p:nvPr/>
        </p:nvGraphicFramePr>
        <p:xfrm>
          <a:off x="548640" y="1508760"/>
          <a:ext cx="8046720" cy="2688336"/>
        </p:xfrm>
        <a:graphic>
          <a:graphicData uri="http://schemas.openxmlformats.org/drawingml/2006/table">
            <a:tbl>
              <a:tblPr firstRow="0" bandRow="0"/>
              <a:tblGrid>
                <a:gridCol w="2651760"/>
                <a:gridCol w="1828800"/>
                <a:gridCol w="1783080"/>
                <a:gridCol w="1783080"/>
              </a:tblGrid>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validation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ブラジル判決：結果</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3,234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404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405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ブラジル判決：全員一致</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1,715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211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204</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ドイツ語の議論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19,271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2,726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3,078</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スイス判決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59,709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8,208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17,357</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規約：不公正さ</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2,074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191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417</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規約：話題</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19,942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1,690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4,297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Niklaus et al. (2023). LEXTREME: A Multi-Lingual and Multi-Task Benchmark for the Legal Domain. Findings of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https://aclanthology.org/2023.findings-emnlp.200/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法令・固有表現の分割件数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構成データの件数とラベル</a:t>
            </a:r>
          </a:p>
        </p:txBody>
      </p:sp>
      <p:graphicFrame>
        <p:nvGraphicFramePr>
          <p:cNvPr id="4" name="Table 3"/>
          <p:cNvGraphicFramePr>
            <a:graphicFrameLocks noGrp="1"/>
          </p:cNvGraphicFramePr>
          <p:nvPr/>
        </p:nvGraphicFramePr>
        <p:xfrm>
          <a:off x="548640" y="1508760"/>
          <a:ext cx="8046720" cy="2688336"/>
        </p:xfrm>
        <a:graphic>
          <a:graphicData uri="http://schemas.openxmlformats.org/drawingml/2006/table">
            <a:tbl>
              <a:tblPr firstRow="0" bandRow="0"/>
              <a:tblGrid>
                <a:gridCol w="2651760"/>
                <a:gridCol w="1828800"/>
                <a:gridCol w="1783080"/>
                <a:gridCol w="1783080"/>
              </a:tblGrid>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validation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ギリシャ法典：各階層</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28,536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9,511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9,516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COVID-19措置</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3,312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418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418</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MultiEURLEX：各階層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817,239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112,500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115,000</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ギリシャ語NER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17,699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4,909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4,017</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ルーマニア語NER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7,552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966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907</a:t>
                      </a:r>
                    </a:p>
                  </a:txBody>
                  <a:tcPr marL="63500" marR="63500" marT="38100" marB="38100" anchor="ctr">
                    <a:lnL w="7620">
                      <a:noFill/>
                    </a:lnL>
                    <a:lnR w="7620">
                      <a:noFill/>
                    </a:lnR>
                    <a:lnT w="7620">
                      <a:noFill/>
                    </a:lnT>
                    <a:lnB w="7620">
                      <a:noFill/>
                    </a:lnB>
                    <a:solidFill>
                      <a:srgbClr val="FFFEF8"/>
                    </a:solidFill>
                  </a:tcPr>
                </a:tc>
              </a:tr>
              <a:tr h="384048">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ポルトガル語NER</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7,828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1,177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1,390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Niklaus et al. (2023). LEXTREME: A Multi-Lingual and Multi-Task Benchmark for the Legal Domain. Findings of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https://aclanthology.org/2023.findings-emnlp.200/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MAPAは、同じ文章に二段階の注釈を用意する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MAPAは固有表現を粗い分類と細かい分類で注釈する。両設定とも、2023年の報告ではtrain 27,823、validation 3,354、test 10,590のトークン列を用いる。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一つの文章に複数の分類階層があるため、設定を変えると予測対象が変わる。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MultiEURLEXには同じEU法の複数言語版も含まれる。こうした対応を生かし、分類の細かさや言語を変えた比較ができる。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構成データの件数とラベル</a:t>
            </a:r>
          </a:p>
        </p:txBody>
      </p:sp>
      <p:sp>
        <p:nvSpPr>
          <p:cNvPr id="5"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(2023). LEXTREME: A Multi-Lingual and Multi-Task Benchmark for the Legal Domain. Findings of EMNLP.</a:t>
            </a:r>
          </a:p>
          <a:p>
            <a:pPr>
              <a:lnSpc>
                <a:spcPts val="1200"/>
              </a:lnSpc>
              <a:spcBef>
                <a:spcPts val="0"/>
              </a:spcBef>
              <a:spcAft>
                <a:spcPts val="0"/>
              </a:spcAft>
            </a:pPr>
            <a:r>
              <a:rPr sz="830">
                <a:latin typeface="Noto Sans CJK JP"/>
                <a:hlinkClick r:id="rId2"/>
              </a:rPr>
              <a:t>https://aclanthology.org/2023.findings-emnlp.200/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ラベル番号と意味を対応させる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実例2の利用規約には、利用による契約成立を表すラベル7と、プライバシーを含むことを表すラベル8が付いている。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実例8の学校閉鎖措置には、閉鎖・ロックダウンを表すラベル3が付いている。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番号は、ローダーが各課題のラベル名に対応させたもの。意味を確かめながら、文章と注釈を読み取れる。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構成データの件数とラベル</a:t>
            </a:r>
          </a:p>
        </p:txBody>
      </p:sp>
      <p:sp>
        <p:nvSpPr>
          <p:cNvPr id="5"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(n.d.). LEXTREME dataset card and loader. 参照2026-10-19。</a:t>
            </a:r>
          </a:p>
          <a:p>
            <a:pPr>
              <a:lnSpc>
                <a:spcPts val="1200"/>
              </a:lnSpc>
              <a:spcBef>
                <a:spcPts val="0"/>
              </a:spcBef>
              <a:spcAft>
                <a:spcPts val="0"/>
              </a:spcAft>
            </a:pPr>
            <a:r>
              <a:rPr sz="830">
                <a:latin typeface="Noto Sans CJK JP"/>
                <a:hlinkClick r:id="rId4"/>
              </a:rPr>
              <a:t>https://huggingface.co/datasets/joelniklaus/lextreme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未注釈の行を除き、分類用データを作る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利用規約の不公正さは、clearly_fair・potentially_unfair・clearly_unfairの3種類で分類する。注釈のないuntaggedの行は、この設定から除く。</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ブラジル判決の全員一致では、unanimityとnot-unanimityの2種類を使う。決定できないnot_determinedの行は除く。</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共通の文章から、予測対象に応じたラベル付きの分割を読み出せる。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構成データの件数とラベル</a:t>
            </a:r>
          </a:p>
        </p:txBody>
      </p:sp>
      <p:sp>
        <p:nvSpPr>
          <p:cNvPr id="5"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(n.d.). LEXTREME dataset card and loader. 参照2026-10-19。</a:t>
            </a:r>
          </a:p>
          <a:p>
            <a:pPr>
              <a:lnSpc>
                <a:spcPts val="1200"/>
              </a:lnSpc>
              <a:spcBef>
                <a:spcPts val="0"/>
              </a:spcBef>
              <a:spcAft>
                <a:spcPts val="0"/>
              </a:spcAft>
            </a:pPr>
            <a:r>
              <a:rPr sz="830">
                <a:latin typeface="Noto Sans CJK JP"/>
                <a:hlinkClick r:id="rId4"/>
              </a:rPr>
              <a:t>https://huggingface.co/datasets/joelniklaus/lextreme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既存の法律データを、比較できる形にまとめる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Joel Niklaus、Veton Matoshi、Pooja Rani、Andrea Galassi、Matthias Stürmer、Ilias ChalkidisがLEXTREMEを提案した。</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法律分野の既存データを選び、共通の読込み形式と、データ別・言語別の評価方法を用意した。</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2023年の正式論文は、各データの成立と収録範囲、多言語モデルの基準実験、課題ごとの結果を報告している。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699000"/>
            <a:ext cx="8183879" cy="4191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Niklaus et al. (2023). LEXTREME: A Multi-Lingual and Multi-Task Benchmark for the Legal Domain. Findings of EMNLP.</a:t>
            </a:r>
          </a:p>
          <a:p>
            <a:pPr>
              <a:lnSpc>
                <a:spcPts val="1200"/>
              </a:lnSpc>
              <a:spcBef>
                <a:spcPts val="0"/>
              </a:spcBef>
              <a:spcAft>
                <a:spcPts val="0"/>
              </a:spcAft>
            </a:pPr>
            <a:r>
              <a:rPr sz="830">
                <a:latin typeface="Noto Sans CJK JP"/>
                <a:hlinkClick r:id="rId2"/>
              </a:rPr>
              <a:t>https://aclanthology.org/2023.findings-emnlp.200/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LEXTREME: A Multi-Lingual and Multi-Task Benchmark for the Legal Domain"/>
          <p:cNvSpPr txBox="1"/>
          <p:nvPr/>
        </p:nvSpPr>
        <p:spPr>
          <a:xfrm>
            <a:off x="548640" y="1463040"/>
            <a:ext cx="8046720" cy="1795605"/>
          </a:xfrm>
          <a:prstGeom prst="rect">
            <a:avLst/>
          </a:prstGeom>
          <a:noFill/>
        </p:spPr>
        <p:txBody>
          <a:bodyPr wrap="square" lIns="0" rIns="0" tIns="0" bIns="0">
            <a:noAutofit/>
          </a:bodyPr>
          <a:lstStyle/>
          <a:p>
            <a:pPr algn="l">
              <a:lnSpc>
                <a:spcPct val="114000"/>
              </a:lnSpc>
              <a:spcBef>
                <a:spcPts val="0"/>
              </a:spcBef>
              <a:spcAft>
                <a:spcPts val="400"/>
              </a:spcAft>
              <a:buNone/>
              <a:defRPr sz="1900" b="0">
                <a:solidFill>
                  <a:srgbClr val="303437"/>
                </a:solidFill>
                <a:latin typeface="Noto Sans"/>
              </a:defRPr>
            </a:pPr>
            <a:r>
              <a:rPr sz="1900" b="1" lang="ja-JP" altLang="en-US">
                <a:solidFill>
                  <a:srgbClr val="303437"/>
                </a:solidFill>
                <a:latin typeface="Noto Sans"/>
                <a:ea typeface="Noto Sans CJK JP"/>
                <a:cs typeface="Noto Sans"/>
              </a:rPr>
              <a:t>LEXTREME: A Multi-Lingual and Multi-Task Benchmark for the Legal Domain</a:t>
            </a:r>
          </a:p>
          <a:p>
            <a:pPr algn="l">
              <a:lnSpc>
                <a:spcPct val="114000"/>
              </a:lnSpc>
              <a:spcBef>
                <a:spcPts val="0"/>
              </a:spcBef>
              <a:spcAft>
                <a:spcPts val="400"/>
              </a:spcAft>
              <a:buNone/>
              <a:defRPr sz="1250" b="0">
                <a:solidFill>
                  <a:srgbClr val="303437"/>
                </a:solidFill>
                <a:latin typeface="Noto Sans"/>
              </a:defRPr>
            </a:pPr>
            <a:r>
              <a:rPr sz="1250" b="0" lang="ja-JP" altLang="en-US">
                <a:solidFill>
                  <a:srgbClr val="626669"/>
                </a:solidFill>
                <a:latin typeface="Noto Sans"/>
                <a:ea typeface="Noto Sans CJK JP"/>
                <a:cs typeface="Noto Sans"/>
              </a:rPr>
              <a:t>Joel Niklaus, Veton Matoshi, Pooja Rani, Andrea Galassi, Matthias Stürmer &amp; Ilias Chalkidis. 2023. Findings of EMNLP 2023, 3016–3053.</a:t>
            </a:r>
          </a:p>
          <a:p>
            <a:pPr algn="l">
              <a:lnSpc>
                <a:spcPct val="114000"/>
              </a:lnSpc>
              <a:spcBef>
                <a:spcPts val="0"/>
              </a:spcBef>
              <a:spcAft>
                <a:spcPts val="400"/>
              </a:spcAft>
              <a:buNone/>
              <a:defRPr sz="1700" b="0">
                <a:solidFill>
                  <a:srgbClr val="303437"/>
                </a:solidFill>
                <a:latin typeface="Noto Sans"/>
              </a:defRPr>
            </a:pPr>
            <a:r>
              <a:rPr sz="1700" b="0" lang="ja-JP" altLang="en-US">
                <a:solidFill>
                  <a:srgbClr val="303437"/>
                </a:solidFill>
                <a:latin typeface="Noto Sans"/>
                <a:ea typeface="Noto Sans CJK JP"/>
                <a:cs typeface="Noto Sans"/>
              </a:rPr>
              <a:t>11データセットの選定、18設定、言語別・データ別集約、モデル評価を示す。</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https://aclanthology.org/2023.findings-emnlp.200/</a:t>
            </a:r>
          </a:p>
        </p:txBody>
      </p:sp>
      <p:sp>
        <p:nvSpPr>
          <p:cNvPr id="5" name="文献 2: LEXTREME dataset card and loader"/>
          <p:cNvSpPr txBox="1"/>
          <p:nvPr/>
        </p:nvSpPr>
        <p:spPr>
          <a:xfrm>
            <a:off x="548640" y="3295777"/>
            <a:ext cx="8046720" cy="1248794"/>
          </a:xfrm>
          <a:prstGeom prst="rect">
            <a:avLst/>
          </a:prstGeom>
          <a:noFill/>
        </p:spPr>
        <p:txBody>
          <a:bodyPr wrap="square" lIns="0" rIns="0" tIns="0" bIns="0">
            <a:noAutofit/>
          </a:bodyPr>
          <a:lstStyle/>
          <a:p>
            <a:pPr algn="l">
              <a:lnSpc>
                <a:spcPct val="114000"/>
              </a:lnSpc>
              <a:spcBef>
                <a:spcPts val="0"/>
              </a:spcBef>
              <a:spcAft>
                <a:spcPts val="400"/>
              </a:spcAft>
              <a:buNone/>
              <a:defRPr sz="1900" b="0">
                <a:solidFill>
                  <a:srgbClr val="303437"/>
                </a:solidFill>
                <a:latin typeface="Noto Sans"/>
              </a:defRPr>
            </a:pPr>
            <a:r>
              <a:rPr sz="1900" b="1" lang="ja-JP" altLang="en-US">
                <a:solidFill>
                  <a:srgbClr val="303437"/>
                </a:solidFill>
                <a:latin typeface="Noto Sans"/>
                <a:ea typeface="Noto Sans CJK JP"/>
                <a:cs typeface="Noto Sans"/>
              </a:rPr>
              <a:t>LEXTREME dataset card and loader</a:t>
            </a:r>
          </a:p>
          <a:p>
            <a:pPr algn="l">
              <a:lnSpc>
                <a:spcPct val="114000"/>
              </a:lnSpc>
              <a:spcBef>
                <a:spcPts val="0"/>
              </a:spcBef>
              <a:spcAft>
                <a:spcPts val="400"/>
              </a:spcAft>
              <a:buNone/>
              <a:defRPr sz="1250" b="0">
                <a:solidFill>
                  <a:srgbClr val="303437"/>
                </a:solidFill>
                <a:latin typeface="Noto Sans"/>
              </a:defRPr>
            </a:pPr>
            <a:r>
              <a:rPr sz="1250" b="0" lang="ja-JP" altLang="en-US">
                <a:solidFill>
                  <a:srgbClr val="626669"/>
                </a:solidFill>
                <a:latin typeface="Noto Sans"/>
                <a:ea typeface="Noto Sans CJK JP"/>
                <a:cs typeface="Noto Sans"/>
              </a:rPr>
              <a:t>Niklaus et al. (n.d.). Hugging Face Datasets. 参照2026-10-19。</a:t>
            </a:r>
          </a:p>
          <a:p>
            <a:pPr algn="l">
              <a:lnSpc>
                <a:spcPct val="114000"/>
              </a:lnSpc>
              <a:spcBef>
                <a:spcPts val="0"/>
              </a:spcBef>
              <a:spcAft>
                <a:spcPts val="400"/>
              </a:spcAft>
              <a:buNone/>
              <a:defRPr sz="1700" b="0">
                <a:solidFill>
                  <a:srgbClr val="303437"/>
                </a:solidFill>
                <a:latin typeface="Noto Sans"/>
              </a:defRPr>
            </a:pPr>
            <a:r>
              <a:rPr sz="1700" b="0" lang="ja-JP" altLang="en-US">
                <a:solidFill>
                  <a:srgbClr val="303437"/>
                </a:solidFill>
                <a:latin typeface="Noto Sans"/>
                <a:ea typeface="Noto Sans CJK JP"/>
                <a:cs typeface="Noto Sans"/>
              </a:rPr>
              <a:t>構成データの読込み、入力とラベルの対応、追加データを案内する。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https://huggingface.co/datasets/joelniklaus/lextreme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Design and Implementation of German Legal Decision Corpora"/>
          <p:cNvSpPr txBox="1"/>
          <p:nvPr/>
        </p:nvSpPr>
        <p:spPr>
          <a:xfrm>
            <a:off x="548640" y="1463040"/>
            <a:ext cx="8046720" cy="1248769"/>
          </a:xfrm>
          <a:prstGeom prst="rect">
            <a:avLst/>
          </a:prstGeom>
          <a:noFill/>
        </p:spPr>
        <p:txBody>
          <a:bodyPr wrap="square" lIns="0" rIns="0" tIns="0" bIns="0">
            <a:noAutofit/>
          </a:bodyPr>
          <a:lstStyle/>
          <a:p>
            <a:pPr algn="l">
              <a:lnSpc>
                <a:spcPct val="114000"/>
              </a:lnSpc>
              <a:spcBef>
                <a:spcPts val="0"/>
              </a:spcBef>
              <a:spcAft>
                <a:spcPts val="400"/>
              </a:spcAft>
              <a:buNone/>
              <a:defRPr sz="1900" b="0">
                <a:solidFill>
                  <a:srgbClr val="303437"/>
                </a:solidFill>
                <a:latin typeface="Noto Sans"/>
              </a:defRPr>
            </a:pPr>
            <a:r>
              <a:rPr sz="1900" b="1" lang="ja-JP" altLang="en-US">
                <a:solidFill>
                  <a:srgbClr val="303437"/>
                </a:solidFill>
                <a:latin typeface="Noto Sans"/>
                <a:ea typeface="Noto Sans CJK JP"/>
                <a:cs typeface="Noto Sans"/>
              </a:rPr>
              <a:t>Design and Implementation of German Legal Decision Corpora</a:t>
            </a:r>
          </a:p>
          <a:p>
            <a:pPr algn="l">
              <a:lnSpc>
                <a:spcPct val="114000"/>
              </a:lnSpc>
              <a:spcBef>
                <a:spcPts val="0"/>
              </a:spcBef>
              <a:spcAft>
                <a:spcPts val="400"/>
              </a:spcAft>
              <a:buNone/>
              <a:defRPr sz="1250" b="0">
                <a:solidFill>
                  <a:srgbClr val="303437"/>
                </a:solidFill>
                <a:latin typeface="Noto Sans"/>
              </a:defRPr>
            </a:pPr>
            <a:r>
              <a:rPr sz="1250" b="0" lang="ja-JP" altLang="en-US">
                <a:solidFill>
                  <a:srgbClr val="626669"/>
                </a:solidFill>
                <a:latin typeface="Noto Sans"/>
                <a:ea typeface="Noto Sans CJK JP"/>
                <a:cs typeface="Noto Sans"/>
              </a:rPr>
              <a:t>Stefanie Urchs, Jelena Mitrović &amp; Michael Granitzer. 2021. ICAART, vol. 2, 515–521.</a:t>
            </a:r>
          </a:p>
          <a:p>
            <a:pPr algn="l">
              <a:lnSpc>
                <a:spcPct val="114000"/>
              </a:lnSpc>
              <a:spcBef>
                <a:spcPts val="0"/>
              </a:spcBef>
              <a:spcAft>
                <a:spcPts val="400"/>
              </a:spcAft>
              <a:buNone/>
              <a:defRPr sz="1700" b="0">
                <a:solidFill>
                  <a:srgbClr val="303437"/>
                </a:solidFill>
                <a:latin typeface="Noto Sans"/>
              </a:defRPr>
            </a:pPr>
            <a:r>
              <a:rPr sz="1700" b="0" lang="ja-JP" altLang="en-US">
                <a:solidFill>
                  <a:srgbClr val="303437"/>
                </a:solidFill>
                <a:latin typeface="Noto Sans"/>
                <a:ea typeface="Noto Sans CJK JP"/>
                <a:cs typeface="Noto Sans"/>
              </a:rPr>
              <a:t>ドイツ語判決の議論上の役割を注釈したコーパスを構築する。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https://doi.org/10.5220/0010187305150521</a:t>
            </a:r>
          </a:p>
        </p:txBody>
      </p:sp>
      <p:sp>
        <p:nvSpPr>
          <p:cNvPr id="5" name="文献 2: A Corpus for Multilingual Analysis of Online Terms of Service"/>
          <p:cNvSpPr txBox="1"/>
          <p:nvPr/>
        </p:nvSpPr>
        <p:spPr>
          <a:xfrm>
            <a:off x="548640" y="2839719"/>
            <a:ext cx="8046720" cy="1465813"/>
          </a:xfrm>
          <a:prstGeom prst="rect">
            <a:avLst/>
          </a:prstGeom>
          <a:noFill/>
        </p:spPr>
        <p:txBody>
          <a:bodyPr wrap="square" lIns="0" rIns="0" tIns="0" bIns="0">
            <a:noAutofit/>
          </a:bodyPr>
          <a:lstStyle/>
          <a:p>
            <a:pPr algn="l">
              <a:lnSpc>
                <a:spcPct val="114000"/>
              </a:lnSpc>
              <a:spcBef>
                <a:spcPts val="0"/>
              </a:spcBef>
              <a:spcAft>
                <a:spcPts val="400"/>
              </a:spcAft>
              <a:buNone/>
              <a:defRPr sz="1900" b="0">
                <a:solidFill>
                  <a:srgbClr val="303437"/>
                </a:solidFill>
                <a:latin typeface="Noto Sans"/>
              </a:defRPr>
            </a:pPr>
            <a:r>
              <a:rPr sz="1900" b="1" lang="ja-JP" altLang="en-US">
                <a:solidFill>
                  <a:srgbClr val="303437"/>
                </a:solidFill>
                <a:latin typeface="Noto Sans"/>
                <a:ea typeface="Noto Sans CJK JP"/>
                <a:cs typeface="Noto Sans"/>
              </a:rPr>
              <a:t>A Corpus for Multilingual Analysis of Online Terms of Service</a:t>
            </a:r>
          </a:p>
          <a:p>
            <a:pPr algn="l">
              <a:lnSpc>
                <a:spcPct val="114000"/>
              </a:lnSpc>
              <a:spcBef>
                <a:spcPts val="0"/>
              </a:spcBef>
              <a:spcAft>
                <a:spcPts val="400"/>
              </a:spcAft>
              <a:buNone/>
              <a:defRPr sz="1250" b="0">
                <a:solidFill>
                  <a:srgbClr val="303437"/>
                </a:solidFill>
                <a:latin typeface="Noto Sans"/>
              </a:defRPr>
            </a:pPr>
            <a:r>
              <a:rPr sz="1250" b="0" lang="ja-JP" altLang="en-US">
                <a:solidFill>
                  <a:srgbClr val="626669"/>
                </a:solidFill>
                <a:latin typeface="Noto Sans"/>
                <a:ea typeface="Noto Sans CJK JP"/>
                <a:cs typeface="Noto Sans"/>
              </a:rPr>
              <a:t>Kasper Drawzeski, Andrea Galassi, Agnieszka Jabłonowska, Francesca Lagioia, Marco Lippi, Hans-Wolfgang Micklitz, Giovanni Sartor, Giacomo Tagiuri &amp; Paolo Torroni. 2021. NLLP, 1–8.</a:t>
            </a:r>
          </a:p>
          <a:p>
            <a:pPr algn="l">
              <a:lnSpc>
                <a:spcPct val="114000"/>
              </a:lnSpc>
              <a:spcBef>
                <a:spcPts val="0"/>
              </a:spcBef>
              <a:spcAft>
                <a:spcPts val="400"/>
              </a:spcAft>
              <a:buNone/>
              <a:defRPr sz="1700" b="0">
                <a:solidFill>
                  <a:srgbClr val="303437"/>
                </a:solidFill>
                <a:latin typeface="Noto Sans"/>
              </a:defRPr>
            </a:pPr>
            <a:r>
              <a:rPr sz="1700" b="0" lang="ja-JP" altLang="en-US">
                <a:solidFill>
                  <a:srgbClr val="303437"/>
                </a:solidFill>
                <a:latin typeface="Noto Sans"/>
                <a:ea typeface="Noto Sans CJK JP"/>
                <a:cs typeface="Noto Sans"/>
              </a:rPr>
              <a:t>利用規約の不公正さと条項の話題を複数言語で注釈する。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https://aclanthology.org/2021.nllp-1.1/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A Multilingual Approach to Identify and Classify Exceptional Measures against COVID-19"/>
          <p:cNvSpPr txBox="1"/>
          <p:nvPr/>
        </p:nvSpPr>
        <p:spPr>
          <a:xfrm>
            <a:off x="548640" y="1463040"/>
            <a:ext cx="8046720" cy="1795605"/>
          </a:xfrm>
          <a:prstGeom prst="rect">
            <a:avLst/>
          </a:prstGeom>
          <a:noFill/>
        </p:spPr>
        <p:txBody>
          <a:bodyPr wrap="square" lIns="0" rIns="0" tIns="0" bIns="0">
            <a:noAutofit/>
          </a:bodyPr>
          <a:lstStyle/>
          <a:p>
            <a:pPr algn="l">
              <a:lnSpc>
                <a:spcPct val="114000"/>
              </a:lnSpc>
              <a:spcBef>
                <a:spcPts val="0"/>
              </a:spcBef>
              <a:spcAft>
                <a:spcPts val="400"/>
              </a:spcAft>
              <a:buNone/>
              <a:defRPr sz="1900" b="0">
                <a:solidFill>
                  <a:srgbClr val="303437"/>
                </a:solidFill>
                <a:latin typeface="Noto Sans"/>
              </a:defRPr>
            </a:pPr>
            <a:r>
              <a:rPr sz="1900" b="1" lang="ja-JP" altLang="en-US">
                <a:solidFill>
                  <a:srgbClr val="303437"/>
                </a:solidFill>
                <a:latin typeface="Noto Sans"/>
                <a:ea typeface="Noto Sans CJK JP"/>
                <a:cs typeface="Noto Sans"/>
              </a:rPr>
              <a:t>A Multilingual Approach to Identify and Classify Exceptional Measures against COVID-19</a:t>
            </a:r>
          </a:p>
          <a:p>
            <a:pPr algn="l">
              <a:lnSpc>
                <a:spcPct val="114000"/>
              </a:lnSpc>
              <a:spcBef>
                <a:spcPts val="0"/>
              </a:spcBef>
              <a:spcAft>
                <a:spcPts val="400"/>
              </a:spcAft>
              <a:buNone/>
              <a:defRPr sz="1250" b="0">
                <a:solidFill>
                  <a:srgbClr val="303437"/>
                </a:solidFill>
                <a:latin typeface="Noto Sans"/>
              </a:defRPr>
            </a:pPr>
            <a:r>
              <a:rPr sz="1250" b="0" lang="ja-JP" altLang="en-US">
                <a:solidFill>
                  <a:srgbClr val="626669"/>
                </a:solidFill>
                <a:latin typeface="Noto Sans"/>
                <a:ea typeface="Noto Sans CJK JP"/>
                <a:cs typeface="Noto Sans"/>
              </a:rPr>
              <a:t>Georgios Tziafas, Eugénie de Saint-Phalle, Wietse de Vries, Clara Egger &amp; Tommaso Caselli. 2021. NLLP, 46–62.</a:t>
            </a:r>
          </a:p>
          <a:p>
            <a:pPr algn="l">
              <a:lnSpc>
                <a:spcPct val="114000"/>
              </a:lnSpc>
              <a:spcBef>
                <a:spcPts val="0"/>
              </a:spcBef>
              <a:spcAft>
                <a:spcPts val="400"/>
              </a:spcAft>
              <a:buNone/>
              <a:defRPr sz="1700" b="0">
                <a:solidFill>
                  <a:srgbClr val="303437"/>
                </a:solidFill>
                <a:latin typeface="Noto Sans"/>
              </a:defRPr>
            </a:pPr>
            <a:r>
              <a:rPr sz="1700" b="0" lang="ja-JP" altLang="en-US">
                <a:solidFill>
                  <a:srgbClr val="303437"/>
                </a:solidFill>
                <a:latin typeface="Noto Sans"/>
                <a:ea typeface="Noto Sans CJK JP"/>
                <a:cs typeface="Noto Sans"/>
              </a:rPr>
              <a:t>各国のCOVID-19対策文書から例外的措置の種類を分類する。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https://aclanthology.org/2021.nllp-1.5/</a:t>
            </a:r>
          </a:p>
        </p:txBody>
      </p:sp>
      <p:sp>
        <p:nvSpPr>
          <p:cNvPr id="5" name="文献 2: Romanian Named Entity Recognition in the Legal domain (LegalNERo)"/>
          <p:cNvSpPr txBox="1"/>
          <p:nvPr/>
        </p:nvSpPr>
        <p:spPr>
          <a:xfrm>
            <a:off x="548640" y="3295777"/>
            <a:ext cx="8046720" cy="1795631"/>
          </a:xfrm>
          <a:prstGeom prst="rect">
            <a:avLst/>
          </a:prstGeom>
          <a:noFill/>
        </p:spPr>
        <p:txBody>
          <a:bodyPr wrap="square" lIns="0" rIns="0" tIns="0" bIns="0">
            <a:noAutofit/>
          </a:bodyPr>
          <a:lstStyle/>
          <a:p>
            <a:pPr algn="l">
              <a:lnSpc>
                <a:spcPct val="114000"/>
              </a:lnSpc>
              <a:spcBef>
                <a:spcPts val="0"/>
              </a:spcBef>
              <a:spcAft>
                <a:spcPts val="400"/>
              </a:spcAft>
              <a:buNone/>
              <a:defRPr sz="1900" b="0">
                <a:solidFill>
                  <a:srgbClr val="303437"/>
                </a:solidFill>
                <a:latin typeface="Noto Sans"/>
              </a:defRPr>
            </a:pPr>
            <a:r>
              <a:rPr sz="1900" b="1" lang="ja-JP" altLang="en-US">
                <a:solidFill>
                  <a:srgbClr val="303437"/>
                </a:solidFill>
                <a:latin typeface="Noto Sans"/>
                <a:ea typeface="Noto Sans CJK JP"/>
                <a:cs typeface="Noto Sans"/>
              </a:rPr>
              <a:t>Romanian Named Entity Recognition in the Legal domain (LegalNERo)</a:t>
            </a:r>
          </a:p>
          <a:p>
            <a:pPr algn="l">
              <a:lnSpc>
                <a:spcPct val="114000"/>
              </a:lnSpc>
              <a:spcBef>
                <a:spcPts val="0"/>
              </a:spcBef>
              <a:spcAft>
                <a:spcPts val="400"/>
              </a:spcAft>
              <a:buNone/>
              <a:defRPr sz="1250" b="0">
                <a:solidFill>
                  <a:srgbClr val="303437"/>
                </a:solidFill>
                <a:latin typeface="Noto Sans"/>
              </a:defRPr>
            </a:pPr>
            <a:r>
              <a:rPr sz="1250" b="0" lang="ja-JP" altLang="en-US">
                <a:solidFill>
                  <a:srgbClr val="626669"/>
                </a:solidFill>
                <a:latin typeface="Noto Sans"/>
                <a:ea typeface="Noto Sans CJK JP"/>
                <a:cs typeface="Noto Sans"/>
              </a:rPr>
              <a:t>Vasile Păiș, Maria Mitrofan, Carol Luca Gasan, Alexandru Ianov, Corvin Ghiță, Vlad Silviu Coneschi &amp; Andrei Onuț. 2021. Zenodo.</a:t>
            </a:r>
          </a:p>
          <a:p>
            <a:pPr algn="l">
              <a:lnSpc>
                <a:spcPct val="114000"/>
              </a:lnSpc>
              <a:spcBef>
                <a:spcPts val="0"/>
              </a:spcBef>
              <a:spcAft>
                <a:spcPts val="400"/>
              </a:spcAft>
              <a:buNone/>
              <a:defRPr sz="1700" b="0">
                <a:solidFill>
                  <a:srgbClr val="303437"/>
                </a:solidFill>
                <a:latin typeface="Noto Sans"/>
              </a:defRPr>
            </a:pPr>
            <a:r>
              <a:rPr sz="1700" b="0" lang="ja-JP" altLang="en-US">
                <a:solidFill>
                  <a:srgbClr val="303437"/>
                </a:solidFill>
                <a:latin typeface="Noto Sans"/>
                <a:ea typeface="Noto Sans CJK JP"/>
                <a:cs typeface="Noto Sans"/>
              </a:rPr>
              <a:t>ルーマニア語の法律文書に人名・組織・日時などを注釈する。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https://doi.org/10.5281/zenodo.4922385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Named Entity Recognition, Linking and Generation for Greek Legislation"/>
          <p:cNvSpPr txBox="1"/>
          <p:nvPr/>
        </p:nvSpPr>
        <p:spPr>
          <a:xfrm>
            <a:off x="548640" y="1463040"/>
            <a:ext cx="8046720" cy="1578524"/>
          </a:xfrm>
          <a:prstGeom prst="rect">
            <a:avLst/>
          </a:prstGeom>
          <a:noFill/>
        </p:spPr>
        <p:txBody>
          <a:bodyPr wrap="square" lIns="0" rIns="0" tIns="0" bIns="0">
            <a:noAutofit/>
          </a:bodyPr>
          <a:lstStyle/>
          <a:p>
            <a:pPr algn="l">
              <a:lnSpc>
                <a:spcPct val="114000"/>
              </a:lnSpc>
              <a:spcBef>
                <a:spcPts val="0"/>
              </a:spcBef>
              <a:spcAft>
                <a:spcPts val="400"/>
              </a:spcAft>
              <a:buNone/>
              <a:defRPr sz="1900" b="0">
                <a:solidFill>
                  <a:srgbClr val="303437"/>
                </a:solidFill>
                <a:latin typeface="Noto Sans"/>
              </a:defRPr>
            </a:pPr>
            <a:r>
              <a:rPr sz="1900" b="1" lang="ja-JP" altLang="en-US">
                <a:solidFill>
                  <a:srgbClr val="303437"/>
                </a:solidFill>
                <a:latin typeface="Noto Sans"/>
                <a:ea typeface="Noto Sans CJK JP"/>
                <a:cs typeface="Noto Sans"/>
              </a:rPr>
              <a:t>Named Entity Recognition, Linking and Generation for Greek Legislation</a:t>
            </a:r>
          </a:p>
          <a:p>
            <a:pPr algn="l">
              <a:lnSpc>
                <a:spcPct val="114000"/>
              </a:lnSpc>
              <a:spcBef>
                <a:spcPts val="0"/>
              </a:spcBef>
              <a:spcAft>
                <a:spcPts val="400"/>
              </a:spcAft>
              <a:buNone/>
              <a:defRPr sz="1250" b="0">
                <a:solidFill>
                  <a:srgbClr val="303437"/>
                </a:solidFill>
                <a:latin typeface="Noto Sans"/>
              </a:defRPr>
            </a:pPr>
            <a:r>
              <a:rPr sz="1250" b="0" lang="ja-JP" altLang="en-US">
                <a:solidFill>
                  <a:srgbClr val="626669"/>
                </a:solidFill>
                <a:latin typeface="Noto Sans"/>
                <a:ea typeface="Noto Sans CJK JP"/>
                <a:cs typeface="Noto Sans"/>
              </a:rPr>
              <a:t>Iosif Angelidis, Ilias Chalkidis &amp; Manolis Koubarakis. 2018. JURIX.</a:t>
            </a:r>
          </a:p>
          <a:p>
            <a:pPr algn="l">
              <a:lnSpc>
                <a:spcPct val="114000"/>
              </a:lnSpc>
              <a:spcBef>
                <a:spcPts val="0"/>
              </a:spcBef>
              <a:spcAft>
                <a:spcPts val="400"/>
              </a:spcAft>
              <a:buNone/>
              <a:defRPr sz="1700" b="0">
                <a:solidFill>
                  <a:srgbClr val="303437"/>
                </a:solidFill>
                <a:latin typeface="Noto Sans"/>
              </a:defRPr>
            </a:pPr>
            <a:r>
              <a:rPr sz="1700" b="0" lang="ja-JP" altLang="en-US">
                <a:solidFill>
                  <a:srgbClr val="303437"/>
                </a:solidFill>
                <a:latin typeface="Noto Sans"/>
                <a:ea typeface="Noto Sans CJK JP"/>
                <a:cs typeface="Noto Sans"/>
              </a:rPr>
              <a:t>ギリシャ語法令の固有表現と法令参照を認識・関連付けする。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https://huggingface.co/datasets/joelniklaus/greek_legal_ner</a:t>
            </a:r>
          </a:p>
        </p:txBody>
      </p:sp>
      <p:sp>
        <p:nvSpPr>
          <p:cNvPr id="5" name="文献 2: Predicting Brazilian Court Decisions"/>
          <p:cNvSpPr txBox="1"/>
          <p:nvPr/>
        </p:nvSpPr>
        <p:spPr>
          <a:xfrm>
            <a:off x="548640" y="3114801"/>
            <a:ext cx="8046720" cy="1465762"/>
          </a:xfrm>
          <a:prstGeom prst="rect">
            <a:avLst/>
          </a:prstGeom>
          <a:noFill/>
        </p:spPr>
        <p:txBody>
          <a:bodyPr wrap="square" lIns="0" rIns="0" tIns="0" bIns="0">
            <a:noAutofit/>
          </a:bodyPr>
          <a:lstStyle/>
          <a:p>
            <a:pPr algn="l">
              <a:lnSpc>
                <a:spcPct val="114000"/>
              </a:lnSpc>
              <a:spcBef>
                <a:spcPts val="0"/>
              </a:spcBef>
              <a:spcAft>
                <a:spcPts val="400"/>
              </a:spcAft>
              <a:buNone/>
              <a:defRPr sz="1900" b="0">
                <a:solidFill>
                  <a:srgbClr val="303437"/>
                </a:solidFill>
                <a:latin typeface="Noto Sans"/>
              </a:defRPr>
            </a:pPr>
            <a:r>
              <a:rPr sz="1900" b="1" lang="ja-JP" altLang="en-US">
                <a:solidFill>
                  <a:srgbClr val="303437"/>
                </a:solidFill>
                <a:latin typeface="Noto Sans"/>
                <a:ea typeface="Noto Sans CJK JP"/>
                <a:cs typeface="Noto Sans"/>
              </a:rPr>
              <a:t>Predicting Brazilian Court Decisions</a:t>
            </a:r>
          </a:p>
          <a:p>
            <a:pPr algn="l">
              <a:lnSpc>
                <a:spcPct val="114000"/>
              </a:lnSpc>
              <a:spcBef>
                <a:spcPts val="0"/>
              </a:spcBef>
              <a:spcAft>
                <a:spcPts val="400"/>
              </a:spcAft>
              <a:buNone/>
              <a:defRPr sz="1250" b="0">
                <a:solidFill>
                  <a:srgbClr val="303437"/>
                </a:solidFill>
                <a:latin typeface="Noto Sans"/>
              </a:defRPr>
            </a:pPr>
            <a:r>
              <a:rPr sz="1250" b="0" lang="ja-JP" altLang="en-US">
                <a:solidFill>
                  <a:srgbClr val="626669"/>
                </a:solidFill>
                <a:latin typeface="Noto Sans"/>
                <a:ea typeface="Noto Sans CJK JP"/>
                <a:cs typeface="Noto Sans"/>
              </a:rPr>
              <a:t>André Lage-Freitas, Héctor Allende-Cid, Orivaldo Santana &amp; Lívia Oliveira-Lage. 2022. PeerJ Computer Science 8, e904.</a:t>
            </a:r>
          </a:p>
          <a:p>
            <a:pPr algn="l">
              <a:lnSpc>
                <a:spcPct val="114000"/>
              </a:lnSpc>
              <a:spcBef>
                <a:spcPts val="0"/>
              </a:spcBef>
              <a:spcAft>
                <a:spcPts val="400"/>
              </a:spcAft>
              <a:buNone/>
              <a:defRPr sz="1700" b="0">
                <a:solidFill>
                  <a:srgbClr val="303437"/>
                </a:solidFill>
                <a:latin typeface="Noto Sans"/>
              </a:defRPr>
            </a:pPr>
            <a:r>
              <a:rPr sz="1700" b="0" lang="ja-JP" altLang="en-US">
                <a:solidFill>
                  <a:srgbClr val="303437"/>
                </a:solidFill>
                <a:latin typeface="Noto Sans"/>
                <a:ea typeface="Noto Sans CJK JP"/>
                <a:cs typeface="Noto Sans"/>
              </a:rPr>
              <a:t>ブラジルの裁判例から判決結果を予測するデータと手法を示す。</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https://doi.org/10.7717/peerj-cs.904</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2026-10-18T07:38:19Z</dcterms:modified>
  <dc:title>lextreme</dc:title>
  <dc:creator>sasakiy84</dc:creator>
  <dcterms:created xsi:type="dcterms:W3CDTF">2026-10-18T07:38:19Z</dcterms:created>
  <dc:language>ja-JP</dc:language>
</cp:coreProperties>
</file>