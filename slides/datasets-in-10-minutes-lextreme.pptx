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datasets/joelniklaus/lextrem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 Id="rId3" Type="http://schemas.openxmlformats.org/officeDocument/2006/relationships/hyperlink" Target="https://github.com/stanford-crfm/helm/blob/v0.3.0/src/helm/benchmark/scenarios/lextreme_scenario.p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german_argument_mining/tree/576b52004ed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online_terms_of_service/tree/448c5caa985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legalnero/tree/a072e8508049"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lextreme_scenario.py" TargetMode="External"/><Relationship Id="rId3" Type="http://schemas.openxmlformats.org/officeDocument/2006/relationships/hyperlink" Target="https://huggingface.co/datasets/joelniklaus/legalnero/tree/a072e850804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 Id="rId3" Type="http://schemas.openxmlformats.org/officeDocument/2006/relationships/hyperlink" Target="https://huggingface.co/datasets/joelniklaus/lextreme/blob/65f6046b8083/lextreme.p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 Id="rId3" Type="http://schemas.openxmlformats.org/officeDocument/2006/relationships/hyperlink" Target="https://huggingface.co/datasets/joelniklaus/lextreme/blob/65f6046b8083/lextreme.p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lextreme_scenario.py" TargetMode="External"/><Relationship Id="rId3" Type="http://schemas.openxmlformats.org/officeDocument/2006/relationships/hyperlink" Target="https://github.com/stanford-crfm/helm/blob/v0.3.0/src/helm/benchmark/run_specs.p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lextreme_scenario.p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lextrem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run_specs.py" TargetMode="External"/><Relationship Id="rId3" Type="http://schemas.openxmlformats.org/officeDocument/2006/relationships/hyperlink" Target="https://github.com/stanford-crfm/helm/blob/v0.3.0/src/helm/benchmark/metrics/classification_metrics.p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lextreme/blob/65f6046b8083/lextreme.p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joelniklaus/lextreme/blob/65f6046b8083/lextreme.py" TargetMode="External"/><Relationship Id="rId3" Type="http://schemas.openxmlformats.org/officeDocument/2006/relationships/hyperlink" Target="https://github.com/stanford-crfm/helm/blob/v0.3.0/src/helm/benchmark/scenarios/lextreme_scenario.p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joelniklaus/lextreme" TargetMode="External"/><Relationship Id="rId3" Type="http://schemas.openxmlformats.org/officeDocument/2006/relationships/hyperlink" Target="https://github.com/stanford-crfm/helm/blob/v0.3.0/LICENSE"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joelniklaus/lextreme" TargetMode="External"/><Relationship Id="rId3" Type="http://schemas.openxmlformats.org/officeDocument/2006/relationships/hyperlink" Target="https://github.com/stanford-crfm/helm/blob/v0.3.0/src/helm/benchmark/scenarios/lextreme_scenario.p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 Id="rId3" Type="http://schemas.openxmlformats.org/officeDocument/2006/relationships/hyperlink" Target="https://crfm.stanford.edu/helm/classic/v0.4.0/#/groups/lextrem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german_argument_mining/tree/576b52004ed7"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german_argument_mining/tree/576b52004ed7"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online_terms_of_service/tree/448c5caa985b"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online_terms_of_service/tree/448c5caa985b"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covid19_emergency_event/tree/bba0491bc1ba"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covid19_emergency_event/tree/bba0491bc1b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covid19_emergency_event/tree/bba0491bc1b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greek_legal_ner/tree/e2bc5fd22217"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brazilian_court_decisions/tree/e937c2db8eab"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brazilian_court_decisions/tree/e937c2db8eab"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lextreme_scenario.p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joelniklaus/lextreme/blob/65f6046b8083/lextreme.py" TargetMode="External"/><Relationship Id="rId3" Type="http://schemas.openxmlformats.org/officeDocument/2006/relationships/hyperlink" Target="https://github.com/stanford-crfm/helm/blob/v0.3.0/src/helm/benchmark/scenarios/lextreme_scenario.py"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lextreme_scenario.py"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joelniklaus/lextreme/blob/65f6046b8083/lextreme.py" TargetMode="External"/><Relationship Id="rId3" Type="http://schemas.openxmlformats.org/officeDocument/2006/relationships/hyperlink" Target="https://github.com/stanford-crfm/helm/blob/v0.3.0/src/helm/benchmark/scenarios/lextreme_scenario.py"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2023.findings-emnlp.200/" TargetMode="External"/><Relationship Id="rId3" Type="http://schemas.openxmlformats.org/officeDocument/2006/relationships/hyperlink" Target="https://github.com/stanford-crfm/helm/blob/v0.3.0/src/helm/benchmark/scenarios/lextreme_scenario.p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3.findings-emnlp.200/" TargetMode="External"/><Relationship Id="rId3" Type="http://schemas.openxmlformats.org/officeDocument/2006/relationships/hyperlink" Target="https://huggingface.co/datasets/joelniklaus/lextrem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scenarios/lextreme_scenario.py" TargetMode="External"/><Relationship Id="rId3" Type="http://schemas.openxmlformats.org/officeDocument/2006/relationships/hyperlink" Target="https://crfm.stanford.edu/helm/classic/v0.4.0/#/groups/lextrem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5220/0010187305150521" TargetMode="External"/><Relationship Id="rId3" Type="http://schemas.openxmlformats.org/officeDocument/2006/relationships/hyperlink" Target="https://aclanthology.org/2021.nllp-1.1/"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2021.nllp-1.5/" TargetMode="External"/><Relationship Id="rId3" Type="http://schemas.openxmlformats.org/officeDocument/2006/relationships/hyperlink" Target="https://doi.org/10.5281/zenodo.4922385"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joelniklaus/greek_legal_ner" TargetMode="External"/><Relationship Id="rId3" Type="http://schemas.openxmlformats.org/officeDocument/2006/relationships/hyperlink" Target="https://doi.org/10.7717/peerj-cs.90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LEXTREME</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多言語・多タスクの法律ベンチマーク</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文書分類、複数ラベル、固有表現を読む</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公式配布ページ：LEXTREME</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LEXTREME</a:t>
            </a:r>
          </a:p>
        </p:txBody>
      </p:sp>
      <p:pic>
        <p:nvPicPr>
          <p:cNvPr id="4" name="Picture 3" descr="official-site.png"/>
          <p:cNvPicPr>
            <a:picLocks noChangeAspect="1"/>
          </p:cNvPicPr>
          <p:nvPr/>
        </p:nvPicPr>
        <p:blipFill>
          <a:blip r:embed="rId2"/>
          <a:stretch>
            <a:fillRect/>
          </a:stretch>
        </p:blipFill>
        <p:spPr>
          <a:xfrm>
            <a:off x="1977255" y="1481328"/>
            <a:ext cx="5189488"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 Niklaus et al. LEXTREME dataset card. 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https://huggingface.co/datasets/joelniklaus/lextreme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法律文書の三つの読み取り方</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データ・言語・法域を組み合わせる</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原スイートとHELMの評価条件</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入手方法と利用の範囲</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法律文書の三つの読み取り方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法律文書の理解を多言語で測る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LEXTREMEは、法律文書の理解を多言語で測るためのデータセット群。既存の裁判例・法令・利用規約などを共通の形式にそろえている。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2023年のスイートは11データセットを18設定に分けて評価する。単一ラベル分類8設定、複数ラベル分類5設定、固有表現認識5設定からなる。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判決の結果、条項の話題、日付や法令名など、異なる粒度の情報を扱う。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https://github.com/stanford-crfm/helm/blob/v0.3.0/src/helm/benchmark/scenarios/lextreme_scenario.py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何を答えるかで三つに分かれる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194560"/>
                <a:gridCol w="2743200"/>
                <a:gridCol w="31089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入力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求める答え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単一ラベル分類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判決や規約の文章</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カテゴリ一つ</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複数ラベル分類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規約や法令の文章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該当するカテゴリの集合</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固有表現認識</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文を分けたトークン列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各トークンの種類</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以下の3例は公開構成データから選び、HELMの入力・正解形式に変換した。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実例1：文の結論を識別する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ドイツ語 / german_argument_mining</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09449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 Der erstmals im Berufungsverfahren gestellte Antrag zu 3. ist zulässig .</a:t>
            </a:r>
          </a:p>
        </p:txBody>
      </p:sp>
      <p:sp>
        <p:nvSpPr>
          <p:cNvPr id="8" name="quote-frame"/>
          <p:cNvSpPr/>
          <p:nvPr/>
        </p:nvSpPr>
        <p:spPr>
          <a:xfrm>
            <a:off x="5166360" y="1920240"/>
            <a:ext cx="3429000" cy="10236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1. 控訴審で初めて提出された第3の申立ては適法である。</a:t>
            </a:r>
          </a:p>
        </p:txBody>
      </p:sp>
      <p:sp>
        <p:nvSpPr>
          <p:cNvPr id="9" name="TextBox 8"/>
          <p:cNvSpPr txBox="1"/>
          <p:nvPr/>
        </p:nvSpPr>
        <p:spPr>
          <a:xfrm>
            <a:off x="594360" y="320903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3426219"/>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conclusion</a:t>
            </a:r>
          </a:p>
        </p:txBody>
      </p:sp>
      <p:sp>
        <p:nvSpPr>
          <p:cNvPr id="11" name="TextBox 10"/>
          <p:cNvSpPr txBox="1"/>
          <p:nvPr/>
        </p:nvSpPr>
        <p:spPr>
          <a:xfrm>
            <a:off x="5212080" y="3108479"/>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conclusion：結論</a:t>
            </a:r>
          </a:p>
        </p:txBody>
      </p:sp>
      <p:sp>
        <p:nvSpPr>
          <p:cNvPr id="12" name="TextBox 11"/>
          <p:cNvSpPr txBox="1"/>
          <p:nvPr/>
        </p:nvSpPr>
        <p:spPr>
          <a:xfrm>
            <a:off x="594360" y="4178808"/>
            <a:ext cx="7955279" cy="402336"/>
          </a:xfrm>
          <a:prstGeom prst="rect">
            <a:avLst/>
          </a:prstGeom>
          <a:noFill/>
        </p:spPr>
        <p:txBody>
          <a:bodyPr wrap="square" lIns="0" rIns="0" tIns="0" bIns="0">
            <a:noAutofit/>
          </a:bodyPr>
          <a:lstStyle/>
          <a:p>
            <a:pPr algn="l">
              <a:lnSpc>
                <a:spcPts val="1918"/>
              </a:lnSpc>
              <a:spcBef>
                <a:spcPts val="0"/>
              </a:spcBef>
              <a:spcAft>
                <a:spcPts val="0"/>
              </a:spcAft>
              <a:buNone/>
              <a:defRPr sz="1639" b="0">
                <a:solidFill>
                  <a:srgbClr val="303437"/>
                </a:solidFill>
                <a:latin typeface="Noto Sans"/>
              </a:defRPr>
            </a:pPr>
            <a:r>
              <a:rPr sz="1639" b="0" lang="ja-JP" altLang="en-US">
                <a:solidFill>
                  <a:srgbClr val="303437"/>
                </a:solidFill>
                <a:latin typeface="Noto Sans"/>
                <a:ea typeface="Noto Sans CJK JP"/>
                <a:cs typeface="Noto Sans"/>
              </a:rPr>
              <a:t>各文が判決の議論で果たす役割を分類する。</a:t>
            </a:r>
          </a:p>
        </p:txBody>
      </p:sp>
      <p:sp>
        <p:nvSpPr>
          <p:cNvPr id="13"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joelniklaus/german_argument_mining. test.jsonl、固定版576b52004ed7。 test.jsonl line 6（1始まり）。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https://huggingface.co/datasets/joelniklaus/german_argument_mining/tree/576b52004ed7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実例2：一つの条項に二つの話題を付ける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英語 / online_terms_of_service_clause_topics</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6985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By using the Service in any way, you agree to and accept these Terms, our Privacy Notice, and any other legal notices or guidelines posted on the Site.</a:t>
            </a:r>
          </a:p>
        </p:txBody>
      </p:sp>
      <p:sp>
        <p:nvSpPr>
          <p:cNvPr id="8" name="quote-frame"/>
          <p:cNvSpPr/>
          <p:nvPr/>
        </p:nvSpPr>
        <p:spPr>
          <a:xfrm>
            <a:off x="5166360" y="1920240"/>
            <a:ext cx="3429000" cy="186171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本サービスをどのように利用した場合も、本規約、当社のプライバシー通知、本サイト上のその他の法的通知・指針に同意し、受け入れるものとします。</a:t>
            </a:r>
          </a:p>
        </p:txBody>
      </p:sp>
      <p:sp>
        <p:nvSpPr>
          <p:cNvPr id="9" name="TextBox 8"/>
          <p:cNvSpPr txBox="1"/>
          <p:nvPr/>
        </p:nvSpPr>
        <p:spPr>
          <a:xfrm>
            <a:off x="594360" y="381355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4030293"/>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7, 8</a:t>
            </a:r>
          </a:p>
        </p:txBody>
      </p:sp>
      <p:sp>
        <p:nvSpPr>
          <p:cNvPr id="11" name="TextBox 10"/>
          <p:cNvSpPr txBox="1"/>
          <p:nvPr/>
        </p:nvSpPr>
        <p:spPr>
          <a:xfrm>
            <a:off x="5212080" y="3946550"/>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7：利用による契約成立／8：プライバシーを含む</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joelniklaus/online_terms_of_service. test.jsonl、固定版448c5caa985b。 test.jsonl line 1051（1始まり）。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https://huggingface.co/datasets/joelniklaus/online_terms_of_service/tree/448c5caa985b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実例3：日付に対応するトークンを見つける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ルーマニア語 / legalnero</a:t>
            </a:r>
          </a:p>
        </p:txBody>
      </p:sp>
      <p:sp>
        <p:nvSpPr>
          <p:cNvPr id="5" name="TextBox 4"/>
          <p:cNvSpPr txBox="1"/>
          <p:nvPr/>
        </p:nvSpPr>
        <p:spPr>
          <a:xfrm>
            <a:off x="548640" y="1627632"/>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入力原文：トークン列（全文）</a:t>
            </a:r>
          </a:p>
        </p:txBody>
      </p:sp>
      <p:sp>
        <p:nvSpPr>
          <p:cNvPr id="6" name="quote-frame"/>
          <p:cNvSpPr/>
          <p:nvPr/>
        </p:nvSpPr>
        <p:spPr>
          <a:xfrm>
            <a:off x="548640" y="1920240"/>
            <a:ext cx="8046720" cy="4747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"MONITORUL" "OFICIAL" "nr." "959" "din" "28" "noiembrie" "2019"</a:t>
            </a:r>
          </a:p>
        </p:txBody>
      </p:sp>
      <p:sp>
        <p:nvSpPr>
          <p:cNvPr id="7" name="TextBox 6"/>
          <p:cNvSpPr txBox="1"/>
          <p:nvPr/>
        </p:nvSpPr>
        <p:spPr>
          <a:xfrm>
            <a:off x="594360" y="2589403"/>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正解：対応するBIOラベル列（全文）</a:t>
            </a:r>
          </a:p>
        </p:txBody>
      </p:sp>
      <p:sp>
        <p:nvSpPr>
          <p:cNvPr id="8" name="TextBox 7"/>
          <p:cNvSpPr txBox="1"/>
          <p:nvPr/>
        </p:nvSpPr>
        <p:spPr>
          <a:xfrm>
            <a:off x="594360" y="2815601"/>
            <a:ext cx="7955279" cy="38785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"O" "O" "O" "O" "B-TIME" "I-TIME" "I-TIME" "I-TIME"</a:t>
            </a:r>
          </a:p>
        </p:txBody>
      </p:sp>
      <p:sp>
        <p:nvSpPr>
          <p:cNvPr id="9" name="TextBox 8"/>
          <p:cNvSpPr txBox="1"/>
          <p:nvPr/>
        </p:nvSpPr>
        <p:spPr>
          <a:xfrm>
            <a:off x="594360" y="3416173"/>
            <a:ext cx="7955279" cy="365760"/>
          </a:xfrm>
          <a:prstGeom prst="rect">
            <a:avLst/>
          </a:prstGeom>
          <a:noFill/>
        </p:spPr>
        <p:txBody>
          <a:bodyPr wrap="square" lIns="0" rIns="0" tIns="0" bIns="0">
            <a:noAutofit/>
          </a:bodyPr>
          <a:lstStyle/>
          <a:p>
            <a:pPr algn="l">
              <a:lnSpc>
                <a:spcPts val="2164"/>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意味：官報 第959号、2019年11月28日付。</a:t>
            </a:r>
          </a:p>
        </p:txBody>
      </p:sp>
      <p:sp>
        <p:nvSpPr>
          <p:cNvPr id="10" name="TextBox 9"/>
          <p:cNvSpPr txBox="1"/>
          <p:nvPr/>
        </p:nvSpPr>
        <p:spPr>
          <a:xfrm>
            <a:off x="594360" y="3864229"/>
            <a:ext cx="7955279" cy="384048"/>
          </a:xfrm>
          <a:prstGeom prst="rect">
            <a:avLst/>
          </a:prstGeom>
          <a:noFill/>
        </p:spPr>
        <p:txBody>
          <a:bodyPr wrap="square" lIns="0" rIns="0" tIns="0" bIns="0">
            <a:noAutofit/>
          </a:bodyPr>
          <a:lstStyle/>
          <a:p>
            <a:pPr algn="l">
              <a:lnSpc>
                <a:spcPts val="1965"/>
              </a:lnSpc>
              <a:spcBef>
                <a:spcPts val="0"/>
              </a:spcBef>
              <a:spcAft>
                <a:spcPts val="0"/>
              </a:spcAft>
              <a:buNone/>
              <a:defRPr sz="1680" b="0">
                <a:solidFill>
                  <a:srgbClr val="303437"/>
                </a:solidFill>
                <a:latin typeface="Noto Sans"/>
              </a:defRPr>
            </a:pPr>
            <a:r>
              <a:rPr sz="1680" b="0" lang="ja-JP" altLang="en-US">
                <a:solidFill>
                  <a:srgbClr val="303437"/>
                </a:solidFill>
                <a:latin typeface="Noto Sans"/>
                <a:ea typeface="Noto Sans CJK JP"/>
                <a:cs typeface="Noto Sans"/>
              </a:rPr>
              <a:t>原注釈では「din」から日付末尾までが時間表現。Oは対象外を表す。</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joelniklaus/legalnero. test.jsonl、固定版a072e8508049。 test.jsonl line 4（1始まり）。</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https://huggingface.co/datasets/joelniklaus/legalnero/tree/a072e8508049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原語の位置とラベルを対応させる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固有表現認識では、文全体に一つのラベルを付けず、トークンごとに種類を付ける。B-は開始、I-は継続、Oは対象外を表す。</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実例3では「din」から日付の末尾までがTIMEと注釈されている。語の境界と注釈範囲を元データのまま示した。</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訳は入力の意味を示し、原語のトークン列と正解ラベルは保持する。日本語訳へ機械的に同じBIO列を付け替えることはしない。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法律文書の三つの読み取り方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https://github.com/stanford-crfm/helm/blob/v0.3.0/src/helm/benchmark/scenarios/lextreme_scenario.py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joelniklaus/legalnero. test.jsonl、固定版a072e8508049。</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https://huggingface.co/datasets/joelniklaus/legalnero/tree/a072e8508049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データ・言語・法域を組み合わせる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データ・言語・法域を組み合わせる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既存データを選び、共通形式にそろえる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法律NLPに関する108件の論文を調べ、公開・再配布の条件、注釈の作り方、法的課題との関係などに基づいて11データセットを選んだ。</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元のラベルと入力を共通のinput・label・languageへ対応させる。内容を一つの新しい法域へ翻訳・統合したデータではない。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各データセットにtrain・validation・testを用意する。判決の認容と全員一致、法典の階層などを別の設定として扱う。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データ・言語・法域を組み合わせる</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LEXTREME loader, 2023-02-07版（65f6046b8083）。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https://huggingface.co/datasets/joelniklaus/lextreme/blob/65f6046b8083/lextreme.py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分類で使う文書と予測対象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データ・言語・法域を組み合わせる</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3246120"/>
                <a:gridCol w="2103120"/>
                <a:gridCol w="2697480"/>
              </a:tblGrid>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構成データ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文書・法域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予測対象／設定数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Brazilian Court Decisions</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ブラジルの裁判例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判決結果・全員一致／2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German Argument Mining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ドイツの裁判例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文の議論上の役割／1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Greek Legal Code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ギリシャの法令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法典の3階層／3</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Swiss Judgment Prediction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スイスの裁判例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上訴の認容・棄却／1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Online Terms of Service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EUの利用規約</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不公正さ・条項の話題／2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政策措置・EU法・固有表現も含む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データ・言語・法域を組み合わせる</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3063240"/>
                <a:gridCol w="3794760"/>
                <a:gridCol w="1188720"/>
              </a:tblGrid>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構成データ</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文書・範囲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設定数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COVID-19 Emergency Event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各国のCOVID-19対策文書</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MultiEURLEX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EU法のEUROVOC概念</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Greek Legal NER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ギリシャの法令・固有表現</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LegalNERo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ルーマニアの法令・固有表現</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LeNER-Br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ブラジルの法律文書・固有表現</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MAPA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EU法・粗い／細かい固有表現</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言語と法域を別の軸として扱う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一つの法域に複数の言語があり、同じ言語が複数の法域で使われる。スイスの判決はドイツ語・フランス語・イタリア語で扱う。</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MultiEURLEXとMAPAは複数のEU公用語を扱う。英語だけを見てもスイート全体は評価できない。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言語別の総合集計は24 EU言語。C19の構成データにはノルウェー語もあるため、データ内の言語と総合集計対象を区別する。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データ・言語・法域を組み合わせる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同じ文書を別の観点から分類する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Greek Legal Codeはvolume・chapter・subjectの3段階のカテゴリを予測する。細かい階層ほどラベル候補が増える。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Online Terms of Serviceでは、不公正さの程度は単一ラベル、条項の話題は複数ラベルとなる。入力の出所が同じでも答え方は異なる。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各設定・言語・分割をそろえて比較する。設定数や多言語の翻訳を単純に足して「別の文書数」と数えない。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データ・言語・法域を組み合わせる</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LEXTREME loader, 2023-02-07版（65f6046b8083）。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https://huggingface.co/datasets/joelniklaus/lextreme/blob/65f6046b8083/lextreme.py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原スイートとHELMの評価条件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原スイートはタスクごとに学習する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基準実験では、各設定でfine-tuningし、seed=1〜3の3試行を用いる。testのmacro-F1で評価し、平均とばらつきを報告する。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少数クラスへの偏りを抑えるため、単一ラベル分類ではGLCを除いてランダムな過剰サンプリングを用いる。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長い文書は128トークンの塊に分けて階層型モデルで処理する。評価条件はHELMの少数例プロンプトと異なる。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データ別と、言語別の二方向で集約する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データ別では、設定内の言語、データセット内の設定、スイート内のデータセットの順に、調和平均を取る。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言語別では、各言語について設定とデータセットをまとめ、最後に言語間の調和平均を取る。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最終LEXTREME得点は、この二つの集約得点の調和平均。大きなデータセットだけが総合得点を左右しないようにする。法域別の総合集計は設けていない。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原スイートの基準実験の集約得点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3657600"/>
                <a:gridCol w="2194560"/>
                <a:gridCol w="219456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多言語モデル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データ別の集約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言語別の集約</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MiniLM</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19.9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18.1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DistilBERT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43.2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31.9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mDeBERTa v3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44.1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34.8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XLM-R base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19.7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XLM-R large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48.5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36.0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0〜100。3 seedのfine-tuning基準実験。HELMの得点ではない。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HELMはラベルを生成する形へ変換する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 v0.3.0は18設定を読み込み、英語の課題指示、Passage、Answerという形式でラベル文字列を生成させる。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設定別の最大提示例数は1〜5。長い法令・判決ほど少なく、NERでは5例を上限とする。実提示数は公開runがないため実測していない。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MultiEURLEXでは、そのレコードに存在する言語から一つを乱数で選ぶ。全言語を各文書について順番に評価する実装ではない。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https://github.com/stanford-crfm/helm/blob/v0.3.0/src/helm/benchmark/scenarios/lextreme_scenario.py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get_lextreme_spec,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https://github.com/stanford-crfm/helm/blob/v0.3.0/src/helm/benchmark/run_specs.py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HELMの生成上限は課題ごとに異なる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3657600"/>
                <a:gridCol w="2011680"/>
                <a:gridCol w="237744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設定群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最大提示例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最大出力トークン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ブラジル裁判例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ドイツ議論／利用規約／C19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5／10／10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ギリシャ法典／MultiEURLEX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スイス判決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NER 5設定</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274〜788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v0.3.0の設定上限。モデルが実際に読んだ例数・トークン数ではない。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https://github.com/stanford-crfm/helm/blob/v0.3.0/src/helm/benchmark/scenarios/lextreme_scenario.py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Classic v0.4.0の公開実行は0件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graphicFrame>
        <p:nvGraphicFramePr>
          <p:cNvPr id="4" name="Table 3"/>
          <p:cNvGraphicFramePr>
            <a:graphicFrameLocks noGrp="1"/>
          </p:cNvGraphicFramePr>
          <p:nvPr/>
        </p:nvGraphicFramePr>
        <p:xfrm>
          <a:off x="548640" y="1508760"/>
          <a:ext cx="8046720" cy="2286000"/>
        </p:xfrm>
        <a:graphic>
          <a:graphicData uri="http://schemas.openxmlformats.org/drawingml/2006/table">
            <a:tbl>
              <a:tblPr firstRow="0" bandRow="0"/>
              <a:tblGrid>
                <a:gridCol w="3291840"/>
                <a:gridCol w="47548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確認したもの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シナリオ</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LEXTREMEが登録されている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表示上の主指標</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testのclassification_macro_f1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run_specs／suite対応表</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該当する公開runは0件</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モデル別の成績</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公開値はない</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959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latest設定はv0.4.0（2023-11-17）。2026-10-18に配布JSONと照合した。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v0.4.0（2023-11-17固定版）。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https://crfm.stanford.edu/helm/classic/v0.4.0/#/groups/lextreme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採点の登録も課題別に確かめる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分類ではclassification_macro_f1とclassification_micro_f1を計算する。複数ラベルの出力は「, 」で区切り、正規化したラベルの集合を比較する。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v0.3.0のrun specでは、NERに分類指標を追加していない。BasicMetricの正解一致指標リストも空で、NERの品質得点をこの定義だけから読み取れない。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公開実行が0件なので、モデル別の得点は掲載されていない。原スイートのNER macro-F1やfine-tuning得点と同じランキングがあるとは解釈しない。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原スイートとHELMの評価条件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get_lextreme_spec,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https://github.com/stanford-crfm/helm/blob/v0.3.0/src/helm/benchmark/run_specs.py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ClassificationMetric,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https://github.com/stanford-crfm/helm/blob/v0.3.0/src/helm/benchmark/metrics/classification_metrics.py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入手方法と利用の範囲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入手方法と利用の範囲</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固定版のローダーと構成データを使う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入手方法と利用の範囲</a:t>
            </a:r>
          </a:p>
        </p:txBody>
      </p:sp>
      <p:sp>
        <p:nvSpPr>
          <p:cNvPr id="4" name="code-frame"/>
          <p:cNvSpPr/>
          <p:nvPr/>
        </p:nvSpPr>
        <p:spPr>
          <a:xfrm>
            <a:off x="548640" y="1508760"/>
            <a:ext cx="8046720" cy="21435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from datasets import load_dataset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ds = load_dataset(</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    "joelito/lextreme",</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    "german_argument_mining",</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    revision="65f6046b8083"</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Liberation Mono"/>
                <a:ea typeface="Noto Sans CJK JP"/>
                <a:cs typeface="Liberation Mono"/>
              </a:rPr>
              <a:t>)</a:t>
            </a:r>
          </a:p>
        </p:txBody>
      </p:sp>
      <p:sp>
        <p:nvSpPr>
          <p:cNvPr id="5" name="TextBox 4"/>
          <p:cNvSpPr txBox="1"/>
          <p:nvPr/>
        </p:nvSpPr>
        <p:spPr>
          <a:xfrm>
            <a:off x="594360" y="3902773"/>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2023-02-07のローダーを指定する例。datasetsの旧ローダースクリプト対応環境が必要で、構成データの取得先も別に固定する。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LEXTREME loader, 2023-02-07版（65f6046b8083）。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https://huggingface.co/datasets/joelniklaus/lextreme/blob/65f6046b8083/lextreme.py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公開実例は構成データから再取得した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この資料の13例は、6つの構成データのtest JSONLから選んだ。HELMの公開モデル応答から採った例ではない。</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各データのコミットID、ファイルSHA-256、行番号、原レコード全体を保存した。表示した入力と正解を公式変換処理で照合している。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8言語を含むが、全データ・全言語を代表する無作為標本ではない。入力フィールドは省略せず、原文と正解を同じページに置いた。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入手方法と利用の範囲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LEXTREME loader, 2023-02-07版（65f6046b8083）。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https://huggingface.co/datasets/joelniklaus/lextreme/blob/65f6046b8083/lextreme.py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https://github.com/stanford-crfm/helm/blob/v0.3.0/src/helm/benchmark/scenarios/lextreme_scenario.py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スイートと構成データの権利を分ける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現在のLEXTREME配布カードはCC BY 4.0を表示する。構成データごとに権利条件が異なるため、配布物ごとに確認する。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例に使った構成データには、GAMのCC BY 4.0、C19のCC0、OTSのCC BY-NC 2.5、LegalNERoのCC BY-NC-ND 4.0、Greek Legal NERのCC BY-NC-SA 4.0がある。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本資料は出所を付けた短い例の引用と意味の訳を示す。コードのApache 2.0を、元文章の再配布条件に読み替えない。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入手方法と利用の範囲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 Niklaus et al. LEXTREME dataset card. 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https://huggingface.co/datasets/joelniklaus/lextreme</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v0.3.0. Apache License 2.0.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https://github.com/stanford-crfm/helm/blob/v0.3.0/LICENSE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配布ページの更新とHELM実装を区別する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現在の配布カードは、ウクライナの裁判例3時期を追加した12データセット・21設定・25言語を案内している。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2023年の論文とHELM実装は11データセット・18設定。この資料の18設定には、追加されたウクライナの3設定を含めていない。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HELMのmain版も18設定。一方、現配布ローダーは32設定を登録しており、カードの21設定という概要とも一致しない。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入手方法と利用の範囲</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 Niklaus et al. LEXTREME dataset card. 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https://huggingface.co/datasets/joelniklaus/lextreme</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https://github.com/stanford-crfm/helm/blob/v0.3.0/src/helm/benchmark/scenarios/lextreme_scenario.py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課題・言語・評価条件をそろえて読む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LEXTREMEは、法律文書の分類と固有表現認識を多言語で比べるスイート。法域、入力の長さ、ラベル数、答え方が構成データごとに異なる。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原スイートの集約得点はfine-tuning実験を多段の調和平均でまとめる。HELMは少数例から文字列を生成する別の評価条件を用意している。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Classicの公開runは0件。公式実装、構成データの原記録、採点方法の範囲を確かめて利用する。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入手方法と利用の範囲</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Classic v0.4.0（2023-11-17固定版）。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https://crfm.stanford.edu/helm/classic/v0.4.0/#/groups/lextreme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構成と変換の詳細</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実例4：一般的な法的判断基準を識別する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ドイツ語 / german_argument_mining</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09449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Ob eine überraschende Klausel vorliegt , ist durch Auslegung zu ermitteln .</a:t>
            </a:r>
          </a:p>
        </p:txBody>
      </p:sp>
      <p:sp>
        <p:nvSpPr>
          <p:cNvPr id="8" name="quote-frame"/>
          <p:cNvSpPr/>
          <p:nvPr/>
        </p:nvSpPr>
        <p:spPr>
          <a:xfrm>
            <a:off x="5166360" y="1920240"/>
            <a:ext cx="3429000" cy="10232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意外性のある条項が存在するかどうかは、解釈によって判断しなければならない。</a:t>
            </a:r>
          </a:p>
        </p:txBody>
      </p:sp>
      <p:sp>
        <p:nvSpPr>
          <p:cNvPr id="9" name="TextBox 8"/>
          <p:cNvSpPr txBox="1"/>
          <p:nvPr/>
        </p:nvSpPr>
        <p:spPr>
          <a:xfrm>
            <a:off x="594360" y="320903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3426219"/>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definition</a:t>
            </a:r>
          </a:p>
        </p:txBody>
      </p:sp>
      <p:sp>
        <p:nvSpPr>
          <p:cNvPr id="11" name="TextBox 10"/>
          <p:cNvSpPr txBox="1"/>
          <p:nvPr/>
        </p:nvSpPr>
        <p:spPr>
          <a:xfrm>
            <a:off x="5212080" y="3108123"/>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definition：定義・抽象的な判断基準</a:t>
            </a:r>
          </a:p>
        </p:txBody>
      </p:sp>
      <p:sp>
        <p:nvSpPr>
          <p:cNvPr id="12" name="TextBox 11"/>
          <p:cNvSpPr txBox="1"/>
          <p:nvPr/>
        </p:nvSpPr>
        <p:spPr>
          <a:xfrm>
            <a:off x="594360" y="4178808"/>
            <a:ext cx="7955279" cy="402336"/>
          </a:xfrm>
          <a:prstGeom prst="rect">
            <a:avLst/>
          </a:prstGeom>
          <a:noFill/>
        </p:spPr>
        <p:txBody>
          <a:bodyPr wrap="square" lIns="0" rIns="0" tIns="0" bIns="0">
            <a:noAutofit/>
          </a:bodyPr>
          <a:lstStyle/>
          <a:p>
            <a:pPr algn="l">
              <a:lnSpc>
                <a:spcPts val="1918"/>
              </a:lnSpc>
              <a:spcBef>
                <a:spcPts val="0"/>
              </a:spcBef>
              <a:spcAft>
                <a:spcPts val="0"/>
              </a:spcAft>
              <a:buNone/>
              <a:defRPr sz="1639" b="0">
                <a:solidFill>
                  <a:srgbClr val="303437"/>
                </a:solidFill>
                <a:latin typeface="Noto Sans"/>
              </a:defRPr>
            </a:pPr>
            <a:r>
              <a:rPr sz="1639" b="0" lang="ja-JP" altLang="en-US">
                <a:solidFill>
                  <a:srgbClr val="303437"/>
                </a:solidFill>
                <a:latin typeface="Noto Sans"/>
                <a:ea typeface="Noto Sans CJK JP"/>
                <a:cs typeface="Noto Sans"/>
              </a:rPr>
              <a:t>具体的事件への当てはめではなく、判断基準を述べる文。</a:t>
            </a:r>
          </a:p>
        </p:txBody>
      </p:sp>
      <p:sp>
        <p:nvSpPr>
          <p:cNvPr id="13"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joelniklaus/german_argument_mining. test.jsonl、固定版576b52004ed7。 test.jsonl line 75（1始まり）。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https://huggingface.co/datasets/joelniklaus/german_argument_mining/tree/576b52004ed7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実例5：具体的な事件への当てはめを識別する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ドイツ語 / german_argument_mining</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09449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Die ergänzende Darlegung der Nettovorteile ist gem. § 264 Nr. 1 ZPO unschädlich .</a:t>
            </a:r>
          </a:p>
        </p:txBody>
      </p:sp>
      <p:sp>
        <p:nvSpPr>
          <p:cNvPr id="8" name="quote-frame"/>
          <p:cNvSpPr/>
          <p:nvPr/>
        </p:nvSpPr>
        <p:spPr>
          <a:xfrm>
            <a:off x="5166360" y="1920240"/>
            <a:ext cx="3429000" cy="13026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正味の利益についての補充的な説明は、民事訴訟法第264条第1号により支障を生じさせない。</a:t>
            </a:r>
          </a:p>
        </p:txBody>
      </p:sp>
      <p:sp>
        <p:nvSpPr>
          <p:cNvPr id="9" name="TextBox 8"/>
          <p:cNvSpPr txBox="1"/>
          <p:nvPr/>
        </p:nvSpPr>
        <p:spPr>
          <a:xfrm>
            <a:off x="594360" y="320903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3426219"/>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subsumption</a:t>
            </a:r>
          </a:p>
        </p:txBody>
      </p:sp>
      <p:sp>
        <p:nvSpPr>
          <p:cNvPr id="11" name="TextBox 10"/>
          <p:cNvSpPr txBox="1"/>
          <p:nvPr/>
        </p:nvSpPr>
        <p:spPr>
          <a:xfrm>
            <a:off x="5212080" y="3387472"/>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subsumption：具体的事実への当てはめ</a:t>
            </a:r>
          </a:p>
        </p:txBody>
      </p:sp>
      <p:sp>
        <p:nvSpPr>
          <p:cNvPr id="12" name="TextBox 11"/>
          <p:cNvSpPr txBox="1"/>
          <p:nvPr/>
        </p:nvSpPr>
        <p:spPr>
          <a:xfrm>
            <a:off x="594360" y="4178808"/>
            <a:ext cx="7955279" cy="402336"/>
          </a:xfrm>
          <a:prstGeom prst="rect">
            <a:avLst/>
          </a:prstGeom>
          <a:noFill/>
        </p:spPr>
        <p:txBody>
          <a:bodyPr wrap="square" lIns="0" rIns="0" tIns="0" bIns="0">
            <a:noAutofit/>
          </a:bodyPr>
          <a:lstStyle/>
          <a:p>
            <a:pPr algn="l">
              <a:lnSpc>
                <a:spcPts val="1918"/>
              </a:lnSpc>
              <a:spcBef>
                <a:spcPts val="0"/>
              </a:spcBef>
              <a:spcAft>
                <a:spcPts val="0"/>
              </a:spcAft>
              <a:buNone/>
              <a:defRPr sz="1639" b="0">
                <a:solidFill>
                  <a:srgbClr val="303437"/>
                </a:solidFill>
                <a:latin typeface="Noto Sans"/>
              </a:defRPr>
            </a:pPr>
            <a:r>
              <a:rPr sz="1639" b="0" lang="ja-JP" altLang="en-US">
                <a:solidFill>
                  <a:srgbClr val="303437"/>
                </a:solidFill>
                <a:latin typeface="Noto Sans"/>
                <a:ea typeface="Noto Sans CJK JP"/>
                <a:cs typeface="Noto Sans"/>
              </a:rPr>
              <a:t>データの文間スペースと略記を原文のまま保持した。</a:t>
            </a:r>
          </a:p>
        </p:txBody>
      </p:sp>
      <p:sp>
        <p:nvSpPr>
          <p:cNvPr id="13"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joelniklaus/german_argument_mining. test.jsonl、固定版576b52004ed7。 test.jsonl line 10（1始まり）。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https://huggingface.co/datasets/joelniklaus/german_argument_mining/tree/576b52004ed7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実例6：ドイツ語の免責条項を分類する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ドイツ語 / online_terms_of_service_unfairness_levels</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3965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Wir haften nicht für Verluste oder Schäden, die durch Ihre Verletzung dieser Sicherungspflicht entstehen.</a:t>
            </a:r>
          </a:p>
        </p:txBody>
      </p:sp>
      <p:sp>
        <p:nvSpPr>
          <p:cNvPr id="8" name="quote-frame"/>
          <p:cNvSpPr/>
          <p:nvPr/>
        </p:nvSpPr>
        <p:spPr>
          <a:xfrm>
            <a:off x="5166360" y="1920240"/>
            <a:ext cx="3429000" cy="13026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この安全確保義務に対するあなたの違反によって生じる損失や損害について、当社は責任を負いません。</a:t>
            </a:r>
          </a:p>
        </p:txBody>
      </p:sp>
      <p:sp>
        <p:nvSpPr>
          <p:cNvPr id="9" name="TextBox 8"/>
          <p:cNvSpPr txBox="1"/>
          <p:nvPr/>
        </p:nvSpPr>
        <p:spPr>
          <a:xfrm>
            <a:off x="594360" y="351129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3728251"/>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potentially_unfair</a:t>
            </a:r>
          </a:p>
        </p:txBody>
      </p:sp>
      <p:sp>
        <p:nvSpPr>
          <p:cNvPr id="11" name="TextBox 10"/>
          <p:cNvSpPr txBox="1"/>
          <p:nvPr/>
        </p:nvSpPr>
        <p:spPr>
          <a:xfrm>
            <a:off x="5212080" y="3387472"/>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potentially_unfair：不公正の可能性がある</a:t>
            </a:r>
          </a:p>
        </p:txBody>
      </p:sp>
      <p:sp>
        <p:nvSpPr>
          <p:cNvPr id="12" name="TextBox 11"/>
          <p:cNvSpPr txBox="1"/>
          <p:nvPr/>
        </p:nvSpPr>
        <p:spPr>
          <a:xfrm>
            <a:off x="594360" y="4178808"/>
            <a:ext cx="7955279" cy="402336"/>
          </a:xfrm>
          <a:prstGeom prst="rect">
            <a:avLst/>
          </a:prstGeom>
          <a:noFill/>
        </p:spPr>
        <p:txBody>
          <a:bodyPr wrap="square" lIns="0" rIns="0" tIns="0" bIns="0">
            <a:noAutofit/>
          </a:bodyPr>
          <a:lstStyle/>
          <a:p>
            <a:pPr algn="l">
              <a:lnSpc>
                <a:spcPts val="1918"/>
              </a:lnSpc>
              <a:spcBef>
                <a:spcPts val="0"/>
              </a:spcBef>
              <a:spcAft>
                <a:spcPts val="0"/>
              </a:spcAft>
              <a:buNone/>
              <a:defRPr sz="1639" b="0">
                <a:solidFill>
                  <a:srgbClr val="303437"/>
                </a:solidFill>
                <a:latin typeface="Noto Sans"/>
              </a:defRPr>
            </a:pPr>
            <a:r>
              <a:rPr sz="1639" b="0" lang="ja-JP" altLang="en-US">
                <a:solidFill>
                  <a:srgbClr val="303437"/>
                </a:solidFill>
                <a:latin typeface="Noto Sans"/>
                <a:ea typeface="Noto Sans CJK JP"/>
                <a:cs typeface="Noto Sans"/>
              </a:rPr>
              <a:t>ここでの答えはデータの注釈。現在の法的有効性を判定したものではない。</a:t>
            </a:r>
          </a:p>
        </p:txBody>
      </p:sp>
      <p:sp>
        <p:nvSpPr>
          <p:cNvPr id="13"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joelniklaus/online_terms_of_service. test.jsonl、固定版448c5caa985b。 test.jsonl line 60（1始まり）。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https://huggingface.co/datasets/joelniklaus/online_terms_of_service/tree/448c5caa985b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実例7：イタリア語の削除条項を分類する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イタリア語 / online_terms_of_service_clause_topics</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20009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Avremo altresì diritto a rimuovere ogni Contenuto che violi le presenti Condizioni o che, a nostra assoluta discrezione, riteniamo comunque non appropriato.</a:t>
            </a:r>
          </a:p>
        </p:txBody>
      </p:sp>
      <p:sp>
        <p:nvSpPr>
          <p:cNvPr id="8" name="quote-frame"/>
          <p:cNvSpPr/>
          <p:nvPr/>
        </p:nvSpPr>
        <p:spPr>
          <a:xfrm>
            <a:off x="5166360" y="1920240"/>
            <a:ext cx="3429000" cy="15823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当社はまた、本規約に違反する、または当社の単独の裁量によりその他の点で不適切と判断するあらゆるコンテンツを削除する権利を有します。</a:t>
            </a:r>
          </a:p>
        </p:txBody>
      </p:sp>
      <p:sp>
        <p:nvSpPr>
          <p:cNvPr id="9" name="TextBox 8"/>
          <p:cNvSpPr txBox="1"/>
          <p:nvPr/>
        </p:nvSpPr>
        <p:spPr>
          <a:xfrm>
            <a:off x="594360" y="4115815"/>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4332693"/>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a:t>
            </a:r>
          </a:p>
        </p:txBody>
      </p:sp>
      <p:sp>
        <p:nvSpPr>
          <p:cNvPr id="11" name="TextBox 10"/>
          <p:cNvSpPr txBox="1"/>
          <p:nvPr/>
        </p:nvSpPr>
        <p:spPr>
          <a:xfrm>
            <a:off x="5212080" y="3667201"/>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2：コンテンツの削除</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joelniklaus/online_terms_of_service. test.jsonl、固定版448c5caa985b。 test.jsonl line 2170（1始まり）。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https://huggingface.co/datasets/joelniklaus/online_terms_of_service/tree/448c5caa985b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実例8：フランス語の学校閉鎖措置を読む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フランス語 / covid19_emergency_event</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09449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Les leçons et activités sont suspendues dans l'enseignement maternel, primaire et secondaire.</a:t>
            </a:r>
          </a:p>
        </p:txBody>
      </p:sp>
      <p:sp>
        <p:nvSpPr>
          <p:cNvPr id="8" name="quote-frame"/>
          <p:cNvSpPr/>
          <p:nvPr/>
        </p:nvSpPr>
        <p:spPr>
          <a:xfrm>
            <a:off x="5166360" y="1920240"/>
            <a:ext cx="3429000" cy="102364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就学前教育、初等教育および中等教育では、授業と活動を停止する。</a:t>
            </a:r>
          </a:p>
        </p:txBody>
      </p:sp>
      <p:sp>
        <p:nvSpPr>
          <p:cNvPr id="9" name="TextBox 8"/>
          <p:cNvSpPr txBox="1"/>
          <p:nvPr/>
        </p:nvSpPr>
        <p:spPr>
          <a:xfrm>
            <a:off x="594360" y="320903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3426219"/>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3</a:t>
            </a:r>
          </a:p>
        </p:txBody>
      </p:sp>
      <p:sp>
        <p:nvSpPr>
          <p:cNvPr id="11" name="TextBox 10"/>
          <p:cNvSpPr txBox="1"/>
          <p:nvPr/>
        </p:nvSpPr>
        <p:spPr>
          <a:xfrm>
            <a:off x="5212080" y="3108479"/>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3：閉鎖・ロックダウン</a:t>
            </a:r>
          </a:p>
        </p:txBody>
      </p:sp>
      <p:sp>
        <p:nvSpPr>
          <p:cNvPr id="12" name="TextBox 11"/>
          <p:cNvSpPr txBox="1"/>
          <p:nvPr/>
        </p:nvSpPr>
        <p:spPr>
          <a:xfrm>
            <a:off x="594360" y="4178808"/>
            <a:ext cx="7955279" cy="402336"/>
          </a:xfrm>
          <a:prstGeom prst="rect">
            <a:avLst/>
          </a:prstGeom>
          <a:noFill/>
        </p:spPr>
        <p:txBody>
          <a:bodyPr wrap="square" lIns="0" rIns="0" tIns="0" bIns="0">
            <a:noAutofit/>
          </a:bodyPr>
          <a:lstStyle/>
          <a:p>
            <a:pPr algn="l">
              <a:lnSpc>
                <a:spcPts val="1918"/>
              </a:lnSpc>
              <a:spcBef>
                <a:spcPts val="0"/>
              </a:spcBef>
              <a:spcAft>
                <a:spcPts val="0"/>
              </a:spcAft>
              <a:buNone/>
              <a:defRPr sz="1639" b="0">
                <a:solidFill>
                  <a:srgbClr val="303437"/>
                </a:solidFill>
                <a:latin typeface="Noto Sans"/>
              </a:defRPr>
            </a:pPr>
            <a:r>
              <a:rPr sz="1639" b="0" lang="ja-JP" altLang="en-US">
                <a:solidFill>
                  <a:srgbClr val="303437"/>
                </a:solidFill>
                <a:latin typeface="Noto Sans"/>
                <a:ea typeface="Noto Sans CJK JP"/>
                <a:cs typeface="Noto Sans"/>
              </a:rPr>
              <a:t>ベルギーの公開文書。出力は政策の是非ではなく措置の分類。</a:t>
            </a:r>
          </a:p>
        </p:txBody>
      </p:sp>
      <p:sp>
        <p:nvSpPr>
          <p:cNvPr id="13"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joelniklaus/covid19_emergency_event. test.jsonl、固定版bba0491bc1ba。 test.jsonl line 10（1始まり）。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https://huggingface.co/datasets/joelniklaus/covid19_emergency_event/tree/bba0491bc1ba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実例9：ノルウェー語の人数制限を読む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ノルウェー語 / covid19_emergency_event</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6985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Dette innebærer også at treninger og annen organisert idrettsaktivitet kan gjennomføres for inntil 20 personer som holder minst én meter avstand.</a:t>
            </a:r>
          </a:p>
        </p:txBody>
      </p:sp>
      <p:sp>
        <p:nvSpPr>
          <p:cNvPr id="8" name="quote-frame"/>
          <p:cNvSpPr/>
          <p:nvPr/>
        </p:nvSpPr>
        <p:spPr>
          <a:xfrm>
            <a:off x="5166360" y="1920240"/>
            <a:ext cx="3429000" cy="15823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これは、少なくとも1メートルの距離を保つ最大20人で、練習やその他の組織的なスポーツ活動を実施できることも意味する。</a:t>
            </a:r>
          </a:p>
        </p:txBody>
      </p:sp>
      <p:sp>
        <p:nvSpPr>
          <p:cNvPr id="9" name="TextBox 8"/>
          <p:cNvSpPr txBox="1"/>
          <p:nvPr/>
        </p:nvSpPr>
        <p:spPr>
          <a:xfrm>
            <a:off x="594360" y="381355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4030293"/>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2</a:t>
            </a:r>
          </a:p>
        </p:txBody>
      </p:sp>
      <p:sp>
        <p:nvSpPr>
          <p:cNvPr id="11" name="TextBox 10"/>
          <p:cNvSpPr txBox="1"/>
          <p:nvPr/>
        </p:nvSpPr>
        <p:spPr>
          <a:xfrm>
            <a:off x="5212080" y="3667202"/>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2：日常生活上の自由の制限</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joelniklaus/covid19_emergency_event. test.jsonl、固定版bba0491bc1ba。 test.jsonl line 304（1始まり）。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https://huggingface.co/datasets/joelniklaus/covid19_emergency_event/tree/bba0491bc1ba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実例10：イタリア語の義務に複数ラベルを付ける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イタリア語 / covid19_emergency_event</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79280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obbligo di rimanere raggiungibile per le attività di sorveglianza;</a:t>
            </a:r>
          </a:p>
        </p:txBody>
      </p:sp>
      <p:sp>
        <p:nvSpPr>
          <p:cNvPr id="8" name="quote-frame"/>
          <p:cNvSpPr/>
          <p:nvPr/>
        </p:nvSpPr>
        <p:spPr>
          <a:xfrm>
            <a:off x="5166360" y="1920240"/>
            <a:ext cx="3429000" cy="7442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監視活動のために連絡が取れる状態を保つ義務。</a:t>
            </a:r>
          </a:p>
        </p:txBody>
      </p:sp>
      <p:sp>
        <p:nvSpPr>
          <p:cNvPr id="9" name="TextBox 8"/>
          <p:cNvSpPr txBox="1"/>
          <p:nvPr/>
        </p:nvSpPr>
        <p:spPr>
          <a:xfrm>
            <a:off x="594360" y="290677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3124531"/>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1, 2</a:t>
            </a:r>
          </a:p>
        </p:txBody>
      </p:sp>
      <p:sp>
        <p:nvSpPr>
          <p:cNvPr id="11" name="TextBox 10"/>
          <p:cNvSpPr txBox="1"/>
          <p:nvPr/>
        </p:nvSpPr>
        <p:spPr>
          <a:xfrm>
            <a:off x="5212080" y="2829117"/>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1：基本権・市民的自由の制限／2：日常生活上の自由の制限</a:t>
            </a:r>
          </a:p>
        </p:txBody>
      </p:sp>
      <p:sp>
        <p:nvSpPr>
          <p:cNvPr id="12" name="TextBox 11"/>
          <p:cNvSpPr txBox="1"/>
          <p:nvPr/>
        </p:nvSpPr>
        <p:spPr>
          <a:xfrm>
            <a:off x="594360" y="4178808"/>
            <a:ext cx="7955279" cy="402336"/>
          </a:xfrm>
          <a:prstGeom prst="rect">
            <a:avLst/>
          </a:prstGeom>
          <a:noFill/>
        </p:spPr>
        <p:txBody>
          <a:bodyPr wrap="square" lIns="0" rIns="0" tIns="0" bIns="0">
            <a:noAutofit/>
          </a:bodyPr>
          <a:lstStyle/>
          <a:p>
            <a:pPr algn="l">
              <a:lnSpc>
                <a:spcPts val="1918"/>
              </a:lnSpc>
              <a:spcBef>
                <a:spcPts val="0"/>
              </a:spcBef>
              <a:spcAft>
                <a:spcPts val="0"/>
              </a:spcAft>
              <a:buNone/>
              <a:defRPr sz="1639" b="0">
                <a:solidFill>
                  <a:srgbClr val="303437"/>
                </a:solidFill>
                <a:latin typeface="Noto Sans"/>
              </a:defRPr>
            </a:pPr>
            <a:r>
              <a:rPr sz="1639" b="0" lang="ja-JP" altLang="en-US">
                <a:solidFill>
                  <a:srgbClr val="303437"/>
                </a:solidFill>
                <a:latin typeface="Noto Sans"/>
                <a:ea typeface="Noto Sans CJK JP"/>
                <a:cs typeface="Noto Sans"/>
              </a:rPr>
              <a:t>原注釈の二つの措置ラベルを保持する。</a:t>
            </a:r>
          </a:p>
        </p:txBody>
      </p:sp>
      <p:sp>
        <p:nvSpPr>
          <p:cNvPr id="13"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joelniklaus/covid19_emergency_event. test.jsonl、固定版bba0491bc1ba。 test.jsonl line 212（1始まり）。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https://huggingface.co/datasets/joelniklaus/covid19_emergency_event/tree/bba0491bc1ba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実例11：ギリシャ語の法令参照を見つける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ギリシャ語 / greek_legal_ner</a:t>
            </a:r>
          </a:p>
        </p:txBody>
      </p:sp>
      <p:sp>
        <p:nvSpPr>
          <p:cNvPr id="5" name="TextBox 4"/>
          <p:cNvSpPr txBox="1"/>
          <p:nvPr/>
        </p:nvSpPr>
        <p:spPr>
          <a:xfrm>
            <a:off x="548640" y="1627632"/>
            <a:ext cx="804672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入力原文：トークン列（全文）</a:t>
            </a:r>
          </a:p>
        </p:txBody>
      </p:sp>
      <p:sp>
        <p:nvSpPr>
          <p:cNvPr id="6" name="quote-frame"/>
          <p:cNvSpPr/>
          <p:nvPr/>
        </p:nvSpPr>
        <p:spPr>
          <a:xfrm>
            <a:off x="548640" y="1920240"/>
            <a:ext cx="8046720" cy="47473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"ΠΡΟΕΔΡΙΚΟ" "ΔΙΑΤΑΓΜΑ" "ΥΠ" "’" "ΑΡΙΘΜ" "." "133"</a:t>
            </a:r>
          </a:p>
        </p:txBody>
      </p:sp>
      <p:sp>
        <p:nvSpPr>
          <p:cNvPr id="7" name="TextBox 6"/>
          <p:cNvSpPr txBox="1"/>
          <p:nvPr/>
        </p:nvSpPr>
        <p:spPr>
          <a:xfrm>
            <a:off x="594360" y="2589403"/>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正解：対応するBIOラベル列（全文）</a:t>
            </a:r>
          </a:p>
        </p:txBody>
      </p:sp>
      <p:sp>
        <p:nvSpPr>
          <p:cNvPr id="8" name="TextBox 7"/>
          <p:cNvSpPr txBox="1"/>
          <p:nvPr/>
        </p:nvSpPr>
        <p:spPr>
          <a:xfrm>
            <a:off x="594360" y="2815601"/>
            <a:ext cx="7955279" cy="702563"/>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"B-LEG-REFS" "I-LEG-REFS" "I-LEG-REFS"</a:t>
            </a:r>
          </a:p>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"I-LEG-REFS" "I-LEG-REFS" "I-LEG-REFS" "I-LEG-REFS"</a:t>
            </a:r>
          </a:p>
        </p:txBody>
      </p:sp>
      <p:sp>
        <p:nvSpPr>
          <p:cNvPr id="9" name="TextBox 8"/>
          <p:cNvSpPr txBox="1"/>
          <p:nvPr/>
        </p:nvSpPr>
        <p:spPr>
          <a:xfrm>
            <a:off x="594360" y="3730879"/>
            <a:ext cx="7955279" cy="365760"/>
          </a:xfrm>
          <a:prstGeom prst="rect">
            <a:avLst/>
          </a:prstGeom>
          <a:noFill/>
        </p:spPr>
        <p:txBody>
          <a:bodyPr wrap="square" lIns="0" rIns="0" tIns="0" bIns="0">
            <a:noAutofit/>
          </a:bodyPr>
          <a:lstStyle/>
          <a:p>
            <a:pPr algn="l">
              <a:lnSpc>
                <a:spcPts val="2164"/>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意味：大統領令 第133号。</a:t>
            </a:r>
          </a:p>
        </p:txBody>
      </p:sp>
      <p:sp>
        <p:nvSpPr>
          <p:cNvPr id="10" name="TextBox 9"/>
          <p:cNvSpPr txBox="1"/>
          <p:nvPr/>
        </p:nvSpPr>
        <p:spPr>
          <a:xfrm>
            <a:off x="594360" y="4178935"/>
            <a:ext cx="7955279" cy="384048"/>
          </a:xfrm>
          <a:prstGeom prst="rect">
            <a:avLst/>
          </a:prstGeom>
          <a:noFill/>
        </p:spPr>
        <p:txBody>
          <a:bodyPr wrap="square" lIns="0" rIns="0" tIns="0" bIns="0">
            <a:noAutofit/>
          </a:bodyPr>
          <a:lstStyle/>
          <a:p>
            <a:pPr algn="l">
              <a:lnSpc>
                <a:spcPts val="1965"/>
              </a:lnSpc>
              <a:spcBef>
                <a:spcPts val="0"/>
              </a:spcBef>
              <a:spcAft>
                <a:spcPts val="0"/>
              </a:spcAft>
              <a:buNone/>
              <a:defRPr sz="1680" b="0">
                <a:solidFill>
                  <a:srgbClr val="303437"/>
                </a:solidFill>
                <a:latin typeface="Noto Sans"/>
              </a:defRPr>
            </a:pPr>
            <a:r>
              <a:rPr sz="1680" b="0" lang="ja-JP" altLang="en-US">
                <a:solidFill>
                  <a:srgbClr val="303437"/>
                </a:solidFill>
                <a:latin typeface="Noto Sans"/>
                <a:ea typeface="Noto Sans CJK JP"/>
                <a:cs typeface="Noto Sans"/>
              </a:rPr>
              <a:t>原注釈では7トークン全体が一つの法令参照。句読点も含む。</a:t>
            </a:r>
          </a:p>
        </p:txBody>
      </p:sp>
      <p:sp>
        <p:nvSpPr>
          <p:cNvPr id="11"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joelniklaus/greek_legal_ner. test.jsonl、固定版e2bc5fd22217。 test.jsonl line 1（1始まり）。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https://huggingface.co/datasets/joelniklaus/greek_legal_ner/tree/e2bc5fd22217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実例12：ブラジルの異議申立ての結果を予測する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ポルトガル語 / brazilian_court_decisions_judgment</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920240"/>
            <a:ext cx="4434840" cy="16985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EMBARGOS DE DECLARAÇÃO. ALEGAÇÃO DE OMISSÃO NO JULGADO. HONORÁRIOS RECURSAIS. DESCABIMENTO. INEXISTÊNCIA DE VÍCIO.</a:t>
            </a:r>
          </a:p>
        </p:txBody>
      </p:sp>
      <p:sp>
        <p:nvSpPr>
          <p:cNvPr id="8" name="quote-frame"/>
          <p:cNvSpPr/>
          <p:nvPr/>
        </p:nvSpPr>
        <p:spPr>
          <a:xfrm>
            <a:off x="5166360" y="1920240"/>
            <a:ext cx="3429000" cy="15823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判決の明確化を求める異議申立て。判決に判断の欠落があるとの主張。上訴審の弁護士報酬。認められない。瑕疵は存在しない。</a:t>
            </a:r>
          </a:p>
        </p:txBody>
      </p:sp>
      <p:sp>
        <p:nvSpPr>
          <p:cNvPr id="9" name="TextBox 8"/>
          <p:cNvSpPr txBox="1"/>
          <p:nvPr/>
        </p:nvSpPr>
        <p:spPr>
          <a:xfrm>
            <a:off x="594360" y="3813556"/>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4030293"/>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no</a:t>
            </a:r>
          </a:p>
        </p:txBody>
      </p:sp>
      <p:sp>
        <p:nvSpPr>
          <p:cNvPr id="11" name="TextBox 10"/>
          <p:cNvSpPr txBox="1"/>
          <p:nvPr/>
        </p:nvSpPr>
        <p:spPr>
          <a:xfrm>
            <a:off x="5212080" y="3667202"/>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no：申立てを退けた</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joelniklaus/brazilian_court_decisions. test.jsonl、固定版e937c2db8eab。 test.jsonl line 396（1始まり）。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https://huggingface.co/datasets/joelniklaus/brazilian_court_decisions/tree/e937c2db8eab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実例13：同じ裁判資料で全員一致を予測する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0312"/>
          </a:xfrm>
          <a:prstGeom prst="rect">
            <a:avLst/>
          </a:prstGeom>
          <a:noFill/>
        </p:spPr>
        <p:txBody>
          <a:bodyPr wrap="square" lIns="0" rIns="0" tIns="0" bIns="0">
            <a:noAutofit/>
          </a:bodyPr>
          <a:lstStyle/>
          <a:p>
            <a:pPr algn="l">
              <a:lnSpc>
                <a:spcPts val="1380"/>
              </a:lnSpc>
              <a:spcBef>
                <a:spcPts val="0"/>
              </a:spcBef>
              <a:spcAft>
                <a:spcPts val="0"/>
              </a:spcAft>
              <a:buNone/>
              <a:defRPr sz="1180" b="0">
                <a:solidFill>
                  <a:srgbClr val="303437"/>
                </a:solidFill>
                <a:latin typeface="Noto Sans"/>
              </a:defRPr>
            </a:pPr>
            <a:r>
              <a:rPr sz="1180" b="0" lang="ja-JP" altLang="en-US">
                <a:solidFill>
                  <a:srgbClr val="626669"/>
                </a:solidFill>
                <a:latin typeface="Noto Sans"/>
                <a:ea typeface="Noto Sans CJK JP"/>
                <a:cs typeface="Noto Sans"/>
              </a:rPr>
              <a:t>ポルトガル語 / brazilian_court_decisions_unanimity</a:t>
            </a:r>
          </a:p>
        </p:txBody>
      </p:sp>
      <p:sp>
        <p:nvSpPr>
          <p:cNvPr id="5" name="TextBox 4"/>
          <p:cNvSpPr txBox="1"/>
          <p:nvPr/>
        </p:nvSpPr>
        <p:spPr>
          <a:xfrm>
            <a:off x="548640" y="1627632"/>
            <a:ext cx="443484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入力原文（全文）</a:t>
            </a:r>
          </a:p>
        </p:txBody>
      </p:sp>
      <p:sp>
        <p:nvSpPr>
          <p:cNvPr id="6" name="TextBox 5"/>
          <p:cNvSpPr txBox="1"/>
          <p:nvPr/>
        </p:nvSpPr>
        <p:spPr>
          <a:xfrm>
            <a:off x="5166360" y="1627632"/>
            <a:ext cx="3429000" cy="21031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日本語訳（意味）</a:t>
            </a:r>
          </a:p>
        </p:txBody>
      </p:sp>
      <p:sp>
        <p:nvSpPr>
          <p:cNvPr id="7" name="quote-frame"/>
          <p:cNvSpPr/>
          <p:nvPr/>
        </p:nvSpPr>
        <p:spPr>
          <a:xfrm>
            <a:off x="548640" y="1831340"/>
            <a:ext cx="4434840" cy="20913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APELAÇÃO CÍVEL. JUSTIÇA GRATUITA. DECISÃO INTERLOCUTÓRIA DE INDEFERIMENTO QUE NÃO FOI IMPUGNADA NO PRAZO LEGAL. PRECLUSÃO. IMPOSSIBILIDADE DE REDISCUSSÃO EM SEDE DE APELAÇÃO. SENTENÇA MANTIDA.</a:t>
            </a:r>
          </a:p>
        </p:txBody>
      </p:sp>
      <p:sp>
        <p:nvSpPr>
          <p:cNvPr id="8" name="quote-frame"/>
          <p:cNvSpPr/>
          <p:nvPr/>
        </p:nvSpPr>
        <p:spPr>
          <a:xfrm>
            <a:off x="5166360" y="1920240"/>
            <a:ext cx="3429000" cy="158236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民事上訴。訴訟費用の免除。法定期間内に争われなかった却下の中間決定。失権。上訴段階で再び争うことはできない。原判決を維持する。</a:t>
            </a:r>
          </a:p>
        </p:txBody>
      </p:sp>
      <p:sp>
        <p:nvSpPr>
          <p:cNvPr id="9" name="TextBox 8"/>
          <p:cNvSpPr txBox="1"/>
          <p:nvPr/>
        </p:nvSpPr>
        <p:spPr>
          <a:xfrm>
            <a:off x="594360" y="4015994"/>
            <a:ext cx="434340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正解ラベル</a:t>
            </a:r>
          </a:p>
        </p:txBody>
      </p:sp>
      <p:sp>
        <p:nvSpPr>
          <p:cNvPr id="10" name="TextBox 9"/>
          <p:cNvSpPr txBox="1"/>
          <p:nvPr/>
        </p:nvSpPr>
        <p:spPr>
          <a:xfrm>
            <a:off x="594360" y="4232619"/>
            <a:ext cx="4343400" cy="411480"/>
          </a:xfrm>
          <a:prstGeom prst="rect">
            <a:avLst/>
          </a:prstGeom>
          <a:noFill/>
        </p:spPr>
        <p:txBody>
          <a:bodyPr wrap="square" lIns="0" rIns="0" tIns="0" bIns="0">
            <a:noAutofit/>
          </a:bodyPr>
          <a:lstStyle/>
          <a:p>
            <a:pPr algn="l">
              <a:lnSpc>
                <a:spcPts val="2574"/>
              </a:lnSpc>
              <a:spcBef>
                <a:spcPts val="0"/>
              </a:spcBef>
              <a:spcAft>
                <a:spcPts val="0"/>
              </a:spcAft>
              <a:buNone/>
              <a:defRPr sz="2200" b="0">
                <a:solidFill>
                  <a:srgbClr val="303437"/>
                </a:solidFill>
                <a:latin typeface="Noto Sans"/>
              </a:defRPr>
            </a:pPr>
            <a:r>
              <a:rPr sz="2200" b="1" lang="ja-JP" altLang="en-US">
                <a:solidFill>
                  <a:srgbClr val="B13731"/>
                </a:solidFill>
                <a:latin typeface="Noto Sans"/>
                <a:ea typeface="Noto Sans CJK JP"/>
                <a:cs typeface="Noto Sans"/>
              </a:rPr>
              <a:t>unanimity</a:t>
            </a:r>
          </a:p>
        </p:txBody>
      </p:sp>
      <p:sp>
        <p:nvSpPr>
          <p:cNvPr id="11" name="TextBox 10"/>
          <p:cNvSpPr txBox="1"/>
          <p:nvPr/>
        </p:nvSpPr>
        <p:spPr>
          <a:xfrm>
            <a:off x="5212080" y="3667201"/>
            <a:ext cx="3337560" cy="868680"/>
          </a:xfrm>
          <a:prstGeom prst="rect">
            <a:avLst/>
          </a:prstGeom>
          <a:noFill/>
        </p:spPr>
        <p:txBody>
          <a:bodyPr wrap="square" lIns="0" rIns="0" tIns="0" bIns="0">
            <a:noAutofit/>
          </a:bodyPr>
          <a:lstStyle/>
          <a:p>
            <a:pPr algn="l">
              <a:lnSpc>
                <a:spcPts val="2340"/>
              </a:lnSpc>
              <a:spcBef>
                <a:spcPts val="0"/>
              </a:spcBef>
              <a:spcAft>
                <a:spcPts val="0"/>
              </a:spcAft>
              <a:buNone/>
              <a:defRPr sz="2000" b="0">
                <a:solidFill>
                  <a:srgbClr val="303437"/>
                </a:solidFill>
                <a:latin typeface="Noto Sans"/>
              </a:defRPr>
            </a:pPr>
            <a:r>
              <a:rPr sz="2000" b="1" lang="ja-JP" altLang="en-US">
                <a:solidFill>
                  <a:srgbClr val="B13731"/>
                </a:solidFill>
                <a:latin typeface="Noto Sans"/>
                <a:ea typeface="Noto Sans CJK JP"/>
                <a:cs typeface="Noto Sans"/>
              </a:rPr>
              <a:t>unanimity：全員一致</a:t>
            </a:r>
          </a:p>
        </p:txBody>
      </p:sp>
      <p:sp>
        <p:nvSpPr>
          <p:cNvPr id="12"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joelniklaus/brazilian_court_decisions. test.jsonl、固定版e937c2db8eab。 test.jsonl line 325（1始まり）。</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https://huggingface.co/datasets/joelniklaus/brazilian_court_decisions/tree/e937c2db8eab</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代表的な分類設定の分割件数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2651760"/>
                <a:gridCol w="1828800"/>
                <a:gridCol w="1783080"/>
                <a:gridCol w="1783080"/>
              </a:tblGrid>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BCD-J</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3,234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404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405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BCD-U</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1,715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211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204</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GAM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19,271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2,726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3,078</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SJP</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59,709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8,208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17,357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OTS-UL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2,074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417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OTS-CT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19,942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1,690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4,297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法令・固有表現の分割件数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graphicFrame>
        <p:nvGraphicFramePr>
          <p:cNvPr id="4" name="Table 3"/>
          <p:cNvGraphicFramePr>
            <a:graphicFrameLocks noGrp="1"/>
          </p:cNvGraphicFramePr>
          <p:nvPr/>
        </p:nvGraphicFramePr>
        <p:xfrm>
          <a:off x="548640" y="1508760"/>
          <a:ext cx="8046720" cy="2688336"/>
        </p:xfrm>
        <a:graphic>
          <a:graphicData uri="http://schemas.openxmlformats.org/drawingml/2006/table">
            <a:tbl>
              <a:tblPr firstRow="0" bandRow="0"/>
              <a:tblGrid>
                <a:gridCol w="2651760"/>
                <a:gridCol w="1828800"/>
                <a:gridCol w="1783080"/>
                <a:gridCol w="1783080"/>
              </a:tblGrid>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validation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GLC 各階層</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28,536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9,511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9,516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C19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3,312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418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418</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MEU 各階層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817,239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112,500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115,000</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GLN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17,699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4,909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4,017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LNR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7,552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966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907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LNB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7,828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1,177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1,390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文書数を横断して単純加算しない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MAPAは粗い・細かい両設定でtrain 27,823、validation 3,354、test 10,590。トークン化された単位を扱う。</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同じ文書に対するラベル階層や言語別の翻訳があるため、設定別の件数を足すと、独立した法律文書数にはならない。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表示した分割件数は2023年の報告値。今回の取得値は、6つのtest JSONLの行数と区別してstats.jsonに保存した。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NERの出力上限は注釈列の長さに依存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3657600"/>
                <a:gridCol w="2103120"/>
                <a:gridCol w="22860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最大提示例数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最大出力トークン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Greek Legal NER</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430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LegalNERo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788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LeNER-Br</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338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MAPA coarse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274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MAPA fine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274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各トークンにラベルを返すため、文書分類より出力上限が長い。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https://github.com/stanford-crfm/helm/blob/v0.3.0/src/helm/benchmark/scenarios/lextreme_scenario.py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文字列ラベルを整数番号へ変換する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LEXTREMEローダーは、OTSの条項話題をa・ch・cr・j・law・ltd・ter・use・pincの順でClassLabelにする。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HELMは複数ラベルの整数を文字列へ変換する。そのため実例2のuse・pincは、正解「7, 8」になる。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C19もevent1〜event8を0〜7へ対応させる。原ラベル名の数字と、HELMの0始まりの番号を混同しない。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LEXTREME loader, 2023-02-07版（65f6046b8083）。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https://huggingface.co/datasets/joelniklaus/lextreme/blob/65f6046b8083/lextreme.py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https://github.com/stanford-crfm/helm/blob/v0.3.0/src/helm/benchmark/scenarios/lextreme_scenario.py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NERでは引用符でトークンを区切る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入力のトークンと正解のBIOラベルは、それぞれ「"token1" "token2"」という形式の文字列にする。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誤答参照は非Oラベルを別の種類に置き換えて作り、シャッフル後に最大30件へ制限する。正解は元の注釈列をそのまま保持する。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参照候補の作成に使う乱数は42。MultiEURLEXの言語選択にも同じ乱数状態を使うため、設定と処理順を保存する。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https://github.com/stanford-crfm/helm/blob/v0.3.0/src/helm/benchmark/scenarios/lextreme_scenario.py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未注釈の文と不公正さを区別する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OTSの原test JSONLは4,297行あるが、不公正さの分類に使うラベルは3種類で、untaggedの行をローダーが除外する。</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同様にBCDの全員一致では、unanimityとnot-unanimityの2種類を使い、not_determinedを除外する。指示文に候補が書かれていても、読込対象とは限らない。</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この資料は有効ラベルを持つ行を選んだ。複数ラベルが空の文の参照処理や、全18設定の実行成功までは検証していない。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構成と変換の詳細</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LEXTREME loader, 2023-02-07版（65f6046b8083）。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https://huggingface.co/datasets/joelniklaus/lextreme/blob/65f6046b8083/lextreme.py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https://github.com/stanford-crfm/helm/blob/v0.3.0/src/helm/benchmark/scenarios/lextreme_scenario.py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研究・構築・評価コードを公開する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Joel Niklaus、Veton Matoshi、Pooja Rani、Andrea Galassi、Matthias Stürmer、Ilias Chalkidisが、多言語の法律ベンチマークとしてLEXTREMEを提案した。</a:t>
            </a:r>
          </a:p>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既存の11データセットを選び、共通のローダーと、データ別・言語別の集約方法を用意した。論文にはモデル比較と構成データごとの結果がある。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HELMは同じデータを生成形式で扱うシナリオを別途実装している。データの構築と評価実装は別の貢献として区別する。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590288"/>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Niklaus et al. (2023). LEXTREME: A Multi-Lingual and Multi-Task Benchmark for the Legal Domain. Findings of EMNLP.</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https://aclanthology.org/2023.findings-emnlp.200/</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LEXTREMEScenario, HELM v0.3.0.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https://github.com/stanford-crfm/helm/blob/v0.3.0/src/helm/benchmark/scenarios/lextreme_scenario.py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LEXTREME: A Multi-Lingual and Multi-Task Benchmark for the Legal Domain"/>
          <p:cNvSpPr txBox="1"/>
          <p:nvPr/>
        </p:nvSpPr>
        <p:spPr>
          <a:xfrm>
            <a:off x="548640" y="1463040"/>
            <a:ext cx="8046720" cy="1550289"/>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LEXTREME: A Multi-Lingual and Multi-Task Benchmark for the Legal Domain</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Joel Niklaus, Veton Matoshi, Pooja Rani, Andrea Galassi, Matthias Stürmer &amp; Ilias Chalkidis. 2023. Findings of EMNLP 2023, 3016–3053.</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11データセットの選定、18設定、言語別・データ別集約、モデル評価を示す。</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https://aclanthology.org/2023.findings-emnlp.200/</a:t>
            </a:r>
          </a:p>
        </p:txBody>
      </p:sp>
      <p:sp>
        <p:nvSpPr>
          <p:cNvPr id="5" name="文献 2: LEXTREME dataset card and loader"/>
          <p:cNvSpPr txBox="1"/>
          <p:nvPr/>
        </p:nvSpPr>
        <p:spPr>
          <a:xfrm>
            <a:off x="548640" y="3295777"/>
            <a:ext cx="8046720" cy="1094232"/>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LEXTREME dataset card and loader</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Joel Niklaus et al. Hugging Face Datasets. 2023版と2026-05-20更新版。</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構成データの読込・入力とラベルの対応・追加データを記載する。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https://huggingface.co/datasets/joelniklaus/lextreme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LEXTREMEScenario and get_lextreme_spec"/>
          <p:cNvSpPr txBox="1"/>
          <p:nvPr/>
        </p:nvSpPr>
        <p:spPr>
          <a:xfrm>
            <a:off x="548640" y="1463040"/>
            <a:ext cx="8046720" cy="1094232"/>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LEXTREMEScenario and get_lextreme_spec</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HELM v0.3.0.</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18設定、英語指示、生成上限、参照文字列、分類指標を定義する。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https://github.com/stanford-crfm/helm/blob/v0.3.0/src/helm/benchmark/scenarios/lextreme_scenario.py</a:t>
            </a:r>
          </a:p>
        </p:txBody>
      </p:sp>
      <p:sp>
        <p:nvSpPr>
          <p:cNvPr id="5" name="文献 2: HELM Classic — LEXTREME"/>
          <p:cNvSpPr txBox="1"/>
          <p:nvPr/>
        </p:nvSpPr>
        <p:spPr>
          <a:xfrm>
            <a:off x="548640" y="2839719"/>
            <a:ext cx="8046720" cy="1094232"/>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HELM Classic — LEXTREME</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v0.4.0（2023-11-17）。2026-10-18参照。</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分類指標を登録する。配布run一覧にはLEXTREME実行がない。</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https://crfm.stanford.edu/helm/classic/v0.4.0/#/groups/lextreme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Design and Implementation of German Legal Decision Corpora"/>
          <p:cNvSpPr txBox="1"/>
          <p:nvPr/>
        </p:nvSpPr>
        <p:spPr>
          <a:xfrm>
            <a:off x="548640" y="1463040"/>
            <a:ext cx="8046720" cy="1094232"/>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Design and Implementation of German Legal Decision Corpora</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Stefanie Urchs, Jelena Mitrović &amp; Michael Granitzer. 2021. ICAART, vol. 2, 515–521.</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ドイツ語判決の議論上の役割を注釈したコーパスを構築する。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https://doi.org/10.5220/0010187305150521</a:t>
            </a:r>
          </a:p>
        </p:txBody>
      </p:sp>
      <p:sp>
        <p:nvSpPr>
          <p:cNvPr id="5" name="文献 2: A Corpus for Multilingual Analysis of Online Terms of Service"/>
          <p:cNvSpPr txBox="1"/>
          <p:nvPr/>
        </p:nvSpPr>
        <p:spPr>
          <a:xfrm>
            <a:off x="548640" y="2839719"/>
            <a:ext cx="8046720" cy="1275207"/>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A Corpus for Multilingual Analysis of Online Terms of Service</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Kasper Drawzeski, Andrea Galassi, Agnieszka Jabłonowska, Francesca Lagioia, Marco Lippi, Hans-Wolfgang Micklitz, Giovanni Sartor, Giacomo Tagiuri &amp; Paolo Torroni. 2021. NLLP, 1–8.</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利用規約の不公正さと条項の話題を複数言語で注釈する。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https://aclanthology.org/2021.nllp-1.1/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A Multilingual Approach to Identify and Classify Exceptional Measures against COVID-19"/>
          <p:cNvSpPr txBox="1"/>
          <p:nvPr/>
        </p:nvSpPr>
        <p:spPr>
          <a:xfrm>
            <a:off x="548640" y="1463040"/>
            <a:ext cx="8046720" cy="1550289"/>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A Multilingual Approach to Identify and Classify Exceptional Measures against COVID-19</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Georgios Tziafas, Eugénie de Saint-Phalle, Wietse de Vries, Clara Egger &amp; Tommaso Caselli. 2021. NLLP, 46–62.</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各国のCOVID-19対策文書から例外的措置の種類を分類する。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https://aclanthology.org/2021.nllp-1.5/</a:t>
            </a:r>
          </a:p>
        </p:txBody>
      </p:sp>
      <p:sp>
        <p:nvSpPr>
          <p:cNvPr id="5" name="文献 2: Romanian Named Entity Recognition in the Legal domain (LegalNERo)"/>
          <p:cNvSpPr txBox="1"/>
          <p:nvPr/>
        </p:nvSpPr>
        <p:spPr>
          <a:xfrm>
            <a:off x="548640" y="3295777"/>
            <a:ext cx="8046720" cy="1275207"/>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Romanian Named Entity Recognition in the Legal domain (LegalNERo)</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Vasile Păiș, Maria Mitrofan, Carol Luca Gasan, Alexandru Ianov, Corvin Ghiță, Vlad Silviu Coneschi &amp; Andrei Onuț. 2021. Zenodo.</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ルーマニア語の法律文書に人名・組織・日時などを注釈する。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https://doi.org/10.5281/zenodo.4922385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Named Entity Recognition, Linking and Generation for Greek Legislation"/>
          <p:cNvSpPr txBox="1"/>
          <p:nvPr/>
        </p:nvSpPr>
        <p:spPr>
          <a:xfrm>
            <a:off x="548640" y="1463040"/>
            <a:ext cx="8046720" cy="1369313"/>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Named Entity Recognition, Linking and Generation for Greek Legislation</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Iosif Angelidis, Ilias Chalkidis &amp; Manolis Koubarakis. 2018. JURIX.</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ギリシャ語法令の固有表現と法令参照を認識・関連付けする。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https://huggingface.co/datasets/joelniklaus/greek_legal_ner</a:t>
            </a:r>
          </a:p>
        </p:txBody>
      </p:sp>
      <p:sp>
        <p:nvSpPr>
          <p:cNvPr id="5" name="文献 2: Predicting Brazilian Court Decisions"/>
          <p:cNvSpPr txBox="1"/>
          <p:nvPr/>
        </p:nvSpPr>
        <p:spPr>
          <a:xfrm>
            <a:off x="548640" y="3114801"/>
            <a:ext cx="8046720" cy="1275207"/>
          </a:xfrm>
          <a:prstGeom prst="rect">
            <a:avLst/>
          </a:prstGeom>
          <a:noFill/>
        </p:spPr>
        <p:txBody>
          <a:bodyPr wrap="square" lIns="0" rIns="0" tIns="0" bIns="0">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Predicting Brazilian Court Decisions</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André Lage-Freitas, Héctor Allende-Cid, Orivaldo Santana &amp; Lívia Oliveira-Lage. 2022. PeerJ Computer Science 8, e904.</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ブラジルの裁判例から判決結果を予測するデータと手法を示す。</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https://doi.org/10.7717/peerj-cs.904</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2026-10-18T07:38:19Z</dcterms:modified>
  <dc:title>lextreme</dc:title>
  <dc:creator>sasakiy84</dc:creator>
  <dcterms:created xsi:type="dcterms:W3CDTF">2026-10-18T07:38:19Z</dcterms:created>
  <dc:language>ja-JP</dc:language>
</cp:coreProperties>
</file>