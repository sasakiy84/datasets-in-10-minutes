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ActivityNet</c:v>
                </c:pt>
                <c:pt idx="1">
                  <c:v>WikiHow</c:v>
                </c:pt>
              </c:strCache>
            </c:strRef>
          </c:cat>
          <c:val>
            <c:numRef>
              <c:f>Sheet1!$B$2:$B$3</c:f>
              <c:numCache>
                <c:formatCode>General</c:formatCode>
                <c:ptCount val="2"/>
                <c:pt idx="0">
                  <c:v>3243</c:v>
                </c:pt>
                <c:pt idx="1">
                  <c:v>6799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6967</c:v>
                </c:pt>
                <c:pt idx="1">
                  <c:v>3075</c:v>
                </c:pt>
                <c:pt idx="2">
                  <c:v>0</c:v>
                </c:pt>
                <c:pt idx="3">
                  <c:v>0</c:v>
                </c:pt>
                <c:pt idx="4">
                  <c:v>0</c:v>
                </c:pt>
                <c:pt idx="5">
                  <c:v>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owanzellers.com/hellaswag/"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Rowan/hellaswa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47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Rowan/hellaswag"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Rowan/hellaswa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47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owanzellers.com/hellaswag/"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owanzellers.com/hellaswag/"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huggingface.co/datasets/Rowan/hellaswag"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Rowan/hellaswag"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9-1472/"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P19-147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Rowan/hellaswa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90015"/>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HellaSwag</a:t>
            </a:r>
          </a:p>
        </p:txBody>
      </p:sp>
      <p:sp>
        <p:nvSpPr>
          <p:cNvPr id="3" name="Subtitle 2"/>
          <p:cNvSpPr>
            <a:spLocks noGrp="1"/>
          </p:cNvSpPr>
          <p:nvPr>
            <p:ph type="subTitle" idx="1"/>
          </p:nvPr>
        </p:nvSpPr>
        <p:spPr>
          <a:xfrm>
            <a:off x="548640" y="2699665"/>
            <a:ext cx="8046720" cy="885190"/>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日常の動作や手順の続きを
四つの候補から選ぶ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HellaSwagの公式公開ページ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HellaSwag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https://rowanzellers.com/hellaswag/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文脈の後に、自然に続く候補を一つ選ぶ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HellaSwagは、日常の動作や手順を記述した英語の文脈と、四つの続きの候補を収録している。正解は一つである。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素材は動画の説明文とWikiHowの記事だが、標準の課題でモデルに渡すのは文章である。動画の映像を入力する課題ではない。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単語のつながりに加え、動きが物理的に可能か、作業の順序が自然かを読み取る。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ctx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前半の文章。文の途中で終わることもある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endings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続きを表す四つの文字列</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label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正解の位置。配布値は0〜3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source_id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元の動画やWikiHow記事の識別子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実例1：屋根材をはがす（1/2）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man is sitting on a roof. he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is using wrap to wrap a pair of skis.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is ripping level tiles off.</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is holding a rubik's cube.</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文脈：男性が屋根に座っている。彼は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A：選択肢：ラップでスキー板を一組包んでいる。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B：選択肢：平らなタイルをはがしている。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C：選択肢：ルービックキューブを持っている。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0。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実例1：屋根材をはがす（2/2）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D：選択肢（全文）／原文と日本語訳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starts pulling up roofing on a roof.</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屋根の屋根材を引きはがし始める。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0。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実例2：バーベルを持ち上げる（1/2）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lady walks to a barbell. She bends down and grabs the pole. the lady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swings and lands in her arms.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pulls the barbell forward.</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pulls a rope attached to the barbell.</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文脈：女性がバーベルに歩み寄る。かがんでバーをつかむ。その女性は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A：選択肢：揺れて自分の腕の中に着地する。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B：選択肢：バーベルを前へ引く。</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C：選択肢：バーベルに付いたロープを引く。</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実例2：バーベルを持ち上げる（2/2）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D：選択肢（全文）／原文と日本語訳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stands and lifts the weight over her head.</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立ち上がり、重りを頭上へ持ち上げる。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実例3：走り高跳び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boy is running down a track. the boy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runs into a car.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gets in a mat.</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lifts his body above the height of a pole.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stands on his hands and springs.</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文脈：少年が走路を走っている。その少年は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A：選択肢：車にぶつかる。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B：選択肢：マットの中に入る。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C：選択肢：体をバーより高く持ち上げる。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D：選択肢：逆立ちをして跳ねる。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3。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続きは、文脈の末尾につなげて読む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屋根の例は、文脈がheで終わる。各選択肢をつなげると、he starts pulling up roofing on a roof.のような文になる。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バーベルの例は、単に運動に関係する語があるかではなく、つかんだ後にどう動くかを読む。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この資料ではA〜Dで表示する。配布ラベル0〜3は順にA〜Dへ対応させている。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表面的な手掛かりで解ける負例を減らす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先行するSWAG（2018）は、動画説明の続きを選ぶ常識推論のデータセットだった。事前学習モデルの性能向上で、多くの問題が解けるようになった。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HellaSwagでは、文章としてもっともらしい誤答候補を生成し、識別モデルが簡単に見分けられる候補を繰り返し取り除いた。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語彙や文法が似ていても、その場面で起きそうな出来事かどうかを問うことが狙いである。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実際の続きと、生成した誤答を組み合わせる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ActivityNet Captionsの動画説明と、WikiHowの手順記事から、文脈と実際の続きを取り出す。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言語モデルが文脈に対する続きの候補を生成する。識別モデルによるadversarial filteringで、容易に判別される負例を交換する。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人手の検証も行い、実際の続き一つと、紛らわしい負例三つからなる問題を作る。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既知の話題と、未学習の話題を分けて測る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評価には、学習側に登場するカテゴリと、登場しないカテゴリを含めた。配布フィールドsplit_typeがこの違いを示す。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validationはindomainが5,001問、zeroshotが5,041問。これはデータ分割上のカテゴリの違いである。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zeroshotというフィールド名と、モデルに例題を一つも示さない0-shotの評価設定は、別の軸である。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39,905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正解ラベル付きの学習問題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10,042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正解ラベル付きの開発問題</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公開ファイルの正解欄は空</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動画と手順記事では、読む内容が異なる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validationの10,042問のうち、WikiHowが6,799問、ActivityNetが3,243問を占める。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動画説明は人物の動作や場面の変化、WikiHowは料理や清掃などの手順を多く含む。</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追加例では両方を取り上げ、[header]、[title]、[step]といった記事の構造も配布文字列のまま示す。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validationの素材は二つの公開資源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validation全10,042問。縦軸は質問数。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https://huggingface.co/datasets/Rowan/hellaswag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四択の正解率で、続きを選ぶ能力を測る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各問について、選んだ候補が配布ラベルと一致すれば1、それ以外は0。全問の平均を正解率とする。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四つの候補を一様にランダム選択する場合の期待値は25%である。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HELMのmultiple_choice_separate_originalは、各続きを個別に採点し、長さで正規化した文の確率に基づいて候補を選ぶ。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5760720"/>
                <a:gridCol w="22860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一様ランダム選択の期待値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BERT-Large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47.3%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人間</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論文Table 1のOverall test。BERTは学習集合で微調整した条件。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v0.4.0（2023-11-17）のcanonical結果。validationから1,000問を使い、解答例を示さない0-shotで評価した。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各候補を別々に入力して確率を比較する方式で、正解率を報告する。試行回数は各1回である。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選択肢を一つのプロンプトに並べてA〜Dを生成する方式や、例題を示す方式とは入力条件が異なる。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1,000問。0-shot。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正解率のほか、入力を少し変えた際の頑健性や、自信のある予測がどの程度正しいかも評価できる。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モデルの進歩後も、日常場面の指標として使う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HellaSwagは、HELMやLanguage Model Evaluation Harnessに組み込まれ、汎用言語モデルの常識的な文章補完を測る指標となっている。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高得点でも、あらゆる物理常識を獲得したとはいえない。公開問題に対する文章候補の識別を測っている。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採点時の長さの正規化、例題数、候補の提示方法が、モデル間の比較条件になる。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HellaSwag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https://rowanzellers.com/hellaswag/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作者の公式ページから、論文、データ、評価用の情報へ進める。Rowan/hellaswagの公開ミラーでも配布されている。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ミラーのtestには正解ラベルがない。正解を確認したり、手元で採点したりするにはvalidationを使う。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HellaSwag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https://rowanzellers.com/hellaswag/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load_dataset("Rowan/hellaswag",</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revision="218ec52e")</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ds["validation"][0]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print(example["ctx"])</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HellaSwagの要点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日常の動作や手順に対し、実際の続き一つと生成した誤答三つを見比べる。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識別しやすい負例を除く工程により、文法的な自然さだけでは解きにくい問題を作った。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データ内の未知カテゴリと、評価時の例題なし設定を区別し、候補の採点方法をそろえて比べる。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追加例1：ハーモニカの演奏（1/2）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man is standing in front of a camera. He starts playing a harmonica for the camera. he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begins to play the harmonica with his body while looking at the camera.</a:t>
            </a:r>
          </a:p>
        </p:txBody>
      </p:sp>
      <p:sp>
        <p:nvSpPr>
          <p:cNvPr id="6" name="TextBox 5"/>
          <p:cNvSpPr txBox="1"/>
          <p:nvPr/>
        </p:nvSpPr>
        <p:spPr>
          <a:xfrm>
            <a:off x="4690872" y="1627632"/>
            <a:ext cx="3858768" cy="1443672"/>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文脈：男性がカメラの前に立っている。カメラに向かってハーモニカを吹き始める。彼は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A：選択肢：カメラを見ながら、体でハーモニカを演奏し始める。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追加例1：ハーモニカの演奏（2/2）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seems to be singing while playing the harmonica.</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rocks back and forth to the music as he goes.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painted a fence in front of the camera.</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B：選択肢：ハーモニカを吹きながら歌っているように見える。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C：選択肢：音楽に合わせて体を前後に揺らす。</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D：選択肢：カメラの前の塀を塗った。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追加例2：公園での演奏（1/2）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person is playing bagpipes out in a park. A man and two boys watching from a far. the camera</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shoots areas all around the park while the bagpipes play.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is covered to the boy that is playing there.</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文脈：公園でバグパイプを演奏している人がいる。男性と少年2人が遠くから見ている。カメラは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A：選択肢：バグパイプの演奏中、公園のあちこちを映す。</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B：選択肢：そこで演奏する少年に覆われる。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追加例2：公園での演奏（2/2）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then goes black and we see a black opening scene.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watching the boy and boy as they play a game of drums.</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C：選択肢：その後暗転し、黒いオープニング場面になる。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D：選択肢：少年と少年がドラムの遊びをするのを見ている。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追加例3：チアリーディング（1/3）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group of cheerleaders run onto a stage before a cheering audience. they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get into formation, then begin dancing and flipping as male cheerleaders join them.</a:t>
            </a:r>
          </a:p>
        </p:txBody>
      </p:sp>
      <p:sp>
        <p:nvSpPr>
          <p:cNvPr id="6" name="TextBox 5"/>
          <p:cNvSpPr txBox="1"/>
          <p:nvPr/>
        </p:nvSpPr>
        <p:spPr>
          <a:xfrm>
            <a:off x="4690872" y="1627632"/>
            <a:ext cx="3858768" cy="172326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文脈：歓声を上げる観客の前で、チアリーダーたちが舞台へ走り込む。彼女たちは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A：選択肢：隊形を作り、男性チアリーダーも加わって踊ったり宙返りしたりし始める。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17。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正解：A</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追加例3：チアリーディング（2/3）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perform a cheer routine before the girls, along with makeup artists, spread out and pose.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take turns jumping on each other like they are performing karate.</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B：選択肢：演技を披露した後、女子とメイク担当者が散らばってポーズを取る。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C：選択肢：空手をするかのように、交互に互いの上へ跳び乗る。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17。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追加例3：チアリーディング（3/3）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D：選択肢（全文）／原文と日本語訳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are then shown performing the type of cheerleading dance, using batons and pole vaults.</a:t>
            </a:r>
          </a:p>
        </p:txBody>
      </p:sp>
      <p:sp>
        <p:nvSpPr>
          <p:cNvPr id="6" name="TextBox 5"/>
          <p:cNvSpPr txBox="1"/>
          <p:nvPr/>
        </p:nvSpPr>
        <p:spPr>
          <a:xfrm>
            <a:off x="594360" y="2468245"/>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その後、バトンや棒高跳びの棒を使ったチアダンスを披露する。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17。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追加例4：芝刈りの動き（1/2）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A man is outside of a building. He is using commercial lawn mowing equipment. he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walks back and forth as he mows the grass.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is animated as he does the task.</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文脈：男性が建物の外にいる。業務用の芝刈り機を使っている。彼は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A：選択肢：芝を刈りながら行ったり来たりする。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B：選択肢：作業中、活発な様子である。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21。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追加例4：芝刈りの動き（2/2）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relaxes, making sure his lawn is pristine.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runs from one side of the building to the other.</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C：選択肢：芝生が完璧な状態なのを確かめながらくつろぐ。</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D：選択肢：建物の一方の側から反対側まで走る。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21。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追加例5：家族のデザート（1/2）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Children bring desert out for their family member. the family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floats in a river.</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member stands looking into a hut and then handing people photographs.</a:t>
            </a:r>
          </a:p>
        </p:txBody>
      </p:sp>
      <p:sp>
        <p:nvSpPr>
          <p:cNvPr id="6" name="TextBox 5"/>
          <p:cNvSpPr txBox="1"/>
          <p:nvPr/>
        </p:nvSpPr>
        <p:spPr>
          <a:xfrm>
            <a:off x="4690872" y="1627632"/>
            <a:ext cx="3858768" cy="1443672"/>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文脈：子どもたちが家族にデザートを運んでくる。その家族は</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A：選択肢：川に浮かんでいる。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B：選択肢：小屋をのぞき込み、その後、人々に写真を手渡す。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22。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追加例5：家族のデザート（2/2）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member cuts a piece of sunscreen.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enjoys eating the desert together.</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C：選択肢：日焼け止めを一切れ切る。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D：選択肢：一緒にデザートを食べて楽しむ。</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22。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追加例6：壁の下地を清掃する（1/3）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文脈（全文）／原文と日本語訳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[header] How to caulk walls [title] Clean the wall. [step] Caulk should never go on a dirty surface. Wipe down the wall with a dry cloth to remove dust.</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［見出し］壁をコーキングする方法［項目］壁をきれいにする。［手順］汚れた面にコーキングしてはいけない。乾いた布で壁を拭き、ほこりを除く。</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8029。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追加例6：壁の下地を清掃する（2/3）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Also use a brush to vacuum the surface. Don't use a brush on a dirty surface.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Then let the caulk dry and smooth out any uneven surfaces. Use a knife to cut a 2 inch (5.1 cm) square at the edge of the wall.</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A：選択肢：ブラシを使って表面を吸引する。汚れた面にはブラシを使わない。</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B：選択肢：次にコーキング材を乾かし、凹凸をならす。ナイフで壁の端に2インチ（5.1cm）の正方形を切る。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8029。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追加例6：壁の下地を清掃する（3/3）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Next, caulk around the entire wall with a rag. A putty knife or a mop may work, too.</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Wash with an all-purpose cleaner to remove grease and dirt. Rubbing alcohol and a wire brush will remove stubborn stains.</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C：選択肢：次に布で壁全体の周囲をコーキングする。パテ用ナイフやモップでもよい。</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D：選択肢：万能洗剤で洗い、油や汚れを落とす。しつこい汚れは消毒用アルコールとワイヤーブラシで落とす。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8029。 正解：D。</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追加例7：リンゴジャムの下ごしらえ（1/3）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4907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Context: [header] How to make apple jam [title] Peel and chop your apples. [step] Wash your apples and peel them. Core the apples to remove their stems.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Trim the apples into smaller pieces to use as jam. Use 3 to 4 large apple chunks in the jam.</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文脈：［見出し］リンゴジャムの作り方［項目］リンゴの皮をむいて切る。［手順］洗って皮をむき、芯を取り、軸を除く。</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A：選択肢：ジャムにするため、リンゴを小さく切る。大きめの塊を3〜4個使う。</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8042。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追加例7：リンゴジャムの下ごしらえ（2/3）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Some may have chunks of skin if you cut them off. You'll need about two peeled apples for the total jam.</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Carefully dice the apples finely so they're no larger than 1/4 " cubes. Place all of the apples in a large 4-cup measuring cup.</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B：選択肢：皮を切り取ると、一部に皮の塊が残ることがある。全体で皮をむいたリンゴを約2個使う。</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C：選択肢：1辺1/4インチ以下の角切りになるよう、注意して細かく切る。すべてのリンゴを4カップ用の大きな計量カップに入れる。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8042。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追加例7：リンゴジャムの下ごしらえ（3/3）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D：選択肢（全文）／原文と日本語訳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From the core, you should cut off all the small, stringy flesh. You should also grate them on a separate cutting board.</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芯から小さな筋っぽい果肉をすべて切り落とす。別のまな板ですりおろすことも必要だ。</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8042。 正解：C。</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追加例8：ポプリ用のリンゴ（1/3）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文脈（全文）／原文と日本語訳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[header] How to make fall potpourri [title] Dry the apple. [step] Preheat your oven to 150 degrees f (65 degrees c). Wash one apple and slice it into 1/4-inch slices.</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［見出し］秋のポプリの作り方［項目］リンゴを乾燥させる。［手順］オーブンを150°F（65°C）に予熱する。リンゴ1個を洗い、1/4インチの薄切りにする。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4264。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追加例8：ポプリ用のリンゴ（2/3）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Lay the slices in a single layer on a baking sheet. Bake the apple slices for 30 minutes.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Place the slices onto a stove top burner over medium high heat. Set the burner to 350 degrees f (177 degrees c) and heat it.</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A：選択肢：天板に重ならないように並べ、30分焼く。</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B：選択肢：コンロのバーナーに載せ、中強火にする。バーナーを350°F（177°C）に設定して加熱する。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4264。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追加例8：ポプリ用のリンゴ（3/3）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Set the apple slices on a spice rack on your counter. Run cold water over them until they are dry.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Place the apple slices on a lightly greased baking sheet. Then, lay the sheet on the kitchen counter with the apples face down.</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C：選択肢：調理台のスパイスラックに載せ、乾くまで冷水を流す。</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D：選択肢：薄く油を塗った天板に載せる。その後、リンゴを下向きにして天板を調理台に置く。</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4264。 正解：A。</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追加例9：食洗機の外側を拭く（1/4）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文脈（全文）／原文と日本語訳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[header] How to clean a frigidaire dishwasher [title] Get a dish cloth damp. [step] Dip a dish rag in warm, soapy water. Use a mild dish detergent over a chemical cleaner.</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［見出し］Frigidaire製食洗機の掃除方法［項目］布巾を湿らせる。［手順］温かい石けん水に布巾を浸す。強い化学洗剤よりも、刺激の少ない食器用洗剤を使う。</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6675。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正解：B</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追加例9：食洗機の外側を拭く（2/4）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[title] Scrub the sides and bottom of the frigidaire. [step] You will need to use a scrubbing tool, like a fork.</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Ring the rag out slightly so it's just damp. [title] Wipe the exterior with the damp cloth.</a:t>
            </a:r>
          </a:p>
        </p:txBody>
      </p:sp>
      <p:sp>
        <p:nvSpPr>
          <p:cNvPr id="6" name="TextBox 5"/>
          <p:cNvSpPr txBox="1"/>
          <p:nvPr/>
        </p:nvSpPr>
        <p:spPr>
          <a:xfrm>
            <a:off x="4690872" y="1627632"/>
            <a:ext cx="3858768" cy="172326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A：選択肢：［項目］Frigidaireの側面と底をこする。［手順］フォークなど、こする道具が必要だ。</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B：選択肢：少し絞って、軽く湿った状態にする。［項目］湿った布で外側を拭く。</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6675。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追加例9：食洗機の外側を拭く（3/4）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C：選択肢（全文）／原文と日本語訳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Wring out the excess moisture before wiping down the top and sides of the frigidaire. [title] Pat the rusty surface of the frigidaire with the cloth.</a:t>
            </a:r>
          </a:p>
        </p:txBody>
      </p:sp>
      <p:sp>
        <p:nvSpPr>
          <p:cNvPr id="6" name="TextBox 5"/>
          <p:cNvSpPr txBox="1"/>
          <p:nvPr/>
        </p:nvSpPr>
        <p:spPr>
          <a:xfrm>
            <a:off x="594360" y="274783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上面と側面を拭く前に、余分な水分を絞る。［項目］さびた表面を布で軽くたたく。</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6675。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追加例9：食洗機の外側を拭く（4/4）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D：選択肢（全文）／原文と日本語訳</a:t>
            </a:r>
          </a:p>
        </p:txBody>
      </p:sp>
      <p:sp>
        <p:nvSpPr>
          <p:cNvPr id="5" name="quote-frame"/>
          <p:cNvSpPr/>
          <p:nvPr/>
        </p:nvSpPr>
        <p:spPr>
          <a:xfrm>
            <a:off x="548640" y="1600200"/>
            <a:ext cx="8046720" cy="81318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Dampen the rag and wring it out between uses. [title] Remove your frigidaire from the dishwasher.</a:t>
            </a:r>
          </a:p>
        </p:txBody>
      </p:sp>
      <p:sp>
        <p:nvSpPr>
          <p:cNvPr id="6" name="TextBox 5"/>
          <p:cNvSpPr txBox="1"/>
          <p:nvPr/>
        </p:nvSpPr>
        <p:spPr>
          <a:xfrm>
            <a:off x="594360" y="246824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使うたびに布を湿らせて絞る。［項目］食洗機からFrigidaireを取り出す。</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6675。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追加例10：塩と酢を混ぜる（1/3）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文脈（全文）／原文と日本語訳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[header] How to unclog a drain with salt and vinegar [title] Mix salt and vinegar. [step] In a small bowl, pour 1 cup of salt. Add 1 cup of vinegar.</a:t>
            </a:r>
          </a:p>
        </p:txBody>
      </p:sp>
      <p:sp>
        <p:nvSpPr>
          <p:cNvPr id="6" name="TextBox 5"/>
          <p:cNvSpPr txBox="1"/>
          <p:nvPr/>
        </p:nvSpPr>
        <p:spPr>
          <a:xfrm>
            <a:off x="594360" y="2747835"/>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［見出し］塩と酢で排水口の詰まりを解消する方法［項目］塩と酢を混ぜる。［手順］小さなボウルに塩1カップを入れ、酢1カップを加える。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6051。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追加例10：塩と酢を混ぜる（2/3）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Place 1 cup of distilled white vinegar in a small bowl. The salt and vinegar will help the solution penetrate the clogged drain.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 Stir well so the salt soaks up all the vinegar. Continue stirring until the mixture is smooth and even.</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A：選択肢：小さなボウルに蒸留白酢1カップを入れる。塩と酢が詰まった排水口に浸透する助けになる。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B：選択肢：塩が酢をすべて吸うようによく混ぜる。滑らかで均一になるまで混ぜ続ける。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6051。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追加例10：塩と酢を混ぜる（3/3）</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 Mix the salt in, going slowly but bringing the mixture to a boil. Always stir the solution well, making sure nothing gets broken.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 If possible, give it an extra stir. The vinegar will set the clog, and it will give it a smoother initial scrubbing.</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C：選択肢：ゆっくり塩を混ぜながら、沸騰させる。何も壊れないよう、必ずよくかき混ぜる。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D：選択肢：できればさらに混ぜる。酢が詰まりを固め、最初にこすりやすくする。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Rowan/hellaswag、改訂218ec52e。2026-10-17参照。 validationの0始まり行 6051。 正解：B。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validation全10,042件。横軸は空白区切りの語数、縦軸は件数。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https://huggingface.co/datasets/Rowan/hellaswag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入力はctx。四つのendingsは含めていない。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対象は改訂218ec52eのvalidation全10,042件。表示した13例だけの集計ではない。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Rowan/hellaswag、改訂218ec52e。validation全10,042件を集計。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Rowan Zellersと最終著者Yejin Choiら、ワシントン大学とAllen Institute for AIの研究者が参加した。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ACL 2019で発表された。SWAGに続き、生成モデルと識別モデルを使って常識推論の負例を作る研究である。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Rowan Zellers et al. (2019). HellaSwag: Can a Machine Really Finish Your Sentence?. ACL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ellaSwag: Can a Machine Really Finish Your Sentence?"/>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HellaSwag: Can a Machine Really Finish Your Sentence?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Rowan Zellers, Ari Holtzman, Yonatan Bisk, Ali Farhadi, Yejin Choi / ACL 2019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HellaSwagの作成方法、実例、初期評価を報告した研究。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https://aclanthology.org/P19-1472/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ellaSwag：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HellaSwag：公開データと配布情報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Rowan/hellaswag / 改訂218ec52e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https://huggingface.co/datasets/Rowan/hellaswag</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2026-10-17T16:08:41Z</dcterms:modified>
  <dc:title>hellaswag</dc:title>
  <dc:creator>sasakiy84</dc:creator>
  <dcterms:created xsi:type="dcterms:W3CDTF">2026-10-17T16:08:41Z</dcterms:created>
  <dc:language>ja-JP</dc:language>
</cp:coreProperties>
</file>