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注釈の誤り</c:v>
                </c:pt>
                <c:pt idx="1">
                  <c:v>知識不足</c:v>
                </c:pt>
                <c:pt idx="2">
                  <c:v>知覚</c:v>
                </c:pt>
                <c:pt idx="3">
                  <c:v>推論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25</c:v>
                </c:pt>
                <c:pt idx="2">
                  <c:v>27</c:v>
                </c:pt>
                <c:pt idx="3">
                  <c:v>46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技術・工学</c:v>
                </c:pt>
                <c:pt idx="1">
                  <c:v>人文・社会科学</c:v>
                </c:pt>
                <c:pt idx="2">
                  <c:v>健康・医学</c:v>
                </c:pt>
                <c:pt idx="3">
                  <c:v>科学</c:v>
                </c:pt>
                <c:pt idx="4">
                  <c:v>ビジネス</c:v>
                </c:pt>
                <c:pt idx="5">
                  <c:v>芸術・デザイン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417</c:v>
                </c:pt>
                <c:pt idx="1">
                  <c:v>222</c:v>
                </c:pt>
                <c:pt idx="2">
                  <c:v>286</c:v>
                </c:pt>
                <c:pt idx="3">
                  <c:v>291</c:v>
                </c:pt>
                <c:pt idx="4">
                  <c:v>286</c:v>
                </c:pt>
                <c:pt idx="5">
                  <c:v>228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MMMU/MMMU_Pro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mmmu-benchmark.github.i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MMU/MMMU_Pr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arxiv.org/abs/2409.02813v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arxiv.org/abs/2409.02813v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409.02813v3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409.02813v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arxiv.org/abs/2409.02813v3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11.1650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MMU/MMMU_Pro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arxiv.org/abs/2409.02813v3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arxiv.org/abs/2409.02813v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hyperlink" Target="https://arxiv.org/abs/2409.02813v3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arxiv.org/abs/2409.02813v3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arxiv.org/abs/2409.02813v3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arxiv.org/abs/2409.02813v3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arxiv.org/abs/2409.02813v3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hyperlink" Target="https://arxiv.org/abs/2409.02813v3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arxiv.org/abs/2409.02813v3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arxiv.org/abs/2409.02813v3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11.165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777594"/>
            <a:ext cx="8229600" cy="8636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548640" y="274320"/>
            <a:ext cx="64008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38882"/>
            <a:ext cx="8229600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図表や画像を読み、専門分野の問いに答える</a:t>
            </a:r>
          </a:p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MMMUを改良したマルチモーダル評価データ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MMMUシリーズの公式サイト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MMMUシリーズ: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https://mmmu-benchmark.github.io/</a:t>
            </a:r>
          </a:p>
        </p:txBody>
      </p:sp>
      <p:pic>
        <p:nvPicPr>
          <p:cNvPr id="6" name="公式サイトの画面" descr="mmmu-p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1417320"/>
            <a:ext cx="46634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画像を使う専門問題と実例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MMMUからの発展と利用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大学水準の問題を、図表と文章から解く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MMMU-Proは、経済の表、数学の図、医療画像、楽譜などを使う選択式の質問応答データセットである。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画像の値・位置・構造を読み、科目ごとの知識や計算と結び付けて、正しい選択肢を選ぶ。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30科目の1,730問を、文章と画像を分けた形式と、問題文も画像に収めた形式で評価する。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同じ問題をStandardとVisionで出題する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21408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62179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モデルへ渡す問題の形式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問題文・選択肢はテキスト、図表は画像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問題文・選択肢・図表を含む画像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2219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Standardは元の選択肢と拡張後の選択肢を用意する。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Visionは拡張後の選択肢を画像内に配置する。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公開問題から、分野の異なる13例を紹介する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問題・選択肢・正解は公開されている。本編では経済、数学、計算機科学の3例を紹介する。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掲載する入力画像は、Yueらの論文にあるVision形式の実例である。日本語で課題内容と正解を添える。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Appendixでは芸術、音楽、生物、地理、医学、工学など10例を追加する。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実例1：価格表から消費者物価指数を求める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9736"/>
            <a:ext cx="4069080" cy="2069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12618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リンゴ200個と教科書290冊の組を考える。2015年を基準年として、2014年の消費者物価指数（CPI）を求める。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3246120"/>
            <a:ext cx="3703320" cy="38661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 D：143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88663"/>
            <a:ext cx="3703320" cy="783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各年の購入費用を表から計算し、基準年に対する比率を取る。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test_Economics_47.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2014年の購入費用を2015年と比較する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84248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2651760"/>
                <a:gridCol w="2651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2014年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リンゴ200個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200 × 1.40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200 × 1.10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教科書290冊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290 × 200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290 × 140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合計（ドル）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58,280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40,820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8503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CPI = 58,280 ÷ 40,820 × 100 ≈ 143。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価格表の読み取りと、指数の計算を組み合わせる。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test_Economics_47.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実例2：制約を満たす最適な点を選ぶ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3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1865"/>
            <a:ext cx="1463040" cy="28855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48840" y="17830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図の拡大</a:t>
            </a:r>
          </a:p>
        </p:txBody>
      </p:sp>
      <p:pic>
        <p:nvPicPr>
          <p:cNvPr id="6" name="Picture 5" descr="page-36.jpeg"/>
          <p:cNvPicPr>
            <a:picLocks noChangeAspect="1"/>
          </p:cNvPicPr>
          <p:nvPr/>
        </p:nvPicPr>
        <p:blipFill>
          <a:blip r:embed="rId2"/>
          <a:srcRect l="7400" t="28400" r="37000" b="54400"/>
          <a:stretch>
            <a:fillRect/>
          </a:stretch>
        </p:blipFill>
        <p:spPr>
          <a:xfrm>
            <a:off x="2148840" y="2212848"/>
            <a:ext cx="2423160" cy="1478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図の制約を満たす範囲で、点(3, 2)までの距離が最小になる点を選ぶ。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8" y="2948940"/>
            <a:ext cx="3703320" cy="38679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 A：(2,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図の斜線部分が制約を満たす領域。目的関数の等高線と境界を対応させる。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validation_Math_16.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数式の条件と、図の領域を対応させる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放物線x₂ = x₁²−3の上側、直線x₂ = 1の下側、x₁ ≥ 0の範囲が実行可能領域になる。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点(3, 2)からこの領域に近づくと、境界の交点(2, 1)で距離が最小になる。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図中の領域と、文章中の不等号・符号を対応させて解く問題である。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validation_Math_16.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実例3：状態遷移図に対応する式を選ぶ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4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95810"/>
            <a:ext cx="4069080" cy="23976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有限オートマトンの図を読み、受理される文字列の集合を表す正規表現を選ぶ。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8679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 A：([1-9][0-9]*)|0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遷移のラベルと受理状態をたどり、単独の0と、先頭が1〜9の整数表記をまとめて表す。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validation_Computer_Science_29.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図のラベルと選択肢の記号を照合する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8132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状態遷移図の拡大</a:t>
            </a:r>
          </a:p>
        </p:txBody>
      </p:sp>
      <p:pic>
        <p:nvPicPr>
          <p:cNvPr id="5" name="Picture 4" descr="page-49.jpeg"/>
          <p:cNvPicPr>
            <a:picLocks noChangeAspect="1"/>
          </p:cNvPicPr>
          <p:nvPr/>
        </p:nvPicPr>
        <p:blipFill>
          <a:blip r:embed="rId2"/>
          <a:srcRect l="22300" t="24100" r="46300" b="40700"/>
          <a:stretch>
            <a:fillRect/>
          </a:stretch>
        </p:blipFill>
        <p:spPr>
          <a:xfrm>
            <a:off x="822960" y="1984248"/>
            <a:ext cx="3154680" cy="2083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45152" y="1508760"/>
            <a:ext cx="3904487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最初の0は状態3へ、1〜9は状態1へ進む。状態1と2では、続く0〜9を読める。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5152" y="2761488"/>
            <a:ext cx="3904487" cy="1188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[1-9][0-9]*は先頭が1〜9の整数表記、|0は単独の0を表す。この2つを合わせる。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この例は8択。問題に応じて、選択肢の数や内容が異なる。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validation_Computer_Science_29.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出力した選択肢と正解を照合する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4399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モデルの応答からA、Bなどの選択肢記号を抽出し、配布された正解記号と一致すれば1、異なれば0とする。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各形式の正解率は、正解した問題数を評価した問題数で割った値である。全体は問題数で重み付けして集計する。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総合スコアは、Standardの拡張選択肢版とVisionの正解率の平均とする。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初期評価：選択肢の拡張とVision形式の影響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508760"/>
                <a:gridCol w="1554480"/>
                <a:gridCol w="1508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(0513)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Yueらによる同一の1,730問題に対する比較。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DirectまたはCoTのうち、報告された高い方の正解率。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初期の総合スコアは2形式の平均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737360"/>
                <a:gridCol w="1371600"/>
                <a:gridCol w="14630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Standard拡張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総合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(0513)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GPT-4oの例：(54.0 + 49.7) ÷ 2 = 51.85 → 51.9%。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現行モデルでもMMMU-Proが使われている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DeepMindの公式比較表。ツールなし。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High・xhigh・Maxは各モデルの推論設定。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MMMU-Pro / No tools.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文字の抽出を先に指示した場合の正解率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6272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103120"/>
                <a:gridCol w="2103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OCR指示あり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OCR指示なし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mini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77055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Vision形式。OCRは画像内の文字を読み取る処理。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この比較では、先に文字を書き起こす指示の効果は小さい。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GPT-4oの誤答60件を原因別に分析した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YueらによるVision形式の誤答60件の分類。横軸は割合（%）。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元のMMMUは大学の試験・教材から収集した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MMMUは2023年に公開され、2024年のCVPRで発表された。大学の試験、クイズ、教科書から約11,500問を集めた。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芸術、ビジネス、科学、医療、人文社会、工学の6分野、30科目、183の細分野を扱う。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MMMU-Proはこの問題群を絞り込み、選択肢と見せ方を改めた。2024年公開、2025年ACL発表。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(2024). MMMU: A Massive Multi-discipline Multimodal Understanding and Reasoning Benchmark for Expert AGI. CVPR 2024.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https://arxiv.org/abs/2311.16502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画像なしで解ける問題を先に除く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Llama 3-70B、Qwen2-72B、Yi-1.5-34B、Mixtral-8×22Bの4つに、画像を与えず問題を解かせる。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各モデルで10回試し、6回以上正解したモデルが4つ中3つ以上なら、その問題を除く。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残った問題から30科目各60問、計1,800問を抽出し、選択肢の拡張と人手確認へ進む。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選択肢を追加し、2回の人手確認で整える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GPT-4oが追加候補を作り、Claude 3.5が候補を絞る。その後、専門家が2回の確認・修正を行う。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誤答候補の質と多様性を確認するとともに、元の問題と画像の関連や、内容の整合性も点検する。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この工程で70問を除き、1,730問を残した。配布上の名称はstandard (10 options)である。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画面や写真に問題文と図表をまとめる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Vision形式では、出題用の画面に問題文・選択肢・図表を配置する。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注釈者が背景、フォント、文字サイズを変え、スクリーンショットや写真を手作業で取得する。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各問題にStandardとVisionの対応を持たせ、画像の文字・図表を合わせて処理する能力を調べる。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配布されている3つの構成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188720"/>
                <a:gridCol w="36576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 (4 options)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元の選択肢、文章＋画像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 (10 options)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拡張選択肢、文章＋画像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拡張選択肢を含む画像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同じ1,730問に対応する3構成が、test splitで配布されている。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技術・工学417問、ほかの5分野は222〜291問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公開評価レコード1,730件の科目を、公式の6分野へ集約。横軸は問題数。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科目ごとの抽出数と最終的な件数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4937760"/>
                <a:gridCol w="31089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段階・科目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確認前の抽出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各科目60問 × 30科目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最終的な科目別件数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50〜60問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最少の経営学（Manage）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人手確認後は科目によって件数が異なる。合計1,730問。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配布splitと問題IDが示すもの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MMMU-Proの配布splitは、3構成ともtestである。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問題IDにはtest_やvalidation_で始まるものがある。これは元のMMMUにおける問題IDを引き継いだものである。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例えば経済の例はtest_Economics_47、数学の例はvalidation_Math_16だが、どちらもMMMU-Proのtestに含まれる。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MMMUからMMMU-Proへ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公開時期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データセットと変更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MMMU：大学水準の画像付き専門問題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2024年9月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MMMU-Pro：絞込み、選択肢拡張、Vision形式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2026年10月時点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同じProの公開データを、設問・正解の修正とともに継続配布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公開後に選択肢・正解・条件を修正した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9504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更新日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2025-03-08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画像内ラベルとシャッフル後の選択肢を対応付け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2026-05-30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診断・検査医学の選択肢拡張を修正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2026-07-10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デザイン・芸術理論の正解ラベルを修正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2026-10-04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化学の選択肢と、金融問題の不足条件を修正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公式データを構成名で読み込む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2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data = load_dataset(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"MMMU/MMMU_Pro", "vision",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split="test",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revision="0d7426df4ccb3d8704a992fe6850abee7c262127",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image = data[0]["image"]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2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Standardを使う場合は構成名をstandard (10 options)に変える。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公開データと公式コードから評価できる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Faceで問題・画像・選択肢・正解を入手し、GitHubの推論スクリプトとevaluate.pyで評価する。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データカードと公式リポジトリはApache License 2.0を指定している。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評価記録にはデータ改訂、構成名、プロンプト、モデル名、ツールの有無を対応させる。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画像と文章をつなぐ専門問題の評価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MMMU-Proは、画像なしで解ける問題の除外、選択肢の拡張、Vision形式によって、MMMUの評価を厳しくした。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図の構造や表の数値を読み、知識・計算と結び付けて、正しい選択肢を選ぶ。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同じ問題のStandardとVisionを比較でき、現在のプロプライエタリモデルの評価にも使われている。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200" b="0">
                <a:solidFill>
                  <a:srgbClr val="303437"/>
                </a:solidFill>
                <a:latin typeface="Noto Sans"/>
              </a:defRPr>
            </a:pPr>
            <a:r>
              <a:rPr sz="4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科目の内訳と評価実装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分野の異なる追加例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追加例1：芸術：流し撮りの写真を見分ける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884" y="1463040"/>
            <a:ext cx="397259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3枚の写真のうち、被写体を追う流し撮りによるぼけがあるものを選ぶ。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8679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 G：Photo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解説：被写体が比較的はっきりし、背景が横方向に流れている写真を選ぶ。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test_Art_227.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追加例2：芸術理論：建物の構造方式を選ぶ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351" y="1463040"/>
            <a:ext cx="3429656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建物の平面図から、使われている構造方式を選ぶ。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758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 E：Skeletal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502152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柱の配置などを読み、骨組みで支える構造に対応させる。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test_Art_Theory_19.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追加例3：音楽：譜面から旋律の調を選ぶ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613" y="1463040"/>
            <a:ext cx="160713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譜面を読み、画像内に並ぶ調の候補から正しいものを選ぶ。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8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 G：画像内の2番目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選択肢の記号は、画像内の候補の位置を指している。調号と旋律を照合する。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test_Music_209.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追加例4：生物：胚の発生段階の特徴を答える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419" y="1463039"/>
            <a:ext cx="1927521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発生途中の胚の画像を見て、この段階で既に定まっている特徴を選ぶ。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7205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 C：体節・対称性・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頭尾方向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96283"/>
            <a:ext cx="3703320" cy="7757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画像の発生段階を、体の区分や方向が定まる過程と結び付ける。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validation_Biology_30.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追加例5：地理：分布域と動物を対応させる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388" y="1463040"/>
            <a:ext cx="294358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地図の青い地域に分布する動物を、4枚の写真から選ぶ。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8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 B：レアの写真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地図の色分けと選択肢の写真を合わせて判断する。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test_Geography_90.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追加例6：物理：張力を求めやすい支点を選ぶ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8755"/>
            <a:ext cx="4069080" cy="3051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壁とロープで支えた棒について、モーメントの式1本でロープの力を求められる中心点を選ぶ。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8679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 B：点2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壁との接点を中心にすると、そこで働く力のモーメントが0になる。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validation_Physics_9.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追加例7：基礎医学：心臓の構造を特定する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550" y="1463040"/>
            <a:ext cx="14132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心臓の断面図で示された構造を、10個の候補から選ぶ。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8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 E：肺動脈弁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図の位置を、右心室と肺動脈の間にある弁に対応させる。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test_Basic_Medical_Science_72.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追加例8：電子工学：切替え直後の電圧を求める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1456"/>
            <a:ext cx="4069080" cy="27464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3つの回路について、スイッチを切り替えた直後の電圧vを求める。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758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 B：−8 V、−10 V、20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99332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回路図、素子の値、切替え時刻を読んで、3つの値の組を選ぶ。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test_Electronics_76.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追加例9：材料：組織図から延性の順を選ぶ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268" y="1463040"/>
            <a:ext cx="400782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4つの鉄–炭素合金の室温組織を、延性の高い順に並べる。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8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 F：C、A、B、D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各組織の形態と材料の性質を対応させ、4つの文字の並びで答える。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test_Materials_423.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追加例10：機械工学：梁のせん断応力を計算する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806" y="1463040"/>
            <a:ext cx="2748747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12618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両端支持のI形梁に中央で1,000 lbを加える。最大せん断応力と、ウェブ面積で近似した値を求める。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3246120"/>
            <a:ext cx="3703320" cy="38661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 B：196.9／166.7 psi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88663"/>
            <a:ext cx="3703320" cy="783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寸法を読み、2通りの応力を計算する。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test_Mechanical_Engineering_409.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科目の内訳と評価実装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芸術・デザインの科目別問題数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芸術理論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デザイン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ビジネスの科目別問題数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金融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マーケティング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健康・医学の科目別問題数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基礎医学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臨床医学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診断・検査医学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薬学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公衆衛生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人文・社会科学の科目別問題数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社会学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心理学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技術・工学の科目別問題数（1）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農業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建築・工学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計算機科学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電子工学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技術・工学の科目別問題数（2）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8424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エネルギー・動力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材料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機械工学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選択肢記号を抽出して一致を採点する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86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options = ["173", "190", "105", "143", "180",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"160", "135", "150", "210", "125"]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choices = list("ABCDEFGHIJ")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index2ans = dict(zip(choices, options))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pred = parse_multi_choice_response(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"Answer: D", choices, index2ans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eval_multi_choice("D", pred)  #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959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公式evaluate.pyの関数に、経済の例の選択肢と応答を渡す。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複数の記号がある応答から答えを抽出する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evaluate.pyは末尾のAnswer:以降をまず調べ、一意な選択肢記号を見つける。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その形式で得られなければ、括弧付きの記号や選択肢本文との一致を探し、複数候補では後ろに出た候補を使う。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候補が得られない場合の処理にはランダムな選択も含まれる。推論スクリプトは答えの記号を明示させる指示を使う。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画像付きの選択肢は対応するキーへ展開する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Standardには、選択肢そのものが画像になっている問題もある。地理の例では動物の写真が候補になる。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この例の選択肢はimage_3、image_5、image_4、image_2の順で、正解Bはimage_5に対応する。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公式推論コードは、問題文と選択肢内の画像参照を出現順に処理し、対応する画像をモデルへ渡す。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元のMMMUとProの公開構成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303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公開されている問題・正解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開発150、検証900、テスト10,500問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MMMUのテスト正解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2026-02-12に公開。公式コードで採点できる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3構成 × 1,730レコード。全構成で正解を公開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 Teamによる改良ベンチマーク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共同第一著者はXiang Yue、Tianyu Zheng、Yuansheng Ni。最終著者はGraham Neubigで、計13名が執筆している。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先行するMMMUはYueらがCVPR 2024で発表し、MMMU-ProはACL 2025で発表された。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専門問題の収集から、画像への依存、誤答候補、画面内の文章と図表の処理へと評価を発展させた。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-Pro: A More Robust Multi-discipline Multimodal Understanding Benchmark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MMMU-Pro: A More Robust Multi-discipline Multimodal Understanding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Xiang Yue, Tianyu Zheng, Yuansheng Ni et al. / ACL 2025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画像なしで解ける問題の除外、選択肢拡張、Vision形式、およびそれぞれの評価を報告する。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: A Massive Multi-discipline Multimodal Understanding and Reasoning Benchmark for Expert AGI"/>
          <p:cNvSpPr txBox="1"/>
          <p:nvPr/>
        </p:nvSpPr>
        <p:spPr>
          <a:xfrm>
            <a:off x="548640" y="1463040"/>
            <a:ext cx="8046720" cy="1671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MMMU: A Massive Multi-discipline Multimodal Understanding and Reasoning Benchmark for Expert AGI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Xiang Yue, Yuansheng Ni et al. / CVPR 2024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大学の試験・教材に基づく30科目の問題を収集し、専門知識を要する画像付き質問応答を構成した。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https://arxiv.org/abs/2311.16502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-Pro: Dataset card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MMMU-Pro: Dataset card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/ Hugging Face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3つの公開構成、各フィールド、ライセンスと、選択肢・正解・問題条件の更新履歴を掲載する。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 Benchmark: Official implementation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 Benchmark: Official implementation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推論スクリプト、プロンプト、選択肢の抽出と正解率の計算、公開評価レコードを含む。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399536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MMMU-Proを含む現行モデルの比較結果と、推論設定・ツール条件を掲載する。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MMMU-Pro — datasets in 10 minutes</dc:title>
  <dc:subject>大学水準の画像付き質問応答、作成方法、評価、公開データの更新</dc:subject>
  <dc:creator>sasakiy84</dc:creator>
  <cp:keywords>MMMU-Pro,MMMU,multimodal,visual question answering,dataset</cp:keywords>
</cp:coreProperties>
</file>