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sldIdLst>
    <p:sldId id="256" r:id="rId6"/>
    <p:sldId id="257" r:id="rId7"/>
    <p:sldId id="258" r:id="rId8"/>
    <p:sldId id="259" r:id="rId9"/>
    <p:sldId id="260" r:id="rId10"/>
    <p:sldId id="261" r:id="rId5"/>
    <p:sldId id="262" r:id="rId4"/>
    <p:sldId id="263" r:id="rId3"/>
    <p:sldId id="264" r:id="rId2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0">
          <p15:clr>
            <a:srgbClr val="747775"/>
          </p15:clr>
        </p15:guide>
        <p15:guide id="2" pos="1271">
          <p15:clr>
            <a:srgbClr val="747775"/>
          </p15:clr>
        </p15:guide>
        <p15:guide id="3" orient="horz" pos="158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7B4"/>
    <a:srgbClr val="7A81FF"/>
    <a:srgbClr val="0096FF"/>
    <a:srgbClr val="011893"/>
    <a:srgbClr val="B13731"/>
    <a:srgbClr val="EF8600"/>
    <a:srgbClr val="FFCD8C"/>
    <a:srgbClr val="0036FF"/>
    <a:srgbClr val="00D989"/>
    <a:srgbClr val="01D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8A3C8B-3693-4FF3-BE57-18EF887A9C23}">
  <a:tblStyle styleId="{FD8A3C8B-3693-4FF3-BE57-18EF887A9C23}" styleName="Table_0">
    <a:wholeTbl>
      <a:tcTxStyle>
        <a:font>
          <a:latin typeface="Noto Sans"/>
          <a:ea typeface="Noto Sans CJK JP"/>
          <a:cs typeface="Noto Sans"/>
        </a:font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15240" cap="flat">
              <a:solidFill>
                <a:srgbClr val="626669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>
          <a:bottom>
            <a:ln w="15240" cap="flat">
              <a:solidFill>
                <a:srgbClr val="626669"/>
              </a:solidFill>
              <a:prstDash val="solid"/>
            </a:ln>
          </a:bottom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7620" cap="flat">
              <a:solidFill>
                <a:srgbClr val="626669"/>
              </a:solidFill>
              <a:prstDash val="solid"/>
            </a:ln>
          </a:bottom>
        </a:tcBdr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2"/>
    <p:restoredTop sz="87828"/>
  </p:normalViewPr>
  <p:slideViewPr>
    <p:cSldViewPr snapToGrid="0">
      <p:cViewPr varScale="1">
        <p:scale>
          <a:sx n="169" d="100"/>
          <a:sy n="169" d="100"/>
        </p:scale>
        <p:origin x="520" y="192"/>
      </p:cViewPr>
      <p:guideLst>
        <p:guide orient="horz" pos="590"/>
        <p:guide pos="1271"/>
        <p:guide orient="horz"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課題数</c:v>
                </c:pt>
              </c:strCache>
            </c:strRef>
          </c:tx>
          <c:spPr>
            <a:solidFill>
              <a:srgbClr val="2C9100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注釈</c:v>
                </c:pt>
                <c:pt idx="1">
                  <c:v>知識不足</c:v>
                </c:pt>
                <c:pt idx="2">
                  <c:v>知覚</c:v>
                </c:pt>
                <c:pt idx="3">
                  <c:v>推論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25</c:v>
                </c:pt>
                <c:pt idx="2">
                  <c:v>27</c:v>
                </c:pt>
                <c:pt idx="3">
                  <c:v>46</c:v>
                </c:pt>
              </c:numCache>
            </c:numRef>
          </c:val>
        </c:ser>
        <c:dLbls>
          <c:txPr>
            <a:bodyPr/>
            <a:lstStyle/>
            <a:p>
              <a:pPr>
                <a:defRPr sz="1500">
                  <a:latin typeface="Noto Sans CJK JP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2226939960"/>
        <c:axId val="2180972856"/>
      </c:barChart>
      <c:catAx>
        <c:axId val="2226939960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latin typeface="Noto Sans CJK JP"/>
              </a:defRPr>
            </a:pPr>
          </a:p>
        </c:txPr>
        <c:crossAx val="2180972856"/>
        <c:crosses val="autoZero"/>
        <c:auto val="1"/>
        <c:lblAlgn val="ctr"/>
        <c:lblOffset val="100"/>
        <c:tickLblSkip val="1"/>
        <c:noMultiLvlLbl val="0"/>
      </c:catAx>
      <c:valAx>
        <c:axId val="2180972856"/>
        <c:scaling>
          <c:min val="0.0"/>
        </c:scaling>
        <c:delete val="0"/>
        <c:axPos val="b"/>
        <c:majorGridlines>
          <c:spPr>
            <a:ln>
              <a:solidFill>
                <a:srgbClr val="DADDD7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latin typeface="Noto Sans CJK JP"/>
              </a:defRPr>
            </a:pPr>
          </a:p>
        </c:txPr>
        <c:crossAx val="2226939960"/>
        <c:crosses val="autoZero"/>
      </c:valAx>
      <c:spPr>
        <a:solidFill>
          <a:srgbClr val="FFFEF8"/>
        </a:solidFill>
        <a:ln>
          <a:noFill/>
        </a:ln>
      </c:spPr>
    </c:plotArea>
    <c:dispBlanksAs val="gap"/>
  </c:chart>
  <c:spPr>
    <a:solidFill>
      <a:srgbClr val="FFFEF8"/>
    </a:solidFill>
    <a:ln>
      <a:noFill/>
    </a:ln>
  </c:spPr>
  <c:txPr>
    <a:bodyPr/>
    <a:lstStyle/>
    <a:p>
      <a:pPr>
        <a:defRPr sz="1400">
          <a:latin typeface="Noto Sans CJK JP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課題数</c:v>
                </c:pt>
              </c:strCache>
            </c:strRef>
          </c:tx>
          <c:spPr>
            <a:solidFill>
              <a:srgbClr val="2C9100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技術・工学</c:v>
                </c:pt>
                <c:pt idx="1">
                  <c:v>人文・社会科学</c:v>
                </c:pt>
                <c:pt idx="2">
                  <c:v>健康・医学</c:v>
                </c:pt>
                <c:pt idx="3">
                  <c:v>科学</c:v>
                </c:pt>
                <c:pt idx="4">
                  <c:v>ビジネス</c:v>
                </c:pt>
                <c:pt idx="5">
                  <c:v>芸術・デザイン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417</c:v>
                </c:pt>
                <c:pt idx="1">
                  <c:v>222</c:v>
                </c:pt>
                <c:pt idx="2">
                  <c:v>286</c:v>
                </c:pt>
                <c:pt idx="3">
                  <c:v>291</c:v>
                </c:pt>
                <c:pt idx="4">
                  <c:v>286</c:v>
                </c:pt>
                <c:pt idx="5">
                  <c:v>228</c:v>
                </c:pt>
              </c:numCache>
            </c:numRef>
          </c:val>
        </c:ser>
        <c:dLbls>
          <c:txPr>
            <a:bodyPr/>
            <a:lstStyle/>
            <a:p>
              <a:pPr>
                <a:defRPr sz="1500">
                  <a:latin typeface="Noto Sans CJK JP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2226939960"/>
        <c:axId val="2180972856"/>
      </c:barChart>
      <c:catAx>
        <c:axId val="2226939960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latin typeface="Noto Sans CJK JP"/>
              </a:defRPr>
            </a:pPr>
          </a:p>
        </c:txPr>
        <c:crossAx val="2180972856"/>
        <c:crosses val="autoZero"/>
        <c:auto val="1"/>
        <c:lblAlgn val="ctr"/>
        <c:lblOffset val="100"/>
        <c:tickLblSkip val="1"/>
        <c:noMultiLvlLbl val="0"/>
      </c:catAx>
      <c:valAx>
        <c:axId val="2180972856"/>
        <c:scaling>
          <c:min val="0.0"/>
        </c:scaling>
        <c:delete val="0"/>
        <c:axPos val="b"/>
        <c:majorGridlines>
          <c:spPr>
            <a:ln>
              <a:solidFill>
                <a:srgbClr val="DADDD7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latin typeface="Noto Sans CJK JP"/>
              </a:defRPr>
            </a:pPr>
          </a:p>
        </c:txPr>
        <c:crossAx val="2226939960"/>
        <c:crosses val="autoZero"/>
      </c:valAx>
      <c:spPr>
        <a:solidFill>
          <a:srgbClr val="FFFEF8"/>
        </a:solidFill>
        <a:ln>
          <a:noFill/>
        </a:ln>
      </c:spPr>
    </c:plotArea>
    <c:dispBlanksAs val="gap"/>
  </c:chart>
  <c:spPr>
    <a:solidFill>
      <a:srgbClr val="FFFEF8"/>
    </a:solidFill>
    <a:ln>
      <a:noFill/>
    </a:ln>
  </c:spPr>
  <c:txPr>
    <a:bodyPr/>
    <a:lstStyle/>
    <a:p>
      <a:pPr>
        <a:defRPr sz="1400">
          <a:latin typeface="Noto Sans CJK JP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47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52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657600"/>
            <a:ext cx="8520600" cy="36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defRPr sz="2200" lang="ja-JP">
                <a:latin typeface="Noto Sans"/>
                <a:ea typeface="Noto Sans CJK JP"/>
                <a:cs typeface="Noto Sans"/>
              </a:defRPr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97A17C7E-5073-6B99-C91A-19299DA839DE}"/>
              </a:ext>
            </a:extLst>
          </p:cNvPr>
          <p:cNvSpPr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E9CD3C-2632-D40F-DBD2-47ACED4F9A3C}"/>
              </a:ext>
            </a:extLst>
          </p:cNvPr>
          <p:cNvSpPr txBox="1"/>
          <p:nvPr userDrawn="1"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pPr algn="ctr"/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110" name="Author affiliation"/>
          <p:cNvSpPr txBox="1">
            <a:spLocks noGrp="1"/>
          </p:cNvSpPr>
          <p:nvPr>
            <p:ph type="body" idx="10"/>
          </p:nvPr>
        </p:nvSpPr>
        <p:spPr>
          <a:xfrm>
            <a:off x="5486400" y="4224528"/>
            <a:ext cx="310896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所属　［所属］</a:t>
            </a:r>
          </a:p>
        </p:txBody>
      </p:sp>
      <p:sp>
        <p:nvSpPr>
          <p:cNvPr id="111" name="Author name"/>
          <p:cNvSpPr txBox="1"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氏名　［氏名］</a:t>
            </a:r>
          </a:p>
        </p:txBody>
      </p:sp>
      <p:sp>
        <p:nvSpPr>
          <p:cNvPr id="112" name="Creation date"/>
          <p:cNvSpPr txBox="1">
            <a:spLocks noGrp="1"/>
          </p:cNvSpPr>
          <p:nvPr>
            <p:ph type="body" idx="12"/>
          </p:nvPr>
        </p:nvSpPr>
        <p:spPr>
          <a:xfrm>
            <a:off x="457200" y="274320"/>
            <a:ext cx="36576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作成日　YYYY-MM-DD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カスタム レイアウト 1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76100" y="0"/>
            <a:ext cx="805950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 altLang="en-US">
                <a:latin typeface="Noto Sans"/>
                <a:ea typeface="Noto Sans CJK JP"/>
                <a:cs typeface="Noto Sans"/>
              </a:defRPr>
            </a:pP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T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able of </a:t>
            </a: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C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ontents</a:t>
            </a:r>
            <a:endParaRPr b="1" dirty="0" lang="ja-JP" sz="1400" altLang="en-US">
              <a:solidFill>
                <a:schemeClr val="lt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36712" y="842226"/>
            <a:ext cx="5764979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1.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Background &amp; Purpose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1236712" y="1664913"/>
            <a:ext cx="5412281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2.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Methodology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1236712" y="2487598"/>
            <a:ext cx="668859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3.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Classification Framework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5" name="Google Shape;85;p11"/>
          <p:cNvSpPr txBox="1"/>
          <p:nvPr userDrawn="1"/>
        </p:nvSpPr>
        <p:spPr>
          <a:xfrm>
            <a:off x="1236712" y="3310287"/>
            <a:ext cx="5020396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4.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Results &amp; Analysis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1929203" y="3891800"/>
            <a:ext cx="5996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 lang="ja-JP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1236712" y="4132975"/>
            <a:ext cx="6196053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5.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Conclusions and future 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">
  <p:cSld name="ONE_COLUMN_TEXT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8600" y="748150"/>
            <a:ext cx="83946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9650" y="1474850"/>
            <a:ext cx="7964700" cy="3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0481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>
  <p:cSld name="ONE_COLUMN_TEXT_1_4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68600" y="649825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 type="secHead">
  <p:cSld name="ONE_COLUMN_TEXT_1_4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48640" y="2414016"/>
            <a:ext cx="8046720" cy="822960"/>
          </a:xfrm>
          <a:prstGeom prst="rect">
            <a:avLst/>
          </a:prstGeom>
        </p:spPr>
        <p:txBody>
          <a:bodyPr spcFirstLastPara="1" wrap="none" lIns="0" tIns="0" rIns="0" bIns="0" anchor="ctr" anchorCtr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600" b="1" lang="ja-JP" altLang="en-US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 algn="ctr">
              <a:lnSpc>
                <a:spcPct val="110000"/>
              </a:lnSpc>
              <a:defRPr sz="3600" b="1" lang="ja-JP" altLang="en-US">
                <a:latin typeface="Noto Sans"/>
                <a:ea typeface="Noto Sans CJK JP"/>
                <a:cs typeface="Noto Sans"/>
              </a:defRPr>
            </a:pPr>
            <a:endParaRPr lang="ja-JP" sz="36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本文のみ">
  <p:cSld name="ONE_COLUMN_TEXT_1_3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589650" y="1185250"/>
            <a:ext cx="7964700" cy="32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0595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ヘッダーのみ">
  <p:cSld name="ONE_COLUMN_TEXT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1489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AND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 userDrawn="1"/>
        </p:nvSpPr>
        <p:spPr>
          <a:xfrm>
            <a:off x="0" y="0"/>
            <a:ext cx="91440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anchor="ctr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Chart Placeholder"/>
          <p:cNvSpPr txBox="1">
            <a:spLocks noGrp="1"/>
          </p:cNvSpPr>
          <p:nvPr>
            <p:ph idx="1"/>
          </p:nvPr>
        </p:nvSpPr>
        <p:spPr>
          <a:xfrm>
            <a:off x="456520" y="1250000"/>
            <a:ext cx="5715000" cy="3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/>
          <a:lstStyle/>
          <a:p>
            <a:r>
              <a:rPr lang="ja-JP" sz="1800" b="0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Insert chart</a:t>
            </a: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Explanation Placeholder"/>
          <p:cNvSpPr txBox="1">
            <a:spLocks noGrp="1"/>
          </p:cNvSpPr>
          <p:nvPr>
            <p:ph type="body" idx="2"/>
          </p:nvPr>
        </p:nvSpPr>
        <p:spPr>
          <a:xfrm>
            <a:off x="6295292" y="1550000"/>
            <a:ext cx="25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Supporting Text Placeholder"/>
          <p:cNvSpPr txBox="1">
            <a:spLocks noGrp="1"/>
          </p:cNvSpPr>
          <p:nvPr>
            <p:ph type="body" idx="3"/>
          </p:nvPr>
        </p:nvSpPr>
        <p:spPr>
          <a:xfrm>
            <a:off x="500000" y="4650000"/>
            <a:ext cx="8144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5C0E310-B322-8587-531C-0E2F5BB1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ページ番号のみ 1">
  <p:cSld name="ONE_COLUMN_TEXT_1_2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796650" y="4091225"/>
            <a:ext cx="3347400" cy="1052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6000" tIns="126000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03200" lvl="0" indent="-152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3889"/>
              <a:buFont typeface="Noto Sans CJK JP"/>
              <a:buChar char="●"/>
              <a:defRPr sz="18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marL="482600" lvl="1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marL="762000" lvl="2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marL="1041400" lvl="3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marL="1320800" lvl="4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marL="1600200" lvl="5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marL="1879600" lvl="6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marL="2159000" lvl="7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marL="2438400" lvl="8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bIns="0" anchor="ctr" anchorCtr="0">
            <a:normAutofit/>
          </a:bodyPr>
          <a:lstStyle>
            <a:lvl1pPr lvl="0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lvl="1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lvl="2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lvl="3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lvl="4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lvl="5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lvl="6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lvl="7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lvl="8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Noto Sans"/>
                <a:ea typeface="Noto Sans CJK JP"/>
                <a:cs typeface="Noto Sans"/>
              </a:rPr>
              <a:t>‹#›</a:t>
            </a:fld>
            <a:endParaRPr lang="ja-JP">
              <a:latin typeface="Noto Sans"/>
              <a:ea typeface="Noto Sans CJK JP"/>
              <a:cs typeface="No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titleStyle>
    <p:bodyStyle>
      <a:lvl1pPr marL="457200" lvl="0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1pPr>
      <a:lvl2pPr marL="914400" lvl="1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2pPr>
      <a:lvl3pPr marL="1371600" lvl="2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3pPr>
      <a:lvl4pPr marL="1828800" lvl="3" indent="-368300">
        <a:spcBef>
          <a:spcPts val="0"/>
        </a:spcBef>
        <a:spcAft>
          <a:spcPts val="0"/>
        </a:spcAft>
        <a:buClr>
          <a:srgbClr val="303437"/>
        </a:buClr>
        <a:buSzPct val="60455"/>
        <a:buFont typeface="Noto Sans CJK JP"/>
        <a:buChar char="●"/>
        <a:defRPr sz="2200" lang="ja-JP">
          <a:solidFill>
            <a:srgbClr val="303437"/>
          </a:solidFill>
          <a:latin typeface="Noto Sans"/>
          <a:ea typeface="Noto Sans CJK JP"/>
          <a:cs typeface="Noto Sans"/>
        </a:defRPr>
      </a:lvl4pPr>
      <a:lvl5pPr marL="2286000" lvl="4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5pPr>
      <a:lvl6pPr marL="2743200" lvl="5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6pPr>
      <a:lvl7pPr marL="3200400" lvl="6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7pPr>
      <a:lvl8pPr marL="3657600" lvl="7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8pPr>
      <a:lvl9pPr marL="4114800" lvl="8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s://huggingface.co/datasets/MMMU/MMMU_Pro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09.02813v3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409.02813v3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huggingface.co/datasets/MMMU/MMMU_Pro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hyperlink" Target="https://arxiv.org/abs/2409.02813v3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409.02813v3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Relationship Id="rId3" Type="http://schemas.openxmlformats.org/officeDocument/2006/relationships/hyperlink" Target="https://arxiv.org/abs/2409.02813v3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09.02813v3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Relationship Id="rId3" Type="http://schemas.openxmlformats.org/officeDocument/2006/relationships/hyperlink" Target="https://arxiv.org/abs/2409.02813v3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Relationship Id="rId3" Type="http://schemas.openxmlformats.org/officeDocument/2006/relationships/hyperlink" Target="https://arxiv.org/abs/2409.02813v3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MMMU-Benchmark/MMMU/blob/268471d0d488258990025331c7528359c324aa25/mmmu-pro/evaluate.py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409.02813v3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409.02813v3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eepmind.google/models/gemini/pro/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409.02813v3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hyperlink" Target="https://arxiv.org/abs/2409.02813v3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311.16502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09.02813v3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09.02813v3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09.02813v3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MMMU/MMMU_Pro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hyperlink" Target="https://github.com/MMMU-Benchmark/MMMU/blob/268471d0d488258990025331c7528359c324aa25/mmmu-pro/output/gpt-4o_standard(10%20options)_cot.jsonl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MMMU-Benchmark/MMMU/blob/268471d0d488258990025331c7528359c324aa25/mmmu-pro/output/gpt-4o_standard(10%20options)_cot.jsonl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huggingface.co/datasets/MMMU/MMMU_Pro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MMMU/MMMU_Pro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MMMU/MMMU_Pro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MMMU/MMMU_Pro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MMMU-Benchmark/MMMU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09.02813v3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g"/><Relationship Id="rId3" Type="http://schemas.openxmlformats.org/officeDocument/2006/relationships/hyperlink" Target="https://arxiv.org/abs/2409.02813v3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3" Type="http://schemas.openxmlformats.org/officeDocument/2006/relationships/hyperlink" Target="https://arxiv.org/abs/2409.02813v3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Relationship Id="rId3" Type="http://schemas.openxmlformats.org/officeDocument/2006/relationships/hyperlink" Target="https://arxiv.org/abs/2409.02813v3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jpg"/><Relationship Id="rId3" Type="http://schemas.openxmlformats.org/officeDocument/2006/relationships/hyperlink" Target="https://arxiv.org/abs/2409.02813v3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jpg"/><Relationship Id="rId3" Type="http://schemas.openxmlformats.org/officeDocument/2006/relationships/hyperlink" Target="https://arxiv.org/abs/2409.02813v3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jpg"/><Relationship Id="rId3" Type="http://schemas.openxmlformats.org/officeDocument/2006/relationships/hyperlink" Target="https://arxiv.org/abs/2409.02813v3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jpg"/><Relationship Id="rId3" Type="http://schemas.openxmlformats.org/officeDocument/2006/relationships/hyperlink" Target="https://arxiv.org/abs/2409.02813v3" TargetMode="Externa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Relationship Id="rId3" Type="http://schemas.openxmlformats.org/officeDocument/2006/relationships/hyperlink" Target="https://arxiv.org/abs/2409.02813v3" TargetMode="Externa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jpg"/><Relationship Id="rId3" Type="http://schemas.openxmlformats.org/officeDocument/2006/relationships/hyperlink" Target="https://arxiv.org/abs/2409.02813v3" TargetMode="Externa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jpg"/><Relationship Id="rId3" Type="http://schemas.openxmlformats.org/officeDocument/2006/relationships/hyperlink" Target="https://arxiv.org/abs/2409.02813v3" TargetMode="Externa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MMMU-Benchmark/MMMU/blob/268471d0d488258990025331c7528359c324aa25/mmmu-pro/output/gpt-4o_standard(10%20options)_cot.jsonl" TargetMode="Externa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MMMU-Benchmark/MMMU/blob/268471d0d488258990025331c7528359c324aa25/mmmu-pro/output/gpt-4o_standard(10%20options)_cot.jsonl" TargetMode="Externa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MMMU-Benchmark/MMMU/blob/268471d0d488258990025331c7528359c324aa25/mmmu-pro/output/gpt-4o_standard(10%20options)_cot.jsonl" TargetMode="Externa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MMMU-Benchmark/MMMU/blob/268471d0d488258990025331c7528359c324aa25/mmmu-pro/output/gpt-4o_standard(10%20options)_cot.jsonl" TargetMode="Externa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MMMU-Benchmark/MMMU/blob/268471d0d488258990025331c7528359c324aa25/mmmu-pro/output/gpt-4o_standard(10%20options)_cot.jsonl" TargetMode="Externa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MMMU-Benchmark/MMMU/blob/268471d0d488258990025331c7528359c324aa25/mmmu-pro/output/gpt-4o_standard(10%20options)_cot.jsonl" TargetMode="Externa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MMMU-Benchmark/MMMU/blob/268471d0d488258990025331c7528359c324aa25/mmmu-pro/output/gpt-4o_standard(10%20options)_cot.jsonl" TargetMode="Externa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MMMU-Benchmark/MMMU/blob/268471d0d488258990025331c7528359c324aa25/mmmu-pro/evaluate.py" TargetMode="Externa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MMMU-Benchmark/MMMU/blob/268471d0d488258990025331c7528359c324aa25/mmmu-pro/evaluate.py" TargetMode="Externa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MMMU-Benchmark/MMMU" TargetMode="Externa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MMMU-Benchmark/MMMU" TargetMode="Externa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409.02813v3" TargetMode="Externa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409.02813v3" TargetMode="Externa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311.16502" TargetMode="Externa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MMMU/MMMU_Pro" TargetMode="Externa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github.com/MMMU-Benchmark/MMMU" TargetMode="External"/><Relationship Id="rId3" Type="http://schemas.openxmlformats.org/officeDocument/2006/relationships/hyperlink" Target="https://deepmind.google/models/gemini/pro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37640"/>
            <a:ext cx="8229600" cy="863600"/>
          </a:xfrm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buNone/>
              <a:defRPr sz="5200" b="0">
                <a:solidFill>
                  <a:srgbClr val="303437"/>
                </a:solidFill>
                <a:latin typeface="Noto Sans"/>
              </a:defRPr>
            </a:pPr>
            <a:r>
              <a:rPr sz="5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MMMU-Pro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sasakiy84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>
          <a:xfrm>
            <a:off x="548640" y="274320"/>
            <a:ext cx="6400800" cy="2743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datasets in 10 minutes (2026-10-16)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79140"/>
            <a:ext cx="8229600" cy="812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  <a:defRPr sz="25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図表や画像を読み、専門分野の問いに答える</a:t>
            </a:r>
          </a:p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  <a:defRPr sz="25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MMMUを改良したマルチモーダル評価データ</a:t>
            </a:r>
          </a:p>
        </p:txBody>
      </p:sp>
      <p:sp>
        <p:nvSpPr>
          <p:cNvPr id="8" name="正式名称・略語の展開"/>
          <p:cNvSpPr txBox="1"/>
          <p:nvPr/>
        </p:nvSpPr>
        <p:spPr>
          <a:xfrm>
            <a:off x="457200" y="2529840"/>
            <a:ext cx="8229600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MMMU = Massive Multi-discipline Multimodal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Understanding and Reasoning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MMMU-Proの公式配布ページ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MMMU-Pro: 公開データ</a:t>
            </a:r>
          </a:p>
        </p:txBody>
      </p:sp>
      <p:pic>
        <p:nvPicPr>
          <p:cNvPr id="4" name="Picture 3" descr="hf-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280" y="1417320"/>
            <a:ext cx="4663440" cy="3108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MMMU Team (2026参照). MMMU-Pro dataset card. 2026-10-04更新。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https://huggingface.co/datasets/MMMU/MMMU_Pro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7240" y="1226434"/>
            <a:ext cx="7772400" cy="2846324"/>
          </a:xfrm>
        </p:spPr>
        <p:txBody>
          <a:bodyPr lIns="0" rIns="0" tIns="0" bIns="0" wrap="square">
            <a:noAutofit/>
          </a:bodyPr>
          <a:lstStyle/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1"/>
              <a:defRPr sz="3100" b="1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画像を使う専門問題と実例</a:t>
            </a:r>
          </a:p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2"/>
              <a:defRPr sz="3100" b="1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正解率とモデルの成績</a:t>
            </a:r>
          </a:p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3"/>
              <a:defRPr sz="3100" b="1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作成方法とデータの構成</a:t>
            </a:r>
          </a:p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4"/>
              <a:defRPr sz="3100" b="1">
                <a:solidFill>
                  <a:srgbClr val="303437"/>
                </a:solidFill>
                <a:latin typeface="Noto Sans"/>
              </a:defRPr>
            </a:pPr>
            <a:r>
              <a:rPr sz="31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MMMUからの発展と利用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目次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画像を使う専門問題と実例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画像を使う専門問題と実例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大学水準の問題を、図表と文章から解く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MMMU-Proは、経済の表、数学の図、医療画像、楽譜などを使う選択式の質問応答データセットである。</a:t>
            </a:r>
          </a:p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画像の値・位置・構造を読み、科目ごとの知識や計算と結び付けて、正しい選択肢を答える。</a:t>
            </a:r>
          </a:p>
          <a:p>
            <a:pPr marL="457200" indent="-355600">
              <a:lnSpc>
                <a:spcPts val="2760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30科目の1,730問題を、文章と画像を分けた形式と、問題文も画像に収めた形式で評価する。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画像を使う専門問題と実例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Yue et al. (2025). MMMU-Pro: A More Robust Multi-discipline Multimodal Understanding Benchmark. ACL 2025 / arXiv:2409.02813v3.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https://arxiv.org/abs/2409.02813v3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同じ問題をStandardとVisionで出題する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画像を使う専門問題と実例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121408"/>
        </p:xfrm>
        <a:graphic>
          <a:graphicData uri="http://schemas.openxmlformats.org/drawingml/2006/table">
            <a:tbl>
              <a:tblPr firstRow="0" bandRow="0"/>
              <a:tblGrid>
                <a:gridCol w="1828800"/>
                <a:gridCol w="6217920"/>
              </a:tblGrid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形式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モデルへ渡す問題の形式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8229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Standard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問題文・選択肢はテキスト、図表は画像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8229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Vision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問題文・選択肢・図表を含む画像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822192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Standardは元の選択肢と拡張後の選択肢を用意する。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Visionは拡張後の選択肢を画像内に配置する。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Yue et al. (2025). MMMU-Pro: A More Robust Multi-discipline Multimodal Understanding Benchmark. ACL 2025 / arXiv:2409.02813v3.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https://arxiv.org/abs/2409.02813v3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公開問題から、分野の異なる13例を紹介する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問題・選択肢・正解は公開されている。本編では経済、数学、計算機科学の3例を紹介する。</a:t>
            </a:r>
          </a:p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掲載する入力画像は、Yueらの論文にあるVision形式の実例である。日本語で課題内容と正解を添える。</a:t>
            </a:r>
          </a:p>
          <a:p>
            <a:pPr marL="457200" indent="-355600">
              <a:lnSpc>
                <a:spcPts val="2760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Appendixでは芸術、音楽、生物、地理、医学、工学など10例を追加する。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画像を使う専門問題と実例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MMMU Team (2026参照). MMMU-Pro dataset card. 2026-10-04更新。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https://huggingface.co/datasets/MMMU/MMMU_Pro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実例1：価格表から消費者物価指数を求める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画像を使う専門問題と実例</a:t>
            </a:r>
          </a:p>
        </p:txBody>
      </p:sp>
      <p:pic>
        <p:nvPicPr>
          <p:cNvPr id="4" name="Picture 3" descr="page-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59736"/>
            <a:ext cx="4069080" cy="20698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64608" y="1490472"/>
            <a:ext cx="3703320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課題の内容（日本語）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64608" y="1819656"/>
            <a:ext cx="3703320" cy="12618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リンゴ200個と教科書290冊の組を考える。2015年を基準年として、2014年の消費者物価指数（CPI）を求める。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64608" y="3246120"/>
            <a:ext cx="3703320" cy="3779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 D：143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64608" y="3788663"/>
            <a:ext cx="3703320" cy="783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各年の購入費用を表から計算し、基準年に対する比率を取る。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Yue et al. (2025). MMMU-Pro: A More Robust Multi-discipline Multimodal Understanding Benchmark. 論文のVision入力例。ID: test_Economics_47.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https://arxiv.org/abs/2409.02813v3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2014年の購入費用を2015年と比較する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画像を使う専門問題と実例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984248"/>
        </p:xfrm>
        <a:graphic>
          <a:graphicData uri="http://schemas.openxmlformats.org/drawingml/2006/table">
            <a:tbl>
              <a:tblPr firstRow="0" bandRow="0"/>
              <a:tblGrid>
                <a:gridCol w="2743200"/>
                <a:gridCol w="2651760"/>
                <a:gridCol w="2651760"/>
              </a:tblGrid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項目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2014年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2015年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リンゴ200個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200 × 1.40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200 × 1.10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教科書290冊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290 × 200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290 × 140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合計（ドル）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58,280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40,820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685032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CPI = 58,280 ÷ 40,820 × 100 ≈ 143。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価格表の読み取りと、指数の計算を組み合わせる。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Yue et al. (2025). MMMU-Pro: A More Robust Multi-discipline Multimodal Understanding Benchmark. 論文のVision入力例。ID: test_Economics_47.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https://arxiv.org/abs/2409.02813v3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実例2：制約を満たす最適な点を選ぶ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画像を使う専門問題と実例</a:t>
            </a:r>
          </a:p>
        </p:txBody>
      </p:sp>
      <p:pic>
        <p:nvPicPr>
          <p:cNvPr id="4" name="Picture 3" descr="page-3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1865"/>
            <a:ext cx="1463040" cy="288558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48840" y="178308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図の拡大</a:t>
            </a:r>
          </a:p>
        </p:txBody>
      </p:sp>
      <p:pic>
        <p:nvPicPr>
          <p:cNvPr id="6" name="Picture 5" descr="page-36.jpeg"/>
          <p:cNvPicPr>
            <a:picLocks noChangeAspect="1"/>
          </p:cNvPicPr>
          <p:nvPr/>
        </p:nvPicPr>
        <p:blipFill>
          <a:blip r:embed="rId2"/>
          <a:srcRect l="7400" t="28400" r="37000" b="54400"/>
          <a:stretch>
            <a:fillRect/>
          </a:stretch>
        </p:blipFill>
        <p:spPr>
          <a:xfrm>
            <a:off x="2148840" y="2212848"/>
            <a:ext cx="2423160" cy="14784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64608" y="1490472"/>
            <a:ext cx="3703320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課題の内容（日本語）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64608" y="1819656"/>
            <a:ext cx="3703320" cy="9646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図の制約を満たす範囲で、点(3, 2)までの距離が最小になる点を選ぶ。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64608" y="2948940"/>
            <a:ext cx="3703320" cy="3779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 A：(2, 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64608" y="3491484"/>
            <a:ext cx="3703320" cy="10805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図の斜線部分が制約を満たす領域。目的関数の等高線と境界を対応させる。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Yue et al. (2025). MMMU-Pro: A More Robust Multi-discipline Multimodal Understanding Benchmark. 論文のVision入力例。ID: validation_Math_16.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https://arxiv.org/abs/2409.02813v3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数式の条件と、図の領域を対応させる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放物線x₂ = x₁²−3の上側、直線x₂ = 1の下側、x₁ ≥ 0の範囲が実行可能領域になる。</a:t>
            </a:r>
          </a:p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点(3, 2)からこの領域に近づくと、境界の交点(2, 1)で距離が最小になる。</a:t>
            </a:r>
          </a:p>
          <a:p>
            <a:pPr marL="457200" indent="-355600">
              <a:lnSpc>
                <a:spcPts val="2760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図中の領域と、文章中の不等号・符号を対応させて解く問題である。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画像を使う専門問題と実例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Yue et al. (2025). MMMU-Pro: A More Robust Multi-discipline Multimodal Understanding Benchmark. 論文のVision入力例。ID: validation_Math_16.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https://arxiv.org/abs/2409.02813v3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実例3：状態遷移図に対応する式を選ぶ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画像を使う専門問題と実例</a:t>
            </a:r>
          </a:p>
        </p:txBody>
      </p:sp>
      <p:pic>
        <p:nvPicPr>
          <p:cNvPr id="4" name="Picture 3" descr="page-49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95810"/>
            <a:ext cx="4069080" cy="23976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64608" y="1490472"/>
            <a:ext cx="3703320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課題の内容（日本語）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64608" y="1819656"/>
            <a:ext cx="3703320" cy="9646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有限オートマトンの図を読み、受理される文字列の集合を表す正規表現を選ぶ。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64608" y="2948940"/>
            <a:ext cx="3703320" cy="3779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 A：([1-9][0-9]*)|0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64608" y="3491484"/>
            <a:ext cx="3703320" cy="10805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遷移のラベルと受理状態をたどり、単独の0と、先頭が1〜9の整数表記をまとめて表す。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Yue et al. (2025). MMMU-Pro: A More Robust Multi-discipline Multimodal Understanding Benchmark. 論文のVision入力例。ID: validation_Computer_Science_29.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https://arxiv.org/abs/2409.02813v3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図のラベルと選択肢の記号を照合する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1. 画像を使う専門問題と実例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81328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状態遷移図の拡大</a:t>
            </a:r>
          </a:p>
        </p:txBody>
      </p:sp>
      <p:pic>
        <p:nvPicPr>
          <p:cNvPr id="5" name="Picture 4" descr="page-49.jpeg"/>
          <p:cNvPicPr>
            <a:picLocks noChangeAspect="1"/>
          </p:cNvPicPr>
          <p:nvPr/>
        </p:nvPicPr>
        <p:blipFill>
          <a:blip r:embed="rId2"/>
          <a:srcRect l="22300" t="24100" r="46300" b="40700"/>
          <a:stretch>
            <a:fillRect/>
          </a:stretch>
        </p:blipFill>
        <p:spPr>
          <a:xfrm>
            <a:off x="822960" y="1984248"/>
            <a:ext cx="3154680" cy="208385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45152" y="1508760"/>
            <a:ext cx="3904487" cy="10789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最初の0は状態3へ、1〜9は状態1へ進む。状態1と2では、続く0〜9を読める。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45152" y="2761488"/>
            <a:ext cx="3904487" cy="11887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[1-9][0-9]*は先頭が1〜9の整数表記、|0は単独の0を表す。この2つを合わせる。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233672"/>
            <a:ext cx="7955279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この例は8択。問題に応じて、選択肢の数や内容が異なる。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Yue et al. (2025). MMMU-Pro: A More Robust Multi-discipline Multimodal Understanding Benchmark. 論文のVision入力例。ID: validation_Computer_Science_29.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https://arxiv.org/abs/2409.02813v3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正解率とモデルの成績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正解率とモデルの成績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出力した選択肢と正解を照合する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4399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モデルの応答からA、Bなどの選択肢記号を抽出し、配布された正解記号と一致すれば1、異なれば0とする。</a:t>
            </a:r>
          </a:p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各形式の正解率は、正解した問題数を評価した問題数で割った値である。全体は問題数で重み付けして集計する。</a:t>
            </a:r>
          </a:p>
          <a:p>
            <a:pPr marL="457200" indent="-355600">
              <a:lnSpc>
                <a:spcPts val="2760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総合スコアは、Standardの拡張選択肢版とVisionの正解率を平均する。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正解率とモデルの成績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MMMU Team. MMMU-Pro: evaluate.py. 正解記号の抽出と問題単位の正解率。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https://github.com/MMMU-Benchmark/MMMU/blob/268471d0d488258990025331c7528359c324aa25/mmmu-pro/evaluate.py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初期評価：選択肢の拡張とVision形式の影響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正解率とモデルの成績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231136"/>
        </p:xfrm>
        <a:graphic>
          <a:graphicData uri="http://schemas.openxmlformats.org/drawingml/2006/table">
            <a:tbl>
              <a:tblPr firstRow="0" bandRow="0"/>
              <a:tblGrid>
                <a:gridCol w="3474720"/>
                <a:gridCol w="1508760"/>
                <a:gridCol w="1554480"/>
                <a:gridCol w="1508760"/>
              </a:tblGrid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モデル（2024）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元の選択肢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拡張選択肢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Vision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852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GPT-4o (0513)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64.7%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54.0%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49.7%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852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Claude 3.5 Sonnet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63.7%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55.0%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48.0%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852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Gemini 1.5 Pro (0801)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60.6%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49.4%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44.4%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931920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Yueらの同じ1,730問題に対する比較。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DirectまたはCoTで、報告された高い方の正解率。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Yue et al. (2025). MMMU-Pro: A More Robust Multi-discipline Multimodal Understanding Benchmark. ACL 2025 / arXiv:2409.02813v3.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https://arxiv.org/abs/2409.02813v3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初期の総合スコアは2形式の平均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正解率とモデルの成績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231136"/>
        </p:xfrm>
        <a:graphic>
          <a:graphicData uri="http://schemas.openxmlformats.org/drawingml/2006/table">
            <a:tbl>
              <a:tblPr firstRow="0" bandRow="0"/>
              <a:tblGrid>
                <a:gridCol w="3474720"/>
                <a:gridCol w="1737360"/>
                <a:gridCol w="1371600"/>
                <a:gridCol w="1463040"/>
              </a:tblGrid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モデル（2024）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Standard拡張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Vision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総合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852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GPT-4o (0513)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54.0%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49.7%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51.9%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852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Claude 3.5 Sonnet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55.0%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48.0%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51.5%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852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Gemini 1.5 Pro (0801)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49.4%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44.4%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46.9%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931920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GPT-4oの例：(54.0 + 49.7) ÷ 2 = 51.85 → 51.9%。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Yue et al. (2025). MMMU-Pro: A More Robust Multi-discipline Multimodal Understanding Benchmark. ACL 2025 / arXiv:2409.02813v3.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https://arxiv.org/abs/2409.02813v3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現行モデルでもMMMU-Proが使われている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正解率とモデルの成績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148840"/>
        </p:xfrm>
        <a:graphic>
          <a:graphicData uri="http://schemas.openxmlformats.org/drawingml/2006/table">
            <a:tbl>
              <a:tblPr firstRow="0" bandRow="0"/>
              <a:tblGrid>
                <a:gridCol w="5852160"/>
                <a:gridCol w="2194560"/>
              </a:tblGrid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モデル／推論設定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MMMU-Pro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5778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Gemini 3.1 Pro / High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80.5%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5778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GPT-5.2 / xhigh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79.5%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5778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Claude Opus 4.6 / Max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73.9%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849624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Google DeepMindの公式比較表。ツールなし。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High・xhigh・Maxは各モデルの推論設定。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 DeepMind (2026). Gemini 3.1 Pro. Performance: MMMU-Pro / No tools. 2026-10-16参照。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https://deepmind.google/models/gemini/pro/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文字の抽出を先に指示した場合の正解率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正解率とモデルの成績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176272"/>
        </p:xfrm>
        <a:graphic>
          <a:graphicData uri="http://schemas.openxmlformats.org/drawingml/2006/table">
            <a:tbl>
              <a:tblPr firstRow="0" bandRow="0"/>
              <a:tblGrid>
                <a:gridCol w="3840480"/>
                <a:gridCol w="2103120"/>
                <a:gridCol w="2103120"/>
              </a:tblGrid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モデル（2024）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OCR指示あり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OCR指示なし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6692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GPT-4o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49.7%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49.4%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6692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Gemini 1.5 Pro (0801)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44.4%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43.6%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6692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GPT-4o mini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35.2%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35.6%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877055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Vision形式。OCRは画像内の文字を読み取る処理。</a:t>
            </a:r>
          </a:p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この比較では、先に文字を書き起こす指示の効果は小さい。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Yue et al. (2025). MMMU-Pro: A More Robust Multi-discipline Multimodal Understanding Benchmark. ACL 2025 / arXiv:2409.02813v3.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https://arxiv.org/abs/2409.02813v3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GPT-4oの誤答60件を原因別に分析した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2. 正解率とモデルの成績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481328"/>
          <a:ext cx="804672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096512"/>
            <a:ext cx="7955279" cy="4206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YueらがVision形式の誤答60件に付けた分類。横軸は割合（%）。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Yue et al. (2025). MMMU-Pro: A More Robust Multi-discipline Multimodal Understanding Benchmark. ACL 2025 / arXiv:2409.02813v3.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https://arxiv.org/abs/2409.02813v3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3. 作成方法とデータの構成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作成方法とデータの構成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元のMMMUは大学の試験・教材から収集した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MMMUは2023年に公開され、2024年のCVPRで発表された。大学の試験、クイズ、教科書から約11,500問を集めた。</a:t>
            </a:r>
          </a:p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芸術、ビジネス、科学、医療、人文社会、工学の6分野、30科目、183の細分野を扱う。</a:t>
            </a:r>
          </a:p>
          <a:p>
            <a:pPr marL="457200" indent="-355600">
              <a:lnSpc>
                <a:spcPts val="2760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MMMU-Proはこの問題群を絞り込み、選択肢と見せ方を改めた。2024年公開、2025年ACL発表。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作成方法とデータの構成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Yue et al. (2024). MMMU: A Massive Multi-discipline Multimodal Understanding and Reasoning Benchmark for Expert AGI. CVPR 2024.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https://arxiv.org/abs/2311.16502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画像なしで解ける問題を先に除く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Llama 3-70B、Qwen2-72B、Yi-1.5-34B、Mixtral-8×22Bの4つに、画像を与えず問題を解かせる。</a:t>
            </a:r>
          </a:p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各モデルで10回試し、6回以上正解したモデルが4つ中3つ以上なら、その問題を除く。</a:t>
            </a:r>
          </a:p>
          <a:p>
            <a:pPr marL="457200" indent="-355600">
              <a:lnSpc>
                <a:spcPts val="2760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残った問題から30科目を各60問、計1,800問抽出し、選択肢の拡張と人手確認へ進む。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作成方法とデータの構成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Yue et al. (2025). MMMU-Pro: A More Robust Multi-discipline Multimodal Understanding Benchmark. ACL 2025 / arXiv:2409.02813v3.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https://arxiv.org/abs/2409.02813v3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選択肢を追加し、2回の人手確認で整える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GPT-4oが追加候補を作り、Claude 3.5が候補を絞る。その後、専門家が2回の確認・修正を行う。</a:t>
            </a:r>
          </a:p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誤答候補の質と多様性を確認するとともに、元の問題と画像の関連や、内容の整合性も点検する。</a:t>
            </a:r>
          </a:p>
          <a:p>
            <a:pPr marL="457200" indent="-355600">
              <a:lnSpc>
                <a:spcPts val="2760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この工程で70問を除き、1,730問を残した。配布上の名称はstandard (10 options)である。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作成方法とデータの構成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Yue et al. (2025). MMMU-Pro: A More Robust Multi-discipline Multimodal Understanding Benchmark. ACL 2025 / arXiv:2409.02813v3.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https://arxiv.org/abs/2409.02813v3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画面や写真に問題文と図表をまとめる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Vision形式では、出題用の画面に問題文・選択肢・図表を配置する。</a:t>
            </a:r>
          </a:p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注釈者が背景、フォント、文字サイズを変え、スクリーンショットや写真を手作業で取得する。</a:t>
            </a:r>
          </a:p>
          <a:p>
            <a:pPr marL="457200" indent="-355600">
              <a:lnSpc>
                <a:spcPts val="2760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各問題にStandardとVisionの対応を持たせ、画像の文字・図表を合わせて処理する能力を調べる。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作成方法とデータの構成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Yue et al. (2025). MMMU-Pro: A More Robust Multi-discipline Multimodal Understanding Benchmark. ACL 2025 / arXiv:2409.02813v3.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https://arxiv.org/abs/2409.02813v3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配布されている3つの構成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作成方法とデータの構成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231136"/>
        </p:xfrm>
        <a:graphic>
          <a:graphicData uri="http://schemas.openxmlformats.org/drawingml/2006/table">
            <a:tbl>
              <a:tblPr firstRow="0" bandRow="0"/>
              <a:tblGrid>
                <a:gridCol w="3200400"/>
                <a:gridCol w="1188720"/>
                <a:gridCol w="3657600"/>
              </a:tblGrid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構成名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問題数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内容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852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standard (4 options)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1,730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元の選択肢、文章＋画像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852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standard (10 options)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1,730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拡張選択肢、文章＋画像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852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vision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1,730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拡張選択肢を含む画像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931920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同じ1,730問題に対応する3構成を、test splitで配布する。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MMMU Team (2026参照). MMMU-Pro dataset card. 2026-10-04更新。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https://huggingface.co/datasets/MMMU/MMMU_Pro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工学417問、ほかの5分野は222〜291問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作成方法とデータの構成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481328"/>
          <a:ext cx="804672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096512"/>
            <a:ext cx="7955279" cy="4206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公開評価レコード1,730件の科目を、公式の6分野へ集約。横軸は問題数。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MMMU Team. MMMU-Pro: 公開評価レコード1,730件を集計。2026-10-16。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https://github.com/MMMU-Benchmark/MMMU/blob/268471d0d488258990025331c7528359c324aa25/mmmu-pro/output/gpt-4o_standard(10%20options)_cot.jsonl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科目ごとの抽出数と最終的な件数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作成方法とデータの構成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231136"/>
        </p:xfrm>
        <a:graphic>
          <a:graphicData uri="http://schemas.openxmlformats.org/drawingml/2006/table">
            <a:tbl>
              <a:tblPr firstRow="0" bandRow="0"/>
              <a:tblGrid>
                <a:gridCol w="4937760"/>
                <a:gridCol w="3108960"/>
              </a:tblGrid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段階・科目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問題数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852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確認前の抽出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各科目60問 × 30科目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852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最終的な科目別件数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50〜60問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852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最少の経営学（Manage）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50問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931920"/>
            <a:ext cx="7955279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303437"/>
                </a:solidFill>
                <a:latin typeface="Noto Sans"/>
              </a:defRPr>
            </a:pPr>
            <a:r>
              <a:rPr sz="18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人手確認後は科目によって件数が異なる。合計1,730問。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MMMU Team. MMMU-Pro: 公開評価レコード1,730件を集計。2026-10-16。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https://github.com/MMMU-Benchmark/MMMU/blob/268471d0d488258990025331c7528359c324aa25/mmmu-pro/output/gpt-4o_standard(10%20options)_cot.jsonl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配布splitと問題IDが示すもの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MMMU-Proの配布splitは、3構成ともtestである。</a:t>
            </a:r>
          </a:p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問題IDにはtest_やvalidation_で始まるものがある。これは元のMMMUにおける問題IDを引き継いだもの。</a:t>
            </a:r>
          </a:p>
          <a:p>
            <a:pPr marL="457200" indent="-355600">
              <a:lnSpc>
                <a:spcPts val="2760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例えば経済の例はtest_Economics_47、数学の例はvalidation_Math_16だが、どちらもMMMU-Proのtestに含まれる。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3. 作成方法とデータの構成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MMMU Team (2026参照). MMMU-Pro dataset card. 2026-10-04更新。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https://huggingface.co/datasets/MMMU/MMMU_Pro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4. MMMUからの発展と利用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4. MMMUからの発展と利用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MMMUからMMMU-Proへ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4. MMMUからの発展と利用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706624"/>
        </p:xfrm>
        <a:graphic>
          <a:graphicData uri="http://schemas.openxmlformats.org/drawingml/2006/table">
            <a:tbl>
              <a:tblPr firstRow="0" bandRow="0"/>
              <a:tblGrid>
                <a:gridCol w="1920240"/>
                <a:gridCol w="6126480"/>
              </a:tblGrid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公開時期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データセットと変更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852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2023年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MMMU：大学水準の画像付き専門問題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8229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2024年9月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MMMU-Pro：絞込み、選択肢拡張、Vision形式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8229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2026年10月時点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同じProの公開データを、設問・正解の修正とともに継続配布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MMMU Team (2026参照). MMMU-Pro dataset card. 2026-10-04更新。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https://huggingface.co/datasets/MMMU/MMMU_Pro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公開後に選択肢・正解・条件を修正した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4. MMMUからの発展と利用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889504"/>
        </p:xfrm>
        <a:graphic>
          <a:graphicData uri="http://schemas.openxmlformats.org/drawingml/2006/table">
            <a:tbl>
              <a:tblPr firstRow="0" bandRow="0"/>
              <a:tblGrid>
                <a:gridCol w="1920240"/>
                <a:gridCol w="6126480"/>
              </a:tblGrid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更新日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修正内容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60350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2025-03-08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画像内ラベルとシャッフル後の選択肢を対応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60350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2026-05-30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診断・検査医学の選択肢拡張を修正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60350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2026-07-10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デザイン・芸術理論の正解ラベルを修正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60350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2026-10-04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化学の選択肢と、金融問題の不足条件を修正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MMMU Team (2026参照). MMMU-Pro dataset card. 2026-10-04更新。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https://huggingface.co/datasets/MMMU/MMMU_Pro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公式データを構成名で読み込む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4. MMMUからの発展と利用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8046720" cy="22225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1937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from datasets import load_dataset</a:t>
            </a:r>
          </a:p>
          <a:p>
            <a:pPr algn="l">
              <a:lnSpc>
                <a:spcPts val="1937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/>
            </a:r>
          </a:p>
          <a:p>
            <a:pPr algn="l">
              <a:lnSpc>
                <a:spcPts val="1937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data = load_dataset(</a:t>
            </a:r>
          </a:p>
          <a:p>
            <a:pPr algn="l">
              <a:lnSpc>
                <a:spcPts val="1937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"MMMU/MMMU_Pro", "vision",</a:t>
            </a:r>
          </a:p>
          <a:p>
            <a:pPr algn="l">
              <a:lnSpc>
                <a:spcPts val="1937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split="test",</a:t>
            </a:r>
          </a:p>
          <a:p>
            <a:pPr algn="l">
              <a:lnSpc>
                <a:spcPts val="1937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revision="0d7426df4ccb3d8704a992fe6850abee7c262127",</a:t>
            </a:r>
          </a:p>
          <a:p>
            <a:pPr algn="l">
              <a:lnSpc>
                <a:spcPts val="1937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)</a:t>
            </a:r>
          </a:p>
          <a:p>
            <a:pPr algn="l">
              <a:lnSpc>
                <a:spcPts val="1937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image = data[0]["image"]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932428"/>
            <a:ext cx="7955279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Standardを使う場合は構成名をstandard (10 options)に変える。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MMMU Team (2026参照). MMMU-Pro dataset card. 2026-10-04更新。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https://huggingface.co/datasets/MMMU/MMMU_Pro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公開データと公式コードから評価できる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Hugging Faceで問題・画像・選択肢・正解を入手し、GitHubの推論スクリプトとevaluate.pyで評価する。</a:t>
            </a:r>
          </a:p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データカードと公式リポジトリはApache License 2.0を指定している。</a:t>
            </a:r>
          </a:p>
          <a:p>
            <a:pPr marL="457200" indent="-355600">
              <a:lnSpc>
                <a:spcPts val="2760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評価記録にはデータ改訂、構成名、プロンプト、モデル名、ツールの有無を対応させる。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4. MMMUからの発展と利用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MMMU Team (2026参照). MMMU benchmark: official implementation.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https://github.com/MMMU-Benchmark/MMMU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画像と文章をつなぐ専門問題の評価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MMMU-Proは、画像なしで解ける問題の除外、選択肢の拡張、Vision形式によって、MMMUの評価を厳しくした。</a:t>
            </a:r>
          </a:p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図の構造や表の数値を読み、知識・計算と結び付けて、正しい選択肢を答える。</a:t>
            </a:r>
          </a:p>
          <a:p>
            <a:pPr marL="457200" indent="-355600">
              <a:lnSpc>
                <a:spcPts val="2760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同じ問題のStandardとVisionを比較でき、現在のプロプライエタリモデルの評価にも使われている。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4. MMMUからの発展と利用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Yue et al. (2025). MMMU-Pro: A More Robust Multi-discipline Multimodal Understanding Benchmark. ACL 2025 / arXiv:2409.02813v3.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https://arxiv.org/abs/2409.02813v3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59895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4200" b="0">
                <a:solidFill>
                  <a:srgbClr val="303437"/>
                </a:solidFill>
                <a:latin typeface="Noto Sans"/>
              </a:defRPr>
            </a:pPr>
            <a:r>
              <a:rPr sz="42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7240" y="1668081"/>
            <a:ext cx="7772400" cy="2077720"/>
          </a:xfrm>
        </p:spPr>
        <p:txBody>
          <a:bodyPr lIns="0" rIns="0" tIns="0" bIns="0" wrap="square">
            <a:noAutofit/>
          </a:bodyPr>
          <a:lstStyle/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分野の異なる追加例</a:t>
            </a:r>
          </a:p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科目の内訳と評価実装</a:t>
            </a:r>
          </a:p>
          <a:p>
            <a:pPr marL="457200" indent="-457200">
              <a:lnSpc>
                <a:spcPct val="128000"/>
              </a:lnSpc>
              <a:spcAft>
                <a:spcPts val="170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著者と参考文献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目次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分野の異なる追加例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分野の異なる追加例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追加例1：芸術：流し撮りの写真を見分ける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分野の異なる追加例</a:t>
            </a:r>
          </a:p>
        </p:txBody>
      </p:sp>
      <p:pic>
        <p:nvPicPr>
          <p:cNvPr id="4" name="Picture 3" descr="page-2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884" y="1463040"/>
            <a:ext cx="3972590" cy="3063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64608" y="1490472"/>
            <a:ext cx="3703320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課題の内容（日本語）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64608" y="1819656"/>
            <a:ext cx="3703320" cy="9646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3枚の写真のうち、被写体を追う流し撮りによるぼけがあるものを選ぶ。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64608" y="2948940"/>
            <a:ext cx="3703320" cy="3779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 G：Photo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64608" y="3491484"/>
            <a:ext cx="3703320" cy="10805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被写体が比較的はっきりし、背景が横方向に流れている写真を選ぶ。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Yue et al. (2025). MMMU-Pro: A More Robust Multi-discipline Multimodal Understanding Benchmark. 論文のVision入力例。ID: test_Art_227.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https://arxiv.org/abs/2409.02813v3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追加例2：芸術理論：建物の構造方式を選ぶ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分野の異なる追加例</a:t>
            </a:r>
          </a:p>
        </p:txBody>
      </p:sp>
      <p:pic>
        <p:nvPicPr>
          <p:cNvPr id="4" name="Picture 3" descr="page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351" y="1463040"/>
            <a:ext cx="3429656" cy="3063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64608" y="1490472"/>
            <a:ext cx="3703320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課題の内容（日本語）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64608" y="1819656"/>
            <a:ext cx="3703320" cy="66751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建物の平面図から、使われている構造方式を選ぶ。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64608" y="2651760"/>
            <a:ext cx="3703320" cy="3779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 E：Skeletal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64608" y="3194304"/>
            <a:ext cx="3703320" cy="13776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柱の配置などを読み、骨組みで支える構造に対応させる。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Yue et al. (2025). MMMU-Pro: A More Robust Multi-discipline Multimodal Understanding Benchmark. 論文のVision入力例。ID: test_Art_Theory_19.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https://arxiv.org/abs/2409.02813v3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追加例3：音楽：譜面から旋律の調を選ぶ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分野の異なる追加例</a:t>
            </a:r>
          </a:p>
        </p:txBody>
      </p:sp>
      <p:pic>
        <p:nvPicPr>
          <p:cNvPr id="4" name="Picture 3" descr="page-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613" y="1463040"/>
            <a:ext cx="1607132" cy="3063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64608" y="1490472"/>
            <a:ext cx="3703320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課題の内容（日本語）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64608" y="1819656"/>
            <a:ext cx="3703320" cy="66751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譜面を読み、画像内に並ぶ調の候補から正しいものを選ぶ。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64608" y="2651760"/>
            <a:ext cx="3703320" cy="3779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 G：画像内の2番目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64608" y="3194304"/>
            <a:ext cx="3703320" cy="13776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選択肢の記号は、画像内の候補の位置を指している。調号と旋律を照合する。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Yue et al. (2025). MMMU-Pro: A More Robust Multi-discipline Multimodal Understanding Benchmark. 論文のVision入力例。ID: test_Music_209.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https://arxiv.org/abs/2409.02813v3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追加例4：生物：胚の発生段階の特徴を答える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分野の異なる追加例</a:t>
            </a:r>
          </a:p>
        </p:txBody>
      </p:sp>
      <p:pic>
        <p:nvPicPr>
          <p:cNvPr id="4" name="Picture 3" descr="page-3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419" y="1463039"/>
            <a:ext cx="1927521" cy="3063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64608" y="1490472"/>
            <a:ext cx="3703320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課題の内容（日本語）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64608" y="1819656"/>
            <a:ext cx="3703320" cy="9646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発生途中の胚の画像を見て、この段階で既に定まっている特徴を選ぶ。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64608" y="2948940"/>
            <a:ext cx="3703320" cy="68275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 C：体節・対称性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頭尾方向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64608" y="3796283"/>
            <a:ext cx="3703320" cy="7757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画像の発生段階を、体の区分や方向が定まる過程と結び付ける。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Yue et al. (2025). MMMU-Pro: A More Robust Multi-discipline Multimodal Understanding Benchmark. 論文のVision入力例。ID: validation_Biology_30.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https://arxiv.org/abs/2409.02813v3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追加例5：地理：分布域と動物を対応させる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分野の異なる追加例</a:t>
            </a:r>
          </a:p>
        </p:txBody>
      </p:sp>
      <p:pic>
        <p:nvPicPr>
          <p:cNvPr id="4" name="Picture 3" descr="page-3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388" y="1463040"/>
            <a:ext cx="2943582" cy="3063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64608" y="1490472"/>
            <a:ext cx="3703320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課題の内容（日本語）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64608" y="1819656"/>
            <a:ext cx="3703320" cy="66751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地図の青い地域に分布する動物を、4枚の写真から選ぶ。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64608" y="2651760"/>
            <a:ext cx="3703320" cy="3779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 B：ダチョウの写真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64608" y="3194304"/>
            <a:ext cx="3703320" cy="13776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地図の色分けと選択肢の写真を合わせて判断する。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Yue et al. (2025). MMMU-Pro: A More Robust Multi-discipline Multimodal Understanding Benchmark. 論文のVision入力例。ID: test_Geography_90.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https://arxiv.org/abs/2409.02813v3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追加例6：物理：張力を求めやすい支点を選ぶ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分野の異なる追加例</a:t>
            </a:r>
          </a:p>
        </p:txBody>
      </p:sp>
      <p:pic>
        <p:nvPicPr>
          <p:cNvPr id="4" name="Picture 3" descr="page-3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8755"/>
            <a:ext cx="4069080" cy="30518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64608" y="1490472"/>
            <a:ext cx="3703320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課題の内容（日本語）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64608" y="1819656"/>
            <a:ext cx="3703320" cy="9646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壁とロープで支えた棒について、モーメントの式1本でロープの力を求められる中心点を選ぶ。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64608" y="2948940"/>
            <a:ext cx="3703320" cy="3779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 B：点2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64608" y="3491484"/>
            <a:ext cx="3703320" cy="10805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壁との接点を中心にすると、そこで働く力のモーメントが0になる。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Yue et al. (2025). MMMU-Pro: A More Robust Multi-discipline Multimodal Understanding Benchmark. 論文のVision入力例。ID: validation_Physics_9.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https://arxiv.org/abs/2409.02813v3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追加例7：基礎医学：心臓の構造を特定する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分野の異なる追加例</a:t>
            </a:r>
          </a:p>
        </p:txBody>
      </p:sp>
      <p:pic>
        <p:nvPicPr>
          <p:cNvPr id="4" name="Picture 3" descr="page-3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6550" y="1463040"/>
            <a:ext cx="1413259" cy="3063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64608" y="1490472"/>
            <a:ext cx="3703320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課題の内容（日本語）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64608" y="1819656"/>
            <a:ext cx="3703320" cy="66751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心臓の断面図で示された構造を、10個の候補から選ぶ。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64608" y="2651760"/>
            <a:ext cx="3703320" cy="3779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 E：肺動脈弁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64608" y="3194304"/>
            <a:ext cx="3703320" cy="13776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図の位置を、右心室と肺動脈の間にある弁へ対応させる。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Yue et al. (2025). MMMU-Pro: A More Robust Multi-discipline Multimodal Understanding Benchmark. 論文のVision入力例。ID: test_Basic_Medical_Science_72.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https://arxiv.org/abs/2409.02813v3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追加例8：電子工学：切替え直後の電圧を求める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分野の異なる追加例</a:t>
            </a:r>
          </a:p>
        </p:txBody>
      </p:sp>
      <p:pic>
        <p:nvPicPr>
          <p:cNvPr id="4" name="Picture 3" descr="page-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21456"/>
            <a:ext cx="4069080" cy="274640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64608" y="1490472"/>
            <a:ext cx="3703320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課題の内容（日本語）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64608" y="1819656"/>
            <a:ext cx="3703320" cy="9646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3つの回路について、スイッチを切り替えた直後の電圧vを求める。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64608" y="2948940"/>
            <a:ext cx="3703320" cy="3779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 B：−8 V、−10 V、20 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64608" y="3491484"/>
            <a:ext cx="3703320" cy="10805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回路図、素子の値、切替え時刻を読んで、3つの値の組を選ぶ。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Yue et al. (2025). MMMU-Pro: A More Robust Multi-discipline Multimodal Understanding Benchmark. 論文のVision入力例。ID: test_Electronics_76.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https://arxiv.org/abs/2409.02813v3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追加例9：材料：組織図から延性の順を選ぶ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分野の異なる追加例</a:t>
            </a:r>
          </a:p>
        </p:txBody>
      </p:sp>
      <p:pic>
        <p:nvPicPr>
          <p:cNvPr id="4" name="Picture 3" descr="page-5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268" y="1463040"/>
            <a:ext cx="4007822" cy="3063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64608" y="1490472"/>
            <a:ext cx="3703320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課題の内容（日本語）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64608" y="1819656"/>
            <a:ext cx="3703320" cy="66751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4つの鉄–炭素合金の室温組織を、延性の高い順に並べる。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64608" y="2651760"/>
            <a:ext cx="3703320" cy="3779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 F：C、A、B、D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64608" y="3194304"/>
            <a:ext cx="3703320" cy="13776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各組織の形態と材料の性質を対応させ、4つの文字の並びで答える。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Yue et al. (2025). MMMU-Pro: A More Robust Multi-discipline Multimodal Understanding Benchmark. 論文のVision入力例。ID: test_Materials_423.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https://arxiv.org/abs/2409.02813v3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追加例10：機械工学：梁のせん断応力を計算する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1. 分野の異なる追加例</a:t>
            </a:r>
          </a:p>
        </p:txBody>
      </p:sp>
      <p:pic>
        <p:nvPicPr>
          <p:cNvPr id="4" name="Picture 3" descr="page-5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806" y="1463040"/>
            <a:ext cx="2748747" cy="3063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64608" y="1490472"/>
            <a:ext cx="3703320" cy="2468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課題の内容（日本語）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64608" y="1819656"/>
            <a:ext cx="3703320" cy="12618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303437"/>
                </a:solidFill>
                <a:latin typeface="Noto Sans"/>
              </a:defRPr>
            </a:pPr>
            <a:r>
              <a:rPr sz="19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両端支持のI形梁に中央で1,000 lbを加える。最大せん断応力と、ウェブ面積で近似した値を求める。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64608" y="3246120"/>
            <a:ext cx="3703320" cy="3779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B13731"/>
                </a:solidFill>
                <a:latin typeface="Noto Sans"/>
                <a:ea typeface="Noto Sans CJK JP"/>
                <a:cs typeface="Noto Sans"/>
              </a:rPr>
              <a:t>正解 B：196.9／166.7 psi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64608" y="3788663"/>
            <a:ext cx="3703320" cy="783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寸法を読み、2通りの応力を計算する。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Yue et al. (2025). MMMU-Pro: A More Robust Multi-discipline Multimodal Understanding Benchmark. 論文のVision入力例。ID: test_Mechanical_Engineering_409.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https://arxiv.org/abs/2409.02813v3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科目の内訳と評価実装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科目の内訳と評価実装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芸術・デザインの科目別問題数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科目の内訳と評価実装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487168"/>
        </p:xfrm>
        <a:graphic>
          <a:graphicData uri="http://schemas.openxmlformats.org/drawingml/2006/table">
            <a:tbl>
              <a:tblPr firstRow="0" bandRow="0"/>
              <a:tblGrid>
                <a:gridCol w="5760720"/>
                <a:gridCol w="2286000"/>
              </a:tblGrid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科目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問題数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芸術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53問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芸術理論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55問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デザイン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60問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音楽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60問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MMMU Team. MMMU-Pro: 公開評価レコード1,730件を集計。2026-10-16。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https://github.com/MMMU-Benchmark/MMMU/blob/268471d0d488258990025331c7528359c324aa25/mmmu-pro/output/gpt-4o_standard(10%20options)_cot.jsonl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ビジネスの科目別問題数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科目の内訳と評価実装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990088"/>
        </p:xfrm>
        <a:graphic>
          <a:graphicData uri="http://schemas.openxmlformats.org/drawingml/2006/table">
            <a:tbl>
              <a:tblPr firstRow="0" bandRow="0"/>
              <a:tblGrid>
                <a:gridCol w="5760720"/>
                <a:gridCol w="2286000"/>
              </a:tblGrid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科目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問題数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会計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58問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経済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59問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金融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60問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経営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50問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マーケティング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59問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MMMU Team. MMMU-Pro: 公開評価レコード1,730件を集計。2026-10-16。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https://github.com/MMMU-Benchmark/MMMU/blob/268471d0d488258990025331c7528359c324aa25/mmmu-pro/output/gpt-4o_standard(10%20options)_cot.jsonl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科学の科目別問題数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科目の内訳と評価実装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990088"/>
        </p:xfrm>
        <a:graphic>
          <a:graphicData uri="http://schemas.openxmlformats.org/drawingml/2006/table">
            <a:tbl>
              <a:tblPr firstRow="0" bandRow="0"/>
              <a:tblGrid>
                <a:gridCol w="5760720"/>
                <a:gridCol w="2286000"/>
              </a:tblGrid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科目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問題数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生物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59問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化学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60問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地理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52問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数学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60問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物理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60問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MMMU Team. MMMU-Pro: 公開評価レコード1,730件を集計。2026-10-16。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https://github.com/MMMU-Benchmark/MMMU/blob/268471d0d488258990025331c7528359c324aa25/mmmu-pro/output/gpt-4o_standard(10%20options)_cot.jsonl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健康・医学の科目別問題数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科目の内訳と評価実装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990088"/>
        </p:xfrm>
        <a:graphic>
          <a:graphicData uri="http://schemas.openxmlformats.org/drawingml/2006/table">
            <a:tbl>
              <a:tblPr firstRow="0" bandRow="0"/>
              <a:tblGrid>
                <a:gridCol w="5760720"/>
                <a:gridCol w="2286000"/>
              </a:tblGrid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科目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問題数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基礎医学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52問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臨床医学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59問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診断・検査医学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60問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薬学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57問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公衆衛生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58問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MMMU Team. MMMU-Pro: 公開評価レコード1,730件を集計。2026-10-16。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https://github.com/MMMU-Benchmark/MMMU/blob/268471d0d488258990025331c7528359c324aa25/mmmu-pro/output/gpt-4o_standard(10%20options)_cot.jsonl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人文・社会科学の科目別問題数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科目の内訳と評価実装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487168"/>
        </p:xfrm>
        <a:graphic>
          <a:graphicData uri="http://schemas.openxmlformats.org/drawingml/2006/table">
            <a:tbl>
              <a:tblPr firstRow="0" bandRow="0"/>
              <a:tblGrid>
                <a:gridCol w="5760720"/>
                <a:gridCol w="2286000"/>
              </a:tblGrid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科目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問題数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歴史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56問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文学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52問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社会学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54問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心理学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60問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MMMU Team. MMMU-Pro: 公開評価レコード1,730件を集計。2026-10-16。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https://github.com/MMMU-Benchmark/MMMU/blob/268471d0d488258990025331c7528359c324aa25/mmmu-pro/output/gpt-4o_standard(10%20options)_cot.jsonl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技術・工学の科目別問題数（1）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科目の内訳と評価実装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487168"/>
        </p:xfrm>
        <a:graphic>
          <a:graphicData uri="http://schemas.openxmlformats.org/drawingml/2006/table">
            <a:tbl>
              <a:tblPr firstRow="0" bandRow="0"/>
              <a:tblGrid>
                <a:gridCol w="5760720"/>
                <a:gridCol w="2286000"/>
              </a:tblGrid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科目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問題数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農業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60問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建築・工学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60問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計算機科学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60問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電子工学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60問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MMMU Team. MMMU-Pro: 公開評価レコード1,730件を集計。2026-10-16。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https://github.com/MMMU-Benchmark/MMMU/blob/268471d0d488258990025331c7528359c324aa25/mmmu-pro/output/gpt-4o_standard(10%20options)_cot.jsonl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技術・工学の科目別問題数（2）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科目の内訳と評価実装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984248"/>
        </p:xfrm>
        <a:graphic>
          <a:graphicData uri="http://schemas.openxmlformats.org/drawingml/2006/table">
            <a:tbl>
              <a:tblPr firstRow="0" bandRow="0"/>
              <a:tblGrid>
                <a:gridCol w="5760720"/>
                <a:gridCol w="2286000"/>
              </a:tblGrid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科目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問題数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エネルギー・動力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58問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材料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60問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5029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機械工学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59問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MMMU Team. MMMU-Pro: 公開評価レコード1,730件を集計。2026-10-16。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https://github.com/MMMU-Benchmark/MMMU/blob/268471d0d488258990025331c7528359c324aa25/mmmu-pro/output/gpt-4o_standard(10%20options)_cot.jsonl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選択肢記号を抽出して一致を採点する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科目の内訳と評価実装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8046720" cy="2286000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options = ["173", "190", "105", "143", "180",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       "160", "135", "150", "210", "125"]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choices = list("ABCDEFGHIJ")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index2ans = dict(zip(choices, options))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pred = parse_multi_choice_response(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"Answer: D", choices, index2ans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)</a:t>
            </a:r>
          </a:p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303437"/>
                </a:solidFill>
                <a:latin typeface="Noto Sans"/>
              </a:defRPr>
            </a:pPr>
            <a:r>
              <a:rPr sz="16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correct = eval_multi_choice("D", pred)  # True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995928"/>
            <a:ext cx="7955279" cy="7772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公式evaluate.pyの関数に、経済の例の選択肢と応答を渡す。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MMMU Team. MMMU-Pro: evaluate.py. 正解記号の抽出と問題単位の正解率。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https://github.com/MMMU-Benchmark/MMMU/blob/268471d0d488258990025331c7528359c324aa25/mmmu-pro/evaluate.py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複数の記号がある応答から答えを抽出する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evaluate.pyは末尾のAnswer:以降をまず調べ、一意な選択肢記号を見つける。</a:t>
            </a:r>
          </a:p>
          <a:p>
            <a:pPr marL="457200" indent="-355600">
              <a:lnSpc>
                <a:spcPts val="2640"/>
              </a:lnSpc>
              <a:spcAft>
                <a:spcPts val="8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その形式で得られなければ、括弧付きの記号や選択肢本文との一致を探し、複数候補では後ろに出た候補を使う。</a:t>
            </a:r>
          </a:p>
          <a:p>
            <a:pPr marL="457200" indent="-355600">
              <a:lnSpc>
                <a:spcPts val="2640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候補が得られない場合の処理にはランダムな選択も含まれる。推論スクリプトは答えの記号を明示させる指示を使う。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科目の内訳と評価実装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MMMU Team. MMMU-Pro: evaluate.py. 正解記号の抽出と問題単位の正解率。</a:t>
            </a:r>
          </a:p>
          <a:p>
            <a:pPr>
              <a:lnSpc>
                <a:spcPct val="11200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https://github.com/MMMU-Benchmark/MMMU/blob/268471d0d488258990025331c7528359c324aa25/mmmu-pro/evaluate.py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画像付きの選択肢は対応するキーへ展開する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Standardには、選択肢そのものが画像になっている問題もある。地理の例では動物の写真が候補になる。</a:t>
            </a:r>
          </a:p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この例の選択肢はimage_3、image_5、image_4、image_2の順で、正解Bはimage_5に対応する。</a:t>
            </a:r>
          </a:p>
          <a:p>
            <a:pPr marL="457200" indent="-355600">
              <a:lnSpc>
                <a:spcPts val="2760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公式推論コードは、問題文と選択肢内の画像参照を出現順に処理し、対応する画像をモデルへ渡す。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科目の内訳と評価実装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MMMU Team (2026参照). MMMU benchmark: official implementation.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https://github.com/MMMU-Benchmark/MMMU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元のMMMUとProの公開構成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2. 科目の内訳と評価実装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706624"/>
        </p:xfrm>
        <a:graphic>
          <a:graphicData uri="http://schemas.openxmlformats.org/drawingml/2006/table">
            <a:tbl>
              <a:tblPr firstRow="0" bandRow="0"/>
              <a:tblGrid>
                <a:gridCol w="2743200"/>
                <a:gridCol w="5303520"/>
              </a:tblGrid>
              <a:tr h="475488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対象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公開されている問題・正解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5852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MMMU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開発150、検証900、テスト10,500問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8229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MMMUのテスト正解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2026-02-12に公開。公式コードで採点できる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82296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MMMU-Pro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3構成 × 1,730レコード。全構成で正解を公開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MMMU Team (2026参照). MMMU benchmark: official implementation.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https://github.com/MMMU-Benchmark/MMMU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388106"/>
            <a:ext cx="8046720" cy="822960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3. 著者と参考文献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3. 著者と参考文献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MMMU Teamによる改良ベンチマーク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9067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共同第一著者はXiang Yue、Tianyu Zheng、Yuansheng Ni。最終著者はGraham Neubigで、計13名が執筆している。</a:t>
            </a:r>
          </a:p>
          <a:p>
            <a:pPr marL="457200" indent="-355600">
              <a:lnSpc>
                <a:spcPts val="2760"/>
              </a:lnSpc>
              <a:spcAft>
                <a:spcPts val="8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先行するMMMUはYueらがCVPR 2024で発表し、MMMU-ProはACL 2025で発表した。</a:t>
            </a:r>
          </a:p>
          <a:p>
            <a:pPr marL="457200" indent="-355600">
              <a:lnSpc>
                <a:spcPts val="2760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専門問題の収集から、画像への依存、誤答候補、画面内の文章と図表の処理へと評価を発展させた。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3. 著者と参考文献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690872"/>
            <a:ext cx="8183879" cy="393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/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Yue et al. (2025). MMMU-Pro: A More Robust Multi-discipline Multimodal Understanding Benchmark. ACL 2025 / arXiv:2409.02813v3.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https://arxiv.org/abs/2409.02813v3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3. 著者と参考文献</a:t>
            </a:r>
          </a:p>
        </p:txBody>
      </p:sp>
      <p:sp>
        <p:nvSpPr>
          <p:cNvPr id="4" name="文献 1: MMMU-Pro: A More Robust Multi-discipline Multimodal Understanding Benchmark"/>
          <p:cNvSpPr txBox="1"/>
          <p:nvPr/>
        </p:nvSpPr>
        <p:spPr>
          <a:xfrm>
            <a:off x="548640" y="1463040"/>
            <a:ext cx="8046720" cy="17150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MMMU-Pro: A More Robust Multi-discipline Multimodal Understanding Benchmark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Xiang Yue, Tianyu Zheng, Yuansheng Ni et al. / ACL 2025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画像なしで解ける問題の除外、選択肢拡張、Vision形式と、それぞれの評価を報告する。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https://arxiv.org/abs/2409.02813v3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3. 著者と参考文献</a:t>
            </a:r>
          </a:p>
        </p:txBody>
      </p:sp>
      <p:sp>
        <p:nvSpPr>
          <p:cNvPr id="4" name="文献 1: MMMU: A Massive Multi-discipline Multimodal Understanding and Reasoning Benchmark for Expert AGI"/>
          <p:cNvSpPr txBox="1"/>
          <p:nvPr/>
        </p:nvSpPr>
        <p:spPr>
          <a:xfrm>
            <a:off x="548640" y="1463040"/>
            <a:ext cx="8046720" cy="167157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MMMU: A Massive Multi-discipline Multimodal Understanding and Reasoning Benchmark for Expert AGI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Xiang Yue, Yuansheng Ni et al. / CVPR 2024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大学の試験・教材に基づく30科目の問題を収集し、専門知識を要する画像付き質問応答を構成した。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https://arxiv.org/abs/2311.16502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3. 著者と参考文献</a:t>
            </a:r>
          </a:p>
        </p:txBody>
      </p:sp>
      <p:sp>
        <p:nvSpPr>
          <p:cNvPr id="4" name="文献 1: MMMU-Pro: Dataset card"/>
          <p:cNvSpPr txBox="1"/>
          <p:nvPr/>
        </p:nvSpPr>
        <p:spPr>
          <a:xfrm>
            <a:off x="548640" y="1463040"/>
            <a:ext cx="8046720" cy="14254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MMMU-Pro: Dataset card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MMMU Team / Hugging Face / 2026-10-16参照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3つの公開構成、各フィールド、ライセンスと、選択肢・正解・問題条件の更新履歴を掲載する。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https://huggingface.co/datasets/MMMU/MMMU_Pro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8046720" cy="5029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FFF"/>
                </a:solidFill>
                <a:latin typeface="Noto Sans"/>
                <a:ea typeface="Noto Sans CJK JP"/>
                <a:cs typeface="Noto Sans"/>
              </a:rPr>
              <a:t>Appendix: 3. 著者と参考文献</a:t>
            </a:r>
          </a:p>
        </p:txBody>
      </p:sp>
      <p:sp>
        <p:nvSpPr>
          <p:cNvPr id="4" name="文献 1: MMMU Benchmark: Official implementation"/>
          <p:cNvSpPr txBox="1"/>
          <p:nvPr/>
        </p:nvSpPr>
        <p:spPr>
          <a:xfrm>
            <a:off x="548640" y="1463040"/>
            <a:ext cx="8046720" cy="14254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MMMU Benchmark: Official implementation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MMMU Team / GitHub / 2026-10-16参照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推論スクリプト、プロンプト、選択肢の抽出と正解率の計算、公開評価レコードを含む。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https://github.com/MMMU-Benchmark/MMMU</a:t>
            </a:r>
          </a:p>
        </p:txBody>
      </p:sp>
      <p:sp>
        <p:nvSpPr>
          <p:cNvPr id="5" name="文献 2: Gemini 3.1 Pro"/>
          <p:cNvSpPr txBox="1"/>
          <p:nvPr/>
        </p:nvSpPr>
        <p:spPr>
          <a:xfrm>
            <a:off x="548640" y="3399536"/>
            <a:ext cx="8046720" cy="14254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Gemini 3.1 Pro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Google DeepMind / 2026 / Model performance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MMMU-Proを含む現行モデルの比較結果と、推論設定・ツール条件を掲載する。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https://deepmind.google/models/gemini/pro/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IARTEM Research Palette">
      <a:dk1>
        <a:srgbClr val="303437"/>
      </a:dk1>
      <a:lt1>
        <a:srgbClr val="FFFEF8"/>
      </a:lt1>
      <a:dk2>
        <a:srgbClr val="626669"/>
      </a:dk2>
      <a:lt2>
        <a:srgbClr val="EBEDEB"/>
      </a:lt2>
      <a:accent1>
        <a:srgbClr val="B13731"/>
      </a:accent1>
      <a:accent2>
        <a:srgbClr val="2C9100"/>
      </a:accent2>
      <a:accent3>
        <a:srgbClr val="2166AC"/>
      </a:accent3>
      <a:accent4>
        <a:srgbClr val="B84A00"/>
      </a:accent4>
      <a:accent5>
        <a:srgbClr val="007C91"/>
      </a:accent5>
      <a:accent6>
        <a:srgbClr val="763DA0"/>
      </a:accent6>
      <a:hlink>
        <a:srgbClr val="3F6F8F"/>
      </a:hlink>
      <a:folHlink>
        <a:srgbClr val="7A5C8E"/>
      </a:folHlink>
    </a:clrScheme>
    <a:fontScheme name="Office">
      <a:maj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A7E97F-3A5A-9342-98CB-7411DADE8916}">
  <we:reference id="wa200010215" version="2.0.0.0" store="ja-JP" storeType="OMEX"/>
  <we:alternateReferences>
    <we:reference id="WA200010215" version="2.0.0.0" store="WA200010215" storeType="OMEX"/>
  </we:alternateReferences>
  <we:properties>
    <we:property name="bps.codex_control.document_id" value="&quot;f3f6bd8f-7a20-4dbe-a71e-f9942711a9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13685</TotalTime>
  <Words>14</Words>
  <Application>Microsoft Macintosh PowerPoint</Application>
  <PresentationFormat>画面に合わせる (16:9)</PresentationFormat>
  <Paragraphs>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Developing and Applying a Systematic Classification Framework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Bottom-right caption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佐々木　悠太</cp:lastModifiedBy>
  <cp:revision>500</cp:revision>
  <dcterms:modified xsi:type="dcterms:W3CDTF">2026-10-13T12:49:59Z</dcterms:modified>
  <dc:title>MMMU-Pro — datasets in 10 minutes</dc:title>
  <dc:subject>大学水準の画像付き質問応答、作成方法、評価、公開データの更新</dc:subject>
  <dc:creator>sasakiy84</dc:creator>
  <cp:keywords>MMMU-Pro,MMMU,multimodal,visual question answering,dataset</cp:keywords>
</cp:coreProperties>
</file>