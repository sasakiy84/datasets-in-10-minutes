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1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308" r:id="rId58"/>
    <p:sldId id="265" r:id="rId15"/>
    <p:sldId id="266" r:id="rId16"/>
    <p:sldId id="310" r:id="rId60"/>
    <p:sldId id="311" r:id="rId61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312" r:id="rId62"/>
    <p:sldId id="314" r:id="rId64"/>
    <p:sldId id="316" r:id="rId66"/>
    <p:sldId id="318" r:id="rId68"/>
    <p:sldId id="320" r:id="rId70"/>
    <p:sldId id="322" r:id="rId72"/>
    <p:sldId id="324" r:id="rId74"/>
    <p:sldId id="326" r:id="rId76"/>
    <p:sldId id="328" r:id="rId78"/>
    <p:sldId id="330" r:id="rId80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62.xml"/><Relationship Id="rId56" Type="http://schemas.openxmlformats.org/officeDocument/2006/relationships/slide" Target="slides/slide63.xml"/><Relationship Id="rId57" Type="http://schemas.openxmlformats.org/officeDocument/2006/relationships/slide" Target="slides/slide64.xml"/><Relationship Id="rId58" Type="http://schemas.openxmlformats.org/officeDocument/2006/relationships/slide" Target="slides/slide9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33.xml"/><Relationship Id="rId64" Type="http://schemas.openxmlformats.org/officeDocument/2006/relationships/slide" Target="slides/slide35.xml"/><Relationship Id="rId66" Type="http://schemas.openxmlformats.org/officeDocument/2006/relationships/slide" Target="slides/slide37.xml"/><Relationship Id="rId68" Type="http://schemas.openxmlformats.org/officeDocument/2006/relationships/slide" Target="slides/slide39.xml"/><Relationship Id="rId70" Type="http://schemas.openxmlformats.org/officeDocument/2006/relationships/slide" Target="slides/slide41.xml"/><Relationship Id="rId72" Type="http://schemas.openxmlformats.org/officeDocument/2006/relationships/slide" Target="slides/slide43.xml"/><Relationship Id="rId74" Type="http://schemas.openxmlformats.org/officeDocument/2006/relationships/slide" Target="slides/slide45.xml"/><Relationship Id="rId76" Type="http://schemas.openxmlformats.org/officeDocument/2006/relationships/slide" Target="slides/slide47.xml"/><Relationship Id="rId78" Type="http://schemas.openxmlformats.org/officeDocument/2006/relationships/slide" Target="slides/slide49.xml"/><Relationship Id="rId80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rlbenchmarks/global-piqa-nonparallel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github.com/mrlbenchmarks/global-piqa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github.com/mrlbenchmarks/global-piqa#readm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paralle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aggregated_by_split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results_per_language.csv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#license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Relationship Id="rId3" Type="http://schemas.openxmlformats.org/officeDocument/2006/relationships/hyperlink" Target="https://huggingface.co/datasets/mrlbenchmarks/global-piqa-nonparallel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tree/main/eval_results" TargetMode="External"/><Relationship Id="rId3" Type="http://schemas.openxmlformats.org/officeDocument/2006/relationships/hyperlink" Target="https://arxiv.org/abs/1911.11641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1" TargetMode="External"/><Relationship Id="rId3" Type="http://schemas.openxmlformats.org/officeDocument/2006/relationships/hyperlink" Target="https://github.com/mrlbenchmarks/lm-eval-global-pi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言語と文化に根ざした日常の常識を測る
100以上の言語へ広がる選択式問題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PIQA = Physical Interaction: Question Answering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Global PIQA: 公式リポジトリ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7"/>
              </a:rPr>
              <a:t>https://github.com/mrlbenchmarks/global-piqa#readme</a:t>
            </a:r>
          </a:p>
        </p:txBody>
      </p:sp>
      <p:pic>
        <p:nvPicPr>
          <p:cNvPr id="6" name="公式サイトの画面" descr="global-piq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文化と言語に根ざした常識問題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入手と使い分け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日常の場面で、どちらの行動や説明が適切か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PIQAは、日用品・食事・住居・慣習などの常識を測るデータセット。地域と言語の話者が、自分たちの暮らしに即した問題を作る。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2025年にバージョン0.1を公開し、2026年にバージョン1へ改訂した。この資料は、改訂後のv1を紹介する。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設問に対して候補を選び、配布された正解と比較する。独自に作るnon-parallel集合は二択、翻訳したparallel集合は四択。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二つの集合は、問題の作り方が違う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93392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4617720"/>
                <a:gridCol w="109728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各言語の話者が、地域の日常から作る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共通の英語問題を各言語へ翻訳する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941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各言語の独自問題と、同じ問題の多言語版を用意している。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公開v1から、本編3件と追加10件を選ぶ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本編では、日本の生活習慣、英語圏の調理用具、密封した袋の物理的な性質を扱う。二択と四択の両方を見る。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Appendixでは、スペイン語・フランス語・アラビア語など、10言語から別の10問を示す。設問と選択肢に日本語訳を添える。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設問と選択肢は公式TSVの全文。元の正解ラベル0〜3を、スライドではA〜Dへ対応させて示す。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実例1：トイレ用スリッパ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9073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79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トイレ用スリッパは部屋へ？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8274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持ち出さないで使う。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持ち出して使う。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754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5566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場所に応じた履物の使い分けを問う、日本語の独自問題。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group0035_ex000062_jpn_jpan_0_v1。CC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実例2：調味料を分けて出す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配布原文・全文：英語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serve condiments at a BBQ,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111629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use a waffle iron for the various condiments.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0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use a muffin tin for the various condiments.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group0123_ex000088_eng_latn_0_v1。CC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BBQで調味料を分けて出すには。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111629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各種の調味料をワッフルメーカーに入れる。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0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各種の調味料をマフィン型に入れる。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2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2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一つずつくぼみが分かれたマフィン型を、調味料の容器として使う。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同じ物理的な場面を、四択で各言語へ訳す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parallel集合では、文化的な固有名への依存を抑えた共通問題を各言語へ訳す。物の性質・位置関係・時間・簡単な個数などを扱う。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次の例では、空気を密封した袋の上へ物を置いたとき、袋の中の空気の量がどうなるかを問う。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同じ問題でも、選択肢の並びは言語間で変わる。各言語に付いた正解ラベルと、選択肢の内容を対応させる。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Parallel v1 / 改訂b0b1851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実例3：密封した袋の空気（日本語）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0827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105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ビニール袋に空気を入れて密封します。その袋の上に物を置くと、どうなりますか？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33782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袋の中の空気の量は変わらない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袋の中の空気の量が減る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袋の中の空気の量が増える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49319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parallel_ex000000_jpn_jpan。CC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同じ袋の問題を、英語で読む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246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配布原文・全文：英語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92365"/>
            <a:ext cx="7955279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plastic bag is filled with air and then sealed. When an object is placed on the bag, what happens?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659348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The amount of air in the bag decreases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14857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The amount of air in the bag increases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637810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The color of the air in the bag changes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27023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The amount of air in the bag stays the 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英語の選択肢を、日本語で確かめる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4843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55808"/>
            <a:ext cx="7955279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空気を入れて密封したビニール袋の上に物を置くと、どうなるか。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25062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袋の中の空気の量が減る。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709629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袋の中の空気の量が増える。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16897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袋の中の空気の色が変わる。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3627981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袋の中の空気の量は変わらない。</a:t>
            </a:r>
          </a:p>
        </p:txBody>
      </p:sp>
      <p:sp>
        <p:nvSpPr>
          <p:cNvPr id="10" name="実例本文5"/>
          <p:cNvSpPr txBox="1"/>
          <p:nvPr/>
        </p:nvSpPr>
        <p:spPr>
          <a:xfrm>
            <a:off x="594360" y="4087600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回答記号が参照正解と一致すれば1点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生成形式での評価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設問と二つ、または四つの選択肢を提示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 is: A など、指定の形式で回答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回答記号を取り出し、配布正解と照合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言語ごとに正答率を出し、言語間で平均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2026年の公開評価：言語別正答率の平均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121408"/>
        </p:xfrm>
        <a:graphic>
          <a:graphicData uri="http://schemas.openxmlformats.org/drawingml/2006/table">
            <a:tbl>
              <a:tblPr firstRow="0" bandRow="0"/>
              <a:tblGrid>
                <a:gridCol w="3749039"/>
                <a:gridCol w="2148840"/>
                <a:gridCol w="214884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93.93%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著者らのv1評価。non-parallelは二択、parallelは四択。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言語別正答率の平均、公開CSV。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https://github.com/mrlbenchmarks/global-piqa/blob/main/eval_results/aggregated_by_split.csv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同じ生成予算で、思考を使って評価した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プロプライエタリモデルの評価条件は、temperature 0.90、生成上限2,048トークン。GeminiとClaudeは、思考用に1,024トークンを割り当てる。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GPT-5.4はmedium推論設定。上限を超えた一部の応答は、low設定で再実行した。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記号を含む指定の回答表現を文字列で照合して採点する。評価コードはLM Evaluation Harness向けに公開している。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Proでも、言語によって幅がある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ペルーのスペイン語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99.03%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97.09%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英語・日本語・ペルーのスペイン語は103問、エクペイ語は101問。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parallel集合、言語別の正答率。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https://github.com/mrlbenchmarks/global-piqa/blob/main/eval_results/results_per_language.csv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350人以上の研究者が、母語の問題を持ち寄る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65か国以上、350人以上の研究者が参加した。主に各言語を話す自然言語処理の研究者が、地域の知識を生かして作成する。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作成者は、設問と正しい候補・誤った候補を用意する。食物、衣服、交通、習慣など、地域に根ざした題材を含める。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各言語で少なくとも100問を作り、母語話者が確認する。作成・確認の方法は各チームの説明として公開した。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独自問題を整え、各言語100問にそろえる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各言語で問題と二つの候補を書く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母語話者が自然さ・正解・日常性を確認する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形式を統一し、英訳と文化的特徴を注記する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課題外・極端に簡単な問題や重複を除く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文化に特有の問題を優先し、100問を選ぶ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non-parallel：136種類、合計13,600問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623560"/>
                <a:gridCol w="2423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構成・注釈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言語・文字・地域を区別した種類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各種類の問題数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文化に特有と注釈された問題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LLMの補助を使って作成した問題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母語話者が複数回確認した問題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parallelは、翻訳後に母語話者が修正する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英語母語話者が109問を作り、Gemini 2.5 ProまたはGemini 3 Flashで翻訳した。対象言語の母語話者が訳文と正解を確認した。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訳語で「溶ける」と「溶解する」を区別できない問題や、元の内容が曖昧な問題を除外し、最終103問とした。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131種類の言語に展開した。エクペイ語では方角を扱う2問も除いたため101問となり、合計13,491問を配布している。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v0.1からv1へ、言語と評価形式を広げた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4825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v0.1（2025年）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v1（2026年）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独自問題の言語の種類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翻訳した共通問題の集合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131種類・四択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両集合を合わせた言語の種類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490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公開バージョンv1は、2026年5月の論文改訂で説明されている。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文化の知識と、多言語での常識理解を調べる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元になったPIQAは、物体の性質や使い方を扱う英語の二択評価。Global PIQAはその形式を、多言語と文化ごとの常識へ広げた。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non-parallelは、各言語の話者が選んだ地域の日常を扱う。言語ごとに固有の生活習慣や道具を問う問題がある。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parallelは、共通の場面を多言語へ翻訳したもの。同じモデルの回答が言語間でどう変わるかを調べるために使う。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日本語の独自問題を読み込む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"mrlbenchmarks/global-piqa-nonparallel",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"jpn_jpan",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row["label"])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jpn_jpanは日本語・日本文字の設定名。labelは0または1。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日常の常識を、地域と言語の両面から評価する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v1は、地域ごとに作った二択13,600問と、同じ場面を訳した四択13,491問を持つ。両集合を合わせて141種類の言語を含む。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母語話者による作成・確認を重視し、生活習慣や物の使い方などを出題する。各地域の独自問題と、翻訳した共通問題を使い分けられる。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GPT-5.4、Claude Sonnet 4.6、Gemini 3.1 Proなどを評価しており、全体の成績と、言語ごとの成績の幅を調べる資料になる。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生活場面の追加例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生活場面の追加例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追加例1：ネウラスを浸す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配布原文・全文：スペイン語（スペイン）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Moja las neulas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en cava.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en nata.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group0042_ex000020_spa_latn_spai_0_v1。CC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ネウラス（薄い筒状の菓子）を浸すなら。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カバ（スパークリングワイン）に。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クリームに。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カタルーニャの菓子と、その地域の飲み物の組み合わせを問う。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追加例2：クレープを焼く道具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配布原文・全文：フランス語（フランス）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 Bretagne on fait des crêpes dans un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réchaud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billig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group0004_ex000001_fra_latn_fran_0_v1。CC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ブルターニュでクレープを焼く道具は。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携帯こんろ。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ビリグ（クレープ用の丸い鉄板）。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地域の調理器具の名前を知り、用途と結び付ける。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追加例3：Bienenstichの二つの意味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配布原文・全文：ドイツ語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885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Einen Bienenstich kann man im Sommer nicht nur von Bienen abbekommen, sondern auch als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6762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Getränk trinken.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Speise essen.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group0121_ex000066_deu_latn_0_v1。CC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885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夏のBienenstichは蜂から受けるだけでなく、何としても楽しめるか。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6762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飲み物として飲む。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306019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食べ物として食べる。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52031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904233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Bienenstichは「蜂の一刺し」と、同じ名前の菓子の両方を指す。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追加例4：蚊が繁殖する水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配布原文・全文：ポルトガル語（ブラジル）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 mosquito da dengue gosta de se reproduzir em água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parada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corrente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group0013_ex000094_por_latn_braz_0_v1。CC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デング熱を媒介する蚊が繁殖しやすい水は。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たまった水。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流れる水。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地域の生活に関わる衛生知識を、二つの水の状態から選ぶ。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追加例5：サンバルをすりつぶす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配布原文・全文：インドネシア語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Untuk menumbuk sambal di cobek, apa yang dipakai?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Ulekan batu.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Sendok plastik.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group0010_ex000244_ind_latn_0_v1。CC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チョベック（すり鉢）でサンバルをすりつぶすとき、何を使うか。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石のすりこぎ。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プラスチックのスプーン。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サンバルは辛味調味料。すり鉢に合う道具を選ぶ。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追加例6：くわの用途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配布原文・全文：スワヒリ語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Jembe: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Inatumika kujaza udongo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Inatumika kulima udongo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group0062_ex000182_swh_latn_0_v1。CC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くわは、何に使うか。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土を詰める。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土を耕す。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2955670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339590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農具の名前から、その道具で行う作業を選ぶ問題。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追加例7：ハリッサの材料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配布原文・全文：アラビア語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تصنع الهريسة من</a:t>
            </a:r>
          </a:p>
        </p:txBody>
      </p:sp>
      <p:sp>
        <p:nvSpPr>
          <p:cNvPr id="6" name="実例記号1"/>
          <p:cNvSpPr txBox="1"/>
          <p:nvPr/>
        </p:nvSpPr>
        <p:spPr>
          <a:xfrm>
            <a:off x="54864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</a:t>
            </a:r>
          </a:p>
        </p:txBody>
      </p:sp>
      <p:sp>
        <p:nvSpPr>
          <p:cNvPr id="7" name="実例本文1"/>
          <p:cNvSpPr txBox="1"/>
          <p:nvPr/>
        </p:nvSpPr>
        <p:spPr>
          <a:xfrm>
            <a:off x="993140" y="2111629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الفلفل الحار.</a:t>
            </a:r>
          </a:p>
        </p:txBody>
      </p:sp>
      <p:sp>
        <p:nvSpPr>
          <p:cNvPr id="8" name="実例記号2"/>
          <p:cNvSpPr txBox="1"/>
          <p:nvPr/>
        </p:nvSpPr>
        <p:spPr>
          <a:xfrm>
            <a:off x="54864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</a:t>
            </a:r>
          </a:p>
        </p:txBody>
      </p:sp>
      <p:sp>
        <p:nvSpPr>
          <p:cNvPr id="9" name="実例本文2"/>
          <p:cNvSpPr txBox="1"/>
          <p:nvPr/>
        </p:nvSpPr>
        <p:spPr>
          <a:xfrm>
            <a:off x="993140" y="2495549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الطماطم.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group0065_ex000039_arb_arab_0_v1。CC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11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実例本文0"/>
          <p:cNvSpPr txBox="1"/>
          <p:nvPr/>
        </p:nvSpPr>
        <p:spPr>
          <a:xfrm>
            <a:off x="472440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ハリッサは何から作るか。</a:t>
            </a:r>
          </a:p>
        </p:txBody>
      </p:sp>
      <p:sp>
        <p:nvSpPr>
          <p:cNvPr id="13" name="実例本文1"/>
          <p:cNvSpPr txBox="1"/>
          <p:nvPr/>
        </p:nvSpPr>
        <p:spPr>
          <a:xfrm>
            <a:off x="4724400" y="211162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唐辛子。</a:t>
            </a:r>
          </a:p>
        </p:txBody>
      </p:sp>
      <p:sp>
        <p:nvSpPr>
          <p:cNvPr id="14" name="実例本文2"/>
          <p:cNvSpPr txBox="1"/>
          <p:nvPr/>
        </p:nvSpPr>
        <p:spPr>
          <a:xfrm>
            <a:off x="4724400" y="2495549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トマト。</a:t>
            </a:r>
          </a:p>
        </p:txBody>
      </p:sp>
      <p:sp>
        <p:nvSpPr>
          <p:cNvPr id="15" name="実例本文3"/>
          <p:cNvSpPr txBox="1"/>
          <p:nvPr/>
        </p:nvSpPr>
        <p:spPr>
          <a:xfrm>
            <a:off x="548640" y="2955670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16" name="実例本文4"/>
          <p:cNvSpPr txBox="1"/>
          <p:nvPr/>
        </p:nvSpPr>
        <p:spPr>
          <a:xfrm>
            <a:off x="548640" y="3339590"/>
            <a:ext cx="804672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ハリッサは唐辛子を使う調味料。食べ物の名前と主な材料を対応させる。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追加例8：攪拌した乳製品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配布原文・全文：ヒンディー語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लस्सी मथने से मक्खन</a:t>
            </a:r>
          </a:p>
        </p:txBody>
      </p:sp>
      <p:sp>
        <p:nvSpPr>
          <p:cNvPr id="6" name="実例記号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</a:t>
            </a:r>
          </a:p>
        </p:txBody>
      </p:sp>
      <p:sp>
        <p:nvSpPr>
          <p:cNvPr id="7" name="実例本文1"/>
          <p:cNvSpPr txBox="1"/>
          <p:nvPr/>
        </p:nvSpPr>
        <p:spPr>
          <a:xfrm>
            <a:off x="993140" y="2393950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नीचे जाता है</a:t>
            </a:r>
          </a:p>
        </p:txBody>
      </p:sp>
      <p:sp>
        <p:nvSpPr>
          <p:cNvPr id="8" name="実例記号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</a:t>
            </a:r>
          </a:p>
        </p:txBody>
      </p:sp>
      <p:sp>
        <p:nvSpPr>
          <p:cNvPr id="9" name="実例本文2"/>
          <p:cNvSpPr txBox="1"/>
          <p:nvPr/>
        </p:nvSpPr>
        <p:spPr>
          <a:xfrm>
            <a:off x="993140" y="2777871"/>
            <a:ext cx="34264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ऊपर आता है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group0098_ex000091_hin_deva_9_v1。CC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11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2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ラッシーを攪拌すると、バターは。</a:t>
            </a:r>
          </a:p>
        </p:txBody>
      </p:sp>
      <p:sp>
        <p:nvSpPr>
          <p:cNvPr id="13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下に沈む。</a:t>
            </a:r>
          </a:p>
        </p:txBody>
      </p:sp>
      <p:sp>
        <p:nvSpPr>
          <p:cNvPr id="14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上に浮く。</a:t>
            </a:r>
          </a:p>
        </p:txBody>
      </p:sp>
      <p:sp>
        <p:nvSpPr>
          <p:cNvPr id="15" name="実例本文3"/>
          <p:cNvSpPr txBox="1"/>
          <p:nvPr/>
        </p:nvSpPr>
        <p:spPr>
          <a:xfrm>
            <a:off x="548640" y="323799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6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ラッシーは乳製品の飲み物。攪拌したときのバターの動きを問う。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追加例9：餅の種類と食感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配布原文・全文：韓国語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다음 중 이빨과 입천장에 더 잘 붙는 음식은?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무지개떡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인절미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group0018_ex000012_kor_hang_0_v1。CC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次のうち、歯や上あごによりくっつきやすい食べ物は。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ムジゲトク（虹色の蒸し餅）。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インジョルミ（ついた餅）。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二種類の餅の名称と、口の中で感じる粘りを結び付ける。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追加例10：快板での手の位置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4864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配布原文・全文：中国語（簡体字）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48640" y="1727708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打快板时，双手一般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4864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在身后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4864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在身前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group0048_ex000334_cmn_hans_2_v1。CC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  <p:sp>
        <p:nvSpPr>
          <p:cNvPr id="9" name="実例ラベル"/>
          <p:cNvSpPr txBox="1"/>
          <p:nvPr/>
        </p:nvSpPr>
        <p:spPr>
          <a:xfrm>
            <a:off x="4724400" y="1422400"/>
            <a:ext cx="3870960" cy="2164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10" name="実例本文0"/>
          <p:cNvSpPr txBox="1"/>
          <p:nvPr/>
        </p:nvSpPr>
        <p:spPr>
          <a:xfrm>
            <a:off x="4724400" y="1727708"/>
            <a:ext cx="3870960" cy="6027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快板を演じるとき、両手はふつうどこに置くか。</a:t>
            </a:r>
          </a:p>
        </p:txBody>
      </p:sp>
      <p:sp>
        <p:nvSpPr>
          <p:cNvPr id="11" name="実例本文1"/>
          <p:cNvSpPr txBox="1"/>
          <p:nvPr/>
        </p:nvSpPr>
        <p:spPr>
          <a:xfrm>
            <a:off x="4724400" y="2393950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体の後ろ。</a:t>
            </a:r>
          </a:p>
        </p:txBody>
      </p:sp>
      <p:sp>
        <p:nvSpPr>
          <p:cNvPr id="12" name="実例本文2"/>
          <p:cNvSpPr txBox="1"/>
          <p:nvPr/>
        </p:nvSpPr>
        <p:spPr>
          <a:xfrm>
            <a:off x="4724400" y="2777871"/>
            <a:ext cx="387096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体の前。</a:t>
            </a:r>
          </a:p>
        </p:txBody>
      </p:sp>
      <p:sp>
        <p:nvSpPr>
          <p:cNvPr id="13" name="実例本文3"/>
          <p:cNvSpPr txBox="1"/>
          <p:nvPr/>
        </p:nvSpPr>
        <p:spPr>
          <a:xfrm>
            <a:off x="548640" y="323799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14" name="実例本文4"/>
          <p:cNvSpPr txBox="1"/>
          <p:nvPr/>
        </p:nvSpPr>
        <p:spPr>
          <a:xfrm>
            <a:off x="548640" y="3621911"/>
            <a:ext cx="8046720" cy="3204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快板は竹の板で拍子を取る語り芸。道具を扱う手の位置を問う。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データと評価の詳細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言語コードは、言語・文字・地域を組み合わせる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jpn_jpan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日本語・日本文字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eng_latn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英語・ラテン文字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por_latn_braz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ポルトガル語・ラテン文字・ブラジル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spa_latn_peru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スペイン語・ラテン文字・ペルー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non-parallelの主要な列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457200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設問、または文の書き出し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solution0 / solution1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正解候補の番号：0または1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approx_cultural_score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文化的な特徴に関する注釈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llm_used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作成時にLLMの補助を使ったか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example_id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問題を識別するID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作成方法の注釈も、問題ごとに確認できる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llm_usedは、問題の作成時にLLMの補助を使ったかを示す。たとえば本編のトイレ用スリッパの問題は1、英語の調味料の問題は0。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データカードには、LLMの補助を用いた例も含め、すべて少なくとも一人の母語話者が確認したと記載されている。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non-parallelのexample_idには、制作グループ、言語、バージョンなどの情報が含まれる。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ベースモデルは、候補の生成確率で採点できる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指示に合わせた回答生成とは別に、候補ごとの対数確率を計算するcloze形式も用意している。主に事前学習のみのベースモデルに使う。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候補の対数確率を、その候補のUTF-8バイト数で割る。正解候補の値が他の候補より大きければ、その問題を正解とする。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オープンモデルの評価では、モデルの種類に応じて生成形式とcloze形式を使い分けている。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二つの集合と言語ごとの問題数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non-parallel：136種類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parallel：通常の130種類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二つの集合の延べ問題数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27,091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v0.1は2025年10月の初稿で、116種類の言語を対象とした。v1では独自問題を136種類へ増やし、131種類のparallel集合を加えた。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参照したnon-parallelは改訂6777742、parallelは改訂b0b1851。公開ディレクトリには旧バージョンも残されている。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71892"/>
              <a:buFont typeface="Noto Sans CJK JP"/>
              <a:buChar char="●"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データはCC BY-SA 4.0で、掲載例と追加した日本語訳も同ライセンス。提供元は、Global PIQA自体や、それを種に生成した合成データによるAIシステムの学習を認めないと明記している。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CC BY-SA 4.0。AI学習への使用を認めない旨をデータカードに記載。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https://huggingface.co/datasets/mrlbenchmarks/global-piqa-nonparallel#license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多言語研究者の共同制作として公開した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共同第一著者はTyler A. Chang（UC San Diego）とCatherine Arnett（EleutherAI）。MRL Workshopの参加者を中心に、350人以上が制作へ参加した。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各言語の担当者は、母語の話者・研究者として問題を書き、翻訳の確認や文化に関する判断にも関わった。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論文の付録に、全著者と各チームの所属・データ作成方法が掲載されている。公開された全著者リストの最終著者はDavid Ifeoluwa Adelani。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: Evaluating Commonsense Reasoning Across 100+ Languages and Cultur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Evaluating Commonsense Reasoning Across 100+ Languages and Cultures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2026 / arXiv 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v1の独自問題と共通問題、作成・翻訳・確認、モデル評価を説明する。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  <p:sp>
        <p:nvSpPr>
          <p:cNvPr id="5" name="文献 2: Global PIQA Non-Parallel / Parallel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Non-Parallel / Parallel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Hugging Face / v1 / CC BY-SA 4.0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掲載した設問・選択肢・参照正解の取得元。二つの集合を別々に配布する。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1: Evaluation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v1: Evaluation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2026 / 公開CSV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モデル別・言語別の結果を公開。本資料の平均正答率と、言語ごとの幅の出典。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https://github.com/mrlbenchmarks/global-piqa/tree/main/eval_results</a:t>
            </a:r>
          </a:p>
        </p:txBody>
      </p:sp>
      <p:sp>
        <p:nvSpPr>
          <p:cNvPr id="5" name="文献 2: PIQA: Reasoning about Physical Commonsense in Natural Languag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PIQA: Reasoning about Physical Commonsense in Natural Language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Yonatan Bisk et al. / AAAI 2020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物の性質や使い方を問う英語の二択評価。Global PIQAの課題形式の出発点。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https://arxiv.org/abs/1911.11641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0.1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v0.1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2025 / arXiv v1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116種類の言語で始まった初稿。2026年改訂との構成の違いを確認できる。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https://arxiv.org/abs/2510.24081v1</a:t>
            </a:r>
          </a:p>
        </p:txBody>
      </p:sp>
      <p:sp>
        <p:nvSpPr>
          <p:cNvPr id="5" name="文献 2: Global PIQA: Evaluation Harnes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Evaluation Harness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LM Evaluation Harness向け実装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生成形式とcloze形式での入力構成と採点を実装する。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https://github.com/mrlbenchmarks/lm-eval-global-piqa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Global PIQA — datasets in 10 minutes</dc:title>
  <dc:creator>sasakiy84</dc:creator>
  <dc:subject>文化と言語に根ざした常識問題：v1の二択・四択、13実例、作成方法とモデル評価</dc:subject>
</cp:coreProperties>
</file>