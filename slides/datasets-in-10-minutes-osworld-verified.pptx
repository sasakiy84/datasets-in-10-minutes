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2" r:id="rId1"/>
  </p:sldMasterIdLst>
  <p:sldIdLst>
    <p:sldId id="256" r:id="rId6"/>
    <p:sldId id="257" r:id="rId7"/>
    <p:sldId id="258" r:id="rId8"/>
    <p:sldId id="259" r:id="rId9"/>
    <p:sldId id="260" r:id="rId10"/>
    <p:sldId id="261" r:id="rId5"/>
    <p:sldId id="262" r:id="rId4"/>
    <p:sldId id="263" r:id="rId3"/>
    <p:sldId id="264" r:id="rId2"/>
    <p:sldId id="265" r:id="rId15"/>
    <p:sldId id="266" r:id="rId16"/>
    <p:sldId id="267" r:id="rId17"/>
    <p:sldId id="268" r:id="rId18"/>
    <p:sldId id="269" r:id="rId19"/>
    <p:sldId id="320" r:id="rId70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590">
          <p15:clr>
            <a:srgbClr val="747775"/>
          </p15:clr>
        </p15:guide>
        <p15:guide id="2" pos="1271">
          <p15:clr>
            <a:srgbClr val="747775"/>
          </p15:clr>
        </p15:guide>
        <p15:guide id="3" orient="horz" pos="1584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E77B4"/>
    <a:srgbClr val="7A81FF"/>
    <a:srgbClr val="0096FF"/>
    <a:srgbClr val="011893"/>
    <a:srgbClr val="B13731"/>
    <a:srgbClr val="EF8600"/>
    <a:srgbClr val="FFCD8C"/>
    <a:srgbClr val="0036FF"/>
    <a:srgbClr val="00D989"/>
    <a:srgbClr val="01D8A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D8A3C8B-3693-4FF3-BE57-18EF887A9C23}">
  <a:tblStyle styleId="{FD8A3C8B-3693-4FF3-BE57-18EF887A9C23}" styleName="Table_0">
    <a:wholeTbl>
      <a:tcTxStyle>
        <a:font>
          <a:latin typeface="Noto Sans"/>
          <a:ea typeface="Noto Sans CJK JP"/>
          <a:cs typeface="Noto Sans"/>
        </a:font>
        <a:srgbClr val="000000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5240" cap="flat">
              <a:solidFill>
                <a:srgbClr val="626669"/>
              </a:solidFill>
              <a:prstDash val="solid"/>
            </a:ln>
          </a:top>
          <a:bottom>
            <a:ln w="15240" cap="flat">
              <a:solidFill>
                <a:srgbClr val="626669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>
          <a:bottom>
            <a:ln w="15240" cap="flat">
              <a:solidFill>
                <a:srgbClr val="626669"/>
              </a:solidFill>
              <a:prstDash val="solid"/>
            </a:ln>
          </a:bottom>
        </a:tcBdr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>
          <a:top>
            <a:ln w="15240" cap="flat">
              <a:solidFill>
                <a:srgbClr val="626669"/>
              </a:solidFill>
              <a:prstDash val="solid"/>
            </a:ln>
          </a:top>
          <a:bottom>
            <a:ln w="7620" cap="flat">
              <a:solidFill>
                <a:srgbClr val="626669"/>
              </a:solidFill>
              <a:prstDash val="solid"/>
            </a:ln>
          </a:bottom>
        </a:tcBdr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082"/>
    <p:restoredTop sz="87828"/>
  </p:normalViewPr>
  <p:slideViewPr>
    <p:cSldViewPr snapToGrid="0">
      <p:cViewPr varScale="1">
        <p:scale>
          <a:sx n="169" d="100"/>
          <a:sy n="169" d="100"/>
        </p:scale>
        <p:origin x="520" y="192"/>
      </p:cViewPr>
      <p:guideLst>
        <p:guide orient="horz" pos="590"/>
        <p:guide pos="1271"/>
        <p:guide orient="horz" pos="158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9.xml"/><Relationship Id="rId3" Type="http://schemas.openxmlformats.org/officeDocument/2006/relationships/slide" Target="slides/slide8.xml"/><Relationship Id="rId4" Type="http://schemas.openxmlformats.org/officeDocument/2006/relationships/slide" Target="slides/slide7.xml"/><Relationship Id="rId5" Type="http://schemas.openxmlformats.org/officeDocument/2006/relationships/slide" Target="slides/slide6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slide" Target="slides/slide21.xml"/><Relationship Id="rId26" Type="http://schemas.openxmlformats.org/officeDocument/2006/relationships/slide" Target="slides/slide22.xml"/><Relationship Id="rId27" Type="http://schemas.openxmlformats.org/officeDocument/2006/relationships/slide" Target="slides/slide23.xml"/><Relationship Id="rId28" Type="http://schemas.openxmlformats.org/officeDocument/2006/relationships/slide" Target="slides/slide24.xml"/><Relationship Id="rId29" Type="http://schemas.openxmlformats.org/officeDocument/2006/relationships/slide" Target="slides/slide25.xml"/><Relationship Id="rId30" Type="http://schemas.openxmlformats.org/officeDocument/2006/relationships/slide" Target="slides/slide26.xml"/><Relationship Id="rId31" Type="http://schemas.openxmlformats.org/officeDocument/2006/relationships/slide" Target="slides/slide27.xml"/><Relationship Id="rId32" Type="http://schemas.openxmlformats.org/officeDocument/2006/relationships/slide" Target="slides/slide28.xml"/><Relationship Id="rId33" Type="http://schemas.openxmlformats.org/officeDocument/2006/relationships/slide" Target="slides/slide29.xml"/><Relationship Id="rId34" Type="http://schemas.openxmlformats.org/officeDocument/2006/relationships/slide" Target="slides/slide30.xml"/><Relationship Id="rId35" Type="http://schemas.openxmlformats.org/officeDocument/2006/relationships/slide" Target="slides/slide31.xml"/><Relationship Id="rId36" Type="http://schemas.openxmlformats.org/officeDocument/2006/relationships/slide" Target="slides/slide32.xml"/><Relationship Id="rId37" Type="http://schemas.openxmlformats.org/officeDocument/2006/relationships/slide" Target="slides/slide33.xml"/><Relationship Id="rId38" Type="http://schemas.openxmlformats.org/officeDocument/2006/relationships/slide" Target="slides/slide34.xml"/><Relationship Id="rId39" Type="http://schemas.openxmlformats.org/officeDocument/2006/relationships/slide" Target="slides/slide35.xml"/><Relationship Id="rId40" Type="http://schemas.openxmlformats.org/officeDocument/2006/relationships/slide" Target="slides/slide36.xml"/><Relationship Id="rId41" Type="http://schemas.openxmlformats.org/officeDocument/2006/relationships/slide" Target="slides/slide37.xml"/><Relationship Id="rId42" Type="http://schemas.openxmlformats.org/officeDocument/2006/relationships/slide" Target="slides/slide38.xml"/><Relationship Id="rId43" Type="http://schemas.openxmlformats.org/officeDocument/2006/relationships/slide" Target="slides/slide39.xml"/><Relationship Id="rId44" Type="http://schemas.openxmlformats.org/officeDocument/2006/relationships/slide" Target="slides/slide40.xml"/><Relationship Id="rId45" Type="http://schemas.openxmlformats.org/officeDocument/2006/relationships/slide" Target="slides/slide41.xml"/><Relationship Id="rId46" Type="http://schemas.openxmlformats.org/officeDocument/2006/relationships/slide" Target="slides/slide42.xml"/><Relationship Id="rId47" Type="http://schemas.openxmlformats.org/officeDocument/2006/relationships/slide" Target="slides/slide43.xml"/><Relationship Id="rId48" Type="http://schemas.openxmlformats.org/officeDocument/2006/relationships/slide" Target="slides/slide44.xml"/><Relationship Id="rId49" Type="http://schemas.openxmlformats.org/officeDocument/2006/relationships/slide" Target="slides/slide45.xml"/><Relationship Id="rId50" Type="http://schemas.openxmlformats.org/officeDocument/2006/relationships/slide" Target="slides/slide46.xml"/><Relationship Id="rId51" Type="http://schemas.openxmlformats.org/officeDocument/2006/relationships/slide" Target="slides/slide47.xml"/><Relationship Id="rId52" Type="http://schemas.openxmlformats.org/officeDocument/2006/relationships/slide" Target="slides/slide48.xml"/><Relationship Id="rId53" Type="http://schemas.openxmlformats.org/officeDocument/2006/relationships/slide" Target="slides/slide49.xml"/><Relationship Id="rId54" Type="http://schemas.openxmlformats.org/officeDocument/2006/relationships/slide" Target="slides/slide50.xml"/><Relationship Id="rId55" Type="http://schemas.openxmlformats.org/officeDocument/2006/relationships/slide" Target="slides/slide51.xml"/><Relationship Id="rId56" Type="http://schemas.openxmlformats.org/officeDocument/2006/relationships/slide" Target="slides/slide52.xml"/><Relationship Id="rId57" Type="http://schemas.openxmlformats.org/officeDocument/2006/relationships/slide" Target="slides/slide53.xml"/><Relationship Id="rId58" Type="http://schemas.openxmlformats.org/officeDocument/2006/relationships/slide" Target="slides/slide54.xml"/><Relationship Id="rId59" Type="http://schemas.openxmlformats.org/officeDocument/2006/relationships/slide" Target="slides/slide55.xml"/><Relationship Id="rId60" Type="http://schemas.openxmlformats.org/officeDocument/2006/relationships/slide" Target="slides/slide56.xml"/><Relationship Id="rId61" Type="http://schemas.openxmlformats.org/officeDocument/2006/relationships/slide" Target="slides/slide57.xml"/><Relationship Id="rId62" Type="http://schemas.openxmlformats.org/officeDocument/2006/relationships/slide" Target="slides/slide58.xml"/><Relationship Id="rId63" Type="http://schemas.openxmlformats.org/officeDocument/2006/relationships/slide" Target="slides/slide59.xml"/><Relationship Id="rId64" Type="http://schemas.openxmlformats.org/officeDocument/2006/relationships/slide" Target="slides/slide60.xml"/><Relationship Id="rId65" Type="http://schemas.openxmlformats.org/officeDocument/2006/relationships/slide" Target="slides/slide61.xml"/><Relationship Id="rId66" Type="http://schemas.openxmlformats.org/officeDocument/2006/relationships/slide" Target="slides/slide62.xml"/><Relationship Id="rId67" Type="http://schemas.openxmlformats.org/officeDocument/2006/relationships/slide" Target="slides/slide63.xml"/><Relationship Id="rId68" Type="http://schemas.openxmlformats.org/officeDocument/2006/relationships/slide" Target="slides/slide64.xml"/><Relationship Id="rId69" Type="http://schemas.openxmlformats.org/officeDocument/2006/relationships/slide" Target="slides/slide65.xml"/><Relationship Id="rId70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12471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5200" b="1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3657600"/>
            <a:ext cx="8520600" cy="36576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9pPr>
          </a:lstStyle>
          <a:p>
            <a:pPr>
              <a:defRPr sz="2200" lang="ja-JP">
                <a:latin typeface="Noto Sans"/>
                <a:ea typeface="Noto Sans CJK JP"/>
                <a:cs typeface="Noto Sans"/>
              </a:defRPr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2" name="Google Shape;22;p5">
            <a:extLst>
              <a:ext uri="{FF2B5EF4-FFF2-40B4-BE49-F238E27FC236}">
                <a16:creationId xmlns:a16="http://schemas.microsoft.com/office/drawing/2014/main" id="{97A17C7E-5073-6B99-C91A-19299DA839DE}"/>
              </a:ext>
            </a:extLst>
          </p:cNvPr>
          <p:cNvSpPr/>
          <p:nvPr userDrawn="1"/>
        </p:nvSpPr>
        <p:spPr>
          <a:xfrm>
            <a:off x="8607898" y="-10450"/>
            <a:ext cx="548701" cy="479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2BE9CD3C-2632-D40F-DBD2-47ACED4F9A3C}"/>
              </a:ext>
            </a:extLst>
          </p:cNvPr>
          <p:cNvSpPr txBox="1"/>
          <p:nvPr userDrawn="1"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pPr algn="ctr"/>
              <a:t>‹#›</a:t>
            </a:fld>
            <a:endParaRPr lang="ja-JP" sz="1800" b="1" dirty="0">
              <a:latin typeface="Noto Sans"/>
              <a:ea typeface="Noto Sans CJK JP"/>
              <a:cs typeface="Noto Sans"/>
            </a:endParaRPr>
          </a:p>
        </p:txBody>
      </p:sp>
      <p:sp>
        <p:nvSpPr>
          <p:cNvPr id="110" name="Author affiliation"/>
          <p:cNvSpPr txBox="1">
            <a:spLocks noGrp="1"/>
          </p:cNvSpPr>
          <p:nvPr>
            <p:ph type="body" idx="10"/>
          </p:nvPr>
        </p:nvSpPr>
        <p:spPr>
          <a:xfrm>
            <a:off x="5486400" y="4224528"/>
            <a:ext cx="3108960" cy="22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defRPr>
            </a:pPr>
            <a:r>
              <a:t>所属　［所属］</a:t>
            </a:r>
          </a:p>
        </p:txBody>
      </p:sp>
      <p:sp>
        <p:nvSpPr>
          <p:cNvPr id="111" name="Author name"/>
          <p:cNvSpPr txBox="1">
            <a:spLocks noGrp="1"/>
          </p:cNvSpPr>
          <p:nvPr>
            <p:ph type="body" idx="11"/>
          </p:nvPr>
        </p:nvSpPr>
        <p:spPr>
          <a:xfrm>
            <a:off x="5486400" y="4416552"/>
            <a:ext cx="3108960" cy="40233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defRPr>
            </a:pPr>
            <a:r>
              <a: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氏名　［氏名］</a:t>
            </a:r>
          </a:p>
        </p:txBody>
      </p:sp>
      <p:sp>
        <p:nvSpPr>
          <p:cNvPr id="112" name="Creation date"/>
          <p:cNvSpPr txBox="1">
            <a:spLocks noGrp="1"/>
          </p:cNvSpPr>
          <p:nvPr>
            <p:ph type="body" idx="12"/>
          </p:nvPr>
        </p:nvSpPr>
        <p:spPr>
          <a:xfrm>
            <a:off x="457200" y="274320"/>
            <a:ext cx="3657600" cy="22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defRPr>
            </a:pPr>
            <a:r>
              <a:t>作成日　YYYY-MM-DD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カスタム レイアウト 1">
  <p:cSld name="CUSTOM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75" name="Google Shape;75;p11"/>
          <p:cNvSpPr txBox="1"/>
          <p:nvPr/>
        </p:nvSpPr>
        <p:spPr>
          <a:xfrm>
            <a:off x="76100" y="0"/>
            <a:ext cx="8059500" cy="480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1" lang="ja-JP" altLang="en-US">
                <a:latin typeface="Noto Sans"/>
                <a:ea typeface="Noto Sans CJK JP"/>
                <a:cs typeface="Noto Sans"/>
              </a:defRPr>
            </a:pPr>
            <a:r>
              <a:rPr lang="ja-JP" altLang="en-US" b="1" dirty="0" sz="1400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T</a:t>
            </a:r>
            <a:r>
              <a:rPr lang="ja-JP" b="1" dirty="0" sz="1400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able of </a:t>
            </a:r>
            <a:r>
              <a:rPr lang="ja-JP" altLang="en-US" b="1" dirty="0" sz="1400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C</a:t>
            </a:r>
            <a:r>
              <a:rPr lang="ja-JP" b="1" dirty="0" sz="1400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ontents</a:t>
            </a:r>
            <a:endParaRPr b="1" dirty="0" lang="ja-JP" sz="1400" altLang="en-US">
              <a:solidFill>
                <a:schemeClr val="lt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76" name="Google Shape;76;p11"/>
          <p:cNvSpPr txBox="1"/>
          <p:nvPr/>
        </p:nvSpPr>
        <p:spPr>
          <a:xfrm>
            <a:off x="1236712" y="842226"/>
            <a:ext cx="5764979" cy="593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Noto Sans CJK JP"/>
              <a:buNone/>
              <a:tabLst/>
              <a:defRPr lang="ja-JP">
                <a:latin typeface="Noto Sans"/>
                <a:ea typeface="Noto Sans CJK JP"/>
                <a:cs typeface="Noto Sans"/>
              </a:defRPr>
            </a:pPr>
            <a:r>
              <a:rPr lang="ja-JP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1.</a:t>
            </a:r>
            <a:r>
              <a:rPr lang="ja-JP" altLang="ja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 </a:t>
            </a:r>
            <a:r>
              <a:rPr lang="ja-JP" altLang="ja" sz="2800" b="1" dirty="0">
                <a:solidFill>
                  <a:schemeClr val="dk1"/>
                </a:solidFill>
                <a:latin typeface="Noto Sans"/>
                <a:ea typeface="Noto Sans CJK JP"/>
                <a:cs typeface="Noto Sans"/>
              </a:rPr>
              <a:t>Background &amp; Purpose</a:t>
            </a:r>
            <a:endParaRPr lang="ja-JP" altLang="ja-JP" sz="2800" b="1" dirty="0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79" name="Google Shape;79;p11"/>
          <p:cNvSpPr txBox="1"/>
          <p:nvPr/>
        </p:nvSpPr>
        <p:spPr>
          <a:xfrm>
            <a:off x="1236712" y="1664913"/>
            <a:ext cx="5412281" cy="593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Noto Sans CJK JP"/>
              <a:buNone/>
              <a:tabLst/>
              <a:defRPr lang="ja-JP">
                <a:latin typeface="Noto Sans"/>
                <a:ea typeface="Noto Sans CJK JP"/>
                <a:cs typeface="Noto Sans"/>
              </a:defRPr>
            </a:pPr>
            <a:r>
              <a:rPr lang="ja-JP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2.</a:t>
            </a:r>
            <a:r>
              <a:rPr lang="ja-JP" altLang="ja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 </a:t>
            </a:r>
            <a:r>
              <a:rPr lang="ja-JP" altLang="ja" sz="2800" b="1" dirty="0">
                <a:solidFill>
                  <a:schemeClr val="dk1"/>
                </a:solidFill>
                <a:latin typeface="Noto Sans"/>
                <a:ea typeface="Noto Sans CJK JP"/>
                <a:cs typeface="Noto Sans"/>
              </a:rPr>
              <a:t>Methodology</a:t>
            </a:r>
            <a:endParaRPr lang="ja-JP" altLang="ja-JP" sz="2800" b="1" dirty="0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82" name="Google Shape;82;p11"/>
          <p:cNvSpPr txBox="1"/>
          <p:nvPr/>
        </p:nvSpPr>
        <p:spPr>
          <a:xfrm>
            <a:off x="1236712" y="2487598"/>
            <a:ext cx="6688590" cy="593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Noto Sans CJK JP"/>
              <a:buNone/>
              <a:tabLst/>
              <a:defRPr lang="ja-JP">
                <a:latin typeface="Noto Sans"/>
                <a:ea typeface="Noto Sans CJK JP"/>
                <a:cs typeface="Noto Sans"/>
              </a:defRPr>
            </a:pPr>
            <a:r>
              <a:rPr lang="ja-JP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3.</a:t>
            </a:r>
            <a:r>
              <a:rPr lang="ja-JP" altLang="ja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 </a:t>
            </a:r>
            <a:r>
              <a:rPr lang="ja-JP" altLang="ja" sz="2800" b="1" dirty="0">
                <a:solidFill>
                  <a:schemeClr val="dk1"/>
                </a:solidFill>
                <a:latin typeface="Noto Sans"/>
                <a:ea typeface="Noto Sans CJK JP"/>
                <a:cs typeface="Noto Sans"/>
              </a:rPr>
              <a:t>Classification Framework</a:t>
            </a:r>
            <a:endParaRPr lang="ja-JP" altLang="ja-JP" sz="2800" b="1" dirty="0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85" name="Google Shape;85;p11"/>
          <p:cNvSpPr txBox="1"/>
          <p:nvPr userDrawn="1"/>
        </p:nvSpPr>
        <p:spPr>
          <a:xfrm>
            <a:off x="1236712" y="3310287"/>
            <a:ext cx="5020396" cy="593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Noto Sans CJK JP"/>
              <a:buNone/>
              <a:tabLst/>
              <a:defRPr lang="ja-JP">
                <a:latin typeface="Noto Sans"/>
                <a:ea typeface="Noto Sans CJK JP"/>
                <a:cs typeface="Noto Sans"/>
              </a:defRPr>
            </a:pPr>
            <a:r>
              <a:rPr lang="ja-JP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4.</a:t>
            </a:r>
            <a:r>
              <a:rPr lang="ja-JP" altLang="ja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 </a:t>
            </a:r>
            <a:r>
              <a:rPr lang="ja-JP" altLang="ja" sz="2800" b="1" dirty="0">
                <a:solidFill>
                  <a:schemeClr val="dk1"/>
                </a:solidFill>
                <a:latin typeface="Noto Sans"/>
                <a:ea typeface="Noto Sans CJK JP"/>
                <a:cs typeface="Noto Sans"/>
              </a:rPr>
              <a:t>Results &amp; Analysis</a:t>
            </a:r>
            <a:endParaRPr lang="ja-JP" altLang="ja-JP" sz="2800" b="1" dirty="0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87" name="Google Shape;87;p11"/>
          <p:cNvSpPr txBox="1"/>
          <p:nvPr/>
        </p:nvSpPr>
        <p:spPr>
          <a:xfrm>
            <a:off x="1929203" y="3891800"/>
            <a:ext cx="5996100" cy="43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900" dirty="0" lang="ja-JP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88" name="Google Shape;88;p11"/>
          <p:cNvSpPr txBox="1"/>
          <p:nvPr/>
        </p:nvSpPr>
        <p:spPr>
          <a:xfrm>
            <a:off x="1236712" y="4132975"/>
            <a:ext cx="6196053" cy="593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Noto Sans CJK JP"/>
              <a:buNone/>
              <a:tabLst/>
              <a:defRPr lang="ja-JP">
                <a:latin typeface="Noto Sans"/>
                <a:ea typeface="Noto Sans CJK JP"/>
                <a:cs typeface="Noto Sans"/>
              </a:defRPr>
            </a:pPr>
            <a:r>
              <a:rPr lang="ja-JP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5.</a:t>
            </a:r>
            <a:r>
              <a:rPr lang="ja-JP" altLang="ja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 </a:t>
            </a:r>
            <a:r>
              <a:rPr lang="ja-JP" altLang="ja" sz="2800" b="1" dirty="0">
                <a:solidFill>
                  <a:schemeClr val="dk1"/>
                </a:solidFill>
                <a:latin typeface="Noto Sans"/>
                <a:ea typeface="Noto Sans CJK JP"/>
                <a:cs typeface="Noto Sans"/>
              </a:rPr>
              <a:t>Conclusions and future work</a:t>
            </a:r>
            <a:endParaRPr lang="ja-JP" altLang="ja-JP" sz="2800" b="1" dirty="0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ormal">
  <p:cSld name="ONE_COLUMN_TEXT_1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24" name="Google Shape;24;p5"/>
          <p:cNvSpPr txBox="1">
            <a:spLocks noGrp="1"/>
          </p:cNvSpPr>
          <p:nvPr>
            <p:ph type="title"/>
          </p:nvPr>
        </p:nvSpPr>
        <p:spPr>
          <a:xfrm>
            <a:off x="468600" y="748150"/>
            <a:ext cx="8394600" cy="616200"/>
          </a:xfrm>
          <a:prstGeom prst="rect">
            <a:avLst/>
          </a:prstGeom>
        </p:spPr>
        <p:txBody>
          <a:bodyPr spcFirstLastPara="1" wrap="non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3000" b="1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25" name="Google Shape;25;p5"/>
          <p:cNvSpPr txBox="1">
            <a:spLocks noGrp="1"/>
          </p:cNvSpPr>
          <p:nvPr>
            <p:ph type="body" idx="1"/>
          </p:nvPr>
        </p:nvSpPr>
        <p:spPr>
          <a:xfrm>
            <a:off x="589650" y="1474850"/>
            <a:ext cx="7964700" cy="34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26" name="Google Shape;26;p5"/>
          <p:cNvSpPr txBox="1">
            <a:spLocks noGrp="1"/>
          </p:cNvSpPr>
          <p:nvPr>
            <p:ph type="title" idx="2"/>
          </p:nvPr>
        </p:nvSpPr>
        <p:spPr>
          <a:xfrm>
            <a:off x="76100" y="0"/>
            <a:ext cx="8048100" cy="480059"/>
          </a:xfrm>
          <a:prstGeom prst="rect">
            <a:avLst/>
          </a:prstGeom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1400" b="1" lang="ja-JP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 altLang="en-US">
                <a:latin typeface="Noto Sans"/>
                <a:ea typeface="Noto Sans CJK JP"/>
                <a:cs typeface="Noto Sans"/>
              </a:defRPr>
            </a:pPr>
            <a:endParaRPr lang="ja-JP" sz="1400" b="1" altLang="en-US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 dirty="0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タイトルのみ">
  <p:cSld name="ONE_COLUMN_TEXT_1_4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30" name="Google Shape;30;p6"/>
          <p:cNvSpPr txBox="1">
            <a:spLocks noGrp="1"/>
          </p:cNvSpPr>
          <p:nvPr>
            <p:ph type="title"/>
          </p:nvPr>
        </p:nvSpPr>
        <p:spPr>
          <a:xfrm>
            <a:off x="468600" y="649825"/>
            <a:ext cx="8206800" cy="616200"/>
          </a:xfrm>
          <a:prstGeom prst="rect">
            <a:avLst/>
          </a:prstGeom>
        </p:spPr>
        <p:txBody>
          <a:bodyPr spcFirstLastPara="1" wrap="non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3000" b="1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31" name="Google Shape;31;p6"/>
          <p:cNvSpPr txBox="1">
            <a:spLocks noGrp="1"/>
          </p:cNvSpPr>
          <p:nvPr>
            <p:ph type="title" idx="2"/>
          </p:nvPr>
        </p:nvSpPr>
        <p:spPr>
          <a:xfrm>
            <a:off x="76100" y="0"/>
            <a:ext cx="8115300" cy="480059"/>
          </a:xfrm>
          <a:prstGeom prst="rect">
            <a:avLst/>
          </a:prstGeom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1400" b="1" lang="ja-JP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 altLang="en-US">
                <a:latin typeface="Noto Sans"/>
                <a:ea typeface="Noto Sans CJK JP"/>
                <a:cs typeface="Noto Sans"/>
              </a:defRPr>
            </a:pPr>
            <a:endParaRPr lang="ja-JP" sz="1400" b="1" altLang="en-US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ransition" type="secHead">
  <p:cSld name="ONE_COLUMN_TEXT_1_4_1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35" name="Google Shape;35;p7"/>
          <p:cNvSpPr txBox="1">
            <a:spLocks noGrp="1"/>
          </p:cNvSpPr>
          <p:nvPr>
            <p:ph type="title"/>
          </p:nvPr>
        </p:nvSpPr>
        <p:spPr>
          <a:xfrm>
            <a:off x="548640" y="2414016"/>
            <a:ext cx="8046720" cy="822960"/>
          </a:xfrm>
          <a:prstGeom prst="rect">
            <a:avLst/>
          </a:prstGeom>
        </p:spPr>
        <p:txBody>
          <a:bodyPr spcFirstLastPara="1" wrap="none" lIns="0" tIns="0" rIns="0" bIns="0" anchor="ctr" anchorCtr="0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3600" b="1" lang="ja-JP" altLang="en-US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9pPr>
          </a:lstStyle>
          <a:p>
            <a:pPr algn="ctr">
              <a:lnSpc>
                <a:spcPct val="110000"/>
              </a:lnSpc>
              <a:defRPr sz="3600" b="1" lang="ja-JP" altLang="en-US">
                <a:latin typeface="Noto Sans"/>
                <a:ea typeface="Noto Sans CJK JP"/>
                <a:cs typeface="Noto Sans"/>
              </a:defRPr>
            </a:pPr>
            <a:endParaRPr lang="ja-JP" sz="3600" b="1" altLang="en-US">
              <a:latin typeface="Noto Sans"/>
              <a:ea typeface="Noto Sans CJK JP"/>
              <a:cs typeface="Noto Sans"/>
            </a:endParaRPr>
          </a:p>
        </p:txBody>
      </p:sp>
      <p:sp>
        <p:nvSpPr>
          <p:cNvPr id="36" name="Google Shape;36;p7"/>
          <p:cNvSpPr txBox="1">
            <a:spLocks noGrp="1"/>
          </p:cNvSpPr>
          <p:nvPr>
            <p:ph type="title" idx="2"/>
          </p:nvPr>
        </p:nvSpPr>
        <p:spPr>
          <a:xfrm>
            <a:off x="76100" y="0"/>
            <a:ext cx="8115300" cy="480059"/>
          </a:xfrm>
          <a:prstGeom prst="rect">
            <a:avLst/>
          </a:prstGeom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1400" b="1" lang="ja-JP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 altLang="en-US">
                <a:latin typeface="Noto Sans"/>
                <a:ea typeface="Noto Sans CJK JP"/>
                <a:cs typeface="Noto Sans"/>
              </a:defRPr>
            </a:pPr>
            <a:endParaRPr dirty="0" lang="ja-JP" sz="1400" b="1" altLang="en-US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本文のみ">
  <p:cSld name="ONE_COLUMN_TEXT_1_3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40" name="Google Shape;40;p8"/>
          <p:cNvSpPr txBox="1">
            <a:spLocks noGrp="1"/>
          </p:cNvSpPr>
          <p:nvPr>
            <p:ph type="body" idx="1"/>
          </p:nvPr>
        </p:nvSpPr>
        <p:spPr>
          <a:xfrm>
            <a:off x="589650" y="1185250"/>
            <a:ext cx="7964700" cy="327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41" name="Google Shape;41;p8"/>
          <p:cNvSpPr txBox="1">
            <a:spLocks noGrp="1"/>
          </p:cNvSpPr>
          <p:nvPr>
            <p:ph type="title"/>
          </p:nvPr>
        </p:nvSpPr>
        <p:spPr>
          <a:xfrm>
            <a:off x="76100" y="0"/>
            <a:ext cx="8059500" cy="480059"/>
          </a:xfrm>
          <a:prstGeom prst="rect">
            <a:avLst/>
          </a:prstGeom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1400" b="1" lang="ja-JP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 altLang="en-US">
                <a:latin typeface="Noto Sans"/>
                <a:ea typeface="Noto Sans CJK JP"/>
                <a:cs typeface="Noto Sans"/>
              </a:defRPr>
            </a:pPr>
            <a:endParaRPr dirty="0" lang="ja-JP" sz="1400" b="1" altLang="en-US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ヘッダーのみ">
  <p:cSld name="ONE_COLUMN_TEXT_1_1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45" name="Google Shape;45;p9"/>
          <p:cNvSpPr txBox="1">
            <a:spLocks noGrp="1"/>
          </p:cNvSpPr>
          <p:nvPr>
            <p:ph type="title"/>
          </p:nvPr>
        </p:nvSpPr>
        <p:spPr>
          <a:xfrm>
            <a:off x="76100" y="0"/>
            <a:ext cx="8148900" cy="480059"/>
          </a:xfrm>
          <a:prstGeom prst="rect">
            <a:avLst/>
          </a:prstGeom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1400" b="1" lang="ja-JP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 altLang="en-US">
                <a:latin typeface="Noto Sans"/>
                <a:ea typeface="Noto Sans CJK JP"/>
                <a:cs typeface="Noto Sans"/>
              </a:defRPr>
            </a:pPr>
            <a:endParaRPr dirty="0" lang="ja-JP" sz="1400" b="1" altLang="en-US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_AND_EXPLAN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band"/>
          <p:cNvSpPr txBox="1"/>
          <p:nvPr userDrawn="1"/>
        </p:nvSpPr>
        <p:spPr>
          <a:xfrm>
            <a:off x="0" y="0"/>
            <a:ext cx="91440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wrap="square" anchor="ctr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ja-JP" dirty="0">
              <a:latin typeface="Noto Sans"/>
              <a:ea typeface="Noto Sans CJK JP"/>
              <a:cs typeface="Noto Sans"/>
            </a:endParaRPr>
          </a:p>
        </p:txBody>
      </p:sp>
      <p:sp>
        <p:nvSpPr>
          <p:cNvPr id="4" name="Chart Placeholder"/>
          <p:cNvSpPr txBox="1">
            <a:spLocks noGrp="1"/>
          </p:cNvSpPr>
          <p:nvPr>
            <p:ph idx="1"/>
          </p:nvPr>
        </p:nvSpPr>
        <p:spPr>
          <a:xfrm>
            <a:off x="456520" y="1250000"/>
            <a:ext cx="5715000" cy="300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wrap="square"/>
          <a:lstStyle/>
          <a:p>
            <a:r>
              <a:rPr lang="ja-JP" sz="1800" b="0">
                <a:solidFill>
                  <a:schemeClr val="dk2"/>
                </a:solidFill>
                <a:latin typeface="Noto Sans"/>
                <a:ea typeface="Noto Sans CJK JP"/>
                <a:cs typeface="Noto Sans"/>
              </a:rPr>
              <a:t>Insert chart</a:t>
            </a: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5" name="Explanation Placeholder"/>
          <p:cNvSpPr txBox="1">
            <a:spLocks noGrp="1"/>
          </p:cNvSpPr>
          <p:nvPr>
            <p:ph type="body" idx="2"/>
          </p:nvPr>
        </p:nvSpPr>
        <p:spPr>
          <a:xfrm>
            <a:off x="6295292" y="1550000"/>
            <a:ext cx="2500000" cy="2400000"/>
          </a:xfrm>
          <a:prstGeom prst="rect">
            <a:avLst/>
          </a:prstGeom>
          <a:noFill/>
          <a:ln>
            <a:noFill/>
          </a:ln>
        </p:spPr>
        <p:txBody>
          <a:bodyPr wrap="square" lIns="91425" rIns="91425" tIns="91425" bIns="91425"/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 dirty="0">
              <a:latin typeface="Noto Sans"/>
              <a:ea typeface="Noto Sans CJK JP"/>
              <a:cs typeface="Noto Sans"/>
            </a:endParaRPr>
          </a:p>
        </p:txBody>
      </p:sp>
      <p:sp>
        <p:nvSpPr>
          <p:cNvPr id="6" name="Supporting Text Placeholder"/>
          <p:cNvSpPr txBox="1">
            <a:spLocks noGrp="1"/>
          </p:cNvSpPr>
          <p:nvPr>
            <p:ph type="body" idx="3"/>
          </p:nvPr>
        </p:nvSpPr>
        <p:spPr>
          <a:xfrm>
            <a:off x="500000" y="4650000"/>
            <a:ext cx="8144000" cy="260000"/>
          </a:xfrm>
          <a:prstGeom prst="rect">
            <a:avLst/>
          </a:prstGeom>
          <a:noFill/>
          <a:ln>
            <a:noFill/>
          </a:ln>
        </p:spPr>
        <p:txBody>
          <a:bodyPr wrap="square" lIns="91425" rIns="91425" tIns="91425" bIns="91425"/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 dirty="0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  <p:sp>
        <p:nvSpPr>
          <p:cNvPr id="9" name="タイトル 8">
            <a:extLst>
              <a:ext uri="{FF2B5EF4-FFF2-40B4-BE49-F238E27FC236}">
                <a16:creationId xmlns:a16="http://schemas.microsoft.com/office/drawing/2014/main" id="{25C0E310-B322-8587-531C-0E2F5BB13C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ページ番号のみ 1">
  <p:cSld name="ONE_COLUMN_TEXT_1_2_1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3"/>
          <p:cNvSpPr txBox="1">
            <a:spLocks noGrp="1"/>
          </p:cNvSpPr>
          <p:nvPr>
            <p:ph type="title"/>
          </p:nvPr>
        </p:nvSpPr>
        <p:spPr>
          <a:xfrm>
            <a:off x="5796650" y="4091225"/>
            <a:ext cx="3347400" cy="1052400"/>
          </a:xfrm>
          <a:prstGeom prst="rect">
            <a:avLst/>
          </a:prstGeom>
          <a:solidFill>
            <a:schemeClr val="accent2"/>
          </a:solidFill>
        </p:spPr>
        <p:txBody>
          <a:bodyPr spcFirstLastPara="1" wrap="square" lIns="126000" tIns="126000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dirty="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dk2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203200" lvl="0" indent="-152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73889"/>
              <a:buFont typeface="Noto Sans CJK JP"/>
              <a:buChar char="●"/>
              <a:defRPr sz="18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1pPr>
            <a:lvl2pPr marL="482600" lvl="1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2pPr>
            <a:lvl3pPr marL="762000" lvl="2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3pPr>
            <a:lvl4pPr marL="1041400" lvl="3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4pPr>
            <a:lvl5pPr marL="1320800" lvl="4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5pPr>
            <a:lvl6pPr marL="1600200" lvl="5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6pPr>
            <a:lvl7pPr marL="1879600" lvl="6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7pPr>
            <a:lvl8pPr marL="2159000" lvl="7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8pPr>
            <a:lvl9pPr marL="2438400" lvl="8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bIns="0" anchor="ctr" anchorCtr="0">
            <a:normAutofit/>
          </a:bodyPr>
          <a:lstStyle>
            <a:lvl1pPr lvl="0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1pPr>
            <a:lvl2pPr lvl="1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2pPr>
            <a:lvl3pPr lvl="2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3pPr>
            <a:lvl4pPr lvl="3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4pPr>
            <a:lvl5pPr lvl="4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5pPr>
            <a:lvl6pPr lvl="5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6pPr>
            <a:lvl7pPr lvl="6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7pPr>
            <a:lvl8pPr lvl="7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8pPr>
            <a:lvl9pPr lvl="8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>
                <a:latin typeface="Noto Sans"/>
                <a:ea typeface="Noto Sans CJK JP"/>
                <a:cs typeface="Noto Sans"/>
              </a:rPr>
              <a:t>‹#›</a:t>
            </a:fld>
            <a:endParaRPr lang="ja-JP">
              <a:latin typeface="Noto Sans"/>
              <a:ea typeface="Noto Sans CJK JP"/>
              <a:cs typeface="Noto Sans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7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8" r:id="rId8"/>
    <p:sldLayoutId id="2147483659" r:id="rId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9pPr>
    </p:titleStyle>
    <p:bodyStyle>
      <a:lvl1pPr marL="457200" lvl="0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●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1pPr>
      <a:lvl2pPr marL="914400" lvl="1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2pPr>
      <a:lvl3pPr marL="1371600" lvl="2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3pPr>
      <a:lvl4pPr marL="1828800" lvl="3" indent="-368300">
        <a:spcBef>
          <a:spcPts val="0"/>
        </a:spcBef>
        <a:spcAft>
          <a:spcPts val="0"/>
        </a:spcAft>
        <a:buClr>
          <a:srgbClr val="303437"/>
        </a:buClr>
        <a:buSzPct val="60455"/>
        <a:buFont typeface="Noto Sans CJK JP"/>
        <a:buChar char="●"/>
        <a:defRPr sz="2200" lang="ja-JP">
          <a:solidFill>
            <a:srgbClr val="303437"/>
          </a:solidFill>
          <a:latin typeface="Noto Sans"/>
          <a:ea typeface="Noto Sans CJK JP"/>
          <a:cs typeface="Noto Sans"/>
        </a:defRPr>
      </a:lvl4pPr>
      <a:lvl5pPr marL="2286000" lvl="4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5pPr>
      <a:lvl6pPr marL="2743200" lvl="5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6pPr>
      <a:lvl7pPr marL="3200400" lvl="6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●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7pPr>
      <a:lvl8pPr marL="3657600" lvl="7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8pPr>
      <a:lvl9pPr marL="4114800" lvl="8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hyperlink" Target="https://huggingface.co/datasets/xlangai/ubuntu_osworld_verified_trajs/tree/main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ithub.com/xlang-ai/OSWorld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arxiv.org/abs/2404.07972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huggingface.co/datasets/xlangai/ubuntu_osworld_verified_trajs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png"/><Relationship Id="rId3" Type="http://schemas.openxmlformats.org/officeDocument/2006/relationships/hyperlink" Target="https://huggingface.co/datasets/xlangai/ubuntu_osworld_verified_trajs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xlang-ai/OSWorld/blob/main/evaluation_examples/examples/libreoffice_writer/0b17a146-2934-46c7-8727-73ff6b6483e8.json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png"/><Relationship Id="rId3" Type="http://schemas.openxmlformats.org/officeDocument/2006/relationships/hyperlink" Target="https://huggingface.co/datasets/xlangai/ubuntu_osworld_verified_trajs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xlang-ai/OSWorld/blob/main/evaluation_examples/examples/libreoffice_calc/1954cced-e748-45c4-9c26-9855b97fbc5e.json" TargetMode="Externa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xlangai/ubuntu_osworld_file_cache" TargetMode="Externa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.png"/><Relationship Id="rId3" Type="http://schemas.openxmlformats.org/officeDocument/2006/relationships/hyperlink" Target="https://huggingface.co/datasets/xlangai/ubuntu_osworld_verified_trajs" TargetMode="Externa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xlang-ai/OSWorld/blob/main/evaluation_examples/examples/multi_apps/3680a5ee-6870-426a-a997-eba929a0d25c.json" TargetMode="Externa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ithub.com/xlang-ai/OSWorld/blob/main/evaluation_examples/examples/multi_apps/3680a5ee-6870-426a-a997-eba929a0d25c.json" TargetMode="Externa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xlangai/ubuntu_osworld_file_cache" TargetMode="Externa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ithub.com/xlang-ai/OSWorld/blob/main/desktop_env/desktop_env.py" TargetMode="Externa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ithub.com/os-world/os-world.github.io/blob/main/static/data/osworld_verified_results.xlsx" TargetMode="Externa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os-world/os-world.github.io/blob/main/static/data/osworld_verified_results.xlsx" TargetMode="Externa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os-world/os-world.github.io/blob/main/static/data/osworld_verified_results.xlsx" TargetMode="Externa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arxiv.org/abs/2404.07972" TargetMode="Externa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xlang.ai/blog/osworld-verified" TargetMode="Externa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xlang.ai/blog/osworld-verified" TargetMode="Externa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xlang-ai/OSWorld/tree/main/evaluation_examples" TargetMode="Externa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ithub.com/os-world/os-world.github.io/blob/main/static/data/osworld_verified_results.xlsx" TargetMode="Externa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xlang-ai/OSWorld" TargetMode="Externa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ithub.com/xlang-ai/OSWorld" TargetMode="Externa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5.png"/><Relationship Id="rId3" Type="http://schemas.openxmlformats.org/officeDocument/2006/relationships/hyperlink" Target="https://huggingface.co/datasets/xlangai/ubuntu_osworld_verified_trajs" TargetMode="Externa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xlang-ai/OSWorld/blob/main/evaluation_examples/examples/chrome/bb5e4c0d-f964-439c-97b6-bdb9747de3f4.json" TargetMode="Externa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6.png"/><Relationship Id="rId3" Type="http://schemas.openxmlformats.org/officeDocument/2006/relationships/hyperlink" Target="https://huggingface.co/datasets/xlangai/ubuntu_osworld_verified_trajs" TargetMode="Externa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xlang-ai/OSWorld/blob/main/evaluation_examples/examples/chrome/7b6c7e24-c58a-49fc-a5bb-d57b80e5b4c3.json" TargetMode="Externa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7.png"/><Relationship Id="rId3" Type="http://schemas.openxmlformats.org/officeDocument/2006/relationships/hyperlink" Target="https://huggingface.co/datasets/xlangai/ubuntu_osworld_verified_trajs" TargetMode="Externa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xlang-ai/OSWorld/blob/main/evaluation_examples/examples/vlc/8ba5ae7a-5ae5-4eab-9fcc-5dd4fe3abf89.json" TargetMode="Externa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8.png"/><Relationship Id="rId3" Type="http://schemas.openxmlformats.org/officeDocument/2006/relationships/hyperlink" Target="https://huggingface.co/datasets/xlangai/ubuntu_osworld_verified_trajs" TargetMode="Externa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xlang-ai/OSWorld/blob/main/evaluation_examples/examples/gimp/7a4deb26-d57d-4ea9-9a73-630f66a7b568.json" TargetMode="Externa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9.png"/><Relationship Id="rId3" Type="http://schemas.openxmlformats.org/officeDocument/2006/relationships/hyperlink" Target="https://huggingface.co/datasets/xlangai/ubuntu_osworld_verified_trajs" TargetMode="Externa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xlang-ai/OSWorld/blob/main/evaluation_examples/examples/gimp/f4aec372-4fb0-4df5-a52b-79e0e2a5d6ce.json" TargetMode="Externa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0.png"/><Relationship Id="rId3" Type="http://schemas.openxmlformats.org/officeDocument/2006/relationships/hyperlink" Target="https://huggingface.co/datasets/xlangai/ubuntu_osworld_verified_trajs" TargetMode="Externa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xlang-ai/OSWorld/blob/main/evaluation_examples/examples/libreoffice_impress/5d901039-a89c-4bfb-967b-bf66f4df075e.json" TargetMode="Externa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1.png"/><Relationship Id="rId3" Type="http://schemas.openxmlformats.org/officeDocument/2006/relationships/hyperlink" Target="https://huggingface.co/datasets/xlangai/ubuntu_osworld_verified_trajs" TargetMode="Externa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xlang-ai/OSWorld/blob/main/evaluation_examples/examples/libreoffice_impress/550ce7e7-747b-495f-b122-acdc4d0b8e54.json" TargetMode="Externa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2.png"/><Relationship Id="rId3" Type="http://schemas.openxmlformats.org/officeDocument/2006/relationships/hyperlink" Target="https://huggingface.co/datasets/xlangai/ubuntu_osworld_verified_trajs" TargetMode="Externa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xlang-ai/OSWorld/blob/main/evaluation_examples/examples/libreoffice_writer/0810415c-bde4-4443-9047-d5f70165a697.json" TargetMode="Externa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3.png"/><Relationship Id="rId3" Type="http://schemas.openxmlformats.org/officeDocument/2006/relationships/hyperlink" Target="https://huggingface.co/datasets/xlangai/ubuntu_osworld_verified_trajs" TargetMode="Externa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xlang-ai/OSWorld/blob/main/evaluation_examples/examples/vs_code/982d12a5-beab-424f-8d38-d2a48429e511.json" TargetMode="Externa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4.png"/><Relationship Id="rId3" Type="http://schemas.openxmlformats.org/officeDocument/2006/relationships/hyperlink" Target="https://huggingface.co/datasets/xlangai/ubuntu_osworld_verified_trajs" TargetMode="Externa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xlang-ai/OSWorld/blob/main/evaluation_examples/examples/os/c288e301-e626-4b98-a1ab-159dcb162af5.json" TargetMode="Externa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xlang-ai/OSWorld" TargetMode="Externa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xlang-ai/OSWorld/tree/main/evaluation_examples" TargetMode="Externa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xlang-ai/OSWorld/tree/main/evaluation_examples" TargetMode="Externa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ithub.com/xlang-ai/OSWorld/blob/main/desktop_env/desktop_env.py" TargetMode="Externa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ithub.com/xlang-ai/OSWorld" TargetMode="Externa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huggingface.co/datasets/xlangai/ubuntu_osworld_verified_trajs" TargetMode="Externa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arxiv.org/abs/2404.07972" TargetMode="Externa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arxiv.org/abs/2404.07972" TargetMode="External"/><Relationship Id="rId3" Type="http://schemas.openxmlformats.org/officeDocument/2006/relationships/hyperlink" Target="https://xlang.ai/blog/osworld-verified" TargetMode="Externa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xlang-ai/OSWorld" TargetMode="External"/><Relationship Id="rId3" Type="http://schemas.openxmlformats.org/officeDocument/2006/relationships/hyperlink" Target="https://huggingface.co/datasets/xlangai/ubuntu_osworld_file_cache" TargetMode="Externa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os-world/os-world.github.io/blob/main/static/data/osworld_verified_results.xlsx" TargetMode="External"/><Relationship Id="rId3" Type="http://schemas.openxmlformats.org/officeDocument/2006/relationships/hyperlink" Target="https://huggingface.co/datasets/xlangai/ubuntu_osworld_verified_trajs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27363" y="1734794"/>
            <a:ext cx="8046720" cy="859536"/>
          </a:xfrm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0000"/>
              </a:lnSpc>
              <a:buNone/>
              <a:defRPr sz="5200" b="0">
                <a:solidFill>
                  <a:srgbClr val="303437"/>
                </a:solidFill>
                <a:latin typeface="Noto Sans"/>
              </a:defRPr>
            </a:pPr>
            <a:r>
              <a:rPr sz="52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OSWorld-Verified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27363" y="3106394"/>
            <a:ext cx="8046720" cy="859536"/>
          </a:xfrm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0000"/>
              </a:lnSpc>
              <a:buNone/>
              <a:defRPr sz="2300" b="0">
                <a:solidFill>
                  <a:srgbClr val="303437"/>
                </a:solidFill>
                <a:latin typeface="Noto Sans"/>
              </a:defRPr>
            </a:pPr>
            <a:r>
              <a:rPr sz="23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実際のPCを操作するエージェントの評価
課題の初期状態と、成果物による採点を読む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/>
          </p:nvPr>
        </p:nvSpPr>
        <p:spPr>
          <a:xfrm>
            <a:off x="6766560" y="4489704"/>
            <a:ext cx="1828800" cy="365760"/>
          </a:xfrm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0000"/>
              </a:lnSpc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sasakiy84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2"/>
          </p:nvPr>
        </p:nvSpPr>
        <p:spPr>
          <a:xfrm>
            <a:off x="658368" y="274320"/>
            <a:ext cx="7772400" cy="36576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datasets in 10 minutes (2026-10-17)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OSWorld-Verifiedの公式軌跡配布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OSWorld-Verified: 公開データ</a:t>
            </a:r>
          </a:p>
        </p:txBody>
      </p:sp>
      <p:pic>
        <p:nvPicPr>
          <p:cNvPr id="4" name="Picture 3" descr="hf-p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4570" y="1481328"/>
            <a:ext cx="4594859" cy="3063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XLANG Lab (2026年10月参照). OSWorld-Verified Model Trajectories. 公開軌跡 / MIT。</a:t>
            </a:r>
          </a:p>
          <a:p>
            <a:pPr>
              <a:lnSpc>
                <a:spcPct val="11200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https://huggingface.co/datasets/xlangai/ubuntu_osworld_verified_trajs/tree/main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/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77240" y="1226434"/>
            <a:ext cx="7772400" cy="2846324"/>
          </a:xfrm>
        </p:spPr>
        <p:txBody>
          <a:bodyPr lIns="0" rIns="0" tIns="0" bIns="0" wrap="square">
            <a:noAutofit/>
          </a:bodyPr>
          <a:lstStyle/>
          <a:p>
            <a:pPr marL="457200" indent="-457200">
              <a:lnSpc>
                <a:spcPct val="128000"/>
              </a:lnSpc>
              <a:spcAft>
                <a:spcPts val="1700"/>
              </a:spcAft>
              <a:buSzPct val="100000"/>
              <a:buFont typeface="Noto Sans CJK JP"/>
              <a:buAutoNum type="arabicPeriod" startAt="1"/>
              <a:defRPr sz="3100" b="1">
                <a:solidFill>
                  <a:srgbClr val="303437"/>
                </a:solidFill>
                <a:latin typeface="Noto Sans"/>
              </a:defRPr>
            </a:pPr>
            <a:r>
              <a:rPr sz="31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PC操作の入力と成果物</a:t>
            </a:r>
          </a:p>
          <a:p>
            <a:pPr marL="457200" indent="-457200">
              <a:lnSpc>
                <a:spcPct val="128000"/>
              </a:lnSpc>
              <a:spcAft>
                <a:spcPts val="1700"/>
              </a:spcAft>
              <a:buSzPct val="100000"/>
              <a:buFont typeface="Noto Sans CJK JP"/>
              <a:buAutoNum type="arabicPeriod" startAt="2"/>
              <a:defRPr sz="3100" b="1">
                <a:solidFill>
                  <a:srgbClr val="303437"/>
                </a:solidFill>
                <a:latin typeface="Noto Sans"/>
              </a:defRPr>
            </a:pPr>
            <a:r>
              <a:rPr sz="31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最終状態の採点とモデル評価</a:t>
            </a:r>
          </a:p>
          <a:p>
            <a:pPr marL="457200" indent="-457200">
              <a:lnSpc>
                <a:spcPct val="128000"/>
              </a:lnSpc>
              <a:spcAft>
                <a:spcPts val="1700"/>
              </a:spcAft>
              <a:buSzPct val="100000"/>
              <a:buFont typeface="Noto Sans CJK JP"/>
              <a:buAutoNum type="arabicPeriod" startAt="3"/>
              <a:defRPr sz="3100" b="1">
                <a:solidFill>
                  <a:srgbClr val="303437"/>
                </a:solidFill>
                <a:latin typeface="Noto Sans"/>
              </a:defRPr>
            </a:pPr>
            <a:r>
              <a:rPr sz="31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課題の作成とVerifiedへの更新</a:t>
            </a:r>
          </a:p>
          <a:p>
            <a:pPr marL="457200" indent="-457200">
              <a:lnSpc>
                <a:spcPct val="128000"/>
              </a:lnSpc>
              <a:spcAft>
                <a:spcPts val="1700"/>
              </a:spcAft>
              <a:buSzPct val="100000"/>
              <a:buFont typeface="Noto Sans CJK JP"/>
              <a:buAutoNum type="arabicPeriod" startAt="4"/>
              <a:defRPr sz="3100" b="1">
                <a:solidFill>
                  <a:srgbClr val="303437"/>
                </a:solidFill>
                <a:latin typeface="Noto Sans"/>
              </a:defRPr>
            </a:pPr>
            <a:r>
              <a:rPr sz="31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評価環境とデータの入手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目次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388106"/>
            <a:ext cx="8046720" cy="822960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400" b="0">
                <a:solidFill>
                  <a:srgbClr val="303437"/>
                </a:solidFill>
                <a:latin typeface="Noto Sans"/>
              </a:defRPr>
            </a:pPr>
            <a:r>
              <a:rPr sz="34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1. PC操作の入力と成果物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1. PC操作の入力と成果物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依頼を読み、アプリを操作して仕事を終える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9067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400"/>
              </a:lnSpc>
              <a:spcAft>
                <a:spcPts val="800"/>
              </a:spcAft>
              <a:buSzPct val="66500"/>
              <a:buFont typeface="Noto Sans CJK JP"/>
              <a:buChar char="●"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OSWorldは、実際のPC環境でエージェントが作業を完了できるかを評価する。表計算、文書編集、画像編集、ブラウザー操作などを扱う。</a:t>
            </a:r>
          </a:p>
          <a:p>
            <a:pPr marL="457200" indent="-355600">
              <a:lnSpc>
                <a:spcPts val="2400"/>
              </a:lnSpc>
              <a:spcAft>
                <a:spcPts val="800"/>
              </a:spcAft>
              <a:buSzPct val="66500"/>
              <a:buFont typeface="Noto Sans CJK JP"/>
              <a:buChar char="●"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入力は操作の依頼と、作業途中のPCの状態。画面を見てマウスやキーボードを操作し、次の画面を見ながら作業を進める。</a:t>
            </a:r>
          </a:p>
          <a:p>
            <a:pPr marL="457200" indent="-355600">
              <a:lnSpc>
                <a:spcPts val="2400"/>
              </a:lnSpc>
              <a:spcAft>
                <a:spcPts val="0"/>
              </a:spcAft>
              <a:buSzPct val="66500"/>
              <a:buFont typeface="Noto Sans CJK JP"/>
              <a:buChar char="●"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OSWorld-Verifiedは、2025年に課題・採点・環境を改修した更新版。ここでは現在の公開定義と、検証済みの評価結果を紹介する。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1. PC操作の入力と成果物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XLANG Lab (2026年10月参照). OSWorld: 公開の課題定義・環境・エージェント実装。</a:t>
            </a:r>
          </a:p>
          <a:p>
            <a:pPr>
              <a:lnSpc>
                <a:spcPct val="11200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https://github.com/xlang-ai/OSWorld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操作手順の予測から、成果物の検査へ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9067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640"/>
              </a:lnSpc>
              <a:spcAft>
                <a:spcPts val="8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一つの正解クリック列を当てる代わりに、実際にアプリを動かし、保存ファイルや設定などの最終状態を検査する。</a:t>
            </a:r>
          </a:p>
          <a:p>
            <a:pPr marL="457200" indent="-355600">
              <a:lnSpc>
                <a:spcPts val="2640"/>
              </a:lnSpc>
              <a:spcAft>
                <a:spcPts val="8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同じ目標でも操作経路は複数ある。課題ごとの採点関数が、求めた内容・形式・設定に到達したかを調べる。</a:t>
            </a:r>
          </a:p>
          <a:p>
            <a:pPr marL="457200" indent="-355600">
              <a:lnSpc>
                <a:spcPts val="2640"/>
              </a:lnSpc>
              <a:spcAft>
                <a:spcPts val="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基盤は複数のOSを扱えるが、主な369課題はUbuntuの作業。Google Driveを使う8課題を除いた361課題の評価も使われる。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1. PC操作の入力と成果物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Xie et al. (2024). OSWorld: Benchmarking Multimodal Agents for Open-Ended Tasks in Real Computer Environments. NeurIPS.</a:t>
            </a:r>
          </a:p>
          <a:p>
            <a:pPr>
              <a:lnSpc>
                <a:spcPct val="11200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https://arxiv.org/abs/2404.07972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初期画面、依頼、採点条件を一組として読む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9067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640"/>
              </a:lnSpc>
              <a:spcAft>
                <a:spcPts val="8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本編3課題と、追加10課題を示す。初期画面は、公式に公開されたOpenAPAの操作ログから取得した。</a:t>
            </a:r>
          </a:p>
          <a:p>
            <a:pPr marL="457200" indent="-355600">
              <a:lnSpc>
                <a:spcPts val="2640"/>
              </a:lnSpc>
              <a:spcAft>
                <a:spcPts val="8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表示する初期画面に対応する指示が、現在の課題定義と一致することを全例で確認した。指示は原文の全文と日本語訳を載せる。</a:t>
            </a:r>
          </a:p>
          <a:p>
            <a:pPr marL="457200" indent="-355600">
              <a:lnSpc>
                <a:spcPts val="2640"/>
              </a:lnSpc>
              <a:spcAft>
                <a:spcPts val="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本編の文書・表計算・ファイル結合は、配布の入力と参照成果物も読んだ。何が作業の完了に当たるかを、具体的に説明する。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1. PC操作の入力と成果物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XLANG Lab (2026年10月参照). OSWorld-Verified Model Trajectories. 公開軌跡 / MIT。</a:t>
            </a:r>
          </a:p>
          <a:p>
            <a:pPr>
              <a:lnSpc>
                <a:spcPct val="11200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https://huggingface.co/datasets/xlangai/ubuntu_osworld_verified_trajs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実例1：H2Oの2を下付き文字にする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1. PC操作の入力と成果物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362456"/>
            <a:ext cx="7955279" cy="2103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公式公開軌跡の初期画面（step_0）</a:t>
            </a:r>
          </a:p>
        </p:txBody>
      </p:sp>
      <p:pic>
        <p:nvPicPr>
          <p:cNvPr id="5" name="Picture 4" descr="0b17a146-2934-46c7-8727-73ff6b6483e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6064" y="1673352"/>
            <a:ext cx="5071872" cy="285292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XLANG Lab. OSWorld-Verified: OpenAPA公開軌跡 / 初期画面step_0 / 0b17a146-2934-46c7-8727-73ff6b6483e8。</a:t>
            </a:r>
          </a:p>
          <a:p>
            <a:pPr>
              <a:lnSpc>
                <a:spcPct val="11200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https://huggingface.co/datasets/xlangai/ubuntu_osworld_verified_trajs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実例1：操作の依頼と採点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1. PC操作の入力と成果物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380744"/>
            <a:ext cx="7955279" cy="2103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操作指示（配布原文・全文）</a:t>
            </a:r>
          </a:p>
        </p:txBody>
      </p:sp>
      <p:sp>
        <p:nvSpPr>
          <p:cNvPr id="9" name="引用背景"/>
          <p:cNvSpPr/>
          <p:nvPr/>
        </p:nvSpPr>
        <p:spPr>
          <a:xfrm>
            <a:off x="548640" y="1738784"/>
            <a:ext cx="8046720" cy="514553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引用本文"/>
          <p:cNvSpPr txBox="1"/>
          <p:nvPr/>
        </p:nvSpPr>
        <p:spPr>
          <a:xfrm>
            <a:off x="722376" y="1828800"/>
            <a:ext cx="7699248" cy="12070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Help me change the 2 in "H2O" to a subscript.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3337560"/>
            <a:ext cx="7955279" cy="69494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訳：H2Oの「2」を下付き文字に変更する。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4160520"/>
            <a:ext cx="7955279" cy="4389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採点：文書の内容と、下付き文字を検査する。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XLANG Lab. OSWorld-Verified / libreoffice_writer / 0b17a146-2934-46c7-8727-73ff6b6483e8。</a:t>
            </a:r>
          </a:p>
          <a:p>
            <a:pPr>
              <a:lnSpc>
                <a:spcPct val="11200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https://github.com/xlang-ai/OSWorld/blob/main/evaluation_examples/examples/libreoffice_writer/0b17a146-2934-46c7-8727-73ff6b6483e8.json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実例2：請求書番号ごとの件数を集計する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1. PC操作の入力と成果物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362456"/>
            <a:ext cx="7955279" cy="2103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公式公開軌跡の初期画面（step_0）</a:t>
            </a:r>
          </a:p>
        </p:txBody>
      </p:sp>
      <p:pic>
        <p:nvPicPr>
          <p:cNvPr id="5" name="Picture 4" descr="1954cced-e748-45c4-9c26-9855b97fbc5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6064" y="1673352"/>
            <a:ext cx="5071872" cy="285292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XLANG Lab. OSWorld-Verified: OpenAPA公開軌跡 / 初期画面step_0 / 1954cced-e748-45c4-9c26-9855b97fbc5e。</a:t>
            </a:r>
          </a:p>
          <a:p>
            <a:pPr>
              <a:lnSpc>
                <a:spcPct val="11200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https://huggingface.co/datasets/xlangai/ubuntu_osworld_verified_trajs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実例2：操作の依頼と採点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1. PC操作の入力と成果物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380744"/>
            <a:ext cx="7955279" cy="2103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操作指示（配布原文・全文）</a:t>
            </a:r>
          </a:p>
        </p:txBody>
      </p:sp>
      <p:sp>
        <p:nvSpPr>
          <p:cNvPr id="9" name="引用背景"/>
          <p:cNvSpPr/>
          <p:nvPr/>
        </p:nvSpPr>
        <p:spPr>
          <a:xfrm>
            <a:off x="548640" y="1738784"/>
            <a:ext cx="8046720" cy="816241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引用本文"/>
          <p:cNvSpPr txBox="1"/>
          <p:nvPr/>
        </p:nvSpPr>
        <p:spPr>
          <a:xfrm>
            <a:off x="722376" y="1828800"/>
            <a:ext cx="7699248" cy="12070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Create a Pivot Table in a new sheet (Sheet2) to count how many times each "Invoice No." appears.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3337560"/>
            <a:ext cx="7955279" cy="69494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訳：Sheet2にピボットテーブルを作り、Invoice No.ごとの出現回数を数える。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4160520"/>
            <a:ext cx="7955279" cy="4389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採点：Sheet2のピボットテーブルの構造を照合する。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XLANG Lab. OSWorld-Verified / libreoffice_calc / 1954cced-e748-45c4-9c26-9855b97fbc5e。</a:t>
            </a:r>
          </a:p>
          <a:p>
            <a:pPr>
              <a:lnSpc>
                <a:spcPct val="11200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https://github.com/xlang-ai/OSWorld/blob/main/evaluation_examples/examples/libreoffice_calc/1954cced-e748-45c4-9c26-9855b97fbc5e.json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実例2：参照成果物の請求書番号別の件数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1. PC操作の入力と成果物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2980944"/>
        </p:xfrm>
        <a:graphic>
          <a:graphicData uri="http://schemas.openxmlformats.org/drawingml/2006/table">
            <a:tbl>
              <a:tblPr firstRow="0" bandRow="0"/>
              <a:tblGrid>
                <a:gridCol w="5029200"/>
                <a:gridCol w="3017520"/>
              </a:tblGrid>
              <a:tr h="457200"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Invoice No.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件数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420624"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10500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20624"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10501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4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20624"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10502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20624"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10503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4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20624"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10504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20624"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10505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5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XLANG Lab (2026年10月参照). Ubuntu OSWorld File Cache. 入力と参照成果物。</a:t>
            </a:r>
          </a:p>
          <a:p>
            <a:pPr>
              <a:lnSpc>
                <a:spcPct val="11200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https://huggingface.co/datasets/xlangai/ubuntu_osworld_file_cache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実例3：端末で2列を結合してCalcで開く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1. PC操作の入力と成果物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362456"/>
            <a:ext cx="7955279" cy="2103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公式公開軌跡の初期画面（step_0）</a:t>
            </a:r>
          </a:p>
        </p:txBody>
      </p:sp>
      <p:pic>
        <p:nvPicPr>
          <p:cNvPr id="5" name="Picture 4" descr="3680a5ee-6870-426a-a997-eba929a0d25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6064" y="1673352"/>
            <a:ext cx="5071872" cy="285292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XLANG Lab. OSWorld-Verified: OpenAPA公開軌跡 / 初期画面step_0 / 3680a5ee-6870-426a-a997-eba929a0d25c。</a:t>
            </a:r>
          </a:p>
          <a:p>
            <a:pPr>
              <a:lnSpc>
                <a:spcPct val="11200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https://huggingface.co/datasets/xlangai/ubuntu_osworld_verified_trajs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実例3：操作指示の原文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1. PC操作の入力と成果物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380744"/>
            <a:ext cx="7955279" cy="2103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操作指示（配布原文・全文）</a:t>
            </a:r>
          </a:p>
        </p:txBody>
      </p:sp>
      <p:sp>
        <p:nvSpPr>
          <p:cNvPr id="9" name="引用背景"/>
          <p:cNvSpPr/>
          <p:nvPr/>
        </p:nvSpPr>
        <p:spPr>
          <a:xfrm>
            <a:off x="548640" y="1738784"/>
            <a:ext cx="8046720" cy="1721281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引用本文"/>
          <p:cNvSpPr txBox="1"/>
          <p:nvPr/>
        </p:nvSpPr>
        <p:spPr>
          <a:xfrm>
            <a:off x="722376" y="1828800"/>
            <a:ext cx="7699248" cy="12070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I have file1.xlsx and file2.ods on my Desktop, each containing a single column. Using only the command line, help me merge these two columns into a single column by concatenating the strings from both rows, save the result as ~/Desktop/output.csv, and open it in LibreOffice Calc from the terminal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XLANG Lab. OSWorld-Verified / multi_apps / 3680a5ee-6870-426a-a997-eba929a0d25c。</a:t>
            </a:r>
          </a:p>
          <a:p>
            <a:pPr>
              <a:lnSpc>
                <a:spcPct val="11200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https://github.com/xlang-ai/OSWorld/blob/main/evaluation_examples/examples/multi_apps/3680a5ee-6870-426a-a997-eba929a0d25c.json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実例3：操作指示の日本語訳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9067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640"/>
              </a:lnSpc>
              <a:spcAft>
                <a:spcPts val="8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Desktopにあるfile1.xlsxとfile2.odsは、それぞれ1列の表。各ファイルの同じ行にある文字列を連結し、1列へまとめる。</a:t>
            </a:r>
          </a:p>
          <a:p>
            <a:pPr marL="457200" indent="-355600">
              <a:lnSpc>
                <a:spcPts val="2640"/>
              </a:lnSpc>
              <a:spcAft>
                <a:spcPts val="8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処理にはコマンドラインだけを使う。作った列を~/Desktop/output.csvに保存する。</a:t>
            </a:r>
          </a:p>
          <a:p>
            <a:pPr marL="457200" indent="-355600">
              <a:lnSpc>
                <a:spcPts val="2640"/>
              </a:lnSpc>
              <a:spcAft>
                <a:spcPts val="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そのCSVを、端末からLibreOffice Calcで開く。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1. PC操作の入力と成果物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XLANG Lab. OSWorld-Verified / multi_apps / 3680a5ee-6870-426a-a997-eba929a0d25c。</a:t>
            </a:r>
          </a:p>
          <a:p>
            <a:pPr>
              <a:lnSpc>
                <a:spcPct val="11200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https://github.com/xlang-ai/OSWorld/blob/main/evaluation_examples/examples/multi_apps/3680a5ee-6870-426a-a997-eba929a0d25c.json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実例3：2ファイルの各行を一つの文字列にする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1. PC操作の入力と成果物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2194560"/>
        </p:xfrm>
        <a:graphic>
          <a:graphicData uri="http://schemas.openxmlformats.org/drawingml/2006/table">
            <a:tbl>
              <a:tblPr firstRow="0" bandRow="0"/>
              <a:tblGrid>
                <a:gridCol w="2286000"/>
                <a:gridCol w="2286000"/>
                <a:gridCol w="3474720"/>
              </a:tblGrid>
              <a:tr h="54864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file1.xlsx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file2.ods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output_gold2.csv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54864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Dulce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Abril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DulceAbril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54864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Mara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Hashimoto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MaraHashimoto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54864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Philip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Gent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PhilipGent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3895344"/>
            <a:ext cx="7955279" cy="685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採点では端末からの起動とCSV内容を検査。参照CSVの先頭3データ行を示す。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XLANG Lab (2026年10月参照). Ubuntu OSWorld File Cache. 入力と参照成果物。</a:t>
            </a:r>
          </a:p>
          <a:p>
            <a:pPr>
              <a:lnSpc>
                <a:spcPct val="11200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https://huggingface.co/datasets/xlangai/ubuntu_osworld_file_cache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388106"/>
            <a:ext cx="8046720" cy="822960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100" b="0">
                <a:solidFill>
                  <a:srgbClr val="303437"/>
                </a:solidFill>
                <a:latin typeface="Noto Sans"/>
              </a:defRPr>
            </a:pPr>
            <a:r>
              <a:rPr sz="31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2. 最終状態の採点とモデル評価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2. 最終状態の採点とモデル評価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課題ごとの得点を平均し、百分率で示す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9067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640"/>
              </a:lnSpc>
              <a:spcAft>
                <a:spcPts val="800"/>
              </a:spcAft>
              <a:buSzPct val="70000"/>
              <a:buFont typeface="Noto Sans CJK JP"/>
              <a:buChar char="●"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作業後の文書、表、画像、設定などを取り出し、課題ごとの採点関数を実行する。得点は0〜1で、部分的な達成に応じた小数もある。</a:t>
            </a:r>
          </a:p>
          <a:p>
            <a:pPr marL="457200" indent="-355600">
              <a:lnSpc>
                <a:spcPts val="2640"/>
              </a:lnSpc>
              <a:spcAft>
                <a:spcPts val="800"/>
              </a:spcAft>
              <a:buSzPct val="70000"/>
              <a:buFont typeface="Noto Sans CJK JP"/>
              <a:buChar char="●"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公開表の成功率は、課題得点の平均を百分率で示す。例えば、得点の合計256.71を356課題で割ると72.11%になる。</a:t>
            </a:r>
          </a:p>
          <a:p>
            <a:pPr marL="457200" indent="-355600">
              <a:lnSpc>
                <a:spcPts val="2640"/>
              </a:lnSpc>
              <a:spcAft>
                <a:spcPts val="0"/>
              </a:spcAft>
              <a:buSzPct val="70000"/>
              <a:buFont typeface="Noto Sans CJK JP"/>
              <a:buChar char="●"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続く比較表は最大100ステップの提出を扱う。共通ループでは、観測から次の操作列を予測する1回を1ステップとして数える。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2. 最終状態の採点とモデル評価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XLANG Lab. OSWorld: desktop_env.py / evaluate. 最終状態からの採点。</a:t>
            </a:r>
          </a:p>
          <a:p>
            <a:pPr>
              <a:lnSpc>
                <a:spcPct val="11200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https://github.com/xlang-ai/OSWorld/blob/main/desktop_env/desktop_env.py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画面操作と、追加のコード実行を区別する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9067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340"/>
              </a:lnSpc>
              <a:spcAft>
                <a:spcPts val="800"/>
              </a:spcAft>
              <a:buSzPct val="68205"/>
              <a:buFont typeface="Noto Sans CJK JP"/>
              <a:buChar char="●"/>
              <a:defRPr sz="1950" b="0">
                <a:solidFill>
                  <a:srgbClr val="303437"/>
                </a:solidFill>
                <a:latin typeface="Noto Sans"/>
              </a:defRPr>
            </a:pPr>
            <a:r>
              <a:rPr sz="19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Claude系の表は、画面を入力とし、GUI操作を出力する構成。追加のアクセシビリティツリー、画面操作以外のコード実行、複数試行は使わない。</a:t>
            </a:r>
          </a:p>
          <a:p>
            <a:pPr marL="457200" indent="-355600">
              <a:lnSpc>
                <a:spcPts val="2340"/>
              </a:lnSpc>
              <a:spcAft>
                <a:spcPts val="800"/>
              </a:spcAft>
              <a:buSzPct val="68205"/>
              <a:buFont typeface="Noto Sans CJK JP"/>
              <a:buChar char="●"/>
              <a:defRPr sz="1950" b="0">
                <a:solidFill>
                  <a:srgbClr val="303437"/>
                </a:solidFill>
                <a:latin typeface="Noto Sans"/>
              </a:defRPr>
            </a:pPr>
            <a:r>
              <a:rPr sz="19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OpenAPAとPointer Agentの表は、モデルに計画やツール処理を組み合わせた構成。画面操作に加え、ファイル処理などのコード実行を使う。</a:t>
            </a:r>
          </a:p>
          <a:p>
            <a:pPr marL="457200" indent="-355600">
              <a:lnSpc>
                <a:spcPts val="2340"/>
              </a:lnSpc>
              <a:spcAft>
                <a:spcPts val="0"/>
              </a:spcAft>
              <a:buSzPct val="68205"/>
              <a:buFont typeface="Noto Sans CJK JP"/>
              <a:buChar char="●"/>
              <a:defRPr sz="1950" b="0">
                <a:solidFill>
                  <a:srgbClr val="303437"/>
                </a:solidFill>
                <a:latin typeface="Noto Sans"/>
              </a:defRPr>
            </a:pPr>
            <a:r>
              <a:rPr sz="19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両表とも最大100ステップで、追加のアクセシビリティツリーと複数試行は使わない。課題数と公開表の日付を、提出ごとに示す。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2. 最終状態の採点とモデル評価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OSWorld team (2026年10月参照). OSWorld-Verified Results. 公式サイトの公開評価表。</a:t>
            </a:r>
          </a:p>
          <a:p>
            <a:pPr>
              <a:lnSpc>
                <a:spcPct val="11200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https://github.com/os-world/os-world.github.io/blob/main/static/data/osworld_verified_results.xlsx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Claude系の公開評価：最大100ステップ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2. 最終状態の採点とモデル評価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2194560"/>
        </p:xfrm>
        <a:graphic>
          <a:graphicData uri="http://schemas.openxmlformats.org/drawingml/2006/table">
            <a:tbl>
              <a:tblPr firstRow="0" bandRow="0"/>
              <a:tblGrid>
                <a:gridCol w="3200400"/>
                <a:gridCol w="1097280"/>
                <a:gridCol w="1463040"/>
                <a:gridCol w="2286000"/>
              </a:tblGrid>
              <a:tr h="54864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モデル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課題数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得点（%）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日付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54864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Claude Sonnet 4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361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41.40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2025-07-28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54864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Claude Sonnet 4.5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360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62.88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2025-10-31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54864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Claude Sonnet 4.6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356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72.11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2026-03-08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OSWorld team (2026年10月参照). OSWorld-Verified Results. 公式サイトの公開評価表。</a:t>
            </a:r>
          </a:p>
          <a:p>
            <a:pPr>
              <a:lnSpc>
                <a:spcPct val="11200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https://github.com/os-world/os-world.github.io/blob/main/static/data/osworld_verified_results.xlsx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外部の計画・ツール処理を組み合わせた評価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2. 最終状態の採点とモデル評価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1645920"/>
        </p:xfrm>
        <a:graphic>
          <a:graphicData uri="http://schemas.openxmlformats.org/drawingml/2006/table">
            <a:tbl>
              <a:tblPr firstRow="0" bandRow="0"/>
              <a:tblGrid>
                <a:gridCol w="3474720"/>
                <a:gridCol w="1005840"/>
                <a:gridCol w="1371600"/>
                <a:gridCol w="2194560"/>
              </a:tblGrid>
              <a:tr h="54864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構成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課題数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得点（%）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日付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54864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OpenAPA + Gemini 3.1 Pro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361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78.34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2026-04-17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54864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Pointer Agent + Sonnet 4.6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360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81.45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2026-05-21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OSWorld team (2026年10月参照). OSWorld-Verified Results. 公式サイトの公開評価表。</a:t>
            </a:r>
          </a:p>
          <a:p>
            <a:pPr>
              <a:lnSpc>
                <a:spcPct val="11200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https://github.com/os-world/os-world.github.io/blob/main/static/data/osworld_verified_results.xlsx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388106"/>
            <a:ext cx="8046720" cy="822960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000" b="0">
                <a:solidFill>
                  <a:srgbClr val="303437"/>
                </a:solidFill>
                <a:latin typeface="Noto Sans"/>
              </a:defRPr>
            </a:pPr>
            <a:r>
              <a:rPr sz="3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3. 課題の作成とVerifiedへの更新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3. 課題の作成とVerifiedへの更新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実際の使い方から、初期状態と採点器を作る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3. 課題の作成とVerifiedへの更新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2743200"/>
        </p:xfrm>
        <a:graphic>
          <a:graphicData uri="http://schemas.openxmlformats.org/drawingml/2006/table">
            <a:tbl>
              <a:tblPr firstRow="0" bandRow="0"/>
              <a:tblGrid>
                <a:gridCol w="2194560"/>
                <a:gridCol w="5852160"/>
              </a:tblGrid>
              <a:tr h="4572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工程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作業の内容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4572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利用場面を集める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公式教材、Q&amp;A、ブログ、既存課題などを調査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572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依頼を整える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指示文と必要なファイルを用意する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572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初期状態を作る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VM上でファイルを開き、作業途中を再現する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572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採点を実装する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成果物を取得し、内容・設定を検査する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572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別の人が試す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作成者以外の2人が実行し、問題を修正する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Xie et al. (2024). OSWorld: Benchmarking Multimodal Agents for Open-Ended Tasks in Real Computer Environments. NeurIPS.</a:t>
            </a:r>
          </a:p>
          <a:p>
            <a:pPr>
              <a:lnSpc>
                <a:spcPct val="11200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https://arxiv.org/abs/2404.07972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2025年のVerifiedは、300件超の指摘へ対応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9067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340"/>
              </a:lnSpc>
              <a:spcAft>
                <a:spcPts val="800"/>
              </a:spcAft>
              <a:buSzPct val="68205"/>
              <a:buFont typeface="Noto Sans CJK JP"/>
              <a:buChar char="●"/>
              <a:defRPr sz="1950" b="0">
                <a:solidFill>
                  <a:srgbClr val="303437"/>
                </a:solidFill>
                <a:latin typeface="Noto Sans"/>
              </a:defRPr>
            </a:pPr>
            <a:r>
              <a:rPr sz="19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原著の制作は、計算機科学系の学生9人が約3か月、約1,800人時をかけた。設定、採点器、別の作業者による確認までを含む。</a:t>
            </a:r>
          </a:p>
          <a:p>
            <a:pPr marL="457200" indent="-355600">
              <a:lnSpc>
                <a:spcPts val="2340"/>
              </a:lnSpc>
              <a:spcAft>
                <a:spcPts val="800"/>
              </a:spcAft>
              <a:buSzPct val="68205"/>
              <a:buFont typeface="Noto Sans CJK JP"/>
              <a:buChar char="●"/>
              <a:defRPr sz="1950" b="0">
                <a:solidFill>
                  <a:srgbClr val="303437"/>
                </a:solidFill>
                <a:latin typeface="Noto Sans"/>
              </a:defRPr>
            </a:pPr>
            <a:r>
              <a:rPr sz="19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Verified更新では、約10人が約2か月をかけ、300件超のフィードバックを検証・修正した。ウェブの変化、依頼の曖昧さ、採点の頑健性を扱う。</a:t>
            </a:r>
          </a:p>
          <a:p>
            <a:pPr marL="457200" indent="-355600">
              <a:lnSpc>
                <a:spcPts val="2340"/>
              </a:lnSpc>
              <a:spcAft>
                <a:spcPts val="0"/>
              </a:spcAft>
              <a:buSzPct val="68205"/>
              <a:buFont typeface="Noto Sans CJK JP"/>
              <a:buChar char="●"/>
              <a:defRPr sz="1950" b="0">
                <a:solidFill>
                  <a:srgbClr val="303437"/>
                </a:solidFill>
                <a:latin typeface="Noto Sans"/>
              </a:defRPr>
            </a:pPr>
            <a:r>
              <a:rPr sz="19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主に採点器を直し、必要な場合に指示を変更した。AWSでの並列評価を整え、入力ファイルと参照成果物をHugging Faceへ移した。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3. 課題の作成とVerifiedへの更新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Xie et al. (2025). Introducing OSWorld-Verified. XLANG Lab / 2025-07-28。</a:t>
            </a:r>
          </a:p>
          <a:p>
            <a:pPr>
              <a:lnSpc>
                <a:spcPct val="11200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https://xlang.ai/blog/osworld-verified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OSWorldからVerifiedへ、何を変えたか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3. 課題の作成とVerifiedへの更新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2651760"/>
        </p:xfrm>
        <a:graphic>
          <a:graphicData uri="http://schemas.openxmlformats.org/drawingml/2006/table">
            <a:tbl>
              <a:tblPr firstRow="0" bandRow="0"/>
              <a:tblGrid>
                <a:gridCol w="2194560"/>
                <a:gridCol w="5852160"/>
              </a:tblGrid>
              <a:tr h="53035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242"/>
                        </a:lnSpc>
                        <a:buNone/>
                        <a:defRPr sz="19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対象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242"/>
                        </a:lnSpc>
                        <a:buNone/>
                        <a:defRPr sz="19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Verified更新の具体例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53035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242"/>
                        </a:lnSpc>
                        <a:buNone/>
                        <a:defRPr sz="19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依頼の範囲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242"/>
                        </a:lnSpc>
                        <a:buNone/>
                        <a:defRPr sz="19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ファイル形式・保存先・使用機能を明示する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53035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242"/>
                        </a:lnSpc>
                        <a:buNone/>
                        <a:defRPr sz="19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許容する解法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242"/>
                        </a:lnSpc>
                        <a:buNone/>
                        <a:defRPr sz="19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複数の正しい文書・式・行間を受け入れる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53035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242"/>
                        </a:lnSpc>
                        <a:buNone/>
                        <a:defRPr sz="19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採点の頑健性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242"/>
                        </a:lnSpc>
                        <a:buNone/>
                        <a:defRPr sz="19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書式や色の許容幅、文書の類似度を導入する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53035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242"/>
                        </a:lnSpc>
                        <a:buNone/>
                        <a:defRPr sz="19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環境の再現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242"/>
                        </a:lnSpc>
                        <a:buNone/>
                        <a:defRPr sz="19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待機処理、フォント、VM起動を改善する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Xie et al. (2025). Introducing OSWorld-Verified. XLANG Lab / 2025-07-28。</a:t>
            </a:r>
          </a:p>
          <a:p>
            <a:pPr>
              <a:lnSpc>
                <a:spcPct val="11200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https://xlang.ai/blog/osworld-verified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361課題版の内訳：五つの利用領域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3. 課題の作成とVerifiedへの更新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2743200"/>
        </p:xfrm>
        <a:graphic>
          <a:graphicData uri="http://schemas.openxmlformats.org/drawingml/2006/table">
            <a:tbl>
              <a:tblPr firstRow="0" bandRow="0"/>
              <a:tblGrid>
                <a:gridCol w="1920240"/>
                <a:gridCol w="4663440"/>
                <a:gridCol w="1463040"/>
              </a:tblGrid>
              <a:tr h="4572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242"/>
                        </a:lnSpc>
                        <a:buNone/>
                        <a:defRPr sz="19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領域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242"/>
                        </a:lnSpc>
                        <a:buNone/>
                        <a:defRPr sz="19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含まれるアプリなど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242"/>
                        </a:lnSpc>
                        <a:buNone/>
                        <a:defRPr sz="19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課題数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4572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242"/>
                        </a:lnSpc>
                        <a:buNone/>
                        <a:defRPr sz="19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オフィス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242"/>
                        </a:lnSpc>
                        <a:buNone/>
                        <a:defRPr sz="19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Calc・Impress・Writer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242"/>
                        </a:lnSpc>
                        <a:buNone/>
                        <a:defRPr sz="19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117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572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242"/>
                        </a:lnSpc>
                        <a:buNone/>
                        <a:defRPr sz="19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日常操作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242"/>
                        </a:lnSpc>
                        <a:buNone/>
                        <a:defRPr sz="19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Chrome・VLC・Thunderbird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242"/>
                        </a:lnSpc>
                        <a:buNone/>
                        <a:defRPr sz="19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78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572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242"/>
                        </a:lnSpc>
                        <a:buNone/>
                        <a:defRPr sz="19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専門ツール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242"/>
                        </a:lnSpc>
                        <a:buNone/>
                        <a:defRPr sz="19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GIMP・VS Code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242"/>
                        </a:lnSpc>
                        <a:buNone/>
                        <a:defRPr sz="19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49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572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242"/>
                        </a:lnSpc>
                        <a:buNone/>
                        <a:defRPr sz="19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OS操作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242"/>
                        </a:lnSpc>
                        <a:buNone/>
                        <a:defRPr sz="19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設定・ファイル・端末など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242"/>
                        </a:lnSpc>
                        <a:buNone/>
                        <a:defRPr sz="19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24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572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242"/>
                        </a:lnSpc>
                        <a:buNone/>
                        <a:defRPr sz="19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複数アプリ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242"/>
                        </a:lnSpc>
                        <a:buNone/>
                        <a:defRPr sz="19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複数の道具を使う作業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242"/>
                        </a:lnSpc>
                        <a:buNone/>
                        <a:defRPr sz="19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93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XLANG Lab. OSWorld: test_all.json / test_nogdrive.json. 2026-10-17取得改訂。</a:t>
            </a:r>
          </a:p>
          <a:p>
            <a:pPr>
              <a:lnSpc>
                <a:spcPct val="11200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https://github.com/xlang-ai/OSWorld/tree/main/evaluation_examples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388106"/>
            <a:ext cx="8046720" cy="822960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300" b="0">
                <a:solidFill>
                  <a:srgbClr val="303437"/>
                </a:solidFill>
                <a:latin typeface="Noto Sans"/>
              </a:defRPr>
            </a:pPr>
            <a:r>
              <a:rPr sz="33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4. 評価環境とデータの入手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4. 評価環境とデータの入手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モデルの評価から、実装と軌跡の検証へ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9067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400"/>
              </a:lnSpc>
              <a:spcAft>
                <a:spcPts val="800"/>
              </a:spcAft>
              <a:buSzPct val="66500"/>
              <a:buFont typeface="Noto Sans CJK JP"/>
              <a:buChar char="●"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2024年に、実際のPC操作を課題ごとに採点する環境として登場。2025年にはVerified更新と、運営側で結果を確かめる評価枠を設けた。</a:t>
            </a:r>
          </a:p>
          <a:p>
            <a:pPr marL="457200" indent="-355600">
              <a:lnSpc>
                <a:spcPts val="2400"/>
              </a:lnSpc>
              <a:spcAft>
                <a:spcPts val="800"/>
              </a:spcAft>
              <a:buSzPct val="66500"/>
              <a:buFont typeface="Noto Sans CJK JP"/>
              <a:buChar char="●"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2026年の公開表には、Claude Sonnet 4.6やGemini 3.1 Proを組み込むエージェントの評価がある。モデルと制御実装の両方を比較できる。</a:t>
            </a:r>
          </a:p>
          <a:p>
            <a:pPr marL="457200" indent="-355600">
              <a:lnSpc>
                <a:spcPts val="2400"/>
              </a:lnSpc>
              <a:spcAft>
                <a:spcPts val="0"/>
              </a:spcAft>
              <a:buSzPct val="66500"/>
              <a:buFont typeface="Noto Sans CJK JP"/>
              <a:buChar char="●"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操作のスクリーンショット、指示、ログ、採点結果を公開している。課題定義、実装、最終状態を対応させて調べられる。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4. 評価環境とデータの入手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OSWorld team (2026年10月参照). OSWorld-Verified Results. 公式サイトの公開評価表。</a:t>
            </a:r>
          </a:p>
          <a:p>
            <a:pPr>
              <a:lnSpc>
                <a:spcPct val="11200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https://github.com/os-world/os-world.github.io/blob/main/static/data/osworld_verified_results.xlsx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課題JSONの依頼と採点関数を読む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4. 評価環境とデータの入手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08760"/>
            <a:ext cx="8046720" cy="2222500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none" lIns="152400" rIns="152400" tIns="92710" bIns="127000"/>
          <a:lstStyle/>
          <a:p>
            <a:pPr algn="l">
              <a:lnSpc>
                <a:spcPts val="1937"/>
              </a:lnSpc>
              <a:spcBef>
                <a:spcPts val="0"/>
              </a:spcBef>
              <a:spcAft>
                <a:spcPts val="0"/>
              </a:spcAft>
              <a:buNone/>
              <a:defRPr sz="1550" b="0">
                <a:solidFill>
                  <a:srgbClr val="303437"/>
                </a:solidFill>
                <a:latin typeface="Noto Sans"/>
              </a:defRPr>
            </a:pPr>
            <a:r>
              <a:rPr sz="155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import json</a:t>
            </a:r>
          </a:p>
          <a:p>
            <a:pPr algn="l">
              <a:lnSpc>
                <a:spcPts val="1937"/>
              </a:lnSpc>
              <a:spcBef>
                <a:spcPts val="0"/>
              </a:spcBef>
              <a:spcAft>
                <a:spcPts val="0"/>
              </a:spcAft>
              <a:buNone/>
              <a:defRPr sz="1550" b="0">
                <a:solidFill>
                  <a:srgbClr val="303437"/>
                </a:solidFill>
                <a:latin typeface="Noto Sans"/>
              </a:defRPr>
            </a:pPr>
            <a:r>
              <a:rPr sz="155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from pathlib import Path</a:t>
            </a:r>
          </a:p>
          <a:p>
            <a:pPr algn="l">
              <a:lnSpc>
                <a:spcPts val="1937"/>
              </a:lnSpc>
              <a:spcBef>
                <a:spcPts val="0"/>
              </a:spcBef>
              <a:spcAft>
                <a:spcPts val="0"/>
              </a:spcAft>
              <a:buNone/>
              <a:defRPr sz="1550" b="0">
                <a:solidFill>
                  <a:srgbClr val="303437"/>
                </a:solidFill>
                <a:latin typeface="Noto Sans"/>
              </a:defRPr>
            </a:pPr>
            <a:r>
              <a:rPr sz="155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/>
            </a:r>
          </a:p>
          <a:p>
            <a:pPr algn="l">
              <a:lnSpc>
                <a:spcPts val="1937"/>
              </a:lnSpc>
              <a:spcBef>
                <a:spcPts val="0"/>
              </a:spcBef>
              <a:spcAft>
                <a:spcPts val="0"/>
              </a:spcAft>
              <a:buNone/>
              <a:defRPr sz="1550" b="0">
                <a:solidFill>
                  <a:srgbClr val="303437"/>
                </a:solidFill>
                <a:latin typeface="Noto Sans"/>
              </a:defRPr>
            </a:pPr>
            <a:r>
              <a:rPr sz="155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root = Path("evaluation_examples/examples")</a:t>
            </a:r>
          </a:p>
          <a:p>
            <a:pPr algn="l">
              <a:lnSpc>
                <a:spcPts val="1937"/>
              </a:lnSpc>
              <a:spcBef>
                <a:spcPts val="0"/>
              </a:spcBef>
              <a:spcAft>
                <a:spcPts val="0"/>
              </a:spcAft>
              <a:buNone/>
              <a:defRPr sz="1550" b="0">
                <a:solidFill>
                  <a:srgbClr val="303437"/>
                </a:solidFill>
                <a:latin typeface="Noto Sans"/>
              </a:defRPr>
            </a:pPr>
            <a:r>
              <a:rPr sz="155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uid = "0b17a146-2934-46c7-8727-73ff6b6483e8"</a:t>
            </a:r>
          </a:p>
          <a:p>
            <a:pPr algn="l">
              <a:lnSpc>
                <a:spcPts val="1937"/>
              </a:lnSpc>
              <a:spcBef>
                <a:spcPts val="0"/>
              </a:spcBef>
              <a:spcAft>
                <a:spcPts val="0"/>
              </a:spcAft>
              <a:buNone/>
              <a:defRPr sz="1550" b="0">
                <a:solidFill>
                  <a:srgbClr val="303437"/>
                </a:solidFill>
                <a:latin typeface="Noto Sans"/>
              </a:defRPr>
            </a:pPr>
            <a:r>
              <a:rPr sz="155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path = root / "libreoffice_writer" / (uid + ".json")</a:t>
            </a:r>
          </a:p>
          <a:p>
            <a:pPr algn="l">
              <a:lnSpc>
                <a:spcPts val="1937"/>
              </a:lnSpc>
              <a:spcBef>
                <a:spcPts val="0"/>
              </a:spcBef>
              <a:spcAft>
                <a:spcPts val="0"/>
              </a:spcAft>
              <a:buNone/>
              <a:defRPr sz="1550" b="0">
                <a:solidFill>
                  <a:srgbClr val="303437"/>
                </a:solidFill>
                <a:latin typeface="Noto Sans"/>
              </a:defRPr>
            </a:pPr>
            <a:r>
              <a:rPr sz="155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task = json.loads(path.read_text())</a:t>
            </a:r>
          </a:p>
          <a:p>
            <a:pPr algn="l">
              <a:lnSpc>
                <a:spcPts val="1937"/>
              </a:lnSpc>
              <a:spcBef>
                <a:spcPts val="0"/>
              </a:spcBef>
              <a:spcAft>
                <a:spcPts val="0"/>
              </a:spcAft>
              <a:buNone/>
              <a:defRPr sz="1550" b="0">
                <a:solidFill>
                  <a:srgbClr val="303437"/>
                </a:solidFill>
                <a:latin typeface="Noto Sans"/>
              </a:defRPr>
            </a:pPr>
            <a:r>
              <a:rPr sz="155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print(task["instruction"], task["evaluator"]["func"])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932428"/>
            <a:ext cx="7955279" cy="7772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OSWorldリポジトリのルートで読む例。課題の定義を取り出す。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XLANG Lab (2026年10月参照). OSWorld: 公開の課題定義・環境・エージェント実装。</a:t>
            </a:r>
          </a:p>
          <a:p>
            <a:pPr>
              <a:lnSpc>
                <a:spcPct val="11200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https://github.com/xlang-ai/OSWorld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操作の依頼と、作業が終わった状態を結ぶ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9067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580"/>
              </a:lnSpc>
              <a:spcAft>
                <a:spcPts val="800"/>
              </a:spcAft>
              <a:buSzPct val="61860"/>
              <a:buFont typeface="Noto Sans CJK JP"/>
              <a:buChar char="●"/>
              <a:defRPr sz="2150" b="0">
                <a:solidFill>
                  <a:srgbClr val="303437"/>
                </a:solidFill>
                <a:latin typeface="Noto Sans"/>
              </a:defRPr>
            </a:pPr>
            <a:r>
              <a:rPr sz="21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OSWorld-Verifiedは、実際のアプリを操作し、文書・表・画像・設定などの成果を検査して評価する。初期状態と課題ごとの採点器を持つ。</a:t>
            </a:r>
          </a:p>
          <a:p>
            <a:pPr marL="457200" indent="-355600">
              <a:lnSpc>
                <a:spcPts val="2580"/>
              </a:lnSpc>
              <a:spcAft>
                <a:spcPts val="800"/>
              </a:spcAft>
              <a:buSzPct val="61860"/>
              <a:buFont typeface="Noto Sans CJK JP"/>
              <a:buChar char="●"/>
              <a:defRPr sz="2150" b="0">
                <a:solidFill>
                  <a:srgbClr val="303437"/>
                </a:solidFill>
                <a:latin typeface="Noto Sans"/>
              </a:defRPr>
            </a:pPr>
            <a:r>
              <a:rPr sz="21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369課題の全体版と、Google Driveの8課題を除く361課題版がある。評価結果にはステップ数、追加ツール、対象課題数を併記する。</a:t>
            </a:r>
          </a:p>
          <a:p>
            <a:pPr marL="457200" indent="-355600">
              <a:lnSpc>
                <a:spcPts val="2580"/>
              </a:lnSpc>
              <a:spcAft>
                <a:spcPts val="0"/>
              </a:spcAft>
              <a:buSzPct val="61860"/>
              <a:buFont typeface="Noto Sans CJK JP"/>
              <a:buChar char="●"/>
              <a:defRPr sz="2150" b="0">
                <a:solidFill>
                  <a:srgbClr val="303437"/>
                </a:solidFill>
                <a:latin typeface="Noto Sans"/>
              </a:defRPr>
            </a:pPr>
            <a:r>
              <a:rPr sz="21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画面を見て操作を続ける能力に加え、複数のアプリを組み合わせ、正しい成果物を残せるかを具体的に調べられる。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4. 評価環境とデータの入手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XLANG Lab (2026年10月参照). OSWorld: 公開の課題定義・環境・エージェント実装。</a:t>
            </a:r>
          </a:p>
          <a:p>
            <a:pPr>
              <a:lnSpc>
                <a:spcPct val="11200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https://github.com/xlang-ai/OSWorld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359895"/>
            <a:ext cx="8046720" cy="822960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4400" b="0">
                <a:solidFill>
                  <a:srgbClr val="303437"/>
                </a:solidFill>
                <a:latin typeface="Noto Sans"/>
              </a:defRPr>
            </a:pPr>
            <a:r>
              <a:rPr sz="44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Appendix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/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77240" y="1668081"/>
            <a:ext cx="7772400" cy="2077720"/>
          </a:xfrm>
        </p:spPr>
        <p:txBody>
          <a:bodyPr lIns="0" rIns="0" tIns="0" bIns="0" wrap="square">
            <a:noAutofit/>
          </a:bodyPr>
          <a:lstStyle/>
          <a:p>
            <a:pPr marL="457200" indent="-457200">
              <a:lnSpc>
                <a:spcPct val="128000"/>
              </a:lnSpc>
              <a:spcAft>
                <a:spcPts val="1700"/>
              </a:spcAft>
              <a:buSzPct val="100000"/>
              <a:buFont typeface="Noto Sans CJK JP"/>
              <a:buAutoNum type="arabicPeriod" startAt="1"/>
              <a:defRPr sz="3000" b="1">
                <a:solidFill>
                  <a:srgbClr val="303437"/>
                </a:solidFill>
                <a:latin typeface="Noto Sans"/>
              </a:defRPr>
            </a:pPr>
            <a:r>
              <a:rPr sz="3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アプリと操作の異なる追加例</a:t>
            </a:r>
          </a:p>
          <a:p>
            <a:pPr marL="457200" indent="-457200">
              <a:lnSpc>
                <a:spcPct val="128000"/>
              </a:lnSpc>
              <a:spcAft>
                <a:spcPts val="1700"/>
              </a:spcAft>
              <a:buSzPct val="100000"/>
              <a:buFont typeface="Noto Sans CJK JP"/>
              <a:buAutoNum type="arabicPeriod" startAt="2"/>
              <a:defRPr sz="3000" b="1">
                <a:solidFill>
                  <a:srgbClr val="303437"/>
                </a:solidFill>
                <a:latin typeface="Noto Sans"/>
              </a:defRPr>
            </a:pPr>
            <a:r>
              <a:rPr sz="3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課題定義と構成の詳細</a:t>
            </a:r>
          </a:p>
          <a:p>
            <a:pPr marL="457200" indent="-457200">
              <a:lnSpc>
                <a:spcPct val="128000"/>
              </a:lnSpc>
              <a:spcAft>
                <a:spcPts val="1700"/>
              </a:spcAft>
              <a:buSzPct val="100000"/>
              <a:buFont typeface="Noto Sans CJK JP"/>
              <a:buAutoNum type="arabicPeriod" startAt="3"/>
              <a:defRPr sz="3000" b="1">
                <a:solidFill>
                  <a:srgbClr val="303437"/>
                </a:solidFill>
                <a:latin typeface="Noto Sans"/>
              </a:defRPr>
            </a:pPr>
            <a:r>
              <a:rPr sz="3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制作機関と参考文献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Appendix: 目次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388106"/>
            <a:ext cx="8046720" cy="822960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000" b="0">
                <a:solidFill>
                  <a:srgbClr val="303437"/>
                </a:solidFill>
                <a:latin typeface="Noto Sans"/>
              </a:defRPr>
            </a:pPr>
            <a:r>
              <a:rPr sz="3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1. アプリと操作の異なる追加例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Appendix: 1. アプリと操作の異なる追加例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追加例1：検索エンジンをBingに変える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Appendix: 1. アプリと操作の異なる追加例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362456"/>
            <a:ext cx="7955279" cy="2103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公式公開軌跡の初期画面（step_0）</a:t>
            </a:r>
          </a:p>
        </p:txBody>
      </p:sp>
      <p:pic>
        <p:nvPicPr>
          <p:cNvPr id="5" name="Picture 4" descr="bb5e4c0d-f964-439c-97b6-bdb9747de3f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6064" y="1673352"/>
            <a:ext cx="5071872" cy="285292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XLANG Lab. OSWorld-Verified: OpenAPA公開軌跡 / 初期画面step_0 / bb5e4c0d-f964-439c-97b6-bdb9747de3f4。</a:t>
            </a:r>
          </a:p>
          <a:p>
            <a:pPr>
              <a:lnSpc>
                <a:spcPct val="11200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https://huggingface.co/datasets/xlangai/ubuntu_osworld_verified_trajs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追加例1：操作の依頼と採点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Appendix: 1. アプリと操作の異なる追加例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380744"/>
            <a:ext cx="7955279" cy="2103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操作指示（配布原文・全文）</a:t>
            </a:r>
          </a:p>
        </p:txBody>
      </p:sp>
      <p:sp>
        <p:nvSpPr>
          <p:cNvPr id="9" name="引用背景"/>
          <p:cNvSpPr/>
          <p:nvPr/>
        </p:nvSpPr>
        <p:spPr>
          <a:xfrm>
            <a:off x="548640" y="1738784"/>
            <a:ext cx="8046720" cy="816241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引用本文"/>
          <p:cNvSpPr txBox="1"/>
          <p:nvPr/>
        </p:nvSpPr>
        <p:spPr>
          <a:xfrm>
            <a:off x="722376" y="1828800"/>
            <a:ext cx="7699248" cy="12070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Can you make Bing the main search engine when I look stuff up on the internet?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3337560"/>
            <a:ext cx="7955279" cy="69494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訳：インターネット検索の標準エンジンをBingに変更する。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4160520"/>
            <a:ext cx="7955279" cy="4389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採点：保存された標準検索エンジンを確認する。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XLANG Lab. OSWorld-Verified / chrome / bb5e4c0d-f964-439c-97b6-bdb9747de3f4。</a:t>
            </a:r>
          </a:p>
          <a:p>
            <a:pPr>
              <a:lnSpc>
                <a:spcPct val="11200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https://github.com/xlang-ai/OSWorld/blob/main/evaluation_examples/examples/chrome/bb5e4c0d-f964-439c-97b6-bdb9747de3f4.json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追加例2：Amazonの追跡情報を削除する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Appendix: 1. アプリと操作の異なる追加例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362456"/>
            <a:ext cx="7955279" cy="2103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公式公開軌跡の初期画面（step_0）</a:t>
            </a:r>
          </a:p>
        </p:txBody>
      </p:sp>
      <p:pic>
        <p:nvPicPr>
          <p:cNvPr id="5" name="Picture 4" descr="7b6c7e24-c58a-49fc-a5bb-d57b80e5b4c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6064" y="1673352"/>
            <a:ext cx="5071872" cy="285292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XLANG Lab. OSWorld-Verified: OpenAPA公開軌跡 / 初期画面step_0 / 7b6c7e24-c58a-49fc-a5bb-d57b80e5b4c3。</a:t>
            </a:r>
          </a:p>
          <a:p>
            <a:pPr>
              <a:lnSpc>
                <a:spcPct val="11200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https://huggingface.co/datasets/xlangai/ubuntu_osworld_verified_trajs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追加例2：操作の依頼と採点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Appendix: 1. アプリと操作の異なる追加例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380744"/>
            <a:ext cx="7955279" cy="2103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操作指示（配布原文・全文）</a:t>
            </a:r>
          </a:p>
        </p:txBody>
      </p:sp>
      <p:sp>
        <p:nvSpPr>
          <p:cNvPr id="9" name="引用背景"/>
          <p:cNvSpPr/>
          <p:nvPr/>
        </p:nvSpPr>
        <p:spPr>
          <a:xfrm>
            <a:off x="548640" y="1738784"/>
            <a:ext cx="8046720" cy="1117917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引用本文"/>
          <p:cNvSpPr txBox="1"/>
          <p:nvPr/>
        </p:nvSpPr>
        <p:spPr>
          <a:xfrm>
            <a:off x="722376" y="1828800"/>
            <a:ext cx="7699248" cy="12070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Can you help me clean up my computer by getting rid of all the tracking things that Amazon might have saved? I want to make sure my browsing is private and those sites don't remember me.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3337560"/>
            <a:ext cx="7955279" cy="69494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訳：Amazonが保存した追跡情報を削除し、サイトに覚えられないようにする。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4160520"/>
            <a:ext cx="7955279" cy="4389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採点：amazon.comのCookieが削除されたかを検査する。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XLANG Lab. OSWorld-Verified / chrome / 7b6c7e24-c58a-49fc-a5bb-d57b80e5b4c3。</a:t>
            </a:r>
          </a:p>
          <a:p>
            <a:pPr>
              <a:lnSpc>
                <a:spcPct val="11200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https://github.com/xlang-ai/OSWorld/blob/main/evaluation_examples/examples/chrome/7b6c7e24-c58a-49fc-a5bb-d57b80e5b4c3.json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追加例3：VLCの録画先を変える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Appendix: 1. アプリと操作の異なる追加例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362456"/>
            <a:ext cx="7955279" cy="2103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公式公開軌跡の初期画面（step_0）</a:t>
            </a:r>
          </a:p>
        </p:txBody>
      </p:sp>
      <p:pic>
        <p:nvPicPr>
          <p:cNvPr id="5" name="Picture 4" descr="8ba5ae7a-5ae5-4eab-9fcc-5dd4fe3abf8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6064" y="1673352"/>
            <a:ext cx="5071872" cy="285292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XLANG Lab. OSWorld-Verified: OpenAPA公開軌跡 / 初期画面step_0 / 8ba5ae7a-5ae5-4eab-9fcc-5dd4fe3abf89。</a:t>
            </a:r>
          </a:p>
          <a:p>
            <a:pPr>
              <a:lnSpc>
                <a:spcPct val="11200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https://huggingface.co/datasets/xlangai/ubuntu_osworld_verified_trajs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追加例3：操作の依頼と採点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Appendix: 1. アプリと操作の異なる追加例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380744"/>
            <a:ext cx="7955279" cy="2103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操作指示（配布原文・全文）</a:t>
            </a:r>
          </a:p>
        </p:txBody>
      </p:sp>
      <p:sp>
        <p:nvSpPr>
          <p:cNvPr id="9" name="引用背景"/>
          <p:cNvSpPr/>
          <p:nvPr/>
        </p:nvSpPr>
        <p:spPr>
          <a:xfrm>
            <a:off x="548640" y="1738784"/>
            <a:ext cx="8046720" cy="514553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引用本文"/>
          <p:cNvSpPr txBox="1"/>
          <p:nvPr/>
        </p:nvSpPr>
        <p:spPr>
          <a:xfrm>
            <a:off x="722376" y="1828800"/>
            <a:ext cx="7699248" cy="12070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Help me modify the folder used to store my recordings to Desktop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3337560"/>
            <a:ext cx="7955279" cy="69494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訳：録画を保存するフォルダーをデスクトップへ変更する。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4160520"/>
            <a:ext cx="7955279" cy="4389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採点：VLCの録画フォルダー設定を確認する。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XLANG Lab. OSWorld-Verified / vlc / 8ba5ae7a-5ae5-4eab-9fcc-5dd4fe3abf89。</a:t>
            </a:r>
          </a:p>
          <a:p>
            <a:pPr>
              <a:lnSpc>
                <a:spcPct val="11200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https://github.com/xlang-ai/OSWorld/blob/main/evaluation_examples/examples/vlc/8ba5ae7a-5ae5-4eab-9fcc-5dd4fe3abf89.json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追加例4：写真の明るさを下げる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Appendix: 1. アプリと操作の異なる追加例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362456"/>
            <a:ext cx="7955279" cy="2103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公式公開軌跡の初期画面（step_0）</a:t>
            </a:r>
          </a:p>
        </p:txBody>
      </p:sp>
      <p:pic>
        <p:nvPicPr>
          <p:cNvPr id="5" name="Picture 4" descr="7a4deb26-d57d-4ea9-9a73-630f66a7b56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6064" y="1673352"/>
            <a:ext cx="5071872" cy="285292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XLANG Lab. OSWorld-Verified: OpenAPA公開軌跡 / 初期画面step_0 / 7a4deb26-d57d-4ea9-9a73-630f66a7b568。</a:t>
            </a:r>
          </a:p>
          <a:p>
            <a:pPr>
              <a:lnSpc>
                <a:spcPct val="11200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https://huggingface.co/datasets/xlangai/ubuntu_osworld_verified_trajs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追加例4：操作の依頼と採点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Appendix: 1. アプリと操作の異なる追加例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380744"/>
            <a:ext cx="7955279" cy="2103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操作指示（配布原文・全文）</a:t>
            </a:r>
          </a:p>
        </p:txBody>
      </p:sp>
      <p:sp>
        <p:nvSpPr>
          <p:cNvPr id="9" name="引用背景"/>
          <p:cNvSpPr/>
          <p:nvPr/>
        </p:nvSpPr>
        <p:spPr>
          <a:xfrm>
            <a:off x="548640" y="1738784"/>
            <a:ext cx="8046720" cy="514553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引用本文"/>
          <p:cNvSpPr txBox="1"/>
          <p:nvPr/>
        </p:nvSpPr>
        <p:spPr>
          <a:xfrm>
            <a:off x="722376" y="1828800"/>
            <a:ext cx="7699248" cy="12070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Could you tone down the brightness of my photo?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3337560"/>
            <a:ext cx="7955279" cy="69494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訳：写真の明るさを下げる。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4160520"/>
            <a:ext cx="7955279" cy="4389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採点：明るさの低下と、画像構造の保持を検査する。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XLANG Lab. OSWorld-Verified / gimp / 7a4deb26-d57d-4ea9-9a73-630f66a7b568。</a:t>
            </a:r>
          </a:p>
          <a:p>
            <a:pPr>
              <a:lnSpc>
                <a:spcPct val="11200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https://github.com/xlang-ai/OSWorld/blob/main/evaluation_examples/examples/gimp/7a4deb26-d57d-4ea9-9a73-630f66a7b568.json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追加例5：黄色の三角形を中央に移す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Appendix: 1. アプリと操作の異なる追加例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362456"/>
            <a:ext cx="7955279" cy="2103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公式公開軌跡の初期画面（step_0）</a:t>
            </a:r>
          </a:p>
        </p:txBody>
      </p:sp>
      <p:pic>
        <p:nvPicPr>
          <p:cNvPr id="5" name="Picture 4" descr="f4aec372-4fb0-4df5-a52b-79e0e2a5d6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6064" y="1673352"/>
            <a:ext cx="5071872" cy="285292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XLANG Lab. OSWorld-Verified: OpenAPA公開軌跡 / 初期画面step_0 / f4aec372-4fb0-4df5-a52b-79e0e2a5d6ce。</a:t>
            </a:r>
          </a:p>
          <a:p>
            <a:pPr>
              <a:lnSpc>
                <a:spcPct val="11200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https://huggingface.co/datasets/xlangai/ubuntu_osworld_verified_trajs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追加例5：操作の依頼と採点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Appendix: 1. アプリと操作の異なる追加例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380744"/>
            <a:ext cx="7955279" cy="2103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操作指示（配布原文・全文）</a:t>
            </a:r>
          </a:p>
        </p:txBody>
      </p:sp>
      <p:sp>
        <p:nvSpPr>
          <p:cNvPr id="9" name="引用背景"/>
          <p:cNvSpPr/>
          <p:nvPr/>
        </p:nvSpPr>
        <p:spPr>
          <a:xfrm>
            <a:off x="548640" y="1738784"/>
            <a:ext cx="8046720" cy="816241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引用本文"/>
          <p:cNvSpPr txBox="1"/>
          <p:nvPr/>
        </p:nvSpPr>
        <p:spPr>
          <a:xfrm>
            <a:off x="722376" y="1828800"/>
            <a:ext cx="7699248" cy="12070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Help me choose the yellow triangle and positioning it at the center of my picture.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3337560"/>
            <a:ext cx="7955279" cy="69494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訳：黄色の三角形を選び、画像の中央へ移動する。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4160520"/>
            <a:ext cx="7955279" cy="4389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採点：出力画像内で、三角形の位置を検査する。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XLANG Lab. OSWorld-Verified / gimp / f4aec372-4fb0-4df5-a52b-79e0e2a5d6ce。</a:t>
            </a:r>
          </a:p>
          <a:p>
            <a:pPr>
              <a:lnSpc>
                <a:spcPct val="11200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https://github.com/xlang-ai/OSWorld/blob/main/evaluation_examples/examples/gimp/f4aec372-4fb0-4df5-a52b-79e0e2a5d6ce.json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追加例6：表紙画像をページ全体に広げる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Appendix: 1. アプリと操作の異なる追加例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362456"/>
            <a:ext cx="7955279" cy="2103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公式公開軌跡の初期画面（step_0）</a:t>
            </a:r>
          </a:p>
        </p:txBody>
      </p:sp>
      <p:pic>
        <p:nvPicPr>
          <p:cNvPr id="5" name="Picture 4" descr="5d901039-a89c-4bfb-967b-bf66f4df075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6064" y="1673352"/>
            <a:ext cx="5071872" cy="285292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XLANG Lab. OSWorld-Verified: OpenAPA公開軌跡 / 初期画面step_0 / 5d901039-a89c-4bfb-967b-bf66f4df075e。</a:t>
            </a:r>
          </a:p>
          <a:p>
            <a:pPr>
              <a:lnSpc>
                <a:spcPct val="11200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https://huggingface.co/datasets/xlangai/ubuntu_osworld_verified_trajs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追加例6：操作の依頼と採点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Appendix: 1. アプリと操作の異なる追加例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380744"/>
            <a:ext cx="7955279" cy="2103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操作指示（配布原文・全文）</a:t>
            </a:r>
          </a:p>
        </p:txBody>
      </p:sp>
      <p:sp>
        <p:nvSpPr>
          <p:cNvPr id="9" name="引用背景"/>
          <p:cNvSpPr/>
          <p:nvPr/>
        </p:nvSpPr>
        <p:spPr>
          <a:xfrm>
            <a:off x="548640" y="1738784"/>
            <a:ext cx="8046720" cy="1117917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引用本文"/>
          <p:cNvSpPr txBox="1"/>
          <p:nvPr/>
        </p:nvSpPr>
        <p:spPr>
          <a:xfrm>
            <a:off x="722376" y="1828800"/>
            <a:ext cx="7699248" cy="12070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I want to turn the rectangular image of Columbus on the first page into a cover page. Could you help me stretch this image to fill the entire page, keeping its proportion and centering the image?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3337560"/>
            <a:ext cx="7955279" cy="69494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訳：先頭の画像を縦横比を保って広げ、中央に配置し、表紙にする。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4160520"/>
            <a:ext cx="7955279" cy="4389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採点：画像の同一性・寸法・中央配置を検査する。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XLANG Lab. OSWorld-Verified / libreoffice_impress / 5d901039-a89c-4bfb-967b-bf66f4df075e。</a:t>
            </a:r>
          </a:p>
          <a:p>
            <a:pPr>
              <a:lnSpc>
                <a:spcPct val="11200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https://github.com/xlang-ai/OSWorld/blob/main/evaluation_examples/examples/libreoffice_impress/5d901039-a89c-4bfb-967b-bf66f4df075e.json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追加例7：完了項目に取り消し線を付ける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Appendix: 1. アプリと操作の異なる追加例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362456"/>
            <a:ext cx="7955279" cy="2103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公式公開軌跡の初期画面（step_0）</a:t>
            </a:r>
          </a:p>
        </p:txBody>
      </p:sp>
      <p:pic>
        <p:nvPicPr>
          <p:cNvPr id="5" name="Picture 4" descr="550ce7e7-747b-495f-b122-acdc4d0b8e5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6064" y="1673352"/>
            <a:ext cx="5071872" cy="285292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XLANG Lab. OSWorld-Verified: OpenAPA公開軌跡 / 初期画面step_0 / 550ce7e7-747b-495f-b122-acdc4d0b8e54。</a:t>
            </a:r>
          </a:p>
          <a:p>
            <a:pPr>
              <a:lnSpc>
                <a:spcPct val="11200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https://huggingface.co/datasets/xlangai/ubuntu_osworld_verified_trajs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追加例7：操作の依頼と採点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Appendix: 1. アプリと操作の異なる追加例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380744"/>
            <a:ext cx="7955279" cy="2103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操作指示（配布原文・全文）</a:t>
            </a:r>
          </a:p>
        </p:txBody>
      </p:sp>
      <p:sp>
        <p:nvSpPr>
          <p:cNvPr id="9" name="引用背景"/>
          <p:cNvSpPr/>
          <p:nvPr/>
        </p:nvSpPr>
        <p:spPr>
          <a:xfrm>
            <a:off x="548640" y="1738784"/>
            <a:ext cx="8046720" cy="1117917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引用本文"/>
          <p:cNvSpPr txBox="1"/>
          <p:nvPr/>
        </p:nvSpPr>
        <p:spPr>
          <a:xfrm>
            <a:off x="722376" y="1828800"/>
            <a:ext cx="7699248" cy="12070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I am checking our soccer club's to-do list for the last semester and adding strike-through sign on the line we have already accomplished. Could you help me add a strike-through on the first and second line?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3337560"/>
            <a:ext cx="7955279" cy="69494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訳：サッカークラブのリストの1行目と2行目に取り消し線を付ける。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4160520"/>
            <a:ext cx="7955279" cy="4389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採点：保存したPPTXを参照成果物と照合する。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XLANG Lab. OSWorld-Verified / libreoffice_impress / 550ce7e7-747b-495f-b122-acdc4d0b8e54。</a:t>
            </a:r>
          </a:p>
          <a:p>
            <a:pPr>
              <a:lnSpc>
                <a:spcPct val="11200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https://github.com/xlang-ai/OSWorld/blob/main/evaluation_examples/examples/libreoffice_impress/550ce7e7-747b-495f-b122-acdc4d0b8e54.json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追加例8：最初の2段落を倍の行間にする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Appendix: 1. アプリと操作の異なる追加例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362456"/>
            <a:ext cx="7955279" cy="2103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公式公開軌跡の初期画面（step_0）</a:t>
            </a:r>
          </a:p>
        </p:txBody>
      </p:sp>
      <p:pic>
        <p:nvPicPr>
          <p:cNvPr id="5" name="Picture 4" descr="0810415c-bde4-4443-9047-d5f70165a69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6064" y="1673352"/>
            <a:ext cx="5071872" cy="285292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XLANG Lab. OSWorld-Verified: OpenAPA公開軌跡 / 初期画面step_0 / 0810415c-bde4-4443-9047-d5f70165a697。</a:t>
            </a:r>
          </a:p>
          <a:p>
            <a:pPr>
              <a:lnSpc>
                <a:spcPct val="11200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https://huggingface.co/datasets/xlangai/ubuntu_osworld_verified_trajs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追加例8：操作の依頼と採点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Appendix: 1. アプリと操作の異なる追加例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380744"/>
            <a:ext cx="7955279" cy="2103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操作指示（配布原文・全文）</a:t>
            </a:r>
          </a:p>
        </p:txBody>
      </p:sp>
      <p:sp>
        <p:nvSpPr>
          <p:cNvPr id="9" name="引用背景"/>
          <p:cNvSpPr/>
          <p:nvPr/>
        </p:nvSpPr>
        <p:spPr>
          <a:xfrm>
            <a:off x="548640" y="1738784"/>
            <a:ext cx="8046720" cy="514553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引用本文"/>
          <p:cNvSpPr txBox="1"/>
          <p:nvPr/>
        </p:nvSpPr>
        <p:spPr>
          <a:xfrm>
            <a:off x="722376" y="1828800"/>
            <a:ext cx="7699248" cy="12070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Make the line spacing of first two paragraph into double line spacing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3337560"/>
            <a:ext cx="7955279" cy="69494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訳：最初の2段落をダブルスペースにする。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4160520"/>
            <a:ext cx="7955279" cy="4389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採点：許容される二つの参照文書と行間を比べる。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XLANG Lab. OSWorld-Verified / libreoffice_writer / 0810415c-bde4-4443-9047-d5f70165a697。</a:t>
            </a:r>
          </a:p>
          <a:p>
            <a:pPr>
              <a:lnSpc>
                <a:spcPct val="11200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https://github.com/xlang-ai/OSWorld/blob/main/evaluation_examples/examples/libreoffice_writer/0810415c-bde4-4443-9047-d5f70165a697.json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追加例9：VS Codeのテーマを変える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Appendix: 1. アプリと操作の異なる追加例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362456"/>
            <a:ext cx="7955279" cy="2103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公式公開軌跡の初期画面（step_0）</a:t>
            </a:r>
          </a:p>
        </p:txBody>
      </p:sp>
      <p:pic>
        <p:nvPicPr>
          <p:cNvPr id="5" name="Picture 4" descr="982d12a5-beab-424f-8d38-d2a48429e5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6064" y="1673352"/>
            <a:ext cx="5071872" cy="285292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XLANG Lab. OSWorld-Verified: OpenAPA公開軌跡 / 初期画面step_0 / 982d12a5-beab-424f-8d38-d2a48429e511。</a:t>
            </a:r>
          </a:p>
          <a:p>
            <a:pPr>
              <a:lnSpc>
                <a:spcPct val="11200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https://huggingface.co/datasets/xlangai/ubuntu_osworld_verified_trajs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追加例9：操作の依頼と採点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Appendix: 1. アプリと操作の異なる追加例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380744"/>
            <a:ext cx="7955279" cy="2103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操作指示（配布原文・全文）</a:t>
            </a:r>
          </a:p>
        </p:txBody>
      </p:sp>
      <p:sp>
        <p:nvSpPr>
          <p:cNvPr id="9" name="引用背景"/>
          <p:cNvSpPr/>
          <p:nvPr/>
        </p:nvSpPr>
        <p:spPr>
          <a:xfrm>
            <a:off x="548640" y="1738784"/>
            <a:ext cx="8046720" cy="816241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引用本文"/>
          <p:cNvSpPr txBox="1"/>
          <p:nvPr/>
        </p:nvSpPr>
        <p:spPr>
          <a:xfrm>
            <a:off x="722376" y="1828800"/>
            <a:ext cx="7699248" cy="12070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Please help me change the color theme of VS Code to Visual Studio Dark.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3337560"/>
            <a:ext cx="7955279" cy="69494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訳：VS Codeの配色テーマをVisual Studio Darkへ変更する。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4160520"/>
            <a:ext cx="7955279" cy="4389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採点：設定ファイルのテーマ名を確認する。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XLANG Lab. OSWorld-Verified / vs_code / 982d12a5-beab-424f-8d38-d2a48429e511。</a:t>
            </a:r>
          </a:p>
          <a:p>
            <a:pPr>
              <a:lnSpc>
                <a:spcPct val="11200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https://github.com/xlang-ai/OSWorld/blob/main/evaluation_examples/examples/vs_code/982d12a5-beab-424f-8d38-d2a48429e511.json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追加例10：実行不能なPython4への変更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Appendix: 1. アプリと操作の異なる追加例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362456"/>
            <a:ext cx="7955279" cy="2103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公式公開軌跡の初期画面（step_0）</a:t>
            </a:r>
          </a:p>
        </p:txBody>
      </p:sp>
      <p:pic>
        <p:nvPicPr>
          <p:cNvPr id="5" name="Picture 4" descr="c288e301-e626-4b98-a1ab-159dcb162af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6064" y="1673352"/>
            <a:ext cx="5071872" cy="285292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XLANG Lab. OSWorld-Verified: OpenAPA公開軌跡 / 初期画面step_0 / c288e301-e626-4b98-a1ab-159dcb162af5。</a:t>
            </a:r>
          </a:p>
          <a:p>
            <a:pPr>
              <a:lnSpc>
                <a:spcPct val="11200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https://huggingface.co/datasets/xlangai/ubuntu_osworld_verified_trajs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追加例10：操作の依頼と採点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Appendix: 1. アプリと操作の異なる追加例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380744"/>
            <a:ext cx="7955279" cy="2103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操作指示（配布原文・全文）</a:t>
            </a:r>
          </a:p>
        </p:txBody>
      </p:sp>
      <p:sp>
        <p:nvSpPr>
          <p:cNvPr id="9" name="引用背景"/>
          <p:cNvSpPr/>
          <p:nvPr/>
        </p:nvSpPr>
        <p:spPr>
          <a:xfrm>
            <a:off x="548640" y="1738784"/>
            <a:ext cx="8046720" cy="514553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引用本文"/>
          <p:cNvSpPr txBox="1"/>
          <p:nvPr/>
        </p:nvSpPr>
        <p:spPr>
          <a:xfrm>
            <a:off x="722376" y="1828800"/>
            <a:ext cx="7699248" cy="12070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Please set the default Python version to Python4 on my Ubuntu system.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3337560"/>
            <a:ext cx="7955279" cy="69494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訳：Ubuntuの標準PythonをPython4に変更する。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4160520"/>
            <a:ext cx="7955279" cy="4389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採点：配布では実行不能課題。FAILで終了すると1点。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XLANG Lab. OSWorld-Verified / os / c288e301-e626-4b98-a1ab-159dcb162af5。</a:t>
            </a:r>
          </a:p>
          <a:p>
            <a:pPr>
              <a:lnSpc>
                <a:spcPct val="11200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https://github.com/xlang-ai/OSWorld/blob/main/evaluation_examples/examples/os/c288e301-e626-4b98-a1ab-159dcb162af5.json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388106"/>
            <a:ext cx="8046720" cy="822960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200" b="0">
                <a:solidFill>
                  <a:srgbClr val="303437"/>
                </a:solidFill>
                <a:latin typeface="Noto Sans"/>
              </a:defRPr>
            </a:pPr>
            <a:r>
              <a:rPr sz="32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2. 課題定義と構成の詳細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Appendix: 2. 課題定義と構成の詳細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課題JSONに含まれる主な情報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Appendix: 2. 課題定義と構成の詳細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2743200"/>
        </p:xfrm>
        <a:graphic>
          <a:graphicData uri="http://schemas.openxmlformats.org/drawingml/2006/table">
            <a:tbl>
              <a:tblPr firstRow="0" bandRow="0"/>
              <a:tblGrid>
                <a:gridCol w="2743200"/>
                <a:gridCol w="5303520"/>
              </a:tblGrid>
              <a:tr h="4572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項目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役割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4572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instruction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エージェントに渡す自然言語の依頼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572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snapshot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初期状態を作る基準のVM状態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572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config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ファイルの取得・起動などの準備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572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related_apps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課題に関連するアプリ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572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evaluator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成果の取得方法、参照値、採点関数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XLANG Lab (2026年10月参照). OSWorld: 公開の課題定義・環境・エージェント実装。</a:t>
            </a:r>
          </a:p>
          <a:p>
            <a:pPr>
              <a:lnSpc>
                <a:spcPct val="11200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https://github.com/xlang-ai/OSWorld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単一アプリ課題の内訳：オフィスと日常操作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Appendix: 2. 課題定義と構成の詳細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2980944"/>
        </p:xfrm>
        <a:graphic>
          <a:graphicData uri="http://schemas.openxmlformats.org/drawingml/2006/table">
            <a:tbl>
              <a:tblPr firstRow="0" bandRow="0"/>
              <a:tblGrid>
                <a:gridCol w="5577840"/>
                <a:gridCol w="2468880"/>
              </a:tblGrid>
              <a:tr h="4572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アプリ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課題数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4206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LibreOffice Calc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47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206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LibreOffice Impress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47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206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LibreOffice Writer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23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206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Chrome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46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206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VLC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17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206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Thunderbird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15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XLANG Lab. OSWorld: test_all.json / test_nogdrive.json. 2026-10-17取得改訂。</a:t>
            </a:r>
          </a:p>
          <a:p>
            <a:pPr>
              <a:lnSpc>
                <a:spcPct val="11200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https://github.com/xlang-ai/OSWorld/tree/main/evaluation_examples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専門ツール・OS・複数アプリの内訳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Appendix: 2. 課題定義と構成の詳細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2743200"/>
        </p:xfrm>
        <a:graphic>
          <a:graphicData uri="http://schemas.openxmlformats.org/drawingml/2006/table">
            <a:tbl>
              <a:tblPr firstRow="0" bandRow="0"/>
              <a:tblGrid>
                <a:gridCol w="5577840"/>
                <a:gridCol w="2468880"/>
              </a:tblGrid>
              <a:tr h="4572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区分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課題数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4572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GIMP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26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572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VS Code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23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572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OS操作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24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572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複数アプリ（全体版）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101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572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複数アプリ（Google Driveを除く）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93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XLANG Lab. OSWorld: test_all.json / test_nogdrive.json. 2026-10-17取得改訂。</a:t>
            </a:r>
          </a:p>
          <a:p>
            <a:pPr>
              <a:lnSpc>
                <a:spcPct val="11200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https://github.com/xlang-ai/OSWorld/tree/main/evaluation_examples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複数の採点と、実行不能な課題の終了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9067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580"/>
              </a:lnSpc>
              <a:spcAft>
                <a:spcPts val="800"/>
              </a:spcAft>
              <a:buSzPct val="61860"/>
              <a:buFont typeface="Noto Sans CJK JP"/>
              <a:buChar char="●"/>
              <a:defRPr sz="2150" b="0">
                <a:solidFill>
                  <a:srgbClr val="303437"/>
                </a:solidFill>
                <a:latin typeface="Noto Sans"/>
              </a:defRPr>
            </a:pPr>
            <a:r>
              <a:rPr sz="21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複数の採点関数を組み合わせられる。ANDは0点があれば0点、すべて正なら平均。ORは最大値をとる。</a:t>
            </a:r>
          </a:p>
          <a:p>
            <a:pPr marL="457200" indent="-355600">
              <a:lnSpc>
                <a:spcPts val="2580"/>
              </a:lnSpc>
              <a:spcAft>
                <a:spcPts val="800"/>
              </a:spcAft>
              <a:buSzPct val="61860"/>
              <a:buFont typeface="Noto Sans CJK JP"/>
              <a:buChar char="●"/>
              <a:defRPr sz="2150" b="0">
                <a:solidFill>
                  <a:srgbClr val="303437"/>
                </a:solidFill>
                <a:latin typeface="Noto Sans"/>
              </a:defRPr>
            </a:pPr>
            <a:r>
              <a:rPr sz="21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ダブルスペースの課題は、段落間の空行も変更する参照文書と、変更しない参照文書の二つを許容する。</a:t>
            </a:r>
          </a:p>
          <a:p>
            <a:pPr marL="457200" indent="-355600">
              <a:lnSpc>
                <a:spcPts val="2580"/>
              </a:lnSpc>
              <a:spcAft>
                <a:spcPts val="0"/>
              </a:spcAft>
              <a:buSzPct val="61860"/>
              <a:buFont typeface="Noto Sans CJK JP"/>
              <a:buChar char="●"/>
              <a:defRPr sz="2150" b="0">
                <a:solidFill>
                  <a:srgbClr val="303437"/>
                </a:solidFill>
                <a:latin typeface="Noto Sans"/>
              </a:defRPr>
            </a:pPr>
            <a:r>
              <a:rPr sz="21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実行不能課題は、FAILで終了すると1点。追加例10のPython4への変更も、この形式。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Appendix: 2. 課題定義と構成の詳細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XLANG Lab. OSWorld: desktop_env.py / evaluate. 最終状態からの採点。</a:t>
            </a:r>
          </a:p>
          <a:p>
            <a:pPr>
              <a:lnSpc>
                <a:spcPct val="11200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https://github.com/xlang-ai/OSWorld/blob/main/desktop_env/desktop_env.py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全体版・361課題版・小規模版を選ぶ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9067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520"/>
              </a:lnSpc>
              <a:spcAft>
                <a:spcPts val="80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test_all.jsonは369課題、test_nogdrive.jsonは361課題。後者は、Google Driveの操作を含む8課題を全体版から除いている。</a:t>
            </a:r>
          </a:p>
          <a:p>
            <a:pPr marL="457200" indent="-355600">
              <a:lnSpc>
                <a:spcPts val="2520"/>
              </a:lnSpc>
              <a:spcAft>
                <a:spcPts val="80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test_small.jsonは、実装の確認などに使える39課題の一覧。各課題のJSON、初期ファイル、参照成果物はそれぞれの配布先から取得する。</a:t>
            </a:r>
          </a:p>
          <a:p>
            <a:pPr marL="457200" indent="-355600">
              <a:lnSpc>
                <a:spcPts val="2520"/>
              </a:lnSpc>
              <a:spcAft>
                <a:spcPts val="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実行にはVMとエージェントの設定が必要。公式リポジトリでVMware、Docker、AWSなどの手順が案内されている。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Appendix: 2. 課題定義と構成の詳細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XLANG Lab (2026年10月参照). OSWorld: 公開の課題定義・環境・エージェント実装。</a:t>
            </a:r>
          </a:p>
          <a:p>
            <a:pPr>
              <a:lnSpc>
                <a:spcPct val="11200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https://github.com/xlang-ai/OSWorld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コード、入力ファイル、実行ログの配布先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9067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340"/>
              </a:lnSpc>
              <a:spcAft>
                <a:spcPts val="800"/>
              </a:spcAft>
              <a:buSzPct val="68205"/>
              <a:buFont typeface="Noto Sans CJK JP"/>
              <a:buChar char="●"/>
              <a:defRPr sz="1950" b="0">
                <a:solidFill>
                  <a:srgbClr val="303437"/>
                </a:solidFill>
                <a:latin typeface="Noto Sans"/>
              </a:defRPr>
            </a:pPr>
            <a:r>
              <a:rPr sz="19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環境と課題定義はGitHubのOSWorldリポジトリにあり、Apache 2.0で公開される。課題JSONから必要なファイルへのURLをたどれる。</a:t>
            </a:r>
          </a:p>
          <a:p>
            <a:pPr marL="457200" indent="-355600">
              <a:lnSpc>
                <a:spcPts val="2340"/>
              </a:lnSpc>
              <a:spcAft>
                <a:spcPts val="800"/>
              </a:spcAft>
              <a:buSzPct val="68205"/>
              <a:buFont typeface="Noto Sans CJK JP"/>
              <a:buChar char="●"/>
              <a:defRPr sz="1950" b="0">
                <a:solidFill>
                  <a:srgbClr val="303437"/>
                </a:solidFill>
                <a:latin typeface="Noto Sans"/>
              </a:defRPr>
            </a:pPr>
            <a:r>
              <a:rPr sz="19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入力と参照成果物はubuntu_osworld_file_cache、操作ログはubuntu_osworld_verified_trajsで配布。後者のデータカードはMITを指定する。</a:t>
            </a:r>
          </a:p>
          <a:p>
            <a:pPr marL="457200" indent="-355600">
              <a:lnSpc>
                <a:spcPts val="2340"/>
              </a:lnSpc>
              <a:spcAft>
                <a:spcPts val="0"/>
              </a:spcAft>
              <a:buSzPct val="68205"/>
              <a:buFont typeface="Noto Sans CJK JP"/>
              <a:buChar char="●"/>
              <a:defRPr sz="1950" b="0">
                <a:solidFill>
                  <a:srgbClr val="303437"/>
                </a:solidFill>
                <a:latin typeface="Noto Sans"/>
              </a:defRPr>
            </a:pPr>
            <a:r>
              <a:rPr sz="19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この資料の画面は公開ログのstep_0。作業の正解条件はログ中の成否ラベルから推測せず、課題JSONと採点コードを確認した。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Appendix: 2. 課題定義と構成の詳細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XLANG Lab (2026年10月参照). OSWorld-Verified Model Trajectories. 公開軌跡 / MIT。</a:t>
            </a:r>
          </a:p>
          <a:p>
            <a:pPr>
              <a:lnSpc>
                <a:spcPct val="11200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https://huggingface.co/datasets/xlangai/ubuntu_osworld_verified_trajs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388106"/>
            <a:ext cx="8046720" cy="822960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200" b="0">
                <a:solidFill>
                  <a:srgbClr val="303437"/>
                </a:solidFill>
                <a:latin typeface="Noto Sans"/>
              </a:defRPr>
            </a:pPr>
            <a:r>
              <a:rPr sz="32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3. 制作機関と参考文献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Appendix: 3. 制作機関と参考文献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XLANG Labを中心とする、実行環境の共同制作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9067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520"/>
              </a:lnSpc>
              <a:spcAft>
                <a:spcPts val="80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原著の第一著者はTianbao Xie、最終著者はTao Yu。香港大学、CMU、Salesforce Research、Waterloo大学の研究者が参加した。</a:t>
            </a:r>
          </a:p>
          <a:p>
            <a:pPr marL="457200" indent="-355600">
              <a:lnSpc>
                <a:spcPts val="2520"/>
              </a:lnSpc>
              <a:spcAft>
                <a:spcPts val="80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2024年のNeurIPSで発表。自然言語の依頼から、画面の理解、操作、成果物の検査までを、実際のPC環境でつなぐ。</a:t>
            </a:r>
          </a:p>
          <a:p>
            <a:pPr marL="457200" indent="-355600">
              <a:lnSpc>
                <a:spcPts val="2520"/>
              </a:lnSpc>
              <a:spcAft>
                <a:spcPts val="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Verified更新はXLANG Labと共同研究者・利用機関による改修。入力と採点器の修正を公開し、モデルの評価ログも継続して配布する。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Appendix: 3. 制作機関と参考文献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Xie et al. (2024). OSWorld: Benchmarking Multimodal Agents for Open-Ended Tasks in Real Computer Environments. NeurIPS.</a:t>
            </a:r>
          </a:p>
          <a:p>
            <a:pPr>
              <a:lnSpc>
                <a:spcPct val="11200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https://arxiv.org/abs/2404.07972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参考文献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Appendix: 3. 制作機関と参考文献</a:t>
            </a:r>
          </a:p>
        </p:txBody>
      </p:sp>
      <p:sp>
        <p:nvSpPr>
          <p:cNvPr id="4" name="文献 1: OSWorld: Benchmarking Multimodal Agents for Open-Ended Tasks in Real Computer Environments"/>
          <p:cNvSpPr txBox="1"/>
          <p:nvPr/>
        </p:nvSpPr>
        <p:spPr>
          <a:xfrm>
            <a:off x="548640" y="1371600"/>
            <a:ext cx="8046720" cy="17830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185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OSWorld: Benchmarking Multimodal Agents for Open-Ended Tasks in Real Computer Environments</a:t>
            </a:r>
          </a:p>
          <a:p>
            <a:pPr>
              <a:lnSpc>
                <a:spcPct val="112000"/>
              </a:lnSpc>
              <a:spcAft>
                <a:spcPts val="400"/>
              </a:spcAft>
              <a:buNone/>
              <a:defRPr sz="1300" b="0">
                <a:solidFill>
                  <a:srgbClr val="303437"/>
                </a:solidFill>
                <a:latin typeface="Noto Sans"/>
              </a:defRPr>
            </a:pPr>
            <a:r>
              <a:rPr sz="13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Tianbao Xie et al. / NeurIPS 2024</a:t>
            </a:r>
          </a:p>
          <a:p>
            <a:pPr>
              <a:lnSpc>
                <a:spcPct val="112000"/>
              </a:lnSpc>
              <a:spcAft>
                <a:spcPts val="40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実行環境の設計、369課題の収集・作成、初期評価を説明する。</a:t>
            </a:r>
          </a:p>
          <a:p>
            <a:pPr>
              <a:lnSpc>
                <a:spcPct val="112000"/>
              </a:lnSpc>
              <a:spcAft>
                <a:spcPts val="0"/>
              </a:spcAft>
              <a:buNone/>
              <a:defRPr sz="1150" b="0">
                <a:solidFill>
                  <a:srgbClr val="303437"/>
                </a:solidFill>
                <a:latin typeface="Noto Sans"/>
              </a:defRPr>
            </a:pPr>
            <a:r>
              <a:rPr sz="11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https://arxiv.org/abs/2404.07972</a:t>
            </a:r>
          </a:p>
        </p:txBody>
      </p:sp>
      <p:sp>
        <p:nvSpPr>
          <p:cNvPr id="5" name="文献 2: Introducing OSWorld-Verified"/>
          <p:cNvSpPr txBox="1"/>
          <p:nvPr/>
        </p:nvSpPr>
        <p:spPr>
          <a:xfrm>
            <a:off x="548640" y="3200400"/>
            <a:ext cx="8046720" cy="17830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185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Introducing OSWorld-Verified</a:t>
            </a:r>
          </a:p>
          <a:p>
            <a:pPr>
              <a:lnSpc>
                <a:spcPct val="112000"/>
              </a:lnSpc>
              <a:spcAft>
                <a:spcPts val="400"/>
              </a:spcAft>
              <a:buNone/>
              <a:defRPr sz="1300" b="0">
                <a:solidFill>
                  <a:srgbClr val="303437"/>
                </a:solidFill>
                <a:latin typeface="Noto Sans"/>
              </a:defRPr>
            </a:pPr>
            <a:r>
              <a:rPr sz="13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Tianbao Xie et al. / XLANG Lab / 2025-07-28</a:t>
            </a:r>
          </a:p>
          <a:p>
            <a:pPr>
              <a:lnSpc>
                <a:spcPct val="112000"/>
              </a:lnSpc>
              <a:spcAft>
                <a:spcPts val="40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環境、指示、採点器の改修と、検証済み評価の運営を説明する。</a:t>
            </a:r>
          </a:p>
          <a:p>
            <a:pPr>
              <a:lnSpc>
                <a:spcPct val="112000"/>
              </a:lnSpc>
              <a:spcAft>
                <a:spcPts val="0"/>
              </a:spcAft>
              <a:buNone/>
              <a:defRPr sz="1150" b="0">
                <a:solidFill>
                  <a:srgbClr val="303437"/>
                </a:solidFill>
                <a:latin typeface="Noto Sans"/>
              </a:defRPr>
            </a:pPr>
            <a:r>
              <a:rPr sz="11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https://xlang.ai/blog/osworld-verified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参考文献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Appendix: 3. 制作機関と参考文献</a:t>
            </a:r>
          </a:p>
        </p:txBody>
      </p:sp>
      <p:sp>
        <p:nvSpPr>
          <p:cNvPr id="4" name="文献 1: OSWorld: Code, Tasks and Evaluation Environment"/>
          <p:cNvSpPr txBox="1"/>
          <p:nvPr/>
        </p:nvSpPr>
        <p:spPr>
          <a:xfrm>
            <a:off x="548640" y="1371600"/>
            <a:ext cx="8046720" cy="17830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185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OSWorld: Code, Tasks and Evaluation Environment</a:t>
            </a:r>
          </a:p>
          <a:p>
            <a:pPr>
              <a:lnSpc>
                <a:spcPct val="112000"/>
              </a:lnSpc>
              <a:spcAft>
                <a:spcPts val="400"/>
              </a:spcAft>
              <a:buNone/>
              <a:defRPr sz="1300" b="0">
                <a:solidFill>
                  <a:srgbClr val="303437"/>
                </a:solidFill>
                <a:latin typeface="Noto Sans"/>
              </a:defRPr>
            </a:pPr>
            <a:r>
              <a:rPr sz="13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XLANG Lab / GitHub / 2026年10月参照 / Apache 2.0</a:t>
            </a:r>
          </a:p>
          <a:p>
            <a:pPr>
              <a:lnSpc>
                <a:spcPct val="112000"/>
              </a:lnSpc>
              <a:spcAft>
                <a:spcPts val="40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課題JSON、準備・採点の実装、エージェントと実行手順を公開する。</a:t>
            </a:r>
          </a:p>
          <a:p>
            <a:pPr>
              <a:lnSpc>
                <a:spcPct val="112000"/>
              </a:lnSpc>
              <a:spcAft>
                <a:spcPts val="0"/>
              </a:spcAft>
              <a:buNone/>
              <a:defRPr sz="1150" b="0">
                <a:solidFill>
                  <a:srgbClr val="303437"/>
                </a:solidFill>
                <a:latin typeface="Noto Sans"/>
              </a:defRPr>
            </a:pPr>
            <a:r>
              <a:rPr sz="11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https://github.com/xlang-ai/OSWorld</a:t>
            </a:r>
          </a:p>
        </p:txBody>
      </p:sp>
      <p:sp>
        <p:nvSpPr>
          <p:cNvPr id="5" name="文献 2: Ubuntu OSWorld File Cache"/>
          <p:cNvSpPr txBox="1"/>
          <p:nvPr/>
        </p:nvSpPr>
        <p:spPr>
          <a:xfrm>
            <a:off x="548640" y="3200400"/>
            <a:ext cx="8046720" cy="17830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185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Ubuntu OSWorld File Cache</a:t>
            </a:r>
          </a:p>
          <a:p>
            <a:pPr>
              <a:lnSpc>
                <a:spcPct val="112000"/>
              </a:lnSpc>
              <a:spcAft>
                <a:spcPts val="400"/>
              </a:spcAft>
              <a:buNone/>
              <a:defRPr sz="1300" b="0">
                <a:solidFill>
                  <a:srgbClr val="303437"/>
                </a:solidFill>
                <a:latin typeface="Noto Sans"/>
              </a:defRPr>
            </a:pPr>
            <a:r>
              <a:rPr sz="13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XLANG Lab / Hugging Face / 2026年10月参照</a:t>
            </a:r>
          </a:p>
          <a:p>
            <a:pPr>
              <a:lnSpc>
                <a:spcPct val="112000"/>
              </a:lnSpc>
              <a:spcAft>
                <a:spcPts val="40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課題を始めるための資料と、成果物を検査する参照ファイルを配布する。</a:t>
            </a:r>
          </a:p>
          <a:p>
            <a:pPr>
              <a:lnSpc>
                <a:spcPct val="112000"/>
              </a:lnSpc>
              <a:spcAft>
                <a:spcPts val="0"/>
              </a:spcAft>
              <a:buNone/>
              <a:defRPr sz="1150" b="0">
                <a:solidFill>
                  <a:srgbClr val="303437"/>
                </a:solidFill>
                <a:latin typeface="Noto Sans"/>
              </a:defRPr>
            </a:pPr>
            <a:r>
              <a:rPr sz="11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https://huggingface.co/datasets/xlangai/ubuntu_osworld_file_cache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参考文献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Appendix: 3. 制作機関と参考文献</a:t>
            </a:r>
          </a:p>
        </p:txBody>
      </p:sp>
      <p:sp>
        <p:nvSpPr>
          <p:cNvPr id="4" name="文献 1: OSWorld-Verified Results"/>
          <p:cNvSpPr txBox="1"/>
          <p:nvPr/>
        </p:nvSpPr>
        <p:spPr>
          <a:xfrm>
            <a:off x="548640" y="1371600"/>
            <a:ext cx="8046720" cy="17830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185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OSWorld-Verified Results</a:t>
            </a:r>
          </a:p>
          <a:p>
            <a:pPr>
              <a:lnSpc>
                <a:spcPct val="112000"/>
              </a:lnSpc>
              <a:spcAft>
                <a:spcPts val="400"/>
              </a:spcAft>
              <a:buNone/>
              <a:defRPr sz="1300" b="0">
                <a:solidFill>
                  <a:srgbClr val="303437"/>
                </a:solidFill>
                <a:latin typeface="Noto Sans"/>
              </a:defRPr>
            </a:pPr>
            <a:r>
              <a:rPr sz="13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OSWorld team / 公式サイトの評価表 / 2026年10月参照</a:t>
            </a:r>
          </a:p>
          <a:p>
            <a:pPr>
              <a:lnSpc>
                <a:spcPct val="112000"/>
              </a:lnSpc>
              <a:spcAft>
                <a:spcPts val="40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モデル・制御実装、ステップ数、ツール条件、提出日の対応を確認できる。</a:t>
            </a:r>
          </a:p>
          <a:p>
            <a:pPr>
              <a:lnSpc>
                <a:spcPct val="112000"/>
              </a:lnSpc>
              <a:spcAft>
                <a:spcPts val="0"/>
              </a:spcAft>
              <a:buNone/>
              <a:defRPr sz="1150" b="0">
                <a:solidFill>
                  <a:srgbClr val="303437"/>
                </a:solidFill>
                <a:latin typeface="Noto Sans"/>
              </a:defRPr>
            </a:pPr>
            <a:r>
              <a:rPr sz="11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https://github.com/os-world/os-world.github.io/blob/main/static/data/osworld_verified_results.xlsx</a:t>
            </a:r>
          </a:p>
        </p:txBody>
      </p:sp>
      <p:sp>
        <p:nvSpPr>
          <p:cNvPr id="5" name="文献 2: OSWorld-Verified Model Trajectories"/>
          <p:cNvSpPr txBox="1"/>
          <p:nvPr/>
        </p:nvSpPr>
        <p:spPr>
          <a:xfrm>
            <a:off x="548640" y="3200400"/>
            <a:ext cx="8046720" cy="17830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185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OSWorld-Verified Model Trajectories</a:t>
            </a:r>
          </a:p>
          <a:p>
            <a:pPr>
              <a:lnSpc>
                <a:spcPct val="112000"/>
              </a:lnSpc>
              <a:spcAft>
                <a:spcPts val="400"/>
              </a:spcAft>
              <a:buNone/>
              <a:defRPr sz="1300" b="0">
                <a:solidFill>
                  <a:srgbClr val="303437"/>
                </a:solidFill>
                <a:latin typeface="Noto Sans"/>
              </a:defRPr>
            </a:pPr>
            <a:r>
              <a:rPr sz="13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XLANG Lab / Hugging Face / 2026年10月参照 / MIT</a:t>
            </a:r>
          </a:p>
          <a:p>
            <a:pPr>
              <a:lnSpc>
                <a:spcPct val="112000"/>
              </a:lnSpc>
              <a:spcAft>
                <a:spcPts val="40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操作の初期画面と各ステップ、指示、ログ、採点結果を配布する。</a:t>
            </a:r>
          </a:p>
          <a:p>
            <a:pPr>
              <a:lnSpc>
                <a:spcPct val="112000"/>
              </a:lnSpc>
              <a:spcAft>
                <a:spcPts val="0"/>
              </a:spcAft>
              <a:buNone/>
              <a:defRPr sz="1150" b="0">
                <a:solidFill>
                  <a:srgbClr val="303437"/>
                </a:solidFill>
                <a:latin typeface="Noto Sans"/>
              </a:defRPr>
            </a:pPr>
            <a:r>
              <a:rPr sz="11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https://huggingface.co/datasets/xlangai/ubuntu_osworld_verified_trajs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IARTEM Research Palette">
      <a:dk1>
        <a:srgbClr val="303437"/>
      </a:dk1>
      <a:lt1>
        <a:srgbClr val="FFFEF8"/>
      </a:lt1>
      <a:dk2>
        <a:srgbClr val="626669"/>
      </a:dk2>
      <a:lt2>
        <a:srgbClr val="EBEDEB"/>
      </a:lt2>
      <a:accent1>
        <a:srgbClr val="B13731"/>
      </a:accent1>
      <a:accent2>
        <a:srgbClr val="2C9100"/>
      </a:accent2>
      <a:accent3>
        <a:srgbClr val="2166AC"/>
      </a:accent3>
      <a:accent4>
        <a:srgbClr val="B84A00"/>
      </a:accent4>
      <a:accent5>
        <a:srgbClr val="007C91"/>
      </a:accent5>
      <a:accent6>
        <a:srgbClr val="763DA0"/>
      </a:accent6>
      <a:hlink>
        <a:srgbClr val="3F6F8F"/>
      </a:hlink>
      <a:folHlink>
        <a:srgbClr val="7A5C8E"/>
      </a:folHlink>
    </a:clrScheme>
    <a:fontScheme name="Office">
      <a:majorFont>
        <a:latin typeface="Noto Sans"/>
        <a:ea typeface="Noto Sans CJK JP"/>
        <a:cs typeface="Noto Sans"/>
        <a:font script="Jpan" typeface="Noto Sans CJK JP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Noto Sans"/>
        <a:ea typeface="Noto Sans CJK JP"/>
        <a:cs typeface="Noto Sans"/>
        <a:font script="Jpan" typeface="Noto Sans CJK JP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3EA7E97F-3A5A-9342-98CB-7411DADE8916}">
  <we:reference id="wa200010215" version="2.0.0.0" store="ja-JP" storeType="OMEX"/>
  <we:alternateReferences>
    <we:reference id="WA200010215" version="2.0.0.0" store="WA200010215" storeType="OMEX"/>
  </we:alternateReferences>
  <we:properties>
    <we:property name="bps.codex_control.document_id" value="&quot;f3f6bd8f-7a20-4dbe-a71e-f9942711a911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13685</TotalTime>
  <Words>14</Words>
  <Application>Microsoft Macintosh PowerPoint</Application>
  <PresentationFormat>画面に合わせる (16:9)</PresentationFormat>
  <Paragraphs>3</Paragraphs>
  <Slides>8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1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8</vt:i4>
      </vt:variant>
    </vt:vector>
  </HeadingPairs>
  <TitlesOfParts>
    <vt:vector size="10" baseType="lpstr">
      <vt:lpstr>Arial</vt:lpstr>
      <vt:lpstr>Simple Light</vt:lpstr>
      <vt:lpstr>Developing and Applying a Systematic Classification Framework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Bottom-right caption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佐々木　悠太</cp:lastModifiedBy>
  <cp:revision>500</cp:revision>
  <dcterms:modified xsi:type="dcterms:W3CDTF">2026-10-13T12:49:59Z</dcterms:modified>
  <dc:title>OSWorld-Verified — datasets in 10 minutes</dc:title>
  <dc:creator>sasakiy84</dc:creator>
  <dc:subject>実際のPC操作の評価：13実例、初期状態と成果物、Verified更新とモデル比較</dc:subject>
</cp:coreProperties>
</file>