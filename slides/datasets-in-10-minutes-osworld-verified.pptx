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320" r:id="rId70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4.xml"/><Relationship Id="rId69" Type="http://schemas.openxmlformats.org/officeDocument/2006/relationships/slide" Target="slides/slide65.xml"/><Relationship Id="rId70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datasets/xlangai/ubuntu_osworld_verified_trajs/tree/main" TargetMode="External"/><Relationship Id="rId4" Type="http://schemas.openxmlformats.org/officeDocument/2006/relationships/image" Target="../media/image15.png"/><Relationship Id="rId5" Type="http://schemas.openxmlformats.org/officeDocument/2006/relationships/hyperlink" Target="https://osworld-v1.xlang.ai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xlang-ai/OSWorl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4.07972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xlangai/ubuntu_osworld_verified_trajs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hyperlink" Target="https://huggingface.co/datasets/xlangai/ubuntu_osworld_verified_trajs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libreoffice_writer/0b17a146-2934-46c7-8727-73ff6b6483e8.json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hyperlink" Target="https://huggingface.co/datasets/xlangai/ubuntu_osworld_verified_trajs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libreoffice_calc/1954cced-e748-45c4-9c26-9855b97fbc5e.json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xlangai/ubuntu_osworld_file_cache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Relationship Id="rId3" Type="http://schemas.openxmlformats.org/officeDocument/2006/relationships/hyperlink" Target="https://huggingface.co/datasets/xlangai/ubuntu_osworld_verified_trajs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multi_apps/3680a5ee-6870-426a-a997-eba929a0d25c.json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xlang-ai/OSWorld/blob/main/evaluation_examples/examples/multi_apps/3680a5ee-6870-426a-a997-eba929a0d25c.json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xlangai/ubuntu_osworld_file_cache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xlang-ai/OSWorld/blob/main/desktop_env/desktop_env.py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s-world/os-world.github.io/blob/main/static/data/osworld_verified_results.xlsx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s-world/os-world.github.io/blob/main/static/data/osworld_verified_results.xlsx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s-world/os-world.github.io/blob/main/static/data/osworld_verified_results.xlsx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4.07972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xlang.ai/blog/osworld-verified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xlang.ai/blog/osworld-verified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tree/main/evaluation_examples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s-world/os-world.github.io/blob/main/static/data/osworld_verified_results.xlsx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xlang-ai/OSWorld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hyperlink" Target="https://huggingface.co/datasets/xlangai/ubuntu_osworld_verified_trajs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chrome/bb5e4c0d-f964-439c-97b6-bdb9747de3f4.json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hyperlink" Target="https://huggingface.co/datasets/xlangai/ubuntu_osworld_verified_trajs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chrome/7b6c7e24-c58a-49fc-a5bb-d57b80e5b4c3.json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Relationship Id="rId3" Type="http://schemas.openxmlformats.org/officeDocument/2006/relationships/hyperlink" Target="https://huggingface.co/datasets/xlangai/ubuntu_osworld_verified_trajs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vlc/8ba5ae7a-5ae5-4eab-9fcc-5dd4fe3abf89.json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png"/><Relationship Id="rId3" Type="http://schemas.openxmlformats.org/officeDocument/2006/relationships/hyperlink" Target="https://huggingface.co/datasets/xlangai/ubuntu_osworld_verified_trajs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gimp/7a4deb26-d57d-4ea9-9a73-630f66a7b568.json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Relationship Id="rId3" Type="http://schemas.openxmlformats.org/officeDocument/2006/relationships/hyperlink" Target="https://huggingface.co/datasets/xlangai/ubuntu_osworld_verified_trajs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gimp/f4aec372-4fb0-4df5-a52b-79e0e2a5d6ce.json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png"/><Relationship Id="rId3" Type="http://schemas.openxmlformats.org/officeDocument/2006/relationships/hyperlink" Target="https://huggingface.co/datasets/xlangai/ubuntu_osworld_verified_trajs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libreoffice_impress/5d901039-a89c-4bfb-967b-bf66f4df075e.json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png"/><Relationship Id="rId3" Type="http://schemas.openxmlformats.org/officeDocument/2006/relationships/hyperlink" Target="https://huggingface.co/datasets/xlangai/ubuntu_osworld_verified_trajs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libreoffice_impress/550ce7e7-747b-495f-b122-acdc4d0b8e54.json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Relationship Id="rId3" Type="http://schemas.openxmlformats.org/officeDocument/2006/relationships/hyperlink" Target="https://huggingface.co/datasets/xlangai/ubuntu_osworld_verified_trajs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libreoffice_writer/0810415c-bde4-4443-9047-d5f70165a697.json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Relationship Id="rId3" Type="http://schemas.openxmlformats.org/officeDocument/2006/relationships/hyperlink" Target="https://huggingface.co/datasets/xlangai/ubuntu_osworld_verified_trajs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vs_code/982d12a5-beab-424f-8d38-d2a48429e511.json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Relationship Id="rId3" Type="http://schemas.openxmlformats.org/officeDocument/2006/relationships/hyperlink" Target="https://huggingface.co/datasets/xlangai/ubuntu_osworld_verified_trajs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os/c288e301-e626-4b98-a1ab-159dcb162af5.json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tree/main/evaluation_examples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tree/main/evaluation_examples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xlang-ai/OSWorld/blob/main/desktop_env/desktop_env.py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xlang-ai/OSWorld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xlangai/ubuntu_osworld_verified_trajs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4.07972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4.07972" TargetMode="External"/><Relationship Id="rId3" Type="http://schemas.openxmlformats.org/officeDocument/2006/relationships/hyperlink" Target="https://xlang.ai/blog/osworld-verified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" TargetMode="External"/><Relationship Id="rId3" Type="http://schemas.openxmlformats.org/officeDocument/2006/relationships/hyperlink" Target="https://huggingface.co/datasets/xlangai/ubuntu_osworld_file_cache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s-world/os-world.github.io/blob/main/static/data/osworld_verified_results.xlsx" TargetMode="External"/><Relationship Id="rId3" Type="http://schemas.openxmlformats.org/officeDocument/2006/relationships/hyperlink" Target="https://huggingface.co/datasets/xlangai/ubuntu_osworld_verified_traj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27363" y="1734794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OSWorld-Verified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27363" y="3106394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実際のPCを操作するエージェントの評価
課題の初期状態と、成果物による採点を読む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6766560" y="4489704"/>
            <a:ext cx="1828800" cy="365760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658368" y="274320"/>
            <a:ext cx="7772400" cy="36576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(2026-10-17)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OSWorldの公式サイト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OSWorld: 公式サイト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1000">
                <a:solidFill>
                  <a:srgbClr val="626669"/>
                </a:solidFill>
                <a:latin typeface="Noto Sans"/>
                <a:hlinkClick r:id="rId5"/>
              </a:rPr>
              <a:t>https://osworld-v1.xlang.ai/</a:t>
            </a:r>
          </a:p>
        </p:txBody>
      </p:sp>
      <p:pic>
        <p:nvPicPr>
          <p:cNvPr id="6" name="公式サイトの画面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4570" y="1481328"/>
            <a:ext cx="4594858" cy="306323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PC操作の入力と成果物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最終状態の採点とモデル評価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課題の作成とVerifiedへの更新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評価環境とデータの入手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400" b="0">
                <a:solidFill>
                  <a:srgbClr val="303437"/>
                </a:solidFill>
                <a:latin typeface="Noto Sans"/>
              </a:defRPr>
            </a:pPr>
            <a:r>
              <a:rPr sz="3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依頼を読み、アプリを操作して仕事を終える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OSWorldは、実際のPC環境でエージェントが作業を完了できるかを評価する。表計算、文書編集、画像編集、ブラウザー操作などを扱う。</a:t>
            </a:r>
          </a:p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入力は操作の依頼と、作業途中のPCの状態。画面を見てマウスやキーボードを操作し、次の画面を見ながら作業を進める。</a:t>
            </a:r>
          </a:p>
          <a:p>
            <a:pPr marL="457200" indent="-355600">
              <a:lnSpc>
                <a:spcPts val="2400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OSWorld-Verifiedは、2025年に課題・採点・環境を改修した更新。ここでは現在の公開定義と、検証済みの評価結果を紹介する。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(2026年10月参照). OSWorld: 公開の課題定義・環境・エージェント実装。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操作手順の予測から、成果物の検査へ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一つの正解クリック列を当てる代わりに、実際にアプリを動かし、保存ファイルや設定などの最終状態を検査する。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同じ目標でも操作経路は複数ある。課題ごとの採点関数が、求めた内容・形式・設定に到達したかを調べる。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基盤は複数のOSを扱えるが、主な369課題はUbuntuの作業。Google Driveを使う8課題を除いた361課題の評価も使われる。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Xie et al. (2024). OSWorld: Benchmarking Multimodal Agents for Open-Ended Tasks in Real Computer Environments. NeurIPS.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https://arxiv.org/abs/2404.07972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初期画面、依頼、採点条件を一組として読む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本編3課題と、追加10課題を示す。初期画面は、公式に公開されたOpenAPAの操作ログから取得した。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表示する初期画面に対応する指示が、現在の課題定義と一致することを全例で確認した。指示は原文の全文と日本語訳を載せる。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本編の文書・表計算・ファイル結合は、配布の入力と参照成果物も読んだ。何が作業の完了に当たるかを、具体的に説明する。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(2026年10月参照). OSWorld-Verified Model Trajectories. 公開軌跡 / 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実例1：H2Oの2を下付き文字にする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0b17a146-2934-46c7-8727-73ff6b6483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0b17a146-2934-46c7-8727-73ff6b6483e8。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014731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2342931"/>
            <a:ext cx="8046720" cy="5145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2432947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Help me change the 2 in "H2O" to a subscript.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39958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訳：H2Oの「2」を下付き文字に変更する。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586152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採点：文書の内容と、下付き文字を検査する。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libreoffice_writer / 0b17a146-2934-46c7-8727-73ff6b6483e8。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https://github.com/xlang-ai/OSWorld/blob/main/evaluation_examples/examples/libreoffice_writer/0b17a146-2934-46c7-8727-73ff6b6483e8.json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実例2：請求書番号ごとの件数を集計する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1954cced-e748-45c4-9c26-9855b97fbc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1954cced-e748-45c4-9c26-9855b97fbc5e。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93290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2021491"/>
            <a:ext cx="8046720" cy="81624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2111507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Create a Pivot Table in a new sheet (Sheet2) to count how many times each "Invoice No."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20207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訳：Sheet2にピボットテーブルを作り、Invoice No.ごとの出現回数を数える。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906417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採点：Sheet2のピボットテーブルの構造を照合する。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libreoffice_calc / 1954cced-e748-45c4-9c26-9855b97fbc5e。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https://github.com/xlang-ai/OSWorld/blob/main/evaluation_examples/examples/libreoffice_calc/1954cced-e748-45c4-9c26-9855b97fbc5e.json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実例2：参照成果物の請求書番号別の件数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971800" y="1508760"/>
          <a:ext cx="3200400" cy="2980944"/>
        </p:xfrm>
        <a:graphic>
          <a:graphicData uri="http://schemas.openxmlformats.org/drawingml/2006/table">
            <a:tbl>
              <a:tblPr firstRow="0" bandRow="0"/>
              <a:tblGrid>
                <a:gridCol w="2032000"/>
                <a:gridCol w="116840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Invoice No.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10500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10501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10502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10503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10504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10505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(2026年10月参照). Ubuntu OSWorld File Cache. 入力と参照成果物。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https://huggingface.co/datasets/xlangai/ubuntu_osworld_file_cache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実例3：端末で2列を結合してCalcで開く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3680a5ee-6870-426a-a997-eba929a0d2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3680a5ee-6870-426a-a997-eba929a0d25c。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44013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2272213"/>
            <a:ext cx="8046720" cy="17212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2362229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 have file1.xlsx and file2.ods on my Desktop, each containing a single column. Using only the command line, help me merge these two columns into a single column by concatenating the strings from both rows, save the result as ~/Desktop/output.csv, and open it in LibreOffice Calc from the 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multi_apps / 3680a5ee-6870-426a-a997-eba929a0d25c。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https://github.com/xlang-ai/OSWorld/blob/main/evaluation_examples/examples/multi_apps/3680a5ee-6870-426a-a997-eba929a0d25c.json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実例3：操作指示の日本語訳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Desktopにあるfile1.xlsxとfile2.odsは、それぞれ1列の表。各ファイルの同じ行にある文字列を連結し、1列へまとめる。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処理にはコマンドラインだけを使う。作った列を~/Desktop/output.csvに保存する。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そのCSVを、端末からLibreOffice Calcで開く。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multi_apps / 3680a5ee-6870-426a-a997-eba929a0d25c。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https://github.com/xlang-ai/OSWorld/blob/main/evaluation_examples/examples/multi_apps/3680a5ee-6870-426a-a997-eba929a0d25c.json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実例3：2ファイルの各行を一つの文字列にする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94560"/>
        </p:xfrm>
        <a:graphic>
          <a:graphicData uri="http://schemas.openxmlformats.org/drawingml/2006/table">
            <a:tbl>
              <a:tblPr firstRow="0" bandRow="0"/>
              <a:tblGrid>
                <a:gridCol w="2286000"/>
                <a:gridCol w="2286000"/>
                <a:gridCol w="3474720"/>
              </a:tblGrid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file1.xlsx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file2.ods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output_gold2.csv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Dulce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Abril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DulceAbril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Mara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Hashimoto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MaraHashimoto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Philip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PhilipGent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95344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採点は端末からの起動とCSV内容を検査。参照CSVの先頭3データ行を示す。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(2026年10月参照). Ubuntu OSWorld File Cache. 入力と参照成果物。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https://huggingface.co/datasets/xlangai/ubuntu_osworld_file_cache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最終状態の採点とモデル評価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最終状態の採点とモデル評価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課題ごとの得点を平均し、百分率で示す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作業後の文書、表、画像、設定などを取り出し、課題ごとの採点関数を実行する。得点は0〜1で、部分的な達成に応じた小数もある。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公開表の成功率は、課題得点の平均を百分率で示す。例えば、得点の合計256.71を356課題で割ると72.11%になる。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以下は最大100ステップの提出。共通ループでは、観測から次の操作列を予測する1回を1ステップとして数える。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最終状態の採点とモデル評価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OSWorld: desktop_env.py / evaluate. 最終状態からの採点。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https://github.com/xlang-ai/OSWorld/blob/main/desktop_env/desktop_env.py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画面操作と、追加のコード実行を区別する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Claude系の表は、画面を入力し、GUI操作を出す構成。追加のアクセシビリティツリー、画面操作以外のコード実行、複数試行は使わない。</a:t>
            </a:r>
          </a:p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OpenAPAとPointer Agentの表は、モデルに計画やツール処理を組み合わせた構成。画面操作に加え、ファイル処理などのコード実行を使う。</a:t>
            </a:r>
          </a:p>
          <a:p>
            <a:pPr marL="457200" indent="-355600">
              <a:lnSpc>
                <a:spcPts val="234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両表とも最大100ステップで、追加のアクセシビリティツリーと複数試行はなし。課題数と公開表の日付を、提出ごとに示す。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最終状態の採点とモデル評価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OSWorld team (2026年10月参照). OSWorld-Verified Results. 公式サイトの公開評価表。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https://github.com/os-world/os-world.github.io/blob/main/static/data/osworld_verified_results.xlsx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Claude系の公開評価：最大100ステップ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最終状態の採点とモデル評価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94560"/>
        </p:xfrm>
        <a:graphic>
          <a:graphicData uri="http://schemas.openxmlformats.org/drawingml/2006/table">
            <a:tbl>
              <a:tblPr firstRow="0" bandRow="0"/>
              <a:tblGrid>
                <a:gridCol w="3200400"/>
                <a:gridCol w="1097280"/>
                <a:gridCol w="1463040"/>
                <a:gridCol w="2286000"/>
              </a:tblGrid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日付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Sonnet 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361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41.40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2025-07-28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Sonnet 4.5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360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62.88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2025-10-31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Sonnet 4.6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72.11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2026-03-08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OSWorld team (2026年10月参照). OSWorld-Verified Results. 公式サイトの公開評価表。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https://github.com/os-world/os-world.github.io/blob/main/static/data/osworld_verified_results.xlsx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外部の計画・ツール処理を組み合わせた評価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最終状態の採点とモデル評価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45920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1005840"/>
                <a:gridCol w="1371600"/>
                <a:gridCol w="2194560"/>
              </a:tblGrid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構成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日付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OpenAPA + Gemini 3.1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361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78.34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2026-04-17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Pointer Agent + Sonnet 4.6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360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81.45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2026-05-21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OSWorld team (2026年10月参照). OSWorld-Verified Results. 公式サイトの公開評価表。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https://github.com/os-world/os-world.github.io/blob/main/static/data/osworld_verified_results.xlsx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000" b="0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課題の作成とVerifiedへの更新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課題の作成とVerifiedへの更新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実際の使い方から、初期状態と採点器を作る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課題の作成とVerifiedへの更新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2194560"/>
                <a:gridCol w="585216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工程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作業の内容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利用場面を集める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公式教材、Q&amp;A、ブログ、既存課題などを調査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依頼を整える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指示文と必要なファイルを用意する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初期状態を作る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VM上でファイルを開き、作業途中を再現する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採点を実装する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成果物を取得し、内容・設定を検査する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別の人が試す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作成者以外の2人が実行し、問題を修正する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Xie et al. (2024). OSWorld: Benchmarking Multimodal Agents for Open-Ended Tasks in Real Computer Environments. NeurIPS.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https://arxiv.org/abs/2404.07972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2025年のVerifiedは、300件超の指摘へ対応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原著の制作は、計算機科学系の学生9人が約3か月、約1,800人時をかけた。設定、採点器、別の作業者による確認までを含む。</a:t>
            </a:r>
          </a:p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Verified更新では、約10人が約2か月をかけ、300件超のフィードバックを検証・修正した。ウェブの変化、依頼の曖昧さ、採点の頑健性を扱う。</a:t>
            </a:r>
          </a:p>
          <a:p>
            <a:pPr marL="457200" indent="-355600">
              <a:lnSpc>
                <a:spcPts val="234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主に採点器を直し、必要な場合に指示を変更した。AWSでの並列評価を整え、入力ファイルと参照成果物をHugging Faceへ移した。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課題の作成とVerifiedへの更新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Xie et al. (2025). Introducing OSWorld-Verified. XLANG Lab / 2025-07-28。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https://xlang.ai/blog/osworld-verified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OSWorldからVerifiedへ、何を変えたか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課題の作成とVerifiedへの更新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651760"/>
        </p:xfrm>
        <a:graphic>
          <a:graphicData uri="http://schemas.openxmlformats.org/drawingml/2006/table">
            <a:tbl>
              <a:tblPr firstRow="0" bandRow="0"/>
              <a:tblGrid>
                <a:gridCol w="2194560"/>
                <a:gridCol w="5852160"/>
              </a:tblGrid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Verified更新の具体例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依頼の範囲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ファイル形式・保存先・使用機能を明示する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許容する解法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複数の正しい文書・式・行間を受け入れる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採点の頑健性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書式や色の許容幅、文書の類似度を導入する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環境の再現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待機処理、フォント、VM起動を改善する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Xie et al. (2025). Introducing OSWorld-Verified. XLANG Lab / 2025-07-28。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https://xlang.ai/blog/osworld-verified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361課題版の内訳：五つの利用領域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課題の作成とVerifiedへの更新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1920240"/>
                <a:gridCol w="4663440"/>
                <a:gridCol w="146304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領域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含まれるアプリなど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オフィス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Calc・Impress・Writer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日常操作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Chrome・VLC・Thunderbird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専門ツール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GIMP・VS Code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OS操作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設定・ファイル・端末など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複数アプリ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複数の道具を使う作業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OSWorld: test_all.json / test_nogdrive.json. 2026-10-17取得改訂。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https://github.com/xlang-ai/OSWorld/tree/main/evaluation_examples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300" b="0">
                <a:solidFill>
                  <a:srgbClr val="303437"/>
                </a:solidFill>
                <a:latin typeface="Noto Sans"/>
              </a:defRPr>
            </a:pPr>
            <a:r>
              <a:rPr sz="33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評価環境とデータの入手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評価環境とデータの入手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モデルの評価から、実装と軌跡の検証へ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2024年に、実際のPC操作を課題ごとに採点する環境として登場。2025年にはVerified更新と、運営側で結果を確かめる評価枠を設けた。</a:t>
            </a:r>
          </a:p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2026年の公開表には、Claude Sonnet 4.6やGemini 3.1 Proを組み込むエージェントの評価がある。モデルと制御実装の両方を比較できる。</a:t>
            </a:r>
          </a:p>
          <a:p>
            <a:pPr marL="457200" indent="-355600">
              <a:lnSpc>
                <a:spcPts val="2400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操作のスクリーンショット、指示、ログ、採点結果を公開している。課題定義、実装、最終状態を対応させて調べられる。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評価環境とデータの入手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OSWorld team (2026年10月参照). OSWorld-Verified Results. 公式サイトの公開評価表。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https://github.com/os-world/os-world.github.io/blob/main/static/data/osworld_verified_results.xlsx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課題JSONの依頼と採点関数を読む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評価環境とデータの入手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222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import json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pathlib import Path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root = Path("evaluation_examples/examples")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uid = "0b17a146-2934-46c7-8727-73ff6b6483e8"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path = root / "libreoffice_writer" / (uid + ".json")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task = json.loads(path.read_text())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print(task["instruction"], task["evaluator"]["func"])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324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OSWorldリポジトリのルートで読む例。課題の定義を取り出す。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(2026年10月参照). OSWorld: 公開の課題定義・環境・エージェント実装。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操作の依頼と、作業が終わった状態を結ぶ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80"/>
              </a:lnSpc>
              <a:spcAft>
                <a:spcPts val="8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OSWorld-Verifiedは、実際のアプリを操作し、文書・表・画像・設定などの成果を検査する評価。初期状態と課題ごとの採点器を持つ。</a:t>
            </a:r>
          </a:p>
          <a:p>
            <a:pPr marL="457200" indent="-355600">
              <a:lnSpc>
                <a:spcPts val="2580"/>
              </a:lnSpc>
              <a:spcAft>
                <a:spcPts val="8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369課題の全体版と、Google Driveの8課題を除く361課題版がある。評価にはステップ数、追加ツール、対象課題数を対応させる。</a:t>
            </a:r>
          </a:p>
          <a:p>
            <a:pPr marL="457200" indent="-355600">
              <a:lnSpc>
                <a:spcPts val="2580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画面を見て操作を続ける能力に加え、複数のアプリを組み合わせ、正しい成果物を残せるかを具体的に調べられる。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評価環境とデータの入手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(2026年10月参照). OSWorld: 公開の課題定義・環境・エージェント実装。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400" b="0">
                <a:solidFill>
                  <a:srgbClr val="303437"/>
                </a:solidFill>
                <a:latin typeface="Noto Sans"/>
              </a:defRPr>
            </a:pPr>
            <a:r>
              <a:rPr sz="4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アプリと操作の異なる追加例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課題定義と構成の詳細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制作機関と参考文献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000" b="0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アプリと操作の異なる追加例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追加例1：検索エンジンをBingに変える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bb5e4c0d-f964-439c-97b6-bdb9747de3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bb5e4c0d-f964-439c-97b6-bdb9747de3f4。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6388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2192087"/>
            <a:ext cx="8046720" cy="81624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2282102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Can you make Bing the main search engine when I look stuff up on the internet?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190802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訳：インターネット検索の標準エンジンをBingに変更する。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36996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採点：保存された標準検索エンジンを確認する。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chrome / bb5e4c0d-f964-439c-97b6-bdb9747de3f4。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https://github.com/xlang-ai/OSWorld/blob/main/evaluation_examples/examples/chrome/bb5e4c0d-f964-439c-97b6-bdb9747de3f4.json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追加例2：Amazonの追跡情報を削除する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7b6c7e24-c58a-49fc-a5bb-d57b80e5b4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7b6c7e24-c58a-49fc-a5bb-d57b80e5b4c3。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42453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1870653"/>
            <a:ext cx="8046720" cy="11179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1960669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Can you help me clean up my computer by getting rid of all the tracking things that Amazon might have saved? I want to make sure my browsing is private and those sites don't remember 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171045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訳：Amazonが保存した追跡情報を削除し、サイトに覚えられないようにする。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057255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採点：amazon.comのCookieが削除されたかを検査する。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chrome / 7b6c7e24-c58a-49fc-a5bb-d57b80e5b4c3。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https://github.com/xlang-ai/OSWorld/blob/main/evaluation_examples/examples/chrome/7b6c7e24-c58a-49fc-a5bb-d57b80e5b4c3.json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追加例3：VLCの録画先を変える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8ba5ae7a-5ae5-4eab-9fcc-5dd4fe3abf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8ba5ae7a-5ae5-4eab-9fcc-5dd4fe3abf89。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014778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2342979"/>
            <a:ext cx="8046720" cy="5145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2432994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Help me modify the folder used to store my recordings to Desktop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40006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訳：録画を保存するフォルダーをデスクトップへ変更する。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584929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採点：VLCの録画フォルダー設定を確認する。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vlc / 8ba5ae7a-5ae5-4eab-9fcc-5dd4fe3abf89。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https://github.com/xlang-ai/OSWorld/blob/main/evaluation_examples/examples/vlc/8ba5ae7a-5ae5-4eab-9fcc-5dd4fe3abf89.json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追加例4：写真の明るさを下げる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7a4deb26-d57d-4ea9-9a73-630f66a7b5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7a4deb26-d57d-4ea9-9a73-630f66a7b568。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01536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2343567"/>
            <a:ext cx="8046720" cy="5145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2433582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Could you tone down the brightness of my photo?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40594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訳：写真の明るさを下げる。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585517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採点：明るさの低下と、画像構造の保持を検査する。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gimp / 7a4deb26-d57d-4ea9-9a73-630f66a7b568。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https://github.com/xlang-ai/OSWorld/blob/main/evaluation_examples/examples/gimp/7a4deb26-d57d-4ea9-9a73-630f66a7b568.json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追加例5：黄色の三角形を中央に移す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f4aec372-4fb0-4df5-a52b-79e0e2a5d6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f4aec372-4fb0-4df5-a52b-79e0e2a5d6ce。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64522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2192722"/>
            <a:ext cx="8046720" cy="81624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2282738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Help me choose the yellow triangle and positioning it at the center of my picture.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191438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訳：黄色の三角形を選び、画像の中央へ移動する。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36361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採点：出力画像内で、三角形の位置を検査する。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gimp / f4aec372-4fb0-4df5-a52b-79e0e2a5d6ce。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https://github.com/xlang-ai/OSWorld/blob/main/evaluation_examples/examples/gimp/f4aec372-4fb0-4df5-a52b-79e0e2a5d6ce.json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追加例6：表紙画像をページ全体に広げる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5d901039-a89c-4bfb-967b-bf66f4df07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5d901039-a89c-4bfb-967b-bf66f4df075e。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713684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2041884"/>
            <a:ext cx="8046720" cy="11179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2131900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 want to turn the rectangular image of Columbus on the first page into a cover page. Could you help me stretch this image to fill the entire page, keeping its proportion and centering the image?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342275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訳：先頭の画像を縦横比を保って広げ、中央に配置し、表紙にする。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887199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採点：画像の同一性・寸法・中央配置を検査する。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libreoffice_impress / 5d901039-a89c-4bfb-967b-bf66f4df075e。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https://github.com/xlang-ai/OSWorld/blob/main/evaluation_examples/examples/libreoffice_impress/5d901039-a89c-4bfb-967b-bf66f4df075e.json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追加例7：完了項目に取り消し線を付ける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550ce7e7-747b-495f-b122-acdc4d0b8e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550ce7e7-747b-495f-b122-acdc4d0b8e54。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42453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1870653"/>
            <a:ext cx="8046720" cy="11179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1960669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 am checking our soccer club's to-do list for the last semester and adding strike-through sign on the line we have already accomplished. Could you help me add a strike-through on the first and second line?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171045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訳：サッカークラブのリストの1行目と2行目に取り消し線を付ける。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057255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採点：保存したPPTXを参照成果物と照合する。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libreoffice_impress / 550ce7e7-747b-495f-b122-acdc4d0b8e54。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https://github.com/xlang-ai/OSWorld/blob/main/evaluation_examples/examples/libreoffice_impress/550ce7e7-747b-495f-b122-acdc4d0b8e54.json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追加例8：最初の2段落を倍の行間にする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0810415c-bde4-4443-9047-d5f70165a6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0810415c-bde4-4443-9047-d5f70165a697。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014731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2342931"/>
            <a:ext cx="8046720" cy="5145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2432947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Make the line spacing of first two paragraph into double line spacing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39958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訳：最初の2段落をダブルスペースにする。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586152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採点：二つの許容される参照文書と行間を比べる。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libreoffice_writer / 0810415c-bde4-4443-9047-d5f70165a697。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https://github.com/xlang-ai/OSWorld/blob/main/evaluation_examples/examples/libreoffice_writer/0810415c-bde4-4443-9047-d5f70165a697.json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追加例9：VS Codeのテーマを変える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982d12a5-beab-424f-8d38-d2a48429e5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982d12a5-beab-424f-8d38-d2a48429e511。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6388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2192087"/>
            <a:ext cx="8046720" cy="81624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2282102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Please help me change the color theme of VS Code to Visual Studio Dark.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190802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訳：配色テーマをVisual Studio Darkへ変更する。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36996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採点：設定ファイルのテーマ名を確認する。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vs_code / 982d12a5-beab-424f-8d38-d2a48429e511。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https://github.com/xlang-ai/OSWorld/blob/main/evaluation_examples/examples/vs_code/982d12a5-beab-424f-8d38-d2a48429e511.json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追加例10：実行不能なPython4への変更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c288e301-e626-4b98-a1ab-159dcb162a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c288e301-e626-4b98-a1ab-159dcb162af5。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014143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2342343"/>
            <a:ext cx="8046720" cy="5145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2432359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Please set the default Python version to Python4 on my Ubuntu system.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39370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訳：Ubuntuの標準PythonをPython4に変更する。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585564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採点：配布では実行不能課題。FAILで終了すると1点。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os / c288e301-e626-4b98-a1ab-159dcb162af5。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https://github.com/xlang-ai/OSWorld/blob/main/evaluation_examples/examples/os/c288e301-e626-4b98-a1ab-159dcb162af5.json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課題定義と構成の詳細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課題定義と構成の詳細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課題JSONに含まれる主な情報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課題定義と構成の詳細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2743200"/>
                <a:gridCol w="530352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項目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役割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instruction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エージェントに渡す自然言語の依頼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snapshot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初期状態を作る基準のVM状態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config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ファイルの取得・起動などの準備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related_apps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課題に関連するアプリ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evaluator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成果の取得方法、参照値、採点関数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(2026年10月参照). OSWorld: 公開の課題定義・環境・エージェント実装。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単一アプリ課題の内訳：オフィスと日常操作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課題定義と構成の詳細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80944"/>
        </p:xfrm>
        <a:graphic>
          <a:graphicData uri="http://schemas.openxmlformats.org/drawingml/2006/table">
            <a:tbl>
              <a:tblPr firstRow="0" bandRow="0"/>
              <a:tblGrid>
                <a:gridCol w="5577840"/>
                <a:gridCol w="246888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アプリ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LibreOffice Calc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LibreOffice Impress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LibreOffice Writer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Chrome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VLC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Thunderbird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OSWorld: test_all.json / test_nogdrive.json. 2026-10-17取得改訂。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https://github.com/xlang-ai/OSWorld/tree/main/evaluation_examples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専門ツール・OS・複数アプリの内訳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課題定義と構成の詳細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5577840"/>
                <a:gridCol w="246888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区分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GIMP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VS Code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OS操作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複数アプリ（全体版）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複数アプリ（Google Driveを除く）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OSWorld: test_all.json / test_nogdrive.json. 2026-10-17取得改訂。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https://github.com/xlang-ai/OSWorld/tree/main/evaluation_examples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複数の採点と、実行不能な課題の終了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80"/>
              </a:lnSpc>
              <a:spcAft>
                <a:spcPts val="8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複数の採点関数を組み合わせられる。ANDは0点があれば0点、すべて正なら平均。ORは最大値を採る。</a:t>
            </a:r>
          </a:p>
          <a:p>
            <a:pPr marL="457200" indent="-355600">
              <a:lnSpc>
                <a:spcPts val="2580"/>
              </a:lnSpc>
              <a:spcAft>
                <a:spcPts val="8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ダブルスペースの課題は、段落間の空行も変更する参照文書と、変更しない参照文書の二つを許容する。</a:t>
            </a:r>
          </a:p>
          <a:p>
            <a:pPr marL="457200" indent="-355600">
              <a:lnSpc>
                <a:spcPts val="2580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実行不能課題は、FAILで終了すると1点。追加例10のPython4への変更も、この形式。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課題定義と構成の詳細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OSWorld: desktop_env.py / evaluate. 最終状態からの採点。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https://github.com/xlang-ai/OSWorld/blob/main/desktop_env/desktop_env.py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全体版・361課題版・小規模版を選ぶ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20"/>
              </a:lnSpc>
              <a:spcAft>
                <a:spcPts val="8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test_all.jsonは369課題、test_nogdrive.jsonは361課題。後者は、Google Driveの操作を含む8課題を全体版から除く。</a:t>
            </a:r>
          </a:p>
          <a:p>
            <a:pPr marL="457200" indent="-355600">
              <a:lnSpc>
                <a:spcPts val="2520"/>
              </a:lnSpc>
              <a:spcAft>
                <a:spcPts val="8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test_small.jsonは、実装の確認などに使える39課題の一覧。各課題のJSON、初期ファイル、参照成果物はそれぞれの配布先から取得する。</a:t>
            </a:r>
          </a:p>
          <a:p>
            <a:pPr marL="457200" indent="-355600">
              <a:lnSpc>
                <a:spcPts val="2520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実行にはVMとエージェントの設定が必要。公式リポジトリはVMware、Docker、AWSなどの手順を案内する。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課題定義と構成の詳細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(2026年10月参照). OSWorld: 公開の課題定義・環境・エージェント実装。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コード、入力ファイル、実行ログの配布先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環境と課題定義はGitHubのOSWorldリポジトリにあり、Apache 2.0で公開される。課題JSONから必要なファイルへのURLをたどれる。</a:t>
            </a:r>
          </a:p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入力と参照成果物はubuntu_osworld_file_cache、操作ログはubuntu_osworld_verified_trajsで配布。後者のデータカードはMITを指定する。</a:t>
            </a:r>
          </a:p>
          <a:p>
            <a:pPr marL="457200" indent="-355600">
              <a:lnSpc>
                <a:spcPts val="234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この資料の画面は公開ログのstep_0。作業の正解条件はログ中の成否ラベルから推測せず、課題JSONと採点コードを確認した。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課題定義と構成の詳細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(2026年10月参照). OSWorld-Verified Model Trajectories. 公開軌跡 / 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制作機関と参考文献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XLANG Labを中心とする、実行環境の共同制作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20"/>
              </a:lnSpc>
              <a:spcAft>
                <a:spcPts val="8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原著の第一著者はTianbao Xie、最終著者はTao Yu。香港大学、CMU、Salesforce Research、Waterloo大学の研究者が参加した。</a:t>
            </a:r>
          </a:p>
          <a:p>
            <a:pPr marL="457200" indent="-355600">
              <a:lnSpc>
                <a:spcPts val="2520"/>
              </a:lnSpc>
              <a:spcAft>
                <a:spcPts val="8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2024年のNeurIPSで発表。自然言語の依頼から、画面の理解、操作、成果物の検査までを、実際のPC環境でつなぐ。</a:t>
            </a:r>
          </a:p>
          <a:p>
            <a:pPr marL="457200" indent="-355600">
              <a:lnSpc>
                <a:spcPts val="2520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Verified更新はXLANG Labと共同研究者・利用機関による改修。入力と採点器の修正を公開し、モデルの評価ログも継続して配布する。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Xie et al. (2024). OSWorld: Benchmarking Multimodal Agents for Open-Ended Tasks in Real Computer Environments. NeurIPS.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https://arxiv.org/abs/2404.07972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OSWorld: Benchmarking Multimodal Agents for Open-Ended Tasks in Real Computer Environments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OSWorld: Benchmarking Multimodal Agents for Open-Ended Tasks in Real Computer Environments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Tianbao Xie et al. / NeurIPS 2024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実行環境の設計、369課題の収集・作成、初期評価を説明する。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https://arxiv.org/abs/2404.07972</a:t>
            </a:r>
          </a:p>
        </p:txBody>
      </p:sp>
      <p:sp>
        <p:nvSpPr>
          <p:cNvPr id="5" name="文献 2: Introducing OSWorld-Verified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Introducing OSWorld-Verified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Tianbao Xie et al. / XLANG Lab / 2025-07-28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環境、指示、採点器の改修と、検証済み評価の運営を説明する。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https://xlang.ai/blog/osworld-verified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OSWorld: Code, Tasks and Evaluation Environment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OSWorld: Code, Tasks and Evaluation Environment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/ GitHub / 2026年10月参照 / Apache 2.0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課題JSON、準備・採点の実装、エージェントと実行手順を公開する。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</a:t>
            </a:r>
          </a:p>
        </p:txBody>
      </p:sp>
      <p:sp>
        <p:nvSpPr>
          <p:cNvPr id="5" name="文献 2: Ubuntu OSWorld File Cache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Ubuntu OSWorld File Cache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/ Hugging Face / 2026年10月参照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課題を始めるための資料と、成果物を検査する参照ファイルを配布する。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https://huggingface.co/datasets/xlangai/ubuntu_osworld_file_cache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OSWorld-Verified Results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OSWorld-Verified Results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OSWorld team / 公式サイトの評価表 / 2026年10月参照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モデル・制御実装、ステップ数、ツール条件、提出日の対応を確認できる。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https://github.com/os-world/os-world.github.io/blob/main/static/data/osworld_verified_results.xlsx</a:t>
            </a:r>
          </a:p>
        </p:txBody>
      </p:sp>
      <p:sp>
        <p:nvSpPr>
          <p:cNvPr id="5" name="文献 2: OSWorld-Verified Model Trajectories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OSWorld-Verified Model Trajectories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/ Hugging Face / 2026年10月参照 / MIT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操作の初期画面と各ステップ、指示、ログ、採点結果を配布する。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OSWorld-Verified — datasets in 10 minutes</dc:title>
  <dc:creator>sasakiy84</dc:creator>
  <dc:subject>実際のPC操作の評価：13実例、初期状態と成果物、Verified更新とモデル比較</dc:subject>
</cp:coreProperties>
</file>